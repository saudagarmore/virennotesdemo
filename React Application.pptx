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9" r:id="rId3"/>
    <p:sldId id="256" r:id="rId4"/>
    <p:sldId id="264" r:id="rId5"/>
    <p:sldId id="265" r:id="rId6"/>
    <p:sldId id="266" r:id="rId7"/>
    <p:sldId id="272" r:id="rId8"/>
    <p:sldId id="268" r:id="rId9"/>
    <p:sldId id="257" r:id="rId10"/>
    <p:sldId id="258" r:id="rId11"/>
    <p:sldId id="259" r:id="rId12"/>
    <p:sldId id="277" r:id="rId13"/>
    <p:sldId id="263" r:id="rId14"/>
    <p:sldId id="262" r:id="rId15"/>
    <p:sldId id="260" r:id="rId16"/>
    <p:sldId id="278" r:id="rId17"/>
    <p:sldId id="261" r:id="rId18"/>
    <p:sldId id="269" r:id="rId19"/>
    <p:sldId id="287" r:id="rId20"/>
    <p:sldId id="279" r:id="rId21"/>
    <p:sldId id="288" r:id="rId22"/>
    <p:sldId id="273" r:id="rId23"/>
    <p:sldId id="283" r:id="rId24"/>
    <p:sldId id="284" r:id="rId25"/>
    <p:sldId id="296" r:id="rId26"/>
    <p:sldId id="297" r:id="rId27"/>
    <p:sldId id="290" r:id="rId28"/>
    <p:sldId id="293" r:id="rId29"/>
    <p:sldId id="291" r:id="rId30"/>
    <p:sldId id="295" r:id="rId31"/>
    <p:sldId id="294" r:id="rId32"/>
    <p:sldId id="292" r:id="rId33"/>
    <p:sldId id="271" r:id="rId34"/>
    <p:sldId id="280" r:id="rId35"/>
    <p:sldId id="285" r:id="rId36"/>
    <p:sldId id="286" r:id="rId37"/>
    <p:sldId id="270" r:id="rId38"/>
    <p:sldId id="281" r:id="rId39"/>
    <p:sldId id="298" r:id="rId40"/>
    <p:sldId id="299" r:id="rId41"/>
    <p:sldId id="300" r:id="rId42"/>
    <p:sldId id="301" r:id="rId43"/>
    <p:sldId id="303" r:id="rId44"/>
    <p:sldId id="304" r:id="rId45"/>
    <p:sldId id="302" r:id="rId46"/>
    <p:sldId id="305" r:id="rId47"/>
    <p:sldId id="30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78485" y="0"/>
            <a:ext cx="10515600" cy="274320"/>
          </a:xfrm>
        </p:spPr>
        <p:txBody>
          <a:bodyPr>
            <a:normAutofit fontScale="90000"/>
          </a:bodyPr>
          <a:p>
            <a:pPr algn="ctr"/>
            <a:r>
              <a:rPr lang="en-US" sz="2800" b="1">
                <a:solidFill>
                  <a:srgbClr val="FF0000"/>
                </a:solidFill>
              </a:rPr>
              <a:t>React  Complete Syllabus</a:t>
            </a:r>
            <a:endParaRPr lang="en-US" sz="2800" b="1">
              <a:solidFill>
                <a:srgbClr val="FF0000"/>
              </a:solidFill>
            </a:endParaRPr>
          </a:p>
        </p:txBody>
      </p:sp>
      <p:sp>
        <p:nvSpPr>
          <p:cNvPr id="3" name="Content Placeholder 2"/>
          <p:cNvSpPr>
            <a:spLocks noGrp="1"/>
          </p:cNvSpPr>
          <p:nvPr>
            <p:ph idx="1"/>
          </p:nvPr>
        </p:nvSpPr>
        <p:spPr>
          <a:xfrm>
            <a:off x="121285" y="274320"/>
            <a:ext cx="11756390" cy="6419850"/>
          </a:xfrm>
        </p:spPr>
        <p:txBody>
          <a:bodyPr>
            <a:noAutofit/>
          </a:bodyPr>
          <a:p>
            <a:pPr>
              <a:buFont typeface="Wingdings" panose="05000000000000000000" charset="0"/>
              <a:buChar char="v"/>
            </a:pPr>
            <a:r>
              <a:rPr lang="en-US" altLang="en-US" sz="1800" b="1"/>
              <a:t>React Basics (Core Concepts)</a:t>
            </a:r>
            <a:endParaRPr lang="en-US" altLang="en-US" sz="1800" b="1"/>
          </a:p>
          <a:p>
            <a:pPr marL="342900" indent="-342900">
              <a:buAutoNum type="arabicPeriod"/>
            </a:pPr>
            <a:r>
              <a:rPr lang="en-US" altLang="en-US" sz="1800">
                <a:highlight>
                  <a:srgbClr val="FFFF00"/>
                </a:highlight>
              </a:rPr>
              <a:t>React Introduction</a:t>
            </a:r>
            <a:endParaRPr lang="en-US" altLang="en-US" sz="1800">
              <a:highlight>
                <a:srgbClr val="FFFF00"/>
              </a:highlight>
            </a:endParaRPr>
          </a:p>
          <a:p>
            <a:pPr marL="342900" indent="-342900">
              <a:buAutoNum type="arabicPeriod"/>
            </a:pPr>
            <a:r>
              <a:rPr lang="en-US" altLang="en-US" sz="1800">
                <a:highlight>
                  <a:srgbClr val="FFFF00"/>
                </a:highlight>
              </a:rPr>
              <a:t>React Project Creation And Run React Application</a:t>
            </a:r>
            <a:endParaRPr lang="en-US" altLang="en-US" sz="1800">
              <a:highlight>
                <a:srgbClr val="FFFF00"/>
              </a:highlight>
            </a:endParaRPr>
          </a:p>
          <a:p>
            <a:pPr marL="342900" indent="-342900">
              <a:buAutoNum type="arabicPeriod"/>
            </a:pPr>
            <a:r>
              <a:rPr lang="en-US" altLang="en-US" sz="1800">
                <a:highlight>
                  <a:srgbClr val="FFFF00"/>
                </a:highlight>
              </a:rPr>
              <a:t>React Component </a:t>
            </a:r>
            <a:endParaRPr lang="en-US" altLang="en-US" sz="1800">
              <a:highlight>
                <a:srgbClr val="FFFF00"/>
              </a:highlight>
            </a:endParaRPr>
          </a:p>
          <a:p>
            <a:pPr marL="342900" indent="-342900">
              <a:buAutoNum type="arabicPeriod"/>
            </a:pPr>
            <a:r>
              <a:rPr lang="en-US" altLang="en-US" sz="1800">
                <a:highlight>
                  <a:srgbClr val="FFFF00"/>
                </a:highlight>
              </a:rPr>
              <a:t>Function Component  (modern Standard App)</a:t>
            </a:r>
            <a:endParaRPr lang="en-US" altLang="en-US" sz="1800">
              <a:highlight>
                <a:srgbClr val="FFFF00"/>
              </a:highlight>
            </a:endParaRPr>
          </a:p>
          <a:p>
            <a:pPr marL="342900" indent="-342900">
              <a:buAutoNum type="arabicPeriod"/>
            </a:pPr>
            <a:r>
              <a:rPr lang="en-US" altLang="en-US" sz="1800">
                <a:highlight>
                  <a:srgbClr val="FFFF00"/>
                </a:highlight>
              </a:rPr>
              <a:t>Class Component (older Syntax)</a:t>
            </a:r>
            <a:endParaRPr lang="en-US" altLang="en-US" sz="1800">
              <a:highlight>
                <a:srgbClr val="FFFF00"/>
              </a:highlight>
            </a:endParaRPr>
          </a:p>
          <a:p>
            <a:pPr marL="342900" indent="-342900">
              <a:buAutoNum type="arabicPeriod"/>
            </a:pPr>
            <a:r>
              <a:rPr lang="en-US" altLang="en-US" sz="1800">
                <a:highlight>
                  <a:srgbClr val="FFFF00"/>
                </a:highlight>
              </a:rPr>
              <a:t>React props (passing data between components)</a:t>
            </a:r>
            <a:endParaRPr lang="en-US" altLang="en-US" sz="1800"/>
          </a:p>
          <a:p>
            <a:pPr>
              <a:buFont typeface="Wingdings" panose="05000000000000000000" charset="0"/>
              <a:buChar char="v"/>
            </a:pPr>
            <a:r>
              <a:rPr lang="en-US" altLang="en-US" sz="1800" b="1"/>
              <a:t>2)React Hooks</a:t>
            </a:r>
            <a:endParaRPr lang="en-US" altLang="en-US" sz="1800" b="1"/>
          </a:p>
          <a:p>
            <a:pPr marL="342900" indent="-342900">
              <a:buAutoNum type="arabicPeriod"/>
            </a:pPr>
            <a:r>
              <a:rPr lang="en-US" altLang="en-US" sz="1800">
                <a:highlight>
                  <a:srgbClr val="FFFF00"/>
                </a:highlight>
              </a:rPr>
              <a:t>useState() — manage component state</a:t>
            </a:r>
            <a:endParaRPr lang="en-US" altLang="en-US" sz="1800">
              <a:highlight>
                <a:srgbClr val="FFFF00"/>
              </a:highlight>
            </a:endParaRPr>
          </a:p>
          <a:p>
            <a:pPr marL="342900" indent="-342900">
              <a:buAutoNum type="arabicPeriod"/>
            </a:pPr>
            <a:r>
              <a:rPr lang="en-US" altLang="en-US" sz="1800">
                <a:highlight>
                  <a:srgbClr val="FFFF00"/>
                </a:highlight>
              </a:rPr>
              <a:t>useEffect() — perform side effects (API calls, timers)</a:t>
            </a:r>
            <a:endParaRPr lang="en-US" altLang="en-US" sz="1800">
              <a:highlight>
                <a:srgbClr val="FFFF00"/>
              </a:highlight>
            </a:endParaRPr>
          </a:p>
          <a:p>
            <a:pPr marL="342900" indent="-342900">
              <a:buAutoNum type="arabicPeriod"/>
            </a:pPr>
            <a:r>
              <a:rPr lang="en-US" altLang="en-US" sz="1800">
                <a:highlight>
                  <a:srgbClr val="FFFF00"/>
                </a:highlight>
              </a:rPr>
              <a:t>useRef() — access DOM elements or persist values</a:t>
            </a:r>
            <a:endParaRPr lang="en-US" altLang="en-US" sz="1800">
              <a:highlight>
                <a:srgbClr val="FFFF00"/>
              </a:highlight>
            </a:endParaRPr>
          </a:p>
          <a:p>
            <a:pPr>
              <a:buFont typeface="Wingdings" panose="05000000000000000000" charset="0"/>
              <a:buChar char="v"/>
            </a:pPr>
            <a:r>
              <a:rPr lang="en-US" altLang="en-US" sz="1800" b="1"/>
              <a:t>3) React Forms</a:t>
            </a:r>
            <a:endParaRPr lang="en-US" altLang="en-US" sz="1800" b="1"/>
          </a:p>
          <a:p>
            <a:pPr marL="342900" indent="-342900">
              <a:buAutoNum type="arabicPeriod"/>
            </a:pPr>
            <a:r>
              <a:rPr lang="en-US" altLang="en-US" sz="1800">
                <a:highlight>
                  <a:srgbClr val="FFFF00"/>
                </a:highlight>
              </a:rPr>
              <a:t>Working with React Forms with data </a:t>
            </a:r>
            <a:endParaRPr lang="en-US" altLang="en-US" sz="1800">
              <a:highlight>
                <a:srgbClr val="FFFF00"/>
              </a:highlight>
            </a:endParaRPr>
          </a:p>
          <a:p>
            <a:pPr>
              <a:buFont typeface="Wingdings" panose="05000000000000000000" charset="0"/>
              <a:buChar char="v"/>
            </a:pPr>
            <a:r>
              <a:rPr lang="en-US" altLang="en-US" sz="1800" b="1"/>
              <a:t>4)React Routing</a:t>
            </a:r>
            <a:endParaRPr lang="en-US" altLang="en-US" sz="1800" b="1"/>
          </a:p>
          <a:p>
            <a:pPr marL="342900" indent="-342900">
              <a:buAutoNum type="arabicPeriod"/>
            </a:pPr>
            <a:r>
              <a:rPr lang="en-US" altLang="en-US" sz="1800">
                <a:highlight>
                  <a:srgbClr val="FFFF00"/>
                </a:highlight>
              </a:rPr>
              <a:t>Install and set up react-router-dom</a:t>
            </a:r>
            <a:endParaRPr lang="en-US" altLang="en-US" sz="1800">
              <a:highlight>
                <a:srgbClr val="FFFF00"/>
              </a:highlight>
            </a:endParaRPr>
          </a:p>
          <a:p>
            <a:pPr marL="342900" indent="-342900">
              <a:buAutoNum type="arabicPeriod"/>
            </a:pPr>
            <a:r>
              <a:rPr lang="en-US" altLang="en-US" sz="1800">
                <a:highlight>
                  <a:srgbClr val="FFFF00"/>
                </a:highlight>
              </a:rPr>
              <a:t>Define routes (&lt;Route&gt; and &lt;Routes&gt;)</a:t>
            </a:r>
            <a:endParaRPr lang="en-US" altLang="en-US" sz="1800">
              <a:highlight>
                <a:srgbClr val="FFFF00"/>
              </a:highlight>
            </a:endParaRPr>
          </a:p>
          <a:p>
            <a:pPr marL="342900" indent="-342900">
              <a:buAutoNum type="arabicPeriod"/>
            </a:pPr>
            <a:r>
              <a:rPr lang="en-US" altLang="en-US" sz="1800">
                <a:highlight>
                  <a:srgbClr val="FFFF00"/>
                </a:highlight>
              </a:rPr>
              <a:t>Navigation using &lt;Link&gt; or useNavigate()</a:t>
            </a:r>
            <a:endParaRPr lang="en-US" altLang="en-US" sz="1800">
              <a:highlight>
                <a:srgbClr val="FFFF00"/>
              </a:highlight>
            </a:endParaRPr>
          </a:p>
          <a:p>
            <a:endParaRPr lang="en-US" altLang="en-US" sz="1800">
              <a:highlight>
                <a:srgbClr val="FFFF00"/>
              </a:highlight>
            </a:endParaRPr>
          </a:p>
          <a:p>
            <a:endParaRPr lang="en-US" altLang="en-US" sz="1800">
              <a:highlight>
                <a:srgbClr val="FFFF00"/>
              </a:highlight>
            </a:endParaRPr>
          </a:p>
        </p:txBody>
      </p:sp>
      <p:sp>
        <p:nvSpPr>
          <p:cNvPr id="4" name="Text Box 3"/>
          <p:cNvSpPr txBox="1"/>
          <p:nvPr/>
        </p:nvSpPr>
        <p:spPr>
          <a:xfrm>
            <a:off x="5835650" y="274320"/>
            <a:ext cx="6246495" cy="3839845"/>
          </a:xfrm>
          <a:prstGeom prst="rect">
            <a:avLst/>
          </a:prstGeom>
          <a:noFill/>
        </p:spPr>
        <p:txBody>
          <a:bodyPr wrap="square" rtlCol="0" anchor="t">
            <a:noAutofit/>
          </a:bodyPr>
          <a:p>
            <a:pPr marL="285750" indent="-285750">
              <a:buFont typeface="Wingdings" panose="05000000000000000000" charset="0"/>
              <a:buChar char="v"/>
            </a:pPr>
            <a:r>
              <a:rPr lang="en-US" altLang="en-US" b="1">
                <a:highlight>
                  <a:srgbClr val="FFFF00"/>
                </a:highlight>
                <a:sym typeface="+mn-ea"/>
              </a:rPr>
              <a:t>4)Fetching Data From Api</a:t>
            </a:r>
            <a:endParaRPr lang="en-US" altLang="en-US" b="1">
              <a:highlight>
                <a:srgbClr val="FFFF00"/>
              </a:highlight>
            </a:endParaRPr>
          </a:p>
          <a:p>
            <a:pPr marL="342900" indent="-342900">
              <a:buAutoNum type="arabicPeriod"/>
            </a:pPr>
            <a:r>
              <a:rPr lang="en-US" altLang="en-US">
                <a:highlight>
                  <a:srgbClr val="FFFF00"/>
                </a:highlight>
                <a:sym typeface="+mn-ea"/>
              </a:rPr>
              <a:t>Using fetch() or axios</a:t>
            </a:r>
            <a:endParaRPr lang="en-US" altLang="en-US">
              <a:highlight>
                <a:srgbClr val="FFFF00"/>
              </a:highlight>
            </a:endParaRPr>
          </a:p>
          <a:p>
            <a:pPr marL="342900" indent="-342900">
              <a:buAutoNum type="arabicPeriod"/>
            </a:pPr>
            <a:r>
              <a:rPr lang="en-US" altLang="en-US">
                <a:highlight>
                  <a:srgbClr val="FFFF00"/>
                </a:highlight>
                <a:sym typeface="+mn-ea"/>
              </a:rPr>
              <a:t>Handling loading and error states</a:t>
            </a:r>
            <a:endParaRPr lang="en-US" altLang="en-US">
              <a:highlight>
                <a:srgbClr val="FFFF00"/>
              </a:highlight>
            </a:endParaRPr>
          </a:p>
          <a:p>
            <a:pPr marL="342900" indent="-342900">
              <a:buAutoNum type="arabicPeriod"/>
            </a:pPr>
            <a:r>
              <a:rPr lang="en-US" altLang="en-US">
                <a:highlight>
                  <a:srgbClr val="FFFF00"/>
                </a:highlight>
                <a:sym typeface="+mn-ea"/>
              </a:rPr>
              <a:t>Displaying fetched data in components</a:t>
            </a:r>
            <a:endParaRPr lang="en-US" altLang="en-US">
              <a:highlight>
                <a:srgbClr val="FFFF00"/>
              </a:highlight>
            </a:endParaRPr>
          </a:p>
          <a:p>
            <a:pPr marL="342900" indent="-342900">
              <a:buAutoNum type="arabicPeriod"/>
            </a:pPr>
            <a:r>
              <a:rPr lang="en-US" altLang="en-US">
                <a:highlight>
                  <a:srgbClr val="FFFF00"/>
                </a:highlight>
                <a:sym typeface="+mn-ea"/>
              </a:rPr>
              <a:t>Using useEffect() for API calls</a:t>
            </a:r>
            <a:endParaRPr lang="en-US" altLang="en-US"/>
          </a:p>
          <a:p>
            <a:endParaRPr lang="en-US" altLang="en-US"/>
          </a:p>
          <a:p>
            <a:endParaRPr lang="en-US" altLang="en-US"/>
          </a:p>
          <a:p>
            <a:pPr marL="285750" indent="-285750">
              <a:buFont typeface="Wingdings" panose="05000000000000000000" charset="0"/>
              <a:buChar char="v"/>
            </a:pPr>
            <a:r>
              <a:rPr lang="en-US" altLang="en-US" b="1">
                <a:sym typeface="+mn-ea"/>
              </a:rPr>
              <a:t>5. Styling in React</a:t>
            </a:r>
            <a:endParaRPr lang="en-US" altLang="en-US" b="1"/>
          </a:p>
          <a:p>
            <a:pPr marL="342900" indent="-342900">
              <a:buAutoNum type="arabicPeriod"/>
            </a:pPr>
            <a:r>
              <a:rPr lang="en-US" altLang="en-US">
                <a:highlight>
                  <a:srgbClr val="FFFF00"/>
                </a:highlight>
                <a:sym typeface="+mn-ea"/>
              </a:rPr>
              <a:t>Inline styles</a:t>
            </a:r>
            <a:endParaRPr lang="en-US" altLang="en-US">
              <a:highlight>
                <a:srgbClr val="FFFF00"/>
              </a:highlight>
            </a:endParaRPr>
          </a:p>
          <a:p>
            <a:pPr marL="342900" indent="-342900">
              <a:buAutoNum type="arabicPeriod"/>
            </a:pPr>
            <a:r>
              <a:rPr lang="en-US" altLang="en-US">
                <a:highlight>
                  <a:srgbClr val="FFFF00"/>
                </a:highlight>
                <a:sym typeface="+mn-ea"/>
              </a:rPr>
              <a:t>CSS / SCSS files</a:t>
            </a:r>
            <a:endParaRPr lang="en-US" altLang="en-US">
              <a:highlight>
                <a:srgbClr val="FFFF00"/>
              </a:highlight>
            </a:endParaRPr>
          </a:p>
          <a:p>
            <a:pPr marL="342900" indent="-342900">
              <a:buAutoNum type="arabicPeriod"/>
            </a:pPr>
            <a:r>
              <a:rPr lang="en-US" altLang="en-US">
                <a:highlight>
                  <a:srgbClr val="FFFF00"/>
                </a:highlight>
                <a:sym typeface="+mn-ea"/>
              </a:rPr>
              <a:t>Bootstrap in React</a:t>
            </a:r>
            <a:endParaRPr lang="en-US" altLang="en-US">
              <a:highlight>
                <a:srgbClr val="FFFF00"/>
              </a:highlight>
            </a:endParaRPr>
          </a:p>
          <a:p>
            <a:pPr marL="342900" indent="-342900">
              <a:buAutoNum type="arabicPeriod"/>
            </a:pPr>
            <a:r>
              <a:rPr lang="en-US" altLang="en-US">
                <a:highlight>
                  <a:srgbClr val="FFFF00"/>
                </a:highlight>
                <a:sym typeface="+mn-ea"/>
              </a:rPr>
              <a:t>Bootstrap Basic Class</a:t>
            </a:r>
            <a:endParaRPr lang="en-US" altLang="en-US">
              <a:highlight>
                <a:srgbClr val="FFFF00"/>
              </a:highlight>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1790" y="97155"/>
            <a:ext cx="9144000" cy="336550"/>
          </a:xfrm>
        </p:spPr>
        <p:txBody>
          <a:bodyPr>
            <a:noAutofit/>
          </a:bodyPr>
          <a:lstStyle/>
          <a:p>
            <a:r>
              <a:rPr lang="en-US" sz="2800" b="1" dirty="0">
                <a:solidFill>
                  <a:srgbClr val="FF0000"/>
                </a:solidFill>
                <a:latin typeface="Cambria" panose="02040503050406030204" charset="0"/>
                <a:cs typeface="Cambria" panose="02040503050406030204" charset="0"/>
              </a:rPr>
              <a:t>React Introduction</a:t>
            </a:r>
            <a:endParaRPr lang="en-US" sz="2800" b="1" dirty="0">
              <a:solidFill>
                <a:srgbClr val="FF0000"/>
              </a:solidFill>
              <a:latin typeface="Cambria" panose="02040503050406030204" charset="0"/>
              <a:cs typeface="Cambria" panose="02040503050406030204" charset="0"/>
            </a:endParaRPr>
          </a:p>
        </p:txBody>
      </p:sp>
      <p:sp>
        <p:nvSpPr>
          <p:cNvPr id="3" name="Subtitle 2"/>
          <p:cNvSpPr>
            <a:spLocks noGrp="1"/>
          </p:cNvSpPr>
          <p:nvPr>
            <p:ph type="subTitle" idx="1"/>
          </p:nvPr>
        </p:nvSpPr>
        <p:spPr>
          <a:xfrm>
            <a:off x="0" y="433705"/>
            <a:ext cx="12073890" cy="6424295"/>
          </a:xfrm>
        </p:spPr>
        <p:txBody>
          <a:bodyPr>
            <a:normAutofit/>
          </a:bodyPr>
          <a:lstStyle/>
          <a:p>
            <a:pPr marL="285750" indent="-285750" algn="l">
              <a:buFont typeface="Arial" panose="020B0604020202020204" pitchFamily="34" charset="0"/>
              <a:buChar char="•"/>
            </a:pPr>
            <a:r>
              <a:rPr lang="en-US" altLang="en-US" sz="1800">
                <a:latin typeface="Cambria" panose="02040503050406030204" charset="0"/>
                <a:cs typeface="Cambria" panose="02040503050406030204" charset="0"/>
              </a:rPr>
              <a:t>React is a JavaScript library developed by Meta (Facebook) for building user interfaces, especially single-page applications (SPAs). It enables developers to create fast, interactive UIs using a component-based architecture, with efficient state management and virtual DOM updates.</a:t>
            </a:r>
            <a:endParaRPr lang="en-US" altLang="en-US" sz="1800">
              <a:latin typeface="Cambria" panose="02040503050406030204" charset="0"/>
              <a:cs typeface="Cambria" panose="02040503050406030204" charset="0"/>
            </a:endParaRPr>
          </a:p>
          <a:p>
            <a:pPr marL="285750" indent="-285750" algn="l">
              <a:buFont typeface="Arial" panose="020B0604020202020204" pitchFamily="34" charset="0"/>
              <a:buChar char="•"/>
            </a:pPr>
            <a:r>
              <a:rPr lang="en-US" altLang="en-US" sz="1800">
                <a:latin typeface="Cambria" panose="02040503050406030204" charset="0"/>
                <a:cs typeface="Cambria" panose="02040503050406030204" charset="0"/>
              </a:rPr>
              <a:t>React was invented by </a:t>
            </a:r>
            <a:r>
              <a:rPr lang="en-US" altLang="en-US" sz="1800" b="1">
                <a:latin typeface="Cambria" panose="02040503050406030204" charset="0"/>
                <a:cs typeface="Cambria" panose="02040503050406030204" charset="0"/>
              </a:rPr>
              <a:t>Jordan Walke</a:t>
            </a:r>
            <a:r>
              <a:rPr lang="en-US" altLang="en-US" sz="1800">
                <a:latin typeface="Cambria" panose="02040503050406030204" charset="0"/>
                <a:cs typeface="Cambria" panose="02040503050406030204" charset="0"/>
              </a:rPr>
              <a:t>, a software engineer at Facebook (now Meta), in 2011. He created it to help improve the performance and maintainability of Facebook’s user interface, especially the news feed.</a:t>
            </a:r>
            <a:endParaRPr lang="en-US" altLang="en-US" sz="1800">
              <a:latin typeface="Cambria" panose="02040503050406030204" charset="0"/>
              <a:cs typeface="Cambria" panose="02040503050406030204" charset="0"/>
            </a:endParaRPr>
          </a:p>
          <a:p>
            <a:pPr algn="l"/>
            <a:r>
              <a:rPr lang="en-US" altLang="en-US" sz="1800" b="1">
                <a:solidFill>
                  <a:srgbClr val="FF0000"/>
                </a:solidFill>
                <a:latin typeface="Cambria" panose="02040503050406030204" charset="0"/>
                <a:cs typeface="Cambria" panose="02040503050406030204" charset="0"/>
              </a:rPr>
              <a:t>About React</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React is a JavaScript library for building user interfaces, especially single-page applications (SPAs).</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It uses a component-based architecture, making code more modular and reusable.</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React updates the UI efficiently using a virtual DOM.</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It uses JSX, a syntax that lets you write HTML inside JavaScript.</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React Hooks allow functional components to manage state and side effects.</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React has a unidirectional data flow, making apps more predictable and easier to debug.</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It’s maintained by Meta (Facebook) and has a large open-source community.</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You can build web, mobile (React Native), and desktop apps with React.</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React is not a full framework—you need additional libraries like React Router, Redux, etc., for routing and state.</a:t>
            </a:r>
            <a:endParaRPr lang="en-US" altLang="en-US" sz="1800">
              <a:latin typeface="Cambria" panose="02040503050406030204" charset="0"/>
              <a:cs typeface="Cambria" panose="02040503050406030204" charset="0"/>
            </a:endParaRPr>
          </a:p>
          <a:p>
            <a:pPr marL="285750" indent="-285750" algn="l">
              <a:buFont typeface="Wingdings" panose="05000000000000000000" charset="0"/>
              <a:buChar char="ü"/>
            </a:pPr>
            <a:r>
              <a:rPr lang="en-US" altLang="en-US" sz="1800">
                <a:latin typeface="Cambria" panose="02040503050406030204" charset="0"/>
                <a:cs typeface="Cambria" panose="02040503050406030204" charset="0"/>
              </a:rPr>
              <a:t>It is fast, flexible, and widely adopted by companies like Netflix, Airbnb, and Facebook.</a:t>
            </a:r>
            <a:endParaRPr lang="en-US" altLang="en-US" sz="1800">
              <a:latin typeface="Cambria" panose="02040503050406030204" charset="0"/>
              <a:cs typeface="Cambria" panose="02040503050406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3040" y="101600"/>
            <a:ext cx="10515600" cy="378460"/>
          </a:xfrm>
        </p:spPr>
        <p:txBody>
          <a:bodyPr>
            <a:noAutofit/>
          </a:bodyPr>
          <a:p>
            <a:r>
              <a:rPr lang="en-US" sz="2800" b="1">
                <a:solidFill>
                  <a:srgbClr val="FF0000"/>
                </a:solidFill>
                <a:latin typeface="Cambria" panose="02040503050406030204" charset="0"/>
                <a:cs typeface="Cambria" panose="02040503050406030204" charset="0"/>
              </a:rPr>
              <a:t>Why React</a:t>
            </a:r>
            <a:endParaRPr lang="en-US" sz="28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480060"/>
            <a:ext cx="12192635" cy="6279515"/>
          </a:xfrm>
        </p:spPr>
        <p:txBody>
          <a:bodyPr>
            <a:noAutofit/>
          </a:bodyPr>
          <a:p>
            <a:pPr>
              <a:lnSpc>
                <a:spcPct val="100000"/>
              </a:lnSpc>
            </a:pPr>
            <a:r>
              <a:rPr lang="en-US" altLang="en-US" sz="1800" b="1">
                <a:latin typeface="Cambria" panose="02040503050406030204" charset="0"/>
                <a:cs typeface="Cambria" panose="02040503050406030204" charset="0"/>
              </a:rPr>
              <a:t>Component-Based Architecture</a:t>
            </a:r>
            <a:endParaRPr lang="en-US" altLang="en-US" sz="1800">
              <a:latin typeface="Cambria" panose="02040503050406030204" charset="0"/>
              <a:cs typeface="Cambria" panose="02040503050406030204" charset="0"/>
            </a:endParaRPr>
          </a:p>
          <a:p>
            <a:pPr>
              <a:lnSpc>
                <a:spcPct val="100000"/>
              </a:lnSpc>
            </a:pPr>
            <a:r>
              <a:rPr lang="en-US" altLang="en-US" sz="1800">
                <a:latin typeface="Cambria" panose="02040503050406030204" charset="0"/>
                <a:cs typeface="Cambria" panose="02040503050406030204" charset="0"/>
              </a:rPr>
              <a:t>– Helps you build reusable, maintainable UI elements.</a:t>
            </a:r>
            <a:endParaRPr lang="en-US" altLang="en-US" sz="1800">
              <a:latin typeface="Cambria" panose="02040503050406030204" charset="0"/>
              <a:cs typeface="Cambria" panose="02040503050406030204" charset="0"/>
            </a:endParaRPr>
          </a:p>
          <a:p>
            <a:pPr>
              <a:lnSpc>
                <a:spcPct val="100000"/>
              </a:lnSpc>
            </a:pPr>
            <a:r>
              <a:rPr lang="en-US" altLang="en-US" sz="1800" b="1">
                <a:latin typeface="Cambria" panose="02040503050406030204" charset="0"/>
                <a:cs typeface="Cambria" panose="02040503050406030204" charset="0"/>
              </a:rPr>
              <a:t>Virtual DOM for High Performance</a:t>
            </a:r>
            <a:endParaRPr lang="en-US" altLang="en-US" sz="1800" b="1">
              <a:latin typeface="Cambria" panose="02040503050406030204" charset="0"/>
              <a:cs typeface="Cambria" panose="02040503050406030204" charset="0"/>
            </a:endParaRPr>
          </a:p>
          <a:p>
            <a:pPr>
              <a:lnSpc>
                <a:spcPct val="100000"/>
              </a:lnSpc>
            </a:pPr>
            <a:r>
              <a:rPr lang="en-US" altLang="en-US" sz="1800">
                <a:latin typeface="Cambria" panose="02040503050406030204" charset="0"/>
                <a:cs typeface="Cambria" panose="02040503050406030204" charset="0"/>
              </a:rPr>
              <a:t>– Updates only what’s needed, making the app fast and responsive.</a:t>
            </a:r>
            <a:endParaRPr lang="en-US" altLang="en-US" sz="1800">
              <a:latin typeface="Cambria" panose="02040503050406030204" charset="0"/>
              <a:cs typeface="Cambria" panose="02040503050406030204" charset="0"/>
            </a:endParaRPr>
          </a:p>
          <a:p>
            <a:pPr>
              <a:lnSpc>
                <a:spcPct val="100000"/>
              </a:lnSpc>
            </a:pPr>
            <a:r>
              <a:rPr lang="en-US" altLang="en-US" sz="1800" b="1">
                <a:latin typeface="Cambria" panose="02040503050406030204" charset="0"/>
                <a:cs typeface="Cambria" panose="02040503050406030204" charset="0"/>
              </a:rPr>
              <a:t>Declarative Syntax with JSX</a:t>
            </a:r>
            <a:endParaRPr lang="en-US" altLang="en-US" sz="1800" b="1">
              <a:latin typeface="Cambria" panose="02040503050406030204" charset="0"/>
              <a:cs typeface="Cambria" panose="02040503050406030204" charset="0"/>
            </a:endParaRPr>
          </a:p>
          <a:p>
            <a:pPr>
              <a:lnSpc>
                <a:spcPct val="100000"/>
              </a:lnSpc>
            </a:pPr>
            <a:r>
              <a:rPr lang="en-US" altLang="en-US" sz="1800">
                <a:latin typeface="Cambria" panose="02040503050406030204" charset="0"/>
                <a:cs typeface="Cambria" panose="02040503050406030204" charset="0"/>
              </a:rPr>
              <a:t>– Makes UI code easier to read and understand.</a:t>
            </a:r>
            <a:endParaRPr lang="en-US" altLang="en-US" sz="1800">
              <a:latin typeface="Cambria" panose="02040503050406030204" charset="0"/>
              <a:cs typeface="Cambria" panose="02040503050406030204" charset="0"/>
            </a:endParaRPr>
          </a:p>
          <a:p>
            <a:pPr>
              <a:lnSpc>
                <a:spcPct val="100000"/>
              </a:lnSpc>
            </a:pPr>
            <a:r>
              <a:rPr lang="en-US" altLang="en-US" sz="1800" b="1">
                <a:latin typeface="Cambria" panose="02040503050406030204" charset="0"/>
                <a:cs typeface="Cambria" panose="02040503050406030204" charset="0"/>
              </a:rPr>
              <a:t>React Hooks</a:t>
            </a:r>
            <a:endParaRPr lang="en-US" altLang="en-US" sz="1800" b="1">
              <a:latin typeface="Cambria" panose="02040503050406030204" charset="0"/>
              <a:cs typeface="Cambria" panose="02040503050406030204" charset="0"/>
            </a:endParaRPr>
          </a:p>
          <a:p>
            <a:pPr>
              <a:lnSpc>
                <a:spcPct val="100000"/>
              </a:lnSpc>
            </a:pPr>
            <a:r>
              <a:rPr lang="en-US" altLang="en-US" sz="1800">
                <a:latin typeface="Cambria" panose="02040503050406030204" charset="0"/>
                <a:cs typeface="Cambria" panose="02040503050406030204" charset="0"/>
              </a:rPr>
              <a:t>– Simplifies state and side-effect management in functional components.</a:t>
            </a:r>
            <a:endParaRPr lang="en-US" altLang="en-US" sz="1800">
              <a:latin typeface="Cambria" panose="02040503050406030204" charset="0"/>
              <a:cs typeface="Cambria" panose="02040503050406030204" charset="0"/>
            </a:endParaRPr>
          </a:p>
          <a:p>
            <a:pPr>
              <a:lnSpc>
                <a:spcPct val="100000"/>
              </a:lnSpc>
            </a:pPr>
            <a:r>
              <a:rPr lang="en-US" altLang="en-US" sz="1800" b="1">
                <a:latin typeface="Cambria" panose="02040503050406030204" charset="0"/>
                <a:cs typeface="Cambria" panose="02040503050406030204" charset="0"/>
              </a:rPr>
              <a:t>Strong Community &amp; Ecosystem</a:t>
            </a:r>
            <a:endParaRPr lang="en-US" altLang="en-US" sz="1800" b="1">
              <a:latin typeface="Cambria" panose="02040503050406030204" charset="0"/>
              <a:cs typeface="Cambria" panose="02040503050406030204" charset="0"/>
            </a:endParaRPr>
          </a:p>
          <a:p>
            <a:pPr>
              <a:lnSpc>
                <a:spcPct val="100000"/>
              </a:lnSpc>
            </a:pPr>
            <a:r>
              <a:rPr lang="en-US" altLang="en-US" sz="1800">
                <a:latin typeface="Cambria" panose="02040503050406030204" charset="0"/>
                <a:cs typeface="Cambria" panose="02040503050406030204" charset="0"/>
              </a:rPr>
              <a:t>– Huge support, libraries, and tools available for faster development.</a:t>
            </a:r>
            <a:endParaRPr lang="en-US" altLang="en-US" sz="1800">
              <a:latin typeface="Cambria" panose="02040503050406030204" charset="0"/>
              <a:cs typeface="Cambria" panose="02040503050406030204" charset="0"/>
            </a:endParaRPr>
          </a:p>
          <a:p>
            <a:pPr>
              <a:lnSpc>
                <a:spcPct val="100000"/>
              </a:lnSpc>
            </a:pPr>
            <a:r>
              <a:rPr lang="en-US" altLang="en-US" sz="1800" b="1">
                <a:latin typeface="Cambria" panose="02040503050406030204" charset="0"/>
                <a:cs typeface="Cambria" panose="02040503050406030204" charset="0"/>
              </a:rPr>
              <a:t>Cross-Platform Development with React Native</a:t>
            </a:r>
            <a:endParaRPr lang="en-US" altLang="en-US" sz="1800" b="1">
              <a:latin typeface="Cambria" panose="02040503050406030204" charset="0"/>
              <a:cs typeface="Cambria" panose="02040503050406030204" charset="0"/>
            </a:endParaRPr>
          </a:p>
          <a:p>
            <a:pPr>
              <a:lnSpc>
                <a:spcPct val="100000"/>
              </a:lnSpc>
            </a:pPr>
            <a:r>
              <a:rPr lang="en-US" altLang="en-US" sz="1800">
                <a:latin typeface="Cambria" panose="02040503050406030204" charset="0"/>
                <a:cs typeface="Cambria" panose="02040503050406030204" charset="0"/>
              </a:rPr>
              <a:t>– Build both web and mobile apps using the same React knowledge.</a:t>
            </a:r>
            <a:endParaRPr lang="en-US" altLang="en-US" sz="1800">
              <a:latin typeface="Cambria" panose="02040503050406030204" charset="0"/>
              <a:cs typeface="Cambria" panose="02040503050406030204" charset="0"/>
            </a:endParaRPr>
          </a:p>
          <a:p>
            <a:pPr>
              <a:lnSpc>
                <a:spcPct val="100000"/>
              </a:lnSpc>
            </a:pPr>
            <a:endParaRPr lang="en-US" altLang="en-US" sz="1800">
              <a:latin typeface="Cambria" panose="02040503050406030204" charset="0"/>
              <a:cs typeface="Cambria" panose="02040503050406030204" charset="0"/>
            </a:endParaRPr>
          </a:p>
          <a:p>
            <a:pPr>
              <a:lnSpc>
                <a:spcPct val="100000"/>
              </a:lnSpc>
            </a:pPr>
            <a:endParaRPr lang="en-US" altLang="en-US" sz="1800">
              <a:latin typeface="Cambria" panose="02040503050406030204" charset="0"/>
              <a:cs typeface="Cambria" panose="02040503050406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7490" y="101600"/>
            <a:ext cx="10515600" cy="549910"/>
          </a:xfrm>
        </p:spPr>
        <p:txBody>
          <a:bodyPr/>
          <a:p>
            <a:r>
              <a:rPr lang="en-US" sz="2400" b="1">
                <a:solidFill>
                  <a:srgbClr val="FF0000"/>
                </a:solidFill>
              </a:rPr>
              <a:t>Application OF React</a:t>
            </a:r>
            <a:endParaRPr lang="en-US" sz="2400" b="1">
              <a:solidFill>
                <a:srgbClr val="FF0000"/>
              </a:solidFill>
            </a:endParaRPr>
          </a:p>
        </p:txBody>
      </p:sp>
      <p:sp>
        <p:nvSpPr>
          <p:cNvPr id="3" name="Content Placeholder 2"/>
          <p:cNvSpPr>
            <a:spLocks noGrp="1"/>
          </p:cNvSpPr>
          <p:nvPr>
            <p:ph idx="1"/>
          </p:nvPr>
        </p:nvSpPr>
        <p:spPr>
          <a:xfrm>
            <a:off x="123825" y="651510"/>
            <a:ext cx="11918950" cy="6066155"/>
          </a:xfrm>
        </p:spPr>
        <p:txBody>
          <a:bodyPr>
            <a:noAutofit/>
          </a:bodyPr>
          <a:p>
            <a:pPr marL="457200" indent="-457200">
              <a:buFont typeface="+mj-lt"/>
              <a:buAutoNum type="arabicPeriod"/>
            </a:pPr>
            <a:r>
              <a:rPr lang="en-US" altLang="en-US" sz="1800">
                <a:latin typeface="Cambria" panose="02040503050406030204" charset="0"/>
                <a:cs typeface="Cambria" panose="02040503050406030204" charset="0"/>
              </a:rPr>
              <a:t>Single Page Applications (SPAs) – Dynamic websites that update without reloading the page.</a:t>
            </a: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Dashboards and Admin Panels – Used in analytics, management tools, and internal systems.</a:t>
            </a: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E-commerce Websites – For building fast, interactive shopping experiences.</a:t>
            </a: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Social Media Platforms – Interfaces for feeds, posts, likes, and comments.</a:t>
            </a:r>
            <a:endParaRPr lang="en-US" altLang="en-US" sz="1800">
              <a:latin typeface="Cambria" panose="02040503050406030204" charset="0"/>
              <a:cs typeface="Cambria" panose="02040503050406030204" charset="0"/>
            </a:endParaRPr>
          </a:p>
          <a:p>
            <a:pPr marL="457200" indent="-457200">
              <a:buFont typeface="+mj-lt"/>
              <a:buAutoNum type="arabicPeriod"/>
            </a:pP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Real-Time Chat Applications – Messaging apps with live updates.</a:t>
            </a: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Portfolio Websites – Developer and designer personal websites.</a:t>
            </a: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Video Streaming Apps – Interfaces like Netflix with dynamic video loading.</a:t>
            </a: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Mobile Apps (React Native) – Cross-platform iOS and Android apps.</a:t>
            </a:r>
            <a:endParaRPr lang="en-US" altLang="en-US" sz="1800">
              <a:latin typeface="Cambria" panose="02040503050406030204" charset="0"/>
              <a:cs typeface="Cambria" panose="02040503050406030204" charset="0"/>
            </a:endParaRPr>
          </a:p>
          <a:p>
            <a:pPr marL="457200" indent="-457200">
              <a:buFont typeface="+mj-lt"/>
              <a:buAutoNum type="arabicPeriod"/>
            </a:pP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Content Management System UIs – User-friendly content editing tools.</a:t>
            </a:r>
            <a:endParaRPr lang="en-US" altLang="en-US" sz="1800">
              <a:latin typeface="Cambria" panose="02040503050406030204" charset="0"/>
              <a:cs typeface="Cambria" panose="02040503050406030204" charset="0"/>
            </a:endParaRPr>
          </a:p>
          <a:p>
            <a:pPr marL="457200" indent="-457200">
              <a:buFont typeface="+mj-lt"/>
              <a:buAutoNum type="arabicPeriod"/>
            </a:pPr>
            <a:r>
              <a:rPr lang="en-US" altLang="en-US" sz="1800">
                <a:latin typeface="Cambria" panose="02040503050406030204" charset="0"/>
                <a:cs typeface="Cambria" panose="02040503050406030204" charset="0"/>
              </a:rPr>
              <a:t>Progressive Web Apps (PWAs) – Web apps that work offline and can be installed like native apps.</a:t>
            </a:r>
            <a:endParaRPr lang="en-US" altLang="en-US" sz="1800">
              <a:latin typeface="Cambria" panose="02040503050406030204" charset="0"/>
              <a:cs typeface="Cambria" panose="02040503050406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650" y="130810"/>
            <a:ext cx="10515600" cy="418465"/>
          </a:xfrm>
        </p:spPr>
        <p:txBody>
          <a:bodyPr>
            <a:noAutofit/>
          </a:bodyPr>
          <a:p>
            <a:r>
              <a:rPr lang="en-US" sz="2000" b="1">
                <a:solidFill>
                  <a:srgbClr val="FF0000"/>
                </a:solidFill>
                <a:latin typeface="Cambria" panose="02040503050406030204" charset="0"/>
                <a:cs typeface="Cambria" panose="02040503050406030204" charset="0"/>
              </a:rPr>
              <a:t>Features and Advantages of React</a:t>
            </a:r>
            <a:endParaRPr lang="en-US" sz="2000" b="1">
              <a:solidFill>
                <a:srgbClr val="FF0000"/>
              </a:solidFill>
              <a:latin typeface="Cambria" panose="02040503050406030204" charset="0"/>
              <a:cs typeface="Cambria" panose="02040503050406030204" charset="0"/>
            </a:endParaRPr>
          </a:p>
        </p:txBody>
      </p:sp>
      <p:graphicFrame>
        <p:nvGraphicFramePr>
          <p:cNvPr id="5" name="Content Placeholder 4"/>
          <p:cNvGraphicFramePr/>
          <p:nvPr>
            <p:ph idx="1"/>
            <p:custDataLst>
              <p:tags r:id="rId1"/>
            </p:custDataLst>
          </p:nvPr>
        </p:nvGraphicFramePr>
        <p:xfrm>
          <a:off x="120650" y="549275"/>
          <a:ext cx="11555095" cy="2797810"/>
        </p:xfrm>
        <a:graphic>
          <a:graphicData uri="http://schemas.openxmlformats.org/drawingml/2006/table">
            <a:tbl>
              <a:tblPr/>
              <a:tblGrid>
                <a:gridCol w="3877310"/>
                <a:gridCol w="7677785"/>
              </a:tblGrid>
              <a:tr h="365760">
                <a:tc>
                  <a:txBody>
                    <a:bodyPr/>
                    <a:p>
                      <a:pPr algn="ctr"/>
                      <a:r>
                        <a:rPr sz="1800" b="1"/>
                        <a:t>Feature</a:t>
                      </a:r>
                      <a:endParaRPr sz="1800" b="1"/>
                    </a:p>
                  </a:txBody>
                  <a:tcPr marL="0" marR="0" marT="0" marB="0" anchor="ctr" anchorCtr="0">
                    <a:lnL>
                      <a:noFill/>
                    </a:lnL>
                    <a:lnR>
                      <a:noFill/>
                    </a:lnR>
                    <a:lnT>
                      <a:noFill/>
                    </a:lnT>
                    <a:lnB>
                      <a:noFill/>
                    </a:lnB>
                    <a:noFill/>
                  </a:tcPr>
                </a:tc>
                <a:tc>
                  <a:txBody>
                    <a:bodyPr/>
                    <a:p>
                      <a:pPr algn="ctr"/>
                      <a:r>
                        <a:rPr sz="1800" b="1"/>
                        <a:t>Benefit</a:t>
                      </a:r>
                      <a:endParaRPr sz="1800" b="1"/>
                    </a:p>
                  </a:txBody>
                  <a:tcPr marL="0" marR="0" marT="0" marB="0" anchor="ctr" anchorCtr="0">
                    <a:lnL>
                      <a:noFill/>
                    </a:lnL>
                    <a:lnR>
                      <a:noFill/>
                    </a:lnR>
                    <a:lnT>
                      <a:noFill/>
                    </a:lnT>
                    <a:lnB>
                      <a:noFill/>
                    </a:lnB>
                    <a:noFill/>
                  </a:tcPr>
                </a:tc>
              </a:tr>
              <a:tr h="304800">
                <a:tc>
                  <a:txBody>
                    <a:bodyPr/>
                    <a:p>
                      <a:pPr algn="l"/>
                      <a:r>
                        <a:rPr sz="1800">
                          <a:latin typeface="Cambria" panose="02040503050406030204" charset="0"/>
                          <a:cs typeface="Cambria" panose="02040503050406030204" charset="0"/>
                        </a:rPr>
                        <a:t>Fast performance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a:latin typeface="Cambria" panose="02040503050406030204" charset="0"/>
                          <a:cs typeface="Cambria" panose="02040503050406030204" charset="0"/>
                        </a:rPr>
                        <a:t>Thanks to virtual DOM and smart re-rendering.</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4800">
                <a:tc>
                  <a:txBody>
                    <a:bodyPr/>
                    <a:p>
                      <a:pPr algn="l"/>
                      <a:r>
                        <a:rPr sz="1800">
                          <a:latin typeface="Cambria" panose="02040503050406030204" charset="0"/>
                          <a:cs typeface="Cambria" panose="02040503050406030204" charset="0"/>
                        </a:rPr>
                        <a:t>Reusable components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a:latin typeface="Cambria" panose="02040503050406030204" charset="0"/>
                          <a:cs typeface="Cambria" panose="02040503050406030204" charset="0"/>
                        </a:rPr>
                        <a:t>Write once, reuse anywhere; promotes clean code.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4800">
                <a:tc>
                  <a:txBody>
                    <a:bodyPr/>
                    <a:p>
                      <a:pPr algn="l"/>
                      <a:r>
                        <a:rPr sz="1800">
                          <a:latin typeface="Cambria" panose="02040503050406030204" charset="0"/>
                          <a:cs typeface="Cambria" panose="02040503050406030204" charset="0"/>
                        </a:rPr>
                        <a:t>Developer Experience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a:latin typeface="Cambria" panose="02040503050406030204" charset="0"/>
                          <a:cs typeface="Cambria" panose="02040503050406030204" charset="0"/>
                        </a:rPr>
                        <a:t>Easy debugging, JSX, hooks, and excellent dev tools.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4800">
                <a:tc>
                  <a:txBody>
                    <a:bodyPr/>
                    <a:p>
                      <a:pPr algn="l"/>
                      <a:r>
                        <a:rPr sz="1800">
                          <a:latin typeface="Cambria" panose="02040503050406030204" charset="0"/>
                          <a:cs typeface="Cambria" panose="02040503050406030204" charset="0"/>
                        </a:rPr>
                        <a:t>Unidirectional data flow</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a:latin typeface="Cambria" panose="02040503050406030204" charset="0"/>
                          <a:cs typeface="Cambria" panose="02040503050406030204" charset="0"/>
                        </a:rPr>
                        <a:t>Makes apps predictable and easy to debug.</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603250">
                <a:tc>
                  <a:txBody>
                    <a:bodyPr/>
                    <a:p>
                      <a:pPr algn="l"/>
                      <a:r>
                        <a:rPr sz="1800">
                          <a:latin typeface="Cambria" panose="02040503050406030204" charset="0"/>
                          <a:cs typeface="Cambria" panose="02040503050406030204" charset="0"/>
                        </a:rPr>
                        <a:t>Flexibility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a:latin typeface="Cambria" panose="02040503050406030204" charset="0"/>
                          <a:cs typeface="Cambria" panose="02040503050406030204" charset="0"/>
                        </a:rPr>
                        <a:t>Works well with other frameworks, libraries, or legacy codebases.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4800">
                <a:tc>
                  <a:txBody>
                    <a:bodyPr/>
                    <a:p>
                      <a:pPr algn="l"/>
                      <a:r>
                        <a:rPr sz="1800">
                          <a:latin typeface="Cambria" panose="02040503050406030204" charset="0"/>
                          <a:cs typeface="Cambria" panose="02040503050406030204" charset="0"/>
                        </a:rPr>
                        <a:t>Strong community support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a:latin typeface="Cambria" panose="02040503050406030204" charset="0"/>
                          <a:cs typeface="Cambria" panose="02040503050406030204" charset="0"/>
                        </a:rPr>
                        <a:t>Tons of tutorials, libraries, and jobs.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04800">
                <a:tc>
                  <a:txBody>
                    <a:bodyPr/>
                    <a:p>
                      <a:pPr algn="l"/>
                      <a:r>
                        <a:rPr sz="1800">
                          <a:latin typeface="Cambria" panose="02040503050406030204" charset="0"/>
                          <a:cs typeface="Cambria" panose="02040503050406030204" charset="0"/>
                        </a:rPr>
                        <a:t>Simple logic with hooks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l"/>
                      <a:r>
                        <a:rPr sz="1800">
                          <a:latin typeface="Cambria" panose="02040503050406030204" charset="0"/>
                          <a:cs typeface="Cambria" panose="02040503050406030204" charset="0"/>
                        </a:rPr>
                        <a:t>Functional components and hooks simplify lifecycle &amp; state logic.</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2"/>
            </p:custDataLst>
          </p:nvPr>
        </p:nvGraphicFramePr>
        <p:xfrm>
          <a:off x="120015" y="3724275"/>
          <a:ext cx="11687810" cy="3011170"/>
        </p:xfrm>
        <a:graphic>
          <a:graphicData uri="http://schemas.openxmlformats.org/drawingml/2006/table">
            <a:tbl>
              <a:tblPr/>
              <a:tblGrid>
                <a:gridCol w="4015105"/>
                <a:gridCol w="7672705"/>
              </a:tblGrid>
              <a:tr h="481965">
                <a:tc>
                  <a:txBody>
                    <a:bodyPr/>
                    <a:p>
                      <a:pPr algn="ctr"/>
                      <a:r>
                        <a:rPr sz="1800" b="1">
                          <a:latin typeface="Cambria" panose="02040503050406030204" charset="0"/>
                          <a:cs typeface="Cambria" panose="02040503050406030204" charset="0"/>
                        </a:rPr>
                        <a:t>Issue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1800" b="1">
                          <a:latin typeface="Cambria" panose="02040503050406030204" charset="0"/>
                          <a:cs typeface="Cambria" panose="02040503050406030204" charset="0"/>
                        </a:rPr>
                        <a:t>Description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61315">
                <a:tc>
                  <a:txBody>
                    <a:bodyPr/>
                    <a:p>
                      <a:r>
                        <a:rPr sz="1800"/>
                        <a:t>JSX learning curve</a:t>
                      </a:r>
                      <a:endParaRPr sz="1800"/>
                    </a:p>
                  </a:txBody>
                  <a:tcPr marL="0" marR="0" marT="0" marB="0" anchor="ctr" anchorCtr="0">
                    <a:lnL>
                      <a:noFill/>
                    </a:lnL>
                    <a:lnR>
                      <a:noFill/>
                    </a:lnR>
                    <a:lnT>
                      <a:noFill/>
                    </a:lnT>
                    <a:lnB>
                      <a:noFill/>
                    </a:lnB>
                    <a:noFill/>
                  </a:tcPr>
                </a:tc>
                <a:tc>
                  <a:txBody>
                    <a:bodyPr/>
                    <a:p>
                      <a:r>
                        <a:rPr sz="1800"/>
                        <a:t>JSX might be unfamiliar for beginners.</a:t>
                      </a:r>
                      <a:endParaRPr sz="1800"/>
                    </a:p>
                  </a:txBody>
                  <a:tcPr marL="0" marR="0" marT="0" marB="0" anchor="ctr" anchorCtr="0">
                    <a:lnL>
                      <a:noFill/>
                    </a:lnL>
                    <a:lnR>
                      <a:noFill/>
                    </a:lnR>
                    <a:lnT>
                      <a:noFill/>
                    </a:lnT>
                    <a:lnB>
                      <a:noFill/>
                    </a:lnB>
                    <a:noFill/>
                  </a:tcPr>
                </a:tc>
              </a:tr>
              <a:tr h="721995">
                <a:tc>
                  <a:txBody>
                    <a:bodyPr/>
                    <a:p>
                      <a:r>
                        <a:rPr sz="1800"/>
                        <a:t>Boilerplate for complex apps</a:t>
                      </a:r>
                      <a:endParaRPr sz="1800"/>
                    </a:p>
                  </a:txBody>
                  <a:tcPr marL="0" marR="0" marT="0" marB="0" anchor="ctr" anchorCtr="0">
                    <a:lnL>
                      <a:noFill/>
                    </a:lnL>
                    <a:lnR>
                      <a:noFill/>
                    </a:lnR>
                    <a:lnT>
                      <a:noFill/>
                    </a:lnT>
                    <a:lnB>
                      <a:noFill/>
                    </a:lnB>
                    <a:noFill/>
                  </a:tcPr>
                </a:tc>
                <a:tc>
                  <a:txBody>
                    <a:bodyPr/>
                    <a:p>
                      <a:r>
                        <a:rPr sz="1800"/>
                        <a:t>For larger apps, setting up state, routing, testing can be complex.</a:t>
                      </a:r>
                      <a:endParaRPr sz="1800"/>
                    </a:p>
                  </a:txBody>
                  <a:tcPr marL="0" marR="0" marT="0" marB="0" anchor="ctr" anchorCtr="0">
                    <a:lnL>
                      <a:noFill/>
                    </a:lnL>
                    <a:lnR>
                      <a:noFill/>
                    </a:lnR>
                    <a:lnT>
                      <a:noFill/>
                    </a:lnT>
                    <a:lnB>
                      <a:noFill/>
                    </a:lnB>
                    <a:noFill/>
                  </a:tcPr>
                </a:tc>
              </a:tr>
              <a:tr h="361950">
                <a:tc>
                  <a:txBody>
                    <a:bodyPr/>
                    <a:p>
                      <a:r>
                        <a:rPr sz="1800"/>
                        <a:t>Frequent updates</a:t>
                      </a:r>
                      <a:endParaRPr sz="1800"/>
                    </a:p>
                  </a:txBody>
                  <a:tcPr marL="0" marR="0" marT="0" marB="0" anchor="ctr" anchorCtr="0">
                    <a:lnL>
                      <a:noFill/>
                    </a:lnL>
                    <a:lnR>
                      <a:noFill/>
                    </a:lnR>
                    <a:lnT>
                      <a:noFill/>
                    </a:lnT>
                    <a:lnB>
                      <a:noFill/>
                    </a:lnB>
                    <a:noFill/>
                  </a:tcPr>
                </a:tc>
                <a:tc>
                  <a:txBody>
                    <a:bodyPr/>
                    <a:p>
                      <a:r>
                        <a:rPr sz="1800"/>
                        <a:t>React ecosystem changes fast—may lead to outdated tutorials.</a:t>
                      </a:r>
                      <a:endParaRPr sz="1800"/>
                    </a:p>
                  </a:txBody>
                  <a:tcPr marL="0" marR="0" marT="0" marB="0" anchor="ctr" anchorCtr="0">
                    <a:lnL>
                      <a:noFill/>
                    </a:lnL>
                    <a:lnR>
                      <a:noFill/>
                    </a:lnR>
                    <a:lnT>
                      <a:noFill/>
                    </a:lnT>
                    <a:lnB>
                      <a:noFill/>
                    </a:lnB>
                    <a:noFill/>
                  </a:tcPr>
                </a:tc>
              </a:tr>
              <a:tr h="361315">
                <a:tc>
                  <a:txBody>
                    <a:bodyPr/>
                    <a:p>
                      <a:r>
                        <a:rPr sz="1800"/>
                        <a:t>Not a full framework</a:t>
                      </a:r>
                      <a:endParaRPr sz="1800"/>
                    </a:p>
                  </a:txBody>
                  <a:tcPr marL="0" marR="0" marT="0" marB="0" anchor="ctr" anchorCtr="0">
                    <a:lnL>
                      <a:noFill/>
                    </a:lnL>
                    <a:lnR>
                      <a:noFill/>
                    </a:lnR>
                    <a:lnT>
                      <a:noFill/>
                    </a:lnT>
                    <a:lnB>
                      <a:noFill/>
                    </a:lnB>
                    <a:noFill/>
                  </a:tcPr>
                </a:tc>
                <a:tc>
                  <a:txBody>
                    <a:bodyPr/>
                    <a:p>
                      <a:r>
                        <a:rPr sz="1800"/>
                        <a:t>Needs additional libraries for routing, state, etc.</a:t>
                      </a:r>
                      <a:endParaRPr sz="1800"/>
                    </a:p>
                  </a:txBody>
                  <a:tcPr marL="0" marR="0" marT="0" marB="0" anchor="ctr" anchorCtr="0">
                    <a:lnL>
                      <a:noFill/>
                    </a:lnL>
                    <a:lnR>
                      <a:noFill/>
                    </a:lnR>
                    <a:lnT>
                      <a:noFill/>
                    </a:lnT>
                    <a:lnB>
                      <a:noFill/>
                    </a:lnB>
                    <a:noFill/>
                  </a:tcPr>
                </a:tc>
              </a:tr>
              <a:tr h="361315">
                <a:tc>
                  <a:txBody>
                    <a:bodyPr/>
                    <a:p>
                      <a:r>
                        <a:rPr sz="1800"/>
                        <a:t>SEO out of the box</a:t>
                      </a:r>
                      <a:endParaRPr sz="1800"/>
                    </a:p>
                  </a:txBody>
                  <a:tcPr marL="0" marR="0" marT="0" marB="0" anchor="ctr" anchorCtr="0">
                    <a:lnL>
                      <a:noFill/>
                    </a:lnL>
                    <a:lnR>
                      <a:noFill/>
                    </a:lnR>
                    <a:lnT>
                      <a:noFill/>
                    </a:lnT>
                    <a:lnB>
                      <a:noFill/>
                    </a:lnB>
                    <a:noFill/>
                  </a:tcPr>
                </a:tc>
                <a:tc>
                  <a:txBody>
                    <a:bodyPr/>
                    <a:p>
                      <a:r>
                        <a:rPr sz="1800"/>
                        <a:t>React is not SEO-friendly by default (needs SSR via Next.js).</a:t>
                      </a:r>
                      <a:endParaRPr sz="1800"/>
                    </a:p>
                  </a:txBody>
                  <a:tcPr marL="0" marR="0" marT="0" marB="0" anchor="ctr" anchorCtr="0">
                    <a:lnL>
                      <a:noFill/>
                    </a:lnL>
                    <a:lnR>
                      <a:noFill/>
                    </a:lnR>
                    <a:lnT>
                      <a:noFill/>
                    </a:lnT>
                    <a:lnB>
                      <a:noFill/>
                    </a:lnB>
                    <a:noFill/>
                  </a:tcPr>
                </a:tc>
              </a:tr>
              <a:tr h="361315">
                <a:tc>
                  <a:txBody>
                    <a:bodyPr/>
                    <a:p>
                      <a:r>
                        <a:rPr sz="1800"/>
                        <a:t>State management complexity</a:t>
                      </a:r>
                      <a:endParaRPr sz="1800"/>
                    </a:p>
                  </a:txBody>
                  <a:tcPr marL="0" marR="0" marT="0" marB="0" anchor="ctr" anchorCtr="0">
                    <a:lnL>
                      <a:noFill/>
                    </a:lnL>
                    <a:lnR>
                      <a:noFill/>
                    </a:lnR>
                    <a:lnT>
                      <a:noFill/>
                    </a:lnT>
                    <a:lnB>
                      <a:noFill/>
                    </a:lnB>
                    <a:noFill/>
                  </a:tcPr>
                </a:tc>
                <a:tc>
                  <a:txBody>
                    <a:bodyPr/>
                    <a:p>
                      <a:r>
                        <a:rPr sz="1800"/>
                        <a:t>For large apps, managing global state can get tricky.</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1203940" cy="343535"/>
          </a:xfrm>
        </p:spPr>
        <p:txBody>
          <a:bodyPr>
            <a:normAutofit fontScale="90000"/>
          </a:bodyPr>
          <a:p>
            <a:r>
              <a:rPr lang="en-US" sz="2400" b="1">
                <a:solidFill>
                  <a:srgbClr val="FF0000"/>
                </a:solidFill>
                <a:latin typeface="Cambria" panose="02040503050406030204" charset="0"/>
                <a:cs typeface="Cambria" panose="02040503050406030204" charset="0"/>
              </a:rPr>
              <a:t>What is  Node.js</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343535"/>
            <a:ext cx="12192000" cy="6396990"/>
          </a:xfrm>
        </p:spPr>
        <p:txBody>
          <a:bodyPr/>
          <a:p>
            <a:r>
              <a:rPr lang="en-US" altLang="en-US" sz="1800">
                <a:latin typeface="Cambria" panose="02040503050406030204" charset="0"/>
                <a:cs typeface="Cambria" panose="02040503050406030204" charset="0"/>
              </a:rPr>
              <a:t>Node.js is a powerful, open-source, and cross-platform JavaScript runtime environment built on Chrome's V8 engine. It allows you to run JavaScript code outside the browser, making it ideal for building scalable server-side and networking applications.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JavaScript was mainly used for frontend development earlier. With Node.js (Introduced in 2009), JavaScript became a backend language as well.</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Non-blocking, event-driven architecture for high performance.</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Supports the creation of REST APIs, real-time applications, and microservices.</a:t>
            </a:r>
            <a:endParaRPr lang="en-US" altLang="en-US" sz="1800">
              <a:latin typeface="Cambria" panose="02040503050406030204" charset="0"/>
              <a:cs typeface="Cambria" panose="02040503050406030204" charset="0"/>
            </a:endParaRPr>
          </a:p>
          <a:p>
            <a:r>
              <a:rPr lang="en-US" altLang="en-US" sz="1800">
                <a:latin typeface="Cambria" panose="02040503050406030204" charset="0"/>
                <a:cs typeface="Cambria" panose="02040503050406030204" charset="0"/>
              </a:rPr>
              <a:t>Comes with a rich library of modules through npm (Node Package Manager).</a:t>
            </a:r>
            <a:endParaRPr lang="en-US" altLang="en-US" sz="1800">
              <a:latin typeface="Cambria" panose="02040503050406030204" charset="0"/>
              <a:cs typeface="Cambria" panose="02040503050406030204" charset="0"/>
            </a:endParaRPr>
          </a:p>
          <a:p>
            <a:endParaRPr lang="en-US" altLang="en-US" sz="1800">
              <a:latin typeface="Cambria" panose="02040503050406030204" charset="0"/>
              <a:cs typeface="Cambria" panose="02040503050406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015" y="0"/>
            <a:ext cx="10515600" cy="375920"/>
          </a:xfrm>
        </p:spPr>
        <p:txBody>
          <a:bodyPr>
            <a:normAutofit fontScale="90000"/>
          </a:bodyPr>
          <a:p>
            <a:r>
              <a:rPr lang="en-US" sz="2400" b="1">
                <a:solidFill>
                  <a:srgbClr val="FF0000"/>
                </a:solidFill>
                <a:latin typeface="Cambria" panose="02040503050406030204" charset="0"/>
                <a:cs typeface="Cambria" panose="02040503050406030204" charset="0"/>
              </a:rPr>
              <a:t>React Installation And Setup And Create New Project</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120015" y="375920"/>
            <a:ext cx="11746230" cy="6482080"/>
          </a:xfrm>
        </p:spPr>
        <p:txBody>
          <a:bodyPr>
            <a:noAutofit/>
          </a:bodyPr>
          <a:p>
            <a:pPr marL="0" indent="0">
              <a:buNone/>
            </a:pPr>
            <a:r>
              <a:rPr lang="en-US" altLang="en-US" sz="1800">
                <a:latin typeface="Cambria" panose="02040503050406030204" charset="0"/>
                <a:cs typeface="Cambria" panose="02040503050406030204" charset="0"/>
              </a:rPr>
              <a:t>How to Install Node.js and npm</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1. What are they?</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Node.js is a JavaScript runtime to run JS outside the browser.</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npm (Node Package Manager) comes bundled with Node.js and lets you install libraries and tools like React.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2. Installation Steps</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For Windows and macOS: Go to the official Node.js website:</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https://nodejs.org/     Download the LTS (Long-Term Support) version</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The LTS version is more stable and recommended for most users.</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Run the installer</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Follow the setup wizard instructions. </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By default, npm installs with Node.js.   Verify installation</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Open your terminal (Command Prompt, PowerShell, or Terminal) and run:</a:t>
            </a:r>
            <a:endParaRPr lang="en-US" altLang="en-US" sz="1800">
              <a:latin typeface="Cambria" panose="02040503050406030204" charset="0"/>
              <a:cs typeface="Cambria" panose="02040503050406030204" charset="0"/>
            </a:endParaRPr>
          </a:p>
          <a:p>
            <a:pPr marL="0" indent="0">
              <a:buNone/>
            </a:pPr>
            <a:r>
              <a:rPr lang="en-US" altLang="en-US" sz="1800" b="1">
                <a:latin typeface="Cambria" panose="02040503050406030204" charset="0"/>
                <a:cs typeface="Cambria" panose="02040503050406030204" charset="0"/>
              </a:rPr>
              <a:t>node -v          npm -v</a:t>
            </a:r>
            <a:endParaRPr lang="en-US" altLang="en-US" sz="1800">
              <a:latin typeface="Cambria" panose="02040503050406030204" charset="0"/>
              <a:cs typeface="Cambria" panose="02040503050406030204" charset="0"/>
            </a:endParaRPr>
          </a:p>
          <a:p>
            <a:pPr marL="0" indent="0">
              <a:buNone/>
            </a:pPr>
            <a:r>
              <a:rPr lang="en-US" altLang="en-US" sz="1800">
                <a:highlight>
                  <a:srgbClr val="FFFF00"/>
                </a:highlight>
                <a:latin typeface="Cambria" panose="02040503050406030204" charset="0"/>
                <a:cs typeface="Cambria" panose="02040503050406030204" charset="0"/>
                <a:sym typeface="+mn-ea"/>
              </a:rPr>
              <a:t>npm create vite@latest                                      my-app (Create project with Vite+React)         </a:t>
            </a:r>
            <a:endParaRPr lang="en-US" altLang="en-US" sz="1800">
              <a:highlight>
                <a:srgbClr val="FFFF00"/>
              </a:highlight>
              <a:latin typeface="Cambria" panose="02040503050406030204" charset="0"/>
              <a:cs typeface="Cambria" panose="02040503050406030204" charset="0"/>
              <a:sym typeface="+mn-ea"/>
            </a:endParaRPr>
          </a:p>
          <a:p>
            <a:pPr marL="0" indent="0">
              <a:buNone/>
            </a:pPr>
            <a:r>
              <a:rPr lang="en-US" altLang="en-US" sz="1800">
                <a:latin typeface="Cambria" panose="02040503050406030204" charset="0"/>
                <a:cs typeface="Cambria" panose="02040503050406030204" charset="0"/>
              </a:rPr>
              <a:t>cd my-app (new mp-app project foler)</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npm install(install npm and project related packages)      </a:t>
            </a:r>
            <a:endParaRPr lang="en-US" altLang="en-US" sz="1800">
              <a:latin typeface="Cambria" panose="02040503050406030204" charset="0"/>
              <a:cs typeface="Cambria" panose="02040503050406030204" charset="0"/>
            </a:endParaRPr>
          </a:p>
          <a:p>
            <a:pPr marL="0" indent="0">
              <a:buNone/>
            </a:pPr>
            <a:r>
              <a:rPr lang="en-US" altLang="en-US" sz="1800" b="1">
                <a:latin typeface="Cambria" panose="02040503050406030204" charset="0"/>
                <a:cs typeface="Cambria" panose="02040503050406030204" charset="0"/>
              </a:rPr>
              <a:t>  npm run dev    </a:t>
            </a:r>
            <a:r>
              <a:rPr lang="en-US" altLang="en-US" sz="1800">
                <a:latin typeface="Cambria" panose="02040503050406030204" charset="0"/>
                <a:cs typeface="Cambria" panose="02040503050406030204" charset="0"/>
              </a:rPr>
              <a:t>(for Run The Application)</a:t>
            </a:r>
            <a:endParaRPr lang="en-US" altLang="en-US" sz="1800">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a:p>
            <a:pPr marL="0" indent="0">
              <a:buNone/>
            </a:pPr>
            <a:endParaRPr lang="en-US" altLang="en-US" sz="1800">
              <a:latin typeface="Cambria" panose="02040503050406030204" charset="0"/>
              <a:cs typeface="Cambria" panose="02040503050406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4620" y="130810"/>
            <a:ext cx="10515600" cy="594360"/>
          </a:xfrm>
        </p:spPr>
        <p:txBody>
          <a:bodyPr>
            <a:normAutofit fontScale="90000"/>
          </a:bodyPr>
          <a:p>
            <a:r>
              <a:rPr lang="en-US"/>
              <a:t>React Folder Structure</a:t>
            </a:r>
            <a:endParaRPr lang="en-US"/>
          </a:p>
        </p:txBody>
      </p:sp>
      <p:sp>
        <p:nvSpPr>
          <p:cNvPr id="3" name="Content Placeholder 2"/>
          <p:cNvSpPr>
            <a:spLocks noGrp="1"/>
          </p:cNvSpPr>
          <p:nvPr>
            <p:ph idx="1"/>
          </p:nvPr>
        </p:nvSpPr>
        <p:spPr>
          <a:xfrm>
            <a:off x="134620" y="959485"/>
            <a:ext cx="11526520" cy="5701665"/>
          </a:xfrm>
        </p:spPr>
        <p:txBody>
          <a:bodyPr>
            <a:normAutofit fontScale="70000"/>
          </a:bodyPr>
          <a:p>
            <a:r>
              <a:rPr lang="en-US" altLang="en-US"/>
              <a:t>my-app/</a:t>
            </a:r>
            <a:endParaRPr lang="en-US" altLang="en-US"/>
          </a:p>
          <a:p>
            <a:r>
              <a:rPr lang="en-US" altLang="en-US"/>
              <a:t>├── public/</a:t>
            </a:r>
            <a:endParaRPr lang="en-US" altLang="en-US"/>
          </a:p>
          <a:p>
            <a:r>
              <a:rPr lang="en-US" altLang="en-US"/>
              <a:t>│   └── vite.svg</a:t>
            </a:r>
            <a:endParaRPr lang="en-US" altLang="en-US"/>
          </a:p>
          <a:p>
            <a:r>
              <a:rPr lang="en-US" altLang="en-US"/>
              <a:t>├── src/</a:t>
            </a:r>
            <a:endParaRPr lang="en-US" altLang="en-US"/>
          </a:p>
          <a:p>
            <a:r>
              <a:rPr lang="en-US" altLang="en-US"/>
              <a:t>│   ├── assets/</a:t>
            </a:r>
            <a:endParaRPr lang="en-US" altLang="en-US"/>
          </a:p>
          <a:p>
            <a:r>
              <a:rPr lang="en-US" altLang="en-US"/>
              <a:t>│   │   └── react.svg</a:t>
            </a:r>
            <a:endParaRPr lang="en-US" altLang="en-US"/>
          </a:p>
          <a:p>
            <a:r>
              <a:rPr lang="en-US" altLang="en-US"/>
              <a:t>│   ├── App.jsx</a:t>
            </a:r>
            <a:endParaRPr lang="en-US" altLang="en-US"/>
          </a:p>
          <a:p>
            <a:r>
              <a:rPr lang="en-US" altLang="en-US"/>
              <a:t>│   ├── main.jsx</a:t>
            </a:r>
            <a:endParaRPr lang="en-US" altLang="en-US"/>
          </a:p>
          <a:p>
            <a:r>
              <a:rPr lang="en-US" altLang="en-US"/>
              <a:t>│   └── index.css</a:t>
            </a:r>
            <a:endParaRPr lang="en-US" altLang="en-US"/>
          </a:p>
          <a:p>
            <a:r>
              <a:rPr lang="en-US" altLang="en-US"/>
              <a:t>├── .gitignore</a:t>
            </a:r>
            <a:endParaRPr lang="en-US" altLang="en-US"/>
          </a:p>
          <a:p>
            <a:r>
              <a:rPr lang="en-US" altLang="en-US"/>
              <a:t>├── index.html</a:t>
            </a:r>
            <a:endParaRPr lang="en-US" altLang="en-US"/>
          </a:p>
          <a:p>
            <a:r>
              <a:rPr lang="en-US" altLang="en-US"/>
              <a:t>├── package.json</a:t>
            </a:r>
            <a:endParaRPr lang="en-US" altLang="en-US"/>
          </a:p>
          <a:p>
            <a:r>
              <a:rPr lang="en-US" altLang="en-US"/>
              <a:t>├── vite.config.js</a:t>
            </a:r>
            <a:endParaRPr lang="en-US" altLang="en-US"/>
          </a:p>
          <a:p>
            <a:r>
              <a:rPr lang="en-US" altLang="en-US"/>
              <a:t>└── README.md</a:t>
            </a:r>
            <a:endParaRPr lang="en-US" altLang="en-US"/>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3830" y="0"/>
            <a:ext cx="10515600" cy="425450"/>
          </a:xfrm>
        </p:spPr>
        <p:txBody>
          <a:bodyPr/>
          <a:p>
            <a:r>
              <a:rPr lang="en-US" sz="2000" b="1">
                <a:solidFill>
                  <a:srgbClr val="FF0000"/>
                </a:solidFill>
              </a:rPr>
              <a:t>Public And Src Folder</a:t>
            </a:r>
            <a:endParaRPr lang="en-US" sz="2000" b="1">
              <a:solidFill>
                <a:srgbClr val="FF0000"/>
              </a:solidFill>
            </a:endParaRPr>
          </a:p>
        </p:txBody>
      </p:sp>
      <p:sp>
        <p:nvSpPr>
          <p:cNvPr id="3" name="Content Placeholder 2"/>
          <p:cNvSpPr>
            <a:spLocks noGrp="1"/>
          </p:cNvSpPr>
          <p:nvPr>
            <p:ph idx="1"/>
          </p:nvPr>
        </p:nvSpPr>
        <p:spPr>
          <a:xfrm>
            <a:off x="163830" y="425450"/>
            <a:ext cx="11643360" cy="6431915"/>
          </a:xfrm>
        </p:spPr>
        <p:txBody>
          <a:bodyPr/>
          <a:p>
            <a:r>
              <a:rPr lang="en-US" altLang="en-US" sz="2000"/>
              <a:t>1. public/</a:t>
            </a:r>
            <a:endParaRPr lang="en-US" altLang="en-US" sz="2000"/>
          </a:p>
          <a:p>
            <a:pPr marL="457200" indent="-457200">
              <a:buAutoNum type="arabicPeriod"/>
            </a:pPr>
            <a:r>
              <a:rPr lang="en-US" altLang="en-US" sz="2000"/>
              <a:t>Static assets that are copied directly to the root of the final build.</a:t>
            </a:r>
            <a:endParaRPr lang="en-US" altLang="en-US" sz="2000"/>
          </a:p>
          <a:p>
            <a:pPr marL="457200" indent="-457200">
              <a:buAutoNum type="arabicPeriod"/>
            </a:pPr>
            <a:r>
              <a:rPr lang="en-US" altLang="en-US" sz="2000"/>
              <a:t>Example: favicon, images, static config files.</a:t>
            </a:r>
            <a:endParaRPr lang="en-US" altLang="en-US" sz="2000"/>
          </a:p>
          <a:p>
            <a:pPr marL="457200" indent="-457200">
              <a:buAutoNum type="arabicPeriod"/>
            </a:pPr>
            <a:r>
              <a:rPr lang="en-US" altLang="en-US" sz="2000"/>
              <a:t>Accessed via /vite.svg (no need for import).</a:t>
            </a:r>
            <a:endParaRPr lang="en-US" altLang="en-US" sz="2000"/>
          </a:p>
          <a:p>
            <a:endParaRPr lang="en-US" altLang="en-US" sz="2000"/>
          </a:p>
          <a:p>
            <a:r>
              <a:rPr lang="en-US" altLang="en-US" sz="2000"/>
              <a:t>2. src/</a:t>
            </a:r>
            <a:endParaRPr lang="en-US" altLang="en-US" sz="2000"/>
          </a:p>
          <a:p>
            <a:pPr marL="0" indent="0">
              <a:buNone/>
            </a:pPr>
            <a:r>
              <a:rPr lang="en-US" altLang="en-US" sz="2000"/>
              <a:t>Main source code directory. Everything related to your application lives here.</a:t>
            </a:r>
            <a:endParaRPr lang="en-US" altLang="en-US" sz="2000"/>
          </a:p>
          <a:p>
            <a:r>
              <a:rPr lang="zh-CN" altLang="en-US" sz="2000"/>
              <a:t>🔹</a:t>
            </a:r>
            <a:r>
              <a:rPr lang="en-US" altLang="en-US" sz="2000"/>
              <a:t> src/main.jsx</a:t>
            </a:r>
            <a:endParaRPr lang="en-US" altLang="en-US" sz="2000"/>
          </a:p>
          <a:p>
            <a:r>
              <a:rPr lang="en-US" altLang="en-US" sz="2000"/>
              <a:t>Entry point of the React app.</a:t>
            </a:r>
            <a:endParaRPr lang="en-US" altLang="en-US" sz="2000"/>
          </a:p>
          <a:p>
            <a:r>
              <a:rPr lang="en-US" altLang="en-US" sz="2000"/>
              <a:t>Mounts your root component (App) to the DOM.</a:t>
            </a:r>
            <a:endParaRPr lang="en-US"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7645" y="130810"/>
            <a:ext cx="10515600" cy="389255"/>
          </a:xfrm>
        </p:spPr>
        <p:txBody>
          <a:bodyPr>
            <a:normAutofit fontScale="90000"/>
          </a:bodyPr>
          <a:p>
            <a:r>
              <a:rPr lang="en-US" sz="2665" b="1">
                <a:solidFill>
                  <a:srgbClr val="FF0000"/>
                </a:solidFill>
                <a:latin typeface="Cambria" panose="02040503050406030204" charset="0"/>
                <a:cs typeface="Cambria" panose="02040503050406030204" charset="0"/>
              </a:rPr>
              <a:t>2)main.jsx</a:t>
            </a:r>
            <a:endParaRPr lang="en-US" sz="2665"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207645" y="682625"/>
            <a:ext cx="10515600" cy="3648710"/>
          </a:xfrm>
        </p:spPr>
        <p:txBody>
          <a:bodyPr>
            <a:normAutofit/>
          </a:bodyPr>
          <a:p>
            <a:r>
              <a:rPr lang="en-US" altLang="en-US" sz="2000"/>
              <a:t>import React from 'react';</a:t>
            </a:r>
            <a:endParaRPr lang="en-US" altLang="en-US" sz="2000"/>
          </a:p>
          <a:p>
            <a:r>
              <a:rPr lang="en-US" altLang="en-US" sz="2000"/>
              <a:t>import ReactDOM from 'react-dom/client';</a:t>
            </a:r>
            <a:endParaRPr lang="en-US" altLang="en-US" sz="2000"/>
          </a:p>
          <a:p>
            <a:r>
              <a:rPr lang="en-US" altLang="en-US" sz="2000"/>
              <a:t>import App from './App';</a:t>
            </a:r>
            <a:endParaRPr lang="en-US" altLang="en-US" sz="2000"/>
          </a:p>
          <a:p>
            <a:r>
              <a:rPr lang="en-US" altLang="en-US" sz="2000"/>
              <a:t>import './index.css';</a:t>
            </a:r>
            <a:endParaRPr lang="en-US" altLang="en-US" sz="2000"/>
          </a:p>
          <a:p>
            <a:r>
              <a:rPr lang="en-US" altLang="en-US" sz="2000"/>
              <a:t>ReactDOM.createRoot(document.getElementById('root')).render(</a:t>
            </a:r>
            <a:endParaRPr lang="en-US" altLang="en-US" sz="2000"/>
          </a:p>
          <a:p>
            <a:r>
              <a:rPr lang="en-US" altLang="en-US" sz="2000"/>
              <a:t>  &lt;React.StrictMode&gt;</a:t>
            </a:r>
            <a:endParaRPr lang="en-US" altLang="en-US" sz="2000"/>
          </a:p>
          <a:p>
            <a:r>
              <a:rPr lang="en-US" altLang="en-US" sz="2000"/>
              <a:t>    &lt;App /&gt;</a:t>
            </a:r>
            <a:endParaRPr lang="en-US" altLang="en-US" sz="2000"/>
          </a:p>
          <a:p>
            <a:r>
              <a:rPr lang="en-US" altLang="en-US" sz="2000"/>
              <a:t>  &lt;/React.StrictMode&gt;</a:t>
            </a:r>
            <a:endParaRPr lang="en-US" altLang="en-US" sz="2000"/>
          </a:p>
          <a:p>
            <a:r>
              <a:rPr lang="en-US" altLang="en-US" sz="2000"/>
              <a:t>);</a:t>
            </a:r>
            <a:endParaRPr lang="en-US" altLang="en-US" sz="2000"/>
          </a:p>
          <a:p>
            <a:endParaRPr lang="en-US" altLang="en-US" sz="2000"/>
          </a:p>
        </p:txBody>
      </p:sp>
      <p:sp>
        <p:nvSpPr>
          <p:cNvPr id="4" name="Text Box 3"/>
          <p:cNvSpPr txBox="1"/>
          <p:nvPr/>
        </p:nvSpPr>
        <p:spPr>
          <a:xfrm>
            <a:off x="207645" y="4331335"/>
            <a:ext cx="11586210" cy="2382520"/>
          </a:xfrm>
          <a:prstGeom prst="rect">
            <a:avLst/>
          </a:prstGeom>
        </p:spPr>
        <p:txBody>
          <a:bodyPr wrap="square">
            <a:noAutofit/>
          </a:bodyPr>
          <a:p>
            <a:r>
              <a:rPr>
                <a:latin typeface="Cambria" panose="02040503050406030204" charset="0"/>
                <a:cs typeface="Cambria" panose="02040503050406030204" charset="0"/>
              </a:rPr>
              <a:t>Main source code directory. Everything related to your application lives here.</a:t>
            </a:r>
            <a:endParaRPr>
              <a:latin typeface="Cambria" panose="02040503050406030204" charset="0"/>
              <a:cs typeface="Cambria" panose="02040503050406030204" charset="0"/>
            </a:endParaRPr>
          </a:p>
          <a:p>
            <a:pPr>
              <a:spcAft>
                <a:spcPct val="60000"/>
              </a:spcAft>
            </a:pPr>
            <a:r>
              <a:rPr sz="2000" b="1">
                <a:latin typeface="Cambria" panose="02040503050406030204" charset="0"/>
                <a:cs typeface="Cambria" panose="02040503050406030204" charset="0"/>
              </a:rPr>
              <a:t>🔹 src/main.jsx</a:t>
            </a:r>
            <a:endParaRPr sz="2000" b="1">
              <a:latin typeface="Cambria" panose="02040503050406030204" charset="0"/>
              <a:cs typeface="Cambria" panose="02040503050406030204" charset="0"/>
            </a:endParaRPr>
          </a:p>
          <a:p>
            <a:pPr>
              <a:spcAft>
                <a:spcPct val="60000"/>
              </a:spcAft>
            </a:pPr>
            <a:r>
              <a:rPr>
                <a:latin typeface="Cambria" panose="02040503050406030204" charset="0"/>
                <a:cs typeface="Cambria" panose="02040503050406030204" charset="0"/>
              </a:rPr>
              <a:t>Entry point of the React app.</a:t>
            </a:r>
            <a:endParaRPr>
              <a:latin typeface="Cambria" panose="02040503050406030204" charset="0"/>
              <a:cs typeface="Cambria" panose="02040503050406030204" charset="0"/>
            </a:endParaRPr>
          </a:p>
          <a:p>
            <a:pPr>
              <a:buFont typeface="Arial" panose="020B0604020202020204"/>
              <a:buChar char="•"/>
            </a:pPr>
            <a:r>
              <a:rPr>
                <a:latin typeface="Cambria" panose="02040503050406030204" charset="0"/>
                <a:cs typeface="Cambria" panose="02040503050406030204" charset="0"/>
              </a:rPr>
              <a:t>Mounts your root component (App) to the DOM.</a:t>
            </a:r>
            <a:endParaRPr>
              <a:latin typeface="Cambria" panose="02040503050406030204" charset="0"/>
              <a:cs typeface="Cambria" panose="0204050305040603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444500"/>
          </a:xfrm>
        </p:spPr>
        <p:txBody>
          <a:bodyPr>
            <a:noAutofit/>
          </a:bodyPr>
          <a:p>
            <a:r>
              <a:rPr lang="en-US" sz="2800" b="1">
                <a:solidFill>
                  <a:srgbClr val="FF0000"/>
                </a:solidFill>
              </a:rPr>
              <a:t>React StrictMode</a:t>
            </a:r>
            <a:endParaRPr lang="en-US" sz="2800" b="1">
              <a:solidFill>
                <a:srgbClr val="FF0000"/>
              </a:solidFill>
            </a:endParaRPr>
          </a:p>
        </p:txBody>
      </p:sp>
      <p:sp>
        <p:nvSpPr>
          <p:cNvPr id="3" name="Content Placeholder 2"/>
          <p:cNvSpPr>
            <a:spLocks noGrp="1"/>
          </p:cNvSpPr>
          <p:nvPr>
            <p:ph idx="1"/>
          </p:nvPr>
        </p:nvSpPr>
        <p:spPr>
          <a:xfrm>
            <a:off x="103505" y="444500"/>
            <a:ext cx="12089130" cy="6310630"/>
          </a:xfrm>
        </p:spPr>
        <p:txBody>
          <a:bodyPr/>
          <a:p>
            <a:r>
              <a:rPr lang="en-US" altLang="en-US" sz="1800"/>
              <a:t>In React, StrictMode is a development-only tool used to identify potential problems in your application. It doesn't render anything visible to the UI and doesn't affect the production build.</a:t>
            </a:r>
            <a:endParaRPr lang="en-US" altLang="en-US" sz="1800"/>
          </a:p>
          <a:p>
            <a:r>
              <a:rPr lang="en-US" altLang="en-US" sz="1800"/>
              <a:t> Purpose of StrictMode</a:t>
            </a:r>
            <a:endParaRPr lang="en-US" altLang="en-US" sz="1800"/>
          </a:p>
          <a:p>
            <a:r>
              <a:rPr lang="en-US" altLang="en-US" sz="1800"/>
              <a:t>It helps with:</a:t>
            </a:r>
            <a:endParaRPr lang="en-US" altLang="en-US" sz="1800"/>
          </a:p>
          <a:p>
            <a:endParaRPr lang="en-US" altLang="en-US" sz="1800"/>
          </a:p>
          <a:p>
            <a:r>
              <a:rPr lang="en-US" altLang="en-US" sz="1800"/>
              <a:t>Detecting unsafe lifecycles</a:t>
            </a:r>
            <a:endParaRPr lang="en-US" altLang="en-US" sz="1800"/>
          </a:p>
          <a:p>
            <a:r>
              <a:rPr lang="en-US" altLang="en-US" sz="1800"/>
              <a:t>Warning about legacy API usage</a:t>
            </a:r>
            <a:endParaRPr lang="en-US" altLang="en-US" sz="1800"/>
          </a:p>
          <a:p>
            <a:r>
              <a:rPr lang="en-US" altLang="en-US" sz="1800"/>
              <a:t>Identifying unexpected side effects</a:t>
            </a:r>
            <a:endParaRPr lang="en-US" altLang="en-US" sz="1800"/>
          </a:p>
          <a:p>
            <a:r>
              <a:rPr lang="en-US" altLang="en-US" sz="1800"/>
              <a:t>Ensuring components are resilient to future changes in React</a:t>
            </a:r>
            <a:endParaRPr lang="en-US" altLang="en-US" sz="1800"/>
          </a:p>
          <a:p>
            <a:endParaRPr lang="en-US" altLang="en-US" sz="1800"/>
          </a:p>
          <a:p>
            <a:r>
              <a:rPr lang="en-US" altLang="en-US" sz="1800"/>
              <a:t>&lt;React.StrictMode&gt; intentionally double-invokes some lifecycle methods (like useEffect, constructor, render) in development (not in production) to help detect side effects that might be unsafe or improperly handled.</a:t>
            </a: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650" y="116205"/>
            <a:ext cx="11116310" cy="476885"/>
          </a:xfrm>
        </p:spPr>
        <p:txBody>
          <a:bodyPr/>
          <a:p>
            <a:r>
              <a:rPr lang="en-US" altLang="en-US" sz="2400" b="1">
                <a:solidFill>
                  <a:srgbClr val="FF0000"/>
                </a:solidFill>
                <a:latin typeface="Cambria" panose="02040503050406030204" charset="0"/>
                <a:cs typeface="Cambria" panose="02040503050406030204" charset="0"/>
                <a:sym typeface="+mn-ea"/>
              </a:rPr>
              <a:t>src/App.jsx and main.css</a:t>
            </a:r>
            <a:endParaRPr lang="en-US" altLang="en-US" sz="24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208280" y="770255"/>
            <a:ext cx="10515600" cy="5934710"/>
          </a:xfrm>
        </p:spPr>
        <p:txBody>
          <a:bodyPr>
            <a:normAutofit/>
          </a:bodyPr>
          <a:p>
            <a:r>
              <a:rPr lang="en-US" altLang="en-US" sz="1800"/>
              <a:t>src/App.jsx</a:t>
            </a:r>
            <a:endParaRPr lang="en-US" altLang="en-US" sz="1800"/>
          </a:p>
          <a:p>
            <a:r>
              <a:rPr lang="en-US" altLang="en-US" sz="1800"/>
              <a:t>Root component of your app.</a:t>
            </a:r>
            <a:endParaRPr lang="en-US" altLang="en-US" sz="1800"/>
          </a:p>
          <a:p>
            <a:r>
              <a:rPr lang="en-US" altLang="en-US" sz="1800"/>
              <a:t>Can include routing, layout, providers, etc.</a:t>
            </a:r>
            <a:endParaRPr lang="en-US" altLang="en-US" sz="1800"/>
          </a:p>
          <a:p>
            <a:r>
              <a:rPr lang="en-US" altLang="en-US" sz="1800"/>
              <a:t>function App() {</a:t>
            </a:r>
            <a:endParaRPr lang="en-US" altLang="en-US" sz="1800"/>
          </a:p>
          <a:p>
            <a:r>
              <a:rPr lang="en-US" altLang="en-US" sz="1800"/>
              <a:t>  return &lt;h1&gt;Hello Vite + React!&lt;/h1&gt;;</a:t>
            </a:r>
            <a:endParaRPr lang="en-US" altLang="en-US" sz="1800"/>
          </a:p>
          <a:p>
            <a:r>
              <a:rPr lang="en-US" altLang="en-US" sz="1800"/>
              <a:t>}</a:t>
            </a:r>
            <a:endParaRPr lang="en-US" altLang="en-US" sz="1800"/>
          </a:p>
          <a:p>
            <a:r>
              <a:rPr lang="en-US" altLang="en-US" sz="1800"/>
              <a:t>export default App;</a:t>
            </a:r>
            <a:endParaRPr lang="en-US" altLang="en-US" sz="1800"/>
          </a:p>
          <a:p>
            <a:endParaRPr lang="en-US" altLang="en-US" sz="1800"/>
          </a:p>
          <a:p>
            <a:endParaRPr lang="en-US" altLang="en-US" sz="1800"/>
          </a:p>
          <a:p>
            <a:r>
              <a:rPr lang="en-US" altLang="en-US" sz="1800"/>
              <a:t>src/index.css</a:t>
            </a:r>
            <a:endParaRPr lang="en-US" altLang="en-US" sz="1800"/>
          </a:p>
          <a:p>
            <a:r>
              <a:rPr lang="en-US" altLang="en-US" sz="1800"/>
              <a:t>Global CSS.</a:t>
            </a:r>
            <a:endParaRPr lang="en-US" altLang="en-US" sz="1800"/>
          </a:p>
          <a:p>
            <a:r>
              <a:rPr lang="en-US" altLang="en-US" sz="1800"/>
              <a:t>Loaded in main.jsx.</a:t>
            </a:r>
            <a:endParaRPr lang="en-US" altLang="en-US" sz="1800"/>
          </a:p>
          <a:p>
            <a:r>
              <a:rPr lang="zh-CN" altLang="en-US" sz="1800"/>
              <a:t>🔹</a:t>
            </a:r>
            <a:r>
              <a:rPr lang="en-US" altLang="en-US" sz="1800"/>
              <a:t> src/assets/</a:t>
            </a:r>
            <a:endParaRPr lang="en-US" altLang="en-US" sz="1800"/>
          </a:p>
          <a:p>
            <a:r>
              <a:rPr lang="en-US" altLang="en-US" sz="1800"/>
              <a:t>Local images, icons, fonts, etc.</a:t>
            </a:r>
            <a:endParaRPr lang="en-US" altLang="en-US" sz="1800"/>
          </a:p>
          <a:p>
            <a:r>
              <a:rPr lang="en-US" altLang="en-US" sz="1800"/>
              <a:t>Vite handles imports and optimization automatically.</a:t>
            </a:r>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7645" y="0"/>
            <a:ext cx="10515600" cy="447675"/>
          </a:xfrm>
        </p:spPr>
        <p:txBody>
          <a:bodyPr/>
          <a:p>
            <a:r>
              <a:rPr lang="en-US" sz="2400" b="1">
                <a:solidFill>
                  <a:srgbClr val="FF0000"/>
                </a:solidFill>
                <a:latin typeface="Cambria" panose="02040503050406030204" charset="0"/>
                <a:cs typeface="Cambria" panose="02040503050406030204" charset="0"/>
              </a:rPr>
              <a:t>3)index.html</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207645" y="447675"/>
            <a:ext cx="11819255" cy="6293485"/>
          </a:xfrm>
        </p:spPr>
        <p:txBody>
          <a:bodyPr>
            <a:noAutofit/>
          </a:bodyPr>
          <a:p>
            <a:pPr marL="0" indent="0">
              <a:buNone/>
            </a:pPr>
            <a:r>
              <a:rPr lang="en-US" altLang="en-US" sz="1800">
                <a:latin typeface="Cambria" panose="02040503050406030204" charset="0"/>
                <a:cs typeface="Cambria" panose="02040503050406030204" charset="0"/>
              </a:rPr>
              <a:t>index.html</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Vite uses this as the HTML entry template.</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Includes a placeholder for mounting your app (&lt;div id="root"&gt;&lt;/div&gt;).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&lt;script type="module" src="/src/main.jsx"&gt;&lt;/script&gt; points to your app entry.</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&lt;!DOCTYPE html&gt;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&lt;html lang="en"&gt;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&lt;head&gt;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&lt;meta charset="UTF-8" /&gt;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&lt;title&gt;Vite App&lt;/title&gt;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&lt;/head&gt;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&lt;body&gt;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&lt;div id="root"&gt;&lt;/div&gt;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&lt;script type="module" src="/src/main.jsx"&gt;&lt;/script&gt;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  &lt;/body&gt;</a:t>
            </a:r>
            <a:endParaRPr lang="en-US" altLang="en-US" sz="1800">
              <a:latin typeface="Cambria" panose="02040503050406030204" charset="0"/>
              <a:cs typeface="Cambria" panose="02040503050406030204" charset="0"/>
            </a:endParaRPr>
          </a:p>
          <a:p>
            <a:pPr marL="0" indent="0">
              <a:buNone/>
            </a:pPr>
            <a:r>
              <a:rPr lang="en-US" altLang="en-US" sz="1800">
                <a:latin typeface="Cambria" panose="02040503050406030204" charset="0"/>
                <a:cs typeface="Cambria" panose="02040503050406030204" charset="0"/>
              </a:rPr>
              <a:t>&lt;/html&gt;</a:t>
            </a:r>
            <a:endParaRPr lang="en-US" altLang="en-US" sz="1800">
              <a:latin typeface="Cambria" panose="02040503050406030204" charset="0"/>
              <a:cs typeface="Cambria" panose="02040503050406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3675" y="174625"/>
            <a:ext cx="10515600" cy="418465"/>
          </a:xfrm>
        </p:spPr>
        <p:txBody>
          <a:bodyPr>
            <a:normAutofit fontScale="90000"/>
          </a:bodyPr>
          <a:p>
            <a:r>
              <a:rPr lang="en-US" altLang="en-US" sz="3110" b="1">
                <a:solidFill>
                  <a:srgbClr val="FF0000"/>
                </a:solidFill>
                <a:sym typeface="+mn-ea"/>
              </a:rPr>
              <a:t>vite.config.js and gitignore Package.json</a:t>
            </a:r>
            <a:endParaRPr lang="en-US" altLang="en-US" sz="3110" b="1">
              <a:solidFill>
                <a:srgbClr val="FF0000"/>
              </a:solidFill>
              <a:sym typeface="+mn-ea"/>
            </a:endParaRPr>
          </a:p>
        </p:txBody>
      </p:sp>
      <p:sp>
        <p:nvSpPr>
          <p:cNvPr id="3" name="Content Placeholder 2"/>
          <p:cNvSpPr>
            <a:spLocks noGrp="1"/>
          </p:cNvSpPr>
          <p:nvPr>
            <p:ph idx="1"/>
          </p:nvPr>
        </p:nvSpPr>
        <p:spPr>
          <a:xfrm>
            <a:off x="310515" y="593090"/>
            <a:ext cx="11643995" cy="6080760"/>
          </a:xfrm>
        </p:spPr>
        <p:txBody>
          <a:bodyPr>
            <a:normAutofit fontScale="25000"/>
          </a:bodyPr>
          <a:p>
            <a:r>
              <a:rPr lang="en-US" altLang="en-US" sz="8000">
                <a:latin typeface="Cambria" panose="02040503050406030204" charset="0"/>
                <a:cs typeface="Cambria" panose="02040503050406030204" charset="0"/>
              </a:rPr>
              <a:t>4)vite.config.js</a:t>
            </a:r>
            <a:endParaRPr lang="en-US" altLang="en-US" sz="8000">
              <a:latin typeface="Cambria" panose="02040503050406030204" charset="0"/>
              <a:cs typeface="Cambria" panose="02040503050406030204" charset="0"/>
            </a:endParaRPr>
          </a:p>
          <a:p>
            <a:r>
              <a:rPr lang="en-US" altLang="en-US" sz="8000">
                <a:latin typeface="Cambria" panose="02040503050406030204" charset="0"/>
                <a:cs typeface="Cambria" panose="02040503050406030204" charset="0"/>
              </a:rPr>
              <a:t>Vite configuration file.</a:t>
            </a:r>
            <a:endParaRPr lang="en-US" altLang="en-US" sz="8000">
              <a:latin typeface="Cambria" panose="02040503050406030204" charset="0"/>
              <a:cs typeface="Cambria" panose="02040503050406030204" charset="0"/>
            </a:endParaRPr>
          </a:p>
          <a:p>
            <a:r>
              <a:rPr lang="en-US" altLang="en-US" sz="8000">
                <a:latin typeface="Cambria" panose="02040503050406030204" charset="0"/>
                <a:cs typeface="Cambria" panose="02040503050406030204" charset="0"/>
              </a:rPr>
              <a:t>Customize plugins, aliases, server settings, etc.</a:t>
            </a:r>
            <a:endParaRPr lang="en-US" altLang="en-US" sz="8000">
              <a:latin typeface="Cambria" panose="02040503050406030204" charset="0"/>
              <a:cs typeface="Cambria" panose="02040503050406030204" charset="0"/>
            </a:endParaRPr>
          </a:p>
          <a:p>
            <a:pPr marL="0" indent="0">
              <a:buNone/>
            </a:pPr>
            <a:r>
              <a:rPr lang="en-US" altLang="en-US" sz="8000" b="1">
                <a:solidFill>
                  <a:srgbClr val="FF0000"/>
                </a:solidFill>
                <a:latin typeface="Cambria" panose="02040503050406030204" charset="0"/>
                <a:cs typeface="Cambria" panose="02040503050406030204" charset="0"/>
                <a:sym typeface="+mn-ea"/>
              </a:rPr>
              <a:t>5)gitignore</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Tells Git which files/folders to ignore (e.g., node_modules, dist).</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A .gitignore file tells Git which files or directories to ignore (i.e., not track or commit) in your repository. It's essential for keeping your repo clean by avoiding the inclusion of unnecessary files like build artifacts, dependencies, or secrets.</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6. package.json</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Project metadata and dependencies.</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Contains scripts like:</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"scripts": {</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  "dev": "vite",</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  "build": "vite build",</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  "preview": "vite preview"</a:t>
            </a:r>
            <a:endParaRPr lang="en-US" altLang="en-US" sz="8000">
              <a:latin typeface="Cambria" panose="02040503050406030204" charset="0"/>
              <a:cs typeface="Cambria" panose="02040503050406030204" charset="0"/>
            </a:endParaRPr>
          </a:p>
          <a:p>
            <a:pPr marL="0" indent="0">
              <a:buNone/>
            </a:pPr>
            <a:r>
              <a:rPr lang="en-US" altLang="en-US" sz="8000">
                <a:latin typeface="Cambria" panose="02040503050406030204" charset="0"/>
                <a:cs typeface="Cambria" panose="02040503050406030204" charset="0"/>
              </a:rPr>
              <a:t>}</a:t>
            </a:r>
            <a:endParaRPr lang="en-US" altLang="en-US" sz="8000">
              <a:latin typeface="Cambria" panose="02040503050406030204" charset="0"/>
              <a:cs typeface="Cambria" panose="02040503050406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62585"/>
          </a:xfrm>
        </p:spPr>
        <p:txBody>
          <a:bodyPr>
            <a:noAutofit/>
          </a:bodyPr>
          <a:p>
            <a:r>
              <a:rPr lang="en-US" sz="2400" b="1">
                <a:solidFill>
                  <a:srgbClr val="FF0000"/>
                </a:solidFill>
              </a:rPr>
              <a:t>Package.json And Package.lock.json</a:t>
            </a:r>
            <a:endParaRPr lang="en-US" sz="2400" b="1">
              <a:solidFill>
                <a:srgbClr val="FF0000"/>
              </a:solidFill>
            </a:endParaRPr>
          </a:p>
        </p:txBody>
      </p:sp>
      <p:sp>
        <p:nvSpPr>
          <p:cNvPr id="3" name="Content Placeholder 2"/>
          <p:cNvSpPr>
            <a:spLocks noGrp="1"/>
          </p:cNvSpPr>
          <p:nvPr>
            <p:ph idx="1"/>
          </p:nvPr>
        </p:nvSpPr>
        <p:spPr>
          <a:xfrm>
            <a:off x="635" y="362585"/>
            <a:ext cx="12192000" cy="6495415"/>
          </a:xfrm>
        </p:spPr>
        <p:txBody>
          <a:bodyPr>
            <a:noAutofit/>
          </a:bodyPr>
          <a:p>
            <a:r>
              <a:rPr lang="en-US" altLang="en-US" sz="2000" b="1"/>
              <a:t>Purpose: </a:t>
            </a:r>
            <a:r>
              <a:rPr lang="en-US" altLang="en-US" sz="2000"/>
              <a:t>Defines the project metadata, dependencies, scripts, and configurations.</a:t>
            </a:r>
            <a:endParaRPr lang="en-US" altLang="en-US" sz="2000"/>
          </a:p>
          <a:p>
            <a:r>
              <a:rPr lang="en-US" altLang="en-US" sz="2000" b="1"/>
              <a:t>Key points:</a:t>
            </a:r>
            <a:endParaRPr lang="en-US" altLang="en-US" sz="2000" b="1"/>
          </a:p>
          <a:p>
            <a:pPr marL="457200" indent="-457200">
              <a:buAutoNum type="arabicPeriod"/>
            </a:pPr>
            <a:r>
              <a:rPr lang="en-US" altLang="en-US" sz="2000"/>
              <a:t>Lists the names and version ranges of your dependencies (e.g., "^1.2.3" means "compatible with 1.2.3").</a:t>
            </a:r>
            <a:endParaRPr lang="en-US" altLang="en-US" sz="2000"/>
          </a:p>
          <a:p>
            <a:pPr marL="457200" indent="-457200">
              <a:buAutoNum type="arabicPeriod"/>
            </a:pPr>
            <a:r>
              <a:rPr lang="en-US" altLang="en-US" sz="2000"/>
              <a:t>Used by npm/yarn to install packages.</a:t>
            </a:r>
            <a:endParaRPr lang="en-US" altLang="en-US" sz="2000"/>
          </a:p>
          <a:p>
            <a:pPr marL="457200" indent="-457200">
              <a:buAutoNum type="arabicPeriod"/>
            </a:pPr>
            <a:r>
              <a:rPr lang="en-US" altLang="en-US" sz="2000"/>
              <a:t>Required to initialize and share a Node.js project.</a:t>
            </a:r>
            <a:endParaRPr lang="en-US" altLang="en-US" sz="2000"/>
          </a:p>
          <a:p>
            <a:endParaRPr lang="en-US" altLang="en-US" sz="2000"/>
          </a:p>
          <a:p>
            <a:pPr marL="0" indent="0">
              <a:buNone/>
            </a:pPr>
            <a:r>
              <a:rPr lang="en-US" altLang="en-US" sz="2000"/>
              <a:t>package-lock.json</a:t>
            </a:r>
            <a:endParaRPr lang="en-US" altLang="en-US" sz="2000"/>
          </a:p>
          <a:p>
            <a:r>
              <a:rPr lang="en-US" altLang="en-US" sz="2000" b="1"/>
              <a:t>Purpose: </a:t>
            </a:r>
            <a:r>
              <a:rPr lang="en-US" altLang="en-US" sz="2000"/>
              <a:t>Locks the exact versions of all installed packages (including nested dependencies) to ensure consistent installs across environments.</a:t>
            </a:r>
            <a:endParaRPr lang="en-US" altLang="en-US" sz="2000"/>
          </a:p>
          <a:p>
            <a:r>
              <a:rPr lang="en-US" altLang="en-US" sz="2000" b="1"/>
              <a:t>Key points:</a:t>
            </a:r>
            <a:endParaRPr lang="en-US" altLang="en-US" sz="2000" b="1"/>
          </a:p>
          <a:p>
            <a:pPr marL="457200" indent="-457200">
              <a:buAutoNum type="arabicPeriod"/>
            </a:pPr>
            <a:r>
              <a:rPr lang="en-US" altLang="en-US" sz="2000"/>
              <a:t>Automatically generated by npm install.</a:t>
            </a:r>
            <a:endParaRPr lang="en-US" altLang="en-US" sz="2000"/>
          </a:p>
          <a:p>
            <a:pPr marL="457200" indent="-457200">
              <a:buAutoNum type="arabicPeriod"/>
            </a:pPr>
            <a:r>
              <a:rPr lang="en-US" altLang="en-US" sz="2000"/>
              <a:t>Records the exact version installed (e.g., 18.2.0, not ^18.2.0).</a:t>
            </a:r>
            <a:endParaRPr lang="en-US" altLang="en-US" sz="2000"/>
          </a:p>
          <a:p>
            <a:pPr marL="457200" indent="-457200">
              <a:buAutoNum type="arabicPeriod"/>
            </a:pPr>
            <a:r>
              <a:rPr lang="en-US" altLang="en-US" sz="2000"/>
              <a:t>Ensures deterministic installs: everyone gets the same dependency tree.</a:t>
            </a:r>
            <a:endParaRPr lang="en-US" altLang="en-US" sz="2000"/>
          </a:p>
          <a:p>
            <a:pPr marL="457200" indent="-457200">
              <a:buAutoNum type="arabicPeriod"/>
            </a:pPr>
            <a:r>
              <a:rPr lang="en-US" altLang="en-US" sz="2000"/>
              <a:t>Should be committed to version control.</a:t>
            </a:r>
            <a:endParaRPr lang="en-US" altLang="en-US" sz="2000"/>
          </a:p>
          <a:p>
            <a:endParaRPr lang="en-US" alt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1940" y="145415"/>
            <a:ext cx="11071860" cy="491490"/>
          </a:xfrm>
        </p:spPr>
        <p:txBody>
          <a:bodyPr/>
          <a:p>
            <a:r>
              <a:rPr lang="en-US" sz="2400" b="1">
                <a:solidFill>
                  <a:srgbClr val="FF0000"/>
                </a:solidFill>
              </a:rPr>
              <a:t>Expandable Folder Structure</a:t>
            </a:r>
            <a:endParaRPr lang="en-US" sz="2400" b="1">
              <a:solidFill>
                <a:srgbClr val="FF0000"/>
              </a:solidFill>
            </a:endParaRPr>
          </a:p>
        </p:txBody>
      </p:sp>
      <p:sp>
        <p:nvSpPr>
          <p:cNvPr id="3" name="Content Placeholder 2"/>
          <p:cNvSpPr>
            <a:spLocks noGrp="1"/>
          </p:cNvSpPr>
          <p:nvPr>
            <p:ph idx="1"/>
          </p:nvPr>
        </p:nvSpPr>
        <p:spPr>
          <a:xfrm>
            <a:off x="149860" y="785495"/>
            <a:ext cx="11585575" cy="5831205"/>
          </a:xfrm>
        </p:spPr>
        <p:txBody>
          <a:bodyPr>
            <a:normAutofit/>
          </a:bodyPr>
          <a:p>
            <a:r>
              <a:rPr lang="en-US" altLang="en-US" sz="2000">
                <a:latin typeface="Cambria" panose="02040503050406030204" charset="0"/>
                <a:cs typeface="Cambria" panose="02040503050406030204" charset="0"/>
              </a:rPr>
              <a:t>src/</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assets/          # Static assets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components/      # Reusable UI components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hooks/           # Custom hooks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layouts/         # Page layouts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pages/           # Route-based pages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routes/          # React Router setup</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services/        # API calls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store/           # Global state (Redux/Zustand/Context)</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utils/           # Helper functions</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App.jsx</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main.jsx</a:t>
            </a:r>
            <a:endParaRPr lang="en-US" altLang="en-US" sz="2000">
              <a:latin typeface="Cambria" panose="02040503050406030204" charset="0"/>
              <a:cs typeface="Cambria" panose="02040503050406030204" charset="0"/>
            </a:endParaRPr>
          </a:p>
          <a:p>
            <a:r>
              <a:rPr lang="en-US" altLang="en-US" sz="2000">
                <a:latin typeface="Cambria" panose="02040503050406030204" charset="0"/>
                <a:cs typeface="Cambria" panose="02040503050406030204" charset="0"/>
              </a:rPr>
              <a:t>└── index.css</a:t>
            </a:r>
            <a:endParaRPr lang="en-US" altLang="en-US" sz="2000">
              <a:latin typeface="Cambria" panose="02040503050406030204" charset="0"/>
              <a:cs typeface="Cambria" panose="02040503050406030204" charset="0"/>
            </a:endParaRPr>
          </a:p>
          <a:p>
            <a:endParaRPr lang="en-US" altLang="en-US" sz="2000">
              <a:latin typeface="Cambria" panose="02040503050406030204" charset="0"/>
              <a:cs typeface="Cambria" panose="02040503050406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550545"/>
          </a:xfrm>
        </p:spPr>
        <p:txBody>
          <a:bodyPr>
            <a:noAutofit/>
          </a:bodyPr>
          <a:p>
            <a:r>
              <a:rPr lang="en-US" sz="2400" b="1">
                <a:solidFill>
                  <a:srgbClr val="FF0000"/>
                </a:solidFill>
                <a:latin typeface="Cambria" panose="02040503050406030204" charset="0"/>
                <a:cs typeface="Cambria" panose="02040503050406030204" charset="0"/>
              </a:rPr>
              <a:t>React Components</a:t>
            </a:r>
            <a:endParaRPr lang="en-US" sz="24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448310"/>
            <a:ext cx="12192000" cy="6409690"/>
          </a:xfrm>
        </p:spPr>
        <p:txBody>
          <a:bodyPr>
            <a:normAutofit/>
          </a:bodyPr>
          <a:p>
            <a:pPr marL="0" indent="0">
              <a:buNone/>
            </a:pPr>
            <a:r>
              <a:rPr lang="en-US" altLang="en-US" sz="1800" b="1"/>
              <a:t>What Are React Components?</a:t>
            </a:r>
            <a:endParaRPr lang="en-US" altLang="en-US" sz="1800" b="1"/>
          </a:p>
          <a:p>
            <a:r>
              <a:rPr lang="en-US" altLang="en-US" sz="1800"/>
              <a:t>React components are independent, reusable pieces of UI. They act like JavaScript functions, but return React elements (which are rendered as HTML in the DOM).</a:t>
            </a:r>
            <a:endParaRPr lang="en-US" altLang="en-US" sz="1800"/>
          </a:p>
          <a:p>
            <a:pPr marL="0" indent="0">
              <a:buNone/>
            </a:pPr>
            <a:r>
              <a:rPr lang="en-US" altLang="en-US" sz="1800" b="1"/>
              <a:t>. Types of Components</a:t>
            </a:r>
            <a:endParaRPr lang="en-US" altLang="en-US" sz="1800" b="1"/>
          </a:p>
          <a:p>
            <a:pPr marL="342900" indent="-342900">
              <a:buAutoNum type="arabicPeriod"/>
            </a:pPr>
            <a:r>
              <a:rPr lang="en-US" altLang="en-US" sz="1800"/>
              <a:t>Functional Components </a:t>
            </a:r>
            <a:endParaRPr lang="en-US" altLang="en-US" sz="1800"/>
          </a:p>
          <a:p>
            <a:r>
              <a:rPr lang="en-US" altLang="en-US" sz="1800"/>
              <a:t>Plain JavaScript functions. Use React hooks for state and lifecycle    Lightweight and preferred in modern React</a:t>
            </a:r>
            <a:endParaRPr lang="en-US" altLang="en-US" sz="1800"/>
          </a:p>
          <a:p>
            <a:pPr marL="342900" indent="-342900">
              <a:buAutoNum type="arabicPeriod"/>
            </a:pPr>
            <a:r>
              <a:rPr lang="en-US" altLang="en-US" sz="1800"/>
              <a:t>Class Components</a:t>
            </a:r>
            <a:endParaRPr lang="en-US" altLang="en-US" sz="1800"/>
          </a:p>
          <a:p>
            <a:r>
              <a:rPr lang="en-US" altLang="en-US" sz="1800"/>
              <a:t>ES6 classes that extend React.Component. Can use lifecycle methods. Heavier syntax; used before hooks were introduced</a:t>
            </a:r>
            <a:endParaRPr lang="en-US" altLang="en-US" sz="1800"/>
          </a:p>
          <a:p>
            <a:endParaRPr lang="en-US" altLang="en-US" sz="1800"/>
          </a:p>
          <a:p>
            <a:endParaRPr lang="en-US" altLang="en-US" sz="1800"/>
          </a:p>
        </p:txBody>
      </p:sp>
      <p:graphicFrame>
        <p:nvGraphicFramePr>
          <p:cNvPr id="4" name="Table 3"/>
          <p:cNvGraphicFramePr/>
          <p:nvPr>
            <p:custDataLst>
              <p:tags r:id="rId1"/>
            </p:custDataLst>
          </p:nvPr>
        </p:nvGraphicFramePr>
        <p:xfrm>
          <a:off x="258445" y="3383915"/>
          <a:ext cx="11950065" cy="3265170"/>
        </p:xfrm>
        <a:graphic>
          <a:graphicData uri="http://schemas.openxmlformats.org/drawingml/2006/table">
            <a:tbl>
              <a:tblPr/>
              <a:tblGrid>
                <a:gridCol w="3983355"/>
                <a:gridCol w="3983355"/>
                <a:gridCol w="3983355"/>
              </a:tblGrid>
              <a:tr h="544195">
                <a:tc>
                  <a:txBody>
                    <a:bodyPr/>
                    <a:p>
                      <a:pPr algn="ctr"/>
                      <a:r>
                        <a:rPr sz="1800" b="1">
                          <a:latin typeface="Cambria" panose="02040503050406030204" charset="0"/>
                          <a:cs typeface="Cambria" panose="02040503050406030204" charset="0"/>
                        </a:rPr>
                        <a:t>Feature</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1800" b="1">
                          <a:latin typeface="Cambria" panose="02040503050406030204" charset="0"/>
                          <a:cs typeface="Cambria" panose="02040503050406030204" charset="0"/>
                        </a:rPr>
                        <a:t>Functional Component</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1800" b="1">
                          <a:latin typeface="Cambria" panose="02040503050406030204" charset="0"/>
                          <a:cs typeface="Cambria" panose="02040503050406030204" charset="0"/>
                        </a:rPr>
                        <a:t>Class Component</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60000"/>
                        <a:lumOff val="40000"/>
                      </a:schemeClr>
                    </a:solidFill>
                  </a:tcPr>
                </a:tc>
              </a:tr>
              <a:tr h="544195">
                <a:tc>
                  <a:txBody>
                    <a:bodyPr/>
                    <a:p>
                      <a:pPr algn="l"/>
                      <a:r>
                        <a:rPr sz="1800">
                          <a:latin typeface="Cambria" panose="02040503050406030204" charset="0"/>
                          <a:cs typeface="Cambria" panose="02040503050406030204" charset="0"/>
                        </a:rPr>
                        <a:t>Syntax</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cs typeface="Cambria" panose="02040503050406030204" charset="0"/>
                        </a:rPr>
                        <a:t>Function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cs typeface="Cambria" panose="02040503050406030204" charset="0"/>
                        </a:rPr>
                        <a:t>Class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r>
              <a:tr h="544195">
                <a:tc>
                  <a:txBody>
                    <a:bodyPr/>
                    <a:p>
                      <a:pPr algn="l"/>
                      <a:r>
                        <a:rPr sz="1800">
                          <a:latin typeface="Cambria" panose="02040503050406030204" charset="0"/>
                          <a:cs typeface="Cambria" panose="02040503050406030204" charset="0"/>
                        </a:rPr>
                        <a:t>State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cs typeface="Cambria" panose="02040503050406030204" charset="0"/>
                        </a:rPr>
                        <a:t>useState()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cs typeface="Cambria" panose="02040503050406030204" charset="0"/>
                        </a:rPr>
                        <a:t>this.state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r>
              <a:tr h="544195">
                <a:tc>
                  <a:txBody>
                    <a:bodyPr/>
                    <a:p>
                      <a:pPr algn="l"/>
                      <a:r>
                        <a:rPr sz="1800">
                          <a:latin typeface="Cambria" panose="02040503050406030204" charset="0"/>
                          <a:cs typeface="Cambria" panose="02040503050406030204" charset="0"/>
                        </a:rPr>
                        <a:t>Lifecycle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cs typeface="Cambria" panose="02040503050406030204" charset="0"/>
                        </a:rPr>
                        <a:t>useEffect()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cs typeface="Cambria" panose="02040503050406030204" charset="0"/>
                        </a:rPr>
                        <a:t>componentDidMount() etc.</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r>
              <a:tr h="544195">
                <a:tc>
                  <a:txBody>
                    <a:bodyPr/>
                    <a:p>
                      <a:pPr algn="l"/>
                      <a:r>
                        <a:rPr sz="1800">
                          <a:latin typeface="Cambria" panose="02040503050406030204" charset="0"/>
                          <a:cs typeface="Cambria" panose="02040503050406030204" charset="0"/>
                        </a:rPr>
                        <a:t>Simpler &amp; Modern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rPr>
                        <a:t>✅</a:t>
                      </a:r>
                      <a:endParaRPr sz="1800">
                        <a:latin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lang="en-US" sz="1800">
                          <a:latin typeface="Cambria" panose="02040503050406030204" charset="0"/>
                          <a:cs typeface="Cambria" panose="02040503050406030204" charset="0"/>
                        </a:rPr>
                        <a:t>  </a:t>
                      </a:r>
                      <a:r>
                        <a:rPr sz="1800">
                          <a:latin typeface="Cambria" panose="02040503050406030204" charset="0"/>
                          <a:cs typeface="Cambria" panose="02040503050406030204" charset="0"/>
                        </a:rPr>
                        <a:t>(legacy)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r>
              <a:tr h="544195">
                <a:tc>
                  <a:txBody>
                    <a:bodyPr/>
                    <a:p>
                      <a:pPr algn="l"/>
                      <a:r>
                        <a:rPr sz="1800">
                          <a:latin typeface="Cambria" panose="02040503050406030204" charset="0"/>
                          <a:cs typeface="Cambria" panose="02040503050406030204" charset="0"/>
                        </a:rPr>
                        <a:t>Performance Friendly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sz="1800">
                          <a:latin typeface="Cambria" panose="02040503050406030204" charset="0"/>
                          <a:cs typeface="Cambria" panose="02040503050406030204" charset="0"/>
                        </a:rPr>
                        <a:t>✅ (usually)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c>
                  <a:txBody>
                    <a:bodyPr/>
                    <a:p>
                      <a:pPr algn="l"/>
                      <a:r>
                        <a:rPr lang="en-US" sz="1800">
                          <a:latin typeface="Cambria" panose="02040503050406030204" charset="0"/>
                          <a:cs typeface="Cambria" panose="02040503050406030204" charset="0"/>
                        </a:rPr>
                        <a:t> </a:t>
                      </a:r>
                      <a:r>
                        <a:rPr sz="1800">
                          <a:latin typeface="Cambria" panose="02040503050406030204" charset="0"/>
                          <a:cs typeface="Cambria" panose="02040503050406030204" charset="0"/>
                        </a:rPr>
                        <a:t>(heavier)</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4">
                        <a:lumMod val="40000"/>
                        <a:lumOff val="60000"/>
                      </a:schemeClr>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90195" y="0"/>
            <a:ext cx="10515600" cy="450850"/>
          </a:xfrm>
        </p:spPr>
        <p:txBody>
          <a:bodyPr>
            <a:normAutofit fontScale="90000"/>
          </a:bodyPr>
          <a:p>
            <a:r>
              <a:rPr lang="en-US" sz="2800" b="1">
                <a:solidFill>
                  <a:srgbClr val="FF0000"/>
                </a:solidFill>
              </a:rPr>
              <a:t>React Function Componets</a:t>
            </a:r>
            <a:endParaRPr lang="en-US" sz="2800" b="1">
              <a:solidFill>
                <a:srgbClr val="FF0000"/>
              </a:solidFill>
            </a:endParaRPr>
          </a:p>
        </p:txBody>
      </p:sp>
      <p:sp>
        <p:nvSpPr>
          <p:cNvPr id="3" name="Content Placeholder 2"/>
          <p:cNvSpPr>
            <a:spLocks noGrp="1"/>
          </p:cNvSpPr>
          <p:nvPr>
            <p:ph idx="1"/>
          </p:nvPr>
        </p:nvSpPr>
        <p:spPr>
          <a:xfrm>
            <a:off x="99060" y="3098800"/>
            <a:ext cx="10515600" cy="3759200"/>
          </a:xfrm>
        </p:spPr>
        <p:txBody>
          <a:bodyPr>
            <a:noAutofit/>
          </a:bodyPr>
          <a:p>
            <a:pPr marL="0" indent="0">
              <a:buNone/>
            </a:pPr>
            <a:r>
              <a:rPr lang="en-US" altLang="en-US" sz="1800"/>
              <a:t>import React, { useState } from 'react';</a:t>
            </a:r>
            <a:endParaRPr lang="en-US" altLang="en-US" sz="1800"/>
          </a:p>
          <a:p>
            <a:pPr marL="0" indent="0">
              <a:buNone/>
            </a:pPr>
            <a:r>
              <a:rPr lang="en-US" altLang="en-US" sz="1800"/>
              <a:t>export defualt function Welcome() {</a:t>
            </a:r>
            <a:endParaRPr lang="en-US" altLang="en-US" sz="1800"/>
          </a:p>
          <a:p>
            <a:pPr marL="0" indent="0">
              <a:buNone/>
            </a:pPr>
            <a:r>
              <a:rPr lang="en-US" altLang="en-US" sz="1800"/>
              <a:t>  return (</a:t>
            </a:r>
            <a:endParaRPr lang="en-US" altLang="en-US" sz="1800"/>
          </a:p>
          <a:p>
            <a:pPr marL="0" indent="0">
              <a:buNone/>
            </a:pPr>
            <a:r>
              <a:rPr lang="en-US" altLang="en-US" sz="1800"/>
              <a:t>    &lt;div&gt;</a:t>
            </a:r>
            <a:endParaRPr lang="en-US" altLang="en-US" sz="1800"/>
          </a:p>
          <a:p>
            <a:pPr marL="0" indent="0">
              <a:buNone/>
            </a:pPr>
            <a:r>
              <a:rPr lang="en-US" altLang="en-US" sz="1800"/>
              <a:t>      &lt;p&gt;This is a Functional Component.&lt;/p&gt;</a:t>
            </a:r>
            <a:endParaRPr lang="en-US" altLang="en-US" sz="1800"/>
          </a:p>
          <a:p>
            <a:pPr marL="0" indent="0">
              <a:buNone/>
            </a:pPr>
            <a:r>
              <a:rPr lang="en-US" altLang="en-US" sz="1800"/>
              <a:t>    &lt;/div&gt;</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//export default Welcome;</a:t>
            </a:r>
            <a:endParaRPr lang="en-US" altLang="en-US" sz="1800"/>
          </a:p>
          <a:p>
            <a:pPr marL="0" indent="0">
              <a:buNone/>
            </a:pPr>
            <a:endParaRPr lang="en-US" altLang="en-US" sz="1800"/>
          </a:p>
        </p:txBody>
      </p:sp>
      <p:sp>
        <p:nvSpPr>
          <p:cNvPr id="4" name="Text Box 3"/>
          <p:cNvSpPr txBox="1"/>
          <p:nvPr/>
        </p:nvSpPr>
        <p:spPr>
          <a:xfrm>
            <a:off x="99060" y="450850"/>
            <a:ext cx="11897360" cy="1402080"/>
          </a:xfrm>
          <a:prstGeom prst="rect">
            <a:avLst/>
          </a:prstGeom>
        </p:spPr>
        <p:txBody>
          <a:bodyPr wrap="square">
            <a:spAutoFit/>
          </a:bodyPr>
          <a:p>
            <a:pPr>
              <a:spcAft>
                <a:spcPct val="60000"/>
              </a:spcAft>
            </a:pPr>
            <a:r>
              <a:rPr b="1"/>
              <a:t>Definition</a:t>
            </a:r>
            <a:endParaRPr b="1"/>
          </a:p>
          <a:p>
            <a:r>
              <a:t>A Function Component in React is simply a JavaScript function that returns JSX (HTML-like syntax) to describe what should appear on the screen.</a:t>
            </a:r>
          </a:p>
          <a:p>
            <a:r>
              <a:t>It’s called a component because it represents a piece (component) of the user interface.</a:t>
            </a:r>
          </a:p>
        </p:txBody>
      </p:sp>
      <p:sp>
        <p:nvSpPr>
          <p:cNvPr id="5" name="Text Box 4"/>
          <p:cNvSpPr txBox="1"/>
          <p:nvPr/>
        </p:nvSpPr>
        <p:spPr>
          <a:xfrm>
            <a:off x="99060" y="1962785"/>
            <a:ext cx="7037070" cy="922020"/>
          </a:xfrm>
          <a:prstGeom prst="rect">
            <a:avLst/>
          </a:prstGeom>
        </p:spPr>
        <p:txBody>
          <a:bodyPr wrap="square">
            <a:spAutoFit/>
          </a:bodyPr>
          <a:p>
            <a:pPr>
              <a:buFont typeface="Arial" panose="020B0604020202020204"/>
              <a:buChar char="•"/>
            </a:pPr>
            <a:r>
              <a:t>useState(0) creates a state variable called count.</a:t>
            </a:r>
          </a:p>
          <a:p>
            <a:pPr>
              <a:buFont typeface="Arial" panose="020B0604020202020204"/>
              <a:buChar char="•"/>
            </a:pPr>
            <a:r>
              <a:t>setCount updates that state.</a:t>
            </a:r>
          </a:p>
          <a:p>
            <a:pPr>
              <a:buFont typeface="Arial" panose="020B0604020202020204"/>
              <a:buChar char="•"/>
            </a:pPr>
            <a:r>
              <a:t>When state changes, the UI automatically re-renders.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14020" y="0"/>
            <a:ext cx="10515600" cy="384175"/>
          </a:xfrm>
        </p:spPr>
        <p:txBody>
          <a:bodyPr>
            <a:normAutofit fontScale="90000"/>
          </a:bodyPr>
          <a:p>
            <a:r>
              <a:rPr lang="en-US" sz="2400" b="1">
                <a:solidFill>
                  <a:srgbClr val="FF0000"/>
                </a:solidFill>
              </a:rPr>
              <a:t>Class Components</a:t>
            </a:r>
            <a:endParaRPr lang="en-US" sz="2400" b="1">
              <a:solidFill>
                <a:srgbClr val="FF0000"/>
              </a:solidFill>
            </a:endParaRPr>
          </a:p>
        </p:txBody>
      </p:sp>
      <p:sp>
        <p:nvSpPr>
          <p:cNvPr id="3" name="Content Placeholder 2"/>
          <p:cNvSpPr>
            <a:spLocks noGrp="1"/>
          </p:cNvSpPr>
          <p:nvPr>
            <p:ph idx="1"/>
          </p:nvPr>
        </p:nvSpPr>
        <p:spPr>
          <a:xfrm>
            <a:off x="0" y="384175"/>
            <a:ext cx="11718925" cy="6021705"/>
          </a:xfrm>
        </p:spPr>
        <p:txBody>
          <a:bodyPr/>
          <a:p>
            <a:r>
              <a:rPr lang="en-US" altLang="en-US" sz="2000"/>
              <a:t>In React, class components are a traditional way to define components using ES6 classes. They allow you to manage state, use lifecycle methods, and handle more complex logic than basic functional components (though now with hooks, function components are usually preferred).</a:t>
            </a:r>
            <a:endParaRPr lang="en-US" altLang="en-US" sz="2000"/>
          </a:p>
        </p:txBody>
      </p:sp>
      <p:sp>
        <p:nvSpPr>
          <p:cNvPr id="4" name="Text Box 3"/>
          <p:cNvSpPr txBox="1"/>
          <p:nvPr/>
        </p:nvSpPr>
        <p:spPr>
          <a:xfrm>
            <a:off x="140335" y="1331595"/>
            <a:ext cx="5589905" cy="5077460"/>
          </a:xfrm>
          <a:prstGeom prst="rect">
            <a:avLst/>
          </a:prstGeom>
          <a:noFill/>
        </p:spPr>
        <p:txBody>
          <a:bodyPr wrap="square" rtlCol="0" anchor="t">
            <a:spAutoFit/>
          </a:bodyPr>
          <a:p>
            <a:r>
              <a:rPr lang="en-US" altLang="en-US"/>
              <a:t>import React, { Component } from 'react';</a:t>
            </a:r>
            <a:endParaRPr lang="en-US" altLang="en-US"/>
          </a:p>
          <a:p>
            <a:r>
              <a:rPr lang="en-US" altLang="en-US"/>
              <a:t>class Welcome extends Component {</a:t>
            </a:r>
            <a:endParaRPr lang="en-US" altLang="en-US"/>
          </a:p>
          <a:p>
            <a:r>
              <a:rPr lang="en-US" altLang="en-US"/>
              <a:t>  // State can only be used inside class components (before hooks)</a:t>
            </a:r>
            <a:endParaRPr lang="en-US" altLang="en-US"/>
          </a:p>
          <a:p>
            <a:r>
              <a:rPr lang="en-US" altLang="en-US"/>
              <a:t>  constructor(props) {</a:t>
            </a:r>
            <a:endParaRPr lang="en-US" altLang="en-US"/>
          </a:p>
          <a:p>
            <a:r>
              <a:rPr lang="en-US" altLang="en-US"/>
              <a:t>    super(props);</a:t>
            </a:r>
            <a:endParaRPr lang="en-US" altLang="en-US"/>
          </a:p>
          <a:p>
            <a:r>
              <a:rPr lang="en-US" altLang="en-US"/>
              <a:t>    this.state = {</a:t>
            </a:r>
            <a:endParaRPr lang="en-US" altLang="en-US"/>
          </a:p>
          <a:p>
            <a:r>
              <a:rPr lang="en-US" altLang="en-US"/>
              <a:t>      message: 'Hello from Class Component!'</a:t>
            </a:r>
            <a:endParaRPr lang="en-US" altLang="en-US"/>
          </a:p>
          <a:p>
            <a:r>
              <a:rPr lang="en-US" altLang="en-US"/>
              <a:t>    };</a:t>
            </a:r>
            <a:endParaRPr lang="en-US" altLang="en-US"/>
          </a:p>
          <a:p>
            <a:r>
              <a:rPr lang="en-US" altLang="en-US"/>
              <a:t>  }</a:t>
            </a:r>
            <a:endParaRPr lang="en-US" altLang="en-US"/>
          </a:p>
          <a:p>
            <a:r>
              <a:rPr lang="en-US" altLang="en-US"/>
              <a:t>  render() {</a:t>
            </a:r>
            <a:endParaRPr lang="en-US" altLang="en-US"/>
          </a:p>
          <a:p>
            <a:r>
              <a:rPr lang="en-US" altLang="en-US"/>
              <a:t>    return (</a:t>
            </a:r>
            <a:endParaRPr lang="en-US" altLang="en-US"/>
          </a:p>
          <a:p>
            <a:r>
              <a:rPr lang="en-US" altLang="en-US"/>
              <a:t>      &lt;div&gt;</a:t>
            </a:r>
            <a:endParaRPr lang="en-US" altLang="en-US"/>
          </a:p>
          <a:p>
            <a:r>
              <a:rPr lang="en-US" altLang="en-US"/>
              <a:t>        &lt;h2&gt;{this.state.message}&lt;/h2&gt;    </a:t>
            </a:r>
            <a:endParaRPr lang="en-US" altLang="en-US"/>
          </a:p>
          <a:p>
            <a:r>
              <a:rPr lang="en-US" altLang="en-US"/>
              <a:t>        &lt;p&gt;This is a Class Component.&lt;/p&gt;</a:t>
            </a:r>
            <a:endParaRPr lang="en-US" altLang="en-US"/>
          </a:p>
          <a:p>
            <a:r>
              <a:rPr lang="en-US" altLang="en-US"/>
              <a:t>      &lt;/div&gt;</a:t>
            </a:r>
            <a:endParaRPr lang="en-US" altLang="en-US"/>
          </a:p>
          <a:p>
            <a:r>
              <a:rPr lang="en-US" altLang="en-US"/>
              <a:t>    );     }   }</a:t>
            </a:r>
            <a:endParaRPr lang="en-US" altLang="en-US"/>
          </a:p>
          <a:p>
            <a:r>
              <a:rPr lang="en-US" altLang="en-US"/>
              <a:t>export default Welcome;</a:t>
            </a:r>
            <a:endParaRPr lang="en-US"/>
          </a:p>
        </p:txBody>
      </p:sp>
      <p:sp>
        <p:nvSpPr>
          <p:cNvPr id="5" name="Text Box 4"/>
          <p:cNvSpPr txBox="1"/>
          <p:nvPr/>
        </p:nvSpPr>
        <p:spPr>
          <a:xfrm>
            <a:off x="6526530" y="1445895"/>
            <a:ext cx="5080000" cy="922020"/>
          </a:xfrm>
          <a:prstGeom prst="rect">
            <a:avLst/>
          </a:prstGeom>
        </p:spPr>
        <p:txBody>
          <a:bodyPr>
            <a:spAutoFit/>
          </a:bodyPr>
          <a:p>
            <a:r>
              <a:t>Uses ES6 class syntax.</a:t>
            </a:r>
          </a:p>
          <a:p>
            <a:r>
              <a:t>Extends React.Component.</a:t>
            </a:r>
          </a:p>
          <a:p>
            <a:r>
              <a:t>Uses render() method to return JSX.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1440"/>
            <a:ext cx="10515600" cy="408940"/>
          </a:xfrm>
        </p:spPr>
        <p:txBody>
          <a:bodyPr>
            <a:noAutofit/>
          </a:bodyPr>
          <a:p>
            <a:pPr algn="ctr"/>
            <a:r>
              <a:rPr lang="en-US" sz="2400" b="1">
                <a:solidFill>
                  <a:srgbClr val="FF0000"/>
                </a:solidFill>
              </a:rPr>
              <a:t>Difference Between Two Components</a:t>
            </a:r>
            <a:endParaRPr lang="en-US" sz="2400" b="1">
              <a:solidFill>
                <a:srgbClr val="FF0000"/>
              </a:solidFill>
            </a:endParaRPr>
          </a:p>
        </p:txBody>
      </p:sp>
      <p:graphicFrame>
        <p:nvGraphicFramePr>
          <p:cNvPr id="4" name="Table 3"/>
          <p:cNvGraphicFramePr/>
          <p:nvPr>
            <p:custDataLst>
              <p:tags r:id="rId1"/>
            </p:custDataLst>
          </p:nvPr>
        </p:nvGraphicFramePr>
        <p:xfrm>
          <a:off x="140970" y="500380"/>
          <a:ext cx="12050395" cy="2350135"/>
        </p:xfrm>
        <a:graphic>
          <a:graphicData uri="http://schemas.openxmlformats.org/drawingml/2006/table">
            <a:tbl>
              <a:tblPr/>
              <a:tblGrid>
                <a:gridCol w="3125470"/>
                <a:gridCol w="4557395"/>
                <a:gridCol w="4367530"/>
              </a:tblGrid>
              <a:tr h="304800">
                <a:tc>
                  <a:txBody>
                    <a:bodyPr/>
                    <a:p>
                      <a:pPr algn="ctr"/>
                      <a:r>
                        <a:rPr sz="2400" b="1">
                          <a:solidFill>
                            <a:srgbClr val="FF0000"/>
                          </a:solidFill>
                        </a:rPr>
                        <a:t>Feature</a:t>
                      </a:r>
                      <a:endParaRPr sz="24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400" b="1">
                          <a:solidFill>
                            <a:srgbClr val="FF0000"/>
                          </a:solidFill>
                        </a:rPr>
                        <a:t>Class Component</a:t>
                      </a:r>
                      <a:endParaRPr sz="24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400" b="1">
                          <a:solidFill>
                            <a:srgbClr val="FF0000"/>
                          </a:solidFill>
                        </a:rPr>
                        <a:t>Function Component</a:t>
                      </a:r>
                      <a:endParaRPr sz="24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r>
              <a:tr h="273685">
                <a:tc>
                  <a:txBody>
                    <a:bodyPr/>
                    <a:p>
                      <a:r>
                        <a:rPr sz="1800"/>
                        <a:t>Definition</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ES6 class that extends React.Component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JavaScript function returning JSX</a:t>
                      </a:r>
                      <a:endParaRPr sz="1800"/>
                    </a:p>
                  </a:txBody>
                  <a:tcPr marL="0" marR="0" marT="0" marB="0" anchor="ctr" anchorCtr="0">
                    <a:lnL>
                      <a:noFill/>
                    </a:lnL>
                    <a:lnR>
                      <a:noFill/>
                    </a:lnR>
                    <a:lnT>
                      <a:noFill/>
                    </a:lnT>
                    <a:lnB>
                      <a:noFill/>
                    </a:lnB>
                    <a:solidFill>
                      <a:schemeClr val="accent2">
                        <a:lumMod val="20000"/>
                        <a:lumOff val="80000"/>
                      </a:schemeClr>
                    </a:solidFill>
                  </a:tcPr>
                </a:tc>
              </a:tr>
              <a:tr h="273685">
                <a:tc>
                  <a:txBody>
                    <a:bodyPr/>
                    <a:p>
                      <a:r>
                        <a:rPr sz="1800"/>
                        <a:t>State Management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Uses this.state and this.setState()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Uses useState() Hook</a:t>
                      </a:r>
                      <a:endParaRPr sz="1800"/>
                    </a:p>
                  </a:txBody>
                  <a:tcPr marL="0" marR="0" marT="0" marB="0" anchor="ctr" anchorCtr="0">
                    <a:lnL>
                      <a:noFill/>
                    </a:lnL>
                    <a:lnR>
                      <a:noFill/>
                    </a:lnR>
                    <a:lnT>
                      <a:noFill/>
                    </a:lnT>
                    <a:lnB>
                      <a:noFill/>
                    </a:lnB>
                    <a:solidFill>
                      <a:schemeClr val="accent2">
                        <a:lumMod val="20000"/>
                        <a:lumOff val="80000"/>
                      </a:schemeClr>
                    </a:solidFill>
                  </a:tcPr>
                </a:tc>
              </a:tr>
              <a:tr h="273685">
                <a:tc>
                  <a:txBody>
                    <a:bodyPr/>
                    <a:p>
                      <a:r>
                        <a:rPr sz="1800"/>
                        <a:t>Lifecycle Methods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Uses methods like componentDidMount()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Uses Hooks like useEffect()</a:t>
                      </a:r>
                      <a:endParaRPr sz="1800"/>
                    </a:p>
                  </a:txBody>
                  <a:tcPr marL="0" marR="0" marT="0" marB="0" anchor="ctr" anchorCtr="0">
                    <a:lnL>
                      <a:noFill/>
                    </a:lnL>
                    <a:lnR>
                      <a:noFill/>
                    </a:lnR>
                    <a:lnT>
                      <a:noFill/>
                    </a:lnT>
                    <a:lnB>
                      <a:noFill/>
                    </a:lnB>
                    <a:solidFill>
                      <a:schemeClr val="accent2">
                        <a:lumMod val="20000"/>
                        <a:lumOff val="80000"/>
                      </a:schemeClr>
                    </a:solidFill>
                  </a:tcPr>
                </a:tc>
              </a:tr>
              <a:tr h="402590">
                <a:tc>
                  <a:txBody>
                    <a:bodyPr/>
                    <a:p>
                      <a:r>
                        <a:rPr sz="1800"/>
                        <a:t>this keyword</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Must use this to access props, state, methods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No this keyword — simpler syntax</a:t>
                      </a:r>
                      <a:endParaRPr sz="1800"/>
                    </a:p>
                  </a:txBody>
                  <a:tcPr marL="0" marR="0" marT="0" marB="0" anchor="ctr" anchorCtr="0">
                    <a:lnL>
                      <a:noFill/>
                    </a:lnL>
                    <a:lnR>
                      <a:noFill/>
                    </a:lnR>
                    <a:lnT>
                      <a:noFill/>
                    </a:lnT>
                    <a:lnB>
                      <a:noFill/>
                    </a:lnB>
                    <a:solidFill>
                      <a:schemeClr val="accent2">
                        <a:lumMod val="20000"/>
                        <a:lumOff val="80000"/>
                      </a:schemeClr>
                    </a:solidFill>
                  </a:tcPr>
                </a:tc>
              </a:tr>
              <a:tr h="273685">
                <a:tc>
                  <a:txBody>
                    <a:bodyPr/>
                    <a:p>
                      <a:r>
                        <a:rPr sz="1800"/>
                        <a:t>Performance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Slightly slower (more boilerplate)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Faster and lightweight</a:t>
                      </a:r>
                      <a:endParaRPr sz="1800"/>
                    </a:p>
                  </a:txBody>
                  <a:tcPr marL="0" marR="0" marT="0" marB="0" anchor="ctr" anchorCtr="0">
                    <a:lnL>
                      <a:noFill/>
                    </a:lnL>
                    <a:lnR>
                      <a:noFill/>
                    </a:lnR>
                    <a:lnT>
                      <a:noFill/>
                    </a:lnT>
                    <a:lnB>
                      <a:noFill/>
                    </a:lnB>
                    <a:solidFill>
                      <a:schemeClr val="accent2">
                        <a:lumMod val="20000"/>
                        <a:lumOff val="80000"/>
                      </a:schemeClr>
                    </a:solidFill>
                  </a:tcPr>
                </a:tc>
              </a:tr>
              <a:tr h="273685">
                <a:tc>
                  <a:txBody>
                    <a:bodyPr/>
                    <a:p>
                      <a:r>
                        <a:rPr sz="1800"/>
                        <a:t>Hooks Support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Not supported</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Supported</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r>
                        <a:rPr sz="1800"/>
                        <a:t>Preferred In Modern React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Older approach</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Recommended approach</a:t>
                      </a:r>
                      <a:endParaRPr sz="18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1353800" cy="415290"/>
          </a:xfrm>
        </p:spPr>
        <p:txBody>
          <a:bodyPr>
            <a:normAutofit/>
          </a:bodyPr>
          <a:p>
            <a:r>
              <a:rPr lang="en-US" sz="2000" b="1">
                <a:solidFill>
                  <a:srgbClr val="FF0000"/>
                </a:solidFill>
              </a:rPr>
              <a:t>React props</a:t>
            </a:r>
            <a:endParaRPr lang="en-US" sz="2000" b="1">
              <a:solidFill>
                <a:srgbClr val="FF0000"/>
              </a:solidFill>
            </a:endParaRPr>
          </a:p>
        </p:txBody>
      </p:sp>
      <p:sp>
        <p:nvSpPr>
          <p:cNvPr id="3" name="Content Placeholder 2"/>
          <p:cNvSpPr>
            <a:spLocks noGrp="1"/>
          </p:cNvSpPr>
          <p:nvPr>
            <p:ph idx="1"/>
          </p:nvPr>
        </p:nvSpPr>
        <p:spPr>
          <a:xfrm>
            <a:off x="0" y="415925"/>
            <a:ext cx="12192000" cy="6442710"/>
          </a:xfrm>
        </p:spPr>
        <p:txBody>
          <a:bodyPr/>
          <a:p>
            <a:r>
              <a:rPr lang="en-US" altLang="en-US" sz="1600">
                <a:latin typeface="Cambria" panose="02040503050406030204" charset="0"/>
                <a:cs typeface="Cambria" panose="02040503050406030204" charset="0"/>
              </a:rPr>
              <a:t> 1. Props (Properties)</a:t>
            </a:r>
            <a:endParaRPr lang="en-US" altLang="en-US" sz="1600">
              <a:latin typeface="Cambria" panose="02040503050406030204" charset="0"/>
              <a:cs typeface="Cambria" panose="02040503050406030204" charset="0"/>
            </a:endParaRPr>
          </a:p>
          <a:p>
            <a:r>
              <a:rPr lang="zh-CN" altLang="en-US" sz="1600">
                <a:latin typeface="Cambria" panose="02040503050406030204" charset="0"/>
                <a:cs typeface="Cambria" panose="02040503050406030204" charset="0"/>
              </a:rPr>
              <a:t>🔹</a:t>
            </a:r>
            <a:r>
              <a:rPr lang="en-US" altLang="en-US" sz="1600">
                <a:latin typeface="Cambria" panose="02040503050406030204" charset="0"/>
                <a:cs typeface="Cambria" panose="02040503050406030204" charset="0"/>
              </a:rPr>
              <a:t> Definition:</a:t>
            </a:r>
            <a:endParaRPr lang="en-US" altLang="en-US" sz="1600">
              <a:latin typeface="Cambria" panose="02040503050406030204" charset="0"/>
              <a:cs typeface="Cambria" panose="02040503050406030204" charset="0"/>
            </a:endParaRPr>
          </a:p>
          <a:p>
            <a:r>
              <a:rPr lang="en-US" altLang="en-US" sz="1600">
                <a:latin typeface="Cambria" panose="02040503050406030204" charset="0"/>
                <a:cs typeface="Cambria" panose="02040503050406030204" charset="0"/>
              </a:rPr>
              <a:t>Props are short for “properties.” They are read-only inputs passed from a parent component to a child component. Props allow components to be reusable by changing the data they receive.</a:t>
            </a:r>
            <a:endParaRPr lang="en-US" altLang="en-US" sz="1600">
              <a:latin typeface="Cambria" panose="02040503050406030204" charset="0"/>
              <a:cs typeface="Cambria" panose="02040503050406030204" charset="0"/>
            </a:endParaRPr>
          </a:p>
          <a:p>
            <a:endParaRPr lang="en-US" altLang="en-US" sz="1600">
              <a:latin typeface="Cambria" panose="02040503050406030204" charset="0"/>
              <a:cs typeface="Cambria" panose="02040503050406030204" charset="0"/>
            </a:endParaRPr>
          </a:p>
          <a:p>
            <a:r>
              <a:rPr lang="zh-CN" altLang="en-US" sz="1600">
                <a:latin typeface="Cambria" panose="02040503050406030204" charset="0"/>
                <a:cs typeface="Cambria" panose="02040503050406030204" charset="0"/>
              </a:rPr>
              <a:t>🔹</a:t>
            </a:r>
            <a:r>
              <a:rPr lang="en-US" altLang="en-US" sz="1600">
                <a:latin typeface="Cambria" panose="02040503050406030204" charset="0"/>
                <a:cs typeface="Cambria" panose="02040503050406030204" charset="0"/>
              </a:rPr>
              <a:t> Uses:</a:t>
            </a:r>
            <a:endParaRPr lang="en-US" altLang="en-US" sz="1600">
              <a:latin typeface="Cambria" panose="02040503050406030204" charset="0"/>
              <a:cs typeface="Cambria" panose="02040503050406030204" charset="0"/>
            </a:endParaRPr>
          </a:p>
          <a:p>
            <a:r>
              <a:rPr lang="en-US" altLang="en-US" sz="1600">
                <a:latin typeface="Cambria" panose="02040503050406030204" charset="0"/>
                <a:cs typeface="Cambria" panose="02040503050406030204" charset="0"/>
              </a:rPr>
              <a:t>Pass data from one component to another.</a:t>
            </a:r>
            <a:endParaRPr lang="en-US" altLang="en-US" sz="1600">
              <a:latin typeface="Cambria" panose="02040503050406030204" charset="0"/>
              <a:cs typeface="Cambria" panose="02040503050406030204" charset="0"/>
            </a:endParaRPr>
          </a:p>
          <a:p>
            <a:r>
              <a:rPr lang="en-US" altLang="en-US" sz="1600">
                <a:latin typeface="Cambria" panose="02040503050406030204" charset="0"/>
                <a:cs typeface="Cambria" panose="02040503050406030204" charset="0"/>
              </a:rPr>
              <a:t>Customize child components.</a:t>
            </a:r>
            <a:endParaRPr lang="en-US" altLang="en-US" sz="1600">
              <a:latin typeface="Cambria" panose="02040503050406030204" charset="0"/>
              <a:cs typeface="Cambria" panose="02040503050406030204" charset="0"/>
            </a:endParaRPr>
          </a:p>
          <a:p>
            <a:r>
              <a:rPr lang="en-US" altLang="en-US" sz="1600">
                <a:latin typeface="Cambria" panose="02040503050406030204" charset="0"/>
                <a:cs typeface="Cambria" panose="02040503050406030204" charset="0"/>
              </a:rPr>
              <a:t>Make UI dynamic.</a:t>
            </a:r>
            <a:endParaRPr lang="en-US" altLang="en-US" sz="1600">
              <a:latin typeface="Cambria" panose="02040503050406030204" charset="0"/>
              <a:cs typeface="Cambria" panose="02040503050406030204" charset="0"/>
            </a:endParaRPr>
          </a:p>
          <a:p>
            <a:endParaRPr lang="en-US" altLang="en-US" sz="1600">
              <a:latin typeface="Cambria" panose="02040503050406030204" charset="0"/>
              <a:cs typeface="Cambria" panose="02040503050406030204" charset="0"/>
            </a:endParaRPr>
          </a:p>
          <a:p>
            <a:endParaRPr lang="en-US" altLang="en-US" sz="1600">
              <a:latin typeface="Cambria" panose="02040503050406030204" charset="0"/>
              <a:cs typeface="Cambria" panose="0204050305040603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520065"/>
          </a:xfrm>
        </p:spPr>
        <p:txBody>
          <a:bodyPr/>
          <a:p>
            <a:r>
              <a:rPr lang="en-US" sz="2400" b="1">
                <a:solidFill>
                  <a:srgbClr val="FF0000"/>
                </a:solidFill>
              </a:rPr>
              <a:t>Emp Components Code</a:t>
            </a:r>
            <a:endParaRPr lang="en-US" sz="2400" b="1">
              <a:solidFill>
                <a:srgbClr val="FF0000"/>
              </a:solidFill>
            </a:endParaRPr>
          </a:p>
        </p:txBody>
      </p:sp>
      <p:sp>
        <p:nvSpPr>
          <p:cNvPr id="3" name="Content Placeholder 2"/>
          <p:cNvSpPr>
            <a:spLocks noGrp="1"/>
          </p:cNvSpPr>
          <p:nvPr>
            <p:ph idx="1"/>
          </p:nvPr>
        </p:nvSpPr>
        <p:spPr>
          <a:xfrm>
            <a:off x="208280" y="520065"/>
            <a:ext cx="11643995" cy="6337935"/>
          </a:xfrm>
        </p:spPr>
        <p:txBody>
          <a:bodyPr>
            <a:noAutofit/>
          </a:bodyPr>
          <a:p>
            <a:pPr marL="0" indent="0">
              <a:buNone/>
            </a:pPr>
            <a:r>
              <a:rPr lang="en-US" altLang="en-US" sz="1800"/>
              <a:t>function Empoyee(Props){</a:t>
            </a:r>
            <a:endParaRPr lang="en-US" altLang="en-US" sz="1800"/>
          </a:p>
          <a:p>
            <a:pPr marL="0" indent="0">
              <a:buNone/>
            </a:pPr>
            <a:r>
              <a:rPr lang="en-US" altLang="en-US" sz="1800"/>
              <a:t>    return(</a:t>
            </a:r>
            <a:endParaRPr lang="en-US" altLang="en-US" sz="1800"/>
          </a:p>
          <a:p>
            <a:pPr marL="0" indent="0">
              <a:buNone/>
            </a:pPr>
            <a:r>
              <a:rPr lang="en-US" altLang="en-US" sz="1800"/>
              <a:t>        &lt;div&gt;</a:t>
            </a:r>
            <a:endParaRPr lang="en-US" altLang="en-US" sz="1800"/>
          </a:p>
          <a:p>
            <a:pPr marL="0" indent="0">
              <a:buNone/>
            </a:pPr>
            <a:r>
              <a:rPr lang="en-US" altLang="en-US" sz="1800"/>
              <a:t>            &lt;h2&gt; The Details of Empoyee is:&lt;/h2&gt;</a:t>
            </a:r>
            <a:endParaRPr lang="en-US" altLang="en-US" sz="1800"/>
          </a:p>
          <a:p>
            <a:pPr marL="0" indent="0">
              <a:buNone/>
            </a:pPr>
            <a:r>
              <a:rPr lang="en-US" altLang="en-US" sz="1800"/>
              <a:t>            &lt;h4&gt;Employee id is:{Props.Eid}&lt;/h4&gt;</a:t>
            </a:r>
            <a:endParaRPr lang="en-US" altLang="en-US" sz="1800"/>
          </a:p>
          <a:p>
            <a:pPr marL="0" indent="0">
              <a:buNone/>
            </a:pPr>
            <a:r>
              <a:rPr lang="en-US" altLang="en-US" sz="1800"/>
              <a:t>            &lt;h4&gt;Employee Name is:{Props.Ename}&lt;/h4&gt;</a:t>
            </a:r>
            <a:endParaRPr lang="en-US" altLang="en-US" sz="1800"/>
          </a:p>
          <a:p>
            <a:pPr marL="0" indent="0">
              <a:buNone/>
            </a:pPr>
            <a:r>
              <a:rPr lang="en-US" altLang="en-US" sz="1800"/>
              <a:t>            &lt;h4&gt;Employee Salary:{Props.esal}&lt;/h4&gt;</a:t>
            </a:r>
            <a:endParaRPr lang="en-US" altLang="en-US" sz="1800"/>
          </a:p>
          <a:p>
            <a:pPr marL="0" indent="0">
              <a:buNone/>
            </a:pPr>
            <a:r>
              <a:rPr lang="en-US" altLang="en-US" sz="1800"/>
              <a:t>            &lt;h4&gt;Employee Qualification: {Props.Qualification}&lt;/h4&gt;</a:t>
            </a:r>
            <a:endParaRPr lang="en-US" altLang="en-US" sz="1800"/>
          </a:p>
          <a:p>
            <a:pPr marL="0" indent="0">
              <a:buNone/>
            </a:pPr>
            <a:r>
              <a:rPr lang="en-US" altLang="en-US" sz="1800"/>
              <a:t>            &lt;h4&gt; Employee Address: {Props.Address}&lt;/h4&gt;</a:t>
            </a:r>
            <a:endParaRPr lang="en-US" altLang="en-US" sz="1800"/>
          </a:p>
          <a:p>
            <a:pPr marL="0" indent="0">
              <a:buNone/>
            </a:pPr>
            <a:r>
              <a:rPr lang="en-US" altLang="en-US" sz="1800"/>
              <a:t>        &lt;/div&gt;</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export default Empoyee;</a:t>
            </a:r>
            <a:endParaRPr lang="en-US"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432435"/>
          </a:xfrm>
        </p:spPr>
        <p:txBody>
          <a:bodyPr>
            <a:noAutofit/>
          </a:bodyPr>
          <a:p>
            <a:r>
              <a:rPr lang="en-US" sz="2800" b="1">
                <a:solidFill>
                  <a:srgbClr val="FF0000"/>
                </a:solidFill>
              </a:rPr>
              <a:t>App.jsx</a:t>
            </a:r>
            <a:endParaRPr lang="en-US" sz="2800" b="1">
              <a:solidFill>
                <a:srgbClr val="FF0000"/>
              </a:solidFill>
            </a:endParaRPr>
          </a:p>
        </p:txBody>
      </p:sp>
      <p:sp>
        <p:nvSpPr>
          <p:cNvPr id="3" name="Content Placeholder 2"/>
          <p:cNvSpPr>
            <a:spLocks noGrp="1"/>
          </p:cNvSpPr>
          <p:nvPr>
            <p:ph idx="1"/>
          </p:nvPr>
        </p:nvSpPr>
        <p:spPr>
          <a:xfrm>
            <a:off x="0" y="432435"/>
            <a:ext cx="12068810" cy="6285865"/>
          </a:xfrm>
        </p:spPr>
        <p:txBody>
          <a:bodyPr>
            <a:noAutofit/>
          </a:bodyPr>
          <a:p>
            <a:pPr marL="0" indent="0">
              <a:buNone/>
            </a:pPr>
            <a:r>
              <a:rPr lang="en-US" altLang="en-US" sz="1800"/>
              <a:t>import Empoyee from './Empolyee'</a:t>
            </a:r>
            <a:endParaRPr lang="en-US" altLang="en-US" sz="1800"/>
          </a:p>
          <a:p>
            <a:pPr marL="0" indent="0">
              <a:buNone/>
            </a:pPr>
            <a:r>
              <a:rPr lang="en-US" altLang="en-US" sz="1800"/>
              <a:t>function App() {</a:t>
            </a:r>
            <a:endParaRPr lang="en-US" altLang="en-US" sz="1800"/>
          </a:p>
          <a:p>
            <a:pPr marL="0" indent="0">
              <a:buNone/>
            </a:pPr>
            <a:r>
              <a:rPr lang="en-US" altLang="en-US" sz="1800"/>
              <a:t>  return (</a:t>
            </a:r>
            <a:endParaRPr lang="en-US" altLang="en-US" sz="1800"/>
          </a:p>
          <a:p>
            <a:pPr marL="0" indent="0">
              <a:buNone/>
            </a:pPr>
            <a:r>
              <a:rPr lang="en-US" altLang="en-US" sz="1800"/>
              <a:t>    &lt;div&gt; </a:t>
            </a:r>
            <a:endParaRPr lang="en-US" altLang="en-US" sz="1800"/>
          </a:p>
          <a:p>
            <a:pPr marL="0" indent="0">
              <a:buNone/>
            </a:pPr>
            <a:r>
              <a:rPr lang="en-US" altLang="en-US" sz="1800"/>
              <a:t>    &lt;Empoyee      Eid="101"     Ename="Vien More"     esal="24000"      Qualification="MCA"     Address="Swaragate Pune..."/&gt;</a:t>
            </a:r>
            <a:endParaRPr lang="en-US" altLang="en-US" sz="1800"/>
          </a:p>
          <a:p>
            <a:pPr marL="0" indent="0">
              <a:buNone/>
            </a:pPr>
            <a:r>
              <a:rPr lang="en-US" altLang="en-US" sz="1800"/>
              <a:t>    &lt;Empoyee      Eid="102"    Ename="Pradip  Mane"     esal="22000"     Qualification="MSC"     Address="Karve Nagar Pune..."/&gt;  </a:t>
            </a:r>
            <a:endParaRPr lang="en-US" altLang="en-US" sz="1800"/>
          </a:p>
          <a:p>
            <a:pPr marL="0" indent="0">
              <a:buNone/>
            </a:pPr>
            <a:r>
              <a:rPr lang="en-US" altLang="en-US" sz="1800"/>
              <a:t>    &lt;/div&gt;</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export default App</a:t>
            </a:r>
            <a:endParaRPr lang="en-US" altLang="en-US" sz="1800"/>
          </a:p>
          <a:p>
            <a:pPr marL="0" indent="0">
              <a:buNone/>
            </a:pPr>
            <a:endParaRPr lang="en-US" altLang="en-US"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61010"/>
          </a:xfrm>
        </p:spPr>
        <p:txBody>
          <a:bodyPr>
            <a:normAutofit fontScale="90000"/>
          </a:bodyPr>
          <a:p>
            <a:pPr algn="ctr"/>
            <a:r>
              <a:rPr lang="en-US" sz="2800" b="1">
                <a:solidFill>
                  <a:srgbClr val="FF0000"/>
                </a:solidFill>
              </a:rPr>
              <a:t>React Componenet LifeCycle or running steps</a:t>
            </a:r>
            <a:endParaRPr lang="en-US" sz="2800" b="1">
              <a:solidFill>
                <a:srgbClr val="FF0000"/>
              </a:solidFill>
            </a:endParaRPr>
          </a:p>
        </p:txBody>
      </p:sp>
      <p:sp>
        <p:nvSpPr>
          <p:cNvPr id="3" name="Content Placeholder 2"/>
          <p:cNvSpPr>
            <a:spLocks noGrp="1"/>
          </p:cNvSpPr>
          <p:nvPr>
            <p:ph idx="1"/>
          </p:nvPr>
        </p:nvSpPr>
        <p:spPr>
          <a:xfrm>
            <a:off x="99060" y="583565"/>
            <a:ext cx="11993880" cy="6116955"/>
          </a:xfrm>
        </p:spPr>
        <p:txBody>
          <a:bodyPr/>
          <a:p>
            <a:pPr>
              <a:buFont typeface="Wingdings" panose="05000000000000000000" charset="0"/>
              <a:buChar char="v"/>
            </a:pPr>
            <a:r>
              <a:rPr lang="en-US" altLang="en-US" sz="1800"/>
              <a:t>In React function components, there are no explicit lifecycle methods (like componentDidMount or componentWillUnmount).</a:t>
            </a:r>
            <a:endParaRPr lang="en-US" altLang="en-US" sz="1800"/>
          </a:p>
          <a:p>
            <a:pPr>
              <a:buFont typeface="Wingdings" panose="05000000000000000000" charset="0"/>
              <a:buChar char="v"/>
            </a:pPr>
            <a:r>
              <a:rPr lang="en-US" altLang="en-US" sz="1800"/>
              <a:t>Instead, React provides Hooks — mainly useEffect, useState, useMemo, and useCallback — to let you manage component lifecycle and side effects.</a:t>
            </a:r>
            <a:endParaRPr lang="en-US" altLang="en-US" sz="1800"/>
          </a:p>
          <a:p>
            <a:pPr>
              <a:buFont typeface="Wingdings" panose="05000000000000000000" charset="0"/>
              <a:buChar char="v"/>
            </a:pPr>
            <a:endParaRPr lang="en-US" altLang="en-US" sz="1800"/>
          </a:p>
          <a:p>
            <a:pPr>
              <a:buFont typeface="Wingdings" panose="05000000000000000000" charset="0"/>
              <a:buChar char="v"/>
            </a:pPr>
            <a:endParaRPr lang="en-US" altLang="en-US" sz="1800"/>
          </a:p>
        </p:txBody>
      </p:sp>
      <p:graphicFrame>
        <p:nvGraphicFramePr>
          <p:cNvPr id="4" name="Table 3"/>
          <p:cNvGraphicFramePr/>
          <p:nvPr>
            <p:custDataLst>
              <p:tags r:id="rId1"/>
            </p:custDataLst>
          </p:nvPr>
        </p:nvGraphicFramePr>
        <p:xfrm>
          <a:off x="99060" y="1889125"/>
          <a:ext cx="11896725" cy="1328420"/>
        </p:xfrm>
        <a:graphic>
          <a:graphicData uri="http://schemas.openxmlformats.org/drawingml/2006/table">
            <a:tbl>
              <a:tblPr/>
              <a:tblGrid>
                <a:gridCol w="2774950"/>
                <a:gridCol w="5621655"/>
                <a:gridCol w="3500120"/>
              </a:tblGrid>
              <a:tr h="332105">
                <a:tc>
                  <a:txBody>
                    <a:bodyPr/>
                    <a:p>
                      <a:pPr algn="ctr"/>
                      <a:r>
                        <a:rPr sz="2000" b="1">
                          <a:solidFill>
                            <a:srgbClr val="FF0000"/>
                          </a:solidFill>
                        </a:rPr>
                        <a:t>Phase</a:t>
                      </a:r>
                      <a:endParaRPr sz="2000" b="1">
                        <a:solidFill>
                          <a:srgbClr val="FF0000"/>
                        </a:solidFill>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000" b="1">
                          <a:solidFill>
                            <a:srgbClr val="FF0000"/>
                          </a:solidFill>
                        </a:rPr>
                        <a:t>Equivalent Class Method</a:t>
                      </a:r>
                      <a:endParaRPr sz="2000" b="1">
                        <a:solidFill>
                          <a:srgbClr val="FF0000"/>
                        </a:solidFill>
                      </a:endParaRPr>
                    </a:p>
                  </a:txBody>
                  <a:tcPr marL="0" marR="0" marT="0" marB="0" anchor="ctr" anchorCtr="0">
                    <a:lnL>
                      <a:noFill/>
                    </a:lnL>
                    <a:lnR>
                      <a:noFill/>
                    </a:lnR>
                    <a:lnT>
                      <a:noFill/>
                    </a:lnT>
                    <a:lnB>
                      <a:noFill/>
                    </a:lnB>
                    <a:solidFill>
                      <a:schemeClr val="accent1">
                        <a:lumMod val="20000"/>
                        <a:lumOff val="80000"/>
                      </a:schemeClr>
                    </a:solidFill>
                  </a:tcPr>
                </a:tc>
              </a:tr>
              <a:tr h="332105">
                <a:tc>
                  <a:txBody>
                    <a:bodyPr/>
                    <a:p>
                      <a:r>
                        <a:rPr sz="1800"/>
                        <a:t>Mounting</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Component is added (mounted) to the DOM</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componentDidMount</a:t>
                      </a:r>
                      <a:r>
                        <a:rPr lang="en-US" sz="1800"/>
                        <a:t>()</a:t>
                      </a:r>
                      <a:endParaRPr lang="en-US" sz="1800"/>
                    </a:p>
                  </a:txBody>
                  <a:tcPr marL="0" marR="0" marT="0" marB="0" anchor="ctr" anchorCtr="0">
                    <a:lnL>
                      <a:noFill/>
                    </a:lnL>
                    <a:lnR>
                      <a:noFill/>
                    </a:lnR>
                    <a:lnT>
                      <a:noFill/>
                    </a:lnT>
                    <a:lnB>
                      <a:noFill/>
                    </a:lnB>
                    <a:solidFill>
                      <a:schemeClr val="accent1">
                        <a:lumMod val="20000"/>
                        <a:lumOff val="80000"/>
                      </a:schemeClr>
                    </a:solidFill>
                  </a:tcPr>
                </a:tc>
              </a:tr>
              <a:tr h="332105">
                <a:tc>
                  <a:txBody>
                    <a:bodyPr/>
                    <a:p>
                      <a:r>
                        <a:rPr sz="1800"/>
                        <a:t>Updating</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Component re-renders due to props or state changes</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componentDidUpdate</a:t>
                      </a:r>
                      <a:endParaRPr sz="1800"/>
                    </a:p>
                  </a:txBody>
                  <a:tcPr marL="0" marR="0" marT="0" marB="0" anchor="ctr" anchorCtr="0">
                    <a:lnL>
                      <a:noFill/>
                    </a:lnL>
                    <a:lnR>
                      <a:noFill/>
                    </a:lnR>
                    <a:lnT>
                      <a:noFill/>
                    </a:lnT>
                    <a:lnB>
                      <a:noFill/>
                    </a:lnB>
                    <a:solidFill>
                      <a:schemeClr val="accent1">
                        <a:lumMod val="20000"/>
                        <a:lumOff val="80000"/>
                      </a:schemeClr>
                    </a:solidFill>
                  </a:tcPr>
                </a:tc>
              </a:tr>
              <a:tr h="332105">
                <a:tc>
                  <a:txBody>
                    <a:bodyPr/>
                    <a:p>
                      <a:r>
                        <a:rPr sz="1800"/>
                        <a:t>Unmounting</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Component is removed from the DOM</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componentWillUnmount</a:t>
                      </a:r>
                      <a:endParaRPr sz="1800"/>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
        <p:nvSpPr>
          <p:cNvPr id="5" name="Text Box 4"/>
          <p:cNvSpPr txBox="1"/>
          <p:nvPr/>
        </p:nvSpPr>
        <p:spPr>
          <a:xfrm>
            <a:off x="175260" y="3428683"/>
            <a:ext cx="5080000" cy="337185"/>
          </a:xfrm>
          <a:prstGeom prst="rect">
            <a:avLst/>
          </a:prstGeom>
        </p:spPr>
        <p:txBody>
          <a:bodyPr>
            <a:spAutoFit/>
          </a:bodyPr>
          <a:p>
            <a:r>
              <a:rPr sz="1600"/>
              <a:t>All three are handled using useEffect().</a:t>
            </a:r>
            <a:endParaRPr sz="1600"/>
          </a:p>
        </p:txBody>
      </p:sp>
      <p:sp>
        <p:nvSpPr>
          <p:cNvPr id="6" name="Text Box 5"/>
          <p:cNvSpPr txBox="1"/>
          <p:nvPr/>
        </p:nvSpPr>
        <p:spPr>
          <a:xfrm>
            <a:off x="99060" y="3977640"/>
            <a:ext cx="4417695" cy="2240915"/>
          </a:xfrm>
          <a:prstGeom prst="rect">
            <a:avLst/>
          </a:prstGeom>
        </p:spPr>
        <p:txBody>
          <a:bodyPr wrap="square">
            <a:spAutoFit/>
          </a:bodyPr>
          <a:p>
            <a:pPr>
              <a:spcAft>
                <a:spcPct val="60000"/>
              </a:spcAft>
            </a:pPr>
            <a:r>
              <a:rPr sz="1600" b="1"/>
              <a:t>1. Mounting (Run Once When Component Loads)</a:t>
            </a:r>
            <a:endParaRPr sz="1600" b="1"/>
          </a:p>
          <a:p>
            <a:r>
              <a:rPr sz="1600"/>
              <a:t>You can simulate componentDidMount() by using an empty dependency array [] in useEffect.</a:t>
            </a:r>
            <a:endParaRPr sz="1600"/>
          </a:p>
          <a:p>
            <a:r>
              <a:rPr sz="1600"/>
              <a:t>useEffect(() =&gt; {
  console.log("🔹 Component Mounted");
 // Example: Fetch data when component loads
  fetchData();
}, []); // ← Empty array ensures this runs only once</a:t>
            </a:r>
            <a:endParaRPr sz="1600"/>
          </a:p>
        </p:txBody>
      </p:sp>
      <p:sp>
        <p:nvSpPr>
          <p:cNvPr id="7" name="Text Box 6"/>
          <p:cNvSpPr txBox="1"/>
          <p:nvPr/>
        </p:nvSpPr>
        <p:spPr>
          <a:xfrm>
            <a:off x="4760595" y="3429000"/>
            <a:ext cx="4340860" cy="2980055"/>
          </a:xfrm>
          <a:prstGeom prst="rect">
            <a:avLst/>
          </a:prstGeom>
        </p:spPr>
        <p:txBody>
          <a:bodyPr wrap="square">
            <a:spAutoFit/>
          </a:bodyPr>
          <a:p>
            <a:pPr>
              <a:spcAft>
                <a:spcPct val="60000"/>
              </a:spcAft>
            </a:pPr>
            <a:r>
              <a:rPr sz="1600" b="1"/>
              <a:t>2. Updating (Run on State or Prop Change)</a:t>
            </a:r>
            <a:endParaRPr sz="1600" b="1"/>
          </a:p>
          <a:p>
            <a:r>
              <a:rPr sz="1600"/>
              <a:t>You can simulate componentDidUpdate() by passing dependencies to useEffect.</a:t>
            </a:r>
            <a:endParaRPr sz="1600"/>
          </a:p>
          <a:p>
            <a:r>
              <a:rPr sz="1600"/>
              <a:t> React runs the effect whenever those dependencies change.</a:t>
            </a:r>
            <a:endParaRPr sz="1600"/>
          </a:p>
          <a:p>
            <a:r>
              <a:rPr sz="1600"/>
              <a:t>useEffect(() =&gt; {
  console.log("🔸 Component Updated – count changed");
}, [count]); // Runs every time `count` changes
</a:t>
            </a:r>
            <a:endParaRPr sz="1600"/>
          </a:p>
          <a:p>
            <a:r>
              <a:rPr sz="1600"/>
              <a:t>You can list multiple dependencies:</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sz="2000"/>
              <a:t>Render → useEffect(() =&gt; { ... }, [])  // Mount</a:t>
            </a:r>
            <a:endParaRPr lang="en-US" altLang="en-US" sz="2000"/>
          </a:p>
          <a:p>
            <a:r>
              <a:rPr lang="en-US" altLang="en-US" sz="2000"/>
              <a:t>       → State/Prop Change → useEffect(() =&gt; { ... }, [deps])  // Update</a:t>
            </a:r>
            <a:endParaRPr lang="en-US" altLang="en-US" sz="2000"/>
          </a:p>
          <a:p>
            <a:r>
              <a:rPr lang="en-US" altLang="en-US" sz="2000"/>
              <a:t>       → return () =&gt; { ... }  // Cleanup / Unmount</a:t>
            </a:r>
            <a:endParaRPr lang="en-US" altLang="en-US" sz="2000"/>
          </a:p>
          <a:p>
            <a:endParaRPr lang="en-US" alt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00990"/>
          </a:xfrm>
        </p:spPr>
        <p:txBody>
          <a:bodyPr>
            <a:noAutofit/>
          </a:bodyPr>
          <a:p>
            <a:r>
              <a:rPr lang="en-US" sz="2000" b="1">
                <a:solidFill>
                  <a:srgbClr val="FF0000"/>
                </a:solidFill>
              </a:rPr>
              <a:t>React Hooks</a:t>
            </a:r>
            <a:endParaRPr lang="en-US" sz="2000" b="1">
              <a:solidFill>
                <a:srgbClr val="FF0000"/>
              </a:solidFill>
            </a:endParaRPr>
          </a:p>
        </p:txBody>
      </p:sp>
      <p:sp>
        <p:nvSpPr>
          <p:cNvPr id="3" name="Content Placeholder 2"/>
          <p:cNvSpPr>
            <a:spLocks noGrp="1"/>
          </p:cNvSpPr>
          <p:nvPr>
            <p:ph idx="1"/>
          </p:nvPr>
        </p:nvSpPr>
        <p:spPr>
          <a:xfrm>
            <a:off x="0" y="300990"/>
            <a:ext cx="11966575" cy="6557010"/>
          </a:xfrm>
        </p:spPr>
        <p:txBody>
          <a:bodyPr>
            <a:noAutofit/>
          </a:bodyPr>
          <a:p>
            <a:pPr>
              <a:buFont typeface="Wingdings" panose="05000000000000000000" charset="0"/>
              <a:buChar char="v"/>
            </a:pPr>
            <a:r>
              <a:rPr lang="en-US" altLang="en-US" sz="2000" b="1">
                <a:solidFill>
                  <a:srgbClr val="FF0000"/>
                </a:solidFill>
              </a:rPr>
              <a:t>1. useState() – Manage Component State</a:t>
            </a:r>
            <a:endParaRPr lang="en-US" altLang="en-US" sz="2000" b="1">
              <a:solidFill>
                <a:srgbClr val="FF0000"/>
              </a:solidFill>
            </a:endParaRPr>
          </a:p>
          <a:p>
            <a:pPr marL="0" indent="0">
              <a:buNone/>
            </a:pPr>
            <a:r>
              <a:rPr lang="en-US" altLang="en-US" sz="1600"/>
              <a:t>It creates a piece of state (a variable that React tracks and re-renders the component when it changes).  It also gives you a setter function to update that state.</a:t>
            </a:r>
            <a:endParaRPr lang="en-US" altLang="en-US" sz="1600"/>
          </a:p>
          <a:p>
            <a:pPr marL="0" indent="0">
              <a:buNone/>
            </a:pPr>
            <a:r>
              <a:rPr lang="en-US" altLang="en-US" sz="1600"/>
              <a:t>The useState hook allows React functional components to manage and respond to changing data dynamically.  Every time the state updates using its setter function, React automatically re-renders the component to reflect the new value.</a:t>
            </a:r>
            <a:endParaRPr lang="en-US" altLang="en-US" sz="1600"/>
          </a:p>
          <a:p>
            <a:pPr marL="0" indent="0">
              <a:buNone/>
            </a:pPr>
            <a:r>
              <a:rPr lang="en-US" altLang="en-US" sz="1600" b="1"/>
              <a:t>Syntax:</a:t>
            </a:r>
            <a:r>
              <a:rPr lang="en-US" altLang="en-US" sz="1600"/>
              <a:t> const [state, setState] = useState(initialValue);</a:t>
            </a:r>
            <a:endParaRPr lang="en-US" altLang="en-US" sz="1600"/>
          </a:p>
          <a:p>
            <a:pPr marL="0" indent="0">
              <a:buNone/>
            </a:pPr>
            <a:r>
              <a:rPr lang="en-US" altLang="en-US" sz="1600"/>
              <a:t>state → the current value.</a:t>
            </a:r>
            <a:endParaRPr lang="en-US" altLang="en-US" sz="1600"/>
          </a:p>
          <a:p>
            <a:pPr marL="0" indent="0">
              <a:buNone/>
            </a:pPr>
            <a:r>
              <a:rPr lang="en-US" altLang="en-US" sz="1600"/>
              <a:t>setState → a function to update it.</a:t>
            </a:r>
            <a:endParaRPr lang="en-US" altLang="en-US" sz="1600"/>
          </a:p>
          <a:p>
            <a:pPr marL="0" indent="0">
              <a:buNone/>
            </a:pPr>
            <a:r>
              <a:rPr lang="en-US" altLang="en-US" sz="1600"/>
              <a:t>initialValue → the starting value (can be a number, string, object, array, etc.).</a:t>
            </a:r>
            <a:endParaRPr lang="en-US" altLang="en-US" sz="1600"/>
          </a:p>
          <a:p>
            <a:pPr marL="0" indent="0">
              <a:buNone/>
            </a:pPr>
            <a:r>
              <a:rPr lang="en-US" altLang="en-US" sz="1600" b="1"/>
              <a:t>Example: A Simple Counter</a:t>
            </a:r>
            <a:endParaRPr lang="en-US" altLang="en-US" sz="1600" b="1"/>
          </a:p>
          <a:p>
            <a:pPr marL="0" indent="0">
              <a:buNone/>
            </a:pPr>
            <a:r>
              <a:rPr lang="en-US" altLang="en-US" sz="1600"/>
              <a:t>import React, { useState } from 'react';</a:t>
            </a:r>
            <a:endParaRPr lang="en-US" altLang="en-US" sz="1600"/>
          </a:p>
          <a:p>
            <a:pPr marL="0" indent="0">
              <a:buNone/>
            </a:pPr>
            <a:r>
              <a:rPr lang="en-US" altLang="en-US" sz="1600"/>
              <a:t>function Counter() {</a:t>
            </a:r>
            <a:endParaRPr lang="en-US" altLang="en-US" sz="1600"/>
          </a:p>
          <a:p>
            <a:pPr marL="0" indent="0">
              <a:buNone/>
            </a:pPr>
            <a:r>
              <a:rPr lang="en-US" altLang="en-US" sz="1600"/>
              <a:t>  const [count, setCount] = useState(0); // state variable with initial value 0</a:t>
            </a:r>
            <a:endParaRPr lang="en-US" altLang="en-US" sz="1600"/>
          </a:p>
          <a:p>
            <a:pPr marL="0" indent="0">
              <a:buNone/>
            </a:pPr>
            <a:r>
              <a:rPr lang="en-US" altLang="en-US" sz="1600"/>
              <a:t>  return (   </a:t>
            </a:r>
            <a:endParaRPr lang="en-US" altLang="en-US" sz="1600"/>
          </a:p>
          <a:p>
            <a:pPr marL="0" indent="0">
              <a:buNone/>
            </a:pPr>
            <a:r>
              <a:rPr lang="en-US" altLang="en-US" sz="1600"/>
              <a:t>    &lt;div style={{ textAlign: 'center', marginTop: '50px' }}&gt;</a:t>
            </a:r>
            <a:endParaRPr lang="en-US" altLang="en-US" sz="1600"/>
          </a:p>
          <a:p>
            <a:pPr marL="0" indent="0">
              <a:buNone/>
            </a:pPr>
            <a:r>
              <a:rPr lang="en-US" altLang="en-US" sz="1600"/>
              <a:t>      &lt;h2&gt;Count: {count}&lt;/h2&gt;</a:t>
            </a:r>
            <a:endParaRPr lang="en-US" altLang="en-US" sz="1600"/>
          </a:p>
          <a:p>
            <a:pPr marL="0" indent="0">
              <a:buNone/>
            </a:pPr>
            <a:r>
              <a:rPr lang="en-US" altLang="en-US" sz="1600"/>
              <a:t>      &lt;button onClick={() =&gt; setCount(count + 1)}&gt;Increase&lt;/button&gt;</a:t>
            </a:r>
            <a:endParaRPr lang="en-US" altLang="en-US" sz="1600"/>
          </a:p>
          <a:p>
            <a:pPr marL="0" indent="0">
              <a:buNone/>
            </a:pPr>
            <a:r>
              <a:rPr lang="en-US" altLang="en-US" sz="1600"/>
              <a:t>      &lt;button onClick={() =&gt; setCount(count - 1)}&gt;Decrease&lt;/button&gt;</a:t>
            </a:r>
            <a:endParaRPr lang="en-US" altLang="en-US" sz="1600"/>
          </a:p>
          <a:p>
            <a:pPr marL="0" indent="0">
              <a:buNone/>
            </a:pPr>
            <a:r>
              <a:rPr lang="en-US" altLang="en-US" sz="1600"/>
              <a:t>    &lt;/div&gt;</a:t>
            </a:r>
            <a:endParaRPr lang="en-US" altLang="en-US" sz="1600"/>
          </a:p>
          <a:p>
            <a:pPr marL="0" indent="0">
              <a:buNone/>
            </a:pPr>
            <a:r>
              <a:rPr lang="en-US" altLang="en-US" sz="1600"/>
              <a:t>  );   }export default Counter;</a:t>
            </a:r>
            <a:endParaRPr lang="en-US" altLang="en-US" sz="1600"/>
          </a:p>
          <a:p>
            <a:pPr marL="0" indent="0">
              <a:buNone/>
            </a:pPr>
            <a:endParaRPr lang="en-US" altLang="en-US" sz="1600"/>
          </a:p>
        </p:txBody>
      </p:sp>
      <p:sp>
        <p:nvSpPr>
          <p:cNvPr id="5" name="Text Box 4"/>
          <p:cNvSpPr txBox="1"/>
          <p:nvPr/>
        </p:nvSpPr>
        <p:spPr>
          <a:xfrm>
            <a:off x="6602095" y="4413250"/>
            <a:ext cx="5500370" cy="1351915"/>
          </a:xfrm>
          <a:prstGeom prst="rect">
            <a:avLst/>
          </a:prstGeom>
          <a:solidFill>
            <a:schemeClr val="accent1">
              <a:lumMod val="20000"/>
              <a:lumOff val="80000"/>
            </a:schemeClr>
          </a:solidFill>
        </p:spPr>
        <p:txBody>
          <a:bodyPr wrap="square" rtlCol="0" anchor="t">
            <a:noAutofit/>
          </a:bodyPr>
          <a:p>
            <a:pPr marL="0" indent="0">
              <a:buNone/>
            </a:pPr>
            <a:r>
              <a:rPr lang="en-US" altLang="en-US" b="1">
                <a:sym typeface="+mn-ea"/>
              </a:rPr>
              <a:t>Explanation:</a:t>
            </a:r>
            <a:endParaRPr lang="en-US" altLang="en-US" b="1"/>
          </a:p>
          <a:p>
            <a:pPr marL="342900" indent="-342900">
              <a:buAutoNum type="arabicPeriod"/>
            </a:pPr>
            <a:r>
              <a:rPr lang="en-US" altLang="en-US">
                <a:sym typeface="+mn-ea"/>
              </a:rPr>
              <a:t>count stores the current number.</a:t>
            </a:r>
            <a:endParaRPr lang="en-US" altLang="en-US"/>
          </a:p>
          <a:p>
            <a:pPr marL="342900" indent="-342900">
              <a:buAutoNum type="arabicPeriod"/>
            </a:pPr>
            <a:r>
              <a:rPr lang="en-US" altLang="en-US">
                <a:sym typeface="+mn-ea"/>
              </a:rPr>
              <a:t>setCount() updates it.</a:t>
            </a:r>
            <a:endParaRPr lang="en-US" altLang="en-US"/>
          </a:p>
          <a:p>
            <a:pPr marL="342900" indent="-342900">
              <a:buAutoNum type="arabicPeriod"/>
            </a:pPr>
            <a:r>
              <a:rPr lang="en-US" altLang="en-US">
                <a:sym typeface="+mn-ea"/>
              </a:rPr>
              <a:t>When state changes, the UI automatically re-renders.</a:t>
            </a:r>
            <a:endParaRPr lang="en-US" altLang="en-US">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15290"/>
          </a:xfrm>
        </p:spPr>
        <p:txBody>
          <a:bodyPr>
            <a:normAutofit fontScale="90000"/>
          </a:bodyPr>
          <a:p>
            <a:pPr algn="ctr"/>
            <a:r>
              <a:rPr lang="en-US" sz="2400" b="1">
                <a:solidFill>
                  <a:srgbClr val="FF0000"/>
                </a:solidFill>
              </a:rPr>
              <a:t>Without UseState</a:t>
            </a:r>
            <a:endParaRPr lang="en-US" sz="2400" b="1">
              <a:solidFill>
                <a:srgbClr val="FF0000"/>
              </a:solidFill>
            </a:endParaRPr>
          </a:p>
        </p:txBody>
      </p:sp>
      <p:sp>
        <p:nvSpPr>
          <p:cNvPr id="3" name="Content Placeholder 2"/>
          <p:cNvSpPr>
            <a:spLocks noGrp="1"/>
          </p:cNvSpPr>
          <p:nvPr>
            <p:ph idx="1"/>
          </p:nvPr>
        </p:nvSpPr>
        <p:spPr>
          <a:xfrm>
            <a:off x="127000" y="414655"/>
            <a:ext cx="11874500" cy="6443345"/>
          </a:xfrm>
        </p:spPr>
        <p:txBody>
          <a:bodyPr>
            <a:noAutofit/>
          </a:bodyPr>
          <a:p>
            <a:pPr marL="0" indent="0">
              <a:buNone/>
            </a:pPr>
            <a:r>
              <a:rPr lang="en-US" altLang="en-US" sz="1800" b="1">
                <a:sym typeface="+mn-ea"/>
              </a:rPr>
              <a:t>without useState()</a:t>
            </a:r>
            <a:endParaRPr lang="en-US" altLang="en-US" sz="1800"/>
          </a:p>
          <a:p>
            <a:pPr marL="0" indent="0">
              <a:buNone/>
            </a:pPr>
            <a:r>
              <a:rPr lang="en-US" altLang="en-US" sz="1800">
                <a:sym typeface="+mn-ea"/>
              </a:rPr>
              <a:t>import React from "react";</a:t>
            </a:r>
            <a:endParaRPr lang="en-US" altLang="en-US" sz="1800"/>
          </a:p>
          <a:p>
            <a:pPr marL="0" indent="0">
              <a:buNone/>
            </a:pPr>
            <a:r>
              <a:rPr lang="en-US" altLang="en-US" sz="1800">
                <a:sym typeface="+mn-ea"/>
              </a:rPr>
              <a:t>function CounterWithoutUseState() {</a:t>
            </a:r>
            <a:endParaRPr lang="en-US" altLang="en-US" sz="1800"/>
          </a:p>
          <a:p>
            <a:pPr marL="0" indent="0">
              <a:buNone/>
            </a:pPr>
            <a:r>
              <a:rPr lang="en-US" altLang="en-US" sz="1800">
                <a:sym typeface="+mn-ea"/>
              </a:rPr>
              <a:t>  let count = 0; // normal variable, not state</a:t>
            </a:r>
            <a:endParaRPr lang="en-US" altLang="en-US" sz="1800"/>
          </a:p>
          <a:p>
            <a:pPr marL="0" indent="0">
              <a:buNone/>
            </a:pPr>
            <a:r>
              <a:rPr lang="en-US" altLang="en-US" sz="1800">
                <a:sym typeface="+mn-ea"/>
              </a:rPr>
              <a:t>  const increment = () =&gt; {</a:t>
            </a:r>
            <a:endParaRPr lang="en-US" altLang="en-US" sz="1800"/>
          </a:p>
          <a:p>
            <a:pPr marL="0" indent="0">
              <a:buNone/>
            </a:pPr>
            <a:r>
              <a:rPr lang="en-US" altLang="en-US" sz="1800">
                <a:sym typeface="+mn-ea"/>
              </a:rPr>
              <a:t>    count += 1;</a:t>
            </a:r>
            <a:endParaRPr lang="en-US" altLang="en-US" sz="1800"/>
          </a:p>
          <a:p>
            <a:pPr marL="0" indent="0">
              <a:buNone/>
            </a:pPr>
            <a:r>
              <a:rPr lang="en-US" altLang="en-US" sz="1800">
                <a:sym typeface="+mn-ea"/>
              </a:rPr>
              <a:t>    console.log("Count is now:", count);</a:t>
            </a:r>
            <a:endParaRPr lang="en-US" altLang="en-US" sz="1800"/>
          </a:p>
          <a:p>
            <a:pPr marL="0" indent="0">
              <a:buNone/>
            </a:pPr>
            <a:r>
              <a:rPr lang="en-US" altLang="en-US" sz="1800">
                <a:sym typeface="+mn-ea"/>
              </a:rPr>
              <a:t>  };</a:t>
            </a:r>
            <a:endParaRPr lang="en-US" altLang="en-US" sz="1800"/>
          </a:p>
          <a:p>
            <a:pPr marL="0" indent="0">
              <a:buNone/>
            </a:pPr>
            <a:r>
              <a:rPr lang="en-US" altLang="en-US" sz="1800">
                <a:sym typeface="+mn-ea"/>
              </a:rPr>
              <a:t>  console.log("Component rendered");</a:t>
            </a:r>
            <a:endParaRPr lang="en-US" altLang="en-US" sz="1800"/>
          </a:p>
          <a:p>
            <a:pPr marL="0" indent="0">
              <a:buNone/>
            </a:pPr>
            <a:r>
              <a:rPr lang="en-US" altLang="en-US" sz="1800">
                <a:sym typeface="+mn-ea"/>
              </a:rPr>
              <a:t>  return (</a:t>
            </a:r>
            <a:endParaRPr lang="en-US" altLang="en-US" sz="1800"/>
          </a:p>
          <a:p>
            <a:pPr marL="0" indent="0">
              <a:buNone/>
            </a:pPr>
            <a:r>
              <a:rPr lang="en-US" altLang="en-US" sz="1800">
                <a:sym typeface="+mn-ea"/>
              </a:rPr>
              <a:t>    &lt;div&gt;</a:t>
            </a:r>
            <a:endParaRPr lang="en-US" altLang="en-US" sz="1800"/>
          </a:p>
          <a:p>
            <a:pPr marL="0" indent="0">
              <a:buNone/>
            </a:pPr>
            <a:r>
              <a:rPr lang="en-US" altLang="en-US" sz="1800">
                <a:sym typeface="+mn-ea"/>
              </a:rPr>
              <a:t>      &lt;h2&gt;Counter (without useState): {count}&lt;/h2&gt;</a:t>
            </a:r>
            <a:endParaRPr lang="en-US" altLang="en-US" sz="1800"/>
          </a:p>
          <a:p>
            <a:pPr marL="0" indent="0">
              <a:buNone/>
            </a:pPr>
            <a:r>
              <a:rPr lang="en-US" altLang="en-US" sz="1800">
                <a:sym typeface="+mn-ea"/>
              </a:rPr>
              <a:t>      &lt;button onClick={increment}&gt;Increment&lt;/button&gt;</a:t>
            </a:r>
            <a:endParaRPr lang="en-US" altLang="en-US" sz="1800"/>
          </a:p>
          <a:p>
            <a:pPr marL="0" indent="0">
              <a:buNone/>
            </a:pPr>
            <a:r>
              <a:rPr lang="en-US" altLang="en-US" sz="1800">
                <a:sym typeface="+mn-ea"/>
              </a:rPr>
              <a:t>    &lt;/div&gt;</a:t>
            </a:r>
            <a:endParaRPr lang="en-US" altLang="en-US" sz="1800"/>
          </a:p>
          <a:p>
            <a:pPr marL="0" indent="0">
              <a:buNone/>
            </a:pPr>
            <a:r>
              <a:rPr lang="en-US" altLang="en-US" sz="1800">
                <a:sym typeface="+mn-ea"/>
              </a:rPr>
              <a:t>  );</a:t>
            </a:r>
            <a:endParaRPr lang="en-US" altLang="en-US" sz="1800"/>
          </a:p>
          <a:p>
            <a:pPr marL="0" indent="0">
              <a:buNone/>
            </a:pPr>
            <a:r>
              <a:rPr lang="en-US" altLang="en-US" sz="1800">
                <a:sym typeface="+mn-ea"/>
              </a:rPr>
              <a:t>}</a:t>
            </a:r>
            <a:endParaRPr lang="en-US" altLang="en-US" sz="1800"/>
          </a:p>
          <a:p>
            <a:pPr marL="0" indent="0">
              <a:buNone/>
            </a:pPr>
            <a:r>
              <a:rPr lang="en-US" altLang="en-US" sz="1800">
                <a:sym typeface="+mn-ea"/>
              </a:rPr>
              <a:t>export default CounterWithoutUseState;</a:t>
            </a:r>
            <a:endParaRPr lang="en-US" altLang="en-US" sz="1800"/>
          </a:p>
          <a:p>
            <a:pPr marL="0" indent="0">
              <a:buNone/>
            </a:pPr>
            <a:endParaRPr lang="en-US" altLang="en-US" sz="1800"/>
          </a:p>
          <a:p>
            <a:pPr marL="0" indent="0">
              <a:buNone/>
            </a:pPr>
            <a:endParaRPr lang="en-US" altLang="en-US" sz="1800"/>
          </a:p>
        </p:txBody>
      </p:sp>
      <p:sp>
        <p:nvSpPr>
          <p:cNvPr id="4" name="Text Box 3"/>
          <p:cNvSpPr txBox="1"/>
          <p:nvPr/>
        </p:nvSpPr>
        <p:spPr>
          <a:xfrm>
            <a:off x="6096000" y="538480"/>
            <a:ext cx="5905500" cy="5354320"/>
          </a:xfrm>
          <a:prstGeom prst="rect">
            <a:avLst/>
          </a:prstGeom>
          <a:noFill/>
        </p:spPr>
        <p:txBody>
          <a:bodyPr wrap="square" rtlCol="0" anchor="t">
            <a:spAutoFit/>
          </a:bodyPr>
          <a:p>
            <a:r>
              <a:rPr lang="en-US" altLang="en-US"/>
              <a:t>import React, { useState } from "react";</a:t>
            </a:r>
            <a:endParaRPr lang="en-US" altLang="en-US"/>
          </a:p>
          <a:p>
            <a:endParaRPr lang="en-US" altLang="en-US"/>
          </a:p>
          <a:p>
            <a:r>
              <a:rPr lang="en-US" altLang="en-US"/>
              <a:t>function NameInput() {</a:t>
            </a:r>
            <a:endParaRPr lang="en-US" altLang="en-US"/>
          </a:p>
          <a:p>
            <a:r>
              <a:rPr lang="en-US" altLang="en-US"/>
              <a:t>  const [name, setName] = useState("");   </a:t>
            </a:r>
            <a:endParaRPr lang="en-US" altLang="en-US"/>
          </a:p>
          <a:p>
            <a:endParaRPr lang="en-US" altLang="en-US"/>
          </a:p>
          <a:p>
            <a:r>
              <a:rPr lang="en-US" altLang="en-US"/>
              <a:t>const handleChange = (event) =&gt; {</a:t>
            </a:r>
            <a:endParaRPr lang="en-US" altLang="en-US"/>
          </a:p>
          <a:p>
            <a:r>
              <a:rPr lang="en-US" altLang="en-US"/>
              <a:t>    setName(event.target.value); </a:t>
            </a:r>
            <a:endParaRPr lang="en-US" altLang="en-US"/>
          </a:p>
          <a:p>
            <a:r>
              <a:rPr lang="en-US" altLang="en-US"/>
              <a:t>  };</a:t>
            </a:r>
            <a:endParaRPr lang="en-US" altLang="en-US"/>
          </a:p>
          <a:p>
            <a:r>
              <a:rPr lang="en-US" altLang="en-US"/>
              <a:t>  return (</a:t>
            </a:r>
            <a:endParaRPr lang="en-US" altLang="en-US"/>
          </a:p>
          <a:p>
            <a:r>
              <a:rPr lang="en-US" altLang="en-US"/>
              <a:t>    &lt;div &gt;</a:t>
            </a:r>
            <a:endParaRPr lang="en-US" altLang="en-US"/>
          </a:p>
          <a:p>
            <a:r>
              <a:rPr lang="en-US" altLang="en-US"/>
              <a:t>      &lt;h2&gt;Enter your name:&lt;/h2&gt;  </a:t>
            </a:r>
            <a:endParaRPr lang="en-US" altLang="en-US"/>
          </a:p>
          <a:p>
            <a:r>
              <a:rPr lang="en-US" altLang="en-US"/>
              <a:t> &lt;input  type="text" value={name}   onChange={handleChange}  placeholder="Type your name here" /&gt;</a:t>
            </a:r>
            <a:endParaRPr lang="en-US" altLang="en-US"/>
          </a:p>
          <a:p>
            <a:r>
              <a:rPr lang="en-US" altLang="en-US"/>
              <a:t>      &lt;p&gt;Your name is: {name || "___"}&lt;/p&gt;</a:t>
            </a:r>
            <a:endParaRPr lang="en-US" altLang="en-US"/>
          </a:p>
          <a:p>
            <a:r>
              <a:rPr lang="en-US" altLang="en-US"/>
              <a:t>    &lt;/div&gt;</a:t>
            </a:r>
            <a:endParaRPr lang="en-US" altLang="en-US"/>
          </a:p>
          <a:p>
            <a:r>
              <a:rPr lang="en-US" altLang="en-US"/>
              <a:t>  );</a:t>
            </a:r>
            <a:endParaRPr lang="en-US" altLang="en-US"/>
          </a:p>
          <a:p>
            <a:r>
              <a:rPr lang="en-US" altLang="en-US"/>
              <a:t>}</a:t>
            </a:r>
            <a:endParaRPr lang="en-US" altLang="en-US"/>
          </a:p>
          <a:p>
            <a:r>
              <a:rPr lang="en-US" altLang="en-US"/>
              <a:t>export default NameInput;</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37820"/>
          </a:xfrm>
        </p:spPr>
        <p:txBody>
          <a:bodyPr>
            <a:noAutofit/>
          </a:bodyPr>
          <a:p>
            <a:pPr algn="ctr"/>
            <a:r>
              <a:rPr lang="en-US" altLang="en-US" sz="2400" b="1">
                <a:solidFill>
                  <a:srgbClr val="FF0000"/>
                </a:solidFill>
                <a:sym typeface="+mn-ea"/>
              </a:rPr>
              <a:t>2. useEffect() – Perform Side Effects</a:t>
            </a:r>
            <a:endParaRPr lang="en-US" altLang="en-US" sz="2400" b="1">
              <a:solidFill>
                <a:srgbClr val="FF0000"/>
              </a:solidFill>
              <a:sym typeface="+mn-ea"/>
            </a:endParaRPr>
          </a:p>
        </p:txBody>
      </p:sp>
      <p:sp>
        <p:nvSpPr>
          <p:cNvPr id="3" name="Content Placeholder 2"/>
          <p:cNvSpPr>
            <a:spLocks noGrp="1"/>
          </p:cNvSpPr>
          <p:nvPr>
            <p:ph idx="1"/>
          </p:nvPr>
        </p:nvSpPr>
        <p:spPr>
          <a:xfrm>
            <a:off x="0" y="337185"/>
            <a:ext cx="12192000" cy="3886835"/>
          </a:xfrm>
        </p:spPr>
        <p:txBody>
          <a:bodyPr>
            <a:noAutofit/>
          </a:bodyPr>
          <a:p>
            <a:pPr marL="0" indent="0">
              <a:buNone/>
            </a:pPr>
            <a:r>
              <a:rPr lang="en-US" altLang="en-US" sz="1800"/>
              <a:t>The useEffect hook in React is a built-in function that lets you perform side effects in functional components.</a:t>
            </a:r>
            <a:endParaRPr lang="en-US" altLang="en-US" sz="1800"/>
          </a:p>
          <a:p>
            <a:pPr marL="0" indent="0">
              <a:buNone/>
            </a:pPr>
            <a:r>
              <a:rPr lang="en-US" altLang="en-US" sz="1800" b="1"/>
              <a:t>What is a Side Effect?</a:t>
            </a:r>
            <a:endParaRPr lang="en-US" altLang="en-US" sz="1800" b="1"/>
          </a:p>
          <a:p>
            <a:pPr marL="0" indent="0">
              <a:buNone/>
            </a:pPr>
            <a:r>
              <a:rPr lang="en-US" altLang="en-US" sz="1800"/>
              <a:t>A side effect is any action that affects something outside the scope of the current function.</a:t>
            </a:r>
            <a:endParaRPr lang="en-US" altLang="en-US" sz="1800"/>
          </a:p>
          <a:p>
            <a:pPr marL="0" indent="0">
              <a:buNone/>
            </a:pPr>
            <a:r>
              <a:rPr lang="en-US" altLang="en-US" sz="1800"/>
              <a:t>In React, this includes things like:</a:t>
            </a:r>
            <a:endParaRPr lang="en-US" altLang="en-US" sz="1800"/>
          </a:p>
          <a:p>
            <a:pPr marL="0" indent="0">
              <a:buNone/>
            </a:pPr>
            <a:r>
              <a:rPr lang="en-US" altLang="en-US" sz="1800"/>
              <a:t>1)Fetching data from an API.  2)Setting up a subscription (e.g., WebSocket, event listener)</a:t>
            </a:r>
            <a:endParaRPr lang="en-US" altLang="en-US" sz="1800"/>
          </a:p>
          <a:p>
            <a:pPr marL="0" indent="0">
              <a:buNone/>
            </a:pPr>
            <a:r>
              <a:rPr lang="en-US" altLang="en-US" sz="1800"/>
              <a:t>3)Manipulating the DOM directly. 4)Using setTimeout or setInterval. 5)Logging or interacting with browser APIs.</a:t>
            </a:r>
            <a:endParaRPr lang="en-US" altLang="en-US" sz="1800"/>
          </a:p>
          <a:p>
            <a:pPr marL="0" indent="0">
              <a:buNone/>
            </a:pPr>
            <a:r>
              <a:rPr lang="en-US" altLang="en-US" sz="1800"/>
              <a:t>These operations are not purely rendering logic, so React separates them into the useEffect hook.</a:t>
            </a:r>
            <a:endParaRPr lang="en-US" altLang="en-US" sz="1800"/>
          </a:p>
          <a:p>
            <a:pPr marL="0" indent="0">
              <a:buNone/>
            </a:pPr>
            <a:r>
              <a:rPr lang="en-US" altLang="en-US" sz="1800"/>
              <a:t>Fetching data from APIs</a:t>
            </a:r>
            <a:endParaRPr lang="en-US" altLang="en-US" sz="1800"/>
          </a:p>
          <a:p>
            <a:pPr marL="0" indent="0">
              <a:buNone/>
            </a:pPr>
            <a:r>
              <a:rPr lang="en-US" altLang="en-US" sz="1800"/>
              <a:t>Setting up timers</a:t>
            </a:r>
            <a:endParaRPr lang="en-US" altLang="en-US" sz="1800"/>
          </a:p>
          <a:p>
            <a:pPr marL="0" indent="0">
              <a:buNone/>
            </a:pPr>
            <a:r>
              <a:rPr lang="en-US" altLang="en-US" sz="1800"/>
              <a:t>Listening to events</a:t>
            </a:r>
            <a:endParaRPr lang="en-US" altLang="en-US" sz="1800"/>
          </a:p>
          <a:p>
            <a:pPr marL="0" indent="0">
              <a:buNone/>
            </a:pPr>
            <a:r>
              <a:rPr lang="en-US" altLang="en-US" sz="1800"/>
              <a:t>Explanation:</a:t>
            </a:r>
            <a:endParaRPr lang="en-US" altLang="en-US" sz="1800"/>
          </a:p>
          <a:p>
            <a:pPr marL="0" indent="0">
              <a:buNone/>
            </a:pPr>
            <a:r>
              <a:rPr lang="en-US" altLang="en-US" sz="1800"/>
              <a:t>useEffect() runs once when the component loads.</a:t>
            </a:r>
            <a:endParaRPr lang="en-US" altLang="en-US" sz="1800"/>
          </a:p>
          <a:p>
            <a:pPr marL="0" indent="0">
              <a:buNone/>
            </a:pPr>
            <a:r>
              <a:rPr lang="en-US" altLang="en-US" sz="1800"/>
              <a:t>Fetches data and updates state with setUsers().</a:t>
            </a:r>
            <a:endParaRPr lang="en-US" altLang="en-US" sz="1800"/>
          </a:p>
          <a:p>
            <a:pPr marL="0" indent="0">
              <a:buNone/>
            </a:pPr>
            <a:r>
              <a:rPr lang="en-US" altLang="en-US" sz="1800"/>
              <a:t>React automatically re-renders the updated user list.</a:t>
            </a:r>
            <a:endParaRPr lang="en-US" altLang="en-US" sz="1800"/>
          </a:p>
        </p:txBody>
      </p:sp>
      <p:sp>
        <p:nvSpPr>
          <p:cNvPr id="4" name="Text Box 3"/>
          <p:cNvSpPr txBox="1"/>
          <p:nvPr/>
        </p:nvSpPr>
        <p:spPr>
          <a:xfrm>
            <a:off x="5758180" y="3082925"/>
            <a:ext cx="6096000" cy="3446145"/>
          </a:xfrm>
          <a:prstGeom prst="rect">
            <a:avLst/>
          </a:prstGeom>
          <a:noFill/>
        </p:spPr>
        <p:txBody>
          <a:bodyPr wrap="square" rtlCol="0" anchor="t">
            <a:noAutofit/>
          </a:bodyPr>
          <a:p>
            <a:r>
              <a:rPr lang="en-US" altLang="en-US" b="1"/>
              <a:t>syntax of Declaring UseEffect in React.</a:t>
            </a:r>
            <a:endParaRPr lang="en-US" altLang="en-US"/>
          </a:p>
          <a:p>
            <a:r>
              <a:rPr lang="en-US" altLang="en-US"/>
              <a:t>useEffect(() =&gt; {</a:t>
            </a:r>
            <a:endParaRPr lang="en-US" altLang="en-US"/>
          </a:p>
          <a:p>
            <a:r>
              <a:rPr lang="en-US" altLang="en-US"/>
              <a:t>  // Code for your side effect here</a:t>
            </a:r>
            <a:endParaRPr lang="en-US" altLang="en-US"/>
          </a:p>
          <a:p>
            <a:endParaRPr lang="en-US" altLang="en-US"/>
          </a:p>
          <a:p>
            <a:r>
              <a:rPr lang="en-US" altLang="en-US"/>
              <a:t>  return () =&gt; {</a:t>
            </a:r>
            <a:endParaRPr lang="en-US" altLang="en-US"/>
          </a:p>
          <a:p>
            <a:r>
              <a:rPr lang="en-US" altLang="en-US"/>
              <a:t>    // Optional cleanup code</a:t>
            </a:r>
            <a:endParaRPr lang="en-US" altLang="en-US"/>
          </a:p>
          <a:p>
            <a:r>
              <a:rPr lang="en-US" altLang="en-US"/>
              <a:t>  };</a:t>
            </a:r>
            <a:endParaRPr lang="en-US" altLang="en-US"/>
          </a:p>
          <a:p>
            <a:r>
              <a:rPr lang="en-US" altLang="en-US"/>
              <a:t>}, [dependencies]);</a:t>
            </a:r>
            <a:endParaRPr lang="en-US" altLang="en-US"/>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67640" y="128270"/>
            <a:ext cx="11856720" cy="6514465"/>
          </a:xfrm>
        </p:spPr>
        <p:txBody>
          <a:bodyPr>
            <a:normAutofit/>
          </a:bodyPr>
          <a:p>
            <a:pPr marL="0" indent="0">
              <a:buNone/>
            </a:pPr>
            <a:r>
              <a:rPr lang="en-US" altLang="en-US" sz="1800"/>
              <a:t>Explanation of the parameters:</a:t>
            </a:r>
            <a:endParaRPr lang="en-US" altLang="en-US" sz="1800"/>
          </a:p>
          <a:p>
            <a:pPr marL="0" indent="0">
              <a:buNone/>
            </a:pPr>
            <a:r>
              <a:rPr lang="en-US" altLang="en-US" sz="1800" b="1"/>
              <a:t>Callback function (() =&gt; {...})</a:t>
            </a:r>
            <a:endParaRPr lang="en-US" altLang="en-US" sz="1800" b="1"/>
          </a:p>
          <a:p>
            <a:pPr marL="0" indent="0">
              <a:buNone/>
            </a:pPr>
            <a:r>
              <a:rPr lang="en-US" altLang="en-US" sz="1800"/>
              <a:t>This function contains the side effect you want to run. It runs after the component renders.</a:t>
            </a:r>
            <a:endParaRPr lang="en-US" altLang="en-US" sz="1800"/>
          </a:p>
          <a:p>
            <a:pPr marL="0" indent="0">
              <a:buNone/>
            </a:pPr>
            <a:r>
              <a:rPr lang="en-US" altLang="en-US" sz="1800" b="1"/>
              <a:t>Cleanup function (optional)</a:t>
            </a:r>
            <a:endParaRPr lang="en-US" altLang="en-US" sz="1800" b="1"/>
          </a:p>
          <a:p>
            <a:pPr marL="0" indent="0">
              <a:buNone/>
            </a:pPr>
            <a:r>
              <a:rPr lang="en-US" altLang="en-US" sz="1800"/>
              <a:t>Returned inside the callback. Used to clean up resources (like event listeners or timers). Runs before the effect re-runs or when the component unmounts.</a:t>
            </a:r>
            <a:endParaRPr lang="en-US" altLang="en-US" sz="1800"/>
          </a:p>
          <a:p>
            <a:pPr marL="0" indent="0">
              <a:buNone/>
            </a:pPr>
            <a:r>
              <a:rPr lang="en-US" altLang="en-US" sz="1800" b="1"/>
              <a:t>Dependency array ([dependencies])</a:t>
            </a:r>
            <a:endParaRPr lang="en-US" altLang="en-US" sz="1800" b="1"/>
          </a:p>
          <a:p>
            <a:pPr marL="0" indent="0">
              <a:buNone/>
            </a:pPr>
            <a:r>
              <a:rPr lang="en-US" altLang="en-US" sz="1800"/>
              <a:t>Determines when the effect runs. React compares the current dependencies with the previous ones to decide.</a:t>
            </a:r>
            <a:endParaRPr lang="en-US"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18745"/>
            <a:ext cx="10515600" cy="519430"/>
          </a:xfrm>
        </p:spPr>
        <p:txBody>
          <a:bodyPr/>
          <a:p>
            <a:pPr algn="ctr"/>
            <a:r>
              <a:rPr lang="en-US" sz="2400" b="1">
                <a:solidFill>
                  <a:srgbClr val="FF0000"/>
                </a:solidFill>
              </a:rPr>
              <a:t>Api Fetching using useEffect</a:t>
            </a:r>
            <a:endParaRPr lang="en-US" sz="2400" b="1">
              <a:solidFill>
                <a:srgbClr val="FF0000"/>
              </a:solidFill>
            </a:endParaRPr>
          </a:p>
        </p:txBody>
      </p:sp>
      <p:sp>
        <p:nvSpPr>
          <p:cNvPr id="5" name="Text Box 4"/>
          <p:cNvSpPr txBox="1"/>
          <p:nvPr/>
        </p:nvSpPr>
        <p:spPr>
          <a:xfrm>
            <a:off x="323850" y="638175"/>
            <a:ext cx="10079355" cy="5841365"/>
          </a:xfrm>
          <a:prstGeom prst="rect">
            <a:avLst/>
          </a:prstGeom>
          <a:noFill/>
        </p:spPr>
        <p:txBody>
          <a:bodyPr wrap="square" rtlCol="0" anchor="t">
            <a:noAutofit/>
          </a:bodyPr>
          <a:p>
            <a:r>
              <a:rPr lang="en-US" altLang="en-US" sz="2000">
                <a:sym typeface="+mn-ea"/>
              </a:rPr>
              <a:t>import React, { useState, useEffect } from 'react';</a:t>
            </a:r>
            <a:endParaRPr lang="en-US" altLang="en-US" sz="2000"/>
          </a:p>
          <a:p>
            <a:r>
              <a:rPr lang="en-US" altLang="en-US" sz="2000">
                <a:sym typeface="+mn-ea"/>
              </a:rPr>
              <a:t>function Users() {</a:t>
            </a:r>
            <a:endParaRPr lang="en-US" altLang="en-US" sz="2000"/>
          </a:p>
          <a:p>
            <a:r>
              <a:rPr lang="en-US" altLang="en-US" sz="2000">
                <a:sym typeface="+mn-ea"/>
              </a:rPr>
              <a:t>  const [users, setUsers] = useState([]);</a:t>
            </a:r>
            <a:endParaRPr lang="en-US" altLang="en-US" sz="2000"/>
          </a:p>
          <a:p>
            <a:r>
              <a:rPr lang="en-US" altLang="en-US" sz="2000">
                <a:sym typeface="+mn-ea"/>
              </a:rPr>
              <a:t>  useEffect(() =&gt; {</a:t>
            </a:r>
            <a:endParaRPr lang="en-US" altLang="en-US" sz="2000"/>
          </a:p>
          <a:p>
            <a:r>
              <a:rPr lang="en-US" altLang="en-US" sz="2000">
                <a:sym typeface="+mn-ea"/>
              </a:rPr>
              <a:t>    // runs only once when component mounts</a:t>
            </a:r>
            <a:endParaRPr lang="en-US" altLang="en-US" sz="2000"/>
          </a:p>
          <a:p>
            <a:r>
              <a:rPr lang="en-US" altLang="en-US" sz="2000">
                <a:sym typeface="+mn-ea"/>
              </a:rPr>
              <a:t>    fetch('https://jsonplaceholder.typicode.com/users')</a:t>
            </a:r>
            <a:endParaRPr lang="en-US" altLang="en-US" sz="2000"/>
          </a:p>
          <a:p>
            <a:r>
              <a:rPr lang="en-US" altLang="en-US" sz="2000">
                <a:sym typeface="+mn-ea"/>
              </a:rPr>
              <a:t>      .then(res =&gt; res.json())</a:t>
            </a:r>
            <a:endParaRPr lang="en-US" altLang="en-US" sz="2000"/>
          </a:p>
          <a:p>
            <a:r>
              <a:rPr lang="en-US" altLang="en-US" sz="2000">
                <a:sym typeface="+mn-ea"/>
              </a:rPr>
              <a:t>      .then(data =&gt; setUsers(data));</a:t>
            </a:r>
            <a:endParaRPr lang="en-US" altLang="en-US" sz="2000"/>
          </a:p>
          <a:p>
            <a:r>
              <a:rPr lang="en-US" altLang="en-US" sz="2000">
                <a:sym typeface="+mn-ea"/>
              </a:rPr>
              <a:t>  }, []); // empty dependency array → run only once</a:t>
            </a:r>
            <a:endParaRPr lang="en-US" altLang="en-US" sz="2000"/>
          </a:p>
          <a:p>
            <a:r>
              <a:rPr lang="en-US" altLang="en-US" sz="2000">
                <a:sym typeface="+mn-ea"/>
              </a:rPr>
              <a:t>  return (</a:t>
            </a:r>
            <a:endParaRPr lang="en-US" altLang="en-US" sz="2000"/>
          </a:p>
          <a:p>
            <a:r>
              <a:rPr lang="en-US" altLang="en-US" sz="2000">
                <a:sym typeface="+mn-ea"/>
              </a:rPr>
              <a:t>    &lt;div style={{ textAlign: 'center', marginTop: '30px' }}&gt;</a:t>
            </a:r>
            <a:endParaRPr lang="en-US" altLang="en-US" sz="2000"/>
          </a:p>
          <a:p>
            <a:r>
              <a:rPr lang="en-US" altLang="en-US" sz="2000">
                <a:sym typeface="+mn-ea"/>
              </a:rPr>
              <a:t>      &lt;h2&gt;Users List&lt;/h2&gt;</a:t>
            </a:r>
            <a:endParaRPr lang="en-US" altLang="en-US" sz="2000"/>
          </a:p>
          <a:p>
            <a:r>
              <a:rPr lang="en-US" altLang="en-US" sz="2000">
                <a:sym typeface="+mn-ea"/>
              </a:rPr>
              <a:t>      &lt;ul style={{ listStyle: 'none' }}&gt;</a:t>
            </a:r>
            <a:endParaRPr lang="en-US" altLang="en-US" sz="2000"/>
          </a:p>
          <a:p>
            <a:r>
              <a:rPr lang="en-US" altLang="en-US" sz="2000">
                <a:sym typeface="+mn-ea"/>
              </a:rPr>
              <a:t>        {users.map(user =&gt; &lt;li key={user.id}&gt;{user.name}&lt;/li&gt;)}</a:t>
            </a:r>
            <a:endParaRPr lang="en-US" altLang="en-US" sz="2000"/>
          </a:p>
          <a:p>
            <a:r>
              <a:rPr lang="en-US" altLang="en-US" sz="2000">
                <a:sym typeface="+mn-ea"/>
              </a:rPr>
              <a:t>      &lt;/ul&gt;</a:t>
            </a:r>
            <a:endParaRPr lang="en-US" altLang="en-US" sz="2000"/>
          </a:p>
          <a:p>
            <a:r>
              <a:rPr lang="en-US" altLang="en-US" sz="2000">
                <a:sym typeface="+mn-ea"/>
              </a:rPr>
              <a:t>    &lt;/div&gt;</a:t>
            </a:r>
            <a:endParaRPr lang="en-US" altLang="en-US" sz="2000"/>
          </a:p>
          <a:p>
            <a:r>
              <a:rPr lang="en-US" altLang="en-US" sz="2000">
                <a:sym typeface="+mn-ea"/>
              </a:rPr>
              <a:t>  );</a:t>
            </a:r>
            <a:endParaRPr lang="en-US" altLang="en-US" sz="2000"/>
          </a:p>
          <a:p>
            <a:r>
              <a:rPr lang="en-US" altLang="en-US" sz="2000">
                <a:sym typeface="+mn-ea"/>
              </a:rPr>
              <a:t>}</a:t>
            </a:r>
            <a:endParaRPr lang="en-US" altLang="en-US" sz="2000"/>
          </a:p>
          <a:p>
            <a:r>
              <a:rPr lang="en-US" altLang="en-US" sz="2000">
                <a:sym typeface="+mn-ea"/>
              </a:rPr>
              <a:t>export default Users;</a:t>
            </a:r>
            <a:endParaRPr lang="en-US" altLang="en-US" sz="200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8280" y="0"/>
            <a:ext cx="11145520" cy="421005"/>
          </a:xfrm>
        </p:spPr>
        <p:txBody>
          <a:bodyPr>
            <a:noAutofit/>
          </a:bodyPr>
          <a:p>
            <a:pPr algn="ctr"/>
            <a:r>
              <a:rPr lang="en-US" altLang="en-US" sz="2400" b="1">
                <a:solidFill>
                  <a:srgbClr val="FF0000"/>
                </a:solidFill>
                <a:sym typeface="+mn-ea"/>
              </a:rPr>
              <a:t>useRef() – Access DOM Elements or Persist Values</a:t>
            </a:r>
            <a:endParaRPr lang="en-US" altLang="en-US" sz="2400" b="1">
              <a:solidFill>
                <a:srgbClr val="FF0000"/>
              </a:solidFill>
              <a:sym typeface="+mn-ea"/>
            </a:endParaRPr>
          </a:p>
        </p:txBody>
      </p:sp>
      <p:sp>
        <p:nvSpPr>
          <p:cNvPr id="3" name="Content Placeholder 2"/>
          <p:cNvSpPr>
            <a:spLocks noGrp="1"/>
          </p:cNvSpPr>
          <p:nvPr>
            <p:ph idx="1"/>
          </p:nvPr>
        </p:nvSpPr>
        <p:spPr>
          <a:xfrm>
            <a:off x="208280" y="421005"/>
            <a:ext cx="11856720" cy="6281420"/>
          </a:xfrm>
        </p:spPr>
        <p:txBody>
          <a:bodyPr>
            <a:noAutofit/>
          </a:bodyPr>
          <a:p>
            <a:pPr marL="0" indent="0">
              <a:buNone/>
            </a:pPr>
            <a:r>
              <a:rPr lang="en-US" altLang="en-US" sz="1600"/>
              <a:t>Access a DOM element directly.</a:t>
            </a:r>
            <a:endParaRPr lang="en-US" altLang="en-US" sz="1600"/>
          </a:p>
          <a:p>
            <a:pPr marL="0" indent="0">
              <a:buNone/>
            </a:pPr>
            <a:r>
              <a:rPr lang="en-US" altLang="en-US" sz="1600"/>
              <a:t>Store values that don’t trigger re-render when changed.</a:t>
            </a:r>
            <a:endParaRPr lang="en-US" altLang="en-US" sz="1600"/>
          </a:p>
          <a:p>
            <a:pPr marL="0" indent="0">
              <a:buNone/>
            </a:pPr>
            <a:r>
              <a:rPr lang="en-US" altLang="en-US" sz="1600"/>
              <a:t> </a:t>
            </a:r>
            <a:r>
              <a:rPr lang="en-US" altLang="en-US" sz="1600" b="1"/>
              <a:t>Example </a:t>
            </a:r>
            <a:r>
              <a:rPr lang="en-US" altLang="en-US" sz="1600"/>
              <a:t>1: Focus Input Box Automatically</a:t>
            </a:r>
            <a:endParaRPr lang="en-US" altLang="en-US" sz="1600"/>
          </a:p>
          <a:p>
            <a:pPr marL="0" indent="0">
              <a:buNone/>
            </a:pPr>
            <a:r>
              <a:rPr lang="en-US" altLang="en-US" sz="1600"/>
              <a:t>import React, { useRef, useEffect } from 'react';</a:t>
            </a:r>
            <a:endParaRPr lang="en-US" altLang="en-US" sz="1600"/>
          </a:p>
          <a:p>
            <a:pPr marL="0" indent="0">
              <a:buNone/>
            </a:pPr>
            <a:r>
              <a:rPr lang="en-US" altLang="en-US" sz="1600"/>
              <a:t>function FocusInput() {</a:t>
            </a:r>
            <a:endParaRPr lang="en-US" altLang="en-US" sz="1600"/>
          </a:p>
          <a:p>
            <a:pPr marL="0" indent="0">
              <a:buNone/>
            </a:pPr>
            <a:r>
              <a:rPr lang="en-US" altLang="en-US" sz="1600"/>
              <a:t>  const inputRef = useRef(null);</a:t>
            </a:r>
            <a:endParaRPr lang="en-US" altLang="en-US" sz="1600"/>
          </a:p>
          <a:p>
            <a:pPr marL="0" indent="0">
              <a:buNone/>
            </a:pPr>
            <a:r>
              <a:rPr lang="en-US" altLang="en-US" sz="1600"/>
              <a:t>  useEffect(() =&gt; {</a:t>
            </a:r>
            <a:endParaRPr lang="en-US" altLang="en-US" sz="1600"/>
          </a:p>
          <a:p>
            <a:pPr marL="0" indent="0">
              <a:buNone/>
            </a:pPr>
            <a:r>
              <a:rPr lang="en-US" altLang="en-US" sz="1600"/>
              <a:t>    inputRef.current.focus(); // focus on input when page loads</a:t>
            </a:r>
            <a:endParaRPr lang="en-US" altLang="en-US" sz="1600"/>
          </a:p>
          <a:p>
            <a:pPr marL="0" indent="0">
              <a:buNone/>
            </a:pPr>
            <a:r>
              <a:rPr lang="en-US" altLang="en-US" sz="1600"/>
              <a:t>  }, []);</a:t>
            </a:r>
            <a:endParaRPr lang="en-US" altLang="en-US" sz="1600"/>
          </a:p>
          <a:p>
            <a:pPr marL="0" indent="0">
              <a:buNone/>
            </a:pPr>
            <a:r>
              <a:rPr lang="en-US" altLang="en-US" sz="1600"/>
              <a:t>  return (</a:t>
            </a:r>
            <a:endParaRPr lang="en-US" altLang="en-US" sz="1600"/>
          </a:p>
          <a:p>
            <a:pPr marL="0" indent="0">
              <a:buNone/>
            </a:pPr>
            <a:r>
              <a:rPr lang="en-US" altLang="en-US" sz="1600"/>
              <a:t>    &lt;div style={{ textAlign: 'center', marginTop: '50px' }}&gt;</a:t>
            </a:r>
            <a:endParaRPr lang="en-US" altLang="en-US" sz="1600"/>
          </a:p>
          <a:p>
            <a:pPr marL="0" indent="0">
              <a:buNone/>
            </a:pPr>
            <a:r>
              <a:rPr lang="en-US" altLang="en-US" sz="1600"/>
              <a:t>      &lt;input ref={inputRef} type="text" placeholder="Type here..." /&gt;</a:t>
            </a:r>
            <a:endParaRPr lang="en-US" altLang="en-US" sz="1600"/>
          </a:p>
          <a:p>
            <a:pPr marL="0" indent="0">
              <a:buNone/>
            </a:pPr>
            <a:r>
              <a:rPr lang="en-US" altLang="en-US" sz="1600"/>
              <a:t>    &lt;/div&gt;</a:t>
            </a:r>
            <a:endParaRPr lang="en-US" altLang="en-US" sz="1600"/>
          </a:p>
          <a:p>
            <a:pPr marL="0" indent="0">
              <a:buNone/>
            </a:pPr>
            <a:r>
              <a:rPr lang="en-US" altLang="en-US" sz="1600"/>
              <a:t>  );</a:t>
            </a:r>
            <a:endParaRPr lang="en-US" altLang="en-US" sz="1600"/>
          </a:p>
          <a:p>
            <a:pPr marL="0" indent="0">
              <a:buNone/>
            </a:pPr>
            <a:r>
              <a:rPr lang="en-US" altLang="en-US" sz="1600"/>
              <a:t>}</a:t>
            </a:r>
            <a:endParaRPr lang="en-US" altLang="en-US" sz="1600"/>
          </a:p>
          <a:p>
            <a:pPr marL="0" indent="0">
              <a:buNone/>
            </a:pPr>
            <a:r>
              <a:rPr lang="en-US" altLang="en-US" sz="1600"/>
              <a:t>export default FocusInput;</a:t>
            </a:r>
            <a:endParaRPr lang="en-US" altLang="en-US" sz="1600"/>
          </a:p>
          <a:p>
            <a:pPr marL="0" indent="0">
              <a:buNone/>
            </a:pPr>
            <a:r>
              <a:rPr lang="en-US" altLang="en-US" sz="1600"/>
              <a:t> </a:t>
            </a:r>
            <a:r>
              <a:rPr lang="en-US" altLang="en-US" sz="1600" b="1"/>
              <a:t>Explanation</a:t>
            </a:r>
            <a:r>
              <a:rPr lang="en-US" altLang="en-US" sz="1600"/>
              <a:t>:</a:t>
            </a:r>
            <a:endParaRPr lang="en-US" altLang="en-US" sz="1600"/>
          </a:p>
          <a:p>
            <a:pPr marL="0" indent="0">
              <a:buNone/>
            </a:pPr>
            <a:r>
              <a:rPr lang="en-US" altLang="en-US" sz="1600"/>
              <a:t>useRef() gives direct access to DOM (inputRef.current is the input element).</a:t>
            </a:r>
            <a:endParaRPr lang="en-US" altLang="en-US" sz="1600"/>
          </a:p>
          <a:p>
            <a:pPr marL="0" indent="0">
              <a:buNone/>
            </a:pPr>
            <a:r>
              <a:rPr lang="en-US" altLang="en-US" sz="1600"/>
              <a:t>useEffect() runs once to focus input on load.</a:t>
            </a:r>
            <a:endParaRPr lang="en-US" altLang="en-US" sz="1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88620"/>
          </a:xfrm>
        </p:spPr>
        <p:txBody>
          <a:bodyPr/>
          <a:p>
            <a:r>
              <a:rPr lang="en-US" sz="2000" b="1">
                <a:solidFill>
                  <a:srgbClr val="FF0000"/>
                </a:solidFill>
                <a:latin typeface="Cambria" panose="02040503050406030204" charset="0"/>
                <a:cs typeface="Cambria" panose="02040503050406030204" charset="0"/>
              </a:rPr>
              <a:t>React States</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388620"/>
            <a:ext cx="12192000" cy="6468745"/>
          </a:xfrm>
        </p:spPr>
        <p:txBody>
          <a:bodyPr/>
          <a:p>
            <a:r>
              <a:rPr lang="en-US" altLang="en-US" sz="1800"/>
              <a:t>In React, state refers to a built-in object used to store data or information about the component that may change over time. When the state changes, the component re-renders to reflect those changes in the UI.</a:t>
            </a:r>
            <a:endParaRPr lang="en-US" altLang="en-US" sz="1800"/>
          </a:p>
          <a:p>
            <a:r>
              <a:rPr lang="en-US" altLang="en-US" sz="1800"/>
              <a:t> Basic Concepts</a:t>
            </a:r>
            <a:endParaRPr lang="en-US" altLang="en-US" sz="1800"/>
          </a:p>
          <a:p>
            <a:r>
              <a:rPr lang="en-US" altLang="en-US" sz="1800"/>
              <a:t>State is local to a component — it's not shared unless passed explicitly.</a:t>
            </a:r>
            <a:endParaRPr lang="en-US" altLang="en-US" sz="1800"/>
          </a:p>
          <a:p>
            <a:r>
              <a:rPr lang="en-US" altLang="en-US" sz="1800"/>
              <a:t>Updating state causes re-render of the component.</a:t>
            </a:r>
            <a:endParaRPr lang="en-US" altLang="en-US" sz="1800"/>
          </a:p>
          <a:p>
            <a:r>
              <a:rPr lang="en-US" altLang="en-US" sz="1800"/>
              <a:t>Managed using useState (in functional components) or this.setState (in class components).</a:t>
            </a:r>
            <a:endParaRPr lang="en-US" altLang="en-US" sz="1800"/>
          </a:p>
          <a:p>
            <a:endParaRPr lang="en-US" altLang="en-US" sz="1800"/>
          </a:p>
          <a:p>
            <a:r>
              <a:rPr lang="en-US" altLang="en-US" sz="1800"/>
              <a:t>2. State</a:t>
            </a:r>
            <a:endParaRPr lang="en-US" altLang="en-US" sz="1800"/>
          </a:p>
          <a:p>
            <a:r>
              <a:rPr lang="zh-CN" altLang="en-US" sz="1800"/>
              <a:t>🔹</a:t>
            </a:r>
            <a:r>
              <a:rPr lang="en-US" altLang="en-US" sz="1800"/>
              <a:t> Definition:</a:t>
            </a:r>
            <a:endParaRPr lang="en-US" altLang="en-US" sz="1800"/>
          </a:p>
          <a:p>
            <a:r>
              <a:rPr lang="en-US" altLang="en-US" sz="1800"/>
              <a:t>State is a built-in object in React used to store data that can change over time within a component. When the state changes, the component re-renders to reflect the new data.</a:t>
            </a:r>
            <a:endParaRPr lang="en-US" altLang="en-US" sz="1800"/>
          </a:p>
          <a:p>
            <a:endParaRPr lang="en-US" altLang="en-US" sz="1800"/>
          </a:p>
          <a:p>
            <a:r>
              <a:rPr lang="zh-CN" altLang="en-US" sz="1800"/>
              <a:t>🔹</a:t>
            </a:r>
            <a:r>
              <a:rPr lang="en-US" altLang="en-US" sz="1800"/>
              <a:t> Uses:</a:t>
            </a:r>
            <a:endParaRPr lang="en-US" altLang="en-US" sz="1800"/>
          </a:p>
          <a:p>
            <a:r>
              <a:rPr lang="en-US" altLang="en-US" sz="1800"/>
              <a:t>Store dynamic data (like form inputs, counters, toggles).</a:t>
            </a:r>
            <a:endParaRPr lang="en-US" altLang="en-US" sz="1800"/>
          </a:p>
          <a:p>
            <a:endParaRPr lang="en-US" altLang="en-US" sz="1800"/>
          </a:p>
          <a:p>
            <a:r>
              <a:rPr lang="en-US" altLang="en-US" sz="1800"/>
              <a:t>Trigger UI updates.</a:t>
            </a:r>
            <a:endParaRPr lang="en-US" altLang="en-US" sz="1800"/>
          </a:p>
          <a:p>
            <a:r>
              <a:rPr lang="en-US" altLang="en-US" sz="1800"/>
              <a:t>Track component-level values.</a:t>
            </a:r>
            <a:endParaRPr lang="en-US" altLang="en-US" sz="1800"/>
          </a:p>
          <a:p>
            <a:endParaRPr lang="en-US" altLang="en-US" sz="1800"/>
          </a:p>
          <a:p>
            <a:endParaRPr lang="en-US" altLang="en-US" sz="1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81635"/>
          </a:xfrm>
        </p:spPr>
        <p:txBody>
          <a:bodyPr>
            <a:noAutofit/>
          </a:bodyPr>
          <a:p>
            <a:r>
              <a:rPr lang="en-US" sz="2400" b="1">
                <a:solidFill>
                  <a:srgbClr val="FF0000"/>
                </a:solidFill>
              </a:rPr>
              <a:t>Example</a:t>
            </a:r>
            <a:endParaRPr lang="en-US" sz="2400" b="1">
              <a:solidFill>
                <a:srgbClr val="FF0000"/>
              </a:solidFill>
            </a:endParaRPr>
          </a:p>
        </p:txBody>
      </p:sp>
      <p:sp>
        <p:nvSpPr>
          <p:cNvPr id="3" name="Content Placeholder 2"/>
          <p:cNvSpPr>
            <a:spLocks noGrp="1"/>
          </p:cNvSpPr>
          <p:nvPr>
            <p:ph idx="1"/>
          </p:nvPr>
        </p:nvSpPr>
        <p:spPr>
          <a:xfrm>
            <a:off x="90805" y="381635"/>
            <a:ext cx="12101830" cy="6476365"/>
          </a:xfrm>
        </p:spPr>
        <p:txBody>
          <a:bodyPr>
            <a:noAutofit/>
          </a:bodyPr>
          <a:p>
            <a:pPr marL="0" indent="0">
              <a:buNone/>
            </a:pPr>
            <a:r>
              <a:rPr lang="en-US" altLang="en-US" sz="1800"/>
              <a:t>import React, { useState } from 'react';</a:t>
            </a:r>
            <a:endParaRPr lang="en-US" altLang="en-US" sz="1800"/>
          </a:p>
          <a:p>
            <a:pPr marL="0" indent="0">
              <a:buNone/>
            </a:pPr>
            <a:r>
              <a:rPr lang="en-US" altLang="en-US" sz="1800"/>
              <a:t>function App() {</a:t>
            </a:r>
            <a:endParaRPr lang="en-US" altLang="en-US" sz="1800"/>
          </a:p>
          <a:p>
            <a:pPr marL="0" indent="0">
              <a:buNone/>
            </a:pPr>
            <a:r>
              <a:rPr lang="en-US" altLang="en-US" sz="1800"/>
              <a:t>  // Declare state variable "count" and function to update it "setCount"</a:t>
            </a:r>
            <a:endParaRPr lang="en-US" altLang="en-US" sz="1800"/>
          </a:p>
          <a:p>
            <a:pPr marL="0" indent="0">
              <a:buNone/>
            </a:pPr>
            <a:r>
              <a:rPr lang="en-US" altLang="en-US" sz="1800"/>
              <a:t>  const [count, setCount] = useState(0);</a:t>
            </a:r>
            <a:endParaRPr lang="en-US" altLang="en-US" sz="1800"/>
          </a:p>
          <a:p>
            <a:pPr marL="0" indent="0">
              <a:buNone/>
            </a:pPr>
            <a:r>
              <a:rPr lang="en-US" altLang="en-US" sz="1800"/>
              <a:t>  // Function to handle increase</a:t>
            </a:r>
            <a:endParaRPr lang="en-US" altLang="en-US" sz="1800"/>
          </a:p>
          <a:p>
            <a:pPr marL="0" indent="0">
              <a:buNone/>
            </a:pPr>
            <a:r>
              <a:rPr lang="en-US" altLang="en-US" sz="1800"/>
              <a:t>  const handleIncrease = () =&gt; {    setCount(count + 1);  };</a:t>
            </a:r>
            <a:endParaRPr lang="en-US" altLang="en-US" sz="1800"/>
          </a:p>
          <a:p>
            <a:pPr marL="0" indent="0">
              <a:buNone/>
            </a:pPr>
            <a:r>
              <a:rPr lang="en-US" altLang="en-US" sz="1800"/>
              <a:t>  // Function to handle decrease</a:t>
            </a:r>
            <a:endParaRPr lang="en-US" altLang="en-US" sz="1800"/>
          </a:p>
          <a:p>
            <a:pPr marL="0" indent="0">
              <a:buNone/>
            </a:pPr>
            <a:r>
              <a:rPr lang="en-US" altLang="en-US" sz="1800"/>
              <a:t>  const handleDecrease = () =&gt; {    setCount(count - 1);  };</a:t>
            </a:r>
            <a:endParaRPr lang="en-US" altLang="en-US" sz="1800"/>
          </a:p>
          <a:p>
            <a:pPr marL="0" indent="0">
              <a:buNone/>
            </a:pPr>
            <a:r>
              <a:rPr lang="en-US" altLang="en-US" sz="1800"/>
              <a:t>  return (</a:t>
            </a:r>
            <a:endParaRPr lang="en-US" altLang="en-US" sz="1800"/>
          </a:p>
          <a:p>
            <a:pPr marL="0" indent="0">
              <a:buNone/>
            </a:pPr>
            <a:r>
              <a:rPr lang="en-US" altLang="en-US" sz="1800"/>
              <a:t>    &lt;div style={{ textAlign: 'center', marginTop: '50px' }}&gt;</a:t>
            </a:r>
            <a:endParaRPr lang="en-US" altLang="en-US" sz="1800"/>
          </a:p>
          <a:p>
            <a:pPr marL="0" indent="0">
              <a:buNone/>
            </a:pPr>
            <a:r>
              <a:rPr lang="en-US" altLang="en-US" sz="1800"/>
              <a:t>      &lt;h1&gt;React State Example&lt;/h1&gt;</a:t>
            </a:r>
            <a:endParaRPr lang="en-US" altLang="en-US" sz="1800"/>
          </a:p>
          <a:p>
            <a:pPr marL="0" indent="0">
              <a:buNone/>
            </a:pPr>
            <a:r>
              <a:rPr lang="en-US" altLang="en-US" sz="1800"/>
              <a:t>      &lt;h2&gt;Count: {count}&lt;/h2&gt;</a:t>
            </a:r>
            <a:endParaRPr lang="en-US" altLang="en-US" sz="1800"/>
          </a:p>
          <a:p>
            <a:pPr marL="0" indent="0">
              <a:buNone/>
            </a:pPr>
            <a:r>
              <a:rPr lang="en-US" altLang="en-US" sz="1800"/>
              <a:t>      &lt;button onClick={handleIncrease}&gt;Increase&lt;/button&gt;</a:t>
            </a:r>
            <a:endParaRPr lang="en-US" altLang="en-US" sz="1800"/>
          </a:p>
          <a:p>
            <a:pPr marL="0" indent="0">
              <a:buNone/>
            </a:pPr>
            <a:r>
              <a:rPr lang="en-US" altLang="en-US" sz="1800"/>
              <a:t>      &lt;button onClick={handleDecrease} style={{ marginLeft: '10px' }}&gt;Decrease&lt;/button&gt;</a:t>
            </a:r>
            <a:endParaRPr lang="en-US" altLang="en-US" sz="1800"/>
          </a:p>
          <a:p>
            <a:pPr marL="0" indent="0">
              <a:buNone/>
            </a:pPr>
            <a:r>
              <a:rPr lang="en-US" altLang="en-US" sz="1800"/>
              <a:t>    &lt;/div&gt;</a:t>
            </a:r>
            <a:endParaRPr lang="en-US" altLang="en-US" sz="1800"/>
          </a:p>
          <a:p>
            <a:pPr marL="0" indent="0">
              <a:buNone/>
            </a:pPr>
            <a:r>
              <a:rPr lang="en-US" altLang="en-US" sz="1800"/>
              <a:t>  );	}</a:t>
            </a:r>
            <a:endParaRPr lang="en-US" altLang="en-US" sz="1800"/>
          </a:p>
          <a:p>
            <a:pPr marL="0" indent="0">
              <a:buNone/>
            </a:pPr>
            <a:r>
              <a:rPr lang="en-US" altLang="en-US" sz="1800"/>
              <a:t>export default App;</a:t>
            </a: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5516880" y="2217420"/>
          <a:ext cx="6236970" cy="2782570"/>
        </p:xfrm>
        <a:graphic>
          <a:graphicData uri="http://schemas.openxmlformats.org/drawingml/2006/table">
            <a:tbl>
              <a:tblPr/>
              <a:tblGrid>
                <a:gridCol w="2081530"/>
                <a:gridCol w="4155440"/>
              </a:tblGrid>
              <a:tr h="429895">
                <a:tc>
                  <a:txBody>
                    <a:bodyPr/>
                    <a:p>
                      <a:r>
                        <a:rPr sz="1800"/>
                        <a:t>Concept</a:t>
                      </a:r>
                      <a:endParaRPr sz="1800"/>
                    </a:p>
                  </a:txBody>
                  <a:tcPr marL="0" marR="0" marT="0" marB="0" anchor="ctr" anchorCtr="0">
                    <a:lnL>
                      <a:noFill/>
                    </a:lnL>
                    <a:lnR>
                      <a:noFill/>
                    </a:lnR>
                    <a:lnT>
                      <a:noFill/>
                    </a:lnT>
                    <a:lnB>
                      <a:noFill/>
                    </a:lnB>
                    <a:solidFill>
                      <a:schemeClr val="accent5">
                        <a:lumMod val="40000"/>
                        <a:lumOff val="60000"/>
                      </a:schemeClr>
                    </a:solidFill>
                  </a:tcPr>
                </a:tc>
                <a:tc>
                  <a:txBody>
                    <a:bodyPr/>
                    <a:p>
                      <a:r>
                        <a:rPr sz="1800"/>
                        <a:t>Explanation</a:t>
                      </a:r>
                      <a:endParaRPr sz="1800"/>
                    </a:p>
                  </a:txBody>
                  <a:tcPr marL="0" marR="0" marT="0" marB="0" anchor="ctr" anchorCtr="0">
                    <a:lnL>
                      <a:noFill/>
                    </a:lnL>
                    <a:lnR>
                      <a:noFill/>
                    </a:lnR>
                    <a:lnT>
                      <a:noFill/>
                    </a:lnT>
                    <a:lnB>
                      <a:noFill/>
                    </a:lnB>
                    <a:solidFill>
                      <a:schemeClr val="accent5">
                        <a:lumMod val="40000"/>
                        <a:lumOff val="60000"/>
                      </a:schemeClr>
                    </a:solidFill>
                  </a:tcPr>
                </a:tc>
              </a:tr>
              <a:tr h="430530">
                <a:tc>
                  <a:txBody>
                    <a:bodyPr/>
                    <a:p>
                      <a:r>
                        <a:rPr sz="1800"/>
                        <a:t>useState()</a:t>
                      </a:r>
                      <a:endParaRPr sz="1800"/>
                    </a:p>
                  </a:txBody>
                  <a:tcPr marL="0" marR="0" marT="0" marB="0" anchor="ctr" anchorCtr="0">
                    <a:lnL>
                      <a:noFill/>
                    </a:lnL>
                    <a:lnR>
                      <a:noFill/>
                    </a:lnR>
                    <a:lnT>
                      <a:noFill/>
                    </a:lnT>
                    <a:lnB>
                      <a:noFill/>
                    </a:lnB>
                    <a:solidFill>
                      <a:schemeClr val="accent5">
                        <a:lumMod val="40000"/>
                        <a:lumOff val="60000"/>
                      </a:schemeClr>
                    </a:solidFill>
                  </a:tcPr>
                </a:tc>
                <a:tc>
                  <a:txBody>
                    <a:bodyPr/>
                    <a:p>
                      <a:r>
                        <a:rPr sz="1800"/>
                        <a:t>Creates a state variable</a:t>
                      </a:r>
                      <a:endParaRPr sz="1800"/>
                    </a:p>
                  </a:txBody>
                  <a:tcPr marL="0" marR="0" marT="0" marB="0" anchor="ctr" anchorCtr="0">
                    <a:lnL>
                      <a:noFill/>
                    </a:lnL>
                    <a:lnR>
                      <a:noFill/>
                    </a:lnR>
                    <a:lnT>
                      <a:noFill/>
                    </a:lnT>
                    <a:lnB>
                      <a:noFill/>
                    </a:lnB>
                    <a:solidFill>
                      <a:schemeClr val="accent5">
                        <a:lumMod val="40000"/>
                        <a:lumOff val="60000"/>
                      </a:schemeClr>
                    </a:solidFill>
                  </a:tcPr>
                </a:tc>
              </a:tr>
              <a:tr h="430530">
                <a:tc>
                  <a:txBody>
                    <a:bodyPr/>
                    <a:p>
                      <a:r>
                        <a:rPr sz="1800"/>
                        <a:t>count</a:t>
                      </a:r>
                      <a:endParaRPr sz="1800"/>
                    </a:p>
                  </a:txBody>
                  <a:tcPr marL="0" marR="0" marT="0" marB="0" anchor="ctr" anchorCtr="0">
                    <a:lnL>
                      <a:noFill/>
                    </a:lnL>
                    <a:lnR>
                      <a:noFill/>
                    </a:lnR>
                    <a:lnT>
                      <a:noFill/>
                    </a:lnT>
                    <a:lnB>
                      <a:noFill/>
                    </a:lnB>
                    <a:solidFill>
                      <a:schemeClr val="accent5">
                        <a:lumMod val="40000"/>
                        <a:lumOff val="60000"/>
                      </a:schemeClr>
                    </a:solidFill>
                  </a:tcPr>
                </a:tc>
                <a:tc>
                  <a:txBody>
                    <a:bodyPr/>
                    <a:p>
                      <a:r>
                        <a:rPr sz="1800"/>
                        <a:t>The current value in state</a:t>
                      </a:r>
                      <a:endParaRPr sz="1800"/>
                    </a:p>
                  </a:txBody>
                  <a:tcPr marL="0" marR="0" marT="0" marB="0" anchor="ctr" anchorCtr="0">
                    <a:lnL>
                      <a:noFill/>
                    </a:lnL>
                    <a:lnR>
                      <a:noFill/>
                    </a:lnR>
                    <a:lnT>
                      <a:noFill/>
                    </a:lnT>
                    <a:lnB>
                      <a:noFill/>
                    </a:lnB>
                    <a:solidFill>
                      <a:schemeClr val="accent5">
                        <a:lumMod val="40000"/>
                        <a:lumOff val="60000"/>
                      </a:schemeClr>
                    </a:solidFill>
                  </a:tcPr>
                </a:tc>
              </a:tr>
              <a:tr h="429895">
                <a:tc>
                  <a:txBody>
                    <a:bodyPr/>
                    <a:p>
                      <a:r>
                        <a:rPr sz="1800"/>
                        <a:t>setCount()</a:t>
                      </a:r>
                      <a:endParaRPr sz="1800"/>
                    </a:p>
                  </a:txBody>
                  <a:tcPr marL="0" marR="0" marT="0" marB="0" anchor="ctr" anchorCtr="0">
                    <a:lnL>
                      <a:noFill/>
                    </a:lnL>
                    <a:lnR>
                      <a:noFill/>
                    </a:lnR>
                    <a:lnT>
                      <a:noFill/>
                    </a:lnT>
                    <a:lnB>
                      <a:noFill/>
                    </a:lnB>
                    <a:solidFill>
                      <a:schemeClr val="accent5">
                        <a:lumMod val="40000"/>
                        <a:lumOff val="60000"/>
                      </a:schemeClr>
                    </a:solidFill>
                  </a:tcPr>
                </a:tc>
                <a:tc>
                  <a:txBody>
                    <a:bodyPr/>
                    <a:p>
                      <a:r>
                        <a:rPr sz="1800"/>
                        <a:t>Function to update state</a:t>
                      </a:r>
                      <a:endParaRPr sz="1800"/>
                    </a:p>
                  </a:txBody>
                  <a:tcPr marL="0" marR="0" marT="0" marB="0" anchor="ctr" anchorCtr="0">
                    <a:lnL>
                      <a:noFill/>
                    </a:lnL>
                    <a:lnR>
                      <a:noFill/>
                    </a:lnR>
                    <a:lnT>
                      <a:noFill/>
                    </a:lnT>
                    <a:lnB>
                      <a:noFill/>
                    </a:lnB>
                    <a:solidFill>
                      <a:schemeClr val="accent5">
                        <a:lumMod val="40000"/>
                        <a:lumOff val="60000"/>
                      </a:schemeClr>
                    </a:solidFill>
                  </a:tcPr>
                </a:tc>
              </a:tr>
              <a:tr h="429895">
                <a:tc>
                  <a:txBody>
                    <a:bodyPr/>
                    <a:p>
                      <a:r>
                        <a:rPr sz="1800"/>
                        <a:t>onClick</a:t>
                      </a:r>
                      <a:endParaRPr sz="1800"/>
                    </a:p>
                  </a:txBody>
                  <a:tcPr marL="0" marR="0" marT="0" marB="0" anchor="ctr" anchorCtr="0">
                    <a:lnL>
                      <a:noFill/>
                    </a:lnL>
                    <a:lnR>
                      <a:noFill/>
                    </a:lnR>
                    <a:lnT>
                      <a:noFill/>
                    </a:lnT>
                    <a:lnB>
                      <a:noFill/>
                    </a:lnB>
                    <a:solidFill>
                      <a:schemeClr val="accent5">
                        <a:lumMod val="40000"/>
                        <a:lumOff val="60000"/>
                      </a:schemeClr>
                    </a:solidFill>
                  </a:tcPr>
                </a:tc>
                <a:tc>
                  <a:txBody>
                    <a:bodyPr/>
                    <a:p>
                      <a:r>
                        <a:rPr sz="1800"/>
                        <a:t>Event handling in React</a:t>
                      </a:r>
                      <a:endParaRPr sz="1800"/>
                    </a:p>
                  </a:txBody>
                  <a:tcPr marL="0" marR="0" marT="0" marB="0" anchor="ctr" anchorCtr="0">
                    <a:lnL>
                      <a:noFill/>
                    </a:lnL>
                    <a:lnR>
                      <a:noFill/>
                    </a:lnR>
                    <a:lnT>
                      <a:noFill/>
                    </a:lnT>
                    <a:lnB>
                      <a:noFill/>
                    </a:lnB>
                    <a:solidFill>
                      <a:schemeClr val="accent5">
                        <a:lumMod val="40000"/>
                        <a:lumOff val="60000"/>
                      </a:schemeClr>
                    </a:solidFill>
                  </a:tcPr>
                </a:tc>
              </a:tr>
              <a:tr h="631825">
                <a:tc>
                  <a:txBody>
                    <a:bodyPr/>
                    <a:p>
                      <a:r>
                        <a:rPr sz="1800"/>
                        <a:t>Re-rendering UI</a:t>
                      </a:r>
                      <a:endParaRPr sz="1800"/>
                    </a:p>
                  </a:txBody>
                  <a:tcPr marL="0" marR="0" marT="0" marB="0" anchor="ctr" anchorCtr="0">
                    <a:lnL>
                      <a:noFill/>
                    </a:lnL>
                    <a:lnR>
                      <a:noFill/>
                    </a:lnR>
                    <a:lnT>
                      <a:noFill/>
                    </a:lnT>
                    <a:lnB>
                      <a:noFill/>
                    </a:lnB>
                    <a:solidFill>
                      <a:schemeClr val="accent5">
                        <a:lumMod val="40000"/>
                        <a:lumOff val="60000"/>
                      </a:schemeClr>
                    </a:solidFill>
                  </a:tcPr>
                </a:tc>
                <a:tc>
                  <a:txBody>
                    <a:bodyPr/>
                    <a:p>
                      <a:r>
                        <a:rPr sz="1800"/>
                        <a:t>When state changes, React updates the UI automatically</a:t>
                      </a:r>
                      <a:endParaRPr sz="1800"/>
                    </a:p>
                  </a:txBody>
                  <a:tcPr marL="0" marR="0" marT="0" marB="0" anchor="ctr" anchorCtr="0">
                    <a:lnL>
                      <a:noFill/>
                    </a:lnL>
                    <a:lnR>
                      <a:noFill/>
                    </a:lnR>
                    <a:lnT>
                      <a:noFill/>
                    </a:lnT>
                    <a:lnB>
                      <a:noFill/>
                    </a:lnB>
                    <a:solidFill>
                      <a:schemeClr val="accent5">
                        <a:lumMod val="40000"/>
                        <a:lumOff val="60000"/>
                      </a:schemeClr>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16230"/>
          </a:xfrm>
        </p:spPr>
        <p:txBody>
          <a:bodyPr>
            <a:noAutofit/>
          </a:bodyPr>
          <a:p>
            <a:r>
              <a:rPr lang="en-US" sz="2400" b="1">
                <a:solidFill>
                  <a:srgbClr val="FF0000"/>
                </a:solidFill>
              </a:rPr>
              <a:t>Another Example Of States </a:t>
            </a:r>
            <a:endParaRPr lang="en-US" sz="2400" b="1">
              <a:solidFill>
                <a:srgbClr val="FF0000"/>
              </a:solidFill>
            </a:endParaRPr>
          </a:p>
        </p:txBody>
      </p:sp>
      <p:sp>
        <p:nvSpPr>
          <p:cNvPr id="3" name="Content Placeholder 2"/>
          <p:cNvSpPr>
            <a:spLocks noGrp="1"/>
          </p:cNvSpPr>
          <p:nvPr>
            <p:ph idx="1"/>
          </p:nvPr>
        </p:nvSpPr>
        <p:spPr>
          <a:xfrm>
            <a:off x="134620" y="316230"/>
            <a:ext cx="11863705" cy="6541770"/>
          </a:xfrm>
        </p:spPr>
        <p:txBody>
          <a:bodyPr>
            <a:noAutofit/>
          </a:bodyPr>
          <a:p>
            <a:pPr marL="0" indent="0">
              <a:buNone/>
            </a:pPr>
            <a:r>
              <a:rPr lang="en-US" altLang="en-US" sz="1600"/>
              <a:t>import React, { useState } from 'react';</a:t>
            </a:r>
            <a:endParaRPr lang="en-US" altLang="en-US" sz="1600"/>
          </a:p>
          <a:p>
            <a:pPr marL="0" indent="0">
              <a:buNone/>
            </a:pPr>
            <a:r>
              <a:rPr lang="en-US" altLang="en-US" sz="1600"/>
              <a:t>function App() {</a:t>
            </a:r>
            <a:endParaRPr lang="en-US" altLang="en-US" sz="1600"/>
          </a:p>
          <a:p>
            <a:pPr marL="0" indent="0">
              <a:buNone/>
            </a:pPr>
            <a:r>
              <a:rPr lang="en-US" altLang="en-US" sz="1600"/>
              <a:t>  const [count, setCount] = useState(0);</a:t>
            </a:r>
            <a:endParaRPr lang="en-US" altLang="en-US" sz="1600"/>
          </a:p>
          <a:p>
            <a:pPr marL="0" indent="0">
              <a:buNone/>
            </a:pPr>
            <a:r>
              <a:rPr lang="en-US" altLang="en-US" sz="1600"/>
              <a:t>  const handleIncrease = () =&gt; setCount(count + 1);</a:t>
            </a:r>
            <a:endParaRPr lang="en-US" altLang="en-US" sz="1600"/>
          </a:p>
          <a:p>
            <a:pPr marL="0" indent="0">
              <a:buNone/>
            </a:pPr>
            <a:r>
              <a:rPr lang="en-US" altLang="en-US" sz="1600"/>
              <a:t>  const handleDecrease = () =&gt; setCount(count - 1);</a:t>
            </a:r>
            <a:endParaRPr lang="en-US" altLang="en-US" sz="1600"/>
          </a:p>
          <a:p>
            <a:pPr marL="0" indent="0">
              <a:buNone/>
            </a:pPr>
            <a:r>
              <a:rPr lang="en-US" altLang="en-US" sz="1600"/>
              <a:t>  const handleReset = () =&gt; setCount(0);</a:t>
            </a:r>
            <a:endParaRPr lang="en-US" altLang="en-US" sz="1600"/>
          </a:p>
          <a:p>
            <a:pPr marL="0" indent="0">
              <a:buNone/>
            </a:pPr>
            <a:r>
              <a:rPr lang="en-US" altLang="en-US" sz="1600"/>
              <a:t>  const isEven = count % 2 === 0;</a:t>
            </a:r>
            <a:endParaRPr lang="en-US" altLang="en-US" sz="1600"/>
          </a:p>
          <a:p>
            <a:pPr marL="0" indent="0">
              <a:buNone/>
            </a:pPr>
            <a:r>
              <a:rPr lang="en-US" altLang="en-US" sz="1600"/>
              <a:t>  return (</a:t>
            </a:r>
            <a:endParaRPr lang="en-US" altLang="en-US" sz="1600"/>
          </a:p>
          <a:p>
            <a:pPr marL="0" indent="0">
              <a:buNone/>
            </a:pPr>
            <a:r>
              <a:rPr lang="en-US" altLang="en-US" sz="1600"/>
              <a:t>    &lt;div style={{ textAlign: 'center', marginTop: '50px' }}&gt;</a:t>
            </a:r>
            <a:endParaRPr lang="en-US" altLang="en-US" sz="1600"/>
          </a:p>
          <a:p>
            <a:pPr marL="0" indent="0">
              <a:buNone/>
            </a:pPr>
            <a:r>
              <a:rPr lang="en-US" altLang="en-US" sz="1600"/>
              <a:t>      &lt;h1&gt;React State Example&lt;/h1&gt;            &lt;h2&gt;Count: {count}&lt;/h2&gt;</a:t>
            </a:r>
            <a:endParaRPr lang="en-US" altLang="en-US" sz="1600"/>
          </a:p>
          <a:p>
            <a:pPr marL="0" indent="0">
              <a:buNone/>
            </a:pPr>
            <a:r>
              <a:rPr lang="en-US" altLang="en-US" sz="1600"/>
              <a:t>      &lt;p style={{ color: isEven ? 'green' : 'red' }}&gt;             {isEven ? 'Even' : 'Odd'} Number</a:t>
            </a:r>
            <a:endParaRPr lang="en-US" altLang="en-US" sz="1600"/>
          </a:p>
          <a:p>
            <a:pPr marL="0" indent="0">
              <a:buNone/>
            </a:pPr>
            <a:r>
              <a:rPr lang="en-US" altLang="en-US" sz="1600"/>
              <a:t>      &lt;/p&gt;</a:t>
            </a:r>
            <a:endParaRPr lang="en-US" altLang="en-US" sz="1600"/>
          </a:p>
          <a:p>
            <a:pPr marL="0" indent="0">
              <a:buNone/>
            </a:pPr>
            <a:r>
              <a:rPr lang="en-US" altLang="en-US" sz="1600"/>
              <a:t>      &lt;button onClick={handleIncrease}&gt;Increase&lt;/button&gt;</a:t>
            </a:r>
            <a:endParaRPr lang="en-US" altLang="en-US" sz="1600"/>
          </a:p>
          <a:p>
            <a:pPr marL="0" indent="0">
              <a:buNone/>
            </a:pPr>
            <a:r>
              <a:rPr lang="en-US" altLang="en-US" sz="1600"/>
              <a:t>      &lt;button onClick={handleDecrease} style={{ marginLeft: '10px' }}&gt;Decrease&lt;/button&gt;</a:t>
            </a:r>
            <a:endParaRPr lang="en-US" altLang="en-US" sz="1600"/>
          </a:p>
          <a:p>
            <a:pPr marL="0" indent="0">
              <a:buNone/>
            </a:pPr>
            <a:r>
              <a:rPr lang="en-US" altLang="en-US" sz="1600"/>
              <a:t>      &lt;button onClick={handleReset} style={{ marginLeft: '10px' }}&gt;Reset&lt;/button&gt;</a:t>
            </a:r>
            <a:endParaRPr lang="en-US" altLang="en-US" sz="1600"/>
          </a:p>
          <a:p>
            <a:pPr marL="0" indent="0">
              <a:buNone/>
            </a:pPr>
            <a:r>
              <a:rPr lang="en-US" altLang="en-US" sz="1600"/>
              <a:t>    &lt;/div&gt;</a:t>
            </a:r>
            <a:endParaRPr lang="en-US" altLang="en-US" sz="1600"/>
          </a:p>
          <a:p>
            <a:pPr marL="0" indent="0">
              <a:buNone/>
            </a:pPr>
            <a:r>
              <a:rPr lang="en-US" altLang="en-US" sz="1600"/>
              <a:t>  );</a:t>
            </a:r>
            <a:endParaRPr lang="en-US" altLang="en-US" sz="1600"/>
          </a:p>
          <a:p>
            <a:pPr marL="0" indent="0">
              <a:buNone/>
            </a:pPr>
            <a:r>
              <a:rPr lang="en-US" altLang="en-US" sz="1600"/>
              <a:t>}</a:t>
            </a:r>
            <a:endParaRPr lang="en-US" altLang="en-US" sz="1600"/>
          </a:p>
          <a:p>
            <a:pPr marL="0" indent="0">
              <a:buNone/>
            </a:pPr>
            <a:r>
              <a:rPr lang="en-US" altLang="en-US" sz="1600"/>
              <a:t>export default App;</a:t>
            </a:r>
            <a:endParaRPr lang="en-US" altLang="en-US"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0"/>
            <a:ext cx="10515600" cy="389255"/>
          </a:xfrm>
        </p:spPr>
        <p:txBody>
          <a:bodyPr>
            <a:noAutofit/>
          </a:bodyPr>
          <a:p>
            <a:r>
              <a:rPr lang="en-US" sz="2400" b="1">
                <a:solidFill>
                  <a:srgbClr val="FF0000"/>
                </a:solidFill>
              </a:rPr>
              <a:t>Another Example Of React State</a:t>
            </a:r>
            <a:endParaRPr lang="en-US" sz="2400" b="1">
              <a:solidFill>
                <a:srgbClr val="FF0000"/>
              </a:solidFill>
            </a:endParaRPr>
          </a:p>
        </p:txBody>
      </p:sp>
      <p:sp>
        <p:nvSpPr>
          <p:cNvPr id="3" name="Content Placeholder 2"/>
          <p:cNvSpPr>
            <a:spLocks noGrp="1"/>
          </p:cNvSpPr>
          <p:nvPr>
            <p:ph idx="1"/>
          </p:nvPr>
        </p:nvSpPr>
        <p:spPr>
          <a:xfrm>
            <a:off x="105410" y="389255"/>
            <a:ext cx="12086590" cy="6468110"/>
          </a:xfrm>
        </p:spPr>
        <p:txBody>
          <a:bodyPr>
            <a:normAutofit fontScale="65000"/>
          </a:bodyPr>
          <a:p>
            <a:pPr marL="0" indent="0">
              <a:buNone/>
            </a:pPr>
            <a:r>
              <a:rPr lang="en-US" altLang="en-US"/>
              <a:t>import React, { useState } from 'react';</a:t>
            </a:r>
            <a:endParaRPr lang="en-US" altLang="en-US"/>
          </a:p>
          <a:p>
            <a:pPr marL="0" indent="0">
              <a:buNone/>
            </a:pPr>
            <a:r>
              <a:rPr lang="en-US" altLang="en-US"/>
              <a:t>function App() {</a:t>
            </a:r>
            <a:endParaRPr lang="en-US" altLang="en-US"/>
          </a:p>
          <a:p>
            <a:pPr marL="0" indent="0">
              <a:buNone/>
            </a:pPr>
            <a:r>
              <a:rPr lang="en-US" altLang="en-US"/>
              <a:t>  // Step 1: Create state for the input field</a:t>
            </a:r>
            <a:endParaRPr lang="en-US" altLang="en-US"/>
          </a:p>
          <a:p>
            <a:pPr marL="0" indent="0">
              <a:buNone/>
            </a:pPr>
            <a:r>
              <a:rPr lang="en-US" altLang="en-US"/>
              <a:t>  const [name, setName] = useState('');</a:t>
            </a:r>
            <a:endParaRPr lang="en-US" altLang="en-US"/>
          </a:p>
          <a:p>
            <a:pPr marL="0" indent="0">
              <a:buNone/>
            </a:pPr>
            <a:r>
              <a:rPr lang="en-US" altLang="en-US"/>
              <a:t>  // Step 2: Handle input change</a:t>
            </a:r>
            <a:endParaRPr lang="en-US" altLang="en-US"/>
          </a:p>
          <a:p>
            <a:pPr marL="0" indent="0">
              <a:buNone/>
            </a:pPr>
            <a:r>
              <a:rPr lang="en-US" altLang="en-US"/>
              <a:t>  const handleChange = (event) =&gt; {</a:t>
            </a:r>
            <a:endParaRPr lang="en-US" altLang="en-US"/>
          </a:p>
          <a:p>
            <a:pPr marL="0" indent="0">
              <a:buNone/>
            </a:pPr>
            <a:r>
              <a:rPr lang="en-US" altLang="en-US"/>
              <a:t>    setName(event.target.value);</a:t>
            </a:r>
            <a:endParaRPr lang="en-US" altLang="en-US"/>
          </a:p>
          <a:p>
            <a:pPr marL="0" indent="0">
              <a:buNone/>
            </a:pPr>
            <a:r>
              <a:rPr lang="en-US" altLang="en-US"/>
              <a:t>  };</a:t>
            </a:r>
            <a:endParaRPr lang="en-US" altLang="en-US"/>
          </a:p>
          <a:p>
            <a:pPr marL="0" indent="0">
              <a:buNone/>
            </a:pPr>
            <a:r>
              <a:rPr lang="en-US" altLang="en-US"/>
              <a:t>  return (</a:t>
            </a:r>
            <a:endParaRPr lang="en-US" altLang="en-US"/>
          </a:p>
          <a:p>
            <a:pPr marL="0" indent="0">
              <a:buNone/>
            </a:pPr>
            <a:r>
              <a:rPr lang="en-US" altLang="en-US"/>
              <a:t>    &lt;div style={{ textAlign: 'center', marginTop: '50px' }}&gt;</a:t>
            </a:r>
            <a:endParaRPr lang="en-US" altLang="en-US"/>
          </a:p>
          <a:p>
            <a:pPr marL="0" indent="0">
              <a:buNone/>
            </a:pPr>
            <a:r>
              <a:rPr lang="en-US" altLang="en-US"/>
              <a:t>      &lt;h1&gt;Hello, {name || 'Stranger'}!&lt;/h1&gt;</a:t>
            </a:r>
            <a:endParaRPr lang="en-US" altLang="en-US"/>
          </a:p>
          <a:p>
            <a:pPr marL="0" indent="0">
              <a:buNone/>
            </a:pPr>
            <a:r>
              <a:rPr lang="en-US" altLang="en-US"/>
              <a:t>      &lt;input  type="text"   placeholder="Enter your name" value={name}  onChange={handleChange} style={{ padding: '8px', fontSize: '16px' }}      /&gt;</a:t>
            </a:r>
            <a:endParaRPr lang="en-US" altLang="en-US"/>
          </a:p>
          <a:p>
            <a:pPr marL="0" indent="0">
              <a:buNone/>
            </a:pPr>
            <a:r>
              <a:rPr lang="en-US" altLang="en-US"/>
              <a:t>    &lt;/div&gt;</a:t>
            </a:r>
            <a:endParaRPr lang="en-US" altLang="en-US"/>
          </a:p>
          <a:p>
            <a:pPr marL="0" indent="0">
              <a:buNone/>
            </a:pPr>
            <a:r>
              <a:rPr lang="en-US" altLang="en-US"/>
              <a:t>  );</a:t>
            </a:r>
            <a:endParaRPr lang="en-US" altLang="en-US"/>
          </a:p>
          <a:p>
            <a:pPr marL="0" indent="0">
              <a:buNone/>
            </a:pPr>
            <a:r>
              <a:rPr lang="en-US" altLang="en-US"/>
              <a:t>}</a:t>
            </a:r>
            <a:endParaRPr lang="en-US" altLang="en-US"/>
          </a:p>
          <a:p>
            <a:pPr marL="0" indent="0">
              <a:buNone/>
            </a:pPr>
            <a:r>
              <a:rPr lang="en-US" altLang="en-US"/>
              <a:t>export default App;</a:t>
            </a:r>
            <a:endParaRPr lang="en-US" altLang="en-US"/>
          </a:p>
          <a:p>
            <a:pPr marL="0" indent="0">
              <a:buNone/>
            </a:pPr>
            <a:endParaRPr lang="en-US" altLang="en-US"/>
          </a:p>
        </p:txBody>
      </p:sp>
      <p:graphicFrame>
        <p:nvGraphicFramePr>
          <p:cNvPr id="4" name="Table 3"/>
          <p:cNvGraphicFramePr/>
          <p:nvPr>
            <p:custDataLst>
              <p:tags r:id="rId1"/>
            </p:custDataLst>
          </p:nvPr>
        </p:nvGraphicFramePr>
        <p:xfrm>
          <a:off x="4356100" y="1402080"/>
          <a:ext cx="7700645" cy="2247900"/>
        </p:xfrm>
        <a:graphic>
          <a:graphicData uri="http://schemas.openxmlformats.org/drawingml/2006/table">
            <a:tbl>
              <a:tblPr/>
              <a:tblGrid>
                <a:gridCol w="2741930"/>
                <a:gridCol w="4958715"/>
              </a:tblGrid>
              <a:tr h="374650">
                <a:tc>
                  <a:txBody>
                    <a:bodyPr/>
                    <a:p>
                      <a:r>
                        <a:rPr sz="1800" b="0">
                          <a:latin typeface="Cambria" panose="02040503050406030204" charset="0"/>
                          <a:cs typeface="Cambria" panose="02040503050406030204" charset="0"/>
                        </a:rPr>
                        <a:t>Concept</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Explanation</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4650">
                <a:tc>
                  <a:txBody>
                    <a:bodyPr/>
                    <a:p>
                      <a:r>
                        <a:rPr sz="1800" b="0">
                          <a:latin typeface="Cambria" panose="02040503050406030204" charset="0"/>
                          <a:cs typeface="Cambria" panose="02040503050406030204" charset="0"/>
                        </a:rPr>
                        <a:t>useState('')</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Start with an empty string</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4650">
                <a:tc>
                  <a:txBody>
                    <a:bodyPr/>
                    <a:p>
                      <a:r>
                        <a:rPr sz="1800" b="0">
                          <a:latin typeface="Cambria" panose="02040503050406030204" charset="0"/>
                          <a:cs typeface="Cambria" panose="02040503050406030204" charset="0"/>
                        </a:rPr>
                        <a:t>value={name}</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Makes the input a controlled component</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4650">
                <a:tc>
                  <a:txBody>
                    <a:bodyPr/>
                    <a:p>
                      <a:r>
                        <a:rPr sz="1800" b="0">
                          <a:latin typeface="Cambria" panose="02040503050406030204" charset="0"/>
                          <a:cs typeface="Cambria" panose="02040503050406030204" charset="0"/>
                        </a:rPr>
                        <a:t>onChange={handleChange}</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Updates state every time the user types</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4650">
                <a:tc>
                  <a:txBody>
                    <a:bodyPr/>
                    <a:p>
                      <a:r>
                        <a:rPr sz="1800" b="0">
                          <a:latin typeface="Cambria" panose="02040503050406030204" charset="0"/>
                          <a:cs typeface="Cambria" panose="02040503050406030204" charset="0"/>
                        </a:rPr>
                        <a:t>event.target.value</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Gets the current value of the input field</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374650">
                <a:tc>
                  <a:txBody>
                    <a:bodyPr/>
                    <a:p>
                      <a:r>
                        <a:rPr sz="1800" b="0">
                          <a:latin typeface="Cambria" panose="02040503050406030204" charset="0"/>
                          <a:cs typeface="Cambria" panose="02040503050406030204" charset="0"/>
                        </a:rPr>
                        <a:t>Conditional rendering</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b="0">
                          <a:latin typeface="Cambria" panose="02040503050406030204" charset="0"/>
                          <a:cs typeface="Cambria" panose="02040503050406030204" charset="0"/>
                        </a:rPr>
                        <a:t>`name</a:t>
                      </a:r>
                      <a:endParaRPr sz="1800" b="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86080"/>
          </a:xfrm>
        </p:spPr>
        <p:txBody>
          <a:bodyPr>
            <a:noAutofit/>
          </a:bodyPr>
          <a:p>
            <a:r>
              <a:rPr lang="en-US" sz="2000" b="1">
                <a:solidFill>
                  <a:srgbClr val="FF0000"/>
                </a:solidFill>
                <a:latin typeface="Cambria" panose="02040503050406030204" charset="0"/>
                <a:cs typeface="Cambria" panose="02040503050406030204" charset="0"/>
              </a:rPr>
              <a:t>React Hooks</a:t>
            </a:r>
            <a:endParaRPr lang="en-US" sz="2000" b="1">
              <a:solidFill>
                <a:srgbClr val="FF0000"/>
              </a:solidFill>
              <a:latin typeface="Cambria" panose="02040503050406030204" charset="0"/>
              <a:cs typeface="Cambria" panose="02040503050406030204" charset="0"/>
            </a:endParaRPr>
          </a:p>
        </p:txBody>
      </p:sp>
      <p:sp>
        <p:nvSpPr>
          <p:cNvPr id="3" name="Content Placeholder 2"/>
          <p:cNvSpPr>
            <a:spLocks noGrp="1"/>
          </p:cNvSpPr>
          <p:nvPr>
            <p:ph idx="1"/>
          </p:nvPr>
        </p:nvSpPr>
        <p:spPr>
          <a:xfrm>
            <a:off x="0" y="386080"/>
            <a:ext cx="12192000" cy="6471920"/>
          </a:xfrm>
        </p:spPr>
        <p:txBody>
          <a:bodyPr>
            <a:normAutofit/>
          </a:bodyPr>
          <a:p>
            <a:pPr marL="0" indent="0">
              <a:buNone/>
            </a:pPr>
            <a:r>
              <a:rPr lang="en-US" altLang="en-US" sz="1800" b="1"/>
              <a:t>3</a:t>
            </a:r>
            <a:r>
              <a:rPr lang="en-US" altLang="en-US" sz="1800"/>
              <a:t>. </a:t>
            </a:r>
            <a:r>
              <a:rPr lang="en-US" altLang="en-US" sz="1800" b="1"/>
              <a:t>Hooks</a:t>
            </a:r>
            <a:endParaRPr lang="en-US" altLang="en-US" sz="1800"/>
          </a:p>
          <a:p>
            <a:pPr marL="0" indent="0">
              <a:buNone/>
            </a:pPr>
            <a:r>
              <a:rPr lang="en-US" altLang="en-US" sz="1800"/>
              <a:t> </a:t>
            </a:r>
            <a:r>
              <a:rPr lang="en-US" altLang="en-US" sz="1800" b="1"/>
              <a:t>Definition</a:t>
            </a:r>
            <a:r>
              <a:rPr lang="en-US" altLang="en-US" sz="1800"/>
              <a:t>:</a:t>
            </a:r>
            <a:endParaRPr lang="en-US" altLang="en-US" sz="1800"/>
          </a:p>
          <a:p>
            <a:pPr marL="0" indent="0">
              <a:buNone/>
            </a:pPr>
            <a:r>
              <a:rPr lang="en-US" altLang="en-US" sz="1800"/>
              <a:t>Hooks are special functions in React that let you use state and lifecycle features in functional components.</a:t>
            </a:r>
            <a:endParaRPr lang="en-US" altLang="en-US" sz="1800"/>
          </a:p>
          <a:p>
            <a:pPr marL="0" indent="0">
              <a:buNone/>
            </a:pPr>
            <a:r>
              <a:rPr lang="en-US" altLang="en-US" sz="1800"/>
              <a:t>Hooks were introduced in React 16.8. Before that, only class components could use state and lifecycle methods.</a:t>
            </a:r>
            <a:endParaRPr lang="en-US" altLang="en-US" sz="1800"/>
          </a:p>
          <a:p>
            <a:pPr marL="0" indent="0">
              <a:buNone/>
            </a:pPr>
            <a:r>
              <a:rPr lang="en-US" altLang="en-US" sz="1800" b="1"/>
              <a:t>Why Use Hooks?</a:t>
            </a:r>
            <a:endParaRPr lang="en-US" altLang="en-US" sz="1800"/>
          </a:p>
          <a:p>
            <a:pPr marL="0" indent="0">
              <a:buNone/>
            </a:pPr>
            <a:r>
              <a:rPr lang="en-US" altLang="en-US" sz="1800"/>
              <a:t>Make functional components more powerful.</a:t>
            </a:r>
            <a:endParaRPr lang="en-US" altLang="en-US" sz="1800"/>
          </a:p>
          <a:p>
            <a:pPr marL="0" indent="0">
              <a:buNone/>
            </a:pPr>
            <a:r>
              <a:rPr lang="en-US" altLang="en-US" sz="1800"/>
              <a:t>Replace the need for class components.</a:t>
            </a:r>
            <a:endParaRPr lang="en-US" altLang="en-US" sz="1800"/>
          </a:p>
          <a:p>
            <a:pPr marL="0" indent="0">
              <a:buNone/>
            </a:pPr>
            <a:r>
              <a:rPr lang="en-US" altLang="en-US" sz="1800"/>
              <a:t>Make code cleaner and easier to test.</a:t>
            </a:r>
            <a:endParaRPr lang="en-US" altLang="en-US" sz="1800"/>
          </a:p>
          <a:p>
            <a:pPr marL="0" indent="0">
              <a:buNone/>
            </a:pPr>
            <a:r>
              <a:rPr lang="en-US" altLang="en-US" sz="1800"/>
              <a:t>useRef = Think of it as a box that stores a value or element and doesn’t reset when the component re-renders.</a:t>
            </a:r>
            <a:endParaRPr lang="en-US" altLang="en-US" sz="1800"/>
          </a:p>
          <a:p>
            <a:pPr marL="0" indent="0">
              <a:buNone/>
            </a:pPr>
            <a:r>
              <a:rPr lang="en-US" altLang="en-US" sz="1800"/>
              <a:t>useEffect = Think of it as a reaction that happens whenever certain data changes.</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0" y="4222750"/>
          <a:ext cx="11906250" cy="1470025"/>
        </p:xfrm>
        <a:graphic>
          <a:graphicData uri="http://schemas.openxmlformats.org/drawingml/2006/table">
            <a:tbl>
              <a:tblPr/>
              <a:tblGrid>
                <a:gridCol w="5953125"/>
                <a:gridCol w="5953125"/>
              </a:tblGrid>
              <a:tr h="294005">
                <a:tc>
                  <a:txBody>
                    <a:bodyPr/>
                    <a:p>
                      <a:pPr algn="ctr"/>
                      <a:r>
                        <a:rPr sz="2000" b="1"/>
                        <a:t>Hook</a:t>
                      </a:r>
                      <a:endParaRPr sz="2000" b="1"/>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000" b="1"/>
                        <a:t>Purpose</a:t>
                      </a:r>
                      <a:endParaRPr sz="2000" b="1"/>
                    </a:p>
                  </a:txBody>
                  <a:tcPr marL="0" marR="0" marT="0" marB="0" anchor="ctr" anchorCtr="0">
                    <a:lnL>
                      <a:noFill/>
                    </a:lnL>
                    <a:lnR>
                      <a:noFill/>
                    </a:lnR>
                    <a:lnT>
                      <a:noFill/>
                    </a:lnT>
                    <a:lnB>
                      <a:noFill/>
                    </a:lnB>
                    <a:solidFill>
                      <a:schemeClr val="accent2">
                        <a:lumMod val="20000"/>
                        <a:lumOff val="80000"/>
                      </a:schemeClr>
                    </a:solidFill>
                  </a:tcPr>
                </a:tc>
              </a:tr>
              <a:tr h="294005">
                <a:tc>
                  <a:txBody>
                    <a:bodyPr/>
                    <a:p>
                      <a:r>
                        <a:rPr sz="1800" b="0"/>
                        <a:t>useState</a:t>
                      </a:r>
                      <a:endParaRPr sz="1800" b="0"/>
                    </a:p>
                  </a:txBody>
                  <a:tcPr marL="0" marR="0" marT="0" marB="0" anchor="ctr" anchorCtr="0">
                    <a:lnL>
                      <a:noFill/>
                    </a:lnL>
                    <a:lnR>
                      <a:noFill/>
                    </a:lnR>
                    <a:lnT>
                      <a:noFill/>
                    </a:lnT>
                    <a:lnB>
                      <a:noFill/>
                    </a:lnB>
                    <a:solidFill>
                      <a:schemeClr val="accent2">
                        <a:lumMod val="20000"/>
                        <a:lumOff val="80000"/>
                      </a:schemeClr>
                    </a:solidFill>
                  </a:tcPr>
                </a:tc>
                <a:tc>
                  <a:txBody>
                    <a:bodyPr/>
                    <a:p>
                      <a:r>
                        <a:rPr sz="1800" b="0"/>
                        <a:t>Manage local state</a:t>
                      </a:r>
                      <a:endParaRPr sz="1800" b="0"/>
                    </a:p>
                  </a:txBody>
                  <a:tcPr marL="0" marR="0" marT="0" marB="0" anchor="ctr" anchorCtr="0">
                    <a:lnL>
                      <a:noFill/>
                    </a:lnL>
                    <a:lnR>
                      <a:noFill/>
                    </a:lnR>
                    <a:lnT>
                      <a:noFill/>
                    </a:lnT>
                    <a:lnB>
                      <a:noFill/>
                    </a:lnB>
                    <a:solidFill>
                      <a:schemeClr val="accent2">
                        <a:lumMod val="20000"/>
                        <a:lumOff val="80000"/>
                      </a:schemeClr>
                    </a:solidFill>
                  </a:tcPr>
                </a:tc>
              </a:tr>
              <a:tr h="294005">
                <a:tc>
                  <a:txBody>
                    <a:bodyPr/>
                    <a:p>
                      <a:r>
                        <a:rPr sz="1800" b="0"/>
                        <a:t>useEffect</a:t>
                      </a:r>
                      <a:endParaRPr sz="1800" b="0"/>
                    </a:p>
                  </a:txBody>
                  <a:tcPr marL="0" marR="0" marT="0" marB="0" anchor="ctr" anchorCtr="0">
                    <a:lnL>
                      <a:noFill/>
                    </a:lnL>
                    <a:lnR>
                      <a:noFill/>
                    </a:lnR>
                    <a:lnT>
                      <a:noFill/>
                    </a:lnT>
                    <a:lnB>
                      <a:noFill/>
                    </a:lnB>
                    <a:solidFill>
                      <a:schemeClr val="accent2">
                        <a:lumMod val="20000"/>
                        <a:lumOff val="80000"/>
                      </a:schemeClr>
                    </a:solidFill>
                  </a:tcPr>
                </a:tc>
                <a:tc>
                  <a:txBody>
                    <a:bodyPr/>
                    <a:p>
                      <a:r>
                        <a:rPr sz="1800" b="0"/>
                        <a:t>Handle side effects (e.g., API calls)</a:t>
                      </a:r>
                      <a:endParaRPr sz="1800" b="0"/>
                    </a:p>
                  </a:txBody>
                  <a:tcPr marL="0" marR="0" marT="0" marB="0" anchor="ctr" anchorCtr="0">
                    <a:lnL>
                      <a:noFill/>
                    </a:lnL>
                    <a:lnR>
                      <a:noFill/>
                    </a:lnR>
                    <a:lnT>
                      <a:noFill/>
                    </a:lnT>
                    <a:lnB>
                      <a:noFill/>
                    </a:lnB>
                    <a:solidFill>
                      <a:schemeClr val="accent2">
                        <a:lumMod val="20000"/>
                        <a:lumOff val="80000"/>
                      </a:schemeClr>
                    </a:solidFill>
                  </a:tcPr>
                </a:tc>
              </a:tr>
              <a:tr h="294005">
                <a:tc>
                  <a:txBody>
                    <a:bodyPr/>
                    <a:p>
                      <a:r>
                        <a:rPr sz="1800" b="0"/>
                        <a:t>useRef</a:t>
                      </a:r>
                      <a:endParaRPr sz="1800" b="0"/>
                    </a:p>
                  </a:txBody>
                  <a:tcPr marL="0" marR="0" marT="0" marB="0" anchor="ctr" anchorCtr="0">
                    <a:lnL>
                      <a:noFill/>
                    </a:lnL>
                    <a:lnR>
                      <a:noFill/>
                    </a:lnR>
                    <a:lnT>
                      <a:noFill/>
                    </a:lnT>
                    <a:lnB>
                      <a:noFill/>
                    </a:lnB>
                    <a:solidFill>
                      <a:schemeClr val="accent2">
                        <a:lumMod val="20000"/>
                        <a:lumOff val="80000"/>
                      </a:schemeClr>
                    </a:solidFill>
                  </a:tcPr>
                </a:tc>
                <a:tc>
                  <a:txBody>
                    <a:bodyPr/>
                    <a:p>
                      <a:r>
                        <a:rPr sz="1800" b="0"/>
                        <a:t>Access DOM elements or store values</a:t>
                      </a:r>
                      <a:endParaRPr sz="1800" b="0"/>
                    </a:p>
                  </a:txBody>
                  <a:tcPr marL="0" marR="0" marT="0" marB="0" anchor="ctr" anchorCtr="0">
                    <a:lnL>
                      <a:noFill/>
                    </a:lnL>
                    <a:lnR>
                      <a:noFill/>
                    </a:lnR>
                    <a:lnT>
                      <a:noFill/>
                    </a:lnT>
                    <a:lnB>
                      <a:noFill/>
                    </a:lnB>
                    <a:solidFill>
                      <a:schemeClr val="accent2">
                        <a:lumMod val="20000"/>
                        <a:lumOff val="80000"/>
                      </a:schemeClr>
                    </a:solidFill>
                  </a:tcPr>
                </a:tc>
              </a:tr>
              <a:tr h="294005">
                <a:tc>
                  <a:txBody>
                    <a:bodyPr/>
                    <a:p>
                      <a:r>
                        <a:rPr sz="1800" b="0"/>
                        <a:t>useContext</a:t>
                      </a:r>
                      <a:endParaRPr sz="1800" b="0"/>
                    </a:p>
                  </a:txBody>
                  <a:tcPr marL="0" marR="0" marT="0" marB="0" anchor="ctr" anchorCtr="0">
                    <a:lnL>
                      <a:noFill/>
                    </a:lnL>
                    <a:lnR>
                      <a:noFill/>
                    </a:lnR>
                    <a:lnT>
                      <a:noFill/>
                    </a:lnT>
                    <a:lnB>
                      <a:noFill/>
                    </a:lnB>
                    <a:solidFill>
                      <a:schemeClr val="accent2">
                        <a:lumMod val="20000"/>
                        <a:lumOff val="80000"/>
                      </a:schemeClr>
                    </a:solidFill>
                  </a:tcPr>
                </a:tc>
                <a:tc>
                  <a:txBody>
                    <a:bodyPr/>
                    <a:p>
                      <a:r>
                        <a:rPr sz="1800" b="0"/>
                        <a:t>Share global data between components</a:t>
                      </a:r>
                      <a:endParaRPr sz="1800" b="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462280"/>
          </a:xfrm>
        </p:spPr>
        <p:txBody>
          <a:bodyPr>
            <a:noAutofit/>
          </a:bodyPr>
          <a:p>
            <a:r>
              <a:rPr lang="en-US" sz="2400" b="1">
                <a:solidFill>
                  <a:srgbClr val="FF0000"/>
                </a:solidFill>
              </a:rPr>
              <a:t>UseEffect</a:t>
            </a:r>
            <a:endParaRPr lang="en-US" sz="2400" b="1">
              <a:solidFill>
                <a:srgbClr val="FF0000"/>
              </a:solidFill>
            </a:endParaRPr>
          </a:p>
        </p:txBody>
      </p:sp>
      <p:sp>
        <p:nvSpPr>
          <p:cNvPr id="3" name="Content Placeholder 2"/>
          <p:cNvSpPr>
            <a:spLocks noGrp="1"/>
          </p:cNvSpPr>
          <p:nvPr>
            <p:ph idx="1"/>
          </p:nvPr>
        </p:nvSpPr>
        <p:spPr>
          <a:xfrm>
            <a:off x="0" y="330835"/>
            <a:ext cx="12192000" cy="6527800"/>
          </a:xfrm>
        </p:spPr>
        <p:txBody>
          <a:bodyPr/>
          <a:p>
            <a:pPr marL="0" indent="0">
              <a:buNone/>
            </a:pPr>
            <a:r>
              <a:rPr lang="en-US" altLang="en-US" sz="1400"/>
              <a:t>A. useState – For State</a:t>
            </a:r>
            <a:endParaRPr lang="en-US" altLang="en-US" sz="1400"/>
          </a:p>
          <a:p>
            <a:pPr marL="0" indent="0">
              <a:buNone/>
            </a:pPr>
            <a:r>
              <a:rPr lang="en-US" altLang="en-US" sz="1400"/>
              <a:t>Already covered above in the Counter example.</a:t>
            </a:r>
            <a:endParaRPr lang="en-US" altLang="en-US" sz="1400"/>
          </a:p>
          <a:p>
            <a:pPr marL="0" indent="0">
              <a:buNone/>
            </a:pPr>
            <a:r>
              <a:rPr lang="en-US" altLang="en-US" sz="1400"/>
              <a:t>✅ B. useEffect – For Side Effects / Lifecycle</a:t>
            </a:r>
            <a:endParaRPr lang="en-US" altLang="en-US" sz="1400"/>
          </a:p>
          <a:p>
            <a:pPr marL="0" indent="0">
              <a:buNone/>
            </a:pPr>
            <a:r>
              <a:rPr lang="zh-CN" altLang="en-US" sz="1400"/>
              <a:t>🔹</a:t>
            </a:r>
            <a:r>
              <a:rPr lang="en-US" altLang="en-US" sz="1400"/>
              <a:t> Definition:</a:t>
            </a:r>
            <a:endParaRPr lang="en-US" altLang="en-US" sz="1400"/>
          </a:p>
          <a:p>
            <a:pPr marL="0" indent="0">
              <a:buNone/>
            </a:pPr>
            <a:r>
              <a:rPr lang="en-US" altLang="en-US" sz="1400"/>
              <a:t>useEffect is a hook that runs after the component renders. It’s used for:</a:t>
            </a:r>
            <a:endParaRPr lang="en-US" altLang="en-US" sz="1400"/>
          </a:p>
          <a:p>
            <a:pPr marL="0" indent="0">
              <a:buNone/>
            </a:pPr>
            <a:r>
              <a:rPr lang="en-US" altLang="en-US" sz="1400"/>
              <a:t>Fetching data</a:t>
            </a:r>
            <a:endParaRPr lang="en-US" altLang="en-US" sz="1400"/>
          </a:p>
          <a:p>
            <a:pPr marL="0" indent="0">
              <a:buNone/>
            </a:pPr>
            <a:r>
              <a:rPr lang="en-US" altLang="en-US" sz="1400"/>
              <a:t>Subscribing to events</a:t>
            </a:r>
            <a:endParaRPr lang="en-US" altLang="en-US" sz="1400"/>
          </a:p>
          <a:p>
            <a:pPr marL="0" indent="0">
              <a:buNone/>
            </a:pPr>
            <a:r>
              <a:rPr lang="en-US" altLang="en-US" sz="1400"/>
              <a:t>Running code on component mount, update, or unmount</a:t>
            </a:r>
            <a:endParaRPr lang="en-US" altLang="en-US" sz="1400"/>
          </a:p>
          <a:p>
            <a:pPr marL="0" indent="0">
              <a:buNone/>
            </a:pPr>
            <a:r>
              <a:rPr lang="zh-CN" altLang="en-US" sz="1400"/>
              <a:t>🔹</a:t>
            </a:r>
            <a:r>
              <a:rPr lang="en-US" altLang="en-US" sz="1400"/>
              <a:t> Basic Example:</a:t>
            </a:r>
            <a:endParaRPr lang="en-US" altLang="en-US" sz="1400"/>
          </a:p>
          <a:p>
            <a:pPr marL="0" indent="0">
              <a:buNone/>
            </a:pPr>
            <a:r>
              <a:rPr lang="en-US" altLang="en-US" sz="1400"/>
              <a:t>import React, { useState, useEffect } from 'react';</a:t>
            </a:r>
            <a:endParaRPr lang="en-US" altLang="en-US" sz="1400"/>
          </a:p>
          <a:p>
            <a:pPr marL="0" indent="0">
              <a:buNone/>
            </a:pPr>
            <a:r>
              <a:rPr lang="en-US" altLang="en-US" sz="1400"/>
              <a:t>function Timer() {</a:t>
            </a:r>
            <a:endParaRPr lang="en-US" altLang="en-US" sz="1400"/>
          </a:p>
          <a:p>
            <a:pPr marL="0" indent="0">
              <a:buNone/>
            </a:pPr>
            <a:r>
              <a:rPr lang="en-US" altLang="en-US" sz="1400"/>
              <a:t>  const [seconds, setSeconds] = useState(0);</a:t>
            </a:r>
            <a:endParaRPr lang="en-US" altLang="en-US" sz="1400"/>
          </a:p>
          <a:p>
            <a:pPr marL="0" indent="0">
              <a:buNone/>
            </a:pPr>
            <a:r>
              <a:rPr lang="en-US" altLang="en-US" sz="1400"/>
              <a:t>  useEffect(() =&gt; {</a:t>
            </a:r>
            <a:endParaRPr lang="en-US" altLang="en-US" sz="1400"/>
          </a:p>
          <a:p>
            <a:pPr marL="0" indent="0">
              <a:buNone/>
            </a:pPr>
            <a:r>
              <a:rPr lang="en-US" altLang="en-US" sz="1400"/>
              <a:t>    const interval = setInterval(() =&gt; {</a:t>
            </a:r>
            <a:endParaRPr lang="en-US" altLang="en-US" sz="1400"/>
          </a:p>
          <a:p>
            <a:pPr marL="0" indent="0">
              <a:buNone/>
            </a:pPr>
            <a:r>
              <a:rPr lang="en-US" altLang="en-US" sz="1400"/>
              <a:t>      setSeconds(prev =&gt; prev + 1);</a:t>
            </a:r>
            <a:endParaRPr lang="en-US" altLang="en-US" sz="1400"/>
          </a:p>
          <a:p>
            <a:pPr marL="0" indent="0">
              <a:buNone/>
            </a:pPr>
            <a:r>
              <a:rPr lang="en-US" altLang="en-US" sz="1400"/>
              <a:t>    }, 1000);</a:t>
            </a:r>
            <a:endParaRPr lang="en-US" altLang="en-US" sz="1400"/>
          </a:p>
          <a:p>
            <a:pPr marL="0" indent="0">
              <a:buNone/>
            </a:pPr>
            <a:r>
              <a:rPr lang="en-US" altLang="en-US" sz="1400"/>
              <a:t>    return () =&gt; clearInterval(interval); // Cleanup on unmount</a:t>
            </a:r>
            <a:endParaRPr lang="en-US" altLang="en-US" sz="1400"/>
          </a:p>
          <a:p>
            <a:pPr marL="0" indent="0">
              <a:buNone/>
            </a:pPr>
            <a:r>
              <a:rPr lang="en-US" altLang="en-US" sz="1400"/>
              <a:t>  }, []); // Empty dependency = runs only once (like componentDidMount)</a:t>
            </a:r>
            <a:endParaRPr lang="en-US" altLang="en-US" sz="1400"/>
          </a:p>
          <a:p>
            <a:pPr marL="0" indent="0">
              <a:buNone/>
            </a:pPr>
            <a:r>
              <a:rPr lang="en-US" altLang="en-US" sz="1400"/>
              <a:t>  return &lt;h1&gt;Timer: {seconds} seconds&lt;/h1&gt;;</a:t>
            </a:r>
            <a:endParaRPr lang="en-US" altLang="en-US" sz="1400"/>
          </a:p>
          <a:p>
            <a:pPr marL="0" indent="0">
              <a:buNone/>
            </a:pPr>
            <a:r>
              <a:rPr lang="en-US" altLang="en-US" sz="1400"/>
              <a:t>}</a:t>
            </a:r>
            <a:endParaRPr lang="en-US" altLang="en-US" sz="1400"/>
          </a:p>
          <a:p>
            <a:pPr marL="0" indent="0">
              <a:buNone/>
            </a:pPr>
            <a:endParaRPr lang="en-US" altLang="en-US"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045" y="0"/>
            <a:ext cx="11247755" cy="284480"/>
          </a:xfrm>
        </p:spPr>
        <p:txBody>
          <a:bodyPr>
            <a:normAutofit fontScale="90000"/>
          </a:bodyPr>
          <a:p>
            <a:pPr algn="ctr"/>
            <a:r>
              <a:rPr lang="en-US" sz="2800" b="1">
                <a:solidFill>
                  <a:srgbClr val="FF0000"/>
                </a:solidFill>
              </a:rPr>
              <a:t>React Routing </a:t>
            </a:r>
            <a:endParaRPr lang="en-US" sz="2800" b="1">
              <a:solidFill>
                <a:srgbClr val="FF0000"/>
              </a:solidFill>
            </a:endParaRPr>
          </a:p>
        </p:txBody>
      </p:sp>
      <p:sp>
        <p:nvSpPr>
          <p:cNvPr id="3" name="Content Placeholder 2"/>
          <p:cNvSpPr>
            <a:spLocks noGrp="1"/>
          </p:cNvSpPr>
          <p:nvPr>
            <p:ph idx="1"/>
          </p:nvPr>
        </p:nvSpPr>
        <p:spPr>
          <a:xfrm>
            <a:off x="106045" y="284480"/>
            <a:ext cx="11978640" cy="6395085"/>
          </a:xfrm>
        </p:spPr>
        <p:txBody>
          <a:bodyPr>
            <a:normAutofit lnSpcReduction="20000"/>
          </a:bodyPr>
          <a:p>
            <a:pPr marL="0" indent="0">
              <a:buNone/>
            </a:pPr>
            <a:r>
              <a:rPr lang="en-US" altLang="en-US" sz="1800" b="1"/>
              <a:t>What Is React Routing?</a:t>
            </a:r>
            <a:endParaRPr lang="en-US" altLang="en-US" sz="1800" b="1"/>
          </a:p>
          <a:p>
            <a:pPr marL="0" indent="0">
              <a:buNone/>
            </a:pPr>
            <a:r>
              <a:rPr lang="en-US" altLang="en-US" sz="1800"/>
              <a:t>React Routing allows you to: Define routes (URLs) that map to specific components.  Navigate between pages without reloading the whole app. Pass data via URL parameters or query strings</a:t>
            </a:r>
            <a:endParaRPr lang="en-US" altLang="en-US" sz="1800"/>
          </a:p>
          <a:p>
            <a:pPr marL="0" indent="0">
              <a:buNone/>
            </a:pPr>
            <a:endParaRPr lang="en-US" altLang="en-US" sz="1800"/>
          </a:p>
          <a:p>
            <a:pPr marL="0" indent="0">
              <a:buNone/>
            </a:pPr>
            <a:r>
              <a:rPr lang="en-US" altLang="en-US" sz="1800"/>
              <a:t>React routing is a way to handle navigation in React applications. Since React is a Single Page Application (SPA) framework, the entire app usually runs on a single HTML page. This means the page doesn’t reload when you navigate to different sections. React routing allows you to display different components (views) based on the URL, making the app feel like a multi-page application without actually reloading the page.</a:t>
            </a:r>
            <a:endParaRPr lang="en-US" altLang="en-US" sz="1800"/>
          </a:p>
          <a:p>
            <a:pPr marL="0" indent="0">
              <a:buNone/>
            </a:pPr>
            <a:endParaRPr lang="en-US" altLang="en-US" sz="1800"/>
          </a:p>
          <a:p>
            <a:pPr marL="0" indent="0">
              <a:buNone/>
            </a:pPr>
            <a:endParaRPr lang="en-US" altLang="en-US" sz="1800"/>
          </a:p>
          <a:p>
            <a:pPr marL="0" indent="0">
              <a:buNone/>
            </a:pPr>
            <a:r>
              <a:rPr lang="en-US" altLang="en-US" sz="1800" b="1">
                <a:solidFill>
                  <a:srgbClr val="FF0000"/>
                </a:solidFill>
              </a:rPr>
              <a:t>npm install react-router-dom</a:t>
            </a:r>
            <a:endParaRPr lang="en-US" altLang="en-US" sz="1800" b="1">
              <a:solidFill>
                <a:srgbClr val="FF0000"/>
              </a:solidFill>
            </a:endParaRPr>
          </a:p>
          <a:p>
            <a:pPr marL="0" indent="0">
              <a:buNone/>
            </a:pPr>
            <a:r>
              <a:rPr lang="en-US" altLang="en-US" sz="1800"/>
              <a:t>  </a:t>
            </a:r>
            <a:endParaRPr lang="en-US" altLang="en-US" sz="1800"/>
          </a:p>
          <a:p>
            <a:pPr marL="0" indent="0">
              <a:buNone/>
            </a:pPr>
            <a:endParaRPr lang="en-US" altLang="en-US" sz="1800"/>
          </a:p>
          <a:p>
            <a:pPr marL="0" indent="0">
              <a:buNone/>
            </a:pPr>
            <a:r>
              <a:rPr lang="en-US" altLang="en-US" sz="1800"/>
              <a:t>  &lt;BrowserRouter&gt;</a:t>
            </a:r>
            <a:endParaRPr lang="en-US" altLang="en-US" sz="1800"/>
          </a:p>
          <a:p>
            <a:pPr marL="0" indent="0">
              <a:buNone/>
            </a:pPr>
            <a:r>
              <a:rPr lang="en-US" altLang="en-US" sz="1800"/>
              <a:t>      &lt;Routes&gt;</a:t>
            </a:r>
            <a:endParaRPr lang="en-US" altLang="en-US" sz="1800"/>
          </a:p>
          <a:p>
            <a:pPr marL="0" indent="0">
              <a:buNone/>
            </a:pPr>
            <a:r>
              <a:rPr lang="en-US" altLang="en-US" sz="1800"/>
              <a:t>        &lt;Route path="/" element={&lt;Page1/&gt;} /&gt;</a:t>
            </a:r>
            <a:endParaRPr lang="en-US" altLang="en-US" sz="1800"/>
          </a:p>
          <a:p>
            <a:pPr marL="0" indent="0">
              <a:buNone/>
            </a:pPr>
            <a:r>
              <a:rPr lang="en-US" altLang="en-US" sz="1800"/>
              <a:t>        &lt;Route path="/calci" element={&lt;Page2 /&gt;} /&gt;</a:t>
            </a:r>
            <a:endParaRPr lang="en-US" altLang="en-US" sz="1800"/>
          </a:p>
          <a:p>
            <a:pPr marL="0" indent="0">
              <a:buNone/>
            </a:pPr>
            <a:r>
              <a:rPr lang="en-US" altLang="en-US" sz="1800"/>
              <a:t>        &lt;Route path="/about" element={&lt;Page3 /&gt;} /&gt;</a:t>
            </a:r>
            <a:endParaRPr lang="en-US" altLang="en-US" sz="1800"/>
          </a:p>
          <a:p>
            <a:pPr marL="0" indent="0">
              <a:buNone/>
            </a:pPr>
            <a:r>
              <a:rPr lang="en-US" altLang="en-US" sz="1800"/>
              <a:t>        &lt;Route path="/Show" element={&lt;Page4 /&gt;} /&gt;</a:t>
            </a:r>
            <a:endParaRPr lang="en-US" altLang="en-US" sz="1800"/>
          </a:p>
          <a:p>
            <a:pPr marL="0" indent="0">
              <a:buNone/>
            </a:pPr>
            <a:r>
              <a:rPr lang="en-US" altLang="en-US" sz="1800"/>
              <a:t>      &lt;/Routes&gt;</a:t>
            </a:r>
            <a:endParaRPr lang="en-US" altLang="en-US" sz="1800"/>
          </a:p>
          <a:p>
            <a:pPr marL="0" indent="0">
              <a:buNone/>
            </a:pPr>
            <a:r>
              <a:rPr lang="en-US" altLang="en-US" sz="1800"/>
              <a:t>    &lt;/BrowserRouter&gt;</a:t>
            </a:r>
            <a:endParaRPr lang="en-US" altLang="en-US" sz="1800"/>
          </a:p>
        </p:txBody>
      </p:sp>
      <p:sp>
        <p:nvSpPr>
          <p:cNvPr id="4" name="Text Box 3"/>
          <p:cNvSpPr txBox="1"/>
          <p:nvPr/>
        </p:nvSpPr>
        <p:spPr>
          <a:xfrm>
            <a:off x="5893435" y="3429000"/>
            <a:ext cx="6096000" cy="3026410"/>
          </a:xfrm>
          <a:prstGeom prst="rect">
            <a:avLst/>
          </a:prstGeom>
          <a:noFill/>
        </p:spPr>
        <p:txBody>
          <a:bodyPr wrap="square" rtlCol="0" anchor="t">
            <a:noAutofit/>
          </a:bodyPr>
          <a:p>
            <a:r>
              <a:rPr lang="en-US" altLang="en-US"/>
              <a:t>import { useNavigate } from "react-router-dom";</a:t>
            </a:r>
            <a:endParaRPr lang="en-US" altLang="en-US"/>
          </a:p>
          <a:p>
            <a:r>
              <a:rPr lang="en-US" altLang="en-US"/>
              <a:t>function Dashboard() {</a:t>
            </a:r>
            <a:endParaRPr lang="en-US" altLang="en-US"/>
          </a:p>
          <a:p>
            <a:r>
              <a:rPr lang="en-US" altLang="en-US"/>
              <a:t>  const navigate = useNavigate();</a:t>
            </a:r>
            <a:endParaRPr lang="en-US" altLang="en-US"/>
          </a:p>
          <a:p>
            <a:endParaRPr lang="en-US" altLang="en-US"/>
          </a:p>
          <a:p>
            <a:r>
              <a:rPr lang="en-US" altLang="en-US"/>
              <a:t>  return (</a:t>
            </a:r>
            <a:endParaRPr lang="en-US" altLang="en-US"/>
          </a:p>
          <a:p>
            <a:r>
              <a:rPr lang="en-US" altLang="en-US"/>
              <a:t>    &lt;button onClick={() =&gt; navigate("/Page1")}&gt;</a:t>
            </a:r>
            <a:endParaRPr lang="en-US" altLang="en-US"/>
          </a:p>
          <a:p>
            <a:r>
              <a:rPr lang="en-US" altLang="en-US"/>
              <a:t>      Go to About Page</a:t>
            </a:r>
            <a:endParaRPr lang="en-US" altLang="en-US"/>
          </a:p>
          <a:p>
            <a:r>
              <a:rPr lang="en-US" altLang="en-US"/>
              <a:t>    &lt;/button&gt;</a:t>
            </a:r>
            <a:endParaRPr lang="en-US" altLang="en-US"/>
          </a:p>
          <a:p>
            <a:r>
              <a:rPr lang="en-US" altLang="en-US"/>
              <a:t>  );</a:t>
            </a:r>
            <a:endParaRPr lang="en-US" altLang="en-US"/>
          </a:p>
          <a:p>
            <a:r>
              <a:rPr lang="en-US" altLang="en-US"/>
              <a:t>}</a:t>
            </a:r>
            <a:endParaRPr lang="en-US" altLang="en-US"/>
          </a:p>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91160"/>
          </a:xfrm>
        </p:spPr>
        <p:txBody>
          <a:bodyPr>
            <a:normAutofit fontScale="90000"/>
          </a:bodyPr>
          <a:p>
            <a:pPr algn="ctr"/>
            <a:r>
              <a:rPr lang="en-US" altLang="en-US" sz="2800" b="1">
                <a:solidFill>
                  <a:srgbClr val="FF0000"/>
                </a:solidFill>
                <a:sym typeface="+mn-ea"/>
              </a:rPr>
              <a:t>BrowserRouter</a:t>
            </a:r>
            <a:endParaRPr lang="en-US" altLang="en-US" sz="2800" b="1">
              <a:solidFill>
                <a:srgbClr val="FF0000"/>
              </a:solidFill>
              <a:sym typeface="+mn-ea"/>
            </a:endParaRPr>
          </a:p>
        </p:txBody>
      </p:sp>
      <p:sp>
        <p:nvSpPr>
          <p:cNvPr id="3" name="Content Placeholder 2"/>
          <p:cNvSpPr>
            <a:spLocks noGrp="1"/>
          </p:cNvSpPr>
          <p:nvPr>
            <p:ph idx="1"/>
          </p:nvPr>
        </p:nvSpPr>
        <p:spPr>
          <a:xfrm>
            <a:off x="317500" y="391160"/>
            <a:ext cx="11692890" cy="4351655"/>
          </a:xfrm>
        </p:spPr>
        <p:txBody>
          <a:bodyPr>
            <a:noAutofit/>
          </a:bodyPr>
          <a:p>
            <a:pPr marL="0" indent="0">
              <a:buNone/>
            </a:pPr>
            <a:r>
              <a:rPr lang="en-US" altLang="en-US" sz="1800" b="1"/>
              <a:t>1)BroswerRouter</a:t>
            </a:r>
            <a:endParaRPr lang="en-US" altLang="en-US" sz="1800"/>
          </a:p>
          <a:p>
            <a:pPr marL="0" indent="0">
              <a:buNone/>
            </a:pPr>
            <a:r>
              <a:rPr lang="en-US" altLang="en-US" sz="1800"/>
              <a:t>A wrapper component that enables routing in your React app.</a:t>
            </a:r>
            <a:endParaRPr lang="en-US" altLang="en-US" sz="1800"/>
          </a:p>
          <a:p>
            <a:pPr marL="0" indent="0">
              <a:buNone/>
            </a:pPr>
            <a:r>
              <a:rPr lang="en-US" altLang="en-US" sz="1800"/>
              <a:t>Keeps your UI in sync with the URL in the browser.</a:t>
            </a:r>
            <a:endParaRPr lang="en-US" altLang="en-US" sz="1800"/>
          </a:p>
          <a:p>
            <a:pPr marL="342900" indent="-342900">
              <a:buAutoNum type="arabicPeriod"/>
            </a:pPr>
            <a:r>
              <a:rPr lang="en-US" altLang="en-US" sz="1800"/>
              <a:t>Uses the HTML5 History API (pushState, popState) to manage navigation without reloading the page.</a:t>
            </a:r>
            <a:endParaRPr lang="en-US" altLang="en-US" sz="1800"/>
          </a:p>
          <a:p>
            <a:pPr marL="342900" indent="-342900">
              <a:buAutoNum type="arabicPeriod"/>
            </a:pPr>
            <a:r>
              <a:rPr lang="en-US" altLang="en-US" sz="1800"/>
              <a:t>Must wrap your entire app (or at least the parts that use routing).</a:t>
            </a:r>
            <a:endParaRPr lang="en-US" altLang="en-US" sz="1800"/>
          </a:p>
          <a:p>
            <a:endParaRPr lang="en-US" altLang="en-US" sz="1800" b="1"/>
          </a:p>
          <a:p>
            <a:pPr marL="0" indent="0">
              <a:buNone/>
            </a:pPr>
            <a:r>
              <a:rPr lang="en-US" altLang="en-US" sz="1800" b="1"/>
              <a:t>2. Routes</a:t>
            </a:r>
            <a:endParaRPr lang="en-US" altLang="en-US" sz="1800"/>
          </a:p>
          <a:p>
            <a:pPr marL="0" indent="0">
              <a:buNone/>
            </a:pPr>
            <a:r>
              <a:rPr lang="en-US" altLang="en-US" sz="1800" b="1"/>
              <a:t>What it is:</a:t>
            </a:r>
            <a:endParaRPr lang="en-US" altLang="en-US" sz="1800" b="1"/>
          </a:p>
          <a:p>
            <a:pPr marL="342900" indent="-342900">
              <a:buAutoNum type="arabicPeriod"/>
            </a:pPr>
            <a:r>
              <a:rPr lang="en-US" altLang="en-US" sz="1800"/>
              <a:t>A container for all your &lt;Route&gt; components.</a:t>
            </a:r>
            <a:endParaRPr lang="en-US" altLang="en-US" sz="1800"/>
          </a:p>
          <a:p>
            <a:pPr marL="342900" indent="-342900">
              <a:buAutoNum type="arabicPeriod"/>
            </a:pPr>
            <a:r>
              <a:rPr lang="en-US" altLang="en-US" sz="1800"/>
              <a:t>What it does:</a:t>
            </a:r>
            <a:endParaRPr lang="en-US" altLang="en-US" sz="1800"/>
          </a:p>
          <a:p>
            <a:pPr marL="342900" indent="-342900">
              <a:buAutoNum type="arabicPeriod"/>
            </a:pPr>
            <a:r>
              <a:rPr lang="en-US" altLang="en-US" sz="1800"/>
              <a:t>Looks at the current URL and decides which &lt;Route&gt; to show.</a:t>
            </a:r>
            <a:endParaRPr lang="en-US" altLang="en-US" sz="1800"/>
          </a:p>
          <a:p>
            <a:pPr marL="342900" indent="-342900">
              <a:buAutoNum type="arabicPeriod"/>
            </a:pPr>
            <a:r>
              <a:rPr lang="en-US" altLang="en-US" sz="1800"/>
              <a:t>Only one &lt;Route&gt; inside &lt;Routes&gt; will render (the first that matches the path).</a:t>
            </a:r>
            <a:endParaRPr lang="en-US" altLang="en-US" sz="1800"/>
          </a:p>
          <a:p>
            <a:pPr marL="342900" indent="-342900">
              <a:buAutoNum type="arabicPeriod"/>
            </a:pPr>
            <a:r>
              <a:rPr lang="en-US" altLang="en-US" sz="1800"/>
              <a:t>&lt;Routes&gt; as a switchboard: it checks the current URL and decides which component to display.</a:t>
            </a:r>
            <a:endParaRPr lang="en-US" altLang="en-US" sz="1800"/>
          </a:p>
          <a:p>
            <a:pPr marL="0" indent="0">
              <a:buNone/>
            </a:pPr>
            <a:r>
              <a:rPr lang="en-US" altLang="en-US" sz="1800" b="1"/>
              <a:t>3. Route</a:t>
            </a:r>
            <a:endParaRPr lang="en-US" altLang="en-US" sz="1800"/>
          </a:p>
          <a:p>
            <a:pPr marL="342900" indent="-342900">
              <a:buAutoNum type="arabicPeriod"/>
            </a:pPr>
            <a:r>
              <a:rPr lang="en-US" altLang="en-US" sz="1800"/>
              <a:t>A single route definition that tells React Router:</a:t>
            </a:r>
            <a:endParaRPr lang="en-US" altLang="en-US" sz="1800"/>
          </a:p>
          <a:p>
            <a:pPr marL="342900" indent="-342900">
              <a:buAutoNum type="arabicPeriod"/>
            </a:pPr>
            <a:r>
              <a:rPr lang="en-US" altLang="en-US" sz="1800"/>
              <a:t>“When the user visits this path, show this component.”</a:t>
            </a:r>
            <a:endParaRPr lang="en-US" altLang="en-US" sz="1800"/>
          </a:p>
          <a:p>
            <a:pPr marL="342900" indent="-342900">
              <a:buAutoNum type="arabicPeriod"/>
            </a:pPr>
            <a:r>
              <a:rPr lang="en-US" altLang="en-US" sz="1800"/>
              <a:t>path: the URL segment to match</a:t>
            </a:r>
            <a:endParaRPr lang="en-US" altLang="en-US" sz="1800"/>
          </a:p>
          <a:p>
            <a:pPr marL="342900" indent="-342900">
              <a:buAutoNum type="arabicPeriod"/>
            </a:pPr>
            <a:r>
              <a:rPr lang="en-US" altLang="en-US" sz="1800"/>
              <a:t>element: the React component to render</a:t>
            </a:r>
            <a:endParaRPr lang="en-US" altLang="en-US"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custDataLst>
              <p:tags r:id="rId1"/>
            </p:custDataLst>
          </p:nvPr>
        </p:nvGraphicFramePr>
        <p:xfrm>
          <a:off x="99060" y="114300"/>
          <a:ext cx="12007215" cy="1703705"/>
        </p:xfrm>
        <a:graphic>
          <a:graphicData uri="http://schemas.openxmlformats.org/drawingml/2006/table">
            <a:tbl>
              <a:tblPr/>
              <a:tblGrid>
                <a:gridCol w="1845310"/>
                <a:gridCol w="4235450"/>
                <a:gridCol w="1385570"/>
                <a:gridCol w="4540885"/>
              </a:tblGrid>
              <a:tr h="378460">
                <a:tc>
                  <a:txBody>
                    <a:bodyPr/>
                    <a:p>
                      <a:r>
                        <a:rPr sz="1800"/>
                        <a:t>Component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Purpose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Required?</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Example</a:t>
                      </a:r>
                      <a:endParaRPr sz="1800"/>
                    </a:p>
                  </a:txBody>
                  <a:tcPr marL="0" marR="0" marT="0" marB="0" anchor="ctr" anchorCtr="0">
                    <a:lnL>
                      <a:noFill/>
                    </a:lnL>
                    <a:lnR>
                      <a:noFill/>
                    </a:lnR>
                    <a:lnT>
                      <a:noFill/>
                    </a:lnT>
                    <a:lnB>
                      <a:noFill/>
                    </a:lnB>
                    <a:solidFill>
                      <a:schemeClr val="accent2">
                        <a:lumMod val="20000"/>
                        <a:lumOff val="80000"/>
                      </a:schemeClr>
                    </a:solidFill>
                  </a:tcPr>
                </a:tc>
              </a:tr>
              <a:tr h="378460">
                <a:tc>
                  <a:txBody>
                    <a:bodyPr/>
                    <a:p>
                      <a:r>
                        <a:rPr sz="1800"/>
                        <a:t>BrowserRouter</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Wraps your app to enable routing</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Yes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&lt;BrowserRouter&gt;...&lt;/BrowserRouter&gt;</a:t>
                      </a:r>
                      <a:endParaRPr sz="1800"/>
                    </a:p>
                  </a:txBody>
                  <a:tcPr marL="0" marR="0" marT="0" marB="0" anchor="ctr" anchorCtr="0">
                    <a:lnL>
                      <a:noFill/>
                    </a:lnL>
                    <a:lnR>
                      <a:noFill/>
                    </a:lnR>
                    <a:lnT>
                      <a:noFill/>
                    </a:lnT>
                    <a:lnB>
                      <a:noFill/>
                    </a:lnB>
                    <a:solidFill>
                      <a:schemeClr val="accent2">
                        <a:lumMod val="20000"/>
                        <a:lumOff val="80000"/>
                      </a:schemeClr>
                    </a:solidFill>
                  </a:tcPr>
                </a:tc>
              </a:tr>
              <a:tr h="379095">
                <a:tc>
                  <a:txBody>
                    <a:bodyPr/>
                    <a:p>
                      <a:r>
                        <a:rPr sz="1800"/>
                        <a:t>Routes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Groups all route definitions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Yes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&lt;Routes&gt; &lt;Route ... /&gt; &lt;/Routes&gt;</a:t>
                      </a:r>
                      <a:endParaRPr sz="1800"/>
                    </a:p>
                  </a:txBody>
                  <a:tcPr marL="0" marR="0" marT="0" marB="0" anchor="ctr" anchorCtr="0">
                    <a:lnL>
                      <a:noFill/>
                    </a:lnL>
                    <a:lnR>
                      <a:noFill/>
                    </a:lnR>
                    <a:lnT>
                      <a:noFill/>
                    </a:lnT>
                    <a:lnB>
                      <a:noFill/>
                    </a:lnB>
                    <a:solidFill>
                      <a:schemeClr val="accent2">
                        <a:lumMod val="20000"/>
                        <a:lumOff val="80000"/>
                      </a:schemeClr>
                    </a:solidFill>
                  </a:tcPr>
                </a:tc>
              </a:tr>
              <a:tr h="567690">
                <a:tc>
                  <a:txBody>
                    <a:bodyPr/>
                    <a:p>
                      <a:r>
                        <a:rPr sz="1800"/>
                        <a:t>Route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Defines one path → component mapping</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 Yes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&lt;Route path="/home" element={&lt;Home /&gt;} /&gt;</a:t>
                      </a:r>
                      <a:endParaRPr sz="18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5010" y="105410"/>
            <a:ext cx="10515600" cy="410210"/>
          </a:xfrm>
        </p:spPr>
        <p:txBody>
          <a:bodyPr>
            <a:noAutofit/>
          </a:bodyPr>
          <a:p>
            <a:pPr algn="ctr"/>
            <a:r>
              <a:rPr lang="en-US" sz="2400" b="1">
                <a:solidFill>
                  <a:srgbClr val="FF0000"/>
                </a:solidFill>
              </a:rPr>
              <a:t>CSS &amp; Bootstrap in React For Styling and Designing</a:t>
            </a:r>
            <a:endParaRPr lang="en-US" sz="2400" b="1">
              <a:solidFill>
                <a:srgbClr val="FF0000"/>
              </a:solidFill>
            </a:endParaRPr>
          </a:p>
        </p:txBody>
      </p:sp>
      <p:sp>
        <p:nvSpPr>
          <p:cNvPr id="3" name="Content Placeholder 2"/>
          <p:cNvSpPr>
            <a:spLocks noGrp="1"/>
          </p:cNvSpPr>
          <p:nvPr>
            <p:ph idx="1"/>
          </p:nvPr>
        </p:nvSpPr>
        <p:spPr>
          <a:xfrm>
            <a:off x="249555" y="515620"/>
            <a:ext cx="10515600" cy="4351338"/>
          </a:xfrm>
        </p:spPr>
        <p:txBody>
          <a:bodyPr/>
          <a:p>
            <a:r>
              <a:rPr lang="en-US" altLang="en-US" sz="2400"/>
              <a:t>React  Form Development And Form Handling with html input tag </a:t>
            </a:r>
            <a:endParaRPr lang="en-US" altLang="en-US" sz="2400"/>
          </a:p>
          <a:p>
            <a:endParaRPr lang="en-US" altLang="en-US" sz="2400"/>
          </a:p>
          <a:p>
            <a:r>
              <a:rPr lang="en-US" altLang="en-US" sz="2400" b="1"/>
              <a:t>npm install bootstrap</a:t>
            </a:r>
            <a:endParaRPr lang="en-US" altLang="en-US" sz="2400" b="1"/>
          </a:p>
          <a:p>
            <a:r>
              <a:rPr lang="en-US" altLang="en-US" sz="2400"/>
              <a:t>import 'bootstrap/dist/css/bootstrap.min.css';</a:t>
            </a:r>
            <a:endParaRPr lang="en-US" altLang="en-US" sz="2400"/>
          </a:p>
          <a:p>
            <a:endParaRPr lang="en-US" altLang="en-US" sz="2400"/>
          </a:p>
          <a:p>
            <a:r>
              <a:rPr lang="en-US" altLang="en-US" sz="2400"/>
              <a:t>React Forms Handling</a:t>
            </a:r>
            <a:endParaRPr lang="en-US" altLang="en-US" sz="2400"/>
          </a:p>
          <a:p>
            <a:endParaRPr lang="en-US" altLang="en-US"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08280" y="238125"/>
            <a:ext cx="11870690" cy="6514465"/>
          </a:xfrm>
        </p:spPr>
        <p:txBody>
          <a:bodyPr/>
          <a:p>
            <a:r>
              <a:rPr lang="en-US" altLang="en-US" sz="1800"/>
              <a:t>1. handleChange function</a:t>
            </a:r>
            <a:endParaRPr lang="en-US" altLang="en-US" sz="1800"/>
          </a:p>
          <a:p>
            <a:pPr marL="0" indent="0">
              <a:buNone/>
            </a:pPr>
            <a:r>
              <a:rPr lang="en-US" altLang="en-US" sz="1800"/>
              <a:t>This function runs every time an input field changes (like typing in a text box, checking a checkbox, or selecting a file).</a:t>
            </a:r>
            <a:endParaRPr lang="en-US" altLang="en-US" sz="1800"/>
          </a:p>
          <a:p>
            <a:endParaRPr lang="en-US" altLang="en-US" sz="1800"/>
          </a:p>
          <a:p>
            <a:endParaRPr lang="en-US" altLang="en-US" sz="1800"/>
          </a:p>
        </p:txBody>
      </p:sp>
      <p:sp>
        <p:nvSpPr>
          <p:cNvPr id="4" name="Text Box 3"/>
          <p:cNvSpPr txBox="1"/>
          <p:nvPr/>
        </p:nvSpPr>
        <p:spPr>
          <a:xfrm>
            <a:off x="208280" y="1055370"/>
            <a:ext cx="6096000" cy="2306955"/>
          </a:xfrm>
          <a:prstGeom prst="rect">
            <a:avLst/>
          </a:prstGeom>
          <a:solidFill>
            <a:schemeClr val="accent2">
              <a:lumMod val="40000"/>
              <a:lumOff val="60000"/>
            </a:schemeClr>
          </a:solidFill>
        </p:spPr>
        <p:txBody>
          <a:bodyPr wrap="square" rtlCol="0" anchor="t">
            <a:spAutoFit/>
          </a:bodyPr>
          <a:p>
            <a:r>
              <a:rPr lang="en-US" altLang="en-US"/>
              <a:t>const handleChange = (e) =&gt; {</a:t>
            </a:r>
            <a:endParaRPr lang="en-US" altLang="en-US"/>
          </a:p>
          <a:p>
            <a:r>
              <a:rPr lang="en-US" altLang="en-US"/>
              <a:t>  const { name, value, type, checked, files } = e.target;</a:t>
            </a:r>
            <a:endParaRPr lang="en-US" altLang="en-US"/>
          </a:p>
          <a:p>
            <a:r>
              <a:rPr lang="en-US" altLang="en-US"/>
              <a:t>  setFormData((prev) =&gt; ({</a:t>
            </a:r>
            <a:endParaRPr lang="en-US" altLang="en-US"/>
          </a:p>
          <a:p>
            <a:r>
              <a:rPr lang="en-US" altLang="en-US"/>
              <a:t>    ...prev,</a:t>
            </a:r>
            <a:endParaRPr lang="en-US" altLang="en-US"/>
          </a:p>
          <a:p>
            <a:r>
              <a:rPr lang="en-US" altLang="en-US"/>
              <a:t>    [name]: type === "checkbox" ? checked : type === "file" ? files[0] : value,</a:t>
            </a:r>
            <a:endParaRPr lang="en-US" altLang="en-US"/>
          </a:p>
          <a:p>
            <a:r>
              <a:rPr lang="en-US" altLang="en-US"/>
              <a:t>  }));</a:t>
            </a:r>
            <a:endParaRPr lang="en-US" altLang="en-US"/>
          </a:p>
          <a:p>
            <a:r>
              <a:rPr lang="en-US" altLang="en-US"/>
              <a:t>};</a:t>
            </a:r>
            <a:endParaRPr lang="en-US"/>
          </a:p>
        </p:txBody>
      </p:sp>
      <p:sp>
        <p:nvSpPr>
          <p:cNvPr id="6" name="Text Box 5"/>
          <p:cNvSpPr txBox="1"/>
          <p:nvPr/>
        </p:nvSpPr>
        <p:spPr>
          <a:xfrm>
            <a:off x="208280" y="3429000"/>
            <a:ext cx="5197475" cy="3323590"/>
          </a:xfrm>
          <a:prstGeom prst="rect">
            <a:avLst/>
          </a:prstGeom>
        </p:spPr>
        <p:txBody>
          <a:bodyPr>
            <a:noAutofit/>
          </a:bodyPr>
          <a:p>
            <a:pPr>
              <a:spcAft>
                <a:spcPct val="60000"/>
              </a:spcAft>
            </a:pPr>
            <a:r>
              <a:rPr sz="2000" b="1"/>
              <a:t>What it does:</a:t>
            </a:r>
            <a:endParaRPr sz="2000" b="1"/>
          </a:p>
          <a:p>
            <a:pPr>
              <a:spcAft>
                <a:spcPct val="60000"/>
              </a:spcAft>
            </a:pPr>
            <a:r>
              <a:t>e.target is the input that changed.</a:t>
            </a:r>
          </a:p>
          <a:p>
            <a:pPr>
              <a:buFont typeface="Arial" panose="020B0604020202020204"/>
              <a:buChar char="•"/>
            </a:pPr>
            <a:r>
              <a:t>It takes out:</a:t>
            </a:r>
          </a:p>
          <a:p>
            <a:pPr>
              <a:buFont typeface="Arial" panose="020B0604020202020204"/>
              <a:buChar char="•"/>
            </a:pPr>
            <a:r>
              <a:t>name → the input’s name (e.g. "email")</a:t>
            </a:r>
          </a:p>
          <a:p>
            <a:pPr lvl="1">
              <a:buFont typeface="Arial" panose="020B0604020202020204"/>
              <a:buChar char="◦"/>
            </a:pPr>
            <a:r>
              <a:t>value → what the user typed</a:t>
            </a:r>
          </a:p>
          <a:p>
            <a:pPr lvl="1">
              <a:buFont typeface="Arial" panose="020B0604020202020204"/>
              <a:buChar char="◦"/>
            </a:pPr>
            <a:r>
              <a:t>type → what kind of input it is (text, checkbox, file, etc.)</a:t>
            </a:r>
          </a:p>
          <a:p>
            <a:pPr lvl="1">
              <a:buFont typeface="Arial" panose="020B0604020202020204"/>
              <a:buChar char="◦"/>
            </a:pPr>
            <a:r>
              <a:t>checked → whether a checkbox is ticked or not</a:t>
            </a:r>
          </a:p>
          <a:p>
            <a:pPr lvl="1">
              <a:buFont typeface="Arial" panose="020B0604020202020204"/>
              <a:buChar char="◦"/>
            </a:pPr>
            <a:r>
              <a:t>files → the selected files (for file inputs)</a:t>
            </a:r>
          </a:p>
        </p:txBody>
      </p:sp>
      <p:sp>
        <p:nvSpPr>
          <p:cNvPr id="7" name="Text Box 6"/>
          <p:cNvSpPr txBox="1"/>
          <p:nvPr/>
        </p:nvSpPr>
        <p:spPr>
          <a:xfrm>
            <a:off x="6896100" y="3807143"/>
            <a:ext cx="5080000" cy="2567305"/>
          </a:xfrm>
          <a:prstGeom prst="rect">
            <a:avLst/>
          </a:prstGeom>
        </p:spPr>
        <p:txBody>
          <a:bodyPr>
            <a:spAutoFit/>
          </a:bodyPr>
          <a:p>
            <a:pPr>
              <a:spcAft>
                <a:spcPct val="60000"/>
              </a:spcAft>
            </a:pPr>
            <a:r>
              <a:rPr sz="1900" b="1"/>
              <a:t>Then:</a:t>
            </a:r>
            <a:endParaRPr sz="1900" b="1"/>
          </a:p>
          <a:p>
            <a:r>
              <a:rPr sz="1600"/>
              <a:t>It updates the state formData using setFormData.</a:t>
            </a:r>
            <a:endParaRPr sz="1600"/>
          </a:p>
          <a:p>
            <a:r>
              <a:rPr sz="1600"/>
              <a:t> Depending on the input type:</a:t>
            </a:r>
            <a:endParaRPr sz="1600"/>
          </a:p>
          <a:p>
            <a:endParaRPr sz="1600"/>
          </a:p>
          <a:p>
            <a:pPr>
              <a:buFont typeface="Arial" panose="020B0604020202020204"/>
              <a:buChar char="•"/>
            </a:pPr>
            <a:r>
              <a:rPr sz="1600"/>
              <a:t>If it’s a checkbox, it stores checked (true/false)</a:t>
            </a:r>
            <a:endParaRPr sz="1600"/>
          </a:p>
          <a:p>
            <a:pPr>
              <a:buFont typeface="Arial" panose="020B0604020202020204"/>
              <a:buChar char="•"/>
            </a:pPr>
            <a:endParaRPr sz="1600"/>
          </a:p>
          <a:p>
            <a:pPr>
              <a:buFont typeface="Arial" panose="020B0604020202020204"/>
              <a:buChar char="•"/>
            </a:pPr>
            <a:r>
              <a:rPr sz="1600"/>
              <a:t>If it’s a file, it stores the first file (files[0])</a:t>
            </a:r>
            <a:endParaRPr sz="1600"/>
          </a:p>
          <a:p>
            <a:pPr>
              <a:buFont typeface="Arial" panose="020B0604020202020204"/>
              <a:buChar char="•"/>
            </a:pPr>
            <a:endParaRPr sz="1600"/>
          </a:p>
          <a:p>
            <a:pPr>
              <a:buFont typeface="Arial" panose="020B0604020202020204"/>
              <a:buChar char="•"/>
            </a:pPr>
            <a:r>
              <a:rPr sz="1600"/>
              <a:t>Otherwise, it stores the normal text value</a:t>
            </a:r>
            <a:endParaRPr sz="16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81610" y="846455"/>
            <a:ext cx="8696325" cy="2268855"/>
          </a:xfrm>
          <a:solidFill>
            <a:schemeClr val="accent2">
              <a:lumMod val="40000"/>
              <a:lumOff val="60000"/>
            </a:schemeClr>
          </a:solidFill>
        </p:spPr>
        <p:txBody>
          <a:bodyPr>
            <a:noAutofit/>
          </a:bodyPr>
          <a:p>
            <a:r>
              <a:rPr lang="en-US" altLang="en-US" sz="1800"/>
              <a:t>const handleSubmit = (e) =&gt; {</a:t>
            </a:r>
            <a:endParaRPr lang="en-US" altLang="en-US" sz="1800"/>
          </a:p>
          <a:p>
            <a:r>
              <a:rPr lang="en-US" altLang="en-US" sz="1800"/>
              <a:t>  e.preventDefault();</a:t>
            </a:r>
            <a:endParaRPr lang="en-US" altLang="en-US" sz="1800"/>
          </a:p>
          <a:p>
            <a:r>
              <a:rPr lang="en-US" altLang="en-US" sz="1800"/>
              <a:t>  const newdata = { ...formData, id: Date.now() };</a:t>
            </a:r>
            <a:endParaRPr lang="en-US" altLang="en-US" sz="1800"/>
          </a:p>
          <a:p>
            <a:r>
              <a:rPr lang="en-US" altLang="en-US" sz="1800"/>
              <a:t>  setsubmitedata((prevData) =&gt; [...prevData, newdata]);</a:t>
            </a:r>
            <a:endParaRPr lang="en-US" altLang="en-US" sz="1800"/>
          </a:p>
          <a:p>
            <a:r>
              <a:rPr lang="en-US" altLang="en-US" sz="1800"/>
              <a:t>  setFormData(PersonDetails);</a:t>
            </a:r>
            <a:endParaRPr lang="en-US" altLang="en-US" sz="1800"/>
          </a:p>
          <a:p>
            <a:r>
              <a:rPr lang="en-US" altLang="en-US" sz="1800"/>
              <a:t>};</a:t>
            </a:r>
            <a:endParaRPr lang="en-US" altLang="en-US" sz="1800"/>
          </a:p>
          <a:p>
            <a:endParaRPr lang="en-US" altLang="en-US" sz="1800"/>
          </a:p>
        </p:txBody>
      </p:sp>
      <p:sp>
        <p:nvSpPr>
          <p:cNvPr id="4" name="Text Box 3"/>
          <p:cNvSpPr txBox="1"/>
          <p:nvPr/>
        </p:nvSpPr>
        <p:spPr>
          <a:xfrm>
            <a:off x="99060" y="3115310"/>
            <a:ext cx="11225530" cy="2043430"/>
          </a:xfrm>
          <a:prstGeom prst="rect">
            <a:avLst/>
          </a:prstGeom>
        </p:spPr>
        <p:txBody>
          <a:bodyPr wrap="square">
            <a:noAutofit/>
          </a:bodyPr>
          <a:p>
            <a:pPr>
              <a:spcAft>
                <a:spcPct val="60000"/>
              </a:spcAft>
            </a:pPr>
            <a:r>
              <a:rPr sz="1900" b="1"/>
              <a:t>What it does:</a:t>
            </a:r>
            <a:endParaRPr sz="1900" b="1"/>
          </a:p>
          <a:p>
            <a:pPr>
              <a:spcAft>
                <a:spcPct val="60000"/>
              </a:spcAft>
            </a:pPr>
            <a:r>
              <a:rPr sz="1600"/>
              <a:t>e.preventDefault() → Stops the page from reloading (default form behavior).</a:t>
            </a:r>
            <a:endParaRPr sz="1600"/>
          </a:p>
          <a:p>
            <a:pPr>
              <a:buAutoNum type="arabicPeriod"/>
            </a:pPr>
            <a:r>
              <a:rPr sz="1600"/>
              <a:t>Creates a new object newdata:</a:t>
            </a:r>
            <a:endParaRPr sz="1600"/>
          </a:p>
          <a:p>
            <a:pPr>
              <a:buAutoNum type="arabicPeriod"/>
            </a:pPr>
            <a:r>
              <a:rPr sz="1600"/>
              <a:t>Copies everything from formData</a:t>
            </a:r>
            <a:endParaRPr sz="1600"/>
          </a:p>
          <a:p>
            <a:pPr>
              <a:buAutoNum type="arabicPeriod"/>
            </a:pPr>
            <a:r>
              <a:rPr sz="1600"/>
              <a:t>Adds a unique id using Date.now() (current timestamp)</a:t>
            </a:r>
            <a:endParaRPr sz="1600"/>
          </a:p>
          <a:p>
            <a:pPr>
              <a:buAutoNum type="arabicPeriod"/>
            </a:pPr>
            <a:r>
              <a:rPr sz="1600"/>
              <a:t>Adds newdata to an array called submitedata (probably a list of all submissions).</a:t>
            </a:r>
            <a:endParaRPr sz="1600"/>
          </a:p>
          <a:p>
            <a:pPr>
              <a:buAutoNum type="arabicPeriod"/>
            </a:pPr>
            <a:r>
              <a:rPr sz="1600"/>
              <a:t>Resets the form back to its initial state (PersonDetails).</a:t>
            </a:r>
            <a:endParaRPr sz="1600"/>
          </a:p>
        </p:txBody>
      </p:sp>
      <p:graphicFrame>
        <p:nvGraphicFramePr>
          <p:cNvPr id="5" name="Table 4"/>
          <p:cNvGraphicFramePr/>
          <p:nvPr/>
        </p:nvGraphicFramePr>
        <p:xfrm>
          <a:off x="99060" y="5363210"/>
          <a:ext cx="10485120" cy="0"/>
        </p:xfrm>
        <a:graphic>
          <a:graphicData uri="http://schemas.openxmlformats.org/drawingml/2006/table">
            <a:tbl>
              <a:tblPr/>
              <a:tblGrid>
                <a:gridCol w="3015615"/>
                <a:gridCol w="3974465"/>
                <a:gridCol w="3495040"/>
              </a:tblGrid>
              <a:tr h="0">
                <a:tc>
                  <a:txBody>
                    <a:bodyPr/>
                    <a:p>
                      <a:r>
                        <a:rPr sz="1800"/>
                        <a:t>Function</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What it does</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Example</a:t>
                      </a:r>
                      <a:endParaRPr sz="1800"/>
                    </a:p>
                  </a:txBody>
                  <a:tcPr marL="0" marR="0" marT="0" marB="0" anchor="ctr" anchorCtr="0">
                    <a:lnL>
                      <a:noFill/>
                    </a:lnL>
                    <a:lnR>
                      <a:noFill/>
                    </a:lnR>
                    <a:lnT>
                      <a:noFill/>
                    </a:lnT>
                    <a:lnB>
                      <a:noFill/>
                    </a:lnB>
                    <a:solidFill>
                      <a:schemeClr val="accent2">
                        <a:lumMod val="40000"/>
                        <a:lumOff val="60000"/>
                      </a:schemeClr>
                    </a:solidFill>
                  </a:tcPr>
                </a:tc>
              </a:tr>
              <a:tr h="0">
                <a:tc>
                  <a:txBody>
                    <a:bodyPr/>
                    <a:p>
                      <a:r>
                        <a:rPr sz="1800"/>
                        <a:t>handleChange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Updates the form data when user types, checks, or uploads</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You type “</a:t>
                      </a:r>
                      <a:r>
                        <a:rPr lang="en-US" sz="1800"/>
                        <a:t>Viren</a:t>
                      </a:r>
                      <a:r>
                        <a:rPr sz="1800"/>
                        <a:t>” → formData.name = "</a:t>
                      </a:r>
                      <a:r>
                        <a:rPr lang="en-US" sz="1800"/>
                        <a:t>Viren</a:t>
                      </a:r>
                      <a:r>
                        <a:rPr sz="1800"/>
                        <a:t>"</a:t>
                      </a:r>
                      <a:endParaRPr sz="1800"/>
                    </a:p>
                  </a:txBody>
                  <a:tcPr marL="0" marR="0" marT="0" marB="0" anchor="ctr" anchorCtr="0">
                    <a:lnL>
                      <a:noFill/>
                    </a:lnL>
                    <a:lnR>
                      <a:noFill/>
                    </a:lnR>
                    <a:lnT>
                      <a:noFill/>
                    </a:lnT>
                    <a:lnB>
                      <a:noFill/>
                    </a:lnB>
                    <a:solidFill>
                      <a:schemeClr val="accent2">
                        <a:lumMod val="40000"/>
                        <a:lumOff val="60000"/>
                      </a:schemeClr>
                    </a:solidFill>
                  </a:tcPr>
                </a:tc>
              </a:tr>
              <a:tr h="0">
                <a:tc>
                  <a:txBody>
                    <a:bodyPr/>
                    <a:p>
                      <a:r>
                        <a:rPr sz="1800"/>
                        <a:t>handleSubmit</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Saves the filled form and resets it</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You click “Submit” → saves </a:t>
                      </a:r>
                      <a:r>
                        <a:rPr lang="en-US" sz="1800"/>
                        <a:t>Viren</a:t>
                      </a:r>
                      <a:endParaRPr lang="en-US" sz="1800"/>
                    </a:p>
                    <a:p>
                      <a:r>
                        <a:rPr sz="1800"/>
                        <a:t>data and clears the form</a:t>
                      </a:r>
                      <a:endParaRPr sz="1800"/>
                    </a:p>
                  </a:txBody>
                  <a:tcPr marL="0" marR="0" marT="0" marB="0" anchor="ctr" anchorCtr="0">
                    <a:lnL>
                      <a:noFill/>
                    </a:lnL>
                    <a:lnR>
                      <a:noFill/>
                    </a:lnR>
                    <a:lnT>
                      <a:noFill/>
                    </a:lnT>
                    <a:lnB>
                      <a:noFill/>
                    </a:lnB>
                    <a:solidFill>
                      <a:schemeClr val="accent2">
                        <a:lumMod val="40000"/>
                        <a:lumOff val="60000"/>
                      </a:schemeClr>
                    </a:solidFill>
                  </a:tcPr>
                </a:tc>
              </a:tr>
            </a:tbl>
          </a:graphicData>
        </a:graphic>
      </p:graphicFrame>
      <p:sp>
        <p:nvSpPr>
          <p:cNvPr id="6" name="Text Box 5"/>
          <p:cNvSpPr txBox="1"/>
          <p:nvPr/>
        </p:nvSpPr>
        <p:spPr>
          <a:xfrm>
            <a:off x="271145" y="0"/>
            <a:ext cx="7160260" cy="540385"/>
          </a:xfrm>
          <a:prstGeom prst="rect">
            <a:avLst/>
          </a:prstGeom>
        </p:spPr>
        <p:txBody>
          <a:bodyPr>
            <a:noAutofit/>
          </a:bodyPr>
          <a:p>
            <a:pPr>
              <a:spcAft>
                <a:spcPct val="60000"/>
              </a:spcAft>
            </a:pPr>
            <a:r>
              <a:rPr b="1"/>
              <a:t>handleSubmit function</a:t>
            </a:r>
            <a:endParaRPr b="1"/>
          </a:p>
          <a:p>
            <a:r>
              <a:t>This runs when the user submits the form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7620"/>
            <a:ext cx="10515600" cy="449580"/>
          </a:xfrm>
        </p:spPr>
        <p:txBody>
          <a:bodyPr>
            <a:noAutofit/>
          </a:bodyPr>
          <a:p>
            <a:pPr algn="ctr"/>
            <a:r>
              <a:rPr lang="en-US" sz="2800" b="1">
                <a:solidFill>
                  <a:srgbClr val="FF0000"/>
                </a:solidFill>
              </a:rPr>
              <a:t>React With API</a:t>
            </a:r>
            <a:endParaRPr lang="en-US" sz="2800" b="1">
              <a:solidFill>
                <a:srgbClr val="FF0000"/>
              </a:solidFill>
            </a:endParaRPr>
          </a:p>
        </p:txBody>
      </p:sp>
      <p:sp>
        <p:nvSpPr>
          <p:cNvPr id="3" name="Content Placeholder 2"/>
          <p:cNvSpPr>
            <a:spLocks noGrp="1"/>
          </p:cNvSpPr>
          <p:nvPr>
            <p:ph idx="1"/>
          </p:nvPr>
        </p:nvSpPr>
        <p:spPr>
          <a:xfrm>
            <a:off x="140335" y="457200"/>
            <a:ext cx="11951970" cy="6267450"/>
          </a:xfrm>
        </p:spPr>
        <p:txBody>
          <a:bodyPr>
            <a:normAutofit lnSpcReduction="10000"/>
          </a:bodyPr>
          <a:p>
            <a:pPr marL="0" indent="0">
              <a:buNone/>
            </a:pPr>
            <a:r>
              <a:rPr lang="en-US" altLang="en-US" sz="1800" b="1"/>
              <a:t>What is a React API?</a:t>
            </a:r>
            <a:endParaRPr lang="en-US" altLang="en-US" sz="1800" b="1"/>
          </a:p>
          <a:p>
            <a:pPr marL="0" indent="0">
              <a:buNone/>
            </a:pPr>
            <a:r>
              <a:rPr lang="en-US" altLang="en-US" sz="1800" b="1"/>
              <a:t>An API (Application Programming Interface) is a set of rules that allows two software applications to talk to each other.</a:t>
            </a:r>
            <a:endParaRPr lang="en-US" altLang="en-US" sz="1800" b="1"/>
          </a:p>
          <a:p>
            <a:pPr marL="0" indent="0">
              <a:buNone/>
            </a:pPr>
            <a:r>
              <a:rPr lang="en-US" altLang="en-US" sz="1800"/>
              <a:t>React does not have its own backend API.</a:t>
            </a:r>
            <a:endParaRPr lang="en-US" altLang="en-US" sz="1800"/>
          </a:p>
          <a:p>
            <a:pPr marL="0" indent="0">
              <a:buNone/>
            </a:pPr>
            <a:r>
              <a:rPr lang="en-US" altLang="en-US" sz="1800"/>
              <a:t>Instead, when people say “React API”, they usually mean one of the following:</a:t>
            </a:r>
            <a:endParaRPr lang="en-US" altLang="en-US" sz="1800"/>
          </a:p>
          <a:p>
            <a:pPr marL="0" indent="0">
              <a:buNone/>
            </a:pPr>
            <a:r>
              <a:rPr lang="en-US" altLang="en-US" sz="1800"/>
              <a:t>An API that your React frontend communicates with</a:t>
            </a:r>
            <a:endParaRPr lang="en-US" altLang="en-US" sz="1800"/>
          </a:p>
          <a:p>
            <a:pPr marL="0" indent="0">
              <a:buNone/>
            </a:pPr>
            <a:r>
              <a:rPr lang="en-US" altLang="en-US" sz="1800"/>
              <a:t>This means:</a:t>
            </a:r>
            <a:endParaRPr lang="en-US" altLang="en-US" sz="1800"/>
          </a:p>
          <a:p>
            <a:pPr marL="0" indent="0">
              <a:buNone/>
            </a:pPr>
            <a:r>
              <a:rPr lang="en-US" altLang="en-US" sz="1800"/>
              <a:t>You create a backend API (Node.js, Express, Django, etc.)</a:t>
            </a:r>
            <a:endParaRPr lang="en-US" altLang="en-US" sz="1800"/>
          </a:p>
          <a:p>
            <a:pPr marL="0" indent="0">
              <a:buNone/>
            </a:pPr>
            <a:r>
              <a:rPr lang="en-US" altLang="en-US" sz="1800"/>
              <a:t>Your React app sends requests (GET/POST/PUT/DELETE) to it using:</a:t>
            </a:r>
            <a:endParaRPr lang="en-US" altLang="en-US" sz="1800"/>
          </a:p>
          <a:p>
            <a:pPr marL="0" indent="0">
              <a:buNone/>
            </a:pPr>
            <a:r>
              <a:rPr lang="en-US" altLang="en-US" sz="1800"/>
              <a:t>fetch</a:t>
            </a:r>
            <a:endParaRPr lang="en-US" altLang="en-US" sz="1800"/>
          </a:p>
          <a:p>
            <a:pPr marL="0" indent="0">
              <a:buNone/>
            </a:pPr>
            <a:r>
              <a:rPr lang="en-US" altLang="en-US" sz="1800"/>
              <a:t>axios</a:t>
            </a:r>
            <a:endParaRPr lang="en-US" altLang="en-US" sz="1800"/>
          </a:p>
          <a:p>
            <a:pPr marL="0" indent="0">
              <a:buNone/>
            </a:pPr>
            <a:r>
              <a:rPr lang="en-US" altLang="en-US" sz="1800"/>
              <a:t>React Query, etc.</a:t>
            </a:r>
            <a:endParaRPr lang="en-US" altLang="en-US" sz="1800"/>
          </a:p>
          <a:p>
            <a:pPr marL="0" indent="0">
              <a:buNone/>
            </a:pPr>
            <a:r>
              <a:rPr lang="en-US" altLang="en-US" sz="1800"/>
              <a:t>React cannot create a backend API because React is only a frontend framework.</a:t>
            </a:r>
            <a:endParaRPr lang="en-US" altLang="en-US" sz="1800"/>
          </a:p>
          <a:p>
            <a:pPr marL="0" indent="0">
              <a:buNone/>
            </a:pPr>
            <a:r>
              <a:rPr lang="en-US" altLang="en-US" sz="1800"/>
              <a:t>But you can create:</a:t>
            </a:r>
            <a:endParaRPr lang="en-US" altLang="en-US" sz="1800"/>
          </a:p>
          <a:p>
            <a:pPr marL="0" indent="0">
              <a:buNone/>
            </a:pPr>
            <a:endParaRPr lang="en-US" altLang="en-US" sz="1800"/>
          </a:p>
          <a:p>
            <a:pPr marL="0" indent="0">
              <a:buNone/>
            </a:pPr>
            <a:r>
              <a:rPr lang="en-US" altLang="en-US" sz="1800"/>
              <a:t>✔</a:t>
            </a:r>
            <a:r>
              <a:rPr lang="en-US" altLang="en-US" sz="1800"/>
              <a:t>️</a:t>
            </a:r>
            <a:r>
              <a:rPr lang="en-US" altLang="en-US" sz="1800"/>
              <a:t> A simple mock API using JSON-Server</a:t>
            </a:r>
            <a:endParaRPr lang="en-US" altLang="en-US" sz="1800"/>
          </a:p>
          <a:p>
            <a:pPr marL="0" indent="0">
              <a:buNone/>
            </a:pPr>
            <a:r>
              <a:rPr lang="en-US" altLang="en-US" sz="1800"/>
              <a:t>✔</a:t>
            </a:r>
            <a:r>
              <a:rPr lang="en-US" altLang="en-US" sz="1800"/>
              <a:t>️</a:t>
            </a:r>
            <a:r>
              <a:rPr lang="en-US" altLang="en-US" sz="1800"/>
              <a:t> A React app that uses GET, POST, PUT, DELETE to manage Person data</a:t>
            </a:r>
            <a:endParaRPr lang="en-US" altLang="en-US" sz="1800"/>
          </a:p>
          <a:p>
            <a:pPr marL="0" indent="0">
              <a:buNone/>
            </a:pPr>
            <a:endParaRPr lang="en-US" altLang="en-US" sz="1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21285" y="382270"/>
          <a:ext cx="11942445" cy="1920240"/>
        </p:xfrm>
        <a:graphic>
          <a:graphicData uri="http://schemas.openxmlformats.org/drawingml/2006/table">
            <a:tbl>
              <a:tblPr/>
              <a:tblGrid>
                <a:gridCol w="3980815"/>
                <a:gridCol w="3980815"/>
                <a:gridCol w="3980815"/>
              </a:tblGrid>
              <a:tr h="0">
                <a:tc>
                  <a:txBody>
                    <a:bodyPr/>
                    <a:p>
                      <a:r>
                        <a:rPr sz="1800"/>
                        <a:t>Method</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Purpose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CRUD Equivalent</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r>
                        <a:rPr sz="1800"/>
                        <a:t>GET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Read data</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Read</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r>
                        <a:rPr sz="1800"/>
                        <a:t>POST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Create new data</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Create</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r>
                        <a:rPr sz="1800"/>
                        <a:t>PUT</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Replace existing data</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Update</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r>
                        <a:rPr sz="1800"/>
                        <a:t>PATCH</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Update part of data</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Update</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r>
                        <a:rPr sz="1800"/>
                        <a:t>DELETE</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Remove data</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Delete</a:t>
                      </a:r>
                      <a:endParaRPr sz="1800"/>
                    </a:p>
                  </a:txBody>
                  <a:tcPr marL="0" marR="0" marT="0" marB="0" anchor="ctr" anchorCtr="0">
                    <a:lnL>
                      <a:noFill/>
                    </a:lnL>
                    <a:lnR>
                      <a:noFill/>
                    </a:lnR>
                    <a:lnT>
                      <a:noFill/>
                    </a:lnT>
                    <a:lnB>
                      <a:noFill/>
                    </a:lnB>
                    <a:solidFill>
                      <a:schemeClr val="accent2">
                        <a:lumMod val="20000"/>
                        <a:lumOff val="80000"/>
                      </a:schemeClr>
                    </a:solidFill>
                  </a:tcPr>
                </a:tc>
              </a:tr>
              <a:tr h="274320">
                <a:tc>
                  <a:txBody>
                    <a:bodyPr/>
                    <a:p>
                      <a:r>
                        <a:rPr sz="1800"/>
                        <a:t>OPTIONS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Shows allowed methods</a:t>
                      </a:r>
                      <a:endParaRPr sz="1800"/>
                    </a:p>
                  </a:txBody>
                  <a:tcPr marL="0" marR="0" marT="0" marB="0" anchor="ctr" anchorCtr="0">
                    <a:lnL>
                      <a:noFill/>
                    </a:lnL>
                    <a:lnR>
                      <a:noFill/>
                    </a:lnR>
                    <a:lnT>
                      <a:noFill/>
                    </a:lnT>
                    <a:lnB>
                      <a:noFill/>
                    </a:lnB>
                    <a:solidFill>
                      <a:schemeClr val="accent2">
                        <a:lumMod val="20000"/>
                        <a:lumOff val="80000"/>
                      </a:schemeClr>
                    </a:solidFill>
                  </a:tcPr>
                </a:tc>
                <a:tc>
                  <a:txBody>
                    <a:bodyPr/>
                    <a:p>
                      <a:r>
                        <a:rPr sz="1800"/>
                        <a:t>–</a:t>
                      </a:r>
                      <a:endParaRPr sz="18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
        <p:nvSpPr>
          <p:cNvPr id="5" name="Text Box 4"/>
          <p:cNvSpPr txBox="1"/>
          <p:nvPr/>
        </p:nvSpPr>
        <p:spPr>
          <a:xfrm>
            <a:off x="121285" y="1920240"/>
            <a:ext cx="12070080" cy="4820920"/>
          </a:xfrm>
          <a:prstGeom prst="rect">
            <a:avLst/>
          </a:prstGeom>
        </p:spPr>
        <p:txBody>
          <a:bodyPr wrap="square">
            <a:noAutofit/>
          </a:bodyPr>
          <a:p>
            <a:pPr>
              <a:spcAft>
                <a:spcPct val="60000"/>
              </a:spcAft>
            </a:pPr>
            <a:endParaRPr sz="2400" b="1"/>
          </a:p>
          <a:p>
            <a:pPr>
              <a:spcAft>
                <a:spcPct val="60000"/>
              </a:spcAft>
            </a:pPr>
            <a:r>
              <a:rPr sz="2000" b="1"/>
              <a:t>What is JSON Server?</a:t>
            </a:r>
            <a:endParaRPr sz="2000" b="1"/>
          </a:p>
          <a:p>
            <a:r>
              <a:rPr sz="1600"/>
              <a:t>JSON Server is a simple tool that lets you turn a JSON file into a full fake REST API—without writing any backend code.</a:t>
            </a:r>
            <a:endParaRPr sz="1600"/>
          </a:p>
          <a:p>
            <a:r>
              <a:rPr sz="1600"/>
              <a:t> Perfect for prototyping, testing, or front-end development.</a:t>
            </a:r>
            <a:endParaRPr sz="1600"/>
          </a:p>
          <a:p>
            <a:pPr>
              <a:spcAft>
                <a:spcPct val="60000"/>
              </a:spcAft>
            </a:pPr>
            <a:r>
              <a:rPr sz="2400" b="1"/>
              <a:t>Key Features</a:t>
            </a:r>
            <a:endParaRPr sz="2400" b="1"/>
          </a:p>
          <a:p>
            <a:pPr>
              <a:spcAft>
                <a:spcPct val="60000"/>
              </a:spcAft>
            </a:pPr>
            <a:r>
              <a:rPr sz="1600"/>
              <a:t>Full REST routes: GET, POST, PUT, PATCH, DELETE</a:t>
            </a:r>
            <a:endParaRPr sz="1600"/>
          </a:p>
          <a:p>
            <a:pPr>
              <a:buFont typeface="Arial" panose="020B0604020202020204"/>
              <a:buChar char="•"/>
            </a:pPr>
            <a:r>
              <a:rPr sz="1600"/>
              <a:t>Zero configuration required</a:t>
            </a:r>
            <a:endParaRPr sz="1600"/>
          </a:p>
          <a:p>
            <a:pPr>
              <a:buFont typeface="Arial" panose="020B0604020202020204"/>
              <a:buChar char="•"/>
            </a:pPr>
            <a:endParaRPr sz="1600"/>
          </a:p>
          <a:p>
            <a:pPr>
              <a:buFont typeface="Arial" panose="020B0604020202020204"/>
              <a:buChar char="•"/>
            </a:pPr>
            <a:r>
              <a:rPr sz="1600"/>
              <a:t>Supports queries, pagination, sorting, filtering</a:t>
            </a:r>
            <a:endParaRPr sz="1600"/>
          </a:p>
          <a:p>
            <a:pPr>
              <a:buFont typeface="Arial" panose="020B0604020202020204"/>
              <a:buChar char="•"/>
            </a:pPr>
            <a:endParaRPr sz="1600"/>
          </a:p>
          <a:p>
            <a:pPr>
              <a:buFont typeface="Arial" panose="020B0604020202020204"/>
              <a:buChar char="•"/>
            </a:pPr>
            <a:r>
              <a:rPr sz="1600"/>
              <a:t>Can serve static files</a:t>
            </a:r>
            <a:endParaRPr sz="1600"/>
          </a:p>
          <a:p>
            <a:pPr>
              <a:buFont typeface="Arial" panose="020B0604020202020204"/>
              <a:buChar char="•"/>
            </a:pPr>
            <a:endParaRPr sz="1600"/>
          </a:p>
          <a:p>
            <a:pPr>
              <a:buFont typeface="Arial" panose="020B0604020202020204"/>
              <a:buChar char="•"/>
            </a:pPr>
            <a:r>
              <a:rPr sz="1600"/>
              <a:t>Easily customizable using JavaScript</a:t>
            </a:r>
            <a:endParaRPr sz="1600"/>
          </a:p>
          <a:p>
            <a:pPr>
              <a:buFont typeface="Arial" panose="020B0604020202020204"/>
              <a:buChar char="•"/>
            </a:pPr>
            <a:endParaRPr sz="1600"/>
          </a:p>
          <a:p>
            <a:pPr>
              <a:buFont typeface="Arial" panose="020B0604020202020204"/>
              <a:buChar char="•"/>
            </a:pPr>
            <a:r>
              <a:rPr lang="en-US" sz="1600" b="1"/>
              <a:t>npm install -g json-server</a:t>
            </a:r>
            <a:endParaRPr lang="en-US" sz="1600" b="1"/>
          </a:p>
          <a:p>
            <a:pPr>
              <a:buFont typeface="Arial" panose="020B0604020202020204"/>
              <a:buChar char="•"/>
            </a:pPr>
            <a:endParaRPr lang="en-US" sz="1600" b="1"/>
          </a:p>
        </p:txBody>
      </p:sp>
      <p:sp>
        <p:nvSpPr>
          <p:cNvPr id="6" name="Text Box 5"/>
          <p:cNvSpPr txBox="1"/>
          <p:nvPr/>
        </p:nvSpPr>
        <p:spPr>
          <a:xfrm>
            <a:off x="4362450" y="5819140"/>
            <a:ext cx="7560945" cy="607695"/>
          </a:xfrm>
          <a:prstGeom prst="rect">
            <a:avLst/>
          </a:prstGeom>
          <a:noFill/>
        </p:spPr>
        <p:txBody>
          <a:bodyPr wrap="square" rtlCol="0" anchor="t">
            <a:noAutofit/>
          </a:bodyPr>
          <a:p>
            <a:r>
              <a:rPr lang="en-US" altLang="en-US" b="1"/>
              <a:t>To Run The Json Server Command</a:t>
            </a:r>
            <a:endParaRPr lang="en-US" altLang="en-US" b="1"/>
          </a:p>
          <a:p>
            <a:r>
              <a:rPr lang="en-US" altLang="en-US" b="1"/>
              <a:t>json-server --watch data.json --port 5400 </a:t>
            </a:r>
            <a:endParaRPr lang="en-US" altLang="en-US" b="1"/>
          </a:p>
          <a:p>
            <a:endParaRPr lang="en-US"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React Appication</a:t>
            </a:r>
            <a:br>
              <a:rPr lang="en-US"/>
            </a:br>
            <a:endParaRPr lang="en-US"/>
          </a:p>
        </p:txBody>
      </p:sp>
      <p:sp>
        <p:nvSpPr>
          <p:cNvPr id="3" name="Content Placeholder 2"/>
          <p:cNvSpPr>
            <a:spLocks noGrp="1"/>
          </p:cNvSpPr>
          <p:nvPr>
            <p:ph idx="1"/>
          </p:nvPr>
        </p:nvSpPr>
        <p:spPr/>
        <p:txBody>
          <a:bodyPr/>
          <a:p>
            <a:r>
              <a:rPr lang="en-US"/>
              <a:t>1)npm create Vite@latest ReactApiApp</a:t>
            </a:r>
            <a:endParaRPr lang="en-US"/>
          </a:p>
        </p:txBody>
      </p:sp>
    </p:spTree>
  </p:cSld>
  <p:clrMapOvr>
    <a:masterClrMapping/>
  </p:clrMapOvr>
</p:sld>
</file>

<file path=ppt/tags/tag1.xml><?xml version="1.0" encoding="utf-8"?>
<p:tagLst xmlns:p="http://schemas.openxmlformats.org/presentationml/2006/main">
  <p:tag name="TABLE_ENDDRAG_ORIGIN_RECT" val="909*220"/>
  <p:tag name="TABLE_ENDDRAG_RECT" val="9*43*909*220"/>
</p:tagLst>
</file>

<file path=ppt/tags/tag2.xml><?xml version="1.0" encoding="utf-8"?>
<p:tagLst xmlns:p="http://schemas.openxmlformats.org/presentationml/2006/main">
  <p:tag name="TABLE_ENDDRAG_ORIGIN_RECT" val="920*237"/>
  <p:tag name="TABLE_ENDDRAG_RECT" val="9*293*920*237"/>
</p:tagLst>
</file>

<file path=ppt/tags/tag3.xml><?xml version="1.0" encoding="utf-8"?>
<p:tagLst xmlns:p="http://schemas.openxmlformats.org/presentationml/2006/main">
  <p:tag name="TABLE_ENDDRAG_ORIGIN_RECT" val="940*256"/>
  <p:tag name="TABLE_ENDDRAG_RECT" val="20*266*940*256"/>
</p:tagLst>
</file>

<file path=ppt/tags/tag4.xml><?xml version="1.0" encoding="utf-8"?>
<p:tagLst xmlns:p="http://schemas.openxmlformats.org/presentationml/2006/main">
  <p:tag name="TABLE_ENDDRAG_ORIGIN_RECT" val="948*182"/>
  <p:tag name="TABLE_ENDDRAG_RECT" val="11*39*948*182"/>
</p:tagLst>
</file>

<file path=ppt/tags/tag5.xml><?xml version="1.0" encoding="utf-8"?>
<p:tagLst xmlns:p="http://schemas.openxmlformats.org/presentationml/2006/main">
  <p:tag name="TABLE_ENDDRAG_ORIGIN_RECT" val="936*104"/>
  <p:tag name="TABLE_ENDDRAG_RECT" val="7*148*936*104"/>
</p:tagLst>
</file>

<file path=ppt/tags/tag6.xml><?xml version="1.0" encoding="utf-8"?>
<p:tagLst xmlns:p="http://schemas.openxmlformats.org/presentationml/2006/main">
  <p:tag name="TABLE_ENDDRAG_ORIGIN_RECT" val="491*219"/>
  <p:tag name="TABLE_ENDDRAG_RECT" val="434*174*491*219"/>
</p:tagLst>
</file>

<file path=ppt/tags/tag7.xml><?xml version="1.0" encoding="utf-8"?>
<p:tagLst xmlns:p="http://schemas.openxmlformats.org/presentationml/2006/main">
  <p:tag name="TABLE_ENDDRAG_ORIGIN_RECT" val="606*176"/>
  <p:tag name="TABLE_ENDDRAG_RECT" val="343*110*606*176"/>
</p:tagLst>
</file>

<file path=ppt/tags/tag8.xml><?xml version="1.0" encoding="utf-8"?>
<p:tagLst xmlns:p="http://schemas.openxmlformats.org/presentationml/2006/main">
  <p:tag name="TABLE_ENDDRAG_ORIGIN_RECT" val="937*115"/>
  <p:tag name="TABLE_ENDDRAG_RECT" val="9*270*937*115"/>
</p:tagLst>
</file>

<file path=ppt/tags/tag9.xml><?xml version="1.0" encoding="utf-8"?>
<p:tagLst xmlns:p="http://schemas.openxmlformats.org/presentationml/2006/main">
  <p:tag name="TABLE_ENDDRAG_ORIGIN_RECT" val="945*134"/>
  <p:tag name="TABLE_ENDDRAG_RECT" val="7*9*945*134"/>
</p:tagLst>
</file>

<file path=ppt/tags/tag10.xml><?xml version="1.0" encoding="utf-8"?>
<p:tagLst xmlns:p="http://schemas.openxmlformats.org/presentationml/2006/main">
  <p:tag name="TABLE_ENDDRAG_ORIGIN_RECT" val="940*143"/>
  <p:tag name="TABLE_ENDDRAG_RECT" val="9*7*940*14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30183</Words>
  <Application>WPS Presentation</Application>
  <PresentationFormat>Widescreen</PresentationFormat>
  <Paragraphs>1151</Paragraphs>
  <Slides>46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Arial</vt:lpstr>
      <vt:lpstr>SimSun</vt:lpstr>
      <vt:lpstr>Wingdings</vt:lpstr>
      <vt:lpstr>Wingdings</vt:lpstr>
      <vt:lpstr>Cambria</vt:lpstr>
      <vt:lpstr>Arial</vt:lpstr>
      <vt:lpstr>Calibri Light</vt:lpstr>
      <vt:lpstr>Calibri</vt:lpstr>
      <vt:lpstr>Microsoft YaHei</vt:lpstr>
      <vt:lpstr>Arial Unicode MS</vt:lpstr>
      <vt:lpstr>Office Theme</vt:lpstr>
      <vt:lpstr>React  Complete Syllabus</vt:lpstr>
      <vt:lpstr>React Introduction</vt:lpstr>
      <vt:lpstr>Why React</vt:lpstr>
      <vt:lpstr>Application OF React</vt:lpstr>
      <vt:lpstr>Features and Advantages of React</vt:lpstr>
      <vt:lpstr>What is  Node.js</vt:lpstr>
      <vt:lpstr>React Installation And Setup And Create New Project</vt:lpstr>
      <vt:lpstr>React Folder Structure</vt:lpstr>
      <vt:lpstr>Public And Src Folder</vt:lpstr>
      <vt:lpstr>2)main.jsx</vt:lpstr>
      <vt:lpstr>React StrictMode</vt:lpstr>
      <vt:lpstr>src/App.jsx and main.css</vt:lpstr>
      <vt:lpstr>3)index.html</vt:lpstr>
      <vt:lpstr>vite.config.js and gitignore Package.json</vt:lpstr>
      <vt:lpstr>Package.json And Package.lock.json</vt:lpstr>
      <vt:lpstr>Expandable Folder Structure</vt:lpstr>
      <vt:lpstr>React Components</vt:lpstr>
      <vt:lpstr>React Function Componets</vt:lpstr>
      <vt:lpstr>Class Components</vt:lpstr>
      <vt:lpstr>Difference Between Two Components</vt:lpstr>
      <vt:lpstr>React props</vt:lpstr>
      <vt:lpstr>Emp Components Code</vt:lpstr>
      <vt:lpstr>App.jsx</vt:lpstr>
      <vt:lpstr>React Componenet LifeCycle or running steps</vt:lpstr>
      <vt:lpstr>PowerPoint 演示文稿</vt:lpstr>
      <vt:lpstr>React Hooks</vt:lpstr>
      <vt:lpstr>Without UseState</vt:lpstr>
      <vt:lpstr>2. useEffect() – Perform Side Effects</vt:lpstr>
      <vt:lpstr>PowerPoint 演示文稿</vt:lpstr>
      <vt:lpstr>Api Fetching using useEffect</vt:lpstr>
      <vt:lpstr>useRef() – Access DOM Elements or Persist Values</vt:lpstr>
      <vt:lpstr>React States</vt:lpstr>
      <vt:lpstr>Example</vt:lpstr>
      <vt:lpstr>Another Example Of States </vt:lpstr>
      <vt:lpstr>Another Example Of React State</vt:lpstr>
      <vt:lpstr>React Hooks</vt:lpstr>
      <vt:lpstr>UseEffect</vt:lpstr>
      <vt:lpstr>React Routing </vt:lpstr>
      <vt:lpstr>BrowserRouter</vt:lpstr>
      <vt:lpstr>PowerPoint 演示文稿</vt:lpstr>
      <vt:lpstr>CSS &amp; Bootstrap in React For Styling and Designing</vt:lpstr>
      <vt:lpstr>PowerPoint 演示文稿</vt:lpstr>
      <vt:lpstr>PowerPoint 演示文稿</vt:lpstr>
      <vt:lpstr>React With API</vt:lpstr>
      <vt:lpstr>PowerPoint 演示文稿</vt:lpstr>
      <vt:lpstr>React Appication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Application </dc:title>
  <dc:creator/>
  <cp:lastModifiedBy>Nishank Amte</cp:lastModifiedBy>
  <cp:revision>313</cp:revision>
  <dcterms:created xsi:type="dcterms:W3CDTF">2025-07-18T05:35:00Z</dcterms:created>
  <dcterms:modified xsi:type="dcterms:W3CDTF">2025-11-20T13:49:10Z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B07B0DD1568C4D9188F9D39421704F49_11</vt:lpwstr>
  </property>
  <property fmtid="{D5CDD505-2E9C-101B-9397-08002B2CF9AE}" pid="3" name="KSOProductBuildVer">
    <vt:lpwstr>1033-12.2.0.23155</vt:lpwstr>
  </property>
</Properties>
</file>