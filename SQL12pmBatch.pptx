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5" r:id="rId10"/>
    <p:sldId id="262" r:id="rId11"/>
    <p:sldId id="264" r:id="rId12"/>
    <p:sldId id="268" r:id="rId13"/>
    <p:sldId id="269" r:id="rId14"/>
    <p:sldId id="270" r:id="rId15"/>
    <p:sldId id="267" r:id="rId16"/>
    <p:sldId id="272" r:id="rId17"/>
    <p:sldId id="271" r:id="rId18"/>
    <p:sldId id="273" r:id="rId19"/>
    <p:sldId id="274" r:id="rId20"/>
    <p:sldId id="275" r:id="rId21"/>
    <p:sldId id="276" r:id="rId22"/>
    <p:sldId id="277" r:id="rId23"/>
    <p:sldId id="279" r:id="rId24"/>
    <p:sldId id="280" r:id="rId25"/>
    <p:sldId id="278" r:id="rId26"/>
    <p:sldId id="282" r:id="rId27"/>
    <p:sldId id="283" r:id="rId28"/>
    <p:sldId id="284" r:id="rId29"/>
    <p:sldId id="285" r:id="rId30"/>
    <p:sldId id="286"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4"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214"/>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3665" y="905510"/>
            <a:ext cx="11826240" cy="5746750"/>
          </a:xfrm>
        </p:spPr>
        <p:txBody>
          <a:bodyPr>
            <a:normAutofit lnSpcReduction="20000"/>
          </a:bodyPr>
          <a:lstStyle/>
          <a:p>
            <a:pPr marL="457200" indent="-457200" algn="l">
              <a:buAutoNum type="arabicPeriod"/>
            </a:pPr>
            <a:r>
              <a:rPr lang="en-US"/>
              <a:t>SQL Joins And Its Types</a:t>
            </a:r>
            <a:endParaRPr lang="en-US"/>
          </a:p>
          <a:p>
            <a:pPr marL="457200" indent="-457200" algn="l">
              <a:buAutoNum type="arabicPeriod"/>
            </a:pPr>
            <a:r>
              <a:rPr lang="en-US">
                <a:sym typeface="+mn-ea"/>
              </a:rPr>
              <a:t>Case Expression In Sql</a:t>
            </a:r>
            <a:endParaRPr lang="en-US"/>
          </a:p>
          <a:p>
            <a:pPr marL="457200" indent="-457200" algn="l">
              <a:buAutoNum type="arabicPeriod"/>
            </a:pPr>
            <a:r>
              <a:rPr lang="en-US"/>
              <a:t>Timestamp function of sql </a:t>
            </a:r>
            <a:endParaRPr lang="en-US"/>
          </a:p>
          <a:p>
            <a:pPr marL="457200" indent="-457200" algn="l">
              <a:buAutoNum type="arabicPeriod"/>
            </a:pPr>
            <a:r>
              <a:rPr lang="en-US"/>
              <a:t>TCl Commands In Sql </a:t>
            </a:r>
            <a:endParaRPr lang="en-US"/>
          </a:p>
          <a:p>
            <a:pPr marL="457200" indent="-457200" algn="l">
              <a:buAutoNum type="arabicPeriod"/>
            </a:pPr>
            <a:r>
              <a:rPr lang="en-US"/>
              <a:t>SQL Stored procedure</a:t>
            </a:r>
            <a:endParaRPr lang="en-US"/>
          </a:p>
          <a:p>
            <a:pPr marL="457200" indent="-457200" algn="l">
              <a:buAutoNum type="arabicPeriod"/>
            </a:pPr>
            <a:r>
              <a:rPr lang="en-US"/>
              <a:t>sql Trigger</a:t>
            </a:r>
            <a:endParaRPr lang="en-US"/>
          </a:p>
          <a:p>
            <a:pPr marL="457200" indent="-457200" algn="l">
              <a:buAutoNum type="arabicPeriod"/>
            </a:pPr>
            <a:endParaRPr lang="en-US"/>
          </a:p>
          <a:p>
            <a:pPr marL="457200" indent="-457200" algn="l">
              <a:buAutoNum type="arabicPeriod"/>
            </a:pPr>
            <a:endParaRPr lang="en-US"/>
          </a:p>
        </p:txBody>
      </p:sp>
      <p:sp>
        <p:nvSpPr>
          <p:cNvPr id="4" name="Text Box 3"/>
          <p:cNvSpPr txBox="1"/>
          <p:nvPr/>
        </p:nvSpPr>
        <p:spPr>
          <a:xfrm>
            <a:off x="734695" y="109855"/>
            <a:ext cx="11051540" cy="521970"/>
          </a:xfrm>
          <a:prstGeom prst="rect">
            <a:avLst/>
          </a:prstGeom>
          <a:noFill/>
        </p:spPr>
        <p:txBody>
          <a:bodyPr wrap="square" rtlCol="0" anchor="t">
            <a:spAutoFit/>
          </a:bodyPr>
          <a:p>
            <a:pPr algn="ctr"/>
            <a:r>
              <a:rPr lang="en-US" sz="2800" b="1">
                <a:solidFill>
                  <a:srgbClr val="FF0000"/>
                </a:solidFill>
                <a:sym typeface="+mn-ea"/>
              </a:rPr>
              <a:t>SQL Syllabus</a:t>
            </a:r>
            <a:endParaRPr lang="en-US" sz="2800" b="1">
              <a:solidFill>
                <a:srgbClr val="FF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72440"/>
          </a:xfrm>
        </p:spPr>
        <p:txBody>
          <a:bodyPr>
            <a:noAutofit/>
          </a:bodyPr>
          <a:p>
            <a:pPr algn="ctr"/>
            <a:r>
              <a:rPr lang="en-US" sz="3200" b="1">
                <a:solidFill>
                  <a:srgbClr val="FF0000"/>
                </a:solidFill>
              </a:rPr>
              <a:t>SQL Join</a:t>
            </a:r>
            <a:endParaRPr lang="en-US" sz="3200" b="1">
              <a:solidFill>
                <a:srgbClr val="FF0000"/>
              </a:solidFill>
            </a:endParaRPr>
          </a:p>
        </p:txBody>
      </p:sp>
      <p:sp>
        <p:nvSpPr>
          <p:cNvPr id="3" name="Content Placeholder 2"/>
          <p:cNvSpPr>
            <a:spLocks noGrp="1"/>
          </p:cNvSpPr>
          <p:nvPr>
            <p:ph idx="1"/>
          </p:nvPr>
        </p:nvSpPr>
        <p:spPr>
          <a:xfrm>
            <a:off x="126365" y="472440"/>
            <a:ext cx="11857355" cy="6198870"/>
          </a:xfrm>
        </p:spPr>
        <p:txBody>
          <a:bodyPr/>
          <a:p>
            <a:pPr marL="0" indent="0">
              <a:buNone/>
            </a:pPr>
            <a:r>
              <a:rPr lang="en-US" sz="2000"/>
              <a:t>joins means to combine something</a:t>
            </a:r>
            <a:endParaRPr lang="en-US" sz="2000"/>
          </a:p>
          <a:p>
            <a:pPr marL="0" indent="0">
              <a:buNone/>
            </a:pPr>
            <a:r>
              <a:rPr lang="en-US" sz="2000"/>
              <a:t>A JOIN clauses is used to combine data from two or more tables.based on a related column between them.</a:t>
            </a:r>
            <a:endParaRPr lang="en-US" sz="2000"/>
          </a:p>
          <a:p>
            <a:endParaRPr lang="en-US" sz="2000"/>
          </a:p>
          <a:p>
            <a:pPr marL="0" indent="0">
              <a:buNone/>
            </a:pPr>
            <a:r>
              <a:rPr lang="en-US" sz="2000" b="1"/>
              <a:t>Types of Joins</a:t>
            </a:r>
            <a:endParaRPr lang="en-US" sz="2000"/>
          </a:p>
          <a:p>
            <a:pPr marL="457200" indent="-457200">
              <a:buAutoNum type="arabicPeriod"/>
            </a:pPr>
            <a:r>
              <a:rPr lang="en-US" sz="2000"/>
              <a:t>Inner join</a:t>
            </a:r>
            <a:endParaRPr lang="en-US" sz="2000"/>
          </a:p>
          <a:p>
            <a:pPr marL="457200" indent="-457200">
              <a:buAutoNum type="arabicPeriod"/>
            </a:pPr>
            <a:r>
              <a:rPr lang="en-US" sz="2000"/>
              <a:t>left join</a:t>
            </a:r>
            <a:endParaRPr lang="en-US" sz="2000"/>
          </a:p>
          <a:p>
            <a:pPr marL="457200" indent="-457200">
              <a:buAutoNum type="arabicPeriod"/>
            </a:pPr>
            <a:r>
              <a:rPr lang="en-US" sz="2000"/>
              <a:t>right join</a:t>
            </a:r>
            <a:endParaRPr lang="en-US" sz="2000"/>
          </a:p>
          <a:p>
            <a:pPr marL="457200" indent="-457200">
              <a:buAutoNum type="arabicPeriod"/>
            </a:pPr>
            <a:r>
              <a:rPr lang="en-US" sz="2000"/>
              <a:t>full join</a:t>
            </a:r>
            <a:endParaRPr lang="en-US" sz="2000"/>
          </a:p>
          <a:p>
            <a:pPr marL="457200" indent="-457200">
              <a:buAutoNum type="arabicPeriod"/>
            </a:pPr>
            <a:r>
              <a:rPr lang="en-US" sz="2000"/>
              <a:t>self join</a:t>
            </a:r>
            <a:endParaRPr lang="en-US" sz="2000"/>
          </a:p>
          <a:p>
            <a:endParaRPr lang="en-US" sz="2000"/>
          </a:p>
          <a:p>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87325"/>
            <a:ext cx="10515600" cy="574675"/>
          </a:xfrm>
        </p:spPr>
        <p:txBody>
          <a:bodyPr>
            <a:noAutofit/>
          </a:bodyPr>
          <a:p>
            <a:pPr algn="ctr"/>
            <a:r>
              <a:rPr lang="en-US" sz="3200" b="1">
                <a:solidFill>
                  <a:srgbClr val="FF0000"/>
                </a:solidFill>
              </a:rPr>
              <a:t>Inner Join</a:t>
            </a:r>
            <a:endParaRPr lang="en-US" sz="3200" b="1">
              <a:solidFill>
                <a:srgbClr val="FF0000"/>
              </a:solidFill>
            </a:endParaRPr>
          </a:p>
        </p:txBody>
      </p:sp>
      <p:sp>
        <p:nvSpPr>
          <p:cNvPr id="3" name="Content Placeholder 2"/>
          <p:cNvSpPr>
            <a:spLocks noGrp="1"/>
          </p:cNvSpPr>
          <p:nvPr>
            <p:ph idx="1"/>
          </p:nvPr>
        </p:nvSpPr>
        <p:spPr>
          <a:xfrm>
            <a:off x="235585" y="762000"/>
            <a:ext cx="11650980" cy="5967095"/>
          </a:xfrm>
        </p:spPr>
        <p:txBody>
          <a:bodyPr>
            <a:normAutofit/>
          </a:bodyPr>
          <a:p>
            <a:pPr marL="0" indent="0">
              <a:buNone/>
            </a:pPr>
            <a:r>
              <a:rPr lang="en-US" sz="2000"/>
              <a:t>Returns Records that have matching values in both tables.</a:t>
            </a:r>
            <a:endParaRPr lang="en-US" sz="2000"/>
          </a:p>
          <a:p>
            <a:r>
              <a:rPr lang="en-US" sz="2000" b="1">
                <a:sym typeface="+mn-ea"/>
              </a:rPr>
              <a:t>Syntax</a:t>
            </a:r>
            <a:endParaRPr lang="en-US" sz="2000" b="1"/>
          </a:p>
          <a:p>
            <a:pPr marL="0" indent="0">
              <a:buNone/>
            </a:pPr>
            <a:r>
              <a:rPr lang="en-US" sz="2000">
                <a:sym typeface="+mn-ea"/>
              </a:rPr>
              <a:t>select column1,column2..n</a:t>
            </a:r>
            <a:endParaRPr lang="en-US" sz="2000"/>
          </a:p>
          <a:p>
            <a:pPr marL="0" indent="0">
              <a:buNone/>
            </a:pPr>
            <a:r>
              <a:rPr lang="en-US" sz="2000">
                <a:sym typeface="+mn-ea"/>
              </a:rPr>
              <a:t>from tableA</a:t>
            </a:r>
            <a:endParaRPr lang="en-US" sz="2000"/>
          </a:p>
          <a:p>
            <a:pPr marL="0" indent="0">
              <a:buNone/>
            </a:pPr>
            <a:r>
              <a:rPr lang="en-US" sz="2000">
                <a:sym typeface="+mn-ea"/>
              </a:rPr>
              <a:t>Inner join tableB on tableA.colname=tableB.colname;</a:t>
            </a:r>
            <a:endParaRPr lang="en-US" sz="2000"/>
          </a:p>
          <a:p>
            <a:pPr marL="0" indent="0">
              <a:buNone/>
            </a:pPr>
            <a:r>
              <a:rPr lang="en-US" altLang="en-US" sz="2000" b="1"/>
              <a:t>Why/When to Use</a:t>
            </a:r>
            <a:endParaRPr lang="en-US" altLang="en-US" sz="2000" b="1"/>
          </a:p>
          <a:p>
            <a:pPr marL="342900" indent="-342900">
              <a:buAutoNum type="arabicPeriod"/>
            </a:pPr>
            <a:r>
              <a:rPr lang="en-US" altLang="en-US" sz="2000"/>
              <a:t>Use when you want only the matching rows from both tables.</a:t>
            </a:r>
            <a:endParaRPr lang="en-US" altLang="en-US" sz="2000"/>
          </a:p>
          <a:p>
            <a:pPr marL="342900" indent="-342900">
              <a:buAutoNum type="arabicPeriod"/>
            </a:pPr>
            <a:r>
              <a:rPr lang="en-US" altLang="en-US" sz="2000"/>
              <a:t>Best when you need common data (e.g., customers who have orders).</a:t>
            </a:r>
            <a:endParaRPr lang="en-US" altLang="en-US" sz="2000"/>
          </a:p>
          <a:p>
            <a:pPr marL="342900" indent="-342900">
              <a:buAutoNum type="arabicPeriod"/>
            </a:pPr>
            <a:r>
              <a:rPr lang="en-US" altLang="en-US" sz="2000"/>
              <a:t>Helps remove unrelated or unmatched records.</a:t>
            </a:r>
            <a:endParaRPr lang="en-US" altLang="en-US" sz="2000"/>
          </a:p>
          <a:p>
            <a:pPr marL="342900" indent="-342900">
              <a:buAutoNum type="arabicPeriod"/>
            </a:pPr>
            <a:r>
              <a:rPr lang="en-US" altLang="en-US" sz="2000"/>
              <a:t>Most commonly used join for data relationships.</a:t>
            </a:r>
            <a:endParaRPr lang="en-US" altLang="en-US" sz="2000"/>
          </a:p>
          <a:p>
            <a:r>
              <a:rPr lang="en-US" sz="2000" b="1"/>
              <a:t>Examples</a:t>
            </a:r>
            <a:endParaRPr lang="en-US" sz="2000" b="1"/>
          </a:p>
          <a:p>
            <a:pPr marL="0" indent="0">
              <a:buNone/>
            </a:pPr>
            <a:r>
              <a:rPr lang="en-US" sz="2000">
                <a:sym typeface="+mn-ea"/>
              </a:rPr>
              <a:t>select * from customer As cst</a:t>
            </a:r>
            <a:endParaRPr lang="en-US" sz="2000"/>
          </a:p>
          <a:p>
            <a:pPr marL="0" indent="0">
              <a:buNone/>
            </a:pPr>
            <a:r>
              <a:rPr lang="en-US" sz="2000">
                <a:sym typeface="+mn-ea"/>
              </a:rPr>
              <a:t>Inner Join Payment As p</a:t>
            </a:r>
            <a:endParaRPr lang="en-US" sz="2000"/>
          </a:p>
          <a:p>
            <a:pPr marL="0" indent="0">
              <a:buNone/>
            </a:pPr>
            <a:r>
              <a:rPr lang="en-US" sz="2000">
                <a:sym typeface="+mn-ea"/>
              </a:rPr>
              <a:t>ON c.customer_id=p.customer_id;</a:t>
            </a:r>
            <a:endParaRPr lang="en-US" sz="2000"/>
          </a:p>
          <a:p>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605" y="0"/>
            <a:ext cx="11817350" cy="405130"/>
          </a:xfrm>
        </p:spPr>
        <p:txBody>
          <a:bodyPr>
            <a:noAutofit/>
          </a:bodyPr>
          <a:p>
            <a:pPr algn="ctr"/>
            <a:r>
              <a:rPr lang="en-US" sz="2400" b="1">
                <a:solidFill>
                  <a:srgbClr val="FF0000"/>
                </a:solidFill>
              </a:rPr>
              <a:t>Left Join</a:t>
            </a:r>
            <a:endParaRPr lang="en-US" sz="2400" b="1">
              <a:solidFill>
                <a:srgbClr val="FF0000"/>
              </a:solidFill>
            </a:endParaRPr>
          </a:p>
        </p:txBody>
      </p:sp>
      <p:sp>
        <p:nvSpPr>
          <p:cNvPr id="3" name="Content Placeholder 2"/>
          <p:cNvSpPr>
            <a:spLocks noGrp="1"/>
          </p:cNvSpPr>
          <p:nvPr>
            <p:ph idx="1"/>
          </p:nvPr>
        </p:nvSpPr>
        <p:spPr>
          <a:xfrm>
            <a:off x="249555" y="405130"/>
            <a:ext cx="10515600" cy="6452235"/>
          </a:xfrm>
        </p:spPr>
        <p:txBody>
          <a:bodyPr>
            <a:noAutofit/>
          </a:bodyPr>
          <a:p>
            <a:r>
              <a:rPr lang="en-US" sz="1800"/>
              <a:t>Reutrns all records from the left table,and the matched records from the right table</a:t>
            </a:r>
            <a:endParaRPr lang="en-US" sz="1800"/>
          </a:p>
          <a:p>
            <a:r>
              <a:rPr lang="en-US" sz="1800" b="1"/>
              <a:t>Syntax</a:t>
            </a:r>
            <a:endParaRPr lang="en-US" sz="1800" b="1"/>
          </a:p>
          <a:p>
            <a:pPr marL="0" indent="0">
              <a:buNone/>
            </a:pPr>
            <a:r>
              <a:rPr lang="en-US" sz="1800"/>
              <a:t>select column1,column2..n</a:t>
            </a:r>
            <a:endParaRPr lang="en-US" sz="1800"/>
          </a:p>
          <a:p>
            <a:pPr marL="0" indent="0">
              <a:buNone/>
            </a:pPr>
            <a:r>
              <a:rPr lang="en-US" sz="1800"/>
              <a:t>from tableA</a:t>
            </a:r>
            <a:endParaRPr lang="en-US" sz="1800"/>
          </a:p>
          <a:p>
            <a:pPr marL="0" indent="0">
              <a:buNone/>
            </a:pPr>
            <a:r>
              <a:rPr lang="en-US" sz="1800"/>
              <a:t>left join tableB on tableA.colname=tableB.colname;</a:t>
            </a:r>
            <a:endParaRPr lang="en-US" sz="1800"/>
          </a:p>
          <a:p>
            <a:pPr marL="0" indent="0">
              <a:buNone/>
            </a:pPr>
            <a:r>
              <a:rPr lang="en-US" altLang="en-US" sz="1800" b="1"/>
              <a:t>Why/When to Use</a:t>
            </a:r>
            <a:endParaRPr lang="en-US" altLang="en-US" sz="1800"/>
          </a:p>
          <a:p>
            <a:pPr marL="342900" indent="-342900">
              <a:buAutoNum type="arabicPeriod"/>
            </a:pPr>
            <a:r>
              <a:rPr lang="en-US" altLang="en-US" sz="1800"/>
              <a:t>Use when you want all rows from the left table, even if there’s no match in the right table.</a:t>
            </a:r>
            <a:endParaRPr lang="en-US" altLang="en-US" sz="1800"/>
          </a:p>
          <a:p>
            <a:pPr marL="342900" indent="-342900">
              <a:buAutoNum type="arabicPeriod"/>
            </a:pPr>
            <a:r>
              <a:rPr lang="en-US" altLang="en-US" sz="1800"/>
              <a:t>Helpful for finding non-matching records (e.g., customers with no orders).</a:t>
            </a:r>
            <a:endParaRPr lang="en-US" altLang="en-US" sz="1800"/>
          </a:p>
          <a:p>
            <a:pPr marL="342900" indent="-342900">
              <a:buAutoNum type="arabicPeriod"/>
            </a:pPr>
            <a:r>
              <a:rPr lang="en-US" altLang="en-US" sz="1800"/>
              <a:t>Ensures left-side data is never lost.</a:t>
            </a:r>
            <a:endParaRPr lang="en-US" altLang="en-US" sz="1800"/>
          </a:p>
          <a:p>
            <a:pPr marL="342900" indent="-342900">
              <a:buAutoNum type="arabicPeriod"/>
            </a:pPr>
            <a:r>
              <a:rPr lang="en-US" altLang="en-US" sz="1800"/>
              <a:t>Good for optional relationships.</a:t>
            </a:r>
            <a:endParaRPr lang="en-US" sz="1800"/>
          </a:p>
          <a:p>
            <a:pPr marL="0" indent="0">
              <a:buNone/>
            </a:pPr>
            <a:r>
              <a:rPr lang="en-US" sz="1800" b="1"/>
              <a:t>Example</a:t>
            </a:r>
            <a:endParaRPr lang="en-US" sz="1800" b="1"/>
          </a:p>
          <a:p>
            <a:pPr marL="0" indent="0">
              <a:buNone/>
            </a:pPr>
            <a:r>
              <a:rPr lang="en-US" sz="1800"/>
              <a:t>select * from customer As cst</a:t>
            </a:r>
            <a:endParaRPr lang="en-US" sz="1800"/>
          </a:p>
          <a:p>
            <a:pPr marL="0" indent="0">
              <a:buNone/>
            </a:pPr>
            <a:r>
              <a:rPr lang="en-US" sz="1800"/>
              <a:t>Left Join Payment As p</a:t>
            </a:r>
            <a:endParaRPr lang="en-US" sz="1800"/>
          </a:p>
          <a:p>
            <a:pPr marL="0" indent="0">
              <a:buNone/>
            </a:pPr>
            <a:r>
              <a:rPr lang="en-US" sz="1800"/>
              <a:t>ON c.customer_id=p.customer_id;</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1930" y="0"/>
            <a:ext cx="11832590" cy="480060"/>
          </a:xfrm>
        </p:spPr>
        <p:txBody>
          <a:bodyPr>
            <a:normAutofit fontScale="90000"/>
          </a:bodyPr>
          <a:p>
            <a:pPr algn="ctr"/>
            <a:r>
              <a:rPr lang="en-US" sz="3600" b="1">
                <a:solidFill>
                  <a:srgbClr val="FF0000"/>
                </a:solidFill>
              </a:rPr>
              <a:t>Right Join</a:t>
            </a:r>
            <a:endParaRPr lang="en-US" sz="3600" b="1">
              <a:solidFill>
                <a:srgbClr val="FF0000"/>
              </a:solidFill>
            </a:endParaRPr>
          </a:p>
        </p:txBody>
      </p:sp>
      <p:sp>
        <p:nvSpPr>
          <p:cNvPr id="3" name="Content Placeholder 2"/>
          <p:cNvSpPr>
            <a:spLocks noGrp="1"/>
          </p:cNvSpPr>
          <p:nvPr>
            <p:ph idx="1"/>
          </p:nvPr>
        </p:nvSpPr>
        <p:spPr>
          <a:xfrm>
            <a:off x="201295" y="768985"/>
            <a:ext cx="11694795" cy="5883910"/>
          </a:xfrm>
        </p:spPr>
        <p:txBody>
          <a:bodyPr>
            <a:normAutofit/>
          </a:bodyPr>
          <a:p>
            <a:r>
              <a:rPr lang="en-US" sz="2000">
                <a:sym typeface="+mn-ea"/>
              </a:rPr>
              <a:t>Reutrns all records from the left table,and the matched records from the right table</a:t>
            </a:r>
            <a:endParaRPr lang="en-US" sz="2000">
              <a:sym typeface="+mn-ea"/>
            </a:endParaRPr>
          </a:p>
          <a:p>
            <a:r>
              <a:rPr lang="en-US" sz="2000" b="1">
                <a:sym typeface="+mn-ea"/>
              </a:rPr>
              <a:t>Syntax</a:t>
            </a:r>
            <a:endParaRPr lang="en-US" sz="2000" b="1"/>
          </a:p>
          <a:p>
            <a:pPr marL="0" indent="0">
              <a:buNone/>
            </a:pPr>
            <a:r>
              <a:rPr lang="en-US" sz="2000">
                <a:sym typeface="+mn-ea"/>
              </a:rPr>
              <a:t>select column1,column2..n</a:t>
            </a:r>
            <a:endParaRPr lang="en-US" sz="2000"/>
          </a:p>
          <a:p>
            <a:pPr marL="0" indent="0">
              <a:buNone/>
            </a:pPr>
            <a:r>
              <a:rPr lang="en-US" sz="2000">
                <a:sym typeface="+mn-ea"/>
              </a:rPr>
              <a:t>from tableA</a:t>
            </a:r>
            <a:endParaRPr lang="en-US" sz="2000"/>
          </a:p>
          <a:p>
            <a:pPr marL="0" indent="0">
              <a:buNone/>
            </a:pPr>
            <a:r>
              <a:rPr lang="en-US" sz="2000">
                <a:sym typeface="+mn-ea"/>
              </a:rPr>
              <a:t>Rightjoin tableB on tableA.colname=tableB.colname;</a:t>
            </a:r>
            <a:endParaRPr lang="en-US" sz="2000"/>
          </a:p>
          <a:p>
            <a:pPr marL="0" indent="0">
              <a:buNone/>
            </a:pPr>
            <a:r>
              <a:rPr lang="en-US" altLang="en-US" sz="2000" b="1"/>
              <a:t>Why/When to Use</a:t>
            </a:r>
            <a:endParaRPr lang="en-US" altLang="en-US" sz="2000"/>
          </a:p>
          <a:p>
            <a:pPr marL="342900" indent="-342900">
              <a:buFont typeface="+mj-lt"/>
              <a:buAutoNum type="arabicPeriod"/>
            </a:pPr>
            <a:r>
              <a:rPr lang="en-US" altLang="en-US" sz="2000"/>
              <a:t>Use when you want all rows from the right table, even if there’s no match in the left table.</a:t>
            </a:r>
            <a:endParaRPr lang="en-US" altLang="en-US" sz="2000"/>
          </a:p>
          <a:p>
            <a:pPr marL="342900" indent="-342900">
              <a:buFont typeface="+mj-lt"/>
              <a:buAutoNum type="arabicPeriod"/>
            </a:pPr>
            <a:r>
              <a:rPr lang="en-US" altLang="en-US" sz="2000"/>
              <a:t>Similar to LEFT JOIN but focuses on preserving right table data.</a:t>
            </a:r>
            <a:endParaRPr lang="en-US" altLang="en-US" sz="2000"/>
          </a:p>
          <a:p>
            <a:pPr marL="342900" indent="-342900">
              <a:buFont typeface="+mj-lt"/>
              <a:buAutoNum type="arabicPeriod"/>
            </a:pPr>
            <a:r>
              <a:rPr lang="en-US" altLang="en-US" sz="2000"/>
              <a:t>Helps find right-side rows without matches.</a:t>
            </a:r>
            <a:endParaRPr lang="en-US" altLang="en-US" sz="2000"/>
          </a:p>
          <a:p>
            <a:pPr marL="342900" indent="-342900">
              <a:buFont typeface="+mj-lt"/>
              <a:buAutoNum type="arabicPeriod"/>
            </a:pPr>
            <a:r>
              <a:rPr lang="en-US" altLang="en-US" sz="2000"/>
              <a:t>Useful when the right table is the primary reference.</a:t>
            </a:r>
            <a:endParaRPr lang="en-US" altLang="en-US" sz="2000"/>
          </a:p>
          <a:p>
            <a:r>
              <a:rPr lang="en-US" sz="2000" b="1">
                <a:sym typeface="+mn-ea"/>
              </a:rPr>
              <a:t>Example</a:t>
            </a:r>
            <a:endParaRPr lang="en-US" sz="2000" b="1">
              <a:sym typeface="+mn-ea"/>
            </a:endParaRPr>
          </a:p>
          <a:p>
            <a:pPr marL="0" indent="0">
              <a:buNone/>
            </a:pPr>
            <a:r>
              <a:rPr lang="en-US" sz="2000">
                <a:sym typeface="+mn-ea"/>
              </a:rPr>
              <a:t>select * from customer As cst</a:t>
            </a:r>
            <a:endParaRPr lang="en-US" sz="2000"/>
          </a:p>
          <a:p>
            <a:pPr marL="0" indent="0">
              <a:buNone/>
            </a:pPr>
            <a:r>
              <a:rPr lang="en-US" sz="2000">
                <a:sym typeface="+mn-ea"/>
              </a:rPr>
              <a:t>Right Join Payment As p</a:t>
            </a:r>
            <a:endParaRPr lang="en-US" sz="2000"/>
          </a:p>
          <a:p>
            <a:pPr marL="0" indent="0">
              <a:buNone/>
            </a:pPr>
            <a:r>
              <a:rPr lang="en-US" sz="2000">
                <a:sym typeface="+mn-ea"/>
              </a:rPr>
              <a:t>ON c.customer_id=p.customer_id;</a:t>
            </a:r>
            <a:endParaRPr lang="en-US" sz="2000"/>
          </a:p>
          <a:p>
            <a:endParaRPr lang="en-US" sz="2000"/>
          </a:p>
          <a:p>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118110"/>
            <a:ext cx="12193270" cy="495300"/>
          </a:xfrm>
        </p:spPr>
        <p:txBody>
          <a:bodyPr>
            <a:noAutofit/>
          </a:bodyPr>
          <a:p>
            <a:pPr algn="ctr"/>
            <a:r>
              <a:rPr lang="en-US" sz="3200" b="1">
                <a:solidFill>
                  <a:srgbClr val="FF0000"/>
                </a:solidFill>
              </a:rPr>
              <a:t>Full  outer Join 	</a:t>
            </a:r>
            <a:endParaRPr lang="en-US" sz="3200" b="1">
              <a:solidFill>
                <a:srgbClr val="FF0000"/>
              </a:solidFill>
            </a:endParaRPr>
          </a:p>
        </p:txBody>
      </p:sp>
      <p:sp>
        <p:nvSpPr>
          <p:cNvPr id="3" name="Content Placeholder 2"/>
          <p:cNvSpPr>
            <a:spLocks noGrp="1"/>
          </p:cNvSpPr>
          <p:nvPr>
            <p:ph idx="1"/>
          </p:nvPr>
        </p:nvSpPr>
        <p:spPr>
          <a:xfrm>
            <a:off x="222250" y="815340"/>
            <a:ext cx="11541760" cy="5843270"/>
          </a:xfrm>
        </p:spPr>
        <p:txBody>
          <a:bodyPr>
            <a:normAutofit fontScale="90000" lnSpcReduction="10000"/>
          </a:bodyPr>
          <a:p>
            <a:r>
              <a:rPr lang="en-US" sz="2000"/>
              <a:t>Returns all records when there is a match in either left or right table</a:t>
            </a:r>
            <a:endParaRPr lang="en-US" sz="2000"/>
          </a:p>
          <a:p>
            <a:pPr marL="0" indent="0">
              <a:buNone/>
            </a:pPr>
            <a:r>
              <a:rPr lang="en-US" sz="2000" b="1">
                <a:sym typeface="+mn-ea"/>
              </a:rPr>
              <a:t>Syntax</a:t>
            </a:r>
            <a:endParaRPr lang="en-US" sz="2000" b="1"/>
          </a:p>
          <a:p>
            <a:pPr marL="0" indent="0">
              <a:buNone/>
            </a:pPr>
            <a:r>
              <a:rPr lang="en-US" sz="2000">
                <a:sym typeface="+mn-ea"/>
              </a:rPr>
              <a:t>select column1,column2..n</a:t>
            </a:r>
            <a:endParaRPr lang="en-US" sz="2000"/>
          </a:p>
          <a:p>
            <a:pPr marL="0" indent="0">
              <a:buNone/>
            </a:pPr>
            <a:r>
              <a:rPr lang="en-US" sz="2000">
                <a:sym typeface="+mn-ea"/>
              </a:rPr>
              <a:t>from tableA</a:t>
            </a:r>
            <a:endParaRPr lang="en-US" sz="2000"/>
          </a:p>
          <a:p>
            <a:pPr marL="0" indent="0">
              <a:buNone/>
            </a:pPr>
            <a:r>
              <a:rPr lang="en-US" sz="2000">
                <a:sym typeface="+mn-ea"/>
              </a:rPr>
              <a:t>FULL Join tableB on tableA.colname=tableB.colname;</a:t>
            </a:r>
            <a:endParaRPr lang="en-US" sz="2000">
              <a:sym typeface="+mn-ea"/>
            </a:endParaRPr>
          </a:p>
          <a:p>
            <a:pPr marL="0" indent="0">
              <a:buNone/>
            </a:pPr>
            <a:endParaRPr lang="en-US" sz="2000">
              <a:sym typeface="+mn-ea"/>
            </a:endParaRPr>
          </a:p>
          <a:p>
            <a:pPr marL="0" indent="0">
              <a:buNone/>
            </a:pPr>
            <a:r>
              <a:rPr lang="en-US" altLang="en-US" sz="2000" b="1">
                <a:sym typeface="+mn-ea"/>
              </a:rPr>
              <a:t>Why/When to Use</a:t>
            </a:r>
            <a:endParaRPr lang="en-US" altLang="en-US" sz="2000" b="1">
              <a:sym typeface="+mn-ea"/>
            </a:endParaRPr>
          </a:p>
          <a:p>
            <a:pPr marL="0" indent="0">
              <a:buNone/>
            </a:pPr>
            <a:r>
              <a:rPr lang="en-US" altLang="en-US" sz="2000">
                <a:sym typeface="+mn-ea"/>
              </a:rPr>
              <a:t>Returns all rows from both tables, matched or not.</a:t>
            </a:r>
            <a:endParaRPr lang="en-US" altLang="en-US" sz="2000">
              <a:sym typeface="+mn-ea"/>
            </a:endParaRPr>
          </a:p>
          <a:p>
            <a:pPr marL="0" indent="0">
              <a:buNone/>
            </a:pPr>
            <a:r>
              <a:rPr lang="en-US" altLang="en-US" sz="2000">
                <a:sym typeface="+mn-ea"/>
              </a:rPr>
              <a:t>Use when you need a complete dataset comparison.</a:t>
            </a:r>
            <a:endParaRPr lang="en-US" altLang="en-US" sz="2000">
              <a:sym typeface="+mn-ea"/>
            </a:endParaRPr>
          </a:p>
          <a:p>
            <a:pPr marL="0" indent="0">
              <a:buNone/>
            </a:pPr>
            <a:r>
              <a:rPr lang="en-US" altLang="en-US" sz="2000">
                <a:sym typeface="+mn-ea"/>
              </a:rPr>
              <a:t>Helps identify matching and non-matching records on both sides.</a:t>
            </a:r>
            <a:endParaRPr lang="en-US" altLang="en-US" sz="2000">
              <a:sym typeface="+mn-ea"/>
            </a:endParaRPr>
          </a:p>
          <a:p>
            <a:pPr marL="0" indent="0">
              <a:buNone/>
            </a:pPr>
            <a:r>
              <a:rPr lang="en-US" altLang="en-US" sz="2000">
                <a:sym typeface="+mn-ea"/>
              </a:rPr>
              <a:t>Good for merging datasets with gaps.</a:t>
            </a:r>
            <a:endParaRPr lang="en-US" altLang="en-US" sz="2000">
              <a:sym typeface="+mn-ea"/>
            </a:endParaRPr>
          </a:p>
          <a:p>
            <a:pPr marL="0" indent="0">
              <a:buNone/>
            </a:pPr>
            <a:endParaRPr lang="en-US" altLang="en-US" sz="2000">
              <a:sym typeface="+mn-ea"/>
            </a:endParaRPr>
          </a:p>
          <a:p>
            <a:pPr marL="0" indent="0">
              <a:buNone/>
            </a:pPr>
            <a:r>
              <a:rPr lang="en-US" sz="2000" b="1">
                <a:sym typeface="+mn-ea"/>
              </a:rPr>
              <a:t>Example</a:t>
            </a:r>
            <a:endParaRPr lang="en-US" sz="2000" b="1">
              <a:sym typeface="+mn-ea"/>
            </a:endParaRPr>
          </a:p>
          <a:p>
            <a:pPr marL="0" indent="0">
              <a:buNone/>
            </a:pPr>
            <a:r>
              <a:rPr lang="en-US" sz="2000">
                <a:sym typeface="+mn-ea"/>
              </a:rPr>
              <a:t>select * from customer As cst</a:t>
            </a:r>
            <a:endParaRPr lang="en-US" sz="2000"/>
          </a:p>
          <a:p>
            <a:pPr marL="0" indent="0">
              <a:buNone/>
            </a:pPr>
            <a:r>
              <a:rPr lang="en-US" sz="2000">
                <a:sym typeface="+mn-ea"/>
              </a:rPr>
              <a:t>FUll Join Payment As p</a:t>
            </a:r>
            <a:endParaRPr lang="en-US" sz="2000"/>
          </a:p>
          <a:p>
            <a:pPr marL="0" indent="0">
              <a:buNone/>
            </a:pPr>
            <a:r>
              <a:rPr lang="en-US" sz="2000">
                <a:sym typeface="+mn-ea"/>
              </a:rPr>
              <a:t>ON c.customer_id=p.customer_id;</a:t>
            </a:r>
            <a:endParaRPr lang="en-US" sz="2000"/>
          </a:p>
          <a:p>
            <a:pPr marL="0" indent="0">
              <a:buNone/>
            </a:pPr>
            <a:endParaRPr lang="en-US" sz="2000"/>
          </a:p>
          <a:p>
            <a:pPr marL="0" indent="0">
              <a:buNone/>
            </a:pPr>
            <a:endParaRPr lang="en-US" sz="2000">
              <a:sym typeface="+mn-ea"/>
            </a:endParaRPr>
          </a:p>
          <a:p>
            <a:pPr marL="0" indent="0">
              <a:buNone/>
            </a:pPr>
            <a:endParaRPr lang="en-US" sz="2000">
              <a:sym typeface="+mn-ea"/>
            </a:endParaRPr>
          </a:p>
          <a:p>
            <a:pPr marL="0" indent="0">
              <a:buNone/>
            </a:pPr>
            <a:endParaRPr lang="en-US" sz="20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2105" y="160020"/>
            <a:ext cx="10939780" cy="383540"/>
          </a:xfrm>
        </p:spPr>
        <p:txBody>
          <a:bodyPr>
            <a:noAutofit/>
          </a:bodyPr>
          <a:p>
            <a:pPr algn="ctr"/>
            <a:r>
              <a:rPr lang="en-US" sz="3200" b="1">
                <a:solidFill>
                  <a:srgbClr val="FF0000"/>
                </a:solidFill>
              </a:rPr>
              <a:t>Self Join</a:t>
            </a:r>
            <a:endParaRPr lang="en-US" sz="3200" b="1">
              <a:solidFill>
                <a:srgbClr val="FF0000"/>
              </a:solidFill>
            </a:endParaRPr>
          </a:p>
        </p:txBody>
      </p:sp>
      <p:sp>
        <p:nvSpPr>
          <p:cNvPr id="3" name="Content Placeholder 2"/>
          <p:cNvSpPr>
            <a:spLocks noGrp="1"/>
          </p:cNvSpPr>
          <p:nvPr>
            <p:ph idx="1"/>
          </p:nvPr>
        </p:nvSpPr>
        <p:spPr>
          <a:xfrm>
            <a:off x="126365" y="543560"/>
            <a:ext cx="11859260" cy="4351655"/>
          </a:xfrm>
        </p:spPr>
        <p:txBody>
          <a:bodyPr>
            <a:normAutofit fontScale="90000" lnSpcReduction="20000"/>
          </a:bodyPr>
          <a:p>
            <a:pPr marL="0" indent="0">
              <a:buNone/>
            </a:pPr>
            <a:r>
              <a:rPr lang="en-US" sz="1800">
                <a:sym typeface="+mn-ea"/>
              </a:rPr>
              <a:t>in self join table join to itself called as self join</a:t>
            </a:r>
            <a:endParaRPr lang="en-US" sz="1800"/>
          </a:p>
          <a:p>
            <a:pPr marL="0" indent="0">
              <a:buNone/>
            </a:pPr>
            <a:r>
              <a:rPr lang="en-US" sz="1800" b="1">
                <a:sym typeface="+mn-ea"/>
              </a:rPr>
              <a:t>Syntax</a:t>
            </a:r>
            <a:endParaRPr lang="en-US" sz="1800" b="1"/>
          </a:p>
          <a:p>
            <a:pPr marL="0" indent="0">
              <a:buNone/>
            </a:pPr>
            <a:r>
              <a:rPr lang="en-US" altLang="en-US" sz="1800" b="1"/>
              <a:t>SELECT a.column1, a.column2, b.column1, b.column2</a:t>
            </a:r>
            <a:endParaRPr lang="en-US" altLang="en-US" sz="1800" b="1"/>
          </a:p>
          <a:p>
            <a:pPr marL="0" indent="0">
              <a:buNone/>
            </a:pPr>
            <a:r>
              <a:rPr lang="en-US" altLang="en-US" sz="1800" b="1"/>
              <a:t>FROM tableA a</a:t>
            </a:r>
            <a:endParaRPr lang="en-US" altLang="en-US" sz="1800" b="1"/>
          </a:p>
          <a:p>
            <a:pPr marL="0" indent="0">
              <a:buNone/>
            </a:pPr>
            <a:r>
              <a:rPr lang="en-US" altLang="en-US" sz="1800" b="1"/>
              <a:t>JOIN tableA b</a:t>
            </a:r>
            <a:endParaRPr lang="en-US" altLang="en-US" sz="1800" b="1"/>
          </a:p>
          <a:p>
            <a:pPr marL="0" indent="0">
              <a:buNone/>
            </a:pPr>
            <a:r>
              <a:rPr lang="en-US" altLang="en-US" sz="1800" b="1"/>
              <a:t>    ON a.colname = b.colname;</a:t>
            </a:r>
            <a:endParaRPr lang="en-US" altLang="en-US" sz="1800" b="1"/>
          </a:p>
          <a:p>
            <a:pPr marL="0" indent="0">
              <a:buNone/>
            </a:pPr>
            <a:endParaRPr lang="en-US" altLang="en-US" sz="1800" b="1"/>
          </a:p>
          <a:p>
            <a:pPr marL="0" indent="0">
              <a:buNone/>
            </a:pPr>
            <a:endParaRPr lang="en-US" altLang="en-US" sz="1800" b="1"/>
          </a:p>
          <a:p>
            <a:pPr marL="0" indent="0">
              <a:buNone/>
            </a:pPr>
            <a:endParaRPr lang="en-US" altLang="en-US" sz="1800" b="1"/>
          </a:p>
          <a:p>
            <a:pPr marL="0" indent="0">
              <a:buNone/>
            </a:pPr>
            <a:r>
              <a:rPr lang="en-US" altLang="en-US" sz="1800" b="1"/>
              <a:t>Why/When to Use</a:t>
            </a:r>
            <a:endParaRPr lang="en-US" altLang="en-US" sz="1800"/>
          </a:p>
          <a:p>
            <a:pPr marL="342900" indent="-342900">
              <a:buAutoNum type="arabicPeriod"/>
            </a:pPr>
            <a:r>
              <a:rPr lang="en-US" altLang="en-US" sz="1800"/>
              <a:t>Use to join a table with itself.</a:t>
            </a:r>
            <a:endParaRPr lang="en-US" altLang="en-US" sz="1800"/>
          </a:p>
          <a:p>
            <a:pPr marL="342900" indent="-342900">
              <a:buAutoNum type="arabicPeriod"/>
            </a:pPr>
            <a:r>
              <a:rPr lang="en-US" altLang="en-US" sz="1800"/>
              <a:t>Helpful for hierarchical data (manager–employee, category–subcategory).</a:t>
            </a:r>
            <a:endParaRPr lang="en-US" altLang="en-US" sz="1800"/>
          </a:p>
          <a:p>
            <a:pPr marL="342900" indent="-342900">
              <a:buAutoNum type="arabicPeriod"/>
            </a:pPr>
            <a:r>
              <a:rPr lang="en-US" altLang="en-US" sz="1800"/>
              <a:t>Useful when comparing rows within the same table.</a:t>
            </a:r>
            <a:endParaRPr lang="en-US" altLang="en-US" sz="1800"/>
          </a:p>
          <a:p>
            <a:pPr marL="342900" indent="-342900">
              <a:buAutoNum type="arabicPeriod"/>
            </a:pPr>
            <a:r>
              <a:rPr lang="en-US" altLang="en-US" sz="1800"/>
              <a:t>Can find duplicates, relationships, or patterns within one table.</a:t>
            </a: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2960" y="0"/>
            <a:ext cx="10515600" cy="297815"/>
          </a:xfrm>
        </p:spPr>
        <p:txBody>
          <a:bodyPr>
            <a:noAutofit/>
          </a:bodyPr>
          <a:p>
            <a:pPr algn="ctr"/>
            <a:r>
              <a:rPr lang="en-US" sz="2000" b="1">
                <a:solidFill>
                  <a:srgbClr val="FF0000"/>
                </a:solidFill>
              </a:rPr>
              <a:t>Example of Self Join</a:t>
            </a:r>
            <a:endParaRPr lang="en-US" sz="2000" b="1">
              <a:solidFill>
                <a:srgbClr val="FF0000"/>
              </a:solidFill>
            </a:endParaRPr>
          </a:p>
        </p:txBody>
      </p:sp>
      <p:sp>
        <p:nvSpPr>
          <p:cNvPr id="3" name="Content Placeholder 2"/>
          <p:cNvSpPr>
            <a:spLocks noGrp="1"/>
          </p:cNvSpPr>
          <p:nvPr>
            <p:ph idx="1"/>
          </p:nvPr>
        </p:nvSpPr>
        <p:spPr>
          <a:xfrm>
            <a:off x="194945" y="420370"/>
            <a:ext cx="11678285" cy="6116955"/>
          </a:xfrm>
        </p:spPr>
        <p:txBody>
          <a:bodyPr/>
          <a:p>
            <a:endParaRPr lang="en-US"/>
          </a:p>
        </p:txBody>
      </p:sp>
      <p:graphicFrame>
        <p:nvGraphicFramePr>
          <p:cNvPr id="4" name="Table 3"/>
          <p:cNvGraphicFramePr/>
          <p:nvPr>
            <p:custDataLst>
              <p:tags r:id="rId1"/>
            </p:custDataLst>
          </p:nvPr>
        </p:nvGraphicFramePr>
        <p:xfrm>
          <a:off x="330200" y="888365"/>
          <a:ext cx="11199495" cy="1546225"/>
        </p:xfrm>
        <a:graphic>
          <a:graphicData uri="http://schemas.openxmlformats.org/drawingml/2006/table">
            <a:tbl>
              <a:tblPr/>
              <a:tblGrid>
                <a:gridCol w="3733165"/>
                <a:gridCol w="3733165"/>
                <a:gridCol w="3733165"/>
              </a:tblGrid>
              <a:tr h="309245">
                <a:tc>
                  <a:txBody>
                    <a:bodyPr/>
                    <a:p>
                      <a:r>
                        <a:rPr sz="2000"/>
                        <a:t>emp_id</a:t>
                      </a:r>
                      <a:endParaRPr sz="2000"/>
                    </a:p>
                  </a:txBody>
                  <a:tcPr marL="0" marR="0" marT="0" marB="0" anchor="ctr" anchorCtr="0">
                    <a:lnL>
                      <a:noFill/>
                    </a:lnL>
                    <a:lnR>
                      <a:noFill/>
                    </a:lnR>
                    <a:lnT>
                      <a:noFill/>
                    </a:lnT>
                    <a:lnB>
                      <a:noFill/>
                    </a:lnB>
                    <a:noFill/>
                  </a:tcPr>
                </a:tc>
                <a:tc>
                  <a:txBody>
                    <a:bodyPr/>
                    <a:p>
                      <a:r>
                        <a:rPr sz="2000"/>
                        <a:t>emp_name</a:t>
                      </a:r>
                      <a:endParaRPr sz="2000"/>
                    </a:p>
                  </a:txBody>
                  <a:tcPr marL="0" marR="0" marT="0" marB="0" anchor="ctr" anchorCtr="0">
                    <a:lnL>
                      <a:noFill/>
                    </a:lnL>
                    <a:lnR>
                      <a:noFill/>
                    </a:lnR>
                    <a:lnT>
                      <a:noFill/>
                    </a:lnT>
                    <a:lnB>
                      <a:noFill/>
                    </a:lnB>
                    <a:noFill/>
                  </a:tcPr>
                </a:tc>
                <a:tc>
                  <a:txBody>
                    <a:bodyPr/>
                    <a:p>
                      <a:r>
                        <a:rPr sz="2000"/>
                        <a:t>manager_id</a:t>
                      </a:r>
                      <a:endParaRPr sz="2000"/>
                    </a:p>
                  </a:txBody>
                  <a:tcPr marL="0" marR="0" marT="0" marB="0" anchor="ctr" anchorCtr="0">
                    <a:lnL>
                      <a:noFill/>
                    </a:lnL>
                    <a:lnR>
                      <a:noFill/>
                    </a:lnR>
                    <a:lnT>
                      <a:noFill/>
                    </a:lnT>
                    <a:lnB>
                      <a:noFill/>
                    </a:lnB>
                    <a:noFill/>
                  </a:tcPr>
                </a:tc>
              </a:tr>
              <a:tr h="309245">
                <a:tc>
                  <a:txBody>
                    <a:bodyPr/>
                    <a:p>
                      <a:r>
                        <a:rPr sz="2000"/>
                        <a:t>1</a:t>
                      </a:r>
                      <a:endParaRPr sz="2000"/>
                    </a:p>
                  </a:txBody>
                  <a:tcPr marL="0" marR="0" marT="0" marB="0" anchor="ctr" anchorCtr="0">
                    <a:lnL>
                      <a:noFill/>
                    </a:lnL>
                    <a:lnR>
                      <a:noFill/>
                    </a:lnR>
                    <a:lnT>
                      <a:noFill/>
                    </a:lnT>
                    <a:lnB>
                      <a:noFill/>
                    </a:lnB>
                    <a:noFill/>
                  </a:tcPr>
                </a:tc>
                <a:tc>
                  <a:txBody>
                    <a:bodyPr/>
                    <a:p>
                      <a:r>
                        <a:rPr lang="en-US" sz="2000"/>
                        <a:t>Rohit</a:t>
                      </a:r>
                      <a:endParaRPr lang="en-US" sz="2000"/>
                    </a:p>
                  </a:txBody>
                  <a:tcPr marL="0" marR="0" marT="0" marB="0" anchor="ctr" anchorCtr="0">
                    <a:lnL>
                      <a:noFill/>
                    </a:lnL>
                    <a:lnR>
                      <a:noFill/>
                    </a:lnR>
                    <a:lnT>
                      <a:noFill/>
                    </a:lnT>
                    <a:lnB>
                      <a:noFill/>
                    </a:lnB>
                    <a:noFill/>
                  </a:tcPr>
                </a:tc>
                <a:tc>
                  <a:txBody>
                    <a:bodyPr/>
                    <a:p>
                      <a:r>
                        <a:rPr sz="2000"/>
                        <a:t>NULL</a:t>
                      </a:r>
                      <a:endParaRPr sz="2000"/>
                    </a:p>
                  </a:txBody>
                  <a:tcPr marL="0" marR="0" marT="0" marB="0" anchor="ctr" anchorCtr="0">
                    <a:lnL>
                      <a:noFill/>
                    </a:lnL>
                    <a:lnR>
                      <a:noFill/>
                    </a:lnR>
                    <a:lnT>
                      <a:noFill/>
                    </a:lnT>
                    <a:lnB>
                      <a:noFill/>
                    </a:lnB>
                    <a:noFill/>
                  </a:tcPr>
                </a:tc>
              </a:tr>
              <a:tr h="309245">
                <a:tc>
                  <a:txBody>
                    <a:bodyPr/>
                    <a:p>
                      <a:r>
                        <a:rPr sz="2000"/>
                        <a:t>2</a:t>
                      </a:r>
                      <a:endParaRPr sz="2000"/>
                    </a:p>
                  </a:txBody>
                  <a:tcPr marL="0" marR="0" marT="0" marB="0" anchor="ctr" anchorCtr="0">
                    <a:lnL>
                      <a:noFill/>
                    </a:lnL>
                    <a:lnR>
                      <a:noFill/>
                    </a:lnR>
                    <a:lnT>
                      <a:noFill/>
                    </a:lnT>
                    <a:lnB>
                      <a:noFill/>
                    </a:lnB>
                    <a:noFill/>
                  </a:tcPr>
                </a:tc>
                <a:tc>
                  <a:txBody>
                    <a:bodyPr/>
                    <a:p>
                      <a:r>
                        <a:rPr lang="en-US" sz="2000"/>
                        <a:t>Kumar</a:t>
                      </a:r>
                      <a:endParaRPr lang="en-US" sz="2000"/>
                    </a:p>
                  </a:txBody>
                  <a:tcPr marL="0" marR="0" marT="0" marB="0" anchor="ctr" anchorCtr="0">
                    <a:lnL>
                      <a:noFill/>
                    </a:lnL>
                    <a:lnR>
                      <a:noFill/>
                    </a:lnR>
                    <a:lnT>
                      <a:noFill/>
                    </a:lnT>
                    <a:lnB>
                      <a:noFill/>
                    </a:lnB>
                    <a:noFill/>
                  </a:tcPr>
                </a:tc>
                <a:tc>
                  <a:txBody>
                    <a:bodyPr/>
                    <a:p>
                      <a:r>
                        <a:rPr sz="2000"/>
                        <a:t>1</a:t>
                      </a:r>
                      <a:endParaRPr sz="2000"/>
                    </a:p>
                  </a:txBody>
                  <a:tcPr marL="0" marR="0" marT="0" marB="0" anchor="ctr" anchorCtr="0">
                    <a:lnL>
                      <a:noFill/>
                    </a:lnL>
                    <a:lnR>
                      <a:noFill/>
                    </a:lnR>
                    <a:lnT>
                      <a:noFill/>
                    </a:lnT>
                    <a:lnB>
                      <a:noFill/>
                    </a:lnB>
                    <a:noFill/>
                  </a:tcPr>
                </a:tc>
              </a:tr>
              <a:tr h="309245">
                <a:tc>
                  <a:txBody>
                    <a:bodyPr/>
                    <a:p>
                      <a:r>
                        <a:rPr sz="2000"/>
                        <a:t>3</a:t>
                      </a:r>
                      <a:endParaRPr sz="2000"/>
                    </a:p>
                  </a:txBody>
                  <a:tcPr marL="0" marR="0" marT="0" marB="0" anchor="ctr" anchorCtr="0">
                    <a:lnL>
                      <a:noFill/>
                    </a:lnL>
                    <a:lnR>
                      <a:noFill/>
                    </a:lnR>
                    <a:lnT>
                      <a:noFill/>
                    </a:lnT>
                    <a:lnB>
                      <a:noFill/>
                    </a:lnB>
                    <a:noFill/>
                  </a:tcPr>
                </a:tc>
                <a:tc>
                  <a:txBody>
                    <a:bodyPr/>
                    <a:p>
                      <a:r>
                        <a:rPr lang="en-US" sz="2000"/>
                        <a:t>Dipak</a:t>
                      </a:r>
                      <a:endParaRPr lang="en-US" sz="2000"/>
                    </a:p>
                  </a:txBody>
                  <a:tcPr marL="0" marR="0" marT="0" marB="0" anchor="ctr" anchorCtr="0">
                    <a:lnL>
                      <a:noFill/>
                    </a:lnL>
                    <a:lnR>
                      <a:noFill/>
                    </a:lnR>
                    <a:lnT>
                      <a:noFill/>
                    </a:lnT>
                    <a:lnB>
                      <a:noFill/>
                    </a:lnB>
                    <a:noFill/>
                  </a:tcPr>
                </a:tc>
                <a:tc>
                  <a:txBody>
                    <a:bodyPr/>
                    <a:p>
                      <a:r>
                        <a:rPr sz="2000"/>
                        <a:t>1</a:t>
                      </a:r>
                      <a:endParaRPr sz="2000"/>
                    </a:p>
                  </a:txBody>
                  <a:tcPr marL="0" marR="0" marT="0" marB="0" anchor="ctr" anchorCtr="0">
                    <a:lnL>
                      <a:noFill/>
                    </a:lnL>
                    <a:lnR>
                      <a:noFill/>
                    </a:lnR>
                    <a:lnT>
                      <a:noFill/>
                    </a:lnT>
                    <a:lnB>
                      <a:noFill/>
                    </a:lnB>
                    <a:noFill/>
                  </a:tcPr>
                </a:tc>
              </a:tr>
              <a:tr h="309245">
                <a:tc>
                  <a:txBody>
                    <a:bodyPr/>
                    <a:p>
                      <a:r>
                        <a:rPr sz="2000"/>
                        <a:t>4</a:t>
                      </a:r>
                      <a:endParaRPr sz="2000"/>
                    </a:p>
                  </a:txBody>
                  <a:tcPr marL="0" marR="0" marT="0" marB="0" anchor="ctr" anchorCtr="0">
                    <a:lnL>
                      <a:noFill/>
                    </a:lnL>
                    <a:lnR>
                      <a:noFill/>
                    </a:lnR>
                    <a:lnT>
                      <a:noFill/>
                    </a:lnT>
                    <a:lnB>
                      <a:noFill/>
                    </a:lnB>
                    <a:noFill/>
                  </a:tcPr>
                </a:tc>
                <a:tc>
                  <a:txBody>
                    <a:bodyPr/>
                    <a:p>
                      <a:r>
                        <a:rPr lang="en-US" sz="2000"/>
                        <a:t>Suraj</a:t>
                      </a:r>
                      <a:endParaRPr lang="en-US" sz="2000"/>
                    </a:p>
                  </a:txBody>
                  <a:tcPr marL="0" marR="0" marT="0" marB="0" anchor="ctr" anchorCtr="0">
                    <a:lnL>
                      <a:noFill/>
                    </a:lnL>
                    <a:lnR>
                      <a:noFill/>
                    </a:lnR>
                    <a:lnT>
                      <a:noFill/>
                    </a:lnT>
                    <a:lnB>
                      <a:noFill/>
                    </a:lnB>
                    <a:noFill/>
                  </a:tcPr>
                </a:tc>
                <a:tc>
                  <a:txBody>
                    <a:bodyPr/>
                    <a:p>
                      <a:r>
                        <a:rPr sz="2000"/>
                        <a:t>2</a:t>
                      </a:r>
                      <a:endParaRPr sz="20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508000" y="3429000"/>
            <a:ext cx="6096000" cy="2030095"/>
          </a:xfrm>
          <a:prstGeom prst="rect">
            <a:avLst/>
          </a:prstGeom>
          <a:noFill/>
        </p:spPr>
        <p:txBody>
          <a:bodyPr wrap="square" rtlCol="0" anchor="t">
            <a:spAutoFit/>
          </a:bodyPr>
          <a:p>
            <a:r>
              <a:rPr lang="en-US" altLang="en-US"/>
              <a:t>SELECT </a:t>
            </a:r>
            <a:endParaRPr lang="en-US" altLang="en-US"/>
          </a:p>
          <a:p>
            <a:r>
              <a:rPr lang="en-US" altLang="en-US"/>
              <a:t>    e.emp_name AS Employee,</a:t>
            </a:r>
            <a:endParaRPr lang="en-US" altLang="en-US"/>
          </a:p>
          <a:p>
            <a:r>
              <a:rPr lang="en-US" altLang="en-US"/>
              <a:t>    m.emp_name AS Manager</a:t>
            </a:r>
            <a:endParaRPr lang="en-US" altLang="en-US"/>
          </a:p>
          <a:p>
            <a:r>
              <a:rPr lang="en-US" altLang="en-US"/>
              <a:t>FROM Employees e</a:t>
            </a:r>
            <a:endParaRPr lang="en-US" altLang="en-US"/>
          </a:p>
          <a:p>
            <a:r>
              <a:rPr lang="en-US" altLang="en-US"/>
              <a:t>LEFT JOIN Employees m</a:t>
            </a:r>
            <a:endParaRPr lang="en-US" altLang="en-US"/>
          </a:p>
          <a:p>
            <a:r>
              <a:rPr lang="en-US" altLang="en-US"/>
              <a:t>ON e.manager_id = m.emp_id;</a:t>
            </a:r>
            <a:endParaRPr lang="en-US" alt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6220" y="0"/>
            <a:ext cx="11035665" cy="419735"/>
          </a:xfrm>
        </p:spPr>
        <p:txBody>
          <a:bodyPr/>
          <a:p>
            <a:pPr algn="ctr"/>
            <a:r>
              <a:rPr lang="en-US" sz="2000" b="1">
                <a:solidFill>
                  <a:srgbClr val="FF0000"/>
                </a:solidFill>
              </a:rPr>
              <a:t>CASE Expression</a:t>
            </a:r>
            <a:endParaRPr lang="en-US" sz="2000" b="1">
              <a:solidFill>
                <a:srgbClr val="FF0000"/>
              </a:solidFill>
            </a:endParaRPr>
          </a:p>
        </p:txBody>
      </p:sp>
      <p:sp>
        <p:nvSpPr>
          <p:cNvPr id="3" name="Content Placeholder 2"/>
          <p:cNvSpPr>
            <a:spLocks noGrp="1"/>
          </p:cNvSpPr>
          <p:nvPr>
            <p:ph idx="1"/>
          </p:nvPr>
        </p:nvSpPr>
        <p:spPr>
          <a:xfrm>
            <a:off x="139700" y="419735"/>
            <a:ext cx="11924665" cy="6130925"/>
          </a:xfrm>
        </p:spPr>
        <p:txBody>
          <a:bodyPr/>
          <a:p>
            <a:r>
              <a:rPr lang="en-US" altLang="en-US" sz="1800">
                <a:sym typeface="+mn-ea"/>
              </a:rPr>
              <a:t>The WHEN–CASE–THEN structure is commonly used in SQL (and conceptually similar in other languages) to apply conditional logic—that is, to return different results based on different conditions. It works like an IF–ELSE ladder.</a:t>
            </a:r>
            <a:endParaRPr lang="en-US" altLang="en-US" sz="1800"/>
          </a:p>
          <a:p>
            <a:pPr marL="0" indent="0">
              <a:buNone/>
            </a:pPr>
            <a:r>
              <a:rPr lang="en-US" altLang="en-US" sz="1800" b="1">
                <a:sym typeface="+mn-ea"/>
              </a:rPr>
              <a:t>Definition</a:t>
            </a:r>
            <a:endParaRPr lang="en-US" altLang="en-US" sz="1800" b="1"/>
          </a:p>
          <a:p>
            <a:r>
              <a:rPr lang="en-US" altLang="en-US" sz="1800">
                <a:sym typeface="+mn-ea"/>
              </a:rPr>
              <a:t>The CASE expression evaluates conditions using WHEN, and when a condition is true, it returns the corresponding THEN result. If none of the conditions match, an optional ELSE result is returned.</a:t>
            </a:r>
            <a:endParaRPr lang="en-US" altLang="en-US" sz="1800"/>
          </a:p>
          <a:p>
            <a:pPr marL="0" indent="0">
              <a:buNone/>
            </a:pPr>
            <a:r>
              <a:rPr lang="en-US" altLang="en-US" sz="1800" b="1">
                <a:sym typeface="+mn-ea"/>
              </a:rPr>
              <a:t>Why it is used</a:t>
            </a:r>
            <a:endParaRPr lang="en-US" altLang="en-US" sz="1800" b="1"/>
          </a:p>
          <a:p>
            <a:r>
              <a:rPr lang="en-US" altLang="en-US" sz="1800">
                <a:sym typeface="+mn-ea"/>
              </a:rPr>
              <a:t>To perform conditional decision-making</a:t>
            </a:r>
            <a:endParaRPr lang="en-US" altLang="en-US" sz="1800"/>
          </a:p>
          <a:p>
            <a:r>
              <a:rPr lang="en-US" altLang="en-US" sz="1800">
                <a:sym typeface="+mn-ea"/>
              </a:rPr>
              <a:t>To replace multiple IF–ELSE statements</a:t>
            </a:r>
            <a:endParaRPr lang="en-US" altLang="en-US" sz="1800"/>
          </a:p>
          <a:p>
            <a:r>
              <a:rPr lang="en-US" altLang="en-US" sz="1800">
                <a:sym typeface="+mn-ea"/>
              </a:rPr>
              <a:t>To make queries more readable and organized</a:t>
            </a:r>
            <a:endParaRPr lang="en-US" altLang="en-US" sz="1800"/>
          </a:p>
          <a:p>
            <a:r>
              <a:rPr lang="en-US" altLang="en-US" sz="1800">
                <a:sym typeface="+mn-ea"/>
              </a:rPr>
              <a:t>To categorize or transform data based on conditions</a:t>
            </a:r>
            <a:endParaRPr lang="en-US" altLang="en-US" sz="1800"/>
          </a:p>
          <a:p>
            <a:pPr marL="0" indent="0">
              <a:buNone/>
            </a:pPr>
            <a:r>
              <a:rPr lang="en-US" altLang="en-US" sz="1800" b="1">
                <a:sym typeface="+mn-ea"/>
              </a:rPr>
              <a:t>General Syntax</a:t>
            </a:r>
            <a:endParaRPr lang="en-US" altLang="en-US" sz="1800" b="1"/>
          </a:p>
          <a:p>
            <a:pPr marL="0" indent="0">
              <a:buNone/>
            </a:pPr>
            <a:r>
              <a:rPr lang="en-US" altLang="en-US" sz="1800">
                <a:sym typeface="+mn-ea"/>
              </a:rPr>
              <a:t>CASE</a:t>
            </a:r>
            <a:endParaRPr lang="en-US" altLang="en-US" sz="1800"/>
          </a:p>
          <a:p>
            <a:pPr marL="0" indent="0">
              <a:buNone/>
            </a:pPr>
            <a:r>
              <a:rPr lang="en-US" altLang="en-US" sz="1800">
                <a:sym typeface="+mn-ea"/>
              </a:rPr>
              <a:t>    WHEN condition1 THEN result1</a:t>
            </a:r>
            <a:endParaRPr lang="en-US" altLang="en-US" sz="1800"/>
          </a:p>
          <a:p>
            <a:pPr marL="0" indent="0">
              <a:buNone/>
            </a:pPr>
            <a:r>
              <a:rPr lang="en-US" altLang="en-US" sz="1800">
                <a:sym typeface="+mn-ea"/>
              </a:rPr>
              <a:t>    WHEN condition2 THEN result2</a:t>
            </a:r>
            <a:endParaRPr lang="en-US" altLang="en-US" sz="1800"/>
          </a:p>
          <a:p>
            <a:pPr marL="0" indent="0">
              <a:buNone/>
            </a:pPr>
            <a:r>
              <a:rPr lang="en-US" altLang="en-US" sz="1800">
                <a:sym typeface="+mn-ea"/>
              </a:rPr>
              <a:t>    WHEN condition3 THEN result3</a:t>
            </a:r>
            <a:endParaRPr lang="en-US" altLang="en-US" sz="1800"/>
          </a:p>
          <a:p>
            <a:pPr marL="0" indent="0">
              <a:buNone/>
            </a:pPr>
            <a:r>
              <a:rPr lang="en-US" altLang="en-US" sz="1800">
                <a:sym typeface="+mn-ea"/>
              </a:rPr>
              <a:t>    ELSE default_result</a:t>
            </a:r>
            <a:endParaRPr lang="en-US" altLang="en-US" sz="1800"/>
          </a:p>
          <a:p>
            <a:pPr marL="0" indent="0">
              <a:buNone/>
            </a:pPr>
            <a:r>
              <a:rPr lang="en-US" altLang="en-US" sz="1800">
                <a:sym typeface="+mn-ea"/>
              </a:rPr>
              <a:t>END</a:t>
            </a:r>
            <a:endParaRPr lang="en-US" altLang="en-US" sz="1800"/>
          </a:p>
          <a:p>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2075"/>
            <a:ext cx="10515600" cy="314325"/>
          </a:xfrm>
        </p:spPr>
        <p:txBody>
          <a:bodyPr>
            <a:noAutofit/>
          </a:bodyPr>
          <a:p>
            <a:pPr algn="ctr"/>
            <a:r>
              <a:rPr lang="en-US" sz="2800" b="1">
                <a:solidFill>
                  <a:srgbClr val="FF0000"/>
                </a:solidFill>
              </a:rPr>
              <a:t>Timestamp</a:t>
            </a:r>
            <a:endParaRPr lang="en-US" sz="2800" b="1">
              <a:solidFill>
                <a:srgbClr val="FF0000"/>
              </a:solidFill>
            </a:endParaRPr>
          </a:p>
        </p:txBody>
      </p:sp>
      <p:sp>
        <p:nvSpPr>
          <p:cNvPr id="3" name="Content Placeholder 2"/>
          <p:cNvSpPr>
            <a:spLocks noGrp="1"/>
          </p:cNvSpPr>
          <p:nvPr>
            <p:ph idx="1"/>
          </p:nvPr>
        </p:nvSpPr>
        <p:spPr>
          <a:xfrm>
            <a:off x="153670" y="497840"/>
            <a:ext cx="11815445" cy="6240780"/>
          </a:xfrm>
        </p:spPr>
        <p:txBody>
          <a:bodyPr>
            <a:normAutofit/>
          </a:bodyPr>
          <a:p>
            <a:pPr marL="0" indent="0">
              <a:buNone/>
            </a:pPr>
            <a:r>
              <a:rPr lang="en-US" sz="1800"/>
              <a:t>The Timestap datatype/functions it is used for values that contact both date and time parts. </a:t>
            </a:r>
            <a:r>
              <a:rPr lang="en-US" altLang="en-US" sz="1800"/>
              <a:t>A TIMESTAMP column is commonly used to:</a:t>
            </a:r>
            <a:endParaRPr lang="en-US" altLang="en-US" sz="1800"/>
          </a:p>
          <a:p>
            <a:pPr marL="0" indent="0">
              <a:buNone/>
            </a:pPr>
            <a:r>
              <a:rPr lang="en-US" altLang="en-US" sz="1800"/>
              <a:t>Store date + time when a record is created ,Track data changes,Sort records by time</a:t>
            </a:r>
            <a:endParaRPr lang="en-US" altLang="en-US" sz="1800"/>
          </a:p>
          <a:p>
            <a:pPr marL="0" indent="0">
              <a:buNone/>
            </a:pPr>
            <a:r>
              <a:rPr lang="en-US" altLang="en-US" sz="1800"/>
              <a:t>Filter data by day, month, quarter, year</a:t>
            </a:r>
            <a:endParaRPr lang="en-US" altLang="en-US" sz="1800"/>
          </a:p>
          <a:p>
            <a:pPr marL="0" indent="0">
              <a:buNone/>
            </a:pPr>
            <a:endParaRPr lang="en-US" altLang="en-US" sz="1800"/>
          </a:p>
          <a:p>
            <a:pPr marL="0" indent="0">
              <a:buNone/>
            </a:pPr>
            <a:r>
              <a:rPr lang="en-US" sz="1800"/>
              <a:t>Time :Contatians only Time ,format HH:MM:SS</a:t>
            </a:r>
            <a:endParaRPr lang="en-US" sz="1800"/>
          </a:p>
          <a:p>
            <a:pPr marL="0" indent="0">
              <a:buNone/>
            </a:pPr>
            <a:r>
              <a:rPr lang="en-US" sz="1800"/>
              <a:t>DATE :contains on date,format YYYY-MM-DD</a:t>
            </a:r>
            <a:endParaRPr lang="en-US" sz="1800"/>
          </a:p>
          <a:p>
            <a:pPr marL="0" indent="0">
              <a:buNone/>
            </a:pPr>
            <a:r>
              <a:rPr lang="en-US" sz="1800"/>
              <a:t>YEAR:contains one year ,format YYYY or YY 2025/ 25</a:t>
            </a:r>
            <a:endParaRPr lang="en-US" sz="1800"/>
          </a:p>
          <a:p>
            <a:pPr marL="0" indent="0">
              <a:buNone/>
            </a:pPr>
            <a:r>
              <a:rPr lang="en-US" sz="1800"/>
              <a:t>TIMESTAMP contains date and time . format YYYY-MM/HH:MM:SS</a:t>
            </a:r>
            <a:endParaRPr lang="en-US" sz="1800"/>
          </a:p>
          <a:p>
            <a:pPr marL="0" indent="0">
              <a:buNone/>
            </a:pPr>
            <a:r>
              <a:rPr lang="en-US" sz="1800"/>
              <a:t>TIMESTAMPTZ :contatins date ,time and time zone</a:t>
            </a:r>
            <a:endParaRPr lang="en-US" sz="1800"/>
          </a:p>
          <a:p>
            <a:pPr marL="0" indent="0">
              <a:buNone/>
            </a:pPr>
            <a:endParaRPr lang="en-US" sz="1800"/>
          </a:p>
          <a:p>
            <a:pPr marL="0" indent="0">
              <a:buNone/>
            </a:pPr>
            <a:r>
              <a:rPr lang="en-US" sz="1800" b="1"/>
              <a:t>Below are the Time Stamp Functions</a:t>
            </a:r>
            <a:endParaRPr lang="en-US" sz="1800" b="1"/>
          </a:p>
          <a:p>
            <a:r>
              <a:rPr lang="en-US" altLang="en-US" sz="1800"/>
              <a:t>select now();</a:t>
            </a:r>
            <a:endParaRPr lang="en-US" altLang="en-US" sz="1800"/>
          </a:p>
          <a:p>
            <a:r>
              <a:rPr lang="en-US" altLang="en-US" sz="1800"/>
              <a:t>select current_date();</a:t>
            </a:r>
            <a:endParaRPr lang="en-US" altLang="en-US" sz="1800"/>
          </a:p>
          <a:p>
            <a:r>
              <a:rPr lang="en-US" altLang="en-US" sz="1800"/>
              <a:t>select current_time();</a:t>
            </a:r>
            <a:endParaRPr lang="en-US" altLang="en-US" sz="1800"/>
          </a:p>
          <a:p>
            <a:r>
              <a:rPr lang="en-US" altLang="en-US" sz="1800"/>
              <a:t>select current_timestamp();</a:t>
            </a:r>
            <a:endParaRPr lang="en-US" altLang="en-US" sz="1800"/>
          </a:p>
          <a:p>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210185" y="382905"/>
          <a:ext cx="11704320" cy="1950720"/>
        </p:xfrm>
        <a:graphic>
          <a:graphicData uri="http://schemas.openxmlformats.org/drawingml/2006/table">
            <a:tbl>
              <a:tblPr/>
              <a:tblGrid>
                <a:gridCol w="3901440"/>
                <a:gridCol w="3901440"/>
                <a:gridCol w="3901440"/>
              </a:tblGrid>
              <a:tr h="304800">
                <a:tc>
                  <a:txBody>
                    <a:bodyPr/>
                    <a:p>
                      <a:pPr algn="ctr"/>
                      <a:r>
                        <a:rPr sz="2000" b="1">
                          <a:solidFill>
                            <a:srgbClr val="FF0000"/>
                          </a:solidFill>
                        </a:rPr>
                        <a:t>Function</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1800"/>
                        <a:t>CURDATE()</a:t>
                      </a:r>
                      <a:endParaRPr sz="1800"/>
                    </a:p>
                  </a:txBody>
                  <a:tcPr marL="0" marR="0" marT="0" marB="0" anchor="ctr" anchorCtr="0">
                    <a:lnL>
                      <a:noFill/>
                    </a:lnL>
                    <a:lnR>
                      <a:noFill/>
                    </a:lnR>
                    <a:lnT>
                      <a:noFill/>
                    </a:lnT>
                    <a:lnB>
                      <a:noFill/>
                    </a:lnB>
                    <a:noFill/>
                  </a:tcPr>
                </a:tc>
                <a:tc>
                  <a:txBody>
                    <a:bodyPr/>
                    <a:p>
                      <a:r>
                        <a:rPr sz="1800"/>
                        <a:t>Current date</a:t>
                      </a:r>
                      <a:endParaRPr sz="1800"/>
                    </a:p>
                  </a:txBody>
                  <a:tcPr marL="0" marR="0" marT="0" marB="0" anchor="ctr" anchorCtr="0">
                    <a:lnL>
                      <a:noFill/>
                    </a:lnL>
                    <a:lnR>
                      <a:noFill/>
                    </a:lnR>
                    <a:lnT>
                      <a:noFill/>
                    </a:lnT>
                    <a:lnB>
                      <a:noFill/>
                    </a:lnB>
                    <a:noFill/>
                  </a:tcPr>
                </a:tc>
                <a:tc>
                  <a:txBody>
                    <a:bodyPr/>
                    <a:p>
                      <a:r>
                        <a:rPr sz="1800"/>
                        <a:t>SELECT CURDATE();</a:t>
                      </a:r>
                      <a:endParaRPr sz="1800"/>
                    </a:p>
                  </a:txBody>
                  <a:tcPr marL="0" marR="0" marT="0" marB="0" anchor="ctr" anchorCtr="0">
                    <a:lnL>
                      <a:noFill/>
                    </a:lnL>
                    <a:lnR>
                      <a:noFill/>
                    </a:lnR>
                    <a:lnT>
                      <a:noFill/>
                    </a:lnT>
                    <a:lnB>
                      <a:noFill/>
                    </a:lnB>
                    <a:noFill/>
                  </a:tcPr>
                </a:tc>
              </a:tr>
              <a:tr h="274320">
                <a:tc>
                  <a:txBody>
                    <a:bodyPr/>
                    <a:p>
                      <a:r>
                        <a:rPr sz="1800"/>
                        <a:t>CURRENT_DATE()</a:t>
                      </a:r>
                      <a:endParaRPr sz="1800"/>
                    </a:p>
                  </a:txBody>
                  <a:tcPr marL="0" marR="0" marT="0" marB="0" anchor="ctr" anchorCtr="0">
                    <a:lnL>
                      <a:noFill/>
                    </a:lnL>
                    <a:lnR>
                      <a:noFill/>
                    </a:lnR>
                    <a:lnT>
                      <a:noFill/>
                    </a:lnT>
                    <a:lnB>
                      <a:noFill/>
                    </a:lnB>
                    <a:noFill/>
                  </a:tcPr>
                </a:tc>
                <a:tc>
                  <a:txBody>
                    <a:bodyPr/>
                    <a:p>
                      <a:r>
                        <a:rPr sz="1800"/>
                        <a:t>Current date</a:t>
                      </a:r>
                      <a:endParaRPr sz="1800"/>
                    </a:p>
                  </a:txBody>
                  <a:tcPr marL="0" marR="0" marT="0" marB="0" anchor="ctr" anchorCtr="0">
                    <a:lnL>
                      <a:noFill/>
                    </a:lnL>
                    <a:lnR>
                      <a:noFill/>
                    </a:lnR>
                    <a:lnT>
                      <a:noFill/>
                    </a:lnT>
                    <a:lnB>
                      <a:noFill/>
                    </a:lnB>
                    <a:noFill/>
                  </a:tcPr>
                </a:tc>
                <a:tc>
                  <a:txBody>
                    <a:bodyPr/>
                    <a:p>
                      <a:r>
                        <a:rPr sz="1800"/>
                        <a:t>SELECT CURRENT_DATE();</a:t>
                      </a:r>
                      <a:endParaRPr sz="1800"/>
                    </a:p>
                  </a:txBody>
                  <a:tcPr marL="0" marR="0" marT="0" marB="0" anchor="ctr" anchorCtr="0">
                    <a:lnL>
                      <a:noFill/>
                    </a:lnL>
                    <a:lnR>
                      <a:noFill/>
                    </a:lnR>
                    <a:lnT>
                      <a:noFill/>
                    </a:lnT>
                    <a:lnB>
                      <a:noFill/>
                    </a:lnB>
                    <a:noFill/>
                  </a:tcPr>
                </a:tc>
              </a:tr>
              <a:tr h="274320">
                <a:tc>
                  <a:txBody>
                    <a:bodyPr/>
                    <a:p>
                      <a:r>
                        <a:rPr sz="1800"/>
                        <a:t>NOW()</a:t>
                      </a:r>
                      <a:endParaRPr sz="1800"/>
                    </a:p>
                  </a:txBody>
                  <a:tcPr marL="0" marR="0" marT="0" marB="0" anchor="ctr" anchorCtr="0">
                    <a:lnL>
                      <a:noFill/>
                    </a:lnL>
                    <a:lnR>
                      <a:noFill/>
                    </a:lnR>
                    <a:lnT>
                      <a:noFill/>
                    </a:lnT>
                    <a:lnB>
                      <a:noFill/>
                    </a:lnB>
                    <a:noFill/>
                  </a:tcPr>
                </a:tc>
                <a:tc>
                  <a:txBody>
                    <a:bodyPr/>
                    <a:p>
                      <a:r>
                        <a:rPr sz="1800"/>
                        <a:t>Current date &amp; time</a:t>
                      </a:r>
                      <a:endParaRPr sz="1800"/>
                    </a:p>
                  </a:txBody>
                  <a:tcPr marL="0" marR="0" marT="0" marB="0" anchor="ctr" anchorCtr="0">
                    <a:lnL>
                      <a:noFill/>
                    </a:lnL>
                    <a:lnR>
                      <a:noFill/>
                    </a:lnR>
                    <a:lnT>
                      <a:noFill/>
                    </a:lnT>
                    <a:lnB>
                      <a:noFill/>
                    </a:lnB>
                    <a:noFill/>
                  </a:tcPr>
                </a:tc>
                <a:tc>
                  <a:txBody>
                    <a:bodyPr/>
                    <a:p>
                      <a:r>
                        <a:rPr sz="1800"/>
                        <a:t>SELECT NOW();</a:t>
                      </a:r>
                      <a:endParaRPr sz="1800"/>
                    </a:p>
                  </a:txBody>
                  <a:tcPr marL="0" marR="0" marT="0" marB="0" anchor="ctr" anchorCtr="0">
                    <a:lnL>
                      <a:noFill/>
                    </a:lnL>
                    <a:lnR>
                      <a:noFill/>
                    </a:lnR>
                    <a:lnT>
                      <a:noFill/>
                    </a:lnT>
                    <a:lnB>
                      <a:noFill/>
                    </a:lnB>
                    <a:noFill/>
                  </a:tcPr>
                </a:tc>
              </a:tr>
              <a:tr h="274320">
                <a:tc>
                  <a:txBody>
                    <a:bodyPr/>
                    <a:p>
                      <a:r>
                        <a:rPr sz="1800"/>
                        <a:t>SYSDATE()</a:t>
                      </a:r>
                      <a:endParaRPr sz="1800"/>
                    </a:p>
                  </a:txBody>
                  <a:tcPr marL="0" marR="0" marT="0" marB="0" anchor="ctr" anchorCtr="0">
                    <a:lnL>
                      <a:noFill/>
                    </a:lnL>
                    <a:lnR>
                      <a:noFill/>
                    </a:lnR>
                    <a:lnT>
                      <a:noFill/>
                    </a:lnT>
                    <a:lnB>
                      <a:noFill/>
                    </a:lnB>
                    <a:noFill/>
                  </a:tcPr>
                </a:tc>
                <a:tc>
                  <a:txBody>
                    <a:bodyPr/>
                    <a:p>
                      <a:r>
                        <a:rPr sz="1800"/>
                        <a:t>System date &amp; time</a:t>
                      </a:r>
                      <a:endParaRPr sz="1800"/>
                    </a:p>
                  </a:txBody>
                  <a:tcPr marL="0" marR="0" marT="0" marB="0" anchor="ctr" anchorCtr="0">
                    <a:lnL>
                      <a:noFill/>
                    </a:lnL>
                    <a:lnR>
                      <a:noFill/>
                    </a:lnR>
                    <a:lnT>
                      <a:noFill/>
                    </a:lnT>
                    <a:lnB>
                      <a:noFill/>
                    </a:lnB>
                    <a:noFill/>
                  </a:tcPr>
                </a:tc>
                <a:tc>
                  <a:txBody>
                    <a:bodyPr/>
                    <a:p>
                      <a:r>
                        <a:rPr sz="1800"/>
                        <a:t>SELECT SYSDATE();</a:t>
                      </a:r>
                      <a:endParaRPr sz="1800"/>
                    </a:p>
                  </a:txBody>
                  <a:tcPr marL="0" marR="0" marT="0" marB="0" anchor="ctr" anchorCtr="0">
                    <a:lnL>
                      <a:noFill/>
                    </a:lnL>
                    <a:lnR>
                      <a:noFill/>
                    </a:lnR>
                    <a:lnT>
                      <a:noFill/>
                    </a:lnT>
                    <a:lnB>
                      <a:noFill/>
                    </a:lnB>
                    <a:noFill/>
                  </a:tcPr>
                </a:tc>
              </a:tr>
              <a:tr h="274320">
                <a:tc>
                  <a:txBody>
                    <a:bodyPr/>
                    <a:p>
                      <a:r>
                        <a:rPr sz="1800"/>
                        <a:t>CURRENT_TIMESTAMP()</a:t>
                      </a:r>
                      <a:endParaRPr sz="1800"/>
                    </a:p>
                  </a:txBody>
                  <a:tcPr marL="0" marR="0" marT="0" marB="0" anchor="ctr" anchorCtr="0">
                    <a:lnL>
                      <a:noFill/>
                    </a:lnL>
                    <a:lnR>
                      <a:noFill/>
                    </a:lnR>
                    <a:lnT>
                      <a:noFill/>
                    </a:lnT>
                    <a:lnB>
                      <a:noFill/>
                    </a:lnB>
                    <a:noFill/>
                  </a:tcPr>
                </a:tc>
                <a:tc>
                  <a:txBody>
                    <a:bodyPr/>
                    <a:p>
                      <a:r>
                        <a:rPr sz="1800"/>
                        <a:t>Current timestamp</a:t>
                      </a:r>
                      <a:endParaRPr sz="1800"/>
                    </a:p>
                  </a:txBody>
                  <a:tcPr marL="0" marR="0" marT="0" marB="0" anchor="ctr" anchorCtr="0">
                    <a:lnL>
                      <a:noFill/>
                    </a:lnL>
                    <a:lnR>
                      <a:noFill/>
                    </a:lnR>
                    <a:lnT>
                      <a:noFill/>
                    </a:lnT>
                    <a:lnB>
                      <a:noFill/>
                    </a:lnB>
                    <a:noFill/>
                  </a:tcPr>
                </a:tc>
                <a:tc>
                  <a:txBody>
                    <a:bodyPr/>
                    <a:p>
                      <a:r>
                        <a:rPr sz="1800"/>
                        <a:t>SELECT CURRENT_TIMESTAMP();</a:t>
                      </a:r>
                      <a:endParaRPr sz="1800"/>
                    </a:p>
                  </a:txBody>
                  <a:tcPr marL="0" marR="0" marT="0" marB="0" anchor="ctr" anchorCtr="0">
                    <a:lnL>
                      <a:noFill/>
                    </a:lnL>
                    <a:lnR>
                      <a:noFill/>
                    </a:lnR>
                    <a:lnT>
                      <a:noFill/>
                    </a:lnT>
                    <a:lnB>
                      <a:noFill/>
                    </a:lnB>
                    <a:noFill/>
                  </a:tcPr>
                </a:tc>
              </a:tr>
              <a:tr h="274320">
                <a:tc>
                  <a:txBody>
                    <a:bodyPr/>
                    <a:p>
                      <a:r>
                        <a:rPr sz="1800"/>
                        <a:t>CURTIME()</a:t>
                      </a:r>
                      <a:endParaRPr sz="1800"/>
                    </a:p>
                  </a:txBody>
                  <a:tcPr marL="0" marR="0" marT="0" marB="0" anchor="ctr" anchorCtr="0">
                    <a:lnL>
                      <a:noFill/>
                    </a:lnL>
                    <a:lnR>
                      <a:noFill/>
                    </a:lnR>
                    <a:lnT>
                      <a:noFill/>
                    </a:lnT>
                    <a:lnB>
                      <a:noFill/>
                    </a:lnB>
                    <a:noFill/>
                  </a:tcPr>
                </a:tc>
                <a:tc>
                  <a:txBody>
                    <a:bodyPr/>
                    <a:p>
                      <a:r>
                        <a:rPr sz="1800"/>
                        <a:t>Current time</a:t>
                      </a:r>
                      <a:endParaRPr sz="1800"/>
                    </a:p>
                  </a:txBody>
                  <a:tcPr marL="0" marR="0" marT="0" marB="0" anchor="ctr" anchorCtr="0">
                    <a:lnL>
                      <a:noFill/>
                    </a:lnL>
                    <a:lnR>
                      <a:noFill/>
                    </a:lnR>
                    <a:lnT>
                      <a:noFill/>
                    </a:lnT>
                    <a:lnB>
                      <a:noFill/>
                    </a:lnB>
                    <a:noFill/>
                  </a:tcPr>
                </a:tc>
                <a:tc>
                  <a:txBody>
                    <a:bodyPr/>
                    <a:p>
                      <a:r>
                        <a:rPr sz="1800"/>
                        <a:t>SELECT CURTIME();</a:t>
                      </a:r>
                      <a:endParaRPr sz="18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210185" y="3615690"/>
          <a:ext cx="11827510" cy="3048000"/>
        </p:xfrm>
        <a:graphic>
          <a:graphicData uri="http://schemas.openxmlformats.org/drawingml/2006/table">
            <a:tbl>
              <a:tblPr/>
              <a:tblGrid>
                <a:gridCol w="5913755"/>
                <a:gridCol w="5913755"/>
              </a:tblGrid>
              <a:tr h="304800">
                <a:tc>
                  <a:txBody>
                    <a:bodyPr/>
                    <a:p>
                      <a:pPr algn="ctr"/>
                      <a:r>
                        <a:rPr sz="2000" b="1">
                          <a:solidFill>
                            <a:srgbClr val="FF0000"/>
                          </a:solidFill>
                        </a:rPr>
                        <a:t>Function</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1800"/>
                        <a:t>YEAR(date)</a:t>
                      </a:r>
                      <a:endParaRPr sz="1800"/>
                    </a:p>
                  </a:txBody>
                  <a:tcPr marL="0" marR="0" marT="0" marB="0" anchor="ctr" anchorCtr="0">
                    <a:lnL>
                      <a:noFill/>
                    </a:lnL>
                    <a:lnR>
                      <a:noFill/>
                    </a:lnR>
                    <a:lnT>
                      <a:noFill/>
                    </a:lnT>
                    <a:lnB>
                      <a:noFill/>
                    </a:lnB>
                    <a:noFill/>
                  </a:tcPr>
                </a:tc>
                <a:tc>
                  <a:txBody>
                    <a:bodyPr/>
                    <a:p>
                      <a:r>
                        <a:rPr sz="1800"/>
                        <a:t>SELECT YEAR('2025-10-16');</a:t>
                      </a:r>
                      <a:endParaRPr sz="1800"/>
                    </a:p>
                  </a:txBody>
                  <a:tcPr marL="0" marR="0" marT="0" marB="0" anchor="ctr" anchorCtr="0">
                    <a:lnL>
                      <a:noFill/>
                    </a:lnL>
                    <a:lnR>
                      <a:noFill/>
                    </a:lnR>
                    <a:lnT>
                      <a:noFill/>
                    </a:lnT>
                    <a:lnB>
                      <a:noFill/>
                    </a:lnB>
                    <a:noFill/>
                  </a:tcPr>
                </a:tc>
              </a:tr>
              <a:tr h="274320">
                <a:tc>
                  <a:txBody>
                    <a:bodyPr/>
                    <a:p>
                      <a:r>
                        <a:rPr sz="1800"/>
                        <a:t>MONTH(date)</a:t>
                      </a:r>
                      <a:endParaRPr sz="1800"/>
                    </a:p>
                  </a:txBody>
                  <a:tcPr marL="0" marR="0" marT="0" marB="0" anchor="ctr" anchorCtr="0">
                    <a:lnL>
                      <a:noFill/>
                    </a:lnL>
                    <a:lnR>
                      <a:noFill/>
                    </a:lnR>
                    <a:lnT>
                      <a:noFill/>
                    </a:lnT>
                    <a:lnB>
                      <a:noFill/>
                    </a:lnB>
                    <a:noFill/>
                  </a:tcPr>
                </a:tc>
                <a:tc>
                  <a:txBody>
                    <a:bodyPr/>
                    <a:p>
                      <a:r>
                        <a:rPr sz="1800"/>
                        <a:t>SELECT MONTH('2025-10-16');</a:t>
                      </a:r>
                      <a:endParaRPr sz="1800"/>
                    </a:p>
                  </a:txBody>
                  <a:tcPr marL="0" marR="0" marT="0" marB="0" anchor="ctr" anchorCtr="0">
                    <a:lnL>
                      <a:noFill/>
                    </a:lnL>
                    <a:lnR>
                      <a:noFill/>
                    </a:lnR>
                    <a:lnT>
                      <a:noFill/>
                    </a:lnT>
                    <a:lnB>
                      <a:noFill/>
                    </a:lnB>
                    <a:noFill/>
                  </a:tcPr>
                </a:tc>
              </a:tr>
              <a:tr h="274320">
                <a:tc>
                  <a:txBody>
                    <a:bodyPr/>
                    <a:p>
                      <a:r>
                        <a:rPr sz="1800"/>
                        <a:t>DAY(date)</a:t>
                      </a:r>
                      <a:endParaRPr sz="1800"/>
                    </a:p>
                  </a:txBody>
                  <a:tcPr marL="0" marR="0" marT="0" marB="0" anchor="ctr" anchorCtr="0">
                    <a:lnL>
                      <a:noFill/>
                    </a:lnL>
                    <a:lnR>
                      <a:noFill/>
                    </a:lnR>
                    <a:lnT>
                      <a:noFill/>
                    </a:lnT>
                    <a:lnB>
                      <a:noFill/>
                    </a:lnB>
                    <a:noFill/>
                  </a:tcPr>
                </a:tc>
                <a:tc>
                  <a:txBody>
                    <a:bodyPr/>
                    <a:p>
                      <a:r>
                        <a:rPr sz="1800"/>
                        <a:t>SELECT DAY('2025-10-16');</a:t>
                      </a:r>
                      <a:endParaRPr sz="1800"/>
                    </a:p>
                  </a:txBody>
                  <a:tcPr marL="0" marR="0" marT="0" marB="0" anchor="ctr" anchorCtr="0">
                    <a:lnL>
                      <a:noFill/>
                    </a:lnL>
                    <a:lnR>
                      <a:noFill/>
                    </a:lnR>
                    <a:lnT>
                      <a:noFill/>
                    </a:lnT>
                    <a:lnB>
                      <a:noFill/>
                    </a:lnB>
                    <a:noFill/>
                  </a:tcPr>
                </a:tc>
              </a:tr>
              <a:tr h="274320">
                <a:tc>
                  <a:txBody>
                    <a:bodyPr/>
                    <a:p>
                      <a:r>
                        <a:rPr sz="1800"/>
                        <a:t>DAYNAME(date)</a:t>
                      </a:r>
                      <a:endParaRPr sz="1800"/>
                    </a:p>
                  </a:txBody>
                  <a:tcPr marL="0" marR="0" marT="0" marB="0" anchor="ctr" anchorCtr="0">
                    <a:lnL>
                      <a:noFill/>
                    </a:lnL>
                    <a:lnR>
                      <a:noFill/>
                    </a:lnR>
                    <a:lnT>
                      <a:noFill/>
                    </a:lnT>
                    <a:lnB>
                      <a:noFill/>
                    </a:lnB>
                    <a:noFill/>
                  </a:tcPr>
                </a:tc>
                <a:tc>
                  <a:txBody>
                    <a:bodyPr/>
                    <a:p>
                      <a:r>
                        <a:rPr sz="1800"/>
                        <a:t>SELECT DAYNAME('2025-10-16');</a:t>
                      </a:r>
                      <a:endParaRPr sz="1800"/>
                    </a:p>
                  </a:txBody>
                  <a:tcPr marL="0" marR="0" marT="0" marB="0" anchor="ctr" anchorCtr="0">
                    <a:lnL>
                      <a:noFill/>
                    </a:lnL>
                    <a:lnR>
                      <a:noFill/>
                    </a:lnR>
                    <a:lnT>
                      <a:noFill/>
                    </a:lnT>
                    <a:lnB>
                      <a:noFill/>
                    </a:lnB>
                    <a:noFill/>
                  </a:tcPr>
                </a:tc>
              </a:tr>
              <a:tr h="274320">
                <a:tc>
                  <a:txBody>
                    <a:bodyPr/>
                    <a:p>
                      <a:r>
                        <a:rPr sz="1800"/>
                        <a:t>MONTHNAME(date)</a:t>
                      </a:r>
                      <a:endParaRPr sz="1800"/>
                    </a:p>
                  </a:txBody>
                  <a:tcPr marL="0" marR="0" marT="0" marB="0" anchor="ctr" anchorCtr="0">
                    <a:lnL>
                      <a:noFill/>
                    </a:lnL>
                    <a:lnR>
                      <a:noFill/>
                    </a:lnR>
                    <a:lnT>
                      <a:noFill/>
                    </a:lnT>
                    <a:lnB>
                      <a:noFill/>
                    </a:lnB>
                    <a:noFill/>
                  </a:tcPr>
                </a:tc>
                <a:tc>
                  <a:txBody>
                    <a:bodyPr/>
                    <a:p>
                      <a:r>
                        <a:rPr sz="1800"/>
                        <a:t>SELECT MONTHNAME('2025-10-16');</a:t>
                      </a:r>
                      <a:endParaRPr sz="1800"/>
                    </a:p>
                  </a:txBody>
                  <a:tcPr marL="0" marR="0" marT="0" marB="0" anchor="ctr" anchorCtr="0">
                    <a:lnL>
                      <a:noFill/>
                    </a:lnL>
                    <a:lnR>
                      <a:noFill/>
                    </a:lnR>
                    <a:lnT>
                      <a:noFill/>
                    </a:lnT>
                    <a:lnB>
                      <a:noFill/>
                    </a:lnB>
                    <a:noFill/>
                  </a:tcPr>
                </a:tc>
              </a:tr>
              <a:tr h="274320">
                <a:tc>
                  <a:txBody>
                    <a:bodyPr/>
                    <a:p>
                      <a:r>
                        <a:rPr sz="1800"/>
                        <a:t>DAYOFMONTH(date)</a:t>
                      </a:r>
                      <a:endParaRPr sz="1800"/>
                    </a:p>
                  </a:txBody>
                  <a:tcPr marL="0" marR="0" marT="0" marB="0" anchor="ctr" anchorCtr="0">
                    <a:lnL>
                      <a:noFill/>
                    </a:lnL>
                    <a:lnR>
                      <a:noFill/>
                    </a:lnR>
                    <a:lnT>
                      <a:noFill/>
                    </a:lnT>
                    <a:lnB>
                      <a:noFill/>
                    </a:lnB>
                    <a:noFill/>
                  </a:tcPr>
                </a:tc>
                <a:tc>
                  <a:txBody>
                    <a:bodyPr/>
                    <a:p>
                      <a:r>
                        <a:rPr sz="1800"/>
                        <a:t>SELECT DAYOFMONTH('2025-10-16');</a:t>
                      </a:r>
                      <a:endParaRPr sz="1800"/>
                    </a:p>
                  </a:txBody>
                  <a:tcPr marL="0" marR="0" marT="0" marB="0" anchor="ctr" anchorCtr="0">
                    <a:lnL>
                      <a:noFill/>
                    </a:lnL>
                    <a:lnR>
                      <a:noFill/>
                    </a:lnR>
                    <a:lnT>
                      <a:noFill/>
                    </a:lnT>
                    <a:lnB>
                      <a:noFill/>
                    </a:lnB>
                    <a:noFill/>
                  </a:tcPr>
                </a:tc>
              </a:tr>
              <a:tr h="274320">
                <a:tc>
                  <a:txBody>
                    <a:bodyPr/>
                    <a:p>
                      <a:r>
                        <a:rPr sz="1800"/>
                        <a:t>DAYOFWEEK(date)</a:t>
                      </a:r>
                      <a:endParaRPr sz="1800"/>
                    </a:p>
                  </a:txBody>
                  <a:tcPr marL="0" marR="0" marT="0" marB="0" anchor="ctr" anchorCtr="0">
                    <a:lnL>
                      <a:noFill/>
                    </a:lnL>
                    <a:lnR>
                      <a:noFill/>
                    </a:lnR>
                    <a:lnT>
                      <a:noFill/>
                    </a:lnT>
                    <a:lnB>
                      <a:noFill/>
                    </a:lnB>
                    <a:noFill/>
                  </a:tcPr>
                </a:tc>
                <a:tc>
                  <a:txBody>
                    <a:bodyPr/>
                    <a:p>
                      <a:r>
                        <a:rPr sz="1800"/>
                        <a:t>SELECT DAYOFWEEK('2025-10-16');</a:t>
                      </a:r>
                      <a:endParaRPr sz="1800"/>
                    </a:p>
                  </a:txBody>
                  <a:tcPr marL="0" marR="0" marT="0" marB="0" anchor="ctr" anchorCtr="0">
                    <a:lnL>
                      <a:noFill/>
                    </a:lnL>
                    <a:lnR>
                      <a:noFill/>
                    </a:lnR>
                    <a:lnT>
                      <a:noFill/>
                    </a:lnT>
                    <a:lnB>
                      <a:noFill/>
                    </a:lnB>
                    <a:noFill/>
                  </a:tcPr>
                </a:tc>
              </a:tr>
              <a:tr h="274320">
                <a:tc>
                  <a:txBody>
                    <a:bodyPr/>
                    <a:p>
                      <a:r>
                        <a:rPr sz="1800"/>
                        <a:t>DAYOFYEAR(date)</a:t>
                      </a:r>
                      <a:endParaRPr sz="1800"/>
                    </a:p>
                  </a:txBody>
                  <a:tcPr marL="0" marR="0" marT="0" marB="0" anchor="ctr" anchorCtr="0">
                    <a:lnL>
                      <a:noFill/>
                    </a:lnL>
                    <a:lnR>
                      <a:noFill/>
                    </a:lnR>
                    <a:lnT>
                      <a:noFill/>
                    </a:lnT>
                    <a:lnB>
                      <a:noFill/>
                    </a:lnB>
                    <a:noFill/>
                  </a:tcPr>
                </a:tc>
                <a:tc>
                  <a:txBody>
                    <a:bodyPr/>
                    <a:p>
                      <a:r>
                        <a:rPr sz="1800"/>
                        <a:t>SELECT DAYOFYEAR('2025-10-16');</a:t>
                      </a:r>
                      <a:endParaRPr sz="1800"/>
                    </a:p>
                  </a:txBody>
                  <a:tcPr marL="0" marR="0" marT="0" marB="0" anchor="ctr" anchorCtr="0">
                    <a:lnL>
                      <a:noFill/>
                    </a:lnL>
                    <a:lnR>
                      <a:noFill/>
                    </a:lnR>
                    <a:lnT>
                      <a:noFill/>
                    </a:lnT>
                    <a:lnB>
                      <a:noFill/>
                    </a:lnB>
                    <a:noFill/>
                  </a:tcPr>
                </a:tc>
              </a:tr>
              <a:tr h="274320">
                <a:tc>
                  <a:txBody>
                    <a:bodyPr/>
                    <a:p>
                      <a:r>
                        <a:rPr sz="1800"/>
                        <a:t>WEEK(date)</a:t>
                      </a:r>
                      <a:endParaRPr sz="1800"/>
                    </a:p>
                  </a:txBody>
                  <a:tcPr marL="0" marR="0" marT="0" marB="0" anchor="ctr" anchorCtr="0">
                    <a:lnL>
                      <a:noFill/>
                    </a:lnL>
                    <a:lnR>
                      <a:noFill/>
                    </a:lnR>
                    <a:lnT>
                      <a:noFill/>
                    </a:lnT>
                    <a:lnB>
                      <a:noFill/>
                    </a:lnB>
                    <a:noFill/>
                  </a:tcPr>
                </a:tc>
                <a:tc>
                  <a:txBody>
                    <a:bodyPr/>
                    <a:p>
                      <a:r>
                        <a:rPr sz="1800"/>
                        <a:t>SELECT WEEK('2025-10-16');</a:t>
                      </a:r>
                      <a:endParaRPr sz="1800"/>
                    </a:p>
                  </a:txBody>
                  <a:tcPr marL="0" marR="0" marT="0" marB="0" anchor="ctr" anchorCtr="0">
                    <a:lnL>
                      <a:noFill/>
                    </a:lnL>
                    <a:lnR>
                      <a:noFill/>
                    </a:lnR>
                    <a:lnT>
                      <a:noFill/>
                    </a:lnT>
                    <a:lnB>
                      <a:noFill/>
                    </a:lnB>
                    <a:noFill/>
                  </a:tcPr>
                </a:tc>
              </a:tr>
              <a:tr h="274320">
                <a:tc>
                  <a:txBody>
                    <a:bodyPr/>
                    <a:p>
                      <a:r>
                        <a:rPr sz="1800"/>
                        <a:t>QUARTER(date)</a:t>
                      </a:r>
                      <a:endParaRPr sz="1800"/>
                    </a:p>
                  </a:txBody>
                  <a:tcPr marL="0" marR="0" marT="0" marB="0" anchor="ctr" anchorCtr="0">
                    <a:lnL>
                      <a:noFill/>
                    </a:lnL>
                    <a:lnR>
                      <a:noFill/>
                    </a:lnR>
                    <a:lnT>
                      <a:noFill/>
                    </a:lnT>
                    <a:lnB>
                      <a:noFill/>
                    </a:lnB>
                    <a:noFill/>
                  </a:tcPr>
                </a:tc>
                <a:tc>
                  <a:txBody>
                    <a:bodyPr/>
                    <a:p>
                      <a:r>
                        <a:rPr sz="1800"/>
                        <a:t>SELECT QUARTER('2025-10-16');</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209550" y="488950"/>
          <a:ext cx="11785600" cy="2773680"/>
        </p:xfrm>
        <a:graphic>
          <a:graphicData uri="http://schemas.openxmlformats.org/drawingml/2006/table">
            <a:tbl>
              <a:tblPr/>
              <a:tblGrid>
                <a:gridCol w="5892800"/>
                <a:gridCol w="5892800"/>
              </a:tblGrid>
              <a:tr h="304800">
                <a:tc>
                  <a:txBody>
                    <a:bodyPr/>
                    <a:p>
                      <a:pPr algn="ctr"/>
                      <a:r>
                        <a:rPr sz="2000" b="1">
                          <a:solidFill>
                            <a:srgbClr val="FF0000"/>
                          </a:solidFill>
                        </a:rPr>
                        <a:t>Symbol</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Meaning</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1800"/>
                        <a:t>%Y</a:t>
                      </a:r>
                      <a:endParaRPr sz="1800"/>
                    </a:p>
                  </a:txBody>
                  <a:tcPr marL="0" marR="0" marT="0" marB="0" anchor="ctr" anchorCtr="0">
                    <a:lnL>
                      <a:noFill/>
                    </a:lnL>
                    <a:lnR>
                      <a:noFill/>
                    </a:lnR>
                    <a:lnT>
                      <a:noFill/>
                    </a:lnT>
                    <a:lnB>
                      <a:noFill/>
                    </a:lnB>
                    <a:noFill/>
                  </a:tcPr>
                </a:tc>
                <a:tc>
                  <a:txBody>
                    <a:bodyPr/>
                    <a:p>
                      <a:r>
                        <a:rPr sz="1800"/>
                        <a:t>Year (2025)</a:t>
                      </a:r>
                      <a:endParaRPr sz="1800"/>
                    </a:p>
                  </a:txBody>
                  <a:tcPr marL="0" marR="0" marT="0" marB="0" anchor="ctr" anchorCtr="0">
                    <a:lnL>
                      <a:noFill/>
                    </a:lnL>
                    <a:lnR>
                      <a:noFill/>
                    </a:lnR>
                    <a:lnT>
                      <a:noFill/>
                    </a:lnT>
                    <a:lnB>
                      <a:noFill/>
                    </a:lnB>
                    <a:noFill/>
                  </a:tcPr>
                </a:tc>
              </a:tr>
              <a:tr h="274320">
                <a:tc>
                  <a:txBody>
                    <a:bodyPr/>
                    <a:p>
                      <a:r>
                        <a:rPr sz="1800"/>
                        <a:t>%y</a:t>
                      </a:r>
                      <a:endParaRPr sz="1800"/>
                    </a:p>
                  </a:txBody>
                  <a:tcPr marL="0" marR="0" marT="0" marB="0" anchor="ctr" anchorCtr="0">
                    <a:lnL>
                      <a:noFill/>
                    </a:lnL>
                    <a:lnR>
                      <a:noFill/>
                    </a:lnR>
                    <a:lnT>
                      <a:noFill/>
                    </a:lnT>
                    <a:lnB>
                      <a:noFill/>
                    </a:lnB>
                    <a:noFill/>
                  </a:tcPr>
                </a:tc>
                <a:tc>
                  <a:txBody>
                    <a:bodyPr/>
                    <a:p>
                      <a:r>
                        <a:rPr sz="1800"/>
                        <a:t>Year (25)</a:t>
                      </a:r>
                      <a:endParaRPr sz="1800"/>
                    </a:p>
                  </a:txBody>
                  <a:tcPr marL="0" marR="0" marT="0" marB="0" anchor="ctr" anchorCtr="0">
                    <a:lnL>
                      <a:noFill/>
                    </a:lnL>
                    <a:lnR>
                      <a:noFill/>
                    </a:lnR>
                    <a:lnT>
                      <a:noFill/>
                    </a:lnT>
                    <a:lnB>
                      <a:noFill/>
                    </a:lnB>
                    <a:noFill/>
                  </a:tcPr>
                </a:tc>
              </a:tr>
              <a:tr h="274320">
                <a:tc>
                  <a:txBody>
                    <a:bodyPr/>
                    <a:p>
                      <a:r>
                        <a:rPr sz="1800"/>
                        <a:t>%m</a:t>
                      </a:r>
                      <a:endParaRPr sz="1800"/>
                    </a:p>
                  </a:txBody>
                  <a:tcPr marL="0" marR="0" marT="0" marB="0" anchor="ctr" anchorCtr="0">
                    <a:lnL>
                      <a:noFill/>
                    </a:lnL>
                    <a:lnR>
                      <a:noFill/>
                    </a:lnR>
                    <a:lnT>
                      <a:noFill/>
                    </a:lnT>
                    <a:lnB>
                      <a:noFill/>
                    </a:lnB>
                    <a:noFill/>
                  </a:tcPr>
                </a:tc>
                <a:tc>
                  <a:txBody>
                    <a:bodyPr/>
                    <a:p>
                      <a:r>
                        <a:rPr sz="1800"/>
                        <a:t>Month number</a:t>
                      </a:r>
                      <a:endParaRPr sz="1800"/>
                    </a:p>
                  </a:txBody>
                  <a:tcPr marL="0" marR="0" marT="0" marB="0" anchor="ctr" anchorCtr="0">
                    <a:lnL>
                      <a:noFill/>
                    </a:lnL>
                    <a:lnR>
                      <a:noFill/>
                    </a:lnR>
                    <a:lnT>
                      <a:noFill/>
                    </a:lnT>
                    <a:lnB>
                      <a:noFill/>
                    </a:lnB>
                    <a:noFill/>
                  </a:tcPr>
                </a:tc>
              </a:tr>
              <a:tr h="274320">
                <a:tc>
                  <a:txBody>
                    <a:bodyPr/>
                    <a:p>
                      <a:r>
                        <a:rPr sz="1800"/>
                        <a:t>%M</a:t>
                      </a:r>
                      <a:endParaRPr sz="1800"/>
                    </a:p>
                  </a:txBody>
                  <a:tcPr marL="0" marR="0" marT="0" marB="0" anchor="ctr" anchorCtr="0">
                    <a:lnL>
                      <a:noFill/>
                    </a:lnL>
                    <a:lnR>
                      <a:noFill/>
                    </a:lnR>
                    <a:lnT>
                      <a:noFill/>
                    </a:lnT>
                    <a:lnB>
                      <a:noFill/>
                    </a:lnB>
                    <a:noFill/>
                  </a:tcPr>
                </a:tc>
                <a:tc>
                  <a:txBody>
                    <a:bodyPr/>
                    <a:p>
                      <a:r>
                        <a:rPr sz="1800"/>
                        <a:t>Month name</a:t>
                      </a:r>
                      <a:endParaRPr sz="1800"/>
                    </a:p>
                  </a:txBody>
                  <a:tcPr marL="0" marR="0" marT="0" marB="0" anchor="ctr" anchorCtr="0">
                    <a:lnL>
                      <a:noFill/>
                    </a:lnL>
                    <a:lnR>
                      <a:noFill/>
                    </a:lnR>
                    <a:lnT>
                      <a:noFill/>
                    </a:lnT>
                    <a:lnB>
                      <a:noFill/>
                    </a:lnB>
                    <a:noFill/>
                  </a:tcPr>
                </a:tc>
              </a:tr>
              <a:tr h="274320">
                <a:tc>
                  <a:txBody>
                    <a:bodyPr/>
                    <a:p>
                      <a:r>
                        <a:rPr sz="1800"/>
                        <a:t>%d</a:t>
                      </a:r>
                      <a:endParaRPr sz="1800"/>
                    </a:p>
                  </a:txBody>
                  <a:tcPr marL="0" marR="0" marT="0" marB="0" anchor="ctr" anchorCtr="0">
                    <a:lnL>
                      <a:noFill/>
                    </a:lnL>
                    <a:lnR>
                      <a:noFill/>
                    </a:lnR>
                    <a:lnT>
                      <a:noFill/>
                    </a:lnT>
                    <a:lnB>
                      <a:noFill/>
                    </a:lnB>
                    <a:noFill/>
                  </a:tcPr>
                </a:tc>
                <a:tc>
                  <a:txBody>
                    <a:bodyPr/>
                    <a:p>
                      <a:r>
                        <a:rPr sz="1800"/>
                        <a:t>Day</a:t>
                      </a:r>
                      <a:endParaRPr sz="1800"/>
                    </a:p>
                  </a:txBody>
                  <a:tcPr marL="0" marR="0" marT="0" marB="0" anchor="ctr" anchorCtr="0">
                    <a:lnL>
                      <a:noFill/>
                    </a:lnL>
                    <a:lnR>
                      <a:noFill/>
                    </a:lnR>
                    <a:lnT>
                      <a:noFill/>
                    </a:lnT>
                    <a:lnB>
                      <a:noFill/>
                    </a:lnB>
                    <a:noFill/>
                  </a:tcPr>
                </a:tc>
              </a:tr>
              <a:tr h="274320">
                <a:tc>
                  <a:txBody>
                    <a:bodyPr/>
                    <a:p>
                      <a:r>
                        <a:rPr sz="1800"/>
                        <a:t>%W</a:t>
                      </a:r>
                      <a:endParaRPr sz="1800"/>
                    </a:p>
                  </a:txBody>
                  <a:tcPr marL="0" marR="0" marT="0" marB="0" anchor="ctr" anchorCtr="0">
                    <a:lnL>
                      <a:noFill/>
                    </a:lnL>
                    <a:lnR>
                      <a:noFill/>
                    </a:lnR>
                    <a:lnT>
                      <a:noFill/>
                    </a:lnT>
                    <a:lnB>
                      <a:noFill/>
                    </a:lnB>
                    <a:noFill/>
                  </a:tcPr>
                </a:tc>
                <a:tc>
                  <a:txBody>
                    <a:bodyPr/>
                    <a:p>
                      <a:r>
                        <a:rPr sz="1800"/>
                        <a:t>Day name</a:t>
                      </a:r>
                      <a:endParaRPr sz="1800"/>
                    </a:p>
                  </a:txBody>
                  <a:tcPr marL="0" marR="0" marT="0" marB="0" anchor="ctr" anchorCtr="0">
                    <a:lnL>
                      <a:noFill/>
                    </a:lnL>
                    <a:lnR>
                      <a:noFill/>
                    </a:lnR>
                    <a:lnT>
                      <a:noFill/>
                    </a:lnT>
                    <a:lnB>
                      <a:noFill/>
                    </a:lnB>
                    <a:noFill/>
                  </a:tcPr>
                </a:tc>
              </a:tr>
              <a:tr h="274320">
                <a:tc>
                  <a:txBody>
                    <a:bodyPr/>
                    <a:p>
                      <a:r>
                        <a:rPr sz="1800"/>
                        <a:t>%H</a:t>
                      </a:r>
                      <a:endParaRPr sz="1800"/>
                    </a:p>
                  </a:txBody>
                  <a:tcPr marL="0" marR="0" marT="0" marB="0" anchor="ctr" anchorCtr="0">
                    <a:lnL>
                      <a:noFill/>
                    </a:lnL>
                    <a:lnR>
                      <a:noFill/>
                    </a:lnR>
                    <a:lnT>
                      <a:noFill/>
                    </a:lnT>
                    <a:lnB>
                      <a:noFill/>
                    </a:lnB>
                    <a:noFill/>
                  </a:tcPr>
                </a:tc>
                <a:tc>
                  <a:txBody>
                    <a:bodyPr/>
                    <a:p>
                      <a:r>
                        <a:rPr sz="1800"/>
                        <a:t>Hour</a:t>
                      </a:r>
                      <a:endParaRPr sz="1800"/>
                    </a:p>
                  </a:txBody>
                  <a:tcPr marL="0" marR="0" marT="0" marB="0" anchor="ctr" anchorCtr="0">
                    <a:lnL>
                      <a:noFill/>
                    </a:lnL>
                    <a:lnR>
                      <a:noFill/>
                    </a:lnR>
                    <a:lnT>
                      <a:noFill/>
                    </a:lnT>
                    <a:lnB>
                      <a:noFill/>
                    </a:lnB>
                    <a:noFill/>
                  </a:tcPr>
                </a:tc>
              </a:tr>
              <a:tr h="274320">
                <a:tc>
                  <a:txBody>
                    <a:bodyPr/>
                    <a:p>
                      <a:r>
                        <a:rPr sz="1800"/>
                        <a:t>%i</a:t>
                      </a:r>
                      <a:endParaRPr sz="1800"/>
                    </a:p>
                  </a:txBody>
                  <a:tcPr marL="0" marR="0" marT="0" marB="0" anchor="ctr" anchorCtr="0">
                    <a:lnL>
                      <a:noFill/>
                    </a:lnL>
                    <a:lnR>
                      <a:noFill/>
                    </a:lnR>
                    <a:lnT>
                      <a:noFill/>
                    </a:lnT>
                    <a:lnB>
                      <a:noFill/>
                    </a:lnB>
                    <a:noFill/>
                  </a:tcPr>
                </a:tc>
                <a:tc>
                  <a:txBody>
                    <a:bodyPr/>
                    <a:p>
                      <a:r>
                        <a:rPr sz="1800"/>
                        <a:t>Minutes</a:t>
                      </a:r>
                      <a:endParaRPr sz="1800"/>
                    </a:p>
                  </a:txBody>
                  <a:tcPr marL="0" marR="0" marT="0" marB="0" anchor="ctr" anchorCtr="0">
                    <a:lnL>
                      <a:noFill/>
                    </a:lnL>
                    <a:lnR>
                      <a:noFill/>
                    </a:lnR>
                    <a:lnT>
                      <a:noFill/>
                    </a:lnT>
                    <a:lnB>
                      <a:noFill/>
                    </a:lnB>
                    <a:noFill/>
                  </a:tcPr>
                </a:tc>
              </a:tr>
              <a:tr h="274320">
                <a:tc>
                  <a:txBody>
                    <a:bodyPr/>
                    <a:p>
                      <a:r>
                        <a:rPr sz="1800"/>
                        <a:t>%s</a:t>
                      </a:r>
                      <a:endParaRPr sz="1800"/>
                    </a:p>
                  </a:txBody>
                  <a:tcPr marL="0" marR="0" marT="0" marB="0" anchor="ctr" anchorCtr="0">
                    <a:lnL>
                      <a:noFill/>
                    </a:lnL>
                    <a:lnR>
                      <a:noFill/>
                    </a:lnR>
                    <a:lnT>
                      <a:noFill/>
                    </a:lnT>
                    <a:lnB>
                      <a:noFill/>
                    </a:lnB>
                    <a:noFill/>
                  </a:tcPr>
                </a:tc>
                <a:tc>
                  <a:txBody>
                    <a:bodyPr/>
                    <a:p>
                      <a:r>
                        <a:rPr sz="1800"/>
                        <a:t>Seconds</a:t>
                      </a:r>
                      <a:endParaRPr sz="18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209550" y="4154170"/>
          <a:ext cx="11785600" cy="1767840"/>
        </p:xfrm>
        <a:graphic>
          <a:graphicData uri="http://schemas.openxmlformats.org/drawingml/2006/table">
            <a:tbl>
              <a:tblPr/>
              <a:tblGrid>
                <a:gridCol w="5892800"/>
                <a:gridCol w="5892800"/>
              </a:tblGrid>
              <a:tr h="304800">
                <a:tc>
                  <a:txBody>
                    <a:bodyPr/>
                    <a:p>
                      <a:pPr algn="ctr"/>
                      <a:r>
                        <a:rPr sz="2000" b="1">
                          <a:solidFill>
                            <a:srgbClr val="FF0000"/>
                          </a:solidFill>
                        </a:rPr>
                        <a:t>Function</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noFill/>
                  </a:tcPr>
                </a:tc>
              </a:tr>
              <a:tr h="243840">
                <a:tc>
                  <a:txBody>
                    <a:bodyPr/>
                    <a:p>
                      <a:r>
                        <a:rPr sz="1600"/>
                        <a:t>DATE_ADD()</a:t>
                      </a:r>
                      <a:endParaRPr sz="1600"/>
                    </a:p>
                  </a:txBody>
                  <a:tcPr marL="0" marR="0" marT="0" marB="0" anchor="ctr" anchorCtr="0">
                    <a:lnL>
                      <a:noFill/>
                    </a:lnL>
                    <a:lnR>
                      <a:noFill/>
                    </a:lnR>
                    <a:lnT>
                      <a:noFill/>
                    </a:lnT>
                    <a:lnB>
                      <a:noFill/>
                    </a:lnB>
                    <a:noFill/>
                  </a:tcPr>
                </a:tc>
                <a:tc>
                  <a:txBody>
                    <a:bodyPr/>
                    <a:p>
                      <a:r>
                        <a:rPr sz="1600"/>
                        <a:t>SELECT DATE_ADD('2025-10-16', INTERVAL 5 DAY);</a:t>
                      </a:r>
                      <a:endParaRPr sz="1600"/>
                    </a:p>
                  </a:txBody>
                  <a:tcPr marL="0" marR="0" marT="0" marB="0" anchor="ctr" anchorCtr="0">
                    <a:lnL>
                      <a:noFill/>
                    </a:lnL>
                    <a:lnR>
                      <a:noFill/>
                    </a:lnR>
                    <a:lnT>
                      <a:noFill/>
                    </a:lnT>
                    <a:lnB>
                      <a:noFill/>
                    </a:lnB>
                    <a:noFill/>
                  </a:tcPr>
                </a:tc>
              </a:tr>
              <a:tr h="243840">
                <a:tc>
                  <a:txBody>
                    <a:bodyPr/>
                    <a:p>
                      <a:r>
                        <a:rPr sz="1600"/>
                        <a:t>DATE_SUB()</a:t>
                      </a:r>
                      <a:endParaRPr sz="1600"/>
                    </a:p>
                  </a:txBody>
                  <a:tcPr marL="0" marR="0" marT="0" marB="0" anchor="ctr" anchorCtr="0">
                    <a:lnL>
                      <a:noFill/>
                    </a:lnL>
                    <a:lnR>
                      <a:noFill/>
                    </a:lnR>
                    <a:lnT>
                      <a:noFill/>
                    </a:lnT>
                    <a:lnB>
                      <a:noFill/>
                    </a:lnB>
                    <a:noFill/>
                  </a:tcPr>
                </a:tc>
                <a:tc>
                  <a:txBody>
                    <a:bodyPr/>
                    <a:p>
                      <a:r>
                        <a:rPr sz="1600"/>
                        <a:t>SELECT DATE_SUB('2025-10-16', INTERVAL 2 MONTH);</a:t>
                      </a:r>
                      <a:endParaRPr sz="1600"/>
                    </a:p>
                  </a:txBody>
                  <a:tcPr marL="0" marR="0" marT="0" marB="0" anchor="ctr" anchorCtr="0">
                    <a:lnL>
                      <a:noFill/>
                    </a:lnL>
                    <a:lnR>
                      <a:noFill/>
                    </a:lnR>
                    <a:lnT>
                      <a:noFill/>
                    </a:lnT>
                    <a:lnB>
                      <a:noFill/>
                    </a:lnB>
                    <a:noFill/>
                  </a:tcPr>
                </a:tc>
              </a:tr>
              <a:tr h="243840">
                <a:tc>
                  <a:txBody>
                    <a:bodyPr/>
                    <a:p>
                      <a:r>
                        <a:rPr sz="1600"/>
                        <a:t>ADDDATE()</a:t>
                      </a:r>
                      <a:endParaRPr sz="1600"/>
                    </a:p>
                  </a:txBody>
                  <a:tcPr marL="0" marR="0" marT="0" marB="0" anchor="ctr" anchorCtr="0">
                    <a:lnL>
                      <a:noFill/>
                    </a:lnL>
                    <a:lnR>
                      <a:noFill/>
                    </a:lnR>
                    <a:lnT>
                      <a:noFill/>
                    </a:lnT>
                    <a:lnB>
                      <a:noFill/>
                    </a:lnB>
                    <a:noFill/>
                  </a:tcPr>
                </a:tc>
                <a:tc>
                  <a:txBody>
                    <a:bodyPr/>
                    <a:p>
                      <a:r>
                        <a:rPr sz="1600"/>
                        <a:t>SELECT ADDDATE('2025-10-16', 10);</a:t>
                      </a:r>
                      <a:endParaRPr sz="1600"/>
                    </a:p>
                  </a:txBody>
                  <a:tcPr marL="0" marR="0" marT="0" marB="0" anchor="ctr" anchorCtr="0">
                    <a:lnL>
                      <a:noFill/>
                    </a:lnL>
                    <a:lnR>
                      <a:noFill/>
                    </a:lnR>
                    <a:lnT>
                      <a:noFill/>
                    </a:lnT>
                    <a:lnB>
                      <a:noFill/>
                    </a:lnB>
                    <a:noFill/>
                  </a:tcPr>
                </a:tc>
              </a:tr>
              <a:tr h="243840">
                <a:tc>
                  <a:txBody>
                    <a:bodyPr/>
                    <a:p>
                      <a:r>
                        <a:rPr sz="1600"/>
                        <a:t>SUBDATE()</a:t>
                      </a:r>
                      <a:endParaRPr sz="1600"/>
                    </a:p>
                  </a:txBody>
                  <a:tcPr marL="0" marR="0" marT="0" marB="0" anchor="ctr" anchorCtr="0">
                    <a:lnL>
                      <a:noFill/>
                    </a:lnL>
                    <a:lnR>
                      <a:noFill/>
                    </a:lnR>
                    <a:lnT>
                      <a:noFill/>
                    </a:lnT>
                    <a:lnB>
                      <a:noFill/>
                    </a:lnB>
                    <a:noFill/>
                  </a:tcPr>
                </a:tc>
                <a:tc>
                  <a:txBody>
                    <a:bodyPr/>
                    <a:p>
                      <a:r>
                        <a:rPr sz="1600"/>
                        <a:t>SELECT SUBDATE('2025-10-16', 5);</a:t>
                      </a:r>
                      <a:endParaRPr sz="1600"/>
                    </a:p>
                  </a:txBody>
                  <a:tcPr marL="0" marR="0" marT="0" marB="0" anchor="ctr" anchorCtr="0">
                    <a:lnL>
                      <a:noFill/>
                    </a:lnL>
                    <a:lnR>
                      <a:noFill/>
                    </a:lnR>
                    <a:lnT>
                      <a:noFill/>
                    </a:lnT>
                    <a:lnB>
                      <a:noFill/>
                    </a:lnB>
                    <a:noFill/>
                  </a:tcPr>
                </a:tc>
              </a:tr>
              <a:tr h="243840">
                <a:tc>
                  <a:txBody>
                    <a:bodyPr/>
                    <a:p>
                      <a:r>
                        <a:rPr sz="1600"/>
                        <a:t>DATEDIFF()</a:t>
                      </a:r>
                      <a:endParaRPr sz="1600"/>
                    </a:p>
                  </a:txBody>
                  <a:tcPr marL="0" marR="0" marT="0" marB="0" anchor="ctr" anchorCtr="0">
                    <a:lnL>
                      <a:noFill/>
                    </a:lnL>
                    <a:lnR>
                      <a:noFill/>
                    </a:lnR>
                    <a:lnT>
                      <a:noFill/>
                    </a:lnT>
                    <a:lnB>
                      <a:noFill/>
                    </a:lnB>
                    <a:noFill/>
                  </a:tcPr>
                </a:tc>
                <a:tc>
                  <a:txBody>
                    <a:bodyPr/>
                    <a:p>
                      <a:r>
                        <a:rPr sz="1600"/>
                        <a:t>SELECT DATEDIFF('2025-10-20','2025-10-16');</a:t>
                      </a:r>
                      <a:endParaRPr sz="1600"/>
                    </a:p>
                  </a:txBody>
                  <a:tcPr marL="0" marR="0" marT="0" marB="0" anchor="ctr" anchorCtr="0">
                    <a:lnL>
                      <a:noFill/>
                    </a:lnL>
                    <a:lnR>
                      <a:noFill/>
                    </a:lnR>
                    <a:lnT>
                      <a:noFill/>
                    </a:lnT>
                    <a:lnB>
                      <a:noFill/>
                    </a:lnB>
                    <a:noFill/>
                  </a:tcPr>
                </a:tc>
              </a:tr>
              <a:tr h="243840">
                <a:tc>
                  <a:txBody>
                    <a:bodyPr/>
                    <a:p>
                      <a:r>
                        <a:rPr sz="1600"/>
                        <a:t>TIMEDIFF()</a:t>
                      </a:r>
                      <a:endParaRPr sz="1600"/>
                    </a:p>
                  </a:txBody>
                  <a:tcPr marL="0" marR="0" marT="0" marB="0" anchor="ctr" anchorCtr="0">
                    <a:lnL>
                      <a:noFill/>
                    </a:lnL>
                    <a:lnR>
                      <a:noFill/>
                    </a:lnR>
                    <a:lnT>
                      <a:noFill/>
                    </a:lnT>
                    <a:lnB>
                      <a:noFill/>
                    </a:lnB>
                    <a:noFill/>
                  </a:tcPr>
                </a:tc>
                <a:tc>
                  <a:txBody>
                    <a:bodyPr/>
                    <a:p>
                      <a:r>
                        <a:rPr sz="1600"/>
                        <a:t>SELECT TIMEDIFF('12:00:00','08:30:00');</a:t>
                      </a:r>
                      <a:endParaRPr sz="160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940435" y="10795"/>
            <a:ext cx="10490200" cy="364490"/>
          </a:xfrm>
          <a:prstGeom prst="rect">
            <a:avLst/>
          </a:prstGeom>
          <a:noFill/>
        </p:spPr>
        <p:txBody>
          <a:bodyPr wrap="square" rtlCol="0" anchor="t">
            <a:noAutofit/>
          </a:bodyPr>
          <a:p>
            <a:r>
              <a:rPr lang="en-US" altLang="en-US" sz="2000">
                <a:sym typeface="+mn-ea"/>
              </a:rPr>
              <a:t>SELECT DATE_FORMAT('2025-10-16', '%d-%m-%Y');</a:t>
            </a:r>
            <a:endParaRPr lang="en-US" altLang="en-US" sz="2000"/>
          </a:p>
          <a:p>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27000" y="2897505"/>
          <a:ext cx="11758930" cy="1028700"/>
        </p:xfrm>
        <a:graphic>
          <a:graphicData uri="http://schemas.openxmlformats.org/drawingml/2006/table">
            <a:tbl>
              <a:tblPr/>
              <a:tblGrid>
                <a:gridCol w="5879465"/>
                <a:gridCol w="5879465"/>
              </a:tblGrid>
              <a:tr h="257175">
                <a:tc>
                  <a:txBody>
                    <a:bodyPr/>
                    <a:p>
                      <a:pPr algn="ctr"/>
                      <a:r>
                        <a:rPr sz="1800" b="1">
                          <a:solidFill>
                            <a:srgbClr val="FF0000"/>
                          </a:solidFill>
                        </a:rPr>
                        <a:t>Function</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noFill/>
                  </a:tcPr>
                </a:tc>
              </a:tr>
              <a:tr h="257175">
                <a:tc>
                  <a:txBody>
                    <a:bodyPr/>
                    <a:p>
                      <a:r>
                        <a:rPr sz="1600"/>
                        <a:t>STR_TO_DATE()</a:t>
                      </a:r>
                      <a:endParaRPr sz="1600"/>
                    </a:p>
                  </a:txBody>
                  <a:tcPr marL="0" marR="0" marT="0" marB="0" anchor="ctr" anchorCtr="0">
                    <a:lnL>
                      <a:noFill/>
                    </a:lnL>
                    <a:lnR>
                      <a:noFill/>
                    </a:lnR>
                    <a:lnT>
                      <a:noFill/>
                    </a:lnT>
                    <a:lnB>
                      <a:noFill/>
                    </a:lnB>
                    <a:noFill/>
                  </a:tcPr>
                </a:tc>
                <a:tc>
                  <a:txBody>
                    <a:bodyPr/>
                    <a:p>
                      <a:r>
                        <a:rPr sz="1600"/>
                        <a:t>SELECT STR_TO_DATE('16-10-2025','%d-%m-%Y');</a:t>
                      </a:r>
                      <a:endParaRPr sz="1600"/>
                    </a:p>
                  </a:txBody>
                  <a:tcPr marL="0" marR="0" marT="0" marB="0" anchor="ctr" anchorCtr="0">
                    <a:lnL>
                      <a:noFill/>
                    </a:lnL>
                    <a:lnR>
                      <a:noFill/>
                    </a:lnR>
                    <a:lnT>
                      <a:noFill/>
                    </a:lnT>
                    <a:lnB>
                      <a:noFill/>
                    </a:lnB>
                    <a:noFill/>
                  </a:tcPr>
                </a:tc>
              </a:tr>
              <a:tr h="257175">
                <a:tc>
                  <a:txBody>
                    <a:bodyPr/>
                    <a:p>
                      <a:r>
                        <a:rPr sz="1600"/>
                        <a:t>CAST()</a:t>
                      </a:r>
                      <a:endParaRPr sz="1600"/>
                    </a:p>
                  </a:txBody>
                  <a:tcPr marL="0" marR="0" marT="0" marB="0" anchor="ctr" anchorCtr="0">
                    <a:lnL>
                      <a:noFill/>
                    </a:lnL>
                    <a:lnR>
                      <a:noFill/>
                    </a:lnR>
                    <a:lnT>
                      <a:noFill/>
                    </a:lnT>
                    <a:lnB>
                      <a:noFill/>
                    </a:lnB>
                    <a:noFill/>
                  </a:tcPr>
                </a:tc>
                <a:tc>
                  <a:txBody>
                    <a:bodyPr/>
                    <a:p>
                      <a:r>
                        <a:rPr sz="1600"/>
                        <a:t>SELECT CAST('2025-10-16' AS DATE);</a:t>
                      </a:r>
                      <a:endParaRPr sz="1600"/>
                    </a:p>
                  </a:txBody>
                  <a:tcPr marL="0" marR="0" marT="0" marB="0" anchor="ctr" anchorCtr="0">
                    <a:lnL>
                      <a:noFill/>
                    </a:lnL>
                    <a:lnR>
                      <a:noFill/>
                    </a:lnR>
                    <a:lnT>
                      <a:noFill/>
                    </a:lnT>
                    <a:lnB>
                      <a:noFill/>
                    </a:lnB>
                    <a:noFill/>
                  </a:tcPr>
                </a:tc>
              </a:tr>
              <a:tr h="257175">
                <a:tc>
                  <a:txBody>
                    <a:bodyPr/>
                    <a:p>
                      <a:r>
                        <a:rPr sz="1600"/>
                        <a:t>CONVERT()</a:t>
                      </a:r>
                      <a:endParaRPr sz="1600"/>
                    </a:p>
                  </a:txBody>
                  <a:tcPr marL="0" marR="0" marT="0" marB="0" anchor="ctr" anchorCtr="0">
                    <a:lnL>
                      <a:noFill/>
                    </a:lnL>
                    <a:lnR>
                      <a:noFill/>
                    </a:lnR>
                    <a:lnT>
                      <a:noFill/>
                    </a:lnT>
                    <a:lnB>
                      <a:noFill/>
                    </a:lnB>
                    <a:noFill/>
                  </a:tcPr>
                </a:tc>
                <a:tc>
                  <a:txBody>
                    <a:bodyPr/>
                    <a:p>
                      <a:r>
                        <a:rPr sz="1600"/>
                        <a:t>SELECT CONVERT('2025-10-16', DATE);</a:t>
                      </a:r>
                      <a:endParaRPr sz="16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25730" y="4215765"/>
          <a:ext cx="11870690" cy="1006475"/>
        </p:xfrm>
        <a:graphic>
          <a:graphicData uri="http://schemas.openxmlformats.org/drawingml/2006/table">
            <a:tbl>
              <a:tblPr/>
              <a:tblGrid>
                <a:gridCol w="5935345"/>
                <a:gridCol w="5935345"/>
              </a:tblGrid>
              <a:tr h="274320">
                <a:tc>
                  <a:txBody>
                    <a:bodyPr/>
                    <a:p>
                      <a:pPr algn="ctr"/>
                      <a:r>
                        <a:rPr sz="1800" b="1">
                          <a:solidFill>
                            <a:srgbClr val="FF0000"/>
                          </a:solidFill>
                        </a:rPr>
                        <a:t>Function</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noFill/>
                  </a:tcPr>
                </a:tc>
              </a:tr>
              <a:tr h="244475">
                <a:tc>
                  <a:txBody>
                    <a:bodyPr/>
                    <a:p>
                      <a:r>
                        <a:rPr sz="1600"/>
                        <a:t>LAST_DAY()</a:t>
                      </a:r>
                      <a:endParaRPr sz="1600"/>
                    </a:p>
                  </a:txBody>
                  <a:tcPr marL="0" marR="0" marT="0" marB="0" anchor="ctr" anchorCtr="0">
                    <a:lnL>
                      <a:noFill/>
                    </a:lnL>
                    <a:lnR>
                      <a:noFill/>
                    </a:lnR>
                    <a:lnT>
                      <a:noFill/>
                    </a:lnT>
                    <a:lnB>
                      <a:noFill/>
                    </a:lnB>
                    <a:noFill/>
                  </a:tcPr>
                </a:tc>
                <a:tc>
                  <a:txBody>
                    <a:bodyPr/>
                    <a:p>
                      <a:r>
                        <a:rPr sz="1600"/>
                        <a:t>SELECT LAST_DAY('2025-10-16');</a:t>
                      </a:r>
                      <a:endParaRPr sz="1600"/>
                    </a:p>
                  </a:txBody>
                  <a:tcPr marL="0" marR="0" marT="0" marB="0" anchor="ctr" anchorCtr="0">
                    <a:lnL>
                      <a:noFill/>
                    </a:lnL>
                    <a:lnR>
                      <a:noFill/>
                    </a:lnR>
                    <a:lnT>
                      <a:noFill/>
                    </a:lnT>
                    <a:lnB>
                      <a:noFill/>
                    </a:lnB>
                    <a:noFill/>
                  </a:tcPr>
                </a:tc>
              </a:tr>
              <a:tr h="243840">
                <a:tc>
                  <a:txBody>
                    <a:bodyPr/>
                    <a:p>
                      <a:r>
                        <a:rPr sz="1600"/>
                        <a:t>MAKEDATE()</a:t>
                      </a:r>
                      <a:endParaRPr sz="1600"/>
                    </a:p>
                  </a:txBody>
                  <a:tcPr marL="0" marR="0" marT="0" marB="0" anchor="ctr" anchorCtr="0">
                    <a:lnL>
                      <a:noFill/>
                    </a:lnL>
                    <a:lnR>
                      <a:noFill/>
                    </a:lnR>
                    <a:lnT>
                      <a:noFill/>
                    </a:lnT>
                    <a:lnB>
                      <a:noFill/>
                    </a:lnB>
                    <a:noFill/>
                  </a:tcPr>
                </a:tc>
                <a:tc>
                  <a:txBody>
                    <a:bodyPr/>
                    <a:p>
                      <a:r>
                        <a:rPr sz="1600"/>
                        <a:t>SELECT MAKEDATE(2025, 289);</a:t>
                      </a:r>
                      <a:r>
                        <a:rPr lang="en-US" sz="1600"/>
                        <a:t>2025-10-16</a:t>
                      </a:r>
                      <a:endParaRPr lang="en-US" sz="1600"/>
                    </a:p>
                  </a:txBody>
                  <a:tcPr marL="0" marR="0" marT="0" marB="0" anchor="ctr" anchorCtr="0">
                    <a:lnL>
                      <a:noFill/>
                    </a:lnL>
                    <a:lnR>
                      <a:noFill/>
                    </a:lnR>
                    <a:lnT>
                      <a:noFill/>
                    </a:lnT>
                    <a:lnB>
                      <a:noFill/>
                    </a:lnB>
                    <a:noFill/>
                  </a:tcPr>
                </a:tc>
              </a:tr>
              <a:tr h="243840">
                <a:tc>
                  <a:txBody>
                    <a:bodyPr/>
                    <a:p>
                      <a:r>
                        <a:rPr sz="1600"/>
                        <a:t>MAKETIME()</a:t>
                      </a:r>
                      <a:endParaRPr sz="1600"/>
                    </a:p>
                  </a:txBody>
                  <a:tcPr marL="0" marR="0" marT="0" marB="0" anchor="ctr" anchorCtr="0">
                    <a:lnL>
                      <a:noFill/>
                    </a:lnL>
                    <a:lnR>
                      <a:noFill/>
                    </a:lnR>
                    <a:lnT>
                      <a:noFill/>
                    </a:lnT>
                    <a:lnB>
                      <a:noFill/>
                    </a:lnB>
                    <a:noFill/>
                  </a:tcPr>
                </a:tc>
                <a:tc>
                  <a:txBody>
                    <a:bodyPr/>
                    <a:p>
                      <a:r>
                        <a:rPr sz="1600"/>
                        <a:t>SELECT MAKETIME(10,3</a:t>
                      </a:r>
                      <a:r>
                        <a:rPr lang="en-US" sz="1600"/>
                        <a:t>2</a:t>
                      </a:r>
                      <a:r>
                        <a:rPr sz="1600"/>
                        <a:t>,</a:t>
                      </a:r>
                      <a:r>
                        <a:rPr lang="en-US" sz="1600"/>
                        <a:t>150</a:t>
                      </a:r>
                      <a:r>
                        <a:rPr sz="1600"/>
                        <a:t>);</a:t>
                      </a:r>
                      <a:r>
                        <a:rPr lang="en-US" sz="1600"/>
                        <a:t>10:32:30</a:t>
                      </a:r>
                      <a:endParaRPr lang="en-US" sz="16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3"/>
            </p:custDataLst>
          </p:nvPr>
        </p:nvGraphicFramePr>
        <p:xfrm>
          <a:off x="127000" y="1714500"/>
          <a:ext cx="11950700" cy="944880"/>
        </p:xfrm>
        <a:graphic>
          <a:graphicData uri="http://schemas.openxmlformats.org/drawingml/2006/table">
            <a:tbl>
              <a:tblPr/>
              <a:tblGrid>
                <a:gridCol w="5975350"/>
                <a:gridCol w="5975350"/>
              </a:tblGrid>
              <a:tr h="236220">
                <a:tc>
                  <a:txBody>
                    <a:bodyPr/>
                    <a:p>
                      <a:pPr algn="ctr"/>
                      <a:r>
                        <a:rPr sz="1800" b="1">
                          <a:solidFill>
                            <a:srgbClr val="FF0000"/>
                          </a:solidFill>
                        </a:rPr>
                        <a:t>Function</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noFill/>
                  </a:tcPr>
                </a:tc>
              </a:tr>
              <a:tr h="236220">
                <a:tc>
                  <a:txBody>
                    <a:bodyPr/>
                    <a:p>
                      <a:r>
                        <a:rPr sz="1600"/>
                        <a:t>HOUR()</a:t>
                      </a:r>
                      <a:endParaRPr sz="1600"/>
                    </a:p>
                  </a:txBody>
                  <a:tcPr marL="0" marR="0" marT="0" marB="0" anchor="ctr" anchorCtr="0">
                    <a:lnL>
                      <a:noFill/>
                    </a:lnL>
                    <a:lnR>
                      <a:noFill/>
                    </a:lnR>
                    <a:lnT>
                      <a:noFill/>
                    </a:lnT>
                    <a:lnB>
                      <a:noFill/>
                    </a:lnB>
                    <a:noFill/>
                  </a:tcPr>
                </a:tc>
                <a:tc>
                  <a:txBody>
                    <a:bodyPr/>
                    <a:p>
                      <a:r>
                        <a:rPr sz="1600"/>
                        <a:t>SELECT HOUR('12:45:30');</a:t>
                      </a:r>
                      <a:endParaRPr sz="1600"/>
                    </a:p>
                  </a:txBody>
                  <a:tcPr marL="0" marR="0" marT="0" marB="0" anchor="ctr" anchorCtr="0">
                    <a:lnL>
                      <a:noFill/>
                    </a:lnL>
                    <a:lnR>
                      <a:noFill/>
                    </a:lnR>
                    <a:lnT>
                      <a:noFill/>
                    </a:lnT>
                    <a:lnB>
                      <a:noFill/>
                    </a:lnB>
                    <a:noFill/>
                  </a:tcPr>
                </a:tc>
              </a:tr>
              <a:tr h="236220">
                <a:tc>
                  <a:txBody>
                    <a:bodyPr/>
                    <a:p>
                      <a:r>
                        <a:rPr sz="1600"/>
                        <a:t>MINUTE()</a:t>
                      </a:r>
                      <a:endParaRPr sz="1600"/>
                    </a:p>
                  </a:txBody>
                  <a:tcPr marL="0" marR="0" marT="0" marB="0" anchor="ctr" anchorCtr="0">
                    <a:lnL>
                      <a:noFill/>
                    </a:lnL>
                    <a:lnR>
                      <a:noFill/>
                    </a:lnR>
                    <a:lnT>
                      <a:noFill/>
                    </a:lnT>
                    <a:lnB>
                      <a:noFill/>
                    </a:lnB>
                    <a:noFill/>
                  </a:tcPr>
                </a:tc>
                <a:tc>
                  <a:txBody>
                    <a:bodyPr/>
                    <a:p>
                      <a:r>
                        <a:rPr sz="1600"/>
                        <a:t>SELECT MINUTE('12:45:30');</a:t>
                      </a:r>
                      <a:endParaRPr sz="1600"/>
                    </a:p>
                  </a:txBody>
                  <a:tcPr marL="0" marR="0" marT="0" marB="0" anchor="ctr" anchorCtr="0">
                    <a:lnL>
                      <a:noFill/>
                    </a:lnL>
                    <a:lnR>
                      <a:noFill/>
                    </a:lnR>
                    <a:lnT>
                      <a:noFill/>
                    </a:lnT>
                    <a:lnB>
                      <a:noFill/>
                    </a:lnB>
                    <a:noFill/>
                  </a:tcPr>
                </a:tc>
              </a:tr>
              <a:tr h="236220">
                <a:tc>
                  <a:txBody>
                    <a:bodyPr/>
                    <a:p>
                      <a:r>
                        <a:rPr sz="1600"/>
                        <a:t>SECOND()</a:t>
                      </a:r>
                      <a:endParaRPr sz="1600"/>
                    </a:p>
                  </a:txBody>
                  <a:tcPr marL="0" marR="0" marT="0" marB="0" anchor="ctr" anchorCtr="0">
                    <a:lnL>
                      <a:noFill/>
                    </a:lnL>
                    <a:lnR>
                      <a:noFill/>
                    </a:lnR>
                    <a:lnT>
                      <a:noFill/>
                    </a:lnT>
                    <a:lnB>
                      <a:noFill/>
                    </a:lnB>
                    <a:noFill/>
                  </a:tcPr>
                </a:tc>
                <a:tc>
                  <a:txBody>
                    <a:bodyPr/>
                    <a:p>
                      <a:r>
                        <a:rPr sz="1600"/>
                        <a:t>SELECT SECOND('12:45:30');</a:t>
                      </a:r>
                      <a:endParaRPr sz="1600"/>
                    </a:p>
                  </a:txBody>
                  <a:tcPr marL="0" marR="0" marT="0" marB="0" anchor="ctr" anchorCtr="0">
                    <a:lnL>
                      <a:noFill/>
                    </a:lnL>
                    <a:lnR>
                      <a:noFill/>
                    </a:lnR>
                    <a:lnT>
                      <a:noFill/>
                    </a:lnT>
                    <a:lnB>
                      <a:noFill/>
                    </a:lnB>
                    <a:noFill/>
                  </a:tcPr>
                </a:tc>
              </a:tr>
            </a:tbl>
          </a:graphicData>
        </a:graphic>
      </p:graphicFrame>
      <p:graphicFrame>
        <p:nvGraphicFramePr>
          <p:cNvPr id="7" name="Table 6"/>
          <p:cNvGraphicFramePr/>
          <p:nvPr>
            <p:custDataLst>
              <p:tags r:id="rId4"/>
            </p:custDataLst>
          </p:nvPr>
        </p:nvGraphicFramePr>
        <p:xfrm>
          <a:off x="127000" y="121285"/>
          <a:ext cx="11868150" cy="1416050"/>
        </p:xfrm>
        <a:graphic>
          <a:graphicData uri="http://schemas.openxmlformats.org/drawingml/2006/table">
            <a:tbl>
              <a:tblPr/>
              <a:tblGrid>
                <a:gridCol w="5934075"/>
                <a:gridCol w="5934075"/>
              </a:tblGrid>
              <a:tr h="283210">
                <a:tc>
                  <a:txBody>
                    <a:bodyPr/>
                    <a:p>
                      <a:pPr algn="ctr"/>
                      <a:r>
                        <a:rPr sz="1800" b="1">
                          <a:solidFill>
                            <a:srgbClr val="FF0000"/>
                          </a:solidFill>
                        </a:rPr>
                        <a:t>Function</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noFill/>
                  </a:tcPr>
                </a:tc>
              </a:tr>
              <a:tr h="283210">
                <a:tc>
                  <a:txBody>
                    <a:bodyPr/>
                    <a:p>
                      <a:r>
                        <a:rPr sz="1600"/>
                        <a:t>TIMESTAMP()</a:t>
                      </a:r>
                      <a:endParaRPr sz="1600"/>
                    </a:p>
                  </a:txBody>
                  <a:tcPr marL="0" marR="0" marT="0" marB="0" anchor="ctr" anchorCtr="0">
                    <a:lnL>
                      <a:noFill/>
                    </a:lnL>
                    <a:lnR>
                      <a:noFill/>
                    </a:lnR>
                    <a:lnT>
                      <a:noFill/>
                    </a:lnT>
                    <a:lnB>
                      <a:noFill/>
                    </a:lnB>
                    <a:noFill/>
                  </a:tcPr>
                </a:tc>
                <a:tc>
                  <a:txBody>
                    <a:bodyPr/>
                    <a:p>
                      <a:r>
                        <a:rPr sz="1600"/>
                        <a:t>SELECT TIMESTAMP('2025-10-16','10:30:00');</a:t>
                      </a:r>
                      <a:endParaRPr sz="1600"/>
                    </a:p>
                  </a:txBody>
                  <a:tcPr marL="0" marR="0" marT="0" marB="0" anchor="ctr" anchorCtr="0">
                    <a:lnL>
                      <a:noFill/>
                    </a:lnL>
                    <a:lnR>
                      <a:noFill/>
                    </a:lnR>
                    <a:lnT>
                      <a:noFill/>
                    </a:lnT>
                    <a:lnB>
                      <a:noFill/>
                    </a:lnB>
                    <a:noFill/>
                  </a:tcPr>
                </a:tc>
              </a:tr>
              <a:tr h="283210">
                <a:tc>
                  <a:txBody>
                    <a:bodyPr/>
                    <a:p>
                      <a:r>
                        <a:rPr sz="1600"/>
                        <a:t>TIMESTAMPDIFF()</a:t>
                      </a:r>
                      <a:endParaRPr sz="1600"/>
                    </a:p>
                  </a:txBody>
                  <a:tcPr marL="0" marR="0" marT="0" marB="0" anchor="ctr" anchorCtr="0">
                    <a:lnL>
                      <a:noFill/>
                    </a:lnL>
                    <a:lnR>
                      <a:noFill/>
                    </a:lnR>
                    <a:lnT>
                      <a:noFill/>
                    </a:lnT>
                    <a:lnB>
                      <a:noFill/>
                    </a:lnB>
                    <a:noFill/>
                  </a:tcPr>
                </a:tc>
                <a:tc>
                  <a:txBody>
                    <a:bodyPr/>
                    <a:p>
                      <a:r>
                        <a:rPr sz="1600"/>
                        <a:t>SELECT TIMESTAMPDIFF(DAY,'2025-10-01','2025-10-16');</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51790"/>
          </a:xfrm>
        </p:spPr>
        <p:txBody>
          <a:bodyPr>
            <a:noAutofit/>
          </a:bodyPr>
          <a:p>
            <a:pPr algn="ctr"/>
            <a:r>
              <a:rPr lang="en-US" altLang="en-US" sz="2800" b="1">
                <a:solidFill>
                  <a:srgbClr val="FF0000"/>
                </a:solidFill>
                <a:sym typeface="+mn-ea"/>
              </a:rPr>
              <a:t>SQL Transaction Control Language (TCL)</a:t>
            </a:r>
            <a:endParaRPr lang="en-US" altLang="en-US" sz="2800" b="1">
              <a:solidFill>
                <a:srgbClr val="FF0000"/>
              </a:solidFill>
              <a:sym typeface="+mn-ea"/>
            </a:endParaRPr>
          </a:p>
        </p:txBody>
      </p:sp>
      <p:sp>
        <p:nvSpPr>
          <p:cNvPr id="3" name="Content Placeholder 2"/>
          <p:cNvSpPr>
            <a:spLocks noGrp="1"/>
          </p:cNvSpPr>
          <p:nvPr>
            <p:ph idx="1"/>
          </p:nvPr>
        </p:nvSpPr>
        <p:spPr>
          <a:xfrm>
            <a:off x="112395" y="791210"/>
            <a:ext cx="11978640" cy="5938520"/>
          </a:xfrm>
        </p:spPr>
        <p:txBody>
          <a:bodyPr>
            <a:normAutofit/>
          </a:bodyPr>
          <a:p>
            <a:pPr marL="0" indent="0">
              <a:buNone/>
            </a:pPr>
            <a:r>
              <a:rPr lang="en-US" altLang="en-US" sz="2000">
                <a:sym typeface="+mn-ea"/>
              </a:rPr>
              <a:t>Transaction Control Language (TCL) in SQL is a set of commands specifically designed to manage the changes made by DML statements (like INSERT, UPDATE, DELETE). It allows control over transaction processes in a database. The primary TCL commands are COMMIT, ROLLBACK, and SAVEPOINT.</a:t>
            </a:r>
            <a:endParaRPr lang="en-US" altLang="en-US" sz="2000"/>
          </a:p>
          <a:p>
            <a:pPr marL="0" indent="0">
              <a:buNone/>
            </a:pPr>
            <a:r>
              <a:rPr lang="en-US" altLang="en-US" sz="2000" b="1">
                <a:sym typeface="+mn-ea"/>
              </a:rPr>
              <a:t>COMMIT</a:t>
            </a:r>
            <a:r>
              <a:rPr lang="en-US" altLang="en-US" sz="2000">
                <a:sym typeface="+mn-ea"/>
              </a:rPr>
              <a:t>: This command is used to permanently save all changes made during the current transaction. Once a transaction is committed, it cannot be undone.</a:t>
            </a:r>
            <a:endParaRPr lang="en-US" altLang="en-US" sz="2000"/>
          </a:p>
          <a:p>
            <a:pPr marL="0" indent="0">
              <a:buNone/>
            </a:pPr>
            <a:r>
              <a:rPr lang="en-US" altLang="en-US" sz="2000">
                <a:sym typeface="+mn-ea"/>
              </a:rPr>
              <a:t>Example: After updating a record in a table, you can commit the transaction:</a:t>
            </a:r>
            <a:endParaRPr lang="en-US" altLang="en-US" sz="2000"/>
          </a:p>
          <a:p>
            <a:pPr marL="0" indent="0">
              <a:buNone/>
            </a:pPr>
            <a:r>
              <a:rPr lang="en-US" altLang="en-US" sz="2000">
                <a:sym typeface="+mn-ea"/>
              </a:rPr>
              <a:t>UPDATE employees SET salary = salary + 1000 WHERE id = 101;</a:t>
            </a:r>
            <a:endParaRPr lang="en-US" altLang="en-US" sz="2000"/>
          </a:p>
          <a:p>
            <a:pPr marL="0" indent="0">
              <a:buNone/>
            </a:pPr>
            <a:r>
              <a:rPr lang="en-US" altLang="en-US" sz="2000">
                <a:sym typeface="+mn-ea"/>
              </a:rPr>
              <a:t>COMMIT;</a:t>
            </a:r>
            <a:endParaRPr lang="en-US" altLang="en-US" sz="2000"/>
          </a:p>
          <a:p>
            <a:pPr marL="0" indent="0">
              <a:buNone/>
            </a:pPr>
            <a:r>
              <a:rPr lang="en-US" altLang="en-US" sz="2000" b="1">
                <a:sym typeface="+mn-ea"/>
              </a:rPr>
              <a:t>2. ROLLBACK:</a:t>
            </a:r>
            <a:r>
              <a:rPr lang="en-US" altLang="en-US" sz="2000">
                <a:sym typeface="+mn-ea"/>
              </a:rPr>
              <a:t> Used to undo transactions that have not yet been committed. It can revert the database to the last committed state. ROLLBACK is useful in case of an error or if the transaction needs to be aborted.</a:t>
            </a:r>
            <a:endParaRPr lang="en-US" altLang="en-US" sz="2000"/>
          </a:p>
          <a:p>
            <a:pPr marL="0" indent="0">
              <a:buNone/>
            </a:pPr>
            <a:r>
              <a:rPr lang="en-US" altLang="en-US" sz="2000">
                <a:sym typeface="+mn-ea"/>
              </a:rPr>
              <a:t>Example: If you decide not to apply the changes made in the previous example:</a:t>
            </a:r>
            <a:endParaRPr lang="en-US" altLang="en-US" sz="2000"/>
          </a:p>
          <a:p>
            <a:pPr marL="0" indent="0">
              <a:buNone/>
            </a:pPr>
            <a:r>
              <a:rPr lang="en-US" altLang="en-US" sz="2000">
                <a:sym typeface="+mn-ea"/>
              </a:rPr>
              <a:t>UPDATE employees SET salary = salary + 1000 WHERE id = 101;</a:t>
            </a:r>
            <a:endParaRPr lang="en-US" altLang="en-US" sz="2000"/>
          </a:p>
          <a:p>
            <a:pPr marL="0" indent="0">
              <a:buNone/>
            </a:pPr>
            <a:r>
              <a:rPr lang="en-US" altLang="en-US" sz="2000">
                <a:sym typeface="+mn-ea"/>
              </a:rPr>
              <a:t>ROLLBACK;</a:t>
            </a:r>
            <a:endParaRPr lang="en-US" altLang="en-US" sz="2000"/>
          </a:p>
          <a:p>
            <a:pPr marL="0" indent="0">
              <a:buNone/>
            </a:pPr>
            <a:endParaRPr lang="en-US" altLang="en-US" sz="2000"/>
          </a:p>
          <a:p>
            <a:endParaRPr lang="en-US"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6360" y="0"/>
            <a:ext cx="12006580" cy="460375"/>
          </a:xfrm>
        </p:spPr>
        <p:txBody>
          <a:bodyPr>
            <a:normAutofit fontScale="90000"/>
          </a:bodyPr>
          <a:p>
            <a:pPr algn="ctr"/>
            <a:r>
              <a:rPr lang="en-US" altLang="en-US" sz="2800" b="1">
                <a:solidFill>
                  <a:srgbClr val="FF0000"/>
                </a:solidFill>
                <a:sym typeface="+mn-ea"/>
              </a:rPr>
              <a:t>3. SAVEPOINT:</a:t>
            </a:r>
            <a:endParaRPr lang="en-US" altLang="en-US" sz="2800" b="1">
              <a:solidFill>
                <a:srgbClr val="FF0000"/>
              </a:solidFill>
              <a:sym typeface="+mn-ea"/>
            </a:endParaRPr>
          </a:p>
        </p:txBody>
      </p:sp>
      <p:sp>
        <p:nvSpPr>
          <p:cNvPr id="3" name="Content Placeholder 2"/>
          <p:cNvSpPr>
            <a:spLocks noGrp="1"/>
          </p:cNvSpPr>
          <p:nvPr>
            <p:ph idx="1"/>
          </p:nvPr>
        </p:nvSpPr>
        <p:spPr>
          <a:xfrm>
            <a:off x="86360" y="460375"/>
            <a:ext cx="11884025" cy="6240780"/>
          </a:xfrm>
        </p:spPr>
        <p:txBody>
          <a:bodyPr>
            <a:normAutofit/>
          </a:bodyPr>
          <a:p>
            <a:pPr marL="0" indent="0">
              <a:buNone/>
            </a:pPr>
            <a:r>
              <a:rPr lang="en-US" altLang="en-US" sz="2000">
                <a:sym typeface="+mn-ea"/>
              </a:rPr>
              <a:t> This command allows you to set a savepoint within a transaction, which is a point to which you can later roll back. It helps create a partial rollback point within a long transaction.</a:t>
            </a:r>
            <a:endParaRPr lang="en-US" altLang="en-US" sz="2000"/>
          </a:p>
          <a:p>
            <a:pPr marL="0" indent="0">
              <a:buNone/>
            </a:pPr>
            <a:r>
              <a:rPr lang="en-US" altLang="en-US" sz="2000">
                <a:sym typeface="+mn-ea"/>
              </a:rPr>
              <a:t>Example: Creating a savepoint and rolling back to it:</a:t>
            </a:r>
            <a:endParaRPr lang="en-US" altLang="en-US" sz="2000"/>
          </a:p>
          <a:p>
            <a:pPr marL="0" indent="0">
              <a:buNone/>
            </a:pPr>
            <a:r>
              <a:rPr lang="en-US" altLang="en-US" sz="2000">
                <a:sym typeface="+mn-ea"/>
              </a:rPr>
              <a:t>UPDATE employees SET salary = salary + 500 WHERE id = </a:t>
            </a:r>
            <a:endParaRPr lang="en-US" altLang="en-US" sz="2000">
              <a:sym typeface="+mn-ea"/>
            </a:endParaRPr>
          </a:p>
          <a:p>
            <a:pPr marL="0" indent="0">
              <a:buNone/>
            </a:pPr>
            <a:endParaRPr lang="en-US" altLang="en-US" sz="1800">
              <a:sym typeface="+mn-ea"/>
            </a:endParaRPr>
          </a:p>
          <a:p>
            <a:pPr marL="0" indent="0">
              <a:buNone/>
            </a:pPr>
            <a:r>
              <a:rPr lang="en-US" altLang="en-US" sz="1800" b="1">
                <a:sym typeface="+mn-ea"/>
              </a:rPr>
              <a:t>When and Why Use Savepoint command</a:t>
            </a:r>
            <a:endParaRPr lang="en-US" altLang="en-US" sz="1800" b="1">
              <a:sym typeface="+mn-ea"/>
            </a:endParaRPr>
          </a:p>
          <a:p>
            <a:pPr marL="0" indent="0">
              <a:buNone/>
            </a:pPr>
            <a:endParaRPr lang="en-US" altLang="en-US" sz="1800" b="1"/>
          </a:p>
          <a:p>
            <a:r>
              <a:rPr lang="en-US" altLang="en-US" sz="1800"/>
              <a:t>To perform partial rollback within a transaction</a:t>
            </a:r>
            <a:endParaRPr lang="en-US" altLang="en-US" sz="1800"/>
          </a:p>
          <a:p>
            <a:r>
              <a:rPr lang="en-US" altLang="en-US" sz="1800"/>
              <a:t>To undo only a specific part of a transaction</a:t>
            </a:r>
            <a:endParaRPr lang="en-US" altLang="en-US" sz="1800"/>
          </a:p>
          <a:p>
            <a:r>
              <a:rPr lang="en-US" altLang="en-US" sz="1800"/>
              <a:t>To handle errors without cancelling the entire transaction</a:t>
            </a:r>
            <a:endParaRPr lang="en-US" altLang="en-US" sz="1800"/>
          </a:p>
          <a:p>
            <a:r>
              <a:rPr lang="en-US" altLang="en-US" sz="1800"/>
              <a:t>To manage complex or multi-step transactions</a:t>
            </a:r>
            <a:endParaRPr lang="en-US" altLang="en-US" sz="1800"/>
          </a:p>
          <a:p>
            <a:r>
              <a:rPr lang="en-US" altLang="en-US" sz="1800"/>
              <a:t>To simulate nested transactions</a:t>
            </a:r>
            <a:endParaRPr lang="en-US" altLang="en-US" sz="1800"/>
          </a:p>
          <a:p>
            <a:r>
              <a:rPr lang="en-US" altLang="en-US" sz="1800"/>
              <a:t>To safely execute risky operations inside a transaction</a:t>
            </a:r>
            <a:endParaRPr lang="en-US" altLang="en-US" sz="1800"/>
          </a:p>
          <a:p>
            <a:r>
              <a:rPr lang="en-US" altLang="en-US" sz="1800"/>
              <a:t>To maintain data consistency while continuing execution</a:t>
            </a: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92430"/>
          </a:xfrm>
        </p:spPr>
        <p:txBody>
          <a:bodyPr>
            <a:noAutofit/>
          </a:bodyPr>
          <a:p>
            <a:pPr algn="ctr"/>
            <a:r>
              <a:rPr lang="en-US" sz="2800" b="1">
                <a:solidFill>
                  <a:srgbClr val="FF0000"/>
                </a:solidFill>
              </a:rPr>
              <a:t>SUBQUERY</a:t>
            </a:r>
            <a:endParaRPr lang="en-US" sz="2800" b="1">
              <a:solidFill>
                <a:srgbClr val="FF0000"/>
              </a:solidFill>
            </a:endParaRPr>
          </a:p>
        </p:txBody>
      </p:sp>
      <p:sp>
        <p:nvSpPr>
          <p:cNvPr id="3" name="Content Placeholder 2"/>
          <p:cNvSpPr>
            <a:spLocks noGrp="1"/>
          </p:cNvSpPr>
          <p:nvPr>
            <p:ph idx="1"/>
          </p:nvPr>
        </p:nvSpPr>
        <p:spPr>
          <a:xfrm>
            <a:off x="85090" y="392430"/>
            <a:ext cx="11993245" cy="6318885"/>
          </a:xfrm>
        </p:spPr>
        <p:txBody>
          <a:bodyPr>
            <a:normAutofit lnSpcReduction="20000"/>
          </a:bodyPr>
          <a:p>
            <a:r>
              <a:rPr lang="en-US" altLang="en-US" sz="2000"/>
              <a:t>A subquery is a query written inside another SQL query to provide results to the main query. It is enclosed in parentheses and executed before the outer query.</a:t>
            </a:r>
            <a:endParaRPr lang="en-US" altLang="en-US" sz="2000"/>
          </a:p>
          <a:p>
            <a:pPr marL="0" indent="0">
              <a:buNone/>
            </a:pPr>
            <a:endParaRPr lang="en-US" altLang="en-US" sz="2000"/>
          </a:p>
          <a:p>
            <a:pPr marL="0" indent="0">
              <a:buNone/>
            </a:pPr>
            <a:r>
              <a:rPr lang="en-US" altLang="en-US" sz="2000" b="1"/>
              <a:t>Key Points of Subquery</a:t>
            </a:r>
            <a:endParaRPr lang="en-US" altLang="en-US" sz="2000"/>
          </a:p>
          <a:p>
            <a:r>
              <a:rPr lang="en-US" altLang="en-US" sz="2000"/>
              <a:t>Also called a nested query</a:t>
            </a:r>
            <a:endParaRPr lang="en-US" altLang="en-US" sz="2000"/>
          </a:p>
          <a:p>
            <a:r>
              <a:rPr lang="en-US" altLang="en-US" sz="2000"/>
              <a:t>Written inside parentheses ( )</a:t>
            </a:r>
            <a:endParaRPr lang="en-US" altLang="en-US" sz="2000"/>
          </a:p>
          <a:p>
            <a:r>
              <a:rPr lang="en-US" altLang="en-US" sz="2000"/>
              <a:t>Executed before the outer query</a:t>
            </a:r>
            <a:endParaRPr lang="en-US" altLang="en-US" sz="2000"/>
          </a:p>
          <a:p>
            <a:r>
              <a:rPr lang="en-US" altLang="en-US" sz="2000"/>
              <a:t>Can return single value, multiple rows, or multiple columns</a:t>
            </a:r>
            <a:endParaRPr lang="en-US" altLang="en-US" sz="2000"/>
          </a:p>
          <a:p>
            <a:r>
              <a:rPr lang="en-US" altLang="en-US" sz="2000"/>
              <a:t>Used in SELECT, WHERE, FROM, INSERT, UPDATE, DELETE</a:t>
            </a:r>
            <a:endParaRPr lang="en-US" altLang="en-US" sz="2000"/>
          </a:p>
          <a:p>
            <a:r>
              <a:rPr lang="en-US" altLang="en-US" sz="2000"/>
              <a:t>Helps in solving complex queries</a:t>
            </a:r>
            <a:endParaRPr lang="en-US" altLang="en-US" sz="2000"/>
          </a:p>
          <a:p>
            <a:r>
              <a:rPr lang="en-US" altLang="en-US" sz="2000"/>
              <a:t>Outer query depends on the subquery result</a:t>
            </a:r>
            <a:endParaRPr lang="en-US" altLang="en-US" sz="2000"/>
          </a:p>
          <a:p>
            <a:endParaRPr lang="en-US" altLang="en-US" sz="2000"/>
          </a:p>
          <a:p>
            <a:pPr marL="0" indent="0">
              <a:buNone/>
            </a:pPr>
            <a:r>
              <a:rPr lang="en-US" altLang="en-US" sz="2000"/>
              <a:t>SELECT name</a:t>
            </a:r>
            <a:endParaRPr lang="en-US" altLang="en-US" sz="2000"/>
          </a:p>
          <a:p>
            <a:pPr marL="0" indent="0">
              <a:buNone/>
            </a:pPr>
            <a:r>
              <a:rPr lang="en-US" altLang="en-US" sz="2000"/>
              <a:t>FROM employees</a:t>
            </a:r>
            <a:endParaRPr lang="en-US" altLang="en-US" sz="2000"/>
          </a:p>
          <a:p>
            <a:pPr marL="0" indent="0">
              <a:buNone/>
            </a:pPr>
            <a:r>
              <a:rPr lang="en-US" altLang="en-US" sz="2000"/>
              <a:t>WHERE salary &gt; (</a:t>
            </a:r>
            <a:endParaRPr lang="en-US" altLang="en-US" sz="2000"/>
          </a:p>
          <a:p>
            <a:pPr marL="0" indent="0">
              <a:buNone/>
            </a:pPr>
            <a:r>
              <a:rPr lang="en-US" altLang="en-US" sz="2000"/>
              <a:t>    SELECT AVG(salary)</a:t>
            </a:r>
            <a:endParaRPr lang="en-US" altLang="en-US" sz="2000"/>
          </a:p>
          <a:p>
            <a:pPr marL="0" indent="0">
              <a:buNone/>
            </a:pPr>
            <a:r>
              <a:rPr lang="en-US" altLang="en-US" sz="2000"/>
              <a:t>    FROM employees</a:t>
            </a:r>
            <a:endParaRPr lang="en-US" altLang="en-US" sz="2000"/>
          </a:p>
          <a:p>
            <a:pPr marL="0" indent="0">
              <a:buNone/>
            </a:pPr>
            <a:r>
              <a:rPr lang="en-US" altLang="en-US" sz="2000"/>
              <a:t>);</a:t>
            </a:r>
            <a:endParaRPr lang="en-US" altLang="en-US" sz="2000"/>
          </a:p>
          <a:p>
            <a:endParaRPr lang="en-US" altLang="en-US" sz="2000"/>
          </a:p>
        </p:txBody>
      </p:sp>
      <p:sp>
        <p:nvSpPr>
          <p:cNvPr id="4" name="Text Box 3"/>
          <p:cNvSpPr txBox="1"/>
          <p:nvPr/>
        </p:nvSpPr>
        <p:spPr>
          <a:xfrm>
            <a:off x="7345045" y="4168140"/>
            <a:ext cx="4733290" cy="2543175"/>
          </a:xfrm>
          <a:prstGeom prst="rect">
            <a:avLst/>
          </a:prstGeom>
          <a:noFill/>
        </p:spPr>
        <p:txBody>
          <a:bodyPr wrap="square" rtlCol="0" anchor="t">
            <a:noAutofit/>
          </a:bodyPr>
          <a:p>
            <a:r>
              <a:rPr lang="en-US" altLang="en-US" b="1"/>
              <a:t>Syntax of Subquery</a:t>
            </a:r>
            <a:endParaRPr lang="en-US" altLang="en-US" b="1"/>
          </a:p>
          <a:p>
            <a:endParaRPr lang="en-US" altLang="en-US"/>
          </a:p>
          <a:p>
            <a:r>
              <a:rPr lang="en-US" altLang="en-US"/>
              <a:t>SELECT column_name FROM table_name</a:t>
            </a:r>
            <a:endParaRPr lang="en-US" altLang="en-US"/>
          </a:p>
          <a:p>
            <a:endParaRPr lang="en-US" altLang="en-US"/>
          </a:p>
          <a:p>
            <a:r>
              <a:rPr lang="en-US" altLang="en-US"/>
              <a:t>WHERE column_name operator (</a:t>
            </a:r>
            <a:endParaRPr lang="en-US" altLang="en-US"/>
          </a:p>
          <a:p>
            <a:r>
              <a:rPr lang="en-US" altLang="en-US"/>
              <a:t>    SELECT column_name FROM table_name</a:t>
            </a:r>
            <a:endParaRPr lang="en-US" altLang="en-US"/>
          </a:p>
          <a:p>
            <a:r>
              <a:rPr lang="en-US" altLang="en-US"/>
              <a:t>    WHERE condition</a:t>
            </a:r>
            <a:endParaRPr lang="en-US" altLang="en-US"/>
          </a:p>
          <a:p>
            <a:r>
              <a:rPr lang="en-US" altLang="en-US"/>
              <a: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305" y="0"/>
            <a:ext cx="10515600" cy="319405"/>
          </a:xfrm>
        </p:spPr>
        <p:txBody>
          <a:bodyPr>
            <a:normAutofit fontScale="90000"/>
          </a:bodyPr>
          <a:p>
            <a:pPr algn="ctr"/>
            <a:r>
              <a:rPr lang="en-US" altLang="en-US" sz="2800" b="1">
                <a:solidFill>
                  <a:srgbClr val="FF0000"/>
                </a:solidFill>
                <a:sym typeface="+mn-ea"/>
              </a:rPr>
              <a:t>  What is a Stored Procedure</a:t>
            </a:r>
            <a:endParaRPr lang="en-US" altLang="en-US" sz="2800" b="1">
              <a:solidFill>
                <a:srgbClr val="FF0000"/>
              </a:solidFill>
              <a:sym typeface="+mn-ea"/>
            </a:endParaRPr>
          </a:p>
        </p:txBody>
      </p:sp>
      <p:sp>
        <p:nvSpPr>
          <p:cNvPr id="3" name="Content Placeholder 2"/>
          <p:cNvSpPr>
            <a:spLocks noGrp="1"/>
          </p:cNvSpPr>
          <p:nvPr>
            <p:ph idx="1"/>
          </p:nvPr>
        </p:nvSpPr>
        <p:spPr>
          <a:xfrm>
            <a:off x="-635" y="320040"/>
            <a:ext cx="12193270" cy="6411595"/>
          </a:xfrm>
        </p:spPr>
        <p:txBody>
          <a:bodyPr>
            <a:noAutofit/>
          </a:bodyPr>
          <a:p>
            <a:pPr marL="0" indent="0">
              <a:buNone/>
            </a:pPr>
            <a:r>
              <a:rPr lang="en-US" altLang="en-US" sz="1800"/>
              <a:t>A stored procedure is a precompiled SQL code block stored in the database. It can be executed (called) with or without parameters to perform operations like SELECT, INSERT, UPDATE, and DELETE.</a:t>
            </a:r>
            <a:endParaRPr lang="en-US" altLang="en-US" sz="1800"/>
          </a:p>
          <a:p>
            <a:pPr marL="0" indent="0">
              <a:buNone/>
            </a:pPr>
            <a:r>
              <a:rPr lang="en-US" altLang="en-US" sz="1800"/>
              <a:t>A stored procedure is a predefined set of SQL statements that are stored in the database and can be executed (called) repeatedly.</a:t>
            </a:r>
            <a:endParaRPr lang="en-US" altLang="en-US" sz="1800"/>
          </a:p>
          <a:p>
            <a:pPr marL="0" indent="0">
              <a:buNone/>
            </a:pPr>
            <a:r>
              <a:rPr lang="en-US" altLang="en-US" sz="1800"/>
              <a:t>in procedure creation you can take you table column name and procedure paramter of differnt name</a:t>
            </a:r>
            <a:endParaRPr lang="en-US" altLang="en-US" sz="1800"/>
          </a:p>
          <a:p>
            <a:pPr marL="0" indent="0">
              <a:buNone/>
            </a:pPr>
            <a:r>
              <a:rPr lang="en-US" altLang="en-US" sz="1800"/>
              <a:t>but same data datatypes.</a:t>
            </a:r>
            <a:endParaRPr lang="en-US" altLang="en-US" sz="1800"/>
          </a:p>
          <a:p>
            <a:pPr marL="0" indent="0">
              <a:buNone/>
            </a:pPr>
            <a:endParaRPr lang="en-US" altLang="en-US" sz="1800"/>
          </a:p>
          <a:p>
            <a:pPr marL="0" indent="0">
              <a:buNone/>
            </a:pPr>
            <a:r>
              <a:rPr lang="en-US" altLang="en-US" sz="1800"/>
              <a:t>A stored procedure is like a small program saved in your database. You create it once, and then you can run it anytime to perform tasks like:</a:t>
            </a:r>
            <a:endParaRPr lang="en-US" altLang="en-US" sz="1800"/>
          </a:p>
          <a:p>
            <a:pPr marL="0" indent="0">
              <a:buNone/>
            </a:pPr>
            <a:r>
              <a:rPr lang="en-US" altLang="en-US" sz="1800"/>
              <a:t>Inserting data</a:t>
            </a:r>
            <a:endParaRPr lang="en-US" altLang="en-US" sz="1800"/>
          </a:p>
          <a:p>
            <a:pPr marL="0" indent="0">
              <a:buNone/>
            </a:pPr>
            <a:r>
              <a:rPr lang="en-US" altLang="en-US" sz="1800"/>
              <a:t>Updating records</a:t>
            </a:r>
            <a:endParaRPr lang="en-US" altLang="en-US" sz="1800"/>
          </a:p>
          <a:p>
            <a:pPr marL="0" indent="0">
              <a:buNone/>
            </a:pPr>
            <a:r>
              <a:rPr lang="en-US" altLang="en-US" sz="1800"/>
              <a:t>Running complex queries</a:t>
            </a:r>
            <a:endParaRPr lang="en-US" altLang="en-US" sz="1800"/>
          </a:p>
          <a:p>
            <a:pPr marL="0" indent="0">
              <a:buNone/>
            </a:pPr>
            <a:r>
              <a:rPr lang="en-US" altLang="en-US" sz="1800"/>
              <a:t>Performing calculations</a:t>
            </a:r>
            <a:endParaRPr lang="en-US" altLang="en-US" sz="1800"/>
          </a:p>
          <a:p>
            <a:pPr marL="0" indent="0">
              <a:buNone/>
            </a:pPr>
            <a:r>
              <a:rPr lang="en-US" altLang="en-US" sz="1800"/>
              <a:t> Key Benefits / Uses:</a:t>
            </a:r>
            <a:endParaRPr lang="en-US" altLang="en-US" sz="1800"/>
          </a:p>
          <a:p>
            <a:pPr marL="457200" indent="-457200">
              <a:buAutoNum type="arabicPeriod"/>
            </a:pPr>
            <a:r>
              <a:rPr lang="en-US" altLang="en-US" sz="1800"/>
              <a:t> Improves performance (compiled once, reused many times)</a:t>
            </a:r>
            <a:endParaRPr lang="en-US" altLang="en-US" sz="1800"/>
          </a:p>
          <a:p>
            <a:pPr marL="457200" indent="-457200">
              <a:buAutoNum type="arabicPeriod"/>
            </a:pPr>
            <a:r>
              <a:rPr lang="en-US" altLang="en-US" sz="1800"/>
              <a:t> Encapsulates logic (DRY: don't repeat yourself)</a:t>
            </a:r>
            <a:endParaRPr lang="en-US" altLang="en-US" sz="1800"/>
          </a:p>
          <a:p>
            <a:pPr marL="457200" indent="-457200">
              <a:buAutoNum type="arabicPeriod"/>
            </a:pPr>
            <a:r>
              <a:rPr lang="en-US" altLang="en-US" sz="1800"/>
              <a:t> Enhances security (limit user permissions to only executing procedures)</a:t>
            </a:r>
            <a:endParaRPr lang="en-US" altLang="en-US" sz="1800"/>
          </a:p>
          <a:p>
            <a:pPr marL="457200" indent="-457200">
              <a:buAutoNum type="arabicPeriod"/>
            </a:pPr>
            <a:r>
              <a:rPr lang="en-US" altLang="en-US" sz="1800"/>
              <a:t> Easier maintenance (logic centralized in one place)</a:t>
            </a:r>
            <a:endParaRPr lang="en-US" altLang="en-US" sz="1800"/>
          </a:p>
          <a:p>
            <a:pPr marL="457200" indent="-457200">
              <a:buAutoNum type="arabicPeriod"/>
            </a:pPr>
            <a:r>
              <a:rPr lang="en-US" altLang="en-US" sz="1800"/>
              <a:t> Transaction support (execute multiple steps atomically)</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2885" y="140335"/>
            <a:ext cx="11848465" cy="6417310"/>
          </a:xfrm>
        </p:spPr>
        <p:txBody>
          <a:bodyPr/>
          <a:p>
            <a:pPr marL="0" indent="0">
              <a:buNone/>
            </a:pPr>
            <a:endParaRPr lang="en-US" altLang="en-US" sz="1800"/>
          </a:p>
          <a:p>
            <a:pPr marL="0" indent="0">
              <a:buNone/>
            </a:pPr>
            <a:r>
              <a:rPr lang="en-US" altLang="en-US" sz="1800">
                <a:sym typeface="+mn-ea"/>
              </a:rPr>
              <a:t> Table: employees</a:t>
            </a:r>
            <a:endParaRPr lang="en-US" altLang="en-US" sz="1800"/>
          </a:p>
          <a:p>
            <a:pPr marL="0" indent="0">
              <a:buNone/>
            </a:pPr>
            <a:r>
              <a:rPr lang="en-US" altLang="en-US" sz="1800">
                <a:sym typeface="+mn-ea"/>
              </a:rPr>
              <a:t>CREATE TABLE employees (</a:t>
            </a:r>
            <a:endParaRPr lang="en-US" altLang="en-US" sz="1800"/>
          </a:p>
          <a:p>
            <a:pPr marL="0" indent="0">
              <a:buNone/>
            </a:pPr>
            <a:r>
              <a:rPr lang="en-US" altLang="en-US" sz="1800">
                <a:sym typeface="+mn-ea"/>
              </a:rPr>
              <a:t>    id INT AUTO_INCREMENT PRIMARY KEY,</a:t>
            </a:r>
            <a:endParaRPr lang="en-US" altLang="en-US" sz="1800"/>
          </a:p>
          <a:p>
            <a:pPr marL="0" indent="0">
              <a:buNone/>
            </a:pPr>
            <a:r>
              <a:rPr lang="en-US" altLang="en-US" sz="1800">
                <a:sym typeface="+mn-ea"/>
              </a:rPr>
              <a:t>    name VARCHAR(100),</a:t>
            </a:r>
            <a:endParaRPr lang="en-US" altLang="en-US" sz="1800"/>
          </a:p>
          <a:p>
            <a:pPr marL="0" indent="0">
              <a:buNone/>
            </a:pPr>
            <a:r>
              <a:rPr lang="en-US" altLang="en-US" sz="1800">
                <a:sym typeface="+mn-ea"/>
              </a:rPr>
              <a:t>    email VARCHAR(100),</a:t>
            </a:r>
            <a:endParaRPr lang="en-US" altLang="en-US" sz="1800"/>
          </a:p>
          <a:p>
            <a:pPr marL="0" indent="0">
              <a:buNone/>
            </a:pPr>
            <a:r>
              <a:rPr lang="en-US" altLang="en-US" sz="1800">
                <a:sym typeface="+mn-ea"/>
              </a:rPr>
              <a:t>    salary DECIMAL(10,2)</a:t>
            </a:r>
            <a:endParaRPr lang="en-US" altLang="en-US" sz="1800"/>
          </a:p>
          <a:p>
            <a:pPr marL="0" indent="0">
              <a:buNone/>
            </a:pPr>
            <a:r>
              <a:rPr lang="en-US" altLang="en-US" sz="1800">
                <a:sym typeface="+mn-ea"/>
              </a:rPr>
              <a:t>);</a:t>
            </a:r>
            <a:endParaRPr lang="en-US" altLang="en-US" sz="1800"/>
          </a:p>
          <a:p>
            <a:pPr marL="0" indent="0">
              <a:buNone/>
            </a:pPr>
            <a:endParaRPr lang="en-US" altLang="en-US" sz="1800"/>
          </a:p>
          <a:p>
            <a:pPr marL="0" indent="0">
              <a:buNone/>
            </a:pPr>
            <a:endParaRPr lang="en-US" altLang="en-US" sz="1800"/>
          </a:p>
        </p:txBody>
      </p:sp>
      <p:sp>
        <p:nvSpPr>
          <p:cNvPr id="2" name="Text Box 1"/>
          <p:cNvSpPr txBox="1"/>
          <p:nvPr/>
        </p:nvSpPr>
        <p:spPr>
          <a:xfrm>
            <a:off x="4389120" y="234950"/>
            <a:ext cx="7191375" cy="5675630"/>
          </a:xfrm>
          <a:prstGeom prst="rect">
            <a:avLst/>
          </a:prstGeom>
          <a:noFill/>
        </p:spPr>
        <p:txBody>
          <a:bodyPr wrap="square" rtlCol="0" anchor="t">
            <a:noAutofit/>
          </a:bodyPr>
          <a:p>
            <a:pPr marL="0" indent="0">
              <a:buNone/>
            </a:pPr>
            <a:r>
              <a:rPr lang="en-US" altLang="en-US">
                <a:sym typeface="+mn-ea"/>
              </a:rPr>
              <a:t> Stored Procedures for Full CRUD</a:t>
            </a:r>
            <a:endParaRPr lang="en-US" altLang="en-US" sz="1800"/>
          </a:p>
          <a:p>
            <a:pPr marL="0" indent="0">
              <a:buNone/>
            </a:pPr>
            <a:r>
              <a:rPr lang="en-US" altLang="en-US">
                <a:sym typeface="+mn-ea"/>
              </a:rPr>
              <a:t>1. Create (Insert)</a:t>
            </a:r>
            <a:endParaRPr lang="en-US" altLang="en-US" sz="1800">
              <a:sym typeface="+mn-ea"/>
            </a:endParaRPr>
          </a:p>
          <a:p>
            <a:pPr marL="0" indent="0">
              <a:buNone/>
            </a:pPr>
            <a:endParaRPr lang="en-US" altLang="en-US" sz="1800"/>
          </a:p>
          <a:p>
            <a:pPr marL="0" indent="0">
              <a:buNone/>
            </a:pPr>
            <a:r>
              <a:rPr lang="en-US" altLang="en-US">
                <a:sym typeface="+mn-ea"/>
              </a:rPr>
              <a:t>DELIMITER   //  some database (user $$)</a:t>
            </a:r>
            <a:endParaRPr lang="en-US" altLang="en-US" sz="1800"/>
          </a:p>
          <a:p>
            <a:pPr marL="0" indent="0">
              <a:buNone/>
            </a:pPr>
            <a:r>
              <a:rPr lang="en-US" altLang="en-US">
                <a:sym typeface="+mn-ea"/>
              </a:rPr>
              <a:t>CREATE PROCEDURE sp_create_employee(</a:t>
            </a:r>
            <a:endParaRPr lang="en-US" altLang="en-US" sz="1800">
              <a:sym typeface="+mn-ea"/>
            </a:endParaRPr>
          </a:p>
          <a:p>
            <a:pPr marL="0" indent="0">
              <a:buNone/>
            </a:pPr>
            <a:r>
              <a:rPr lang="en-US" altLang="en-US">
                <a:sym typeface="+mn-ea"/>
              </a:rPr>
              <a:t>    IN emp_name VARCHAR(100),</a:t>
            </a:r>
            <a:endParaRPr lang="en-US" altLang="en-US" sz="1800"/>
          </a:p>
          <a:p>
            <a:pPr marL="0" indent="0">
              <a:buNone/>
            </a:pPr>
            <a:r>
              <a:rPr lang="en-US" altLang="en-US">
                <a:sym typeface="+mn-ea"/>
              </a:rPr>
              <a:t>    IN emp_email VARCHAR(100),</a:t>
            </a:r>
            <a:endParaRPr lang="en-US" altLang="en-US" sz="1800"/>
          </a:p>
          <a:p>
            <a:pPr marL="0" indent="0">
              <a:buNone/>
            </a:pPr>
            <a:r>
              <a:rPr lang="en-US" altLang="en-US">
                <a:sym typeface="+mn-ea"/>
              </a:rPr>
              <a:t>    IN emp_salary DECIMAL(10,2)</a:t>
            </a:r>
            <a:endParaRPr lang="en-US" altLang="en-US" sz="1800"/>
          </a:p>
          <a:p>
            <a:pPr marL="0" indent="0">
              <a:buNone/>
            </a:pPr>
            <a:r>
              <a:rPr lang="en-US" altLang="en-US">
                <a:sym typeface="+mn-ea"/>
              </a:rPr>
              <a:t>)</a:t>
            </a:r>
            <a:endParaRPr lang="en-US" altLang="en-US" sz="1800"/>
          </a:p>
          <a:p>
            <a:pPr marL="0" indent="0">
              <a:buNone/>
            </a:pPr>
            <a:r>
              <a:rPr lang="en-US" altLang="en-US">
                <a:sym typeface="+mn-ea"/>
              </a:rPr>
              <a:t>BEGIN </a:t>
            </a:r>
            <a:endParaRPr lang="en-US" altLang="en-US" sz="1800"/>
          </a:p>
          <a:p>
            <a:pPr marL="0" indent="0">
              <a:buNone/>
            </a:pPr>
            <a:r>
              <a:rPr lang="en-US" altLang="en-US">
                <a:sym typeface="+mn-ea"/>
              </a:rPr>
              <a:t>    INSERT INTO employees(name, email, salary)</a:t>
            </a:r>
            <a:endParaRPr lang="en-US" altLang="en-US" sz="1800"/>
          </a:p>
          <a:p>
            <a:pPr marL="0" indent="0">
              <a:buNone/>
            </a:pPr>
            <a:r>
              <a:rPr lang="en-US" altLang="en-US">
                <a:sym typeface="+mn-ea"/>
              </a:rPr>
              <a:t>    VALUES (emp_name, emp_email, emp_salary);</a:t>
            </a:r>
            <a:endParaRPr lang="en-US" altLang="en-US" sz="1800"/>
          </a:p>
          <a:p>
            <a:pPr marL="0" indent="0">
              <a:buNone/>
            </a:pPr>
            <a:r>
              <a:rPr lang="en-US" altLang="en-US">
                <a:sym typeface="+mn-ea"/>
              </a:rPr>
              <a:t>END  //</a:t>
            </a:r>
            <a:endParaRPr lang="en-US" altLang="en-US" sz="1800"/>
          </a:p>
          <a:p>
            <a:pPr marL="0" indent="0">
              <a:buNone/>
            </a:pPr>
            <a:r>
              <a:rPr lang="en-US" altLang="en-US">
                <a:sym typeface="+mn-ea"/>
              </a:rPr>
              <a:t>DELIMITER ;</a:t>
            </a:r>
            <a:endParaRPr lang="en-US" altLang="en-US" sz="1800">
              <a:sym typeface="+mn-ea"/>
            </a:endParaRPr>
          </a:p>
          <a:p>
            <a:pPr marL="0" indent="0">
              <a:buNone/>
            </a:pPr>
            <a:endParaRPr lang="en-US" altLang="en-US" sz="1800">
              <a:sym typeface="+mn-ea"/>
            </a:endParaRPr>
          </a:p>
          <a:p>
            <a:pPr marL="0" indent="0">
              <a:buNone/>
            </a:pPr>
            <a:r>
              <a:rPr lang="en-US" altLang="en-US">
                <a:sym typeface="+mn-ea"/>
              </a:rPr>
              <a:t>call Procedurename(values_of_Columns);</a:t>
            </a:r>
            <a:endParaRPr lang="en-US" altLang="en-US" sz="1800"/>
          </a:p>
          <a:p>
            <a:pPr marL="0" indent="0">
              <a:buNone/>
            </a:pPr>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9380" y="0"/>
            <a:ext cx="10515600" cy="804545"/>
          </a:xfrm>
        </p:spPr>
        <p:txBody>
          <a:bodyPr/>
          <a:p>
            <a:r>
              <a:rPr lang="en-US" sz="2400" b="1">
                <a:solidFill>
                  <a:srgbClr val="FF0000"/>
                </a:solidFill>
              </a:rPr>
              <a:t>Fetch Data Using Procedure</a:t>
            </a:r>
            <a:endParaRPr lang="en-US" sz="2400" b="1">
              <a:solidFill>
                <a:srgbClr val="FF0000"/>
              </a:solidFill>
            </a:endParaRPr>
          </a:p>
        </p:txBody>
      </p:sp>
      <p:sp>
        <p:nvSpPr>
          <p:cNvPr id="3" name="Content Placeholder 2"/>
          <p:cNvSpPr>
            <a:spLocks noGrp="1"/>
          </p:cNvSpPr>
          <p:nvPr>
            <p:ph idx="1"/>
          </p:nvPr>
        </p:nvSpPr>
        <p:spPr>
          <a:xfrm>
            <a:off x="119380" y="600710"/>
            <a:ext cx="5977255" cy="6115050"/>
          </a:xfrm>
        </p:spPr>
        <p:txBody>
          <a:bodyPr>
            <a:noAutofit/>
          </a:bodyPr>
          <a:p>
            <a:pPr marL="0" indent="0">
              <a:buNone/>
            </a:pPr>
            <a:r>
              <a:rPr lang="en-US" altLang="en-US" sz="1800">
                <a:sym typeface="+mn-ea"/>
              </a:rPr>
              <a:t>2. Read (Select All)</a:t>
            </a:r>
            <a:endParaRPr lang="en-US" altLang="en-US" sz="1800"/>
          </a:p>
          <a:p>
            <a:pPr marL="0" indent="0">
              <a:buNone/>
            </a:pPr>
            <a:r>
              <a:rPr lang="en-US" altLang="en-US" sz="1800">
                <a:sym typeface="+mn-ea"/>
              </a:rPr>
              <a:t>DELIMITER  //  $$</a:t>
            </a:r>
            <a:endParaRPr lang="en-US" altLang="en-US" sz="1800"/>
          </a:p>
          <a:p>
            <a:pPr marL="0" indent="0">
              <a:buNone/>
            </a:pPr>
            <a:r>
              <a:rPr lang="en-US" altLang="en-US" sz="1800">
                <a:sym typeface="+mn-ea"/>
              </a:rPr>
              <a:t>CREATE PROCEDURE sp_get_employees()</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SELECT * FROM employees;</a:t>
            </a:r>
            <a:endParaRPr lang="en-US" altLang="en-US" sz="1800"/>
          </a:p>
          <a:p>
            <a:pPr marL="0" indent="0">
              <a:buNone/>
            </a:pPr>
            <a:r>
              <a:rPr lang="en-US" altLang="en-US" sz="1800">
                <a:sym typeface="+mn-ea"/>
              </a:rPr>
              <a:t>END   //  $$</a:t>
            </a:r>
            <a:endParaRPr lang="en-US" altLang="en-US" sz="1800"/>
          </a:p>
          <a:p>
            <a:pPr marL="0" indent="0">
              <a:buNone/>
            </a:pPr>
            <a:r>
              <a:rPr lang="en-US" altLang="en-US" sz="1800">
                <a:sym typeface="+mn-ea"/>
              </a:rPr>
              <a:t>DELIMITER ;</a:t>
            </a:r>
            <a:endParaRPr lang="en-US" altLang="en-US" sz="1800">
              <a:sym typeface="+mn-ea"/>
            </a:endParaRPr>
          </a:p>
          <a:p>
            <a:pPr marL="0" indent="0">
              <a:buNone/>
            </a:pPr>
            <a:endParaRPr lang="en-US" altLang="en-US" sz="1800"/>
          </a:p>
          <a:p>
            <a:pPr marL="0" indent="0">
              <a:buNone/>
            </a:pPr>
            <a:r>
              <a:rPr lang="en-US" altLang="en-US" sz="1800">
                <a:sym typeface="+mn-ea"/>
              </a:rPr>
              <a:t>2.1 Read by ID</a:t>
            </a:r>
            <a:endParaRPr lang="en-US" altLang="en-US" sz="1800"/>
          </a:p>
          <a:p>
            <a:pPr marL="0" indent="0">
              <a:buNone/>
            </a:pPr>
            <a:r>
              <a:rPr lang="en-US" altLang="en-US" sz="1800">
                <a:sym typeface="+mn-ea"/>
              </a:rPr>
              <a:t>DELIMITER  // $$</a:t>
            </a:r>
            <a:endParaRPr lang="en-US" altLang="en-US" sz="1800"/>
          </a:p>
          <a:p>
            <a:pPr marL="0" indent="0">
              <a:buNone/>
            </a:pPr>
            <a:r>
              <a:rPr lang="en-US" altLang="en-US" sz="1800">
                <a:sym typeface="+mn-ea"/>
              </a:rPr>
              <a:t>CREATE PROCEDURE sp_get_employee_by_id( IN emp_id INT)</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SELECT * FROM employees WHERE id = emp_id;</a:t>
            </a:r>
            <a:endParaRPr lang="en-US" altLang="en-US" sz="1800"/>
          </a:p>
          <a:p>
            <a:pPr marL="0" indent="0">
              <a:buNone/>
            </a:pPr>
            <a:r>
              <a:rPr lang="en-US" altLang="en-US" sz="1800">
                <a:sym typeface="+mn-ea"/>
              </a:rPr>
              <a:t>END $$</a:t>
            </a:r>
            <a:endParaRPr lang="en-US" altLang="en-US" sz="1800"/>
          </a:p>
          <a:p>
            <a:pPr marL="0" indent="0">
              <a:buNone/>
            </a:pPr>
            <a:r>
              <a:rPr lang="en-US" altLang="en-US" sz="1800">
                <a:sym typeface="+mn-ea"/>
              </a:rPr>
              <a:t>DELIMITER ;</a:t>
            </a:r>
            <a:endParaRPr lang="en-US" altLang="en-US" sz="1800"/>
          </a:p>
          <a:p>
            <a:endParaRPr lang="en-US" altLang="en-US" sz="1800"/>
          </a:p>
        </p:txBody>
      </p:sp>
      <p:sp>
        <p:nvSpPr>
          <p:cNvPr id="4" name="Text Box 3"/>
          <p:cNvSpPr txBox="1"/>
          <p:nvPr/>
        </p:nvSpPr>
        <p:spPr>
          <a:xfrm>
            <a:off x="6097270" y="157480"/>
            <a:ext cx="5809615" cy="6558915"/>
          </a:xfrm>
          <a:prstGeom prst="rect">
            <a:avLst/>
          </a:prstGeom>
          <a:noFill/>
        </p:spPr>
        <p:txBody>
          <a:bodyPr wrap="square" rtlCol="0" anchor="t">
            <a:noAutofit/>
          </a:bodyPr>
          <a:p>
            <a:pPr marL="0" indent="0" algn="l">
              <a:lnSpc>
                <a:spcPct val="130000"/>
              </a:lnSpc>
              <a:buNone/>
            </a:pPr>
            <a:r>
              <a:rPr lang="zh-CN" altLang="en-US" b="1">
                <a:solidFill>
                  <a:srgbClr val="FF0000"/>
                </a:solidFill>
                <a:sym typeface="+mn-ea"/>
              </a:rPr>
              <a:t>🟡</a:t>
            </a:r>
            <a:r>
              <a:rPr lang="en-US" altLang="en-US" b="1">
                <a:solidFill>
                  <a:srgbClr val="FF0000"/>
                </a:solidFill>
                <a:sym typeface="+mn-ea"/>
              </a:rPr>
              <a:t> 3. Update</a:t>
            </a:r>
            <a:endParaRPr lang="en-US" altLang="en-US" b="1">
              <a:solidFill>
                <a:srgbClr val="FF0000"/>
              </a:solidFill>
            </a:endParaRPr>
          </a:p>
          <a:p>
            <a:pPr marL="0" indent="0" algn="l">
              <a:lnSpc>
                <a:spcPct val="130000"/>
              </a:lnSpc>
              <a:buNone/>
            </a:pPr>
            <a:r>
              <a:rPr lang="en-US" altLang="en-US">
                <a:sym typeface="+mn-ea"/>
              </a:rPr>
              <a:t>DELIMITER $$</a:t>
            </a:r>
            <a:endParaRPr lang="en-US" altLang="en-US"/>
          </a:p>
          <a:p>
            <a:pPr marL="0" indent="0" algn="l">
              <a:lnSpc>
                <a:spcPct val="130000"/>
              </a:lnSpc>
              <a:buNone/>
            </a:pPr>
            <a:r>
              <a:rPr lang="en-US" altLang="en-US">
                <a:sym typeface="+mn-ea"/>
              </a:rPr>
              <a:t>CREATE PROCEDURE sp_update_employee(</a:t>
            </a:r>
            <a:endParaRPr lang="en-US" altLang="en-US"/>
          </a:p>
          <a:p>
            <a:pPr marL="0" indent="0" algn="l">
              <a:lnSpc>
                <a:spcPct val="130000"/>
              </a:lnSpc>
              <a:buNone/>
            </a:pPr>
            <a:r>
              <a:rPr lang="en-US" altLang="en-US">
                <a:sym typeface="+mn-ea"/>
              </a:rPr>
              <a:t>    IN emp_id INT,</a:t>
            </a:r>
            <a:endParaRPr lang="en-US" altLang="en-US"/>
          </a:p>
          <a:p>
            <a:pPr marL="0" indent="0" algn="l">
              <a:lnSpc>
                <a:spcPct val="130000"/>
              </a:lnSpc>
              <a:buNone/>
            </a:pPr>
            <a:r>
              <a:rPr lang="en-US" altLang="en-US">
                <a:sym typeface="+mn-ea"/>
              </a:rPr>
              <a:t>    IN emp_name VARCHAR(100),</a:t>
            </a:r>
            <a:endParaRPr lang="en-US" altLang="en-US"/>
          </a:p>
          <a:p>
            <a:pPr marL="0" indent="0" algn="l">
              <a:lnSpc>
                <a:spcPct val="130000"/>
              </a:lnSpc>
              <a:buNone/>
            </a:pPr>
            <a:r>
              <a:rPr lang="en-US" altLang="en-US">
                <a:sym typeface="+mn-ea"/>
              </a:rPr>
              <a:t>    IN emp_email VARCHAR(100),</a:t>
            </a:r>
            <a:endParaRPr lang="en-US" altLang="en-US"/>
          </a:p>
          <a:p>
            <a:pPr marL="0" indent="0" algn="l">
              <a:lnSpc>
                <a:spcPct val="130000"/>
              </a:lnSpc>
              <a:buNone/>
            </a:pPr>
            <a:r>
              <a:rPr lang="en-US" altLang="en-US">
                <a:sym typeface="+mn-ea"/>
              </a:rPr>
              <a:t>    IN emp_salary DECIMAL(10,2)</a:t>
            </a:r>
            <a:endParaRPr lang="en-US" altLang="en-US"/>
          </a:p>
          <a:p>
            <a:pPr marL="0" indent="0" algn="l">
              <a:lnSpc>
                <a:spcPct val="130000"/>
              </a:lnSpc>
              <a:buNone/>
            </a:pPr>
            <a:r>
              <a:rPr lang="en-US" altLang="en-US">
                <a:sym typeface="+mn-ea"/>
              </a:rPr>
              <a:t>)</a:t>
            </a:r>
            <a:endParaRPr lang="en-US" altLang="en-US"/>
          </a:p>
          <a:p>
            <a:pPr marL="0" indent="0" algn="l">
              <a:lnSpc>
                <a:spcPct val="130000"/>
              </a:lnSpc>
              <a:buNone/>
            </a:pPr>
            <a:r>
              <a:rPr lang="en-US" altLang="en-US">
                <a:sym typeface="+mn-ea"/>
              </a:rPr>
              <a:t>BEGIN</a:t>
            </a:r>
            <a:endParaRPr lang="en-US" altLang="en-US"/>
          </a:p>
          <a:p>
            <a:pPr marL="0" indent="0" algn="l">
              <a:lnSpc>
                <a:spcPct val="130000"/>
              </a:lnSpc>
              <a:buNone/>
            </a:pPr>
            <a:r>
              <a:rPr lang="en-US" altLang="en-US">
                <a:sym typeface="+mn-ea"/>
              </a:rPr>
              <a:t>    UPDATE employees</a:t>
            </a:r>
            <a:endParaRPr lang="en-US" altLang="en-US"/>
          </a:p>
          <a:p>
            <a:pPr marL="0" indent="0" algn="l">
              <a:lnSpc>
                <a:spcPct val="130000"/>
              </a:lnSpc>
              <a:buNone/>
            </a:pPr>
            <a:r>
              <a:rPr lang="en-US" altLang="en-US">
                <a:sym typeface="+mn-ea"/>
              </a:rPr>
              <a:t>    SET name = emp_name,</a:t>
            </a:r>
            <a:endParaRPr lang="en-US" altLang="en-US"/>
          </a:p>
          <a:p>
            <a:pPr marL="0" indent="0" algn="l">
              <a:lnSpc>
                <a:spcPct val="130000"/>
              </a:lnSpc>
              <a:buNone/>
            </a:pPr>
            <a:r>
              <a:rPr lang="en-US" altLang="en-US">
                <a:sym typeface="+mn-ea"/>
              </a:rPr>
              <a:t>        email = emp_email,</a:t>
            </a:r>
            <a:endParaRPr lang="en-US" altLang="en-US"/>
          </a:p>
          <a:p>
            <a:pPr marL="0" indent="0" algn="l">
              <a:lnSpc>
                <a:spcPct val="130000"/>
              </a:lnSpc>
              <a:buNone/>
            </a:pPr>
            <a:r>
              <a:rPr lang="en-US" altLang="en-US">
                <a:sym typeface="+mn-ea"/>
              </a:rPr>
              <a:t>        salary = emp_salary</a:t>
            </a:r>
            <a:endParaRPr lang="en-US" altLang="en-US"/>
          </a:p>
          <a:p>
            <a:pPr marL="0" indent="0" algn="l">
              <a:lnSpc>
                <a:spcPct val="130000"/>
              </a:lnSpc>
              <a:buNone/>
            </a:pPr>
            <a:r>
              <a:rPr lang="en-US" altLang="en-US">
                <a:sym typeface="+mn-ea"/>
              </a:rPr>
              <a:t>    WHERE id = emp_id;</a:t>
            </a:r>
            <a:endParaRPr lang="en-US" altLang="en-US"/>
          </a:p>
          <a:p>
            <a:pPr marL="0" indent="0" algn="l">
              <a:lnSpc>
                <a:spcPct val="130000"/>
              </a:lnSpc>
              <a:buNone/>
            </a:pPr>
            <a:r>
              <a:rPr lang="en-US" altLang="en-US">
                <a:sym typeface="+mn-ea"/>
              </a:rPr>
              <a:t>END $$</a:t>
            </a:r>
            <a:endParaRPr lang="en-US" altLang="en-US"/>
          </a:p>
          <a:p>
            <a:pPr marL="0" indent="0" algn="l">
              <a:lnSpc>
                <a:spcPct val="130000"/>
              </a:lnSpc>
              <a:buNone/>
            </a:pPr>
            <a:endParaRPr lang="en-US" altLang="en-US"/>
          </a:p>
          <a:p>
            <a:pPr marL="0" indent="0" algn="l">
              <a:lnSpc>
                <a:spcPct val="130000"/>
              </a:lnSpc>
              <a:buNone/>
            </a:pP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825" y="0"/>
            <a:ext cx="10515600" cy="542925"/>
          </a:xfrm>
        </p:spPr>
        <p:txBody>
          <a:bodyPr/>
          <a:p>
            <a:r>
              <a:rPr lang="en-US" sz="2400" b="1">
                <a:solidFill>
                  <a:srgbClr val="FF0000"/>
                </a:solidFill>
              </a:rPr>
              <a:t>Delete Procedure</a:t>
            </a:r>
            <a:endParaRPr lang="en-US" sz="2400" b="1">
              <a:solidFill>
                <a:srgbClr val="FF0000"/>
              </a:solidFill>
            </a:endParaRPr>
          </a:p>
        </p:txBody>
      </p:sp>
      <p:sp>
        <p:nvSpPr>
          <p:cNvPr id="3" name="Content Placeholder 2"/>
          <p:cNvSpPr>
            <a:spLocks noGrp="1"/>
          </p:cNvSpPr>
          <p:nvPr>
            <p:ph idx="1"/>
          </p:nvPr>
        </p:nvSpPr>
        <p:spPr>
          <a:xfrm>
            <a:off x="250190" y="542925"/>
            <a:ext cx="4648835" cy="4543425"/>
          </a:xfrm>
        </p:spPr>
        <p:txBody>
          <a:bodyPr>
            <a:noAutofit/>
          </a:bodyPr>
          <a:p>
            <a:pPr marL="0" indent="0">
              <a:buNone/>
            </a:pPr>
            <a:r>
              <a:rPr lang="en-US" altLang="en-US" sz="1800">
                <a:sym typeface="+mn-ea"/>
              </a:rPr>
              <a:t>DELIMITER ;</a:t>
            </a:r>
            <a:endParaRPr lang="en-US" altLang="en-US" sz="1800"/>
          </a:p>
          <a:p>
            <a:pPr marL="0" indent="0">
              <a:buNone/>
            </a:pPr>
            <a:r>
              <a:rPr lang="en-US" altLang="en-US" sz="1800">
                <a:sym typeface="+mn-ea"/>
              </a:rPr>
              <a:t> Delete</a:t>
            </a:r>
            <a:endParaRPr lang="en-US" altLang="en-US" sz="1800"/>
          </a:p>
          <a:p>
            <a:pPr marL="0" indent="0">
              <a:buNone/>
            </a:pPr>
            <a:r>
              <a:rPr lang="en-US" altLang="en-US" sz="1800">
                <a:sym typeface="+mn-ea"/>
              </a:rPr>
              <a:t>DELIMITER $$</a:t>
            </a:r>
            <a:endParaRPr lang="en-US" altLang="en-US" sz="1800"/>
          </a:p>
          <a:p>
            <a:pPr marL="0" indent="0">
              <a:buNone/>
            </a:pPr>
            <a:r>
              <a:rPr lang="en-US" altLang="en-US" sz="1800">
                <a:sym typeface="+mn-ea"/>
              </a:rPr>
              <a:t>CREATE PROCEDURE sp_delete_employee(</a:t>
            </a:r>
            <a:endParaRPr lang="en-US" altLang="en-US" sz="1800"/>
          </a:p>
          <a:p>
            <a:pPr marL="0" indent="0">
              <a:buNone/>
            </a:pPr>
            <a:r>
              <a:rPr lang="en-US" altLang="en-US" sz="1800">
                <a:sym typeface="+mn-ea"/>
              </a:rPr>
              <a:t>    IN emp_id INT</a:t>
            </a:r>
            <a:endParaRPr lang="en-US" altLang="en-US" sz="1800"/>
          </a:p>
          <a:p>
            <a:pPr marL="0" indent="0">
              <a:buNone/>
            </a:pPr>
            <a:r>
              <a:rPr lang="en-US" altLang="en-US" sz="1800">
                <a:sym typeface="+mn-ea"/>
              </a:rPr>
              <a:t>)</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DELETE FROM employees WHERE id = emp_id;</a:t>
            </a:r>
            <a:endParaRPr lang="en-US" altLang="en-US" sz="1800"/>
          </a:p>
          <a:p>
            <a:pPr marL="0" indent="0">
              <a:buNone/>
            </a:pPr>
            <a:r>
              <a:rPr lang="en-US" altLang="en-US" sz="1800">
                <a:sym typeface="+mn-ea"/>
              </a:rPr>
              <a:t>END $$</a:t>
            </a:r>
            <a:endParaRPr lang="en-US" altLang="en-US" sz="1800"/>
          </a:p>
          <a:p>
            <a:pPr marL="0" indent="0">
              <a:buNone/>
            </a:pPr>
            <a:r>
              <a:rPr lang="en-US" altLang="en-US" sz="1800">
                <a:sym typeface="+mn-ea"/>
              </a:rPr>
              <a:t>DELIMITER ;</a:t>
            </a:r>
            <a:endParaRPr lang="en-US" altLang="en-US" sz="1800"/>
          </a:p>
          <a:p>
            <a:pPr marL="0" indent="0">
              <a:buNone/>
            </a:pPr>
            <a:endParaRPr lang="zh-CN" altLang="en-US" sz="1800">
              <a:sym typeface="+mn-ea"/>
            </a:endParaRPr>
          </a:p>
          <a:p>
            <a:pPr marL="0" indent="0">
              <a:buNone/>
            </a:pPr>
            <a:r>
              <a:rPr lang="en-US" altLang="en-US" sz="1800"/>
              <a:t>call delete(101);</a:t>
            </a:r>
            <a:endParaRPr lang="en-US" altLang="en-US" sz="1800"/>
          </a:p>
        </p:txBody>
      </p:sp>
      <p:sp>
        <p:nvSpPr>
          <p:cNvPr id="4" name="Text Box 3"/>
          <p:cNvSpPr txBox="1"/>
          <p:nvPr/>
        </p:nvSpPr>
        <p:spPr>
          <a:xfrm>
            <a:off x="5303520" y="542925"/>
            <a:ext cx="6729730" cy="5794375"/>
          </a:xfrm>
          <a:prstGeom prst="rect">
            <a:avLst/>
          </a:prstGeom>
          <a:noFill/>
        </p:spPr>
        <p:txBody>
          <a:bodyPr wrap="square" rtlCol="0" anchor="t">
            <a:noAutofit/>
          </a:bodyPr>
          <a:p>
            <a:pPr marL="0" indent="0">
              <a:buNone/>
            </a:pPr>
            <a:r>
              <a:rPr lang="en-US" altLang="en-US">
                <a:sym typeface="+mn-ea"/>
              </a:rPr>
              <a:t>-- Select all</a:t>
            </a:r>
            <a:endParaRPr lang="en-US" altLang="en-US"/>
          </a:p>
          <a:p>
            <a:pPr marL="0" indent="0">
              <a:buNone/>
            </a:pPr>
            <a:r>
              <a:rPr lang="en-US" altLang="en-US">
                <a:sym typeface="+mn-ea"/>
              </a:rPr>
              <a:t>CALL sp_get_employees();</a:t>
            </a:r>
            <a:endParaRPr lang="en-US" altLang="en-US"/>
          </a:p>
          <a:p>
            <a:pPr marL="0" indent="0">
              <a:buNone/>
            </a:pPr>
            <a:endParaRPr lang="en-US" altLang="en-US"/>
          </a:p>
          <a:p>
            <a:pPr marL="0" indent="0">
              <a:buNone/>
            </a:pPr>
            <a:r>
              <a:rPr lang="en-US" altLang="en-US">
                <a:sym typeface="+mn-ea"/>
              </a:rPr>
              <a:t>-- Select by ID</a:t>
            </a:r>
            <a:endParaRPr lang="en-US" altLang="en-US"/>
          </a:p>
          <a:p>
            <a:pPr marL="0" indent="0">
              <a:buNone/>
            </a:pPr>
            <a:r>
              <a:rPr lang="en-US" altLang="en-US">
                <a:sym typeface="+mn-ea"/>
              </a:rPr>
              <a:t>CALL sp_get_employee_by_id(1);</a:t>
            </a:r>
            <a:endParaRPr lang="en-US" altLang="en-US">
              <a:sym typeface="+mn-ea"/>
            </a:endParaRPr>
          </a:p>
          <a:p>
            <a:pPr marL="0" indent="0">
              <a:buNone/>
            </a:pPr>
            <a:endParaRPr lang="en-US" altLang="en-US">
              <a:sym typeface="+mn-ea"/>
            </a:endParaRPr>
          </a:p>
          <a:p>
            <a:pPr marL="0" indent="0">
              <a:buNone/>
            </a:pPr>
            <a:endParaRPr lang="en-US" altLang="en-US"/>
          </a:p>
          <a:p>
            <a:pPr marL="0" indent="0">
              <a:buNone/>
            </a:pPr>
            <a:r>
              <a:rPr lang="en-US" altLang="en-US">
                <a:sym typeface="+mn-ea"/>
              </a:rPr>
              <a:t>-- Update</a:t>
            </a:r>
            <a:endParaRPr lang="en-US" altLang="en-US"/>
          </a:p>
          <a:p>
            <a:pPr marL="0" indent="0">
              <a:buNone/>
            </a:pPr>
            <a:r>
              <a:rPr lang="en-US" altLang="en-US">
                <a:sym typeface="+mn-ea"/>
              </a:rPr>
              <a:t>CALL sp_update_employee(1, 'Alice Smith', 'alice.smith@example.com', 60000.00);</a:t>
            </a:r>
            <a:endParaRPr lang="en-US" altLang="en-US"/>
          </a:p>
          <a:p>
            <a:pPr marL="0" indent="0">
              <a:buNone/>
            </a:pPr>
            <a:endParaRPr lang="en-US" altLang="en-US"/>
          </a:p>
          <a:p>
            <a:pPr marL="0" indent="0">
              <a:buNone/>
            </a:pPr>
            <a:r>
              <a:rPr lang="en-US" altLang="en-US">
                <a:sym typeface="+mn-ea"/>
              </a:rPr>
              <a:t>-- Delete</a:t>
            </a:r>
            <a:endParaRPr lang="en-US" altLang="en-US"/>
          </a:p>
          <a:p>
            <a:pPr marL="0" indent="0">
              <a:buNone/>
            </a:pPr>
            <a:r>
              <a:rPr lang="en-US" altLang="en-US">
                <a:sym typeface="+mn-ea"/>
              </a:rPr>
              <a:t>CALL sp_delete_employee(1);</a:t>
            </a:r>
            <a:endParaRPr lang="en-US" alt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ltLang="en-US">
              <a:sym typeface="+mn-ea"/>
            </a:endParaRPr>
          </a:p>
        </p:txBody>
      </p:sp>
      <p:sp>
        <p:nvSpPr>
          <p:cNvPr id="6" name="Text Box 5"/>
          <p:cNvSpPr txBox="1"/>
          <p:nvPr/>
        </p:nvSpPr>
        <p:spPr>
          <a:xfrm>
            <a:off x="5572125" y="82550"/>
            <a:ext cx="6096000" cy="460375"/>
          </a:xfrm>
          <a:prstGeom prst="rect">
            <a:avLst/>
          </a:prstGeom>
          <a:noFill/>
        </p:spPr>
        <p:txBody>
          <a:bodyPr wrap="square" rtlCol="0" anchor="t">
            <a:spAutoFit/>
          </a:bodyPr>
          <a:p>
            <a:r>
              <a:rPr lang="en-US" sz="2400" b="1">
                <a:solidFill>
                  <a:srgbClr val="FF0000"/>
                </a:solidFill>
                <a:sym typeface="+mn-ea"/>
              </a:rPr>
              <a:t>Calling Procedure</a:t>
            </a:r>
            <a:endParaRPr lang="en-US" sz="2400" b="1">
              <a:solidFill>
                <a:srgbClr val="FF0000"/>
              </a:solidFill>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6845" y="-635"/>
            <a:ext cx="11892915" cy="467995"/>
          </a:xfrm>
        </p:spPr>
        <p:txBody>
          <a:bodyPr>
            <a:noAutofit/>
          </a:bodyPr>
          <a:p>
            <a:pPr algn="ctr"/>
            <a:r>
              <a:rPr lang="en-US" sz="2000" b="1">
                <a:solidFill>
                  <a:srgbClr val="FF0000"/>
                </a:solidFill>
              </a:rPr>
              <a:t>SQL Trigger</a:t>
            </a:r>
            <a:endParaRPr lang="en-US" sz="2000" b="1">
              <a:solidFill>
                <a:srgbClr val="FF0000"/>
              </a:solidFill>
            </a:endParaRPr>
          </a:p>
        </p:txBody>
      </p:sp>
      <p:sp>
        <p:nvSpPr>
          <p:cNvPr id="3" name="Content Placeholder 2"/>
          <p:cNvSpPr>
            <a:spLocks noGrp="1"/>
          </p:cNvSpPr>
          <p:nvPr>
            <p:ph idx="1"/>
          </p:nvPr>
        </p:nvSpPr>
        <p:spPr>
          <a:xfrm>
            <a:off x="156845" y="466725"/>
            <a:ext cx="11893550" cy="6211570"/>
          </a:xfrm>
        </p:spPr>
        <p:txBody>
          <a:bodyPr/>
          <a:p>
            <a:pPr marL="457200" indent="-457200">
              <a:buAutoNum type="arabicPeriod"/>
            </a:pPr>
            <a:r>
              <a:rPr lang="en-US" altLang="en-US" sz="2000"/>
              <a:t>An SQL trigger is a special kind of stored program that automatically runs (fires) when a specific event occurs on a table or view.</a:t>
            </a:r>
            <a:endParaRPr lang="en-US" altLang="en-US" sz="2000"/>
          </a:p>
          <a:p>
            <a:pPr marL="0" indent="0">
              <a:buNone/>
            </a:pPr>
            <a:r>
              <a:rPr lang="en-US" altLang="en-US" sz="2000" b="1"/>
              <a:t>Trigger Definition (Simple)</a:t>
            </a:r>
            <a:endParaRPr lang="en-US" altLang="en-US" sz="2000" b="1"/>
          </a:p>
          <a:p>
            <a:pPr marL="0" indent="0">
              <a:buNone/>
            </a:pPr>
            <a:r>
              <a:rPr lang="en-US" altLang="en-US" sz="2000"/>
              <a:t>A trigger is a database object that executes automatically in response to INSERT, UPDATE, or DELETE operations on a table.</a:t>
            </a:r>
            <a:endParaRPr lang="en-US" altLang="en-US" sz="2000"/>
          </a:p>
        </p:txBody>
      </p:sp>
      <p:sp>
        <p:nvSpPr>
          <p:cNvPr id="4" name="Text Box 3"/>
          <p:cNvSpPr txBox="1"/>
          <p:nvPr/>
        </p:nvSpPr>
        <p:spPr>
          <a:xfrm>
            <a:off x="156845" y="2413635"/>
            <a:ext cx="4097020" cy="2387600"/>
          </a:xfrm>
          <a:prstGeom prst="rect">
            <a:avLst/>
          </a:prstGeom>
          <a:noFill/>
        </p:spPr>
        <p:txBody>
          <a:bodyPr wrap="square" rtlCol="0" anchor="t">
            <a:noAutofit/>
          </a:bodyPr>
          <a:p>
            <a:r>
              <a:rPr lang="en-US" altLang="en-US" sz="2000" b="1"/>
              <a:t>Syntax Of Trigger.</a:t>
            </a:r>
            <a:endParaRPr lang="en-US" altLang="en-US" sz="2000" b="1"/>
          </a:p>
          <a:p>
            <a:endParaRPr lang="en-US" altLang="en-US"/>
          </a:p>
          <a:p>
            <a:r>
              <a:rPr lang="en-US" altLang="en-US"/>
              <a:t>CREATE TRIGGER trigger_name</a:t>
            </a:r>
            <a:endParaRPr lang="en-US" altLang="en-US"/>
          </a:p>
          <a:p>
            <a:r>
              <a:rPr lang="en-US" altLang="en-US"/>
              <a:t>BEFORE INSERT ON table_name</a:t>
            </a:r>
            <a:endParaRPr lang="en-US" altLang="en-US"/>
          </a:p>
          <a:p>
            <a:r>
              <a:rPr lang="en-US" altLang="en-US"/>
              <a:t>FOR EACH ROW</a:t>
            </a:r>
            <a:endParaRPr lang="en-US" altLang="en-US"/>
          </a:p>
          <a:p>
            <a:r>
              <a:rPr lang="en-US" altLang="en-US"/>
              <a:t>BEGIN</a:t>
            </a:r>
            <a:endParaRPr lang="en-US" altLang="en-US"/>
          </a:p>
          <a:p>
            <a:r>
              <a:rPr lang="en-US" altLang="en-US"/>
              <a:t>    -- SQL statements</a:t>
            </a:r>
            <a:endParaRPr lang="en-US" altLang="en-US"/>
          </a:p>
          <a:p>
            <a:r>
              <a:rPr lang="en-US" altLang="en-US"/>
              <a:t>END;</a:t>
            </a:r>
            <a:endParaRPr lang="en-US" altLang="en-US"/>
          </a:p>
          <a:p>
            <a:endParaRPr lang="en-US"/>
          </a:p>
        </p:txBody>
      </p:sp>
      <p:sp>
        <p:nvSpPr>
          <p:cNvPr id="5" name="Text Box 4"/>
          <p:cNvSpPr txBox="1"/>
          <p:nvPr/>
        </p:nvSpPr>
        <p:spPr>
          <a:xfrm>
            <a:off x="5580380" y="2413635"/>
            <a:ext cx="6096000" cy="3415030"/>
          </a:xfrm>
          <a:prstGeom prst="rect">
            <a:avLst/>
          </a:prstGeom>
          <a:noFill/>
        </p:spPr>
        <p:txBody>
          <a:bodyPr wrap="square" rtlCol="0" anchor="t">
            <a:spAutoFit/>
          </a:bodyPr>
          <a:p>
            <a:r>
              <a:rPr lang="en-US" altLang="en-US"/>
              <a:t>DELIMITER $$</a:t>
            </a:r>
            <a:endParaRPr lang="en-US" altLang="en-US"/>
          </a:p>
          <a:p>
            <a:endParaRPr lang="en-US" altLang="en-US"/>
          </a:p>
          <a:p>
            <a:r>
              <a:rPr lang="en-US" altLang="en-US"/>
              <a:t>CREATE TRIGGER after_insert_users</a:t>
            </a:r>
            <a:endParaRPr lang="en-US" altLang="en-US"/>
          </a:p>
          <a:p>
            <a:r>
              <a:rPr lang="en-US" altLang="en-US"/>
              <a:t>AFTER INSERT ON mystudent</a:t>
            </a:r>
            <a:endParaRPr lang="en-US" altLang="en-US"/>
          </a:p>
          <a:p>
            <a:r>
              <a:rPr lang="en-US" altLang="en-US"/>
              <a:t>FOR EACH ROW</a:t>
            </a:r>
            <a:endParaRPr lang="en-US" altLang="en-US"/>
          </a:p>
          <a:p>
            <a:r>
              <a:rPr lang="en-US" altLang="en-US"/>
              <a:t>BEGIN</a:t>
            </a:r>
            <a:endParaRPr lang="en-US" altLang="en-US"/>
          </a:p>
          <a:p>
            <a:r>
              <a:rPr lang="en-US" altLang="en-US"/>
              <a:t>    INSERT INTO trigger_log(message) </a:t>
            </a:r>
            <a:endParaRPr lang="en-US" altLang="en-US"/>
          </a:p>
          <a:p>
            <a:r>
              <a:rPr lang="en-US" altLang="en-US"/>
              <a:t>    VALUES ('Trigger activated: Row inserted for id = ' || NEW.id);</a:t>
            </a:r>
            <a:endParaRPr lang="en-US" altLang="en-US"/>
          </a:p>
          <a:p>
            <a:r>
              <a:rPr lang="en-US" altLang="en-US"/>
              <a:t>END$$</a:t>
            </a:r>
            <a:endParaRPr lang="en-US" altLang="en-US"/>
          </a:p>
          <a:p>
            <a:endParaRPr lang="en-US" altLang="en-US"/>
          </a:p>
          <a:p>
            <a:r>
              <a:rPr lang="en-US" altLang="en-US"/>
              <a:t>DELIMITER ;</a:t>
            </a:r>
            <a:endParaRPr lang="en-US" altLang="en-US"/>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07340"/>
          </a:xfrm>
        </p:spPr>
        <p:txBody>
          <a:bodyPr>
            <a:noAutofit/>
          </a:bodyPr>
          <a:p>
            <a:pPr algn="ctr"/>
            <a:r>
              <a:rPr lang="en-US" altLang="en-US" sz="2000" b="1">
                <a:solidFill>
                  <a:srgbClr val="FF0000"/>
                </a:solidFill>
                <a:sym typeface="+mn-ea"/>
              </a:rPr>
              <a:t>Why Use Triggers?</a:t>
            </a:r>
            <a:endParaRPr lang="en-US" altLang="en-US" sz="2000" b="1">
              <a:solidFill>
                <a:srgbClr val="FF0000"/>
              </a:solidFill>
              <a:sym typeface="+mn-ea"/>
            </a:endParaRPr>
          </a:p>
        </p:txBody>
      </p:sp>
      <p:sp>
        <p:nvSpPr>
          <p:cNvPr id="3" name="Content Placeholder 2"/>
          <p:cNvSpPr>
            <a:spLocks noGrp="1"/>
          </p:cNvSpPr>
          <p:nvPr>
            <p:ph idx="1"/>
          </p:nvPr>
        </p:nvSpPr>
        <p:spPr>
          <a:xfrm>
            <a:off x="82550" y="307340"/>
            <a:ext cx="11991975" cy="6350000"/>
          </a:xfrm>
        </p:spPr>
        <p:txBody>
          <a:bodyPr>
            <a:noAutofit/>
          </a:bodyPr>
          <a:p>
            <a:pPr marL="0" indent="0">
              <a:buNone/>
            </a:pPr>
            <a:r>
              <a:rPr lang="en-US" altLang="en-US" sz="1800"/>
              <a:t>Triggers are used when you need the database to automatically enforce rules or actions, without relying on application code.</a:t>
            </a:r>
            <a:endParaRPr lang="en-US" altLang="en-US" sz="1800"/>
          </a:p>
          <a:p>
            <a:pPr marL="0" indent="0">
              <a:buNone/>
            </a:pPr>
            <a:endParaRPr lang="en-US" altLang="en-US" sz="1800"/>
          </a:p>
          <a:p>
            <a:pPr marL="0" indent="0">
              <a:buNone/>
            </a:pPr>
            <a:r>
              <a:rPr lang="en-US" altLang="en-US" sz="1800"/>
              <a:t>Main Reasons to Use Triggers.</a:t>
            </a:r>
            <a:endParaRPr lang="en-US" altLang="en-US" sz="1800"/>
          </a:p>
          <a:p>
            <a:pPr marL="0" indent="0">
              <a:buNone/>
            </a:pPr>
            <a:endParaRPr lang="en-US" altLang="en-US" sz="1800"/>
          </a:p>
          <a:p>
            <a:pPr marL="0" indent="0">
              <a:buNone/>
            </a:pPr>
            <a:r>
              <a:rPr lang="en-US" altLang="en-US" sz="1800" b="1"/>
              <a:t>1)Data Integrity</a:t>
            </a:r>
            <a:endParaRPr lang="en-US" altLang="en-US" sz="1800"/>
          </a:p>
          <a:p>
            <a:pPr marL="0" indent="0">
              <a:buNone/>
            </a:pPr>
            <a:r>
              <a:rPr lang="en-US" altLang="en-US" sz="1800"/>
              <a:t>Ensure rules are always enforced</a:t>
            </a:r>
            <a:endParaRPr lang="en-US" altLang="en-US" sz="1800"/>
          </a:p>
          <a:p>
            <a:pPr marL="0" indent="0">
              <a:buNone/>
            </a:pPr>
            <a:r>
              <a:rPr lang="en-US" altLang="en-US" sz="1800"/>
              <a:t>Example: Prevent negative salary values</a:t>
            </a:r>
            <a:endParaRPr lang="en-US" altLang="en-US" sz="1800"/>
          </a:p>
          <a:p>
            <a:pPr marL="0" indent="0">
              <a:buNone/>
            </a:pPr>
            <a:r>
              <a:rPr lang="en-US" altLang="en-US" sz="1800" b="1"/>
              <a:t>2)Automatic Auditing</a:t>
            </a:r>
            <a:endParaRPr lang="en-US" altLang="en-US" sz="1800"/>
          </a:p>
          <a:p>
            <a:pPr marL="0" indent="0">
              <a:buNone/>
            </a:pPr>
            <a:r>
              <a:rPr lang="en-US" altLang="en-US" sz="1800"/>
              <a:t>Track changes to data (who changed what and when)</a:t>
            </a:r>
            <a:endParaRPr lang="en-US" altLang="en-US" sz="1800"/>
          </a:p>
          <a:p>
            <a:pPr marL="0" indent="0">
              <a:buNone/>
            </a:pPr>
            <a:r>
              <a:rPr lang="en-US" altLang="en-US" sz="1800" b="1"/>
              <a:t>3)Business Rules Enforcement</a:t>
            </a:r>
            <a:endParaRPr lang="en-US" altLang="en-US" sz="1800" b="1"/>
          </a:p>
          <a:p>
            <a:pPr marL="0" indent="0">
              <a:buNone/>
            </a:pPr>
            <a:r>
              <a:rPr lang="en-US" altLang="en-US" sz="1800"/>
              <a:t>Apply complex rules at the database level</a:t>
            </a:r>
            <a:endParaRPr lang="en-US" altLang="en-US" sz="1800"/>
          </a:p>
          <a:p>
            <a:pPr marL="0" indent="0">
              <a:buNone/>
            </a:pPr>
            <a:r>
              <a:rPr lang="en-US" altLang="en-US" sz="1800" b="1"/>
              <a:t>4)Automatic Data Updates</a:t>
            </a:r>
            <a:endParaRPr lang="en-US" altLang="en-US" sz="1800"/>
          </a:p>
          <a:p>
            <a:pPr marL="0" indent="0">
              <a:buNone/>
            </a:pPr>
            <a:r>
              <a:rPr lang="en-US" altLang="en-US" sz="1800"/>
              <a:t>Keep related tables in sync</a:t>
            </a:r>
            <a:endParaRPr lang="en-US" altLang="en-US" sz="1800"/>
          </a:p>
          <a:p>
            <a:pPr marL="0" indent="0">
              <a:buNone/>
            </a:pPr>
            <a:r>
              <a:rPr lang="en-US" altLang="en-US" sz="1800" b="1"/>
              <a:t>5)Security Control</a:t>
            </a:r>
            <a:endParaRPr lang="en-US" altLang="en-US" sz="1800"/>
          </a:p>
          <a:p>
            <a:pPr marL="0" indent="0">
              <a:buNone/>
            </a:pPr>
            <a:r>
              <a:rPr lang="en-US" altLang="en-US" sz="1800"/>
              <a:t>Prevent unauthorized changes</a:t>
            </a:r>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65455"/>
          </a:xfrm>
        </p:spPr>
        <p:txBody>
          <a:bodyPr>
            <a:noAutofit/>
          </a:bodyPr>
          <a:p>
            <a:pPr algn="ctr"/>
            <a:r>
              <a:rPr lang="en-US" sz="2400" b="1">
                <a:solidFill>
                  <a:srgbClr val="FF0000"/>
                </a:solidFill>
              </a:rPr>
              <a:t>Adv And DisAdv Of Triggers</a:t>
            </a:r>
            <a:endParaRPr lang="en-US" sz="2400" b="1">
              <a:solidFill>
                <a:srgbClr val="FF0000"/>
              </a:solidFill>
            </a:endParaRPr>
          </a:p>
        </p:txBody>
      </p:sp>
      <p:sp>
        <p:nvSpPr>
          <p:cNvPr id="3" name="Content Placeholder 2"/>
          <p:cNvSpPr>
            <a:spLocks noGrp="1"/>
          </p:cNvSpPr>
          <p:nvPr>
            <p:ph idx="1"/>
          </p:nvPr>
        </p:nvSpPr>
        <p:spPr>
          <a:xfrm>
            <a:off x="180975" y="465455"/>
            <a:ext cx="11843385" cy="6240780"/>
          </a:xfrm>
        </p:spPr>
        <p:txBody>
          <a:bodyPr/>
          <a:p>
            <a:r>
              <a:rPr lang="en-US" altLang="en-US" sz="1800"/>
              <a:t>Advantages of Triggers</a:t>
            </a:r>
            <a:endParaRPr lang="en-US" altLang="en-US" sz="1800"/>
          </a:p>
          <a:p>
            <a:pPr marL="342900" indent="-342900">
              <a:buAutoNum type="arabicPeriod"/>
            </a:pPr>
            <a:r>
              <a:rPr lang="en-US" altLang="en-US" sz="1800"/>
              <a:t>Automatic execution</a:t>
            </a:r>
            <a:endParaRPr lang="en-US" altLang="en-US" sz="1800"/>
          </a:p>
          <a:p>
            <a:pPr marL="342900" indent="-342900">
              <a:buAutoNum type="arabicPeriod"/>
            </a:pPr>
            <a:r>
              <a:rPr lang="en-US" altLang="en-US" sz="1800"/>
              <a:t> Centralized logic</a:t>
            </a:r>
            <a:endParaRPr lang="en-US" altLang="en-US" sz="1800"/>
          </a:p>
          <a:p>
            <a:pPr marL="342900" indent="-342900">
              <a:buAutoNum type="arabicPeriod"/>
            </a:pPr>
            <a:r>
              <a:rPr lang="en-US" altLang="en-US" sz="1800"/>
              <a:t> Improves data consistency</a:t>
            </a:r>
            <a:endParaRPr lang="en-US" altLang="en-US" sz="1800"/>
          </a:p>
          <a:p>
            <a:endParaRPr lang="en-US" altLang="en-US" sz="1800"/>
          </a:p>
          <a:p>
            <a:pPr marL="342900" indent="-342900">
              <a:buAutoNum type="arabicPeriod"/>
            </a:pPr>
            <a:endParaRPr lang="en-US" altLang="en-US" sz="1800"/>
          </a:p>
        </p:txBody>
      </p:sp>
      <p:graphicFrame>
        <p:nvGraphicFramePr>
          <p:cNvPr id="4" name="Table 3"/>
          <p:cNvGraphicFramePr/>
          <p:nvPr>
            <p:custDataLst>
              <p:tags r:id="rId1"/>
            </p:custDataLst>
          </p:nvPr>
        </p:nvGraphicFramePr>
        <p:xfrm>
          <a:off x="210185" y="2057400"/>
          <a:ext cx="6135370" cy="1371600"/>
        </p:xfrm>
        <a:graphic>
          <a:graphicData uri="http://schemas.openxmlformats.org/drawingml/2006/table">
            <a:tbl>
              <a:tblPr/>
              <a:tblGrid>
                <a:gridCol w="3067685"/>
                <a:gridCol w="3067685"/>
              </a:tblGrid>
              <a:tr h="274320">
                <a:tc>
                  <a:txBody>
                    <a:bodyPr/>
                    <a:p>
                      <a:r>
                        <a:rPr sz="1800"/>
                        <a:t>Feature</a:t>
                      </a:r>
                      <a:endParaRPr sz="1800"/>
                    </a:p>
                  </a:txBody>
                  <a:tcPr marL="0" marR="0" marT="0" marB="0" anchor="ctr" anchorCtr="0">
                    <a:lnL>
                      <a:noFill/>
                    </a:lnL>
                    <a:lnR>
                      <a:noFill/>
                    </a:lnR>
                    <a:lnT>
                      <a:noFill/>
                    </a:lnT>
                    <a:lnB>
                      <a:noFill/>
                    </a:lnB>
                    <a:noFill/>
                  </a:tcPr>
                </a:tc>
                <a:tc>
                  <a:txBody>
                    <a:bodyPr/>
                    <a:p>
                      <a:r>
                        <a:rPr sz="1800"/>
                        <a:t>Description</a:t>
                      </a:r>
                      <a:endParaRPr sz="1800"/>
                    </a:p>
                  </a:txBody>
                  <a:tcPr marL="0" marR="0" marT="0" marB="0" anchor="ctr" anchorCtr="0">
                    <a:lnL>
                      <a:noFill/>
                    </a:lnL>
                    <a:lnR>
                      <a:noFill/>
                    </a:lnR>
                    <a:lnT>
                      <a:noFill/>
                    </a:lnT>
                    <a:lnB>
                      <a:noFill/>
                    </a:lnB>
                    <a:noFill/>
                  </a:tcPr>
                </a:tc>
              </a:tr>
              <a:tr h="274320">
                <a:tc>
                  <a:txBody>
                    <a:bodyPr/>
                    <a:p>
                      <a:r>
                        <a:rPr sz="1800"/>
                        <a:t>Trigger</a:t>
                      </a:r>
                      <a:endParaRPr sz="1800"/>
                    </a:p>
                  </a:txBody>
                  <a:tcPr marL="0" marR="0" marT="0" marB="0" anchor="ctr" anchorCtr="0">
                    <a:lnL>
                      <a:noFill/>
                    </a:lnL>
                    <a:lnR>
                      <a:noFill/>
                    </a:lnR>
                    <a:lnT>
                      <a:noFill/>
                    </a:lnT>
                    <a:lnB>
                      <a:noFill/>
                    </a:lnB>
                    <a:noFill/>
                  </a:tcPr>
                </a:tc>
                <a:tc>
                  <a:txBody>
                    <a:bodyPr/>
                    <a:p>
                      <a:r>
                        <a:rPr sz="1800"/>
                        <a:t>Auto-executed SQL code</a:t>
                      </a:r>
                      <a:endParaRPr sz="1800"/>
                    </a:p>
                  </a:txBody>
                  <a:tcPr marL="0" marR="0" marT="0" marB="0" anchor="ctr" anchorCtr="0">
                    <a:lnL>
                      <a:noFill/>
                    </a:lnL>
                    <a:lnR>
                      <a:noFill/>
                    </a:lnR>
                    <a:lnT>
                      <a:noFill/>
                    </a:lnT>
                    <a:lnB>
                      <a:noFill/>
                    </a:lnB>
                    <a:noFill/>
                  </a:tcPr>
                </a:tc>
              </a:tr>
              <a:tr h="274320">
                <a:tc>
                  <a:txBody>
                    <a:bodyPr/>
                    <a:p>
                      <a:r>
                        <a:rPr sz="1800"/>
                        <a:t>Events</a:t>
                      </a:r>
                      <a:endParaRPr sz="1800"/>
                    </a:p>
                  </a:txBody>
                  <a:tcPr marL="0" marR="0" marT="0" marB="0" anchor="ctr" anchorCtr="0">
                    <a:lnL>
                      <a:noFill/>
                    </a:lnL>
                    <a:lnR>
                      <a:noFill/>
                    </a:lnR>
                    <a:lnT>
                      <a:noFill/>
                    </a:lnT>
                    <a:lnB>
                      <a:noFill/>
                    </a:lnB>
                    <a:noFill/>
                  </a:tcPr>
                </a:tc>
                <a:tc>
                  <a:txBody>
                    <a:bodyPr/>
                    <a:p>
                      <a:r>
                        <a:rPr sz="1800"/>
                        <a:t>INSERT, UPDATE, DELETE</a:t>
                      </a:r>
                      <a:endParaRPr sz="1800"/>
                    </a:p>
                  </a:txBody>
                  <a:tcPr marL="0" marR="0" marT="0" marB="0" anchor="ctr" anchorCtr="0">
                    <a:lnL>
                      <a:noFill/>
                    </a:lnL>
                    <a:lnR>
                      <a:noFill/>
                    </a:lnR>
                    <a:lnT>
                      <a:noFill/>
                    </a:lnT>
                    <a:lnB>
                      <a:noFill/>
                    </a:lnB>
                    <a:noFill/>
                  </a:tcPr>
                </a:tc>
              </a:tr>
              <a:tr h="274320">
                <a:tc>
                  <a:txBody>
                    <a:bodyPr/>
                    <a:p>
                      <a:r>
                        <a:rPr sz="1800"/>
                        <a:t>Timing</a:t>
                      </a:r>
                      <a:endParaRPr sz="1800"/>
                    </a:p>
                  </a:txBody>
                  <a:tcPr marL="0" marR="0" marT="0" marB="0" anchor="ctr" anchorCtr="0">
                    <a:lnL>
                      <a:noFill/>
                    </a:lnL>
                    <a:lnR>
                      <a:noFill/>
                    </a:lnR>
                    <a:lnT>
                      <a:noFill/>
                    </a:lnT>
                    <a:lnB>
                      <a:noFill/>
                    </a:lnB>
                    <a:noFill/>
                  </a:tcPr>
                </a:tc>
                <a:tc>
                  <a:txBody>
                    <a:bodyPr/>
                    <a:p>
                      <a:r>
                        <a:rPr sz="1800"/>
                        <a:t>BEFORE / AFTER</a:t>
                      </a:r>
                      <a:endParaRPr sz="1800"/>
                    </a:p>
                  </a:txBody>
                  <a:tcPr marL="0" marR="0" marT="0" marB="0" anchor="ctr" anchorCtr="0">
                    <a:lnL>
                      <a:noFill/>
                    </a:lnL>
                    <a:lnR>
                      <a:noFill/>
                    </a:lnR>
                    <a:lnT>
                      <a:noFill/>
                    </a:lnT>
                    <a:lnB>
                      <a:noFill/>
                    </a:lnB>
                    <a:noFill/>
                  </a:tcPr>
                </a:tc>
              </a:tr>
              <a:tr h="274320">
                <a:tc>
                  <a:txBody>
                    <a:bodyPr/>
                    <a:p>
                      <a:r>
                        <a:rPr sz="1800"/>
                        <a:t>Use case</a:t>
                      </a:r>
                      <a:endParaRPr sz="1800"/>
                    </a:p>
                  </a:txBody>
                  <a:tcPr marL="0" marR="0" marT="0" marB="0" anchor="ctr" anchorCtr="0">
                    <a:lnL>
                      <a:noFill/>
                    </a:lnL>
                    <a:lnR>
                      <a:noFill/>
                    </a:lnR>
                    <a:lnT>
                      <a:noFill/>
                    </a:lnT>
                    <a:lnB>
                      <a:noFill/>
                    </a:lnB>
                    <a:noFill/>
                  </a:tcPr>
                </a:tc>
                <a:tc>
                  <a:txBody>
                    <a:bodyPr/>
                    <a:p>
                      <a:r>
                        <a:rPr sz="1800"/>
                        <a:t>Auditing, validation, automation</a:t>
                      </a:r>
                      <a:endParaRPr sz="18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4197985" y="465455"/>
            <a:ext cx="6096000" cy="1198880"/>
          </a:xfrm>
          <a:prstGeom prst="rect">
            <a:avLst/>
          </a:prstGeom>
          <a:noFill/>
        </p:spPr>
        <p:txBody>
          <a:bodyPr wrap="square" rtlCol="0" anchor="t">
            <a:spAutoFit/>
          </a:bodyPr>
          <a:p>
            <a:r>
              <a:rPr lang="en-US" altLang="en-US">
                <a:sym typeface="+mn-ea"/>
              </a:rPr>
              <a:t>Disadvantages of Triggers</a:t>
            </a:r>
            <a:endParaRPr lang="en-US" altLang="en-US" sz="1800"/>
          </a:p>
          <a:p>
            <a:pPr marL="342900" indent="-342900">
              <a:buAutoNum type="arabicPeriod"/>
            </a:pPr>
            <a:r>
              <a:rPr lang="en-US" altLang="en-US">
                <a:sym typeface="+mn-ea"/>
              </a:rPr>
              <a:t> Harder to debug</a:t>
            </a:r>
            <a:endParaRPr lang="en-US" altLang="en-US" sz="1800"/>
          </a:p>
          <a:p>
            <a:pPr marL="342900" indent="-342900">
              <a:buAutoNum type="arabicPeriod"/>
            </a:pPr>
            <a:r>
              <a:rPr lang="en-US" altLang="en-US">
                <a:sym typeface="+mn-ea"/>
              </a:rPr>
              <a:t> Can impact performance</a:t>
            </a:r>
            <a:endParaRPr lang="en-US" altLang="en-US" sz="1800"/>
          </a:p>
          <a:p>
            <a:pPr marL="342900" indent="-342900">
              <a:buAutoNum type="arabicPeriod"/>
            </a:pPr>
            <a:r>
              <a:rPr lang="en-US" altLang="en-US">
                <a:sym typeface="+mn-ea"/>
              </a:rPr>
              <a:t> Hidden logic (not obvious to developers)</a:t>
            </a:r>
            <a:endParaRPr lang="en-US" altLang="en-US">
              <a:sym typeface="+mn-ea"/>
            </a:endParaRPr>
          </a:p>
        </p:txBody>
      </p:sp>
      <p:sp>
        <p:nvSpPr>
          <p:cNvPr id="6" name="Text Box 5"/>
          <p:cNvSpPr txBox="1"/>
          <p:nvPr/>
        </p:nvSpPr>
        <p:spPr>
          <a:xfrm>
            <a:off x="6944360" y="1826260"/>
            <a:ext cx="5080000" cy="1851025"/>
          </a:xfrm>
          <a:prstGeom prst="rect">
            <a:avLst/>
          </a:prstGeom>
        </p:spPr>
        <p:txBody>
          <a:bodyPr>
            <a:noAutofit/>
          </a:bodyPr>
          <a:p>
            <a:pPr indent="0">
              <a:spcAft>
                <a:spcPct val="60000"/>
              </a:spcAft>
              <a:buNone/>
            </a:pPr>
            <a:r>
              <a:rPr b="1"/>
              <a:t>Key Points to Remember</a:t>
            </a:r>
            <a:endParaRPr b="1"/>
          </a:p>
          <a:p>
            <a:pPr indent="0">
              <a:spcAft>
                <a:spcPct val="60000"/>
              </a:spcAft>
              <a:buNone/>
            </a:pPr>
            <a:r>
              <a:t>Triggers run automatically</a:t>
            </a:r>
          </a:p>
          <a:p>
            <a:pPr indent="0">
              <a:buNone/>
            </a:pPr>
            <a:r>
              <a:t>They are event-based</a:t>
            </a:r>
          </a:p>
          <a:p>
            <a:pPr indent="0">
              <a:buNone/>
            </a:pPr>
            <a:r>
              <a:t>They do not need to be called explicitly</a:t>
            </a:r>
          </a:p>
          <a:p>
            <a:pPr indent="0">
              <a:buNone/>
            </a:pPr>
            <a:r>
              <a:t>Overusing triggers can affect performance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2565" y="635"/>
            <a:ext cx="11878310" cy="306705"/>
          </a:xfrm>
        </p:spPr>
        <p:txBody>
          <a:bodyPr>
            <a:noAutofit/>
          </a:bodyPr>
          <a:p>
            <a:pPr algn="ctr"/>
            <a:r>
              <a:rPr lang="en-US" sz="2000" b="1">
                <a:solidFill>
                  <a:srgbClr val="FF0000"/>
                </a:solidFill>
              </a:rPr>
              <a:t>SQL Indexing</a:t>
            </a:r>
            <a:endParaRPr lang="en-US" sz="2000" b="1">
              <a:solidFill>
                <a:srgbClr val="FF0000"/>
              </a:solidFill>
            </a:endParaRPr>
          </a:p>
        </p:txBody>
      </p:sp>
      <p:sp>
        <p:nvSpPr>
          <p:cNvPr id="3" name="Content Placeholder 2"/>
          <p:cNvSpPr>
            <a:spLocks noGrp="1"/>
          </p:cNvSpPr>
          <p:nvPr>
            <p:ph idx="1"/>
          </p:nvPr>
        </p:nvSpPr>
        <p:spPr>
          <a:xfrm>
            <a:off x="96520" y="307340"/>
            <a:ext cx="11984355" cy="6416675"/>
          </a:xfrm>
        </p:spPr>
        <p:txBody>
          <a:bodyPr>
            <a:normAutofit lnSpcReduction="20000"/>
          </a:bodyPr>
          <a:p>
            <a:r>
              <a:rPr lang="en-US" altLang="en-US" sz="1800" b="1"/>
              <a:t>1 What is Indexing in SQL?</a:t>
            </a:r>
            <a:endParaRPr lang="en-US" altLang="en-US" sz="1800"/>
          </a:p>
          <a:p>
            <a:pPr marL="0" indent="0">
              <a:buNone/>
            </a:pPr>
            <a:r>
              <a:rPr lang="en-US" altLang="en-US" sz="1800"/>
              <a:t>Indexing in SQL is a technique used to speed up retrieval of rows from a table. It works like an index in a book, where instead of reading the whole book, you jump directly to the page you need.</a:t>
            </a:r>
            <a:endParaRPr lang="en-US" altLang="en-US" sz="1800"/>
          </a:p>
          <a:p>
            <a:pPr marL="0" indent="0">
              <a:buNone/>
            </a:pPr>
            <a:r>
              <a:rPr lang="en-US" altLang="en-US" sz="1800"/>
              <a:t>An index stores a copy of selected columns and a pointer to the actual row in the table.</a:t>
            </a:r>
            <a:endParaRPr lang="en-US" altLang="en-US" sz="1800"/>
          </a:p>
          <a:p>
            <a:pPr marL="0" indent="0">
              <a:buNone/>
            </a:pPr>
            <a:r>
              <a:rPr lang="en-US" altLang="en-US" sz="1800"/>
              <a:t>Helps SELECT queries run faster, especially on large tables.</a:t>
            </a:r>
            <a:endParaRPr lang="en-US" altLang="en-US" sz="1800"/>
          </a:p>
          <a:p>
            <a:r>
              <a:rPr lang="en-US" altLang="en-US" sz="1800" b="1"/>
              <a:t>2 Why Use Indexing?</a:t>
            </a:r>
            <a:endParaRPr lang="en-US" altLang="en-US" sz="1800"/>
          </a:p>
          <a:p>
            <a:pPr marL="0" indent="0">
              <a:buNone/>
            </a:pPr>
            <a:r>
              <a:rPr lang="en-US" altLang="en-US" sz="1800"/>
              <a:t>You use indexing in SQL when:</a:t>
            </a:r>
            <a:endParaRPr lang="en-US" altLang="en-US" sz="1800"/>
          </a:p>
          <a:p>
            <a:pPr marL="0" indent="0">
              <a:buNone/>
            </a:pPr>
            <a:r>
              <a:rPr lang="en-US" altLang="en-US" sz="1800"/>
              <a:t>You frequently search or filter data using WHERE.</a:t>
            </a:r>
            <a:endParaRPr lang="en-US" altLang="en-US" sz="1800"/>
          </a:p>
          <a:p>
            <a:pPr marL="0" indent="0">
              <a:buNone/>
            </a:pPr>
            <a:r>
              <a:rPr lang="en-US" altLang="en-US" sz="1800"/>
              <a:t>You often join tables on certain columns.</a:t>
            </a:r>
            <a:endParaRPr lang="en-US" altLang="en-US" sz="1800"/>
          </a:p>
          <a:p>
            <a:pPr marL="0" indent="0">
              <a:buNone/>
            </a:pPr>
            <a:r>
              <a:rPr lang="en-US" altLang="en-US" sz="1800"/>
              <a:t>You sort or group data with ORDER BY or GROUP BY.</a:t>
            </a:r>
            <a:endParaRPr lang="en-US" altLang="en-US" sz="1800"/>
          </a:p>
          <a:p>
            <a:pPr marL="0" indent="0">
              <a:buNone/>
            </a:pPr>
            <a:r>
              <a:rPr lang="en-US" altLang="en-US" sz="1800"/>
              <a:t>You want faster retrieval without scanning the entire table.</a:t>
            </a:r>
            <a:endParaRPr lang="en-US" altLang="en-US" sz="1800"/>
          </a:p>
        </p:txBody>
      </p:sp>
      <p:graphicFrame>
        <p:nvGraphicFramePr>
          <p:cNvPr id="4" name="Table 3"/>
          <p:cNvGraphicFramePr/>
          <p:nvPr>
            <p:custDataLst>
              <p:tags r:id="rId1"/>
            </p:custDataLst>
          </p:nvPr>
        </p:nvGraphicFramePr>
        <p:xfrm>
          <a:off x="-635" y="3964305"/>
          <a:ext cx="5932805" cy="2739390"/>
        </p:xfrm>
        <a:graphic>
          <a:graphicData uri="http://schemas.openxmlformats.org/drawingml/2006/table">
            <a:tbl>
              <a:tblPr/>
              <a:tblGrid>
                <a:gridCol w="2237740"/>
                <a:gridCol w="3695065"/>
              </a:tblGrid>
              <a:tr h="525145">
                <a:tc>
                  <a:txBody>
                    <a:bodyPr/>
                    <a:p>
                      <a:pPr algn="ctr"/>
                      <a:r>
                        <a:rPr sz="2000" b="1">
                          <a:latin typeface="Cambria" panose="02040503050406030204" charset="0"/>
                          <a:cs typeface="Cambria" panose="02040503050406030204" charset="0"/>
                        </a:rPr>
                        <a:t>Advantage</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2000" b="1">
                          <a:latin typeface="Cambria" panose="02040503050406030204" charset="0"/>
                          <a:cs typeface="Cambria" panose="02040503050406030204" charset="0"/>
                        </a:rPr>
                        <a:t>Explanation</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48640">
                <a:tc>
                  <a:txBody>
                    <a:bodyPr/>
                    <a:p>
                      <a:r>
                        <a:rPr sz="1800">
                          <a:latin typeface="Cambria" panose="02040503050406030204" charset="0"/>
                          <a:cs typeface="Cambria" panose="02040503050406030204" charset="0"/>
                        </a:rPr>
                        <a:t>Faster query execution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a:latin typeface="Cambria" panose="02040503050406030204" charset="0"/>
                          <a:cs typeface="Cambria" panose="02040503050406030204" charset="0"/>
                        </a:rPr>
                        <a:t>Indexes allow SQL to find rows quickly.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54990">
                <a:tc>
                  <a:txBody>
                    <a:bodyPr/>
                    <a:p>
                      <a:r>
                        <a:rPr sz="1800">
                          <a:latin typeface="Cambria" panose="02040503050406030204" charset="0"/>
                          <a:cs typeface="Cambria" panose="02040503050406030204" charset="0"/>
                        </a:rPr>
                        <a:t>Efficient sorting</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a:latin typeface="Cambria" panose="02040503050406030204" charset="0"/>
                          <a:cs typeface="Cambria" panose="02040503050406030204" charset="0"/>
                        </a:rPr>
                        <a:t>Queries with ORDER BY use indexes to sort faster.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55625">
                <a:tc>
                  <a:txBody>
                    <a:bodyPr/>
                    <a:p>
                      <a:r>
                        <a:rPr sz="1800">
                          <a:latin typeface="Cambria" panose="02040503050406030204" charset="0"/>
                          <a:cs typeface="Cambria" panose="02040503050406030204" charset="0"/>
                        </a:rPr>
                        <a:t>Enforces uniqueness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a:latin typeface="Cambria" panose="02040503050406030204" charset="0"/>
                          <a:cs typeface="Cambria" panose="02040503050406030204" charset="0"/>
                        </a:rPr>
                        <a:t>Unique indexes ensure no duplicate values in a column.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554990">
                <a:tc>
                  <a:txBody>
                    <a:bodyPr/>
                    <a:p>
                      <a:r>
                        <a:rPr sz="1800">
                          <a:latin typeface="Cambria" panose="02040503050406030204" charset="0"/>
                          <a:cs typeface="Cambria" panose="02040503050406030204" charset="0"/>
                        </a:rPr>
                        <a:t>Improves JOIN performance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r>
                        <a:rPr sz="1800">
                          <a:latin typeface="Cambria" panose="02040503050406030204" charset="0"/>
                          <a:cs typeface="Cambria" panose="02040503050406030204" charset="0"/>
                        </a:rPr>
                        <a:t>Indexes on foreign keys make JOINs faster.</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6137275" y="3988435"/>
          <a:ext cx="5944235" cy="2738120"/>
        </p:xfrm>
        <a:graphic>
          <a:graphicData uri="http://schemas.openxmlformats.org/drawingml/2006/table">
            <a:tbl>
              <a:tblPr/>
              <a:tblGrid>
                <a:gridCol w="2483485"/>
                <a:gridCol w="3460750"/>
              </a:tblGrid>
              <a:tr h="684530">
                <a:tc>
                  <a:txBody>
                    <a:bodyPr/>
                    <a:p>
                      <a:pPr algn="ctr"/>
                      <a:r>
                        <a:rPr sz="1800" b="1"/>
                        <a:t>Disadvantage</a:t>
                      </a:r>
                      <a:endParaRPr sz="1800" b="1"/>
                    </a:p>
                  </a:txBody>
                  <a:tcPr marL="0" marR="0" marT="0" marB="0" anchor="ctr" anchorCtr="0">
                    <a:lnL>
                      <a:noFill/>
                    </a:lnL>
                    <a:lnR>
                      <a:noFill/>
                    </a:lnR>
                    <a:lnT>
                      <a:noFill/>
                    </a:lnT>
                    <a:lnB>
                      <a:noFill/>
                    </a:lnB>
                    <a:noFill/>
                  </a:tcPr>
                </a:tc>
                <a:tc>
                  <a:txBody>
                    <a:bodyPr/>
                    <a:p>
                      <a:pPr algn="ctr"/>
                      <a:r>
                        <a:rPr sz="1800" b="1"/>
                        <a:t>Explanation</a:t>
                      </a:r>
                      <a:endParaRPr sz="1800" b="1"/>
                    </a:p>
                  </a:txBody>
                  <a:tcPr marL="0" marR="0" marT="0" marB="0" anchor="ctr" anchorCtr="0">
                    <a:lnL>
                      <a:noFill/>
                    </a:lnL>
                    <a:lnR>
                      <a:noFill/>
                    </a:lnR>
                    <a:lnT>
                      <a:noFill/>
                    </a:lnT>
                    <a:lnB>
                      <a:noFill/>
                    </a:lnB>
                    <a:noFill/>
                  </a:tcPr>
                </a:tc>
              </a:tr>
              <a:tr h="684530">
                <a:tc>
                  <a:txBody>
                    <a:bodyPr/>
                    <a:p>
                      <a:r>
                        <a:rPr sz="1800"/>
                        <a:t>Slower INSERT/UPDATE/DELETE</a:t>
                      </a:r>
                      <a:endParaRPr sz="1800"/>
                    </a:p>
                  </a:txBody>
                  <a:tcPr marL="0" marR="0" marT="0" marB="0" anchor="ctr" anchorCtr="0">
                    <a:lnL>
                      <a:noFill/>
                    </a:lnL>
                    <a:lnR>
                      <a:noFill/>
                    </a:lnR>
                    <a:lnT>
                      <a:noFill/>
                    </a:lnT>
                    <a:lnB>
                      <a:noFill/>
                    </a:lnB>
                    <a:noFill/>
                  </a:tcPr>
                </a:tc>
                <a:tc>
                  <a:txBody>
                    <a:bodyPr/>
                    <a:p>
                      <a:r>
                        <a:rPr sz="1800"/>
                        <a:t>Indexes need to be updated whenever data changes.</a:t>
                      </a:r>
                      <a:endParaRPr sz="1800"/>
                    </a:p>
                  </a:txBody>
                  <a:tcPr marL="0" marR="0" marT="0" marB="0" anchor="ctr" anchorCtr="0">
                    <a:lnL>
                      <a:noFill/>
                    </a:lnL>
                    <a:lnR>
                      <a:noFill/>
                    </a:lnR>
                    <a:lnT>
                      <a:noFill/>
                    </a:lnT>
                    <a:lnB>
                      <a:noFill/>
                    </a:lnB>
                    <a:noFill/>
                  </a:tcPr>
                </a:tc>
              </a:tr>
              <a:tr h="684530">
                <a:tc>
                  <a:txBody>
                    <a:bodyPr/>
                    <a:p>
                      <a:r>
                        <a:rPr sz="1800"/>
                        <a:t>Uses extra disk space</a:t>
                      </a:r>
                      <a:endParaRPr sz="1800"/>
                    </a:p>
                  </a:txBody>
                  <a:tcPr marL="0" marR="0" marT="0" marB="0" anchor="ctr" anchorCtr="0">
                    <a:lnL>
                      <a:noFill/>
                    </a:lnL>
                    <a:lnR>
                      <a:noFill/>
                    </a:lnR>
                    <a:lnT>
                      <a:noFill/>
                    </a:lnT>
                    <a:lnB>
                      <a:noFill/>
                    </a:lnB>
                    <a:noFill/>
                  </a:tcPr>
                </a:tc>
                <a:tc>
                  <a:txBody>
                    <a:bodyPr/>
                    <a:p>
                      <a:r>
                        <a:rPr sz="1800"/>
                        <a:t>Each index takes additional storage.</a:t>
                      </a:r>
                      <a:endParaRPr sz="1800"/>
                    </a:p>
                  </a:txBody>
                  <a:tcPr marL="0" marR="0" marT="0" marB="0" anchor="ctr" anchorCtr="0">
                    <a:lnL>
                      <a:noFill/>
                    </a:lnL>
                    <a:lnR>
                      <a:noFill/>
                    </a:lnR>
                    <a:lnT>
                      <a:noFill/>
                    </a:lnT>
                    <a:lnB>
                      <a:noFill/>
                    </a:lnB>
                    <a:noFill/>
                  </a:tcPr>
                </a:tc>
              </a:tr>
              <a:tr h="684530">
                <a:tc>
                  <a:txBody>
                    <a:bodyPr/>
                    <a:p>
                      <a:r>
                        <a:rPr sz="1800"/>
                        <a:t>Maintenance overhead</a:t>
                      </a:r>
                      <a:endParaRPr sz="1800"/>
                    </a:p>
                  </a:txBody>
                  <a:tcPr marL="0" marR="0" marT="0" marB="0" anchor="ctr" anchorCtr="0">
                    <a:lnL>
                      <a:noFill/>
                    </a:lnL>
                    <a:lnR>
                      <a:noFill/>
                    </a:lnR>
                    <a:lnT>
                      <a:noFill/>
                    </a:lnT>
                    <a:lnB>
                      <a:noFill/>
                    </a:lnB>
                    <a:noFill/>
                  </a:tcPr>
                </a:tc>
                <a:tc>
                  <a:txBody>
                    <a:bodyPr/>
                    <a:p>
                      <a:r>
                        <a:rPr sz="1800"/>
                        <a:t>Large tables with many indexes require more maintenance.</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126365" y="210185"/>
            <a:ext cx="10515600" cy="6445885"/>
          </a:xfrm>
        </p:spPr>
        <p:txBody>
          <a:bodyPr>
            <a:normAutofit/>
          </a:bodyPr>
          <a:p>
            <a:r>
              <a:rPr lang="en-US" altLang="en-US" sz="1800" b="1"/>
              <a:t> Logic of Indexing in SQL</a:t>
            </a:r>
            <a:endParaRPr lang="en-US" altLang="en-US" sz="1800" b="1"/>
          </a:p>
          <a:p>
            <a:pPr marL="0" indent="0">
              <a:buNone/>
            </a:pPr>
            <a:r>
              <a:rPr lang="en-US" altLang="en-US" sz="1800"/>
              <a:t>Data storage: Table rows are stored in data pages.</a:t>
            </a:r>
            <a:endParaRPr lang="en-US" altLang="en-US" sz="1800"/>
          </a:p>
          <a:p>
            <a:pPr marL="0" indent="0">
              <a:buNone/>
            </a:pPr>
            <a:r>
              <a:rPr lang="en-US" altLang="en-US" sz="1800"/>
              <a:t>Index structure: SQL creates a B-tree or similar structure to map indexed columns to row locations.</a:t>
            </a:r>
            <a:endParaRPr lang="en-US" altLang="en-US" sz="1800"/>
          </a:p>
          <a:p>
            <a:pPr marL="0" indent="0">
              <a:buNone/>
            </a:pPr>
            <a:r>
              <a:rPr lang="en-US" altLang="en-US" sz="1800"/>
              <a:t>Query optimization: When you run a query, SQL checks if an index exists on the column(s) used in the WHERE, JOIN, ORDER BY, etc.</a:t>
            </a:r>
            <a:endParaRPr lang="en-US" altLang="en-US" sz="1800"/>
          </a:p>
          <a:p>
            <a:pPr marL="0" indent="0">
              <a:buNone/>
            </a:pPr>
            <a:r>
              <a:rPr lang="en-US" altLang="en-US" sz="1800"/>
              <a:t>Direct lookup: If an index exists, SQL uses it to jump to the correct rows, avoiding a full table scan.</a:t>
            </a:r>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5090" y="100965"/>
            <a:ext cx="11938635" cy="6513830"/>
          </a:xfrm>
        </p:spPr>
        <p:txBody>
          <a:bodyPr>
            <a:noAutofit/>
          </a:bodyPr>
          <a:p>
            <a:pPr marL="0" indent="0">
              <a:buNone/>
            </a:pPr>
            <a:r>
              <a:rPr lang="en-US" altLang="en-US" sz="1600" b="1"/>
              <a:t>a) Creating an Index</a:t>
            </a:r>
            <a:endParaRPr lang="en-US" altLang="en-US" sz="1600" b="1"/>
          </a:p>
          <a:p>
            <a:pPr marL="0" indent="0">
              <a:buNone/>
            </a:pPr>
            <a:r>
              <a:rPr lang="en-US" altLang="en-US" sz="1600" b="1"/>
              <a:t> Single-column index</a:t>
            </a:r>
            <a:endParaRPr lang="en-US" altLang="en-US" sz="1600" b="1"/>
          </a:p>
          <a:p>
            <a:pPr marL="0" indent="0">
              <a:buNone/>
            </a:pPr>
            <a:r>
              <a:rPr lang="en-US" altLang="en-US" sz="1600"/>
              <a:t>CREATE INDEX idx_lastname</a:t>
            </a:r>
            <a:endParaRPr lang="en-US" altLang="en-US" sz="1600"/>
          </a:p>
          <a:p>
            <a:pPr marL="0" indent="0">
              <a:buNone/>
            </a:pPr>
            <a:r>
              <a:rPr lang="en-US" altLang="en-US" sz="1600"/>
              <a:t>ON Students (LastName);</a:t>
            </a:r>
            <a:endParaRPr lang="en-US" altLang="en-US" sz="1600"/>
          </a:p>
          <a:p>
            <a:pPr marL="0" indent="0">
              <a:buNone/>
            </a:pPr>
            <a:r>
              <a:rPr lang="en-US" altLang="en-US" sz="1600"/>
              <a:t>Composite (multi-column) index</a:t>
            </a:r>
            <a:endParaRPr lang="en-US" altLang="en-US" sz="1600"/>
          </a:p>
          <a:p>
            <a:pPr marL="0" indent="0">
              <a:buNone/>
            </a:pPr>
            <a:r>
              <a:rPr lang="en-US" altLang="en-US" sz="1600"/>
              <a:t>CREATE INDEX idx_name_city</a:t>
            </a:r>
            <a:endParaRPr lang="en-US" altLang="en-US" sz="1600"/>
          </a:p>
          <a:p>
            <a:pPr marL="0" indent="0">
              <a:buNone/>
            </a:pPr>
            <a:r>
              <a:rPr lang="en-US" altLang="en-US" sz="1600"/>
              <a:t>ON Students (LastName, City);</a:t>
            </a:r>
            <a:endParaRPr lang="en-US" altLang="en-US" sz="1600"/>
          </a:p>
          <a:p>
            <a:pPr marL="0" indent="0">
              <a:buNone/>
            </a:pPr>
            <a:r>
              <a:rPr lang="en-US" altLang="en-US" sz="1600" b="1"/>
              <a:t>Unique index</a:t>
            </a:r>
            <a:endParaRPr lang="en-US" altLang="en-US" sz="1600"/>
          </a:p>
          <a:p>
            <a:pPr marL="0" indent="0">
              <a:buNone/>
            </a:pPr>
            <a:r>
              <a:rPr lang="en-US" altLang="en-US" sz="1600"/>
              <a:t>CREATE UNIQUE INDEX idx_studentid</a:t>
            </a:r>
            <a:endParaRPr lang="en-US" altLang="en-US" sz="1600"/>
          </a:p>
          <a:p>
            <a:pPr marL="0" indent="0">
              <a:buNone/>
            </a:pPr>
            <a:r>
              <a:rPr lang="en-US" altLang="en-US" sz="1600"/>
              <a:t>ON Students (StudentID);</a:t>
            </a:r>
            <a:endParaRPr lang="en-US" altLang="en-US" sz="1600"/>
          </a:p>
          <a:p>
            <a:pPr marL="0" indent="0">
              <a:buNone/>
            </a:pPr>
            <a:r>
              <a:rPr lang="en-US" altLang="en-US" sz="1600" b="1"/>
              <a:t>b) Updating an Index</a:t>
            </a:r>
            <a:endParaRPr lang="en-US" altLang="en-US" sz="1600" b="1"/>
          </a:p>
          <a:p>
            <a:pPr marL="0" indent="0">
              <a:buNone/>
            </a:pPr>
            <a:r>
              <a:rPr lang="en-US" altLang="en-US" sz="1600"/>
              <a:t>Indexes automatically update when you insert, update, or delete rows in the table.</a:t>
            </a:r>
            <a:endParaRPr lang="en-US" altLang="en-US" sz="1600"/>
          </a:p>
          <a:p>
            <a:pPr marL="0" indent="0">
              <a:buNone/>
            </a:pPr>
            <a:r>
              <a:rPr lang="en-US" altLang="en-US" sz="1600"/>
              <a:t>Example:</a:t>
            </a:r>
            <a:endParaRPr lang="en-US" altLang="en-US" sz="1600"/>
          </a:p>
          <a:p>
            <a:pPr marL="0" indent="0">
              <a:buNone/>
            </a:pPr>
            <a:r>
              <a:rPr lang="en-US" altLang="en-US" sz="1600"/>
              <a:t>INSERT INTO Students (StudentID, FirstName, LastName, Age, City)</a:t>
            </a:r>
            <a:endParaRPr lang="en-US" altLang="en-US" sz="1600"/>
          </a:p>
          <a:p>
            <a:pPr marL="0" indent="0">
              <a:buNone/>
            </a:pPr>
            <a:r>
              <a:rPr lang="en-US" altLang="en-US" sz="1600"/>
              <a:t>VALUES (101, ‘viren’, ‘More’, 20, ‘pune City');</a:t>
            </a:r>
            <a:endParaRPr lang="en-US" altLang="en-US" sz="1600"/>
          </a:p>
          <a:p>
            <a:pPr marL="0" indent="0">
              <a:buNone/>
            </a:pPr>
            <a:r>
              <a:rPr lang="en-US" altLang="en-US" sz="1600"/>
              <a:t>Here, the idx_lastname index automatically includes  ‘</a:t>
            </a:r>
            <a:r>
              <a:rPr lang="en-US" altLang="en-US" sz="1600">
                <a:sym typeface="+mn-ea"/>
              </a:rPr>
              <a:t>viren’</a:t>
            </a:r>
            <a:r>
              <a:rPr lang="en-US" altLang="en-US" sz="1600"/>
              <a:t>.</a:t>
            </a:r>
            <a:endParaRPr lang="en-US" altLang="en-US" sz="1600"/>
          </a:p>
          <a:p>
            <a:pPr marL="0" indent="0">
              <a:buNone/>
            </a:pPr>
            <a:r>
              <a:rPr lang="en-US" altLang="en-US" sz="1600" b="1"/>
              <a:t>c) Dropping an Index</a:t>
            </a:r>
            <a:endParaRPr lang="en-US" altLang="en-US" sz="1600" b="1"/>
          </a:p>
          <a:p>
            <a:pPr marL="0" indent="0">
              <a:buNone/>
            </a:pPr>
            <a:r>
              <a:rPr lang="en-US" altLang="en-US" sz="1600"/>
              <a:t>DROP INDEX idx_lastname ON Students;</a:t>
            </a:r>
            <a:endParaRPr lang="en-US" altLang="en-US" sz="1600"/>
          </a:p>
          <a:p>
            <a:pPr marL="0" indent="0">
              <a:buNone/>
            </a:pPr>
            <a:r>
              <a:rPr lang="en-US" altLang="en-US" sz="1600"/>
              <a:t>This removes the index from the table.</a:t>
            </a:r>
            <a:endParaRPr lang="en-US" altLang="en-US" sz="1600"/>
          </a:p>
          <a:p>
            <a:pPr marL="0" indent="0">
              <a:buNone/>
            </a:pPr>
            <a:r>
              <a:rPr lang="en-US" altLang="en-US" sz="1600"/>
              <a:t>Queries that relied on the index will now perform full table scans.</a:t>
            </a:r>
            <a:endParaRPr lang="en-US"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825" y="-635"/>
            <a:ext cx="11664315" cy="299085"/>
          </a:xfrm>
        </p:spPr>
        <p:txBody>
          <a:bodyPr>
            <a:noAutofit/>
          </a:bodyPr>
          <a:p>
            <a:pPr algn="ctr"/>
            <a:r>
              <a:rPr lang="en-US" sz="2000" b="1">
                <a:solidFill>
                  <a:srgbClr val="FF0000"/>
                </a:solidFill>
              </a:rPr>
              <a:t>Types Of Indexes</a:t>
            </a:r>
            <a:endParaRPr lang="en-US" sz="2000" b="1">
              <a:solidFill>
                <a:srgbClr val="FF0000"/>
              </a:solidFill>
            </a:endParaRPr>
          </a:p>
        </p:txBody>
      </p:sp>
      <p:graphicFrame>
        <p:nvGraphicFramePr>
          <p:cNvPr id="4" name="Table 3"/>
          <p:cNvGraphicFramePr/>
          <p:nvPr>
            <p:custDataLst>
              <p:tags r:id="rId1"/>
            </p:custDataLst>
          </p:nvPr>
        </p:nvGraphicFramePr>
        <p:xfrm>
          <a:off x="0" y="298450"/>
          <a:ext cx="12301855" cy="4556760"/>
        </p:xfrm>
        <a:graphic>
          <a:graphicData uri="http://schemas.openxmlformats.org/drawingml/2006/table">
            <a:tbl>
              <a:tblPr/>
              <a:tblGrid>
                <a:gridCol w="1751330"/>
                <a:gridCol w="3763010"/>
                <a:gridCol w="4610100"/>
                <a:gridCol w="2177415"/>
              </a:tblGrid>
              <a:tr h="324485">
                <a:tc>
                  <a:txBody>
                    <a:bodyPr/>
                    <a:p>
                      <a:pPr algn="ctr"/>
                      <a:r>
                        <a:rPr sz="2000" b="1">
                          <a:solidFill>
                            <a:srgbClr val="FF0000"/>
                          </a:solidFill>
                        </a:rPr>
                        <a:t>Index Type</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Explanation</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Example</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When to Use</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r>
              <a:tr h="564515">
                <a:tc>
                  <a:txBody>
                    <a:bodyPr/>
                    <a:p>
                      <a:r>
                        <a:rPr sz="1600"/>
                        <a:t>Primary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Automatically created for PRIMARY KEY. Values are unique and not null.</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PRIMARY KEY(id)</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To uniquely identify records</a:t>
                      </a:r>
                      <a:endParaRPr sz="1600"/>
                    </a:p>
                  </a:txBody>
                  <a:tcPr marL="0" marR="0" marT="0" marB="0" anchor="ctr" anchorCtr="0">
                    <a:lnL>
                      <a:noFill/>
                    </a:lnL>
                    <a:lnR>
                      <a:noFill/>
                    </a:lnR>
                    <a:lnT>
                      <a:noFill/>
                    </a:lnT>
                    <a:lnB>
                      <a:noFill/>
                    </a:lnB>
                    <a:solidFill>
                      <a:schemeClr val="accent1">
                        <a:lumMod val="20000"/>
                        <a:lumOff val="80000"/>
                      </a:schemeClr>
                    </a:solidFill>
                  </a:tcPr>
                </a:tc>
              </a:tr>
              <a:tr h="282575">
                <a:tc>
                  <a:txBody>
                    <a:bodyPr/>
                    <a:p>
                      <a:r>
                        <a:rPr sz="1600"/>
                        <a:t>Unique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Ensures all values in a column are unique</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UNIQUE INDEX idx_email ON users(email);</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Prevent duplicate values</a:t>
                      </a:r>
                      <a:endParaRPr sz="1600"/>
                    </a:p>
                  </a:txBody>
                  <a:tcPr marL="0" marR="0" marT="0" marB="0" anchor="ctr" anchorCtr="0">
                    <a:lnL>
                      <a:noFill/>
                    </a:lnL>
                    <a:lnR>
                      <a:noFill/>
                    </a:lnR>
                    <a:lnT>
                      <a:noFill/>
                    </a:lnT>
                    <a:lnB>
                      <a:noFill/>
                    </a:lnB>
                    <a:solidFill>
                      <a:schemeClr val="accent1">
                        <a:lumMod val="20000"/>
                        <a:lumOff val="80000"/>
                      </a:schemeClr>
                    </a:solidFill>
                  </a:tcPr>
                </a:tc>
              </a:tr>
              <a:tr h="563880">
                <a:tc>
                  <a:txBody>
                    <a:bodyPr/>
                    <a:p>
                      <a:r>
                        <a:rPr sz="1600"/>
                        <a:t>Clustered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Physically stores table rows in index order. Only one per table</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CLUSTERED INDEX idx_id ON students(id);</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Fast retrieval of sorted data</a:t>
                      </a:r>
                      <a:endParaRPr sz="1600"/>
                    </a:p>
                  </a:txBody>
                  <a:tcPr marL="0" marR="0" marT="0" marB="0" anchor="ctr" anchorCtr="0">
                    <a:lnL>
                      <a:noFill/>
                    </a:lnL>
                    <a:lnR>
                      <a:noFill/>
                    </a:lnR>
                    <a:lnT>
                      <a:noFill/>
                    </a:lnT>
                    <a:lnB>
                      <a:noFill/>
                    </a:lnB>
                    <a:solidFill>
                      <a:schemeClr val="accent1">
                        <a:lumMod val="20000"/>
                        <a:lumOff val="80000"/>
                      </a:schemeClr>
                    </a:solidFill>
                  </a:tcPr>
                </a:tc>
              </a:tr>
              <a:tr h="563880">
                <a:tc>
                  <a:txBody>
                    <a:bodyPr/>
                    <a:p>
                      <a:r>
                        <a:rPr sz="1600"/>
                        <a:t>Non-Clustered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Separate structure storing pointers to table rows</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INDEX idx_name ON students(name);</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Faster search without changing data order</a:t>
                      </a:r>
                      <a:endParaRPr sz="1600"/>
                    </a:p>
                  </a:txBody>
                  <a:tcPr marL="0" marR="0" marT="0" marB="0" anchor="ctr" anchorCtr="0">
                    <a:lnL>
                      <a:noFill/>
                    </a:lnL>
                    <a:lnR>
                      <a:noFill/>
                    </a:lnR>
                    <a:lnT>
                      <a:noFill/>
                    </a:lnT>
                    <a:lnB>
                      <a:noFill/>
                    </a:lnB>
                    <a:solidFill>
                      <a:schemeClr val="accent1">
                        <a:lumMod val="20000"/>
                        <a:lumOff val="80000"/>
                      </a:schemeClr>
                    </a:solidFill>
                  </a:tcPr>
                </a:tc>
              </a:tr>
              <a:tr h="282575">
                <a:tc>
                  <a:txBody>
                    <a:bodyPr/>
                    <a:p>
                      <a:r>
                        <a:rPr sz="1600"/>
                        <a:t>Single-Column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Index on one column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INDEX idx_age ON students(age);</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Simple WHERE conditions</a:t>
                      </a:r>
                      <a:endParaRPr sz="1600"/>
                    </a:p>
                  </a:txBody>
                  <a:tcPr marL="0" marR="0" marT="0" marB="0" anchor="ctr" anchorCtr="0">
                    <a:lnL>
                      <a:noFill/>
                    </a:lnL>
                    <a:lnR>
                      <a:noFill/>
                    </a:lnR>
                    <a:lnT>
                      <a:noFill/>
                    </a:lnT>
                    <a:lnB>
                      <a:noFill/>
                    </a:lnB>
                    <a:solidFill>
                      <a:schemeClr val="accent1">
                        <a:lumMod val="20000"/>
                        <a:lumOff val="80000"/>
                      </a:schemeClr>
                    </a:solidFill>
                  </a:tcPr>
                </a:tc>
              </a:tr>
              <a:tr h="563880">
                <a:tc>
                  <a:txBody>
                    <a:bodyPr/>
                    <a:p>
                      <a:r>
                        <a:rPr sz="1600"/>
                        <a:t>Composite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Index on multiple columns</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INDEX idx_name_age ON students(name, age);</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Queries using multiple columns</a:t>
                      </a:r>
                      <a:endParaRPr sz="1600"/>
                    </a:p>
                  </a:txBody>
                  <a:tcPr marL="0" marR="0" marT="0" marB="0" anchor="ctr" anchorCtr="0">
                    <a:lnL>
                      <a:noFill/>
                    </a:lnL>
                    <a:lnR>
                      <a:noFill/>
                    </a:lnR>
                    <a:lnT>
                      <a:noFill/>
                    </a:lnT>
                    <a:lnB>
                      <a:noFill/>
                    </a:lnB>
                    <a:solidFill>
                      <a:schemeClr val="accent1">
                        <a:lumMod val="20000"/>
                        <a:lumOff val="80000"/>
                      </a:schemeClr>
                    </a:solidFill>
                  </a:tcPr>
                </a:tc>
              </a:tr>
              <a:tr h="564515">
                <a:tc>
                  <a:txBody>
                    <a:bodyPr/>
                    <a:p>
                      <a:r>
                        <a:rPr sz="1600"/>
                        <a:t>Bitmap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Uses bitmaps; efficient for low-cardinality data</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BITMAP INDEX idx_gender ON users(gender);</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Data with few distinct values</a:t>
                      </a:r>
                      <a:endParaRPr sz="1600"/>
                    </a:p>
                  </a:txBody>
                  <a:tcPr marL="0" marR="0" marT="0" marB="0" anchor="ctr" anchorCtr="0">
                    <a:lnL>
                      <a:noFill/>
                    </a:lnL>
                    <a:lnR>
                      <a:noFill/>
                    </a:lnR>
                    <a:lnT>
                      <a:noFill/>
                    </a:lnT>
                    <a:lnB>
                      <a:noFill/>
                    </a:lnB>
                    <a:solidFill>
                      <a:schemeClr val="accent1">
                        <a:lumMod val="20000"/>
                        <a:lumOff val="80000"/>
                      </a:schemeClr>
                    </a:solidFill>
                  </a:tcPr>
                </a:tc>
              </a:tr>
              <a:tr h="281940">
                <a:tc>
                  <a:txBody>
                    <a:bodyPr/>
                    <a:p>
                      <a:r>
                        <a:rPr sz="1600"/>
                        <a:t>B-Tree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Balanced tree structure; default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INDEX idx_salary ON emp(salary);</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Range queries</a:t>
                      </a:r>
                      <a:endParaRPr sz="1600"/>
                    </a:p>
                  </a:txBody>
                  <a:tcPr marL="0" marR="0" marT="0" marB="0" anchor="ctr" anchorCtr="0">
                    <a:lnL>
                      <a:noFill/>
                    </a:lnL>
                    <a:lnR>
                      <a:noFill/>
                    </a:lnR>
                    <a:lnT>
                      <a:noFill/>
                    </a:lnT>
                    <a:lnB>
                      <a:noFill/>
                    </a:lnB>
                    <a:solidFill>
                      <a:schemeClr val="accent1">
                        <a:lumMod val="20000"/>
                        <a:lumOff val="80000"/>
                      </a:schemeClr>
                    </a:solidFill>
                  </a:tcPr>
                </a:tc>
              </a:tr>
              <a:tr h="282575">
                <a:tc>
                  <a:txBody>
                    <a:bodyPr/>
                    <a:p>
                      <a:r>
                        <a:rPr sz="1600"/>
                        <a:t>Hash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Uses hash table for fast equality search</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INDEX idx_id USING HASH ON students(id);</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Exact match searches</a:t>
                      </a:r>
                      <a:endParaRPr sz="1600"/>
                    </a:p>
                  </a:txBody>
                  <a:tcPr marL="0" marR="0" marT="0" marB="0" anchor="ctr" anchorCtr="0">
                    <a:lnL>
                      <a:noFill/>
                    </a:lnL>
                    <a:lnR>
                      <a:noFill/>
                    </a:lnR>
                    <a:lnT>
                      <a:noFill/>
                    </a:lnT>
                    <a:lnB>
                      <a:noFill/>
                    </a:lnB>
                    <a:solidFill>
                      <a:schemeClr val="accent1">
                        <a:lumMod val="20000"/>
                        <a:lumOff val="80000"/>
                      </a:schemeClr>
                    </a:solidFill>
                  </a:tcPr>
                </a:tc>
              </a:tr>
              <a:tr h="281940">
                <a:tc>
                  <a:txBody>
                    <a:bodyPr/>
                    <a:p>
                      <a:r>
                        <a:rPr sz="1600"/>
                        <a:t>Spatial Index</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Used for geographic data</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CREATE SPATIAL INDEX idx_loc ON places(location);</a:t>
                      </a:r>
                      <a:endParaRPr sz="1600"/>
                    </a:p>
                  </a:txBody>
                  <a:tcPr marL="0" marR="0" marT="0" marB="0" anchor="ctr" anchorCtr="0">
                    <a:lnL>
                      <a:noFill/>
                    </a:lnL>
                    <a:lnR>
                      <a:noFill/>
                    </a:lnR>
                    <a:lnT>
                      <a:noFill/>
                    </a:lnT>
                    <a:lnB>
                      <a:noFill/>
                    </a:lnB>
                    <a:solidFill>
                      <a:schemeClr val="accent1">
                        <a:lumMod val="20000"/>
                        <a:lumOff val="80000"/>
                      </a:schemeClr>
                    </a:solidFill>
                  </a:tcPr>
                </a:tc>
                <a:tc>
                  <a:txBody>
                    <a:bodyPr/>
                    <a:p>
                      <a:r>
                        <a:rPr sz="1600"/>
                        <a:t>Maps, coordinates</a:t>
                      </a:r>
                      <a:endParaRPr sz="16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graphicFrame>
        <p:nvGraphicFramePr>
          <p:cNvPr id="5" name="Table 4"/>
          <p:cNvGraphicFramePr/>
          <p:nvPr>
            <p:custDataLst>
              <p:tags r:id="rId2"/>
            </p:custDataLst>
          </p:nvPr>
        </p:nvGraphicFramePr>
        <p:xfrm>
          <a:off x="-635" y="5010785"/>
          <a:ext cx="12193905" cy="1717040"/>
        </p:xfrm>
        <a:graphic>
          <a:graphicData uri="http://schemas.openxmlformats.org/drawingml/2006/table">
            <a:tbl>
              <a:tblPr/>
              <a:tblGrid>
                <a:gridCol w="4064635"/>
                <a:gridCol w="4064635"/>
                <a:gridCol w="4064635"/>
              </a:tblGrid>
              <a:tr h="373380">
                <a:tc>
                  <a:txBody>
                    <a:bodyPr/>
                    <a:p>
                      <a:pPr algn="ctr"/>
                      <a:r>
                        <a:rPr sz="2000" b="1">
                          <a:solidFill>
                            <a:srgbClr val="FF0000"/>
                          </a:solidFill>
                        </a:rPr>
                        <a:t>Feature</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Clustered Index</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solidFill>
                            <a:srgbClr val="FF0000"/>
                          </a:solidFill>
                        </a:rPr>
                        <a:t>Non-Clustered Index</a:t>
                      </a:r>
                      <a:endParaRPr sz="20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r>
              <a:tr h="336550">
                <a:tc>
                  <a:txBody>
                    <a:bodyPr/>
                    <a:p>
                      <a:r>
                        <a:rPr sz="1800"/>
                        <a:t>Data Storage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Physical order</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Separate structure</a:t>
                      </a:r>
                      <a:endParaRPr sz="1800"/>
                    </a:p>
                  </a:txBody>
                  <a:tcPr marL="0" marR="0" marT="0" marB="0" anchor="ctr" anchorCtr="0">
                    <a:lnL>
                      <a:noFill/>
                    </a:lnL>
                    <a:lnR>
                      <a:noFill/>
                    </a:lnR>
                    <a:lnT>
                      <a:noFill/>
                    </a:lnT>
                    <a:lnB>
                      <a:noFill/>
                    </a:lnB>
                    <a:solidFill>
                      <a:schemeClr val="accent1">
                        <a:lumMod val="20000"/>
                        <a:lumOff val="80000"/>
                      </a:schemeClr>
                    </a:solidFill>
                  </a:tcPr>
                </a:tc>
              </a:tr>
              <a:tr h="334645">
                <a:tc>
                  <a:txBody>
                    <a:bodyPr/>
                    <a:p>
                      <a:r>
                        <a:rPr sz="1800"/>
                        <a:t>Number Allowed</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Only 1</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Multiple</a:t>
                      </a:r>
                      <a:endParaRPr sz="1800"/>
                    </a:p>
                  </a:txBody>
                  <a:tcPr marL="0" marR="0" marT="0" marB="0" anchor="ctr" anchorCtr="0">
                    <a:lnL>
                      <a:noFill/>
                    </a:lnL>
                    <a:lnR>
                      <a:noFill/>
                    </a:lnR>
                    <a:lnT>
                      <a:noFill/>
                    </a:lnT>
                    <a:lnB>
                      <a:noFill/>
                    </a:lnB>
                    <a:solidFill>
                      <a:schemeClr val="accent1">
                        <a:lumMod val="20000"/>
                        <a:lumOff val="80000"/>
                      </a:schemeClr>
                    </a:solidFill>
                  </a:tcPr>
                </a:tc>
              </a:tr>
              <a:tr h="336550">
                <a:tc>
                  <a:txBody>
                    <a:bodyPr/>
                    <a:p>
                      <a:r>
                        <a:rPr sz="1800"/>
                        <a:t>Speed</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Faster read</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Slightly slower</a:t>
                      </a:r>
                      <a:endParaRPr sz="1800"/>
                    </a:p>
                  </a:txBody>
                  <a:tcPr marL="0" marR="0" marT="0" marB="0" anchor="ctr" anchorCtr="0">
                    <a:lnL>
                      <a:noFill/>
                    </a:lnL>
                    <a:lnR>
                      <a:noFill/>
                    </a:lnR>
                    <a:lnT>
                      <a:noFill/>
                    </a:lnT>
                    <a:lnB>
                      <a:noFill/>
                    </a:lnB>
                    <a:solidFill>
                      <a:schemeClr val="accent1">
                        <a:lumMod val="20000"/>
                        <a:lumOff val="80000"/>
                      </a:schemeClr>
                    </a:solidFill>
                  </a:tcPr>
                </a:tc>
              </a:tr>
              <a:tr h="335915">
                <a:tc>
                  <a:txBody>
                    <a:bodyPr/>
                    <a:p>
                      <a:r>
                        <a:rPr sz="1800"/>
                        <a:t>Example</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Primary Key</a:t>
                      </a:r>
                      <a:endParaRPr sz="1800"/>
                    </a:p>
                  </a:txBody>
                  <a:tcPr marL="0" marR="0" marT="0" marB="0" anchor="ctr" anchorCtr="0">
                    <a:lnL>
                      <a:noFill/>
                    </a:lnL>
                    <a:lnR>
                      <a:noFill/>
                    </a:lnR>
                    <a:lnT>
                      <a:noFill/>
                    </a:lnT>
                    <a:lnB>
                      <a:noFill/>
                    </a:lnB>
                    <a:solidFill>
                      <a:schemeClr val="accent1">
                        <a:lumMod val="20000"/>
                        <a:lumOff val="80000"/>
                      </a:schemeClr>
                    </a:solidFill>
                  </a:tcPr>
                </a:tc>
                <a:tc>
                  <a:txBody>
                    <a:bodyPr/>
                    <a:p>
                      <a:r>
                        <a:rPr sz="1800"/>
                        <a:t>Index on name</a:t>
                      </a:r>
                      <a:endParaRPr sz="1800"/>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00660"/>
          </a:xfrm>
        </p:spPr>
        <p:txBody>
          <a:bodyPr>
            <a:noAutofit/>
          </a:bodyPr>
          <a:p>
            <a:pPr algn="ctr"/>
            <a:r>
              <a:rPr lang="en-US" sz="2000" b="1">
                <a:solidFill>
                  <a:srgbClr val="FF0000"/>
                </a:solidFill>
              </a:rPr>
              <a:t>Example OF Index Creating</a:t>
            </a:r>
            <a:endParaRPr lang="en-US" sz="2000" b="1">
              <a:solidFill>
                <a:srgbClr val="FF0000"/>
              </a:solidFill>
            </a:endParaRPr>
          </a:p>
        </p:txBody>
      </p:sp>
      <p:sp>
        <p:nvSpPr>
          <p:cNvPr id="3" name="Content Placeholder 2"/>
          <p:cNvSpPr>
            <a:spLocks noGrp="1"/>
          </p:cNvSpPr>
          <p:nvPr>
            <p:ph idx="1"/>
          </p:nvPr>
        </p:nvSpPr>
        <p:spPr>
          <a:xfrm>
            <a:off x="126365" y="200660"/>
            <a:ext cx="11938635" cy="6350000"/>
          </a:xfrm>
        </p:spPr>
        <p:txBody>
          <a:bodyPr/>
          <a:p>
            <a:pPr marL="0" indent="0">
              <a:buNone/>
            </a:pPr>
            <a:r>
              <a:rPr lang="en-US" altLang="en-US" sz="1800"/>
              <a:t>select * from emp ;</a:t>
            </a:r>
            <a:endParaRPr lang="en-US" altLang="en-US" sz="1800"/>
          </a:p>
          <a:p>
            <a:pPr marL="0" indent="0">
              <a:buNone/>
            </a:pPr>
            <a:r>
              <a:rPr lang="en-US" altLang="en-US" sz="1800"/>
              <a:t>select * , row_number() over(order by salary desc ) as Index_Emp  from emp ;</a:t>
            </a:r>
            <a:endParaRPr lang="en-US" altLang="en-US" sz="1800"/>
          </a:p>
          <a:p>
            <a:pPr marL="0" indent="0">
              <a:buNone/>
            </a:pPr>
            <a:r>
              <a:rPr lang="en-US" altLang="en-US" sz="1800"/>
              <a:t>select * , rank() over(order by salary desc ) as Emp_Rank  from emp ;</a:t>
            </a:r>
            <a:endParaRPr lang="en-US" altLang="en-US" sz="1800"/>
          </a:p>
          <a:p>
            <a:pPr marL="0" indent="0">
              <a:buNone/>
            </a:pPr>
            <a:endParaRPr lang="en-US" altLang="en-US" sz="1800"/>
          </a:p>
          <a:p>
            <a:pPr marL="0" indent="0">
              <a:buNone/>
            </a:pPr>
            <a:r>
              <a:rPr lang="en-US" altLang="en-US" sz="1800"/>
              <a:t>alter table emp </a:t>
            </a:r>
            <a:endParaRPr lang="en-US" altLang="en-US" sz="1800"/>
          </a:p>
          <a:p>
            <a:pPr marL="0" indent="0">
              <a:buNone/>
            </a:pPr>
            <a:r>
              <a:rPr lang="en-US" altLang="en-US" sz="1800"/>
              <a:t>add column Emp_rank int ;</a:t>
            </a:r>
            <a:endParaRPr lang="en-US" altLang="en-US" sz="1800"/>
          </a:p>
          <a:p>
            <a:pPr marL="0" indent="0">
              <a:buNone/>
            </a:pPr>
            <a:endParaRPr lang="en-US" altLang="en-US" sz="1800"/>
          </a:p>
          <a:p>
            <a:pPr marL="0" indent="0">
              <a:buNone/>
            </a:pPr>
            <a:r>
              <a:rPr lang="en-US" altLang="en-US" sz="1800"/>
              <a:t>UPDATE emp e</a:t>
            </a:r>
            <a:endParaRPr lang="en-US" altLang="en-US" sz="1800"/>
          </a:p>
          <a:p>
            <a:pPr marL="0" indent="0">
              <a:buNone/>
            </a:pPr>
            <a:r>
              <a:rPr lang="en-US" altLang="en-US" sz="1800"/>
              <a:t>JOIN (</a:t>
            </a:r>
            <a:endParaRPr lang="en-US" altLang="en-US" sz="1800"/>
          </a:p>
          <a:p>
            <a:pPr marL="0" indent="0">
              <a:buNone/>
            </a:pPr>
            <a:r>
              <a:rPr lang="en-US" altLang="en-US" sz="1800"/>
              <a:t>    SELECT emp_id,</a:t>
            </a:r>
            <a:endParaRPr lang="en-US" altLang="en-US" sz="1800"/>
          </a:p>
          <a:p>
            <a:pPr marL="0" indent="0">
              <a:buNone/>
            </a:pPr>
            <a:r>
              <a:rPr lang="en-US" altLang="en-US" sz="1800"/>
              <a:t>      RANK() OVER (ORDER BY salary DESC) AS emp_rank</a:t>
            </a:r>
            <a:endParaRPr lang="en-US" altLang="en-US" sz="1800"/>
          </a:p>
          <a:p>
            <a:pPr marL="0" indent="0">
              <a:buNone/>
            </a:pPr>
            <a:r>
              <a:rPr lang="en-US" altLang="en-US" sz="1800"/>
              <a:t>    FROM emp</a:t>
            </a:r>
            <a:endParaRPr lang="en-US" altLang="en-US" sz="1800"/>
          </a:p>
          <a:p>
            <a:pPr marL="0" indent="0">
              <a:buNone/>
            </a:pPr>
            <a:r>
              <a:rPr lang="en-US" altLang="en-US" sz="1800"/>
              <a:t>) r</a:t>
            </a:r>
            <a:endParaRPr lang="en-US" altLang="en-US" sz="1800"/>
          </a:p>
          <a:p>
            <a:pPr marL="0" indent="0">
              <a:buNone/>
            </a:pPr>
            <a:r>
              <a:rPr lang="en-US" altLang="en-US" sz="1800"/>
              <a:t>ON e.emp_id = r.emp_id</a:t>
            </a:r>
            <a:endParaRPr lang="en-US" altLang="en-US" sz="1800"/>
          </a:p>
          <a:p>
            <a:pPr marL="0" indent="0">
              <a:buNone/>
            </a:pPr>
            <a:r>
              <a:rPr lang="en-US" altLang="en-US" sz="1800"/>
              <a:t>SET e.emp_rank = r.emp_rank;</a:t>
            </a:r>
            <a:endParaRPr lang="en-US" altLang="en-US" sz="1800"/>
          </a:p>
          <a:p>
            <a:pPr marL="0" indent="0">
              <a:buNone/>
            </a:pPr>
            <a:r>
              <a:rPr lang="en-US" altLang="en-US" sz="1800"/>
              <a:t>select * from emp ;</a:t>
            </a:r>
            <a:endParaRPr lang="en-US" altLang="en-US" sz="1800"/>
          </a:p>
        </p:txBody>
      </p:sp>
      <p:sp>
        <p:nvSpPr>
          <p:cNvPr id="4" name="Text Box 3"/>
          <p:cNvSpPr txBox="1"/>
          <p:nvPr/>
        </p:nvSpPr>
        <p:spPr>
          <a:xfrm>
            <a:off x="6985000" y="979170"/>
            <a:ext cx="5080000" cy="2025650"/>
          </a:xfrm>
          <a:prstGeom prst="rect">
            <a:avLst/>
          </a:prstGeom>
        </p:spPr>
        <p:txBody>
          <a:bodyPr>
            <a:noAutofit/>
          </a:bodyPr>
          <a:p>
            <a:pPr>
              <a:spcAft>
                <a:spcPct val="60000"/>
              </a:spcAft>
            </a:pPr>
            <a:r>
              <a:rPr b="1"/>
              <a:t>1. ROW_NUMBER() – unique sequential numbering</a:t>
            </a:r>
            <a:endParaRPr b="1"/>
          </a:p>
          <a:p>
            <a:pPr>
              <a:spcAft>
                <a:spcPct val="60000"/>
              </a:spcAft>
            </a:pPr>
            <a:r>
              <a:rPr b="1"/>
              <a:t>What it does</a:t>
            </a:r>
            <a:endParaRPr b="1"/>
          </a:p>
          <a:p>
            <a:r>
              <a:rPr sz="1600"/>
              <a:t>ROW_NUMBER() assigns a unique, consecutive number to each row based on the ORDER BY clause.</a:t>
            </a:r>
            <a:endParaRPr sz="1600"/>
          </a:p>
          <a:p>
            <a:r>
              <a:rPr sz="1600"/>
              <a:t>Even if two employees have the same salary, they will still get different numbers.</a:t>
            </a:r>
            <a:endParaRPr sz="1600"/>
          </a:p>
        </p:txBody>
      </p:sp>
      <p:sp>
        <p:nvSpPr>
          <p:cNvPr id="5" name="Text Box 4"/>
          <p:cNvSpPr txBox="1"/>
          <p:nvPr/>
        </p:nvSpPr>
        <p:spPr>
          <a:xfrm>
            <a:off x="6985000" y="3181032"/>
            <a:ext cx="5080000" cy="1543050"/>
          </a:xfrm>
          <a:prstGeom prst="rect">
            <a:avLst/>
          </a:prstGeom>
        </p:spPr>
        <p:txBody>
          <a:bodyPr>
            <a:spAutoFit/>
          </a:bodyPr>
          <a:p>
            <a:pPr>
              <a:spcAft>
                <a:spcPct val="60000"/>
              </a:spcAft>
            </a:pPr>
            <a:r>
              <a:rPr b="1"/>
              <a:t>2. RANK() – ranking with gaps</a:t>
            </a:r>
            <a:endParaRPr b="1"/>
          </a:p>
          <a:p>
            <a:pPr>
              <a:spcAft>
                <a:spcPct val="60000"/>
              </a:spcAft>
            </a:pPr>
            <a:r>
              <a:rPr b="1"/>
              <a:t>What it does</a:t>
            </a:r>
            <a:endParaRPr b="1"/>
          </a:p>
          <a:p>
            <a:r>
              <a:rPr sz="1600"/>
              <a:t>RANK() assigns the same rank to tied values, but skips numbers after ties.</a:t>
            </a:r>
            <a:endParaRPr sz="1600"/>
          </a:p>
        </p:txBody>
      </p:sp>
      <p:sp>
        <p:nvSpPr>
          <p:cNvPr id="6" name="Text Box 5"/>
          <p:cNvSpPr txBox="1"/>
          <p:nvPr/>
        </p:nvSpPr>
        <p:spPr>
          <a:xfrm>
            <a:off x="3113405" y="4723765"/>
            <a:ext cx="9488170" cy="2134235"/>
          </a:xfrm>
          <a:prstGeom prst="rect">
            <a:avLst/>
          </a:prstGeom>
        </p:spPr>
        <p:txBody>
          <a:bodyPr wrap="square">
            <a:noAutofit/>
          </a:bodyPr>
          <a:p>
            <a:r>
              <a:rPr b="1"/>
              <a:t>OVER() in your query:</a:t>
            </a:r>
            <a:endParaRPr b="1"/>
          </a:p>
          <a:p/>
          <a:p>
            <a:pPr>
              <a:buAutoNum type="arabicPeriod"/>
            </a:pPr>
            <a:r>
              <a:t>Defines the order – ORDER BY salary DESC tells SQL how to sort rows before numbering or ranking.</a:t>
            </a:r>
          </a:p>
          <a:p>
            <a:pPr>
              <a:buAutoNum type="arabicPeriod"/>
            </a:pPr>
            <a:r>
              <a:t>Applies the function to all rows – ROW_NUMBER() or RANK() works across the entire table.</a:t>
            </a:r>
          </a:p>
          <a:p>
            <a:pPr>
              <a:buAutoNum type="arabicPeriod"/>
            </a:pPr>
          </a:p>
          <a:p>
            <a:pPr>
              <a:buAutoNum type="arabicPeriod"/>
            </a:pPr>
            <a:r>
              <a:t>Keeps all rows – Unlike GROUP BY, OVER() does not reduce the number of rows; every row gets a number or rank.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251460"/>
            <a:ext cx="12192000" cy="4351655"/>
          </a:xfrm>
        </p:spPr>
        <p:txBody>
          <a:bodyPr/>
          <a:p>
            <a:r>
              <a:rPr lang="en-US" altLang="en-US" sz="1800"/>
              <a:t>ROW_NUMBER() OVER(ORDER BY salary DESC) → Assigns a unique sequential number to each employee, sorted by salary (highest first).</a:t>
            </a:r>
            <a:endParaRPr lang="en-US" altLang="en-US" sz="1800"/>
          </a:p>
          <a:p>
            <a:r>
              <a:rPr lang="en-US" altLang="en-US" sz="1800"/>
              <a:t>RANK() OVER(ORDER BY salary DESC) → Assigns a rank to each employee by salary; ties get the same rank and gaps appear after ties.</a:t>
            </a:r>
            <a:endParaRPr lang="en-US" altLang="en-US" sz="1800"/>
          </a:p>
          <a:p>
            <a:r>
              <a:rPr lang="en-US" altLang="en-US" sz="1800"/>
              <a:t>OVER() → Specifies the order and set of rows on which the function works.</a:t>
            </a:r>
            <a:endParaRPr lang="en-US" altLang="en-US" sz="1800"/>
          </a:p>
        </p:txBody>
      </p:sp>
      <p:sp>
        <p:nvSpPr>
          <p:cNvPr id="4" name="Text Box 3"/>
          <p:cNvSpPr txBox="1"/>
          <p:nvPr/>
        </p:nvSpPr>
        <p:spPr>
          <a:xfrm>
            <a:off x="167640" y="2111375"/>
            <a:ext cx="5927725" cy="1317625"/>
          </a:xfrm>
          <a:prstGeom prst="rect">
            <a:avLst/>
          </a:prstGeom>
        </p:spPr>
        <p:txBody>
          <a:bodyPr>
            <a:noAutofit/>
          </a:bodyPr>
          <a:p>
            <a:r>
              <a:rPr sz="1600"/>
              <a:t>ROW_NUMBER() → unique numbers, no gaps</a:t>
            </a:r>
            <a:endParaRPr sz="1600"/>
          </a:p>
          <a:p>
            <a:endParaRPr sz="1600"/>
          </a:p>
          <a:p>
            <a:r>
              <a:rPr sz="1600"/>
              <a:t>RANK() → same rank for ties, gaps possible</a:t>
            </a:r>
            <a:endParaRPr sz="1600"/>
          </a:p>
          <a:p>
            <a:endParaRPr sz="1600"/>
          </a:p>
          <a:p>
            <a:r>
              <a:rPr sz="1600"/>
              <a:t>OVER() → defines order and window for numbering/ranking</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60" y="2677160"/>
            <a:ext cx="12093575" cy="1503680"/>
          </a:xfrm>
        </p:spPr>
        <p:txBody>
          <a:bodyPr/>
          <a:p>
            <a:pPr algn="ctr"/>
            <a:r>
              <a:rPr lang="en-US" sz="4000" b="1">
                <a:solidFill>
                  <a:srgbClr val="FF0000"/>
                </a:solidFill>
              </a:rPr>
              <a:t>SQL END</a:t>
            </a:r>
            <a:endParaRPr lang="en-US" sz="4000" b="1">
              <a:solidFill>
                <a:srgbClr val="FF0000"/>
              </a:solidFill>
            </a:endParaRPr>
          </a:p>
        </p:txBody>
      </p:sp>
    </p:spTree>
  </p:cSld>
  <p:clrMapOvr>
    <a:masterClrMapping/>
  </p:clrMapOvr>
</p:sld>
</file>

<file path=ppt/tags/tag1.xml><?xml version="1.0" encoding="utf-8"?>
<p:tagLst xmlns:p="http://schemas.openxmlformats.org/presentationml/2006/main">
  <p:tag name="TABLE_ENDDRAG_ORIGIN_RECT" val="881*121"/>
  <p:tag name="TABLE_ENDDRAG_RECT" val="26*69*881*121"/>
</p:tagLst>
</file>

<file path=ppt/tags/tag2.xml><?xml version="1.0" encoding="utf-8"?>
<p:tagLst xmlns:p="http://schemas.openxmlformats.org/presentationml/2006/main">
  <p:tag name="TABLE_ENDDRAG_ORIGIN_RECT" val="921*132"/>
  <p:tag name="TABLE_ENDDRAG_RECT" val="16*30*921*132"/>
</p:tagLst>
</file>

<file path=ppt/tags/tag3.xml><?xml version="1.0" encoding="utf-8"?>
<p:tagLst xmlns:p="http://schemas.openxmlformats.org/presentationml/2006/main">
  <p:tag name="TABLE_ENDDRAG_ORIGIN_RECT" val="931*207"/>
  <p:tag name="TABLE_ENDDRAG_RECT" val="6*197*931*207"/>
</p:tagLst>
</file>

<file path=ppt/tags/tag4.xml><?xml version="1.0" encoding="utf-8"?>
<p:tagLst xmlns:p="http://schemas.openxmlformats.org/presentationml/2006/main">
  <p:tag name="TABLE_ENDDRAG_ORIGIN_RECT" val="927*216"/>
  <p:tag name="TABLE_ENDDRAG_RECT" val="16*38*928*216"/>
</p:tagLst>
</file>

<file path=ppt/tags/tag5.xml><?xml version="1.0" encoding="utf-8"?>
<p:tagLst xmlns:p="http://schemas.openxmlformats.org/presentationml/2006/main">
  <p:tag name="TABLE_ENDDRAG_ORIGIN_RECT" val="928*128"/>
  <p:tag name="TABLE_ENDDRAG_RECT" val="14*270*928*128"/>
</p:tagLst>
</file>

<file path=ppt/tags/tag6.xml><?xml version="1.0" encoding="utf-8"?>
<p:tagLst xmlns:p="http://schemas.openxmlformats.org/presentationml/2006/main">
  <p:tag name="TABLE_ENDDRAG_ORIGIN_RECT" val="925*80"/>
  <p:tag name="TABLE_ENDDRAG_RECT" val="16*358*925*80"/>
</p:tagLst>
</file>

<file path=ppt/tags/tag7.xml><?xml version="1.0" encoding="utf-8"?>
<p:tagLst xmlns:p="http://schemas.openxmlformats.org/presentationml/2006/main">
  <p:tag name="TABLE_ENDDRAG_ORIGIN_RECT" val="934*79"/>
  <p:tag name="TABLE_ENDDRAG_RECT" val="9*331*934*79"/>
</p:tagLst>
</file>

<file path=ppt/tags/tag8.xml><?xml version="1.0" encoding="utf-8"?>
<p:tagLst xmlns:p="http://schemas.openxmlformats.org/presentationml/2006/main">
  <p:tag name="TABLE_ENDDRAG_ORIGIN_RECT" val="940*74"/>
  <p:tag name="TABLE_ENDDRAG_RECT" val="10*257*941*74"/>
</p:tagLst>
</file>

<file path=ppt/tags/tag9.xml><?xml version="1.0" encoding="utf-8"?>
<p:tagLst xmlns:p="http://schemas.openxmlformats.org/presentationml/2006/main">
  <p:tag name="TABLE_ENDDRAG_ORIGIN_RECT" val="934*111"/>
  <p:tag name="TABLE_ENDDRAG_RECT" val="16*12*934*111"/>
</p:tagLst>
</file>

<file path=ppt/tags/tag10.xml><?xml version="1.0" encoding="utf-8"?>
<p:tagLst xmlns:p="http://schemas.openxmlformats.org/presentationml/2006/main">
  <p:tag name="TABLE_ENDDRAG_ORIGIN_RECT" val="483*108"/>
  <p:tag name="TABLE_ENDDRAG_RECT" val="16*162*483*108"/>
</p:tagLst>
</file>

<file path=ppt/tags/tag11.xml><?xml version="1.0" encoding="utf-8"?>
<p:tagLst xmlns:p="http://schemas.openxmlformats.org/presentationml/2006/main">
  <p:tag name="TABLE_ENDDRAG_ORIGIN_RECT" val="467*215"/>
  <p:tag name="TABLE_ENDDRAG_RECT" val="0*312*467*215"/>
</p:tagLst>
</file>

<file path=ppt/tags/tag12.xml><?xml version="1.0" encoding="utf-8"?>
<p:tagLst xmlns:p="http://schemas.openxmlformats.org/presentationml/2006/main">
  <p:tag name="TABLE_ENDDRAG_ORIGIN_RECT" val="510*197"/>
  <p:tag name="TABLE_ENDDRAG_RECT" val="546*312*510*197"/>
</p:tagLst>
</file>

<file path=ppt/tags/tag13.xml><?xml version="1.0" encoding="utf-8"?>
<p:tagLst xmlns:p="http://schemas.openxmlformats.org/presentationml/2006/main">
  <p:tag name="TABLE_ENDDRAG_ORIGIN_RECT" val="968*358"/>
  <p:tag name="TABLE_ENDDRAG_RECT" val="0*23*968*358"/>
</p:tagLst>
</file>

<file path=ppt/tags/tag14.xml><?xml version="1.0" encoding="utf-8"?>
<p:tagLst xmlns:p="http://schemas.openxmlformats.org/presentationml/2006/main">
  <p:tag name="TABLE_ENDDRAG_ORIGIN_RECT" val="960*135"/>
  <p:tag name="TABLE_ENDDRAG_RECT" val="0*394*960*13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17766</Words>
  <Application>WPS Presentation</Application>
  <PresentationFormat>Widescreen</PresentationFormat>
  <Paragraphs>925</Paragraphs>
  <Slides>30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Arial</vt:lpstr>
      <vt:lpstr>SimSun</vt:lpstr>
      <vt:lpstr>Wingdings</vt:lpstr>
      <vt:lpstr>Calibri</vt:lpstr>
      <vt:lpstr>Microsoft YaHei</vt:lpstr>
      <vt:lpstr>Arial Unicode MS</vt:lpstr>
      <vt:lpstr>Calibri Light</vt:lpstr>
      <vt:lpstr>Cambria</vt:lpstr>
      <vt:lpstr>Office Theme</vt:lpstr>
      <vt:lpstr>PowerPoint 演示文稿</vt:lpstr>
      <vt:lpstr>SQL Join</vt:lpstr>
      <vt:lpstr>Inner Join</vt:lpstr>
      <vt:lpstr>Left Join</vt:lpstr>
      <vt:lpstr>Right Join</vt:lpstr>
      <vt:lpstr>Full  outer Join 	</vt:lpstr>
      <vt:lpstr>Self Join</vt:lpstr>
      <vt:lpstr>Example of Self Join</vt:lpstr>
      <vt:lpstr>CASE Expression</vt:lpstr>
      <vt:lpstr>Timestamp</vt:lpstr>
      <vt:lpstr>PowerPoint 演示文稿</vt:lpstr>
      <vt:lpstr>PowerPoint 演示文稿</vt:lpstr>
      <vt:lpstr>PowerPoint 演示文稿</vt:lpstr>
      <vt:lpstr>SQL Transaction Control Language (TCL)</vt:lpstr>
      <vt:lpstr>3. SAVEPOINT:</vt:lpstr>
      <vt:lpstr>SUBQUERY</vt:lpstr>
      <vt:lpstr>  What is a Stored Procedure</vt:lpstr>
      <vt:lpstr>PowerPoint 演示文稿</vt:lpstr>
      <vt:lpstr>Fetch Data Using Procedure</vt:lpstr>
      <vt:lpstr>Delete Procedure</vt:lpstr>
      <vt:lpstr>SQL Trigger</vt:lpstr>
      <vt:lpstr>Why Use Triggers?</vt:lpstr>
      <vt:lpstr>Adv And DisAdv Of Triggers</vt:lpstr>
      <vt:lpstr>SQL Indexing</vt:lpstr>
      <vt:lpstr>PowerPoint 演示文稿</vt:lpstr>
      <vt:lpstr>PowerPoint 演示文稿</vt:lpstr>
      <vt:lpstr>Types Of Indexes</vt:lpstr>
      <vt:lpstr>PowerPoint 演示文稿</vt:lpstr>
      <vt:lpstr>PowerPoint 演示文稿</vt:lpstr>
      <vt:lpstr>SQL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Nishank Amte</cp:lastModifiedBy>
  <cp:revision>145</cp:revision>
  <dcterms:created xsi:type="dcterms:W3CDTF">2025-07-23T00:59:00Z</dcterms:created>
  <dcterms:modified xsi:type="dcterms:W3CDTF">2025-12-31T05:48:05Z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F42D11EB6453453DB9F876CB905B83FE_11</vt:lpwstr>
  </property>
  <property fmtid="{D5CDD505-2E9C-101B-9397-08002B2CF9AE}" pid="3" name="KSOProductBuildVer">
    <vt:lpwstr>1033-12.2.0.23196</vt:lpwstr>
  </property>
</Properties>
</file>