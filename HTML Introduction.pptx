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57" r:id="rId7"/>
    <p:sldId id="261" r:id="rId8"/>
    <p:sldId id="262" r:id="rId9"/>
    <p:sldId id="263" r:id="rId10"/>
    <p:sldId id="270" r:id="rId11"/>
    <p:sldId id="265" r:id="rId12"/>
    <p:sldId id="266" r:id="rId13"/>
    <p:sldId id="267" r:id="rId14"/>
    <p:sldId id="268" r:id="rId15"/>
    <p:sldId id="269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3B385-06A3-4851-A3D2-DF295763801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C680C-3C46-4B7C-8704-0B709253FE3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1870" y="0"/>
            <a:ext cx="9144000" cy="364741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HTML Introduction</a:t>
            </a:r>
            <a:endParaRPr lang="en-US" sz="20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774" y="364741"/>
            <a:ext cx="11906451" cy="6493259"/>
          </a:xfrm>
        </p:spPr>
        <p:txBody>
          <a:bodyPr>
            <a:noAutofit/>
          </a:bodyPr>
          <a:lstStyle/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1)Html is a markup language .developed by Tim-Berners-Lee released in 1993 and now maintained by www organization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2)hypertext means that text can be transferred from internet server to internet client.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3)"markup language" means which syntax will be in form of tags 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4)html stands for markup language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5)html is 100% error  free programming language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6)technically html is not programming language it is a markup language.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7)html is very easy to understand (no pre requisite)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8)html is used to design static web page or website in which includes like heading, paragraphs, images, audios, videos etc.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9)static web page means it always showing same information.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10)html is client side technology that means that code execute on client browser.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11)html is supported by all browsers for run as google, internet,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mozilla-firefox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, 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12)html is a interpreted programming language that html code convert into machine code by browsers and that interpreter already 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installed in browser.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13)html is non case sensitive language that means you can write html code in lowercase or uppercase letters.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14)file extension of html is .html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15)tag-&gt;  1)tag is a keyword, enclosed with left and right angular braces in html.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2)the tag show in starting as &lt;&gt; and ending with &lt;/&gt;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3)tag is used to display some specific output in the web page.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4)tag is represented as elements.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5)tag has some attributes(properties) those are use for change look &amp; feel (components or output).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121952"/>
            <a:ext cx="11992276" cy="6606107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&lt;!--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title -&gt;to set the title on the web page..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heading tag(6) 1)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h1 ,h2,h3,h4,h5,h6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-----------------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use for write the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differnet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types or different font of headings on the web page.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h1 to h6 all tags are paired tag means which have starting and closing.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2) p -&gt; this also same as heading tag and it is a  paired tag and p tag use for paragraphs on web page.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3)b -&gt;bold tag -&gt;it also paired tag and use for to set bold text on web page with single word on multiple words on line.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4) u underline tag -&gt; it also paired tag and use for to set underline to text on web page with single word on multiple words on line.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5)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italic tag-&gt; it also paired tag and use for to set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italc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to text on web page with single word on multiple words on line.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--&gt;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&lt;html&gt;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&lt;head&gt;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am learning in UV Technocrats&lt;/head&gt;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&lt;title&gt; UV Techno&lt;/title&gt;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&lt;body&gt;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&lt;h1&gt; C &lt;/h1&gt;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932" y="131577"/>
            <a:ext cx="11809396" cy="66446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&lt;h2&gt; CPP &lt;/h2&gt;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&lt;h3&gt; JAVA&lt;/h3&gt;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&lt;h4&gt; python &lt;/h4&gt;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&lt;h5&gt; spring boot and hibernate.&lt;/h5&gt;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&lt;h6&gt; html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css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js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&lt;/h6&gt;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&lt;p&gt; my self &lt;h4&gt; viren sir &lt;/h4&gt; from &lt;b&gt;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uv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techno&lt;/b&gt; crats and this batch starts today of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forntend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technologies. &lt;/p&gt;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&lt;p&gt; 1)html is a markup language and is id developed by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tim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bererens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-lee in 1995.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now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aquired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by /maintained by www.com  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2)html is hyper text markup language  3)hyper is a text that can be transferred into the browser or in the server.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4)"markup language"  means which syntax will be in form of tag -&gt;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html,xml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&lt;u&gt;   5)html is 100% error free markup language &lt;/u&gt;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6)technically html is not programming language rather than it is a markup language.  7)html is very easy and simple to understand and write to code for that no pre requisite know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programming language. &lt;/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8)html is used to design static web page and static page includes only the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headings,images,audio,video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paragraphs,tables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etc.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&lt;/p&gt;  &lt;/body&gt; &lt;/html&gt;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" y="635"/>
            <a:ext cx="10515600" cy="294640"/>
          </a:xfrm>
        </p:spPr>
        <p:txBody>
          <a:bodyPr>
            <a:noAutofit/>
          </a:bodyPr>
          <a:p>
            <a:r>
              <a:rPr lang="en-US" sz="2000" b="1" dirty="0" err="1">
                <a:solidFill>
                  <a:srgbClr val="FF0000"/>
                </a:solidFill>
                <a:sym typeface="+mn-ea"/>
              </a:rPr>
              <a:t>HTml</a:t>
            </a:r>
            <a:r>
              <a:rPr lang="en-US" sz="2000" b="1" dirty="0">
                <a:solidFill>
                  <a:srgbClr val="FF0000"/>
                </a:solidFill>
                <a:sym typeface="+mn-ea"/>
              </a:rPr>
              <a:t> Day1</a:t>
            </a:r>
            <a:endParaRPr lang="en-US" sz="2000" b="1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0810" y="391795"/>
          <a:ext cx="11948160" cy="5532120"/>
        </p:xfrm>
        <a:graphic>
          <a:graphicData uri="http://schemas.openxmlformats.org/drawingml/2006/table">
            <a:tbl>
              <a:tblPr/>
              <a:tblGrid>
                <a:gridCol w="471170"/>
                <a:gridCol w="1570355"/>
                <a:gridCol w="6158230"/>
                <a:gridCol w="1370965"/>
                <a:gridCol w="2377440"/>
              </a:tblGrid>
              <a:tr h="27432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No.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Tag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Type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Common Attributes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1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&lt;h1&gt;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the largest heading on the web page.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&lt;h2&gt;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the second largest heading.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&lt;h3&gt;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the third level heading.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&lt;h4&gt;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the fourth level heading.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&lt;h5&gt;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the fifth level heading.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&lt;h6&gt;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the smallest heading.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 b="1"/>
                        <a:t>2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&lt;p&gt;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paragraph. Used to add single or multi-line text on a web page.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3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&lt;hr&gt;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Horizontal ruler tag. Used to draw a horizontal line.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width, size, color, align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4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&lt;br&gt;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Line break tag. Used to break the line.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—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89560">
                <a:tc>
                  <a:txBody>
                    <a:bodyPr/>
                    <a:p>
                      <a:r>
                        <a:rPr sz="1800" b="1"/>
                        <a:t>5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&lt;strong&gt;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strong (important)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6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&lt;strike&gt;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text with a line through it.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7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&lt;b&gt;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bold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8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&lt;u&gt;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underlined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9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&lt;i&gt;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italic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10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&lt;small&gt;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smaller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11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&lt;sub&gt;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subscript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12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&lt;sup&gt;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superscript text.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13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&lt;del&gt;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Marks deleted text on the web page.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" y="0"/>
            <a:ext cx="10515600" cy="149860"/>
          </a:xfrm>
        </p:spPr>
        <p:txBody>
          <a:bodyPr>
            <a:normAutofit fontScale="90000"/>
          </a:bodyPr>
          <a:lstStyle/>
          <a:p>
            <a:r>
              <a:rPr lang="en-US" sz="1800" b="1" dirty="0" err="1">
                <a:solidFill>
                  <a:srgbClr val="FF0000"/>
                </a:solidFill>
              </a:rPr>
              <a:t>HTml</a:t>
            </a:r>
            <a:r>
              <a:rPr lang="en-US" sz="1800" b="1" dirty="0">
                <a:solidFill>
                  <a:srgbClr val="FF0000"/>
                </a:solidFill>
              </a:rPr>
              <a:t> Day2</a:t>
            </a:r>
            <a:endParaRPr lang="en-US" sz="18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0" y="149860"/>
          <a:ext cx="12287250" cy="6932930"/>
        </p:xfrm>
        <a:graphic>
          <a:graphicData uri="http://schemas.openxmlformats.org/drawingml/2006/table">
            <a:tbl>
              <a:tblPr/>
              <a:tblGrid>
                <a:gridCol w="393065"/>
                <a:gridCol w="1216025"/>
                <a:gridCol w="5516245"/>
                <a:gridCol w="4207510"/>
                <a:gridCol w="954405"/>
              </a:tblGrid>
              <a:tr h="29591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Sr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Tag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Attributes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Paired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487680">
                <a:tc>
                  <a:txBody>
                    <a:bodyPr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&lt;marquee&gt;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Used for creating scrolling text or images (deprecated in HTML5).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behavior, direction, scrollamount, </a:t>
                      </a:r>
                      <a:endParaRPr sz="1600"/>
                    </a:p>
                    <a:p>
                      <a:r>
                        <a:rPr sz="1600"/>
                        <a:t>scrolldelay, loop, width, height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2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&lt;img&gt;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Used to embed an image in a webpage.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src, alt, width, height, title, loading, srcset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Unpaired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3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&lt;main&gt;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Represents the main content of the document.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4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&lt;mark&gt;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Highlights text with a yellow background or custom color.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>
                          <a:solidFill>
                            <a:schemeClr val="accent2"/>
                          </a:solidFill>
                        </a:rPr>
                        <a:t>5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&lt;option&gt;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Defines an option in a dropdown list (&lt;select&gt;).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value, disabled, selected, label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6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&lt;optgroup&gt;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Groups related &lt;option&gt; elements in a dropdown list.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label, disabled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p>
                      <a:r>
                        <a:rPr sz="1600"/>
                        <a:t>7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&lt;pre&gt;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Displays preformatted text (preserves spaces and line breaks).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8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&lt;dl&gt;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Defines a description list.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9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&lt;dt&gt;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Defines a term/name in a description list.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10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&lt;dd&gt;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Defines the description/value of a term.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11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&lt;details&gt;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Creates a collapsible section for additional details.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open, 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12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200" b="1">
                          <a:solidFill>
                            <a:schemeClr val="accent2"/>
                          </a:solidFill>
                        </a:rPr>
                        <a:t>&lt;</a:t>
                      </a:r>
                      <a:r>
                        <a:rPr sz="1600" b="1">
                          <a:solidFill>
                            <a:schemeClr val="accent2"/>
                          </a:solidFill>
                        </a:rPr>
                        <a:t>summary</a:t>
                      </a:r>
                      <a:r>
                        <a:rPr sz="1200" b="1">
                          <a:solidFill>
                            <a:schemeClr val="accent2"/>
                          </a:solidFill>
                        </a:rPr>
                        <a:t>&gt;</a:t>
                      </a:r>
                      <a:endParaRPr sz="12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Defines the visible heading for a &lt;details&gt; element.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7680">
                <a:tc>
                  <a:txBody>
                    <a:bodyPr/>
                    <a:p>
                      <a:r>
                        <a:rPr sz="1600"/>
                        <a:t>13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&lt;iframe&gt;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Embeds another webpage or document inside the current page.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src, width, height, title, loading, allow, </a:t>
                      </a:r>
                      <a:endParaRPr sz="1600"/>
                    </a:p>
                    <a:p>
                      <a:r>
                        <a:rPr sz="1600"/>
                        <a:t>allowfullscreen, 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14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&lt;menu&gt;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Represents a list of commands or navigation menu.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type, label, 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15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&lt;ul&gt;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Represents an unordered (bulleted) list.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r>
                        <a:rPr lang="en-US" sz="1600"/>
                        <a:t>,</a:t>
                      </a:r>
                      <a:r>
                        <a:rPr sz="1600">
                          <a:sym typeface="+mn-ea"/>
                        </a:rPr>
                        <a:t>type</a:t>
                      </a:r>
                      <a:endParaRPr 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16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&lt;ol&gt;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Represents an ordered (numbered) list.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style, type, start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0520">
                <a:tc>
                  <a:txBody>
                    <a:bodyPr/>
                    <a:p>
                      <a:r>
                        <a:rPr sz="1600"/>
                        <a:t>17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&lt;li&gt;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Represents a list item within &lt;ul&gt; or &lt;ol&gt;.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id, class,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87680">
                <a:tc>
                  <a:txBody>
                    <a:bodyPr/>
                    <a:p>
                      <a:r>
                        <a:rPr sz="1600"/>
                        <a:t>18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>
                          <a:solidFill>
                            <a:schemeClr val="accent2"/>
                          </a:solidFill>
                        </a:rPr>
                        <a:t>&lt;a&gt; </a:t>
                      </a:r>
                      <a:endParaRPr sz="16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Defines a hyperlink to another page or resource.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href, target, rel, title, download, type, hreflang, name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Paired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0"/>
            <a:ext cx="10515600" cy="300355"/>
          </a:xfrm>
        </p:spPr>
        <p:txBody>
          <a:bodyPr>
            <a:normAutofit fontScale="90000"/>
          </a:bodyPr>
          <a:p>
            <a:r>
              <a:rPr lang="en-US" sz="2000" b="1" dirty="0" err="1">
                <a:solidFill>
                  <a:srgbClr val="FF0000"/>
                </a:solidFill>
                <a:sym typeface="+mn-ea"/>
              </a:rPr>
              <a:t>HTml</a:t>
            </a:r>
            <a:r>
              <a:rPr lang="en-US" sz="2000" b="1" dirty="0">
                <a:solidFill>
                  <a:srgbClr val="FF0000"/>
                </a:solidFill>
                <a:sym typeface="+mn-ea"/>
              </a:rPr>
              <a:t> Day3</a:t>
            </a:r>
            <a:endParaRPr lang="en-US" sz="2000" b="1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35" y="300355"/>
          <a:ext cx="12191365" cy="6558280"/>
        </p:xfrm>
        <a:graphic>
          <a:graphicData uri="http://schemas.openxmlformats.org/drawingml/2006/table">
            <a:tbl>
              <a:tblPr/>
              <a:tblGrid>
                <a:gridCol w="576580"/>
                <a:gridCol w="1188720"/>
                <a:gridCol w="5187950"/>
                <a:gridCol w="4054475"/>
                <a:gridCol w="1183640"/>
              </a:tblGrid>
              <a:tr h="371475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Sr.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Tag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Attributes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chemeClr val="tx1"/>
                          </a:solidFill>
                        </a:rPr>
                        <a:t>Paired </a:t>
                      </a:r>
                      <a:endParaRPr sz="2000" b="1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32740">
                <a:tc>
                  <a:txBody>
                    <a:bodyPr/>
                    <a:p>
                      <a:r>
                        <a:rPr sz="1800"/>
                        <a:t>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&lt;html&gt;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Root element of an HTML document.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lang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&lt;head&gt;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Contains metadata and links for the document.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—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4330">
                <a:tc>
                  <a:txBody>
                    <a:bodyPr/>
                    <a:p>
                      <a:r>
                        <a:rPr sz="1800"/>
                        <a:t>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&lt;title&gt;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Sets the title of the webpage (shown on browser tab).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—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4330">
                <a:tc>
                  <a:txBody>
                    <a:bodyPr/>
                    <a:p>
                      <a:r>
                        <a:rPr sz="1800"/>
                        <a:t>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&lt;body&gt;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Contains all visible content of the webpage.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sz="1800"/>
                        <a:t>5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&lt;style&gt;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write internal CSS.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type, media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2740">
                <a:tc>
                  <a:txBody>
                    <a:bodyPr/>
                    <a:p>
                      <a:r>
                        <a:rPr sz="1800"/>
                        <a:t>6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&lt;script&gt;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write or link JavaScript code.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src, type, defer, async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r>
                        <a:rPr sz="1800"/>
                        <a:t>7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&lt;link&gt;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Links external resources like CSS files.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rel, href, type, media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8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&lt;section&gt;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section of content in a document.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9095">
                <a:tc>
                  <a:txBody>
                    <a:bodyPr/>
                    <a:p>
                      <a:r>
                        <a:rPr sz="1800"/>
                        <a:t>9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&lt;select&gt;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Creates a dropdown list.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id, multiple, required,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0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&lt;audio&gt;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embed sound content.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src, controls, autoplay, loop, muted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80085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1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&lt;video&gt;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embed video content.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src, controls, width, height, autoplay, loop, muted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3695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2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chemeClr val="accent2"/>
                          </a:solidFill>
                        </a:rPr>
                        <a:t>&lt;source&gt;</a:t>
                      </a:r>
                      <a:endParaRPr sz="1800" b="1">
                        <a:solidFill>
                          <a:schemeClr val="accent2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Specifies media source for &lt;audio&gt; or &lt;video&gt;.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src, type, media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3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&lt;table&gt;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create a table.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border, 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4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&lt;tr&gt;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table row.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2740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5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&lt;td&gt;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table data cell.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colspan, rowspan, 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54330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6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&lt;th&gt;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table header cell.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colspan, rowspan, scope, 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7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&lt;caption&gt;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Provides a title for the table.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align, 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" y="0"/>
            <a:ext cx="10515600" cy="327025"/>
          </a:xfrm>
        </p:spPr>
        <p:txBody>
          <a:bodyPr>
            <a:normAutofit fontScale="90000"/>
          </a:bodyPr>
          <a:p>
            <a:r>
              <a:rPr lang="en-US" sz="2000" b="1" dirty="0" err="1">
                <a:solidFill>
                  <a:srgbClr val="FF0000"/>
                </a:solidFill>
                <a:sym typeface="+mn-ea"/>
              </a:rPr>
              <a:t>HTml</a:t>
            </a:r>
            <a:r>
              <a:rPr lang="en-US" sz="2000" b="1" dirty="0">
                <a:solidFill>
                  <a:srgbClr val="FF0000"/>
                </a:solidFill>
                <a:sym typeface="+mn-ea"/>
              </a:rPr>
              <a:t> Day4</a:t>
            </a:r>
            <a:endParaRPr lang="en-US" sz="2000" b="1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99060" y="327025"/>
          <a:ext cx="12093575" cy="3566160"/>
        </p:xfrm>
        <a:graphic>
          <a:graphicData uri="http://schemas.openxmlformats.org/drawingml/2006/table">
            <a:tbl>
              <a:tblPr/>
              <a:tblGrid>
                <a:gridCol w="707390"/>
                <a:gridCol w="1132205"/>
                <a:gridCol w="4594860"/>
                <a:gridCol w="2994025"/>
                <a:gridCol w="2665095"/>
              </a:tblGrid>
              <a:tr h="274320">
                <a:tc>
                  <a:txBody>
                    <a:bodyPr/>
                    <a:p>
                      <a:pPr algn="ctr"/>
                      <a:r>
                        <a:rPr sz="1800"/>
                        <a:t>Sr. No.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Tag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Attributes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Paired / Unpaired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&lt;nav&gt;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section for navigation links.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&lt;fieldset&gt;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Groups related form elements together.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disabled, form, name, 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&lt;legend&gt;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caption/title for a &lt;fieldset&gt;.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&lt;ins&gt;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Marks inserted text (usually underlined).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cite, datetime, 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5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&lt;form&gt;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create an HTML form for user input.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action, method, name, target, autocomplete, enctype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6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&lt;header&gt;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Represents introductory content or page header.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7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&lt;footer&gt;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Represents footer content of a page or section.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8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&lt;div&gt;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a division or container in HTML.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9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&lt;input&gt;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Used to create an input field in a form.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type, name, value, placeholder,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425" y="0"/>
            <a:ext cx="10515600" cy="243840"/>
          </a:xfrm>
        </p:spPr>
        <p:txBody>
          <a:bodyPr>
            <a:noAutofit/>
          </a:bodyPr>
          <a:p>
            <a:r>
              <a:rPr lang="en-US" sz="2000" b="1" dirty="0" err="1">
                <a:solidFill>
                  <a:srgbClr val="FF0000"/>
                </a:solidFill>
                <a:sym typeface="+mn-ea"/>
              </a:rPr>
              <a:t>HTml</a:t>
            </a:r>
            <a:r>
              <a:rPr lang="en-US" sz="2000" b="1" dirty="0">
                <a:solidFill>
                  <a:srgbClr val="FF0000"/>
                </a:solidFill>
                <a:sym typeface="+mn-ea"/>
              </a:rPr>
              <a:t> Day5</a:t>
            </a:r>
            <a:endParaRPr lang="en-US" sz="2000" b="1" dirty="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0" y="243840"/>
          <a:ext cx="12192635" cy="6571615"/>
        </p:xfrm>
        <a:graphic>
          <a:graphicData uri="http://schemas.openxmlformats.org/drawingml/2006/table">
            <a:tbl>
              <a:tblPr/>
              <a:tblGrid>
                <a:gridCol w="590550"/>
                <a:gridCol w="1456690"/>
                <a:gridCol w="3354705"/>
                <a:gridCol w="6790690"/>
              </a:tblGrid>
              <a:tr h="274320">
                <a:tc>
                  <a:txBody>
                    <a:bodyPr/>
                    <a:p>
                      <a:pPr algn="ctr"/>
                      <a:r>
                        <a:rPr sz="1800"/>
                        <a:t>Sr.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Input Type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Description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Common Attributes / Parameters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text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Single-line text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placeholder, maxlength, minlength, required, readonly, disabled, size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5605">
                <a:tc>
                  <a:txBody>
                    <a:bodyPr/>
                    <a:p>
                      <a:r>
                        <a:rPr sz="1800"/>
                        <a:t>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password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Password field (masked text)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placeholder, maxlength,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p>
                      <a:r>
                        <a:rPr sz="1800"/>
                        <a:t>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email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Input for email address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placeholder, required, multiple, pattern,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p>
                      <a:r>
                        <a:rPr sz="1800"/>
                        <a:t>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number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Numeric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min, max, step,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5605">
                <a:tc>
                  <a:txBody>
                    <a:bodyPr/>
                    <a:p>
                      <a:r>
                        <a:rPr sz="1800"/>
                        <a:t>5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tel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Telephone number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placeholder, pattern,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p>
                      <a:r>
                        <a:rPr sz="1800"/>
                        <a:t>6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url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URL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placeholder, required, pattern,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7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radio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Radio button (select one option)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checked, required,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8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checkbox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Checkbox (select multiple options)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checked, required,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p>
                      <a:r>
                        <a:rPr sz="1800"/>
                        <a:t>9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submit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Submit form data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value, name, formaction, formmethod,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10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reset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Reset form values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value, name,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button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Clickable button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value, name, onclick,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file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File upload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accept</a:t>
                      </a:r>
                      <a:r>
                        <a:rPr lang="en-US" sz="1800"/>
                        <a:t>=”.jpg,.png,.jfif”</a:t>
                      </a:r>
                      <a:r>
                        <a:rPr sz="1800"/>
                        <a:t>, multiple, required,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p>
                      <a:r>
                        <a:rPr sz="1800"/>
                        <a:t>13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date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Date picker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min, max,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970">
                <a:tc>
                  <a:txBody>
                    <a:bodyPr/>
                    <a:p>
                      <a:r>
                        <a:rPr sz="1800"/>
                        <a:t>14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time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Time picker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min, max,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15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color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Color picker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16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range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Slider input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min, max, step,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335">
                <a:tc>
                  <a:txBody>
                    <a:bodyPr/>
                    <a:p>
                      <a:r>
                        <a:rPr sz="1800"/>
                        <a:t>17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search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Search input field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value, placeholder,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18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hidden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Hidden input field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value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65" y="0"/>
            <a:ext cx="10515600" cy="339090"/>
          </a:xfrm>
        </p:spPr>
        <p:txBody>
          <a:bodyPr>
            <a:noAutofit/>
          </a:bodyPr>
          <a:p>
            <a:pPr algn="l"/>
            <a:r>
              <a:rPr lang="en-US" sz="2000" b="1">
                <a:solidFill>
                  <a:srgbClr val="FF0000"/>
                </a:solidFill>
              </a:rPr>
              <a:t>Day6</a:t>
            </a:r>
            <a:endParaRPr 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8265" y="339090"/>
          <a:ext cx="11903075" cy="4114800"/>
        </p:xfrm>
        <a:graphic>
          <a:graphicData uri="http://schemas.openxmlformats.org/drawingml/2006/table">
            <a:tbl>
              <a:tblPr/>
              <a:tblGrid>
                <a:gridCol w="678180"/>
                <a:gridCol w="1308735"/>
                <a:gridCol w="5619750"/>
                <a:gridCol w="2844165"/>
                <a:gridCol w="1452245"/>
              </a:tblGrid>
              <a:tr h="274320"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Sr.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Tag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Attributes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solidFill>
                            <a:srgbClr val="FF0000"/>
                          </a:solidFill>
                        </a:rPr>
                        <a:t>Paired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&lt;address&gt;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Defines contact information for the author/owner of a document.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&lt;datalist&gt;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Provides predefined options for an input element.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</a:t>
                      </a:r>
                      <a:r>
                        <a:rPr lang="en-US" sz="1800"/>
                        <a:t>,style,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p>
                      <a:r>
                        <a:rPr sz="1800"/>
                        <a:t>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&lt;meter&gt;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Represents a scalar measurement within a known range.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value, min, max, low, high, optimum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&lt;progress&gt;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Displays the progress of a task.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value, max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5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&lt;span&gt;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Inline container for text or elements.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822960">
                <a:tc>
                  <a:txBody>
                    <a:bodyPr/>
                    <a:p>
                      <a:r>
                        <a:rPr sz="1800"/>
                        <a:t>6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&lt;textarea&gt;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Multi-line text input field.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name, rows, cols, placeholder, maxlength, minlength, required, readonly, disabled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7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&lt;figure&gt;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Contains self-contained content like images or diagrams.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8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&lt;figcaption&gt;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Provides a caption for a &lt;figure&gt;</a:t>
                      </a:r>
                      <a:r>
                        <a:rPr sz="1800"/>
                        <a:t> element.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9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&lt;article&gt;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Represents independent, self-contained content.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1</a:t>
                      </a:r>
                      <a:r>
                        <a:rPr lang="en-US" sz="1800"/>
                        <a:t>0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&lt;main&gt;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Specifies the main content of a document.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id, class, style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Paired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9790" y="-635"/>
            <a:ext cx="9144000" cy="466090"/>
          </a:xfrm>
        </p:spPr>
        <p:txBody>
          <a:bodyPr>
            <a:noAutofit/>
          </a:bodyPr>
          <a:p>
            <a:r>
              <a:rPr lang="en-US" altLang="en-US" sz="2800" b="1">
                <a:solidFill>
                  <a:srgbClr val="FF0000"/>
                </a:solidFill>
              </a:rPr>
              <a:t> Table container tag</a:t>
            </a:r>
            <a:endParaRPr lang="en-US" altLang="en-US" sz="28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1440" y="352425"/>
          <a:ext cx="11957685" cy="3048000"/>
        </p:xfrm>
        <a:graphic>
          <a:graphicData uri="http://schemas.openxmlformats.org/drawingml/2006/table">
            <a:tbl>
              <a:tblPr/>
              <a:tblGrid>
                <a:gridCol w="4855845"/>
                <a:gridCol w="7101840"/>
              </a:tblGrid>
              <a:tr h="304800">
                <a:tc>
                  <a:txBody>
                    <a:bodyPr/>
                    <a:p>
                      <a:pPr algn="ctr"/>
                      <a:r>
                        <a:rPr sz="2000" b="1"/>
                        <a:t>Attribute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border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Sets table border (deprecated in HTML5)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cellpadding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Space between cell border and content (deprecated)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cellspacing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Space between cells (deprecated)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width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Sets width of table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height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Sets height of table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align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Aligns table (left, center, right) (deprecated)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bgcolor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Background color (deprecated)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style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CSS inline styles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class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CSS class name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id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Unique identifier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118745" y="4152900"/>
          <a:ext cx="3815080" cy="2207260"/>
        </p:xfrm>
        <a:graphic>
          <a:graphicData uri="http://schemas.openxmlformats.org/drawingml/2006/table">
            <a:tbl>
              <a:tblPr/>
              <a:tblGrid>
                <a:gridCol w="1183005"/>
                <a:gridCol w="2632075"/>
              </a:tblGrid>
              <a:tr h="348615">
                <a:tc>
                  <a:txBody>
                    <a:bodyPr/>
                    <a:p>
                      <a:pPr algn="ctr"/>
                      <a:r>
                        <a:rPr sz="2000" b="1"/>
                        <a:t>Attribute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48615">
                <a:tc>
                  <a:txBody>
                    <a:bodyPr/>
                    <a:p>
                      <a:r>
                        <a:rPr sz="1600"/>
                        <a:t>align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Aligns content (deprecated)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64185">
                <a:tc>
                  <a:txBody>
                    <a:bodyPr/>
                    <a:p>
                      <a:r>
                        <a:rPr sz="1600"/>
                        <a:t>bgcolor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Background color (deprecated)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48615">
                <a:tc>
                  <a:txBody>
                    <a:bodyPr/>
                    <a:p>
                      <a:r>
                        <a:rPr sz="1600"/>
                        <a:t>class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CSS class name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48615">
                <a:tc>
                  <a:txBody>
                    <a:bodyPr/>
                    <a:p>
                      <a:r>
                        <a:rPr sz="1600"/>
                        <a:t>id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Unique ID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48615">
                <a:tc>
                  <a:txBody>
                    <a:bodyPr/>
                    <a:p>
                      <a:r>
                        <a:rPr sz="1600"/>
                        <a:t>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Inline CSS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009650" y="3640455"/>
            <a:ext cx="14077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solidFill>
                  <a:srgbClr val="FF0000"/>
                </a:solidFill>
                <a:sym typeface="+mn-ea"/>
              </a:rPr>
              <a:t> Table row</a:t>
            </a:r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4041775" y="4152900"/>
          <a:ext cx="3876040" cy="2708910"/>
        </p:xfrm>
        <a:graphic>
          <a:graphicData uri="http://schemas.openxmlformats.org/drawingml/2006/table">
            <a:tbl>
              <a:tblPr/>
              <a:tblGrid>
                <a:gridCol w="1112520"/>
                <a:gridCol w="2763520"/>
              </a:tblGrid>
              <a:tr h="300990">
                <a:tc>
                  <a:txBody>
                    <a:bodyPr/>
                    <a:p>
                      <a:pPr algn="ctr"/>
                      <a:r>
                        <a:rPr sz="1800" b="1"/>
                        <a:t>Attribute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600"/>
                        <a:t>colspan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Merge columns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600"/>
                        <a:t>rowspan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Merge rows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600"/>
                        <a:t>align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Aligns content (left, right...)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600"/>
                        <a:t>bgcolor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Background color (deprecated)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600"/>
                        <a:t>class / id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CSS styling or unique ID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600"/>
                        <a:t>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Inline 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4"/>
            </p:custDataLst>
          </p:nvPr>
        </p:nvGraphicFramePr>
        <p:xfrm>
          <a:off x="8100060" y="4152900"/>
          <a:ext cx="3949700" cy="2708910"/>
        </p:xfrm>
        <a:graphic>
          <a:graphicData uri="http://schemas.openxmlformats.org/drawingml/2006/table">
            <a:tbl>
              <a:tblPr/>
              <a:tblGrid>
                <a:gridCol w="1111885"/>
                <a:gridCol w="2837815"/>
              </a:tblGrid>
              <a:tr h="300990">
                <a:tc>
                  <a:txBody>
                    <a:bodyPr/>
                    <a:p>
                      <a:pPr algn="ctr"/>
                      <a:r>
                        <a:rPr sz="1600" b="1"/>
                        <a:t>Attribute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/>
                        <a:t>Description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400"/>
                        <a:t>scope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/>
                        <a:t>Defines scope: col, row, colgroup, rowgroup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400"/>
                        <a:t>colspan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/>
                        <a:t>Merge columns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400"/>
                        <a:t>rowspan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/>
                        <a:t>Merge rows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400"/>
                        <a:t>align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/>
                        <a:t>Horizontal align (deprecated)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00990">
                <a:tc>
                  <a:txBody>
                    <a:bodyPr/>
                    <a:p>
                      <a:r>
                        <a:rPr sz="1400"/>
                        <a:t>class / id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400"/>
                        <a:t>Styling and unique ID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5177790" y="3640455"/>
            <a:ext cx="12579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solidFill>
                  <a:srgbClr val="FF0000"/>
                </a:solidFill>
                <a:sym typeface="+mn-ea"/>
              </a:rPr>
              <a:t> Table td</a:t>
            </a:r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336405" y="3640455"/>
            <a:ext cx="14776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000" b="1">
                <a:solidFill>
                  <a:srgbClr val="FF0000"/>
                </a:solidFill>
                <a:sym typeface="+mn-ea"/>
              </a:rPr>
              <a:t> Table th</a:t>
            </a:r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" y="0"/>
            <a:ext cx="10840720" cy="388620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Table rowspan And colspan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50"/>
            <a:ext cx="12085955" cy="657225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/>
              <a:t>rowspan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Definition: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 rowspan attribute on a &lt;td&gt; or &lt;th&gt; element specifies how many rows vertically the cell should span across in a table.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Example: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If a cell has rowspan="3", it means the cell will extend down to cover three rows instead of just one.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colspan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Definition: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 colspan attribute on a &lt;td&gt; or &lt;th&gt; element specifies how many columns horizontally the cell should span across in a table.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Example: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If a cell has colspan="2", it means the cell will stretch across two columns instead of just one.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In short: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rowspan = number of rows a cell covers vertically.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colspan = number of columns a cell covers horizontally.</a:t>
            </a:r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86995"/>
            <a:ext cx="11556365" cy="6770370"/>
          </a:xfrm>
        </p:spPr>
        <p:txBody>
          <a:bodyPr>
            <a:noAutofit/>
          </a:bodyPr>
          <a:p>
            <a:r>
              <a:rPr lang="en-US" altLang="en-US" sz="1800"/>
              <a:t>1. direction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Controls the scroll direction.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&lt;marquee direction="left"&gt;Text&lt;/marquee&gt;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Values: left (default), right, up, down</a:t>
            </a:r>
            <a:endParaRPr lang="en-US" altLang="en-US" sz="1800"/>
          </a:p>
          <a:p>
            <a:r>
              <a:rPr lang="en-US" altLang="en-US" sz="1800"/>
              <a:t>2. behavior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Controls how the animation moves.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&lt;marquee behavior="alternate"&gt;Text&lt;/marquee&gt;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Values: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scroll – continuous scrolling (default)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slide – scrolls once and stops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alternate – bounces back and forth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/>
              <a:t>3. scrollamount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Controls speed (higher = faster).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&lt;marquee scrollamount="10"&gt;Fast&lt;/marquee&gt;</a:t>
            </a:r>
            <a:endParaRPr lang="en-US" altLang="en-US" sz="1800"/>
          </a:p>
          <a:p>
            <a:r>
              <a:rPr lang="en-US" altLang="en-US" sz="1800"/>
              <a:t>4. scrolldelay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Adds delay between movements (in milliseconds).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&lt;marquee scrolldelay="100"&gt;Slow&lt;/marquee&gt;</a:t>
            </a:r>
            <a:endParaRPr lang="en-US" altLang="en-US" sz="1800"/>
          </a:p>
          <a:p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5826760" y="87630"/>
            <a:ext cx="6000750" cy="65595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5. loop</a:t>
            </a:r>
            <a:endParaRPr lang="en-US" altLang="en-US"/>
          </a:p>
          <a:p>
            <a:r>
              <a:rPr lang="en-US" altLang="en-US">
                <a:sym typeface="+mn-ea"/>
              </a:rPr>
              <a:t>Number of times the animation repeats.</a:t>
            </a:r>
            <a:endParaRPr lang="en-US" altLang="en-US"/>
          </a:p>
          <a:p>
            <a:r>
              <a:rPr lang="en-US" altLang="en-US">
                <a:sym typeface="+mn-ea"/>
              </a:rPr>
              <a:t>marquee loop="3"&gt;Repeats 3 times&lt;/marquee&gt;</a:t>
            </a:r>
            <a:endParaRPr lang="en-US" altLang="en-US"/>
          </a:p>
          <a:p>
            <a:r>
              <a:rPr lang="en-US" altLang="en-US">
                <a:sym typeface="+mn-ea"/>
              </a:rPr>
              <a:t>Use loop="infinite" or omit it for continuous scrolling.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6. width and height</a:t>
            </a:r>
            <a:endParaRPr lang="en-US" altLang="en-US"/>
          </a:p>
          <a:p>
            <a:r>
              <a:rPr lang="en-US" altLang="en-US">
                <a:sym typeface="+mn-ea"/>
              </a:rPr>
              <a:t>Defines the marquee area.</a:t>
            </a:r>
            <a:endParaRPr lang="en-US" altLang="en-US"/>
          </a:p>
          <a:p>
            <a:r>
              <a:rPr lang="en-US" altLang="en-US">
                <a:sym typeface="+mn-ea"/>
              </a:rPr>
              <a:t>&lt;marquee width="300" height="50"&gt;Text&lt;/marquee&gt;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7. bgcolor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Background color (old-style HTML).</a:t>
            </a:r>
            <a:endParaRPr lang="en-US" altLang="en-US"/>
          </a:p>
          <a:p>
            <a:r>
              <a:rPr lang="en-US" altLang="en-US">
                <a:sym typeface="+mn-ea"/>
              </a:rPr>
              <a:t>&lt;marquee bgcolor="yellow"&gt;Text&lt;/marquee&gt;</a:t>
            </a:r>
            <a:endParaRPr lang="en-US" altLang="en-US"/>
          </a:p>
          <a:p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Example Using Multiple Attributes</a:t>
            </a:r>
            <a:endParaRPr lang="en-US" altLang="en-US"/>
          </a:p>
          <a:p>
            <a:r>
              <a:rPr lang="en-US" altLang="en-US">
                <a:sym typeface="+mn-ea"/>
              </a:rPr>
              <a:t>&lt;marquee direction="right" behavior="alternate" scrollamount="8"&gt;</a:t>
            </a:r>
            <a:endParaRPr lang="en-US" altLang="en-US"/>
          </a:p>
          <a:p>
            <a:r>
              <a:rPr lang="en-US" altLang="en-US">
                <a:sym typeface="+mn-ea"/>
              </a:rPr>
              <a:t>  Bouncing Text</a:t>
            </a:r>
            <a:endParaRPr lang="en-US" altLang="en-US"/>
          </a:p>
          <a:p>
            <a:r>
              <a:rPr lang="en-US" altLang="en-US">
                <a:sym typeface="+mn-ea"/>
              </a:rPr>
              <a:t>&lt;/marquee&gt;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9390"/>
            <a:ext cx="12061825" cy="6659245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1. alt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Alternative text shown if the image cannot load and read by screen readers.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&lt;img src="logo.png" alt="Company Logo"&gt;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Improves accessibility and SEO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2. width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Sets the width of the image (in pixels by default).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&lt;img src="photo.jpg" width="300"&gt;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3. height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Sets the height of the image.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&lt;img src="photo.jpg" height="200"&gt;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Tip: Set both width and height to avoid layout shifting.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4. title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Displays tooltip text when the mouse hovers over the image.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&lt;img src="icon.png" title="Settings Icon"&gt;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6096000" y="1144905"/>
            <a:ext cx="6096000" cy="53619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="1">
                <a:sym typeface="+mn-ea"/>
              </a:rPr>
              <a:t>5. loading</a:t>
            </a:r>
            <a:endParaRPr lang="en-US" altLang="en-US" b="1"/>
          </a:p>
          <a:p>
            <a:r>
              <a:rPr lang="en-US" altLang="en-US">
                <a:sym typeface="+mn-ea"/>
              </a:rPr>
              <a:t>Controls when the image loads.</a:t>
            </a:r>
            <a:endParaRPr lang="en-US" altLang="en-US"/>
          </a:p>
          <a:p>
            <a:r>
              <a:rPr lang="en-US" altLang="en-US">
                <a:sym typeface="+mn-ea"/>
              </a:rPr>
              <a:t>&lt;img src="image.jpg" loading="lazy"&gt;</a:t>
            </a:r>
            <a:endParaRPr lang="en-US" altLang="en-US"/>
          </a:p>
          <a:p>
            <a:r>
              <a:rPr lang="en-US" altLang="en-US">
                <a:sym typeface="+mn-ea"/>
              </a:rPr>
              <a:t>Values:</a:t>
            </a:r>
            <a:endParaRPr lang="en-US" altLang="en-US"/>
          </a:p>
          <a:p>
            <a:r>
              <a:rPr lang="en-US" altLang="en-US">
                <a:sym typeface="+mn-ea"/>
              </a:rPr>
              <a:t>lazy – loads when needed (recommended)</a:t>
            </a:r>
            <a:endParaRPr lang="en-US" altLang="en-US"/>
          </a:p>
          <a:p>
            <a:r>
              <a:rPr lang="en-US" altLang="en-US">
                <a:sym typeface="+mn-ea"/>
              </a:rPr>
              <a:t>eager – loads immediately</a:t>
            </a:r>
            <a:endParaRPr lang="en-US" altLang="en-US"/>
          </a:p>
          <a:p>
            <a:r>
              <a:rPr lang="en-US" altLang="en-US">
                <a:sym typeface="+mn-ea"/>
              </a:rPr>
              <a:t>6. srcset</a:t>
            </a:r>
            <a:endParaRPr lang="en-US" altLang="en-US"/>
          </a:p>
          <a:p>
            <a:r>
              <a:rPr lang="en-US" altLang="en-US">
                <a:sym typeface="+mn-ea"/>
              </a:rPr>
              <a:t>Provides multiple image versions for different screen sizes or resolutions.</a:t>
            </a:r>
            <a:endParaRPr lang="en-US" altLang="en-US"/>
          </a:p>
          <a:p>
            <a:r>
              <a:rPr lang="en-US" altLang="en-US">
                <a:sym typeface="+mn-ea"/>
              </a:rPr>
              <a:t>&lt;img </a:t>
            </a:r>
            <a:endParaRPr lang="en-US" altLang="en-US"/>
          </a:p>
          <a:p>
            <a:r>
              <a:rPr lang="en-US" altLang="en-US">
                <a:sym typeface="+mn-ea"/>
              </a:rPr>
              <a:t>  src="small.jpg"</a:t>
            </a:r>
            <a:endParaRPr lang="en-US" altLang="en-US"/>
          </a:p>
          <a:p>
            <a:r>
              <a:rPr lang="en-US" altLang="en-US">
                <a:sym typeface="+mn-ea"/>
              </a:rPr>
              <a:t>  srcset="small.jpg 480w, medium.jpg 768w, large.jpg 1200w"</a:t>
            </a:r>
            <a:endParaRPr lang="en-US" altLang="en-US"/>
          </a:p>
          <a:p>
            <a:r>
              <a:rPr lang="en-US" altLang="en-US">
                <a:sym typeface="+mn-ea"/>
              </a:rPr>
              <a:t>  alt="Landscape"&gt;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51485"/>
          </a:xfrm>
        </p:spPr>
        <p:txBody>
          <a:bodyPr>
            <a:noAutofit/>
          </a:bodyPr>
          <a:p>
            <a:pPr algn="ctr"/>
            <a:r>
              <a:rPr lang="en-US" sz="2000" b="1">
                <a:solidFill>
                  <a:srgbClr val="FF0000"/>
                </a:solidFill>
              </a:rPr>
              <a:t>Audio/Video Controls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35" y="333375"/>
            <a:ext cx="11856720" cy="6376670"/>
          </a:xfrm>
        </p:spPr>
        <p:txBody>
          <a:bodyPr/>
          <a:p>
            <a:r>
              <a:rPr lang="en-US" altLang="en-US" sz="1800" b="1"/>
              <a:t>1. controls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Purpose: Displays play, pause, volume, and other media controls.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Type: Boolean attribute (no value needed).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Used in: &lt;audio&gt;, &lt;video&gt;</a:t>
            </a:r>
            <a:endParaRPr lang="en-US" altLang="en-US" sz="1800"/>
          </a:p>
        </p:txBody>
      </p:sp>
      <p:sp>
        <p:nvSpPr>
          <p:cNvPr id="4" name="Text Box 3"/>
          <p:cNvSpPr txBox="1"/>
          <p:nvPr/>
        </p:nvSpPr>
        <p:spPr>
          <a:xfrm>
            <a:off x="140335" y="1908492"/>
            <a:ext cx="5080000" cy="195580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b="1"/>
              <a:t>2. autoplay</a:t>
            </a:r>
            <a:endParaRPr b="1"/>
          </a:p>
          <a:p>
            <a:pPr indent="0">
              <a:buFont typeface="Arial" panose="020B0604020202020204"/>
              <a:buNone/>
            </a:pPr>
            <a:r>
              <a:t>Purpose: Starts playing the media automatically when the page loads.</a:t>
            </a:r>
          </a:p>
          <a:p>
            <a:pPr indent="0">
              <a:buFont typeface="Arial" panose="020B0604020202020204"/>
              <a:buNone/>
            </a:pPr>
            <a:r>
              <a:t>Note: Most browsers allow autoplay only if the media is muted.</a:t>
            </a:r>
          </a:p>
          <a:p>
            <a:pPr>
              <a:buFont typeface="Arial" panose="020B0604020202020204"/>
              <a:buChar char="•"/>
            </a:pPr>
            <a:r>
              <a:t>Used in:&lt;audio&gt;, &lt;video&gt;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40335" y="3863975"/>
            <a:ext cx="5080000" cy="129667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000" b="1"/>
              <a:t>3. loop</a:t>
            </a:r>
            <a:endParaRPr sz="2000" b="1"/>
          </a:p>
          <a:p>
            <a:pPr>
              <a:spcAft>
                <a:spcPct val="60000"/>
              </a:spcAft>
            </a:pPr>
            <a:r>
              <a:rPr sz="1600"/>
              <a:t>Purpose: Replays the media automatically after it ends.</a:t>
            </a:r>
            <a:endParaRPr sz="1600"/>
          </a:p>
          <a:p>
            <a:pPr indent="0">
              <a:buFont typeface="Arial" panose="020B0604020202020204"/>
              <a:buNone/>
            </a:pPr>
            <a:r>
              <a:rPr sz="1600"/>
              <a:t>Used in:&lt;audio&gt;, &lt;video&gt;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140335" y="5160645"/>
            <a:ext cx="4939665" cy="12966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000" b="1"/>
              <a:t>4. muted</a:t>
            </a:r>
            <a:endParaRPr sz="2000" b="1"/>
          </a:p>
          <a:p>
            <a:pPr>
              <a:spcAft>
                <a:spcPct val="60000"/>
              </a:spcAft>
            </a:pPr>
            <a:r>
              <a:rPr sz="1600"/>
              <a:t>Purpose: Mutes the audio by default.</a:t>
            </a:r>
            <a:endParaRPr sz="1600"/>
          </a:p>
          <a:p>
            <a:pPr indent="0">
              <a:buFont typeface="Arial" panose="020B0604020202020204"/>
              <a:buNone/>
            </a:pPr>
            <a:r>
              <a:rPr sz="1600"/>
              <a:t>Used in:&lt;audio&gt;, &lt;video&gt;</a:t>
            </a:r>
            <a:endParaRPr sz="1600"/>
          </a:p>
        </p:txBody>
      </p:sp>
      <p:sp>
        <p:nvSpPr>
          <p:cNvPr id="7" name="Text Box 6"/>
          <p:cNvSpPr txBox="1"/>
          <p:nvPr/>
        </p:nvSpPr>
        <p:spPr>
          <a:xfrm>
            <a:off x="6308090" y="451485"/>
            <a:ext cx="5688965" cy="21266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300" b="1"/>
              <a:t>media</a:t>
            </a:r>
            <a:endParaRPr sz="2300" b="1"/>
          </a:p>
          <a:p>
            <a:pPr indent="0">
              <a:buFont typeface="Arial" panose="020B0604020202020204"/>
              <a:buNone/>
            </a:pPr>
            <a:r>
              <a:rPr sz="1600"/>
              <a:t>Purpose: Specifies when the media file should be used (based on screen size or device).</a:t>
            </a:r>
            <a:endParaRPr sz="1600"/>
          </a:p>
          <a:p>
            <a:pPr indent="0">
              <a:buFont typeface="Arial" panose="020B0604020202020204"/>
              <a:buNone/>
            </a:pPr>
            <a:r>
              <a:rPr sz="1600"/>
              <a:t>Used in:&lt;source&gt;</a:t>
            </a:r>
            <a:endParaRPr sz="1600"/>
          </a:p>
          <a:p>
            <a:pPr indent="0">
              <a:buFont typeface="Arial" panose="020B0604020202020204"/>
              <a:buNone/>
            </a:pPr>
            <a:r>
              <a:rPr sz="1600"/>
              <a:t>Works like: CSS media queries</a:t>
            </a:r>
            <a:endParaRPr sz="1600"/>
          </a:p>
          <a:p>
            <a:pPr indent="0">
              <a:buFont typeface="Arial" panose="020B0604020202020204"/>
              <a:buNone/>
            </a:pPr>
            <a:r>
              <a:rPr sz="1600"/>
              <a:t>Example:</a:t>
            </a:r>
            <a:endParaRPr sz="1600"/>
          </a:p>
          <a:p>
            <a:r>
              <a:rPr sz="1600"/>
              <a:t>&lt;sourcesrc="video-mobile.mp4"media="(max-width: 600px)"&gt;
</a:t>
            </a:r>
            <a:endParaRPr sz="1600"/>
          </a:p>
        </p:txBody>
      </p:sp>
      <p:sp>
        <p:nvSpPr>
          <p:cNvPr id="8" name="Text Box 7"/>
          <p:cNvSpPr txBox="1"/>
          <p:nvPr/>
        </p:nvSpPr>
        <p:spPr>
          <a:xfrm>
            <a:off x="6308725" y="2677795"/>
            <a:ext cx="5883275" cy="19558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b="1"/>
              <a:t>6. type</a:t>
            </a:r>
            <a:endParaRPr b="1"/>
          </a:p>
          <a:p>
            <a:pPr indent="0">
              <a:buFont typeface="Arial" panose="020B0604020202020204"/>
              <a:buNone/>
            </a:pPr>
            <a:r>
              <a:t>Purpose: Specifies the format (MIME type) of the media file.</a:t>
            </a:r>
          </a:p>
          <a:p>
            <a:pPr indent="0">
              <a:buFont typeface="Arial" panose="020B0604020202020204"/>
              <a:buNone/>
            </a:pPr>
            <a:r>
              <a:t>Used in:&lt;source&gt;, &lt;script&gt;, &lt;link&gt;</a:t>
            </a:r>
          </a:p>
          <a:p>
            <a:pPr indent="0">
              <a:buFont typeface="Arial" panose="020B0604020202020204"/>
              <a:buNone/>
            </a:pPr>
            <a:r>
              <a:t>Examples:</a:t>
            </a:r>
          </a:p>
          <a:p>
            <a:pPr>
              <a:buFont typeface="Arial" panose="020B0604020202020204"/>
              <a:buChar char="•"/>
            </a:pPr>
            <a:r>
              <a:t>video/mp4</a:t>
            </a:r>
          </a:p>
          <a:p>
            <a:pPr>
              <a:buFont typeface="Arial" panose="020B0604020202020204"/>
              <a:buChar char="•"/>
            </a:pPr>
            <a:r>
              <a:t>audio/mpeg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416675" y="4634230"/>
            <a:ext cx="3409950" cy="19443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t>controls → show media buttons</a:t>
            </a:r>
          </a:p>
          <a:p>
            <a:r>
              <a:t>autoplay → play automatically</a:t>
            </a:r>
          </a:p>
          <a:p>
            <a:r>
              <a:t>loop → repeat media</a:t>
            </a:r>
          </a:p>
          <a:p>
            <a:r>
              <a:t>muted → sound off</a:t>
            </a:r>
          </a:p>
          <a:p>
            <a:r>
              <a:t>media → device/screen condition</a:t>
            </a:r>
          </a:p>
          <a:p>
            <a:r>
              <a:t>type → media file format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305" y="2433955"/>
            <a:ext cx="11936095" cy="994410"/>
          </a:xfrm>
        </p:spPr>
        <p:txBody>
          <a:bodyPr>
            <a:normAutofit fontScale="90000"/>
          </a:bodyPr>
          <a:p>
            <a:pPr algn="ctr"/>
            <a:r>
              <a:rPr lang="en-US" sz="6000">
                <a:solidFill>
                  <a:srgbClr val="FF0000"/>
                </a:solidFill>
              </a:rPr>
              <a:t>HTML END</a:t>
            </a:r>
            <a:endParaRPr lang="en-US" sz="6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0*221"/>
  <p:tag name="TABLE_ENDDRAG_RECT" val="10*30*940*221"/>
</p:tagLst>
</file>

<file path=ppt/tags/tag2.xml><?xml version="1.0" encoding="utf-8"?>
<p:tagLst xmlns:p="http://schemas.openxmlformats.org/presentationml/2006/main">
  <p:tag name="TABLE_ENDDRAG_ORIGIN_RECT" val="967*537"/>
  <p:tag name="TABLE_ENDDRAG_RECT" val="0*11*967*537"/>
</p:tagLst>
</file>

<file path=ppt/tags/tag3.xml><?xml version="1.0" encoding="utf-8"?>
<p:tagLst xmlns:p="http://schemas.openxmlformats.org/presentationml/2006/main">
  <p:tag name="TABLE_ENDDRAG_ORIGIN_RECT" val="959*516"/>
  <p:tag name="TABLE_ENDDRAG_RECT" val="0*23*959*516"/>
</p:tagLst>
</file>

<file path=ppt/tags/tag4.xml><?xml version="1.0" encoding="utf-8"?>
<p:tagLst xmlns:p="http://schemas.openxmlformats.org/presentationml/2006/main">
  <p:tag name="TABLE_ENDDRAG_ORIGIN_RECT" val="952*244"/>
  <p:tag name="TABLE_ENDDRAG_RECT" val="7*25*952*244"/>
</p:tagLst>
</file>

<file path=ppt/tags/tag5.xml><?xml version="1.0" encoding="utf-8"?>
<p:tagLst xmlns:p="http://schemas.openxmlformats.org/presentationml/2006/main">
  <p:tag name="TABLE_ENDDRAG_ORIGIN_RECT" val="960*498"/>
  <p:tag name="TABLE_ENDDRAG_RECT" val="0*19*960*498"/>
</p:tagLst>
</file>

<file path=ppt/tags/tag6.xml><?xml version="1.0" encoding="utf-8"?>
<p:tagLst xmlns:p="http://schemas.openxmlformats.org/presentationml/2006/main">
  <p:tag name="TABLE_ENDDRAG_ORIGIN_RECT" val="937*282"/>
  <p:tag name="TABLE_ENDDRAG_RECT" val="6*26*937*282"/>
</p:tagLst>
</file>

<file path=ppt/tags/tag7.xml><?xml version="1.0" encoding="utf-8"?>
<p:tagLst xmlns:p="http://schemas.openxmlformats.org/presentationml/2006/main">
  <p:tag name="TABLE_ENDDRAG_ORIGIN_RECT" val="941*201"/>
  <p:tag name="TABLE_ENDDRAG_RECT" val="7*27*941*201"/>
</p:tagLst>
</file>

<file path=ppt/tags/tag8.xml><?xml version="1.0" encoding="utf-8"?>
<p:tagLst xmlns:p="http://schemas.openxmlformats.org/presentationml/2006/main">
  <p:tag name="TABLE_ENDDRAG_ORIGIN_RECT" val="295*213"/>
  <p:tag name="TABLE_ENDDRAG_RECT" val="14*327*295*213"/>
</p:tagLst>
</file>

<file path=ppt/tags/tag9.xml><?xml version="1.0" encoding="utf-8"?>
<p:tagLst xmlns:p="http://schemas.openxmlformats.org/presentationml/2006/main">
  <p:tag name="TABLE_ENDDRAG_ORIGIN_RECT" val="305*213"/>
  <p:tag name="TABLE_ENDDRAG_RECT" val="318*327*305*213"/>
</p:tagLst>
</file>

<file path=ppt/tags/tag10.xml><?xml version="1.0" encoding="utf-8"?>
<p:tagLst xmlns:p="http://schemas.openxmlformats.org/presentationml/2006/main">
  <p:tag name="TABLE_ENDDRAG_ORIGIN_RECT" val="310*213"/>
  <p:tag name="TABLE_ENDDRAG_RECT" val="637*327*311*2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14592</Words>
  <Application>WPS Presentation</Application>
  <PresentationFormat>Widescreen</PresentationFormat>
  <Paragraphs>1244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Arial</vt:lpstr>
      <vt:lpstr>Microsoft YaHei</vt:lpstr>
      <vt:lpstr>Arial Unicode MS</vt:lpstr>
      <vt:lpstr>Calibri Light</vt:lpstr>
      <vt:lpstr>Calibri</vt:lpstr>
      <vt:lpstr>Office Theme</vt:lpstr>
      <vt:lpstr>HTML Introduction</vt:lpstr>
      <vt:lpstr>PowerPoint 演示文稿</vt:lpstr>
      <vt:lpstr>PowerPoint 演示文稿</vt:lpstr>
      <vt:lpstr>HTml Day1</vt:lpstr>
      <vt:lpstr>HTml Day2</vt:lpstr>
      <vt:lpstr>HTml Day3</vt:lpstr>
      <vt:lpstr>HTml Day4</vt:lpstr>
      <vt:lpstr>HTml Day5</vt:lpstr>
      <vt:lpstr>Day6</vt:lpstr>
      <vt:lpstr> Table container tag</vt:lpstr>
      <vt:lpstr>Table rowspan And colspan</vt:lpstr>
      <vt:lpstr>PowerPoint 演示文稿</vt:lpstr>
      <vt:lpstr>PowerPoint 演示文稿</vt:lpstr>
      <vt:lpstr>Audio/Video Controls</vt:lpstr>
      <vt:lpstr>HTML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 SAUDAGAR</dc:creator>
  <cp:lastModifiedBy>Nishank Amte</cp:lastModifiedBy>
  <cp:revision>93</cp:revision>
  <dcterms:created xsi:type="dcterms:W3CDTF">2025-07-16T12:22:00Z</dcterms:created>
  <dcterms:modified xsi:type="dcterms:W3CDTF">2026-01-30T09:44:19Z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40EE963206414C1D8D47312F528DB26E_12</vt:lpwstr>
  </property>
  <property fmtid="{D5CDD505-2E9C-101B-9397-08002B2CF9AE}" pid="3" name="KSOProductBuildVer">
    <vt:lpwstr>1033-12.2.0.23196</vt:lpwstr>
  </property>
</Properties>
</file>