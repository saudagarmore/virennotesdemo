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86" r:id="rId4"/>
    <p:sldId id="287" r:id="rId5"/>
    <p:sldId id="285" r:id="rId6"/>
    <p:sldId id="288" r:id="rId7"/>
    <p:sldId id="289" r:id="rId8"/>
    <p:sldId id="256" r:id="rId9"/>
    <p:sldId id="257" r:id="rId10"/>
    <p:sldId id="258" r:id="rId11"/>
    <p:sldId id="259" r:id="rId12"/>
    <p:sldId id="260" r:id="rId13"/>
    <p:sldId id="262" r:id="rId14"/>
    <p:sldId id="263" r:id="rId15"/>
    <p:sldId id="265" r:id="rId16"/>
    <p:sldId id="266" r:id="rId17"/>
    <p:sldId id="267" r:id="rId18"/>
    <p:sldId id="269" r:id="rId19"/>
    <p:sldId id="268" r:id="rId20"/>
    <p:sldId id="270" r:id="rId21"/>
    <p:sldId id="276" r:id="rId22"/>
    <p:sldId id="271" r:id="rId23"/>
    <p:sldId id="273" r:id="rId24"/>
    <p:sldId id="275" r:id="rId25"/>
    <p:sldId id="274" r:id="rId26"/>
    <p:sldId id="272" r:id="rId27"/>
    <p:sldId id="277" r:id="rId28"/>
    <p:sldId id="278" r:id="rId29"/>
    <p:sldId id="279" r:id="rId30"/>
    <p:sldId id="280" r:id="rId31"/>
    <p:sldId id="281" r:id="rId32"/>
    <p:sldId id="283" r:id="rId33"/>
    <p:sldId id="282" r:id="rId34"/>
    <p:sldId id="284" r:id="rId35"/>
    <p:sldId id="292" r:id="rId36"/>
    <p:sldId id="290" r:id="rId37"/>
    <p:sldId id="29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563495"/>
            <a:ext cx="12192635" cy="1325880"/>
          </a:xfrm>
        </p:spPr>
        <p:txBody>
          <a:bodyPr/>
          <a:p>
            <a:pPr algn="ctr"/>
            <a:r>
              <a:rPr lang="en-US" sz="7200">
                <a:solidFill>
                  <a:srgbClr val="C00000"/>
                </a:solidFill>
              </a:rPr>
              <a:t>CSS</a:t>
            </a:r>
            <a:endParaRPr lang="en-US" sz="72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0" y="0"/>
          <a:ext cx="12566650" cy="3867785"/>
        </p:xfrm>
        <a:graphic>
          <a:graphicData uri="http://schemas.openxmlformats.org/drawingml/2006/table">
            <a:tbl>
              <a:tblPr/>
              <a:tblGrid>
                <a:gridCol w="2513330"/>
                <a:gridCol w="2513330"/>
                <a:gridCol w="2513330"/>
                <a:gridCol w="2513330"/>
                <a:gridCol w="2513330"/>
              </a:tblGrid>
              <a:tr h="213360"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FF0000"/>
                          </a:solidFill>
                        </a:rPr>
                        <a:t>Property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FF0000"/>
                          </a:solidFill>
                        </a:rPr>
                        <a:t>Sub-properties / Values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FF0000"/>
                          </a:solidFill>
                        </a:rPr>
                        <a:t>Definition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FF0000"/>
                          </a:solidFill>
                        </a:rPr>
                        <a:t>Proper Use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FF0000"/>
                          </a:solidFill>
                        </a:rPr>
                        <a:t>Example</a:t>
                      </a:r>
                      <a:endParaRPr sz="14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color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named, hex, rgb, hsl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 color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Readability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color: #333;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font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shorthand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Sets multiple font props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Clean font setup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font: bold 16px Arial;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font-family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serif, sans-serif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 type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Typography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font-family: Arial;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0665">
                <a:tc>
                  <a:txBody>
                    <a:bodyPr/>
                    <a:p>
                      <a:r>
                        <a:rPr sz="1400"/>
                        <a:t>font-size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px, em, rem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 size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Scaling text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font-size: 16px;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font-style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normal, italic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 style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Emphasis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font-style: italic;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font-weight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100–900, bold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 thickness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Emphasis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font-weight: 700;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font-variant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small-caps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Small caps text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Styling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font-variant: small-caps;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line-height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number, px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Line spacing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Readability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line-height: 1.5;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letter-spacing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px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Space between letters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Design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letter-spacing: 1px;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word-spacing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px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Space between words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 layout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word-spacing: 4px;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text-align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left, center, right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 alignment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Layout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text-align: center;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text-decoration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underline, none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 lines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Links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text-decoration: none;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text-transform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uppercase, capitalize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Case control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Styling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text-transform: uppercase;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text-indent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px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First line indent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Paragraphs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text-indent: 20px;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white-space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nowrap, pre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Space handling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Wrapping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white-space: nowrap;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word-wrap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break-word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Word breaking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Overflow text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word-wrap: break-word;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r>
                        <a:rPr sz="1400"/>
                        <a:t>text-overflow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ellipsis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Truncate text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UI labels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text-overflow: ellipsis;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0" y="3900170"/>
          <a:ext cx="11932920" cy="1463040"/>
        </p:xfrm>
        <a:graphic>
          <a:graphicData uri="http://schemas.openxmlformats.org/drawingml/2006/table">
            <a:tbl>
              <a:tblPr/>
              <a:tblGrid>
                <a:gridCol w="3977640"/>
                <a:gridCol w="3977640"/>
                <a:gridCol w="3977640"/>
              </a:tblGrid>
              <a:tr h="243840"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Property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Definition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Example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margin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Outer spacing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margin: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margin-top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Top space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margin-top: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margin-right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Right space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margin-right: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margin-bottom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Bottom space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margin-bottom: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margin-left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Left space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margin-left: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3"/>
            </p:custDataLst>
          </p:nvPr>
        </p:nvGraphicFramePr>
        <p:xfrm>
          <a:off x="0" y="5394960"/>
          <a:ext cx="12192000" cy="1463040"/>
        </p:xfrm>
        <a:graphic>
          <a:graphicData uri="http://schemas.openxmlformats.org/drawingml/2006/table">
            <a:tbl>
              <a:tblPr/>
              <a:tblGrid>
                <a:gridCol w="3248025"/>
                <a:gridCol w="4879975"/>
                <a:gridCol w="4064000"/>
              </a:tblGrid>
              <a:tr h="243840"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Property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Definition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Example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padding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Inner spacing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padding: 15px;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padding-top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Top padding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padding-top: 5px;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padding-right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Right padding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padding-right: 5px;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padding-bottom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Bottom padding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padding-bottom: 5px;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padding-left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Left padding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padding-left: 5px;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55245" y="149860"/>
          <a:ext cx="11717655" cy="1463040"/>
        </p:xfrm>
        <a:graphic>
          <a:graphicData uri="http://schemas.openxmlformats.org/drawingml/2006/table">
            <a:tbl>
              <a:tblPr/>
              <a:tblGrid>
                <a:gridCol w="3905885"/>
                <a:gridCol w="3905885"/>
                <a:gridCol w="3905885"/>
              </a:tblGrid>
              <a:tr h="243840"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Property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Definition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Example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border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Border shorthand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border: 1px solid black;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border-width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Thickness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border-width: 2px;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border-style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solid, dashed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Style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border-color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Border color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border-color: red;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border-radius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Rounded corners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border-radius: 8px;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55245" y="1769110"/>
          <a:ext cx="12018645" cy="640080"/>
        </p:xfrm>
        <a:graphic>
          <a:graphicData uri="http://schemas.openxmlformats.org/drawingml/2006/table">
            <a:tbl>
              <a:tblPr/>
              <a:tblGrid>
                <a:gridCol w="4006215"/>
                <a:gridCol w="4006215"/>
                <a:gridCol w="4006215"/>
              </a:tblGrid>
              <a:tr h="0"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Property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Definition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Example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p>
                      <a:r>
                        <a:rPr sz="1400"/>
                        <a:t>outline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Outside border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outline: 2px solid blue;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1400"/>
                        <a:t>outline-offset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Gap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outline-offset: 4px;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3"/>
            </p:custDataLst>
          </p:nvPr>
        </p:nvGraphicFramePr>
        <p:xfrm>
          <a:off x="55245" y="2785745"/>
          <a:ext cx="12018645" cy="670560"/>
        </p:xfrm>
        <a:graphic>
          <a:graphicData uri="http://schemas.openxmlformats.org/drawingml/2006/table">
            <a:tbl>
              <a:tblPr/>
              <a:tblGrid>
                <a:gridCol w="4006215"/>
                <a:gridCol w="4006215"/>
                <a:gridCol w="4006215"/>
              </a:tblGrid>
              <a:tr h="167640"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Property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Definition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Example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67640">
                <a:tc>
                  <a:txBody>
                    <a:bodyPr/>
                    <a:p>
                      <a:r>
                        <a:rPr sz="1600"/>
                        <a:t>display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Layout type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display: block;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sz="1600"/>
                        <a:t>visibility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Visible/hidden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visibility: hidden;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67640">
                <a:tc>
                  <a:txBody>
                    <a:bodyPr/>
                    <a:p>
                      <a:r>
                        <a:rPr sz="1600"/>
                        <a:t>opacity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Transparency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opacity: 0.5;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4"/>
            </p:custDataLst>
          </p:nvPr>
        </p:nvGraphicFramePr>
        <p:xfrm>
          <a:off x="55245" y="4253230"/>
          <a:ext cx="12142470" cy="2194560"/>
        </p:xfrm>
        <a:graphic>
          <a:graphicData uri="http://schemas.openxmlformats.org/drawingml/2006/table">
            <a:tbl>
              <a:tblPr/>
              <a:tblGrid>
                <a:gridCol w="4047490"/>
                <a:gridCol w="4047490"/>
                <a:gridCol w="4047490"/>
              </a:tblGrid>
              <a:tr h="243840"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Property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Definition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>
                          <a:solidFill>
                            <a:srgbClr val="FF0000"/>
                          </a:solidFill>
                        </a:rPr>
                        <a:t>Example</a:t>
                      </a:r>
                      <a:endParaRPr sz="16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position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Positioning method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position: absolute;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top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Top offset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top: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right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Right offset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right: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bottom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Bottom offset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bottom: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3045">
                <a:tc>
                  <a:txBody>
                    <a:bodyPr/>
                    <a:p>
                      <a:r>
                        <a:rPr sz="1600"/>
                        <a:t>left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Left offset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left: 10px;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float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Float element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float: left;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clear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Clear float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clear: both;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470" y="0"/>
            <a:ext cx="11775440" cy="502285"/>
          </a:xfrm>
        </p:spPr>
        <p:txBody>
          <a:bodyPr>
            <a:noAutofit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Css Completed Property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" y="502285"/>
            <a:ext cx="11870690" cy="6226810"/>
          </a:xfrm>
        </p:spPr>
        <p:txBody>
          <a:bodyPr>
            <a:normAutofit fontScale="90000"/>
          </a:bodyPr>
          <a:p>
            <a:r>
              <a:rPr lang="en-US" altLang="en-US"/>
              <a:t>opacity</a:t>
            </a:r>
            <a:endParaRPr lang="en-US" altLang="en-US"/>
          </a:p>
          <a:p>
            <a:r>
              <a:rPr lang="en-US" altLang="en-US"/>
              <a:t>teststyle</a:t>
            </a:r>
            <a:endParaRPr lang="en-US" altLang="en-US"/>
          </a:p>
          <a:p>
            <a:r>
              <a:rPr lang="en-US" altLang="en-US"/>
              <a:t>word-wrap</a:t>
            </a:r>
            <a:endParaRPr lang="en-US" altLang="en-US"/>
          </a:p>
          <a:p>
            <a:r>
              <a:rPr lang="en-US" altLang="en-US"/>
              <a:t>font-size</a:t>
            </a:r>
            <a:endParaRPr lang="en-US" altLang="en-US"/>
          </a:p>
          <a:p>
            <a:r>
              <a:rPr lang="en-US" altLang="en-US"/>
              <a:t>padding</a:t>
            </a:r>
            <a:endParaRPr lang="en-US" altLang="en-US"/>
          </a:p>
          <a:p>
            <a:r>
              <a:rPr lang="en-US" altLang="en-US"/>
              <a:t>float</a:t>
            </a:r>
            <a:endParaRPr lang="en-US" altLang="en-US"/>
          </a:p>
          <a:p>
            <a:r>
              <a:rPr lang="en-US" altLang="en-US"/>
              <a:t>overflow</a:t>
            </a:r>
            <a:endParaRPr lang="en-US" altLang="en-US"/>
          </a:p>
          <a:p>
            <a:r>
              <a:rPr lang="en-US" altLang="en-US"/>
              <a:t>position</a:t>
            </a:r>
            <a:endParaRPr lang="en-US" altLang="en-US"/>
          </a:p>
          <a:p>
            <a:r>
              <a:rPr lang="en-US" altLang="en-US"/>
              <a:t>margin</a:t>
            </a:r>
            <a:endParaRPr lang="en-US" altLang="en-US"/>
          </a:p>
          <a:p>
            <a:r>
              <a:rPr lang="en-US" altLang="en-US"/>
              <a:t>display</a:t>
            </a:r>
            <a:endParaRPr lang="en-US" altLang="en-US"/>
          </a:p>
          <a:p>
            <a:r>
              <a:rPr lang="en-US" altLang="en-US"/>
              <a:t>bakckground</a:t>
            </a:r>
            <a:endParaRPr lang="en-US" altLang="en-US"/>
          </a:p>
          <a:p>
            <a:r>
              <a:rPr lang="en-US" altLang="en-US"/>
              <a:t>border</a:t>
            </a:r>
            <a:endParaRPr lang="en-US" altLang="en-US"/>
          </a:p>
          <a:p>
            <a:r>
              <a:rPr lang="en-US" altLang="en-US"/>
              <a:t>font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0" y="83820"/>
          <a:ext cx="12191365" cy="2991485"/>
        </p:xfrm>
        <a:graphic>
          <a:graphicData uri="http://schemas.openxmlformats.org/drawingml/2006/table">
            <a:tbl>
              <a:tblPr/>
              <a:tblGrid>
                <a:gridCol w="440690"/>
                <a:gridCol w="1388745"/>
                <a:gridCol w="5400675"/>
                <a:gridCol w="4961255"/>
              </a:tblGrid>
              <a:tr h="275590">
                <a:tc>
                  <a:txBody>
                    <a:bodyPr/>
                    <a:p>
                      <a:pPr algn="ctr"/>
                      <a:r>
                        <a:rPr sz="1800"/>
                        <a:t>No.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CSS Property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Sub-properties / Important Values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Uses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75590">
                <a:tc>
                  <a:txBody>
                    <a:bodyPr/>
                    <a:p>
                      <a:r>
                        <a:rPr sz="1800"/>
                        <a:t>1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color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Color name, #hex, rgb(), rgba(), hsl()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Sets the text color of an element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5590">
                <a:tc>
                  <a:txBody>
                    <a:bodyPr/>
                    <a:p>
                      <a:r>
                        <a:rPr sz="1800"/>
                        <a:t>2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font-weight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normal, bold, bolder, lighter, 100–900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Controls text thickness (boldness)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5590">
                <a:tc>
                  <a:txBody>
                    <a:bodyPr/>
                    <a:p>
                      <a:r>
                        <a:rPr sz="1800"/>
                        <a:t>3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font-variant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normal, small-caps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Displays text in small capital letters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5590">
                <a:tc>
                  <a:txBody>
                    <a:bodyPr/>
                    <a:p>
                      <a:r>
                        <a:rPr sz="1800"/>
                        <a:t>4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white-space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normal, nowrap, pre, pre-wrap, pre-line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Controls whitespace and line breaks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1180">
                <a:tc>
                  <a:txBody>
                    <a:bodyPr/>
                    <a:p>
                      <a:r>
                        <a:rPr lang="en-US" sz="1800"/>
                        <a:t>5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visibility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visible, hidden, collapse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Shows or hides elements without removing layout space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1180">
                <a:tc>
                  <a:txBody>
                    <a:bodyPr/>
                    <a:p>
                      <a:r>
                        <a:rPr lang="en-US" sz="1800"/>
                        <a:t>6</a:t>
                      </a:r>
                      <a:endParaRPr lang="en-US"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outline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outline-width, outline-style, outline-color, outline-offset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Draws a line outside the border for focus or emphasis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06045" y="2644775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r>
              <a:rPr sz="1600">
                <a:sym typeface="+mn-ea"/>
              </a:rPr>
              <a:t>nowrap</a:t>
            </a:r>
            <a:endParaRPr sz="1600"/>
          </a:p>
          <a:p>
            <a:r>
              <a:rPr sz="1600"/>
              <a:t>Extra spaces are collapsed</a:t>
            </a:r>
            <a:endParaRPr sz="1600"/>
          </a:p>
          <a:p>
            <a:endParaRPr sz="1600"/>
          </a:p>
          <a:p>
            <a:r>
              <a:rPr sz="1600"/>
              <a:t>Text does not move to next line</a:t>
            </a:r>
            <a:endParaRPr sz="1600"/>
          </a:p>
          <a:p>
            <a:endParaRPr sz="1600"/>
          </a:p>
          <a:p>
            <a:r>
              <a:rPr sz="1600"/>
              <a:t>All text stays on one single line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4615"/>
            <a:ext cx="12191365" cy="7457440"/>
          </a:xfrm>
        </p:spPr>
        <p:txBody>
          <a:bodyPr>
            <a:normAutofit fontScale="40000"/>
          </a:bodyPr>
          <a:p>
            <a:pPr marL="0" indent="0">
              <a:spcAft>
                <a:spcPct val="60000"/>
              </a:spcAft>
              <a:buNone/>
            </a:pPr>
            <a:r>
              <a:rPr sz="5145" b="1">
                <a:sym typeface="+mn-ea"/>
              </a:rPr>
              <a:t>Definition</a:t>
            </a:r>
            <a:endParaRPr sz="5145" b="1"/>
          </a:p>
          <a:p>
            <a:pPr marL="0" indent="0">
              <a:spcAft>
                <a:spcPct val="60000"/>
              </a:spcAft>
              <a:buNone/>
            </a:pPr>
            <a:r>
              <a:rPr sz="5145">
                <a:sym typeface="+mn-ea"/>
              </a:rPr>
              <a:t>A CSS linear gradient creates a smooth transition between two or more colors along a straight line. It is commonly used as a background instead of an image.</a:t>
            </a:r>
            <a:endParaRPr sz="5145"/>
          </a:p>
          <a:p>
            <a:pPr marL="0" indent="0">
              <a:spcAft>
                <a:spcPct val="60000"/>
              </a:spcAft>
              <a:buNone/>
            </a:pPr>
            <a:r>
              <a:rPr sz="5145" b="1">
                <a:sym typeface="+mn-ea"/>
              </a:rPr>
              <a:t>Basic Syntax</a:t>
            </a:r>
            <a:r>
              <a:rPr lang="en-US" sz="5145" b="1">
                <a:sym typeface="+mn-ea"/>
              </a:rPr>
              <a:t>: </a:t>
            </a:r>
            <a:r>
              <a:rPr sz="5145" b="1">
                <a:sym typeface="+mn-ea"/>
              </a:rPr>
              <a:t>background: linear-gradient(direction, color1, color2);
Simplest Example</a:t>
            </a:r>
            <a:endParaRPr sz="5145" b="1"/>
          </a:p>
          <a:p>
            <a:pPr marL="0" indent="0">
              <a:buNone/>
            </a:pPr>
            <a:r>
              <a:rPr sz="5145">
                <a:sym typeface="+mn-ea"/>
              </a:rPr>
              <a:t>background: linear-gradient(red, blue);
 Colors go top to bottom by default.</a:t>
            </a:r>
            <a:endParaRPr sz="5145"/>
          </a:p>
          <a:p>
            <a:pPr marL="0" indent="0">
              <a:spcAft>
                <a:spcPct val="60000"/>
              </a:spcAft>
              <a:buNone/>
            </a:pPr>
            <a:r>
              <a:rPr sz="5145" b="1">
                <a:sym typeface="+mn-ea"/>
              </a:rPr>
              <a:t>With Direction</a:t>
            </a:r>
            <a:endParaRPr sz="5145" b="1"/>
          </a:p>
          <a:p>
            <a:pPr marL="0" indent="0">
              <a:buNone/>
            </a:pPr>
            <a:r>
              <a:rPr sz="5145">
                <a:sym typeface="+mn-ea"/>
              </a:rPr>
              <a:t>background: linear-gradient(to right, red, blue);
</a:t>
            </a:r>
            <a:r>
              <a:rPr sz="5145" b="1">
                <a:sym typeface="+mn-ea"/>
              </a:rPr>
              <a:t>Common directions:</a:t>
            </a:r>
            <a:endParaRPr sz="5145" b="1"/>
          </a:p>
          <a:p>
            <a:pPr marL="0" indent="0">
              <a:buNone/>
            </a:pPr>
            <a:r>
              <a:rPr sz="5145">
                <a:sym typeface="+mn-ea"/>
              </a:rPr>
              <a:t>to top</a:t>
            </a:r>
            <a:r>
              <a:rPr lang="en-US" sz="5145">
                <a:sym typeface="+mn-ea"/>
              </a:rPr>
              <a:t> </a:t>
            </a:r>
            <a:r>
              <a:rPr sz="5145">
                <a:sym typeface="+mn-ea"/>
              </a:rPr>
              <a:t>to bottom</a:t>
            </a:r>
            <a:r>
              <a:rPr lang="en-US" sz="5145">
                <a:sym typeface="+mn-ea"/>
              </a:rPr>
              <a:t> </a:t>
            </a:r>
            <a:r>
              <a:rPr sz="5145">
                <a:sym typeface="+mn-ea"/>
              </a:rPr>
              <a:t>to left</a:t>
            </a:r>
            <a:r>
              <a:rPr lang="en-US" sz="5145">
                <a:sym typeface="+mn-ea"/>
              </a:rPr>
              <a:t>   </a:t>
            </a:r>
            <a:r>
              <a:rPr sz="5145">
                <a:sym typeface="+mn-ea"/>
              </a:rPr>
              <a:t>to right</a:t>
            </a:r>
            <a:r>
              <a:rPr lang="en-US" sz="5145">
                <a:sym typeface="+mn-ea"/>
              </a:rPr>
              <a:t>  </a:t>
            </a:r>
            <a:r>
              <a:rPr sz="5145">
                <a:sym typeface="+mn-ea"/>
              </a:rPr>
              <a:t>to bottom right</a:t>
            </a:r>
            <a:endParaRPr sz="5145"/>
          </a:p>
          <a:p>
            <a:pPr marL="0" indent="0">
              <a:spcAft>
                <a:spcPct val="60000"/>
              </a:spcAft>
              <a:buNone/>
            </a:pPr>
            <a:r>
              <a:rPr sz="5145" b="1">
                <a:sym typeface="+mn-ea"/>
              </a:rPr>
              <a:t>Using Angles</a:t>
            </a:r>
            <a:endParaRPr sz="5145" b="1"/>
          </a:p>
          <a:p>
            <a:pPr marL="0" indent="0">
              <a:buNone/>
            </a:pPr>
            <a:r>
              <a:rPr sz="5145">
                <a:sym typeface="+mn-ea"/>
              </a:rPr>
              <a:t>background: linear-gradient(45deg, red, blue);
0deg → bottom to top</a:t>
            </a:r>
            <a:endParaRPr sz="5145"/>
          </a:p>
          <a:p>
            <a:pPr marL="0" indent="0">
              <a:buNone/>
            </a:pPr>
            <a:r>
              <a:rPr sz="5145">
                <a:sym typeface="+mn-ea"/>
              </a:rPr>
              <a:t>90deg → left to right</a:t>
            </a:r>
            <a:endParaRPr sz="5145"/>
          </a:p>
          <a:p>
            <a:pPr marL="0" indent="0">
              <a:buNone/>
            </a:pPr>
            <a:endParaRPr lang="en-US" sz="514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155"/>
            <a:ext cx="10565130" cy="483235"/>
          </a:xfrm>
        </p:spPr>
        <p:txBody>
          <a:bodyPr/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What is CSS?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105" y="580390"/>
            <a:ext cx="11986895" cy="6182995"/>
          </a:xfrm>
        </p:spPr>
        <p:txBody>
          <a:bodyPr/>
          <a:p>
            <a:pPr algn="l"/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CSS (Cascading Style Sheets) is a style sheet language used to describe the presentation (layout, colors, fonts, spacing, etc.) of a document written in HTML or XML. It helps separate content (HTML) from design (CSS), making websites cleaner and easier to maintain.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54305" y="1543050"/>
          <a:ext cx="11883390" cy="2550160"/>
        </p:xfrm>
        <a:graphic>
          <a:graphicData uri="http://schemas.openxmlformats.org/drawingml/2006/table">
            <a:tbl>
              <a:tblPr/>
              <a:tblGrid>
                <a:gridCol w="2366010"/>
                <a:gridCol w="9517380"/>
              </a:tblGrid>
              <a:tr h="364490">
                <a:tc>
                  <a:txBody>
                    <a:bodyPr/>
                    <a:p>
                      <a:pPr algn="ctr"/>
                      <a:r>
                        <a:rPr sz="2400" b="1"/>
                        <a:t>Year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/>
                        <a:t>Event</a:t>
                      </a:r>
                      <a:endParaRPr sz="2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28345">
                <a:tc>
                  <a:txBody>
                    <a:bodyPr/>
                    <a:p>
                      <a:r>
                        <a:rPr sz="2000"/>
                        <a:t>1994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The idea of CSS was proposed by </a:t>
                      </a:r>
                      <a:r>
                        <a:rPr sz="2000" b="1">
                          <a:solidFill>
                            <a:srgbClr val="C00000"/>
                          </a:solidFill>
                        </a:rPr>
                        <a:t>Håkon Wium Lie</a:t>
                      </a:r>
                      <a:r>
                        <a:rPr sz="2000"/>
                        <a:t> while working at CERN (same place where the web was born).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p>
                      <a:r>
                        <a:rPr sz="2000"/>
                        <a:t>1996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CSS1 was officially released by the W3C (World Wide Web Consortium).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4490">
                <a:tc>
                  <a:txBody>
                    <a:bodyPr/>
                    <a:p>
                      <a:r>
                        <a:rPr sz="2000"/>
                        <a:t>1998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CSS2 was introduced with more features like absolute, relative, and fixed positioning.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728345">
                <a:tc>
                  <a:txBody>
                    <a:bodyPr/>
                    <a:p>
                      <a:r>
                        <a:rPr sz="2000"/>
                        <a:t>2011–present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CSS3 was released in modules, with new features like animations, transitions, flexbox, and grid. Continuous development still happens today.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205105" y="4671695"/>
            <a:ext cx="11884025" cy="169481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sz="2400" b="1"/>
              <a:t> Who Developed CSS?</a:t>
            </a:r>
            <a:endParaRPr sz="2400" b="1"/>
          </a:p>
          <a:p>
            <a:r>
              <a:t>CSS was developed by </a:t>
            </a:r>
            <a:r>
              <a:rPr b="1"/>
              <a:t>Håkon Wium Lie</a:t>
            </a:r>
            <a:r>
              <a:t> in collaboration with </a:t>
            </a:r>
            <a:r>
              <a:rPr b="1"/>
              <a:t>Bert Bos</a:t>
            </a:r>
            <a:r>
              <a:t> and standardized by the W3C (World Wide Web Consortium).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635" cy="68580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/>
              <a:t>Advantages of CSS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1800"/>
              <a:t>Separation of Content &amp; Design  Keeps HTML clean and readable.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Faster Page Load   Reduces repetition in code.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Easier Maintenance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One CSS file can control the style of multiple pages.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Responsive Design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CSS media queries help build mobile-friendly websites.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 b="1"/>
              <a:t>Reusability</a:t>
            </a:r>
            <a:endParaRPr lang="en-US" altLang="en-US" sz="1800" b="1"/>
          </a:p>
          <a:p>
            <a:pPr marL="0" indent="0">
              <a:buNone/>
            </a:pPr>
            <a:r>
              <a:rPr lang="en-US" altLang="en-US" sz="1800"/>
              <a:t>Styles can be reused across multiple elements and pages.    Better Accessibility &amp; Consistency   Design stays uniform across a website.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2000" b="1"/>
              <a:t>Uses of CSS</a:t>
            </a:r>
            <a:endParaRPr lang="en-US" altLang="en-US" sz="2000" b="1"/>
          </a:p>
          <a:p>
            <a:pPr marL="342900" indent="-342900">
              <a:buAutoNum type="arabicPeriod"/>
            </a:pPr>
            <a:r>
              <a:rPr lang="en-US" altLang="en-US" sz="1800"/>
              <a:t>Styling websites (colors, fonts, spacing, layout)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 Responsive design (adapts layout to device screen size)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Animations and transitions .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Themes and skins for web applications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Web components styling</a:t>
            </a:r>
            <a:endParaRPr lang="en-US" altLang="en-US" sz="1800"/>
          </a:p>
          <a:p>
            <a:pPr marL="342900" indent="-342900">
              <a:buAutoNum type="arabicPeriod"/>
            </a:pPr>
            <a:r>
              <a:rPr lang="en-US" altLang="en-US" sz="1800"/>
              <a:t>Used in frameworks like Bootstrap, Tailwind, etc. -&gt; 5</a:t>
            </a: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045" y="0"/>
            <a:ext cx="11979910" cy="387985"/>
          </a:xfrm>
        </p:spPr>
        <p:txBody>
          <a:bodyPr>
            <a:noAutofit/>
          </a:bodyPr>
          <a:p>
            <a:pPr algn="ctr"/>
            <a:r>
              <a:rPr lang="en-US" altLang="en-US" sz="2000" b="1">
                <a:solidFill>
                  <a:srgbClr val="FF0000"/>
                </a:solidFill>
              </a:rPr>
              <a:t>How Many Ways Can You Configure CSS in Web Development?</a:t>
            </a:r>
            <a:endParaRPr lang="en-US" alt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388620"/>
            <a:ext cx="11979275" cy="624967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sz="1800"/>
              <a:t>1. Inline CSS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Style added directly to HTML elements using the style attribute.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&lt;p style="color: red;"&gt;This is red text.&lt;/p&gt;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2. Internal CSS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Defined in the &lt;style&gt; tag inside the HTML &lt;head&gt;.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&lt;head&gt;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&lt;style&gt;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p { color: blue; }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&lt;/style&gt;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&lt;/head&gt;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3. External CSS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Linked via a separate .css file using the &lt;link&gt; tag.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&lt;head&gt;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&lt;link rel="stylesheet" href="styles.css"&gt;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&lt;/head&gt;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External CSS is the most preferred method for large-scale websites.</a:t>
            </a:r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35"/>
            <a:ext cx="12191365" cy="374015"/>
          </a:xfrm>
        </p:spPr>
        <p:txBody>
          <a:bodyPr>
            <a:noAutofit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CSS</a:t>
            </a:r>
            <a:endParaRPr 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44780" y="373380"/>
          <a:ext cx="11938000" cy="3058160"/>
        </p:xfrm>
        <a:graphic>
          <a:graphicData uri="http://schemas.openxmlformats.org/drawingml/2006/table">
            <a:tbl>
              <a:tblPr/>
              <a:tblGrid>
                <a:gridCol w="4000500"/>
                <a:gridCol w="7937500"/>
              </a:tblGrid>
              <a:tr h="38227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Feature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Description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2270">
                <a:tc>
                  <a:txBody>
                    <a:bodyPr/>
                    <a:p>
                      <a:r>
                        <a:rPr sz="1800"/>
                        <a:t>Full Form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Cascading Style Sheets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2270">
                <a:tc>
                  <a:txBody>
                    <a:bodyPr/>
                    <a:p>
                      <a:r>
                        <a:rPr sz="1800"/>
                        <a:t>Created By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Håkon Wium Lie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2270">
                <a:tc>
                  <a:txBody>
                    <a:bodyPr/>
                    <a:p>
                      <a:r>
                        <a:rPr sz="1800"/>
                        <a:t>First Released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1996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2270">
                <a:tc>
                  <a:txBody>
                    <a:bodyPr/>
                    <a:p>
                      <a:r>
                        <a:rPr sz="1800"/>
                        <a:t>Current Version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CSS3 (modular)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2270">
                <a:tc>
                  <a:txBody>
                    <a:bodyPr/>
                    <a:p>
                      <a:r>
                        <a:rPr sz="1800"/>
                        <a:t>Uses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Web styling, layouts, responsive design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2270">
                <a:tc>
                  <a:txBody>
                    <a:bodyPr/>
                    <a:p>
                      <a:r>
                        <a:rPr sz="1800"/>
                        <a:t>Config Methods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Inline, Internal, External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82270">
                <a:tc>
                  <a:txBody>
                    <a:bodyPr/>
                    <a:p>
                      <a:r>
                        <a:rPr sz="1800"/>
                        <a:t>Integration with JS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Dynamic styling, animations, themes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7630"/>
            <a:ext cx="12192635" cy="286385"/>
          </a:xfrm>
        </p:spPr>
        <p:txBody>
          <a:bodyPr>
            <a:normAutofit fontScale="90000"/>
          </a:bodyPr>
          <a:p>
            <a:pPr algn="ctr"/>
            <a:r>
              <a:rPr lang="en-US" altLang="en-US" sz="2400" b="1">
                <a:solidFill>
                  <a:srgbClr val="FF0000"/>
                </a:solidFill>
                <a:sym typeface="+mn-ea"/>
              </a:rPr>
              <a:t>What Are CSS Selectors?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650" y="374650"/>
            <a:ext cx="11965305" cy="5802630"/>
          </a:xfrm>
        </p:spPr>
        <p:txBody>
          <a:bodyPr/>
          <a:p>
            <a:r>
              <a:rPr lang="en-US" altLang="en-US" sz="2000"/>
              <a:t>CSS selectors define the pattern used to select the elements you want to style. Once selected, CSS rules (like color, size, font) are applied to those elements.</a:t>
            </a:r>
            <a:endParaRPr lang="en-US" altLang="en-US" sz="2000"/>
          </a:p>
          <a:p>
            <a:r>
              <a:rPr lang="en-US" altLang="en-US" sz="2000"/>
              <a:t>Basic Selectors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20650" y="1518920"/>
          <a:ext cx="11965940" cy="2198370"/>
        </p:xfrm>
        <a:graphic>
          <a:graphicData uri="http://schemas.openxmlformats.org/drawingml/2006/table">
            <a:tbl>
              <a:tblPr/>
              <a:tblGrid>
                <a:gridCol w="2009775"/>
                <a:gridCol w="1716405"/>
                <a:gridCol w="3328035"/>
                <a:gridCol w="4911725"/>
              </a:tblGrid>
              <a:tr h="366395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Selector Type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Syntax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Example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Meaning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6395">
                <a:tc>
                  <a:txBody>
                    <a:bodyPr/>
                    <a:p>
                      <a:r>
                        <a:rPr sz="2000"/>
                        <a:t>Universal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*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* { margin: 0; }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Targets all elements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6395">
                <a:tc>
                  <a:txBody>
                    <a:bodyPr/>
                    <a:p>
                      <a:r>
                        <a:rPr sz="2000"/>
                        <a:t>Element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tagname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p { color: blue; }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Targets all &lt;p&gt; tags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6395">
                <a:tc>
                  <a:txBody>
                    <a:bodyPr/>
                    <a:p>
                      <a:r>
                        <a:rPr sz="2000"/>
                        <a:t>Class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.classname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.box { border: 1px; }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Targets elements with class box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6395">
                <a:tc>
                  <a:txBody>
                    <a:bodyPr/>
                    <a:p>
                      <a:r>
                        <a:rPr sz="2000"/>
                        <a:t>ID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#idname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#header { height: 100px; }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Targets element with ID header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66395">
                <a:tc>
                  <a:txBody>
                    <a:bodyPr/>
                    <a:p>
                      <a:r>
                        <a:rPr sz="2000"/>
                        <a:t>Group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lang="en-US" sz="2000"/>
                        <a:t>p,h1</a:t>
                      </a:r>
                      <a:endParaRPr lang="en-US"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h1, h2 { color: red; }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2000"/>
                        <a:t>Targets multiple elements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120650" y="4372610"/>
          <a:ext cx="11965305" cy="2127250"/>
        </p:xfrm>
        <a:graphic>
          <a:graphicData uri="http://schemas.openxmlformats.org/drawingml/2006/table">
            <a:tbl>
              <a:tblPr/>
              <a:tblGrid>
                <a:gridCol w="3988435"/>
                <a:gridCol w="2669540"/>
                <a:gridCol w="5307330"/>
              </a:tblGrid>
              <a:tr h="425450">
                <a:tc>
                  <a:txBody>
                    <a:bodyPr/>
                    <a:p>
                      <a:r>
                        <a:rPr sz="2000"/>
                        <a:t>Selector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Example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Description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5450">
                <a:tc>
                  <a:txBody>
                    <a:bodyPr/>
                    <a:p>
                      <a:r>
                        <a:rPr sz="2000"/>
                        <a:t>Descendant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div p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Selects all &lt;p&gt; inside &lt;div&gt;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5450">
                <a:tc>
                  <a:txBody>
                    <a:bodyPr/>
                    <a:p>
                      <a:r>
                        <a:rPr sz="2000"/>
                        <a:t>Child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ul &gt; li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Selects direct children&lt;li&gt; of &lt;ul&gt;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5450">
                <a:tc>
                  <a:txBody>
                    <a:bodyPr/>
                    <a:p>
                      <a:r>
                        <a:rPr sz="2000"/>
                        <a:t>Adjacent Sibling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h1 + p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Selects &lt;p&gt; immediately after&lt;h1&gt;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5450">
                <a:tc>
                  <a:txBody>
                    <a:bodyPr/>
                    <a:p>
                      <a:r>
                        <a:rPr sz="2000"/>
                        <a:t>General Sibling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h1 ~ p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Selects all &lt;p&gt; siblings after &lt;h1&gt;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20650" y="3809365"/>
            <a:ext cx="11965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FF0000"/>
                </a:solidFill>
              </a:rPr>
              <a:t>Combinator Selector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465" y="0"/>
            <a:ext cx="10955020" cy="506095"/>
          </a:xfrm>
        </p:spPr>
        <p:txBody>
          <a:bodyPr>
            <a:noAutofit/>
          </a:bodyPr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Background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465" y="506095"/>
            <a:ext cx="12028170" cy="5949315"/>
          </a:xfrm>
        </p:spPr>
        <p:txBody>
          <a:bodyPr>
            <a:normAutofit/>
          </a:bodyPr>
          <a:p>
            <a:r>
              <a:rPr lang="en-US" altLang="en-US" sz="1800"/>
              <a:t>CSS background property is used to define the background effects on Html element. There are </a:t>
            </a:r>
            <a:endParaRPr lang="en-US" altLang="en-US" sz="1800"/>
          </a:p>
          <a:p>
            <a:r>
              <a:rPr lang="en-US" altLang="en-US" sz="1800"/>
              <a:t>5 CSS background properties that affect the Html elements.</a:t>
            </a:r>
            <a:endParaRPr lang="en-US" altLang="en-US" sz="1800"/>
          </a:p>
          <a:p>
            <a:endParaRPr lang="en-US" altLang="en-US" sz="1800"/>
          </a:p>
          <a:p>
            <a:pPr algn="l"/>
            <a:r>
              <a:rPr lang="en-US" altLang="en-US" sz="1800"/>
              <a:t> background-color</a:t>
            </a:r>
            <a:endParaRPr lang="en-US" altLang="en-US" sz="1800"/>
          </a:p>
          <a:p>
            <a:pPr algn="l"/>
            <a:r>
              <a:rPr lang="en-US" altLang="en-US" sz="1800"/>
              <a:t> background-image</a:t>
            </a:r>
            <a:endParaRPr lang="en-US" altLang="en-US" sz="1800"/>
          </a:p>
          <a:p>
            <a:pPr algn="l"/>
            <a:r>
              <a:rPr lang="en-US" altLang="en-US" sz="1800"/>
              <a:t> background-repeat  -&gt;repeat,No Repeat</a:t>
            </a:r>
            <a:endParaRPr lang="en-US" altLang="en-US" sz="1800"/>
          </a:p>
          <a:p>
            <a:pPr algn="l"/>
            <a:r>
              <a:rPr lang="en-US" altLang="en-US" sz="1800"/>
              <a:t>      background-attachment  -&gt; </a:t>
            </a:r>
            <a:r>
              <a:rPr lang="en-US" altLang="en-US" sz="1800">
                <a:sym typeface="+mn-ea"/>
              </a:rPr>
              <a:t>fixed ,scrolled,</a:t>
            </a:r>
            <a:endParaRPr lang="en-US" altLang="en-US" sz="1800"/>
          </a:p>
          <a:p>
            <a:pPr algn="l"/>
            <a:r>
              <a:rPr lang="en-US" altLang="en-US" sz="1800"/>
              <a:t> background-position -&gt; top , bottom, center, left ,</a:t>
            </a:r>
            <a:r>
              <a:rPr lang="en-US" altLang="en-US" sz="1800">
                <a:sym typeface="+mn-ea"/>
              </a:rPr>
              <a:t>right</a:t>
            </a:r>
            <a:endParaRPr lang="en-US" altLang="en-US" sz="1800"/>
          </a:p>
          <a:p>
            <a:pPr algn="l"/>
            <a:r>
              <a:rPr lang="en-US" altLang="en-US" sz="1800"/>
              <a:t>      background-size -&gt;cover,containts</a:t>
            </a:r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35940"/>
          </a:xfrm>
        </p:spPr>
        <p:txBody>
          <a:bodyPr/>
          <a:p>
            <a:r>
              <a:rPr lang="en-US" sz="2400" b="1">
                <a:solidFill>
                  <a:srgbClr val="C00000"/>
                </a:solidFill>
              </a:rPr>
              <a:t>Border</a:t>
            </a:r>
            <a:endParaRPr lang="en-US" sz="2400" b="1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4465" y="535940"/>
            <a:ext cx="11878310" cy="6183630"/>
          </a:xfrm>
        </p:spPr>
        <p:txBody>
          <a:bodyPr/>
          <a:p>
            <a:pPr marL="0" indent="0">
              <a:buNone/>
            </a:pPr>
            <a:r>
              <a:rPr lang="en-US" altLang="en-US" sz="2000">
                <a:solidFill>
                  <a:schemeClr val="tx2"/>
                </a:solidFill>
              </a:rPr>
              <a:t>The CSS border properties allow you to specify the style, size, and color of an Html element </a:t>
            </a:r>
            <a:endParaRPr lang="en-US" altLang="en-US" sz="20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2"/>
                </a:solidFill>
              </a:rPr>
              <a:t>border. Following CSS border properties are used for Html elements, </a:t>
            </a:r>
            <a:endParaRPr lang="en-US" altLang="en-US" sz="20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   border-style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 border-width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 border-color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 border-radius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border-block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border-inline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border-top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border-bottom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-------------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olidFill>
                  <a:srgbClr val="FF0000"/>
                </a:solidFill>
              </a:rPr>
              <a:t>border-left</a:t>
            </a:r>
            <a:endParaRPr lang="en-US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rgbClr val="FF0000"/>
                </a:solidFill>
              </a:rPr>
              <a:t>border-right</a:t>
            </a:r>
            <a:endParaRPr lang="en-US" altLang="en-US" sz="20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rgbClr val="FF0000"/>
                </a:solidFill>
              </a:rPr>
              <a:t>border-collapse</a:t>
            </a:r>
            <a:endParaRPr lang="en-US" altLang="en-US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105" y="0"/>
            <a:ext cx="11719560" cy="367030"/>
          </a:xfrm>
        </p:spPr>
        <p:txBody>
          <a:bodyPr>
            <a:noAutofit/>
          </a:bodyPr>
          <a:p>
            <a:pPr algn="ctr"/>
            <a:r>
              <a:rPr lang="en-US" altLang="en-US" sz="2400" b="1">
                <a:solidFill>
                  <a:srgbClr val="FF0000"/>
                </a:solidFill>
                <a:sym typeface="+mn-ea"/>
              </a:rPr>
              <a:t>CSS Font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367030"/>
            <a:ext cx="11898630" cy="607631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000"/>
              <a:t>CSS Font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CSS font is used for design text or font for display on web page. CSS font properties define the font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family, boldness, size, and the style of a text.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Font-style property: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Font styles are used for set font style. Font style property has three values they are; </a:t>
            </a:r>
            <a:endParaRPr lang="en-US" altLang="en-US" sz="2000"/>
          </a:p>
          <a:p>
            <a:r>
              <a:rPr lang="en-US" altLang="en-US" sz="2000"/>
              <a:t>      normal: The text is shown normally</a:t>
            </a:r>
            <a:endParaRPr lang="en-US" altLang="en-US" sz="2000"/>
          </a:p>
          <a:p>
            <a:r>
              <a:rPr lang="en-US" altLang="en-US" sz="2000"/>
              <a:t> italic: The text is shown in italics</a:t>
            </a:r>
            <a:endParaRPr lang="en-US" altLang="en-US" sz="2000"/>
          </a:p>
          <a:p>
            <a:r>
              <a:rPr lang="en-US" altLang="en-US" sz="2000"/>
              <a:t> oblique: The text is "leaning" (oblique is very similar to italic, but less supported)</a:t>
            </a: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935" y="0"/>
            <a:ext cx="10515600" cy="341630"/>
          </a:xfrm>
        </p:spPr>
        <p:txBody>
          <a:bodyPr>
            <a:normAutofit fontScale="90000"/>
          </a:bodyPr>
          <a:p>
            <a:r>
              <a:rPr lang="en-US" altLang="en-US" sz="2800" b="1">
                <a:solidFill>
                  <a:srgbClr val="FF0000"/>
                </a:solidFill>
                <a:sym typeface="+mn-ea"/>
              </a:rPr>
              <a:t>CSS Display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330" y="341630"/>
            <a:ext cx="11786870" cy="6287135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CSS display is the most important property of CSS which is used to display Html elements on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web page. Every Html element on the webpage is a rectangular box and the CSS display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property specifies the type of box used for an Html element.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CSS display values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Values Description</a:t>
            </a:r>
            <a:endParaRPr lang="en-US" altLang="en-US" sz="2000"/>
          </a:p>
          <a:p>
            <a:r>
              <a:rPr lang="en-US" altLang="en-US" sz="2000"/>
              <a:t>inline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It is used to displays an Html element in same line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(like &lt;span&gt;).</a:t>
            </a:r>
            <a:endParaRPr lang="en-US" altLang="en-US" sz="2000"/>
          </a:p>
          <a:p>
            <a:r>
              <a:rPr lang="en-US" altLang="en-US" sz="2000"/>
              <a:t>none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It is used to hide the Html element.</a:t>
            </a:r>
            <a:endParaRPr lang="en-US" altLang="en-US" sz="2000"/>
          </a:p>
          <a:p>
            <a:r>
              <a:rPr lang="en-US" altLang="en-US" sz="2000"/>
              <a:t>block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It is used to displays an element as a block element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(like &lt;p&gt;).</a:t>
            </a: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183515"/>
            <a:ext cx="12192635" cy="6541135"/>
          </a:xfrm>
        </p:spPr>
        <p:txBody>
          <a:bodyPr>
            <a:normAutofit fontScale="90000" lnSpcReduction="10000"/>
          </a:bodyPr>
          <a:p>
            <a:r>
              <a:rPr lang="en-US" altLang="en-US" sz="2400" b="1"/>
              <a:t>display:inline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/>
              <a:t>It is used to display an Html elements in same line without any line break. In below example three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paragraph display in same line.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 b="1"/>
              <a:t>display:none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/>
              <a:t>It is used for hide text on browser but it does not take any space. In below example we hide three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paragraph texts.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r>
              <a:rPr lang="en-US" altLang="en-US" sz="2400" b="1"/>
              <a:t>display:block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/>
              <a:t>It is used to displays an element as a block element. It displayselements same like &lt;p&gt; tag. In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below example we display text by using &lt;span&gt; tag. It take some space and also line break same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like paragraph.</a:t>
            </a:r>
            <a:endParaRPr lang="en-US" altLang="en-US" sz="2400"/>
          </a:p>
          <a:p>
            <a:pPr marL="0" indent="0">
              <a:buNone/>
            </a:pPr>
            <a:endParaRPr lang="en-US" altLang="en-US" sz="2400"/>
          </a:p>
          <a:p>
            <a:pPr marL="0" indent="0">
              <a:buNone/>
            </a:pPr>
            <a:r>
              <a:rPr lang="en-US" altLang="en-US" sz="2400" b="1"/>
              <a:t>display:inline-block</a:t>
            </a:r>
            <a:endParaRPr lang="en-US" altLang="en-US" sz="2400" b="1"/>
          </a:p>
          <a:p>
            <a:pPr marL="0" indent="0">
              <a:buNone/>
            </a:pPr>
            <a:r>
              <a:rPr lang="en-US" altLang="en-US" sz="2400"/>
              <a:t>It is used to displays an element as a block element. It display an elements same like &lt;p&gt; tag. In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below example we display text by using &lt;span&gt; tag. It take some space but it display all element </a:t>
            </a:r>
            <a:endParaRPr lang="en-US" altLang="en-US" sz="2400"/>
          </a:p>
          <a:p>
            <a:pPr marL="0" indent="0">
              <a:buNone/>
            </a:pPr>
            <a:r>
              <a:rPr lang="en-US" altLang="en-US" sz="2400"/>
              <a:t>in same line.</a:t>
            </a:r>
            <a:endParaRPr lang="en-US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" y="0"/>
            <a:ext cx="11636375" cy="514985"/>
          </a:xfrm>
        </p:spPr>
        <p:txBody>
          <a:bodyPr/>
          <a:p>
            <a:pPr algn="ctr"/>
            <a:r>
              <a:rPr lang="en-US" altLang="en-US" sz="2400" b="1">
                <a:solidFill>
                  <a:srgbClr val="FF0000"/>
                </a:solidFill>
                <a:sym typeface="+mn-ea"/>
              </a:rPr>
              <a:t>CSS Margin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45" y="388620"/>
            <a:ext cx="11814810" cy="6226810"/>
          </a:xfrm>
        </p:spPr>
        <p:txBody>
          <a:bodyPr/>
          <a:p>
            <a:r>
              <a:rPr lang="en-US" altLang="en-US" sz="1800"/>
              <a:t>margins are used for give sufficient space around an element (outside the border). The margin </a:t>
            </a:r>
            <a:endParaRPr lang="en-US" altLang="en-US" sz="1800"/>
          </a:p>
          <a:p>
            <a:r>
              <a:rPr lang="en-US" altLang="en-US" sz="1800"/>
              <a:t>does not have a background color, and it is completely transparent. Margin have four properties </a:t>
            </a:r>
            <a:endParaRPr lang="en-US" altLang="en-US" sz="1800"/>
          </a:p>
          <a:p>
            <a:r>
              <a:rPr lang="en-US" altLang="en-US" sz="1800"/>
              <a:t>which is given below;</a:t>
            </a:r>
            <a:endParaRPr lang="en-US" altLang="en-US" sz="1800"/>
          </a:p>
          <a:p>
            <a:endParaRPr lang="en-US" altLang="en-US" sz="1800"/>
          </a:p>
          <a:p>
            <a:r>
              <a:rPr lang="en-US" altLang="en-US" sz="1800"/>
              <a:t>&lt;p style="margin-top:150px;"&gt; Margin from top&lt;/p&gt;</a:t>
            </a:r>
            <a:endParaRPr lang="en-US" altLang="en-US" sz="1800"/>
          </a:p>
          <a:p>
            <a:r>
              <a:rPr lang="en-US" altLang="en-US" sz="1800"/>
              <a:t>&lt;p style="margin-bottom:100px;"&gt;Margin from bottom&lt;/p&gt;</a:t>
            </a:r>
            <a:endParaRPr lang="en-US" altLang="en-US" sz="1800"/>
          </a:p>
          <a:p>
            <a:r>
              <a:rPr lang="en-US" altLang="en-US" sz="1800"/>
              <a:t>&lt;p style="margin-right:50px;"&gt;Margin from right&lt;/p&gt;</a:t>
            </a:r>
            <a:endParaRPr lang="en-US" altLang="en-US" sz="1800"/>
          </a:p>
          <a:p>
            <a:r>
              <a:rPr lang="en-US" altLang="en-US" sz="1800"/>
              <a:t>&lt;p style="margin-left:50px;"&gt;Margin from left&lt;/p&gt;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margin-inline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margin-block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margin-inline-start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margin-inline-end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860" y="635"/>
            <a:ext cx="11788775" cy="363855"/>
          </a:xfrm>
        </p:spPr>
        <p:txBody>
          <a:bodyPr>
            <a:noAutofit/>
          </a:bodyPr>
          <a:p>
            <a:pPr algn="ctr"/>
            <a:r>
              <a:rPr lang="en-US" altLang="en-US" sz="2400" b="1">
                <a:solidFill>
                  <a:srgbClr val="FF0000"/>
                </a:solidFill>
                <a:sym typeface="+mn-ea"/>
              </a:rPr>
              <a:t>Font-Size property: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35" y="497840"/>
            <a:ext cx="11925300" cy="636016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We can define size of font in following way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With Em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With Percent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With Pixels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If you set the text size with pixels then you can gives full control over the text size.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Font size in Em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The em size unit is recommended by the W3C. 1em is equal to default text size in browsers (16px). 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The size convert pixels to em using this formula: pixels/16=em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Font size in percent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Text size work on all browsers, you can use default font-size in percent for the &lt;body&gt; element.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051030" cy="37719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Css position Property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60" y="511175"/>
            <a:ext cx="11964670" cy="6198870"/>
          </a:xfrm>
        </p:spPr>
        <p:txBody>
          <a:bodyPr/>
          <a:p>
            <a:r>
              <a:rPr lang="en-US" altLang="en-US" sz="1800"/>
              <a:t>position properties are used for set the position of Html elements. css position properties are </a:t>
            </a:r>
            <a:endParaRPr lang="en-US" altLang="en-US" sz="1800"/>
          </a:p>
          <a:p>
            <a:r>
              <a:rPr lang="en-US" altLang="en-US" sz="1800"/>
              <a:t>used for set the position of text, image for display on web page.</a:t>
            </a:r>
            <a:endParaRPr lang="en-US" altLang="en-US" sz="1800"/>
          </a:p>
          <a:p>
            <a:r>
              <a:rPr lang="en-US" altLang="en-US" sz="1800"/>
              <a:t>CSS have following position properties;  </a:t>
            </a:r>
            <a:endParaRPr lang="en-US" altLang="en-US" sz="1800"/>
          </a:p>
          <a:p>
            <a:r>
              <a:rPr lang="en-US" altLang="en-US" sz="1800"/>
              <a:t>      Fixed</a:t>
            </a:r>
            <a:endParaRPr lang="en-US" altLang="en-US" sz="1800"/>
          </a:p>
          <a:p>
            <a:r>
              <a:rPr lang="en-US" altLang="en-US" sz="1800"/>
              <a:t> Relative</a:t>
            </a:r>
            <a:endParaRPr lang="en-US" altLang="en-US" sz="1800"/>
          </a:p>
          <a:p>
            <a:r>
              <a:rPr lang="en-US" altLang="en-US" sz="1800"/>
              <a:t> Absolute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2000" b="1"/>
              <a:t>Fixed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1800"/>
              <a:t>These properties are used for fixed position of elements, when you scroll down any web page  that time these elements display on same position.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3782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Difference Between position and absolute property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10" y="433070"/>
            <a:ext cx="11998325" cy="64255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1600"/>
              <a:t>1. position: relative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It positions an element relative to its original place.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It does not remove the element from the document flow.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2. position: absolute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It positions the element relative to the nearest positioned ancestor (i.e., parent with position: relative, absolute, or fixed).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If there’s no positioned ancestor, it positions relative to the &lt;body&gt; (i.e., the entire page).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It removes the element from the normal flow, so it won’t take up space.</a:t>
            </a:r>
            <a:endParaRPr lang="en-US" altLang="en-US" sz="1600"/>
          </a:p>
          <a:p>
            <a:pPr marL="0" indent="0">
              <a:buNone/>
            </a:pP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&lt;div style="position: relative; top: 20px; left: 30px;"&gt;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I moved 20px down and 30px right from where I was.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&lt;/div&gt;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&lt;div style="position: absolute; top: 20px; left: 30px;"&gt;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  I'm absolutely positioned inside my parent.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  &lt;/div&gt;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&lt;/div&gt;</a:t>
            </a:r>
            <a:endParaRPr lang="en-US" altLang="en-US"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135" y="635"/>
            <a:ext cx="11035665" cy="431800"/>
          </a:xfrm>
        </p:spPr>
        <p:txBody>
          <a:bodyPr>
            <a:normAutofit fontScale="90000"/>
          </a:bodyPr>
          <a:p>
            <a:pPr algn="ctr"/>
            <a:r>
              <a:rPr lang="en-US" altLang="en-US" sz="2400" b="1">
                <a:solidFill>
                  <a:srgbClr val="FF0000"/>
                </a:solidFill>
                <a:sym typeface="+mn-ea"/>
              </a:rPr>
              <a:t>CSS Overflow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432435"/>
            <a:ext cx="11924665" cy="6295390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CSS overflow property used to handle the content when it overflows its block level container.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Why need of Overflow?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Suppose if you do not set the height and width of any box then it goes larger as content, but if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you do not set height or width of box but content cannot fit inside box then it goes overflow. The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CSS overflow property is used to overcome this problem.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Overflow property values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Values Description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visible </a:t>
            </a:r>
            <a:r>
              <a:rPr lang="en-US" altLang="en-US" sz="2000"/>
              <a:t>It specifies that overflow is not clipped. It renders outside the element's box. This is a  default value.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hidden </a:t>
            </a:r>
            <a:r>
              <a:rPr lang="en-US" altLang="en-US" sz="2000"/>
              <a:t>It specifies that the overflow is clipped, and rest of the content will be invisible.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>
                <a:sym typeface="+mn-ea"/>
              </a:rPr>
              <a:t>scroll  </a:t>
            </a:r>
            <a:r>
              <a:rPr lang="en-US" altLang="en-US" sz="2000"/>
              <a:t>It specifies that the overflow is clipped, and a scroll bar is used to see the rest of the  content.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auto </a:t>
            </a:r>
            <a:r>
              <a:rPr lang="en-US" altLang="en-US" sz="2000"/>
              <a:t>It specifies that if overflow is clipped, a scroll bar is needed to see the rest of the  auto content</a:t>
            </a:r>
            <a:endParaRPr lang="en-US" altLang="en-US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135" y="0"/>
            <a:ext cx="11874500" cy="259715"/>
          </a:xfrm>
        </p:spPr>
        <p:txBody>
          <a:bodyPr>
            <a:noAutofit/>
          </a:bodyPr>
          <a:p>
            <a:pPr algn="ctr"/>
            <a:r>
              <a:rPr lang="en-US" altLang="en-US" sz="2400" b="1">
                <a:solidFill>
                  <a:srgbClr val="FF0000"/>
                </a:solidFill>
                <a:sym typeface="+mn-ea"/>
              </a:rPr>
              <a:t>CSS Float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" y="259715"/>
            <a:ext cx="12106910" cy="6486525"/>
          </a:xfrm>
        </p:spPr>
        <p:txBody>
          <a:bodyPr/>
          <a:p>
            <a:pPr marL="0" indent="0">
              <a:buNone/>
            </a:pPr>
            <a:r>
              <a:rPr lang="en-US" altLang="en-US" sz="1600"/>
              <a:t>The CSS float property is a positioning property. It is used to push an element to the left or right,  allowing other element to wrap around it. It is generally used with images and layouts.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How it works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Elements are floated only horizontally. So it is possible only to float elements left or right, not up  or down.  A floated element may be moved as far to the left or the right as possible. Simply, it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means that a floated element can display at extreme left or extreme right.  The elements after the floating element will flow around it.  The elements before the floating element will not be affected.  If the image floated to the right, the texts flow around it, to the left and if the image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floated to the left, the text flows around it, to the right.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CSS Float Properties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Property Description Values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clear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/>
              <a:t>The clear property is used to avoid elements after the 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/>
              <a:t>floating elements which flow around it.</a:t>
            </a:r>
            <a:endParaRPr lang="en-US" altLang="en-US" sz="1600"/>
          </a:p>
          <a:p>
            <a:pPr marL="342900" indent="-342900">
              <a:buAutoNum type="arabicPeriod"/>
            </a:pPr>
            <a:r>
              <a:rPr lang="en-US" altLang="en-US" sz="1600"/>
              <a:t>left, right, both, </a:t>
            </a:r>
            <a:endParaRPr lang="en-US" altLang="en-US" sz="1600"/>
          </a:p>
          <a:p>
            <a:pPr marL="342900" indent="-342900">
              <a:buAutoNum type="arabicPeriod"/>
            </a:pPr>
            <a:r>
              <a:rPr lang="en-US" altLang="en-US" sz="1600"/>
              <a:t>none, inherit</a:t>
            </a:r>
            <a:endParaRPr lang="en-US" altLang="en-US" sz="1600"/>
          </a:p>
          <a:p>
            <a:pPr marL="0" indent="0">
              <a:buNone/>
            </a:pPr>
            <a:r>
              <a:rPr lang="en-US" altLang="en-US" sz="1600" b="1"/>
              <a:t>float</a:t>
            </a:r>
            <a:endParaRPr lang="en-US" altLang="en-US" sz="1600" b="1"/>
          </a:p>
          <a:p>
            <a:pPr marL="0" indent="0">
              <a:buNone/>
            </a:pPr>
            <a:r>
              <a:rPr lang="en-US" altLang="en-US" sz="1600"/>
              <a:t> It specifies whether the box should float or not.</a:t>
            </a:r>
            <a:endParaRPr lang="en-US" altLang="en-US" sz="1600"/>
          </a:p>
          <a:p>
            <a:pPr marL="342900" indent="-342900">
              <a:buAutoNum type="arabicPeriod"/>
            </a:pPr>
            <a:r>
              <a:rPr lang="en-US" altLang="en-US" sz="1600"/>
              <a:t>left, right, none, </a:t>
            </a:r>
            <a:endParaRPr lang="en-US" altLang="en-US" sz="1600"/>
          </a:p>
          <a:p>
            <a:pPr marL="342900" indent="-342900">
              <a:buAutoNum type="arabicPeriod"/>
            </a:pPr>
            <a:r>
              <a:rPr lang="en-US" altLang="en-US" sz="1600"/>
              <a:t>inherit</a:t>
            </a:r>
            <a:endParaRPr lang="en-US" altLang="en-US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99745"/>
          </a:xfrm>
        </p:spPr>
        <p:txBody>
          <a:bodyPr>
            <a:normAutofit fontScale="90000"/>
          </a:bodyPr>
          <a:p>
            <a:r>
              <a:rPr lang="en-US" altLang="en-US" sz="2800" b="1">
                <a:solidFill>
                  <a:srgbClr val="FF0000"/>
                </a:solidFill>
                <a:sym typeface="+mn-ea"/>
              </a:rPr>
              <a:t>CSS Opacity</a:t>
            </a:r>
            <a:endParaRPr lang="en-US" altLang="en-US" sz="28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945" y="499745"/>
            <a:ext cx="10515600" cy="4351338"/>
          </a:xfrm>
        </p:spPr>
        <p:txBody>
          <a:bodyPr/>
          <a:p>
            <a:r>
              <a:rPr lang="en-US" altLang="en-US" sz="2000"/>
              <a:t>In CSS we can easily create transparent images very easily by using Opacity.The CSS </a:t>
            </a:r>
            <a:endParaRPr lang="en-US" altLang="en-US" sz="2000"/>
          </a:p>
          <a:p>
            <a:r>
              <a:rPr lang="en-US" altLang="en-US" sz="2000"/>
              <a:t>Opacity property is used to specify the transparency of any Html element. In simple word, you </a:t>
            </a:r>
            <a:endParaRPr lang="en-US" altLang="en-US" sz="2000"/>
          </a:p>
          <a:p>
            <a:r>
              <a:rPr lang="en-US" altLang="en-US" sz="2000"/>
              <a:t>can say that it specifies the clarity of the image.</a:t>
            </a:r>
            <a:endParaRPr lang="en-US" altLang="en-US" sz="2000"/>
          </a:p>
          <a:p>
            <a:r>
              <a:rPr lang="en-US" altLang="en-US" sz="2000"/>
              <a:t>Opacity value should be range 0 to 1 only.</a:t>
            </a:r>
            <a:endParaRPr lang="en-US" altLang="en-US" sz="2000"/>
          </a:p>
          <a:p>
            <a:r>
              <a:rPr lang="en-US" altLang="en-US" sz="2000"/>
              <a:t>0.0      0.9   1</a:t>
            </a:r>
            <a:endParaRPr lang="en-US" altLang="en-US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445135"/>
          </a:xfrm>
        </p:spPr>
        <p:txBody>
          <a:bodyPr/>
          <a:p>
            <a:r>
              <a:rPr lang="en-US" altLang="en-US" sz="2000" b="1">
                <a:solidFill>
                  <a:srgbClr val="FF0000"/>
                </a:solidFill>
                <a:sym typeface="+mn-ea"/>
              </a:rPr>
              <a:t>CSS Padding Property</a:t>
            </a:r>
            <a:endParaRPr lang="en-US" altLang="en-US" sz="20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30" y="445135"/>
            <a:ext cx="12078335" cy="6281420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The padding clears an area around the content (inside the border) of an element. The padding is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affected by the background color of the element. Padding have four properties which is given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below;  </a:t>
            </a:r>
            <a:endParaRPr lang="en-US" altLang="en-US" sz="2000"/>
          </a:p>
          <a:p>
            <a:pPr algn="l"/>
            <a:r>
              <a:rPr lang="en-US" altLang="en-US" sz="2000"/>
              <a:t>top</a:t>
            </a:r>
            <a:endParaRPr lang="en-US" altLang="en-US" sz="2000"/>
          </a:p>
          <a:p>
            <a:pPr algn="l"/>
            <a:r>
              <a:rPr lang="en-US" altLang="en-US" sz="2000"/>
              <a:t>bottom</a:t>
            </a:r>
            <a:endParaRPr lang="en-US" altLang="en-US" sz="2000"/>
          </a:p>
          <a:p>
            <a:pPr algn="l"/>
            <a:r>
              <a:rPr lang="en-US" altLang="en-US" sz="2000"/>
              <a:t>left</a:t>
            </a:r>
            <a:endParaRPr lang="en-US" altLang="en-US" sz="2000"/>
          </a:p>
          <a:p>
            <a:pPr algn="l"/>
            <a:r>
              <a:rPr lang="en-US" altLang="en-US" sz="2000"/>
              <a:t>Right</a:t>
            </a:r>
            <a:endParaRPr lang="en-US" alt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435" y="0"/>
            <a:ext cx="11732260" cy="438150"/>
          </a:xfrm>
        </p:spPr>
        <p:txBody>
          <a:bodyPr/>
          <a:p>
            <a:pPr algn="ctr"/>
            <a:r>
              <a:rPr lang="en-US" sz="2000" b="1">
                <a:solidFill>
                  <a:srgbClr val="FF0000"/>
                </a:solidFill>
              </a:rPr>
              <a:t>Font Size Property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438150"/>
            <a:ext cx="11924030" cy="6322060"/>
          </a:xfrm>
        </p:spPr>
        <p:txBody>
          <a:bodyPr/>
          <a:p>
            <a:pPr marL="0" indent="0">
              <a:buNone/>
            </a:pPr>
            <a:r>
              <a:rPr lang="en-US" altLang="en-US" sz="1800"/>
              <a:t>We can define size of font in following way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With Em    With Percent   With Pixels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If you set the text size with pixels then you can gives full control over the text size.</a:t>
            </a:r>
            <a:endParaRPr lang="en-US" altLang="en-US" sz="18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14300" y="1718945"/>
          <a:ext cx="11687175" cy="5040630"/>
        </p:xfrm>
        <a:graphic>
          <a:graphicData uri="http://schemas.openxmlformats.org/drawingml/2006/table">
            <a:tbl>
              <a:tblPr/>
              <a:tblGrid>
                <a:gridCol w="1098550"/>
                <a:gridCol w="1576070"/>
                <a:gridCol w="2919730"/>
                <a:gridCol w="1733550"/>
                <a:gridCol w="4359275"/>
              </a:tblGrid>
              <a:tr h="335915">
                <a:tc>
                  <a:txBody>
                    <a:bodyPr/>
                    <a:p>
                      <a:pPr algn="ctr"/>
                      <a:r>
                        <a:rPr sz="1800" b="1"/>
                        <a:t>Unit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Type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Based 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Example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Common Use Case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6550">
                <a:tc>
                  <a:txBody>
                    <a:bodyPr/>
                    <a:p>
                      <a:r>
                        <a:rPr sz="1600"/>
                        <a:t>px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Absolute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Screen pixels (1/96 inch)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width: 100px;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Precise spacing, borders, icons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6550">
                <a:tc>
                  <a:txBody>
                    <a:bodyPr/>
                    <a:p>
                      <a:r>
                        <a:rPr sz="1600"/>
                        <a:t>cm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Absolute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Centimeters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width: 10cm;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Print styles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4010">
                <a:tc>
                  <a:txBody>
                    <a:bodyPr/>
                    <a:p>
                      <a:r>
                        <a:rPr sz="1600"/>
                        <a:t>mm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Absolute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Millimeters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width: 50mm;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Print styles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6550">
                <a:tc>
                  <a:txBody>
                    <a:bodyPr/>
                    <a:p>
                      <a:r>
                        <a:rPr sz="1600"/>
                        <a:t>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Absolute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Inches (1in = 96px)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width: 1in;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Print styles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5915">
                <a:tc>
                  <a:txBody>
                    <a:bodyPr/>
                    <a:p>
                      <a:r>
                        <a:rPr sz="1600"/>
                        <a:t>pt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Absolute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Points (1pt = 1/72 in ≈ 1.33px)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font-size: 12pt;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Print/typography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7185">
                <a:tc>
                  <a:txBody>
                    <a:bodyPr/>
                    <a:p>
                      <a:r>
                        <a:rPr sz="1600"/>
                        <a:t>pc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Absolute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Picas (1pc = 12pt = 16px)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font-size: 1pc;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Print/typography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r>
                        <a:rPr sz="1600"/>
                        <a:t>%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Relative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Parent element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width: 50%;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Fluid layouts, font scaling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73100">
                <a:tc>
                  <a:txBody>
                    <a:bodyPr/>
                    <a:p>
                      <a:r>
                        <a:rPr sz="1600"/>
                        <a:t>em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Relative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Current element’s font size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padding: 2em;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Typography spacing, scalable elements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34645">
                <a:tc>
                  <a:txBody>
                    <a:bodyPr/>
                    <a:p>
                      <a:r>
                        <a:rPr sz="1600"/>
                        <a:t>rem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Relative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Root (html) font size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font-size: 1.5rem;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Consistent global scaling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35915">
                <a:tc>
                  <a:txBody>
                    <a:bodyPr/>
                    <a:p>
                      <a:r>
                        <a:rPr sz="1600"/>
                        <a:t>vh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Relative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1% of viewport height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height: 100vh;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Full-screen sections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36550">
                <a:tc>
                  <a:txBody>
                    <a:bodyPr/>
                    <a:p>
                      <a:r>
                        <a:rPr sz="1600"/>
                        <a:t>vw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Relative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1% of viewport width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width: 100vw;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Responsive widths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36550">
                <a:tc>
                  <a:txBody>
                    <a:bodyPr/>
                    <a:p>
                      <a:r>
                        <a:rPr sz="1600"/>
                        <a:t>vmin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Relative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1% of smaller viewport dimension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font-size: 5vmin;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Responsive typography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35915">
                <a:tc>
                  <a:txBody>
                    <a:bodyPr/>
                    <a:p>
                      <a:r>
                        <a:rPr sz="1600"/>
                        <a:t>vmax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Relative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1% of larger viewport dimension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margin: 2vmax;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Responsive margins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37185"/>
          </a:xfrm>
        </p:spPr>
        <p:txBody>
          <a:bodyPr>
            <a:noAutofit/>
          </a:bodyPr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CSS TextStyles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30" y="419100"/>
            <a:ext cx="11924665" cy="6309360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CSS text styles are used specify space between letters, words, lines etc…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Letter-spacing This property specifies gap between letters.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Word-spacing This property specifies gap between words.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Line-height This property specifies height of line of text.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Text-decoration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This property specifies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underline/overline/strikeout/overline/line-through/none.  Default value is none.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Text-transform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This property specifies case of text.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Those are uppercase / lowercase / capitalize / none. Default value is none.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Text-align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Used to specify alignment of text. Alignments are left / right /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center / justify. Default is left.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73710"/>
          </a:xfrm>
        </p:spPr>
        <p:txBody>
          <a:bodyPr/>
          <a:p>
            <a:r>
              <a:rPr lang="en-US" altLang="en-US" sz="2400" b="1">
                <a:solidFill>
                  <a:srgbClr val="FF0000"/>
                </a:solidFill>
                <a:sym typeface="+mn-ea"/>
              </a:rPr>
              <a:t>CSS Word Wrap</a:t>
            </a:r>
            <a:endParaRPr lang="en-US" alt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280" y="388620"/>
            <a:ext cx="11884025" cy="6296025"/>
          </a:xfrm>
        </p:spPr>
        <p:txBody>
          <a:bodyPr/>
          <a:p>
            <a:pPr marL="0" indent="0">
              <a:buNone/>
            </a:pPr>
            <a:r>
              <a:rPr lang="en-US" altLang="en-US" sz="2000"/>
              <a:t>CSS Word Wrap properties are used for breaks the long words and wrap onto the next line. The main use of these properties is to prevent overflow when a long string unable to fit into containing box.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word wrap values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normal</a:t>
            </a:r>
            <a:r>
              <a:rPr lang="en-US" altLang="en-US" sz="2000"/>
              <a:t> This property is used to break words only at allowed break points.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break-word</a:t>
            </a:r>
            <a:r>
              <a:rPr lang="en-US" altLang="en-US" sz="2000"/>
              <a:t> It is used to break unbreakable words.</a:t>
            </a:r>
            <a:endParaRPr lang="en-US" altLang="en-US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855" y="92075"/>
            <a:ext cx="11116945" cy="448945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</a:rPr>
              <a:t>CSS Transition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" y="541020"/>
            <a:ext cx="11980545" cy="435165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000"/>
              <a:t>CSS Transitions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Normally when the value of a CSS property changes, the rendered result is instantly updated, with the affected elements immediately changing from the old property value to the new property value. This section describes a way to specify transitions using new CSS properties. These properties are used to animate smoothly from the old state to the new state over time.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You need to specify two things for create CSS transition. 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The CSS property on which you want to add an effect. 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The time duration of the effect.</a:t>
            </a:r>
            <a:endParaRPr lang="en-US" altLang="en-US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335" y="0"/>
            <a:ext cx="11870690" cy="66236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/>
              <a:t>Property Description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transition</a:t>
            </a:r>
            <a:endParaRPr lang="en-US" altLang="en-US" sz="2000" b="1"/>
          </a:p>
          <a:p>
            <a:pPr marL="0" indent="0">
              <a:buNone/>
            </a:pPr>
            <a:r>
              <a:rPr lang="en-US" altLang="en-US" sz="2000"/>
              <a:t>A shorthand property for setting the four  transition properties into a single property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transition-delay</a:t>
            </a:r>
            <a:r>
              <a:rPr lang="en-US" altLang="en-US" sz="2000"/>
              <a:t> Specifies when the transition effect will start.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transition-duration  </a:t>
            </a:r>
            <a:r>
              <a:rPr lang="en-US" altLang="en-US" sz="2000"/>
              <a:t>Specifies how many seconds or milliseconds a transition effect takes to complete transition-property Specifies the name of the CSS property the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transition effect is for.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 b="1"/>
              <a:t>transition-timing</a:t>
            </a:r>
            <a:r>
              <a:rPr lang="en-US" altLang="en-US" sz="2000"/>
              <a:t>_x0002_function Specifies the speed curve of the transition  effect. 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ease specifies a transition effect with a slow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start, then fast, then end slowly (this is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default)  linear specifies a transition effect with the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same speed from start to end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 ease-in specifies a transition effect with a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slow start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 ease-out specifies a transition effect with a 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slow end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 ease-in-out specifies a transition effect with a</a:t>
            </a:r>
            <a:endParaRPr lang="en-US" altLang="en-US"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635" y="347980"/>
            <a:ext cx="11937365" cy="6294120"/>
          </a:xfrm>
        </p:spPr>
        <p:txBody>
          <a:bodyPr>
            <a:normAutofit fontScale="70000"/>
          </a:bodyPr>
          <a:p>
            <a:r>
              <a:rPr lang="en-US" altLang="en-US"/>
              <a:t>transition: width 2s;</a:t>
            </a:r>
            <a:endParaRPr lang="en-US" altLang="en-US"/>
          </a:p>
          <a:p>
            <a:r>
              <a:rPr lang="en-US" altLang="en-US"/>
              <a:t>transition: height 2s;</a:t>
            </a:r>
            <a:endParaRPr lang="en-US" altLang="en-US"/>
          </a:p>
          <a:p>
            <a:r>
              <a:rPr lang="en-US" altLang="en-US"/>
              <a:t>transition: background-color 2s, font-size 2s, width 2s;</a:t>
            </a:r>
            <a:endParaRPr lang="en-US" altLang="en-US"/>
          </a:p>
          <a:p>
            <a:r>
              <a:rPr lang="en-US" altLang="en-US" b="1"/>
              <a:t>CSS Transforms</a:t>
            </a:r>
            <a:endParaRPr lang="en-US" altLang="en-US" b="1"/>
          </a:p>
          <a:p>
            <a:r>
              <a:rPr lang="en-US" altLang="en-US"/>
              <a:t>Transforms are used to display the element in a different visual dimension.</a:t>
            </a:r>
            <a:endParaRPr lang="en-US" altLang="en-US"/>
          </a:p>
          <a:p>
            <a:r>
              <a:rPr lang="en-US" altLang="en-US"/>
              <a:t>Types of Transforms:</a:t>
            </a:r>
            <a:endParaRPr lang="en-US" altLang="en-US"/>
          </a:p>
          <a:p>
            <a:r>
              <a:rPr lang="en-US" altLang="en-US"/>
              <a:t> matrix(1, 2, 3, 4, 5, 6…);</a:t>
            </a:r>
            <a:endParaRPr lang="en-US" altLang="en-US"/>
          </a:p>
          <a:p>
            <a:r>
              <a:rPr lang="en-US" altLang="en-US"/>
              <a:t> translate(x, y) translateX(x) translateY(y) </a:t>
            </a:r>
            <a:endParaRPr lang="en-US" altLang="en-US"/>
          </a:p>
          <a:p>
            <a:r>
              <a:rPr lang="en-US" altLang="en-US"/>
              <a:t>translateZ(z)</a:t>
            </a:r>
            <a:endParaRPr lang="en-US" altLang="en-US"/>
          </a:p>
          <a:p>
            <a:r>
              <a:rPr lang="en-US" altLang="en-US"/>
              <a:t> scale(1,1); scaleX(x) scaleY(y) scaleZ(z)</a:t>
            </a:r>
            <a:endParaRPr lang="en-US" altLang="en-US"/>
          </a:p>
          <a:p>
            <a:r>
              <a:rPr lang="en-US" altLang="en-US"/>
              <a:t> rotate(+-deg) rotateX(x-deg) rotateY(y-deg)</a:t>
            </a:r>
            <a:endParaRPr lang="en-US" altLang="en-US"/>
          </a:p>
          <a:p>
            <a:r>
              <a:rPr lang="en-US" altLang="en-US"/>
              <a:t>rotateZ(z-deg)</a:t>
            </a:r>
            <a:endParaRPr lang="en-US" altLang="en-US"/>
          </a:p>
          <a:p>
            <a:r>
              <a:rPr lang="en-US" altLang="en-US"/>
              <a:t> skew(Xdeg, Ydeg) skewX(Xdeg) skewY(Ydeg)</a:t>
            </a:r>
            <a:endParaRPr lang="en-US" altLang="en-US"/>
          </a:p>
          <a:p>
            <a:r>
              <a:rPr lang="en-US" altLang="en-US"/>
              <a:t>transition </a:t>
            </a:r>
            <a:endParaRPr lang="en-US" altLang="en-US"/>
          </a:p>
          <a:p>
            <a:r>
              <a:rPr lang="en-US" altLang="en-US"/>
              <a:t> scale(0.5) translate(-100%, -100%);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975" y="0"/>
            <a:ext cx="11884025" cy="6650355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sz="2000"/>
              <a:t>CSS Media Queries allow you to apply different styles depending on the characteristics of the user's device, such as: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@media (condition) {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 /* CSS rules */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Screen size (width/height)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Device type (screen, print, etc.)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Orientation (portrait/landscape)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Resolution (DPI/PPI)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Important Notes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Responsive Design Backbone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Media queries are essential for making websites mobile-friendly and responsive.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Breakpoints are key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Breakpoints are specific screen widths where the layout adjusts. Common breakpoints: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&lt;= 576px — Mobile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&gt; 576px and &lt;= 768px — Tablet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&gt; 768px and &lt;= 992px — Small desktop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&gt; 992px — Large screens</a:t>
            </a:r>
            <a:endParaRPr lang="en-US" altLang="en-US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00" y="635"/>
            <a:ext cx="11226800" cy="418465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mediaquery Property</a:t>
            </a:r>
            <a:endParaRPr 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35" y="419100"/>
          <a:ext cx="12190730" cy="6258560"/>
        </p:xfrm>
        <a:graphic>
          <a:graphicData uri="http://schemas.openxmlformats.org/drawingml/2006/table">
            <a:tbl>
              <a:tblPr/>
              <a:tblGrid>
                <a:gridCol w="1573530"/>
                <a:gridCol w="2567940"/>
                <a:gridCol w="1622425"/>
                <a:gridCol w="3961130"/>
                <a:gridCol w="2465705"/>
              </a:tblGrid>
              <a:tr h="462280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Device Type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Device Example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Screen Width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Media Query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Bandwidth (Typical)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3120">
                <a:tc>
                  <a:txBody>
                    <a:bodyPr/>
                    <a:p>
                      <a:r>
                        <a:rPr sz="1800"/>
                        <a:t>Small Mobile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iPhone SE, older Android phones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≤ 480px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@media (max-width: 480px)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Low (2G/3G), Reduced data mode often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1850">
                <a:tc>
                  <a:txBody>
                    <a:bodyPr/>
                    <a:p>
                      <a:r>
                        <a:rPr sz="1800"/>
                        <a:t>Mobile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iPhone 14, Android phones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481px – 767px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@media (min-width: 481px) and (max-width: 767px)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Medium (3G/4G), Data-aware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2485">
                <a:tc>
                  <a:txBody>
                    <a:bodyPr/>
                    <a:p>
                      <a:r>
                        <a:rPr sz="1800"/>
                        <a:t>Tablet (Portrait)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iPad Mini, Galaxy Tab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768px – 1023px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@media (min-width: 768px) and (max-width: 1023px)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Medium to High (4G/Wi-Fi)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3120">
                <a:tc>
                  <a:txBody>
                    <a:bodyPr/>
                    <a:p>
                      <a:r>
                        <a:rPr sz="1800"/>
                        <a:t>Tablet (Landscape)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iPad Pro (landscape)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1024px – 1279px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@media (min-width: 1024px) and (max-width: 1279px)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High (4G/Wi-Fi)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1850">
                <a:tc>
                  <a:txBody>
                    <a:bodyPr/>
                    <a:p>
                      <a:r>
                        <a:rPr sz="1800"/>
                        <a:t>Laptop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MacBook Air, Dell XPS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1280px – 1439px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@media (min-width: 1280px) and (max-width: 1439px)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High (Wi-Fi/Fiber)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33120">
                <a:tc>
                  <a:txBody>
                    <a:bodyPr/>
                    <a:p>
                      <a:r>
                        <a:rPr sz="1800"/>
                        <a:t>Desktop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1080p Monitors, Office PCs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1440px – 1919px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@media (min-width: 1440px) and (max-width: 1919px)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Very High (Fiber/5G)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800735">
                <a:tc>
                  <a:txBody>
                    <a:bodyPr/>
                    <a:p>
                      <a:r>
                        <a:rPr sz="1800"/>
                        <a:t>Large Screens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4K TVs, iMac 5K, Projectors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≥ 1920px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@media (min-width: 1920px)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800"/>
                        <a:t>Very High (Gigabit/Fiber)</a:t>
                      </a:r>
                      <a:endParaRPr sz="1800"/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44577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css Transition Transform And Translate Property 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" y="691515"/>
            <a:ext cx="11802110" cy="5485765"/>
          </a:xfrm>
        </p:spPr>
        <p:txBody>
          <a:bodyPr/>
          <a:p>
            <a:r>
              <a:rPr lang="en-US" altLang="en-US" sz="2000"/>
              <a:t>The transition property in CSS allows you to smoothly animate changes to one or more CSS properties over a specific duration.</a:t>
            </a:r>
            <a:endParaRPr lang="en-US" altLang="en-US" sz="2000"/>
          </a:p>
          <a:p>
            <a:r>
              <a:rPr lang="en-US" altLang="en-US" sz="2000"/>
              <a:t>"When something changes on my element, don’t just snap to the new style—ease into it."</a:t>
            </a:r>
            <a:endParaRPr lang="en-US" altLang="en-US" sz="2000"/>
          </a:p>
          <a:p>
            <a:r>
              <a:rPr lang="en-US" altLang="en-US" sz="2000"/>
              <a:t>Definition: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translate is a function used inside the transform property to move (translate) an element along the X, Y (and optionally Z) axes.</a:t>
            </a:r>
            <a:endParaRPr lang="en-US" altLang="en-US" sz="2000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13030" y="3429000"/>
          <a:ext cx="11803380" cy="1628140"/>
        </p:xfrm>
        <a:graphic>
          <a:graphicData uri="http://schemas.openxmlformats.org/drawingml/2006/table">
            <a:tbl>
              <a:tblPr/>
              <a:tblGrid>
                <a:gridCol w="5901690"/>
                <a:gridCol w="5901690"/>
              </a:tblGrid>
              <a:tr h="407035"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Property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>
                          <a:solidFill>
                            <a:srgbClr val="FF0000"/>
                          </a:solidFill>
                        </a:rPr>
                        <a:t>What It Does</a:t>
                      </a:r>
                      <a:endParaRPr sz="20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035">
                <a:tc>
                  <a:txBody>
                    <a:bodyPr/>
                    <a:p>
                      <a:r>
                        <a:rPr sz="1800"/>
                        <a:t>transition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Animates changes in specified CSS properties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035">
                <a:tc>
                  <a:txBody>
                    <a:bodyPr/>
                    <a:p>
                      <a:r>
                        <a:rPr sz="1800"/>
                        <a:t>transform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Applies 2D/3D transformations like scale, rotate, etc.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7035">
                <a:tc>
                  <a:txBody>
                    <a:bodyPr/>
                    <a:p>
                      <a:r>
                        <a:rPr sz="1800"/>
                        <a:t>translate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Moves the element along the X/Y/Z axes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0" y="113665"/>
            <a:ext cx="6095365" cy="6657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b="1">
                <a:solidFill>
                  <a:srgbClr val="FF0000"/>
                </a:solidFill>
              </a:rPr>
              <a:t>CSS Transforms</a:t>
            </a:r>
            <a:endParaRPr lang="en-US" altLang="en-US" b="1">
              <a:solidFill>
                <a:srgbClr val="FF0000"/>
              </a:solidFill>
            </a:endParaRPr>
          </a:p>
          <a:p>
            <a:r>
              <a:rPr lang="en-US" altLang="en-US"/>
              <a:t>Transforms are used to display the element in a different visual dimension.</a:t>
            </a:r>
            <a:endParaRPr lang="en-US" altLang="en-US"/>
          </a:p>
          <a:p>
            <a:r>
              <a:rPr lang="en-US" altLang="en-US"/>
              <a:t>Types of Transforms:</a:t>
            </a:r>
            <a:endParaRPr lang="en-US" altLang="en-US"/>
          </a:p>
          <a:p>
            <a:r>
              <a:rPr lang="en-US" altLang="en-US"/>
              <a:t> matrix(1, 2, 3, 4, 5, 6…);</a:t>
            </a:r>
            <a:endParaRPr lang="en-US" altLang="en-US"/>
          </a:p>
          <a:p>
            <a:r>
              <a:rPr lang="en-US" altLang="en-US"/>
              <a:t> translate(x, y) translateX(x) translateY(y)</a:t>
            </a:r>
            <a:endParaRPr lang="en-US" altLang="en-US"/>
          </a:p>
          <a:p>
            <a:r>
              <a:rPr lang="en-US" altLang="en-US"/>
              <a:t>translateZ(z)</a:t>
            </a:r>
            <a:endParaRPr lang="en-US" altLang="en-US"/>
          </a:p>
          <a:p>
            <a:r>
              <a:rPr lang="en-US" altLang="en-US"/>
              <a:t> scale(1,1); scaleX(x) scaleY(y) scaleZ(z)</a:t>
            </a:r>
            <a:endParaRPr lang="en-US" altLang="en-US"/>
          </a:p>
          <a:p>
            <a:r>
              <a:rPr lang="en-US" altLang="en-US"/>
              <a:t> rotate(+-deg) rotateX(x-deg) rotateY(y-deg)</a:t>
            </a:r>
            <a:endParaRPr lang="en-US" altLang="en-US"/>
          </a:p>
          <a:p>
            <a:r>
              <a:rPr lang="en-US" altLang="en-US"/>
              <a:t>rotateZ(z-deg)</a:t>
            </a:r>
            <a:endParaRPr lang="en-US" altLang="en-US"/>
          </a:p>
          <a:p>
            <a:r>
              <a:rPr lang="en-US" altLang="en-US"/>
              <a:t> skew(Xdeg, Ydeg) skewX(Xdeg) skewY(Ydeg)</a:t>
            </a:r>
            <a:endParaRPr lang="en-US" altLang="en-US"/>
          </a:p>
          <a:p>
            <a:r>
              <a:rPr lang="en-US" altLang="en-US"/>
              <a:t>transition</a:t>
            </a:r>
            <a:endParaRPr lang="en-US" altLang="en-US"/>
          </a:p>
          <a:p>
            <a:r>
              <a:rPr lang="en-US" altLang="en-US"/>
              <a:t> scale(0.5) translate(-100%, -100%);</a:t>
            </a:r>
            <a:endParaRPr lang="en-US" altLang="en-US"/>
          </a:p>
          <a:p>
            <a:r>
              <a:rPr lang="en-US" altLang="en-US"/>
              <a:t>/* Keyword values */</a:t>
            </a:r>
            <a:endParaRPr lang="en-US" altLang="en-US"/>
          </a:p>
          <a:p>
            <a:r>
              <a:rPr lang="en-US" altLang="en-US"/>
              <a:t>transform: none;</a:t>
            </a:r>
            <a:endParaRPr lang="en-US" altLang="en-US"/>
          </a:p>
          <a:p>
            <a:r>
              <a:rPr lang="en-US" altLang="en-US"/>
              <a:t>/* Function values */</a:t>
            </a:r>
            <a:endParaRPr lang="en-US" altLang="en-US"/>
          </a:p>
          <a:p>
            <a:r>
              <a:rPr lang="en-US" altLang="en-US"/>
              <a:t>transform:matrix(1.0,2.0,3.0,4.0,5.0,6.0);</a:t>
            </a:r>
            <a:endParaRPr lang="en-US" altLang="en-US"/>
          </a:p>
          <a:p>
            <a:r>
              <a:rPr lang="en-US" altLang="en-US"/>
              <a:t>transform: matrix3d(1,0,0,0,0,1,0,0,0,0,1,0,0,0,0,1);</a:t>
            </a:r>
            <a:endParaRPr lang="en-US" altLang="en-US"/>
          </a:p>
          <a:p>
            <a:r>
              <a:rPr lang="en-US" altLang="en-US"/>
              <a:t>transform:perspective(17px);</a:t>
            </a:r>
            <a:endParaRPr lang="en-US" altLang="en-US"/>
          </a:p>
          <a:p>
            <a:r>
              <a:rPr lang="en-US" altLang="en-US"/>
              <a:t>transform:rotate(0.5turn);</a:t>
            </a:r>
            <a:endParaRPr lang="en-US" altLang="en-US"/>
          </a:p>
          <a:p>
            <a:r>
              <a:rPr lang="en-US" altLang="en-US"/>
              <a:t>transform: rotate3d(1,2.0,3.0,10deg);</a:t>
            </a:r>
            <a:endParaRPr lang="en-US" altLang="en-US"/>
          </a:p>
          <a:p>
            <a:r>
              <a:rPr lang="en-US" altLang="en-US"/>
              <a:t>transform:rotateX(10deg);</a:t>
            </a:r>
            <a:endParaRPr lang="en-US" altLang="en-US"/>
          </a:p>
          <a:p>
            <a:r>
              <a:rPr lang="en-US" altLang="en-US"/>
              <a:t>transform:rotateY(10deg);</a:t>
            </a:r>
            <a:endParaRPr lang="en-US" altLang="en-US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223635" y="469265"/>
            <a:ext cx="5793740" cy="5198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sym typeface="+mn-ea"/>
              </a:rPr>
              <a:t>transform:rotateZ(10deg);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transform:translate(12px,50%);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 translate3d(12px,50%,3em);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transform:translateX(2em);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transform:translateY(3in);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transform:translateZ(2px);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transform:scale(2,0.5);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 scale3d(2.5,1.2,0.3);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transform:scaleX(2);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transform:scaleY(0.5);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transform:scaleZ(0.3);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transform:skew(30deg,20deg);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transform:skewX(30deg);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transform:skewY(1.07rad);</a:t>
            </a:r>
            <a:endParaRPr lang="en-US" altLang="en-US"/>
          </a:p>
          <a:p>
            <a:r>
              <a:rPr lang="en-US" altLang="en-US">
                <a:sym typeface="+mn-ea"/>
              </a:rPr>
              <a:t>/* Multiple function values */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transform:translateX(10px)rotate(10deg)translateY(5px);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transform:perspective(500px)translate(10px,0,20px)rotateY(3deg);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977640" y="292100"/>
            <a:ext cx="4555490" cy="6849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Example1</a:t>
            </a:r>
            <a:endParaRPr lang="en-US" altLang="en-US"/>
          </a:p>
          <a:p>
            <a:r>
              <a:rPr lang="en-US" altLang="en-US"/>
              <a:t>&lt;style&gt;</a:t>
            </a:r>
            <a:endParaRPr lang="en-US" altLang="en-US"/>
          </a:p>
          <a:p>
            <a:r>
              <a:rPr lang="en-US" altLang="en-US"/>
              <a:t>img {</a:t>
            </a:r>
            <a:endParaRPr lang="en-US" altLang="en-US"/>
          </a:p>
          <a:p>
            <a:r>
              <a:rPr lang="en-US" altLang="en-US"/>
              <a:t>border: solid red;</a:t>
            </a:r>
            <a:endParaRPr lang="en-US" altLang="en-US"/>
          </a:p>
          <a:p>
            <a:r>
              <a:rPr lang="en-US" altLang="en-US"/>
              <a:t>transform: rotate(50deg);</a:t>
            </a:r>
            <a:endParaRPr lang="en-US" altLang="en-US"/>
          </a:p>
          <a:p>
            <a:r>
              <a:rPr lang="en-US" altLang="en-US"/>
              <a:t>width: 140px;</a:t>
            </a:r>
            <a:endParaRPr lang="en-US" altLang="en-US"/>
          </a:p>
          <a:p>
            <a:r>
              <a:rPr lang="en-US" altLang="en-US"/>
              <a:t>height: 100px;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r>
              <a:rPr lang="en-US" altLang="en-US"/>
              <a:t>div {</a:t>
            </a:r>
            <a:endParaRPr lang="en-US" altLang="en-US"/>
          </a:p>
          <a:p>
            <a:r>
              <a:rPr lang="en-US" altLang="en-US"/>
              <a:t>border: solid red;</a:t>
            </a:r>
            <a:endParaRPr lang="en-US" altLang="en-US"/>
          </a:p>
          <a:p>
            <a:r>
              <a:rPr lang="en-US" altLang="en-US"/>
              <a:t>transform: translate(30px, 20px) rotate(20deg);</a:t>
            </a:r>
            <a:endParaRPr lang="en-US" altLang="en-US"/>
          </a:p>
          <a:p>
            <a:r>
              <a:rPr lang="en-US" altLang="en-US"/>
              <a:t>width: 140px;</a:t>
            </a:r>
            <a:endParaRPr lang="en-US" altLang="en-US"/>
          </a:p>
          <a:p>
            <a:r>
              <a:rPr lang="en-US" altLang="en-US"/>
              <a:t>height: 60px;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r>
              <a:rPr lang="en-US" altLang="en-US"/>
              <a:t>&lt;/style&gt;</a:t>
            </a:r>
            <a:endParaRPr lang="en-US" altLang="en-US"/>
          </a:p>
          <a:p>
            <a:r>
              <a:rPr lang="en-US" altLang="en-US"/>
              <a:t>&lt;/head&gt;</a:t>
            </a:r>
            <a:endParaRPr lang="en-US" altLang="en-US"/>
          </a:p>
          <a:p>
            <a:r>
              <a:rPr lang="en-US" altLang="en-US"/>
              <a:t>&lt;body&gt;</a:t>
            </a:r>
            <a:endParaRPr lang="en-US" altLang="en-US"/>
          </a:p>
          <a:p>
            <a:r>
              <a:rPr lang="en-US" altLang="en-US"/>
              <a:t>&lt;h1&gt;The transition with mutiple Properties&lt;/h1&gt;</a:t>
            </a:r>
            <a:endParaRPr lang="en-US" altLang="en-US"/>
          </a:p>
          <a:p>
            <a:r>
              <a:rPr lang="en-US" altLang="en-US"/>
              <a:t>&lt;div&gt;See effect&lt;/div&gt;&lt;br&gt;</a:t>
            </a:r>
            <a:endParaRPr lang="en-US" altLang="en-US"/>
          </a:p>
          <a:p>
            <a:r>
              <a:rPr lang="en-US" altLang="en-US"/>
              <a:t>&lt;imgsrc="car3.png"&gt;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409940" y="292100"/>
            <a:ext cx="4683125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ym typeface="+mn-ea"/>
              </a:rPr>
              <a:t>Example3</a:t>
            </a:r>
            <a:endParaRPr lang="en-US" altLang="en-US"/>
          </a:p>
          <a:p>
            <a:r>
              <a:rPr lang="en-US" altLang="en-US">
                <a:sym typeface="+mn-ea"/>
              </a:rPr>
              <a:t>&lt;style&gt;</a:t>
            </a:r>
            <a:endParaRPr lang="en-US" altLang="en-US"/>
          </a:p>
          <a:p>
            <a:r>
              <a:rPr lang="en-US" altLang="en-US">
                <a:sym typeface="+mn-ea"/>
              </a:rPr>
              <a:t>div {</a:t>
            </a:r>
            <a:endParaRPr lang="en-US" altLang="en-US"/>
          </a:p>
          <a:p>
            <a:r>
              <a:rPr lang="en-US" altLang="en-US">
                <a:sym typeface="+mn-ea"/>
              </a:rPr>
              <a:t>width: 200px;</a:t>
            </a:r>
            <a:endParaRPr lang="en-US" altLang="en-US"/>
          </a:p>
          <a:p>
            <a:r>
              <a:rPr lang="en-US" altLang="en-US">
                <a:sym typeface="+mn-ea"/>
              </a:rPr>
              <a:t>height: 200px;</a:t>
            </a:r>
            <a:endParaRPr lang="en-US" altLang="en-US"/>
          </a:p>
          <a:p>
            <a:r>
              <a:rPr lang="en-US" altLang="en-US">
                <a:sym typeface="+mn-ea"/>
              </a:rPr>
              <a:t>background-color:#6633ff;</a:t>
            </a:r>
            <a:endParaRPr lang="en-US" altLang="en-US"/>
          </a:p>
          <a:p>
            <a:r>
              <a:rPr lang="en-US" altLang="en-US">
                <a:sym typeface="+mn-ea"/>
              </a:rPr>
              <a:t>margin-left: 100px;</a:t>
            </a:r>
            <a:endParaRPr lang="en-US" altLang="en-US"/>
          </a:p>
          <a:p>
            <a:r>
              <a:rPr lang="en-US" altLang="en-US">
                <a:sym typeface="+mn-ea"/>
              </a:rPr>
              <a:t>box-shadow: 5px 5px5px5px #ff0000;</a:t>
            </a:r>
            <a:endParaRPr lang="en-US" altLang="en-US"/>
          </a:p>
          <a:p>
            <a:r>
              <a:rPr lang="en-US" altLang="en-US">
                <a:sym typeface="+mn-ea"/>
              </a:rPr>
              <a:t>transition: transform 1s;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div:hover{</a:t>
            </a:r>
            <a:endParaRPr lang="en-US" altLang="en-US"/>
          </a:p>
          <a:p>
            <a:r>
              <a:rPr lang="en-US" altLang="en-US">
                <a:sym typeface="+mn-ea"/>
              </a:rPr>
              <a:t>background-color:#0099ff;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 rotate(90deg) scale(1.5);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&lt;/style&gt;</a:t>
            </a:r>
            <a:endParaRPr lang="en-US" altLang="en-US"/>
          </a:p>
          <a:p>
            <a:r>
              <a:rPr lang="en-US" altLang="en-US">
                <a:sym typeface="+mn-ea"/>
              </a:rPr>
              <a:t>&lt;/head&gt;</a:t>
            </a:r>
            <a:endParaRPr lang="en-US" altLang="en-US"/>
          </a:p>
          <a:p>
            <a:r>
              <a:rPr lang="en-US" altLang="en-US">
                <a:sym typeface="+mn-ea"/>
              </a:rPr>
              <a:t>&lt;body&gt;</a:t>
            </a:r>
            <a:endParaRPr lang="en-US" altLang="en-US"/>
          </a:p>
          <a:p>
            <a:r>
              <a:rPr lang="en-US" altLang="en-US">
                <a:sym typeface="+mn-ea"/>
              </a:rPr>
              <a:t>&lt;h1&gt;Transform with Transition Properties&lt;/h1&gt;</a:t>
            </a:r>
            <a:endParaRPr lang="en-US" altLang="en-US"/>
          </a:p>
          <a:p>
            <a:r>
              <a:rPr lang="en-US" altLang="en-US">
                <a:sym typeface="+mn-ea"/>
              </a:rPr>
              <a:t>&lt;div&gt;See effect&lt;/div&gt;</a:t>
            </a:r>
            <a:endParaRPr lang="en-US" altLang="en-US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0" y="292100"/>
            <a:ext cx="4164965" cy="62731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sym typeface="+mn-ea"/>
              </a:rPr>
              <a:t>Example2</a:t>
            </a:r>
            <a:endParaRPr lang="en-US" altLang="en-US"/>
          </a:p>
          <a:p>
            <a:r>
              <a:rPr lang="en-US" altLang="en-US">
                <a:sym typeface="+mn-ea"/>
              </a:rPr>
              <a:t>&lt;style&gt;</a:t>
            </a:r>
            <a:endParaRPr lang="en-US" altLang="en-US"/>
          </a:p>
          <a:p>
            <a:r>
              <a:rPr lang="en-US" altLang="en-US">
                <a:sym typeface="+mn-ea"/>
              </a:rPr>
              <a:t>div {</a:t>
            </a:r>
            <a:endParaRPr lang="en-US" altLang="en-US"/>
          </a:p>
          <a:p>
            <a:r>
              <a:rPr lang="en-US" altLang="en-US">
                <a:sym typeface="+mn-ea"/>
              </a:rPr>
              <a:t>width: 200px;</a:t>
            </a:r>
            <a:endParaRPr lang="en-US" altLang="en-US"/>
          </a:p>
          <a:p>
            <a:r>
              <a:rPr lang="en-US" altLang="en-US">
                <a:sym typeface="+mn-ea"/>
              </a:rPr>
              <a:t>height: 200px;</a:t>
            </a:r>
            <a:endParaRPr lang="en-US" altLang="en-US"/>
          </a:p>
          <a:p>
            <a:r>
              <a:rPr lang="en-US" altLang="en-US">
                <a:sym typeface="+mn-ea"/>
              </a:rPr>
              <a:t>background-color:#00ccff;</a:t>
            </a:r>
            <a:endParaRPr lang="en-US" altLang="en-US"/>
          </a:p>
          <a:p>
            <a:r>
              <a:rPr lang="en-US" altLang="en-US">
                <a:sym typeface="+mn-ea"/>
              </a:rPr>
              <a:t>margin-left: 150px;</a:t>
            </a:r>
            <a:endParaRPr lang="en-US" altLang="en-US"/>
          </a:p>
          <a:p>
            <a:r>
              <a:rPr lang="en-US" altLang="en-US">
                <a:sym typeface="+mn-ea"/>
              </a:rPr>
              <a:t>box-shadow: 10px 10px10px10px #ff0000;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div:hover{</a:t>
            </a:r>
            <a:endParaRPr lang="en-US" altLang="en-US"/>
          </a:p>
          <a:p>
            <a:r>
              <a:rPr lang="en-US" altLang="en-US">
                <a:sym typeface="+mn-ea"/>
              </a:rPr>
              <a:t>background-color:#0099ff;</a:t>
            </a:r>
            <a:endParaRPr lang="en-US" altLang="en-US"/>
          </a:p>
          <a:p>
            <a:r>
              <a:rPr lang="en-US" altLang="en-US">
                <a:sym typeface="+mn-ea"/>
              </a:rPr>
              <a:t>transform: translate(30px, 30px); /* scale(1.5); */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&lt;/style&gt;</a:t>
            </a:r>
            <a:endParaRPr lang="en-US" altLang="en-US"/>
          </a:p>
          <a:p>
            <a:r>
              <a:rPr lang="en-US" altLang="en-US">
                <a:sym typeface="+mn-ea"/>
              </a:rPr>
              <a:t>&lt;/head&gt;</a:t>
            </a:r>
            <a:endParaRPr lang="en-US" altLang="en-US"/>
          </a:p>
          <a:p>
            <a:r>
              <a:rPr lang="en-US" altLang="en-US">
                <a:sym typeface="+mn-ea"/>
              </a:rPr>
              <a:t>&lt;body&gt;</a:t>
            </a:r>
            <a:endParaRPr lang="en-US" altLang="en-US"/>
          </a:p>
          <a:p>
            <a:r>
              <a:rPr lang="en-US" altLang="en-US">
                <a:sym typeface="+mn-ea"/>
              </a:rPr>
              <a:t>&lt;h1&gt;The transform Properties&lt;/h1&gt;</a:t>
            </a:r>
            <a:endParaRPr lang="en-US" altLang="en-US"/>
          </a:p>
          <a:p>
            <a:r>
              <a:rPr lang="en-US" altLang="en-US">
                <a:sym typeface="+mn-ea"/>
              </a:rPr>
              <a:t>&lt;div&gt;See effect&lt;/div&gt;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4203700" y="177800"/>
            <a:ext cx="4301490" cy="5374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Example1</a:t>
            </a:r>
            <a:endParaRPr lang="en-US" altLang="en-US"/>
          </a:p>
          <a:p>
            <a:r>
              <a:rPr lang="en-US" altLang="en-US"/>
              <a:t>&lt;style&gt;</a:t>
            </a:r>
            <a:endParaRPr lang="en-US" altLang="en-US"/>
          </a:p>
          <a:p>
            <a:r>
              <a:rPr lang="en-US" altLang="en-US"/>
              <a:t>img {</a:t>
            </a:r>
            <a:endParaRPr lang="en-US" altLang="en-US"/>
          </a:p>
          <a:p>
            <a:r>
              <a:rPr lang="en-US" altLang="en-US"/>
              <a:t>background: red;</a:t>
            </a:r>
            <a:endParaRPr lang="en-US" altLang="en-US"/>
          </a:p>
          <a:p>
            <a:r>
              <a:rPr lang="en-US" altLang="en-US"/>
              <a:t>transition: width 2s;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r>
              <a:rPr lang="en-US" altLang="en-US"/>
              <a:t>img:hover {</a:t>
            </a:r>
            <a:endParaRPr lang="en-US" altLang="en-US"/>
          </a:p>
          <a:p>
            <a:r>
              <a:rPr lang="en-US" altLang="en-US"/>
              <a:t>width: 500px;</a:t>
            </a:r>
            <a:endParaRPr lang="en-US" altLang="en-US"/>
          </a:p>
          <a:p>
            <a:r>
              <a:rPr lang="en-US" altLang="en-US"/>
              <a:t>}</a:t>
            </a:r>
            <a:endParaRPr lang="en-US" altLang="en-US"/>
          </a:p>
          <a:p>
            <a:r>
              <a:rPr lang="en-US" altLang="en-US"/>
              <a:t>&lt;/style&gt;</a:t>
            </a:r>
            <a:endParaRPr lang="en-US" altLang="en-US"/>
          </a:p>
          <a:p>
            <a:r>
              <a:rPr lang="en-US" altLang="en-US"/>
              <a:t>&lt;/head&gt;</a:t>
            </a:r>
            <a:endParaRPr lang="en-US" altLang="en-US"/>
          </a:p>
          <a:p>
            <a:r>
              <a:rPr lang="en-US" altLang="en-US"/>
              <a:t>&lt;body&gt;</a:t>
            </a:r>
            <a:endParaRPr lang="en-US" altLang="en-US"/>
          </a:p>
          <a:p>
            <a:r>
              <a:rPr lang="en-US" altLang="en-US"/>
              <a:t>&lt;h1&gt;The transition Property&lt;/h1&gt;</a:t>
            </a:r>
            <a:endParaRPr lang="en-US" altLang="en-US"/>
          </a:p>
          <a:p>
            <a:r>
              <a:rPr lang="en-US" altLang="en-US"/>
              <a:t>&lt;imgsrc="car1.jpg" width="100" height="100"&gt;</a:t>
            </a:r>
            <a:endParaRPr lang="en-US" altLang="en-US"/>
          </a:p>
          <a:p>
            <a:r>
              <a:rPr lang="en-US" altLang="en-US"/>
              <a:t>&lt;p&gt;Hover over the img element, to see the transition effect&lt;/p&gt;</a:t>
            </a:r>
            <a:endParaRPr lang="en-US" altLang="en-US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505190" y="177800"/>
            <a:ext cx="4222115" cy="6447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>
                <a:sym typeface="+mn-ea"/>
              </a:rPr>
              <a:t>Example3</a:t>
            </a:r>
            <a:endParaRPr lang="en-US" altLang="en-US"/>
          </a:p>
          <a:p>
            <a:r>
              <a:rPr lang="en-US" altLang="en-US">
                <a:sym typeface="+mn-ea"/>
              </a:rPr>
              <a:t>&lt;style&gt;</a:t>
            </a:r>
            <a:endParaRPr lang="en-US" altLang="en-US"/>
          </a:p>
          <a:p>
            <a:r>
              <a:rPr lang="en-US" altLang="en-US">
                <a:sym typeface="+mn-ea"/>
              </a:rPr>
              <a:t>div {</a:t>
            </a:r>
            <a:endParaRPr lang="en-US" altLang="en-US"/>
          </a:p>
          <a:p>
            <a:r>
              <a:rPr lang="en-US" altLang="en-US">
                <a:sym typeface="+mn-ea"/>
              </a:rPr>
              <a:t>width: 100px;</a:t>
            </a:r>
            <a:endParaRPr lang="en-US" altLang="en-US"/>
          </a:p>
          <a:p>
            <a:r>
              <a:rPr lang="en-US" altLang="en-US">
                <a:sym typeface="+mn-ea"/>
              </a:rPr>
              <a:t>height: 100px;</a:t>
            </a:r>
            <a:endParaRPr lang="en-US" altLang="en-US"/>
          </a:p>
          <a:p>
            <a:r>
              <a:rPr lang="en-US" altLang="en-US">
                <a:sym typeface="+mn-ea"/>
              </a:rPr>
              <a:t>background: #ff3300;</a:t>
            </a:r>
            <a:endParaRPr lang="en-US" altLang="en-US"/>
          </a:p>
          <a:p>
            <a:r>
              <a:rPr lang="en-US" altLang="en-US">
                <a:sym typeface="+mn-ea"/>
              </a:rPr>
              <a:t>position: relative;</a:t>
            </a:r>
            <a:endParaRPr lang="en-US" altLang="en-US"/>
          </a:p>
          <a:p>
            <a:r>
              <a:rPr lang="en-US" altLang="en-US">
                <a:sym typeface="+mn-ea"/>
              </a:rPr>
              <a:t>color: #00ff33;</a:t>
            </a:r>
            <a:endParaRPr lang="en-US" altLang="en-US"/>
          </a:p>
          <a:p>
            <a:r>
              <a:rPr lang="en-US" altLang="en-US">
                <a:sym typeface="+mn-ea"/>
              </a:rPr>
              <a:t>font-size: 25px;</a:t>
            </a:r>
            <a:endParaRPr lang="en-US" altLang="en-US"/>
          </a:p>
          <a:p>
            <a:r>
              <a:rPr lang="en-US" altLang="en-US">
                <a:sym typeface="+mn-ea"/>
              </a:rPr>
              <a:t>transition: background-color 2s, font-size 2s, width 2s;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div:hover {</a:t>
            </a:r>
            <a:endParaRPr lang="en-US" altLang="en-US"/>
          </a:p>
          <a:p>
            <a:r>
              <a:rPr lang="en-US" altLang="en-US">
                <a:sym typeface="+mn-ea"/>
              </a:rPr>
              <a:t>background-color: blue;</a:t>
            </a:r>
            <a:endParaRPr lang="en-US" altLang="en-US"/>
          </a:p>
          <a:p>
            <a:r>
              <a:rPr lang="en-US" altLang="en-US">
                <a:sym typeface="+mn-ea"/>
              </a:rPr>
              <a:t>font-size: 100px;</a:t>
            </a:r>
            <a:endParaRPr lang="en-US" altLang="en-US"/>
          </a:p>
          <a:p>
            <a:r>
              <a:rPr lang="en-US" altLang="en-US">
                <a:sym typeface="+mn-ea"/>
              </a:rPr>
              <a:t>width: 400px;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&lt;/style&gt;</a:t>
            </a:r>
            <a:endParaRPr lang="en-US" altLang="en-US"/>
          </a:p>
          <a:p>
            <a:r>
              <a:rPr lang="en-US" altLang="en-US">
                <a:sym typeface="+mn-ea"/>
              </a:rPr>
              <a:t>&lt;/head&gt;</a:t>
            </a:r>
            <a:endParaRPr lang="en-US" altLang="en-US"/>
          </a:p>
          <a:p>
            <a:r>
              <a:rPr lang="en-US" altLang="en-US">
                <a:sym typeface="+mn-ea"/>
              </a:rPr>
              <a:t>&lt;body&gt;</a:t>
            </a:r>
            <a:endParaRPr lang="en-US" altLang="en-US"/>
          </a:p>
          <a:p>
            <a:r>
              <a:rPr lang="en-US" altLang="en-US">
                <a:sym typeface="+mn-ea"/>
              </a:rPr>
              <a:t>&lt;h1&gt;The transition with mutiple Properties&lt;/h1&gt;</a:t>
            </a:r>
            <a:endParaRPr lang="en-US" altLang="en-US"/>
          </a:p>
          <a:p>
            <a:r>
              <a:rPr lang="en-US" altLang="en-US">
                <a:sym typeface="+mn-ea"/>
              </a:rPr>
              <a:t>&lt;div&gt;See effect&lt;/div&gt;</a:t>
            </a:r>
            <a:endParaRPr lang="en-US" altLang="en-US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-108585" y="-165100"/>
            <a:ext cx="4312285" cy="8678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ym typeface="+mn-ea"/>
              </a:rPr>
              <a:t>Example2</a:t>
            </a:r>
            <a:endParaRPr lang="en-US" altLang="en-US"/>
          </a:p>
          <a:p>
            <a:r>
              <a:rPr lang="en-US" altLang="en-US">
                <a:sym typeface="+mn-ea"/>
              </a:rPr>
              <a:t>&lt;style&gt;</a:t>
            </a:r>
            <a:endParaRPr lang="en-US" altLang="en-US"/>
          </a:p>
          <a:p>
            <a:r>
              <a:rPr lang="en-US" altLang="en-US">
                <a:sym typeface="+mn-ea"/>
              </a:rPr>
              <a:t>.d1 {</a:t>
            </a:r>
            <a:endParaRPr lang="en-US" altLang="en-US"/>
          </a:p>
          <a:p>
            <a:r>
              <a:rPr lang="en-US" altLang="en-US">
                <a:sym typeface="+mn-ea"/>
              </a:rPr>
              <a:t>width: 100px;</a:t>
            </a:r>
            <a:endParaRPr lang="en-US" altLang="en-US"/>
          </a:p>
          <a:p>
            <a:r>
              <a:rPr lang="en-US" altLang="en-US">
                <a:sym typeface="+mn-ea"/>
              </a:rPr>
              <a:t>height: 100px;</a:t>
            </a:r>
            <a:endParaRPr lang="en-US" altLang="en-US"/>
          </a:p>
          <a:p>
            <a:r>
              <a:rPr lang="en-US" altLang="en-US">
                <a:sym typeface="+mn-ea"/>
              </a:rPr>
              <a:t>background: #ff33cc;</a:t>
            </a:r>
            <a:endParaRPr lang="en-US" altLang="en-US"/>
          </a:p>
          <a:p>
            <a:r>
              <a:rPr lang="en-US" altLang="en-US">
                <a:sym typeface="+mn-ea"/>
              </a:rPr>
              <a:t>transition: width 500ms;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.d1:hover {</a:t>
            </a:r>
            <a:endParaRPr lang="en-US" altLang="en-US"/>
          </a:p>
          <a:p>
            <a:r>
              <a:rPr lang="en-US" altLang="en-US">
                <a:sym typeface="+mn-ea"/>
              </a:rPr>
              <a:t>width: 500px;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.d2 {</a:t>
            </a:r>
            <a:endParaRPr lang="en-US" altLang="en-US"/>
          </a:p>
          <a:p>
            <a:r>
              <a:rPr lang="en-US" altLang="en-US">
                <a:sym typeface="+mn-ea"/>
              </a:rPr>
              <a:t>width: 100px;</a:t>
            </a:r>
            <a:endParaRPr lang="en-US" altLang="en-US"/>
          </a:p>
          <a:p>
            <a:r>
              <a:rPr lang="en-US" altLang="en-US">
                <a:sym typeface="+mn-ea"/>
              </a:rPr>
              <a:t>height: 100px;</a:t>
            </a:r>
            <a:endParaRPr lang="en-US" altLang="en-US"/>
          </a:p>
          <a:p>
            <a:r>
              <a:rPr lang="en-US" altLang="en-US">
                <a:sym typeface="+mn-ea"/>
              </a:rPr>
              <a:t>background: red;</a:t>
            </a:r>
            <a:endParaRPr lang="en-US" altLang="en-US"/>
          </a:p>
          <a:p>
            <a:r>
              <a:rPr lang="en-US" altLang="en-US">
                <a:sym typeface="+mn-ea"/>
              </a:rPr>
              <a:t>transition: height 2s;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.d2:hover {</a:t>
            </a:r>
            <a:endParaRPr lang="en-US" altLang="en-US"/>
          </a:p>
          <a:p>
            <a:r>
              <a:rPr lang="en-US" altLang="en-US">
                <a:sym typeface="+mn-ea"/>
              </a:rPr>
              <a:t>height: 300px;</a:t>
            </a:r>
            <a:endParaRPr lang="en-US" alt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r>
              <a:rPr lang="en-US" altLang="en-US">
                <a:sym typeface="+mn-ea"/>
              </a:rPr>
              <a:t>&lt;/style&gt;</a:t>
            </a:r>
            <a:endParaRPr lang="en-US" altLang="en-US"/>
          </a:p>
          <a:p>
            <a:r>
              <a:rPr lang="en-US" altLang="en-US">
                <a:sym typeface="+mn-ea"/>
              </a:rPr>
              <a:t>&lt;/head&gt;</a:t>
            </a:r>
            <a:endParaRPr lang="en-US" altLang="en-US"/>
          </a:p>
          <a:p>
            <a:r>
              <a:rPr lang="en-US" altLang="en-US">
                <a:sym typeface="+mn-ea"/>
              </a:rPr>
              <a:t>&lt;body&gt;</a:t>
            </a:r>
            <a:endParaRPr lang="en-US" altLang="en-US"/>
          </a:p>
          <a:p>
            <a:r>
              <a:rPr lang="en-US" altLang="en-US">
                <a:sym typeface="+mn-ea"/>
              </a:rPr>
              <a:t>&lt;h1&gt;The transition Property&lt;/h1&gt;</a:t>
            </a:r>
            <a:endParaRPr lang="en-US" altLang="en-US"/>
          </a:p>
          <a:p>
            <a:r>
              <a:rPr lang="en-US" altLang="en-US">
                <a:sym typeface="+mn-ea"/>
              </a:rPr>
              <a:t>&lt;p&gt;get mouse over the div element, to see the transition width effect&lt;/p&gt;</a:t>
            </a:r>
            <a:endParaRPr lang="en-US" altLang="en-US"/>
          </a:p>
          <a:p>
            <a:r>
              <a:rPr lang="en-US" altLang="en-US">
                <a:sym typeface="+mn-ea"/>
              </a:rPr>
              <a:t>&lt;div class="d1"&gt;&lt;/div&gt;</a:t>
            </a:r>
            <a:endParaRPr lang="en-US" altLang="en-US"/>
          </a:p>
          <a:p>
            <a:r>
              <a:rPr lang="en-US" altLang="en-US">
                <a:sym typeface="+mn-ea"/>
              </a:rPr>
              <a:t>&lt;br&gt;&lt;br&gt;</a:t>
            </a:r>
            <a:endParaRPr lang="en-US" altLang="en-US"/>
          </a:p>
          <a:p>
            <a:r>
              <a:rPr lang="en-US" altLang="en-US">
                <a:sym typeface="+mn-ea"/>
              </a:rPr>
              <a:t>&lt;p&gt;get mouse over the div element, to see the transition height effect&lt;/p&gt;</a:t>
            </a:r>
            <a:endParaRPr lang="en-US" altLang="en-US"/>
          </a:p>
          <a:p>
            <a:r>
              <a:rPr lang="en-US" altLang="en-US">
                <a:sym typeface="+mn-ea"/>
              </a:rPr>
              <a:t>&lt;div class="d2"&gt;&lt;/div&gt;</a:t>
            </a:r>
            <a:endParaRPr lang="en-US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89*299"/>
  <p:tag name="TABLE_ENDDRAG_RECT" val="0*0*989*299"/>
</p:tagLst>
</file>

<file path=ppt/tags/tag2.xml><?xml version="1.0" encoding="utf-8"?>
<p:tagLst xmlns:p="http://schemas.openxmlformats.org/presentationml/2006/main">
  <p:tag name="TABLE_ENDDRAG_ORIGIN_RECT" val="939*87"/>
  <p:tag name="TABLE_ENDDRAG_RECT" val="0*329*939*87"/>
</p:tagLst>
</file>

<file path=ppt/tags/tag3.xml><?xml version="1.0" encoding="utf-8"?>
<p:tagLst xmlns:p="http://schemas.openxmlformats.org/presentationml/2006/main">
  <p:tag name="TABLE_ENDDRAG_ORIGIN_RECT" val="960*88"/>
  <p:tag name="TABLE_ENDDRAG_RECT" val="0*424*960*88"/>
</p:tagLst>
</file>

<file path=ppt/tags/tag4.xml><?xml version="1.0" encoding="utf-8"?>
<p:tagLst xmlns:p="http://schemas.openxmlformats.org/presentationml/2006/main">
  <p:tag name="TABLE_ENDDRAG_ORIGIN_RECT" val="922*114"/>
  <p:tag name="TABLE_ENDDRAG_RECT" val="19*12*922*114"/>
</p:tagLst>
</file>

<file path=ppt/tags/tag5.xml><?xml version="1.0" encoding="utf-8"?>
<p:tagLst xmlns:p="http://schemas.openxmlformats.org/presentationml/2006/main">
  <p:tag name="TABLE_ENDDRAG_ORIGIN_RECT" val="946*50"/>
  <p:tag name="TABLE_ENDDRAG_RECT" val="0*132*946*50"/>
</p:tagLst>
</file>

<file path=ppt/tags/tag6.xml><?xml version="1.0" encoding="utf-8"?>
<p:tagLst xmlns:p="http://schemas.openxmlformats.org/presentationml/2006/main">
  <p:tag name="TABLE_ENDDRAG_ORIGIN_RECT" val="946*49"/>
  <p:tag name="TABLE_ENDDRAG_RECT" val="0*207*946*49"/>
</p:tagLst>
</file>

<file path=ppt/tags/tag7.xml><?xml version="1.0" encoding="utf-8"?>
<p:tagLst xmlns:p="http://schemas.openxmlformats.org/presentationml/2006/main">
  <p:tag name="TABLE_ENDDRAG_ORIGIN_RECT" val="956*128"/>
  <p:tag name="TABLE_ENDDRAG_RECT" val="3*347*956*128"/>
</p:tagLst>
</file>

<file path=ppt/tags/tag8.xml><?xml version="1.0" encoding="utf-8"?>
<p:tagLst xmlns:p="http://schemas.openxmlformats.org/presentationml/2006/main">
  <p:tag name="TABLE_ENDDRAG_ORIGIN_RECT" val="959*235"/>
  <p:tag name="TABLE_ENDDRAG_RECT" val="0*6*959*235"/>
</p:tagLst>
</file>

<file path=ppt/tags/tag9.xml><?xml version="1.0" encoding="utf-8"?>
<p:tagLst xmlns:p="http://schemas.openxmlformats.org/presentationml/2006/main">
  <p:tag name="TABLE_ENDDRAG_ORIGIN_RECT" val="935*200"/>
  <p:tag name="TABLE_ENDDRAG_RECT" val="16*143*935*200"/>
</p:tagLst>
</file>

<file path=ppt/tags/tag10.xml><?xml version="1.0" encoding="utf-8"?>
<p:tagLst xmlns:p="http://schemas.openxmlformats.org/presentationml/2006/main">
  <p:tag name="TABLE_ENDDRAG_ORIGIN_RECT" val="940*240"/>
  <p:tag name="TABLE_ENDDRAG_RECT" val="11*29*940*240"/>
</p:tagLst>
</file>

<file path=ppt/tags/tag11.xml><?xml version="1.0" encoding="utf-8"?>
<p:tagLst xmlns:p="http://schemas.openxmlformats.org/presentationml/2006/main">
  <p:tag name="TABLE_ENDDRAG_ORIGIN_RECT" val="942*173"/>
  <p:tag name="TABLE_ENDDRAG_RECT" val="9*119*942*173"/>
</p:tagLst>
</file>

<file path=ppt/tags/tag12.xml><?xml version="1.0" encoding="utf-8"?>
<p:tagLst xmlns:p="http://schemas.openxmlformats.org/presentationml/2006/main">
  <p:tag name="TABLE_ENDDRAG_ORIGIN_RECT" val="942*167"/>
  <p:tag name="TABLE_ENDDRAG_RECT" val="9*344*942*167"/>
</p:tagLst>
</file>

<file path=ppt/tags/tag13.xml><?xml version="1.0" encoding="utf-8"?>
<p:tagLst xmlns:p="http://schemas.openxmlformats.org/presentationml/2006/main">
  <p:tag name="TABLE_ENDDRAG_ORIGIN_RECT" val="920*396"/>
  <p:tag name="TABLE_ENDDRAG_RECT" val="9*135*920*396"/>
</p:tagLst>
</file>

<file path=ppt/tags/tag14.xml><?xml version="1.0" encoding="utf-8"?>
<p:tagLst xmlns:p="http://schemas.openxmlformats.org/presentationml/2006/main">
  <p:tag name="TABLE_ENDDRAG_ORIGIN_RECT" val="959*492"/>
  <p:tag name="TABLE_ENDDRAG_RECT" val="0*33*959*492"/>
</p:tagLst>
</file>

<file path=ppt/tags/tag15.xml><?xml version="1.0" encoding="utf-8"?>
<p:tagLst xmlns:p="http://schemas.openxmlformats.org/presentationml/2006/main">
  <p:tag name="TABLE_ENDDRAG_ORIGIN_RECT" val="929*128"/>
  <p:tag name="TABLE_ENDDRAG_RECT" val="13*285*929*1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22605</Words>
  <Application>WPS Presentation</Application>
  <PresentationFormat>Widescreen</PresentationFormat>
  <Paragraphs>1359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6" baseType="lpstr">
      <vt:lpstr>Arial</vt:lpstr>
      <vt:lpstr>SimSun</vt:lpstr>
      <vt:lpstr>Wingdings</vt:lpstr>
      <vt:lpstr>Cambria</vt:lpstr>
      <vt:lpstr>Calibri Light</vt:lpstr>
      <vt:lpstr>Microsoft YaHei</vt:lpstr>
      <vt:lpstr>Arial Unicode MS</vt:lpstr>
      <vt:lpstr>Calibri</vt:lpstr>
      <vt:lpstr>Arial</vt:lpstr>
      <vt:lpstr>Office Theme</vt:lpstr>
      <vt:lpstr>CSS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What is CSS?</vt:lpstr>
      <vt:lpstr>PowerPoint 演示文稿</vt:lpstr>
      <vt:lpstr>How Many Ways Can You Configure CSS in Web Development?</vt:lpstr>
      <vt:lpstr>CSS</vt:lpstr>
      <vt:lpstr>What Are CSS Selectors?</vt:lpstr>
      <vt:lpstr>Background</vt:lpstr>
      <vt:lpstr>Border</vt:lpstr>
      <vt:lpstr>CSS Font</vt:lpstr>
      <vt:lpstr>CSS Display</vt:lpstr>
      <vt:lpstr>PowerPoint 演示文稿</vt:lpstr>
      <vt:lpstr>CSS Margin</vt:lpstr>
      <vt:lpstr>Font-Size property:</vt:lpstr>
      <vt:lpstr>Css position Property</vt:lpstr>
      <vt:lpstr>Difference Between position and absolute property</vt:lpstr>
      <vt:lpstr>CSS Overflow</vt:lpstr>
      <vt:lpstr>CSS Float</vt:lpstr>
      <vt:lpstr>CSS Opacity</vt:lpstr>
      <vt:lpstr>CSS Padding Property</vt:lpstr>
      <vt:lpstr>Font Size Property</vt:lpstr>
      <vt:lpstr>CSS TextStyles</vt:lpstr>
      <vt:lpstr>CSS Word Wrap</vt:lpstr>
      <vt:lpstr>CSS Transition</vt:lpstr>
      <vt:lpstr>PowerPoint 演示文稿</vt:lpstr>
      <vt:lpstr>PowerPoint 演示文稿</vt:lpstr>
      <vt:lpstr>PowerPoint 演示文稿</vt:lpstr>
      <vt:lpstr>mediaquery Property</vt:lpstr>
      <vt:lpstr>css Transition Transform And Translate Property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CSS?</dc:title>
  <dc:creator>UV-user</dc:creator>
  <cp:lastModifiedBy>Nishank Amte</cp:lastModifiedBy>
  <cp:revision>205</cp:revision>
  <dcterms:created xsi:type="dcterms:W3CDTF">2025-08-20T06:14:00Z</dcterms:created>
  <dcterms:modified xsi:type="dcterms:W3CDTF">2026-01-09T17:16:37Z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F9BB0DBAA0AB46B6B43B0D7F46E6D3DB_11</vt:lpwstr>
  </property>
  <property fmtid="{D5CDD505-2E9C-101B-9397-08002B2CF9AE}" pid="3" name="KSOProductBuildVer">
    <vt:lpwstr>1033-12.2.0.23196</vt:lpwstr>
  </property>
</Properties>
</file>