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65" r:id="rId2"/>
    <p:sldId id="299" r:id="rId3"/>
    <p:sldId id="307" r:id="rId4"/>
    <p:sldId id="256" r:id="rId5"/>
    <p:sldId id="262" r:id="rId6"/>
    <p:sldId id="266" r:id="rId7"/>
    <p:sldId id="267" r:id="rId8"/>
    <p:sldId id="258" r:id="rId9"/>
    <p:sldId id="261" r:id="rId10"/>
    <p:sldId id="257" r:id="rId11"/>
    <p:sldId id="263" r:id="rId12"/>
    <p:sldId id="264" r:id="rId13"/>
    <p:sldId id="259" r:id="rId14"/>
    <p:sldId id="268" r:id="rId15"/>
    <p:sldId id="290" r:id="rId16"/>
    <p:sldId id="283" r:id="rId17"/>
    <p:sldId id="291" r:id="rId18"/>
    <p:sldId id="269" r:id="rId19"/>
    <p:sldId id="270" r:id="rId20"/>
    <p:sldId id="284" r:id="rId21"/>
    <p:sldId id="271" r:id="rId22"/>
    <p:sldId id="285" r:id="rId23"/>
    <p:sldId id="272" r:id="rId24"/>
    <p:sldId id="273" r:id="rId25"/>
    <p:sldId id="292" r:id="rId26"/>
    <p:sldId id="274" r:id="rId27"/>
    <p:sldId id="275" r:id="rId28"/>
    <p:sldId id="282" r:id="rId29"/>
    <p:sldId id="286" r:id="rId30"/>
    <p:sldId id="287" r:id="rId31"/>
    <p:sldId id="289" r:id="rId32"/>
    <p:sldId id="288" r:id="rId33"/>
    <p:sldId id="293" r:id="rId34"/>
    <p:sldId id="295" r:id="rId35"/>
    <p:sldId id="276" r:id="rId36"/>
    <p:sldId id="296" r:id="rId37"/>
    <p:sldId id="297" r:id="rId38"/>
    <p:sldId id="298" r:id="rId39"/>
    <p:sldId id="277" r:id="rId40"/>
    <p:sldId id="308" r:id="rId41"/>
    <p:sldId id="300" r:id="rId42"/>
    <p:sldId id="309" r:id="rId43"/>
    <p:sldId id="302" r:id="rId44"/>
    <p:sldId id="311" r:id="rId45"/>
    <p:sldId id="312" r:id="rId46"/>
    <p:sldId id="278" r:id="rId47"/>
    <p:sldId id="303" r:id="rId48"/>
    <p:sldId id="279" r:id="rId49"/>
    <p:sldId id="304" r:id="rId50"/>
    <p:sldId id="313" r:id="rId51"/>
    <p:sldId id="280" r:id="rId52"/>
    <p:sldId id="305" r:id="rId53"/>
    <p:sldId id="281" r:id="rId54"/>
    <p:sldId id="306" r:id="rId55"/>
    <p:sldId id="310" r:id="rId56"/>
    <p:sldId id="314" r:id="rId57"/>
    <p:sldId id="317" r:id="rId58"/>
    <p:sldId id="318" r:id="rId59"/>
    <p:sldId id="320" r:id="rId60"/>
    <p:sldId id="321" r:id="rId61"/>
    <p:sldId id="315" r:id="rId62"/>
    <p:sldId id="319" r:id="rId63"/>
    <p:sldId id="316" r:id="rId64"/>
    <p:sldId id="322" r:id="rId65"/>
    <p:sldId id="323" r:id="rId66"/>
    <p:sldId id="324" r:id="rId67"/>
    <p:sldId id="325"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741" autoAdjust="0"/>
  </p:normalViewPr>
  <p:slideViewPr>
    <p:cSldViewPr snapToGrid="0">
      <p:cViewPr varScale="1">
        <p:scale>
          <a:sx n="66" d="100"/>
          <a:sy n="66" d="100"/>
        </p:scale>
        <p:origin x="6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5DEDCC-184D-40D1-9D52-5C78FA648E60}"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3715922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DEDCC-184D-40D1-9D52-5C78FA648E60}"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4152856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DEDCC-184D-40D1-9D52-5C78FA648E60}"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209086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5DEDCC-184D-40D1-9D52-5C78FA648E60}"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120732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DEDCC-184D-40D1-9D52-5C78FA648E60}" type="datetimeFigureOut">
              <a:rPr lang="en-US" smtClean="0"/>
              <a:t>7/12/2025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2940793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DEDCC-184D-40D1-9D52-5C78FA648E60}" type="datetimeFigureOut">
              <a:rPr lang="en-US" smtClean="0"/>
              <a:t>7/12/2025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2711638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DEDCC-184D-40D1-9D52-5C78FA648E60}" type="datetimeFigureOut">
              <a:rPr lang="en-US" smtClean="0"/>
              <a:t>7/12/2025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3474817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DEDCC-184D-40D1-9D52-5C78FA648E60}"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1267186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DEDCC-184D-40D1-9D52-5C78FA648E60}"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570412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DEDCC-184D-40D1-9D52-5C78FA648E60}"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2303192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DEDCC-184D-40D1-9D52-5C78FA648E60}"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7545670-A4E4-4939-8464-4B60B2EA2FFE}"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05784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15DEDCC-184D-40D1-9D52-5C78FA648E60}"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2200489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15DEDCC-184D-40D1-9D52-5C78FA648E60}"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545670-A4E4-4939-8464-4B60B2EA2FFE}"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22001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15DEDCC-184D-40D1-9D52-5C78FA648E60}"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4080922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DEDCC-184D-40D1-9D52-5C78FA648E60}"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33480507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DEDCC-184D-40D1-9D52-5C78FA648E60}"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7545670-A4E4-4939-8464-4B60B2EA2FFE}" type="slidenum">
              <a:rPr lang="en-US" smtClean="0"/>
              <a:t>‹#›</a:t>
            </a:fld>
            <a:endParaRPr lang="en-US"/>
          </a:p>
        </p:txBody>
      </p:sp>
    </p:spTree>
    <p:extLst>
      <p:ext uri="{BB962C8B-B14F-4D97-AF65-F5344CB8AC3E}">
        <p14:creationId xmlns:p14="http://schemas.microsoft.com/office/powerpoint/2010/main" val="1275979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15DEDCC-184D-40D1-9D52-5C78FA648E60}" type="datetimeFigureOut">
              <a:rPr lang="en-US" smtClean="0"/>
              <a:t>7/12/2025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7545670-A4E4-4939-8464-4B60B2EA2FFE}" type="slidenum">
              <a:rPr lang="en-US" smtClean="0"/>
              <a:t>‹#›</a:t>
            </a:fld>
            <a:endParaRPr lang="en-US"/>
          </a:p>
        </p:txBody>
      </p:sp>
    </p:spTree>
    <p:extLst>
      <p:ext uri="{BB962C8B-B14F-4D97-AF65-F5344CB8AC3E}">
        <p14:creationId xmlns:p14="http://schemas.microsoft.com/office/powerpoint/2010/main" val="359263617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javatpoint.com/machine-learning" TargetMode="External"/><Relationship Id="rId2" Type="http://schemas.openxmlformats.org/officeDocument/2006/relationships/hyperlink" Target="https://www.javatpoint.com/python-tutorial" TargetMode="External"/><Relationship Id="rId1" Type="http://schemas.openxmlformats.org/officeDocument/2006/relationships/slideLayout" Target="../slideLayouts/slideLayout2.xml"/><Relationship Id="rId5" Type="http://schemas.openxmlformats.org/officeDocument/2006/relationships/hyperlink" Target="https://www.javatpoint.com/javatpoint.com/mobile-application-testing" TargetMode="External"/><Relationship Id="rId4" Type="http://schemas.openxmlformats.org/officeDocument/2006/relationships/hyperlink" Target="https://www.javatpoint.com/artificial-intelligence-tutoria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python.or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linkedin.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2" Type="http://schemas.openxmlformats.org/officeDocument/2006/relationships/hyperlink" Target="http://python.org/download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python-programming-language-tutorial/" TargetMode="External"/><Relationship Id="rId2" Type="http://schemas.openxmlformats.org/officeDocument/2006/relationships/hyperlink" Target="https://www.geeksforgeeks.org/python-pip/" TargetMode="External"/><Relationship Id="rId1" Type="http://schemas.openxmlformats.org/officeDocument/2006/relationships/slideLayout" Target="../slideLayouts/slideLayout2.xml"/><Relationship Id="rId4" Type="http://schemas.openxmlformats.org/officeDocument/2006/relationships/hyperlink" Target="https://www.geeksforgeeks.org/download-and-install-pip-latest-versi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68C5-DA90-AB0E-3E66-F242740430CC}"/>
              </a:ext>
            </a:extLst>
          </p:cNvPr>
          <p:cNvSpPr>
            <a:spLocks noGrp="1"/>
          </p:cNvSpPr>
          <p:nvPr>
            <p:ph type="title"/>
          </p:nvPr>
        </p:nvSpPr>
        <p:spPr>
          <a:xfrm>
            <a:off x="904774" y="3147460"/>
            <a:ext cx="9723939" cy="3710540"/>
          </a:xfrm>
        </p:spPr>
        <p:txBody>
          <a:bodyPr>
            <a:normAutofit/>
          </a:bodyPr>
          <a:lstStyle/>
          <a:p>
            <a:r>
              <a:rPr lang="en-US" sz="4000" b="1" dirty="0">
                <a:solidFill>
                  <a:srgbClr val="C00000"/>
                </a:solidFill>
                <a:latin typeface="Cambria" panose="02040503050406030204" pitchFamily="18" charset="0"/>
                <a:ea typeface="Cambria" panose="02040503050406030204" pitchFamily="18" charset="0"/>
              </a:rPr>
              <a:t>Python For Data Analytics </a:t>
            </a:r>
            <a:br>
              <a:rPr lang="en-US" sz="4000" b="1" dirty="0">
                <a:solidFill>
                  <a:srgbClr val="C00000"/>
                </a:solidFill>
                <a:latin typeface="Cambria" panose="02040503050406030204" pitchFamily="18" charset="0"/>
                <a:ea typeface="Cambria" panose="02040503050406030204" pitchFamily="18" charset="0"/>
              </a:rPr>
            </a:br>
            <a:r>
              <a:rPr lang="en-US" sz="4000" b="1" dirty="0">
                <a:solidFill>
                  <a:schemeClr val="tx1"/>
                </a:solidFill>
                <a:latin typeface="Cambria" panose="02040503050406030204" pitchFamily="18" charset="0"/>
                <a:ea typeface="Cambria" panose="02040503050406030204" pitchFamily="18" charset="0"/>
              </a:rPr>
              <a:t>Akash -&gt;        9309911897</a:t>
            </a:r>
            <a:br>
              <a:rPr lang="en-US" sz="4000" b="1" dirty="0">
                <a:solidFill>
                  <a:schemeClr val="tx1"/>
                </a:solidFill>
                <a:latin typeface="Cambria" panose="02040503050406030204" pitchFamily="18" charset="0"/>
                <a:ea typeface="Cambria" panose="02040503050406030204" pitchFamily="18" charset="0"/>
              </a:rPr>
            </a:br>
            <a:r>
              <a:rPr lang="en-US" sz="4000" b="1" dirty="0">
                <a:solidFill>
                  <a:schemeClr val="tx1"/>
                </a:solidFill>
                <a:latin typeface="Cambria" panose="02040503050406030204" pitchFamily="18" charset="0"/>
                <a:ea typeface="Cambria" panose="02040503050406030204" pitchFamily="18" charset="0"/>
              </a:rPr>
              <a:t>Pranay -&gt;      9096912594</a:t>
            </a:r>
            <a:br>
              <a:rPr lang="en-US" sz="4000" b="1" dirty="0">
                <a:solidFill>
                  <a:srgbClr val="C00000"/>
                </a:solidFill>
                <a:latin typeface="Cambria" panose="02040503050406030204" pitchFamily="18" charset="0"/>
                <a:ea typeface="Cambria" panose="02040503050406030204" pitchFamily="18" charset="0"/>
              </a:rPr>
            </a:br>
            <a:r>
              <a:rPr lang="en-US" sz="4000" b="1" dirty="0">
                <a:solidFill>
                  <a:schemeClr val="tx1"/>
                </a:solidFill>
                <a:latin typeface="Cambria" panose="02040503050406030204" pitchFamily="18" charset="0"/>
                <a:ea typeface="Cambria" panose="02040503050406030204" pitchFamily="18" charset="0"/>
              </a:rPr>
              <a:t>Mahendra -&gt;9172037674</a:t>
            </a:r>
          </a:p>
        </p:txBody>
      </p:sp>
    </p:spTree>
    <p:extLst>
      <p:ext uri="{BB962C8B-B14F-4D97-AF65-F5344CB8AC3E}">
        <p14:creationId xmlns:p14="http://schemas.microsoft.com/office/powerpoint/2010/main" val="1761378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EB599-29B2-29CA-023A-3FA70ED60FC5}"/>
              </a:ext>
            </a:extLst>
          </p:cNvPr>
          <p:cNvSpPr>
            <a:spLocks noGrp="1"/>
          </p:cNvSpPr>
          <p:nvPr>
            <p:ph type="title"/>
          </p:nvPr>
        </p:nvSpPr>
        <p:spPr>
          <a:xfrm>
            <a:off x="204947" y="80209"/>
            <a:ext cx="11138852" cy="372178"/>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Syllabus of Python for Data </a:t>
            </a:r>
            <a:r>
              <a:rPr lang="en-US" sz="2400" b="1" dirty="0" err="1">
                <a:solidFill>
                  <a:srgbClr val="FF0000"/>
                </a:solidFill>
                <a:latin typeface="Cambria" panose="02040503050406030204" pitchFamily="18" charset="0"/>
                <a:ea typeface="Cambria" panose="02040503050406030204" pitchFamily="18" charset="0"/>
              </a:rPr>
              <a:t>Anaylytics</a:t>
            </a:r>
            <a:endParaRPr lang="en-US" sz="2400" b="1" dirty="0">
              <a:solidFill>
                <a:srgbClr val="FF0000"/>
              </a:solidFill>
              <a:latin typeface="Cambria" panose="02040503050406030204" pitchFamily="18" charset="0"/>
              <a:ea typeface="Cambria" panose="02040503050406030204" pitchFamily="18" charset="0"/>
            </a:endParaRPr>
          </a:p>
        </p:txBody>
      </p:sp>
      <p:pic>
        <p:nvPicPr>
          <p:cNvPr id="5" name="Content Placeholder 4">
            <a:extLst>
              <a:ext uri="{FF2B5EF4-FFF2-40B4-BE49-F238E27FC236}">
                <a16:creationId xmlns:a16="http://schemas.microsoft.com/office/drawing/2014/main" id="{D9A0BE57-82A5-1B46-8763-2407C93EC3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947" y="462012"/>
            <a:ext cx="6638615" cy="6325404"/>
          </a:xfrm>
        </p:spPr>
      </p:pic>
    </p:spTree>
    <p:extLst>
      <p:ext uri="{BB962C8B-B14F-4D97-AF65-F5344CB8AC3E}">
        <p14:creationId xmlns:p14="http://schemas.microsoft.com/office/powerpoint/2010/main" val="1272161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2DFD9-B813-72D0-9B3A-BF0FC5711196}"/>
              </a:ext>
            </a:extLst>
          </p:cNvPr>
          <p:cNvSpPr>
            <a:spLocks noGrp="1"/>
          </p:cNvSpPr>
          <p:nvPr>
            <p:ph type="title"/>
          </p:nvPr>
        </p:nvSpPr>
        <p:spPr>
          <a:xfrm>
            <a:off x="288759" y="134754"/>
            <a:ext cx="11215854" cy="394635"/>
          </a:xfrm>
        </p:spPr>
        <p:txBody>
          <a:bodyPr>
            <a:noAutofit/>
          </a:bodyPr>
          <a:lstStyle/>
          <a:p>
            <a:r>
              <a:rPr lang="en-US" sz="2400" b="1" dirty="0">
                <a:solidFill>
                  <a:srgbClr val="FF0000"/>
                </a:solidFill>
              </a:rPr>
              <a:t>3)Python Fundamentals Syllabus</a:t>
            </a:r>
          </a:p>
        </p:txBody>
      </p:sp>
      <p:sp>
        <p:nvSpPr>
          <p:cNvPr id="3" name="Content Placeholder 2">
            <a:extLst>
              <a:ext uri="{FF2B5EF4-FFF2-40B4-BE49-F238E27FC236}">
                <a16:creationId xmlns:a16="http://schemas.microsoft.com/office/drawing/2014/main" id="{E8D770D6-B8BC-B481-18EA-0B5DE0BFA43A}"/>
              </a:ext>
            </a:extLst>
          </p:cNvPr>
          <p:cNvSpPr>
            <a:spLocks noGrp="1"/>
          </p:cNvSpPr>
          <p:nvPr>
            <p:ph idx="1"/>
          </p:nvPr>
        </p:nvSpPr>
        <p:spPr>
          <a:xfrm>
            <a:off x="442762" y="789272"/>
            <a:ext cx="11061850" cy="5121950"/>
          </a:xfrm>
        </p:spPr>
        <p:txBody>
          <a:bodyPr/>
          <a:lstStyle/>
          <a:p>
            <a:endParaRPr lang="en-US" dirty="0"/>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variable and datatypes</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print and input function</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operators and its types</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decision making statement if ,if-else, nesting if-else ,ladder if-else</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looping statement for, while and nesting loop</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list, tuple, set, dictionary collection and its  method</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Array and python function and python recursion function</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lambda function</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filter and map</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Type casting</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Python String and its method</a:t>
            </a:r>
          </a:p>
          <a:p>
            <a:pPr>
              <a:buFont typeface="Wingdings" panose="05000000000000000000" pitchFamily="2" charset="2"/>
              <a:buChar char="v"/>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v"/>
            </a:pPr>
            <a:endParaRPr lang="en-US" sz="2000" dirty="0">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269809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DF786-4143-D6D4-E9D9-E2ECDC12F746}"/>
              </a:ext>
            </a:extLst>
          </p:cNvPr>
          <p:cNvSpPr>
            <a:spLocks noGrp="1"/>
          </p:cNvSpPr>
          <p:nvPr>
            <p:ph type="ctrTitle"/>
          </p:nvPr>
        </p:nvSpPr>
        <p:spPr>
          <a:xfrm>
            <a:off x="787400" y="364067"/>
            <a:ext cx="9880600" cy="482600"/>
          </a:xfrm>
        </p:spPr>
        <p:txBody>
          <a:bodyPr>
            <a:normAutofit fontScale="90000"/>
          </a:bodyPr>
          <a:lstStyle/>
          <a:p>
            <a:r>
              <a:rPr lang="en-US" sz="2800" b="1" dirty="0">
                <a:solidFill>
                  <a:srgbClr val="C00000"/>
                </a:solidFill>
                <a:latin typeface="Cambria" panose="02040503050406030204" pitchFamily="18" charset="0"/>
                <a:ea typeface="Cambria" panose="02040503050406030204" pitchFamily="18" charset="0"/>
              </a:rPr>
              <a:t>Python Introduction</a:t>
            </a:r>
          </a:p>
        </p:txBody>
      </p:sp>
      <p:sp>
        <p:nvSpPr>
          <p:cNvPr id="3" name="Subtitle 2">
            <a:extLst>
              <a:ext uri="{FF2B5EF4-FFF2-40B4-BE49-F238E27FC236}">
                <a16:creationId xmlns:a16="http://schemas.microsoft.com/office/drawing/2014/main" id="{23D7BD05-56B5-AE16-6AD6-89E157CDB811}"/>
              </a:ext>
            </a:extLst>
          </p:cNvPr>
          <p:cNvSpPr>
            <a:spLocks noGrp="1"/>
          </p:cNvSpPr>
          <p:nvPr>
            <p:ph type="subTitle" idx="1"/>
          </p:nvPr>
        </p:nvSpPr>
        <p:spPr>
          <a:xfrm>
            <a:off x="365760" y="991402"/>
            <a:ext cx="11588817" cy="5409398"/>
          </a:xfrm>
        </p:spPr>
        <p:txBody>
          <a:bodyPr>
            <a:normAutofit/>
          </a:bodyPr>
          <a:lstStyle/>
          <a:p>
            <a:pPr marL="342900" indent="-342900" algn="l">
              <a:buFont typeface="Arial" panose="020B0604020202020204" pitchFamily="34" charset="0"/>
              <a:buChar char="•"/>
            </a:pPr>
            <a:r>
              <a:rPr lang="en-US" sz="2000" dirty="0">
                <a:latin typeface="Cambria" panose="02040503050406030204" pitchFamily="18" charset="0"/>
                <a:ea typeface="Cambria" panose="02040503050406030204" pitchFamily="18" charset="0"/>
              </a:rPr>
              <a:t>Python is a widely used general purpose, </a:t>
            </a:r>
            <a:r>
              <a:rPr lang="en-IN" sz="1800" dirty="0">
                <a:solidFill>
                  <a:srgbClr val="333333"/>
                </a:solidFill>
                <a:effectLst/>
                <a:latin typeface="Cambria" panose="02040503050406030204" pitchFamily="18" charset="0"/>
                <a:ea typeface="Cambria" panose="02040503050406030204" pitchFamily="18" charset="0"/>
              </a:rPr>
              <a:t>dynamic,</a:t>
            </a:r>
            <a:r>
              <a:rPr lang="en-US" sz="2000" dirty="0">
                <a:latin typeface="Cambria" panose="02040503050406030204" pitchFamily="18" charset="0"/>
                <a:ea typeface="Cambria" panose="02040503050406030204" pitchFamily="18" charset="0"/>
              </a:rPr>
              <a:t> interpreted, high level programming language developed  </a:t>
            </a:r>
            <a:r>
              <a:rPr lang="en-US" sz="2000" dirty="0">
                <a:highlight>
                  <a:srgbClr val="FFFF00"/>
                </a:highlight>
                <a:latin typeface="Cambria" panose="02040503050406030204" pitchFamily="18" charset="0"/>
                <a:ea typeface="Cambria" panose="02040503050406030204" pitchFamily="18" charset="0"/>
              </a:rPr>
              <a:t>by Guido van Rossum in </a:t>
            </a:r>
            <a:r>
              <a:rPr lang="en-US" sz="2000" dirty="0">
                <a:latin typeface="Cambria" panose="02040503050406030204" pitchFamily="18" charset="0"/>
                <a:ea typeface="Cambria" panose="02040503050406030204" pitchFamily="18" charset="0"/>
              </a:rPr>
              <a:t>1991at the national  Research institute of Mathematics and Computer Science Netherlands</a:t>
            </a:r>
          </a:p>
          <a:p>
            <a:pPr marL="342900" indent="-342900" algn="l">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It supports Object Oriented programming approach to develop applications. It is simple and easy to learn and provides lots of high-level data structures.</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342900" indent="-342900" algn="l">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 is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easy to learn</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yet powerful and versatile(to be capable of doing many different things or being used for many different purposes) scripting language, which makes it attractive for Application Development.</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Python's syntax and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dynamic typing</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with its interpreted nature make it an ideal language for scripting and rapid application development.</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285750" marR="0" indent="-285750" algn="just">
              <a:lnSpc>
                <a:spcPct val="115000"/>
              </a:lnSpc>
              <a:spcBef>
                <a:spcPts val="0"/>
              </a:spcBef>
              <a:spcAft>
                <a:spcPts val="600"/>
              </a:spcAft>
              <a:buFont typeface="Arial" panose="020B0604020202020204" pitchFamily="34" charset="0"/>
              <a:buChar char="•"/>
            </a:pP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Python supports </a:t>
            </a:r>
            <a:r>
              <a:rPr lang="en-IN" sz="2000" i="1" dirty="0">
                <a:solidFill>
                  <a:srgbClr val="333333"/>
                </a:solidFill>
                <a:effectLst/>
                <a:latin typeface="Cambria" panose="02040503050406030204" pitchFamily="18" charset="0"/>
                <a:ea typeface="Cambria" panose="02040503050406030204" pitchFamily="18" charset="0"/>
                <a:cs typeface="Arial" panose="020B0604020202020204" pitchFamily="34" charset="0"/>
              </a:rPr>
              <a:t>multiple programming pattern</a:t>
            </a:r>
            <a:r>
              <a:rPr lang="en-IN" sz="2000" dirty="0">
                <a:solidFill>
                  <a:srgbClr val="333333"/>
                </a:solidFill>
                <a:effectLst/>
                <a:latin typeface="Cambria" panose="02040503050406030204" pitchFamily="18" charset="0"/>
                <a:ea typeface="Cambria" panose="02040503050406030204" pitchFamily="18" charset="0"/>
                <a:cs typeface="Arial" panose="020B0604020202020204" pitchFamily="34" charset="0"/>
              </a:rPr>
              <a:t>, including object-oriented, imperative, and functional or procedural programming styles.</a:t>
            </a:r>
            <a:endParaRPr lang="en-US" sz="2000" dirty="0">
              <a:effectLst/>
              <a:latin typeface="Cambria" panose="02040503050406030204" pitchFamily="18" charset="0"/>
              <a:ea typeface="Cambria" panose="02040503050406030204" pitchFamily="18" charset="0"/>
              <a:cs typeface="Arial" panose="020B0604020202020204" pitchFamily="34" charset="0"/>
            </a:endParaRPr>
          </a:p>
          <a:p>
            <a:pPr marL="342900" indent="-342900" algn="l">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l"/>
            <a:endParaRPr lang="en-US" dirty="0">
              <a:highlight>
                <a:srgbClr val="FFFF00"/>
              </a:highligh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72561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2D10F-817B-25A6-4C91-CD1622EDD61F}"/>
              </a:ext>
            </a:extLst>
          </p:cNvPr>
          <p:cNvSpPr>
            <a:spLocks noGrp="1"/>
          </p:cNvSpPr>
          <p:nvPr>
            <p:ph type="title"/>
          </p:nvPr>
        </p:nvSpPr>
        <p:spPr>
          <a:xfrm>
            <a:off x="838200" y="279134"/>
            <a:ext cx="10515600" cy="702643"/>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History Of Python</a:t>
            </a:r>
          </a:p>
        </p:txBody>
      </p:sp>
      <p:sp>
        <p:nvSpPr>
          <p:cNvPr id="3" name="Content Placeholder 2">
            <a:extLst>
              <a:ext uri="{FF2B5EF4-FFF2-40B4-BE49-F238E27FC236}">
                <a16:creationId xmlns:a16="http://schemas.microsoft.com/office/drawing/2014/main" id="{E2F23EC0-F4D4-8460-6A01-2FD04A491054}"/>
              </a:ext>
            </a:extLst>
          </p:cNvPr>
          <p:cNvSpPr>
            <a:spLocks noGrp="1"/>
          </p:cNvSpPr>
          <p:nvPr>
            <p:ph idx="1"/>
          </p:nvPr>
        </p:nvSpPr>
        <p:spPr>
          <a:xfrm>
            <a:off x="838200" y="981777"/>
            <a:ext cx="10515600" cy="5195185"/>
          </a:xfrm>
        </p:spPr>
        <p:txBody>
          <a:bodyPr>
            <a:normAutofit/>
          </a:bodyPr>
          <a:lstStyle/>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In February 1991, </a:t>
            </a:r>
            <a:r>
              <a:rPr lang="en-IN" sz="1800" b="1" dirty="0">
                <a:solidFill>
                  <a:srgbClr val="000000"/>
                </a:solidFill>
                <a:effectLst/>
                <a:latin typeface="Cambria" panose="02040503050406030204" pitchFamily="18" charset="0"/>
                <a:ea typeface="Cambria" panose="02040503050406030204" pitchFamily="18" charset="0"/>
                <a:cs typeface="Mangal" panose="02040503050203030202" pitchFamily="18" charset="0"/>
              </a:rPr>
              <a:t>Guido Van Rossum</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published the code (</a:t>
            </a:r>
            <a:r>
              <a:rPr lang="en-IN" sz="1800" dirty="0" err="1">
                <a:solidFill>
                  <a:srgbClr val="000000"/>
                </a:solidFill>
                <a:effectLst/>
                <a:latin typeface="Cambria" panose="02040503050406030204" pitchFamily="18" charset="0"/>
                <a:ea typeface="Cambria" panose="02040503050406030204" pitchFamily="18" charset="0"/>
                <a:cs typeface="Mangal" panose="02040503050203030202" pitchFamily="18" charset="0"/>
              </a:rPr>
              <a:t>labeled</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version 0.9.0) to alt. sources.</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In 1994, Python 1.0 was released with new features like lambda, map, filter, and reduce.</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Python 2.0 added new features such as list comprehensions, garbage collection systems.</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On December 3, 2008, Python 3.0 (also called "Py3K") was released. It was designed to rectify the fundamental flow of the language.</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pPr marL="342900" marR="0" lvl="0" indent="-342900" algn="just">
              <a:lnSpc>
                <a:spcPct val="156000"/>
              </a:lnSpc>
              <a:spcBef>
                <a:spcPts val="300"/>
              </a:spcBef>
              <a:spcAft>
                <a:spcPts val="500"/>
              </a:spcAft>
              <a:buFont typeface="Arial" panose="020B0604020202020204" pitchFamily="34" charset="0"/>
              <a:buChar char="•"/>
              <a:tabLst>
                <a:tab pos="457200" algn="l"/>
              </a:tabLst>
            </a:pPr>
            <a:r>
              <a:rPr lang="en-IN" sz="1800" i="1" dirty="0">
                <a:solidFill>
                  <a:srgbClr val="000000"/>
                </a:solidFill>
                <a:effectLst/>
                <a:latin typeface="Cambria" panose="02040503050406030204" pitchFamily="18" charset="0"/>
                <a:ea typeface="Cambria" panose="02040503050406030204" pitchFamily="18" charset="0"/>
                <a:cs typeface="Mangal" panose="02040503050203030202" pitchFamily="18" charset="0"/>
              </a:rPr>
              <a:t>ABC programming language</a:t>
            </a:r>
            <a:r>
              <a:rPr lang="en-IN" sz="1800" dirty="0">
                <a:solidFill>
                  <a:srgbClr val="000000"/>
                </a:solidFill>
                <a:effectLst/>
                <a:latin typeface="Cambria" panose="02040503050406030204" pitchFamily="18" charset="0"/>
                <a:ea typeface="Cambria" panose="02040503050406030204" pitchFamily="18" charset="0"/>
                <a:cs typeface="Mangal" panose="02040503050203030202" pitchFamily="18" charset="0"/>
              </a:rPr>
              <a:t> is said to be the predecessor of Python language, which was capable of Exception Handling and interfacing with the Amoeba Operating System.</a:t>
            </a:r>
            <a:endParaRPr lang="en-US" sz="1800" dirty="0">
              <a:effectLst/>
              <a:latin typeface="Cambria" panose="02040503050406030204" pitchFamily="18" charset="0"/>
              <a:ea typeface="Cambria" panose="02040503050406030204" pitchFamily="18" charset="0"/>
              <a:cs typeface="Mangal" panose="02040503050203030202"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98256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7A40990-51DE-5531-0DAD-15A65AC835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4026" y="1414915"/>
            <a:ext cx="10366408" cy="4496936"/>
          </a:xfrm>
        </p:spPr>
      </p:pic>
    </p:spTree>
    <p:extLst>
      <p:ext uri="{BB962C8B-B14F-4D97-AF65-F5344CB8AC3E}">
        <p14:creationId xmlns:p14="http://schemas.microsoft.com/office/powerpoint/2010/main" val="1769531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7D90B-FBA1-BDA6-1C26-A7B29E6EC04C}"/>
              </a:ext>
            </a:extLst>
          </p:cNvPr>
          <p:cNvSpPr>
            <a:spLocks noGrp="1"/>
          </p:cNvSpPr>
          <p:nvPr>
            <p:ph type="title"/>
          </p:nvPr>
        </p:nvSpPr>
        <p:spPr>
          <a:xfrm>
            <a:off x="962527" y="624110"/>
            <a:ext cx="10542086" cy="810054"/>
          </a:xfrm>
        </p:spPr>
        <p:txBody>
          <a:bodyPr>
            <a:normAutofit fontScale="90000"/>
          </a:bodyPr>
          <a:lstStyle/>
          <a:p>
            <a:r>
              <a:rPr lang="en-IN" sz="3100" dirty="0">
                <a:solidFill>
                  <a:srgbClr val="C00000"/>
                </a:solidFill>
                <a:effectLst/>
                <a:latin typeface="Cambria" panose="02040503050406030204" pitchFamily="18" charset="0"/>
                <a:ea typeface="Cambria" panose="02040503050406030204" pitchFamily="18" charset="0"/>
                <a:cs typeface="Mangal" panose="02040503050203030202" pitchFamily="18" charset="0"/>
              </a:rPr>
              <a:t>Why the Name Python?</a:t>
            </a:r>
            <a:br>
              <a:rPr lang="en-US" sz="3600" dirty="0">
                <a:effectLst/>
                <a:latin typeface="Calibri" panose="020F0502020204030204" pitchFamily="34" charset="0"/>
                <a:ea typeface="Times New Roman" panose="02020603050405020304" pitchFamily="18" charset="0"/>
                <a:cs typeface="Mangal" panose="02040503050203030202" pitchFamily="18" charset="0"/>
              </a:rPr>
            </a:br>
            <a:endParaRPr lang="en-US" dirty="0"/>
          </a:p>
        </p:txBody>
      </p:sp>
      <p:sp>
        <p:nvSpPr>
          <p:cNvPr id="3" name="Content Placeholder 2">
            <a:extLst>
              <a:ext uri="{FF2B5EF4-FFF2-40B4-BE49-F238E27FC236}">
                <a16:creationId xmlns:a16="http://schemas.microsoft.com/office/drawing/2014/main" id="{BC18EB59-A146-B136-F708-D9BB896F1232}"/>
              </a:ext>
            </a:extLst>
          </p:cNvPr>
          <p:cNvSpPr>
            <a:spLocks noGrp="1"/>
          </p:cNvSpPr>
          <p:nvPr>
            <p:ph idx="1"/>
          </p:nvPr>
        </p:nvSpPr>
        <p:spPr>
          <a:xfrm>
            <a:off x="616017" y="1434164"/>
            <a:ext cx="10888595" cy="4799726"/>
          </a:xfrm>
        </p:spPr>
        <p:txBody>
          <a:bodyPr>
            <a:normAutofit/>
          </a:bodyPr>
          <a:lstStyle/>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There is a fact behind choosing the name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2"/>
              </a:rPr>
              <a:t>Python</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Guido van Rossum</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was reading the script of a popular BBC comedy series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Monty Python's Flying Circus</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It was late on-air 1970s.</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Van Rossum wanted to select a name which unique, sort, and little-bit mysterious. </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So he decided to select naming Python after the </a:t>
            </a:r>
            <a:r>
              <a:rPr lang="en-IN" sz="2000" b="1" dirty="0">
                <a:solidFill>
                  <a:srgbClr val="333333"/>
                </a:solidFill>
                <a:effectLst/>
                <a:latin typeface="Cambria" panose="02040503050406030204" pitchFamily="18" charset="0"/>
                <a:ea typeface="Cambria" panose="02040503050406030204" pitchFamily="18" charset="0"/>
                <a:cs typeface="Mangal" panose="02040503050203030202" pitchFamily="18" charset="0"/>
              </a:rPr>
              <a:t>"Monty Python's Flying Circus"</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for their newly created programming language.</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The comedy series was creative and well random.</a:t>
            </a: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It talks about everything. Thus it is slow and unpredictable, which made it very interesting.</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pPr marL="0" marR="0" algn="just">
              <a:lnSpc>
                <a:spcPct val="107000"/>
              </a:lnSpc>
              <a:spcBef>
                <a:spcPts val="500"/>
              </a:spcBef>
              <a:spcAft>
                <a:spcPts val="500"/>
              </a:spcAft>
            </a:pP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Python is also versatile and widely used in every technical field, such as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3"/>
              </a:rPr>
              <a:t>Machine Learning</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4"/>
              </a:rPr>
              <a:t>Artificial Intelligence</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Data Analytics, Web Development, </a:t>
            </a:r>
            <a:r>
              <a:rPr lang="en-IN" sz="2000" u="sng" dirty="0">
                <a:solidFill>
                  <a:srgbClr val="008000"/>
                </a:solidFill>
                <a:effectLst/>
                <a:latin typeface="Cambria" panose="02040503050406030204" pitchFamily="18" charset="0"/>
                <a:ea typeface="Cambria" panose="02040503050406030204" pitchFamily="18" charset="0"/>
                <a:cs typeface="Mangal" panose="02040503050203030202" pitchFamily="18" charset="0"/>
                <a:hlinkClick r:id="rId5"/>
              </a:rPr>
              <a:t>Mobile Application</a:t>
            </a:r>
            <a:r>
              <a:rPr lang="en-IN" sz="2000" dirty="0">
                <a:solidFill>
                  <a:srgbClr val="333333"/>
                </a:solidFill>
                <a:effectLst/>
                <a:latin typeface="Cambria" panose="02040503050406030204" pitchFamily="18" charset="0"/>
                <a:ea typeface="Cambria" panose="02040503050406030204" pitchFamily="18" charset="0"/>
                <a:cs typeface="Mangal" panose="02040503050203030202" pitchFamily="18" charset="0"/>
              </a:rPr>
              <a:t>, Desktop Application, Scientific Calculation, etc.</a:t>
            </a:r>
            <a:endParaRPr lang="en-US" sz="2000" dirty="0">
              <a:effectLst/>
              <a:latin typeface="Cambria" panose="02040503050406030204" pitchFamily="18" charset="0"/>
              <a:ea typeface="Cambria" panose="02040503050406030204" pitchFamily="18" charset="0"/>
              <a:cs typeface="Mangal" panose="02040503050203030202" pitchFamily="18" charset="0"/>
            </a:endParaRP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8652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D00F-C2C6-4A71-E22E-112D873A83D8}"/>
              </a:ext>
            </a:extLst>
          </p:cNvPr>
          <p:cNvSpPr>
            <a:spLocks noGrp="1"/>
          </p:cNvSpPr>
          <p:nvPr>
            <p:ph type="title"/>
          </p:nvPr>
        </p:nvSpPr>
        <p:spPr>
          <a:xfrm>
            <a:off x="838200" y="365126"/>
            <a:ext cx="10515600" cy="664778"/>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Features of Python</a:t>
            </a:r>
          </a:p>
        </p:txBody>
      </p:sp>
      <p:sp>
        <p:nvSpPr>
          <p:cNvPr id="3" name="Content Placeholder 2">
            <a:extLst>
              <a:ext uri="{FF2B5EF4-FFF2-40B4-BE49-F238E27FC236}">
                <a16:creationId xmlns:a16="http://schemas.microsoft.com/office/drawing/2014/main" id="{A65F0719-CF10-42A3-EDAE-3E8ED034E2B5}"/>
              </a:ext>
            </a:extLst>
          </p:cNvPr>
          <p:cNvSpPr>
            <a:spLocks noGrp="1"/>
          </p:cNvSpPr>
          <p:nvPr>
            <p:ph idx="1"/>
          </p:nvPr>
        </p:nvSpPr>
        <p:spPr>
          <a:xfrm>
            <a:off x="838200" y="1029904"/>
            <a:ext cx="10981623" cy="5630777"/>
          </a:xfrm>
        </p:spPr>
        <p:txBody>
          <a:bodyPr>
            <a:normAutofit/>
          </a:bodyPr>
          <a:lstStyle/>
          <a:p>
            <a:pPr>
              <a:buFont typeface="Wingdings" panose="05000000000000000000" pitchFamily="2" charset="2"/>
              <a:buChar char="Ø"/>
            </a:pPr>
            <a:endParaRPr lang="en-US" sz="1800" dirty="0">
              <a:solidFill>
                <a:srgbClr val="610B4B"/>
              </a:solidFill>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1800" dirty="0">
                <a:solidFill>
                  <a:srgbClr val="610B4B"/>
                </a:solidFill>
                <a:effectLst/>
                <a:latin typeface="Cambria" panose="02040503050406030204" pitchFamily="18" charset="0"/>
                <a:ea typeface="Cambria" panose="02040503050406030204" pitchFamily="18" charset="0"/>
              </a:rPr>
              <a:t>Simple and Easy To Learn</a:t>
            </a: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easy to learn as compared to other programming languages. Its syntax is straightforward and much the same as the English language. There is no use of the semicolon or curly-bracket, the indentation defines the code block.</a:t>
            </a:r>
            <a:endParaRPr lang="en-US" sz="180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effectLst/>
                <a:latin typeface="Cambria" panose="02040503050406030204" pitchFamily="18" charset="0"/>
                <a:ea typeface="Cambria" panose="02040503050406030204" pitchFamily="18" charset="0"/>
              </a:rPr>
              <a:t>Expressive Language</a:t>
            </a: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can perform complex tasks using a few lines of code. A simple example, the hello world program you simply type </a:t>
            </a:r>
            <a:r>
              <a:rPr lang="en-IN" sz="1800" b="1" dirty="0">
                <a:solidFill>
                  <a:srgbClr val="333333"/>
                </a:solidFill>
                <a:effectLst/>
                <a:latin typeface="Cambria" panose="02040503050406030204" pitchFamily="18" charset="0"/>
                <a:ea typeface="Cambria" panose="02040503050406030204" pitchFamily="18" charset="0"/>
              </a:rPr>
              <a:t>print("Hello World")</a:t>
            </a:r>
            <a:r>
              <a:rPr lang="en-IN" sz="1800" dirty="0">
                <a:solidFill>
                  <a:srgbClr val="333333"/>
                </a:solidFill>
                <a:effectLst/>
                <a:latin typeface="Cambria" panose="02040503050406030204" pitchFamily="18" charset="0"/>
                <a:ea typeface="Cambria" panose="02040503050406030204" pitchFamily="18" charset="0"/>
              </a:rPr>
              <a:t>. It will take only one line to execute, while Java or C takes multiple lines.</a:t>
            </a:r>
            <a:endParaRPr lang="en-IN" sz="1800" dirty="0">
              <a:solidFill>
                <a:srgbClr val="610B4B"/>
              </a:solidFill>
              <a:effectLst/>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latin typeface="Cambria" panose="02040503050406030204" pitchFamily="18" charset="0"/>
                <a:ea typeface="Cambria" panose="02040503050406030204" pitchFamily="18" charset="0"/>
              </a:rPr>
              <a:t>Interpreted language</a:t>
            </a: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an interpreted language; it means the Python program is executed one line at a time. The advantage of being interpreted language, it makes debugging easy and portable.</a:t>
            </a:r>
            <a:endParaRPr lang="en-IN" sz="1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800" dirty="0">
                <a:solidFill>
                  <a:srgbClr val="610B4B"/>
                </a:solidFill>
                <a:latin typeface="Cambria" panose="02040503050406030204" pitchFamily="18" charset="0"/>
                <a:ea typeface="Cambria" panose="02040503050406030204" pitchFamily="18" charset="0"/>
              </a:rPr>
              <a:t>Cross platform Language</a:t>
            </a: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can run equally on different platforms such as Windows, Linux, UNIX, and Macintosh. So, we can say that Python is a portable language. It enables programmers to develop the software for several competing platforms by writing a program only once.</a:t>
            </a:r>
            <a:endParaRPr lang="en-IN" sz="1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endParaRPr lang="en-IN" sz="1800" dirty="0">
              <a:solidFill>
                <a:srgbClr val="610B4B"/>
              </a:solidFill>
              <a:latin typeface="Cambria" panose="02040503050406030204" pitchFamily="18" charset="0"/>
              <a:ea typeface="Cambria" panose="02040503050406030204" pitchFamily="18" charset="0"/>
            </a:endParaRPr>
          </a:p>
          <a:p>
            <a:pPr marL="0" indent="0">
              <a:buNone/>
            </a:pPr>
            <a:endParaRPr lang="en-US"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231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C437CB-511A-9CA3-6176-F932E61CEFCB}"/>
              </a:ext>
            </a:extLst>
          </p:cNvPr>
          <p:cNvSpPr>
            <a:spLocks noGrp="1"/>
          </p:cNvSpPr>
          <p:nvPr>
            <p:ph idx="1"/>
          </p:nvPr>
        </p:nvSpPr>
        <p:spPr>
          <a:xfrm>
            <a:off x="519764" y="924025"/>
            <a:ext cx="10834036" cy="5467150"/>
          </a:xfrm>
        </p:spPr>
        <p:txBody>
          <a:bodyPr>
            <a:normAutofit/>
          </a:bodyPr>
          <a:lstStyle/>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Free and Open Source</a:t>
            </a: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is freely available for everyone. It is freely available on its official website </a:t>
            </a:r>
            <a:r>
              <a:rPr lang="en-IN" sz="1800" u="sng" dirty="0">
                <a:solidFill>
                  <a:srgbClr val="008000"/>
                </a:solidFill>
                <a:effectLst/>
                <a:latin typeface="Cambria" panose="02040503050406030204" pitchFamily="18" charset="0"/>
                <a:ea typeface="Cambria" panose="02040503050406030204" pitchFamily="18" charset="0"/>
                <a:hlinkClick r:id="rId2"/>
              </a:rPr>
              <a:t>www.python.org</a:t>
            </a:r>
            <a:r>
              <a:rPr lang="en-IN" sz="1800" dirty="0">
                <a:solidFill>
                  <a:srgbClr val="333333"/>
                </a:solidFill>
                <a:effectLst/>
                <a:latin typeface="Cambria" panose="02040503050406030204" pitchFamily="18" charset="0"/>
                <a:ea typeface="Cambria" panose="02040503050406030204" pitchFamily="18" charset="0"/>
              </a:rPr>
              <a:t>. It has a large community across the world that is dedicatedly working towards make new python modules and functions. Anyone can contribute to the Python community. The open-source means, "Anyone can download its source code without paying any penny."</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Object Oriented Programming Language</a:t>
            </a:r>
          </a:p>
          <a:p>
            <a:pPr marL="0" indent="0">
              <a:buNone/>
            </a:pPr>
            <a:r>
              <a:rPr lang="en-IN" sz="1800" dirty="0">
                <a:solidFill>
                  <a:srgbClr val="333333"/>
                </a:solidFill>
                <a:effectLst/>
                <a:latin typeface="Cambria" panose="02040503050406030204" pitchFamily="18" charset="0"/>
                <a:ea typeface="Cambria" panose="02040503050406030204" pitchFamily="18" charset="0"/>
              </a:rPr>
              <a:t>Python supports object-oriented language and concepts of classes and objects come into existence. It supports inheritance, polymorphism, and encapsulation, etc. The object-oriented procedure helps to programmer to write reusable code and develop applications in less code.</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Large Standard </a:t>
            </a:r>
            <a:r>
              <a:rPr lang="en-IN" sz="1900" dirty="0">
                <a:solidFill>
                  <a:srgbClr val="610B4B"/>
                </a:solidFill>
                <a:effectLst/>
                <a:latin typeface="Cambria" panose="02040503050406030204" pitchFamily="18" charset="0"/>
                <a:ea typeface="Cambria" panose="02040503050406030204" pitchFamily="18" charset="0"/>
                <a:cs typeface="Times New Roman" panose="02020603050405020304" pitchFamily="18" charset="0"/>
              </a:rPr>
              <a:t>Library</a:t>
            </a:r>
          </a:p>
          <a:p>
            <a:pPr marL="0" indent="0">
              <a:buNone/>
            </a:pPr>
            <a:r>
              <a:rPr lang="en-IN" sz="1800" dirty="0">
                <a:solidFill>
                  <a:srgbClr val="333333"/>
                </a:solidFill>
                <a:effectLst/>
                <a:latin typeface="Cambria" panose="02040503050406030204" pitchFamily="18" charset="0"/>
                <a:ea typeface="Cambria" panose="02040503050406030204" pitchFamily="18" charset="0"/>
              </a:rPr>
              <a:t>It provides a vast range of libraries for the various fields such as machine learning, web developer, and also for the scripting. There are various machine learning libraries, such as Tensor flow, Pandas, </a:t>
            </a:r>
            <a:r>
              <a:rPr lang="en-IN" sz="1800" dirty="0" err="1">
                <a:solidFill>
                  <a:srgbClr val="333333"/>
                </a:solidFill>
                <a:effectLst/>
                <a:latin typeface="Cambria" panose="02040503050406030204" pitchFamily="18" charset="0"/>
                <a:ea typeface="Cambria" panose="02040503050406030204" pitchFamily="18" charset="0"/>
              </a:rPr>
              <a:t>Numpy</a:t>
            </a:r>
            <a:r>
              <a:rPr lang="en-IN" sz="1800" dirty="0">
                <a:solidFill>
                  <a:srgbClr val="333333"/>
                </a:solidFill>
                <a:effectLst/>
                <a:latin typeface="Cambria" panose="02040503050406030204" pitchFamily="18" charset="0"/>
                <a:ea typeface="Cambria" panose="02040503050406030204" pitchFamily="18" charset="0"/>
              </a:rPr>
              <a:t>, </a:t>
            </a:r>
            <a:r>
              <a:rPr lang="en-IN" sz="1800" dirty="0" err="1">
                <a:solidFill>
                  <a:srgbClr val="333333"/>
                </a:solidFill>
                <a:effectLst/>
                <a:latin typeface="Cambria" panose="02040503050406030204" pitchFamily="18" charset="0"/>
                <a:ea typeface="Cambria" panose="02040503050406030204" pitchFamily="18" charset="0"/>
              </a:rPr>
              <a:t>Keras</a:t>
            </a:r>
            <a:r>
              <a:rPr lang="en-IN" sz="1800" dirty="0">
                <a:solidFill>
                  <a:srgbClr val="333333"/>
                </a:solidFill>
                <a:effectLst/>
                <a:latin typeface="Cambria" panose="02040503050406030204" pitchFamily="18" charset="0"/>
                <a:ea typeface="Cambria" panose="02040503050406030204" pitchFamily="18" charset="0"/>
              </a:rPr>
              <a:t>, and </a:t>
            </a:r>
            <a:r>
              <a:rPr lang="en-IN" sz="1800" dirty="0" err="1">
                <a:solidFill>
                  <a:srgbClr val="333333"/>
                </a:solidFill>
                <a:effectLst/>
                <a:latin typeface="Cambria" panose="02040503050406030204" pitchFamily="18" charset="0"/>
                <a:ea typeface="Cambria" panose="02040503050406030204" pitchFamily="18" charset="0"/>
              </a:rPr>
              <a:t>Pytorch</a:t>
            </a:r>
            <a:r>
              <a:rPr lang="en-IN" sz="1800" dirty="0">
                <a:solidFill>
                  <a:srgbClr val="333333"/>
                </a:solidFill>
                <a:effectLst/>
                <a:latin typeface="Cambria" panose="02040503050406030204" pitchFamily="18" charset="0"/>
                <a:ea typeface="Cambria" panose="02040503050406030204" pitchFamily="18" charset="0"/>
              </a:rPr>
              <a:t>, etc. Django, flask, pyramids are the popular framework for Python web development.</a:t>
            </a:r>
            <a:endParaRPr lang="en-IN" sz="2800" dirty="0">
              <a:solidFill>
                <a:srgbClr val="610B4B"/>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en-IN" sz="1900" dirty="0">
                <a:solidFill>
                  <a:srgbClr val="610B4B"/>
                </a:solidFill>
                <a:latin typeface="Cambria" panose="02040503050406030204" pitchFamily="18" charset="0"/>
                <a:ea typeface="Cambria" panose="02040503050406030204" pitchFamily="18" charset="0"/>
              </a:rPr>
              <a:t>Gui Programming Supports</a:t>
            </a:r>
          </a:p>
          <a:p>
            <a:pPr marL="0" indent="0">
              <a:buNone/>
            </a:pPr>
            <a:r>
              <a:rPr lang="en-IN" sz="1800" dirty="0">
                <a:solidFill>
                  <a:srgbClr val="333333"/>
                </a:solidFill>
                <a:effectLst/>
                <a:latin typeface="Cambria" panose="02040503050406030204" pitchFamily="18" charset="0"/>
                <a:ea typeface="Cambria" panose="02040503050406030204" pitchFamily="18" charset="0"/>
              </a:rPr>
              <a:t>Graphical User Interface is used for the developing Desktop application. PyQT5, </a:t>
            </a:r>
            <a:r>
              <a:rPr lang="en-IN" sz="1800" dirty="0" err="1">
                <a:solidFill>
                  <a:srgbClr val="333333"/>
                </a:solidFill>
                <a:effectLst/>
                <a:latin typeface="Cambria" panose="02040503050406030204" pitchFamily="18" charset="0"/>
                <a:ea typeface="Cambria" panose="02040503050406030204" pitchFamily="18" charset="0"/>
              </a:rPr>
              <a:t>Tkinter</a:t>
            </a:r>
            <a:r>
              <a:rPr lang="en-IN" sz="1800" dirty="0">
                <a:solidFill>
                  <a:srgbClr val="333333"/>
                </a:solidFill>
                <a:effectLst/>
                <a:latin typeface="Cambria" panose="02040503050406030204" pitchFamily="18" charset="0"/>
                <a:ea typeface="Cambria" panose="02040503050406030204" pitchFamily="18" charset="0"/>
              </a:rPr>
              <a:t>, </a:t>
            </a:r>
            <a:r>
              <a:rPr lang="en-IN" sz="1800" dirty="0" err="1">
                <a:solidFill>
                  <a:srgbClr val="333333"/>
                </a:solidFill>
                <a:effectLst/>
                <a:latin typeface="Cambria" panose="02040503050406030204" pitchFamily="18" charset="0"/>
                <a:ea typeface="Cambria" panose="02040503050406030204" pitchFamily="18" charset="0"/>
              </a:rPr>
              <a:t>Kivy</a:t>
            </a:r>
            <a:r>
              <a:rPr lang="en-IN" sz="1800" dirty="0">
                <a:solidFill>
                  <a:srgbClr val="333333"/>
                </a:solidFill>
                <a:effectLst/>
                <a:latin typeface="Cambria" panose="02040503050406030204" pitchFamily="18" charset="0"/>
                <a:ea typeface="Cambria" panose="02040503050406030204" pitchFamily="18" charset="0"/>
              </a:rPr>
              <a:t> are the libraries which are used for developing the web application.</a:t>
            </a:r>
            <a:endParaRPr lang="en-US" sz="1800" dirty="0">
              <a:effectLst/>
              <a:latin typeface="Cambria" panose="02040503050406030204" pitchFamily="18" charset="0"/>
              <a:ea typeface="Cambria" panose="02040503050406030204" pitchFamily="18" charset="0"/>
            </a:endParaRPr>
          </a:p>
          <a:p>
            <a:pPr>
              <a:buFont typeface="Wingdings" panose="05000000000000000000" pitchFamily="2" charset="2"/>
              <a:buChar char="Ø"/>
            </a:pPr>
            <a:endParaRPr lang="en-IN" sz="2800" dirty="0">
              <a:solidFill>
                <a:srgbClr val="610B4B"/>
              </a:solidFill>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1500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2DFF2-95B7-239C-8AF2-25282D57DE08}"/>
              </a:ext>
            </a:extLst>
          </p:cNvPr>
          <p:cNvSpPr>
            <a:spLocks noGrp="1"/>
          </p:cNvSpPr>
          <p:nvPr>
            <p:ph type="title"/>
          </p:nvPr>
        </p:nvSpPr>
        <p:spPr>
          <a:xfrm>
            <a:off x="838200" y="365125"/>
            <a:ext cx="10515600" cy="625475"/>
          </a:xfrm>
        </p:spPr>
        <p:txBody>
          <a:bodyPr>
            <a:normAutofit/>
          </a:bodyPr>
          <a:lstStyle/>
          <a:p>
            <a:r>
              <a:rPr lang="en-US" sz="2800" dirty="0">
                <a:solidFill>
                  <a:srgbClr val="FF0000"/>
                </a:solidFill>
                <a:latin typeface="Cambria" panose="02040503050406030204" pitchFamily="18" charset="0"/>
                <a:ea typeface="Cambria" panose="02040503050406030204" pitchFamily="18" charset="0"/>
              </a:rPr>
              <a:t>Python Applications</a:t>
            </a:r>
          </a:p>
        </p:txBody>
      </p:sp>
      <p:pic>
        <p:nvPicPr>
          <p:cNvPr id="4" name="Content Placeholder 3">
            <a:extLst>
              <a:ext uri="{FF2B5EF4-FFF2-40B4-BE49-F238E27FC236}">
                <a16:creationId xmlns:a16="http://schemas.microsoft.com/office/drawing/2014/main" id="{E0133666-2B57-2859-B87A-14266D0136C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06906" y="1361974"/>
            <a:ext cx="9673390" cy="4932948"/>
          </a:xfrm>
          <a:prstGeom prst="rect">
            <a:avLst/>
          </a:prstGeom>
          <a:noFill/>
          <a:ln>
            <a:noFill/>
          </a:ln>
        </p:spPr>
      </p:pic>
    </p:spTree>
    <p:extLst>
      <p:ext uri="{BB962C8B-B14F-4D97-AF65-F5344CB8AC3E}">
        <p14:creationId xmlns:p14="http://schemas.microsoft.com/office/powerpoint/2010/main" val="3960223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5FAFEC-43D6-B240-A052-E4585A1CC669}"/>
              </a:ext>
            </a:extLst>
          </p:cNvPr>
          <p:cNvSpPr>
            <a:spLocks noGrp="1"/>
          </p:cNvSpPr>
          <p:nvPr>
            <p:ph idx="1"/>
          </p:nvPr>
        </p:nvSpPr>
        <p:spPr>
          <a:xfrm>
            <a:off x="789272" y="711200"/>
            <a:ext cx="10715340" cy="5545221"/>
          </a:xfrm>
        </p:spPr>
        <p:txBody>
          <a:bodyPr>
            <a:normAutofit/>
          </a:bodyPr>
          <a:lstStyle/>
          <a:p>
            <a:pPr marL="342900" marR="0" lvl="0" indent="-342900" algn="just">
              <a:lnSpc>
                <a:spcPct val="115000"/>
              </a:lnSpc>
              <a:spcBef>
                <a:spcPts val="0"/>
              </a:spcBef>
              <a:spcAft>
                <a:spcPts val="0"/>
              </a:spcAft>
              <a:buFont typeface="+mj-lt"/>
              <a:buAutoNum type="arabicPeriod"/>
            </a:pP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15000"/>
              </a:lnSpc>
              <a:spcBef>
                <a:spcPts val="0"/>
              </a:spcBef>
              <a:spcAft>
                <a:spcPts val="0"/>
              </a:spcAft>
              <a:buFont typeface="+mj-lt"/>
              <a:buAutoNum type="arabicPeriod"/>
            </a:pPr>
            <a:endPar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Web applications  :www.youtube.com , </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hlinkClick r:id="rId2"/>
              </a:rPr>
              <a:t>www.Linkedin.com</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Desktop Gui Application :- Notepad, word,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Pycharm</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Console application : only character based application</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Software Development : ERP Application, Billing application</a:t>
            </a:r>
          </a:p>
          <a:p>
            <a:pPr marL="342900" marR="0" lvl="0" indent="-342900" algn="just">
              <a:lnSpc>
                <a:spcPct val="150000"/>
              </a:lnSpc>
              <a:spcBef>
                <a:spcPts val="0"/>
              </a:spcBef>
              <a:spcAft>
                <a:spcPts val="0"/>
              </a:spcAft>
              <a:buFont typeface="+mj-lt"/>
              <a:buAutoNum type="arabicPeriod"/>
            </a:pP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Audio And Video Based Application: </a:t>
            </a:r>
            <a:r>
              <a:rPr lang="en-US" sz="2000" dirty="0" err="1">
                <a:solidFill>
                  <a:srgbClr val="333333"/>
                </a:solidFill>
                <a:latin typeface="Cambria" panose="02040503050406030204" pitchFamily="18" charset="0"/>
                <a:ea typeface="Cambria" panose="02040503050406030204" pitchFamily="18" charset="0"/>
                <a:cs typeface="Times New Roman" panose="02020603050405020304" pitchFamily="18" charset="0"/>
              </a:rPr>
              <a:t>Cliphamp</a:t>
            </a: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 iMovie, </a:t>
            </a:r>
            <a:r>
              <a:rPr lang="en-US" sz="2000" dirty="0" err="1">
                <a:solidFill>
                  <a:srgbClr val="333333"/>
                </a:solidFill>
                <a:latin typeface="Cambria" panose="02040503050406030204" pitchFamily="18" charset="0"/>
                <a:ea typeface="Cambria" panose="02040503050406030204" pitchFamily="18" charset="0"/>
                <a:cs typeface="Times New Roman" panose="02020603050405020304" pitchFamily="18" charset="0"/>
              </a:rPr>
              <a:t>DanVinci</a:t>
            </a: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 Resolve.</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Business Application :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flipkart</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amazon</a:t>
            </a:r>
          </a:p>
          <a:p>
            <a:pPr marL="342900" marR="0" lvl="0" indent="-342900" algn="just">
              <a:lnSpc>
                <a:spcPct val="150000"/>
              </a:lnSpc>
              <a:spcBef>
                <a:spcPts val="0"/>
              </a:spcBef>
              <a:spcAft>
                <a:spcPts val="0"/>
              </a:spcAft>
              <a:buFont typeface="+mj-lt"/>
              <a:buAutoNum type="arabicPeriod"/>
            </a:pPr>
            <a:r>
              <a:rPr lang="en-US" sz="2000" dirty="0">
                <a:solidFill>
                  <a:srgbClr val="333333"/>
                </a:solidFill>
                <a:latin typeface="Cambria" panose="02040503050406030204" pitchFamily="18" charset="0"/>
                <a:ea typeface="Cambria" panose="02040503050406030204" pitchFamily="18" charset="0"/>
                <a:cs typeface="Times New Roman" panose="02020603050405020304" pitchFamily="18" charset="0"/>
              </a:rPr>
              <a:t>Image Processing Application: X-rays and MRI Scanner.</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Scientific application: Brainly,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Rstudio</a:t>
            </a: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Zotero,Wikipedia</a:t>
            </a:r>
            <a:endPar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latin typeface="Cambria" panose="02040503050406030204" pitchFamily="18" charset="0"/>
                <a:ea typeface="Cambria" panose="02040503050406030204" pitchFamily="18" charset="0"/>
                <a:cs typeface="Times New Roman" panose="02020603050405020304" pitchFamily="18" charset="0"/>
              </a:rPr>
              <a:t>Cad Application : Cad /Com Application</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a:p>
            <a:pPr marL="342900" marR="0" lvl="0" indent="-342900" algn="just">
              <a:lnSpc>
                <a:spcPct val="150000"/>
              </a:lnSpc>
              <a:spcBef>
                <a:spcPts val="0"/>
              </a:spcBef>
              <a:spcAft>
                <a:spcPts val="0"/>
              </a:spcAft>
              <a:buFont typeface="+mj-lt"/>
              <a:buAutoNum type="arabicPeriod"/>
            </a:pPr>
            <a:r>
              <a:rPr lang="en-US" sz="2000" dirty="0">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Enterprise application :SAP/HANA Net Suite, </a:t>
            </a:r>
            <a:r>
              <a:rPr lang="en-US" sz="2000" dirty="0" err="1">
                <a:solidFill>
                  <a:srgbClr val="333333"/>
                </a:solidFill>
                <a:effectLst/>
                <a:latin typeface="Cambria" panose="02040503050406030204" pitchFamily="18" charset="0"/>
                <a:ea typeface="Cambria" panose="02040503050406030204" pitchFamily="18" charset="0"/>
                <a:cs typeface="Times New Roman" panose="02020603050405020304" pitchFamily="18" charset="0"/>
              </a:rPr>
              <a:t>HubSpot,Salesforce</a:t>
            </a:r>
            <a:endParaRPr lang="en-US" sz="20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361474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51580-E5BF-3DF2-5D8A-B41ED80DB158}"/>
              </a:ext>
            </a:extLst>
          </p:cNvPr>
          <p:cNvSpPr>
            <a:spLocks noGrp="1"/>
          </p:cNvSpPr>
          <p:nvPr>
            <p:ph type="title"/>
          </p:nvPr>
        </p:nvSpPr>
        <p:spPr>
          <a:xfrm>
            <a:off x="577517" y="516467"/>
            <a:ext cx="10927095" cy="604411"/>
          </a:xfrm>
        </p:spPr>
        <p:txBody>
          <a:bodyPr>
            <a:normAutofit/>
          </a:bodyPr>
          <a:lstStyle/>
          <a:p>
            <a:r>
              <a:rPr lang="en-US" sz="2800" dirty="0">
                <a:solidFill>
                  <a:srgbClr val="C00000"/>
                </a:solidFill>
                <a:latin typeface="Cambria" panose="02040503050406030204" pitchFamily="18" charset="0"/>
                <a:ea typeface="Cambria" panose="02040503050406030204" pitchFamily="18" charset="0"/>
              </a:rPr>
              <a:t>Careers With Python</a:t>
            </a:r>
          </a:p>
        </p:txBody>
      </p:sp>
      <p:pic>
        <p:nvPicPr>
          <p:cNvPr id="5" name="Content Placeholder 4">
            <a:extLst>
              <a:ext uri="{FF2B5EF4-FFF2-40B4-BE49-F238E27FC236}">
                <a16:creationId xmlns:a16="http://schemas.microsoft.com/office/drawing/2014/main" id="{EE0C3A93-5001-90D3-DDE6-551497710A9E}"/>
              </a:ext>
            </a:extLst>
          </p:cNvPr>
          <p:cNvPicPr>
            <a:picLocks noGrp="1" noChangeAspect="1"/>
          </p:cNvPicPr>
          <p:nvPr>
            <p:ph idx="1"/>
          </p:nvPr>
        </p:nvPicPr>
        <p:blipFill>
          <a:blip r:embed="rId2"/>
          <a:stretch>
            <a:fillRect/>
          </a:stretch>
        </p:blipFill>
        <p:spPr>
          <a:xfrm>
            <a:off x="577517" y="1806341"/>
            <a:ext cx="2945329" cy="3778250"/>
          </a:xfrm>
        </p:spPr>
      </p:pic>
      <p:pic>
        <p:nvPicPr>
          <p:cNvPr id="7" name="Picture 6">
            <a:extLst>
              <a:ext uri="{FF2B5EF4-FFF2-40B4-BE49-F238E27FC236}">
                <a16:creationId xmlns:a16="http://schemas.microsoft.com/office/drawing/2014/main" id="{2DD9225E-F888-5DB7-8813-6266F2827A75}"/>
              </a:ext>
            </a:extLst>
          </p:cNvPr>
          <p:cNvPicPr>
            <a:picLocks noChangeAspect="1"/>
          </p:cNvPicPr>
          <p:nvPr/>
        </p:nvPicPr>
        <p:blipFill>
          <a:blip r:embed="rId3"/>
          <a:stretch>
            <a:fillRect/>
          </a:stretch>
        </p:blipFill>
        <p:spPr>
          <a:xfrm>
            <a:off x="3313895" y="3695466"/>
            <a:ext cx="3734873" cy="2159540"/>
          </a:xfrm>
          <a:prstGeom prst="rect">
            <a:avLst/>
          </a:prstGeom>
        </p:spPr>
      </p:pic>
      <p:pic>
        <p:nvPicPr>
          <p:cNvPr id="9" name="Picture 8">
            <a:extLst>
              <a:ext uri="{FF2B5EF4-FFF2-40B4-BE49-F238E27FC236}">
                <a16:creationId xmlns:a16="http://schemas.microsoft.com/office/drawing/2014/main" id="{45FCBB92-FDFE-A7E8-6BEB-4BAA6526154B}"/>
              </a:ext>
            </a:extLst>
          </p:cNvPr>
          <p:cNvPicPr>
            <a:picLocks noChangeAspect="1"/>
          </p:cNvPicPr>
          <p:nvPr/>
        </p:nvPicPr>
        <p:blipFill>
          <a:blip r:embed="rId4"/>
          <a:stretch>
            <a:fillRect/>
          </a:stretch>
        </p:blipFill>
        <p:spPr>
          <a:xfrm>
            <a:off x="4499020" y="2010318"/>
            <a:ext cx="1596980" cy="1601821"/>
          </a:xfrm>
          <a:prstGeom prst="rect">
            <a:avLst/>
          </a:prstGeom>
        </p:spPr>
      </p:pic>
      <p:pic>
        <p:nvPicPr>
          <p:cNvPr id="11" name="Picture 10">
            <a:extLst>
              <a:ext uri="{FF2B5EF4-FFF2-40B4-BE49-F238E27FC236}">
                <a16:creationId xmlns:a16="http://schemas.microsoft.com/office/drawing/2014/main" id="{93D9451C-AB8C-C61D-4A74-115ABCB76504}"/>
              </a:ext>
            </a:extLst>
          </p:cNvPr>
          <p:cNvPicPr>
            <a:picLocks noChangeAspect="1"/>
          </p:cNvPicPr>
          <p:nvPr/>
        </p:nvPicPr>
        <p:blipFill>
          <a:blip r:embed="rId5"/>
          <a:stretch>
            <a:fillRect/>
          </a:stretch>
        </p:blipFill>
        <p:spPr>
          <a:xfrm>
            <a:off x="7847548" y="1120878"/>
            <a:ext cx="3503054" cy="4734128"/>
          </a:xfrm>
          <a:prstGeom prst="rect">
            <a:avLst/>
          </a:prstGeom>
        </p:spPr>
      </p:pic>
    </p:spTree>
    <p:extLst>
      <p:ext uri="{BB962C8B-B14F-4D97-AF65-F5344CB8AC3E}">
        <p14:creationId xmlns:p14="http://schemas.microsoft.com/office/powerpoint/2010/main" val="2379839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16032-B92F-329E-8B98-C2EFBFBF887B}"/>
              </a:ext>
            </a:extLst>
          </p:cNvPr>
          <p:cNvSpPr>
            <a:spLocks noGrp="1"/>
          </p:cNvSpPr>
          <p:nvPr>
            <p:ph type="title"/>
          </p:nvPr>
        </p:nvSpPr>
        <p:spPr>
          <a:xfrm>
            <a:off x="664142" y="385011"/>
            <a:ext cx="10323897" cy="933651"/>
          </a:xfrm>
        </p:spPr>
        <p:txBody>
          <a:bodyPr>
            <a:normAutofit/>
          </a:bodyPr>
          <a:lstStyle/>
          <a:p>
            <a:r>
              <a:rPr lang="en-US" sz="2000" b="1" u="sng" spc="-10" dirty="0">
                <a:solidFill>
                  <a:srgbClr val="C00000"/>
                </a:solidFill>
                <a:effectLst/>
                <a:latin typeface="Cambria" panose="02040503050406030204" pitchFamily="18" charset="0"/>
                <a:ea typeface="Cambria" panose="02040503050406030204" pitchFamily="18" charset="0"/>
              </a:rPr>
              <a:t>Installation of Python</a:t>
            </a:r>
            <a:br>
              <a:rPr lang="en-US" sz="2000" dirty="0">
                <a:solidFill>
                  <a:srgbClr val="C00000"/>
                </a:solidFill>
                <a:effectLst/>
                <a:latin typeface="Cambria" panose="02040503050406030204" pitchFamily="18" charset="0"/>
                <a:ea typeface="Cambria" panose="02040503050406030204" pitchFamily="18" charset="0"/>
              </a:rPr>
            </a:br>
            <a:endParaRPr lang="en-US" sz="2000" dirty="0">
              <a:solidFill>
                <a:srgbClr val="C00000"/>
              </a:solidFill>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C2AA3DD3-0756-F927-5A80-E5CE2F168384}"/>
              </a:ext>
            </a:extLst>
          </p:cNvPr>
          <p:cNvSpPr>
            <a:spLocks noGrp="1"/>
          </p:cNvSpPr>
          <p:nvPr>
            <p:ph idx="1"/>
          </p:nvPr>
        </p:nvSpPr>
        <p:spPr>
          <a:xfrm>
            <a:off x="933651" y="1472665"/>
            <a:ext cx="10570961" cy="4438557"/>
          </a:xfrm>
        </p:spPr>
        <p:txBody>
          <a:bodyPr>
            <a:normAutofit/>
          </a:bodyPr>
          <a:lstStyle/>
          <a:p>
            <a:pPr marL="401955" marR="288290">
              <a:lnSpc>
                <a:spcPct val="115000"/>
              </a:lnSpc>
              <a:spcBef>
                <a:spcPts val="1200"/>
              </a:spcBef>
              <a:spcAft>
                <a:spcPts val="0"/>
              </a:spcAft>
            </a:pPr>
            <a:r>
              <a:rPr lang="en-US" sz="2000" dirty="0">
                <a:effectLst/>
                <a:latin typeface="Cambria" panose="02040503050406030204" pitchFamily="18" charset="0"/>
                <a:ea typeface="Cambria" panose="02040503050406030204" pitchFamily="18" charset="0"/>
              </a:rPr>
              <a:t>There are many interpreters available freely to run Python scripts like IDLE (Integrated Development</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Environment)</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which</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is</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installed</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when</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you</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the</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2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software</a:t>
            </a:r>
            <a:r>
              <a:rPr lang="en-US" sz="2000" spc="40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from</a:t>
            </a:r>
          </a:p>
          <a:p>
            <a:pPr marL="401955" marR="288290">
              <a:lnSpc>
                <a:spcPct val="115000"/>
              </a:lnSpc>
              <a:spcBef>
                <a:spcPts val="1200"/>
              </a:spcBef>
              <a:spcAft>
                <a:spcPts val="0"/>
              </a:spcAft>
            </a:pPr>
            <a:r>
              <a:rPr lang="en-US" sz="2000" dirty="0">
                <a:latin typeface="Cambria" panose="02040503050406030204" pitchFamily="18" charset="0"/>
                <a:ea typeface="Cambria" panose="02040503050406030204" pitchFamily="18" charset="0"/>
              </a:rPr>
              <a:t>Link For Download Python in Your Pc/laptop:</a:t>
            </a:r>
            <a:r>
              <a:rPr lang="en-US" sz="2000" dirty="0">
                <a:effectLst/>
                <a:latin typeface="Cambria" panose="02040503050406030204" pitchFamily="18" charset="0"/>
                <a:ea typeface="Cambria" panose="02040503050406030204" pitchFamily="18" charset="0"/>
              </a:rPr>
              <a:t> </a:t>
            </a:r>
            <a:r>
              <a:rPr lang="en-US" sz="2000" u="sng" dirty="0">
                <a:solidFill>
                  <a:srgbClr val="0000FF"/>
                </a:solidFill>
                <a:effectLst/>
                <a:latin typeface="Cambria" panose="02040503050406030204" pitchFamily="18" charset="0"/>
                <a:ea typeface="Cambria" panose="02040503050406030204" pitchFamily="18" charset="0"/>
                <a:hlinkClick r:id="rId2"/>
              </a:rPr>
              <a:t>http://python.org/downloads/</a:t>
            </a:r>
            <a:endParaRPr lang="en-US" sz="2000" dirty="0">
              <a:effectLst/>
              <a:latin typeface="Cambria" panose="02040503050406030204" pitchFamily="18" charset="0"/>
              <a:ea typeface="Cambria" panose="02040503050406030204" pitchFamily="18" charset="0"/>
            </a:endParaRPr>
          </a:p>
          <a:p>
            <a:pPr marL="401955" marR="0" algn="just">
              <a:lnSpc>
                <a:spcPts val="1595"/>
              </a:lnSpc>
              <a:spcBef>
                <a:spcPts val="25"/>
              </a:spcBef>
              <a:spcAft>
                <a:spcPts val="0"/>
              </a:spcAft>
            </a:pPr>
            <a:r>
              <a:rPr lang="en-US" sz="2000" b="1" kern="0" dirty="0">
                <a:effectLst/>
                <a:latin typeface="Cambria" panose="02040503050406030204" pitchFamily="18" charset="0"/>
                <a:ea typeface="Cambria" panose="02040503050406030204" pitchFamily="18" charset="0"/>
              </a:rPr>
              <a:t>Steps</a:t>
            </a:r>
            <a:r>
              <a:rPr lang="en-US" sz="2000" b="1" kern="0" spc="-10"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to</a:t>
            </a:r>
            <a:r>
              <a:rPr lang="en-US" sz="2000" b="1" kern="0" spc="-15"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be</a:t>
            </a:r>
            <a:r>
              <a:rPr lang="en-US" sz="2000" b="1" kern="0" spc="-20"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followed</a:t>
            </a:r>
            <a:r>
              <a:rPr lang="en-US" sz="2000" b="1" kern="0" spc="-15" dirty="0">
                <a:effectLst/>
                <a:latin typeface="Cambria" panose="02040503050406030204" pitchFamily="18" charset="0"/>
                <a:ea typeface="Cambria" panose="02040503050406030204" pitchFamily="18" charset="0"/>
              </a:rPr>
              <a:t> </a:t>
            </a:r>
            <a:r>
              <a:rPr lang="en-US" sz="2000" b="1" kern="0" dirty="0">
                <a:effectLst/>
                <a:latin typeface="Cambria" panose="02040503050406030204" pitchFamily="18" charset="0"/>
                <a:ea typeface="Cambria" panose="02040503050406030204" pitchFamily="18" charset="0"/>
              </a:rPr>
              <a:t>and</a:t>
            </a:r>
            <a:r>
              <a:rPr lang="en-US" sz="2000" b="1" kern="0" spc="-10" dirty="0">
                <a:effectLst/>
                <a:latin typeface="Cambria" panose="02040503050406030204" pitchFamily="18" charset="0"/>
                <a:ea typeface="Cambria" panose="02040503050406030204" pitchFamily="18" charset="0"/>
              </a:rPr>
              <a:t> remembered:</a:t>
            </a:r>
            <a:endParaRPr lang="en-US" sz="2000" b="1" kern="0" dirty="0">
              <a:effectLst/>
              <a:latin typeface="Cambria" panose="02040503050406030204" pitchFamily="18" charset="0"/>
              <a:ea typeface="Cambria" panose="02040503050406030204" pitchFamily="18" charset="0"/>
            </a:endParaRP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Step 1: Select Version of Python to Install.</a:t>
            </a: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 Step</a:t>
            </a:r>
            <a:r>
              <a:rPr lang="en-US" sz="2000" spc="-4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2:</a:t>
            </a:r>
            <a:r>
              <a:rPr lang="en-US" sz="2000" spc="-4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Download</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Executable</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Installer. </a:t>
            </a:r>
          </a:p>
          <a:p>
            <a:pPr marL="859790" marR="3109595">
              <a:lnSpc>
                <a:spcPct val="115000"/>
              </a:lnSpc>
              <a:spcBef>
                <a:spcPts val="0"/>
              </a:spcBef>
              <a:spcAft>
                <a:spcPts val="0"/>
              </a:spcAft>
            </a:pPr>
            <a:r>
              <a:rPr lang="en-US" sz="2000" dirty="0">
                <a:effectLst/>
                <a:latin typeface="Cambria" panose="02040503050406030204" pitchFamily="18" charset="0"/>
                <a:ea typeface="Cambria" panose="02040503050406030204" pitchFamily="18" charset="0"/>
              </a:rPr>
              <a:t>Step 3: Run Executable Installer.</a:t>
            </a:r>
          </a:p>
          <a:p>
            <a:pPr marL="859790" marR="0">
              <a:spcBef>
                <a:spcPts val="0"/>
              </a:spcBef>
              <a:spcAft>
                <a:spcPts val="0"/>
              </a:spcAft>
            </a:pPr>
            <a:r>
              <a:rPr lang="en-US" sz="2000" dirty="0">
                <a:effectLst/>
                <a:latin typeface="Cambria" panose="02040503050406030204" pitchFamily="18" charset="0"/>
                <a:ea typeface="Cambria" panose="02040503050406030204" pitchFamily="18" charset="0"/>
              </a:rPr>
              <a:t>Step</a:t>
            </a:r>
            <a:r>
              <a:rPr lang="en-US" sz="2000" spc="-2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4:</a:t>
            </a:r>
            <a:r>
              <a:rPr lang="en-US" sz="2000" spc="-1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Verify</a:t>
            </a:r>
            <a:r>
              <a:rPr lang="en-US" sz="2000" spc="-3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Python</a:t>
            </a:r>
            <a:r>
              <a:rPr lang="en-US" sz="2000" spc="-2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Was</a:t>
            </a:r>
            <a:r>
              <a:rPr lang="en-US" sz="2000" spc="-15"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Installed</a:t>
            </a:r>
            <a:r>
              <a:rPr lang="en-US" sz="2000" spc="-10" dirty="0">
                <a:effectLst/>
                <a:latin typeface="Cambria" panose="02040503050406030204" pitchFamily="18" charset="0"/>
                <a:ea typeface="Cambria" panose="02040503050406030204" pitchFamily="18" charset="0"/>
              </a:rPr>
              <a:t> </a:t>
            </a:r>
            <a:r>
              <a:rPr lang="en-US" sz="2000" dirty="0">
                <a:effectLst/>
                <a:latin typeface="Cambria" panose="02040503050406030204" pitchFamily="18" charset="0"/>
                <a:ea typeface="Cambria" panose="02040503050406030204" pitchFamily="18" charset="0"/>
              </a:rPr>
              <a:t>On</a:t>
            </a:r>
            <a:r>
              <a:rPr lang="en-US" sz="2000" spc="-15" dirty="0">
                <a:effectLst/>
                <a:latin typeface="Cambria" panose="02040503050406030204" pitchFamily="18" charset="0"/>
                <a:ea typeface="Cambria" panose="02040503050406030204" pitchFamily="18" charset="0"/>
              </a:rPr>
              <a:t> </a:t>
            </a:r>
            <a:r>
              <a:rPr lang="en-US" sz="2000" spc="-10" dirty="0">
                <a:effectLst/>
                <a:latin typeface="Cambria" panose="02040503050406030204" pitchFamily="18" charset="0"/>
                <a:ea typeface="Cambria" panose="02040503050406030204" pitchFamily="18" charset="0"/>
              </a:rPr>
              <a:t>Windows.</a:t>
            </a:r>
          </a:p>
          <a:p>
            <a:pPr lvl="1"/>
            <a:r>
              <a:rPr lang="en-US" sz="1800" b="0" i="0" u="none" strike="noStrike" baseline="0" dirty="0">
                <a:latin typeface="ArialMT"/>
              </a:rPr>
              <a:t>Open the command prompt and run the following command:</a:t>
            </a:r>
          </a:p>
          <a:p>
            <a:pPr algn="l"/>
            <a:r>
              <a:rPr lang="en-US" sz="1800" b="1" i="0" u="none" strike="noStrike" baseline="0" dirty="0">
                <a:latin typeface="CascadiaCodeRoman-Bold"/>
              </a:rPr>
              <a:t>python --version</a:t>
            </a:r>
            <a:endParaRPr lang="en-US" sz="2000" dirty="0">
              <a:effectLst/>
              <a:latin typeface="Cambria" panose="02040503050406030204" pitchFamily="18" charset="0"/>
              <a:ea typeface="Cambria" panose="02040503050406030204" pitchFamily="18" charset="0"/>
            </a:endParaRPr>
          </a:p>
          <a:p>
            <a:pPr marL="0" indent="0">
              <a:buNone/>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60127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54EDC-B3E8-C11B-D48B-4CF6EC4BC262}"/>
              </a:ext>
            </a:extLst>
          </p:cNvPr>
          <p:cNvSpPr>
            <a:spLocks noGrp="1"/>
          </p:cNvSpPr>
          <p:nvPr>
            <p:ph type="title"/>
          </p:nvPr>
        </p:nvSpPr>
        <p:spPr>
          <a:xfrm>
            <a:off x="417349" y="115503"/>
            <a:ext cx="11087264" cy="539015"/>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Execution Process of Python</a:t>
            </a:r>
          </a:p>
        </p:txBody>
      </p:sp>
      <p:sp>
        <p:nvSpPr>
          <p:cNvPr id="3" name="Content Placeholder 2">
            <a:extLst>
              <a:ext uri="{FF2B5EF4-FFF2-40B4-BE49-F238E27FC236}">
                <a16:creationId xmlns:a16="http://schemas.microsoft.com/office/drawing/2014/main" id="{8CFE7BD8-552A-3E3D-C28B-4A0639773B97}"/>
              </a:ext>
            </a:extLst>
          </p:cNvPr>
          <p:cNvSpPr>
            <a:spLocks noGrp="1"/>
          </p:cNvSpPr>
          <p:nvPr>
            <p:ph idx="1"/>
          </p:nvPr>
        </p:nvSpPr>
        <p:spPr>
          <a:xfrm>
            <a:off x="105878" y="654518"/>
            <a:ext cx="11993077" cy="5909911"/>
          </a:xfrm>
        </p:spPr>
        <p:txBody>
          <a:bodyPr/>
          <a:lstStyle/>
          <a:p>
            <a:pPr marL="401955" marR="5003800">
              <a:lnSpc>
                <a:spcPct val="176000"/>
              </a:lnSpc>
              <a:spcBef>
                <a:spcPts val="1300"/>
              </a:spcBef>
              <a:spcAft>
                <a:spcPts val="0"/>
              </a:spcAft>
            </a:pPr>
            <a:r>
              <a:rPr lang="en-US" sz="1800" b="1" kern="0" dirty="0">
                <a:effectLst/>
                <a:latin typeface="Times New Roman" panose="02020603050405020304" pitchFamily="18" charset="0"/>
                <a:ea typeface="Times New Roman" panose="02020603050405020304" pitchFamily="18" charset="0"/>
              </a:rPr>
              <a:t>Python</a:t>
            </a:r>
            <a:r>
              <a:rPr lang="en-US" sz="1800" b="1" kern="0" spc="-90"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Code</a:t>
            </a:r>
            <a:r>
              <a:rPr lang="en-US" sz="1800" b="1" kern="0" spc="-85" dirty="0">
                <a:effectLst/>
                <a:latin typeface="Times New Roman" panose="02020603050405020304" pitchFamily="18" charset="0"/>
                <a:ea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rPr>
              <a:t>Execution:</a:t>
            </a:r>
          </a:p>
          <a:p>
            <a:pPr marL="401955" marR="334010">
              <a:lnSpc>
                <a:spcPct val="115000"/>
              </a:lnSpc>
              <a:spcBef>
                <a:spcPts val="0"/>
              </a:spcBef>
              <a:spcAft>
                <a:spcPts val="0"/>
              </a:spcAft>
            </a:pPr>
            <a:r>
              <a:rPr lang="en-US" sz="1800" b="1" dirty="0">
                <a:effectLst/>
                <a:latin typeface="Times New Roman" panose="02020603050405020304" pitchFamily="18" charset="0"/>
                <a:ea typeface="Times New Roman" panose="02020603050405020304" pitchFamily="18" charset="0"/>
              </a:rPr>
              <a:t>Python’s</a:t>
            </a:r>
            <a:r>
              <a:rPr lang="en-US" sz="1800" b="1" spc="-1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traditional</a:t>
            </a:r>
            <a:r>
              <a:rPr lang="en-US" sz="1800" b="1" spc="-2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runtime</a:t>
            </a:r>
            <a:r>
              <a:rPr lang="en-US" sz="1800" b="1" spc="-1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execution</a:t>
            </a:r>
            <a:r>
              <a:rPr lang="en-US" sz="1800" b="1" spc="-3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model:</a:t>
            </a:r>
            <a:r>
              <a:rPr lang="en-US" sz="1800" b="1"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Source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code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you</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type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translated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byte code, which is then run by the Python Virtual Machine (PVM). Your code is automatically compiled, but then it is interpreted.</a:t>
            </a:r>
          </a:p>
          <a:p>
            <a:pPr lvl="6"/>
            <a:r>
              <a:rPr lang="en-US" dirty="0"/>
              <a:t>Source				Byte				Runtime</a:t>
            </a:r>
          </a:p>
          <a:p>
            <a:pPr lvl="6"/>
            <a:r>
              <a:rPr lang="en-US" dirty="0"/>
              <a:t>Code				Code</a:t>
            </a:r>
          </a:p>
          <a:p>
            <a:pPr lvl="6"/>
            <a:endParaRPr lang="en-US" dirty="0"/>
          </a:p>
          <a:p>
            <a:pPr lvl="6"/>
            <a:endParaRPr lang="en-US" dirty="0"/>
          </a:p>
          <a:p>
            <a:pPr lvl="6"/>
            <a:endParaRPr lang="en-US" dirty="0"/>
          </a:p>
          <a:p>
            <a:pPr marL="2743200" lvl="6" indent="0">
              <a:buNone/>
            </a:pPr>
            <a:endParaRPr lang="en-US" dirty="0"/>
          </a:p>
          <a:p>
            <a:pPr marL="2743200" lvl="6" indent="0">
              <a:buNone/>
            </a:pPr>
            <a:endParaRPr lang="en-US" dirty="0"/>
          </a:p>
          <a:p>
            <a:pPr marL="2743200" lvl="6" indent="0">
              <a:buNone/>
            </a:pPr>
            <a:r>
              <a:rPr lang="en-US" sz="1600" dirty="0"/>
              <a:t>What is Source Code</a:t>
            </a:r>
          </a:p>
          <a:p>
            <a:pPr marL="2743200" lvl="6" indent="0">
              <a:buNone/>
            </a:pPr>
            <a:r>
              <a:rPr lang="en-US" sz="1600" b="1" dirty="0"/>
              <a:t>Source Code is Code which is written by the programmer in human readable form with proper programming language.</a:t>
            </a:r>
          </a:p>
          <a:p>
            <a:pPr marL="2743200" lvl="6" indent="0">
              <a:buNone/>
            </a:pPr>
            <a:r>
              <a:rPr lang="en-US" sz="1600" dirty="0"/>
              <a:t>What is Byte Code</a:t>
            </a:r>
          </a:p>
          <a:p>
            <a:pPr marL="2743200" lvl="6" indent="0">
              <a:buNone/>
            </a:pPr>
            <a:r>
              <a:rPr lang="en-US" sz="1600" b="1" dirty="0" err="1"/>
              <a:t>ByteCode</a:t>
            </a:r>
            <a:r>
              <a:rPr lang="en-US" sz="1600" b="1" dirty="0"/>
              <a:t> is the intermediate code generated by the Python compiler . Bytecode is run by interpreter </a:t>
            </a:r>
            <a:r>
              <a:rPr lang="en-US" sz="1600" b="1" dirty="0" err="1"/>
              <a:t>pvm</a:t>
            </a:r>
            <a:r>
              <a:rPr lang="en-US" sz="1600" b="1" dirty="0"/>
              <a:t> instead of the original machine (Computer processor). This code is platform-independent</a:t>
            </a:r>
          </a:p>
        </p:txBody>
      </p:sp>
      <p:sp>
        <p:nvSpPr>
          <p:cNvPr id="18" name="Graphic 29">
            <a:extLst>
              <a:ext uri="{FF2B5EF4-FFF2-40B4-BE49-F238E27FC236}">
                <a16:creationId xmlns:a16="http://schemas.microsoft.com/office/drawing/2014/main" id="{61052D5C-31B5-F4F2-8096-1F07DE8FC097}"/>
              </a:ext>
            </a:extLst>
          </p:cNvPr>
          <p:cNvSpPr>
            <a:spLocks/>
          </p:cNvSpPr>
          <p:nvPr/>
        </p:nvSpPr>
        <p:spPr>
          <a:xfrm>
            <a:off x="2015373" y="3208020"/>
            <a:ext cx="712470" cy="237490"/>
          </a:xfrm>
          <a:custGeom>
            <a:avLst/>
            <a:gdLst/>
            <a:ahLst/>
            <a:cxnLst/>
            <a:rect l="l" t="t" r="r" b="b"/>
            <a:pathLst>
              <a:path w="712470" h="237490">
                <a:moveTo>
                  <a:pt x="534288" y="0"/>
                </a:moveTo>
                <a:lnTo>
                  <a:pt x="534288" y="59309"/>
                </a:lnTo>
                <a:lnTo>
                  <a:pt x="0" y="59309"/>
                </a:lnTo>
                <a:lnTo>
                  <a:pt x="0" y="178054"/>
                </a:lnTo>
                <a:lnTo>
                  <a:pt x="534288" y="178054"/>
                </a:lnTo>
                <a:lnTo>
                  <a:pt x="534288" y="237490"/>
                </a:lnTo>
                <a:lnTo>
                  <a:pt x="712469" y="118745"/>
                </a:lnTo>
                <a:lnTo>
                  <a:pt x="534288" y="0"/>
                </a:lnTo>
                <a:close/>
              </a:path>
            </a:pathLst>
          </a:custGeom>
          <a:ln w="9525">
            <a:solidFill>
              <a:srgbClr val="000000"/>
            </a:solidFill>
            <a:prstDash val="solid"/>
          </a:ln>
        </p:spPr>
        <p:txBody>
          <a:bodyPr wrap="square" lIns="0" tIns="0" rIns="0" bIns="0" rtlCol="0">
            <a:prstTxWarp prst="textNoShape">
              <a:avLst/>
            </a:prstTxWarp>
            <a:noAutofit/>
          </a:bodyPr>
          <a:lstStyle/>
          <a:p>
            <a:endParaRPr lang="en-US" dirty="0"/>
          </a:p>
        </p:txBody>
      </p:sp>
      <p:grpSp>
        <p:nvGrpSpPr>
          <p:cNvPr id="19" name="Group 18">
            <a:extLst>
              <a:ext uri="{FF2B5EF4-FFF2-40B4-BE49-F238E27FC236}">
                <a16:creationId xmlns:a16="http://schemas.microsoft.com/office/drawing/2014/main" id="{3D083A7B-AC76-FF63-DFEC-0689C8700DAB}"/>
              </a:ext>
            </a:extLst>
          </p:cNvPr>
          <p:cNvGrpSpPr>
            <a:grpSpLocks/>
          </p:cNvGrpSpPr>
          <p:nvPr/>
        </p:nvGrpSpPr>
        <p:grpSpPr>
          <a:xfrm>
            <a:off x="3114140" y="2823210"/>
            <a:ext cx="852805" cy="1248276"/>
            <a:chOff x="0" y="0"/>
            <a:chExt cx="852805" cy="1248276"/>
          </a:xfrm>
        </p:grpSpPr>
        <p:pic>
          <p:nvPicPr>
            <p:cNvPr id="27" name="Image 31">
              <a:extLst>
                <a:ext uri="{FF2B5EF4-FFF2-40B4-BE49-F238E27FC236}">
                  <a16:creationId xmlns:a16="http://schemas.microsoft.com/office/drawing/2014/main" id="{37C8DBA0-666C-78AC-AE62-1C86A7BFC91A}"/>
                </a:ext>
              </a:extLst>
            </p:cNvPr>
            <p:cNvPicPr/>
            <p:nvPr/>
          </p:nvPicPr>
          <p:blipFill>
            <a:blip r:embed="rId2" cstate="print"/>
            <a:stretch>
              <a:fillRect/>
            </a:stretch>
          </p:blipFill>
          <p:spPr>
            <a:xfrm>
              <a:off x="742632" y="4762"/>
              <a:ext cx="105410" cy="124713"/>
            </a:xfrm>
            <a:prstGeom prst="rect">
              <a:avLst/>
            </a:prstGeom>
          </p:spPr>
        </p:pic>
        <p:sp>
          <p:nvSpPr>
            <p:cNvPr id="28" name="Graphic 32">
              <a:extLst>
                <a:ext uri="{FF2B5EF4-FFF2-40B4-BE49-F238E27FC236}">
                  <a16:creationId xmlns:a16="http://schemas.microsoft.com/office/drawing/2014/main" id="{1FF87DAE-7696-576E-A71C-C79120EAA31C}"/>
                </a:ext>
              </a:extLst>
            </p:cNvPr>
            <p:cNvSpPr/>
            <p:nvPr/>
          </p:nvSpPr>
          <p:spPr>
            <a:xfrm>
              <a:off x="4762" y="4762"/>
              <a:ext cx="843280" cy="997585"/>
            </a:xfrm>
            <a:custGeom>
              <a:avLst/>
              <a:gdLst/>
              <a:ahLst/>
              <a:cxnLst/>
              <a:rect l="l" t="t" r="r" b="b"/>
              <a:pathLst>
                <a:path w="843280" h="997585">
                  <a:moveTo>
                    <a:pt x="0" y="997584"/>
                  </a:moveTo>
                  <a:lnTo>
                    <a:pt x="0" y="0"/>
                  </a:lnTo>
                  <a:lnTo>
                    <a:pt x="737869" y="0"/>
                  </a:lnTo>
                  <a:lnTo>
                    <a:pt x="843280" y="124713"/>
                  </a:lnTo>
                  <a:lnTo>
                    <a:pt x="843280" y="997584"/>
                  </a:lnTo>
                  <a:lnTo>
                    <a:pt x="0" y="997584"/>
                  </a:lnTo>
                  <a:close/>
                </a:path>
                <a:path w="843280" h="997585">
                  <a:moveTo>
                    <a:pt x="737869" y="0"/>
                  </a:moveTo>
                  <a:lnTo>
                    <a:pt x="765175" y="120395"/>
                  </a:lnTo>
                  <a:lnTo>
                    <a:pt x="776271" y="109747"/>
                  </a:lnTo>
                  <a:lnTo>
                    <a:pt x="793369" y="106648"/>
                  </a:lnTo>
                  <a:lnTo>
                    <a:pt x="815895" y="111502"/>
                  </a:lnTo>
                  <a:lnTo>
                    <a:pt x="843280" y="124713"/>
                  </a:lnTo>
                </a:path>
              </a:pathLst>
            </a:custGeom>
            <a:ln w="9525">
              <a:solidFill>
                <a:srgbClr val="000000"/>
              </a:solidFill>
              <a:prstDash val="solid"/>
            </a:ln>
          </p:spPr>
          <p:txBody>
            <a:bodyPr wrap="square" lIns="0" tIns="0" rIns="0" bIns="0" rtlCol="0">
              <a:prstTxWarp prst="textNoShape">
                <a:avLst/>
              </a:prstTxWarp>
              <a:noAutofit/>
            </a:bodyPr>
            <a:lstStyle/>
            <a:p>
              <a:endParaRPr lang="en-US"/>
            </a:p>
          </p:txBody>
        </p:sp>
        <p:sp>
          <p:nvSpPr>
            <p:cNvPr id="29" name="Textbox 33">
              <a:extLst>
                <a:ext uri="{FF2B5EF4-FFF2-40B4-BE49-F238E27FC236}">
                  <a16:creationId xmlns:a16="http://schemas.microsoft.com/office/drawing/2014/main" id="{B3BE019D-4394-6730-CB17-2B3B89CF3E38}"/>
                </a:ext>
              </a:extLst>
            </p:cNvPr>
            <p:cNvSpPr txBox="1"/>
            <p:nvPr/>
          </p:nvSpPr>
          <p:spPr>
            <a:xfrm>
              <a:off x="0" y="0"/>
              <a:ext cx="852805" cy="1248276"/>
            </a:xfrm>
            <a:prstGeom prst="rect">
              <a:avLst/>
            </a:prstGeom>
          </p:spPr>
          <p:txBody>
            <a:bodyPr wrap="square" lIns="0" tIns="0" rIns="0" bIns="0" rtlCol="0">
              <a:noAutofit/>
            </a:bodyPr>
            <a:lstStyle/>
            <a:p>
              <a:pPr marL="0" marR="0">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p>
            <a:p>
              <a:pPr marL="0" marR="0">
                <a:spcBef>
                  <a:spcPts val="970"/>
                </a:spcBef>
                <a:spcAft>
                  <a:spcPts val="0"/>
                </a:spcAft>
              </a:pPr>
              <a:r>
                <a:rPr lang="en-US" sz="1600" dirty="0">
                  <a:effectLst/>
                  <a:latin typeface="Times New Roman" panose="02020603050405020304" pitchFamily="18" charset="0"/>
                  <a:ea typeface="Times New Roman" panose="02020603050405020304" pitchFamily="18" charset="0"/>
                </a:rPr>
                <a:t> </a:t>
              </a:r>
              <a:r>
                <a:rPr lang="en-US" sz="1600" b="1" spc="-20" dirty="0">
                  <a:effectLst/>
                  <a:latin typeface="Times New Roman" panose="02020603050405020304" pitchFamily="18" charset="0"/>
                  <a:ea typeface="Times New Roman" panose="02020603050405020304" pitchFamily="18" charset="0"/>
                </a:rPr>
                <a:t>m.py</a:t>
              </a:r>
              <a:endParaRPr lang="en-US" sz="1600" dirty="0">
                <a:effectLst/>
                <a:latin typeface="Times New Roman" panose="02020603050405020304" pitchFamily="18" charset="0"/>
                <a:ea typeface="Times New Roman" panose="02020603050405020304" pitchFamily="18" charset="0"/>
              </a:endParaRPr>
            </a:p>
          </p:txBody>
        </p:sp>
      </p:grpSp>
      <p:sp>
        <p:nvSpPr>
          <p:cNvPr id="20" name="Graphic 34">
            <a:extLst>
              <a:ext uri="{FF2B5EF4-FFF2-40B4-BE49-F238E27FC236}">
                <a16:creationId xmlns:a16="http://schemas.microsoft.com/office/drawing/2014/main" id="{D6ABBF61-54CB-7450-DFF7-A55F4A232529}"/>
              </a:ext>
            </a:extLst>
          </p:cNvPr>
          <p:cNvSpPr>
            <a:spLocks/>
          </p:cNvSpPr>
          <p:nvPr/>
        </p:nvSpPr>
        <p:spPr>
          <a:xfrm>
            <a:off x="4170645" y="3304239"/>
            <a:ext cx="712470" cy="150495"/>
          </a:xfrm>
          <a:custGeom>
            <a:avLst/>
            <a:gdLst/>
            <a:ahLst/>
            <a:cxnLst/>
            <a:rect l="l" t="t" r="r" b="b"/>
            <a:pathLst>
              <a:path w="712470" h="150495">
                <a:moveTo>
                  <a:pt x="534288" y="0"/>
                </a:moveTo>
                <a:lnTo>
                  <a:pt x="534288" y="37592"/>
                </a:lnTo>
                <a:lnTo>
                  <a:pt x="0" y="37592"/>
                </a:lnTo>
                <a:lnTo>
                  <a:pt x="0" y="112903"/>
                </a:lnTo>
                <a:lnTo>
                  <a:pt x="534288" y="112903"/>
                </a:lnTo>
                <a:lnTo>
                  <a:pt x="534288" y="150495"/>
                </a:lnTo>
                <a:lnTo>
                  <a:pt x="712470" y="75184"/>
                </a:lnTo>
                <a:lnTo>
                  <a:pt x="534288" y="0"/>
                </a:lnTo>
                <a:close/>
              </a:path>
            </a:pathLst>
          </a:custGeom>
          <a:ln w="9525">
            <a:solidFill>
              <a:srgbClr val="000000"/>
            </a:solidFill>
            <a:prstDash val="solid"/>
          </a:ln>
        </p:spPr>
        <p:txBody>
          <a:bodyPr wrap="square" lIns="0" tIns="0" rIns="0" bIns="0" rtlCol="0">
            <a:prstTxWarp prst="textNoShape">
              <a:avLst/>
            </a:prstTxWarp>
            <a:noAutofit/>
          </a:bodyPr>
          <a:lstStyle/>
          <a:p>
            <a:endParaRPr lang="en-US"/>
          </a:p>
        </p:txBody>
      </p:sp>
      <p:grpSp>
        <p:nvGrpSpPr>
          <p:cNvPr id="21" name="Group 20">
            <a:extLst>
              <a:ext uri="{FF2B5EF4-FFF2-40B4-BE49-F238E27FC236}">
                <a16:creationId xmlns:a16="http://schemas.microsoft.com/office/drawing/2014/main" id="{0CA82295-F716-B2AB-A331-7CEB7FFF844B}"/>
              </a:ext>
            </a:extLst>
          </p:cNvPr>
          <p:cNvGrpSpPr>
            <a:grpSpLocks/>
          </p:cNvGrpSpPr>
          <p:nvPr/>
        </p:nvGrpSpPr>
        <p:grpSpPr>
          <a:xfrm>
            <a:off x="5086450" y="2800684"/>
            <a:ext cx="852805" cy="1007110"/>
            <a:chOff x="0" y="0"/>
            <a:chExt cx="852805" cy="1007110"/>
          </a:xfrm>
        </p:grpSpPr>
        <p:pic>
          <p:nvPicPr>
            <p:cNvPr id="24" name="Image 36">
              <a:extLst>
                <a:ext uri="{FF2B5EF4-FFF2-40B4-BE49-F238E27FC236}">
                  <a16:creationId xmlns:a16="http://schemas.microsoft.com/office/drawing/2014/main" id="{868E064C-0694-B92A-923A-DADE2DF1DF28}"/>
                </a:ext>
              </a:extLst>
            </p:cNvPr>
            <p:cNvPicPr/>
            <p:nvPr/>
          </p:nvPicPr>
          <p:blipFill>
            <a:blip r:embed="rId3" cstate="print"/>
            <a:stretch>
              <a:fillRect/>
            </a:stretch>
          </p:blipFill>
          <p:spPr>
            <a:xfrm>
              <a:off x="742632" y="4762"/>
              <a:ext cx="105410" cy="124713"/>
            </a:xfrm>
            <a:prstGeom prst="rect">
              <a:avLst/>
            </a:prstGeom>
          </p:spPr>
        </p:pic>
        <p:sp>
          <p:nvSpPr>
            <p:cNvPr id="25" name="Graphic 37">
              <a:extLst>
                <a:ext uri="{FF2B5EF4-FFF2-40B4-BE49-F238E27FC236}">
                  <a16:creationId xmlns:a16="http://schemas.microsoft.com/office/drawing/2014/main" id="{BA78B1A6-70F4-E924-819D-B59E4A29276A}"/>
                </a:ext>
              </a:extLst>
            </p:cNvPr>
            <p:cNvSpPr/>
            <p:nvPr/>
          </p:nvSpPr>
          <p:spPr>
            <a:xfrm>
              <a:off x="4762" y="4762"/>
              <a:ext cx="843280" cy="997585"/>
            </a:xfrm>
            <a:custGeom>
              <a:avLst/>
              <a:gdLst/>
              <a:ahLst/>
              <a:cxnLst/>
              <a:rect l="l" t="t" r="r" b="b"/>
              <a:pathLst>
                <a:path w="843280" h="997585">
                  <a:moveTo>
                    <a:pt x="0" y="997584"/>
                  </a:moveTo>
                  <a:lnTo>
                    <a:pt x="0" y="0"/>
                  </a:lnTo>
                  <a:lnTo>
                    <a:pt x="737870" y="0"/>
                  </a:lnTo>
                  <a:lnTo>
                    <a:pt x="843280" y="124713"/>
                  </a:lnTo>
                  <a:lnTo>
                    <a:pt x="843280" y="997584"/>
                  </a:lnTo>
                  <a:lnTo>
                    <a:pt x="0" y="997584"/>
                  </a:lnTo>
                  <a:close/>
                </a:path>
                <a:path w="843280" h="997585">
                  <a:moveTo>
                    <a:pt x="737870" y="0"/>
                  </a:moveTo>
                  <a:lnTo>
                    <a:pt x="765175" y="120395"/>
                  </a:lnTo>
                  <a:lnTo>
                    <a:pt x="776271" y="109747"/>
                  </a:lnTo>
                  <a:lnTo>
                    <a:pt x="793368" y="106648"/>
                  </a:lnTo>
                  <a:lnTo>
                    <a:pt x="815895" y="111502"/>
                  </a:lnTo>
                  <a:lnTo>
                    <a:pt x="843280" y="124713"/>
                  </a:lnTo>
                </a:path>
              </a:pathLst>
            </a:custGeom>
            <a:ln w="9525">
              <a:solidFill>
                <a:srgbClr val="000000"/>
              </a:solidFill>
              <a:prstDash val="solid"/>
            </a:ln>
          </p:spPr>
          <p:txBody>
            <a:bodyPr wrap="square" lIns="0" tIns="0" rIns="0" bIns="0" rtlCol="0">
              <a:prstTxWarp prst="textNoShape">
                <a:avLst/>
              </a:prstTxWarp>
              <a:noAutofit/>
            </a:bodyPr>
            <a:lstStyle/>
            <a:p>
              <a:endParaRPr lang="en-US"/>
            </a:p>
          </p:txBody>
        </p:sp>
        <p:sp>
          <p:nvSpPr>
            <p:cNvPr id="26" name="Textbox 38">
              <a:extLst>
                <a:ext uri="{FF2B5EF4-FFF2-40B4-BE49-F238E27FC236}">
                  <a16:creationId xmlns:a16="http://schemas.microsoft.com/office/drawing/2014/main" id="{9CBC1427-FFC1-5A80-F881-3CB1C2FEF779}"/>
                </a:ext>
              </a:extLst>
            </p:cNvPr>
            <p:cNvSpPr txBox="1"/>
            <p:nvPr/>
          </p:nvSpPr>
          <p:spPr>
            <a:xfrm>
              <a:off x="0" y="0"/>
              <a:ext cx="852805" cy="1007110"/>
            </a:xfrm>
            <a:prstGeom prst="rect">
              <a:avLst/>
            </a:prstGeom>
          </p:spPr>
          <p:txBody>
            <a:bodyPr wrap="square" lIns="0" tIns="0" rIns="0" bIns="0" rtlCol="0">
              <a:noAutofit/>
            </a:bodyPr>
            <a:lstStyle/>
            <a:p>
              <a:pPr marL="0" marR="0">
                <a:spcBef>
                  <a:spcPts val="0"/>
                </a:spcBef>
                <a:spcAft>
                  <a:spcPts val="0"/>
                </a:spcAft>
              </a:pPr>
              <a:r>
                <a:rPr lang="en-US" dirty="0">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spcBef>
                  <a:spcPts val="995"/>
                </a:spcBef>
                <a:spcAft>
                  <a:spcPts val="0"/>
                </a:spcAft>
              </a:pPr>
              <a:r>
                <a:rPr lang="en-US" dirty="0">
                  <a:effectLst/>
                  <a:latin typeface="Times New Roman" panose="02020603050405020304" pitchFamily="18" charset="0"/>
                  <a:ea typeface="Times New Roman" panose="02020603050405020304" pitchFamily="18" charset="0"/>
                </a:rPr>
                <a:t> </a:t>
              </a:r>
              <a:r>
                <a:rPr lang="en-US" b="1" spc="-10" dirty="0" err="1">
                  <a:effectLst/>
                  <a:latin typeface="Times New Roman" panose="02020603050405020304" pitchFamily="18" charset="0"/>
                  <a:ea typeface="Times New Roman" panose="02020603050405020304" pitchFamily="18" charset="0"/>
                </a:rPr>
                <a:t>m.pyc</a:t>
              </a:r>
              <a:endParaRPr lang="en-US" sz="1600" dirty="0">
                <a:effectLst/>
                <a:latin typeface="Times New Roman" panose="02020603050405020304" pitchFamily="18" charset="0"/>
                <a:ea typeface="Times New Roman" panose="02020603050405020304" pitchFamily="18" charset="0"/>
              </a:endParaRPr>
            </a:p>
          </p:txBody>
        </p:sp>
      </p:grpSp>
      <p:sp>
        <p:nvSpPr>
          <p:cNvPr id="22" name="Graphic 39">
            <a:extLst>
              <a:ext uri="{FF2B5EF4-FFF2-40B4-BE49-F238E27FC236}">
                <a16:creationId xmlns:a16="http://schemas.microsoft.com/office/drawing/2014/main" id="{BEA2373C-0FE7-586A-B82B-472BBAA5B2CD}"/>
              </a:ext>
            </a:extLst>
          </p:cNvPr>
          <p:cNvSpPr>
            <a:spLocks/>
          </p:cNvSpPr>
          <p:nvPr/>
        </p:nvSpPr>
        <p:spPr>
          <a:xfrm>
            <a:off x="6142590" y="3304239"/>
            <a:ext cx="712470" cy="150495"/>
          </a:xfrm>
          <a:custGeom>
            <a:avLst/>
            <a:gdLst/>
            <a:ahLst/>
            <a:cxnLst/>
            <a:rect l="l" t="t" r="r" b="b"/>
            <a:pathLst>
              <a:path w="712470" h="150495">
                <a:moveTo>
                  <a:pt x="534288" y="0"/>
                </a:moveTo>
                <a:lnTo>
                  <a:pt x="534288" y="37591"/>
                </a:lnTo>
                <a:lnTo>
                  <a:pt x="0" y="37591"/>
                </a:lnTo>
                <a:lnTo>
                  <a:pt x="0" y="112902"/>
                </a:lnTo>
                <a:lnTo>
                  <a:pt x="534288" y="112902"/>
                </a:lnTo>
                <a:lnTo>
                  <a:pt x="534288" y="150494"/>
                </a:lnTo>
                <a:lnTo>
                  <a:pt x="712470" y="75183"/>
                </a:lnTo>
                <a:lnTo>
                  <a:pt x="534288" y="0"/>
                </a:lnTo>
                <a:close/>
              </a:path>
            </a:pathLst>
          </a:custGeom>
          <a:ln w="9525">
            <a:solidFill>
              <a:srgbClr val="000000"/>
            </a:solidFill>
            <a:prstDash val="solid"/>
          </a:ln>
        </p:spPr>
        <p:txBody>
          <a:bodyPr wrap="square" lIns="0" tIns="0" rIns="0" bIns="0" rtlCol="0">
            <a:prstTxWarp prst="textNoShape">
              <a:avLst/>
            </a:prstTxWarp>
            <a:noAutofit/>
          </a:bodyPr>
          <a:lstStyle/>
          <a:p>
            <a:endParaRPr lang="en-US"/>
          </a:p>
        </p:txBody>
      </p:sp>
      <p:sp>
        <p:nvSpPr>
          <p:cNvPr id="23" name="Textbox 40">
            <a:extLst>
              <a:ext uri="{FF2B5EF4-FFF2-40B4-BE49-F238E27FC236}">
                <a16:creationId xmlns:a16="http://schemas.microsoft.com/office/drawing/2014/main" id="{E2A35FFA-9D2A-4E4B-E724-EE0C19193478}"/>
              </a:ext>
            </a:extLst>
          </p:cNvPr>
          <p:cNvSpPr txBox="1">
            <a:spLocks/>
          </p:cNvSpPr>
          <p:nvPr/>
        </p:nvSpPr>
        <p:spPr>
          <a:xfrm>
            <a:off x="7073103" y="2800684"/>
            <a:ext cx="735965" cy="997585"/>
          </a:xfrm>
          <a:prstGeom prst="rect">
            <a:avLst/>
          </a:prstGeom>
          <a:ln w="9524">
            <a:solidFill>
              <a:srgbClr val="000000"/>
            </a:solidFill>
            <a:prstDash val="solid"/>
          </a:ln>
        </p:spPr>
        <p:txBody>
          <a:bodyPr wrap="square" lIns="0" tIns="0" rIns="0" bIns="0" rtlCol="0">
            <a:noAutofit/>
          </a:bodyPr>
          <a:lstStyle/>
          <a:p>
            <a:pPr marL="0" marR="0">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p>
          <a:p>
            <a:pPr marL="0" marR="0">
              <a:spcBef>
                <a:spcPts val="410"/>
              </a:spcBef>
              <a:spcAft>
                <a:spcPts val="0"/>
              </a:spcAft>
            </a:pPr>
            <a:r>
              <a:rPr lang="en-US" sz="1600" dirty="0">
                <a:effectLst/>
                <a:latin typeface="Times New Roman" panose="02020603050405020304" pitchFamily="18" charset="0"/>
                <a:ea typeface="Times New Roman" panose="02020603050405020304" pitchFamily="18" charset="0"/>
              </a:rPr>
              <a:t> </a:t>
            </a:r>
          </a:p>
          <a:p>
            <a:pPr marL="221615" marR="0">
              <a:spcBef>
                <a:spcPts val="0"/>
              </a:spcBef>
              <a:spcAft>
                <a:spcPts val="0"/>
              </a:spcAft>
            </a:pPr>
            <a:r>
              <a:rPr lang="en-US" sz="1600" b="1" spc="-25" dirty="0">
                <a:effectLst/>
                <a:latin typeface="Calibri" panose="020F0502020204030204" pitchFamily="34" charset="0"/>
                <a:ea typeface="Times New Roman" panose="02020603050405020304" pitchFamily="18" charset="0"/>
                <a:cs typeface="Times New Roman" panose="02020603050405020304" pitchFamily="18" charset="0"/>
              </a:rPr>
              <a:t>PVM</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5086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887F482-3D1A-C938-5545-C9380D23AF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378" y="490789"/>
            <a:ext cx="11771698" cy="2772075"/>
          </a:xfrm>
        </p:spPr>
      </p:pic>
      <p:sp>
        <p:nvSpPr>
          <p:cNvPr id="4" name="Title 1">
            <a:extLst>
              <a:ext uri="{FF2B5EF4-FFF2-40B4-BE49-F238E27FC236}">
                <a16:creationId xmlns:a16="http://schemas.microsoft.com/office/drawing/2014/main" id="{CCE6CDD0-2056-FDF9-531D-A73896912083}"/>
              </a:ext>
            </a:extLst>
          </p:cNvPr>
          <p:cNvSpPr>
            <a:spLocks noGrp="1"/>
          </p:cNvSpPr>
          <p:nvPr>
            <p:ph type="title"/>
          </p:nvPr>
        </p:nvSpPr>
        <p:spPr>
          <a:xfrm>
            <a:off x="-36076" y="48128"/>
            <a:ext cx="11369860" cy="433036"/>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	Execution Process of Python</a:t>
            </a:r>
          </a:p>
        </p:txBody>
      </p:sp>
      <p:pic>
        <p:nvPicPr>
          <p:cNvPr id="10" name="Picture 9">
            <a:extLst>
              <a:ext uri="{FF2B5EF4-FFF2-40B4-BE49-F238E27FC236}">
                <a16:creationId xmlns:a16="http://schemas.microsoft.com/office/drawing/2014/main" id="{DD5AEE1A-24BD-6726-342E-2355E945A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378" y="3513221"/>
            <a:ext cx="11771698" cy="3147461"/>
          </a:xfrm>
          <a:prstGeom prst="rect">
            <a:avLst/>
          </a:prstGeom>
        </p:spPr>
      </p:pic>
    </p:spTree>
    <p:extLst>
      <p:ext uri="{BB962C8B-B14F-4D97-AF65-F5344CB8AC3E}">
        <p14:creationId xmlns:p14="http://schemas.microsoft.com/office/powerpoint/2010/main" val="2249077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435A-68A0-2882-6136-9F60950586FC}"/>
              </a:ext>
            </a:extLst>
          </p:cNvPr>
          <p:cNvSpPr>
            <a:spLocks noGrp="1"/>
          </p:cNvSpPr>
          <p:nvPr>
            <p:ph type="title"/>
          </p:nvPr>
        </p:nvSpPr>
        <p:spPr>
          <a:xfrm>
            <a:off x="510139" y="231007"/>
            <a:ext cx="10994473" cy="558266"/>
          </a:xfrm>
        </p:spPr>
        <p:txBody>
          <a:bodyPr>
            <a:normAutofit/>
          </a:bodyPr>
          <a:lstStyle/>
          <a:p>
            <a:r>
              <a:rPr kumimoji="0" lang="en-US" altLang="en-US" sz="2800" b="1" i="0" u="none" strike="noStrike" cap="none" normalizeH="0" baseline="0" dirty="0">
                <a:ln>
                  <a:noFill/>
                </a:ln>
                <a:solidFill>
                  <a:srgbClr val="FF0000"/>
                </a:solidFill>
                <a:effectLst/>
                <a:latin typeface="Calibri" panose="020F0502020204030204" pitchFamily="34" charset="0"/>
                <a:ea typeface="Cambria" panose="02040503050406030204" pitchFamily="18" charset="0"/>
                <a:cs typeface="Cambria" panose="02040503050406030204" pitchFamily="18" charset="0"/>
              </a:rPr>
              <a:t> Difference between compiler and interpreter</a:t>
            </a:r>
            <a:endParaRPr lang="en-US" sz="2800" dirty="0">
              <a:solidFill>
                <a:srgbClr val="FF0000"/>
              </a:solidFill>
            </a:endParaRPr>
          </a:p>
        </p:txBody>
      </p:sp>
      <p:graphicFrame>
        <p:nvGraphicFramePr>
          <p:cNvPr id="4" name="Content Placeholder 3">
            <a:extLst>
              <a:ext uri="{FF2B5EF4-FFF2-40B4-BE49-F238E27FC236}">
                <a16:creationId xmlns:a16="http://schemas.microsoft.com/office/drawing/2014/main" id="{BCF07AA1-ECA8-FC6F-67D2-9FCC558A212E}"/>
              </a:ext>
            </a:extLst>
          </p:cNvPr>
          <p:cNvGraphicFramePr>
            <a:graphicFrameLocks noGrp="1"/>
          </p:cNvGraphicFramePr>
          <p:nvPr>
            <p:ph idx="1"/>
            <p:extLst>
              <p:ext uri="{D42A27DB-BD31-4B8C-83A1-F6EECF244321}">
                <p14:modId xmlns:p14="http://schemas.microsoft.com/office/powerpoint/2010/main" val="3955805756"/>
              </p:ext>
            </p:extLst>
          </p:nvPr>
        </p:nvGraphicFramePr>
        <p:xfrm>
          <a:off x="510139" y="1164656"/>
          <a:ext cx="11136429" cy="5207265"/>
        </p:xfrm>
        <a:graphic>
          <a:graphicData uri="http://schemas.openxmlformats.org/drawingml/2006/table">
            <a:tbl>
              <a:tblPr firstRow="1" firstCol="1" bandRow="1">
                <a:tableStyleId>{5C22544A-7EE6-4342-B048-85BDC9FD1C3A}</a:tableStyleId>
              </a:tblPr>
              <a:tblGrid>
                <a:gridCol w="665982">
                  <a:extLst>
                    <a:ext uri="{9D8B030D-6E8A-4147-A177-3AD203B41FA5}">
                      <a16:colId xmlns:a16="http://schemas.microsoft.com/office/drawing/2014/main" val="913936114"/>
                    </a:ext>
                  </a:extLst>
                </a:gridCol>
                <a:gridCol w="4653663">
                  <a:extLst>
                    <a:ext uri="{9D8B030D-6E8A-4147-A177-3AD203B41FA5}">
                      <a16:colId xmlns:a16="http://schemas.microsoft.com/office/drawing/2014/main" val="2318604824"/>
                    </a:ext>
                  </a:extLst>
                </a:gridCol>
                <a:gridCol w="5816784">
                  <a:extLst>
                    <a:ext uri="{9D8B030D-6E8A-4147-A177-3AD203B41FA5}">
                      <a16:colId xmlns:a16="http://schemas.microsoft.com/office/drawing/2014/main" val="1995124039"/>
                    </a:ext>
                  </a:extLst>
                </a:gridCol>
              </a:tblGrid>
              <a:tr h="340763">
                <a:tc>
                  <a:txBody>
                    <a:bodyPr/>
                    <a:lstStyle/>
                    <a:p>
                      <a:pPr marL="0" marR="0" algn="l">
                        <a:lnSpc>
                          <a:spcPct val="107000"/>
                        </a:lnSpc>
                        <a:spcBef>
                          <a:spcPts val="0"/>
                        </a:spcBef>
                        <a:spcAft>
                          <a:spcPts val="0"/>
                        </a:spcAft>
                        <a:tabLst>
                          <a:tab pos="114300" algn="l"/>
                        </a:tabLst>
                      </a:pPr>
                      <a:r>
                        <a:rPr lang="en-US" sz="1800" kern="100">
                          <a:effectLst/>
                        </a:rPr>
                        <a:t>S.No</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tabLst>
                          <a:tab pos="114300" algn="l"/>
                        </a:tabLst>
                      </a:pPr>
                      <a:r>
                        <a:rPr lang="en-US" sz="1800" kern="100">
                          <a:effectLst/>
                        </a:rPr>
                        <a:t>Interpreter</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tabLst>
                          <a:tab pos="114300" algn="l"/>
                        </a:tabLst>
                      </a:pPr>
                      <a:r>
                        <a:rPr lang="en-US" sz="1800" kern="100" dirty="0">
                          <a:effectLst/>
                        </a:rPr>
                        <a:t>Compiler</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220350494"/>
                  </a:ext>
                </a:extLst>
              </a:tr>
              <a:tr h="341018">
                <a:tc>
                  <a:txBody>
                    <a:bodyPr/>
                    <a:lstStyle/>
                    <a:p>
                      <a:pPr marL="0" marR="0" algn="l">
                        <a:lnSpc>
                          <a:spcPct val="107000"/>
                        </a:lnSpc>
                        <a:spcBef>
                          <a:spcPts val="0"/>
                        </a:spcBef>
                        <a:spcAft>
                          <a:spcPts val="0"/>
                        </a:spcAft>
                        <a:tabLst>
                          <a:tab pos="114300" algn="l"/>
                        </a:tabLst>
                      </a:pPr>
                      <a:r>
                        <a:rPr lang="en-US" sz="1800" kern="100">
                          <a:effectLst/>
                        </a:rPr>
                        <a:t>1</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interprets line by line and executes</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Whole program at a time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extLst>
                  <a:ext uri="{0D108BD9-81ED-4DB2-BD59-A6C34878D82A}">
                    <a16:rowId xmlns:a16="http://schemas.microsoft.com/office/drawing/2014/main" val="3402316740"/>
                  </a:ext>
                </a:extLst>
              </a:tr>
              <a:tr h="341018">
                <a:tc>
                  <a:txBody>
                    <a:bodyPr/>
                    <a:lstStyle/>
                    <a:p>
                      <a:pPr marL="0" marR="0" algn="l">
                        <a:lnSpc>
                          <a:spcPct val="107000"/>
                        </a:lnSpc>
                        <a:spcBef>
                          <a:spcPts val="0"/>
                        </a:spcBef>
                        <a:spcAft>
                          <a:spcPts val="0"/>
                        </a:spcAft>
                        <a:tabLst>
                          <a:tab pos="114300" algn="l"/>
                        </a:tabLst>
                      </a:pPr>
                      <a:r>
                        <a:rPr lang="en-US" sz="1800" kern="100">
                          <a:effectLst/>
                        </a:rPr>
                        <a:t>2</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gives the result line by line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gives whole output at a time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extLst>
                  <a:ext uri="{0D108BD9-81ED-4DB2-BD59-A6C34878D82A}">
                    <a16:rowId xmlns:a16="http://schemas.microsoft.com/office/drawing/2014/main" val="3902229044"/>
                  </a:ext>
                </a:extLst>
              </a:tr>
              <a:tr h="700486">
                <a:tc>
                  <a:txBody>
                    <a:bodyPr/>
                    <a:lstStyle/>
                    <a:p>
                      <a:pPr marL="0" marR="0" algn="l">
                        <a:lnSpc>
                          <a:spcPct val="107000"/>
                        </a:lnSpc>
                        <a:spcBef>
                          <a:spcPts val="0"/>
                        </a:spcBef>
                        <a:spcAft>
                          <a:spcPts val="0"/>
                        </a:spcAft>
                        <a:tabLst>
                          <a:tab pos="114300" algn="l"/>
                        </a:tabLst>
                      </a:pPr>
                      <a:r>
                        <a:rPr lang="en-US" sz="1800" kern="100">
                          <a:effectLst/>
                        </a:rPr>
                        <a:t>3</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dirty="0">
                          <a:effectLst/>
                        </a:rPr>
                        <a:t>If any error occurs interpreter stops</a:t>
                      </a:r>
                    </a:p>
                    <a:p>
                      <a:pPr marL="0" marR="0" algn="l">
                        <a:lnSpc>
                          <a:spcPct val="107000"/>
                        </a:lnSpc>
                        <a:spcBef>
                          <a:spcPts val="0"/>
                        </a:spcBef>
                        <a:spcAft>
                          <a:spcPts val="0"/>
                        </a:spcAft>
                        <a:tabLst>
                          <a:tab pos="114300" algn="l"/>
                        </a:tabLst>
                      </a:pPr>
                      <a:r>
                        <a:rPr lang="en-US" sz="1800" kern="100" dirty="0">
                          <a:effectLst/>
                        </a:rPr>
                        <a:t>Hence it shows only one error</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checks all statements in the program </a:t>
                      </a:r>
                    </a:p>
                    <a:p>
                      <a:pPr marL="0" marR="0" algn="l">
                        <a:lnSpc>
                          <a:spcPct val="107000"/>
                        </a:lnSpc>
                        <a:spcBef>
                          <a:spcPts val="0"/>
                        </a:spcBef>
                        <a:spcAft>
                          <a:spcPts val="0"/>
                        </a:spcAft>
                        <a:tabLst>
                          <a:tab pos="114300" algn="l"/>
                        </a:tabLst>
                      </a:pPr>
                      <a:r>
                        <a:rPr lang="en-US" sz="1800" kern="100">
                          <a:effectLst/>
                        </a:rPr>
                        <a:t>and shows all the errors in the program.</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extLst>
                  <a:ext uri="{0D108BD9-81ED-4DB2-BD59-A6C34878D82A}">
                    <a16:rowId xmlns:a16="http://schemas.microsoft.com/office/drawing/2014/main" val="3010568657"/>
                  </a:ext>
                </a:extLst>
              </a:tr>
              <a:tr h="700486">
                <a:tc>
                  <a:txBody>
                    <a:bodyPr/>
                    <a:lstStyle/>
                    <a:p>
                      <a:pPr marL="0" marR="0" algn="l">
                        <a:lnSpc>
                          <a:spcPct val="107000"/>
                        </a:lnSpc>
                        <a:spcBef>
                          <a:spcPts val="0"/>
                        </a:spcBef>
                        <a:spcAft>
                          <a:spcPts val="0"/>
                        </a:spcAft>
                        <a:tabLst>
                          <a:tab pos="114300" algn="l"/>
                        </a:tabLst>
                      </a:pPr>
                      <a:r>
                        <a:rPr lang="en-US" sz="1800" kern="100">
                          <a:effectLst/>
                        </a:rPr>
                        <a:t>4</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will not generate executable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If no errors in the program, </a:t>
                      </a:r>
                    </a:p>
                    <a:p>
                      <a:pPr marL="0" marR="0" algn="l">
                        <a:lnSpc>
                          <a:spcPct val="107000"/>
                        </a:lnSpc>
                        <a:spcBef>
                          <a:spcPts val="0"/>
                        </a:spcBef>
                        <a:spcAft>
                          <a:spcPts val="0"/>
                        </a:spcAft>
                        <a:tabLst>
                          <a:tab pos="114300" algn="l"/>
                        </a:tabLst>
                      </a:pPr>
                      <a:r>
                        <a:rPr lang="en-US" sz="1800" kern="100">
                          <a:effectLst/>
                        </a:rPr>
                        <a:t>then it generates executable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extLst>
                  <a:ext uri="{0D108BD9-81ED-4DB2-BD59-A6C34878D82A}">
                    <a16:rowId xmlns:a16="http://schemas.microsoft.com/office/drawing/2014/main" val="2094333120"/>
                  </a:ext>
                </a:extLst>
              </a:tr>
              <a:tr h="341018">
                <a:tc>
                  <a:txBody>
                    <a:bodyPr/>
                    <a:lstStyle/>
                    <a:p>
                      <a:pPr marL="0" marR="0" algn="l">
                        <a:lnSpc>
                          <a:spcPct val="107000"/>
                        </a:lnSpc>
                        <a:spcBef>
                          <a:spcPts val="0"/>
                        </a:spcBef>
                        <a:spcAft>
                          <a:spcPts val="0"/>
                        </a:spcAft>
                        <a:tabLst>
                          <a:tab pos="114300" algn="l"/>
                        </a:tabLst>
                      </a:pPr>
                      <a:r>
                        <a:rPr lang="en-US" sz="1800" kern="100">
                          <a:effectLst/>
                        </a:rPr>
                        <a:t>5</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always executes only source code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It executes exe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extLst>
                  <a:ext uri="{0D108BD9-81ED-4DB2-BD59-A6C34878D82A}">
                    <a16:rowId xmlns:a16="http://schemas.microsoft.com/office/drawing/2014/main" val="2191561450"/>
                  </a:ext>
                </a:extLst>
              </a:tr>
              <a:tr h="341018">
                <a:tc>
                  <a:txBody>
                    <a:bodyPr/>
                    <a:lstStyle/>
                    <a:p>
                      <a:pPr marL="0" marR="0" algn="l">
                        <a:lnSpc>
                          <a:spcPct val="107000"/>
                        </a:lnSpc>
                        <a:spcBef>
                          <a:spcPts val="0"/>
                        </a:spcBef>
                        <a:spcAft>
                          <a:spcPts val="0"/>
                        </a:spcAft>
                        <a:tabLst>
                          <a:tab pos="114300" algn="l"/>
                        </a:tabLst>
                      </a:pPr>
                      <a:r>
                        <a:rPr lang="en-US" sz="1800" kern="100">
                          <a:effectLst/>
                        </a:rPr>
                        <a:t>6</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all scripting languages </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all programming language </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extLst>
                  <a:ext uri="{0D108BD9-81ED-4DB2-BD59-A6C34878D82A}">
                    <a16:rowId xmlns:a16="http://schemas.microsoft.com/office/drawing/2014/main" val="589184576"/>
                  </a:ext>
                </a:extLst>
              </a:tr>
              <a:tr h="700486">
                <a:tc>
                  <a:txBody>
                    <a:bodyPr/>
                    <a:lstStyle/>
                    <a:p>
                      <a:pPr marL="0" marR="0" algn="l">
                        <a:lnSpc>
                          <a:spcPct val="107000"/>
                        </a:lnSpc>
                        <a:spcBef>
                          <a:spcPts val="0"/>
                        </a:spcBef>
                        <a:spcAft>
                          <a:spcPts val="0"/>
                        </a:spcAft>
                        <a:tabLst>
                          <a:tab pos="114300" algn="l"/>
                        </a:tabLst>
                      </a:pPr>
                      <a:r>
                        <a:rPr lang="en-US" sz="1800" kern="100">
                          <a:effectLst/>
                        </a:rPr>
                        <a:t>7</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Eg:  HTML, PERL, Java Script, Python, Shell</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Eg;   C, C++ ,java  and  .Net C#</a:t>
                      </a:r>
                    </a:p>
                    <a:p>
                      <a:pPr marL="0" marR="0" algn="l">
                        <a:lnSpc>
                          <a:spcPct val="107000"/>
                        </a:lnSpc>
                        <a:spcBef>
                          <a:spcPts val="0"/>
                        </a:spcBef>
                        <a:spcAft>
                          <a:spcPts val="0"/>
                        </a:spcAft>
                        <a:tabLst>
                          <a:tab pos="114300" algn="l"/>
                        </a:tabLst>
                      </a:pPr>
                      <a:r>
                        <a:rPr lang="en-US" sz="1800" kern="100">
                          <a:effectLst/>
                        </a:rPr>
                        <a:t> </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extLst>
                  <a:ext uri="{0D108BD9-81ED-4DB2-BD59-A6C34878D82A}">
                    <a16:rowId xmlns:a16="http://schemas.microsoft.com/office/drawing/2014/main" val="1230831474"/>
                  </a:ext>
                </a:extLst>
              </a:tr>
              <a:tr h="700486">
                <a:tc>
                  <a:txBody>
                    <a:bodyPr/>
                    <a:lstStyle/>
                    <a:p>
                      <a:pPr marL="0" marR="0" algn="l">
                        <a:lnSpc>
                          <a:spcPct val="107000"/>
                        </a:lnSpc>
                        <a:spcBef>
                          <a:spcPts val="0"/>
                        </a:spcBef>
                        <a:spcAft>
                          <a:spcPts val="0"/>
                        </a:spcAft>
                        <a:tabLst>
                          <a:tab pos="114300" algn="l"/>
                        </a:tabLst>
                      </a:pPr>
                      <a:r>
                        <a:rPr lang="en-US" sz="1800" kern="100">
                          <a:effectLst/>
                        </a:rPr>
                        <a:t>8</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dirty="0">
                          <a:effectLst/>
                        </a:rPr>
                        <a:t>Interpreter based languages don’t have exe file concept</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l">
                        <a:lnSpc>
                          <a:spcPct val="107000"/>
                        </a:lnSpc>
                        <a:spcBef>
                          <a:spcPts val="0"/>
                        </a:spcBef>
                        <a:spcAft>
                          <a:spcPts val="0"/>
                        </a:spcAft>
                        <a:tabLst>
                          <a:tab pos="114300" algn="l"/>
                        </a:tabLst>
                      </a:pPr>
                      <a:r>
                        <a:rPr lang="en-US" sz="1800" kern="100">
                          <a:effectLst/>
                        </a:rPr>
                        <a:t>Every program converts into exe file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2488512995"/>
                  </a:ext>
                </a:extLst>
              </a:tr>
              <a:tr h="700486">
                <a:tc>
                  <a:txBody>
                    <a:bodyPr/>
                    <a:lstStyle/>
                    <a:p>
                      <a:pPr marL="0" marR="0" algn="l">
                        <a:lnSpc>
                          <a:spcPct val="107000"/>
                        </a:lnSpc>
                        <a:spcBef>
                          <a:spcPts val="0"/>
                        </a:spcBef>
                        <a:spcAft>
                          <a:spcPts val="0"/>
                        </a:spcAft>
                        <a:tabLst>
                          <a:tab pos="114300" algn="l"/>
                        </a:tabLst>
                      </a:pPr>
                      <a:r>
                        <a:rPr lang="en-US" sz="1800" kern="100">
                          <a:effectLst/>
                        </a:rPr>
                        <a:t>9</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nchor="ctr"/>
                </a:tc>
                <a:tc>
                  <a:txBody>
                    <a:bodyPr/>
                    <a:lstStyle/>
                    <a:p>
                      <a:pPr marL="0" marR="0" algn="l">
                        <a:lnSpc>
                          <a:spcPct val="107000"/>
                        </a:lnSpc>
                        <a:spcBef>
                          <a:spcPts val="0"/>
                        </a:spcBef>
                        <a:spcAft>
                          <a:spcPts val="0"/>
                        </a:spcAft>
                        <a:tabLst>
                          <a:tab pos="114300" algn="l"/>
                        </a:tabLst>
                      </a:pPr>
                      <a:r>
                        <a:rPr lang="en-US" sz="1800" kern="100">
                          <a:effectLst/>
                        </a:rPr>
                        <a:t>Open Source, it can be modified any time</a:t>
                      </a:r>
                      <a:endParaRPr lang="en-US" sz="1800" kern="1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l">
                        <a:lnSpc>
                          <a:spcPct val="107000"/>
                        </a:lnSpc>
                        <a:spcBef>
                          <a:spcPts val="0"/>
                        </a:spcBef>
                        <a:spcAft>
                          <a:spcPts val="0"/>
                        </a:spcAft>
                        <a:tabLst>
                          <a:tab pos="114300" algn="l"/>
                        </a:tabLst>
                      </a:pPr>
                      <a:r>
                        <a:rPr lang="en-US" sz="1800" kern="100" dirty="0">
                          <a:effectLst/>
                        </a:rPr>
                        <a:t>It is not an open source , </a:t>
                      </a:r>
                    </a:p>
                    <a:p>
                      <a:pPr marL="0" marR="0" algn="l">
                        <a:lnSpc>
                          <a:spcPct val="107000"/>
                        </a:lnSpc>
                        <a:spcBef>
                          <a:spcPts val="0"/>
                        </a:spcBef>
                        <a:spcAft>
                          <a:spcPts val="0"/>
                        </a:spcAft>
                        <a:tabLst>
                          <a:tab pos="114300" algn="l"/>
                        </a:tabLst>
                      </a:pPr>
                      <a:r>
                        <a:rPr lang="en-US" sz="1800" kern="100" dirty="0">
                          <a:effectLst/>
                        </a:rPr>
                        <a:t>it is exe based , it’s code can not be modified  </a:t>
                      </a:r>
                      <a:endParaRPr lang="en-US" sz="1800" kern="1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3801463560"/>
                  </a:ext>
                </a:extLst>
              </a:tr>
            </a:tbl>
          </a:graphicData>
        </a:graphic>
      </p:graphicFrame>
    </p:spTree>
    <p:extLst>
      <p:ext uri="{BB962C8B-B14F-4D97-AF65-F5344CB8AC3E}">
        <p14:creationId xmlns:p14="http://schemas.microsoft.com/office/powerpoint/2010/main" val="3990685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FB30-14E1-FFC4-DCB4-0B73838B788E}"/>
              </a:ext>
            </a:extLst>
          </p:cNvPr>
          <p:cNvSpPr>
            <a:spLocks noGrp="1"/>
          </p:cNvSpPr>
          <p:nvPr>
            <p:ph type="title"/>
          </p:nvPr>
        </p:nvSpPr>
        <p:spPr>
          <a:xfrm>
            <a:off x="259882" y="192505"/>
            <a:ext cx="11244731" cy="539015"/>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Automatic Compilation in Python</a:t>
            </a:r>
          </a:p>
        </p:txBody>
      </p:sp>
      <p:sp>
        <p:nvSpPr>
          <p:cNvPr id="3" name="Content Placeholder 2">
            <a:extLst>
              <a:ext uri="{FF2B5EF4-FFF2-40B4-BE49-F238E27FC236}">
                <a16:creationId xmlns:a16="http://schemas.microsoft.com/office/drawing/2014/main" id="{5B9E43CF-A257-EA3F-B9A5-BB0692780B54}"/>
              </a:ext>
            </a:extLst>
          </p:cNvPr>
          <p:cNvSpPr>
            <a:spLocks noGrp="1"/>
          </p:cNvSpPr>
          <p:nvPr>
            <p:ph idx="1"/>
          </p:nvPr>
        </p:nvSpPr>
        <p:spPr>
          <a:xfrm>
            <a:off x="375385" y="731520"/>
            <a:ext cx="11675444" cy="5179702"/>
          </a:xfrm>
        </p:spPr>
        <p:txBody>
          <a:bodyPr>
            <a:normAutofit/>
          </a:bodyPr>
          <a:lstStyle/>
          <a:p>
            <a:r>
              <a:rPr lang="en-US" dirty="0">
                <a:latin typeface="Cambria" panose="02040503050406030204" pitchFamily="18" charset="0"/>
                <a:ea typeface="Cambria" panose="02040503050406030204" pitchFamily="18" charset="0"/>
              </a:rPr>
              <a:t>Python is an </a:t>
            </a:r>
            <a:r>
              <a:rPr lang="en-US" b="1" dirty="0">
                <a:latin typeface="Cambria" panose="02040503050406030204" pitchFamily="18" charset="0"/>
                <a:ea typeface="Cambria" panose="02040503050406030204" pitchFamily="18" charset="0"/>
              </a:rPr>
              <a:t>interpreted language</a:t>
            </a:r>
            <a:r>
              <a:rPr lang="en-US" dirty="0">
                <a:latin typeface="Cambria" panose="02040503050406030204" pitchFamily="18" charset="0"/>
                <a:ea typeface="Cambria" panose="02040503050406030204" pitchFamily="18" charset="0"/>
              </a:rPr>
              <a:t>, but it also goes through a </a:t>
            </a:r>
            <a:r>
              <a:rPr lang="en-US" b="1" dirty="0">
                <a:latin typeface="Cambria" panose="02040503050406030204" pitchFamily="18" charset="0"/>
                <a:ea typeface="Cambria" panose="02040503050406030204" pitchFamily="18" charset="0"/>
              </a:rPr>
              <a:t>compilation step automatically</a:t>
            </a:r>
          </a:p>
          <a:p>
            <a:endParaRPr lang="en-US" b="1" dirty="0">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Your .</a:t>
            </a:r>
            <a:r>
              <a:rPr kumimoji="0" lang="en-US" altLang="en-US"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py</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file (source 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first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compiled</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bytecode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bytecode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a lower-level, platform-independent representation of your code.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This bytecode is then sent to 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interpreter (Python Virtual Machine - PVM)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which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executes it line by line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endParaRPr lang="en-US" b="1"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Why Is It Automatic?</a:t>
            </a:r>
          </a:p>
          <a:p>
            <a:r>
              <a:rPr lang="en-US" dirty="0">
                <a:latin typeface="Cambria" panose="02040503050406030204" pitchFamily="18" charset="0"/>
                <a:ea typeface="Cambria" panose="02040503050406030204" pitchFamily="18" charset="0"/>
              </a:rPr>
              <a:t>Python hides the compilation step from the user to simplify the development process.</a:t>
            </a:r>
          </a:p>
          <a:p>
            <a:r>
              <a:rPr lang="en-US" dirty="0">
                <a:latin typeface="Cambria" panose="02040503050406030204" pitchFamily="18" charset="0"/>
                <a:ea typeface="Cambria" panose="02040503050406030204" pitchFamily="18" charset="0"/>
              </a:rPr>
              <a:t>Unlike languages like C or Java (where you explicitly compile), Python handles it in the background.</a:t>
            </a:r>
          </a:p>
          <a:p>
            <a:r>
              <a:rPr lang="en-US" dirty="0">
                <a:latin typeface="Cambria" panose="02040503050406030204" pitchFamily="18" charset="0"/>
                <a:ea typeface="Cambria" panose="02040503050406030204" pitchFamily="18" charset="0"/>
              </a:rPr>
              <a:t>This improves developer productivity and allows for quicker testing and iteration.</a:t>
            </a:r>
          </a:p>
          <a:p>
            <a:r>
              <a:rPr lang="en-US" dirty="0">
                <a:latin typeface="Cambria" panose="02040503050406030204" pitchFamily="18" charset="0"/>
                <a:ea typeface="Cambria" panose="02040503050406030204" pitchFamily="18" charset="0"/>
              </a:rPr>
              <a:t>When you run a Python script, it may create a .</a:t>
            </a:r>
            <a:r>
              <a:rPr lang="en-US" dirty="0" err="1">
                <a:latin typeface="Cambria" panose="02040503050406030204" pitchFamily="18" charset="0"/>
                <a:ea typeface="Cambria" panose="02040503050406030204" pitchFamily="18" charset="0"/>
              </a:rPr>
              <a:t>pyc</a:t>
            </a:r>
            <a:r>
              <a:rPr lang="en-US" dirty="0">
                <a:latin typeface="Cambria" panose="02040503050406030204" pitchFamily="18" charset="0"/>
                <a:ea typeface="Cambria" panose="02040503050406030204" pitchFamily="18" charset="0"/>
              </a:rPr>
              <a:t> file inside the __</a:t>
            </a:r>
            <a:r>
              <a:rPr lang="en-US" dirty="0" err="1">
                <a:latin typeface="Cambria" panose="02040503050406030204" pitchFamily="18" charset="0"/>
                <a:ea typeface="Cambria" panose="02040503050406030204" pitchFamily="18" charset="0"/>
              </a:rPr>
              <a:t>pycache</a:t>
            </a:r>
            <a:r>
              <a:rPr lang="en-US" dirty="0">
                <a:latin typeface="Cambria" panose="02040503050406030204" pitchFamily="18" charset="0"/>
                <a:ea typeface="Cambria" panose="02040503050406030204" pitchFamily="18" charset="0"/>
              </a:rPr>
              <a:t>__ folder.</a:t>
            </a:r>
          </a:p>
          <a:p>
            <a:r>
              <a:rPr lang="en-US" dirty="0">
                <a:latin typeface="Cambria" panose="02040503050406030204" pitchFamily="18" charset="0"/>
                <a:ea typeface="Cambria" panose="02040503050406030204" pitchFamily="18" charset="0"/>
              </a:rPr>
              <a:t>This is the compiled bytecode version of your script, used to speed up future runs.</a:t>
            </a:r>
          </a:p>
        </p:txBody>
      </p:sp>
    </p:spTree>
    <p:extLst>
      <p:ext uri="{BB962C8B-B14F-4D97-AF65-F5344CB8AC3E}">
        <p14:creationId xmlns:p14="http://schemas.microsoft.com/office/powerpoint/2010/main" val="3854503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95C3-E04A-E54B-F497-F618E723A867}"/>
              </a:ext>
            </a:extLst>
          </p:cNvPr>
          <p:cNvSpPr>
            <a:spLocks noGrp="1"/>
          </p:cNvSpPr>
          <p:nvPr>
            <p:ph type="title"/>
          </p:nvPr>
        </p:nvSpPr>
        <p:spPr>
          <a:xfrm>
            <a:off x="433137" y="182880"/>
            <a:ext cx="11071475" cy="567891"/>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Install or download </a:t>
            </a:r>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p>
        </p:txBody>
      </p:sp>
      <p:sp>
        <p:nvSpPr>
          <p:cNvPr id="3" name="Content Placeholder 2">
            <a:extLst>
              <a:ext uri="{FF2B5EF4-FFF2-40B4-BE49-F238E27FC236}">
                <a16:creationId xmlns:a16="http://schemas.microsoft.com/office/drawing/2014/main" id="{B884CEF2-3F75-FA1D-B7AC-E4A4396A0F70}"/>
              </a:ext>
            </a:extLst>
          </p:cNvPr>
          <p:cNvSpPr>
            <a:spLocks noGrp="1"/>
          </p:cNvSpPr>
          <p:nvPr>
            <p:ph idx="1"/>
          </p:nvPr>
        </p:nvSpPr>
        <p:spPr>
          <a:xfrm>
            <a:off x="288758" y="1135781"/>
            <a:ext cx="11215854" cy="4804317"/>
          </a:xfrm>
        </p:spPr>
        <p:txBody>
          <a:bodyPr/>
          <a:lstStyle/>
          <a:p>
            <a:r>
              <a:rPr lang="en-US" dirty="0"/>
              <a:t>&gt;pip --version</a:t>
            </a:r>
          </a:p>
        </p:txBody>
      </p:sp>
      <p:sp>
        <p:nvSpPr>
          <p:cNvPr id="5" name="Rectangle 2">
            <a:extLst>
              <a:ext uri="{FF2B5EF4-FFF2-40B4-BE49-F238E27FC236}">
                <a16:creationId xmlns:a16="http://schemas.microsoft.com/office/drawing/2014/main" id="{D8122C3F-711C-257D-3653-EB820F81463A}"/>
              </a:ext>
            </a:extLst>
          </p:cNvPr>
          <p:cNvSpPr>
            <a:spLocks noChangeArrowheads="1"/>
          </p:cNvSpPr>
          <p:nvPr/>
        </p:nvSpPr>
        <p:spPr bwMode="auto">
          <a:xfrm>
            <a:off x="325261" y="1791725"/>
            <a:ext cx="11287225" cy="107976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anose="020F0502020204030204" pitchFamily="2" charset="0"/>
              </a:rPr>
              <a:t>Using</a:t>
            </a:r>
            <a:r>
              <a:rPr kumimoji="0" lang="en-US" altLang="en-US" sz="1600" b="1" i="0" u="none" strike="noStrike" cap="none" normalizeH="0" baseline="0" dirty="0">
                <a:ln>
                  <a:noFill/>
                </a:ln>
                <a:solidFill>
                  <a:srgbClr val="273239"/>
                </a:solidFill>
                <a:effectLst/>
                <a:latin typeface="Nunito" panose="020F0502020204030204" pitchFamily="2" charset="0"/>
              </a:rPr>
              <a:t> </a:t>
            </a:r>
            <a:r>
              <a:rPr kumimoji="0" lang="en-US" altLang="en-US" sz="1600" b="1" i="0" u="sng" strike="noStrike" cap="none" normalizeH="0" baseline="0" dirty="0">
                <a:ln>
                  <a:noFill/>
                </a:ln>
                <a:solidFill>
                  <a:srgbClr val="357960"/>
                </a:solidFill>
                <a:effectLst/>
                <a:latin typeface="Nunito" panose="020F0502020204030204" pitchFamily="2" charset="0"/>
                <a:hlinkClick r:id="rId2"/>
              </a:rPr>
              <a:t>PIP</a:t>
            </a:r>
            <a:r>
              <a:rPr kumimoji="0" lang="en-US" altLang="en-US" sz="1600" b="0" i="0" u="none" strike="noStrike" cap="none" normalizeH="0" baseline="0" dirty="0">
                <a:ln>
                  <a:noFill/>
                </a:ln>
                <a:solidFill>
                  <a:srgbClr val="273239"/>
                </a:solidFill>
                <a:effectLst/>
                <a:latin typeface="Nunito" panose="020F0502020204030204" pitchFamily="2" charset="0"/>
              </a:rPr>
              <a:t> with </a:t>
            </a:r>
            <a:r>
              <a:rPr kumimoji="0" lang="en-US" altLang="en-US" sz="1600" b="0" i="0" u="sng" strike="noStrike" cap="none" normalizeH="0" baseline="0" dirty="0">
                <a:ln>
                  <a:noFill/>
                </a:ln>
                <a:solidFill>
                  <a:srgbClr val="357960"/>
                </a:solidFill>
                <a:effectLst/>
                <a:latin typeface="Nunito" panose="020F0502020204030204" pitchFamily="2" charset="0"/>
                <a:hlinkClick r:id="rId3"/>
              </a:rPr>
              <a:t>Python </a:t>
            </a:r>
            <a:r>
              <a:rPr kumimoji="0" lang="en-US" altLang="en-US" sz="1600" b="0" i="0" u="none" strike="noStrike" cap="none" normalizeH="0" baseline="0" dirty="0">
                <a:ln>
                  <a:noFill/>
                </a:ln>
                <a:solidFill>
                  <a:srgbClr val="273239"/>
                </a:solidFill>
                <a:effectLst/>
                <a:latin typeface="Nunito" panose="020F0502020204030204" pitchFamily="2" charset="0"/>
              </a:rPr>
              <a:t>is one of the best method to install </a:t>
            </a:r>
            <a:r>
              <a:rPr kumimoji="0" lang="en-US" altLang="en-US" sz="1600" b="0" i="0" u="none" strike="noStrike" cap="none" normalizeH="0" baseline="0" dirty="0" err="1">
                <a:ln>
                  <a:noFill/>
                </a:ln>
                <a:solidFill>
                  <a:srgbClr val="273239"/>
                </a:solidFill>
                <a:effectLst/>
                <a:latin typeface="Nunito" panose="020F0502020204030204" pitchFamily="2" charset="0"/>
              </a:rPr>
              <a:t>Jupyter</a:t>
            </a:r>
            <a:r>
              <a:rPr kumimoji="0" lang="en-US" altLang="en-US" sz="1600" b="0" i="0" u="none" strike="noStrike" cap="none" normalizeH="0" baseline="0" dirty="0">
                <a:ln>
                  <a:noFill/>
                </a:ln>
                <a:solidFill>
                  <a:srgbClr val="273239"/>
                </a:solidFill>
                <a:effectLst/>
                <a:latin typeface="Nunito" panose="020F0502020204030204" pitchFamily="2" charset="0"/>
              </a:rPr>
              <a:t> Notebook in your Windows Operating System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anose="020F0502020204030204" pitchFamily="2" charset="0"/>
              </a:rPr>
              <a:t>Step 1: Check for any </a:t>
            </a:r>
            <a:r>
              <a:rPr kumimoji="0" lang="en-US" altLang="en-US" b="1" i="0" u="none" strike="noStrike" cap="none" normalizeH="0" baseline="0" dirty="0" err="1">
                <a:ln>
                  <a:noFill/>
                </a:ln>
                <a:solidFill>
                  <a:srgbClr val="273239"/>
                </a:solidFill>
                <a:effectLst/>
                <a:latin typeface="Nunito" panose="020F0502020204030204" pitchFamily="2" charset="0"/>
              </a:rPr>
              <a:t>Exisiting</a:t>
            </a:r>
            <a:r>
              <a:rPr kumimoji="0" lang="en-US" altLang="en-US" b="1" i="0" u="none" strike="noStrike" cap="none" normalizeH="0" baseline="0" dirty="0">
                <a:ln>
                  <a:noFill/>
                </a:ln>
                <a:solidFill>
                  <a:srgbClr val="273239"/>
                </a:solidFill>
                <a:effectLst/>
                <a:latin typeface="Nunito" panose="020F0502020204030204" pitchFamily="2" charset="0"/>
              </a:rPr>
              <a:t> Update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anose="020F0502020204030204" pitchFamily="2" charset="0"/>
              </a:rPr>
              <a:t>Use the following command to update pip (to verify if pip is updated):</a:t>
            </a:r>
            <a:endParaRPr kumimoji="0" lang="en-US" altLang="en-US" sz="16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Consolas" panose="020B0609020204030204" pitchFamily="49" charset="0"/>
              </a:rPr>
              <a:t>python -m pip install --upgrade pip</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9B5CA74-C484-CCB0-B3C4-BE1DDEA0FF62}"/>
              </a:ext>
            </a:extLst>
          </p:cNvPr>
          <p:cNvSpPr>
            <a:spLocks noChangeArrowheads="1"/>
          </p:cNvSpPr>
          <p:nvPr/>
        </p:nvSpPr>
        <p:spPr bwMode="auto">
          <a:xfrm>
            <a:off x="324442" y="3256498"/>
            <a:ext cx="11215854" cy="895097"/>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anose="020F0502020204030204" pitchFamily="2" charset="0"/>
              </a:rPr>
              <a:t>Step 2: Install </a:t>
            </a:r>
            <a:r>
              <a:rPr kumimoji="0" lang="en-US" altLang="en-US" b="1" i="0" u="none" strike="noStrike" cap="none" normalizeH="0" baseline="0" dirty="0" err="1">
                <a:ln>
                  <a:noFill/>
                </a:ln>
                <a:solidFill>
                  <a:srgbClr val="273239"/>
                </a:solidFill>
                <a:effectLst/>
                <a:latin typeface="Nunito" panose="020F0502020204030204" pitchFamily="2" charset="0"/>
              </a:rPr>
              <a:t>Jupyter</a:t>
            </a:r>
            <a:r>
              <a:rPr kumimoji="0" lang="en-US" altLang="en-US" b="1" i="0" u="none" strike="noStrike" cap="none" normalizeH="0" baseline="0" dirty="0">
                <a:ln>
                  <a:noFill/>
                </a:ln>
                <a:solidFill>
                  <a:srgbClr val="273239"/>
                </a:solidFill>
                <a:effectLst/>
                <a:latin typeface="Nunito" panose="020F0502020204030204" pitchFamily="2" charset="0"/>
              </a:rPr>
              <a:t> Notebook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anose="020F0502020204030204" pitchFamily="2" charset="0"/>
              </a:rPr>
              <a:t>After updating the</a:t>
            </a:r>
            <a:r>
              <a:rPr kumimoji="0" lang="en-US" altLang="en-US" b="0" i="0" u="sng" strike="noStrike" cap="none" normalizeH="0" baseline="0" dirty="0">
                <a:ln>
                  <a:noFill/>
                </a:ln>
                <a:solidFill>
                  <a:srgbClr val="357960"/>
                </a:solidFill>
                <a:effectLst/>
                <a:latin typeface="Nunito" panose="020F0502020204030204" pitchFamily="2" charset="0"/>
                <a:hlinkClick r:id="rId4"/>
              </a:rPr>
              <a:t> pip version</a:t>
            </a:r>
            <a:r>
              <a:rPr kumimoji="0" lang="en-US" altLang="en-US" b="0" i="0" u="none" strike="noStrike" cap="none" normalizeH="0" baseline="0" dirty="0">
                <a:ln>
                  <a:noFill/>
                </a:ln>
                <a:solidFill>
                  <a:srgbClr val="273239"/>
                </a:solidFill>
                <a:effectLst/>
                <a:latin typeface="Nunito" panose="020F0502020204030204" pitchFamily="2" charset="0"/>
              </a:rPr>
              <a:t>, type the following command to install </a:t>
            </a:r>
            <a:r>
              <a:rPr kumimoji="0" lang="en-US" altLang="en-US" b="0" i="0" u="none" strike="noStrike" cap="none" normalizeH="0" baseline="0" dirty="0" err="1">
                <a:ln>
                  <a:noFill/>
                </a:ln>
                <a:solidFill>
                  <a:srgbClr val="273239"/>
                </a:solidFill>
                <a:effectLst/>
                <a:latin typeface="Nunito" panose="020F0502020204030204" pitchFamily="2" charset="0"/>
              </a:rPr>
              <a:t>Jupyter</a:t>
            </a:r>
            <a:r>
              <a:rPr kumimoji="0" lang="en-US" altLang="en-US" b="0" i="0" u="none" strike="noStrike" cap="none" normalizeH="0" baseline="0" dirty="0">
                <a:ln>
                  <a:noFill/>
                </a:ln>
                <a:solidFill>
                  <a:srgbClr val="273239"/>
                </a:solidFill>
                <a:effectLst/>
                <a:latin typeface="Nunito" panose="020F0502020204030204" pitchFamily="2" charset="0"/>
              </a:rPr>
              <a:t>:</a:t>
            </a:r>
            <a:endParaRPr kumimoji="0" lang="en-US" altLang="en-US"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olas" panose="020B0609020204030204" pitchFamily="49" charset="0"/>
              </a:rPr>
              <a:t>python -m pip install </a:t>
            </a:r>
            <a:r>
              <a:rPr kumimoji="0" lang="en-US" altLang="en-US" b="0" i="0" u="none" strike="noStrike" cap="none" normalizeH="0" baseline="0" dirty="0" err="1">
                <a:ln>
                  <a:noFill/>
                </a:ln>
                <a:solidFill>
                  <a:schemeClr val="tx1"/>
                </a:solidFill>
                <a:effectLst/>
                <a:latin typeface="Consolas" panose="020B0609020204030204" pitchFamily="49" charset="0"/>
              </a:rPr>
              <a:t>jupyter</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0FB0240D-CD9C-2E97-271F-7D2CCF0D515A}"/>
              </a:ext>
            </a:extLst>
          </p:cNvPr>
          <p:cNvSpPr>
            <a:spLocks noChangeArrowheads="1"/>
          </p:cNvSpPr>
          <p:nvPr/>
        </p:nvSpPr>
        <p:spPr bwMode="auto">
          <a:xfrm>
            <a:off x="288757" y="4536605"/>
            <a:ext cx="11287225" cy="895097"/>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Step 3: Launching </a:t>
            </a:r>
            <a:r>
              <a:rPr kumimoji="0" lang="en-US" altLang="en-US" b="1" i="0" u="none" strike="noStrike" cap="none" normalizeH="0" baseline="0" dirty="0" err="1">
                <a:ln>
                  <a:noFill/>
                </a:ln>
                <a:solidFill>
                  <a:srgbClr val="273239"/>
                </a:solidFill>
                <a:effectLst/>
                <a:latin typeface="Nunito" pitchFamily="2" charset="0"/>
              </a:rPr>
              <a:t>Jupyter</a:t>
            </a:r>
            <a:endParaRPr kumimoji="0" lang="en-US" altLang="en-US" b="1" i="0" u="none" strike="noStrike" cap="none" normalizeH="0" baseline="0" dirty="0">
              <a:ln>
                <a:noFill/>
              </a:ln>
              <a:solidFill>
                <a:srgbClr val="273239"/>
              </a:solidFill>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Use the following command to launch </a:t>
            </a:r>
            <a:r>
              <a:rPr kumimoji="0" lang="en-US" altLang="en-US" b="0" i="0" u="none" strike="noStrike" cap="none" normalizeH="0" baseline="0" dirty="0" err="1">
                <a:ln>
                  <a:noFill/>
                </a:ln>
                <a:solidFill>
                  <a:srgbClr val="273239"/>
                </a:solidFill>
                <a:effectLst/>
                <a:latin typeface="Nunito" pitchFamily="2" charset="0"/>
              </a:rPr>
              <a:t>Jupyter</a:t>
            </a:r>
            <a:r>
              <a:rPr kumimoji="0" lang="en-US" altLang="en-US" b="0" i="0" u="none" strike="noStrike" cap="none" normalizeH="0" baseline="0" dirty="0">
                <a:ln>
                  <a:noFill/>
                </a:ln>
                <a:solidFill>
                  <a:srgbClr val="273239"/>
                </a:solidFill>
                <a:effectLst/>
                <a:latin typeface="Nunito" pitchFamily="2" charset="0"/>
              </a:rPr>
              <a:t> using:</a:t>
            </a:r>
            <a:endParaRPr kumimoji="0" lang="en-US" altLang="en-US"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Consolas" panose="020B0609020204030204" pitchFamily="49" charset="0"/>
              </a:rPr>
              <a:t>jupyter</a:t>
            </a:r>
            <a:r>
              <a:rPr kumimoji="0" lang="en-US" altLang="en-US" b="0" i="0" u="none" strike="noStrike" cap="none" normalizeH="0" baseline="0" dirty="0">
                <a:ln>
                  <a:noFill/>
                </a:ln>
                <a:solidFill>
                  <a:schemeClr val="tx1"/>
                </a:solidFill>
                <a:effectLst/>
                <a:latin typeface="Consolas" panose="020B0609020204030204" pitchFamily="49" charset="0"/>
              </a:rPr>
              <a:t> notebook</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226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19B9-FD06-8879-6E8B-2ADD70D3DCD1}"/>
              </a:ext>
            </a:extLst>
          </p:cNvPr>
          <p:cNvSpPr>
            <a:spLocks noGrp="1"/>
          </p:cNvSpPr>
          <p:nvPr>
            <p:ph type="title"/>
          </p:nvPr>
        </p:nvSpPr>
        <p:spPr>
          <a:xfrm>
            <a:off x="279133" y="288758"/>
            <a:ext cx="11225479" cy="471638"/>
          </a:xfrm>
        </p:spPr>
        <p:txBody>
          <a:bodyPr>
            <a:normAutofit fontScale="90000"/>
          </a:bodyPr>
          <a:lstStyle/>
          <a:p>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p>
        </p:txBody>
      </p:sp>
      <p:sp>
        <p:nvSpPr>
          <p:cNvPr id="5" name="Rectangle 2">
            <a:extLst>
              <a:ext uri="{FF2B5EF4-FFF2-40B4-BE49-F238E27FC236}">
                <a16:creationId xmlns:a16="http://schemas.microsoft.com/office/drawing/2014/main" id="{2EF5ABE4-25B1-BFF0-1DAB-07AAF044A7D7}"/>
              </a:ext>
            </a:extLst>
          </p:cNvPr>
          <p:cNvSpPr>
            <a:spLocks noGrp="1" noChangeArrowheads="1"/>
          </p:cNvSpPr>
          <p:nvPr>
            <p:ph idx="1"/>
          </p:nvPr>
        </p:nvSpPr>
        <p:spPr bwMode="auto">
          <a:xfrm>
            <a:off x="433137" y="1412179"/>
            <a:ext cx="1154550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Environment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provides an interactive web-based environment where you can write and run code, visualize data, and document your work all in one place.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Supports Multiple Languages</a:t>
            </a:r>
            <a:r>
              <a:rPr kumimoji="0" lang="en-US" altLang="en-US" sz="1800" b="0" i="0" u="none" strike="noStrike" cap="none" normalizeH="0" baseline="0" dirty="0">
                <a:ln>
                  <a:noFill/>
                </a:ln>
                <a:solidFill>
                  <a:schemeClr val="tx1"/>
                </a:solidFill>
                <a:effectLst/>
                <a:latin typeface="Arial" panose="020B0604020202020204" pitchFamily="34" charset="0"/>
              </a:rPr>
              <a:t>: Although primarily used for Python,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also supports many other programming languages via kernels (e.g., R, Julia, Scala).</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Code and Text in One Document</a:t>
            </a:r>
            <a:r>
              <a:rPr kumimoji="0" lang="en-US" altLang="en-US" sz="1800" b="0" i="0" u="none" strike="noStrike" cap="none" normalizeH="0" baseline="0" dirty="0">
                <a:ln>
                  <a:noFill/>
                </a:ln>
                <a:solidFill>
                  <a:schemeClr val="tx1"/>
                </a:solidFill>
                <a:effectLst/>
                <a:latin typeface="Arial" panose="020B0604020202020204" pitchFamily="34" charset="0"/>
              </a:rPr>
              <a:t>: You can combine executable code, rich text (using Markdown), equations (using LaTeX), and visualizations in a single document.</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Open Source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Notebook is open-source and freely available, making it accessible to anyone.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Widely Used in Data Science</a:t>
            </a:r>
            <a:r>
              <a:rPr kumimoji="0" lang="en-US" altLang="en-US" sz="1800" b="0" i="0" u="none" strike="noStrike" cap="none" normalizeH="0" baseline="0" dirty="0">
                <a:ln>
                  <a:noFill/>
                </a:ln>
                <a:solidFill>
                  <a:schemeClr val="tx1"/>
                </a:solidFill>
                <a:effectLst/>
                <a:latin typeface="Arial" panose="020B0604020202020204" pitchFamily="34" charset="0"/>
              </a:rPr>
              <a:t>: It's a popular tool among data scientists and researchers for data analysis, machine learning, and statistical modeling.</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6607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C187-DC8E-42EF-8C5F-6897DEEE15DB}"/>
              </a:ext>
            </a:extLst>
          </p:cNvPr>
          <p:cNvSpPr>
            <a:spLocks noGrp="1"/>
          </p:cNvSpPr>
          <p:nvPr>
            <p:ph type="title"/>
          </p:nvPr>
        </p:nvSpPr>
        <p:spPr>
          <a:xfrm>
            <a:off x="144379" y="269507"/>
            <a:ext cx="11360234" cy="596767"/>
          </a:xfrm>
        </p:spPr>
        <p:txBody>
          <a:bodyPr>
            <a:normAutofit/>
          </a:bodyPr>
          <a:lstStyle/>
          <a:p>
            <a:r>
              <a:rPr lang="en-US" sz="2800" b="1" dirty="0" err="1">
                <a:solidFill>
                  <a:srgbClr val="FF0000"/>
                </a:solidFill>
                <a:latin typeface="Cambria" panose="02040503050406030204" pitchFamily="18" charset="0"/>
                <a:ea typeface="Cambria" panose="02040503050406030204" pitchFamily="18" charset="0"/>
              </a:rPr>
              <a:t>Jupyter</a:t>
            </a:r>
            <a:r>
              <a:rPr lang="en-US" sz="2800" b="1" dirty="0">
                <a:solidFill>
                  <a:srgbClr val="FF0000"/>
                </a:solidFill>
                <a:latin typeface="Cambria" panose="02040503050406030204" pitchFamily="18" charset="0"/>
                <a:ea typeface="Cambria" panose="02040503050406030204" pitchFamily="18" charset="0"/>
              </a:rPr>
              <a:t> Notebook</a:t>
            </a:r>
            <a:endParaRPr lang="en-US" sz="2800" dirty="0"/>
          </a:p>
        </p:txBody>
      </p:sp>
      <p:sp>
        <p:nvSpPr>
          <p:cNvPr id="4" name="Rectangle 1">
            <a:extLst>
              <a:ext uri="{FF2B5EF4-FFF2-40B4-BE49-F238E27FC236}">
                <a16:creationId xmlns:a16="http://schemas.microsoft.com/office/drawing/2014/main" id="{8ED7B271-CB28-8462-C6A6-B2D4B5385547}"/>
              </a:ext>
            </a:extLst>
          </p:cNvPr>
          <p:cNvSpPr>
            <a:spLocks noGrp="1" noChangeArrowheads="1"/>
          </p:cNvSpPr>
          <p:nvPr>
            <p:ph idx="1"/>
          </p:nvPr>
        </p:nvSpPr>
        <p:spPr bwMode="auto">
          <a:xfrm>
            <a:off x="230927" y="1422359"/>
            <a:ext cx="1173014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Cell-Based Execution</a:t>
            </a:r>
            <a:r>
              <a:rPr kumimoji="0" lang="en-US" altLang="en-US" sz="1800" b="0" i="0" u="none" strike="noStrike" cap="none" normalizeH="0" baseline="0" dirty="0">
                <a:ln>
                  <a:noFill/>
                </a:ln>
                <a:solidFill>
                  <a:schemeClr val="tx1"/>
                </a:solidFill>
                <a:effectLst/>
                <a:latin typeface="Arial" panose="020B0604020202020204" pitchFamily="34" charset="0"/>
              </a:rPr>
              <a:t>: Notebooks are made up of cells that can be executed independently, allowing easy debugging and iterative development.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Other Tools</a:t>
            </a:r>
            <a:r>
              <a:rPr kumimoji="0" lang="en-US" altLang="en-US" sz="1800" b="0" i="0" u="none" strike="noStrike" cap="none" normalizeH="0" baseline="0" dirty="0">
                <a:ln>
                  <a:noFill/>
                </a:ln>
                <a:solidFill>
                  <a:schemeClr val="tx1"/>
                </a:solidFill>
                <a:effectLst/>
                <a:latin typeface="Arial" panose="020B0604020202020204" pitchFamily="34" charset="0"/>
              </a:rPr>
              <a:t>: Can be run on local machines or cloud platforms like 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r>
              <a:rPr kumimoji="0" lang="en-US" altLang="en-US" sz="1800" b="0" i="0" u="none" strike="noStrike" cap="none" normalizeH="0" baseline="0" dirty="0">
                <a:ln>
                  <a:noFill/>
                </a:ln>
                <a:solidFill>
                  <a:schemeClr val="tx1"/>
                </a:solidFill>
                <a:effectLst/>
                <a:latin typeface="Arial" panose="020B0604020202020204" pitchFamily="34" charset="0"/>
              </a:rPr>
              <a:t>, Binder, or </a:t>
            </a:r>
            <a:r>
              <a:rPr kumimoji="0" lang="en-US" altLang="en-US" sz="1800" b="0" i="0" u="none" strike="noStrike" cap="none" normalizeH="0" baseline="0" dirty="0" err="1">
                <a:ln>
                  <a:noFill/>
                </a:ln>
                <a:solidFill>
                  <a:schemeClr val="tx1"/>
                </a:solidFill>
                <a:effectLst/>
                <a:latin typeface="Arial" panose="020B0604020202020204" pitchFamily="34" charset="0"/>
              </a:rPr>
              <a:t>JupyterHub</a:t>
            </a:r>
            <a:r>
              <a:rPr kumimoji="0" lang="en-US" altLang="en-US" sz="1800" b="0" i="0" u="none" strike="noStrike" cap="none" normalizeH="0" baseline="0" dirty="0">
                <a:ln>
                  <a:noFill/>
                </a:ln>
                <a:solidFill>
                  <a:schemeClr val="tx1"/>
                </a:solidFill>
                <a:effectLst/>
                <a:latin typeface="Arial" panose="020B0604020202020204" pitchFamily="34" charset="0"/>
              </a:rPr>
              <a:t> for collaborative work.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Extensions and Customization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Jupyter</a:t>
            </a:r>
            <a:r>
              <a:rPr kumimoji="0" lang="en-US" altLang="en-US" sz="1800" b="0" i="0" u="none" strike="noStrike" cap="none" normalizeH="0" baseline="0" dirty="0">
                <a:ln>
                  <a:noFill/>
                </a:ln>
                <a:solidFill>
                  <a:schemeClr val="tx1"/>
                </a:solidFill>
                <a:effectLst/>
                <a:latin typeface="Arial" panose="020B0604020202020204" pitchFamily="34" charset="0"/>
              </a:rPr>
              <a:t> supports a wide variety of extensions and themes that enhance functionality (e.g., spell checker, table of contents, code folding).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4089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4422-C830-8736-4806-FEFEC7DD60F9}"/>
              </a:ext>
            </a:extLst>
          </p:cNvPr>
          <p:cNvSpPr>
            <a:spLocks noGrp="1"/>
          </p:cNvSpPr>
          <p:nvPr>
            <p:ph type="title"/>
          </p:nvPr>
        </p:nvSpPr>
        <p:spPr>
          <a:xfrm>
            <a:off x="209517" y="144379"/>
            <a:ext cx="11061850" cy="452387"/>
          </a:xfrm>
        </p:spPr>
        <p:txBody>
          <a:bodyPr>
            <a:normAutofit fontScale="90000"/>
          </a:bodyPr>
          <a:lstStyle/>
          <a:p>
            <a:r>
              <a:rPr lang="en-US" sz="2800" b="1" dirty="0">
                <a:solidFill>
                  <a:srgbClr val="FF0000"/>
                </a:solidFill>
              </a:rPr>
              <a:t>Python print() function</a:t>
            </a:r>
          </a:p>
        </p:txBody>
      </p:sp>
      <p:sp>
        <p:nvSpPr>
          <p:cNvPr id="4" name="Rectangle 1">
            <a:extLst>
              <a:ext uri="{FF2B5EF4-FFF2-40B4-BE49-F238E27FC236}">
                <a16:creationId xmlns:a16="http://schemas.microsoft.com/office/drawing/2014/main" id="{8A6369EC-B20C-4982-B4D2-D3358F1EBBC3}"/>
              </a:ext>
            </a:extLst>
          </p:cNvPr>
          <p:cNvSpPr>
            <a:spLocks noGrp="1" noChangeArrowheads="1"/>
          </p:cNvSpPr>
          <p:nvPr>
            <p:ph idx="1"/>
          </p:nvPr>
        </p:nvSpPr>
        <p:spPr bwMode="auto">
          <a:xfrm>
            <a:off x="209517" y="1546696"/>
            <a:ext cx="1158142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b="0" i="0" u="none" strike="noStrike" cap="none" normalizeH="0" baseline="0" dirty="0">
                <a:ln>
                  <a:noFill/>
                </a:ln>
                <a:solidFill>
                  <a:schemeClr val="tx1"/>
                </a:solidFill>
                <a:effectLst/>
                <a:latin typeface="Arial Unicode MS"/>
              </a:rPr>
              <a:t>print()</a:t>
            </a:r>
            <a:r>
              <a:rPr kumimoji="0" lang="en-US" altLang="en-US" b="0" i="0" u="none" strike="noStrike" cap="none" normalizeH="0" baseline="0" dirty="0">
                <a:ln>
                  <a:noFill/>
                </a:ln>
                <a:solidFill>
                  <a:schemeClr val="tx1"/>
                </a:solidFill>
                <a:effectLst/>
              </a:rPr>
              <a:t> function in Python is a </a:t>
            </a:r>
            <a:r>
              <a:rPr kumimoji="0" lang="en-US" altLang="en-US" sz="1800" b="1" i="0" u="none" strike="noStrike" cap="none" normalizeH="0" baseline="0" dirty="0">
                <a:ln>
                  <a:noFill/>
                </a:ln>
                <a:solidFill>
                  <a:schemeClr val="tx1"/>
                </a:solidFill>
                <a:effectLst/>
                <a:latin typeface="Arial" panose="020B0604020202020204" pitchFamily="34" charset="0"/>
              </a:rPr>
              <a:t>built-in function</a:t>
            </a:r>
            <a:r>
              <a:rPr kumimoji="0" lang="en-US" altLang="en-US" sz="1800" b="0" i="0" u="none" strike="noStrike" cap="none" normalizeH="0" baseline="0" dirty="0">
                <a:ln>
                  <a:noFill/>
                </a:ln>
                <a:solidFill>
                  <a:schemeClr val="tx1"/>
                </a:solidFill>
                <a:effectLst/>
                <a:latin typeface="Arial" panose="020B0604020202020204" pitchFamily="34" charset="0"/>
              </a:rPr>
              <a:t> used to </a:t>
            </a:r>
            <a:r>
              <a:rPr kumimoji="0" lang="en-US" altLang="en-US" sz="1800" b="1" i="0" u="none" strike="noStrike" cap="none" normalizeH="0" baseline="0" dirty="0">
                <a:ln>
                  <a:noFill/>
                </a:ln>
                <a:solidFill>
                  <a:schemeClr val="tx1"/>
                </a:solidFill>
                <a:effectLst/>
                <a:latin typeface="Arial" panose="020B0604020202020204" pitchFamily="34" charset="0"/>
              </a:rPr>
              <a:t>display output</a:t>
            </a:r>
            <a:r>
              <a:rPr kumimoji="0" lang="en-US" altLang="en-US" sz="1800" b="0" i="0" u="none" strike="noStrike" cap="none" normalizeH="0" baseline="0" dirty="0">
                <a:ln>
                  <a:noFill/>
                </a:ln>
                <a:solidFill>
                  <a:schemeClr val="tx1"/>
                </a:solidFill>
                <a:effectLst/>
                <a:latin typeface="Arial" panose="020B0604020202020204" pitchFamily="34" charset="0"/>
              </a:rPr>
              <a:t> on the screen (console).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It sends the specified message, variable, or expression result to the </a:t>
            </a:r>
            <a:r>
              <a:rPr kumimoji="0" lang="en-US" altLang="en-US" sz="1800" b="1" i="0" u="none" strike="noStrike" cap="none" normalizeH="0" baseline="0" dirty="0">
                <a:ln>
                  <a:noFill/>
                </a:ln>
                <a:solidFill>
                  <a:schemeClr val="tx1"/>
                </a:solidFill>
                <a:effectLst/>
                <a:latin typeface="Arial" panose="020B0604020202020204" pitchFamily="34" charset="0"/>
              </a:rPr>
              <a:t>standard output (usually the terminal)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Syntax of print() function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chemeClr val="tx1"/>
                </a:solidFill>
                <a:latin typeface="Arial" panose="020B0604020202020204" pitchFamily="34" charset="0"/>
              </a:rPr>
              <a:t>print(object1, object2, ..., </a:t>
            </a:r>
            <a:r>
              <a:rPr lang="en-US" altLang="en-US" dirty="0" err="1">
                <a:solidFill>
                  <a:schemeClr val="tx1"/>
                </a:solidFill>
                <a:latin typeface="Arial" panose="020B0604020202020204" pitchFamily="34" charset="0"/>
              </a:rPr>
              <a:t>sep</a:t>
            </a:r>
            <a:r>
              <a:rPr lang="en-US" altLang="en-US" dirty="0">
                <a:solidFill>
                  <a:schemeClr val="tx1"/>
                </a:solidFill>
                <a:latin typeface="Arial" panose="020B0604020202020204" pitchFamily="34" charset="0"/>
              </a:rPr>
              <a:t>=' ', end='\n')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044EDC89-9E6E-C8AB-A673-AAC1D41ADE58}"/>
              </a:ext>
            </a:extLst>
          </p:cNvPr>
          <p:cNvGraphicFramePr>
            <a:graphicFrameLocks noGrp="1"/>
          </p:cNvGraphicFramePr>
          <p:nvPr>
            <p:extLst>
              <p:ext uri="{D42A27DB-BD31-4B8C-83A1-F6EECF244321}">
                <p14:modId xmlns:p14="http://schemas.microsoft.com/office/powerpoint/2010/main" val="598440926"/>
              </p:ext>
            </p:extLst>
          </p:nvPr>
        </p:nvGraphicFramePr>
        <p:xfrm>
          <a:off x="401055" y="3246336"/>
          <a:ext cx="11581428" cy="2547677"/>
        </p:xfrm>
        <a:graphic>
          <a:graphicData uri="http://schemas.openxmlformats.org/drawingml/2006/table">
            <a:tbl>
              <a:tblPr/>
              <a:tblGrid>
                <a:gridCol w="5790714">
                  <a:extLst>
                    <a:ext uri="{9D8B030D-6E8A-4147-A177-3AD203B41FA5}">
                      <a16:colId xmlns:a16="http://schemas.microsoft.com/office/drawing/2014/main" val="1721708007"/>
                    </a:ext>
                  </a:extLst>
                </a:gridCol>
                <a:gridCol w="5790714">
                  <a:extLst>
                    <a:ext uri="{9D8B030D-6E8A-4147-A177-3AD203B41FA5}">
                      <a16:colId xmlns:a16="http://schemas.microsoft.com/office/drawing/2014/main" val="1127606377"/>
                    </a:ext>
                  </a:extLst>
                </a:gridCol>
              </a:tblGrid>
              <a:tr h="627437">
                <a:tc>
                  <a:txBody>
                    <a:bodyPr/>
                    <a:lstStyle/>
                    <a:p>
                      <a:pPr algn="ctr"/>
                      <a:r>
                        <a:rPr lang="en-US" b="1">
                          <a:solidFill>
                            <a:srgbClr val="7030A0"/>
                          </a:solidFill>
                          <a:highlight>
                            <a:srgbClr val="FFFF00"/>
                          </a:highlight>
                        </a:rPr>
                        <a:t>Parameter</a:t>
                      </a:r>
                    </a:p>
                  </a:txBody>
                  <a:tcPr anchor="ctr">
                    <a:lnL>
                      <a:noFill/>
                    </a:lnL>
                    <a:lnR>
                      <a:noFill/>
                    </a:lnR>
                    <a:lnT>
                      <a:noFill/>
                    </a:lnT>
                    <a:lnB>
                      <a:noFill/>
                    </a:lnB>
                    <a:noFill/>
                  </a:tcPr>
                </a:tc>
                <a:tc>
                  <a:txBody>
                    <a:bodyPr/>
                    <a:lstStyle/>
                    <a:p>
                      <a:pPr algn="ctr"/>
                      <a:r>
                        <a:rPr lang="en-US" b="1" dirty="0">
                          <a:solidFill>
                            <a:srgbClr val="7030A0"/>
                          </a:solidFill>
                          <a:highlight>
                            <a:srgbClr val="FFFF00"/>
                          </a:highlight>
                        </a:rPr>
                        <a:t>Description</a:t>
                      </a:r>
                    </a:p>
                  </a:txBody>
                  <a:tcPr anchor="ctr">
                    <a:lnL>
                      <a:noFill/>
                    </a:lnL>
                    <a:lnR>
                      <a:noFill/>
                    </a:lnR>
                    <a:lnT>
                      <a:noFill/>
                    </a:lnT>
                    <a:lnB>
                      <a:noFill/>
                    </a:lnB>
                    <a:noFill/>
                  </a:tcPr>
                </a:tc>
                <a:extLst>
                  <a:ext uri="{0D108BD9-81ED-4DB2-BD59-A6C34878D82A}">
                    <a16:rowId xmlns:a16="http://schemas.microsoft.com/office/drawing/2014/main" val="287151448"/>
                  </a:ext>
                </a:extLst>
              </a:tr>
              <a:tr h="552045">
                <a:tc>
                  <a:txBody>
                    <a:bodyPr/>
                    <a:lstStyle/>
                    <a:p>
                      <a:r>
                        <a:rPr lang="en-US" dirty="0"/>
                        <a:t>object(s)</a:t>
                      </a:r>
                    </a:p>
                  </a:txBody>
                  <a:tcPr anchor="ctr">
                    <a:lnL>
                      <a:noFill/>
                    </a:lnL>
                    <a:lnR>
                      <a:noFill/>
                    </a:lnR>
                    <a:lnT>
                      <a:noFill/>
                    </a:lnT>
                    <a:lnB>
                      <a:noFill/>
                    </a:lnB>
                    <a:noFill/>
                  </a:tcPr>
                </a:tc>
                <a:tc>
                  <a:txBody>
                    <a:bodyPr/>
                    <a:lstStyle/>
                    <a:p>
                      <a:r>
                        <a:rPr lang="en-US"/>
                        <a:t>The values you want to print. Can be strings, numbers, variables, etc.</a:t>
                      </a:r>
                    </a:p>
                  </a:txBody>
                  <a:tcPr anchor="ctr">
                    <a:lnL>
                      <a:noFill/>
                    </a:lnL>
                    <a:lnR>
                      <a:noFill/>
                    </a:lnR>
                    <a:lnT>
                      <a:noFill/>
                    </a:lnT>
                    <a:lnB>
                      <a:noFill/>
                    </a:lnB>
                    <a:noFill/>
                  </a:tcPr>
                </a:tc>
                <a:extLst>
                  <a:ext uri="{0D108BD9-81ED-4DB2-BD59-A6C34878D82A}">
                    <a16:rowId xmlns:a16="http://schemas.microsoft.com/office/drawing/2014/main" val="3152607983"/>
                  </a:ext>
                </a:extLst>
              </a:tr>
              <a:tr h="552045">
                <a:tc>
                  <a:txBody>
                    <a:bodyPr/>
                    <a:lstStyle/>
                    <a:p>
                      <a:r>
                        <a:rPr lang="en-US" dirty="0" err="1"/>
                        <a:t>sep</a:t>
                      </a:r>
                      <a:endParaRPr lang="en-US" dirty="0"/>
                    </a:p>
                  </a:txBody>
                  <a:tcPr anchor="ctr">
                    <a:lnL>
                      <a:noFill/>
                    </a:lnL>
                    <a:lnR>
                      <a:noFill/>
                    </a:lnR>
                    <a:lnT>
                      <a:noFill/>
                    </a:lnT>
                    <a:lnB>
                      <a:noFill/>
                    </a:lnB>
                    <a:noFill/>
                  </a:tcPr>
                </a:tc>
                <a:tc>
                  <a:txBody>
                    <a:bodyPr/>
                    <a:lstStyle/>
                    <a:p>
                      <a:r>
                        <a:rPr lang="en-US"/>
                        <a:t>(Optional) Separator between objects. Default is a space ' '.</a:t>
                      </a:r>
                    </a:p>
                  </a:txBody>
                  <a:tcPr anchor="ctr">
                    <a:lnL>
                      <a:noFill/>
                    </a:lnL>
                    <a:lnR>
                      <a:noFill/>
                    </a:lnR>
                    <a:lnT>
                      <a:noFill/>
                    </a:lnT>
                    <a:lnB>
                      <a:noFill/>
                    </a:lnB>
                    <a:noFill/>
                  </a:tcPr>
                </a:tc>
                <a:extLst>
                  <a:ext uri="{0D108BD9-81ED-4DB2-BD59-A6C34878D82A}">
                    <a16:rowId xmlns:a16="http://schemas.microsoft.com/office/drawing/2014/main" val="48505783"/>
                  </a:ext>
                </a:extLst>
              </a:tr>
              <a:tr h="552045">
                <a:tc>
                  <a:txBody>
                    <a:bodyPr/>
                    <a:lstStyle/>
                    <a:p>
                      <a:r>
                        <a:rPr lang="en-US" dirty="0"/>
                        <a:t>end</a:t>
                      </a:r>
                    </a:p>
                  </a:txBody>
                  <a:tcPr anchor="ctr">
                    <a:lnL>
                      <a:noFill/>
                    </a:lnL>
                    <a:lnR>
                      <a:noFill/>
                    </a:lnR>
                    <a:lnT>
                      <a:noFill/>
                    </a:lnT>
                    <a:lnB>
                      <a:noFill/>
                    </a:lnB>
                    <a:noFill/>
                  </a:tcPr>
                </a:tc>
                <a:tc>
                  <a:txBody>
                    <a:bodyPr/>
                    <a:lstStyle/>
                    <a:p>
                      <a:r>
                        <a:rPr lang="en-US" dirty="0"/>
                        <a:t>(Optional) What to print at the end. Default is newline \n.</a:t>
                      </a:r>
                    </a:p>
                  </a:txBody>
                  <a:tcPr anchor="ctr">
                    <a:lnL>
                      <a:noFill/>
                    </a:lnL>
                    <a:lnR>
                      <a:noFill/>
                    </a:lnR>
                    <a:lnT>
                      <a:noFill/>
                    </a:lnT>
                    <a:lnB>
                      <a:noFill/>
                    </a:lnB>
                    <a:noFill/>
                  </a:tcPr>
                </a:tc>
                <a:extLst>
                  <a:ext uri="{0D108BD9-81ED-4DB2-BD59-A6C34878D82A}">
                    <a16:rowId xmlns:a16="http://schemas.microsoft.com/office/drawing/2014/main" val="3127895326"/>
                  </a:ext>
                </a:extLst>
              </a:tr>
            </a:tbl>
          </a:graphicData>
        </a:graphic>
      </p:graphicFrame>
    </p:spTree>
    <p:extLst>
      <p:ext uri="{BB962C8B-B14F-4D97-AF65-F5344CB8AC3E}">
        <p14:creationId xmlns:p14="http://schemas.microsoft.com/office/powerpoint/2010/main" val="266853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E3DE5-2BD7-E765-3F2E-8419F9B1010D}"/>
              </a:ext>
            </a:extLst>
          </p:cNvPr>
          <p:cNvSpPr>
            <a:spLocks noGrp="1"/>
          </p:cNvSpPr>
          <p:nvPr>
            <p:ph type="title"/>
          </p:nvPr>
        </p:nvSpPr>
        <p:spPr>
          <a:xfrm>
            <a:off x="192505" y="173256"/>
            <a:ext cx="11312107" cy="625642"/>
          </a:xfrm>
        </p:spPr>
        <p:txBody>
          <a:bodyPr>
            <a:normAutofit/>
          </a:bodyPr>
          <a:lstStyle/>
          <a:p>
            <a:r>
              <a:rPr lang="en-US" sz="2800" b="1" dirty="0">
                <a:solidFill>
                  <a:srgbClr val="FF0000"/>
                </a:solidFill>
              </a:rPr>
              <a:t>Python print() function</a:t>
            </a:r>
            <a:endParaRPr lang="en-US" sz="2800" dirty="0"/>
          </a:p>
        </p:txBody>
      </p:sp>
      <p:sp>
        <p:nvSpPr>
          <p:cNvPr id="3" name="Content Placeholder 2">
            <a:extLst>
              <a:ext uri="{FF2B5EF4-FFF2-40B4-BE49-F238E27FC236}">
                <a16:creationId xmlns:a16="http://schemas.microsoft.com/office/drawing/2014/main" id="{85C36E77-2507-4D49-51B8-40EF26123FCA}"/>
              </a:ext>
            </a:extLst>
          </p:cNvPr>
          <p:cNvSpPr>
            <a:spLocks noGrp="1"/>
          </p:cNvSpPr>
          <p:nvPr>
            <p:ph idx="1"/>
          </p:nvPr>
        </p:nvSpPr>
        <p:spPr>
          <a:xfrm>
            <a:off x="279133" y="885524"/>
            <a:ext cx="11463688" cy="5025698"/>
          </a:xfrm>
        </p:spPr>
        <p:txBody>
          <a:bodyPr/>
          <a:lstStyle/>
          <a:p>
            <a:endParaRPr lang="en-US" dirty="0"/>
          </a:p>
          <a:p>
            <a:endParaRPr lang="en-US" dirty="0"/>
          </a:p>
          <a:p>
            <a:r>
              <a:rPr lang="en-US" dirty="0"/>
              <a:t>print("Hello, World!")</a:t>
            </a:r>
          </a:p>
          <a:p>
            <a:r>
              <a:rPr lang="en-US" dirty="0"/>
              <a:t>print("Name:", "Alice", "Age:", 25) //Printing multiple items:</a:t>
            </a:r>
          </a:p>
          <a:p>
            <a:r>
              <a:rPr lang="en-US" dirty="0"/>
              <a:t>print("2025", "07", "02", </a:t>
            </a:r>
            <a:r>
              <a:rPr lang="en-US" dirty="0" err="1"/>
              <a:t>sep</a:t>
            </a:r>
            <a:r>
              <a:rPr lang="en-US" dirty="0"/>
              <a:t>="-")  # Output: 2025-07-02</a:t>
            </a:r>
          </a:p>
          <a:p>
            <a:r>
              <a:rPr lang="en-US" dirty="0"/>
              <a:t>print("Hello", end=" ")</a:t>
            </a:r>
          </a:p>
          <a:p>
            <a:r>
              <a:rPr lang="en-US" dirty="0"/>
              <a:t>print("World!")  # Output: Hello World!</a:t>
            </a:r>
          </a:p>
          <a:p>
            <a:endParaRPr lang="en-US" dirty="0"/>
          </a:p>
          <a:p>
            <a:endParaRPr lang="en-US" dirty="0"/>
          </a:p>
        </p:txBody>
      </p:sp>
    </p:spTree>
    <p:extLst>
      <p:ext uri="{BB962C8B-B14F-4D97-AF65-F5344CB8AC3E}">
        <p14:creationId xmlns:p14="http://schemas.microsoft.com/office/powerpoint/2010/main" val="4013162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3AA5B-9098-09AE-D6DF-5B12B805B82F}"/>
              </a:ext>
            </a:extLst>
          </p:cNvPr>
          <p:cNvSpPr>
            <a:spLocks noGrp="1"/>
          </p:cNvSpPr>
          <p:nvPr>
            <p:ph type="title"/>
          </p:nvPr>
        </p:nvSpPr>
        <p:spPr>
          <a:xfrm>
            <a:off x="86627" y="77003"/>
            <a:ext cx="11417986" cy="413886"/>
          </a:xfrm>
        </p:spPr>
        <p:txBody>
          <a:bodyPr>
            <a:normAutofit fontScale="90000"/>
          </a:bodyPr>
          <a:lstStyle/>
          <a:p>
            <a:r>
              <a:rPr lang="en-US" sz="2800" b="1" dirty="0">
                <a:solidFill>
                  <a:srgbClr val="FF0000"/>
                </a:solidFill>
              </a:rPr>
              <a:t>Python Variables and There Rules</a:t>
            </a:r>
          </a:p>
        </p:txBody>
      </p:sp>
      <p:sp>
        <p:nvSpPr>
          <p:cNvPr id="3" name="Content Placeholder 2">
            <a:extLst>
              <a:ext uri="{FF2B5EF4-FFF2-40B4-BE49-F238E27FC236}">
                <a16:creationId xmlns:a16="http://schemas.microsoft.com/office/drawing/2014/main" id="{21D5D938-8512-D890-FE13-85A7B7C80153}"/>
              </a:ext>
            </a:extLst>
          </p:cNvPr>
          <p:cNvSpPr>
            <a:spLocks noGrp="1"/>
          </p:cNvSpPr>
          <p:nvPr>
            <p:ph idx="1"/>
          </p:nvPr>
        </p:nvSpPr>
        <p:spPr>
          <a:xfrm>
            <a:off x="154004" y="490889"/>
            <a:ext cx="12037995" cy="6150543"/>
          </a:xfrm>
        </p:spPr>
        <p:txBody>
          <a:bodyPr>
            <a:normAutofit fontScale="85000" lnSpcReduction="20000"/>
          </a:bodyPr>
          <a:lstStyle/>
          <a:p>
            <a:pPr>
              <a:buFont typeface="Wingdings" panose="05000000000000000000" pitchFamily="2" charset="2"/>
              <a:buChar char="q"/>
            </a:pPr>
            <a:r>
              <a:rPr lang="en-US" sz="1900" dirty="0"/>
              <a:t>A </a:t>
            </a:r>
            <a:r>
              <a:rPr lang="en-US" sz="1900" b="1" dirty="0"/>
              <a:t>variable</a:t>
            </a:r>
            <a:r>
              <a:rPr lang="en-US" sz="1900" dirty="0"/>
              <a:t> in Python is a </a:t>
            </a:r>
            <a:r>
              <a:rPr lang="en-US" sz="1900" b="1" dirty="0"/>
              <a:t>named location in memory</a:t>
            </a:r>
            <a:r>
              <a:rPr lang="en-US" sz="1900" dirty="0"/>
              <a:t> used to store data that can be changed during program execution.</a:t>
            </a:r>
            <a:br>
              <a:rPr lang="en-US" sz="1900" dirty="0"/>
            </a:br>
            <a:r>
              <a:rPr lang="en-US" sz="1900" dirty="0"/>
              <a:t>It acts as a </a:t>
            </a:r>
            <a:r>
              <a:rPr lang="en-US" sz="1900" b="1" dirty="0"/>
              <a:t>label</a:t>
            </a:r>
            <a:r>
              <a:rPr lang="en-US" sz="1900" dirty="0"/>
              <a:t> for a value, allowing you to reference and manipulate the value throughout your code.</a:t>
            </a:r>
          </a:p>
          <a:p>
            <a:pPr>
              <a:buFont typeface="Wingdings" panose="05000000000000000000" pitchFamily="2" charset="2"/>
              <a:buChar char="q"/>
            </a:pPr>
            <a:r>
              <a:rPr lang="en-US" sz="1900" dirty="0"/>
              <a:t>Rules of Declaring Variables in Python</a:t>
            </a: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Variable names must start with a letter (A–Z or a–z) or an underscore (_)</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60000"/>
              </a:lnSpc>
              <a:spcBef>
                <a:spcPct val="0"/>
              </a:spcBef>
              <a:spcAft>
                <a:spcPct val="0"/>
              </a:spcAft>
              <a:buClrTx/>
              <a:buSzTx/>
              <a:buNone/>
              <a:tabLst/>
            </a:pPr>
            <a:r>
              <a:rPr kumimoji="0" lang="en-US" altLang="en-US" sz="1900" b="0" i="0" u="none" strike="noStrike" cap="none" normalizeH="0" baseline="0" dirty="0">
                <a:ln>
                  <a:noFill/>
                </a:ln>
                <a:solidFill>
                  <a:schemeClr val="tx1"/>
                </a:solidFill>
                <a:effectLst/>
                <a:latin typeface="Arial" panose="020B0604020202020204" pitchFamily="34" charset="0"/>
              </a:rPr>
              <a:t>		Example: </a:t>
            </a: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_value</a:t>
            </a: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Cannot start with a number</a:t>
            </a: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 Invalid: </a:t>
            </a:r>
            <a:r>
              <a:rPr kumimoji="0" lang="en-US" altLang="en-US" sz="1900" b="0" i="0" u="none" strike="noStrike" cap="none" normalizeH="0" baseline="0" dirty="0">
                <a:ln>
                  <a:noFill/>
                </a:ln>
                <a:solidFill>
                  <a:schemeClr val="tx1"/>
                </a:solidFill>
                <a:effectLst/>
                <a:latin typeface="Arial Unicode MS"/>
              </a:rPr>
              <a:t>1name    </a:t>
            </a:r>
            <a:r>
              <a:rPr kumimoji="0" lang="en-US" altLang="en-US" sz="1900" b="0" i="0" u="none" strike="noStrike" cap="none" normalizeH="0" baseline="0" dirty="0">
                <a:ln>
                  <a:noFill/>
                </a:ln>
                <a:solidFill>
                  <a:schemeClr val="tx1"/>
                </a:solidFill>
                <a:effectLst/>
                <a:latin typeface="Arial" panose="020B0604020202020204" pitchFamily="34" charset="0"/>
              </a:rPr>
              <a:t>✅ Valid: </a:t>
            </a:r>
            <a:r>
              <a:rPr kumimoji="0" lang="en-US" altLang="en-US" sz="1900" b="0" i="0" u="none" strike="noStrike" cap="none" normalizeH="0" baseline="0" dirty="0">
                <a:ln>
                  <a:noFill/>
                </a:ln>
                <a:solidFill>
                  <a:schemeClr val="tx1"/>
                </a:solidFill>
                <a:effectLst/>
                <a:latin typeface="Arial Unicode MS"/>
              </a:rPr>
              <a:t>name1	</a:t>
            </a:r>
          </a:p>
          <a:p>
            <a:pPr lvl="1" defTabSz="914400" eaLnBrk="0" fontAlgn="base" hangingPunct="0">
              <a:lnSpc>
                <a:spcPct val="160000"/>
              </a:lnSpc>
              <a:spcBef>
                <a:spcPct val="0"/>
              </a:spcBef>
              <a:spcAft>
                <a:spcPct val="0"/>
              </a:spcAft>
              <a:buClrTx/>
            </a:pPr>
            <a:r>
              <a:rPr lang="en-US" altLang="en-US" sz="1900" b="1" dirty="0">
                <a:solidFill>
                  <a:schemeClr val="tx1"/>
                </a:solidFill>
                <a:latin typeface="Arial" panose="020B0604020202020204" pitchFamily="34" charset="0"/>
              </a:rPr>
              <a:t> </a:t>
            </a:r>
            <a:r>
              <a:rPr kumimoji="0" lang="en-US" altLang="en-US" sz="1900" b="1" i="0" u="none" strike="noStrike" cap="none" normalizeH="0" baseline="0" dirty="0">
                <a:ln>
                  <a:noFill/>
                </a:ln>
                <a:solidFill>
                  <a:schemeClr val="tx1"/>
                </a:solidFill>
                <a:effectLst/>
                <a:latin typeface="Arial" panose="020B0604020202020204" pitchFamily="34" charset="0"/>
              </a:rPr>
              <a:t>Can include letters, numbers, and underscores</a:t>
            </a: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Example: </a:t>
            </a:r>
            <a:r>
              <a:rPr kumimoji="0" lang="en-US" altLang="en-US" sz="1900" b="0" i="0" u="none" strike="noStrike" cap="none" normalizeH="0" baseline="0" dirty="0">
                <a:ln>
                  <a:noFill/>
                </a:ln>
                <a:solidFill>
                  <a:schemeClr val="tx1"/>
                </a:solidFill>
                <a:effectLst/>
                <a:latin typeface="Arial Unicode MS"/>
              </a:rPr>
              <a:t>user_name1</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temp_123</a:t>
            </a:r>
          </a:p>
          <a:p>
            <a:pPr marL="685800"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Cannot use special characters</a:t>
            </a:r>
            <a:r>
              <a:rPr kumimoji="0" lang="en-US" altLang="en-US" sz="1900" b="0" i="0" u="none" strike="noStrike" cap="none" normalizeH="0" baseline="0" dirty="0">
                <a:ln>
                  <a:noFill/>
                </a:ln>
                <a:solidFill>
                  <a:schemeClr val="tx1"/>
                </a:solidFill>
                <a:effectLst/>
                <a:latin typeface="Arial" panose="020B0604020202020204" pitchFamily="34" charset="0"/>
              </a:rPr>
              <a:t> like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a:t>
            </a:r>
            <a:r>
              <a:rPr kumimoji="0" lang="en-US" altLang="en-US" sz="1900" b="0" i="0" u="none" strike="noStrike" cap="none" normalizeH="0" baseline="0" dirty="0">
                <a:ln>
                  <a:noFill/>
                </a:ln>
                <a:solidFill>
                  <a:schemeClr val="tx1"/>
                </a:solidFill>
                <a:effectLst/>
              </a:rPr>
              <a:t>, etc.</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00050" lvl="1"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a:ln>
                  <a:noFill/>
                </a:ln>
                <a:solidFill>
                  <a:schemeClr val="tx1"/>
                </a:solidFill>
                <a:effectLst/>
                <a:latin typeface="Arial" panose="020B0604020202020204" pitchFamily="34" charset="0"/>
              </a:rPr>
              <a:t>Cannot use Python reserved keywords</a:t>
            </a:r>
            <a:r>
              <a:rPr kumimoji="0" lang="en-US" altLang="en-US" sz="1900" b="0" i="0" u="none" strike="noStrike" cap="none" normalizeH="0" baseline="0" dirty="0">
                <a:ln>
                  <a:noFill/>
                </a:ln>
                <a:solidFill>
                  <a:schemeClr val="tx1"/>
                </a:solidFill>
                <a:effectLst/>
                <a:latin typeface="Arial" panose="020B0604020202020204" pitchFamily="34" charset="0"/>
              </a:rPr>
              <a:t> (e.g., </a:t>
            </a:r>
            <a:r>
              <a:rPr kumimoji="0" lang="en-US" altLang="en-US" sz="1900" b="0" i="0" u="none" strike="noStrike" cap="none" normalizeH="0" baseline="0" dirty="0">
                <a:ln>
                  <a:noFill/>
                </a:ln>
                <a:solidFill>
                  <a:schemeClr val="tx1"/>
                </a:solidFill>
                <a:effectLst/>
                <a:latin typeface="Arial Unicode MS"/>
              </a:rPr>
              <a:t>if</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for</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while</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class</a:t>
            </a:r>
            <a:r>
              <a:rPr kumimoji="0" lang="en-US" altLang="en-US" sz="1900" b="0" i="0" u="none" strike="noStrike" cap="none" normalizeH="0" baseline="0" dirty="0">
                <a:ln>
                  <a:noFill/>
                </a:ln>
                <a:solidFill>
                  <a:schemeClr val="tx1"/>
                </a:solidFill>
                <a:effectLst/>
              </a:rPr>
              <a:t>, </a:t>
            </a:r>
            <a:r>
              <a:rPr kumimoji="0" lang="en-US" altLang="en-US" sz="1900" b="0" i="0" u="none" strike="noStrike" cap="none" normalizeH="0" baseline="0" dirty="0">
                <a:ln>
                  <a:noFill/>
                </a:ln>
                <a:solidFill>
                  <a:schemeClr val="tx1"/>
                </a:solidFill>
                <a:effectLst/>
                <a:latin typeface="Arial Unicode MS"/>
              </a:rPr>
              <a:t>def</a:t>
            </a:r>
            <a:r>
              <a:rPr kumimoji="0" lang="en-US" altLang="en-US" sz="1900" b="0" i="0" u="none" strike="noStrike" cap="none" normalizeH="0" baseline="0" dirty="0">
                <a:ln>
                  <a:noFill/>
                </a:ln>
                <a:solidFill>
                  <a:schemeClr val="tx1"/>
                </a:solidFill>
                <a:effectLst/>
              </a:rPr>
              <a:t>)</a:t>
            </a: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Case-sensitive</a:t>
            </a: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and </a:t>
            </a:r>
            <a:r>
              <a:rPr kumimoji="0" lang="en-US" altLang="en-US" sz="1900" b="0" i="0" u="none" strike="noStrike" cap="none" normalizeH="0" baseline="0" dirty="0">
                <a:ln>
                  <a:noFill/>
                </a:ln>
                <a:solidFill>
                  <a:schemeClr val="tx1"/>
                </a:solidFill>
                <a:effectLst/>
                <a:latin typeface="Arial Unicode MS"/>
              </a:rPr>
              <a:t>Name</a:t>
            </a:r>
            <a:r>
              <a:rPr kumimoji="0" lang="en-US" altLang="en-US" sz="1900" b="0" i="0" u="none" strike="noStrike" cap="none" normalizeH="0" baseline="0" dirty="0">
                <a:ln>
                  <a:noFill/>
                </a:ln>
                <a:solidFill>
                  <a:schemeClr val="tx1"/>
                </a:solidFill>
                <a:effectLst/>
              </a:rPr>
              <a:t> are two different variables.</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lnSpc>
                <a:spcPct val="160000"/>
              </a:lnSpc>
              <a:spcBef>
                <a:spcPct val="0"/>
              </a:spcBef>
              <a:spcAft>
                <a:spcPct val="0"/>
              </a:spcAft>
              <a:buClrTx/>
            </a:pPr>
            <a:r>
              <a:rPr kumimoji="0" lang="en-US" altLang="en-US" sz="1900" b="1" i="0" u="none" strike="noStrike" cap="none" normalizeH="0" baseline="0" dirty="0">
                <a:ln>
                  <a:noFill/>
                </a:ln>
                <a:solidFill>
                  <a:schemeClr val="tx1"/>
                </a:solidFill>
                <a:effectLst/>
                <a:latin typeface="Arial" panose="020B0604020202020204" pitchFamily="34" charset="0"/>
              </a:rPr>
              <a:t>No need to declare type explicitly</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lnSpc>
                <a:spcPct val="160000"/>
              </a:lnSpc>
              <a:spcBef>
                <a:spcPct val="0"/>
              </a:spcBef>
              <a:spcAft>
                <a:spcPct val="0"/>
              </a:spcAft>
              <a:buClrTx/>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Python is </a:t>
            </a:r>
            <a:r>
              <a:rPr kumimoji="0" lang="en-US" altLang="en-US" sz="1900" b="1" i="0" u="none" strike="noStrike" cap="none" normalizeH="0" baseline="0" dirty="0">
                <a:ln>
                  <a:noFill/>
                </a:ln>
                <a:solidFill>
                  <a:schemeClr val="tx1"/>
                </a:solidFill>
                <a:effectLst/>
                <a:latin typeface="Arial" panose="020B0604020202020204" pitchFamily="34" charset="0"/>
              </a:rPr>
              <a:t>dynamically typed</a:t>
            </a:r>
            <a:r>
              <a:rPr kumimoji="0" lang="en-US" altLang="en-US" sz="1900" b="0" i="0" u="none" strike="noStrike" cap="none" normalizeH="0" baseline="0" dirty="0">
                <a:ln>
                  <a:noFill/>
                </a:ln>
                <a:solidFill>
                  <a:schemeClr val="tx1"/>
                </a:solidFill>
                <a:effectLst/>
                <a:latin typeface="Arial" panose="020B0604020202020204" pitchFamily="34" charset="0"/>
              </a:rPr>
              <a:t>, so the type is inferred from the value.</a:t>
            </a:r>
            <a:endParaRPr kumimoji="0" lang="en-US" altLang="en-US" sz="1900" b="0" i="0" u="none" strike="noStrike" cap="none" normalizeH="0" baseline="0" dirty="0">
              <a:ln>
                <a:noFill/>
              </a:ln>
              <a:solidFill>
                <a:schemeClr val="tx1"/>
              </a:solidFill>
              <a:effectLst/>
              <a:latin typeface="Arial Unicode MS"/>
            </a:endParaRPr>
          </a:p>
          <a:p>
            <a:pPr marL="0" marR="0" lvl="0" indent="0" defTabSz="914400" rtl="0" eaLnBrk="0" fontAlgn="base" latinLnBrk="0" hangingPunct="0">
              <a:lnSpc>
                <a:spcPct val="16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Arial Unicode MS"/>
              </a:rPr>
              <a:t>	python</a:t>
            </a:r>
          </a:p>
          <a:p>
            <a:pPr marL="0" marR="0" lvl="0" indent="0" defTabSz="914400" rtl="0" eaLnBrk="0" fontAlgn="base" latinLnBrk="0" hangingPunct="0">
              <a:lnSpc>
                <a:spcPct val="16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Arial Unicode MS"/>
              </a:rPr>
              <a:t>	a = 5 # int b = "Hi" # str </a:t>
            </a:r>
            <a:endParaRPr kumimoji="0" lang="en-US" altLang="en-US" sz="19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400050" lvl="1"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FontTx/>
              <a:buChar char="•"/>
            </a:pPr>
            <a:endParaRPr kumimoji="0" lang="en-US" altLang="en-US" sz="1800" b="0" i="0" u="none" strike="noStrike" cap="none" normalizeH="0" baseline="0" dirty="0">
              <a:ln>
                <a:noFill/>
              </a:ln>
              <a:solidFill>
                <a:schemeClr val="tx1"/>
              </a:solidFill>
              <a:effectLst/>
              <a:latin typeface="Arial Unicode MS"/>
            </a:endParaRPr>
          </a:p>
          <a:p>
            <a:pPr marL="800100" lvl="2" indent="0" defTabSz="91440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marL="800100" lvl="2" indent="0" defTabSz="914400" eaLnBrk="0" fontAlgn="base" hangingPunct="0">
              <a:spcBef>
                <a:spcPct val="0"/>
              </a:spcBef>
              <a:spcAft>
                <a:spcPct val="0"/>
              </a:spcAft>
              <a:buClrTx/>
              <a:buNone/>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buFont typeface="Wingdings" panose="05000000000000000000" pitchFamily="2" charset="2"/>
              <a:buChar char="q"/>
            </a:pPr>
            <a:endParaRPr lang="en-US" dirty="0"/>
          </a:p>
          <a:p>
            <a:pPr marL="0" indent="0">
              <a:buNone/>
            </a:pPr>
            <a:endParaRPr lang="en-US" dirty="0"/>
          </a:p>
        </p:txBody>
      </p:sp>
    </p:spTree>
    <p:extLst>
      <p:ext uri="{BB962C8B-B14F-4D97-AF65-F5344CB8AC3E}">
        <p14:creationId xmlns:p14="http://schemas.microsoft.com/office/powerpoint/2010/main" val="240177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A9DB0-DE81-C72F-2DC9-D73977F5424B}"/>
              </a:ext>
            </a:extLst>
          </p:cNvPr>
          <p:cNvSpPr>
            <a:spLocks noGrp="1"/>
          </p:cNvSpPr>
          <p:nvPr>
            <p:ph type="title"/>
          </p:nvPr>
        </p:nvSpPr>
        <p:spPr>
          <a:xfrm>
            <a:off x="240632" y="105879"/>
            <a:ext cx="10965598" cy="452386"/>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Datatypes</a:t>
            </a:r>
          </a:p>
        </p:txBody>
      </p:sp>
      <p:graphicFrame>
        <p:nvGraphicFramePr>
          <p:cNvPr id="6" name="Content Placeholder 5">
            <a:extLst>
              <a:ext uri="{FF2B5EF4-FFF2-40B4-BE49-F238E27FC236}">
                <a16:creationId xmlns:a16="http://schemas.microsoft.com/office/drawing/2014/main" id="{A16EEB6E-F2C1-44F8-2899-087110C0A38D}"/>
              </a:ext>
            </a:extLst>
          </p:cNvPr>
          <p:cNvGraphicFramePr>
            <a:graphicFrameLocks noGrp="1"/>
          </p:cNvGraphicFramePr>
          <p:nvPr>
            <p:ph idx="1"/>
            <p:extLst>
              <p:ext uri="{D42A27DB-BD31-4B8C-83A1-F6EECF244321}">
                <p14:modId xmlns:p14="http://schemas.microsoft.com/office/powerpoint/2010/main" val="1888799556"/>
              </p:ext>
            </p:extLst>
          </p:nvPr>
        </p:nvGraphicFramePr>
        <p:xfrm>
          <a:off x="240632" y="1068404"/>
          <a:ext cx="11309684" cy="5524901"/>
        </p:xfrm>
        <a:graphic>
          <a:graphicData uri="http://schemas.openxmlformats.org/presentationml/2006/ole">
            <mc:AlternateContent xmlns:mc="http://schemas.openxmlformats.org/markup-compatibility/2006">
              <mc:Choice xmlns:v="urn:schemas-microsoft-com:vml" Requires="v">
                <p:oleObj name="Picture" r:id="rId2" imgW="0" imgH="0" progId="StaticMetafile">
                  <p:embed/>
                </p:oleObj>
              </mc:Choice>
              <mc:Fallback>
                <p:oleObj name="Picture" r:id="rId2" imgW="0" imgH="0" progId="StaticMetafile">
                  <p:embed/>
                  <p:pic>
                    <p:nvPicPr>
                      <p:cNvPr id="6" name="Content Placeholder 5">
                        <a:extLst>
                          <a:ext uri="{FF2B5EF4-FFF2-40B4-BE49-F238E27FC236}">
                            <a16:creationId xmlns:a16="http://schemas.microsoft.com/office/drawing/2014/main" id="{A16EEB6E-F2C1-44F8-2899-087110C0A38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32" y="1068404"/>
                        <a:ext cx="11309684" cy="5524901"/>
                      </a:xfrm>
                      <a:prstGeom prst="rect">
                        <a:avLst/>
                      </a:prstGeom>
                      <a:solidFill>
                        <a:srgbClr val="FFFFFF"/>
                      </a:solidFill>
                      <a:ln>
                        <a:noFill/>
                      </a:ln>
                    </p:spPr>
                  </p:pic>
                </p:oleObj>
              </mc:Fallback>
            </mc:AlternateContent>
          </a:graphicData>
        </a:graphic>
      </p:graphicFrame>
    </p:spTree>
    <p:extLst>
      <p:ext uri="{BB962C8B-B14F-4D97-AF65-F5344CB8AC3E}">
        <p14:creationId xmlns:p14="http://schemas.microsoft.com/office/powerpoint/2010/main" val="48936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784-41FB-E1EC-9020-DA3148408101}"/>
              </a:ext>
            </a:extLst>
          </p:cNvPr>
          <p:cNvSpPr>
            <a:spLocks noGrp="1"/>
          </p:cNvSpPr>
          <p:nvPr>
            <p:ph type="title"/>
          </p:nvPr>
        </p:nvSpPr>
        <p:spPr>
          <a:xfrm>
            <a:off x="279133" y="115503"/>
            <a:ext cx="11225480" cy="1617044"/>
          </a:xfrm>
        </p:spPr>
        <p:txBody>
          <a:bodyPr>
            <a:normAutofit fontScale="90000"/>
          </a:bodyPr>
          <a:lstStyle/>
          <a:p>
            <a:r>
              <a:rPr lang="en-US" sz="2800" b="1" dirty="0">
                <a:solidFill>
                  <a:srgbClr val="FF0000"/>
                </a:solidFill>
              </a:rPr>
              <a:t>Python Datatypes</a:t>
            </a:r>
            <a:br>
              <a:rPr lang="en-US" sz="2800" b="1" dirty="0">
                <a:solidFill>
                  <a:srgbClr val="FF0000"/>
                </a:solidFill>
              </a:rPr>
            </a:br>
            <a:br>
              <a:rPr lang="en-US" sz="2800" b="1" dirty="0">
                <a:solidFill>
                  <a:srgbClr val="FF0000"/>
                </a:solidFill>
              </a:rPr>
            </a:br>
            <a:r>
              <a:rPr lang="en-US" sz="2800" b="1" dirty="0">
                <a:solidFill>
                  <a:srgbClr val="FF0000"/>
                </a:solidFill>
              </a:rPr>
              <a:t>			</a:t>
            </a:r>
            <a:r>
              <a:rPr lang="en-US" sz="1800" dirty="0" err="1">
                <a:solidFill>
                  <a:schemeClr val="tx1"/>
                </a:solidFill>
              </a:rPr>
              <a:t>complex_number</a:t>
            </a:r>
            <a:r>
              <a:rPr lang="en-US" sz="1800" dirty="0">
                <a:solidFill>
                  <a:schemeClr val="tx1"/>
                </a:solidFill>
              </a:rPr>
              <a:t> = </a:t>
            </a:r>
            <a:r>
              <a:rPr lang="en-US" sz="1800" dirty="0" err="1">
                <a:solidFill>
                  <a:schemeClr val="tx1"/>
                </a:solidFill>
              </a:rPr>
              <a:t>real_part</a:t>
            </a:r>
            <a:r>
              <a:rPr lang="en-US" sz="1800" dirty="0">
                <a:solidFill>
                  <a:schemeClr val="tx1"/>
                </a:solidFill>
              </a:rPr>
              <a:t> + </a:t>
            </a:r>
            <a:r>
              <a:rPr lang="en-US" sz="1800" dirty="0" err="1">
                <a:solidFill>
                  <a:schemeClr val="tx1"/>
                </a:solidFill>
              </a:rPr>
              <a:t>imaginary_part</a:t>
            </a:r>
            <a:r>
              <a:rPr lang="en-US" sz="1800" dirty="0">
                <a:solidFill>
                  <a:schemeClr val="tx1"/>
                </a:solidFill>
              </a:rPr>
              <a:t> * j</a:t>
            </a:r>
            <a:br>
              <a:rPr lang="en-US" sz="1800" dirty="0">
                <a:solidFill>
                  <a:schemeClr val="tx1"/>
                </a:solidFill>
              </a:rPr>
            </a:br>
            <a:r>
              <a:rPr lang="en-US" sz="1800" dirty="0" err="1">
                <a:solidFill>
                  <a:schemeClr val="tx1"/>
                </a:solidFill>
              </a:rPr>
              <a:t>j</a:t>
            </a:r>
            <a:r>
              <a:rPr lang="en-US" sz="1800" dirty="0">
                <a:solidFill>
                  <a:schemeClr val="tx1"/>
                </a:solidFill>
              </a:rPr>
              <a:t> represents the imaginary unit (just like </a:t>
            </a:r>
            <a:r>
              <a:rPr lang="en-US" sz="1800" dirty="0" err="1">
                <a:solidFill>
                  <a:schemeClr val="tx1"/>
                </a:solidFill>
              </a:rPr>
              <a:t>i</a:t>
            </a:r>
            <a:r>
              <a:rPr lang="en-US" sz="1800" dirty="0">
                <a:solidFill>
                  <a:schemeClr val="tx1"/>
                </a:solidFill>
              </a:rPr>
              <a:t> in mathematics).</a:t>
            </a:r>
            <a:br>
              <a:rPr lang="en-US" sz="1800" dirty="0">
                <a:solidFill>
                  <a:schemeClr val="tx1"/>
                </a:solidFill>
              </a:rPr>
            </a:br>
            <a:r>
              <a:rPr lang="en-US" sz="1800" dirty="0">
                <a:solidFill>
                  <a:schemeClr val="tx1"/>
                </a:solidFill>
              </a:rPr>
              <a:t>Python uses j instead of </a:t>
            </a:r>
            <a:r>
              <a:rPr lang="en-US" sz="1800" dirty="0" err="1">
                <a:solidFill>
                  <a:schemeClr val="tx1"/>
                </a:solidFill>
              </a:rPr>
              <a:t>i</a:t>
            </a:r>
            <a:r>
              <a:rPr lang="en-US" sz="1800" dirty="0">
                <a:solidFill>
                  <a:schemeClr val="tx1"/>
                </a:solidFill>
              </a:rPr>
              <a:t> for complex numbers.</a:t>
            </a:r>
          </a:p>
        </p:txBody>
      </p:sp>
      <p:graphicFrame>
        <p:nvGraphicFramePr>
          <p:cNvPr id="4" name="Content Placeholder 3">
            <a:extLst>
              <a:ext uri="{FF2B5EF4-FFF2-40B4-BE49-F238E27FC236}">
                <a16:creationId xmlns:a16="http://schemas.microsoft.com/office/drawing/2014/main" id="{0511637A-E6E7-F984-1510-6390176253C5}"/>
              </a:ext>
            </a:extLst>
          </p:cNvPr>
          <p:cNvGraphicFramePr>
            <a:graphicFrameLocks noGrp="1"/>
          </p:cNvGraphicFramePr>
          <p:nvPr>
            <p:ph idx="1"/>
            <p:extLst>
              <p:ext uri="{D42A27DB-BD31-4B8C-83A1-F6EECF244321}">
                <p14:modId xmlns:p14="http://schemas.microsoft.com/office/powerpoint/2010/main" val="3422678373"/>
              </p:ext>
            </p:extLst>
          </p:nvPr>
        </p:nvGraphicFramePr>
        <p:xfrm>
          <a:off x="279134" y="1944303"/>
          <a:ext cx="11704320" cy="4702242"/>
        </p:xfrm>
        <a:graphic>
          <a:graphicData uri="http://schemas.openxmlformats.org/drawingml/2006/table">
            <a:tbl>
              <a:tblPr/>
              <a:tblGrid>
                <a:gridCol w="2340864">
                  <a:extLst>
                    <a:ext uri="{9D8B030D-6E8A-4147-A177-3AD203B41FA5}">
                      <a16:colId xmlns:a16="http://schemas.microsoft.com/office/drawing/2014/main" val="2543257317"/>
                    </a:ext>
                  </a:extLst>
                </a:gridCol>
                <a:gridCol w="2340864">
                  <a:extLst>
                    <a:ext uri="{9D8B030D-6E8A-4147-A177-3AD203B41FA5}">
                      <a16:colId xmlns:a16="http://schemas.microsoft.com/office/drawing/2014/main" val="957629237"/>
                    </a:ext>
                  </a:extLst>
                </a:gridCol>
                <a:gridCol w="2340864">
                  <a:extLst>
                    <a:ext uri="{9D8B030D-6E8A-4147-A177-3AD203B41FA5}">
                      <a16:colId xmlns:a16="http://schemas.microsoft.com/office/drawing/2014/main" val="3151976047"/>
                    </a:ext>
                  </a:extLst>
                </a:gridCol>
                <a:gridCol w="2340864">
                  <a:extLst>
                    <a:ext uri="{9D8B030D-6E8A-4147-A177-3AD203B41FA5}">
                      <a16:colId xmlns:a16="http://schemas.microsoft.com/office/drawing/2014/main" val="240049684"/>
                    </a:ext>
                  </a:extLst>
                </a:gridCol>
                <a:gridCol w="2340864">
                  <a:extLst>
                    <a:ext uri="{9D8B030D-6E8A-4147-A177-3AD203B41FA5}">
                      <a16:colId xmlns:a16="http://schemas.microsoft.com/office/drawing/2014/main" val="4205075134"/>
                    </a:ext>
                  </a:extLst>
                </a:gridCol>
              </a:tblGrid>
              <a:tr h="671994">
                <a:tc>
                  <a:txBody>
                    <a:bodyPr/>
                    <a:lstStyle/>
                    <a:p>
                      <a:pPr algn="ctr"/>
                      <a:r>
                        <a:rPr lang="en-US" sz="1600" b="1">
                          <a:solidFill>
                            <a:srgbClr val="C00000"/>
                          </a:solidFill>
                          <a:latin typeface="Cambria" panose="02040503050406030204" pitchFamily="18" charset="0"/>
                          <a:ea typeface="Cambria" panose="02040503050406030204" pitchFamily="18" charset="0"/>
                        </a:rPr>
                        <a:t>Feature</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int (Integer)</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float (Floating Point)</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solidFill>
                            <a:srgbClr val="C00000"/>
                          </a:solidFill>
                          <a:latin typeface="Cambria" panose="02040503050406030204" pitchFamily="18" charset="0"/>
                          <a:ea typeface="Cambria" panose="02040503050406030204" pitchFamily="18" charset="0"/>
                        </a:rPr>
                        <a:t>complex (Complex Number)</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dirty="0">
                          <a:solidFill>
                            <a:srgbClr val="C00000"/>
                          </a:solidFill>
                          <a:latin typeface="Cambria" panose="02040503050406030204" pitchFamily="18" charset="0"/>
                          <a:ea typeface="Cambria" panose="02040503050406030204" pitchFamily="18" charset="0"/>
                        </a:rPr>
                        <a:t>str (String)</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166248"/>
                  </a:ext>
                </a:extLst>
              </a:tr>
              <a:tr h="717465">
                <a:tc>
                  <a:txBody>
                    <a:bodyPr/>
                    <a:lstStyle/>
                    <a:p>
                      <a:pPr algn="l"/>
                      <a:r>
                        <a:rPr lang="en-US" sz="1400" b="1" dirty="0"/>
                        <a:t>Definition</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Whole numbers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Numbers with decimals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Numbers with real &amp; imag parts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Sequence of characters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9978500"/>
                  </a:ext>
                </a:extLst>
              </a:tr>
              <a:tr h="470396">
                <a:tc>
                  <a:txBody>
                    <a:bodyPr/>
                    <a:lstStyle/>
                    <a:p>
                      <a:pPr algn="l"/>
                      <a:r>
                        <a:rPr lang="en-US" sz="1400" b="1" dirty="0"/>
                        <a:t>Example Values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5, -10, 0, 999</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3.14, -0.5, 2.0</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2+3j, -1-1j, 5j</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"hello", 'Python'</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8157911"/>
                  </a:ext>
                </a:extLst>
              </a:tr>
              <a:tr h="671994">
                <a:tc>
                  <a:txBody>
                    <a:bodyPr/>
                    <a:lstStyle/>
                    <a:p>
                      <a:pPr algn="l"/>
                      <a:r>
                        <a:rPr lang="en-US" sz="1400" b="1" dirty="0"/>
                        <a:t>Decimal Support</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No</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 (real and imaginary)</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numeric</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6894902"/>
                  </a:ext>
                </a:extLst>
              </a:tr>
              <a:tr h="470396">
                <a:tc>
                  <a:txBody>
                    <a:bodyPr/>
                    <a:lstStyle/>
                    <a:p>
                      <a:pPr algn="l"/>
                      <a:r>
                        <a:rPr lang="en-US" sz="1400" b="1" dirty="0"/>
                        <a:t>Imaginary Part</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Not supported</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supported</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Yes (with j)</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Not applicable</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749825"/>
                  </a:ext>
                </a:extLst>
              </a:tr>
              <a:tr h="288809">
                <a:tc>
                  <a:txBody>
                    <a:bodyPr/>
                    <a:lstStyle/>
                    <a:p>
                      <a:pPr algn="l"/>
                      <a:r>
                        <a:rPr lang="en-US" sz="1400" b="1" dirty="0"/>
                        <a:t>Type Name</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int</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float</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complex</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str</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9804804"/>
                  </a:ext>
                </a:extLst>
              </a:tr>
              <a:tr h="470396">
                <a:tc>
                  <a:txBody>
                    <a:bodyPr/>
                    <a:lstStyle/>
                    <a:p>
                      <a:pPr algn="l"/>
                      <a:r>
                        <a:rPr lang="en-US" sz="1400" b="1" dirty="0"/>
                        <a:t>Conversion Example</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int(3.9) → 3</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float(5) → 5.0</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complex(2, 3) → 2+3j</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str(100) → "100"</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2920901"/>
                  </a:ext>
                </a:extLst>
              </a:tr>
              <a:tr h="470396">
                <a:tc>
                  <a:txBody>
                    <a:bodyPr/>
                    <a:lstStyle/>
                    <a:p>
                      <a:pPr algn="l"/>
                      <a:r>
                        <a:rPr lang="en-US" sz="1400" b="1" dirty="0"/>
                        <a:t>Supports Math Ops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Yes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 Yes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(only string operations)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5442343"/>
                  </a:ext>
                </a:extLst>
              </a:tr>
              <a:tr h="470396">
                <a:tc>
                  <a:txBody>
                    <a:bodyPr/>
                    <a:lstStyle/>
                    <a:p>
                      <a:pPr algn="l"/>
                      <a:r>
                        <a:rPr lang="en-US" sz="1400" b="1" dirty="0"/>
                        <a:t>Use Case</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Counting, indexing</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Measurements, averages</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a:t>Scientific/engineering</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Text processing</a:t>
                      </a:r>
                    </a:p>
                  </a:txBody>
                  <a:tcPr marL="54757" marR="54757" marT="27379" marB="273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3912690"/>
                  </a:ext>
                </a:extLst>
              </a:tr>
            </a:tbl>
          </a:graphicData>
        </a:graphic>
      </p:graphicFrame>
    </p:spTree>
    <p:extLst>
      <p:ext uri="{BB962C8B-B14F-4D97-AF65-F5344CB8AC3E}">
        <p14:creationId xmlns:p14="http://schemas.microsoft.com/office/powerpoint/2010/main" val="3744590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5E73C-2FC3-39CC-AADD-9286841B9BAE}"/>
              </a:ext>
            </a:extLst>
          </p:cNvPr>
          <p:cNvSpPr>
            <a:spLocks noGrp="1"/>
          </p:cNvSpPr>
          <p:nvPr>
            <p:ph type="title"/>
          </p:nvPr>
        </p:nvSpPr>
        <p:spPr>
          <a:xfrm>
            <a:off x="259883" y="182881"/>
            <a:ext cx="11244730" cy="404260"/>
          </a:xfrm>
        </p:spPr>
        <p:txBody>
          <a:bodyPr>
            <a:noAutofit/>
          </a:bodyPr>
          <a:lstStyle/>
          <a:p>
            <a:r>
              <a:rPr lang="en-US" sz="2800" b="1" dirty="0">
                <a:solidFill>
                  <a:srgbClr val="FF0000"/>
                </a:solidFill>
              </a:rPr>
              <a:t>Python Keywords</a:t>
            </a:r>
          </a:p>
        </p:txBody>
      </p:sp>
      <p:sp>
        <p:nvSpPr>
          <p:cNvPr id="3" name="Content Placeholder 2">
            <a:extLst>
              <a:ext uri="{FF2B5EF4-FFF2-40B4-BE49-F238E27FC236}">
                <a16:creationId xmlns:a16="http://schemas.microsoft.com/office/drawing/2014/main" id="{9699A90B-1E3F-ABDC-15AE-2A6B056371E8}"/>
              </a:ext>
            </a:extLst>
          </p:cNvPr>
          <p:cNvSpPr>
            <a:spLocks noGrp="1"/>
          </p:cNvSpPr>
          <p:nvPr>
            <p:ph idx="1"/>
          </p:nvPr>
        </p:nvSpPr>
        <p:spPr>
          <a:xfrm>
            <a:off x="606393" y="933651"/>
            <a:ext cx="10898220" cy="4977571"/>
          </a:xfrm>
        </p:spPr>
        <p:txBody>
          <a:bodyPr/>
          <a:lstStyle/>
          <a:p>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Python keywords are unique words reserved with defined meanings and functions that we can only apply for those functions. You'll never need to import any keyword into your program because they're permanently present. There Are 35+ Keywords in Python</a:t>
            </a:r>
            <a:endParaRPr lang="en-US" sz="1800" dirty="0">
              <a:effectLst/>
              <a:latin typeface="Georgia" panose="02040502050405020303" pitchFamily="18" charset="0"/>
              <a:ea typeface="Georgia" panose="02040502050405020303" pitchFamily="18" charset="0"/>
              <a:cs typeface="Arial" panose="020B0604020202020204" pitchFamily="34" charset="0"/>
            </a:endParaRPr>
          </a:p>
          <a:p>
            <a:endParaRPr lang="en-US" dirty="0"/>
          </a:p>
        </p:txBody>
      </p:sp>
      <p:graphicFrame>
        <p:nvGraphicFramePr>
          <p:cNvPr id="4" name="Table 3">
            <a:extLst>
              <a:ext uri="{FF2B5EF4-FFF2-40B4-BE49-F238E27FC236}">
                <a16:creationId xmlns:a16="http://schemas.microsoft.com/office/drawing/2014/main" id="{A56B0B08-08C1-34F6-3913-ECA8EF934EF3}"/>
              </a:ext>
            </a:extLst>
          </p:cNvPr>
          <p:cNvGraphicFramePr>
            <a:graphicFrameLocks noGrp="1"/>
          </p:cNvGraphicFramePr>
          <p:nvPr>
            <p:extLst>
              <p:ext uri="{D42A27DB-BD31-4B8C-83A1-F6EECF244321}">
                <p14:modId xmlns:p14="http://schemas.microsoft.com/office/powerpoint/2010/main" val="1050210171"/>
              </p:ext>
            </p:extLst>
          </p:nvPr>
        </p:nvGraphicFramePr>
        <p:xfrm>
          <a:off x="259883" y="1905801"/>
          <a:ext cx="11848699" cy="4769315"/>
        </p:xfrm>
        <a:graphic>
          <a:graphicData uri="http://schemas.openxmlformats.org/drawingml/2006/table">
            <a:tbl>
              <a:tblPr firstRow="1" firstCol="1" bandRow="1">
                <a:tableStyleId>{5C22544A-7EE6-4342-B048-85BDC9FD1C3A}</a:tableStyleId>
              </a:tblPr>
              <a:tblGrid>
                <a:gridCol w="1953931">
                  <a:extLst>
                    <a:ext uri="{9D8B030D-6E8A-4147-A177-3AD203B41FA5}">
                      <a16:colId xmlns:a16="http://schemas.microsoft.com/office/drawing/2014/main" val="2898069844"/>
                    </a:ext>
                  </a:extLst>
                </a:gridCol>
                <a:gridCol w="2351949">
                  <a:extLst>
                    <a:ext uri="{9D8B030D-6E8A-4147-A177-3AD203B41FA5}">
                      <a16:colId xmlns:a16="http://schemas.microsoft.com/office/drawing/2014/main" val="898206560"/>
                    </a:ext>
                  </a:extLst>
                </a:gridCol>
                <a:gridCol w="2559170">
                  <a:extLst>
                    <a:ext uri="{9D8B030D-6E8A-4147-A177-3AD203B41FA5}">
                      <a16:colId xmlns:a16="http://schemas.microsoft.com/office/drawing/2014/main" val="3481616348"/>
                    </a:ext>
                  </a:extLst>
                </a:gridCol>
                <a:gridCol w="2613909">
                  <a:extLst>
                    <a:ext uri="{9D8B030D-6E8A-4147-A177-3AD203B41FA5}">
                      <a16:colId xmlns:a16="http://schemas.microsoft.com/office/drawing/2014/main" val="2974564137"/>
                    </a:ext>
                  </a:extLst>
                </a:gridCol>
                <a:gridCol w="2369740">
                  <a:extLst>
                    <a:ext uri="{9D8B030D-6E8A-4147-A177-3AD203B41FA5}">
                      <a16:colId xmlns:a16="http://schemas.microsoft.com/office/drawing/2014/main" val="1580414350"/>
                    </a:ext>
                  </a:extLst>
                </a:gridCol>
              </a:tblGrid>
              <a:tr h="681125">
                <a:tc>
                  <a:txBody>
                    <a:bodyPr/>
                    <a:lstStyle/>
                    <a:p>
                      <a:pPr marL="0" marR="0" algn="ctr">
                        <a:lnSpc>
                          <a:spcPct val="125000"/>
                        </a:lnSpc>
                        <a:spcBef>
                          <a:spcPts val="0"/>
                        </a:spcBef>
                        <a:spcAft>
                          <a:spcPts val="0"/>
                        </a:spcAft>
                      </a:pPr>
                      <a:r>
                        <a:rPr lang="en-IN" sz="1600" b="1" dirty="0">
                          <a:effectLst/>
                        </a:rPr>
                        <a:t>False</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await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else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import</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pass</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extLst>
                  <a:ext uri="{0D108BD9-81ED-4DB2-BD59-A6C34878D82A}">
                    <a16:rowId xmlns:a16="http://schemas.microsoft.com/office/drawing/2014/main" val="3912888961"/>
                  </a:ext>
                </a:extLst>
              </a:tr>
              <a:tr h="681365">
                <a:tc>
                  <a:txBody>
                    <a:bodyPr/>
                    <a:lstStyle/>
                    <a:p>
                      <a:pPr marL="0" marR="0" algn="ctr">
                        <a:lnSpc>
                          <a:spcPct val="125000"/>
                        </a:lnSpc>
                        <a:spcBef>
                          <a:spcPts val="0"/>
                        </a:spcBef>
                        <a:spcAft>
                          <a:spcPts val="0"/>
                        </a:spcAft>
                      </a:pPr>
                      <a:r>
                        <a:rPr lang="en-IN" sz="1600" b="1">
                          <a:effectLst/>
                        </a:rPr>
                        <a:t>None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break</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except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in</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raise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extLst>
                  <a:ext uri="{0D108BD9-81ED-4DB2-BD59-A6C34878D82A}">
                    <a16:rowId xmlns:a16="http://schemas.microsoft.com/office/drawing/2014/main" val="2498079968"/>
                  </a:ext>
                </a:extLst>
              </a:tr>
              <a:tr h="681365">
                <a:tc>
                  <a:txBody>
                    <a:bodyPr/>
                    <a:lstStyle/>
                    <a:p>
                      <a:pPr marL="0" marR="0" algn="ctr">
                        <a:lnSpc>
                          <a:spcPct val="125000"/>
                        </a:lnSpc>
                        <a:spcBef>
                          <a:spcPts val="0"/>
                        </a:spcBef>
                        <a:spcAft>
                          <a:spcPts val="0"/>
                        </a:spcAft>
                      </a:pPr>
                      <a:r>
                        <a:rPr lang="en-IN" sz="1600" b="1" dirty="0">
                          <a:effectLst/>
                        </a:rPr>
                        <a:t>True</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class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finally</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return</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extLst>
                  <a:ext uri="{0D108BD9-81ED-4DB2-BD59-A6C34878D82A}">
                    <a16:rowId xmlns:a16="http://schemas.microsoft.com/office/drawing/2014/main" val="1829279600"/>
                  </a:ext>
                </a:extLst>
              </a:tr>
              <a:tr h="681365">
                <a:tc>
                  <a:txBody>
                    <a:bodyPr/>
                    <a:lstStyle/>
                    <a:p>
                      <a:pPr marL="0" marR="0" algn="ctr">
                        <a:lnSpc>
                          <a:spcPct val="125000"/>
                        </a:lnSpc>
                        <a:spcBef>
                          <a:spcPts val="0"/>
                        </a:spcBef>
                        <a:spcAft>
                          <a:spcPts val="0"/>
                        </a:spcAft>
                      </a:pPr>
                      <a:r>
                        <a:rPr lang="en-IN" sz="1600" b="1" dirty="0">
                          <a:effectLst/>
                        </a:rPr>
                        <a:t>and</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continue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for</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lambda</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try</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extLst>
                  <a:ext uri="{0D108BD9-81ED-4DB2-BD59-A6C34878D82A}">
                    <a16:rowId xmlns:a16="http://schemas.microsoft.com/office/drawing/2014/main" val="3973809779"/>
                  </a:ext>
                </a:extLst>
              </a:tr>
              <a:tr h="681365">
                <a:tc>
                  <a:txBody>
                    <a:bodyPr/>
                    <a:lstStyle/>
                    <a:p>
                      <a:pPr marL="0" marR="0" algn="ctr">
                        <a:lnSpc>
                          <a:spcPct val="125000"/>
                        </a:lnSpc>
                        <a:spcBef>
                          <a:spcPts val="0"/>
                        </a:spcBef>
                        <a:spcAft>
                          <a:spcPts val="0"/>
                        </a:spcAft>
                      </a:pPr>
                      <a:r>
                        <a:rPr lang="en-IN" sz="1600" b="1">
                          <a:effectLst/>
                        </a:rPr>
                        <a:t>as</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def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from</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nonlocal</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while</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extLst>
                  <a:ext uri="{0D108BD9-81ED-4DB2-BD59-A6C34878D82A}">
                    <a16:rowId xmlns:a16="http://schemas.microsoft.com/office/drawing/2014/main" val="839357064"/>
                  </a:ext>
                </a:extLst>
              </a:tr>
              <a:tr h="681365">
                <a:tc>
                  <a:txBody>
                    <a:bodyPr/>
                    <a:lstStyle/>
                    <a:p>
                      <a:pPr marL="0" marR="0" algn="ctr">
                        <a:lnSpc>
                          <a:spcPct val="125000"/>
                        </a:lnSpc>
                        <a:spcBef>
                          <a:spcPts val="0"/>
                        </a:spcBef>
                        <a:spcAft>
                          <a:spcPts val="0"/>
                        </a:spcAft>
                      </a:pPr>
                      <a:r>
                        <a:rPr lang="en-IN" sz="1600" b="1">
                          <a:effectLst/>
                        </a:rPr>
                        <a:t>assert</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del</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global</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not</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with</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extLst>
                  <a:ext uri="{0D108BD9-81ED-4DB2-BD59-A6C34878D82A}">
                    <a16:rowId xmlns:a16="http://schemas.microsoft.com/office/drawing/2014/main" val="831402474"/>
                  </a:ext>
                </a:extLst>
              </a:tr>
              <a:tr h="681365">
                <a:tc>
                  <a:txBody>
                    <a:bodyPr/>
                    <a:lstStyle/>
                    <a:p>
                      <a:pPr marL="0" marR="0" algn="ctr">
                        <a:lnSpc>
                          <a:spcPct val="125000"/>
                        </a:lnSpc>
                        <a:spcBef>
                          <a:spcPts val="0"/>
                        </a:spcBef>
                        <a:spcAft>
                          <a:spcPts val="0"/>
                        </a:spcAft>
                      </a:pPr>
                      <a:r>
                        <a:rPr lang="en-IN" sz="1600" b="1">
                          <a:effectLst/>
                        </a:rPr>
                        <a:t>async</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elif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if</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a:effectLst/>
                        </a:rPr>
                        <a:t>or</a:t>
                      </a:r>
                      <a:endParaRPr lang="en-US" sz="1200" b="1">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tc>
                  <a:txBody>
                    <a:bodyPr/>
                    <a:lstStyle/>
                    <a:p>
                      <a:pPr marL="0" marR="0" algn="ctr">
                        <a:lnSpc>
                          <a:spcPct val="125000"/>
                        </a:lnSpc>
                        <a:spcBef>
                          <a:spcPts val="0"/>
                        </a:spcBef>
                        <a:spcAft>
                          <a:spcPts val="0"/>
                        </a:spcAft>
                      </a:pPr>
                      <a:r>
                        <a:rPr lang="en-IN" sz="1600" b="1" dirty="0">
                          <a:effectLst/>
                        </a:rPr>
                        <a:t>yield</a:t>
                      </a:r>
                      <a:endParaRPr lang="en-US" sz="1200" b="1" dirty="0">
                        <a:effectLst/>
                        <a:latin typeface="Georgia" panose="02040502050405020303" pitchFamily="18" charset="0"/>
                        <a:ea typeface="Georgia" panose="02040502050405020303" pitchFamily="18" charset="0"/>
                        <a:cs typeface="Arial" panose="020B0604020202020204" pitchFamily="34" charset="0"/>
                      </a:endParaRPr>
                    </a:p>
                  </a:txBody>
                  <a:tcPr marL="76200" marR="76200" marT="76200" marB="76200"/>
                </a:tc>
                <a:extLst>
                  <a:ext uri="{0D108BD9-81ED-4DB2-BD59-A6C34878D82A}">
                    <a16:rowId xmlns:a16="http://schemas.microsoft.com/office/drawing/2014/main" val="1639028238"/>
                  </a:ext>
                </a:extLst>
              </a:tr>
            </a:tbl>
          </a:graphicData>
        </a:graphic>
      </p:graphicFrame>
    </p:spTree>
    <p:extLst>
      <p:ext uri="{BB962C8B-B14F-4D97-AF65-F5344CB8AC3E}">
        <p14:creationId xmlns:p14="http://schemas.microsoft.com/office/powerpoint/2010/main" val="1791376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E6FD2-3E88-ED87-5EE6-C5E0A4B66E98}"/>
              </a:ext>
            </a:extLst>
          </p:cNvPr>
          <p:cNvSpPr>
            <a:spLocks noGrp="1"/>
          </p:cNvSpPr>
          <p:nvPr>
            <p:ph type="title"/>
          </p:nvPr>
        </p:nvSpPr>
        <p:spPr>
          <a:xfrm>
            <a:off x="336885" y="105878"/>
            <a:ext cx="11167728" cy="433137"/>
          </a:xfrm>
        </p:spPr>
        <p:txBody>
          <a:bodyPr>
            <a:normAutofit fontScale="90000"/>
          </a:bodyPr>
          <a:lstStyle/>
          <a:p>
            <a:r>
              <a:rPr lang="en-US" sz="2800" b="1" dirty="0">
                <a:solidFill>
                  <a:srgbClr val="FF0000"/>
                </a:solidFill>
              </a:rPr>
              <a:t>Python Input() function</a:t>
            </a:r>
          </a:p>
        </p:txBody>
      </p:sp>
      <p:sp>
        <p:nvSpPr>
          <p:cNvPr id="3" name="Content Placeholder 2">
            <a:extLst>
              <a:ext uri="{FF2B5EF4-FFF2-40B4-BE49-F238E27FC236}">
                <a16:creationId xmlns:a16="http://schemas.microsoft.com/office/drawing/2014/main" id="{0732A488-4BE7-006F-2DE8-B4A664498180}"/>
              </a:ext>
            </a:extLst>
          </p:cNvPr>
          <p:cNvSpPr>
            <a:spLocks noGrp="1"/>
          </p:cNvSpPr>
          <p:nvPr>
            <p:ph idx="1"/>
          </p:nvPr>
        </p:nvSpPr>
        <p:spPr>
          <a:xfrm>
            <a:off x="289970" y="1212783"/>
            <a:ext cx="11261558" cy="5361272"/>
          </a:xfrm>
        </p:spPr>
        <p:txBody>
          <a:bodyPr>
            <a:normAutofit/>
          </a:bodyPr>
          <a:lstStyle/>
          <a:p>
            <a:r>
              <a:rPr lang="en-US" sz="2000" dirty="0">
                <a:latin typeface="Cambria" panose="02040503050406030204" pitchFamily="18" charset="0"/>
                <a:ea typeface="Cambria" panose="02040503050406030204" pitchFamily="18" charset="0"/>
              </a:rPr>
              <a:t>input() is a built-in function used to take input from the user via the keyboard.</a:t>
            </a:r>
          </a:p>
          <a:p>
            <a:r>
              <a:rPr lang="en-US" sz="2000" dirty="0">
                <a:latin typeface="Cambria" panose="02040503050406030204" pitchFamily="18" charset="0"/>
                <a:ea typeface="Cambria" panose="02040503050406030204" pitchFamily="18" charset="0"/>
              </a:rPr>
              <a:t>It returns the input as a string, regardless of what the user types.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name = input("Enter your name: ")</a:t>
            </a:r>
          </a:p>
          <a:p>
            <a:r>
              <a:rPr lang="en-US" sz="2000" dirty="0">
                <a:latin typeface="Cambria" panose="02040503050406030204" pitchFamily="18" charset="0"/>
                <a:ea typeface="Cambria" panose="02040503050406030204" pitchFamily="18" charset="0"/>
              </a:rPr>
              <a:t>age=int(input("Enter your age: "))</a:t>
            </a:r>
          </a:p>
          <a:p>
            <a:r>
              <a:rPr lang="en-US" sz="2000" dirty="0">
                <a:latin typeface="Cambria" panose="02040503050406030204" pitchFamily="18" charset="0"/>
                <a:ea typeface="Cambria" panose="02040503050406030204" pitchFamily="18" charset="0"/>
              </a:rPr>
              <a:t>print(name)  # Always a string</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input() is different from </a:t>
            </a:r>
            <a:r>
              <a:rPr lang="en-US" sz="2000" dirty="0" err="1">
                <a:latin typeface="Cambria" panose="02040503050406030204" pitchFamily="18" charset="0"/>
                <a:ea typeface="Cambria" panose="02040503050406030204" pitchFamily="18" charset="0"/>
              </a:rPr>
              <a:t>raw_input</a:t>
            </a:r>
            <a:r>
              <a:rPr lang="en-US" sz="2000" dirty="0">
                <a:latin typeface="Cambria" panose="02040503050406030204" pitchFamily="18" charset="0"/>
                <a:ea typeface="Cambria" panose="02040503050406030204" pitchFamily="18" charset="0"/>
              </a:rPr>
              <a:t>() in Python 2. In Python 3, only input() exists and behaves like </a:t>
            </a:r>
            <a:r>
              <a:rPr lang="en-US" sz="2000" dirty="0" err="1">
                <a:latin typeface="Cambria" panose="02040503050406030204" pitchFamily="18" charset="0"/>
                <a:ea typeface="Cambria" panose="02040503050406030204" pitchFamily="18" charset="0"/>
              </a:rPr>
              <a:t>raw_input</a:t>
            </a:r>
            <a:r>
              <a:rPr lang="en-US" sz="2000" dirty="0">
                <a:latin typeface="Cambria" panose="02040503050406030204" pitchFamily="18" charset="0"/>
                <a:ea typeface="Cambria" panose="02040503050406030204" pitchFamily="18" charset="0"/>
              </a:rPr>
              <a:t>() did.</a:t>
            </a:r>
          </a:p>
        </p:txBody>
      </p:sp>
    </p:spTree>
    <p:extLst>
      <p:ext uri="{BB962C8B-B14F-4D97-AF65-F5344CB8AC3E}">
        <p14:creationId xmlns:p14="http://schemas.microsoft.com/office/powerpoint/2010/main" val="1026962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2E1FD-8BAE-9A51-9AF6-AD43765FF77D}"/>
              </a:ext>
            </a:extLst>
          </p:cNvPr>
          <p:cNvSpPr>
            <a:spLocks noGrp="1"/>
          </p:cNvSpPr>
          <p:nvPr>
            <p:ph type="title"/>
          </p:nvPr>
        </p:nvSpPr>
        <p:spPr>
          <a:xfrm>
            <a:off x="163630" y="-9625"/>
            <a:ext cx="11081100" cy="462012"/>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Indentation</a:t>
            </a:r>
          </a:p>
        </p:txBody>
      </p:sp>
      <p:sp>
        <p:nvSpPr>
          <p:cNvPr id="3" name="Content Placeholder 2">
            <a:extLst>
              <a:ext uri="{FF2B5EF4-FFF2-40B4-BE49-F238E27FC236}">
                <a16:creationId xmlns:a16="http://schemas.microsoft.com/office/drawing/2014/main" id="{44BFF098-CEC5-2871-3803-C765E61DE92D}"/>
              </a:ext>
            </a:extLst>
          </p:cNvPr>
          <p:cNvSpPr>
            <a:spLocks noGrp="1"/>
          </p:cNvSpPr>
          <p:nvPr>
            <p:ph idx="1"/>
          </p:nvPr>
        </p:nvSpPr>
        <p:spPr>
          <a:xfrm>
            <a:off x="259882" y="452387"/>
            <a:ext cx="11829449" cy="6275672"/>
          </a:xfrm>
        </p:spPr>
        <p:txBody>
          <a:bodyPr>
            <a:noAutofit/>
          </a:bodyPr>
          <a:lstStyle/>
          <a:p>
            <a:pPr marL="0" indent="0">
              <a:buNone/>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Python refers to 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spaces or tabs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added at the beginning of a line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indicate a block of code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Unlike many other programming languages that use curly braces {} to group code blocks, Python uses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as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core part of its syntax</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Indentation defines code blocks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 Python, blocks of code for functions, loops, conditionals, and classes are defined by indentation — not by braces.               if x &gt; 0: print("Positive number") </a:t>
            </a:r>
          </a:p>
          <a:p>
            <a:pPr marL="0" marR="0" lvl="0" indent="0" defTabSz="914400" rtl="0" eaLnBrk="0" fontAlgn="base" latinLnBrk="0" hangingPunct="0">
              <a:lnSpc>
                <a:spcPct val="100000"/>
              </a:lnSpc>
              <a:spcBef>
                <a:spcPct val="0"/>
              </a:spcBef>
              <a:spcAft>
                <a:spcPct val="0"/>
              </a:spcAft>
              <a:buClrTx/>
              <a:buSzTx/>
              <a:buFontTx/>
              <a:buAutoNum type="arabicPeriod"/>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Improper indentation causes errors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If indentation is missing or inconsistent, Python raises an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IndentationError</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misinterprets the code logic.</a:t>
            </a:r>
          </a:p>
          <a:p>
            <a:pPr marL="0" marR="0" lvl="0" indent="0" defTabSz="914400" rtl="0" eaLnBrk="0" fontAlgn="base" latinLnBrk="0" hangingPunct="0">
              <a:lnSpc>
                <a:spcPct val="100000"/>
              </a:lnSpc>
              <a:spcBef>
                <a:spcPct val="0"/>
              </a:spcBef>
              <a:spcAft>
                <a:spcPct val="0"/>
              </a:spcAft>
              <a:buClrTx/>
              <a:buSzTx/>
              <a:buFontTx/>
              <a:buNone/>
              <a:tabLst/>
            </a:pPr>
            <a:r>
              <a:rPr lang="en-US" altLang="en-US" dirty="0">
                <a:solidFill>
                  <a:schemeClr val="tx1"/>
                </a:solidFill>
                <a:latin typeface="Cambria" panose="02040503050406030204" pitchFamily="18" charset="0"/>
                <a:ea typeface="Cambria" panose="02040503050406030204" pitchFamily="18" charset="0"/>
              </a:rPr>
              <a:t> </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if x &gt; 0: print("Error!") # Incorrect indentation </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Standard indentation is 4 spaces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Python's official style guide (PEP 8) recommends using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4 spaces per indentation level</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consistency and readability.</a:t>
            </a:r>
          </a:p>
          <a:p>
            <a:pPr marL="0" marR="0" lvl="0" indent="0" defTabSz="914400" rtl="0" eaLnBrk="0" fontAlgn="base" latinLnBrk="0" hangingPunct="0">
              <a:lnSpc>
                <a:spcPct val="100000"/>
              </a:lnSpc>
              <a:spcBef>
                <a:spcPct val="0"/>
              </a:spcBef>
              <a:spcAft>
                <a:spcPct val="0"/>
              </a:spcAft>
              <a:buClrTx/>
              <a:buSzTx/>
              <a:buFontTx/>
              <a:buAutoNum type="arabicPeriod" startAt="3"/>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4"/>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Do not mix tabs and spaces</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Mixing tabs and spaces in the same file or block can cause errors and unexpected behavior. Always use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only spaces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5"/>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Essential for readability and logic</a:t>
            </a:r>
            <a:b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Proper indentation makes Python code clean, structured, and easy to understand. It's both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stylistic</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functional</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requirement.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44160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AA0E8-5E4A-DA77-91DD-9359F91E4BC1}"/>
              </a:ext>
            </a:extLst>
          </p:cNvPr>
          <p:cNvSpPr>
            <a:spLocks noGrp="1"/>
          </p:cNvSpPr>
          <p:nvPr>
            <p:ph type="title"/>
          </p:nvPr>
        </p:nvSpPr>
        <p:spPr>
          <a:xfrm>
            <a:off x="192505" y="77002"/>
            <a:ext cx="11312107" cy="433137"/>
          </a:xfrm>
        </p:spPr>
        <p:txBody>
          <a:bodyPr>
            <a:noAutofit/>
          </a:bodyPr>
          <a:lstStyle/>
          <a:p>
            <a:r>
              <a:rPr lang="en-US" sz="2800" b="1" dirty="0">
                <a:solidFill>
                  <a:srgbClr val="C00000"/>
                </a:solidFill>
                <a:latin typeface="Cambria" panose="02040503050406030204" pitchFamily="18" charset="0"/>
                <a:ea typeface="Cambria" panose="02040503050406030204" pitchFamily="18" charset="0"/>
              </a:rPr>
              <a:t>Python Operators</a:t>
            </a:r>
          </a:p>
        </p:txBody>
      </p:sp>
      <p:sp>
        <p:nvSpPr>
          <p:cNvPr id="3" name="Content Placeholder 2">
            <a:extLst>
              <a:ext uri="{FF2B5EF4-FFF2-40B4-BE49-F238E27FC236}">
                <a16:creationId xmlns:a16="http://schemas.microsoft.com/office/drawing/2014/main" id="{FF99361B-0B40-DFDE-90D3-4B05E91FD08C}"/>
              </a:ext>
            </a:extLst>
          </p:cNvPr>
          <p:cNvSpPr>
            <a:spLocks noGrp="1"/>
          </p:cNvSpPr>
          <p:nvPr>
            <p:ph idx="1"/>
          </p:nvPr>
        </p:nvSpPr>
        <p:spPr>
          <a:xfrm>
            <a:off x="394637" y="1434164"/>
            <a:ext cx="11543112" cy="4302493"/>
          </a:xfrm>
        </p:spPr>
        <p:txBody>
          <a:bodyPr>
            <a:normAutofit/>
          </a:bodyPr>
          <a:lstStyle/>
          <a:p>
            <a:pPr marL="0" algn="just">
              <a:lnSpc>
                <a:spcPct val="125000"/>
              </a:lnSpc>
              <a:spcBef>
                <a:spcPts val="0"/>
              </a:spcBef>
              <a:spcAft>
                <a:spcPts val="800"/>
              </a:spcAft>
              <a:buFont typeface="Wingdings" panose="05000000000000000000" pitchFamily="2" charset="2"/>
              <a:buChar char="Ø"/>
            </a:pPr>
            <a:r>
              <a:rPr lang="en-IN" sz="1800" dirty="0">
                <a:solidFill>
                  <a:schemeClr val="tx1"/>
                </a:solidFill>
                <a:effectLst/>
                <a:latin typeface="Segoe UI" panose="020B0502040204020203" pitchFamily="34" charset="0"/>
                <a:ea typeface="Times New Roman" panose="02020603050405020304" pitchFamily="18" charset="0"/>
                <a:cs typeface="Arial" panose="020B0604020202020204" pitchFamily="34" charset="0"/>
              </a:rPr>
              <a:t>The operator is a symbol that performs a certain operation between two operands, according to one definition. In a particular programming language, operators serve as the foundation upon which logic is constructed in a programme. The different operators that Python offers are listed here.</a:t>
            </a:r>
          </a:p>
          <a:p>
            <a:pPr>
              <a:spcBef>
                <a:spcPts val="300"/>
              </a:spcBef>
              <a:spcAft>
                <a:spcPts val="800"/>
              </a:spcAft>
              <a:buSzPts val="1000"/>
              <a:buFont typeface="Wingdings" panose="05000000000000000000" pitchFamily="2" charset="2"/>
              <a:buChar char="v"/>
              <a:tabLst>
                <a:tab pos="457200" algn="l"/>
              </a:tabLst>
            </a:pPr>
            <a:endPar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Arithmetic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Comparison operators/Relational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Assignment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Logical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Membership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a:p>
            <a:pPr>
              <a:spcBef>
                <a:spcPts val="300"/>
              </a:spcBef>
              <a:spcAft>
                <a:spcPts val="800"/>
              </a:spcAft>
              <a:buSzPts val="1000"/>
              <a:buFont typeface="Wingdings" panose="05000000000000000000" pitchFamily="2" charset="2"/>
              <a:buChar char="v"/>
              <a:tabLst>
                <a:tab pos="457200" algn="l"/>
              </a:tabLst>
            </a:pPr>
            <a:r>
              <a:rPr lang="en-IN" sz="20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Identity Operators</a:t>
            </a:r>
            <a:endParaRPr lang="en-US" sz="2000" dirty="0">
              <a:solidFill>
                <a:schemeClr val="tx1"/>
              </a:solidFill>
              <a:effectLst/>
              <a:latin typeface="Georgia" panose="02040502050405020303" pitchFamily="18" charset="0"/>
              <a:ea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2680796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AC2F8-C53D-F8A6-5E80-A769A138D534}"/>
              </a:ext>
            </a:extLst>
          </p:cNvPr>
          <p:cNvSpPr>
            <a:spLocks noGrp="1"/>
          </p:cNvSpPr>
          <p:nvPr>
            <p:ph type="title"/>
          </p:nvPr>
        </p:nvSpPr>
        <p:spPr>
          <a:xfrm>
            <a:off x="211757" y="96254"/>
            <a:ext cx="11292856" cy="1963551"/>
          </a:xfrm>
        </p:spPr>
        <p:txBody>
          <a:bodyPr>
            <a:noAutofit/>
          </a:bodyPr>
          <a:lstStyle/>
          <a:p>
            <a:r>
              <a:rPr lang="en-IN" sz="28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t>Arithmetic operators</a:t>
            </a:r>
            <a:br>
              <a:rPr lang="en-IN" sz="28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br>
            <a:r>
              <a:rPr lang="en-IN" sz="2800" b="1"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Arithmetic operations between two operands are carried out using arithmetic operators. It includes the </a:t>
            </a: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exponent (**) operator as well as the + (addition), - (subtraction), * (multiplication), / (divide), % (reminder), and // (floor division) operators.</a:t>
            </a: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US" sz="1800" dirty="0">
                <a:latin typeface="Segoe UI" panose="020B0502040204020203" pitchFamily="34" charset="0"/>
                <a:cs typeface="Segoe UI" panose="020B0502040204020203" pitchFamily="34" charset="0"/>
              </a:rPr>
              <a:t>These operators are used to perform basic mathematical operations such as addition, subtraction, multiplication, division, and modulus.</a:t>
            </a:r>
            <a:br>
              <a:rPr lang="en-US" sz="3200" dirty="0">
                <a:effectLst/>
                <a:latin typeface="Segoe UI" panose="020B0502040204020203" pitchFamily="34" charset="0"/>
                <a:ea typeface="Georgia" panose="02040502050405020303" pitchFamily="18" charset="0"/>
                <a:cs typeface="Segoe UI" panose="020B0502040204020203" pitchFamily="34" charset="0"/>
              </a:rPr>
            </a:br>
            <a:br>
              <a:rPr lang="en-US" sz="2800" b="1" dirty="0">
                <a:solidFill>
                  <a:srgbClr val="FF0000"/>
                </a:solidFill>
                <a:effectLst/>
                <a:latin typeface="Georgia" panose="02040502050405020303" pitchFamily="18" charset="0"/>
                <a:ea typeface="Georgia" panose="02040502050405020303" pitchFamily="18" charset="0"/>
                <a:cs typeface="Times New Roman" panose="02020603050405020304" pitchFamily="18" charset="0"/>
              </a:rPr>
            </a:br>
            <a:endParaRPr lang="en-US" sz="2800" b="1" dirty="0">
              <a:solidFill>
                <a:srgbClr val="FF0000"/>
              </a:solidFill>
            </a:endParaRPr>
          </a:p>
        </p:txBody>
      </p:sp>
      <p:graphicFrame>
        <p:nvGraphicFramePr>
          <p:cNvPr id="6" name="Content Placeholder 5">
            <a:extLst>
              <a:ext uri="{FF2B5EF4-FFF2-40B4-BE49-F238E27FC236}">
                <a16:creationId xmlns:a16="http://schemas.microsoft.com/office/drawing/2014/main" id="{0D6E4E2E-FA38-C312-1745-EB1EB805E1A8}"/>
              </a:ext>
            </a:extLst>
          </p:cNvPr>
          <p:cNvGraphicFramePr>
            <a:graphicFrameLocks noGrp="1"/>
          </p:cNvGraphicFramePr>
          <p:nvPr>
            <p:ph idx="1"/>
            <p:extLst>
              <p:ext uri="{D42A27DB-BD31-4B8C-83A1-F6EECF244321}">
                <p14:modId xmlns:p14="http://schemas.microsoft.com/office/powerpoint/2010/main" val="2559840701"/>
              </p:ext>
            </p:extLst>
          </p:nvPr>
        </p:nvGraphicFramePr>
        <p:xfrm>
          <a:off x="324050" y="2158742"/>
          <a:ext cx="11332143" cy="4603003"/>
        </p:xfrm>
        <a:graphic>
          <a:graphicData uri="http://schemas.openxmlformats.org/drawingml/2006/table">
            <a:tbl>
              <a:tblPr/>
              <a:tblGrid>
                <a:gridCol w="1416631">
                  <a:extLst>
                    <a:ext uri="{9D8B030D-6E8A-4147-A177-3AD203B41FA5}">
                      <a16:colId xmlns:a16="http://schemas.microsoft.com/office/drawing/2014/main" val="1819631824"/>
                    </a:ext>
                  </a:extLst>
                </a:gridCol>
                <a:gridCol w="3466119">
                  <a:extLst>
                    <a:ext uri="{9D8B030D-6E8A-4147-A177-3AD203B41FA5}">
                      <a16:colId xmlns:a16="http://schemas.microsoft.com/office/drawing/2014/main" val="1169991856"/>
                    </a:ext>
                  </a:extLst>
                </a:gridCol>
                <a:gridCol w="2276257">
                  <a:extLst>
                    <a:ext uri="{9D8B030D-6E8A-4147-A177-3AD203B41FA5}">
                      <a16:colId xmlns:a16="http://schemas.microsoft.com/office/drawing/2014/main" val="1639674056"/>
                    </a:ext>
                  </a:extLst>
                </a:gridCol>
                <a:gridCol w="4173136">
                  <a:extLst>
                    <a:ext uri="{9D8B030D-6E8A-4147-A177-3AD203B41FA5}">
                      <a16:colId xmlns:a16="http://schemas.microsoft.com/office/drawing/2014/main" val="1711081350"/>
                    </a:ext>
                  </a:extLst>
                </a:gridCol>
              </a:tblGrid>
              <a:tr h="665825">
                <a:tc>
                  <a:txBody>
                    <a:bodyPr/>
                    <a:lstStyle/>
                    <a:p>
                      <a:pPr algn="ctr"/>
                      <a:r>
                        <a:rPr lang="en-US" sz="1600" b="1" dirty="0"/>
                        <a:t>Operator</a:t>
                      </a:r>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dirty="0"/>
                        <a:t>Description</a:t>
                      </a:r>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a:t>Example</a:t>
                      </a:r>
                    </a:p>
                  </a:txBody>
                  <a:tcPr marL="71288" marR="71288" marT="35644" marB="35644" anchor="ctr">
                    <a:lnL>
                      <a:noFill/>
                    </a:lnL>
                    <a:lnR>
                      <a:noFill/>
                    </a:lnR>
                    <a:lnT>
                      <a:noFill/>
                    </a:lnT>
                    <a:lnB>
                      <a:noFill/>
                    </a:lnB>
                    <a:solidFill>
                      <a:schemeClr val="accent1">
                        <a:lumMod val="60000"/>
                        <a:lumOff val="40000"/>
                      </a:schemeClr>
                    </a:solidFill>
                  </a:tcPr>
                </a:tc>
                <a:tc>
                  <a:txBody>
                    <a:bodyPr/>
                    <a:lstStyle/>
                    <a:p>
                      <a:pPr algn="ctr"/>
                      <a:r>
                        <a:rPr lang="en-US" sz="1600" b="1" dirty="0"/>
                        <a:t>Use (Result)</a:t>
                      </a:r>
                    </a:p>
                  </a:txBody>
                  <a:tcPr marL="71288" marR="71288" marT="35644" marB="35644"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3609127259"/>
                  </a:ext>
                </a:extLst>
              </a:tr>
              <a:tr h="562454">
                <a:tc>
                  <a:txBody>
                    <a:bodyPr/>
                    <a:lstStyle/>
                    <a:p>
                      <a:pPr algn="ctr"/>
                      <a:r>
                        <a:rPr lang="en-US" sz="1600" b="0" dirty="0">
                          <a:latin typeface="Cambria" panose="02040503050406030204" pitchFamily="18" charset="0"/>
                          <a:ea typeface="Cambria" panose="02040503050406030204" pitchFamily="18" charset="0"/>
                        </a:rPr>
                        <a:t>+</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Addition</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Adds values (Result: 8)</a:t>
                      </a:r>
                    </a:p>
                  </a:txBody>
                  <a:tcPr marL="71288" marR="71288" marT="35644" marB="35644"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007202449"/>
                  </a:ext>
                </a:extLst>
              </a:tr>
              <a:tr h="562454">
                <a:tc>
                  <a:txBody>
                    <a:bodyPr/>
                    <a:lstStyle/>
                    <a:p>
                      <a:pPr algn="ctr"/>
                      <a:r>
                        <a:rPr lang="en-US" sz="1600" b="0" dirty="0">
                          <a:latin typeface="Cambria" panose="02040503050406030204" pitchFamily="18" charset="0"/>
                          <a:ea typeface="Cambria" panose="02040503050406030204" pitchFamily="18" charset="0"/>
                        </a:rPr>
                        <a:t>-</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Subtraction</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Subtracts values (2)</a:t>
                      </a:r>
                    </a:p>
                  </a:txBody>
                  <a:tcPr marL="71288" marR="71288" marT="35644" marB="35644"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754177786"/>
                  </a:ext>
                </a:extLst>
              </a:tr>
              <a:tr h="562454">
                <a:tc>
                  <a:txBody>
                    <a:bodyPr/>
                    <a:lstStyle/>
                    <a:p>
                      <a:pPr algn="ctr"/>
                      <a:r>
                        <a:rPr lang="en-US" sz="1600" b="0" dirty="0">
                          <a:latin typeface="Cambria" panose="02040503050406030204" pitchFamily="18" charset="0"/>
                          <a:ea typeface="Cambria" panose="02040503050406030204" pitchFamily="18" charset="0"/>
                        </a:rPr>
                        <a:t>*</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Multiplication</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5 * 3</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Multiplies values (15)</a:t>
                      </a:r>
                    </a:p>
                  </a:txBody>
                  <a:tcPr marL="71288" marR="71288" marT="35644" marB="35644"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624542673"/>
                  </a:ext>
                </a:extLst>
              </a:tr>
              <a:tr h="562454">
                <a:tc>
                  <a:txBody>
                    <a:bodyPr/>
                    <a:lstStyle/>
                    <a:p>
                      <a:pPr algn="ctr"/>
                      <a:r>
                        <a:rPr lang="en-US" sz="1600" b="0" dirty="0">
                          <a:latin typeface="Cambria" panose="02040503050406030204" pitchFamily="18" charset="0"/>
                          <a:ea typeface="Cambria" panose="02040503050406030204" pitchFamily="18" charset="0"/>
                        </a:rPr>
                        <a:t>/</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Division</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6 / 3</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Divides values (2.0)</a:t>
                      </a:r>
                    </a:p>
                  </a:txBody>
                  <a:tcPr marL="71288" marR="71288" marT="35644" marB="35644"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4169776368"/>
                  </a:ext>
                </a:extLst>
              </a:tr>
              <a:tr h="562454">
                <a:tc>
                  <a:txBody>
                    <a:bodyPr/>
                    <a:lstStyle/>
                    <a:p>
                      <a:pPr algn="ctr"/>
                      <a:r>
                        <a:rPr lang="en-US" sz="1600" b="0" dirty="0">
                          <a:latin typeface="Cambria" panose="02040503050406030204" pitchFamily="18" charset="0"/>
                          <a:ea typeface="Cambria" panose="02040503050406030204" pitchFamily="18" charset="0"/>
                        </a:rPr>
                        <a:t>//</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Floor Division</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7 // 2</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Division, removes decimal (3)</a:t>
                      </a:r>
                    </a:p>
                  </a:txBody>
                  <a:tcPr marL="71288" marR="71288" marT="35644" marB="35644"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594313186"/>
                  </a:ext>
                </a:extLst>
              </a:tr>
              <a:tr h="562454">
                <a:tc>
                  <a:txBody>
                    <a:bodyPr/>
                    <a:lstStyle/>
                    <a:p>
                      <a:pPr algn="ctr"/>
                      <a:r>
                        <a:rPr lang="en-US" sz="1600" b="0" dirty="0">
                          <a:latin typeface="Cambria" panose="02040503050406030204" pitchFamily="18" charset="0"/>
                          <a:ea typeface="Cambria" panose="02040503050406030204" pitchFamily="18" charset="0"/>
                        </a:rPr>
                        <a:t>%</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Modulus</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7 % 2</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Remainder of division (1)</a:t>
                      </a:r>
                    </a:p>
                  </a:txBody>
                  <a:tcPr marL="71288" marR="71288" marT="35644" marB="35644"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586749355"/>
                  </a:ext>
                </a:extLst>
              </a:tr>
              <a:tr h="562454">
                <a:tc>
                  <a:txBody>
                    <a:bodyPr/>
                    <a:lstStyle/>
                    <a:p>
                      <a:pPr algn="ctr"/>
                      <a:r>
                        <a:rPr lang="en-US" sz="1600" b="0" dirty="0">
                          <a:latin typeface="Cambria" panose="02040503050406030204" pitchFamily="18" charset="0"/>
                          <a:ea typeface="Cambria" panose="02040503050406030204" pitchFamily="18" charset="0"/>
                        </a:rPr>
                        <a:t>**</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Exponentiation</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2 ** 3</a:t>
                      </a:r>
                    </a:p>
                  </a:txBody>
                  <a:tcPr marL="71288" marR="71288" marT="35644" marB="35644"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Raises to power (8)</a:t>
                      </a:r>
                    </a:p>
                  </a:txBody>
                  <a:tcPr marL="71288" marR="71288" marT="35644" marB="35644"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539305413"/>
                  </a:ext>
                </a:extLst>
              </a:tr>
            </a:tbl>
          </a:graphicData>
        </a:graphic>
      </p:graphicFrame>
    </p:spTree>
    <p:extLst>
      <p:ext uri="{BB962C8B-B14F-4D97-AF65-F5344CB8AC3E}">
        <p14:creationId xmlns:p14="http://schemas.microsoft.com/office/powerpoint/2010/main" val="3526433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C085-C2CB-855B-34A5-063581E02562}"/>
              </a:ext>
            </a:extLst>
          </p:cNvPr>
          <p:cNvSpPr>
            <a:spLocks noGrp="1"/>
          </p:cNvSpPr>
          <p:nvPr>
            <p:ph type="title"/>
          </p:nvPr>
        </p:nvSpPr>
        <p:spPr>
          <a:xfrm>
            <a:off x="327259" y="0"/>
            <a:ext cx="11177353" cy="1713297"/>
          </a:xfrm>
        </p:spPr>
        <p:txBody>
          <a:bodyPr>
            <a:normAutofit fontScale="90000"/>
          </a:bodyPr>
          <a:lstStyle/>
          <a:p>
            <a:pPr>
              <a:lnSpc>
                <a:spcPct val="125000"/>
              </a:lnSpc>
              <a:spcBef>
                <a:spcPts val="0"/>
              </a:spcBef>
              <a:spcAft>
                <a:spcPts val="800"/>
              </a:spcAft>
            </a:pPr>
            <a:r>
              <a:rPr lang="en-IN" sz="2800" b="1" dirty="0">
                <a:solidFill>
                  <a:srgbClr val="FF0000"/>
                </a:solidFill>
                <a:effectLst/>
                <a:latin typeface="Helvetica" panose="020B0604020202020204" pitchFamily="34" charset="0"/>
                <a:ea typeface="Times New Roman" panose="02020603050405020304" pitchFamily="18" charset="0"/>
                <a:cs typeface="Arial" panose="020B0604020202020204" pitchFamily="34" charset="0"/>
              </a:rPr>
              <a:t>Assignment Operators</a:t>
            </a:r>
            <a:br>
              <a:rPr lang="en-US" sz="1800" dirty="0">
                <a:effectLst/>
                <a:latin typeface="Georgia" panose="02040502050405020303" pitchFamily="18" charset="0"/>
                <a:ea typeface="Georgia" panose="02040502050405020303" pitchFamily="18" charset="0"/>
                <a:cs typeface="Arial" panose="020B0604020202020204" pitchFamily="34" charset="0"/>
              </a:rPr>
            </a:br>
            <a:r>
              <a:rPr lang="en-IN" sz="20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The right expression's value is assigned to the left operand using the assignment operators. The following table provides a description of the assignment operators.</a:t>
            </a:r>
            <a:br>
              <a:rPr lang="en-IN" sz="20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These are used to assign values to variables and can also perform operations while assigning (e.g., </a:t>
            </a:r>
            <a:r>
              <a:rPr kumimoji="0" lang="en-US" altLang="en-US" sz="105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r>
              <a:rPr kumimoji="0" lang="en-US" altLang="en-US" sz="1050" b="0" i="0" u="none" strike="noStrike" cap="none" normalizeH="0" baseline="0" dirty="0">
                <a:ln>
                  <a:noFill/>
                </a:ln>
                <a:solidFill>
                  <a:schemeClr val="tx1"/>
                </a:solidFill>
                <a:effectLst/>
                <a:latin typeface="Arial Unicode MS"/>
              </a:rPr>
              <a:t>-=</a:t>
            </a:r>
            <a:r>
              <a:rPr kumimoji="0" lang="en-US" altLang="en-US" sz="900" b="0" i="0" u="none" strike="noStrike" cap="none" normalizeH="0" baseline="0" dirty="0">
                <a:ln>
                  <a:noFill/>
                </a:ln>
                <a:solidFill>
                  <a:schemeClr val="tx1"/>
                </a:solidFill>
                <a:effectLst/>
              </a:rPr>
              <a:t>). </a:t>
            </a:r>
            <a:br>
              <a:rPr kumimoji="0" lang="en-US" altLang="en-US" sz="2000" b="0" i="0" u="none" strike="noStrike" cap="none" normalizeH="0" baseline="0" dirty="0">
                <a:ln>
                  <a:noFill/>
                </a:ln>
                <a:solidFill>
                  <a:schemeClr val="tx1"/>
                </a:solidFill>
                <a:effectLst/>
                <a:latin typeface="Arial" panose="020B0604020202020204" pitchFamily="34" charset="0"/>
              </a:rPr>
            </a:br>
            <a:br>
              <a:rPr lang="en-IN" sz="20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br>
              <a:rPr lang="en-US" sz="1800" dirty="0">
                <a:effectLst/>
                <a:latin typeface="Georgia" panose="02040502050405020303" pitchFamily="18" charset="0"/>
                <a:ea typeface="Georgia" panose="02040502050405020303" pitchFamily="18" charset="0"/>
                <a:cs typeface="Arial" panose="020B0604020202020204" pitchFamily="34" charset="0"/>
              </a:rPr>
            </a:br>
            <a:endParaRPr lang="en-US" dirty="0"/>
          </a:p>
        </p:txBody>
      </p:sp>
      <p:graphicFrame>
        <p:nvGraphicFramePr>
          <p:cNvPr id="9" name="Content Placeholder 8">
            <a:extLst>
              <a:ext uri="{FF2B5EF4-FFF2-40B4-BE49-F238E27FC236}">
                <a16:creationId xmlns:a16="http://schemas.microsoft.com/office/drawing/2014/main" id="{95CE297E-6B75-3E29-6C29-5250A055B872}"/>
              </a:ext>
            </a:extLst>
          </p:cNvPr>
          <p:cNvGraphicFramePr>
            <a:graphicFrameLocks noGrp="1"/>
          </p:cNvGraphicFramePr>
          <p:nvPr>
            <p:ph idx="1"/>
            <p:extLst>
              <p:ext uri="{D42A27DB-BD31-4B8C-83A1-F6EECF244321}">
                <p14:modId xmlns:p14="http://schemas.microsoft.com/office/powerpoint/2010/main" val="2879154797"/>
              </p:ext>
            </p:extLst>
          </p:nvPr>
        </p:nvGraphicFramePr>
        <p:xfrm>
          <a:off x="296780" y="2048834"/>
          <a:ext cx="11598440" cy="4237810"/>
        </p:xfrm>
        <a:graphic>
          <a:graphicData uri="http://schemas.openxmlformats.org/drawingml/2006/table">
            <a:tbl>
              <a:tblPr/>
              <a:tblGrid>
                <a:gridCol w="2899610">
                  <a:extLst>
                    <a:ext uri="{9D8B030D-6E8A-4147-A177-3AD203B41FA5}">
                      <a16:colId xmlns:a16="http://schemas.microsoft.com/office/drawing/2014/main" val="3633391481"/>
                    </a:ext>
                  </a:extLst>
                </a:gridCol>
                <a:gridCol w="2899610">
                  <a:extLst>
                    <a:ext uri="{9D8B030D-6E8A-4147-A177-3AD203B41FA5}">
                      <a16:colId xmlns:a16="http://schemas.microsoft.com/office/drawing/2014/main" val="2852538728"/>
                    </a:ext>
                  </a:extLst>
                </a:gridCol>
                <a:gridCol w="2899610">
                  <a:extLst>
                    <a:ext uri="{9D8B030D-6E8A-4147-A177-3AD203B41FA5}">
                      <a16:colId xmlns:a16="http://schemas.microsoft.com/office/drawing/2014/main" val="3466802174"/>
                    </a:ext>
                  </a:extLst>
                </a:gridCol>
                <a:gridCol w="2899610">
                  <a:extLst>
                    <a:ext uri="{9D8B030D-6E8A-4147-A177-3AD203B41FA5}">
                      <a16:colId xmlns:a16="http://schemas.microsoft.com/office/drawing/2014/main" val="4266608348"/>
                    </a:ext>
                  </a:extLst>
                </a:gridCol>
              </a:tblGrid>
              <a:tr h="516794">
                <a:tc>
                  <a:txBody>
                    <a:bodyPr/>
                    <a:lstStyle/>
                    <a:p>
                      <a:pPr algn="ctr"/>
                      <a:r>
                        <a:rPr lang="en-US" sz="1800" b="1" dirty="0">
                          <a:latin typeface="Cambria" panose="02040503050406030204" pitchFamily="18" charset="0"/>
                          <a:ea typeface="Cambria" panose="02040503050406030204" pitchFamily="18" charset="0"/>
                        </a:rPr>
                        <a:t>Operator</a:t>
                      </a: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Description</a:t>
                      </a: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a:t>
                      </a:r>
                    </a:p>
                  </a:txBody>
                  <a:tcPr marL="66285" marR="66285" marT="33143" marB="33143"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Use (Final value of x)</a:t>
                      </a:r>
                    </a:p>
                  </a:txBody>
                  <a:tcPr marL="66285" marR="66285" marT="33143" marB="33143"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846247174"/>
                  </a:ext>
                </a:extLst>
              </a:tr>
              <a:tr h="516794">
                <a:tc>
                  <a:txBody>
                    <a:bodyPr/>
                    <a:lstStyle/>
                    <a:p>
                      <a:pPr algn="ctr"/>
                      <a:r>
                        <a:rPr lang="en-US" sz="1600" b="0" dirty="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5</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Assigns value 5 to x</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4250701073"/>
                  </a:ext>
                </a:extLst>
              </a:tr>
              <a:tr h="295310">
                <a:tc>
                  <a:txBody>
                    <a:bodyPr/>
                    <a:lstStyle/>
                    <a:p>
                      <a:pPr algn="ctr"/>
                      <a:r>
                        <a:rPr lang="en-US" sz="1600" b="0" dirty="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Add and 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x + 2</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423221511"/>
                  </a:ext>
                </a:extLst>
              </a:tr>
              <a:tr h="516794">
                <a:tc>
                  <a:txBody>
                    <a:bodyPr/>
                    <a:lstStyle/>
                    <a:p>
                      <a:pPr algn="ctr"/>
                      <a:r>
                        <a:rPr lang="en-US" sz="1600" b="0" dirty="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Subtract and 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2</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x - 2</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47215914"/>
                  </a:ext>
                </a:extLst>
              </a:tr>
              <a:tr h="516794">
                <a:tc>
                  <a:txBody>
                    <a:bodyPr/>
                    <a:lstStyle/>
                    <a:p>
                      <a:pPr algn="ctr"/>
                      <a:r>
                        <a:rPr lang="en-US" sz="1600" b="0" dirty="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Multiply and 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2</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273616991"/>
                  </a:ext>
                </a:extLst>
              </a:tr>
              <a:tr h="295310">
                <a:tc>
                  <a:txBody>
                    <a:bodyPr/>
                    <a:lstStyle/>
                    <a:p>
                      <a:pPr algn="ctr"/>
                      <a:r>
                        <a:rPr lang="en-US" sz="1600" b="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Divide and 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211195398"/>
                  </a:ext>
                </a:extLst>
              </a:tr>
              <a:tr h="516794">
                <a:tc>
                  <a:txBody>
                    <a:bodyPr/>
                    <a:lstStyle/>
                    <a:p>
                      <a:pPr algn="ctr"/>
                      <a:r>
                        <a:rPr lang="en-US" sz="1600" b="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Floor divide and 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267921616"/>
                  </a:ext>
                </a:extLst>
              </a:tr>
              <a:tr h="516794">
                <a:tc>
                  <a:txBody>
                    <a:bodyPr/>
                    <a:lstStyle/>
                    <a:p>
                      <a:pPr algn="ctr"/>
                      <a:r>
                        <a:rPr lang="en-US" sz="1600" b="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Modulus and 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894667986"/>
                  </a:ext>
                </a:extLst>
              </a:tr>
              <a:tr h="516794">
                <a:tc>
                  <a:txBody>
                    <a:bodyPr/>
                    <a:lstStyle/>
                    <a:p>
                      <a:pPr algn="ctr"/>
                      <a:r>
                        <a:rPr lang="en-US" sz="1600" b="0">
                          <a:latin typeface="Cambria" panose="02040503050406030204" pitchFamily="18" charset="0"/>
                          <a:ea typeface="Cambria" panose="02040503050406030204" pitchFamily="18" charset="0"/>
                        </a:rPr>
                        <a:t>**=</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Exponent and assign</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a:latin typeface="Cambria" panose="02040503050406030204" pitchFamily="18" charset="0"/>
                          <a:ea typeface="Cambria" panose="02040503050406030204" pitchFamily="18" charset="0"/>
                        </a:rPr>
                        <a:t>x **= 2</a:t>
                      </a:r>
                    </a:p>
                  </a:txBody>
                  <a:tcPr marL="66285" marR="66285" marT="33143" marB="33143" anchor="ctr">
                    <a:lnL>
                      <a:noFill/>
                    </a:lnL>
                    <a:lnR>
                      <a:noFill/>
                    </a:lnR>
                    <a:lnT>
                      <a:noFill/>
                    </a:lnT>
                    <a:lnB>
                      <a:noFill/>
                    </a:lnB>
                    <a:solidFill>
                      <a:schemeClr val="accent4">
                        <a:lumMod val="40000"/>
                        <a:lumOff val="60000"/>
                      </a:schemeClr>
                    </a:solidFill>
                  </a:tcPr>
                </a:tc>
                <a:tc>
                  <a:txBody>
                    <a:bodyPr/>
                    <a:lstStyle/>
                    <a:p>
                      <a:pPr algn="ctr"/>
                      <a:r>
                        <a:rPr lang="en-US" sz="1600" b="0" dirty="0">
                          <a:latin typeface="Cambria" panose="02040503050406030204" pitchFamily="18" charset="0"/>
                          <a:ea typeface="Cambria" panose="02040503050406030204" pitchFamily="18" charset="0"/>
                        </a:rPr>
                        <a:t>x = x ** 2</a:t>
                      </a:r>
                    </a:p>
                  </a:txBody>
                  <a:tcPr marL="66285" marR="66285" marT="33143" marB="3314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376683294"/>
                  </a:ext>
                </a:extLst>
              </a:tr>
            </a:tbl>
          </a:graphicData>
        </a:graphic>
      </p:graphicFrame>
    </p:spTree>
    <p:extLst>
      <p:ext uri="{BB962C8B-B14F-4D97-AF65-F5344CB8AC3E}">
        <p14:creationId xmlns:p14="http://schemas.microsoft.com/office/powerpoint/2010/main" val="2977579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2591A-2071-7CEA-5BF3-9E0890F577B4}"/>
              </a:ext>
            </a:extLst>
          </p:cNvPr>
          <p:cNvSpPr>
            <a:spLocks noGrp="1"/>
          </p:cNvSpPr>
          <p:nvPr>
            <p:ph type="title"/>
          </p:nvPr>
        </p:nvSpPr>
        <p:spPr>
          <a:xfrm>
            <a:off x="264678" y="298382"/>
            <a:ext cx="11389109" cy="1771049"/>
          </a:xfrm>
        </p:spPr>
        <p:txBody>
          <a:bodyPr>
            <a:normAutofit fontScale="90000"/>
          </a:bodyPr>
          <a:lstStyle/>
          <a:p>
            <a:r>
              <a:rPr lang="en-IN" sz="2200" b="1" dirty="0">
                <a:solidFill>
                  <a:srgbClr val="FF0000"/>
                </a:solidFill>
                <a:effectLst/>
                <a:latin typeface="Cambria" panose="02040503050406030204" pitchFamily="18" charset="0"/>
                <a:ea typeface="Cambria" panose="02040503050406030204" pitchFamily="18" charset="0"/>
                <a:cs typeface="Times New Roman" panose="02020603050405020304" pitchFamily="18" charset="0"/>
              </a:rPr>
              <a:t>Comparison operators/Relational Operators</a:t>
            </a:r>
            <a:br>
              <a:rPr lang="en-IN" sz="2200" dirty="0">
                <a:solidFill>
                  <a:srgbClr val="333333"/>
                </a:solidFill>
                <a:effectLst/>
                <a:latin typeface="Cambria" panose="02040503050406030204" pitchFamily="18" charset="0"/>
                <a:ea typeface="Cambria" panose="02040503050406030204" pitchFamily="18" charset="0"/>
                <a:cs typeface="Arial" panose="020B0604020202020204" pitchFamily="34" charset="0"/>
              </a:rPr>
            </a:br>
            <a: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t>Comparison operators compare the values of the two operands and return a true or false Boolean value in accordance. The following table lists the comparison operators.</a:t>
            </a: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br>
              <a:rPr lang="en-IN" sz="1800" dirty="0">
                <a:solidFill>
                  <a:srgbClr val="333333"/>
                </a:solidFill>
                <a:effectLst/>
                <a:latin typeface="Segoe UI" panose="020B0502040204020203" pitchFamily="34" charset="0"/>
                <a:ea typeface="Times New Roman" panose="02020603050405020304" pitchFamily="18" charset="0"/>
                <a:cs typeface="Arial" panose="020B0604020202020204" pitchFamily="34" charset="0"/>
              </a:rPr>
            </a:br>
            <a:r>
              <a:rPr lang="en-US" sz="1800" dirty="0">
                <a:latin typeface="Segoe UI" panose="020B0502040204020203" pitchFamily="34" charset="0"/>
                <a:cs typeface="Segoe UI" panose="020B0502040204020203" pitchFamily="34" charset="0"/>
              </a:rPr>
              <a:t>Also known as relational operators, these are used to compare two values and return a Boolean result (True or False) based on the comparison.</a:t>
            </a:r>
          </a:p>
        </p:txBody>
      </p:sp>
      <p:graphicFrame>
        <p:nvGraphicFramePr>
          <p:cNvPr id="9" name="Content Placeholder 5">
            <a:extLst>
              <a:ext uri="{FF2B5EF4-FFF2-40B4-BE49-F238E27FC236}">
                <a16:creationId xmlns:a16="http://schemas.microsoft.com/office/drawing/2014/main" id="{188F5065-4A2E-F571-AC70-E169D31FB593}"/>
              </a:ext>
            </a:extLst>
          </p:cNvPr>
          <p:cNvGraphicFramePr>
            <a:graphicFrameLocks noGrp="1"/>
          </p:cNvGraphicFramePr>
          <p:nvPr>
            <p:ph idx="1"/>
            <p:extLst>
              <p:ext uri="{D42A27DB-BD31-4B8C-83A1-F6EECF244321}">
                <p14:modId xmlns:p14="http://schemas.microsoft.com/office/powerpoint/2010/main" val="1768526966"/>
              </p:ext>
            </p:extLst>
          </p:nvPr>
        </p:nvGraphicFramePr>
        <p:xfrm>
          <a:off x="249455" y="2474310"/>
          <a:ext cx="11404332" cy="3916250"/>
        </p:xfrm>
        <a:graphic>
          <a:graphicData uri="http://schemas.openxmlformats.org/drawingml/2006/table">
            <a:tbl>
              <a:tblPr/>
              <a:tblGrid>
                <a:gridCol w="2691063">
                  <a:extLst>
                    <a:ext uri="{9D8B030D-6E8A-4147-A177-3AD203B41FA5}">
                      <a16:colId xmlns:a16="http://schemas.microsoft.com/office/drawing/2014/main" val="279429128"/>
                    </a:ext>
                  </a:extLst>
                </a:gridCol>
                <a:gridCol w="2904423">
                  <a:extLst>
                    <a:ext uri="{9D8B030D-6E8A-4147-A177-3AD203B41FA5}">
                      <a16:colId xmlns:a16="http://schemas.microsoft.com/office/drawing/2014/main" val="3996178757"/>
                    </a:ext>
                  </a:extLst>
                </a:gridCol>
                <a:gridCol w="2904423">
                  <a:extLst>
                    <a:ext uri="{9D8B030D-6E8A-4147-A177-3AD203B41FA5}">
                      <a16:colId xmlns:a16="http://schemas.microsoft.com/office/drawing/2014/main" val="2199685018"/>
                    </a:ext>
                  </a:extLst>
                </a:gridCol>
                <a:gridCol w="2904423">
                  <a:extLst>
                    <a:ext uri="{9D8B030D-6E8A-4147-A177-3AD203B41FA5}">
                      <a16:colId xmlns:a16="http://schemas.microsoft.com/office/drawing/2014/main" val="233406179"/>
                    </a:ext>
                  </a:extLst>
                </a:gridCol>
              </a:tblGrid>
              <a:tr h="360947">
                <a:tc>
                  <a:txBody>
                    <a:bodyPr/>
                    <a:lstStyle/>
                    <a:p>
                      <a:pPr algn="ctr"/>
                      <a:r>
                        <a:rPr lang="en-US" sz="1800" b="1" dirty="0"/>
                        <a:t>Operator</a:t>
                      </a:r>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Description</a:t>
                      </a:r>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Example</a:t>
                      </a:r>
                    </a:p>
                  </a:txBody>
                  <a:tcPr marL="87866" marR="87866" marT="43933" marB="43933" anchor="ctr">
                    <a:lnL>
                      <a:noFill/>
                    </a:lnL>
                    <a:lnR>
                      <a:noFill/>
                    </a:lnR>
                    <a:lnT>
                      <a:noFill/>
                    </a:lnT>
                    <a:lnB>
                      <a:noFill/>
                    </a:lnB>
                    <a:solidFill>
                      <a:schemeClr val="accent1">
                        <a:lumMod val="60000"/>
                        <a:lumOff val="40000"/>
                      </a:schemeClr>
                    </a:solidFill>
                  </a:tcPr>
                </a:tc>
                <a:tc>
                  <a:txBody>
                    <a:bodyPr/>
                    <a:lstStyle/>
                    <a:p>
                      <a:pPr algn="ctr"/>
                      <a:r>
                        <a:rPr lang="en-US" sz="1800" b="1" dirty="0"/>
                        <a:t>Use (Result)</a:t>
                      </a:r>
                    </a:p>
                  </a:txBody>
                  <a:tcPr marL="87866" marR="87866" marT="43933" marB="43933"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1132901323"/>
                  </a:ext>
                </a:extLst>
              </a:tr>
              <a:tr h="453059">
                <a:tc>
                  <a:txBody>
                    <a:bodyPr/>
                    <a:lstStyle/>
                    <a:p>
                      <a:pPr algn="ctr"/>
                      <a:r>
                        <a:rPr lang="en-US" sz="1600" dirty="0">
                          <a:latin typeface="Cambria" panose="02040503050406030204" pitchFamily="18" charset="0"/>
                          <a:ea typeface="Cambria" panose="02040503050406030204" pitchFamily="18" charset="0"/>
                        </a:rPr>
                        <a:t>==</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Equal to</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 5</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equal (True)</a:t>
                      </a:r>
                    </a:p>
                  </a:txBody>
                  <a:tcPr marL="87866" marR="87866" marT="43933" marB="4393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434817761"/>
                  </a:ext>
                </a:extLst>
              </a:tr>
              <a:tr h="585230">
                <a:tc>
                  <a:txBody>
                    <a:bodyPr/>
                    <a:lstStyle/>
                    <a:p>
                      <a:pPr algn="ctr"/>
                      <a:r>
                        <a:rPr lang="en-US" sz="1600" dirty="0">
                          <a:latin typeface="Cambria" panose="02040503050406030204" pitchFamily="18" charset="0"/>
                          <a:ea typeface="Cambria" panose="02040503050406030204" pitchFamily="18" charset="0"/>
                        </a:rPr>
                        <a:t>!=</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Not equal</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 3</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True if not equal (True)</a:t>
                      </a:r>
                    </a:p>
                  </a:txBody>
                  <a:tcPr marL="87866" marR="87866" marT="43933" marB="4393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4015812781"/>
                  </a:ext>
                </a:extLst>
              </a:tr>
              <a:tr h="620150">
                <a:tc>
                  <a:txBody>
                    <a:bodyPr/>
                    <a:lstStyle/>
                    <a:p>
                      <a:pPr algn="ctr"/>
                      <a:r>
                        <a:rPr lang="en-US" sz="1600" dirty="0">
                          <a:latin typeface="Cambria" panose="02040503050406030204" pitchFamily="18" charset="0"/>
                          <a:ea typeface="Cambria" panose="02040503050406030204" pitchFamily="18" charset="0"/>
                        </a:rPr>
                        <a:t>&gt;</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Greater than</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&gt; 3</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&gt; right (True)</a:t>
                      </a:r>
                    </a:p>
                  </a:txBody>
                  <a:tcPr marL="87866" marR="87866" marT="43933" marB="4393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798762694"/>
                  </a:ext>
                </a:extLst>
              </a:tr>
              <a:tr h="438629">
                <a:tc>
                  <a:txBody>
                    <a:bodyPr/>
                    <a:lstStyle/>
                    <a:p>
                      <a:pPr algn="ctr"/>
                      <a:r>
                        <a:rPr lang="en-US" sz="1600" dirty="0">
                          <a:latin typeface="Cambria" panose="02040503050406030204" pitchFamily="18" charset="0"/>
                          <a:ea typeface="Cambria" panose="02040503050406030204" pitchFamily="18" charset="0"/>
                        </a:rPr>
                        <a:t>&lt;</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Less than</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3 &lt; 5</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&lt; right (True)</a:t>
                      </a:r>
                    </a:p>
                  </a:txBody>
                  <a:tcPr marL="87866" marR="87866" marT="43933" marB="4393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625364295"/>
                  </a:ext>
                </a:extLst>
              </a:tr>
              <a:tr h="664143">
                <a:tc>
                  <a:txBody>
                    <a:bodyPr/>
                    <a:lstStyle/>
                    <a:p>
                      <a:pPr algn="ctr"/>
                      <a:r>
                        <a:rPr lang="en-US" sz="1600" dirty="0">
                          <a:latin typeface="Cambria" panose="02040503050406030204" pitchFamily="18" charset="0"/>
                          <a:ea typeface="Cambria" panose="02040503050406030204" pitchFamily="18" charset="0"/>
                        </a:rPr>
                        <a:t>&gt;=</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Greater than or equal</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5 &gt;= 5</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 right (True)</a:t>
                      </a:r>
                    </a:p>
                  </a:txBody>
                  <a:tcPr marL="87866" marR="87866" marT="43933" marB="4393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009219002"/>
                  </a:ext>
                </a:extLst>
              </a:tr>
              <a:tr h="792853">
                <a:tc>
                  <a:txBody>
                    <a:bodyPr/>
                    <a:lstStyle/>
                    <a:p>
                      <a:pPr algn="ctr"/>
                      <a:r>
                        <a:rPr lang="en-US" sz="1600" dirty="0">
                          <a:latin typeface="Cambria" panose="02040503050406030204" pitchFamily="18" charset="0"/>
                          <a:ea typeface="Cambria" panose="02040503050406030204" pitchFamily="18" charset="0"/>
                        </a:rPr>
                        <a:t>&lt;=</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Less than or equal</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a:latin typeface="Cambria" panose="02040503050406030204" pitchFamily="18" charset="0"/>
                          <a:ea typeface="Cambria" panose="02040503050406030204" pitchFamily="18" charset="0"/>
                        </a:rPr>
                        <a:t>3 &lt;= 5</a:t>
                      </a:r>
                    </a:p>
                  </a:txBody>
                  <a:tcPr marL="87866" marR="87866" marT="43933" marB="43933" anchor="ctr">
                    <a:lnL>
                      <a:noFill/>
                    </a:lnL>
                    <a:lnR>
                      <a:noFill/>
                    </a:lnR>
                    <a:lnT>
                      <a:noFill/>
                    </a:lnT>
                    <a:lnB>
                      <a:noFill/>
                    </a:lnB>
                    <a:solidFill>
                      <a:schemeClr val="accent4">
                        <a:lumMod val="40000"/>
                        <a:lumOff val="60000"/>
                      </a:schemeClr>
                    </a:solidFill>
                  </a:tcPr>
                </a:tc>
                <a:tc>
                  <a:txBody>
                    <a:bodyPr/>
                    <a:lstStyle/>
                    <a:p>
                      <a:pPr algn="ctr"/>
                      <a:r>
                        <a:rPr lang="en-US" sz="1600" dirty="0">
                          <a:latin typeface="Cambria" panose="02040503050406030204" pitchFamily="18" charset="0"/>
                          <a:ea typeface="Cambria" panose="02040503050406030204" pitchFamily="18" charset="0"/>
                        </a:rPr>
                        <a:t>True if left ≤ right (True)</a:t>
                      </a:r>
                    </a:p>
                  </a:txBody>
                  <a:tcPr marL="87866" marR="87866" marT="43933" marB="43933"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180074428"/>
                  </a:ext>
                </a:extLst>
              </a:tr>
            </a:tbl>
          </a:graphicData>
        </a:graphic>
      </p:graphicFrame>
    </p:spTree>
    <p:extLst>
      <p:ext uri="{BB962C8B-B14F-4D97-AF65-F5344CB8AC3E}">
        <p14:creationId xmlns:p14="http://schemas.microsoft.com/office/powerpoint/2010/main" val="372290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B0A7A-7D50-96E9-2409-50B365092065}"/>
              </a:ext>
            </a:extLst>
          </p:cNvPr>
          <p:cNvSpPr>
            <a:spLocks noGrp="1"/>
          </p:cNvSpPr>
          <p:nvPr>
            <p:ph type="title"/>
          </p:nvPr>
        </p:nvSpPr>
        <p:spPr>
          <a:xfrm>
            <a:off x="346509" y="211755"/>
            <a:ext cx="11158103" cy="2002056"/>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Logical Operators</a:t>
            </a:r>
            <a:br>
              <a:rPr lang="en-US" sz="2400" b="1" dirty="0">
                <a:solidFill>
                  <a:srgbClr val="FF0000"/>
                </a:solidFill>
                <a:latin typeface="Cambria" panose="02040503050406030204" pitchFamily="18" charset="0"/>
                <a:ea typeface="Cambria" panose="02040503050406030204" pitchFamily="18" charset="0"/>
              </a:rPr>
            </a:br>
            <a:br>
              <a:rPr lang="en-US" sz="2400" b="1" dirty="0">
                <a:solidFill>
                  <a:srgbClr val="FF0000"/>
                </a:solidFill>
                <a:latin typeface="Cambria" panose="02040503050406030204" pitchFamily="18" charset="0"/>
                <a:ea typeface="Cambria" panose="02040503050406030204" pitchFamily="18" charset="0"/>
              </a:rPr>
            </a:br>
            <a:br>
              <a:rPr lang="en-US" sz="2400" b="1" dirty="0">
                <a:solidFill>
                  <a:srgbClr val="FF0000"/>
                </a:solidFill>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These are used to combine multiple conditional statements and return a Boolean value depending on the logic (e.g., AND, OR, NOT).</a:t>
            </a:r>
            <a:endParaRPr lang="en-US"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a:extLst>
              <a:ext uri="{FF2B5EF4-FFF2-40B4-BE49-F238E27FC236}">
                <a16:creationId xmlns:a16="http://schemas.microsoft.com/office/drawing/2014/main" id="{7F8A0137-B7A7-97CA-FB8B-6209D3541136}"/>
              </a:ext>
            </a:extLst>
          </p:cNvPr>
          <p:cNvGraphicFramePr>
            <a:graphicFrameLocks noGrp="1"/>
          </p:cNvGraphicFramePr>
          <p:nvPr>
            <p:ph idx="1"/>
            <p:extLst>
              <p:ext uri="{D42A27DB-BD31-4B8C-83A1-F6EECF244321}">
                <p14:modId xmlns:p14="http://schemas.microsoft.com/office/powerpoint/2010/main" val="2049455770"/>
              </p:ext>
            </p:extLst>
          </p:nvPr>
        </p:nvGraphicFramePr>
        <p:xfrm>
          <a:off x="332070" y="2800953"/>
          <a:ext cx="11527859" cy="2954957"/>
        </p:xfrm>
        <a:graphic>
          <a:graphicData uri="http://schemas.openxmlformats.org/drawingml/2006/table">
            <a:tbl>
              <a:tblPr/>
              <a:tblGrid>
                <a:gridCol w="2837777">
                  <a:extLst>
                    <a:ext uri="{9D8B030D-6E8A-4147-A177-3AD203B41FA5}">
                      <a16:colId xmlns:a16="http://schemas.microsoft.com/office/drawing/2014/main" val="3399762944"/>
                    </a:ext>
                  </a:extLst>
                </a:gridCol>
                <a:gridCol w="2896694">
                  <a:extLst>
                    <a:ext uri="{9D8B030D-6E8A-4147-A177-3AD203B41FA5}">
                      <a16:colId xmlns:a16="http://schemas.microsoft.com/office/drawing/2014/main" val="3364914247"/>
                    </a:ext>
                  </a:extLst>
                </a:gridCol>
                <a:gridCol w="2896694">
                  <a:extLst>
                    <a:ext uri="{9D8B030D-6E8A-4147-A177-3AD203B41FA5}">
                      <a16:colId xmlns:a16="http://schemas.microsoft.com/office/drawing/2014/main" val="2788272992"/>
                    </a:ext>
                  </a:extLst>
                </a:gridCol>
                <a:gridCol w="2896694">
                  <a:extLst>
                    <a:ext uri="{9D8B030D-6E8A-4147-A177-3AD203B41FA5}">
                      <a16:colId xmlns:a16="http://schemas.microsoft.com/office/drawing/2014/main" val="3526463364"/>
                    </a:ext>
                  </a:extLst>
                </a:gridCol>
              </a:tblGrid>
              <a:tr h="472793">
                <a:tc>
                  <a:txBody>
                    <a:bodyPr/>
                    <a:lstStyle/>
                    <a:p>
                      <a:pPr algn="ctr"/>
                      <a:r>
                        <a:rPr lang="en-US" b="1" dirty="0"/>
                        <a:t>Operator</a:t>
                      </a:r>
                    </a:p>
                  </a:txBody>
                  <a:tcPr anchor="ctr">
                    <a:lnL>
                      <a:noFill/>
                    </a:lnL>
                    <a:lnR>
                      <a:noFill/>
                    </a:lnR>
                    <a:lnT>
                      <a:noFill/>
                    </a:lnT>
                    <a:lnB>
                      <a:noFill/>
                    </a:lnB>
                    <a:solidFill>
                      <a:schemeClr val="accent2">
                        <a:lumMod val="20000"/>
                        <a:lumOff val="80000"/>
                      </a:schemeClr>
                    </a:solidFill>
                  </a:tcPr>
                </a:tc>
                <a:tc>
                  <a:txBody>
                    <a:bodyPr/>
                    <a:lstStyle/>
                    <a:p>
                      <a:pPr algn="ctr"/>
                      <a:r>
                        <a:rPr lang="en-US" b="1" dirty="0"/>
                        <a:t>Description</a:t>
                      </a:r>
                    </a:p>
                  </a:txBody>
                  <a:tcPr anchor="ctr">
                    <a:lnL>
                      <a:noFill/>
                    </a:lnL>
                    <a:lnR>
                      <a:noFill/>
                    </a:lnR>
                    <a:lnT>
                      <a:noFill/>
                    </a:lnT>
                    <a:lnB>
                      <a:noFill/>
                    </a:lnB>
                    <a:solidFill>
                      <a:schemeClr val="accent2">
                        <a:lumMod val="20000"/>
                        <a:lumOff val="80000"/>
                      </a:schemeClr>
                    </a:solidFill>
                  </a:tcPr>
                </a:tc>
                <a:tc>
                  <a:txBody>
                    <a:bodyPr/>
                    <a:lstStyle/>
                    <a:p>
                      <a:pPr algn="ctr"/>
                      <a:r>
                        <a:rPr lang="en-US" b="1" dirty="0"/>
                        <a:t>Example</a:t>
                      </a:r>
                    </a:p>
                  </a:txBody>
                  <a:tcPr anchor="ctr">
                    <a:lnL>
                      <a:noFill/>
                    </a:lnL>
                    <a:lnR>
                      <a:noFill/>
                    </a:lnR>
                    <a:lnT>
                      <a:noFill/>
                    </a:lnT>
                    <a:lnB>
                      <a:noFill/>
                    </a:lnB>
                    <a:solidFill>
                      <a:schemeClr val="accent2">
                        <a:lumMod val="20000"/>
                        <a:lumOff val="80000"/>
                      </a:schemeClr>
                    </a:solidFill>
                  </a:tcPr>
                </a:tc>
                <a:tc>
                  <a:txBody>
                    <a:bodyPr/>
                    <a:lstStyle/>
                    <a:p>
                      <a:pPr algn="ctr"/>
                      <a:r>
                        <a:rPr lang="en-US" b="1" dirty="0"/>
                        <a:t>Use (Result)</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147714263"/>
                  </a:ext>
                </a:extLst>
              </a:tr>
              <a:tr h="827388">
                <a:tc>
                  <a:txBody>
                    <a:bodyPr/>
                    <a:lstStyle/>
                    <a:p>
                      <a:pPr algn="ctr"/>
                      <a:r>
                        <a:rPr lang="en-US" sz="1600" dirty="0">
                          <a:latin typeface="Cambria" panose="02040503050406030204" pitchFamily="18" charset="0"/>
                          <a:ea typeface="Cambria" panose="02040503050406030204" pitchFamily="18" charset="0"/>
                        </a:rPr>
                        <a:t>And</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AND</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and False</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if both are true (False)</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186822500"/>
                  </a:ext>
                </a:extLst>
              </a:tr>
              <a:tr h="827388">
                <a:tc>
                  <a:txBody>
                    <a:bodyPr/>
                    <a:lstStyle/>
                    <a:p>
                      <a:pPr algn="ctr"/>
                      <a:r>
                        <a:rPr lang="en-US" sz="1600" dirty="0">
                          <a:latin typeface="Cambria" panose="02040503050406030204" pitchFamily="18" charset="0"/>
                          <a:ea typeface="Cambria" panose="02040503050406030204" pitchFamily="18" charset="0"/>
                        </a:rPr>
                        <a:t>or</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OR</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or False</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True if one is true (True)</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3418045907"/>
                  </a:ext>
                </a:extLst>
              </a:tr>
              <a:tr h="827388">
                <a:tc>
                  <a:txBody>
                    <a:bodyPr/>
                    <a:lstStyle/>
                    <a:p>
                      <a:pPr algn="ctr"/>
                      <a:r>
                        <a:rPr lang="en-US" sz="1600" dirty="0">
                          <a:latin typeface="Cambria" panose="02040503050406030204" pitchFamily="18" charset="0"/>
                          <a:ea typeface="Cambria" panose="02040503050406030204" pitchFamily="18" charset="0"/>
                        </a:rPr>
                        <a:t>not</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Logical NOT</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not True</a:t>
                      </a:r>
                    </a:p>
                  </a:txBody>
                  <a:tcPr anchor="ctr">
                    <a:lnL>
                      <a:noFill/>
                    </a:lnL>
                    <a:lnR>
                      <a:noFill/>
                    </a:lnR>
                    <a:lnT>
                      <a:noFill/>
                    </a:lnT>
                    <a:lnB>
                      <a:noFill/>
                    </a:lnB>
                    <a:solidFill>
                      <a:schemeClr val="accent2">
                        <a:lumMod val="20000"/>
                        <a:lumOff val="80000"/>
                      </a:schemeClr>
                    </a:solidFill>
                  </a:tcPr>
                </a:tc>
                <a:tc>
                  <a:txBody>
                    <a:bodyPr/>
                    <a:lstStyle/>
                    <a:p>
                      <a:pPr algn="ctr"/>
                      <a:r>
                        <a:rPr lang="en-US" sz="1600" dirty="0">
                          <a:latin typeface="Cambria" panose="02040503050406030204" pitchFamily="18" charset="0"/>
                          <a:ea typeface="Cambria" panose="02040503050406030204" pitchFamily="18" charset="0"/>
                        </a:rPr>
                        <a:t>Reverses condition (False)</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3524748237"/>
                  </a:ext>
                </a:extLst>
              </a:tr>
            </a:tbl>
          </a:graphicData>
        </a:graphic>
      </p:graphicFrame>
    </p:spTree>
    <p:extLst>
      <p:ext uri="{BB962C8B-B14F-4D97-AF65-F5344CB8AC3E}">
        <p14:creationId xmlns:p14="http://schemas.microsoft.com/office/powerpoint/2010/main" val="32665063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3FF48-8928-E255-D219-4136C653D0DC}"/>
              </a:ext>
            </a:extLst>
          </p:cNvPr>
          <p:cNvSpPr>
            <a:spLocks noGrp="1"/>
          </p:cNvSpPr>
          <p:nvPr>
            <p:ph type="title"/>
          </p:nvPr>
        </p:nvSpPr>
        <p:spPr>
          <a:xfrm>
            <a:off x="317634" y="105878"/>
            <a:ext cx="11186979" cy="798897"/>
          </a:xfrm>
        </p:spPr>
        <p:txBody>
          <a:bodyPr>
            <a:normAutofit/>
          </a:bodyPr>
          <a:lstStyle/>
          <a:p>
            <a:r>
              <a:rPr lang="en-US" sz="2400" b="1" dirty="0">
                <a:solidFill>
                  <a:srgbClr val="FF0000"/>
                </a:solidFill>
              </a:rPr>
              <a:t>Python </a:t>
            </a:r>
            <a:r>
              <a:rPr lang="en-US" sz="2400" b="1" dirty="0" err="1">
                <a:solidFill>
                  <a:srgbClr val="FF0000"/>
                </a:solidFill>
              </a:rPr>
              <a:t>MemberShip</a:t>
            </a:r>
            <a:r>
              <a:rPr lang="en-US" sz="2400" b="1" dirty="0">
                <a:solidFill>
                  <a:srgbClr val="FF0000"/>
                </a:solidFill>
              </a:rPr>
              <a:t> Operators</a:t>
            </a:r>
            <a:br>
              <a:rPr lang="en-US" sz="2400" b="1" dirty="0">
                <a:solidFill>
                  <a:srgbClr val="FF0000"/>
                </a:solidFill>
              </a:rPr>
            </a:br>
            <a:r>
              <a:rPr lang="en-US" sz="1800" dirty="0">
                <a:latin typeface="Cambria" panose="02040503050406030204" pitchFamily="18" charset="0"/>
                <a:ea typeface="Cambria" panose="02040503050406030204" pitchFamily="18" charset="0"/>
              </a:rPr>
              <a:t>These test whether a value or variable is found within a sequence such as a list, tuple, or string.</a:t>
            </a:r>
            <a:endParaRPr lang="en-US" b="1" dirty="0">
              <a:solidFill>
                <a:srgbClr val="FF0000"/>
              </a:solidFill>
              <a:latin typeface="Cambria" panose="02040503050406030204" pitchFamily="18" charset="0"/>
              <a:ea typeface="Cambria" panose="02040503050406030204" pitchFamily="18" charset="0"/>
            </a:endParaRPr>
          </a:p>
        </p:txBody>
      </p:sp>
      <p:graphicFrame>
        <p:nvGraphicFramePr>
          <p:cNvPr id="4" name="Content Placeholder 3">
            <a:extLst>
              <a:ext uri="{FF2B5EF4-FFF2-40B4-BE49-F238E27FC236}">
                <a16:creationId xmlns:a16="http://schemas.microsoft.com/office/drawing/2014/main" id="{7100142D-328F-3416-3CAC-C1E46E6F0E2D}"/>
              </a:ext>
            </a:extLst>
          </p:cNvPr>
          <p:cNvGraphicFramePr>
            <a:graphicFrameLocks noGrp="1"/>
          </p:cNvGraphicFramePr>
          <p:nvPr>
            <p:ph idx="1"/>
            <p:extLst>
              <p:ext uri="{D42A27DB-BD31-4B8C-83A1-F6EECF244321}">
                <p14:modId xmlns:p14="http://schemas.microsoft.com/office/powerpoint/2010/main" val="2995130052"/>
              </p:ext>
            </p:extLst>
          </p:nvPr>
        </p:nvGraphicFramePr>
        <p:xfrm>
          <a:off x="269512" y="1337913"/>
          <a:ext cx="11235100" cy="1097280"/>
        </p:xfrm>
        <a:graphic>
          <a:graphicData uri="http://schemas.openxmlformats.org/drawingml/2006/table">
            <a:tbl>
              <a:tblPr/>
              <a:tblGrid>
                <a:gridCol w="2699671">
                  <a:extLst>
                    <a:ext uri="{9D8B030D-6E8A-4147-A177-3AD203B41FA5}">
                      <a16:colId xmlns:a16="http://schemas.microsoft.com/office/drawing/2014/main" val="1731708807"/>
                    </a:ext>
                  </a:extLst>
                </a:gridCol>
                <a:gridCol w="2845143">
                  <a:extLst>
                    <a:ext uri="{9D8B030D-6E8A-4147-A177-3AD203B41FA5}">
                      <a16:colId xmlns:a16="http://schemas.microsoft.com/office/drawing/2014/main" val="2883681831"/>
                    </a:ext>
                  </a:extLst>
                </a:gridCol>
                <a:gridCol w="2845143">
                  <a:extLst>
                    <a:ext uri="{9D8B030D-6E8A-4147-A177-3AD203B41FA5}">
                      <a16:colId xmlns:a16="http://schemas.microsoft.com/office/drawing/2014/main" val="4153911813"/>
                    </a:ext>
                  </a:extLst>
                </a:gridCol>
                <a:gridCol w="2845143">
                  <a:extLst>
                    <a:ext uri="{9D8B030D-6E8A-4147-A177-3AD203B41FA5}">
                      <a16:colId xmlns:a16="http://schemas.microsoft.com/office/drawing/2014/main" val="931775118"/>
                    </a:ext>
                  </a:extLst>
                </a:gridCol>
              </a:tblGrid>
              <a:tr h="0">
                <a:tc>
                  <a:txBody>
                    <a:bodyPr/>
                    <a:lstStyle/>
                    <a:p>
                      <a:pPr algn="ctr"/>
                      <a:r>
                        <a:rPr lang="en-US" b="1" dirty="0">
                          <a:latin typeface="Cambria" panose="02040503050406030204" pitchFamily="18" charset="0"/>
                          <a:ea typeface="Cambria" panose="02040503050406030204" pitchFamily="18" charset="0"/>
                        </a:rPr>
                        <a:t>Operator</a:t>
                      </a:r>
                    </a:p>
                  </a:txBody>
                  <a:tcPr anchor="ctr">
                    <a:lnL>
                      <a:noFill/>
                    </a:lnL>
                    <a:lnR>
                      <a:noFill/>
                    </a:lnR>
                    <a:lnT>
                      <a:noFill/>
                    </a:lnT>
                    <a:lnB>
                      <a:noFill/>
                    </a:lnB>
                    <a:solidFill>
                      <a:schemeClr val="accent1">
                        <a:lumMod val="60000"/>
                        <a:lumOff val="40000"/>
                      </a:schemeClr>
                    </a:solidFill>
                  </a:tcPr>
                </a:tc>
                <a:tc>
                  <a:txBody>
                    <a:bodyPr/>
                    <a:lstStyle/>
                    <a:p>
                      <a:pPr algn="ctr"/>
                      <a:r>
                        <a:rPr lang="en-US" b="1" dirty="0">
                          <a:latin typeface="Cambria" panose="02040503050406030204" pitchFamily="18" charset="0"/>
                          <a:ea typeface="Cambria" panose="02040503050406030204" pitchFamily="18" charset="0"/>
                        </a:rPr>
                        <a:t>Description</a:t>
                      </a:r>
                    </a:p>
                  </a:txBody>
                  <a:tcPr anchor="ctr">
                    <a:lnL>
                      <a:noFill/>
                    </a:lnL>
                    <a:lnR>
                      <a:noFill/>
                    </a:lnR>
                    <a:lnT>
                      <a:noFill/>
                    </a:lnT>
                    <a:lnB>
                      <a:noFill/>
                    </a:lnB>
                    <a:solidFill>
                      <a:schemeClr val="accent1">
                        <a:lumMod val="60000"/>
                        <a:lumOff val="40000"/>
                      </a:schemeClr>
                    </a:solidFill>
                  </a:tcPr>
                </a:tc>
                <a:tc>
                  <a:txBody>
                    <a:bodyPr/>
                    <a:lstStyle/>
                    <a:p>
                      <a:pPr algn="ctr"/>
                      <a:r>
                        <a:rPr lang="en-US" b="1">
                          <a:latin typeface="Cambria" panose="02040503050406030204" pitchFamily="18" charset="0"/>
                          <a:ea typeface="Cambria" panose="02040503050406030204" pitchFamily="18" charset="0"/>
                        </a:rPr>
                        <a:t>Example</a:t>
                      </a:r>
                    </a:p>
                  </a:txBody>
                  <a:tcPr anchor="ctr">
                    <a:lnL>
                      <a:noFill/>
                    </a:lnL>
                    <a:lnR>
                      <a:noFill/>
                    </a:lnR>
                    <a:lnT>
                      <a:noFill/>
                    </a:lnT>
                    <a:lnB>
                      <a:noFill/>
                    </a:lnB>
                    <a:solidFill>
                      <a:schemeClr val="accent1">
                        <a:lumMod val="60000"/>
                        <a:lumOff val="40000"/>
                      </a:schemeClr>
                    </a:solidFill>
                  </a:tcPr>
                </a:tc>
                <a:tc>
                  <a:txBody>
                    <a:bodyPr/>
                    <a:lstStyle/>
                    <a:p>
                      <a:pPr algn="ctr"/>
                      <a:r>
                        <a:rPr lang="en-US" b="1" dirty="0">
                          <a:latin typeface="Cambria" panose="02040503050406030204" pitchFamily="18" charset="0"/>
                          <a:ea typeface="Cambria" panose="02040503050406030204" pitchFamily="18" charset="0"/>
                        </a:rPr>
                        <a:t>Use (Result)</a:t>
                      </a: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4087722252"/>
                  </a:ext>
                </a:extLst>
              </a:tr>
              <a:tr h="0">
                <a:tc>
                  <a:txBody>
                    <a:bodyPr/>
                    <a:lstStyle/>
                    <a:p>
                      <a:pPr algn="ctr"/>
                      <a:r>
                        <a:rPr lang="en-US" dirty="0">
                          <a:latin typeface="Cambria" panose="02040503050406030204" pitchFamily="18" charset="0"/>
                          <a:ea typeface="Cambria" panose="02040503050406030204" pitchFamily="18" charset="0"/>
                        </a:rPr>
                        <a:t>in</a:t>
                      </a: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Present in sequence</a:t>
                      </a: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'a' in 'apple'</a:t>
                      </a: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True if found (True)</a:t>
                      </a:r>
                    </a:p>
                  </a:txBody>
                  <a:tcPr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1872830707"/>
                  </a:ext>
                </a:extLst>
              </a:tr>
              <a:tr h="0">
                <a:tc>
                  <a:txBody>
                    <a:bodyPr/>
                    <a:lstStyle/>
                    <a:p>
                      <a:pPr algn="ctr"/>
                      <a:r>
                        <a:rPr lang="en-US" dirty="0">
                          <a:latin typeface="Cambria" panose="02040503050406030204" pitchFamily="18" charset="0"/>
                          <a:ea typeface="Cambria" panose="02040503050406030204" pitchFamily="18" charset="0"/>
                        </a:rPr>
                        <a:t>not in</a:t>
                      </a: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Not in sequence</a:t>
                      </a: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'x' not in 'apple'</a:t>
                      </a:r>
                    </a:p>
                  </a:txBody>
                  <a:tcPr anchor="ctr">
                    <a:lnL>
                      <a:noFill/>
                    </a:lnL>
                    <a:lnR>
                      <a:noFill/>
                    </a:lnR>
                    <a:lnT>
                      <a:noFill/>
                    </a:lnT>
                    <a:lnB>
                      <a:noFill/>
                    </a:lnB>
                    <a:solidFill>
                      <a:schemeClr val="accent3">
                        <a:lumMod val="40000"/>
                        <a:lumOff val="60000"/>
                      </a:schemeClr>
                    </a:solidFill>
                  </a:tcPr>
                </a:tc>
                <a:tc>
                  <a:txBody>
                    <a:bodyPr/>
                    <a:lstStyle/>
                    <a:p>
                      <a:pPr algn="ctr"/>
                      <a:r>
                        <a:rPr lang="en-US" dirty="0">
                          <a:latin typeface="Cambria" panose="02040503050406030204" pitchFamily="18" charset="0"/>
                          <a:ea typeface="Cambria" panose="02040503050406030204" pitchFamily="18" charset="0"/>
                        </a:rPr>
                        <a:t>True if not found (True)</a:t>
                      </a:r>
                    </a:p>
                  </a:txBody>
                  <a:tcPr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3326136047"/>
                  </a:ext>
                </a:extLst>
              </a:tr>
            </a:tbl>
          </a:graphicData>
        </a:graphic>
      </p:graphicFrame>
      <p:graphicFrame>
        <p:nvGraphicFramePr>
          <p:cNvPr id="5" name="Table 4">
            <a:extLst>
              <a:ext uri="{FF2B5EF4-FFF2-40B4-BE49-F238E27FC236}">
                <a16:creationId xmlns:a16="http://schemas.microsoft.com/office/drawing/2014/main" id="{8DF42360-E2F5-3E5F-8616-FCA29EF12B5A}"/>
              </a:ext>
            </a:extLst>
          </p:cNvPr>
          <p:cNvGraphicFramePr>
            <a:graphicFrameLocks noGrp="1"/>
          </p:cNvGraphicFramePr>
          <p:nvPr>
            <p:extLst>
              <p:ext uri="{D42A27DB-BD31-4B8C-83A1-F6EECF244321}">
                <p14:modId xmlns:p14="http://schemas.microsoft.com/office/powerpoint/2010/main" val="70318411"/>
              </p:ext>
            </p:extLst>
          </p:nvPr>
        </p:nvGraphicFramePr>
        <p:xfrm>
          <a:off x="269512" y="3619098"/>
          <a:ext cx="11331356" cy="1900988"/>
        </p:xfrm>
        <a:graphic>
          <a:graphicData uri="http://schemas.openxmlformats.org/drawingml/2006/table">
            <a:tbl>
              <a:tblPr/>
              <a:tblGrid>
                <a:gridCol w="2832839">
                  <a:extLst>
                    <a:ext uri="{9D8B030D-6E8A-4147-A177-3AD203B41FA5}">
                      <a16:colId xmlns:a16="http://schemas.microsoft.com/office/drawing/2014/main" val="3010210825"/>
                    </a:ext>
                  </a:extLst>
                </a:gridCol>
                <a:gridCol w="2832839">
                  <a:extLst>
                    <a:ext uri="{9D8B030D-6E8A-4147-A177-3AD203B41FA5}">
                      <a16:colId xmlns:a16="http://schemas.microsoft.com/office/drawing/2014/main" val="2608074009"/>
                    </a:ext>
                  </a:extLst>
                </a:gridCol>
                <a:gridCol w="2832839">
                  <a:extLst>
                    <a:ext uri="{9D8B030D-6E8A-4147-A177-3AD203B41FA5}">
                      <a16:colId xmlns:a16="http://schemas.microsoft.com/office/drawing/2014/main" val="374871495"/>
                    </a:ext>
                  </a:extLst>
                </a:gridCol>
                <a:gridCol w="2832839">
                  <a:extLst>
                    <a:ext uri="{9D8B030D-6E8A-4147-A177-3AD203B41FA5}">
                      <a16:colId xmlns:a16="http://schemas.microsoft.com/office/drawing/2014/main" val="3192490193"/>
                    </a:ext>
                  </a:extLst>
                </a:gridCol>
              </a:tblGrid>
              <a:tr h="449324">
                <a:tc>
                  <a:txBody>
                    <a:bodyPr/>
                    <a:lstStyle/>
                    <a:p>
                      <a:pPr algn="ctr"/>
                      <a:r>
                        <a:rPr lang="en-US" sz="2000" b="1" dirty="0">
                          <a:latin typeface="Cambria" panose="02040503050406030204" pitchFamily="18" charset="0"/>
                          <a:ea typeface="Cambria" panose="02040503050406030204" pitchFamily="18" charset="0"/>
                        </a:rPr>
                        <a:t>Operator</a:t>
                      </a:r>
                    </a:p>
                  </a:txBody>
                  <a:tcPr anchor="ctr">
                    <a:lnL>
                      <a:noFill/>
                    </a:lnL>
                    <a:lnR>
                      <a:noFill/>
                    </a:lnR>
                    <a:lnT>
                      <a:noFill/>
                    </a:lnT>
                    <a:lnB>
                      <a:noFill/>
                    </a:lnB>
                    <a:solidFill>
                      <a:schemeClr val="accent1">
                        <a:lumMod val="40000"/>
                        <a:lumOff val="60000"/>
                      </a:schemeClr>
                    </a:solidFill>
                  </a:tcPr>
                </a:tc>
                <a:tc>
                  <a:txBody>
                    <a:bodyPr/>
                    <a:lstStyle/>
                    <a:p>
                      <a:pPr algn="ctr"/>
                      <a:r>
                        <a:rPr lang="en-US" sz="2000" b="1" dirty="0">
                          <a:latin typeface="Cambria" panose="02040503050406030204" pitchFamily="18" charset="0"/>
                          <a:ea typeface="Cambria" panose="02040503050406030204" pitchFamily="18" charset="0"/>
                        </a:rPr>
                        <a:t>Description</a:t>
                      </a:r>
                    </a:p>
                  </a:txBody>
                  <a:tcPr anchor="ctr">
                    <a:lnL>
                      <a:noFill/>
                    </a:lnL>
                    <a:lnR>
                      <a:noFill/>
                    </a:lnR>
                    <a:lnT>
                      <a:noFill/>
                    </a:lnT>
                    <a:lnB>
                      <a:noFill/>
                    </a:lnB>
                    <a:solidFill>
                      <a:schemeClr val="accent1">
                        <a:lumMod val="40000"/>
                        <a:lumOff val="60000"/>
                      </a:schemeClr>
                    </a:solidFill>
                  </a:tcPr>
                </a:tc>
                <a:tc>
                  <a:txBody>
                    <a:bodyPr/>
                    <a:lstStyle/>
                    <a:p>
                      <a:pPr algn="ctr"/>
                      <a:r>
                        <a:rPr lang="en-US" sz="2000" b="1" dirty="0">
                          <a:latin typeface="Cambria" panose="02040503050406030204" pitchFamily="18" charset="0"/>
                          <a:ea typeface="Cambria" panose="02040503050406030204" pitchFamily="18" charset="0"/>
                        </a:rPr>
                        <a:t>Example</a:t>
                      </a:r>
                    </a:p>
                  </a:txBody>
                  <a:tcPr anchor="ctr">
                    <a:lnL>
                      <a:noFill/>
                    </a:lnL>
                    <a:lnR>
                      <a:noFill/>
                    </a:lnR>
                    <a:lnT>
                      <a:noFill/>
                    </a:lnT>
                    <a:lnB>
                      <a:noFill/>
                    </a:lnB>
                    <a:solidFill>
                      <a:schemeClr val="accent1">
                        <a:lumMod val="40000"/>
                        <a:lumOff val="60000"/>
                      </a:schemeClr>
                    </a:solidFill>
                  </a:tcPr>
                </a:tc>
                <a:tc>
                  <a:txBody>
                    <a:bodyPr/>
                    <a:lstStyle/>
                    <a:p>
                      <a:pPr algn="ctr"/>
                      <a:r>
                        <a:rPr lang="en-US" sz="2000" b="1" dirty="0">
                          <a:latin typeface="Cambria" panose="02040503050406030204" pitchFamily="18" charset="0"/>
                          <a:ea typeface="Cambria" panose="02040503050406030204" pitchFamily="18" charset="0"/>
                        </a:rPr>
                        <a:t>Use (Result)</a:t>
                      </a:r>
                    </a:p>
                  </a:txBody>
                  <a:tcPr anchor="ctr">
                    <a:lnL>
                      <a:noFill/>
                    </a:lnL>
                    <a:lnR>
                      <a:noFill/>
                    </a:lnR>
                    <a:lnT>
                      <a:noFill/>
                    </a:lnT>
                    <a:lnB>
                      <a:noFill/>
                    </a:lnB>
                    <a:solidFill>
                      <a:schemeClr val="accent1">
                        <a:lumMod val="40000"/>
                        <a:lumOff val="60000"/>
                      </a:schemeClr>
                    </a:solidFill>
                  </a:tcPr>
                </a:tc>
                <a:extLst>
                  <a:ext uri="{0D108BD9-81ED-4DB2-BD59-A6C34878D82A}">
                    <a16:rowId xmlns:a16="http://schemas.microsoft.com/office/drawing/2014/main" val="1233869424"/>
                  </a:ext>
                </a:extLst>
              </a:tr>
              <a:tr h="725832">
                <a:tc>
                  <a:txBody>
                    <a:bodyPr/>
                    <a:lstStyle/>
                    <a:p>
                      <a:pPr algn="ctr"/>
                      <a:r>
                        <a:rPr lang="en-US" dirty="0"/>
                        <a:t>is</a:t>
                      </a:r>
                    </a:p>
                  </a:txBody>
                  <a:tcPr anchor="ctr">
                    <a:lnL>
                      <a:noFill/>
                    </a:lnL>
                    <a:lnR>
                      <a:noFill/>
                    </a:lnR>
                    <a:lnT>
                      <a:noFill/>
                    </a:lnT>
                    <a:lnB>
                      <a:noFill/>
                    </a:lnB>
                    <a:solidFill>
                      <a:schemeClr val="accent3">
                        <a:lumMod val="20000"/>
                        <a:lumOff val="80000"/>
                      </a:schemeClr>
                    </a:solidFill>
                  </a:tcPr>
                </a:tc>
                <a:tc>
                  <a:txBody>
                    <a:bodyPr/>
                    <a:lstStyle/>
                    <a:p>
                      <a:pPr algn="ctr"/>
                      <a:r>
                        <a:rPr lang="en-US" dirty="0"/>
                        <a:t>Same object identity</a:t>
                      </a:r>
                    </a:p>
                  </a:txBody>
                  <a:tcPr anchor="ctr">
                    <a:lnL>
                      <a:noFill/>
                    </a:lnL>
                    <a:lnR>
                      <a:noFill/>
                    </a:lnR>
                    <a:lnT>
                      <a:noFill/>
                    </a:lnT>
                    <a:lnB>
                      <a:noFill/>
                    </a:lnB>
                    <a:solidFill>
                      <a:schemeClr val="accent3">
                        <a:lumMod val="20000"/>
                        <a:lumOff val="80000"/>
                      </a:schemeClr>
                    </a:solidFill>
                  </a:tcPr>
                </a:tc>
                <a:tc>
                  <a:txBody>
                    <a:bodyPr/>
                    <a:lstStyle/>
                    <a:p>
                      <a:pPr algn="ctr"/>
                      <a:r>
                        <a:rPr lang="en-US" dirty="0"/>
                        <a:t>x is y</a:t>
                      </a:r>
                    </a:p>
                  </a:txBody>
                  <a:tcPr anchor="ctr">
                    <a:lnL>
                      <a:noFill/>
                    </a:lnL>
                    <a:lnR>
                      <a:noFill/>
                    </a:lnR>
                    <a:lnT>
                      <a:noFill/>
                    </a:lnT>
                    <a:lnB>
                      <a:noFill/>
                    </a:lnB>
                    <a:solidFill>
                      <a:schemeClr val="accent3">
                        <a:lumMod val="20000"/>
                        <a:lumOff val="80000"/>
                      </a:schemeClr>
                    </a:solidFill>
                  </a:tcPr>
                </a:tc>
                <a:tc>
                  <a:txBody>
                    <a:bodyPr/>
                    <a:lstStyle/>
                    <a:p>
                      <a:pPr algn="ctr"/>
                      <a:r>
                        <a:rPr lang="en-US" dirty="0"/>
                        <a:t>True if same object in memory</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669886705"/>
                  </a:ext>
                </a:extLst>
              </a:tr>
              <a:tr h="725832">
                <a:tc>
                  <a:txBody>
                    <a:bodyPr/>
                    <a:lstStyle/>
                    <a:p>
                      <a:pPr algn="ctr"/>
                      <a:r>
                        <a:rPr lang="en-US" dirty="0"/>
                        <a:t>is not</a:t>
                      </a:r>
                    </a:p>
                  </a:txBody>
                  <a:tcPr anchor="ctr">
                    <a:lnL>
                      <a:noFill/>
                    </a:lnL>
                    <a:lnR>
                      <a:noFill/>
                    </a:lnR>
                    <a:lnT>
                      <a:noFill/>
                    </a:lnT>
                    <a:lnB>
                      <a:noFill/>
                    </a:lnB>
                    <a:solidFill>
                      <a:schemeClr val="accent3">
                        <a:lumMod val="20000"/>
                        <a:lumOff val="80000"/>
                      </a:schemeClr>
                    </a:solidFill>
                  </a:tcPr>
                </a:tc>
                <a:tc>
                  <a:txBody>
                    <a:bodyPr/>
                    <a:lstStyle/>
                    <a:p>
                      <a:pPr algn="ctr"/>
                      <a:r>
                        <a:rPr lang="en-US" dirty="0"/>
                        <a:t>Not same object</a:t>
                      </a:r>
                    </a:p>
                  </a:txBody>
                  <a:tcPr anchor="ctr">
                    <a:lnL>
                      <a:noFill/>
                    </a:lnL>
                    <a:lnR>
                      <a:noFill/>
                    </a:lnR>
                    <a:lnT>
                      <a:noFill/>
                    </a:lnT>
                    <a:lnB>
                      <a:noFill/>
                    </a:lnB>
                    <a:solidFill>
                      <a:schemeClr val="accent3">
                        <a:lumMod val="20000"/>
                        <a:lumOff val="80000"/>
                      </a:schemeClr>
                    </a:solidFill>
                  </a:tcPr>
                </a:tc>
                <a:tc>
                  <a:txBody>
                    <a:bodyPr/>
                    <a:lstStyle/>
                    <a:p>
                      <a:pPr algn="ctr"/>
                      <a:r>
                        <a:rPr lang="en-US" dirty="0"/>
                        <a:t>x is not y</a:t>
                      </a:r>
                    </a:p>
                  </a:txBody>
                  <a:tcPr anchor="ctr">
                    <a:lnL>
                      <a:noFill/>
                    </a:lnL>
                    <a:lnR>
                      <a:noFill/>
                    </a:lnR>
                    <a:lnT>
                      <a:noFill/>
                    </a:lnT>
                    <a:lnB>
                      <a:noFill/>
                    </a:lnB>
                    <a:solidFill>
                      <a:schemeClr val="accent3">
                        <a:lumMod val="20000"/>
                        <a:lumOff val="80000"/>
                      </a:schemeClr>
                    </a:solidFill>
                  </a:tcPr>
                </a:tc>
                <a:tc>
                  <a:txBody>
                    <a:bodyPr/>
                    <a:lstStyle/>
                    <a:p>
                      <a:pPr algn="ctr"/>
                      <a:r>
                        <a:rPr lang="en-US" dirty="0"/>
                        <a:t>True if not same object in memory</a:t>
                      </a:r>
                    </a:p>
                  </a:txBody>
                  <a:tcPr anchor="ctr">
                    <a:lnL>
                      <a:noFill/>
                    </a:lnL>
                    <a:lnR>
                      <a:noFill/>
                    </a:lnR>
                    <a:lnT>
                      <a:noFill/>
                    </a:lnT>
                    <a:lnB>
                      <a:noFill/>
                    </a:lnB>
                    <a:solidFill>
                      <a:schemeClr val="accent3">
                        <a:lumMod val="20000"/>
                        <a:lumOff val="80000"/>
                      </a:schemeClr>
                    </a:solidFill>
                  </a:tcPr>
                </a:tc>
                <a:extLst>
                  <a:ext uri="{0D108BD9-81ED-4DB2-BD59-A6C34878D82A}">
                    <a16:rowId xmlns:a16="http://schemas.microsoft.com/office/drawing/2014/main" val="1579313978"/>
                  </a:ext>
                </a:extLst>
              </a:tr>
            </a:tbl>
          </a:graphicData>
        </a:graphic>
      </p:graphicFrame>
      <p:sp>
        <p:nvSpPr>
          <p:cNvPr id="6" name="Title 1">
            <a:extLst>
              <a:ext uri="{FF2B5EF4-FFF2-40B4-BE49-F238E27FC236}">
                <a16:creationId xmlns:a16="http://schemas.microsoft.com/office/drawing/2014/main" id="{2DF5D066-FDB2-6A7F-B46F-063D37E830F3}"/>
              </a:ext>
            </a:extLst>
          </p:cNvPr>
          <p:cNvSpPr txBox="1">
            <a:spLocks/>
          </p:cNvSpPr>
          <p:nvPr/>
        </p:nvSpPr>
        <p:spPr>
          <a:xfrm>
            <a:off x="291971" y="2627697"/>
            <a:ext cx="11729987" cy="79889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solidFill>
                  <a:srgbClr val="FF0000"/>
                </a:solidFill>
              </a:rPr>
              <a:t>Python Identity Operators</a:t>
            </a:r>
          </a:p>
          <a:p>
            <a:r>
              <a:rPr lang="en-US" sz="2100" dirty="0">
                <a:latin typeface="Cambria" panose="02040503050406030204" pitchFamily="18" charset="0"/>
                <a:ea typeface="Cambria" panose="02040503050406030204" pitchFamily="18" charset="0"/>
              </a:rPr>
              <a:t>These check whether two variables refer to the same object in memory (not just if their values are equal).</a:t>
            </a:r>
            <a:endParaRPr lang="en-US" sz="3700" b="1"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43603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7C3-5688-B9D3-883D-FD1EA9130D9F}"/>
              </a:ext>
            </a:extLst>
          </p:cNvPr>
          <p:cNvSpPr>
            <a:spLocks noGrp="1"/>
          </p:cNvSpPr>
          <p:nvPr>
            <p:ph type="title"/>
          </p:nvPr>
        </p:nvSpPr>
        <p:spPr>
          <a:xfrm>
            <a:off x="587141" y="86628"/>
            <a:ext cx="10917471" cy="606392"/>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Python Decision Making Statements</a:t>
            </a:r>
          </a:p>
        </p:txBody>
      </p:sp>
      <p:sp>
        <p:nvSpPr>
          <p:cNvPr id="4" name="Rectangle 1">
            <a:extLst>
              <a:ext uri="{FF2B5EF4-FFF2-40B4-BE49-F238E27FC236}">
                <a16:creationId xmlns:a16="http://schemas.microsoft.com/office/drawing/2014/main" id="{7FF9AB6B-34CF-CBCD-2719-61A6AAB07660}"/>
              </a:ext>
            </a:extLst>
          </p:cNvPr>
          <p:cNvSpPr>
            <a:spLocks noGrp="1" noChangeArrowheads="1"/>
          </p:cNvSpPr>
          <p:nvPr>
            <p:ph idx="1"/>
          </p:nvPr>
        </p:nvSpPr>
        <p:spPr bwMode="auto">
          <a:xfrm>
            <a:off x="327260" y="1299930"/>
            <a:ext cx="11733196"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pPr>
            <a:r>
              <a:rPr lang="en-US" sz="2000" dirty="0">
                <a:latin typeface="Cambria" panose="02040503050406030204" pitchFamily="18" charset="0"/>
                <a:ea typeface="Cambria" panose="02040503050406030204" pitchFamily="18" charset="0"/>
              </a:rPr>
              <a:t>Python decision-making statements allow the program to execute certain blocks of code based on specific conditions. These statements evaluate expressions and control the flow of execution depending on whether a condition is </a:t>
            </a:r>
            <a:r>
              <a:rPr lang="en-US" sz="2000" b="1" dirty="0">
                <a:latin typeface="Cambria" panose="02040503050406030204" pitchFamily="18" charset="0"/>
                <a:ea typeface="Cambria" panose="02040503050406030204" pitchFamily="18" charset="0"/>
              </a:rPr>
              <a:t>True</a:t>
            </a:r>
            <a:r>
              <a:rPr lang="en-US" sz="2000" dirty="0">
                <a:latin typeface="Cambria" panose="02040503050406030204" pitchFamily="18" charset="0"/>
                <a:ea typeface="Cambria" panose="02040503050406030204" pitchFamily="18" charset="0"/>
              </a:rPr>
              <a:t> or </a:t>
            </a:r>
            <a:r>
              <a:rPr lang="en-US" sz="2000" b="1" dirty="0">
                <a:latin typeface="Cambria" panose="02040503050406030204" pitchFamily="18" charset="0"/>
                <a:ea typeface="Cambria" panose="02040503050406030204" pitchFamily="18" charset="0"/>
              </a:rPr>
              <a:t>False</a:t>
            </a:r>
            <a:r>
              <a:rPr lang="en-US" sz="2000" dirty="0">
                <a:latin typeface="Cambria" panose="02040503050406030204" pitchFamily="18" charset="0"/>
                <a:ea typeface="Cambria" panose="02040503050406030204" pitchFamily="18" charset="0"/>
              </a:rPr>
              <a:t>.</a:t>
            </a:r>
          </a:p>
          <a:p>
            <a:pPr defTabSz="914400" eaLnBrk="0" fontAlgn="base" hangingPunct="0">
              <a:spcBef>
                <a:spcPct val="0"/>
              </a:spcBef>
              <a:spcAft>
                <a:spcPct val="0"/>
              </a:spcAft>
              <a:buClrTx/>
            </a:pPr>
            <a:endPar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defTabSz="914400" eaLnBrk="0" fontAlgn="base" hangingPunct="0">
              <a:spcBef>
                <a:spcPct val="0"/>
              </a:spcBef>
              <a:spcAft>
                <a:spcPct val="0"/>
              </a:spcAft>
              <a:buClrTx/>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decision-making statements</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are control flow constructs that allow a program to make choices and execute different blocks of code based on one or more conditions. These statements evaluate logical or relational expressions, and depending on whether the condition is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true</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a:t>
            </a: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false</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specific parts of the code are executed or skipped. This enables the program to react dynamically to different inputs or states during execution, making it capable of handling real-world decision processes.</a:t>
            </a:r>
          </a:p>
          <a:p>
            <a:pPr defTabSz="914400" eaLnBrk="0" fontAlgn="base" hangingPunct="0">
              <a:spcBef>
                <a:spcPct val="0"/>
              </a:spcBef>
              <a:spcAft>
                <a:spcPct val="0"/>
              </a:spcAft>
              <a:buClrTx/>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Key Keywords</a:t>
            </a:r>
            <a:r>
              <a:rPr kumimoji="0" lang="en-US" altLang="en-US" b="0" i="0" u="none" strike="noStrike" cap="none" normalizeH="0" baseline="0" dirty="0">
                <a:ln>
                  <a:noFill/>
                </a:ln>
                <a:solidFill>
                  <a:schemeClr val="tx1"/>
                </a:solidFill>
                <a:effectLst/>
                <a:latin typeface="Arial" panose="020B0604020202020204" pitchFamily="34" charset="0"/>
              </a:rPr>
              <a:t>: Python uses </a:t>
            </a:r>
            <a:r>
              <a:rPr kumimoji="0" lang="en-US" altLang="en-US" b="0" i="0" u="none" strike="noStrike" cap="none" normalizeH="0" baseline="0" dirty="0">
                <a:ln>
                  <a:noFill/>
                </a:ln>
                <a:solidFill>
                  <a:schemeClr val="tx1"/>
                </a:solidFill>
                <a:effectLst/>
                <a:latin typeface="Arial Unicode MS"/>
              </a:rPr>
              <a:t>if</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elif</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a:ln>
                  <a:noFill/>
                </a:ln>
                <a:solidFill>
                  <a:schemeClr val="tx1"/>
                </a:solidFill>
                <a:effectLst/>
                <a:latin typeface="Arial Unicode MS"/>
              </a:rPr>
              <a:t>else</a:t>
            </a:r>
            <a:r>
              <a:rPr kumimoji="0" lang="en-US" altLang="en-US" b="0" i="0" u="none" strike="noStrike" cap="none" normalizeH="0" baseline="0" dirty="0">
                <a:ln>
                  <a:noFill/>
                </a:ln>
                <a:solidFill>
                  <a:schemeClr val="tx1"/>
                </a:solidFill>
                <a:effectLst/>
              </a:rPr>
              <a:t> for decision-making.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Boolean Logic</a:t>
            </a:r>
            <a:r>
              <a:rPr kumimoji="0" lang="en-US" altLang="en-US" b="0" i="0" u="none" strike="noStrike" cap="none" normalizeH="0" baseline="0" dirty="0">
                <a:ln>
                  <a:noFill/>
                </a:ln>
                <a:solidFill>
                  <a:schemeClr val="tx1"/>
                </a:solidFill>
                <a:effectLst/>
                <a:latin typeface="Arial" panose="020B0604020202020204" pitchFamily="34" charset="0"/>
              </a:rPr>
              <a:t>: Conditions are evaluated as Boolean expressions (True or False).</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Indentation Matters</a:t>
            </a:r>
            <a:r>
              <a:rPr kumimoji="0" lang="en-US" altLang="en-US" b="0" i="0" u="none" strike="noStrike" cap="none" normalizeH="0" baseline="0" dirty="0">
                <a:ln>
                  <a:noFill/>
                </a:ln>
                <a:solidFill>
                  <a:schemeClr val="tx1"/>
                </a:solidFill>
                <a:effectLst/>
                <a:latin typeface="Arial" panose="020B0604020202020204" pitchFamily="34" charset="0"/>
              </a:rPr>
              <a:t>: Python uses indentation (typically 4 spaces) to define the block of code under each condition.</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Nested Conditions</a:t>
            </a:r>
            <a:r>
              <a:rPr kumimoji="0" lang="en-US" altLang="en-US" b="0" i="0" u="none" strike="noStrike" cap="none" normalizeH="0" baseline="0" dirty="0">
                <a:ln>
                  <a:noFill/>
                </a:ln>
                <a:solidFill>
                  <a:schemeClr val="tx1"/>
                </a:solidFill>
                <a:effectLst/>
                <a:latin typeface="Arial" panose="020B0604020202020204" pitchFamily="34" charset="0"/>
              </a:rPr>
              <a:t>: You can nest </a:t>
            </a:r>
            <a:r>
              <a:rPr kumimoji="0" lang="en-US" altLang="en-US" b="0" i="0" u="none" strike="noStrike" cap="none" normalizeH="0" baseline="0" dirty="0">
                <a:ln>
                  <a:noFill/>
                </a:ln>
                <a:solidFill>
                  <a:schemeClr val="tx1"/>
                </a:solidFill>
                <a:effectLst/>
                <a:latin typeface="Arial Unicode MS"/>
              </a:rPr>
              <a:t>if</a:t>
            </a:r>
            <a:r>
              <a:rPr kumimoji="0" lang="en-US" altLang="en-US" b="0" i="0" u="none" strike="noStrike" cap="none" normalizeH="0" baseline="0" dirty="0">
                <a:ln>
                  <a:noFill/>
                </a:ln>
                <a:solidFill>
                  <a:schemeClr val="tx1"/>
                </a:solidFill>
                <a:effectLst/>
              </a:rPr>
              <a:t> statements inside one another for complex logic.</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Short-Circuit Evaluation</a:t>
            </a:r>
            <a:r>
              <a:rPr kumimoji="0" lang="en-US" altLang="en-US" b="0" i="0" u="none" strike="noStrike" cap="none" normalizeH="0" baseline="0" dirty="0">
                <a:ln>
                  <a:noFill/>
                </a:ln>
                <a:solidFill>
                  <a:schemeClr val="tx1"/>
                </a:solidFill>
                <a:effectLst/>
                <a:latin typeface="Arial" panose="020B0604020202020204" pitchFamily="34" charset="0"/>
              </a:rPr>
              <a:t>: Logical operators like </a:t>
            </a:r>
            <a:r>
              <a:rPr kumimoji="0" lang="en-US" altLang="en-US" b="0" i="0" u="none" strike="noStrike" cap="none" normalizeH="0" baseline="0" dirty="0">
                <a:ln>
                  <a:noFill/>
                </a:ln>
                <a:solidFill>
                  <a:schemeClr val="tx1"/>
                </a:solidFill>
                <a:effectLst/>
                <a:latin typeface="Arial Unicode MS"/>
              </a:rPr>
              <a:t>and</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and</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or</a:t>
            </a:r>
            <a:r>
              <a:rPr kumimoji="0" lang="en-US" altLang="en-US" b="0" i="0" u="none" strike="noStrike" cap="none" normalizeH="0" baseline="0" dirty="0">
                <a:ln>
                  <a:noFill/>
                </a:ln>
                <a:solidFill>
                  <a:schemeClr val="tx1"/>
                </a:solidFill>
                <a:effectLst/>
              </a:rPr>
              <a:t> stop evaluating as soon as the result is determined.</a:t>
            </a: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764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4B09-4EE7-F5FB-4D17-FD2AB4839F71}"/>
              </a:ext>
            </a:extLst>
          </p:cNvPr>
          <p:cNvSpPr>
            <a:spLocks noGrp="1"/>
          </p:cNvSpPr>
          <p:nvPr>
            <p:ph type="title"/>
          </p:nvPr>
        </p:nvSpPr>
        <p:spPr>
          <a:xfrm>
            <a:off x="279134" y="248724"/>
            <a:ext cx="11177352" cy="559798"/>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Decision Making Statements</a:t>
            </a:r>
          </a:p>
        </p:txBody>
      </p:sp>
      <p:graphicFrame>
        <p:nvGraphicFramePr>
          <p:cNvPr id="4" name="Content Placeholder 3">
            <a:extLst>
              <a:ext uri="{FF2B5EF4-FFF2-40B4-BE49-F238E27FC236}">
                <a16:creationId xmlns:a16="http://schemas.microsoft.com/office/drawing/2014/main" id="{ECAFF442-6CCD-0143-EED3-E6AE6781EF26}"/>
              </a:ext>
            </a:extLst>
          </p:cNvPr>
          <p:cNvGraphicFramePr>
            <a:graphicFrameLocks noGrp="1"/>
          </p:cNvGraphicFramePr>
          <p:nvPr>
            <p:ph idx="1"/>
            <p:extLst>
              <p:ext uri="{D42A27DB-BD31-4B8C-83A1-F6EECF244321}">
                <p14:modId xmlns:p14="http://schemas.microsoft.com/office/powerpoint/2010/main" val="34321432"/>
              </p:ext>
            </p:extLst>
          </p:nvPr>
        </p:nvGraphicFramePr>
        <p:xfrm>
          <a:off x="279134" y="991403"/>
          <a:ext cx="11752445" cy="5968746"/>
        </p:xfrm>
        <a:graphic>
          <a:graphicData uri="http://schemas.openxmlformats.org/drawingml/2006/table">
            <a:tbl>
              <a:tblPr/>
              <a:tblGrid>
                <a:gridCol w="1971781">
                  <a:extLst>
                    <a:ext uri="{9D8B030D-6E8A-4147-A177-3AD203B41FA5}">
                      <a16:colId xmlns:a16="http://schemas.microsoft.com/office/drawing/2014/main" val="2838112349"/>
                    </a:ext>
                  </a:extLst>
                </a:gridCol>
                <a:gridCol w="1915446">
                  <a:extLst>
                    <a:ext uri="{9D8B030D-6E8A-4147-A177-3AD203B41FA5}">
                      <a16:colId xmlns:a16="http://schemas.microsoft.com/office/drawing/2014/main" val="1469303767"/>
                    </a:ext>
                  </a:extLst>
                </a:gridCol>
                <a:gridCol w="2197128">
                  <a:extLst>
                    <a:ext uri="{9D8B030D-6E8A-4147-A177-3AD203B41FA5}">
                      <a16:colId xmlns:a16="http://schemas.microsoft.com/office/drawing/2014/main" val="777389684"/>
                    </a:ext>
                  </a:extLst>
                </a:gridCol>
                <a:gridCol w="2253466">
                  <a:extLst>
                    <a:ext uri="{9D8B030D-6E8A-4147-A177-3AD203B41FA5}">
                      <a16:colId xmlns:a16="http://schemas.microsoft.com/office/drawing/2014/main" val="4070923527"/>
                    </a:ext>
                  </a:extLst>
                </a:gridCol>
                <a:gridCol w="3414624">
                  <a:extLst>
                    <a:ext uri="{9D8B030D-6E8A-4147-A177-3AD203B41FA5}">
                      <a16:colId xmlns:a16="http://schemas.microsoft.com/office/drawing/2014/main" val="2574406237"/>
                    </a:ext>
                  </a:extLst>
                </a:gridCol>
              </a:tblGrid>
              <a:tr h="341280">
                <a:tc>
                  <a:txBody>
                    <a:bodyPr/>
                    <a:lstStyle/>
                    <a:p>
                      <a:pPr algn="ctr"/>
                      <a:r>
                        <a:rPr lang="en-US" sz="1800" b="1" dirty="0">
                          <a:latin typeface="Cambria" panose="02040503050406030204" pitchFamily="18" charset="0"/>
                          <a:ea typeface="Cambria" panose="02040503050406030204" pitchFamily="18" charset="0"/>
                        </a:rPr>
                        <a:t>Statement Type</a:t>
                      </a: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Definition</a:t>
                      </a: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Use</a:t>
                      </a: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Syntax</a:t>
                      </a: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 Code</a:t>
                      </a:r>
                    </a:p>
                  </a:txBody>
                  <a:tcPr marL="35311" marR="35311" marT="17655" marB="17655"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1245170385"/>
                  </a:ext>
                </a:extLst>
              </a:tr>
              <a:tr h="804039">
                <a:tc>
                  <a:txBody>
                    <a:bodyPr/>
                    <a:lstStyle/>
                    <a:p>
                      <a:pPr algn="ctr"/>
                      <a:r>
                        <a:rPr lang="en-US" sz="1800" b="1" dirty="0">
                          <a:latin typeface="Cambria" panose="02040503050406030204" pitchFamily="18" charset="0"/>
                          <a:ea typeface="Cambria" panose="02040503050406030204" pitchFamily="18" charset="0"/>
                        </a:rPr>
                        <a:t>if Statement</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Executes a block of code only if the condition is true.</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you want to check one condition.</a:t>
                      </a:r>
                    </a:p>
                  </a:txBody>
                  <a:tcPr marL="35311" marR="35311" marT="17655" marB="17655" anchor="ctr">
                    <a:lnL>
                      <a:noFill/>
                    </a:lnL>
                    <a:lnR>
                      <a:noFill/>
                    </a:lnR>
                    <a:lnT>
                      <a:noFill/>
                    </a:lnT>
                    <a:lnB>
                      <a:noFill/>
                    </a:lnB>
                    <a:noFill/>
                  </a:tcPr>
                </a:tc>
                <a:tc>
                  <a:txBody>
                    <a:bodyPr/>
                    <a:lstStyle/>
                    <a:p>
                      <a:pPr algn="ctr"/>
                      <a:r>
                        <a:rPr lang="fr-FR" sz="1600" b="0" dirty="0">
                          <a:latin typeface="Cambria" panose="02040503050406030204" pitchFamily="18" charset="0"/>
                          <a:ea typeface="Cambria" panose="02040503050406030204" pitchFamily="18" charset="0"/>
                        </a:rPr>
                        <a:t>if condition: # </a:t>
                      </a:r>
                    </a:p>
                    <a:p>
                      <a:pPr algn="r"/>
                      <a:r>
                        <a:rPr lang="fr-FR" sz="1600" b="0" dirty="0">
                          <a:latin typeface="Cambria" panose="02040503050406030204" pitchFamily="18" charset="0"/>
                          <a:ea typeface="Cambria" panose="02040503050406030204" pitchFamily="18" charset="0"/>
                        </a:rPr>
                        <a:t>Code Block</a:t>
                      </a:r>
                    </a:p>
                  </a:txBody>
                  <a:tcPr marL="35311" marR="35311" marT="17655" marB="17655" anchor="ctr">
                    <a:lnL>
                      <a:noFill/>
                    </a:lnL>
                    <a:lnR>
                      <a:noFill/>
                    </a:lnR>
                    <a:lnT>
                      <a:noFill/>
                    </a:lnT>
                    <a:lnB>
                      <a:noFill/>
                    </a:lnB>
                    <a:solidFill>
                      <a:schemeClr val="bg2">
                        <a:lumMod val="75000"/>
                      </a:schemeClr>
                    </a:solidFill>
                  </a:tcPr>
                </a:tc>
                <a:tc>
                  <a:txBody>
                    <a:bodyPr/>
                    <a:lstStyle/>
                    <a:p>
                      <a:pPr algn="ctr"/>
                      <a:r>
                        <a:rPr lang="en-US" sz="1600" b="0" dirty="0">
                          <a:latin typeface="Cambria" panose="02040503050406030204" pitchFamily="18" charset="0"/>
                          <a:ea typeface="Cambria" panose="02040503050406030204" pitchFamily="18" charset="0"/>
                        </a:rPr>
                        <a:t>x = 10</a:t>
                      </a:r>
                    </a:p>
                    <a:p>
                      <a:pPr algn="ctr"/>
                      <a:r>
                        <a:rPr lang="en-US" sz="1600" b="0" dirty="0">
                          <a:latin typeface="Cambria" panose="02040503050406030204" pitchFamily="18" charset="0"/>
                          <a:ea typeface="Cambria" panose="02040503050406030204" pitchFamily="18" charset="0"/>
                        </a:rPr>
                        <a:t>if x &gt; 5:</a:t>
                      </a:r>
                    </a:p>
                    <a:p>
                      <a:pPr algn="ctr"/>
                      <a:r>
                        <a:rPr lang="en-US" sz="1600" b="0" dirty="0">
                          <a:latin typeface="Cambria" panose="02040503050406030204" pitchFamily="18" charset="0"/>
                          <a:ea typeface="Cambria" panose="02040503050406030204" pitchFamily="18" charset="0"/>
                        </a:rPr>
                        <a:t>print("x is greater than 5“)</a:t>
                      </a:r>
                    </a:p>
                  </a:txBody>
                  <a:tcPr marL="35311" marR="35311" marT="17655" marB="17655" anchor="ctr">
                    <a:lnL>
                      <a:noFill/>
                    </a:lnL>
                    <a:lnR>
                      <a:noFill/>
                    </a:lnR>
                    <a:lnT>
                      <a:noFill/>
                    </a:lnT>
                    <a:lnB>
                      <a:noFill/>
                    </a:lnB>
                    <a:noFill/>
                  </a:tcPr>
                </a:tc>
                <a:extLst>
                  <a:ext uri="{0D108BD9-81ED-4DB2-BD59-A6C34878D82A}">
                    <a16:rowId xmlns:a16="http://schemas.microsoft.com/office/drawing/2014/main" val="4214732983"/>
                  </a:ext>
                </a:extLst>
              </a:tr>
              <a:tr h="1072592">
                <a:tc>
                  <a:txBody>
                    <a:bodyPr/>
                    <a:lstStyle/>
                    <a:p>
                      <a:pPr algn="ctr"/>
                      <a:r>
                        <a:rPr lang="en-US" sz="1800" b="1" dirty="0">
                          <a:latin typeface="Cambria" panose="02040503050406030204" pitchFamily="18" charset="0"/>
                          <a:ea typeface="Cambria" panose="02040503050406030204" pitchFamily="18" charset="0"/>
                        </a:rPr>
                        <a:t>if-else Statement</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Executes one block if condition is true, another if false.</a:t>
                      </a:r>
                    </a:p>
                  </a:txBody>
                  <a:tcPr marL="35311" marR="35311" marT="17655" marB="17655" anchor="ctr">
                    <a:lnL>
                      <a:noFill/>
                    </a:lnL>
                    <a:lnR>
                      <a:noFill/>
                    </a:lnR>
                    <a:lnT>
                      <a:noFill/>
                    </a:lnT>
                    <a:lnB>
                      <a:noFill/>
                    </a:lnB>
                    <a:noFill/>
                  </a:tcPr>
                </a:tc>
                <a:tc>
                  <a:txBody>
                    <a:bodyPr/>
                    <a:lstStyle/>
                    <a:p>
                      <a:pPr algn="ctr"/>
                      <a:r>
                        <a:rPr lang="en-US" sz="1600" b="0">
                          <a:latin typeface="Cambria" panose="02040503050406030204" pitchFamily="18" charset="0"/>
                          <a:ea typeface="Cambria" panose="02040503050406030204" pitchFamily="18" charset="0"/>
                        </a:rPr>
                        <a:t>Use when you have two choices or outcomes.</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if condition: # true </a:t>
                      </a:r>
                    </a:p>
                    <a:p>
                      <a:pPr algn="ctr"/>
                      <a:r>
                        <a:rPr lang="en-US" sz="1600" b="0" dirty="0">
                          <a:latin typeface="Cambria" panose="02040503050406030204" pitchFamily="18" charset="0"/>
                          <a:ea typeface="Cambria" panose="02040503050406030204" pitchFamily="18" charset="0"/>
                        </a:rPr>
                        <a:t>Block</a:t>
                      </a:r>
                    </a:p>
                    <a:p>
                      <a:pPr algn="l"/>
                      <a:r>
                        <a:rPr lang="en-US" sz="1600" b="0" dirty="0">
                          <a:latin typeface="Cambria" panose="02040503050406030204" pitchFamily="18" charset="0"/>
                          <a:ea typeface="Cambria" panose="02040503050406030204" pitchFamily="18" charset="0"/>
                        </a:rPr>
                        <a:t>       else:# false </a:t>
                      </a:r>
                    </a:p>
                    <a:p>
                      <a:pPr algn="ctr"/>
                      <a:r>
                        <a:rPr lang="en-US" sz="1600" b="0" dirty="0">
                          <a:latin typeface="Cambria" panose="02040503050406030204" pitchFamily="18" charset="0"/>
                          <a:ea typeface="Cambria" panose="02040503050406030204" pitchFamily="18" charset="0"/>
                        </a:rPr>
                        <a:t>Block</a:t>
                      </a:r>
                    </a:p>
                  </a:txBody>
                  <a:tcPr marL="35311" marR="35311" marT="17655" marB="17655" anchor="ctr">
                    <a:lnL>
                      <a:noFill/>
                    </a:lnL>
                    <a:lnR>
                      <a:noFill/>
                    </a:lnR>
                    <a:lnT>
                      <a:noFill/>
                    </a:lnT>
                    <a:lnB>
                      <a:noFill/>
                    </a:lnB>
                    <a:solidFill>
                      <a:schemeClr val="accent1">
                        <a:lumMod val="60000"/>
                        <a:lumOff val="40000"/>
                      </a:schemeClr>
                    </a:solidFill>
                  </a:tcPr>
                </a:tc>
                <a:tc>
                  <a:txBody>
                    <a:bodyPr/>
                    <a:lstStyle/>
                    <a:p>
                      <a:pPr algn="ctr"/>
                      <a:r>
                        <a:rPr lang="en-US" sz="1600" b="0" dirty="0">
                          <a:latin typeface="Cambria" panose="02040503050406030204" pitchFamily="18" charset="0"/>
                          <a:ea typeface="Cambria" panose="02040503050406030204" pitchFamily="18" charset="0"/>
                        </a:rPr>
                        <a:t>x = 3</a:t>
                      </a:r>
                    </a:p>
                    <a:p>
                      <a:pPr algn="ctr"/>
                      <a:r>
                        <a:rPr lang="en-US" sz="1600" b="0" dirty="0">
                          <a:latin typeface="Cambria" panose="02040503050406030204" pitchFamily="18" charset="0"/>
                          <a:ea typeface="Cambria" panose="02040503050406030204" pitchFamily="18" charset="0"/>
                        </a:rPr>
                        <a:t>if x &gt; 5:</a:t>
                      </a:r>
                    </a:p>
                    <a:p>
                      <a:pPr algn="ctr"/>
                      <a:r>
                        <a:rPr lang="en-US" sz="1600" b="0" dirty="0">
                          <a:latin typeface="Cambria" panose="02040503050406030204" pitchFamily="18" charset="0"/>
                          <a:ea typeface="Cambria" panose="02040503050406030204" pitchFamily="18" charset="0"/>
                        </a:rPr>
                        <a:t>print("x is greater than 5")</a:t>
                      </a:r>
                    </a:p>
                    <a:p>
                      <a:pPr algn="ctr"/>
                      <a:r>
                        <a:rPr lang="en-US" sz="1600" b="0" dirty="0">
                          <a:latin typeface="Cambria" panose="02040503050406030204" pitchFamily="18" charset="0"/>
                          <a:ea typeface="Cambria" panose="02040503050406030204" pitchFamily="18" charset="0"/>
                        </a:rPr>
                        <a:t>else:</a:t>
                      </a:r>
                    </a:p>
                    <a:p>
                      <a:pPr algn="ctr"/>
                      <a:r>
                        <a:rPr lang="en-US" sz="1600" b="0" dirty="0">
                          <a:latin typeface="Cambria" panose="02040503050406030204" pitchFamily="18" charset="0"/>
                          <a:ea typeface="Cambria" panose="02040503050406030204" pitchFamily="18" charset="0"/>
                        </a:rPr>
                        <a:t> print("x is 5 or less")</a:t>
                      </a:r>
                    </a:p>
                  </a:txBody>
                  <a:tcPr marL="35311" marR="35311" marT="17655" marB="17655" anchor="ctr">
                    <a:lnL>
                      <a:noFill/>
                    </a:lnL>
                    <a:lnR>
                      <a:noFill/>
                    </a:lnR>
                    <a:lnT>
                      <a:noFill/>
                    </a:lnT>
                    <a:lnB>
                      <a:noFill/>
                    </a:lnB>
                    <a:noFill/>
                  </a:tcPr>
                </a:tc>
                <a:extLst>
                  <a:ext uri="{0D108BD9-81ED-4DB2-BD59-A6C34878D82A}">
                    <a16:rowId xmlns:a16="http://schemas.microsoft.com/office/drawing/2014/main" val="404846823"/>
                  </a:ext>
                </a:extLst>
              </a:tr>
              <a:tr h="1571055">
                <a:tc>
                  <a:txBody>
                    <a:bodyPr/>
                    <a:lstStyle/>
                    <a:p>
                      <a:pPr algn="ctr"/>
                      <a:r>
                        <a:rPr lang="en-US" sz="1800" b="1" dirty="0">
                          <a:latin typeface="Cambria" panose="02040503050406030204" pitchFamily="18" charset="0"/>
                          <a:ea typeface="Cambria" panose="02040503050406030204" pitchFamily="18" charset="0"/>
                        </a:rPr>
                        <a:t>if-</a:t>
                      </a:r>
                      <a:r>
                        <a:rPr lang="en-US" sz="1800" b="1" dirty="0" err="1">
                          <a:latin typeface="Cambria" panose="02040503050406030204" pitchFamily="18" charset="0"/>
                          <a:ea typeface="Cambria" panose="02040503050406030204" pitchFamily="18" charset="0"/>
                        </a:rPr>
                        <a:t>elif</a:t>
                      </a:r>
                      <a:r>
                        <a:rPr lang="en-US" sz="1800" b="1" dirty="0">
                          <a:latin typeface="Cambria" panose="02040503050406030204" pitchFamily="18" charset="0"/>
                          <a:ea typeface="Cambria" panose="02040503050406030204" pitchFamily="18" charset="0"/>
                        </a:rPr>
                        <a:t>-else Statement</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Checks multiple conditions. First true one runs; else runs if none are true.</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checking three or more conditions.</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if condition1: #</a:t>
                      </a:r>
                    </a:p>
                    <a:p>
                      <a:pPr algn="ctr"/>
                      <a:r>
                        <a:rPr lang="en-US" sz="1600" b="0" dirty="0">
                          <a:latin typeface="Cambria" panose="02040503050406030204" pitchFamily="18" charset="0"/>
                          <a:ea typeface="Cambria" panose="02040503050406030204" pitchFamily="18" charset="0"/>
                        </a:rPr>
                        <a:t> block1</a:t>
                      </a:r>
                    </a:p>
                    <a:p>
                      <a:pPr algn="ctr"/>
                      <a:r>
                        <a:rPr lang="en-US" sz="1600" b="0" dirty="0" err="1">
                          <a:latin typeface="Cambria" panose="02040503050406030204" pitchFamily="18" charset="0"/>
                          <a:ea typeface="Cambria" panose="02040503050406030204" pitchFamily="18" charset="0"/>
                        </a:rPr>
                        <a:t>elif</a:t>
                      </a:r>
                      <a:r>
                        <a:rPr lang="en-US" sz="1600" b="0" dirty="0">
                          <a:latin typeface="Cambria" panose="02040503050406030204" pitchFamily="18" charset="0"/>
                          <a:ea typeface="Cambria" panose="02040503050406030204" pitchFamily="18" charset="0"/>
                        </a:rPr>
                        <a:t> condition2: #</a:t>
                      </a:r>
                    </a:p>
                    <a:p>
                      <a:pPr algn="ctr"/>
                      <a:r>
                        <a:rPr lang="en-US" sz="1600" b="0" dirty="0">
                          <a:latin typeface="Cambria" panose="02040503050406030204" pitchFamily="18" charset="0"/>
                          <a:ea typeface="Cambria" panose="02040503050406030204" pitchFamily="18" charset="0"/>
                        </a:rPr>
                        <a:t>                 block2</a:t>
                      </a:r>
                    </a:p>
                    <a:p>
                      <a:pPr algn="ctr"/>
                      <a:r>
                        <a:rPr lang="en-US" sz="1600" b="0" dirty="0">
                          <a:latin typeface="Cambria" panose="02040503050406030204" pitchFamily="18" charset="0"/>
                          <a:ea typeface="Cambria" panose="02040503050406030204" pitchFamily="18" charset="0"/>
                        </a:rPr>
                        <a:t>   else: # </a:t>
                      </a:r>
                    </a:p>
                    <a:p>
                      <a:pPr algn="ctr"/>
                      <a:r>
                        <a:rPr lang="en-US" sz="1600" b="0" dirty="0">
                          <a:latin typeface="Cambria" panose="02040503050406030204" pitchFamily="18" charset="0"/>
                          <a:ea typeface="Cambria" panose="02040503050406030204" pitchFamily="18" charset="0"/>
                        </a:rPr>
                        <a:t>block3</a:t>
                      </a:r>
                    </a:p>
                  </a:txBody>
                  <a:tcPr marL="35311" marR="35311" marT="17655" marB="17655" anchor="ctr">
                    <a:lnL>
                      <a:noFill/>
                    </a:lnL>
                    <a:lnR>
                      <a:noFill/>
                    </a:lnR>
                    <a:lnT>
                      <a:noFill/>
                    </a:lnT>
                    <a:lnB>
                      <a:noFill/>
                    </a:lnB>
                    <a:solidFill>
                      <a:schemeClr val="accent4">
                        <a:lumMod val="60000"/>
                        <a:lumOff val="40000"/>
                      </a:schemeClr>
                    </a:solidFill>
                  </a:tcPr>
                </a:tc>
                <a:tc>
                  <a:txBody>
                    <a:bodyPr/>
                    <a:lstStyle/>
                    <a:p>
                      <a:pPr algn="ctr"/>
                      <a:r>
                        <a:rPr lang="pt-BR" sz="1600" b="0" dirty="0">
                          <a:latin typeface="Cambria" panose="02040503050406030204" pitchFamily="18" charset="0"/>
                          <a:ea typeface="Cambria" panose="02040503050406030204" pitchFamily="18" charset="0"/>
                        </a:rPr>
                        <a:t>x = 0</a:t>
                      </a:r>
                    </a:p>
                    <a:p>
                      <a:pPr algn="ctr"/>
                      <a:r>
                        <a:rPr lang="pt-BR" sz="1600" b="0" dirty="0">
                          <a:latin typeface="Cambria" panose="02040503050406030204" pitchFamily="18" charset="0"/>
                          <a:ea typeface="Cambria" panose="02040503050406030204" pitchFamily="18" charset="0"/>
                        </a:rPr>
                        <a:t>if x &gt; 0:</a:t>
                      </a:r>
                    </a:p>
                    <a:p>
                      <a:pPr algn="ctr"/>
                      <a:r>
                        <a:rPr lang="pt-BR" sz="1600" b="0" dirty="0">
                          <a:latin typeface="Cambria" panose="02040503050406030204" pitchFamily="18" charset="0"/>
                          <a:ea typeface="Cambria" panose="02040503050406030204" pitchFamily="18" charset="0"/>
                        </a:rPr>
                        <a:t> print("Positive")</a:t>
                      </a:r>
                    </a:p>
                    <a:p>
                      <a:pPr algn="ctr"/>
                      <a:r>
                        <a:rPr lang="pt-BR" sz="1600" b="0" dirty="0">
                          <a:latin typeface="Cambria" panose="02040503050406030204" pitchFamily="18" charset="0"/>
                          <a:ea typeface="Cambria" panose="02040503050406030204" pitchFamily="18" charset="0"/>
                        </a:rPr>
                        <a:t>elif x == 0:</a:t>
                      </a:r>
                    </a:p>
                    <a:p>
                      <a:pPr algn="ctr"/>
                      <a:r>
                        <a:rPr lang="pt-BR" sz="1600" b="0" dirty="0">
                          <a:latin typeface="Cambria" panose="02040503050406030204" pitchFamily="18" charset="0"/>
                          <a:ea typeface="Cambria" panose="02040503050406030204" pitchFamily="18" charset="0"/>
                        </a:rPr>
                        <a:t> print("Zero")</a:t>
                      </a:r>
                    </a:p>
                    <a:p>
                      <a:pPr algn="ctr"/>
                      <a:r>
                        <a:rPr lang="pt-BR" sz="1600" b="0" dirty="0">
                          <a:latin typeface="Cambria" panose="02040503050406030204" pitchFamily="18" charset="0"/>
                          <a:ea typeface="Cambria" panose="02040503050406030204" pitchFamily="18" charset="0"/>
                        </a:rPr>
                        <a:t>else:</a:t>
                      </a:r>
                    </a:p>
                    <a:p>
                      <a:pPr algn="ctr"/>
                      <a:r>
                        <a:rPr lang="pt-BR" sz="1600" b="0" dirty="0">
                          <a:latin typeface="Cambria" panose="02040503050406030204" pitchFamily="18" charset="0"/>
                          <a:ea typeface="Cambria" panose="02040503050406030204" pitchFamily="18" charset="0"/>
                        </a:rPr>
                        <a:t> print("Negative")</a:t>
                      </a:r>
                    </a:p>
                  </a:txBody>
                  <a:tcPr marL="35311" marR="35311" marT="17655" marB="17655" anchor="ctr">
                    <a:lnL>
                      <a:noFill/>
                    </a:lnL>
                    <a:lnR>
                      <a:noFill/>
                    </a:lnR>
                    <a:lnT>
                      <a:noFill/>
                    </a:lnT>
                    <a:lnB>
                      <a:noFill/>
                    </a:lnB>
                    <a:noFill/>
                  </a:tcPr>
                </a:tc>
                <a:extLst>
                  <a:ext uri="{0D108BD9-81ED-4DB2-BD59-A6C34878D82A}">
                    <a16:rowId xmlns:a16="http://schemas.microsoft.com/office/drawing/2014/main" val="4272446172"/>
                  </a:ext>
                </a:extLst>
              </a:tr>
              <a:tr h="1826727">
                <a:tc>
                  <a:txBody>
                    <a:bodyPr/>
                    <a:lstStyle/>
                    <a:p>
                      <a:pPr algn="ctr"/>
                      <a:r>
                        <a:rPr lang="en-US" sz="1800" b="1" dirty="0">
                          <a:latin typeface="Cambria" panose="02040503050406030204" pitchFamily="18" charset="0"/>
                          <a:ea typeface="Cambria" panose="02040503050406030204" pitchFamily="18" charset="0"/>
                        </a:rPr>
                        <a:t>Nested if-else Statement</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One if or else contains another if-else inside.</a:t>
                      </a: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Use when decisions depend on another condition.</a:t>
                      </a:r>
                    </a:p>
                  </a:txBody>
                  <a:tcPr marL="35311" marR="35311" marT="17655" marB="17655" anchor="ctr">
                    <a:lnL>
                      <a:noFill/>
                    </a:lnL>
                    <a:lnR>
                      <a:noFill/>
                    </a:lnR>
                    <a:lnT>
                      <a:noFill/>
                    </a:lnT>
                    <a:lnB>
                      <a:noFill/>
                    </a:lnB>
                    <a:noFill/>
                  </a:tcPr>
                </a:tc>
                <a:tc>
                  <a:txBody>
                    <a:bodyPr/>
                    <a:lstStyle/>
                    <a:p>
                      <a:pPr algn="l"/>
                      <a:r>
                        <a:rPr lang="en-US" sz="1600" b="0" dirty="0">
                          <a:latin typeface="Cambria" panose="02040503050406030204" pitchFamily="18" charset="0"/>
                          <a:ea typeface="Cambria" panose="02040503050406030204" pitchFamily="18" charset="0"/>
                        </a:rPr>
                        <a:t>       if condition1:</a:t>
                      </a:r>
                    </a:p>
                    <a:p>
                      <a:pPr algn="l"/>
                      <a:r>
                        <a:rPr lang="en-US" sz="1600" b="0" dirty="0">
                          <a:latin typeface="Cambria" panose="02040503050406030204" pitchFamily="18" charset="0"/>
                          <a:ea typeface="Cambria" panose="02040503050406030204" pitchFamily="18" charset="0"/>
                        </a:rPr>
                        <a:t>       if condition2:</a:t>
                      </a:r>
                    </a:p>
                    <a:p>
                      <a:pPr algn="ctr"/>
                      <a:r>
                        <a:rPr lang="en-US" sz="1600" b="0" dirty="0">
                          <a:latin typeface="Cambria" panose="02040503050406030204" pitchFamily="18" charset="0"/>
                          <a:ea typeface="Cambria" panose="02040503050406030204" pitchFamily="18" charset="0"/>
                        </a:rPr>
                        <a:t>            block</a:t>
                      </a:r>
                    </a:p>
                    <a:p>
                      <a:pPr algn="ctr"/>
                      <a:r>
                        <a:rPr lang="en-US" sz="1600" b="0" dirty="0">
                          <a:latin typeface="Cambria" panose="02040503050406030204" pitchFamily="18" charset="0"/>
                          <a:ea typeface="Cambria" panose="02040503050406030204" pitchFamily="18" charset="0"/>
                        </a:rPr>
                        <a:t>  else:</a:t>
                      </a:r>
                    </a:p>
                    <a:p>
                      <a:pPr algn="ctr"/>
                      <a:r>
                        <a:rPr lang="en-US" sz="1600" b="0" dirty="0">
                          <a:latin typeface="Cambria" panose="02040503050406030204" pitchFamily="18" charset="0"/>
                          <a:ea typeface="Cambria" panose="02040503050406030204" pitchFamily="18" charset="0"/>
                        </a:rPr>
                        <a:t> # block</a:t>
                      </a:r>
                    </a:p>
                    <a:p>
                      <a:pPr algn="ctr"/>
                      <a:r>
                        <a:rPr lang="en-US" sz="1600" b="0" dirty="0">
                          <a:latin typeface="Cambria" panose="02040503050406030204" pitchFamily="18" charset="0"/>
                          <a:ea typeface="Cambria" panose="02040503050406030204" pitchFamily="18" charset="0"/>
                        </a:rPr>
                        <a:t>else: </a:t>
                      </a:r>
                    </a:p>
                    <a:p>
                      <a:pPr algn="ctr"/>
                      <a:r>
                        <a:rPr lang="en-US" sz="1600" b="0">
                          <a:latin typeface="Cambria" panose="02040503050406030204" pitchFamily="18" charset="0"/>
                          <a:ea typeface="Cambria" panose="02040503050406030204" pitchFamily="18" charset="0"/>
                        </a:rPr>
                        <a:t># block</a:t>
                      </a:r>
                      <a:endParaRPr lang="en-US" sz="1600" b="0" dirty="0">
                        <a:latin typeface="Cambria" panose="02040503050406030204" pitchFamily="18" charset="0"/>
                        <a:ea typeface="Cambria" panose="02040503050406030204" pitchFamily="18" charset="0"/>
                      </a:endParaRPr>
                    </a:p>
                  </a:txBody>
                  <a:tcPr marL="35311" marR="35311" marT="17655" marB="17655" anchor="ctr">
                    <a:lnL>
                      <a:noFill/>
                    </a:lnL>
                    <a:lnR>
                      <a:noFill/>
                    </a:lnR>
                    <a:lnT>
                      <a:noFill/>
                    </a:lnT>
                    <a:lnB>
                      <a:noFill/>
                    </a:lnB>
                    <a:noFill/>
                  </a:tcPr>
                </a:tc>
                <a:tc>
                  <a:txBody>
                    <a:bodyPr/>
                    <a:lstStyle/>
                    <a:p>
                      <a:pPr algn="ctr"/>
                      <a:r>
                        <a:rPr lang="en-US" sz="1600" b="0" dirty="0">
                          <a:latin typeface="Cambria" panose="02040503050406030204" pitchFamily="18" charset="0"/>
                          <a:ea typeface="Cambria" panose="02040503050406030204" pitchFamily="18" charset="0"/>
                        </a:rPr>
                        <a:t>x = 15</a:t>
                      </a:r>
                    </a:p>
                    <a:p>
                      <a:pPr algn="ctr"/>
                      <a:r>
                        <a:rPr lang="en-US" sz="1600" b="0" dirty="0">
                          <a:latin typeface="Cambria" panose="02040503050406030204" pitchFamily="18" charset="0"/>
                          <a:ea typeface="Cambria" panose="02040503050406030204" pitchFamily="18" charset="0"/>
                        </a:rPr>
                        <a:t>if x &gt; 10:</a:t>
                      </a:r>
                    </a:p>
                    <a:p>
                      <a:pPr algn="ctr"/>
                      <a:r>
                        <a:rPr lang="en-US" sz="1600" b="0" dirty="0">
                          <a:latin typeface="Cambria" panose="02040503050406030204" pitchFamily="18" charset="0"/>
                          <a:ea typeface="Cambria" panose="02040503050406030204" pitchFamily="18" charset="0"/>
                        </a:rPr>
                        <a:t> if x &lt; 20:</a:t>
                      </a:r>
                    </a:p>
                    <a:p>
                      <a:pPr algn="ctr"/>
                      <a:r>
                        <a:rPr lang="en-US" sz="1600" b="0" dirty="0">
                          <a:latin typeface="Cambria" panose="02040503050406030204" pitchFamily="18" charset="0"/>
                          <a:ea typeface="Cambria" panose="02040503050406030204" pitchFamily="18" charset="0"/>
                        </a:rPr>
                        <a:t> print("x is between 10 and 20") else:</a:t>
                      </a:r>
                    </a:p>
                    <a:p>
                      <a:pPr algn="ctr"/>
                      <a:r>
                        <a:rPr lang="en-US" sz="1600" b="0" dirty="0">
                          <a:latin typeface="Cambria" panose="02040503050406030204" pitchFamily="18" charset="0"/>
                          <a:ea typeface="Cambria" panose="02040503050406030204" pitchFamily="18" charset="0"/>
                        </a:rPr>
                        <a:t> print("x is 20 or more")</a:t>
                      </a:r>
                    </a:p>
                    <a:p>
                      <a:pPr algn="ctr"/>
                      <a:r>
                        <a:rPr lang="en-US" sz="1600" b="0" dirty="0">
                          <a:latin typeface="Cambria" panose="02040503050406030204" pitchFamily="18" charset="0"/>
                          <a:ea typeface="Cambria" panose="02040503050406030204" pitchFamily="18" charset="0"/>
                        </a:rPr>
                        <a:t>else:</a:t>
                      </a:r>
                    </a:p>
                    <a:p>
                      <a:pPr algn="ctr"/>
                      <a:r>
                        <a:rPr lang="en-US" sz="1600" b="0" dirty="0">
                          <a:latin typeface="Cambria" panose="02040503050406030204" pitchFamily="18" charset="0"/>
                          <a:ea typeface="Cambria" panose="02040503050406030204" pitchFamily="18" charset="0"/>
                        </a:rPr>
                        <a:t> print("x is 10 or less")</a:t>
                      </a:r>
                    </a:p>
                  </a:txBody>
                  <a:tcPr marL="35311" marR="35311" marT="17655" marB="17655" anchor="ctr">
                    <a:lnL>
                      <a:noFill/>
                    </a:lnL>
                    <a:lnR>
                      <a:noFill/>
                    </a:lnR>
                    <a:lnT>
                      <a:noFill/>
                    </a:lnT>
                    <a:lnB>
                      <a:noFill/>
                    </a:lnB>
                    <a:noFill/>
                  </a:tcPr>
                </a:tc>
                <a:extLst>
                  <a:ext uri="{0D108BD9-81ED-4DB2-BD59-A6C34878D82A}">
                    <a16:rowId xmlns:a16="http://schemas.microsoft.com/office/drawing/2014/main" val="3197080541"/>
                  </a:ext>
                </a:extLst>
              </a:tr>
            </a:tbl>
          </a:graphicData>
        </a:graphic>
      </p:graphicFrame>
    </p:spTree>
    <p:extLst>
      <p:ext uri="{BB962C8B-B14F-4D97-AF65-F5344CB8AC3E}">
        <p14:creationId xmlns:p14="http://schemas.microsoft.com/office/powerpoint/2010/main" val="1310092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7D9E-6FEE-2013-9A51-19360136797E}"/>
              </a:ext>
            </a:extLst>
          </p:cNvPr>
          <p:cNvSpPr>
            <a:spLocks noGrp="1"/>
          </p:cNvSpPr>
          <p:nvPr>
            <p:ph type="title"/>
          </p:nvPr>
        </p:nvSpPr>
        <p:spPr>
          <a:xfrm>
            <a:off x="240633" y="136838"/>
            <a:ext cx="11263980" cy="450303"/>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Assignment On Decision Making Statement</a:t>
            </a:r>
          </a:p>
        </p:txBody>
      </p:sp>
      <p:sp>
        <p:nvSpPr>
          <p:cNvPr id="4" name="Rectangle 1">
            <a:extLst>
              <a:ext uri="{FF2B5EF4-FFF2-40B4-BE49-F238E27FC236}">
                <a16:creationId xmlns:a16="http://schemas.microsoft.com/office/drawing/2014/main" id="{80CE2AAC-8A9C-93ED-AE1B-279DF5F27964}"/>
              </a:ext>
            </a:extLst>
          </p:cNvPr>
          <p:cNvSpPr>
            <a:spLocks noGrp="1" noChangeArrowheads="1"/>
          </p:cNvSpPr>
          <p:nvPr>
            <p:ph idx="1"/>
          </p:nvPr>
        </p:nvSpPr>
        <p:spPr bwMode="auto">
          <a:xfrm>
            <a:off x="240633" y="804139"/>
            <a:ext cx="1184869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Even or Odd Number</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Python program that takes a number as input and checks whether it is even or odd using an if statement.</a:t>
            </a: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Find the Largest of Two Numbers</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to accept two numbers from the user and use an if-else statement to print the largest number.</a:t>
            </a: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Eligibility to Vote</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that asks the user to enter their age and uses if-else to determine if they are eligible to vote (age ≥ 18).</a:t>
            </a:r>
          </a:p>
          <a:p>
            <a:pPr marL="0" marR="0" lvl="0" indent="0"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Grade Calculation Based on Marks</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program that takes marks (0 to 100) as input and uses if-</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elif</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-else to print the grade:</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90–100</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 75–89</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 60–74</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 40–59</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 below 40</a:t>
            </a:r>
          </a:p>
          <a:p>
            <a:pPr marL="0" marR="0" lvl="0" indent="0"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Check if a Number is Positive, Negative, or Zero</a:t>
            </a:r>
            <a:b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b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Python program that checks whether a given number is positive, negative, or zero using if-</a:t>
            </a:r>
            <a:r>
              <a:rPr kumimoji="0" lang="en-US" altLang="en-US" sz="2000"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elif</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-else.</a:t>
            </a:r>
          </a:p>
        </p:txBody>
      </p:sp>
    </p:spTree>
    <p:extLst>
      <p:ext uri="{BB962C8B-B14F-4D97-AF65-F5344CB8AC3E}">
        <p14:creationId xmlns:p14="http://schemas.microsoft.com/office/powerpoint/2010/main" val="4016036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83E4D6-F34B-47D7-252D-4861F7AD508B}"/>
              </a:ext>
            </a:extLst>
          </p:cNvPr>
          <p:cNvSpPr>
            <a:spLocks noGrp="1"/>
          </p:cNvSpPr>
          <p:nvPr>
            <p:ph idx="1"/>
          </p:nvPr>
        </p:nvSpPr>
        <p:spPr>
          <a:xfrm>
            <a:off x="308008" y="250257"/>
            <a:ext cx="11781323" cy="6535554"/>
          </a:xfrm>
        </p:spPr>
        <p:txBody>
          <a:bodyPr>
            <a:noAutofit/>
          </a:bodyPr>
          <a:lstStyle/>
          <a:p>
            <a:pPr marL="0" marR="0" lvl="0" indent="0" defTabSz="914400" rtl="0" eaLnBrk="0" fontAlgn="base" latinLnBrk="0" hangingPunct="0">
              <a:lnSpc>
                <a:spcPct val="100000"/>
              </a:lnSpc>
              <a:spcBef>
                <a:spcPct val="0"/>
              </a:spcBef>
              <a:spcAft>
                <a:spcPct val="0"/>
              </a:spcAft>
              <a:buClrTx/>
              <a:buSzTx/>
              <a:buFontTx/>
              <a:buAutoNum type="arabicPeriod" startAt="6"/>
              <a:tabLst/>
            </a:pPr>
            <a:r>
              <a:rPr kumimoji="0" lang="en-US" altLang="en-US" b="1" i="0" u="none" strike="noStrike" cap="none" normalizeH="0" baseline="0" dirty="0">
                <a:ln>
                  <a:noFill/>
                </a:ln>
                <a:solidFill>
                  <a:schemeClr val="tx1"/>
                </a:solidFill>
                <a:effectLst/>
                <a:latin typeface="Arial" panose="020B0604020202020204" pitchFamily="34" charset="0"/>
              </a:rPr>
              <a:t>Check if a Character is a Vowel or Consonant</a:t>
            </a:r>
            <a:br>
              <a:rPr kumimoji="0" lang="en-US" altLang="en-US" i="0" u="none" strike="noStrike" cap="none" normalizeH="0" baseline="0" dirty="0">
                <a:ln>
                  <a:noFill/>
                </a:ln>
                <a:solidFill>
                  <a:schemeClr val="tx1"/>
                </a:solidFill>
                <a:effectLst/>
                <a:latin typeface="Arial" panose="020B0604020202020204" pitchFamily="34" charset="0"/>
              </a:rPr>
            </a:br>
            <a:r>
              <a:rPr kumimoji="0" lang="en-US" altLang="en-US" i="0" u="none" strike="noStrike" cap="none" normalizeH="0" baseline="0" dirty="0">
                <a:ln>
                  <a:noFill/>
                </a:ln>
                <a:solidFill>
                  <a:schemeClr val="tx1"/>
                </a:solidFill>
                <a:effectLst/>
                <a:latin typeface="Arial" panose="020B0604020202020204" pitchFamily="34" charset="0"/>
              </a:rPr>
              <a:t>Write a program to input a character and check whether it is a vowel or consonant using </a:t>
            </a:r>
            <a:r>
              <a:rPr kumimoji="0" lang="en-US" altLang="en-US" i="0" u="none" strike="noStrike" cap="none" normalizeH="0" baseline="0" dirty="0">
                <a:ln>
                  <a:noFill/>
                </a:ln>
                <a:solidFill>
                  <a:schemeClr val="tx1"/>
                </a:solidFill>
                <a:effectLst/>
                <a:latin typeface="Arial Unicode MS"/>
              </a:rPr>
              <a:t>if-else</a:t>
            </a:r>
            <a:r>
              <a:rPr kumimoji="0" lang="en-US" altLang="en-US" i="0" u="none" strike="noStrike" cap="none" normalizeH="0" baseline="0" dirty="0">
                <a:ln>
                  <a:noFill/>
                </a:ln>
                <a:solidFill>
                  <a:schemeClr val="tx1"/>
                </a:solidFill>
                <a:effectLst/>
              </a:rPr>
              <a:t>.</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7"/>
              <a:tabLst/>
            </a:pPr>
            <a:r>
              <a:rPr kumimoji="0" lang="en-US" altLang="en-US" b="1" i="0" u="none" strike="noStrike" cap="none" normalizeH="0" baseline="0" dirty="0">
                <a:ln>
                  <a:noFill/>
                </a:ln>
                <a:solidFill>
                  <a:schemeClr val="tx1"/>
                </a:solidFill>
                <a:effectLst/>
                <a:latin typeface="Arial" panose="020B0604020202020204" pitchFamily="34" charset="0"/>
              </a:rPr>
              <a:t>Find the Largest Among Three Numbers</a:t>
            </a:r>
            <a:br>
              <a:rPr kumimoji="0" lang="en-US" altLang="en-US" i="0" u="none" strike="noStrike" cap="none" normalizeH="0" baseline="0" dirty="0">
                <a:ln>
                  <a:noFill/>
                </a:ln>
                <a:solidFill>
                  <a:schemeClr val="tx1"/>
                </a:solidFill>
                <a:effectLst/>
                <a:latin typeface="Arial" panose="020B0604020202020204" pitchFamily="34" charset="0"/>
              </a:rPr>
            </a:br>
            <a:r>
              <a:rPr kumimoji="0" lang="en-US" altLang="en-US" i="0" u="none" strike="noStrike" cap="none" normalizeH="0" baseline="0" dirty="0">
                <a:ln>
                  <a:noFill/>
                </a:ln>
                <a:solidFill>
                  <a:schemeClr val="tx1"/>
                </a:solidFill>
                <a:effectLst/>
                <a:latin typeface="Arial" panose="020B0604020202020204" pitchFamily="34" charset="0"/>
              </a:rPr>
              <a:t>Write a Python program that takes three numbers as input and uses </a:t>
            </a:r>
            <a:r>
              <a:rPr kumimoji="0" lang="en-US" altLang="en-US" i="0" u="none" strike="noStrike" cap="none" normalizeH="0" baseline="0" dirty="0">
                <a:ln>
                  <a:noFill/>
                </a:ln>
                <a:solidFill>
                  <a:schemeClr val="tx1"/>
                </a:solidFill>
                <a:effectLst/>
                <a:latin typeface="Arial Unicode MS"/>
              </a:rPr>
              <a:t>if-</a:t>
            </a:r>
            <a:r>
              <a:rPr kumimoji="0" lang="en-US" altLang="en-US" i="0" u="none" strike="noStrike" cap="none" normalizeH="0" baseline="0" dirty="0" err="1">
                <a:ln>
                  <a:noFill/>
                </a:ln>
                <a:solidFill>
                  <a:schemeClr val="tx1"/>
                </a:solidFill>
                <a:effectLst/>
                <a:latin typeface="Arial Unicode MS"/>
              </a:rPr>
              <a:t>elif</a:t>
            </a:r>
            <a:r>
              <a:rPr kumimoji="0" lang="en-US" altLang="en-US" i="0" u="none" strike="noStrike" cap="none" normalizeH="0" baseline="0" dirty="0">
                <a:ln>
                  <a:noFill/>
                </a:ln>
                <a:solidFill>
                  <a:schemeClr val="tx1"/>
                </a:solidFill>
                <a:effectLst/>
                <a:latin typeface="Arial Unicode MS"/>
              </a:rPr>
              <a:t>-else</a:t>
            </a:r>
            <a:r>
              <a:rPr kumimoji="0" lang="en-US" altLang="en-US" i="0" u="none" strike="noStrike" cap="none" normalizeH="0" baseline="0" dirty="0">
                <a:ln>
                  <a:noFill/>
                </a:ln>
                <a:solidFill>
                  <a:schemeClr val="tx1"/>
                </a:solidFill>
                <a:effectLst/>
              </a:rPr>
              <a:t> to find and print the largest number.</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8"/>
              <a:tabLst/>
            </a:pPr>
            <a:r>
              <a:rPr kumimoji="0" lang="en-US" altLang="en-US" b="1" i="0" u="none" strike="noStrike" cap="none" normalizeH="0" baseline="0" dirty="0">
                <a:ln>
                  <a:noFill/>
                </a:ln>
                <a:solidFill>
                  <a:schemeClr val="tx1"/>
                </a:solidFill>
                <a:effectLst/>
                <a:latin typeface="Arial" panose="020B0604020202020204" pitchFamily="34" charset="0"/>
              </a:rPr>
              <a:t>Check Divisibility by 3 and 5</a:t>
            </a:r>
            <a:br>
              <a:rPr kumimoji="0" lang="en-US" altLang="en-US" i="0" u="none" strike="noStrike" cap="none" normalizeH="0" baseline="0" dirty="0">
                <a:ln>
                  <a:noFill/>
                </a:ln>
                <a:solidFill>
                  <a:schemeClr val="tx1"/>
                </a:solidFill>
                <a:effectLst/>
                <a:latin typeface="Arial" panose="020B0604020202020204" pitchFamily="34" charset="0"/>
              </a:rPr>
            </a:br>
            <a:r>
              <a:rPr kumimoji="0" lang="en-US" altLang="en-US" i="0" u="none" strike="noStrike" cap="none" normalizeH="0" baseline="0" dirty="0">
                <a:ln>
                  <a:noFill/>
                </a:ln>
                <a:solidFill>
                  <a:schemeClr val="tx1"/>
                </a:solidFill>
                <a:effectLst/>
                <a:latin typeface="Arial" panose="020B0604020202020204" pitchFamily="34" charset="0"/>
              </a:rPr>
              <a:t>Write a program that checks whether a number is divisible by both 3 and 5 using a single </a:t>
            </a:r>
            <a:r>
              <a:rPr kumimoji="0" lang="en-US" altLang="en-US" i="0" u="none" strike="noStrike" cap="none" normalizeH="0" baseline="0" dirty="0">
                <a:ln>
                  <a:noFill/>
                </a:ln>
                <a:solidFill>
                  <a:schemeClr val="tx1"/>
                </a:solidFill>
                <a:effectLst/>
                <a:latin typeface="Arial Unicode MS"/>
              </a:rPr>
              <a:t>if</a:t>
            </a:r>
            <a:r>
              <a:rPr kumimoji="0" lang="en-US" altLang="en-US" i="0" u="none" strike="noStrike" cap="none" normalizeH="0" baseline="0" dirty="0">
                <a:ln>
                  <a:noFill/>
                </a:ln>
                <a:solidFill>
                  <a:schemeClr val="tx1"/>
                </a:solidFill>
                <a:effectLst/>
              </a:rPr>
              <a:t> statement with logical operators.</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9"/>
              <a:tabLst/>
            </a:pPr>
            <a:r>
              <a:rPr kumimoji="0" lang="en-US" altLang="en-US" b="1" i="0" u="none" strike="noStrike" cap="none" normalizeH="0" baseline="0" dirty="0">
                <a:ln>
                  <a:noFill/>
                </a:ln>
                <a:solidFill>
                  <a:schemeClr val="tx1"/>
                </a:solidFill>
                <a:effectLst/>
                <a:latin typeface="Arial" panose="020B0604020202020204" pitchFamily="34" charset="0"/>
              </a:rPr>
              <a:t>Nested </a:t>
            </a:r>
            <a:r>
              <a:rPr kumimoji="0" lang="en-US" altLang="en-US" b="1" i="0" u="none" strike="noStrike" cap="none" normalizeH="0" baseline="0" dirty="0">
                <a:ln>
                  <a:noFill/>
                </a:ln>
                <a:solidFill>
                  <a:schemeClr val="tx1"/>
                </a:solidFill>
                <a:effectLst/>
                <a:latin typeface="Arial Unicode MS"/>
              </a:rPr>
              <a:t>if-else</a:t>
            </a:r>
            <a:r>
              <a:rPr kumimoji="0" lang="en-US" altLang="en-US" b="1" i="0" u="none" strike="noStrike" cap="none" normalizeH="0" baseline="0" dirty="0">
                <a:ln>
                  <a:noFill/>
                </a:ln>
                <a:solidFill>
                  <a:schemeClr val="tx1"/>
                </a:solidFill>
                <a:effectLst/>
              </a:rPr>
              <a:t>: Age and Gender Check</a:t>
            </a:r>
            <a:br>
              <a:rPr kumimoji="0" lang="en-US" altLang="en-US" i="0" u="none" strike="noStrike" cap="none" normalizeH="0" baseline="0" dirty="0">
                <a:ln>
                  <a:noFill/>
                </a:ln>
                <a:solidFill>
                  <a:schemeClr val="tx1"/>
                </a:solidFill>
                <a:effectLst/>
                <a:latin typeface="Arial" panose="020B0604020202020204" pitchFamily="34" charset="0"/>
              </a:rPr>
            </a:br>
            <a:r>
              <a:rPr kumimoji="0" lang="en-US" altLang="en-US" i="0" u="none" strike="noStrike" cap="none" normalizeH="0" baseline="0" dirty="0">
                <a:ln>
                  <a:noFill/>
                </a:ln>
                <a:solidFill>
                  <a:schemeClr val="tx1"/>
                </a:solidFill>
                <a:effectLst/>
                <a:latin typeface="Arial" panose="020B0604020202020204" pitchFamily="34" charset="0"/>
              </a:rPr>
              <a:t>Write a program that checks if a person is eligible for a job:</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Age must be above 18</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If age &gt; 18, then check gender:</a:t>
            </a: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If male → eligible</a:t>
            </a:r>
          </a:p>
          <a:p>
            <a:pPr marL="914400" marR="0" lvl="2" indent="0"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If female → not eligible</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Use nested </a:t>
            </a:r>
            <a:r>
              <a:rPr kumimoji="0" lang="en-US" altLang="en-US" sz="1800" i="0" u="none" strike="noStrike" cap="none" normalizeH="0" baseline="0" dirty="0">
                <a:ln>
                  <a:noFill/>
                </a:ln>
                <a:solidFill>
                  <a:schemeClr val="tx1"/>
                </a:solidFill>
                <a:effectLst/>
                <a:latin typeface="Arial Unicode MS"/>
              </a:rPr>
              <a:t>if-else</a:t>
            </a:r>
            <a:r>
              <a:rPr kumimoji="0" lang="en-US" altLang="en-US" sz="1800" i="0" u="none" strike="noStrike" cap="none" normalizeH="0" baseline="0" dirty="0">
                <a:ln>
                  <a:noFill/>
                </a:ln>
                <a:solidFill>
                  <a:schemeClr val="tx1"/>
                </a:solidFill>
                <a:effectLst/>
              </a:rPr>
              <a:t> statements.</a:t>
            </a:r>
          </a:p>
          <a:p>
            <a:pPr marL="914400" marR="0" lvl="2" indent="0"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10"/>
              <a:tabLst/>
            </a:pPr>
            <a:r>
              <a:rPr kumimoji="0" lang="en-US" altLang="en-US" b="1" i="0" u="none" strike="noStrike" cap="none" normalizeH="0" baseline="0" dirty="0">
                <a:ln>
                  <a:noFill/>
                </a:ln>
                <a:solidFill>
                  <a:schemeClr val="tx1"/>
                </a:solidFill>
                <a:effectLst/>
                <a:latin typeface="Arial" panose="020B0604020202020204" pitchFamily="34" charset="0"/>
              </a:rPr>
              <a:t>Electricity Bill Calculator (Simple Slab System)</a:t>
            </a:r>
            <a:br>
              <a:rPr kumimoji="0" lang="en-US" altLang="en-US" i="0" u="none" strike="noStrike" cap="none" normalizeH="0" baseline="0" dirty="0">
                <a:ln>
                  <a:noFill/>
                </a:ln>
                <a:solidFill>
                  <a:schemeClr val="tx1"/>
                </a:solidFill>
                <a:effectLst/>
                <a:latin typeface="Arial" panose="020B0604020202020204" pitchFamily="34" charset="0"/>
              </a:rPr>
            </a:br>
            <a:r>
              <a:rPr kumimoji="0" lang="en-US" altLang="en-US" i="0" u="none" strike="noStrike" cap="none" normalizeH="0" baseline="0" dirty="0">
                <a:ln>
                  <a:noFill/>
                </a:ln>
                <a:solidFill>
                  <a:schemeClr val="tx1"/>
                </a:solidFill>
                <a:effectLst/>
                <a:latin typeface="Arial" panose="020B0604020202020204" pitchFamily="34" charset="0"/>
              </a:rPr>
              <a:t>Write a program to input the number of electricity units consumed and calculate the bill using the following rules: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Up to 100 units: ₹5/unit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101–200 units: ₹7/unit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More than 200 units: ₹10/unit</a:t>
            </a:r>
            <a:br>
              <a:rPr kumimoji="0" lang="en-US" altLang="en-US" i="0" u="none" strike="noStrike" cap="none" normalizeH="0" baseline="0" dirty="0">
                <a:ln>
                  <a:noFill/>
                </a:ln>
                <a:solidFill>
                  <a:schemeClr val="tx1"/>
                </a:solidFill>
                <a:effectLst/>
                <a:latin typeface="Arial" panose="020B0604020202020204" pitchFamily="34" charset="0"/>
              </a:rPr>
            </a:br>
            <a:r>
              <a:rPr kumimoji="0" lang="en-US" altLang="en-US" i="0" u="none" strike="noStrike" cap="none" normalizeH="0" baseline="0" dirty="0">
                <a:ln>
                  <a:noFill/>
                </a:ln>
                <a:solidFill>
                  <a:schemeClr val="tx1"/>
                </a:solidFill>
                <a:effectLst/>
                <a:latin typeface="Arial" panose="020B0604020202020204" pitchFamily="34" charset="0"/>
              </a:rPr>
              <a:t>Use </a:t>
            </a:r>
            <a:r>
              <a:rPr kumimoji="0" lang="en-US" altLang="en-US" i="0" u="none" strike="noStrike" cap="none" normalizeH="0" baseline="0" dirty="0">
                <a:ln>
                  <a:noFill/>
                </a:ln>
                <a:solidFill>
                  <a:schemeClr val="tx1"/>
                </a:solidFill>
                <a:effectLst/>
                <a:latin typeface="Arial Unicode MS"/>
              </a:rPr>
              <a:t>if-</a:t>
            </a:r>
            <a:r>
              <a:rPr kumimoji="0" lang="en-US" altLang="en-US" i="0" u="none" strike="noStrike" cap="none" normalizeH="0" baseline="0" dirty="0" err="1">
                <a:ln>
                  <a:noFill/>
                </a:ln>
                <a:solidFill>
                  <a:schemeClr val="tx1"/>
                </a:solidFill>
                <a:effectLst/>
                <a:latin typeface="Arial Unicode MS"/>
              </a:rPr>
              <a:t>elif</a:t>
            </a:r>
            <a:r>
              <a:rPr kumimoji="0" lang="en-US" altLang="en-US" i="0" u="none" strike="noStrike" cap="none" normalizeH="0" baseline="0" dirty="0">
                <a:ln>
                  <a:noFill/>
                </a:ln>
                <a:solidFill>
                  <a:schemeClr val="tx1"/>
                </a:solidFill>
                <a:effectLst/>
                <a:latin typeface="Arial Unicode MS"/>
              </a:rPr>
              <a:t>-else</a:t>
            </a:r>
            <a:r>
              <a:rPr kumimoji="0" lang="en-US" altLang="en-US" i="0" u="none" strike="noStrike" cap="none" normalizeH="0" baseline="0" dirty="0">
                <a:ln>
                  <a:noFill/>
                </a:ln>
                <a:solidFill>
                  <a:schemeClr val="tx1"/>
                </a:solidFill>
                <a:effectLst/>
              </a:rPr>
              <a:t> to solve.</a:t>
            </a:r>
            <a:endParaRPr kumimoji="0" lang="en-US" altLang="en-US"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8704773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D40A-1FD3-61A1-6C80-6465D151182C}"/>
              </a:ext>
            </a:extLst>
          </p:cNvPr>
          <p:cNvSpPr>
            <a:spLocks noGrp="1"/>
          </p:cNvSpPr>
          <p:nvPr>
            <p:ph type="title"/>
          </p:nvPr>
        </p:nvSpPr>
        <p:spPr>
          <a:xfrm>
            <a:off x="379105" y="159087"/>
            <a:ext cx="10888595" cy="529390"/>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Looping Statements</a:t>
            </a:r>
          </a:p>
        </p:txBody>
      </p:sp>
      <p:sp>
        <p:nvSpPr>
          <p:cNvPr id="4" name="Rectangle 1">
            <a:extLst>
              <a:ext uri="{FF2B5EF4-FFF2-40B4-BE49-F238E27FC236}">
                <a16:creationId xmlns:a16="http://schemas.microsoft.com/office/drawing/2014/main" id="{E18AE0A0-CE86-B69E-14CA-7DBDF0EADAA7}"/>
              </a:ext>
            </a:extLst>
          </p:cNvPr>
          <p:cNvSpPr>
            <a:spLocks noGrp="1" noChangeArrowheads="1"/>
          </p:cNvSpPr>
          <p:nvPr>
            <p:ph idx="1"/>
          </p:nvPr>
        </p:nvSpPr>
        <p:spPr bwMode="auto">
          <a:xfrm>
            <a:off x="218662" y="1337935"/>
            <a:ext cx="11754675" cy="389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looping statement</a:t>
            </a:r>
            <a:r>
              <a:rPr kumimoji="0" lang="en-US" altLang="en-US" b="0" i="0" u="none" strike="noStrike" cap="none" normalizeH="0" baseline="0" dirty="0">
                <a:ln>
                  <a:noFill/>
                </a:ln>
                <a:solidFill>
                  <a:schemeClr val="tx1"/>
                </a:solidFill>
                <a:effectLst/>
                <a:latin typeface="Arial" panose="020B0604020202020204" pitchFamily="34" charset="0"/>
              </a:rPr>
              <a:t> allows you to </a:t>
            </a:r>
            <a:r>
              <a:rPr kumimoji="0" lang="en-US" altLang="en-US" b="1" i="0" u="none" strike="noStrike" cap="none" normalizeH="0" baseline="0" dirty="0">
                <a:ln>
                  <a:noFill/>
                </a:ln>
                <a:solidFill>
                  <a:schemeClr val="tx1"/>
                </a:solidFill>
                <a:effectLst/>
                <a:latin typeface="Arial" panose="020B0604020202020204" pitchFamily="34" charset="0"/>
              </a:rPr>
              <a:t>execute a block of code repeatedly</a:t>
            </a:r>
            <a:r>
              <a:rPr kumimoji="0" lang="en-US" altLang="en-US" b="0" i="0" u="none" strike="noStrike" cap="none" normalizeH="0" baseline="0" dirty="0">
                <a:ln>
                  <a:noFill/>
                </a:ln>
                <a:solidFill>
                  <a:schemeClr val="tx1"/>
                </a:solidFill>
                <a:effectLst/>
                <a:latin typeface="Arial" panose="020B0604020202020204" pitchFamily="34" charset="0"/>
              </a:rPr>
              <a:t> based on a condition.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i="0" u="none" strike="noStrike" cap="none" normalizeH="0" baseline="0" dirty="0">
                <a:ln>
                  <a:noFill/>
                </a:ln>
                <a:solidFill>
                  <a:schemeClr val="tx1"/>
                </a:solidFill>
                <a:effectLst/>
                <a:latin typeface="Arial" panose="020B0604020202020204" pitchFamily="34" charset="0"/>
              </a:rPr>
              <a:t>Looping statements are used to execute a block of code repeatedly until a specific condition is met.</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i="0" u="none" strike="noStrike" cap="none" normalizeH="0" baseline="0" dirty="0">
                <a:ln>
                  <a:noFill/>
                </a:ln>
                <a:solidFill>
                  <a:schemeClr val="tx1"/>
                </a:solidFill>
                <a:effectLst/>
                <a:latin typeface="Arial" panose="020B0604020202020204" pitchFamily="34" charset="0"/>
              </a:rPr>
              <a:t>Python supports two main types of loops: </a:t>
            </a:r>
            <a:r>
              <a:rPr kumimoji="0" lang="en-US" altLang="en-US" i="0" u="none" strike="noStrike" cap="none" normalizeH="0" baseline="0" dirty="0">
                <a:ln>
                  <a:noFill/>
                </a:ln>
                <a:solidFill>
                  <a:schemeClr val="tx1"/>
                </a:solidFill>
                <a:effectLst/>
                <a:latin typeface="Arial Unicode MS"/>
              </a:rPr>
              <a:t>for</a:t>
            </a:r>
            <a:r>
              <a:rPr kumimoji="0" lang="en-US" altLang="en-US" i="0" u="none" strike="noStrike" cap="none" normalizeH="0" baseline="0" dirty="0">
                <a:ln>
                  <a:noFill/>
                </a:ln>
                <a:solidFill>
                  <a:schemeClr val="tx1"/>
                </a:solidFill>
                <a:effectLst/>
              </a:rPr>
              <a:t> loops and </a:t>
            </a:r>
            <a:r>
              <a:rPr kumimoji="0" lang="en-US" altLang="en-US" i="0" u="none" strike="noStrike" cap="none" normalizeH="0" baseline="0" dirty="0">
                <a:ln>
                  <a:noFill/>
                </a:ln>
                <a:solidFill>
                  <a:schemeClr val="tx1"/>
                </a:solidFill>
                <a:effectLst/>
                <a:latin typeface="Arial Unicode MS"/>
              </a:rPr>
              <a:t>while</a:t>
            </a:r>
            <a:r>
              <a:rPr kumimoji="0" lang="en-US" altLang="en-US" i="0" u="none" strike="noStrike" cap="none" normalizeH="0" baseline="0" dirty="0">
                <a:ln>
                  <a:noFill/>
                </a:ln>
                <a:solidFill>
                  <a:schemeClr val="tx1"/>
                </a:solidFill>
                <a:effectLst/>
              </a:rPr>
              <a:t> loops.</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i="0" u="none" strike="noStrike" cap="none" normalizeH="0" baseline="0" dirty="0">
                <a:ln>
                  <a:noFill/>
                </a:ln>
                <a:solidFill>
                  <a:schemeClr val="tx1"/>
                </a:solidFill>
                <a:effectLst/>
                <a:latin typeface="Arial" panose="020B0604020202020204" pitchFamily="34" charset="0"/>
              </a:rPr>
              <a:t>The </a:t>
            </a:r>
            <a:r>
              <a:rPr kumimoji="0" lang="en-US" altLang="en-US" i="0" u="none" strike="noStrike" cap="none" normalizeH="0" baseline="0" dirty="0">
                <a:ln>
                  <a:noFill/>
                </a:ln>
                <a:solidFill>
                  <a:schemeClr val="tx1"/>
                </a:solidFill>
                <a:effectLst/>
                <a:latin typeface="Arial Unicode MS"/>
              </a:rPr>
              <a:t>for</a:t>
            </a:r>
            <a:r>
              <a:rPr kumimoji="0" lang="en-US" altLang="en-US" i="0" u="none" strike="noStrike" cap="none" normalizeH="0" baseline="0" dirty="0">
                <a:ln>
                  <a:noFill/>
                </a:ln>
                <a:solidFill>
                  <a:schemeClr val="tx1"/>
                </a:solidFill>
                <a:effectLst/>
              </a:rPr>
              <a:t> loop is commonly used to iterate over sequences such as lists, strings, and ranges.</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i="0" u="none" strike="noStrike" cap="none" normalizeH="0" baseline="0" dirty="0">
                <a:ln>
                  <a:noFill/>
                </a:ln>
                <a:solidFill>
                  <a:schemeClr val="tx1"/>
                </a:solidFill>
                <a:effectLst/>
                <a:latin typeface="Arial" panose="020B0604020202020204" pitchFamily="34" charset="0"/>
              </a:rPr>
              <a:t>The </a:t>
            </a:r>
            <a:r>
              <a:rPr kumimoji="0" lang="en-US" altLang="en-US" i="0" u="none" strike="noStrike" cap="none" normalizeH="0" baseline="0" dirty="0">
                <a:ln>
                  <a:noFill/>
                </a:ln>
                <a:solidFill>
                  <a:schemeClr val="tx1"/>
                </a:solidFill>
                <a:effectLst/>
                <a:latin typeface="Arial Unicode MS"/>
              </a:rPr>
              <a:t>while</a:t>
            </a:r>
            <a:r>
              <a:rPr kumimoji="0" lang="en-US" altLang="en-US" i="0" u="none" strike="noStrike" cap="none" normalizeH="0" baseline="0" dirty="0">
                <a:ln>
                  <a:noFill/>
                </a:ln>
                <a:solidFill>
                  <a:schemeClr val="tx1"/>
                </a:solidFill>
                <a:effectLst/>
              </a:rPr>
              <a:t> loop continues to execute as long as the given condition remains </a:t>
            </a:r>
            <a:r>
              <a:rPr kumimoji="0" lang="en-US" altLang="en-US" i="0" u="none" strike="noStrike" cap="none" normalizeH="0" baseline="0" dirty="0">
                <a:ln>
                  <a:noFill/>
                </a:ln>
                <a:solidFill>
                  <a:schemeClr val="tx1"/>
                </a:solidFill>
                <a:effectLst/>
                <a:latin typeface="Arial Unicode MS"/>
              </a:rPr>
              <a:t>True</a:t>
            </a:r>
            <a:r>
              <a:rPr kumimoji="0" lang="en-US" altLang="en-US" i="0" u="none" strike="noStrike" cap="none" normalizeH="0" baseline="0" dirty="0">
                <a:ln>
                  <a:noFill/>
                </a:ln>
                <a:solidFill>
                  <a:schemeClr val="tx1"/>
                </a:solidFill>
                <a:effectLst/>
              </a:rPr>
              <a:t>.</a:t>
            </a:r>
            <a:endParaRPr kumimoji="0" lang="en-US" altLang="en-US"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i="0" u="none" strike="noStrike" cap="none" normalizeH="0" baseline="0" dirty="0">
                <a:ln>
                  <a:noFill/>
                </a:ln>
                <a:solidFill>
                  <a:schemeClr val="tx1"/>
                </a:solidFill>
                <a:effectLst/>
                <a:latin typeface="Arial" panose="020B0604020202020204" pitchFamily="34" charset="0"/>
              </a:rPr>
              <a:t>Loop control statements like </a:t>
            </a:r>
            <a:r>
              <a:rPr kumimoji="0" lang="en-US" altLang="en-US" i="0" u="none" strike="noStrike" cap="none" normalizeH="0" baseline="0" dirty="0">
                <a:ln>
                  <a:noFill/>
                </a:ln>
                <a:solidFill>
                  <a:schemeClr val="tx1"/>
                </a:solidFill>
                <a:effectLst/>
                <a:latin typeface="Arial Unicode MS"/>
              </a:rPr>
              <a:t>break</a:t>
            </a:r>
            <a:r>
              <a:rPr kumimoji="0" lang="en-US" altLang="en-US" i="0" u="none" strike="noStrike" cap="none" normalizeH="0" baseline="0" dirty="0">
                <a:ln>
                  <a:noFill/>
                </a:ln>
                <a:solidFill>
                  <a:schemeClr val="tx1"/>
                </a:solidFill>
                <a:effectLst/>
              </a:rPr>
              <a:t>, </a:t>
            </a:r>
            <a:r>
              <a:rPr kumimoji="0" lang="en-US" altLang="en-US" i="0" u="none" strike="noStrike" cap="none" normalizeH="0" baseline="0" dirty="0">
                <a:ln>
                  <a:noFill/>
                </a:ln>
                <a:solidFill>
                  <a:schemeClr val="tx1"/>
                </a:solidFill>
                <a:effectLst/>
                <a:latin typeface="Arial Unicode MS"/>
              </a:rPr>
              <a:t>continue</a:t>
            </a:r>
            <a:r>
              <a:rPr kumimoji="0" lang="en-US" altLang="en-US" i="0" u="none" strike="noStrike" cap="none" normalizeH="0" baseline="0" dirty="0">
                <a:ln>
                  <a:noFill/>
                </a:ln>
                <a:solidFill>
                  <a:schemeClr val="tx1"/>
                </a:solidFill>
                <a:effectLst/>
              </a:rPr>
              <a:t>, and </a:t>
            </a:r>
            <a:r>
              <a:rPr kumimoji="0" lang="en-US" altLang="en-US" i="0" u="none" strike="noStrike" cap="none" normalizeH="0" baseline="0" dirty="0">
                <a:ln>
                  <a:noFill/>
                </a:ln>
                <a:solidFill>
                  <a:schemeClr val="tx1"/>
                </a:solidFill>
                <a:effectLst/>
                <a:latin typeface="Arial Unicode MS"/>
              </a:rPr>
              <a:t>pass</a:t>
            </a:r>
            <a:r>
              <a:rPr kumimoji="0" lang="en-US" altLang="en-US" i="0" u="none" strike="noStrike" cap="none" normalizeH="0" baseline="0" dirty="0">
                <a:ln>
                  <a:noFill/>
                </a:ln>
                <a:solidFill>
                  <a:schemeClr val="tx1"/>
                </a:solidFill>
                <a:effectLst/>
              </a:rPr>
              <a:t> are used to modify the flow of loops.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Python provides two main types of loops:</a:t>
            </a:r>
            <a:endParaRPr lang="en-US" altLang="en-US" dirty="0">
              <a:solidFill>
                <a:schemeClr val="tx1"/>
              </a:solidFill>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for</a:t>
            </a:r>
            <a:r>
              <a:rPr kumimoji="0" lang="en-US" altLang="en-US" sz="2000" b="0" i="0" u="none" strike="noStrike" cap="none" normalizeH="0" baseline="0" dirty="0">
                <a:ln>
                  <a:noFill/>
                </a:ln>
                <a:solidFill>
                  <a:schemeClr val="tx1"/>
                </a:solidFill>
                <a:effectLst/>
              </a:rPr>
              <a:t> loop</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lang="en-US" altLang="en-US" sz="2000" dirty="0">
                <a:solidFill>
                  <a:schemeClr val="tx1"/>
                </a:solidFill>
              </a:rPr>
              <a:t>	</a:t>
            </a:r>
            <a:r>
              <a:rPr kumimoji="0" lang="en-US" altLang="en-US" sz="2000" b="0" i="0" u="none" strike="noStrike" cap="none" normalizeH="0" baseline="0" dirty="0">
                <a:ln>
                  <a:noFill/>
                </a:ln>
                <a:solidFill>
                  <a:schemeClr val="tx1"/>
                </a:solidFill>
                <a:effectLst/>
                <a:latin typeface="Arial Unicode MS"/>
              </a:rPr>
              <a:t>while</a:t>
            </a:r>
            <a:r>
              <a:rPr kumimoji="0" lang="en-US" altLang="en-US" sz="2000" b="0" i="0" u="none" strike="noStrike" cap="none" normalizeH="0" baseline="0" dirty="0">
                <a:ln>
                  <a:noFill/>
                </a:ln>
                <a:solidFill>
                  <a:schemeClr val="tx1"/>
                </a:solidFill>
                <a:effectLst/>
              </a:rPr>
              <a:t> loop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3129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ED5DD89-A306-5C9B-9658-241AF9326F4D}"/>
              </a:ext>
            </a:extLst>
          </p:cNvPr>
          <p:cNvSpPr>
            <a:spLocks noGrp="1" noChangeArrowheads="1"/>
          </p:cNvSpPr>
          <p:nvPr>
            <p:ph type="title"/>
          </p:nvPr>
        </p:nvSpPr>
        <p:spPr bwMode="auto">
          <a:xfrm>
            <a:off x="102743" y="98819"/>
            <a:ext cx="106210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FF0000"/>
                </a:solidFill>
                <a:effectLst/>
                <a:latin typeface="Arial Unicode MS"/>
              </a:rPr>
              <a:t>range()</a:t>
            </a:r>
            <a:r>
              <a:rPr kumimoji="0" lang="en-US" altLang="en-US" sz="2800" b="1" i="0" u="none" strike="noStrike" cap="none" normalizeH="0" baseline="0" dirty="0">
                <a:ln>
                  <a:noFill/>
                </a:ln>
                <a:solidFill>
                  <a:srgbClr val="FF0000"/>
                </a:solidFill>
                <a:effectLst/>
              </a:rPr>
              <a:t> Function in Python? </a:t>
            </a:r>
            <a:endParaRPr kumimoji="0" lang="en-US" altLang="en-US" sz="2800" b="1" i="0" u="none" strike="noStrike" cap="none" normalizeH="0" baseline="0" dirty="0">
              <a:ln>
                <a:noFill/>
              </a:ln>
              <a:solidFill>
                <a:srgbClr val="FF0000"/>
              </a:solidFill>
              <a:effectLst/>
              <a:latin typeface="Arial" panose="020B0604020202020204" pitchFamily="34" charset="0"/>
            </a:endParaRPr>
          </a:p>
        </p:txBody>
      </p:sp>
      <p:sp>
        <p:nvSpPr>
          <p:cNvPr id="5" name="Rectangle 2">
            <a:extLst>
              <a:ext uri="{FF2B5EF4-FFF2-40B4-BE49-F238E27FC236}">
                <a16:creationId xmlns:a16="http://schemas.microsoft.com/office/drawing/2014/main" id="{D148BA7F-357B-DD72-411E-A03A9B5A010A}"/>
              </a:ext>
            </a:extLst>
          </p:cNvPr>
          <p:cNvSpPr>
            <a:spLocks noGrp="1" noChangeArrowheads="1"/>
          </p:cNvSpPr>
          <p:nvPr>
            <p:ph idx="1"/>
          </p:nvPr>
        </p:nvSpPr>
        <p:spPr bwMode="auto">
          <a:xfrm>
            <a:off x="102743" y="618550"/>
            <a:ext cx="1167169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1" i="0" u="none" strike="noStrike" cap="none" normalizeH="0" baseline="0" dirty="0">
                <a:ln>
                  <a:noFill/>
                </a:ln>
                <a:solidFill>
                  <a:schemeClr val="tx1"/>
                </a:solidFill>
                <a:effectLst/>
                <a:latin typeface="Arial Unicode MS"/>
              </a:rPr>
              <a:t>range()</a:t>
            </a:r>
            <a:r>
              <a:rPr kumimoji="0" lang="en-US" altLang="en-US" b="0" i="0" u="none" strike="noStrike" cap="none" normalizeH="0" baseline="0" dirty="0">
                <a:ln>
                  <a:noFill/>
                </a:ln>
                <a:solidFill>
                  <a:schemeClr val="tx1"/>
                </a:solidFill>
                <a:effectLst/>
              </a:rPr>
              <a:t> function in Python is used to </a:t>
            </a:r>
            <a:r>
              <a:rPr kumimoji="0" lang="en-US" altLang="en-US" b="1" i="0" u="none" strike="noStrike" cap="none" normalizeH="0" baseline="0" dirty="0">
                <a:ln>
                  <a:noFill/>
                </a:ln>
                <a:solidFill>
                  <a:schemeClr val="tx1"/>
                </a:solidFill>
                <a:effectLst/>
                <a:latin typeface="Arial" panose="020B0604020202020204" pitchFamily="34" charset="0"/>
              </a:rPr>
              <a:t>generate a sequence of numbers</a:t>
            </a:r>
            <a:r>
              <a:rPr kumimoji="0" lang="en-US" altLang="en-US" b="0" i="0" u="none" strike="noStrike" cap="none" normalizeH="0" baseline="0" dirty="0">
                <a:ln>
                  <a:noFill/>
                </a:ln>
                <a:solidFill>
                  <a:schemeClr val="tx1"/>
                </a:solidFill>
                <a:effectLst/>
                <a:latin typeface="Arial" panose="020B0604020202020204" pitchFamily="34" charset="0"/>
              </a:rPr>
              <a:t>. It's commonly used in </a:t>
            </a:r>
            <a:r>
              <a:rPr kumimoji="0" lang="en-US" altLang="en-US" b="1" i="0" u="none" strike="noStrike" cap="none" normalizeH="0" baseline="0" dirty="0">
                <a:ln>
                  <a:noFill/>
                </a:ln>
                <a:solidFill>
                  <a:schemeClr val="tx1"/>
                </a:solidFill>
                <a:effectLst/>
                <a:latin typeface="Arial" panose="020B0604020202020204" pitchFamily="34" charset="0"/>
              </a:rPr>
              <a:t>loops</a:t>
            </a:r>
            <a:r>
              <a:rPr kumimoji="0" lang="en-US" altLang="en-US" b="0" i="0" u="none" strike="noStrike" cap="none" normalizeH="0" baseline="0" dirty="0">
                <a:ln>
                  <a:noFill/>
                </a:ln>
                <a:solidFill>
                  <a:schemeClr val="tx1"/>
                </a:solidFill>
                <a:effectLst/>
                <a:latin typeface="Arial" panose="020B0604020202020204" pitchFamily="34" charset="0"/>
              </a:rPr>
              <a:t>, especially </a:t>
            </a:r>
            <a:r>
              <a:rPr kumimoji="0" lang="en-US" altLang="en-US" b="0" i="0" u="none" strike="noStrike" cap="none" normalizeH="0" baseline="0" dirty="0">
                <a:ln>
                  <a:noFill/>
                </a:ln>
                <a:solidFill>
                  <a:schemeClr val="tx1"/>
                </a:solidFill>
                <a:effectLst/>
                <a:latin typeface="Arial Unicode MS"/>
              </a:rPr>
              <a:t>for</a:t>
            </a:r>
            <a:r>
              <a:rPr kumimoji="0" lang="en-US" altLang="en-US" b="0" i="0" u="none" strike="noStrike" cap="none" normalizeH="0" baseline="0" dirty="0">
                <a:ln>
                  <a:noFill/>
                </a:ln>
                <a:solidFill>
                  <a:schemeClr val="tx1"/>
                </a:solidFill>
                <a:effectLst/>
              </a:rPr>
              <a:t> loops, to specify how many times the loop should run or what values to iterate over.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7C93AB28-B651-2E83-4707-F53B228D4C23}"/>
              </a:ext>
            </a:extLst>
          </p:cNvPr>
          <p:cNvGraphicFramePr>
            <a:graphicFrameLocks noGrp="1"/>
          </p:cNvGraphicFramePr>
          <p:nvPr>
            <p:extLst>
              <p:ext uri="{D42A27DB-BD31-4B8C-83A1-F6EECF244321}">
                <p14:modId xmlns:p14="http://schemas.microsoft.com/office/powerpoint/2010/main" val="3131103334"/>
              </p:ext>
            </p:extLst>
          </p:nvPr>
        </p:nvGraphicFramePr>
        <p:xfrm>
          <a:off x="253367" y="2707197"/>
          <a:ext cx="11685266" cy="1463040"/>
        </p:xfrm>
        <a:graphic>
          <a:graphicData uri="http://schemas.openxmlformats.org/drawingml/2006/table">
            <a:tbl>
              <a:tblPr/>
              <a:tblGrid>
                <a:gridCol w="1815226">
                  <a:extLst>
                    <a:ext uri="{9D8B030D-6E8A-4147-A177-3AD203B41FA5}">
                      <a16:colId xmlns:a16="http://schemas.microsoft.com/office/drawing/2014/main" val="1725897080"/>
                    </a:ext>
                  </a:extLst>
                </a:gridCol>
                <a:gridCol w="6852863">
                  <a:extLst>
                    <a:ext uri="{9D8B030D-6E8A-4147-A177-3AD203B41FA5}">
                      <a16:colId xmlns:a16="http://schemas.microsoft.com/office/drawing/2014/main" val="713026874"/>
                    </a:ext>
                  </a:extLst>
                </a:gridCol>
                <a:gridCol w="3017177">
                  <a:extLst>
                    <a:ext uri="{9D8B030D-6E8A-4147-A177-3AD203B41FA5}">
                      <a16:colId xmlns:a16="http://schemas.microsoft.com/office/drawing/2014/main" val="742535709"/>
                    </a:ext>
                  </a:extLst>
                </a:gridCol>
              </a:tblGrid>
              <a:tr h="0">
                <a:tc>
                  <a:txBody>
                    <a:bodyPr/>
                    <a:lstStyle/>
                    <a:p>
                      <a:pPr algn="ctr"/>
                      <a:r>
                        <a:rPr lang="en-US" b="1" dirty="0">
                          <a:solidFill>
                            <a:srgbClr val="C00000"/>
                          </a:solidFill>
                        </a:rPr>
                        <a:t>Parameter</a:t>
                      </a:r>
                    </a:p>
                  </a:txBody>
                  <a:tcPr anchor="ctr">
                    <a:lnL>
                      <a:noFill/>
                    </a:lnL>
                    <a:lnR>
                      <a:noFill/>
                    </a:lnR>
                    <a:lnT>
                      <a:noFill/>
                    </a:lnT>
                    <a:lnB>
                      <a:noFill/>
                    </a:lnB>
                    <a:solidFill>
                      <a:schemeClr val="accent5">
                        <a:lumMod val="60000"/>
                        <a:lumOff val="40000"/>
                      </a:schemeClr>
                    </a:solidFill>
                  </a:tcPr>
                </a:tc>
                <a:tc>
                  <a:txBody>
                    <a:bodyPr/>
                    <a:lstStyle/>
                    <a:p>
                      <a:pPr algn="ctr"/>
                      <a:r>
                        <a:rPr lang="en-US" b="1">
                          <a:solidFill>
                            <a:srgbClr val="C00000"/>
                          </a:solidFill>
                        </a:rPr>
                        <a:t>Description</a:t>
                      </a:r>
                    </a:p>
                  </a:txBody>
                  <a:tcPr anchor="ctr">
                    <a:lnL>
                      <a:noFill/>
                    </a:lnL>
                    <a:lnR>
                      <a:noFill/>
                    </a:lnR>
                    <a:lnT>
                      <a:noFill/>
                    </a:lnT>
                    <a:lnB>
                      <a:noFill/>
                    </a:lnB>
                    <a:solidFill>
                      <a:schemeClr val="accent5">
                        <a:lumMod val="60000"/>
                        <a:lumOff val="40000"/>
                      </a:schemeClr>
                    </a:solidFill>
                  </a:tcPr>
                </a:tc>
                <a:tc>
                  <a:txBody>
                    <a:bodyPr/>
                    <a:lstStyle/>
                    <a:p>
                      <a:pPr algn="ctr"/>
                      <a:r>
                        <a:rPr lang="en-US" b="1" dirty="0">
                          <a:solidFill>
                            <a:srgbClr val="C00000"/>
                          </a:solidFill>
                        </a:rPr>
                        <a:t>Optional/Required</a:t>
                      </a:r>
                    </a:p>
                  </a:txBody>
                  <a:tcPr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2382831201"/>
                  </a:ext>
                </a:extLst>
              </a:tr>
              <a:tr h="0">
                <a:tc>
                  <a:txBody>
                    <a:bodyPr/>
                    <a:lstStyle/>
                    <a:p>
                      <a:pPr algn="ctr"/>
                      <a:r>
                        <a:rPr lang="en-US" dirty="0"/>
                        <a:t>start</a:t>
                      </a:r>
                    </a:p>
                  </a:txBody>
                  <a:tcPr anchor="ctr">
                    <a:lnL>
                      <a:noFill/>
                    </a:lnL>
                    <a:lnR>
                      <a:noFill/>
                    </a:lnR>
                    <a:lnT>
                      <a:noFill/>
                    </a:lnT>
                    <a:lnB>
                      <a:noFill/>
                    </a:lnB>
                    <a:solidFill>
                      <a:schemeClr val="accent2">
                        <a:lumMod val="20000"/>
                        <a:lumOff val="80000"/>
                      </a:schemeClr>
                    </a:solidFill>
                  </a:tcPr>
                </a:tc>
                <a:tc>
                  <a:txBody>
                    <a:bodyPr/>
                    <a:lstStyle/>
                    <a:p>
                      <a:pPr algn="ctr"/>
                      <a:r>
                        <a:rPr lang="en-US" dirty="0"/>
                        <a:t>Starting number of the sequence</a:t>
                      </a:r>
                    </a:p>
                  </a:txBody>
                  <a:tcPr anchor="ctr">
                    <a:lnL>
                      <a:noFill/>
                    </a:lnL>
                    <a:lnR>
                      <a:noFill/>
                    </a:lnR>
                    <a:lnT>
                      <a:noFill/>
                    </a:lnT>
                    <a:lnB>
                      <a:noFill/>
                    </a:lnB>
                    <a:solidFill>
                      <a:schemeClr val="accent2">
                        <a:lumMod val="20000"/>
                        <a:lumOff val="80000"/>
                      </a:schemeClr>
                    </a:solidFill>
                  </a:tcPr>
                </a:tc>
                <a:tc>
                  <a:txBody>
                    <a:bodyPr/>
                    <a:lstStyle/>
                    <a:p>
                      <a:pPr algn="ctr"/>
                      <a:r>
                        <a:rPr lang="en-US" dirty="0"/>
                        <a:t>Optional (default is 0)</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4196422102"/>
                  </a:ext>
                </a:extLst>
              </a:tr>
              <a:tr h="0">
                <a:tc>
                  <a:txBody>
                    <a:bodyPr/>
                    <a:lstStyle/>
                    <a:p>
                      <a:pPr algn="ctr"/>
                      <a:r>
                        <a:rPr lang="en-US"/>
                        <a:t>stop</a:t>
                      </a:r>
                    </a:p>
                  </a:txBody>
                  <a:tcPr anchor="ctr">
                    <a:lnL>
                      <a:noFill/>
                    </a:lnL>
                    <a:lnR>
                      <a:noFill/>
                    </a:lnR>
                    <a:lnT>
                      <a:noFill/>
                    </a:lnT>
                    <a:lnB>
                      <a:noFill/>
                    </a:lnB>
                    <a:solidFill>
                      <a:schemeClr val="accent2">
                        <a:lumMod val="20000"/>
                        <a:lumOff val="80000"/>
                      </a:schemeClr>
                    </a:solidFill>
                  </a:tcPr>
                </a:tc>
                <a:tc>
                  <a:txBody>
                    <a:bodyPr/>
                    <a:lstStyle/>
                    <a:p>
                      <a:pPr algn="ctr"/>
                      <a:r>
                        <a:rPr lang="en-US" dirty="0"/>
                        <a:t>End of the sequence (not included)</a:t>
                      </a:r>
                    </a:p>
                  </a:txBody>
                  <a:tcPr anchor="ctr">
                    <a:lnL>
                      <a:noFill/>
                    </a:lnL>
                    <a:lnR>
                      <a:noFill/>
                    </a:lnR>
                    <a:lnT>
                      <a:noFill/>
                    </a:lnT>
                    <a:lnB>
                      <a:noFill/>
                    </a:lnB>
                    <a:solidFill>
                      <a:schemeClr val="accent2">
                        <a:lumMod val="20000"/>
                        <a:lumOff val="80000"/>
                      </a:schemeClr>
                    </a:solidFill>
                  </a:tcPr>
                </a:tc>
                <a:tc>
                  <a:txBody>
                    <a:bodyPr/>
                    <a:lstStyle/>
                    <a:p>
                      <a:pPr algn="ctr"/>
                      <a:r>
                        <a:rPr lang="en-US" dirty="0"/>
                        <a:t>Required</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910176006"/>
                  </a:ext>
                </a:extLst>
              </a:tr>
              <a:tr h="0">
                <a:tc>
                  <a:txBody>
                    <a:bodyPr/>
                    <a:lstStyle/>
                    <a:p>
                      <a:pPr algn="ctr"/>
                      <a:r>
                        <a:rPr lang="en-US"/>
                        <a:t>step</a:t>
                      </a:r>
                    </a:p>
                  </a:txBody>
                  <a:tcPr anchor="ctr">
                    <a:lnL>
                      <a:noFill/>
                    </a:lnL>
                    <a:lnR>
                      <a:noFill/>
                    </a:lnR>
                    <a:lnT>
                      <a:noFill/>
                    </a:lnT>
                    <a:lnB>
                      <a:noFill/>
                    </a:lnB>
                    <a:solidFill>
                      <a:schemeClr val="accent2">
                        <a:lumMod val="20000"/>
                        <a:lumOff val="80000"/>
                      </a:schemeClr>
                    </a:solidFill>
                  </a:tcPr>
                </a:tc>
                <a:tc>
                  <a:txBody>
                    <a:bodyPr/>
                    <a:lstStyle/>
                    <a:p>
                      <a:pPr algn="ctr"/>
                      <a:r>
                        <a:rPr lang="en-US"/>
                        <a:t>Difference between each number (default 1)</a:t>
                      </a:r>
                    </a:p>
                  </a:txBody>
                  <a:tcPr anchor="ctr">
                    <a:lnL>
                      <a:noFill/>
                    </a:lnL>
                    <a:lnR>
                      <a:noFill/>
                    </a:lnR>
                    <a:lnT>
                      <a:noFill/>
                    </a:lnT>
                    <a:lnB>
                      <a:noFill/>
                    </a:lnB>
                    <a:solidFill>
                      <a:schemeClr val="accent2">
                        <a:lumMod val="20000"/>
                        <a:lumOff val="80000"/>
                      </a:schemeClr>
                    </a:solidFill>
                  </a:tcPr>
                </a:tc>
                <a:tc>
                  <a:txBody>
                    <a:bodyPr/>
                    <a:lstStyle/>
                    <a:p>
                      <a:pPr algn="ctr"/>
                      <a:r>
                        <a:rPr lang="en-US" dirty="0"/>
                        <a:t>Optional</a:t>
                      </a:r>
                    </a:p>
                  </a:txBody>
                  <a:tcPr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472174498"/>
                  </a:ext>
                </a:extLst>
              </a:tr>
            </a:tbl>
          </a:graphicData>
        </a:graphic>
      </p:graphicFrame>
      <p:sp>
        <p:nvSpPr>
          <p:cNvPr id="10" name="TextBox 9">
            <a:extLst>
              <a:ext uri="{FF2B5EF4-FFF2-40B4-BE49-F238E27FC236}">
                <a16:creationId xmlns:a16="http://schemas.microsoft.com/office/drawing/2014/main" id="{57432AC0-032A-6A49-C228-A68F23084844}"/>
              </a:ext>
            </a:extLst>
          </p:cNvPr>
          <p:cNvSpPr txBox="1"/>
          <p:nvPr/>
        </p:nvSpPr>
        <p:spPr>
          <a:xfrm>
            <a:off x="723470" y="4310072"/>
            <a:ext cx="2233041" cy="646331"/>
          </a:xfrm>
          <a:prstGeom prst="rect">
            <a:avLst/>
          </a:prstGeom>
          <a:noFill/>
        </p:spPr>
        <p:txBody>
          <a:bodyPr wrap="square">
            <a:spAutoFit/>
          </a:bodyPr>
          <a:lstStyle/>
          <a:p>
            <a:r>
              <a:rPr lang="en-US" dirty="0"/>
              <a:t>for </a:t>
            </a:r>
            <a:r>
              <a:rPr lang="en-US" dirty="0" err="1"/>
              <a:t>i</a:t>
            </a:r>
            <a:r>
              <a:rPr lang="en-US" dirty="0"/>
              <a:t> in range(5):</a:t>
            </a:r>
          </a:p>
          <a:p>
            <a:r>
              <a:rPr lang="en-US" dirty="0"/>
              <a:t>    print(</a:t>
            </a:r>
            <a:r>
              <a:rPr lang="en-US" dirty="0" err="1"/>
              <a:t>i</a:t>
            </a:r>
            <a:r>
              <a:rPr lang="en-US" dirty="0"/>
              <a:t>)</a:t>
            </a:r>
          </a:p>
        </p:txBody>
      </p:sp>
      <p:sp>
        <p:nvSpPr>
          <p:cNvPr id="12" name="TextBox 11">
            <a:extLst>
              <a:ext uri="{FF2B5EF4-FFF2-40B4-BE49-F238E27FC236}">
                <a16:creationId xmlns:a16="http://schemas.microsoft.com/office/drawing/2014/main" id="{9C8B82C6-259A-E3DB-8A02-E765576B1EED}"/>
              </a:ext>
            </a:extLst>
          </p:cNvPr>
          <p:cNvSpPr txBox="1"/>
          <p:nvPr/>
        </p:nvSpPr>
        <p:spPr>
          <a:xfrm>
            <a:off x="3328827" y="4315271"/>
            <a:ext cx="2352782" cy="646331"/>
          </a:xfrm>
          <a:prstGeom prst="rect">
            <a:avLst/>
          </a:prstGeom>
          <a:noFill/>
        </p:spPr>
        <p:txBody>
          <a:bodyPr wrap="square">
            <a:spAutoFit/>
          </a:bodyPr>
          <a:lstStyle/>
          <a:p>
            <a:r>
              <a:rPr lang="en-US" dirty="0"/>
              <a:t>for </a:t>
            </a:r>
            <a:r>
              <a:rPr lang="en-US" dirty="0" err="1"/>
              <a:t>i</a:t>
            </a:r>
            <a:r>
              <a:rPr lang="en-US" dirty="0"/>
              <a:t> in range(2, 6):</a:t>
            </a:r>
          </a:p>
          <a:p>
            <a:r>
              <a:rPr lang="en-US" dirty="0"/>
              <a:t>    print(</a:t>
            </a:r>
            <a:r>
              <a:rPr lang="en-US" dirty="0" err="1"/>
              <a:t>i</a:t>
            </a:r>
            <a:r>
              <a:rPr lang="en-US" dirty="0"/>
              <a:t>)</a:t>
            </a:r>
          </a:p>
        </p:txBody>
      </p:sp>
      <p:sp>
        <p:nvSpPr>
          <p:cNvPr id="14" name="TextBox 13">
            <a:extLst>
              <a:ext uri="{FF2B5EF4-FFF2-40B4-BE49-F238E27FC236}">
                <a16:creationId xmlns:a16="http://schemas.microsoft.com/office/drawing/2014/main" id="{BB4F88C9-FB17-80AD-E82B-8704AA454159}"/>
              </a:ext>
            </a:extLst>
          </p:cNvPr>
          <p:cNvSpPr txBox="1"/>
          <p:nvPr/>
        </p:nvSpPr>
        <p:spPr>
          <a:xfrm>
            <a:off x="5856271" y="4310071"/>
            <a:ext cx="2578813" cy="646331"/>
          </a:xfrm>
          <a:prstGeom prst="rect">
            <a:avLst/>
          </a:prstGeom>
          <a:noFill/>
        </p:spPr>
        <p:txBody>
          <a:bodyPr wrap="square">
            <a:spAutoFit/>
          </a:bodyPr>
          <a:lstStyle/>
          <a:p>
            <a:r>
              <a:rPr lang="en-US" dirty="0"/>
              <a:t>for </a:t>
            </a:r>
            <a:r>
              <a:rPr lang="en-US" dirty="0" err="1"/>
              <a:t>i</a:t>
            </a:r>
            <a:r>
              <a:rPr lang="en-US" dirty="0"/>
              <a:t> in range(1, 10, 2):</a:t>
            </a:r>
          </a:p>
          <a:p>
            <a:r>
              <a:rPr lang="en-US" dirty="0"/>
              <a:t>    print(</a:t>
            </a:r>
            <a:r>
              <a:rPr lang="en-US" dirty="0" err="1"/>
              <a:t>i</a:t>
            </a:r>
            <a:r>
              <a:rPr lang="en-US" dirty="0"/>
              <a:t>)</a:t>
            </a:r>
          </a:p>
        </p:txBody>
      </p:sp>
      <p:sp>
        <p:nvSpPr>
          <p:cNvPr id="16" name="TextBox 15">
            <a:extLst>
              <a:ext uri="{FF2B5EF4-FFF2-40B4-BE49-F238E27FC236}">
                <a16:creationId xmlns:a16="http://schemas.microsoft.com/office/drawing/2014/main" id="{FE63DC47-4079-51D7-5D26-39E75EEDBA96}"/>
              </a:ext>
            </a:extLst>
          </p:cNvPr>
          <p:cNvSpPr txBox="1"/>
          <p:nvPr/>
        </p:nvSpPr>
        <p:spPr>
          <a:xfrm>
            <a:off x="9150725" y="4310070"/>
            <a:ext cx="2654282" cy="646331"/>
          </a:xfrm>
          <a:prstGeom prst="rect">
            <a:avLst/>
          </a:prstGeom>
          <a:noFill/>
        </p:spPr>
        <p:txBody>
          <a:bodyPr wrap="square">
            <a:spAutoFit/>
          </a:bodyPr>
          <a:lstStyle/>
          <a:p>
            <a:r>
              <a:rPr lang="en-US" dirty="0"/>
              <a:t>for </a:t>
            </a:r>
            <a:r>
              <a:rPr lang="en-US" dirty="0" err="1"/>
              <a:t>i</a:t>
            </a:r>
            <a:r>
              <a:rPr lang="en-US" dirty="0"/>
              <a:t> in range(10, 0, -2):</a:t>
            </a:r>
          </a:p>
          <a:p>
            <a:r>
              <a:rPr lang="en-US" dirty="0"/>
              <a:t>    print(</a:t>
            </a:r>
            <a:r>
              <a:rPr lang="en-US" dirty="0" err="1"/>
              <a:t>i</a:t>
            </a:r>
            <a:r>
              <a:rPr lang="en-US" dirty="0"/>
              <a:t>)</a:t>
            </a:r>
          </a:p>
        </p:txBody>
      </p:sp>
      <p:sp>
        <p:nvSpPr>
          <p:cNvPr id="18" name="Rectangle 4">
            <a:extLst>
              <a:ext uri="{FF2B5EF4-FFF2-40B4-BE49-F238E27FC236}">
                <a16:creationId xmlns:a16="http://schemas.microsoft.com/office/drawing/2014/main" id="{7B1F3C8C-8190-B450-7F81-C25D9D48E261}"/>
              </a:ext>
            </a:extLst>
          </p:cNvPr>
          <p:cNvSpPr>
            <a:spLocks noChangeArrowheads="1"/>
          </p:cNvSpPr>
          <p:nvPr/>
        </p:nvSpPr>
        <p:spPr bwMode="auto">
          <a:xfrm>
            <a:off x="1839991" y="5106636"/>
            <a:ext cx="8883786" cy="1564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C00000"/>
                </a:solidFill>
                <a:effectLst/>
                <a:latin typeface="Arial Unicode MS"/>
              </a:rPr>
              <a:t>Common Uses Of Range Function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Unicode MS"/>
              </a:rPr>
              <a:t>range()</a:t>
            </a:r>
            <a:r>
              <a:rPr kumimoji="0" lang="en-US" altLang="en-US" b="0" i="0" u="none" strike="noStrike" cap="none" normalizeH="0" baseline="0" dirty="0">
                <a:ln>
                  <a:noFill/>
                </a:ln>
                <a:solidFill>
                  <a:schemeClr val="tx1"/>
                </a:solidFill>
                <a:effectLst/>
              </a:rPr>
              <a:t> helps generate sequences of numbers for looping.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It can be customized sing </a:t>
            </a:r>
            <a:r>
              <a:rPr kumimoji="0" lang="en-US" altLang="en-US" b="0" i="0" u="none" strike="noStrike" cap="none" normalizeH="0" baseline="0" dirty="0">
                <a:ln>
                  <a:noFill/>
                </a:ln>
                <a:solidFill>
                  <a:schemeClr val="tx1"/>
                </a:solidFill>
                <a:effectLst/>
                <a:latin typeface="Arial Unicode MS"/>
              </a:rPr>
              <a:t>start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stop</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a:ln>
                  <a:noFill/>
                </a:ln>
                <a:solidFill>
                  <a:schemeClr val="tx1"/>
                </a:solidFill>
                <a:effectLst/>
                <a:latin typeface="Arial Unicode MS"/>
              </a:rPr>
              <a:t>step</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It's efficient and commonly used in </a:t>
            </a:r>
            <a:r>
              <a:rPr kumimoji="0" lang="en-US" altLang="en-US" b="0" i="0" u="none" strike="noStrike" cap="none" normalizeH="0" baseline="0" dirty="0">
                <a:ln>
                  <a:noFill/>
                </a:ln>
                <a:solidFill>
                  <a:schemeClr val="tx1"/>
                </a:solidFill>
                <a:effectLst/>
                <a:latin typeface="Arial Unicode MS"/>
              </a:rPr>
              <a:t>for</a:t>
            </a:r>
            <a:r>
              <a:rPr kumimoji="0" lang="en-US" altLang="en-US" b="0" i="0" u="none" strike="noStrike" cap="none" normalizeH="0" baseline="0" dirty="0">
                <a:ln>
                  <a:noFill/>
                </a:ln>
                <a:solidFill>
                  <a:schemeClr val="tx1"/>
                </a:solidFill>
                <a:effectLst/>
              </a:rPr>
              <a:t> loops.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9" name="Rectangle 5">
            <a:extLst>
              <a:ext uri="{FF2B5EF4-FFF2-40B4-BE49-F238E27FC236}">
                <a16:creationId xmlns:a16="http://schemas.microsoft.com/office/drawing/2014/main" id="{BCA9106A-43F9-DBFA-03F5-584BDBF3AE55}"/>
              </a:ext>
            </a:extLst>
          </p:cNvPr>
          <p:cNvSpPr>
            <a:spLocks noChangeArrowheads="1"/>
          </p:cNvSpPr>
          <p:nvPr/>
        </p:nvSpPr>
        <p:spPr bwMode="auto">
          <a:xfrm>
            <a:off x="452063" y="1370218"/>
            <a:ext cx="278429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Syntax of range(1,20)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range(start, stop, step)</a:t>
            </a:r>
          </a:p>
        </p:txBody>
      </p:sp>
    </p:spTree>
    <p:extLst>
      <p:ext uri="{BB962C8B-B14F-4D97-AF65-F5344CB8AC3E}">
        <p14:creationId xmlns:p14="http://schemas.microsoft.com/office/powerpoint/2010/main" val="974452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81C0E-841E-47E4-A18B-9FD8A1D2A56B}"/>
              </a:ext>
            </a:extLst>
          </p:cNvPr>
          <p:cNvSpPr>
            <a:spLocks noGrp="1"/>
          </p:cNvSpPr>
          <p:nvPr>
            <p:ph type="title"/>
          </p:nvPr>
        </p:nvSpPr>
        <p:spPr>
          <a:xfrm>
            <a:off x="240631" y="0"/>
            <a:ext cx="11129227" cy="376916"/>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Python For Loop and While loop</a:t>
            </a:r>
          </a:p>
        </p:txBody>
      </p:sp>
      <p:graphicFrame>
        <p:nvGraphicFramePr>
          <p:cNvPr id="4" name="Content Placeholder 3">
            <a:extLst>
              <a:ext uri="{FF2B5EF4-FFF2-40B4-BE49-F238E27FC236}">
                <a16:creationId xmlns:a16="http://schemas.microsoft.com/office/drawing/2014/main" id="{288BE137-8D0B-8CF3-012D-782CB388F9D1}"/>
              </a:ext>
            </a:extLst>
          </p:cNvPr>
          <p:cNvGraphicFramePr>
            <a:graphicFrameLocks noGrp="1"/>
          </p:cNvGraphicFramePr>
          <p:nvPr>
            <p:ph idx="1"/>
            <p:extLst>
              <p:ext uri="{D42A27DB-BD31-4B8C-83A1-F6EECF244321}">
                <p14:modId xmlns:p14="http://schemas.microsoft.com/office/powerpoint/2010/main" val="3933508557"/>
              </p:ext>
            </p:extLst>
          </p:nvPr>
        </p:nvGraphicFramePr>
        <p:xfrm>
          <a:off x="125128" y="481262"/>
          <a:ext cx="12066873" cy="6238036"/>
        </p:xfrm>
        <a:graphic>
          <a:graphicData uri="http://schemas.openxmlformats.org/drawingml/2006/table">
            <a:tbl>
              <a:tblPr/>
              <a:tblGrid>
                <a:gridCol w="1491412">
                  <a:extLst>
                    <a:ext uri="{9D8B030D-6E8A-4147-A177-3AD203B41FA5}">
                      <a16:colId xmlns:a16="http://schemas.microsoft.com/office/drawing/2014/main" val="2049878236"/>
                    </a:ext>
                  </a:extLst>
                </a:gridCol>
                <a:gridCol w="6081859">
                  <a:extLst>
                    <a:ext uri="{9D8B030D-6E8A-4147-A177-3AD203B41FA5}">
                      <a16:colId xmlns:a16="http://schemas.microsoft.com/office/drawing/2014/main" val="3462399654"/>
                    </a:ext>
                  </a:extLst>
                </a:gridCol>
                <a:gridCol w="4493602">
                  <a:extLst>
                    <a:ext uri="{9D8B030D-6E8A-4147-A177-3AD203B41FA5}">
                      <a16:colId xmlns:a16="http://schemas.microsoft.com/office/drawing/2014/main" val="1795310613"/>
                    </a:ext>
                  </a:extLst>
                </a:gridCol>
              </a:tblGrid>
              <a:tr h="442543">
                <a:tc>
                  <a:txBody>
                    <a:bodyPr/>
                    <a:lstStyle/>
                    <a:p>
                      <a:pPr algn="ctr"/>
                      <a:r>
                        <a:rPr lang="en-US" sz="1800" b="1" dirty="0"/>
                        <a:t>Feature</a:t>
                      </a:r>
                    </a:p>
                  </a:txBody>
                  <a:tcPr marL="73927" marR="73927" marT="36963" marB="36963" anchor="ctr">
                    <a:lnL>
                      <a:noFill/>
                    </a:lnL>
                    <a:lnR>
                      <a:noFill/>
                    </a:lnR>
                    <a:lnT>
                      <a:noFill/>
                    </a:lnT>
                    <a:lnB>
                      <a:noFill/>
                    </a:lnB>
                    <a:solidFill>
                      <a:schemeClr val="accent2">
                        <a:lumMod val="60000"/>
                        <a:lumOff val="40000"/>
                      </a:schemeClr>
                    </a:solidFill>
                  </a:tcPr>
                </a:tc>
                <a:tc>
                  <a:txBody>
                    <a:bodyPr/>
                    <a:lstStyle/>
                    <a:p>
                      <a:pPr algn="ctr"/>
                      <a:r>
                        <a:rPr lang="en-US" sz="1800" b="1" dirty="0"/>
                        <a:t>for Loop</a:t>
                      </a:r>
                    </a:p>
                  </a:txBody>
                  <a:tcPr marL="73927" marR="73927" marT="36963" marB="36963" anchor="ctr">
                    <a:lnL>
                      <a:noFill/>
                    </a:lnL>
                    <a:lnR>
                      <a:noFill/>
                    </a:lnR>
                    <a:lnT>
                      <a:noFill/>
                    </a:lnT>
                    <a:lnB>
                      <a:noFill/>
                    </a:lnB>
                    <a:solidFill>
                      <a:schemeClr val="accent2">
                        <a:lumMod val="60000"/>
                        <a:lumOff val="40000"/>
                      </a:schemeClr>
                    </a:solidFill>
                  </a:tcPr>
                </a:tc>
                <a:tc>
                  <a:txBody>
                    <a:bodyPr/>
                    <a:lstStyle/>
                    <a:p>
                      <a:pPr algn="ctr"/>
                      <a:r>
                        <a:rPr lang="en-US" sz="1800" b="1" dirty="0"/>
                        <a:t>while Loop</a:t>
                      </a:r>
                    </a:p>
                  </a:txBody>
                  <a:tcPr marL="73927" marR="73927" marT="36963" marB="36963"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68934883"/>
                  </a:ext>
                </a:extLst>
              </a:tr>
              <a:tr h="718434">
                <a:tc>
                  <a:txBody>
                    <a:bodyPr/>
                    <a:lstStyle/>
                    <a:p>
                      <a:pPr algn="ctr"/>
                      <a:r>
                        <a:rPr lang="en-US" sz="1500" b="1" dirty="0"/>
                        <a:t>Definition</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Used to iterate over a sequence (like list, tuple, string, or range).</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Repeats a block of code as long as a condition is True.</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2506391966"/>
                  </a:ext>
                </a:extLst>
              </a:tr>
              <a:tr h="616314">
                <a:tc>
                  <a:txBody>
                    <a:bodyPr/>
                    <a:lstStyle/>
                    <a:p>
                      <a:pPr algn="ctr"/>
                      <a:r>
                        <a:rPr lang="en-US" sz="1500" b="1" dirty="0"/>
                        <a:t>Syntax</a:t>
                      </a:r>
                      <a:endParaRPr lang="en-US" sz="1500" dirty="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for variable in sequence: </a:t>
                      </a:r>
                    </a:p>
                    <a:p>
                      <a:pPr algn="ctr"/>
                      <a:r>
                        <a:rPr lang="en-US" sz="1500" dirty="0"/>
                        <a:t>  # code block</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while condition:  </a:t>
                      </a:r>
                    </a:p>
                    <a:p>
                      <a:pPr algn="ctr"/>
                      <a:r>
                        <a:rPr lang="en-US" sz="1500" dirty="0"/>
                        <a:t> # code block</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3076956344"/>
                  </a:ext>
                </a:extLst>
              </a:tr>
              <a:tr h="623972">
                <a:tc>
                  <a:txBody>
                    <a:bodyPr/>
                    <a:lstStyle/>
                    <a:p>
                      <a:pPr algn="ctr"/>
                      <a:r>
                        <a:rPr lang="en-US" sz="1500" b="1"/>
                        <a:t>Control Type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Definite loop (number of iterations is known or defined).</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Indefinite loop (number of iterations is not known in advance).</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848495157"/>
                  </a:ext>
                </a:extLst>
              </a:tr>
              <a:tr h="892542">
                <a:tc>
                  <a:txBody>
                    <a:bodyPr/>
                    <a:lstStyle/>
                    <a:p>
                      <a:pPr algn="ctr"/>
                      <a:r>
                        <a:rPr lang="en-US" sz="1500" b="1"/>
                        <a:t>Use Case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When you want to loop through items in a collection or range.</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When you want to loop until a condition changes (e.g., user input, counter).</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4235603556"/>
                  </a:ext>
                </a:extLst>
              </a:tr>
              <a:tr h="1115044">
                <a:tc>
                  <a:txBody>
                    <a:bodyPr/>
                    <a:lstStyle/>
                    <a:p>
                      <a:pPr algn="ctr"/>
                      <a:r>
                        <a:rPr lang="en-US" sz="1500" b="1"/>
                        <a:t>Example</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for </a:t>
                      </a:r>
                      <a:r>
                        <a:rPr lang="en-US" sz="1500" dirty="0" err="1"/>
                        <a:t>i</a:t>
                      </a:r>
                      <a:r>
                        <a:rPr lang="en-US" sz="1500" dirty="0"/>
                        <a:t> in range(5):  </a:t>
                      </a:r>
                    </a:p>
                    <a:p>
                      <a:pPr algn="ctr"/>
                      <a:r>
                        <a:rPr lang="en-US" sz="1500" dirty="0"/>
                        <a:t> print(</a:t>
                      </a:r>
                      <a:r>
                        <a:rPr lang="en-US" sz="1500" dirty="0" err="1"/>
                        <a:t>i</a:t>
                      </a:r>
                      <a:r>
                        <a:rPr lang="en-US" sz="1500" dirty="0"/>
                        <a:t>)</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nn-NO" sz="1500" dirty="0"/>
                        <a:t>i = 0</a:t>
                      </a:r>
                    </a:p>
                    <a:p>
                      <a:pPr algn="ctr"/>
                      <a:r>
                        <a:rPr lang="nn-NO" sz="1500" dirty="0"/>
                        <a:t>while i &lt; 5:  </a:t>
                      </a:r>
                    </a:p>
                    <a:p>
                      <a:pPr algn="ctr"/>
                      <a:r>
                        <a:rPr lang="nn-NO" sz="1500" dirty="0"/>
                        <a:t> print(i) </a:t>
                      </a:r>
                    </a:p>
                    <a:p>
                      <a:pPr algn="ctr"/>
                      <a:r>
                        <a:rPr lang="nn-NO" sz="1500" dirty="0"/>
                        <a:t>  i += 1</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4091639738"/>
                  </a:ext>
                </a:extLst>
              </a:tr>
              <a:tr h="681631">
                <a:tc>
                  <a:txBody>
                    <a:bodyPr/>
                    <a:lstStyle/>
                    <a:p>
                      <a:pPr algn="ctr"/>
                      <a:r>
                        <a:rPr lang="en-US" sz="1500" b="1"/>
                        <a:t>Common Uses</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Iterating over: ✅ Lists ✅ Strings ✅ Ranges</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Repeating actions: ✅ User input ✅ Wait loops ✅ Condition checks</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451708951"/>
                  </a:ext>
                </a:extLst>
              </a:tr>
              <a:tr h="544799">
                <a:tc>
                  <a:txBody>
                    <a:bodyPr/>
                    <a:lstStyle/>
                    <a:p>
                      <a:pPr algn="ctr"/>
                      <a:r>
                        <a:rPr lang="en-US" sz="1500" b="1"/>
                        <a:t>Termination</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Stops when sequence ends.</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Stops when the condition becomes False.</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758502694"/>
                  </a:ext>
                </a:extLst>
              </a:tr>
              <a:tr h="602757">
                <a:tc>
                  <a:txBody>
                    <a:bodyPr/>
                    <a:lstStyle/>
                    <a:p>
                      <a:pPr algn="ctr"/>
                      <a:r>
                        <a:rPr lang="en-US" sz="1500" b="1"/>
                        <a:t>Loop Control</a:t>
                      </a:r>
                      <a:endParaRPr lang="en-US" sz="1500"/>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a:t>Works well with break, continue, and else.</a:t>
                      </a:r>
                    </a:p>
                  </a:txBody>
                  <a:tcPr marL="73927" marR="73927" marT="36963" marB="36963" anchor="ctr">
                    <a:lnL>
                      <a:noFill/>
                    </a:lnL>
                    <a:lnR>
                      <a:noFill/>
                    </a:lnR>
                    <a:lnT>
                      <a:noFill/>
                    </a:lnT>
                    <a:lnB>
                      <a:noFill/>
                    </a:lnB>
                    <a:solidFill>
                      <a:schemeClr val="bg2">
                        <a:lumMod val="90000"/>
                      </a:schemeClr>
                    </a:solidFill>
                  </a:tcPr>
                </a:tc>
                <a:tc>
                  <a:txBody>
                    <a:bodyPr/>
                    <a:lstStyle/>
                    <a:p>
                      <a:pPr algn="ctr"/>
                      <a:r>
                        <a:rPr lang="en-US" sz="1500" dirty="0"/>
                        <a:t>Same as for, supports break, continue, and else.</a:t>
                      </a:r>
                    </a:p>
                  </a:txBody>
                  <a:tcPr marL="73927" marR="73927" marT="36963" marB="36963" anchor="ctr">
                    <a:lnL>
                      <a:noFill/>
                    </a:lnL>
                    <a:lnR>
                      <a:noFill/>
                    </a:lnR>
                    <a:lnT>
                      <a:noFill/>
                    </a:lnT>
                    <a:lnB>
                      <a:noFill/>
                    </a:lnB>
                    <a:solidFill>
                      <a:schemeClr val="bg2">
                        <a:lumMod val="90000"/>
                      </a:schemeClr>
                    </a:solidFill>
                  </a:tcPr>
                </a:tc>
                <a:extLst>
                  <a:ext uri="{0D108BD9-81ED-4DB2-BD59-A6C34878D82A}">
                    <a16:rowId xmlns:a16="http://schemas.microsoft.com/office/drawing/2014/main" val="3009107690"/>
                  </a:ext>
                </a:extLst>
              </a:tr>
            </a:tbl>
          </a:graphicData>
        </a:graphic>
      </p:graphicFrame>
    </p:spTree>
    <p:extLst>
      <p:ext uri="{BB962C8B-B14F-4D97-AF65-F5344CB8AC3E}">
        <p14:creationId xmlns:p14="http://schemas.microsoft.com/office/powerpoint/2010/main" val="4170533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09E6A-405A-8DCA-7646-017726E94FA6}"/>
              </a:ext>
            </a:extLst>
          </p:cNvPr>
          <p:cNvSpPr>
            <a:spLocks noGrp="1"/>
          </p:cNvSpPr>
          <p:nvPr>
            <p:ph type="title"/>
          </p:nvPr>
        </p:nvSpPr>
        <p:spPr>
          <a:xfrm>
            <a:off x="154112" y="110403"/>
            <a:ext cx="11350500" cy="380486"/>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Break And Continue Statements in </a:t>
            </a:r>
            <a:r>
              <a:rPr lang="en-US" sz="2700" b="1" dirty="0">
                <a:solidFill>
                  <a:srgbClr val="FF0000"/>
                </a:solidFill>
                <a:latin typeface="Cambria" panose="02040503050406030204" pitchFamily="18" charset="0"/>
                <a:ea typeface="Cambria" panose="02040503050406030204" pitchFamily="18" charset="0"/>
              </a:rPr>
              <a:t>Python</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7A283581-7B50-5CF5-66B3-B8A1D1F33591}"/>
              </a:ext>
            </a:extLst>
          </p:cNvPr>
          <p:cNvSpPr>
            <a:spLocks noGrp="1"/>
          </p:cNvSpPr>
          <p:nvPr>
            <p:ph idx="1"/>
          </p:nvPr>
        </p:nvSpPr>
        <p:spPr>
          <a:xfrm>
            <a:off x="154112" y="490889"/>
            <a:ext cx="11944844" cy="3265776"/>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 </a:t>
            </a:r>
            <a:r>
              <a:rPr kumimoji="0" lang="en-US" altLang="en-US" b="1" i="0" u="none" strike="noStrike" cap="none" normalizeH="0" baseline="0" dirty="0">
                <a:ln>
                  <a:noFill/>
                </a:ln>
                <a:solidFill>
                  <a:schemeClr val="tx1"/>
                </a:solidFill>
                <a:effectLst/>
                <a:latin typeface="Arial Unicode MS"/>
              </a:rPr>
              <a:t>break</a:t>
            </a:r>
            <a:r>
              <a:rPr kumimoji="0" lang="en-US" altLang="en-US" b="1" i="0" u="none" strike="noStrike" cap="none" normalizeH="0" baseline="0" dirty="0">
                <a:ln>
                  <a:noFill/>
                </a:ln>
                <a:solidFill>
                  <a:schemeClr val="tx1"/>
                </a:solidFill>
                <a:effectLst/>
              </a:rPr>
              <a:t> Statement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0" i="0" u="none" strike="noStrike" cap="none" normalizeH="0" baseline="0" dirty="0">
                <a:ln>
                  <a:noFill/>
                </a:ln>
                <a:solidFill>
                  <a:schemeClr val="tx1"/>
                </a:solidFill>
                <a:effectLst/>
                <a:latin typeface="Arial Unicode MS"/>
              </a:rPr>
              <a:t>break</a:t>
            </a:r>
            <a:r>
              <a:rPr kumimoji="0" lang="en-US" altLang="en-US" b="0" i="0" u="none" strike="noStrike" cap="none" normalizeH="0" baseline="0" dirty="0">
                <a:ln>
                  <a:noFill/>
                </a:ln>
                <a:solidFill>
                  <a:schemeClr val="tx1"/>
                </a:solidFill>
                <a:effectLst/>
              </a:rPr>
              <a:t> statement is used to </a:t>
            </a:r>
            <a:r>
              <a:rPr kumimoji="0" lang="en-US" altLang="en-US" b="1" i="0" u="none" strike="noStrike" cap="none" normalizeH="0" baseline="0" dirty="0">
                <a:ln>
                  <a:noFill/>
                </a:ln>
                <a:solidFill>
                  <a:schemeClr val="tx1"/>
                </a:solidFill>
                <a:effectLst/>
                <a:latin typeface="Arial" panose="020B0604020202020204" pitchFamily="34" charset="0"/>
              </a:rPr>
              <a:t>exit a loop prematurely</a:t>
            </a:r>
            <a:r>
              <a:rPr kumimoji="0" lang="en-US" altLang="en-US" b="0" i="0" u="none" strike="noStrike" cap="none" normalizeH="0" baseline="0" dirty="0">
                <a:ln>
                  <a:noFill/>
                </a:ln>
                <a:solidFill>
                  <a:schemeClr val="tx1"/>
                </a:solidFill>
                <a:effectLst/>
                <a:latin typeface="Arial" panose="020B0604020202020204" pitchFamily="34" charset="0"/>
              </a:rPr>
              <a:t>, before the loop condition becomes false or the sequence is fully iterated.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is commonly used when a certain condition is met, and you want to </a:t>
            </a:r>
            <a:r>
              <a:rPr kumimoji="0" lang="en-US" altLang="en-US" b="1" i="0" u="none" strike="noStrike" cap="none" normalizeH="0" baseline="0" dirty="0">
                <a:ln>
                  <a:noFill/>
                </a:ln>
                <a:solidFill>
                  <a:schemeClr val="tx1"/>
                </a:solidFill>
                <a:effectLst/>
                <a:latin typeface="Arial" panose="020B0604020202020204" pitchFamily="34" charset="0"/>
              </a:rPr>
              <a:t>stop the loop immediately</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Example (for understanding only, no code needed):</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If you're searching for an item in a list, and you find it, you can use </a:t>
            </a:r>
            <a:r>
              <a:rPr kumimoji="0" lang="en-US" altLang="en-US" b="0" i="0" u="none" strike="noStrike" cap="none" normalizeH="0" baseline="0" dirty="0">
                <a:ln>
                  <a:noFill/>
                </a:ln>
                <a:solidFill>
                  <a:schemeClr val="tx1"/>
                </a:solidFill>
                <a:effectLst/>
                <a:latin typeface="Arial Unicode MS"/>
              </a:rPr>
              <a:t>break</a:t>
            </a:r>
            <a:r>
              <a:rPr kumimoji="0" lang="en-US" altLang="en-US" b="0" i="0" u="none" strike="noStrike" cap="none" normalizeH="0" baseline="0" dirty="0">
                <a:ln>
                  <a:noFill/>
                </a:ln>
                <a:solidFill>
                  <a:schemeClr val="tx1"/>
                </a:solidFill>
                <a:effectLst/>
              </a:rPr>
              <a:t> to stop the loop at that point.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2. </a:t>
            </a:r>
            <a:r>
              <a:rPr kumimoji="0" lang="en-US" altLang="en-US" b="1" i="0" u="none" strike="noStrike" cap="none" normalizeH="0" baseline="0" dirty="0">
                <a:ln>
                  <a:noFill/>
                </a:ln>
                <a:solidFill>
                  <a:schemeClr val="tx1"/>
                </a:solidFill>
                <a:effectLst/>
                <a:latin typeface="Arial Unicode MS"/>
              </a:rPr>
              <a:t>continue</a:t>
            </a:r>
            <a:r>
              <a:rPr kumimoji="0" lang="en-US" altLang="en-US" b="1" i="0" u="none" strike="noStrike" cap="none" normalizeH="0" baseline="0" dirty="0">
                <a:ln>
                  <a:noFill/>
                </a:ln>
                <a:solidFill>
                  <a:schemeClr val="tx1"/>
                </a:solidFill>
                <a:effectLst/>
              </a:rPr>
              <a:t> Statement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0" i="0" u="none" strike="noStrike" cap="none" normalizeH="0" baseline="0" dirty="0">
                <a:ln>
                  <a:noFill/>
                </a:ln>
                <a:solidFill>
                  <a:schemeClr val="tx1"/>
                </a:solidFill>
                <a:effectLst/>
                <a:latin typeface="Arial Unicode MS"/>
              </a:rPr>
              <a:t>continue</a:t>
            </a:r>
            <a:r>
              <a:rPr kumimoji="0" lang="en-US" altLang="en-US" b="0" i="0" u="none" strike="noStrike" cap="none" normalizeH="0" baseline="0" dirty="0">
                <a:ln>
                  <a:noFill/>
                </a:ln>
                <a:solidFill>
                  <a:schemeClr val="tx1"/>
                </a:solidFill>
                <a:effectLst/>
              </a:rPr>
              <a:t> statement is used to </a:t>
            </a:r>
            <a:r>
              <a:rPr kumimoji="0" lang="en-US" altLang="en-US" b="1" i="0" u="none" strike="noStrike" cap="none" normalizeH="0" baseline="0" dirty="0">
                <a:ln>
                  <a:noFill/>
                </a:ln>
                <a:solidFill>
                  <a:schemeClr val="tx1"/>
                </a:solidFill>
                <a:effectLst/>
                <a:latin typeface="Arial" panose="020B0604020202020204" pitchFamily="34" charset="0"/>
              </a:rPr>
              <a:t>skip the current iteration</a:t>
            </a:r>
            <a:r>
              <a:rPr kumimoji="0" lang="en-US" altLang="en-US" b="0" i="0" u="none" strike="noStrike" cap="none" normalizeH="0" baseline="0" dirty="0">
                <a:ln>
                  <a:noFill/>
                </a:ln>
                <a:solidFill>
                  <a:schemeClr val="tx1"/>
                </a:solidFill>
                <a:effectLst/>
                <a:latin typeface="Arial" panose="020B0604020202020204" pitchFamily="34" charset="0"/>
              </a:rPr>
              <a:t> of a loop and move directly to the next 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is used when a certain condition occurs and you want to </a:t>
            </a:r>
            <a:r>
              <a:rPr kumimoji="0" lang="en-US" altLang="en-US" b="1" i="0" u="none" strike="noStrike" cap="none" normalizeH="0" baseline="0" dirty="0">
                <a:ln>
                  <a:noFill/>
                </a:ln>
                <a:solidFill>
                  <a:schemeClr val="tx1"/>
                </a:solidFill>
                <a:effectLst/>
                <a:latin typeface="Arial" panose="020B0604020202020204" pitchFamily="34" charset="0"/>
              </a:rPr>
              <a:t>skip processing for that particular iteration</a:t>
            </a:r>
            <a:r>
              <a:rPr kumimoji="0" lang="en-US" altLang="en-US" b="0" i="0" u="none" strike="noStrike" cap="none" normalizeH="0" baseline="0" dirty="0">
                <a:ln>
                  <a:noFill/>
                </a:ln>
                <a:solidFill>
                  <a:schemeClr val="tx1"/>
                </a:solidFill>
                <a:effectLst/>
                <a:latin typeface="Arial" panose="020B0604020202020204" pitchFamily="34" charset="0"/>
              </a:rPr>
              <a:t>, without exiting the loop entirely.</a:t>
            </a:r>
            <a:endParaRPr lang="en-US" dirty="0"/>
          </a:p>
        </p:txBody>
      </p:sp>
      <p:sp>
        <p:nvSpPr>
          <p:cNvPr id="8" name="TextBox 7">
            <a:extLst>
              <a:ext uri="{FF2B5EF4-FFF2-40B4-BE49-F238E27FC236}">
                <a16:creationId xmlns:a16="http://schemas.microsoft.com/office/drawing/2014/main" id="{9277999A-D3CB-A2A0-BD57-F8292E07CC76}"/>
              </a:ext>
            </a:extLst>
          </p:cNvPr>
          <p:cNvSpPr txBox="1"/>
          <p:nvPr/>
        </p:nvSpPr>
        <p:spPr>
          <a:xfrm>
            <a:off x="1778267" y="4303908"/>
            <a:ext cx="2341346" cy="1200329"/>
          </a:xfrm>
          <a:prstGeom prst="rect">
            <a:avLst/>
          </a:prstGeom>
          <a:noFill/>
        </p:spPr>
        <p:txBody>
          <a:bodyPr wrap="square">
            <a:spAutoFit/>
          </a:bodyPr>
          <a:lstStyle/>
          <a:p>
            <a:r>
              <a:rPr lang="en-US" dirty="0"/>
              <a:t>for </a:t>
            </a:r>
            <a:r>
              <a:rPr lang="en-US" dirty="0" err="1"/>
              <a:t>i</a:t>
            </a:r>
            <a:r>
              <a:rPr lang="en-US" dirty="0"/>
              <a:t> in range(1, 10):</a:t>
            </a:r>
          </a:p>
          <a:p>
            <a:r>
              <a:rPr lang="en-US" dirty="0"/>
              <a:t>    if </a:t>
            </a:r>
            <a:r>
              <a:rPr lang="en-US" dirty="0" err="1"/>
              <a:t>i</a:t>
            </a:r>
            <a:r>
              <a:rPr lang="en-US" dirty="0"/>
              <a:t> == 5:</a:t>
            </a:r>
          </a:p>
          <a:p>
            <a:r>
              <a:rPr lang="en-US" dirty="0"/>
              <a:t>        break</a:t>
            </a:r>
          </a:p>
          <a:p>
            <a:r>
              <a:rPr lang="en-US" dirty="0"/>
              <a:t>    print(</a:t>
            </a:r>
            <a:r>
              <a:rPr lang="en-US" dirty="0" err="1"/>
              <a:t>i</a:t>
            </a:r>
            <a:r>
              <a:rPr lang="en-US" dirty="0"/>
              <a:t>)</a:t>
            </a:r>
          </a:p>
        </p:txBody>
      </p:sp>
      <p:sp>
        <p:nvSpPr>
          <p:cNvPr id="10" name="TextBox 9">
            <a:extLst>
              <a:ext uri="{FF2B5EF4-FFF2-40B4-BE49-F238E27FC236}">
                <a16:creationId xmlns:a16="http://schemas.microsoft.com/office/drawing/2014/main" id="{020684B9-11BC-5B48-3807-B196E654CB75}"/>
              </a:ext>
            </a:extLst>
          </p:cNvPr>
          <p:cNvSpPr txBox="1"/>
          <p:nvPr/>
        </p:nvSpPr>
        <p:spPr>
          <a:xfrm>
            <a:off x="7813307" y="4468951"/>
            <a:ext cx="2341346" cy="1200329"/>
          </a:xfrm>
          <a:prstGeom prst="rect">
            <a:avLst/>
          </a:prstGeom>
          <a:noFill/>
        </p:spPr>
        <p:txBody>
          <a:bodyPr wrap="square">
            <a:spAutoFit/>
          </a:bodyPr>
          <a:lstStyle/>
          <a:p>
            <a:r>
              <a:rPr lang="en-US" dirty="0"/>
              <a:t>for </a:t>
            </a:r>
            <a:r>
              <a:rPr lang="en-US" dirty="0" err="1"/>
              <a:t>i</a:t>
            </a:r>
            <a:r>
              <a:rPr lang="en-US" dirty="0"/>
              <a:t> in range(1, 6):</a:t>
            </a:r>
          </a:p>
          <a:p>
            <a:r>
              <a:rPr lang="en-US" dirty="0"/>
              <a:t>    if </a:t>
            </a:r>
            <a:r>
              <a:rPr lang="en-US" dirty="0" err="1"/>
              <a:t>i</a:t>
            </a:r>
            <a:r>
              <a:rPr lang="en-US" dirty="0"/>
              <a:t> == 3:</a:t>
            </a:r>
          </a:p>
          <a:p>
            <a:r>
              <a:rPr lang="en-US" dirty="0"/>
              <a:t>        continue</a:t>
            </a:r>
          </a:p>
          <a:p>
            <a:r>
              <a:rPr lang="en-US" dirty="0"/>
              <a:t>    print(</a:t>
            </a:r>
            <a:r>
              <a:rPr lang="en-US" dirty="0" err="1"/>
              <a:t>i</a:t>
            </a:r>
            <a:r>
              <a:rPr lang="en-US" dirty="0"/>
              <a:t>)</a:t>
            </a:r>
          </a:p>
        </p:txBody>
      </p:sp>
    </p:spTree>
    <p:extLst>
      <p:ext uri="{BB962C8B-B14F-4D97-AF65-F5344CB8AC3E}">
        <p14:creationId xmlns:p14="http://schemas.microsoft.com/office/powerpoint/2010/main" val="2150940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81E92-1FD8-053B-071F-36F3515D202E}"/>
              </a:ext>
            </a:extLst>
          </p:cNvPr>
          <p:cNvSpPr>
            <a:spLocks noGrp="1"/>
          </p:cNvSpPr>
          <p:nvPr>
            <p:ph type="title"/>
          </p:nvPr>
        </p:nvSpPr>
        <p:spPr>
          <a:xfrm>
            <a:off x="247048" y="105878"/>
            <a:ext cx="11636943" cy="471638"/>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Nesting Loop</a:t>
            </a:r>
          </a:p>
        </p:txBody>
      </p:sp>
      <p:sp>
        <p:nvSpPr>
          <p:cNvPr id="4" name="Rectangle 1">
            <a:extLst>
              <a:ext uri="{FF2B5EF4-FFF2-40B4-BE49-F238E27FC236}">
                <a16:creationId xmlns:a16="http://schemas.microsoft.com/office/drawing/2014/main" id="{D07ECDC5-A9F2-D629-D157-8F484C317CDF}"/>
              </a:ext>
            </a:extLst>
          </p:cNvPr>
          <p:cNvSpPr>
            <a:spLocks noGrp="1" noChangeArrowheads="1"/>
          </p:cNvSpPr>
          <p:nvPr>
            <p:ph idx="1"/>
          </p:nvPr>
        </p:nvSpPr>
        <p:spPr bwMode="auto">
          <a:xfrm>
            <a:off x="153970" y="577516"/>
            <a:ext cx="1215674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nested loop</a:t>
            </a:r>
            <a:r>
              <a:rPr kumimoji="0" lang="en-US" altLang="en-US" b="0" i="0" u="none" strike="noStrike" cap="none" normalizeH="0" baseline="0" dirty="0">
                <a:ln>
                  <a:noFill/>
                </a:ln>
                <a:solidFill>
                  <a:schemeClr val="tx1"/>
                </a:solidFill>
                <a:effectLst/>
                <a:latin typeface="Arial" panose="020B0604020202020204" pitchFamily="34" charset="0"/>
              </a:rPr>
              <a:t> is a loop </a:t>
            </a:r>
            <a:r>
              <a:rPr kumimoji="0" lang="en-US" altLang="en-US" b="1" i="0" u="none" strike="noStrike" cap="none" normalizeH="0" baseline="0" dirty="0">
                <a:ln>
                  <a:noFill/>
                </a:ln>
                <a:solidFill>
                  <a:schemeClr val="tx1"/>
                </a:solidFill>
                <a:effectLst/>
                <a:latin typeface="Arial" panose="020B0604020202020204" pitchFamily="34" charset="0"/>
              </a:rPr>
              <a:t>inside another loop</a:t>
            </a:r>
            <a:r>
              <a:rPr kumimoji="0" lang="en-US" altLang="en-US" b="0" i="0" u="none" strike="noStrike" cap="none" normalizeH="0" baseline="0" dirty="0">
                <a:ln>
                  <a:noFill/>
                </a:ln>
                <a:solidFill>
                  <a:schemeClr val="tx1"/>
                </a:solidFill>
                <a:effectLst/>
                <a:latin typeface="Arial" panose="020B0604020202020204" pitchFamily="34" charset="0"/>
              </a:rPr>
              <a:t>. In Python, this means you can place a </a:t>
            </a:r>
            <a:r>
              <a:rPr kumimoji="0" lang="en-US" altLang="en-US" b="0" i="0" u="none" strike="noStrike" cap="none" normalizeH="0" baseline="0" dirty="0">
                <a:ln>
                  <a:noFill/>
                </a:ln>
                <a:solidFill>
                  <a:schemeClr val="tx1"/>
                </a:solidFill>
                <a:effectLst/>
                <a:latin typeface="Arial Unicode MS"/>
              </a:rPr>
              <a:t>for</a:t>
            </a:r>
            <a:r>
              <a:rPr kumimoji="0" lang="en-US" altLang="en-US" b="0" i="0" u="none" strike="noStrike" cap="none" normalizeH="0" baseline="0" dirty="0">
                <a:ln>
                  <a:noFill/>
                </a:ln>
                <a:solidFill>
                  <a:schemeClr val="tx1"/>
                </a:solidFill>
                <a:effectLst/>
              </a:rPr>
              <a:t> loop or a </a:t>
            </a:r>
            <a:r>
              <a:rPr kumimoji="0" lang="en-US" altLang="en-US" b="0" i="0" u="none" strike="noStrike" cap="none" normalizeH="0" baseline="0" dirty="0">
                <a:ln>
                  <a:noFill/>
                </a:ln>
                <a:solidFill>
                  <a:schemeClr val="tx1"/>
                </a:solidFill>
                <a:effectLst/>
                <a:latin typeface="Arial Unicode MS"/>
              </a:rPr>
              <a:t>while</a:t>
            </a:r>
            <a:r>
              <a:rPr kumimoji="0" lang="en-US" altLang="en-US" b="0" i="0" u="none" strike="noStrike" cap="none" normalizeH="0" baseline="0" dirty="0">
                <a:ln>
                  <a:noFill/>
                </a:ln>
                <a:solidFill>
                  <a:schemeClr val="tx1"/>
                </a:solidFill>
                <a:effectLst/>
              </a:rPr>
              <a:t> loop inside another </a:t>
            </a:r>
            <a:r>
              <a:rPr kumimoji="0" lang="en-US" altLang="en-US" b="0" i="0" u="none" strike="noStrike" cap="none" normalizeH="0" baseline="0" dirty="0">
                <a:ln>
                  <a:noFill/>
                </a:ln>
                <a:solidFill>
                  <a:schemeClr val="tx1"/>
                </a:solidFill>
                <a:effectLst/>
                <a:latin typeface="Arial Unicode MS"/>
              </a:rPr>
              <a:t>for</a:t>
            </a:r>
            <a:r>
              <a:rPr kumimoji="0" lang="en-US" altLang="en-US" b="0" i="0" u="none" strike="noStrike" cap="none" normalizeH="0" baseline="0" dirty="0">
                <a:ln>
                  <a:noFill/>
                </a:ln>
                <a:solidFill>
                  <a:schemeClr val="tx1"/>
                </a:solidFill>
                <a:effectLst/>
              </a:rPr>
              <a:t> or </a:t>
            </a:r>
            <a:r>
              <a:rPr kumimoji="0" lang="en-US" altLang="en-US" b="0" i="0" u="none" strike="noStrike" cap="none" normalizeH="0" baseline="0" dirty="0">
                <a:ln>
                  <a:noFill/>
                </a:ln>
                <a:solidFill>
                  <a:schemeClr val="tx1"/>
                </a:solidFill>
                <a:effectLst/>
                <a:latin typeface="Arial Unicode MS"/>
              </a:rPr>
              <a:t>while</a:t>
            </a:r>
            <a:r>
              <a:rPr kumimoji="0" lang="en-US" altLang="en-US" b="0" i="0" u="none" strike="noStrike" cap="none" normalizeH="0" baseline="0" dirty="0">
                <a:ln>
                  <a:noFill/>
                </a:ln>
                <a:solidFill>
                  <a:schemeClr val="tx1"/>
                </a:solidFill>
                <a:effectLst/>
              </a:rPr>
              <a:t> loop.</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Nested loops are commonly used to work with </a:t>
            </a:r>
            <a:r>
              <a:rPr kumimoji="0" lang="en-US" altLang="en-US" b="1" i="0" u="none" strike="noStrike" cap="none" normalizeH="0" baseline="0" dirty="0">
                <a:ln>
                  <a:noFill/>
                </a:ln>
                <a:solidFill>
                  <a:schemeClr val="tx1"/>
                </a:solidFill>
                <a:effectLst/>
                <a:latin typeface="Arial" panose="020B0604020202020204" pitchFamily="34" charset="0"/>
              </a:rPr>
              <a:t>multi-dimensional data structures</a:t>
            </a:r>
            <a:r>
              <a:rPr kumimoji="0" lang="en-US" altLang="en-US" b="0" i="0" u="none" strike="noStrike" cap="none" normalizeH="0" baseline="0" dirty="0">
                <a:ln>
                  <a:noFill/>
                </a:ln>
                <a:solidFill>
                  <a:schemeClr val="tx1"/>
                </a:solidFill>
                <a:effectLst/>
                <a:latin typeface="Arial" panose="020B0604020202020204" pitchFamily="34" charset="0"/>
              </a:rPr>
              <a:t>, like 2D lists (matrices) or tables. </a:t>
            </a:r>
          </a:p>
        </p:txBody>
      </p:sp>
      <p:sp>
        <p:nvSpPr>
          <p:cNvPr id="6" name="TextBox 5">
            <a:extLst>
              <a:ext uri="{FF2B5EF4-FFF2-40B4-BE49-F238E27FC236}">
                <a16:creationId xmlns:a16="http://schemas.microsoft.com/office/drawing/2014/main" id="{5A4AD4F5-498B-8B9B-D0DE-484A77CCC73B}"/>
              </a:ext>
            </a:extLst>
          </p:cNvPr>
          <p:cNvSpPr txBox="1"/>
          <p:nvPr/>
        </p:nvSpPr>
        <p:spPr>
          <a:xfrm>
            <a:off x="356101" y="2085284"/>
            <a:ext cx="4023394" cy="1200329"/>
          </a:xfrm>
          <a:prstGeom prst="rect">
            <a:avLst/>
          </a:prstGeom>
          <a:noFill/>
        </p:spPr>
        <p:txBody>
          <a:bodyPr wrap="square">
            <a:spAutoFit/>
          </a:bodyPr>
          <a:lstStyle/>
          <a:p>
            <a:r>
              <a:rPr lang="en-US" dirty="0"/>
              <a:t>for </a:t>
            </a:r>
            <a:r>
              <a:rPr lang="en-US" dirty="0" err="1"/>
              <a:t>outer_var</a:t>
            </a:r>
            <a:r>
              <a:rPr lang="en-US" dirty="0"/>
              <a:t> in </a:t>
            </a:r>
            <a:r>
              <a:rPr lang="en-US" dirty="0" err="1"/>
              <a:t>outer_sequence</a:t>
            </a:r>
            <a:r>
              <a:rPr lang="en-US" dirty="0"/>
              <a:t>:</a:t>
            </a:r>
          </a:p>
          <a:p>
            <a:r>
              <a:rPr lang="en-US" dirty="0"/>
              <a:t>    for </a:t>
            </a:r>
            <a:r>
              <a:rPr lang="en-US" dirty="0" err="1"/>
              <a:t>inner_var</a:t>
            </a:r>
            <a:r>
              <a:rPr lang="en-US" dirty="0"/>
              <a:t> in </a:t>
            </a:r>
            <a:r>
              <a:rPr lang="en-US" dirty="0" err="1"/>
              <a:t>inner_sequence</a:t>
            </a:r>
            <a:r>
              <a:rPr lang="en-US" dirty="0"/>
              <a:t>:</a:t>
            </a:r>
          </a:p>
          <a:p>
            <a:r>
              <a:rPr lang="en-US" dirty="0"/>
              <a:t>        # Inner loop block</a:t>
            </a:r>
          </a:p>
          <a:p>
            <a:r>
              <a:rPr lang="en-US" dirty="0"/>
              <a:t>        ...</a:t>
            </a:r>
          </a:p>
        </p:txBody>
      </p:sp>
      <p:sp>
        <p:nvSpPr>
          <p:cNvPr id="8" name="TextBox 7">
            <a:extLst>
              <a:ext uri="{FF2B5EF4-FFF2-40B4-BE49-F238E27FC236}">
                <a16:creationId xmlns:a16="http://schemas.microsoft.com/office/drawing/2014/main" id="{AF5DF205-25FF-C2F3-7736-5B6F2A0DE0E8}"/>
              </a:ext>
            </a:extLst>
          </p:cNvPr>
          <p:cNvSpPr txBox="1"/>
          <p:nvPr/>
        </p:nvSpPr>
        <p:spPr>
          <a:xfrm>
            <a:off x="247048" y="4034399"/>
            <a:ext cx="5171975" cy="1200329"/>
          </a:xfrm>
          <a:prstGeom prst="rect">
            <a:avLst/>
          </a:prstGeom>
          <a:noFill/>
        </p:spPr>
        <p:txBody>
          <a:bodyPr wrap="square">
            <a:spAutoFit/>
          </a:bodyPr>
          <a:lstStyle/>
          <a:p>
            <a:r>
              <a:rPr lang="en-US" dirty="0"/>
              <a:t>for </a:t>
            </a:r>
            <a:r>
              <a:rPr lang="en-US" dirty="0" err="1"/>
              <a:t>i</a:t>
            </a:r>
            <a:r>
              <a:rPr lang="en-US" dirty="0"/>
              <a:t> in range(1, 4):        # Outer loop</a:t>
            </a:r>
          </a:p>
          <a:p>
            <a:r>
              <a:rPr lang="en-US" dirty="0"/>
              <a:t>    for j in range(1, 4):    # Inner loop</a:t>
            </a:r>
          </a:p>
          <a:p>
            <a:r>
              <a:rPr lang="en-US" dirty="0"/>
              <a:t>        print(f"{</a:t>
            </a:r>
            <a:r>
              <a:rPr lang="en-US" dirty="0" err="1"/>
              <a:t>i</a:t>
            </a:r>
            <a:r>
              <a:rPr lang="en-US" dirty="0"/>
              <a:t>},{j}", end="  ")</a:t>
            </a:r>
          </a:p>
          <a:p>
            <a:r>
              <a:rPr lang="en-US" dirty="0"/>
              <a:t>    print()  # New line after inner loop finishes</a:t>
            </a:r>
          </a:p>
        </p:txBody>
      </p:sp>
      <p:sp>
        <p:nvSpPr>
          <p:cNvPr id="10" name="TextBox 9">
            <a:extLst>
              <a:ext uri="{FF2B5EF4-FFF2-40B4-BE49-F238E27FC236}">
                <a16:creationId xmlns:a16="http://schemas.microsoft.com/office/drawing/2014/main" id="{61F8B2B7-542A-0F2A-EA63-2CA3D2CFAB00}"/>
              </a:ext>
            </a:extLst>
          </p:cNvPr>
          <p:cNvSpPr txBox="1"/>
          <p:nvPr/>
        </p:nvSpPr>
        <p:spPr>
          <a:xfrm>
            <a:off x="7812507" y="2085284"/>
            <a:ext cx="3612680" cy="1477328"/>
          </a:xfrm>
          <a:prstGeom prst="rect">
            <a:avLst/>
          </a:prstGeom>
          <a:noFill/>
        </p:spPr>
        <p:txBody>
          <a:bodyPr wrap="square">
            <a:spAutoFit/>
          </a:bodyPr>
          <a:lstStyle/>
          <a:p>
            <a:r>
              <a:rPr lang="en-US" dirty="0"/>
              <a:t>while </a:t>
            </a:r>
            <a:r>
              <a:rPr lang="en-US" dirty="0" err="1"/>
              <a:t>outer_condition</a:t>
            </a:r>
            <a:r>
              <a:rPr lang="en-US" dirty="0"/>
              <a:t>:</a:t>
            </a:r>
          </a:p>
          <a:p>
            <a:r>
              <a:rPr lang="en-US" dirty="0"/>
              <a:t>    # Outer loop block</a:t>
            </a:r>
          </a:p>
          <a:p>
            <a:r>
              <a:rPr lang="en-US" dirty="0"/>
              <a:t>    while </a:t>
            </a:r>
            <a:r>
              <a:rPr lang="en-US" dirty="0" err="1"/>
              <a:t>inner_condition</a:t>
            </a:r>
            <a:r>
              <a:rPr lang="en-US" dirty="0"/>
              <a:t>:</a:t>
            </a:r>
          </a:p>
          <a:p>
            <a:r>
              <a:rPr lang="en-US" dirty="0"/>
              <a:t>        # Inner loop block</a:t>
            </a:r>
          </a:p>
          <a:p>
            <a:r>
              <a:rPr lang="en-US" dirty="0"/>
              <a:t>        ...</a:t>
            </a:r>
          </a:p>
        </p:txBody>
      </p:sp>
      <p:sp>
        <p:nvSpPr>
          <p:cNvPr id="12" name="TextBox 11">
            <a:extLst>
              <a:ext uri="{FF2B5EF4-FFF2-40B4-BE49-F238E27FC236}">
                <a16:creationId xmlns:a16="http://schemas.microsoft.com/office/drawing/2014/main" id="{F6E4C163-A5DE-162F-D9DC-13857AF749FB}"/>
              </a:ext>
            </a:extLst>
          </p:cNvPr>
          <p:cNvSpPr txBox="1"/>
          <p:nvPr/>
        </p:nvSpPr>
        <p:spPr>
          <a:xfrm>
            <a:off x="6724851" y="3875038"/>
            <a:ext cx="5787991" cy="2308324"/>
          </a:xfrm>
          <a:prstGeom prst="rect">
            <a:avLst/>
          </a:prstGeom>
          <a:noFill/>
        </p:spPr>
        <p:txBody>
          <a:bodyPr wrap="square">
            <a:spAutoFit/>
          </a:bodyPr>
          <a:lstStyle/>
          <a:p>
            <a:r>
              <a:rPr lang="en-US" dirty="0" err="1"/>
              <a:t>i</a:t>
            </a:r>
            <a:r>
              <a:rPr lang="en-US" dirty="0"/>
              <a:t> = 1</a:t>
            </a:r>
          </a:p>
          <a:p>
            <a:r>
              <a:rPr lang="en-US" dirty="0"/>
              <a:t>while </a:t>
            </a:r>
            <a:r>
              <a:rPr lang="en-US" dirty="0" err="1"/>
              <a:t>i</a:t>
            </a:r>
            <a:r>
              <a:rPr lang="en-US" dirty="0"/>
              <a:t> &lt;= 3:</a:t>
            </a:r>
          </a:p>
          <a:p>
            <a:r>
              <a:rPr lang="en-US" dirty="0"/>
              <a:t>    j = 1</a:t>
            </a:r>
          </a:p>
          <a:p>
            <a:r>
              <a:rPr lang="en-US" dirty="0"/>
              <a:t>    while j &lt;= 3:</a:t>
            </a:r>
          </a:p>
          <a:p>
            <a:r>
              <a:rPr lang="en-US" dirty="0"/>
              <a:t>        print(f"{</a:t>
            </a:r>
            <a:r>
              <a:rPr lang="en-US" dirty="0" err="1"/>
              <a:t>i</a:t>
            </a:r>
            <a:r>
              <a:rPr lang="en-US" dirty="0"/>
              <a:t>},{j}", end="  ")</a:t>
            </a:r>
          </a:p>
          <a:p>
            <a:r>
              <a:rPr lang="en-US" dirty="0"/>
              <a:t>        j += 1</a:t>
            </a:r>
          </a:p>
          <a:p>
            <a:r>
              <a:rPr lang="en-US" dirty="0"/>
              <a:t>    print()  # Move to the next line after inner loop</a:t>
            </a:r>
          </a:p>
          <a:p>
            <a:r>
              <a:rPr lang="en-US" dirty="0"/>
              <a:t>    </a:t>
            </a:r>
            <a:r>
              <a:rPr lang="en-US" dirty="0" err="1"/>
              <a:t>i</a:t>
            </a:r>
            <a:r>
              <a:rPr lang="en-US" dirty="0"/>
              <a:t> += 1</a:t>
            </a:r>
          </a:p>
        </p:txBody>
      </p:sp>
    </p:spTree>
    <p:extLst>
      <p:ext uri="{BB962C8B-B14F-4D97-AF65-F5344CB8AC3E}">
        <p14:creationId xmlns:p14="http://schemas.microsoft.com/office/powerpoint/2010/main" val="7206086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FF7E-98E6-779F-1835-F22A1F467833}"/>
              </a:ext>
            </a:extLst>
          </p:cNvPr>
          <p:cNvSpPr>
            <a:spLocks noGrp="1"/>
          </p:cNvSpPr>
          <p:nvPr>
            <p:ph type="title"/>
          </p:nvPr>
        </p:nvSpPr>
        <p:spPr>
          <a:xfrm>
            <a:off x="128020" y="186788"/>
            <a:ext cx="8911687" cy="330047"/>
          </a:xfrm>
        </p:spPr>
        <p:txBody>
          <a:bodyPr>
            <a:noAutofit/>
          </a:bodyPr>
          <a:lstStyle/>
          <a:p>
            <a:r>
              <a:rPr lang="en-US" sz="2000" b="1" dirty="0" err="1">
                <a:solidFill>
                  <a:srgbClr val="FF0000"/>
                </a:solidFill>
                <a:latin typeface="Cambria" panose="02040503050406030204" pitchFamily="18" charset="0"/>
                <a:ea typeface="Cambria" panose="02040503050406030204" pitchFamily="18" charset="0"/>
              </a:rPr>
              <a:t>Ptyhon</a:t>
            </a:r>
            <a:r>
              <a:rPr lang="en-US" sz="2000" b="1" dirty="0">
                <a:solidFill>
                  <a:srgbClr val="FF0000"/>
                </a:solidFill>
                <a:latin typeface="Cambria" panose="02040503050406030204" pitchFamily="18" charset="0"/>
                <a:ea typeface="Cambria" panose="02040503050406030204" pitchFamily="18" charset="0"/>
              </a:rPr>
              <a:t> loop </a:t>
            </a:r>
            <a:r>
              <a:rPr lang="en-US" sz="2000" b="1" dirty="0" err="1">
                <a:solidFill>
                  <a:srgbClr val="FF0000"/>
                </a:solidFill>
                <a:latin typeface="Cambria" panose="02040503050406030204" pitchFamily="18" charset="0"/>
                <a:ea typeface="Cambria" panose="02040503050406030204" pitchFamily="18" charset="0"/>
              </a:rPr>
              <a:t>Practise</a:t>
            </a:r>
            <a:r>
              <a:rPr lang="en-US" sz="2000" b="1" dirty="0">
                <a:solidFill>
                  <a:srgbClr val="FF0000"/>
                </a:solidFill>
                <a:latin typeface="Cambria" panose="02040503050406030204" pitchFamily="18" charset="0"/>
                <a:ea typeface="Cambria" panose="02040503050406030204" pitchFamily="18" charset="0"/>
              </a:rPr>
              <a:t> </a:t>
            </a:r>
            <a:r>
              <a:rPr lang="en-US" sz="2000" b="1" dirty="0" err="1">
                <a:solidFill>
                  <a:srgbClr val="FF0000"/>
                </a:solidFill>
                <a:latin typeface="Cambria" panose="02040503050406030204" pitchFamily="18" charset="0"/>
                <a:ea typeface="Cambria" panose="02040503050406030204" pitchFamily="18" charset="0"/>
              </a:rPr>
              <a:t>Quesions</a:t>
            </a:r>
            <a:endParaRPr lang="en-US" sz="2000" b="1" dirty="0">
              <a:solidFill>
                <a:srgbClr val="FF0000"/>
              </a:solidFill>
              <a:latin typeface="Cambria" panose="02040503050406030204" pitchFamily="18" charset="0"/>
              <a:ea typeface="Cambria" panose="02040503050406030204" pitchFamily="18" charset="0"/>
            </a:endParaRPr>
          </a:p>
        </p:txBody>
      </p:sp>
      <p:sp>
        <p:nvSpPr>
          <p:cNvPr id="8" name="TextBox 7">
            <a:extLst>
              <a:ext uri="{FF2B5EF4-FFF2-40B4-BE49-F238E27FC236}">
                <a16:creationId xmlns:a16="http://schemas.microsoft.com/office/drawing/2014/main" id="{80B47741-4AC1-06B4-7774-AFD198C2AACF}"/>
              </a:ext>
            </a:extLst>
          </p:cNvPr>
          <p:cNvSpPr txBox="1"/>
          <p:nvPr/>
        </p:nvSpPr>
        <p:spPr>
          <a:xfrm>
            <a:off x="124970" y="782927"/>
            <a:ext cx="11942060" cy="5632311"/>
          </a:xfrm>
          <a:prstGeom prst="rect">
            <a:avLst/>
          </a:prstGeom>
          <a:noFill/>
        </p:spPr>
        <p:txBody>
          <a:bodyPr wrap="square">
            <a:spAutoFit/>
          </a:bodyPr>
          <a:lstStyle/>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for loop that prints numbers 1 to 10,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number 5 using continue.</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print numbers from 1 to 10.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loop if the number is divisible by 7 using break.</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nested for loop to print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3x3 multiplication table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skipping rows where the outer loop value is even.</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for loop to iterate over a list ['a', 'b', 'c', 'd'], and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loop if the current letter is 'c’.</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print numbers from 10 to 1,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numbers divisible by 3.</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nested while loop to print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rectangle of stars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(3 rows × 5 stars), skipping the second row.</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 a for loop from 1 to 20, print only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odd numbers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using continue.</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while loop that prints squares of numbers starting from 1.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Break</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loop if the square exceeds 100</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nested loop to print all combinations of numbers from 1 to 3 and letters from ['x', 'y'],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when number is 2 and letter is 'y’.</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for loop to iterate through a string.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printing characters if you hit a vowel.</a:t>
            </a:r>
          </a:p>
        </p:txBody>
      </p:sp>
    </p:spTree>
    <p:extLst>
      <p:ext uri="{BB962C8B-B14F-4D97-AF65-F5344CB8AC3E}">
        <p14:creationId xmlns:p14="http://schemas.microsoft.com/office/powerpoint/2010/main" val="22271781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724E7C-4997-7668-F43F-E2BBF220BF2F}"/>
              </a:ext>
            </a:extLst>
          </p:cNvPr>
          <p:cNvSpPr>
            <a:spLocks noGrp="1"/>
          </p:cNvSpPr>
          <p:nvPr>
            <p:ph type="title"/>
          </p:nvPr>
        </p:nvSpPr>
        <p:spPr>
          <a:xfrm>
            <a:off x="192506" y="84873"/>
            <a:ext cx="11186979" cy="415641"/>
          </a:xfrm>
        </p:spPr>
        <p:txBody>
          <a:bodyPr>
            <a:noAutofit/>
          </a:bodyPr>
          <a:lstStyle/>
          <a:p>
            <a:r>
              <a:rPr lang="en-US" sz="2000" b="1" dirty="0" err="1">
                <a:solidFill>
                  <a:srgbClr val="FF0000"/>
                </a:solidFill>
                <a:latin typeface="Cambria" panose="02040503050406030204" pitchFamily="18" charset="0"/>
                <a:ea typeface="Cambria" panose="02040503050406030204" pitchFamily="18" charset="0"/>
              </a:rPr>
              <a:t>Ptyhon</a:t>
            </a:r>
            <a:r>
              <a:rPr lang="en-US" sz="2000" b="1" dirty="0">
                <a:solidFill>
                  <a:srgbClr val="FF0000"/>
                </a:solidFill>
                <a:latin typeface="Cambria" panose="02040503050406030204" pitchFamily="18" charset="0"/>
                <a:ea typeface="Cambria" panose="02040503050406030204" pitchFamily="18" charset="0"/>
              </a:rPr>
              <a:t> loop </a:t>
            </a:r>
            <a:r>
              <a:rPr lang="en-US" sz="2000" b="1" dirty="0" err="1">
                <a:solidFill>
                  <a:srgbClr val="FF0000"/>
                </a:solidFill>
                <a:latin typeface="Cambria" panose="02040503050406030204" pitchFamily="18" charset="0"/>
                <a:ea typeface="Cambria" panose="02040503050406030204" pitchFamily="18" charset="0"/>
              </a:rPr>
              <a:t>Practise</a:t>
            </a:r>
            <a:r>
              <a:rPr lang="en-US" sz="2000" b="1" dirty="0">
                <a:solidFill>
                  <a:srgbClr val="FF0000"/>
                </a:solidFill>
                <a:latin typeface="Cambria" panose="02040503050406030204" pitchFamily="18" charset="0"/>
                <a:ea typeface="Cambria" panose="02040503050406030204" pitchFamily="18" charset="0"/>
              </a:rPr>
              <a:t> </a:t>
            </a:r>
            <a:r>
              <a:rPr lang="en-US" sz="2000" b="1" dirty="0" err="1">
                <a:solidFill>
                  <a:srgbClr val="FF0000"/>
                </a:solidFill>
                <a:latin typeface="Cambria" panose="02040503050406030204" pitchFamily="18" charset="0"/>
                <a:ea typeface="Cambria" panose="02040503050406030204" pitchFamily="18" charset="0"/>
              </a:rPr>
              <a:t>Quesions</a:t>
            </a:r>
            <a:endParaRPr lang="en-US" sz="2000" b="1" dirty="0">
              <a:solidFill>
                <a:srgbClr val="FF0000"/>
              </a:solidFill>
              <a:latin typeface="Cambria" panose="02040503050406030204" pitchFamily="18" charset="0"/>
              <a:ea typeface="Cambria" panose="02040503050406030204" pitchFamily="18" charset="0"/>
            </a:endParaRPr>
          </a:p>
        </p:txBody>
      </p:sp>
      <p:sp>
        <p:nvSpPr>
          <p:cNvPr id="5" name="Rectangle 1">
            <a:extLst>
              <a:ext uri="{FF2B5EF4-FFF2-40B4-BE49-F238E27FC236}">
                <a16:creationId xmlns:a16="http://schemas.microsoft.com/office/drawing/2014/main" id="{A16C1EF0-C4CC-ADC4-71AB-625B64CE4A6E}"/>
              </a:ext>
            </a:extLst>
          </p:cNvPr>
          <p:cNvSpPr>
            <a:spLocks noGrp="1" noChangeArrowheads="1"/>
          </p:cNvSpPr>
          <p:nvPr>
            <p:ph idx="1"/>
          </p:nvPr>
        </p:nvSpPr>
        <p:spPr bwMode="auto">
          <a:xfrm>
            <a:off x="149199" y="567568"/>
            <a:ext cx="12042801"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while loop that prints even numbers between 1 and 20,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stops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when number reaches 16.</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nested loop to print all pairs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 where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1–3 and j is 1–3,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skip pairs where </a:t>
            </a:r>
            <a:r>
              <a:rPr kumimoji="0" lang="en-US" altLang="en-US" b="1"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j</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for loop with continue to print numbers from 1 to 10,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excluding</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multiples of 4.</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Write a while loop to keep asking for user input until the user enters 'exit'. (Use break.)</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nested loop to print numbers from 1 to 3, and for each, print numbers from 1 to 2, but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break</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the inner loop when the inner number is 2.</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for loop to iterate from 0 to 9. If the number is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multiple of both 2 and 3</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use continue.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count backwards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from 10, skipping 6 and stopping at 3.</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a for loop over a list of numbers. Print only those that are divisible by 5 using continue.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 nested for loops to print a right-angled triangle of numbers (e.g. 1, 1 2, 1 2 3, ...) up to 5 rows.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 a while loop to simulate a countdown. If number is 3, print "BOOM!" and break. Otherwise, print the number.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929668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00E9-7A86-360D-1E9F-0C3BBA56D589}"/>
              </a:ext>
            </a:extLst>
          </p:cNvPr>
          <p:cNvSpPr>
            <a:spLocks noGrp="1"/>
          </p:cNvSpPr>
          <p:nvPr>
            <p:ph type="title"/>
          </p:nvPr>
        </p:nvSpPr>
        <p:spPr>
          <a:xfrm>
            <a:off x="231006" y="96253"/>
            <a:ext cx="11273606" cy="423511"/>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List (Collection)</a:t>
            </a:r>
          </a:p>
        </p:txBody>
      </p:sp>
      <p:sp>
        <p:nvSpPr>
          <p:cNvPr id="4" name="Rectangle 1">
            <a:extLst>
              <a:ext uri="{FF2B5EF4-FFF2-40B4-BE49-F238E27FC236}">
                <a16:creationId xmlns:a16="http://schemas.microsoft.com/office/drawing/2014/main" id="{B5CCEF38-7C97-1955-EE49-A8F9E4C30F0E}"/>
              </a:ext>
            </a:extLst>
          </p:cNvPr>
          <p:cNvSpPr>
            <a:spLocks noGrp="1" noChangeArrowheads="1"/>
          </p:cNvSpPr>
          <p:nvPr>
            <p:ph idx="1"/>
          </p:nvPr>
        </p:nvSpPr>
        <p:spPr bwMode="auto">
          <a:xfrm>
            <a:off x="231006" y="1358987"/>
            <a:ext cx="1196099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List</a:t>
            </a:r>
            <a:r>
              <a:rPr kumimoji="0" lang="en-US" altLang="en-US" b="0" i="0" u="none" strike="noStrike" cap="none" normalizeH="0" baseline="0" dirty="0">
                <a:ln>
                  <a:noFill/>
                </a:ln>
                <a:solidFill>
                  <a:schemeClr val="tx1"/>
                </a:solidFill>
                <a:effectLst/>
                <a:latin typeface="Arial" panose="020B0604020202020204" pitchFamily="34" charset="0"/>
              </a:rPr>
              <a:t> is an </a:t>
            </a:r>
            <a:r>
              <a:rPr kumimoji="0" lang="en-US" altLang="en-US" b="1" i="0" u="none" strike="noStrike" cap="none" normalizeH="0" baseline="0" dirty="0">
                <a:ln>
                  <a:noFill/>
                </a:ln>
                <a:solidFill>
                  <a:schemeClr val="tx1"/>
                </a:solidFill>
                <a:effectLst/>
                <a:latin typeface="Arial" panose="020B0604020202020204" pitchFamily="34" charset="0"/>
              </a:rPr>
              <a:t>ordered</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mutable</a:t>
            </a:r>
            <a:r>
              <a:rPr kumimoji="0" lang="en-US" altLang="en-US" b="0" i="0" u="none" strike="noStrike" cap="none" normalizeH="0" baseline="0" dirty="0">
                <a:ln>
                  <a:noFill/>
                </a:ln>
                <a:solidFill>
                  <a:schemeClr val="tx1"/>
                </a:solidFill>
                <a:effectLst/>
                <a:latin typeface="Arial" panose="020B0604020202020204" pitchFamily="34" charset="0"/>
              </a:rPr>
              <a:t> collection in Python that can contain elements of different data types. Lists allow </a:t>
            </a:r>
            <a:r>
              <a:rPr kumimoji="0" lang="en-US" altLang="en-US" b="1" i="0" u="none" strike="noStrike" cap="none" normalizeH="0" baseline="0" dirty="0">
                <a:ln>
                  <a:noFill/>
                </a:ln>
                <a:solidFill>
                  <a:schemeClr val="tx1"/>
                </a:solidFill>
                <a:effectLst/>
                <a:latin typeface="Arial" panose="020B0604020202020204" pitchFamily="34" charset="0"/>
              </a:rPr>
              <a:t>duplicate values</a:t>
            </a:r>
            <a:r>
              <a:rPr kumimoji="0" lang="en-US" altLang="en-US" b="0" i="0" u="none" strike="noStrike" cap="none" normalizeH="0" baseline="0" dirty="0">
                <a:ln>
                  <a:noFill/>
                </a:ln>
                <a:solidFill>
                  <a:schemeClr val="tx1"/>
                </a:solidFill>
                <a:effectLst/>
                <a:latin typeface="Arial" panose="020B0604020202020204" pitchFamily="34" charset="0"/>
              </a:rPr>
              <a:t> and support </a:t>
            </a:r>
            <a:r>
              <a:rPr kumimoji="0" lang="en-US" altLang="en-US" b="1" i="0" u="none" strike="noStrike" cap="none" normalizeH="0" baseline="0" dirty="0">
                <a:ln>
                  <a:noFill/>
                </a:ln>
                <a:solidFill>
                  <a:schemeClr val="tx1"/>
                </a:solidFill>
                <a:effectLst/>
                <a:latin typeface="Arial" panose="020B0604020202020204" pitchFamily="34" charset="0"/>
              </a:rPr>
              <a:t>indexing</a:t>
            </a:r>
            <a:r>
              <a:rPr kumimoji="0" lang="en-US" altLang="en-US" b="0" i="0" u="none" strike="noStrike" cap="none" normalizeH="0" baseline="0" dirty="0">
                <a:ln>
                  <a:noFill/>
                </a:ln>
                <a:solidFill>
                  <a:schemeClr val="tx1"/>
                </a:solidFill>
                <a:effectLst/>
                <a:latin typeface="Arial" panose="020B0604020202020204" pitchFamily="34" charset="0"/>
              </a:rPr>
              <a:t> and </a:t>
            </a:r>
            <a:r>
              <a:rPr kumimoji="0" lang="en-US" altLang="en-US" b="1" i="0" u="none" strike="noStrike" cap="none" normalizeH="0" baseline="0" dirty="0">
                <a:ln>
                  <a:noFill/>
                </a:ln>
                <a:solidFill>
                  <a:schemeClr val="tx1"/>
                </a:solidFill>
                <a:effectLst/>
                <a:latin typeface="Arial" panose="020B0604020202020204" pitchFamily="34" charset="0"/>
              </a:rPr>
              <a:t>slicing</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Python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example = [1, 2, 3, "hello", 4.5]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Ordered</a:t>
            </a:r>
            <a:r>
              <a:rPr kumimoji="0" lang="en-US" altLang="en-US" b="0" i="0" u="none" strike="noStrike" cap="none" normalizeH="0" baseline="0" dirty="0">
                <a:ln>
                  <a:noFill/>
                </a:ln>
                <a:solidFill>
                  <a:schemeClr val="tx1"/>
                </a:solidFill>
                <a:effectLst/>
                <a:latin typeface="Arial" panose="020B0604020202020204" pitchFamily="34" charset="0"/>
              </a:rPr>
              <a:t>: Maintains the order of elements.</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Mutable</a:t>
            </a:r>
            <a:r>
              <a:rPr kumimoji="0" lang="en-US" altLang="en-US" b="0" i="0" u="none" strike="noStrike" cap="none" normalizeH="0" baseline="0" dirty="0">
                <a:ln>
                  <a:noFill/>
                </a:ln>
                <a:solidFill>
                  <a:schemeClr val="tx1"/>
                </a:solidFill>
                <a:effectLst/>
                <a:latin typeface="Arial" panose="020B0604020202020204" pitchFamily="34" charset="0"/>
              </a:rPr>
              <a:t>: Can be modified after creation.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Allows Duplicates</a:t>
            </a:r>
            <a:r>
              <a:rPr kumimoji="0" lang="en-US" altLang="en-US" b="0" i="0" u="none" strike="noStrike" cap="none" normalizeH="0" baseline="0" dirty="0">
                <a:ln>
                  <a:noFill/>
                </a:ln>
                <a:solidFill>
                  <a:schemeClr val="tx1"/>
                </a:solidFill>
                <a:effectLst/>
                <a:latin typeface="Arial" panose="020B0604020202020204" pitchFamily="34" charset="0"/>
              </a:rPr>
              <a:t>: Elements can repeat.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Indexed</a:t>
            </a:r>
            <a:r>
              <a:rPr kumimoji="0" lang="en-US" altLang="en-US" b="0" i="0" u="none" strike="noStrike" cap="none" normalizeH="0" baseline="0" dirty="0">
                <a:ln>
                  <a:noFill/>
                </a:ln>
                <a:solidFill>
                  <a:schemeClr val="tx1"/>
                </a:solidFill>
                <a:effectLst/>
                <a:latin typeface="Arial" panose="020B0604020202020204" pitchFamily="34" charset="0"/>
              </a:rPr>
              <a:t>: Accessed using indices.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Dynamic</a:t>
            </a:r>
            <a:r>
              <a:rPr kumimoji="0" lang="en-US" altLang="en-US" b="0" i="0" u="none" strike="noStrike" cap="none" normalizeH="0" baseline="0" dirty="0">
                <a:ln>
                  <a:noFill/>
                </a:ln>
                <a:solidFill>
                  <a:schemeClr val="tx1"/>
                </a:solidFill>
                <a:effectLst/>
                <a:latin typeface="Arial" panose="020B0604020202020204" pitchFamily="34" charset="0"/>
              </a:rPr>
              <a:t>: Size can be changed during runtime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27087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49588-A263-3DFC-5084-1492558F16FD}"/>
              </a:ext>
            </a:extLst>
          </p:cNvPr>
          <p:cNvSpPr>
            <a:spLocks noGrp="1"/>
          </p:cNvSpPr>
          <p:nvPr>
            <p:ph type="title"/>
          </p:nvPr>
        </p:nvSpPr>
        <p:spPr>
          <a:xfrm>
            <a:off x="259883" y="67377"/>
            <a:ext cx="11244730" cy="374691"/>
          </a:xfrm>
        </p:spPr>
        <p:txBody>
          <a:bodyPr>
            <a:normAutofit fontScale="90000"/>
          </a:bodyPr>
          <a:lstStyle/>
          <a:p>
            <a:r>
              <a:rPr lang="en-US" sz="2400" b="1" dirty="0">
                <a:solidFill>
                  <a:srgbClr val="FF0000"/>
                </a:solidFill>
              </a:rPr>
              <a:t>List Collection Methods</a:t>
            </a:r>
          </a:p>
        </p:txBody>
      </p:sp>
      <p:graphicFrame>
        <p:nvGraphicFramePr>
          <p:cNvPr id="4" name="Content Placeholder 3">
            <a:extLst>
              <a:ext uri="{FF2B5EF4-FFF2-40B4-BE49-F238E27FC236}">
                <a16:creationId xmlns:a16="http://schemas.microsoft.com/office/drawing/2014/main" id="{ADF580F1-8DC5-49B2-8E55-BAAE303B39CA}"/>
              </a:ext>
            </a:extLst>
          </p:cNvPr>
          <p:cNvGraphicFramePr>
            <a:graphicFrameLocks noGrp="1"/>
          </p:cNvGraphicFramePr>
          <p:nvPr>
            <p:ph idx="1"/>
            <p:extLst>
              <p:ext uri="{D42A27DB-BD31-4B8C-83A1-F6EECF244321}">
                <p14:modId xmlns:p14="http://schemas.microsoft.com/office/powerpoint/2010/main" val="1135506195"/>
              </p:ext>
            </p:extLst>
          </p:nvPr>
        </p:nvGraphicFramePr>
        <p:xfrm>
          <a:off x="160419" y="677193"/>
          <a:ext cx="11928912" cy="6218614"/>
        </p:xfrm>
        <a:graphic>
          <a:graphicData uri="http://schemas.openxmlformats.org/drawingml/2006/table">
            <a:tbl>
              <a:tblPr/>
              <a:tblGrid>
                <a:gridCol w="2395695">
                  <a:extLst>
                    <a:ext uri="{9D8B030D-6E8A-4147-A177-3AD203B41FA5}">
                      <a16:colId xmlns:a16="http://schemas.microsoft.com/office/drawing/2014/main" val="1698350323"/>
                    </a:ext>
                  </a:extLst>
                </a:gridCol>
                <a:gridCol w="6666442">
                  <a:extLst>
                    <a:ext uri="{9D8B030D-6E8A-4147-A177-3AD203B41FA5}">
                      <a16:colId xmlns:a16="http://schemas.microsoft.com/office/drawing/2014/main" val="3772691469"/>
                    </a:ext>
                  </a:extLst>
                </a:gridCol>
                <a:gridCol w="2866775">
                  <a:extLst>
                    <a:ext uri="{9D8B030D-6E8A-4147-A177-3AD203B41FA5}">
                      <a16:colId xmlns:a16="http://schemas.microsoft.com/office/drawing/2014/main" val="2266423213"/>
                    </a:ext>
                  </a:extLst>
                </a:gridCol>
              </a:tblGrid>
              <a:tr h="433565">
                <a:tc>
                  <a:txBody>
                    <a:bodyPr/>
                    <a:lstStyle/>
                    <a:p>
                      <a:pPr algn="ctr"/>
                      <a:r>
                        <a:rPr lang="en-US" sz="2000" b="1" dirty="0"/>
                        <a:t>Method</a:t>
                      </a:r>
                    </a:p>
                  </a:txBody>
                  <a:tcPr marL="90464" marR="90464" marT="45232" marB="45232" anchor="ctr">
                    <a:lnL>
                      <a:noFill/>
                    </a:lnL>
                    <a:lnR>
                      <a:noFill/>
                    </a:lnR>
                    <a:lnT>
                      <a:noFill/>
                    </a:lnT>
                    <a:lnB>
                      <a:noFill/>
                    </a:lnB>
                    <a:solidFill>
                      <a:schemeClr val="accent1">
                        <a:lumMod val="60000"/>
                        <a:lumOff val="40000"/>
                      </a:schemeClr>
                    </a:solidFill>
                  </a:tcPr>
                </a:tc>
                <a:tc>
                  <a:txBody>
                    <a:bodyPr/>
                    <a:lstStyle/>
                    <a:p>
                      <a:pPr algn="ctr"/>
                      <a:r>
                        <a:rPr lang="en-US" sz="2000" b="1" dirty="0"/>
                        <a:t>Definition</a:t>
                      </a:r>
                    </a:p>
                  </a:txBody>
                  <a:tcPr marL="90464" marR="90464" marT="45232" marB="45232" anchor="ctr">
                    <a:lnL>
                      <a:noFill/>
                    </a:lnL>
                    <a:lnR>
                      <a:noFill/>
                    </a:lnR>
                    <a:lnT>
                      <a:noFill/>
                    </a:lnT>
                    <a:lnB>
                      <a:noFill/>
                    </a:lnB>
                    <a:solidFill>
                      <a:schemeClr val="accent1">
                        <a:lumMod val="60000"/>
                        <a:lumOff val="40000"/>
                      </a:schemeClr>
                    </a:solidFill>
                  </a:tcPr>
                </a:tc>
                <a:tc>
                  <a:txBody>
                    <a:bodyPr/>
                    <a:lstStyle/>
                    <a:p>
                      <a:pPr algn="ctr"/>
                      <a:r>
                        <a:rPr lang="en-US" sz="2000" b="1" dirty="0"/>
                        <a:t>Example</a:t>
                      </a:r>
                    </a:p>
                  </a:txBody>
                  <a:tcPr marL="90464" marR="90464" marT="45232" marB="45232"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2283890508"/>
                  </a:ext>
                </a:extLst>
              </a:tr>
              <a:tr h="570202">
                <a:tc>
                  <a:txBody>
                    <a:bodyPr/>
                    <a:lstStyle/>
                    <a:p>
                      <a:pPr algn="l"/>
                      <a:r>
                        <a:rPr lang="en-US" sz="1800" b="0" dirty="0"/>
                        <a:t>append(x)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a:t>Adds an element x to the end of the list</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err="1"/>
                        <a:t>lst.append</a:t>
                      </a:r>
                      <a:r>
                        <a:rPr lang="en-US" sz="1800" b="0" dirty="0"/>
                        <a:t>(10)</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1759035081"/>
                  </a:ext>
                </a:extLst>
              </a:tr>
              <a:tr h="519624">
                <a:tc>
                  <a:txBody>
                    <a:bodyPr/>
                    <a:lstStyle/>
                    <a:p>
                      <a:pPr algn="l"/>
                      <a:r>
                        <a:rPr lang="en-US" sz="1800" b="0"/>
                        <a:t>extend(iterable)</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a:t>Adds all elements of an </a:t>
                      </a:r>
                      <a:r>
                        <a:rPr lang="en-US" sz="1800" b="0" dirty="0" err="1"/>
                        <a:t>iterable</a:t>
                      </a:r>
                      <a:endParaRPr lang="en-US" sz="1800" b="0" dirty="0"/>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lst.extend([3, 4])</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4205963318"/>
                  </a:ext>
                </a:extLst>
              </a:tr>
              <a:tr h="447930">
                <a:tc>
                  <a:txBody>
                    <a:bodyPr/>
                    <a:lstStyle/>
                    <a:p>
                      <a:pPr algn="l"/>
                      <a:r>
                        <a:rPr lang="en-US" sz="1800" b="0"/>
                        <a:t>insert(i, 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a:t>Inserts an element x at position </a:t>
                      </a:r>
                      <a:r>
                        <a:rPr lang="en-US" sz="1800" b="0" dirty="0" err="1"/>
                        <a:t>i</a:t>
                      </a:r>
                      <a:endParaRPr lang="en-US" sz="1800" b="0" dirty="0"/>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lst.insert(1, "apple")</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2957861317"/>
                  </a:ext>
                </a:extLst>
              </a:tr>
              <a:tr h="694613">
                <a:tc>
                  <a:txBody>
                    <a:bodyPr/>
                    <a:lstStyle/>
                    <a:p>
                      <a:pPr algn="l"/>
                      <a:r>
                        <a:rPr lang="en-US" sz="1800" b="0"/>
                        <a:t>remove(x)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a:t>Removes first occurrence of value 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lst.remove(3)</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3308528111"/>
                  </a:ext>
                </a:extLst>
              </a:tr>
              <a:tr h="857407">
                <a:tc>
                  <a:txBody>
                    <a:bodyPr/>
                    <a:lstStyle/>
                    <a:p>
                      <a:pPr algn="l"/>
                      <a:r>
                        <a:rPr lang="en-US" sz="1800" b="0"/>
                        <a:t>pop([i])</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a:t>Removes and returns element at index </a:t>
                      </a:r>
                      <a:r>
                        <a:rPr lang="en-US" sz="1800" b="0" dirty="0" err="1"/>
                        <a:t>i</a:t>
                      </a:r>
                      <a:r>
                        <a:rPr lang="en-US" sz="1800" b="0" dirty="0"/>
                        <a:t> or last if not specified</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lst.pop() or lst.pop(2)</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3062351905"/>
                  </a:ext>
                </a:extLst>
              </a:tr>
              <a:tr h="400132">
                <a:tc>
                  <a:txBody>
                    <a:bodyPr/>
                    <a:lstStyle/>
                    <a:p>
                      <a:pPr algn="l"/>
                      <a:r>
                        <a:rPr lang="en-US" sz="1800" b="0"/>
                        <a:t>clear()</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Removes all elements</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err="1"/>
                        <a:t>lst.clear</a:t>
                      </a:r>
                      <a:r>
                        <a:rPr lang="en-US" sz="1800" b="0" dirty="0"/>
                        <a:t>()</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803634320"/>
                  </a:ext>
                </a:extLst>
              </a:tr>
              <a:tr h="400132">
                <a:tc>
                  <a:txBody>
                    <a:bodyPr/>
                    <a:lstStyle/>
                    <a:p>
                      <a:pPr algn="l"/>
                      <a:r>
                        <a:rPr lang="en-US" sz="1800" b="0" dirty="0"/>
                        <a:t>index(x)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a:t>Returns the first index of 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lst.index("apple")</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4128133008"/>
                  </a:ext>
                </a:extLst>
              </a:tr>
              <a:tr h="400132">
                <a:tc>
                  <a:txBody>
                    <a:bodyPr/>
                    <a:lstStyle/>
                    <a:p>
                      <a:pPr algn="l"/>
                      <a:r>
                        <a:rPr lang="en-US" sz="1800" b="0" dirty="0"/>
                        <a:t>count(x)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Counts occurrences of x</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err="1"/>
                        <a:t>lst.count</a:t>
                      </a:r>
                      <a:r>
                        <a:rPr lang="en-US" sz="1800" b="0" dirty="0"/>
                        <a:t>(10)</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118746498"/>
                  </a:ext>
                </a:extLst>
              </a:tr>
              <a:tr h="694613">
                <a:tc>
                  <a:txBody>
                    <a:bodyPr/>
                    <a:lstStyle/>
                    <a:p>
                      <a:pPr algn="l"/>
                      <a:r>
                        <a:rPr lang="en-US" sz="1800" b="0" dirty="0"/>
                        <a:t>sort()</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Sorts the list in ascending order</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err="1"/>
                        <a:t>lst.sort</a:t>
                      </a:r>
                      <a:r>
                        <a:rPr lang="en-US" sz="1800" b="0" dirty="0"/>
                        <a:t>()</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1510107115"/>
                  </a:ext>
                </a:extLst>
              </a:tr>
              <a:tr h="400132">
                <a:tc>
                  <a:txBody>
                    <a:bodyPr/>
                    <a:lstStyle/>
                    <a:p>
                      <a:pPr algn="l"/>
                      <a:r>
                        <a:rPr lang="en-US" sz="1800" b="0" dirty="0"/>
                        <a:t>reverse()</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a:t>Reverses the list</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err="1"/>
                        <a:t>lst.reverse</a:t>
                      </a:r>
                      <a:r>
                        <a:rPr lang="en-US" sz="1800" b="0" dirty="0"/>
                        <a:t>()</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3094271790"/>
                  </a:ext>
                </a:extLst>
              </a:tr>
              <a:tr h="400132">
                <a:tc>
                  <a:txBody>
                    <a:bodyPr/>
                    <a:lstStyle/>
                    <a:p>
                      <a:pPr algn="l"/>
                      <a:r>
                        <a:rPr lang="en-US" sz="1800" b="0" dirty="0"/>
                        <a:t>copy()</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a:t>Returns a shallow copy</a:t>
                      </a:r>
                    </a:p>
                  </a:txBody>
                  <a:tcPr marL="90464" marR="90464" marT="45232" marB="45232" anchor="ctr">
                    <a:lnL>
                      <a:noFill/>
                    </a:lnL>
                    <a:lnR>
                      <a:noFill/>
                    </a:lnR>
                    <a:lnT>
                      <a:noFill/>
                    </a:lnT>
                    <a:lnB>
                      <a:noFill/>
                    </a:lnB>
                    <a:solidFill>
                      <a:schemeClr val="accent5">
                        <a:lumMod val="60000"/>
                        <a:lumOff val="40000"/>
                      </a:schemeClr>
                    </a:solidFill>
                  </a:tcPr>
                </a:tc>
                <a:tc>
                  <a:txBody>
                    <a:bodyPr/>
                    <a:lstStyle/>
                    <a:p>
                      <a:pPr algn="l"/>
                      <a:r>
                        <a:rPr lang="en-US" sz="1800" b="0" dirty="0" err="1"/>
                        <a:t>new_lst</a:t>
                      </a:r>
                      <a:r>
                        <a:rPr lang="en-US" sz="1800" b="0" dirty="0"/>
                        <a:t> = </a:t>
                      </a:r>
                      <a:r>
                        <a:rPr lang="en-US" sz="1800" b="0" dirty="0" err="1"/>
                        <a:t>lst.copy</a:t>
                      </a:r>
                      <a:r>
                        <a:rPr lang="en-US" sz="1800" b="0" dirty="0"/>
                        <a:t>()</a:t>
                      </a:r>
                    </a:p>
                  </a:txBody>
                  <a:tcPr marL="90464" marR="90464" marT="45232" marB="45232" anchor="ctr">
                    <a:lnL>
                      <a:noFill/>
                    </a:lnL>
                    <a:lnR>
                      <a:noFill/>
                    </a:lnR>
                    <a:lnT>
                      <a:noFill/>
                    </a:lnT>
                    <a:lnB>
                      <a:noFill/>
                    </a:lnB>
                    <a:solidFill>
                      <a:schemeClr val="accent5">
                        <a:lumMod val="60000"/>
                        <a:lumOff val="40000"/>
                      </a:schemeClr>
                    </a:solidFill>
                  </a:tcPr>
                </a:tc>
                <a:extLst>
                  <a:ext uri="{0D108BD9-81ED-4DB2-BD59-A6C34878D82A}">
                    <a16:rowId xmlns:a16="http://schemas.microsoft.com/office/drawing/2014/main" val="2372268324"/>
                  </a:ext>
                </a:extLst>
              </a:tr>
            </a:tbl>
          </a:graphicData>
        </a:graphic>
      </p:graphicFrame>
    </p:spTree>
    <p:extLst>
      <p:ext uri="{BB962C8B-B14F-4D97-AF65-F5344CB8AC3E}">
        <p14:creationId xmlns:p14="http://schemas.microsoft.com/office/powerpoint/2010/main" val="14095097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4A2E5-3D9A-39E2-E602-C068E3401633}"/>
              </a:ext>
            </a:extLst>
          </p:cNvPr>
          <p:cNvSpPr>
            <a:spLocks noGrp="1"/>
          </p:cNvSpPr>
          <p:nvPr>
            <p:ph type="title"/>
          </p:nvPr>
        </p:nvSpPr>
        <p:spPr>
          <a:xfrm>
            <a:off x="250257" y="96253"/>
            <a:ext cx="11254356" cy="481263"/>
          </a:xfrm>
        </p:spPr>
        <p:txBody>
          <a:bodyPr>
            <a:normAutofit fontScale="90000"/>
          </a:bodyPr>
          <a:lstStyle/>
          <a:p>
            <a:r>
              <a:rPr lang="en-US" sz="2800" b="1" dirty="0">
                <a:solidFill>
                  <a:srgbClr val="FF0000"/>
                </a:solidFill>
                <a:latin typeface="Cambria" panose="02040503050406030204" pitchFamily="18" charset="0"/>
                <a:ea typeface="Cambria" panose="02040503050406030204" pitchFamily="18" charset="0"/>
              </a:rPr>
              <a:t>Python Tuple Collection</a:t>
            </a:r>
          </a:p>
        </p:txBody>
      </p:sp>
      <p:sp>
        <p:nvSpPr>
          <p:cNvPr id="4" name="Rectangle 1">
            <a:extLst>
              <a:ext uri="{FF2B5EF4-FFF2-40B4-BE49-F238E27FC236}">
                <a16:creationId xmlns:a16="http://schemas.microsoft.com/office/drawing/2014/main" id="{FE89D076-48E4-758E-D30F-AE2BEB5783FA}"/>
              </a:ext>
            </a:extLst>
          </p:cNvPr>
          <p:cNvSpPr>
            <a:spLocks noGrp="1" noChangeArrowheads="1"/>
          </p:cNvSpPr>
          <p:nvPr>
            <p:ph idx="1"/>
          </p:nvPr>
        </p:nvSpPr>
        <p:spPr bwMode="auto">
          <a:xfrm>
            <a:off x="223424" y="1295625"/>
            <a:ext cx="1196857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Tuple</a:t>
            </a:r>
            <a:r>
              <a:rPr kumimoji="0" lang="en-US" altLang="en-US" b="0" i="0" u="none" strike="noStrike" cap="none" normalizeH="0" baseline="0" dirty="0">
                <a:ln>
                  <a:noFill/>
                </a:ln>
                <a:solidFill>
                  <a:schemeClr val="tx1"/>
                </a:solidFill>
                <a:effectLst/>
                <a:latin typeface="Arial" panose="020B0604020202020204" pitchFamily="34" charset="0"/>
              </a:rPr>
              <a:t> is an </a:t>
            </a:r>
            <a:r>
              <a:rPr kumimoji="0" lang="en-US" altLang="en-US" b="1" i="0" u="none" strike="noStrike" cap="none" normalizeH="0" baseline="0" dirty="0">
                <a:ln>
                  <a:noFill/>
                </a:ln>
                <a:solidFill>
                  <a:schemeClr val="tx1"/>
                </a:solidFill>
                <a:effectLst/>
                <a:latin typeface="Arial" panose="020B0604020202020204" pitchFamily="34" charset="0"/>
              </a:rPr>
              <a:t>ordered</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immutable</a:t>
            </a:r>
            <a:r>
              <a:rPr kumimoji="0" lang="en-US" altLang="en-US" b="0" i="0" u="none" strike="noStrike" cap="none" normalizeH="0" baseline="0" dirty="0">
                <a:ln>
                  <a:noFill/>
                </a:ln>
                <a:solidFill>
                  <a:schemeClr val="tx1"/>
                </a:solidFill>
                <a:effectLst/>
                <a:latin typeface="Arial" panose="020B0604020202020204" pitchFamily="34" charset="0"/>
              </a:rPr>
              <a:t> collection of elements. Tuples support </a:t>
            </a:r>
            <a:r>
              <a:rPr kumimoji="0" lang="en-US" altLang="en-US" b="1" i="0" u="none" strike="noStrike" cap="none" normalizeH="0" baseline="0" dirty="0">
                <a:ln>
                  <a:noFill/>
                </a:ln>
                <a:solidFill>
                  <a:schemeClr val="tx1"/>
                </a:solidFill>
                <a:effectLst/>
                <a:latin typeface="Arial" panose="020B0604020202020204" pitchFamily="34" charset="0"/>
              </a:rPr>
              <a:t>indexing</a:t>
            </a:r>
            <a:r>
              <a:rPr kumimoji="0" lang="en-US" altLang="en-US" b="0" i="0" u="none" strike="noStrike" cap="none" normalizeH="0" baseline="0" dirty="0">
                <a:ln>
                  <a:noFill/>
                </a:ln>
                <a:solidFill>
                  <a:schemeClr val="tx1"/>
                </a:solidFill>
                <a:effectLst/>
                <a:latin typeface="Arial" panose="020B0604020202020204" pitchFamily="34" charset="0"/>
              </a:rPr>
              <a:t>, allow </a:t>
            </a:r>
            <a:r>
              <a:rPr kumimoji="0" lang="en-US" altLang="en-US" b="1" i="0" u="none" strike="noStrike" cap="none" normalizeH="0" baseline="0" dirty="0">
                <a:ln>
                  <a:noFill/>
                </a:ln>
                <a:solidFill>
                  <a:schemeClr val="tx1"/>
                </a:solidFill>
                <a:effectLst/>
                <a:latin typeface="Arial" panose="020B0604020202020204" pitchFamily="34" charset="0"/>
              </a:rPr>
              <a:t>duplicates</a:t>
            </a:r>
            <a:r>
              <a:rPr kumimoji="0" lang="en-US" altLang="en-US" b="0" i="0" u="none" strike="noStrike" cap="none" normalizeH="0" baseline="0" dirty="0">
                <a:ln>
                  <a:noFill/>
                </a:ln>
                <a:solidFill>
                  <a:schemeClr val="tx1"/>
                </a:solidFill>
                <a:effectLst/>
                <a:latin typeface="Arial" panose="020B0604020202020204" pitchFamily="34" charset="0"/>
              </a:rPr>
              <a:t>, and are generally used for fixed collections.</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Python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example = (1, 2, 3, "hello", 4.5) </a:t>
            </a: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Ordered</a:t>
            </a:r>
            <a:r>
              <a:rPr kumimoji="0" lang="en-US" altLang="en-US" b="0" i="0" u="none" strike="noStrike" cap="none" normalizeH="0" baseline="0" dirty="0">
                <a:ln>
                  <a:noFill/>
                </a:ln>
                <a:solidFill>
                  <a:schemeClr val="tx1"/>
                </a:solidFill>
                <a:effectLst/>
                <a:latin typeface="Arial" panose="020B0604020202020204" pitchFamily="34" charset="0"/>
              </a:rPr>
              <a:t>: Maintains insertion order.</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Immutable</a:t>
            </a:r>
            <a:r>
              <a:rPr kumimoji="0" lang="en-US" altLang="en-US" b="0" i="0" u="none" strike="noStrike" cap="none" normalizeH="0" baseline="0" dirty="0">
                <a:ln>
                  <a:noFill/>
                </a:ln>
                <a:solidFill>
                  <a:schemeClr val="tx1"/>
                </a:solidFill>
                <a:effectLst/>
                <a:latin typeface="Arial" panose="020B0604020202020204" pitchFamily="34" charset="0"/>
              </a:rPr>
              <a:t>: Cannot be changed after creation.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Allows Duplicates</a:t>
            </a:r>
            <a:r>
              <a:rPr kumimoji="0" lang="en-US" altLang="en-US" b="0" i="0" u="none" strike="noStrike" cap="none" normalizeH="0" baseline="0" dirty="0">
                <a:ln>
                  <a:noFill/>
                </a:ln>
                <a:solidFill>
                  <a:schemeClr val="tx1"/>
                </a:solidFill>
                <a:effectLst/>
                <a:latin typeface="Arial" panose="020B0604020202020204" pitchFamily="34" charset="0"/>
              </a:rPr>
              <a:t>: Can store repeating values.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Indexed</a:t>
            </a:r>
            <a:r>
              <a:rPr kumimoji="0" lang="en-US" altLang="en-US" b="0" i="0" u="none" strike="noStrike" cap="none" normalizeH="0" baseline="0" dirty="0">
                <a:ln>
                  <a:noFill/>
                </a:ln>
                <a:solidFill>
                  <a:schemeClr val="tx1"/>
                </a:solidFill>
                <a:effectLst/>
                <a:latin typeface="Arial" panose="020B0604020202020204" pitchFamily="34" charset="0"/>
              </a:rPr>
              <a:t>: Elements can be accessed via indices.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Efficient</a:t>
            </a:r>
            <a:r>
              <a:rPr kumimoji="0" lang="en-US" altLang="en-US" b="0" i="0" u="none" strike="noStrike" cap="none" normalizeH="0" baseline="0" dirty="0">
                <a:ln>
                  <a:noFill/>
                </a:ln>
                <a:solidFill>
                  <a:schemeClr val="tx1"/>
                </a:solidFill>
                <a:effectLst/>
                <a:latin typeface="Arial" panose="020B0604020202020204" pitchFamily="34" charset="0"/>
              </a:rPr>
              <a:t>: Faster and consumes less memory than lists.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490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28E18-EEBB-DBEB-88C4-8BA512ED89F8}"/>
              </a:ext>
            </a:extLst>
          </p:cNvPr>
          <p:cNvSpPr>
            <a:spLocks noGrp="1"/>
          </p:cNvSpPr>
          <p:nvPr>
            <p:ph type="title"/>
          </p:nvPr>
        </p:nvSpPr>
        <p:spPr>
          <a:xfrm>
            <a:off x="231006" y="77004"/>
            <a:ext cx="11129227" cy="288756"/>
          </a:xfrm>
        </p:spPr>
        <p:txBody>
          <a:bodyPr>
            <a:noAutofit/>
          </a:bodyPr>
          <a:lstStyle/>
          <a:p>
            <a:r>
              <a:rPr lang="en-US" sz="2000" b="1" dirty="0">
                <a:solidFill>
                  <a:srgbClr val="FF0000"/>
                </a:solidFill>
                <a:latin typeface="Cambria" panose="02040503050406030204" pitchFamily="18" charset="0"/>
                <a:ea typeface="Cambria" panose="02040503050406030204" pitchFamily="18" charset="0"/>
              </a:rPr>
              <a:t>Python Tuple Collection Method</a:t>
            </a:r>
            <a:endParaRPr lang="en-US" sz="2000" dirty="0"/>
          </a:p>
        </p:txBody>
      </p:sp>
      <p:graphicFrame>
        <p:nvGraphicFramePr>
          <p:cNvPr id="4" name="Content Placeholder 3">
            <a:extLst>
              <a:ext uri="{FF2B5EF4-FFF2-40B4-BE49-F238E27FC236}">
                <a16:creationId xmlns:a16="http://schemas.microsoft.com/office/drawing/2014/main" id="{2C684EAF-067A-0D9D-218A-4E01AD096343}"/>
              </a:ext>
            </a:extLst>
          </p:cNvPr>
          <p:cNvGraphicFramePr>
            <a:graphicFrameLocks noGrp="1"/>
          </p:cNvGraphicFramePr>
          <p:nvPr>
            <p:ph idx="1"/>
            <p:extLst>
              <p:ext uri="{D42A27DB-BD31-4B8C-83A1-F6EECF244321}">
                <p14:modId xmlns:p14="http://schemas.microsoft.com/office/powerpoint/2010/main" val="3807688212"/>
              </p:ext>
            </p:extLst>
          </p:nvPr>
        </p:nvGraphicFramePr>
        <p:xfrm>
          <a:off x="163617" y="442764"/>
          <a:ext cx="12028383" cy="1463040"/>
        </p:xfrm>
        <a:graphic>
          <a:graphicData uri="http://schemas.openxmlformats.org/drawingml/2006/table">
            <a:tbl>
              <a:tblPr/>
              <a:tblGrid>
                <a:gridCol w="2858716">
                  <a:extLst>
                    <a:ext uri="{9D8B030D-6E8A-4147-A177-3AD203B41FA5}">
                      <a16:colId xmlns:a16="http://schemas.microsoft.com/office/drawing/2014/main" val="2169041754"/>
                    </a:ext>
                  </a:extLst>
                </a:gridCol>
                <a:gridCol w="5938787">
                  <a:extLst>
                    <a:ext uri="{9D8B030D-6E8A-4147-A177-3AD203B41FA5}">
                      <a16:colId xmlns:a16="http://schemas.microsoft.com/office/drawing/2014/main" val="2735191029"/>
                    </a:ext>
                  </a:extLst>
                </a:gridCol>
                <a:gridCol w="3230880">
                  <a:extLst>
                    <a:ext uri="{9D8B030D-6E8A-4147-A177-3AD203B41FA5}">
                      <a16:colId xmlns:a16="http://schemas.microsoft.com/office/drawing/2014/main" val="2048074310"/>
                    </a:ext>
                  </a:extLst>
                </a:gridCol>
              </a:tblGrid>
              <a:tr h="0">
                <a:tc>
                  <a:txBody>
                    <a:bodyPr/>
                    <a:lstStyle/>
                    <a:p>
                      <a:pPr algn="ctr"/>
                      <a:r>
                        <a:rPr lang="en-US" sz="1800" b="1" dirty="0">
                          <a:latin typeface="Cambria" panose="02040503050406030204" pitchFamily="18" charset="0"/>
                          <a:ea typeface="Cambria" panose="02040503050406030204" pitchFamily="18" charset="0"/>
                        </a:rPr>
                        <a:t>Function / Method</a:t>
                      </a:r>
                    </a:p>
                  </a:txBody>
                  <a:tcPr anchor="ctr">
                    <a:lnL>
                      <a:noFill/>
                    </a:lnL>
                    <a:lnR>
                      <a:noFill/>
                    </a:lnR>
                    <a:lnT>
                      <a:noFill/>
                    </a:lnT>
                    <a:lnB>
                      <a:noFill/>
                    </a:lnB>
                    <a:solidFill>
                      <a:schemeClr val="accent1">
                        <a:lumMod val="60000"/>
                        <a:lumOff val="40000"/>
                      </a:schemeClr>
                    </a:solidFill>
                  </a:tcPr>
                </a:tc>
                <a:tc>
                  <a:txBody>
                    <a:bodyPr/>
                    <a:lstStyle/>
                    <a:p>
                      <a:pPr algn="ctr"/>
                      <a:r>
                        <a:rPr lang="en-US" sz="1800" b="1">
                          <a:latin typeface="Cambria" panose="02040503050406030204" pitchFamily="18" charset="0"/>
                          <a:ea typeface="Cambria" panose="02040503050406030204" pitchFamily="18" charset="0"/>
                        </a:rPr>
                        <a:t>Definition / Use</a:t>
                      </a:r>
                    </a:p>
                  </a:txBody>
                  <a:tcPr anchor="ctr">
                    <a:lnL>
                      <a:noFill/>
                    </a:lnL>
                    <a:lnR>
                      <a:noFill/>
                    </a:lnR>
                    <a:lnT>
                      <a:noFill/>
                    </a:lnT>
                    <a:lnB>
                      <a:noFill/>
                    </a:lnB>
                    <a:solidFill>
                      <a:schemeClr val="accent1">
                        <a:lumMod val="60000"/>
                        <a:lumOff val="40000"/>
                      </a:schemeClr>
                    </a:solidFill>
                  </a:tcPr>
                </a:tc>
                <a:tc>
                  <a:txBody>
                    <a:bodyPr/>
                    <a:lstStyle/>
                    <a:p>
                      <a:pPr algn="ctr"/>
                      <a:r>
                        <a:rPr lang="en-US" sz="1800" b="1" dirty="0">
                          <a:latin typeface="Cambria" panose="02040503050406030204" pitchFamily="18" charset="0"/>
                          <a:ea typeface="Cambria" panose="02040503050406030204" pitchFamily="18" charset="0"/>
                        </a:rPr>
                        <a:t>Example</a:t>
                      </a: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1560237677"/>
                  </a:ext>
                </a:extLst>
              </a:tr>
              <a:tr h="0">
                <a:tc>
                  <a:txBody>
                    <a:bodyPr/>
                    <a:lstStyle/>
                    <a:p>
                      <a:r>
                        <a:rPr lang="en-US" sz="1800" dirty="0">
                          <a:latin typeface="Cambria" panose="02040503050406030204" pitchFamily="18" charset="0"/>
                          <a:ea typeface="Cambria" panose="02040503050406030204" pitchFamily="18" charset="0"/>
                        </a:rPr>
                        <a:t>tuple()</a:t>
                      </a: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Converts an </a:t>
                      </a:r>
                      <a:r>
                        <a:rPr lang="en-US" sz="1800" dirty="0" err="1">
                          <a:latin typeface="Cambria" panose="02040503050406030204" pitchFamily="18" charset="0"/>
                          <a:ea typeface="Cambria" panose="02040503050406030204" pitchFamily="18" charset="0"/>
                        </a:rPr>
                        <a:t>iterable</a:t>
                      </a:r>
                      <a:r>
                        <a:rPr lang="en-US" sz="1800" dirty="0">
                          <a:latin typeface="Cambria" panose="02040503050406030204" pitchFamily="18" charset="0"/>
                          <a:ea typeface="Cambria" panose="02040503050406030204" pitchFamily="18" charset="0"/>
                        </a:rPr>
                        <a:t> (e.g., list, string) to a tuple</a:t>
                      </a: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tuple([1, 2, 3]) → (1, 2, 3)</a:t>
                      </a:r>
                    </a:p>
                  </a:txBody>
                  <a:tcPr anchor="ctr">
                    <a:lnL>
                      <a:noFill/>
                    </a:lnL>
                    <a:lnR>
                      <a:noFill/>
                    </a:lnR>
                    <a:lnT>
                      <a:noFill/>
                    </a:lnT>
                    <a:lnB>
                      <a:noFill/>
                    </a:lnB>
                    <a:noFill/>
                  </a:tcPr>
                </a:tc>
                <a:extLst>
                  <a:ext uri="{0D108BD9-81ED-4DB2-BD59-A6C34878D82A}">
                    <a16:rowId xmlns:a16="http://schemas.microsoft.com/office/drawing/2014/main" val="1162049048"/>
                  </a:ext>
                </a:extLst>
              </a:tr>
              <a:tr h="0">
                <a:tc>
                  <a:txBody>
                    <a:bodyPr/>
                    <a:lstStyle/>
                    <a:p>
                      <a:r>
                        <a:rPr lang="en-US" sz="1800" dirty="0">
                          <a:latin typeface="Cambria" panose="02040503050406030204" pitchFamily="18" charset="0"/>
                          <a:ea typeface="Cambria" panose="02040503050406030204" pitchFamily="18" charset="0"/>
                        </a:rPr>
                        <a:t>.count(x)</a:t>
                      </a: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number of times x appears in the tuple</a:t>
                      </a: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(1, 2, 2, 3).count(2) → 2</a:t>
                      </a:r>
                    </a:p>
                  </a:txBody>
                  <a:tcPr anchor="ctr">
                    <a:lnL>
                      <a:noFill/>
                    </a:lnL>
                    <a:lnR>
                      <a:noFill/>
                    </a:lnR>
                    <a:lnT>
                      <a:noFill/>
                    </a:lnT>
                    <a:lnB>
                      <a:noFill/>
                    </a:lnB>
                    <a:noFill/>
                  </a:tcPr>
                </a:tc>
                <a:extLst>
                  <a:ext uri="{0D108BD9-81ED-4DB2-BD59-A6C34878D82A}">
                    <a16:rowId xmlns:a16="http://schemas.microsoft.com/office/drawing/2014/main" val="3432761043"/>
                  </a:ext>
                </a:extLst>
              </a:tr>
              <a:tr h="0">
                <a:tc>
                  <a:txBody>
                    <a:bodyPr/>
                    <a:lstStyle/>
                    <a:p>
                      <a:r>
                        <a:rPr lang="en-US" sz="1800" dirty="0">
                          <a:latin typeface="Cambria" panose="02040503050406030204" pitchFamily="18" charset="0"/>
                          <a:ea typeface="Cambria" panose="02040503050406030204" pitchFamily="18" charset="0"/>
                        </a:rPr>
                        <a:t>.index(x)</a:t>
                      </a: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index of the first occurrence of x</a:t>
                      </a:r>
                    </a:p>
                  </a:txBody>
                  <a:tcPr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(1, 2, 3).index(2) → 1</a:t>
                      </a:r>
                    </a:p>
                  </a:txBody>
                  <a:tcPr anchor="ctr">
                    <a:lnL>
                      <a:noFill/>
                    </a:lnL>
                    <a:lnR>
                      <a:noFill/>
                    </a:lnR>
                    <a:lnT>
                      <a:noFill/>
                    </a:lnT>
                    <a:lnB>
                      <a:noFill/>
                    </a:lnB>
                    <a:noFill/>
                  </a:tcPr>
                </a:tc>
                <a:extLst>
                  <a:ext uri="{0D108BD9-81ED-4DB2-BD59-A6C34878D82A}">
                    <a16:rowId xmlns:a16="http://schemas.microsoft.com/office/drawing/2014/main" val="4132765816"/>
                  </a:ext>
                </a:extLst>
              </a:tr>
            </a:tbl>
          </a:graphicData>
        </a:graphic>
      </p:graphicFrame>
      <p:graphicFrame>
        <p:nvGraphicFramePr>
          <p:cNvPr id="5" name="Table 4">
            <a:extLst>
              <a:ext uri="{FF2B5EF4-FFF2-40B4-BE49-F238E27FC236}">
                <a16:creationId xmlns:a16="http://schemas.microsoft.com/office/drawing/2014/main" id="{00E4CA62-1A54-7583-228F-30678B19F2BF}"/>
              </a:ext>
            </a:extLst>
          </p:cNvPr>
          <p:cNvGraphicFramePr>
            <a:graphicFrameLocks noGrp="1"/>
          </p:cNvGraphicFramePr>
          <p:nvPr>
            <p:extLst>
              <p:ext uri="{D42A27DB-BD31-4B8C-83A1-F6EECF244321}">
                <p14:modId xmlns:p14="http://schemas.microsoft.com/office/powerpoint/2010/main" val="719168954"/>
              </p:ext>
            </p:extLst>
          </p:nvPr>
        </p:nvGraphicFramePr>
        <p:xfrm>
          <a:off x="231006" y="2014693"/>
          <a:ext cx="11912880" cy="4617117"/>
        </p:xfrm>
        <a:graphic>
          <a:graphicData uri="http://schemas.openxmlformats.org/drawingml/2006/table">
            <a:tbl>
              <a:tblPr/>
              <a:tblGrid>
                <a:gridCol w="2396704">
                  <a:extLst>
                    <a:ext uri="{9D8B030D-6E8A-4147-A177-3AD203B41FA5}">
                      <a16:colId xmlns:a16="http://schemas.microsoft.com/office/drawing/2014/main" val="2948109549"/>
                    </a:ext>
                  </a:extLst>
                </a:gridCol>
                <a:gridCol w="5545216">
                  <a:extLst>
                    <a:ext uri="{9D8B030D-6E8A-4147-A177-3AD203B41FA5}">
                      <a16:colId xmlns:a16="http://schemas.microsoft.com/office/drawing/2014/main" val="2890314775"/>
                    </a:ext>
                  </a:extLst>
                </a:gridCol>
                <a:gridCol w="3970960">
                  <a:extLst>
                    <a:ext uri="{9D8B030D-6E8A-4147-A177-3AD203B41FA5}">
                      <a16:colId xmlns:a16="http://schemas.microsoft.com/office/drawing/2014/main" val="815232763"/>
                    </a:ext>
                  </a:extLst>
                </a:gridCol>
              </a:tblGrid>
              <a:tr h="392520">
                <a:tc>
                  <a:txBody>
                    <a:bodyPr/>
                    <a:lstStyle/>
                    <a:p>
                      <a:pPr algn="ctr"/>
                      <a:r>
                        <a:rPr lang="en-US" sz="2000" b="1" dirty="0">
                          <a:latin typeface="Cambria" panose="02040503050406030204" pitchFamily="18" charset="0"/>
                          <a:ea typeface="Cambria" panose="02040503050406030204" pitchFamily="18" charset="0"/>
                        </a:rPr>
                        <a:t>Function</a:t>
                      </a:r>
                    </a:p>
                  </a:txBody>
                  <a:tcPr marL="48577" marR="48577" marT="24289" marB="24289"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Definition / Use</a:t>
                      </a:r>
                    </a:p>
                  </a:txBody>
                  <a:tcPr marL="48577" marR="48577" marT="24289" marB="24289"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Example</a:t>
                      </a:r>
                    </a:p>
                  </a:txBody>
                  <a:tcPr marL="48577" marR="48577" marT="24289" marB="24289"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4194528461"/>
                  </a:ext>
                </a:extLst>
              </a:tr>
              <a:tr h="377706">
                <a:tc>
                  <a:txBody>
                    <a:bodyPr/>
                    <a:lstStyle/>
                    <a:p>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a:t>
                      </a: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the number of elements in the tuple</a:t>
                      </a:r>
                    </a:p>
                  </a:txBody>
                  <a:tcPr marL="48577" marR="48577" marT="24289" marB="24289" anchor="ctr">
                    <a:lnL>
                      <a:noFill/>
                    </a:lnL>
                    <a:lnR>
                      <a:noFill/>
                    </a:lnR>
                    <a:lnT>
                      <a:noFill/>
                    </a:lnT>
                    <a:lnB>
                      <a:noFill/>
                    </a:lnB>
                    <a:noFill/>
                  </a:tcPr>
                </a:tc>
                <a:tc>
                  <a:txBody>
                    <a:bodyPr/>
                    <a:lstStyle/>
                    <a:p>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((1, 2, 3)) → 3</a:t>
                      </a:r>
                    </a:p>
                  </a:txBody>
                  <a:tcPr marL="48577" marR="48577" marT="24289" marB="24289" anchor="ctr">
                    <a:lnL>
                      <a:noFill/>
                    </a:lnL>
                    <a:lnR>
                      <a:noFill/>
                    </a:lnR>
                    <a:lnT>
                      <a:noFill/>
                    </a:lnT>
                    <a:lnB>
                      <a:noFill/>
                    </a:lnB>
                    <a:noFill/>
                  </a:tcPr>
                </a:tc>
                <a:extLst>
                  <a:ext uri="{0D108BD9-81ED-4DB2-BD59-A6C34878D82A}">
                    <a16:rowId xmlns:a16="http://schemas.microsoft.com/office/drawing/2014/main" val="599863925"/>
                  </a:ext>
                </a:extLst>
              </a:tr>
              <a:tr h="377706">
                <a:tc>
                  <a:txBody>
                    <a:bodyPr/>
                    <a:lstStyle/>
                    <a:p>
                      <a:r>
                        <a:rPr lang="en-US" sz="1800" dirty="0">
                          <a:latin typeface="Cambria" panose="02040503050406030204" pitchFamily="18" charset="0"/>
                          <a:ea typeface="Cambria" panose="02040503050406030204" pitchFamily="18" charset="0"/>
                        </a:rPr>
                        <a:t>max()</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largest element</a:t>
                      </a:r>
                    </a:p>
                  </a:txBody>
                  <a:tcPr marL="48577" marR="48577" marT="24289" marB="24289" anchor="ctr">
                    <a:lnL>
                      <a:noFill/>
                    </a:lnL>
                    <a:lnR>
                      <a:noFill/>
                    </a:lnR>
                    <a:lnT>
                      <a:noFill/>
                    </a:lnT>
                    <a:lnB>
                      <a:noFill/>
                    </a:lnB>
                    <a:noFill/>
                  </a:tcPr>
                </a:tc>
                <a:tc>
                  <a:txBody>
                    <a:bodyPr/>
                    <a:lstStyle/>
                    <a:p>
                      <a:r>
                        <a:rPr lang="fr-FR" sz="1800" dirty="0">
                          <a:latin typeface="Cambria" panose="02040503050406030204" pitchFamily="18" charset="0"/>
                          <a:ea typeface="Cambria" panose="02040503050406030204" pitchFamily="18" charset="0"/>
                        </a:rPr>
                        <a:t>max((1, 5, 3)) → 5</a:t>
                      </a:r>
                    </a:p>
                  </a:txBody>
                  <a:tcPr marL="48577" marR="48577" marT="24289" marB="24289" anchor="ctr">
                    <a:lnL>
                      <a:noFill/>
                    </a:lnL>
                    <a:lnR>
                      <a:noFill/>
                    </a:lnR>
                    <a:lnT>
                      <a:noFill/>
                    </a:lnT>
                    <a:lnB>
                      <a:noFill/>
                    </a:lnB>
                    <a:noFill/>
                  </a:tcPr>
                </a:tc>
                <a:extLst>
                  <a:ext uri="{0D108BD9-81ED-4DB2-BD59-A6C34878D82A}">
                    <a16:rowId xmlns:a16="http://schemas.microsoft.com/office/drawing/2014/main" val="615485237"/>
                  </a:ext>
                </a:extLst>
              </a:tr>
              <a:tr h="377706">
                <a:tc>
                  <a:txBody>
                    <a:bodyPr/>
                    <a:lstStyle/>
                    <a:p>
                      <a:r>
                        <a:rPr lang="en-US" sz="1800" dirty="0">
                          <a:latin typeface="Cambria" panose="02040503050406030204" pitchFamily="18" charset="0"/>
                          <a:ea typeface="Cambria" panose="02040503050406030204" pitchFamily="18" charset="0"/>
                        </a:rPr>
                        <a:t>min()</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smallest element</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min((1, 5, 3)) → 1</a:t>
                      </a:r>
                    </a:p>
                  </a:txBody>
                  <a:tcPr marL="48577" marR="48577" marT="24289" marB="24289" anchor="ctr">
                    <a:lnL>
                      <a:noFill/>
                    </a:lnL>
                    <a:lnR>
                      <a:noFill/>
                    </a:lnR>
                    <a:lnT>
                      <a:noFill/>
                    </a:lnT>
                    <a:lnB>
                      <a:noFill/>
                    </a:lnB>
                    <a:noFill/>
                  </a:tcPr>
                </a:tc>
                <a:extLst>
                  <a:ext uri="{0D108BD9-81ED-4DB2-BD59-A6C34878D82A}">
                    <a16:rowId xmlns:a16="http://schemas.microsoft.com/office/drawing/2014/main" val="4244870249"/>
                  </a:ext>
                </a:extLst>
              </a:tr>
              <a:tr h="539581">
                <a:tc>
                  <a:txBody>
                    <a:bodyPr/>
                    <a:lstStyle/>
                    <a:p>
                      <a:r>
                        <a:rPr lang="en-US" sz="1800" dirty="0">
                          <a:latin typeface="Cambria" panose="02040503050406030204" pitchFamily="18" charset="0"/>
                          <a:ea typeface="Cambria" panose="02040503050406030204" pitchFamily="18" charset="0"/>
                        </a:rPr>
                        <a:t>sum()</a:t>
                      </a: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the sum of elements (only if all are numeric)</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sum((1, 2, 3)) → 6</a:t>
                      </a:r>
                    </a:p>
                  </a:txBody>
                  <a:tcPr marL="48577" marR="48577" marT="24289" marB="24289" anchor="ctr">
                    <a:lnL>
                      <a:noFill/>
                    </a:lnL>
                    <a:lnR>
                      <a:noFill/>
                    </a:lnR>
                    <a:lnT>
                      <a:noFill/>
                    </a:lnT>
                    <a:lnB>
                      <a:noFill/>
                    </a:lnB>
                    <a:noFill/>
                  </a:tcPr>
                </a:tc>
                <a:extLst>
                  <a:ext uri="{0D108BD9-81ED-4DB2-BD59-A6C34878D82A}">
                    <a16:rowId xmlns:a16="http://schemas.microsoft.com/office/drawing/2014/main" val="4069081295"/>
                  </a:ext>
                </a:extLst>
              </a:tr>
              <a:tr h="377706">
                <a:tc>
                  <a:txBody>
                    <a:bodyPr/>
                    <a:lstStyle/>
                    <a:p>
                      <a:r>
                        <a:rPr lang="en-US" sz="1800" dirty="0">
                          <a:latin typeface="Cambria" panose="02040503050406030204" pitchFamily="18" charset="0"/>
                          <a:ea typeface="Cambria" panose="02040503050406030204" pitchFamily="18" charset="0"/>
                        </a:rPr>
                        <a:t>sorted()</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a sorted list from the tuple’s elements</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sorted((3, 1, 2)) → [1, 2, 3]</a:t>
                      </a:r>
                    </a:p>
                  </a:txBody>
                  <a:tcPr marL="48577" marR="48577" marT="24289" marB="24289" anchor="ctr">
                    <a:lnL>
                      <a:noFill/>
                    </a:lnL>
                    <a:lnR>
                      <a:noFill/>
                    </a:lnR>
                    <a:lnT>
                      <a:noFill/>
                    </a:lnT>
                    <a:lnB>
                      <a:noFill/>
                    </a:lnB>
                    <a:noFill/>
                  </a:tcPr>
                </a:tc>
                <a:extLst>
                  <a:ext uri="{0D108BD9-81ED-4DB2-BD59-A6C34878D82A}">
                    <a16:rowId xmlns:a16="http://schemas.microsoft.com/office/drawing/2014/main" val="2970537781"/>
                  </a:ext>
                </a:extLst>
              </a:tr>
              <a:tr h="377706">
                <a:tc>
                  <a:txBody>
                    <a:bodyPr/>
                    <a:lstStyle/>
                    <a:p>
                      <a:r>
                        <a:rPr lang="en-US" sz="1800" dirty="0">
                          <a:latin typeface="Cambria" panose="02040503050406030204" pitchFamily="18" charset="0"/>
                          <a:ea typeface="Cambria" panose="02040503050406030204" pitchFamily="18" charset="0"/>
                        </a:rPr>
                        <a:t>all()</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True if all elements are true</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all((1, 2, 3)) → True</a:t>
                      </a:r>
                    </a:p>
                  </a:txBody>
                  <a:tcPr marL="48577" marR="48577" marT="24289" marB="24289" anchor="ctr">
                    <a:lnL>
                      <a:noFill/>
                    </a:lnL>
                    <a:lnR>
                      <a:noFill/>
                    </a:lnR>
                    <a:lnT>
                      <a:noFill/>
                    </a:lnT>
                    <a:lnB>
                      <a:noFill/>
                    </a:lnB>
                    <a:noFill/>
                  </a:tcPr>
                </a:tc>
                <a:extLst>
                  <a:ext uri="{0D108BD9-81ED-4DB2-BD59-A6C34878D82A}">
                    <a16:rowId xmlns:a16="http://schemas.microsoft.com/office/drawing/2014/main" val="208272717"/>
                  </a:ext>
                </a:extLst>
              </a:tr>
              <a:tr h="377706">
                <a:tc>
                  <a:txBody>
                    <a:bodyPr/>
                    <a:lstStyle/>
                    <a:p>
                      <a:r>
                        <a:rPr lang="en-US" sz="1800" dirty="0">
                          <a:latin typeface="Cambria" panose="02040503050406030204" pitchFamily="18" charset="0"/>
                          <a:ea typeface="Cambria" panose="02040503050406030204" pitchFamily="18" charset="0"/>
                        </a:rPr>
                        <a:t>any()</a:t>
                      </a: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True if any element is true</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any((0, 0, 3)) → True</a:t>
                      </a:r>
                    </a:p>
                  </a:txBody>
                  <a:tcPr marL="48577" marR="48577" marT="24289" marB="24289" anchor="ctr">
                    <a:lnL>
                      <a:noFill/>
                    </a:lnL>
                    <a:lnR>
                      <a:noFill/>
                    </a:lnR>
                    <a:lnT>
                      <a:noFill/>
                    </a:lnT>
                    <a:lnB>
                      <a:noFill/>
                    </a:lnB>
                    <a:noFill/>
                  </a:tcPr>
                </a:tc>
                <a:extLst>
                  <a:ext uri="{0D108BD9-81ED-4DB2-BD59-A6C34878D82A}">
                    <a16:rowId xmlns:a16="http://schemas.microsoft.com/office/drawing/2014/main" val="1284775742"/>
                  </a:ext>
                </a:extLst>
              </a:tr>
              <a:tr h="663368">
                <a:tc>
                  <a:txBody>
                    <a:bodyPr/>
                    <a:lstStyle/>
                    <a:p>
                      <a:r>
                        <a:rPr lang="en-US" sz="1800" dirty="0">
                          <a:latin typeface="Cambria" panose="02040503050406030204" pitchFamily="18" charset="0"/>
                          <a:ea typeface="Cambria" panose="02040503050406030204" pitchFamily="18" charset="0"/>
                        </a:rPr>
                        <a:t>enumerate()</a:t>
                      </a: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an enumerate object with index–value pairs</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list(enumerate(('a', 'b'))) → [(0, 'a'), (1, 'b')]</a:t>
                      </a:r>
                    </a:p>
                  </a:txBody>
                  <a:tcPr marL="48577" marR="48577" marT="24289" marB="24289" anchor="ctr">
                    <a:lnL>
                      <a:noFill/>
                    </a:lnL>
                    <a:lnR>
                      <a:noFill/>
                    </a:lnR>
                    <a:lnT>
                      <a:noFill/>
                    </a:lnT>
                    <a:lnB>
                      <a:noFill/>
                    </a:lnB>
                    <a:noFill/>
                  </a:tcPr>
                </a:tc>
                <a:extLst>
                  <a:ext uri="{0D108BD9-81ED-4DB2-BD59-A6C34878D82A}">
                    <a16:rowId xmlns:a16="http://schemas.microsoft.com/office/drawing/2014/main" val="4283842395"/>
                  </a:ext>
                </a:extLst>
              </a:tr>
              <a:tr h="377706">
                <a:tc>
                  <a:txBody>
                    <a:bodyPr/>
                    <a:lstStyle/>
                    <a:p>
                      <a:r>
                        <a:rPr lang="en-US" sz="1800">
                          <a:latin typeface="Cambria" panose="02040503050406030204" pitchFamily="18" charset="0"/>
                          <a:ea typeface="Cambria" panose="02040503050406030204" pitchFamily="18" charset="0"/>
                        </a:rPr>
                        <a:t>reversed()</a:t>
                      </a: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a reverse iterator over the tuple</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tuple(reversed((1, 2, 3))) → (3, 2, 1)</a:t>
                      </a:r>
                    </a:p>
                  </a:txBody>
                  <a:tcPr marL="48577" marR="48577" marT="24289" marB="24289" anchor="ctr">
                    <a:lnL>
                      <a:noFill/>
                    </a:lnL>
                    <a:lnR>
                      <a:noFill/>
                    </a:lnR>
                    <a:lnT>
                      <a:noFill/>
                    </a:lnT>
                    <a:lnB>
                      <a:noFill/>
                    </a:lnB>
                    <a:noFill/>
                  </a:tcPr>
                </a:tc>
                <a:extLst>
                  <a:ext uri="{0D108BD9-81ED-4DB2-BD59-A6C34878D82A}">
                    <a16:rowId xmlns:a16="http://schemas.microsoft.com/office/drawing/2014/main" val="3714608295"/>
                  </a:ext>
                </a:extLst>
              </a:tr>
              <a:tr h="377706">
                <a:tc>
                  <a:txBody>
                    <a:bodyPr/>
                    <a:lstStyle/>
                    <a:p>
                      <a:r>
                        <a:rPr lang="en-US" sz="1800" dirty="0">
                          <a:latin typeface="Cambria" panose="02040503050406030204" pitchFamily="18" charset="0"/>
                          <a:ea typeface="Cambria" panose="02040503050406030204" pitchFamily="18" charset="0"/>
                        </a:rPr>
                        <a:t>in operator</a:t>
                      </a:r>
                    </a:p>
                  </a:txBody>
                  <a:tcPr marL="48577" marR="48577" marT="24289" marB="24289"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Checks if an element exists in the tuple</a:t>
                      </a:r>
                    </a:p>
                  </a:txBody>
                  <a:tcPr marL="48577" marR="48577" marT="24289" marB="24289"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2 in (1, 2, 3) → True</a:t>
                      </a:r>
                    </a:p>
                  </a:txBody>
                  <a:tcPr marL="48577" marR="48577" marT="24289" marB="24289" anchor="ctr">
                    <a:lnL>
                      <a:noFill/>
                    </a:lnL>
                    <a:lnR>
                      <a:noFill/>
                    </a:lnR>
                    <a:lnT>
                      <a:noFill/>
                    </a:lnT>
                    <a:lnB>
                      <a:noFill/>
                    </a:lnB>
                    <a:noFill/>
                  </a:tcPr>
                </a:tc>
                <a:extLst>
                  <a:ext uri="{0D108BD9-81ED-4DB2-BD59-A6C34878D82A}">
                    <a16:rowId xmlns:a16="http://schemas.microsoft.com/office/drawing/2014/main" val="2137171092"/>
                  </a:ext>
                </a:extLst>
              </a:tr>
            </a:tbl>
          </a:graphicData>
        </a:graphic>
      </p:graphicFrame>
    </p:spTree>
    <p:extLst>
      <p:ext uri="{BB962C8B-B14F-4D97-AF65-F5344CB8AC3E}">
        <p14:creationId xmlns:p14="http://schemas.microsoft.com/office/powerpoint/2010/main" val="16195406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1EA18-A61B-AD5E-3A47-A7EA5497F7EB}"/>
              </a:ext>
            </a:extLst>
          </p:cNvPr>
          <p:cNvSpPr>
            <a:spLocks noGrp="1"/>
          </p:cNvSpPr>
          <p:nvPr>
            <p:ph type="title"/>
          </p:nvPr>
        </p:nvSpPr>
        <p:spPr>
          <a:xfrm>
            <a:off x="192507" y="123596"/>
            <a:ext cx="11810196" cy="530922"/>
          </a:xfrm>
        </p:spPr>
        <p:txBody>
          <a:bodyPr>
            <a:normAutofit/>
          </a:bodyPr>
          <a:lstStyle/>
          <a:p>
            <a:r>
              <a:rPr lang="en-US" sz="2400" dirty="0">
                <a:solidFill>
                  <a:srgbClr val="FF0000"/>
                </a:solidFill>
                <a:latin typeface="Cambria" panose="02040503050406030204" pitchFamily="18" charset="0"/>
                <a:ea typeface="Cambria" panose="02040503050406030204" pitchFamily="18" charset="0"/>
              </a:rPr>
              <a:t>Python Question on list and Tuple</a:t>
            </a:r>
          </a:p>
        </p:txBody>
      </p:sp>
      <p:sp>
        <p:nvSpPr>
          <p:cNvPr id="3" name="Content Placeholder 2">
            <a:extLst>
              <a:ext uri="{FF2B5EF4-FFF2-40B4-BE49-F238E27FC236}">
                <a16:creationId xmlns:a16="http://schemas.microsoft.com/office/drawing/2014/main" id="{18A48D38-C11D-C393-8CA9-DE9E81A67A33}"/>
              </a:ext>
            </a:extLst>
          </p:cNvPr>
          <p:cNvSpPr>
            <a:spLocks noGrp="1"/>
          </p:cNvSpPr>
          <p:nvPr>
            <p:ph idx="1"/>
          </p:nvPr>
        </p:nvSpPr>
        <p:spPr>
          <a:xfrm>
            <a:off x="452387" y="654517"/>
            <a:ext cx="11916075" cy="6079887"/>
          </a:xfrm>
        </p:spPr>
        <p:txBody>
          <a:bodyPr>
            <a:noAutofit/>
          </a:bodyPr>
          <a:lstStyle/>
          <a:p>
            <a:pPr marL="0" indent="0">
              <a:buNone/>
            </a:pPr>
            <a:r>
              <a:rPr lang="en-US" dirty="0">
                <a:latin typeface="Cambria" panose="02040503050406030204" pitchFamily="18" charset="0"/>
                <a:ea typeface="Cambria" panose="02040503050406030204" pitchFamily="18" charset="0"/>
              </a:rPr>
              <a:t>	1. Create a list of 5 integers. Find the maximum and minimum value using max() and min().</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2. Take a list of numbers and use sum() and </a:t>
            </a:r>
            <a:r>
              <a:rPr lang="en-US" dirty="0" err="1">
                <a:latin typeface="Cambria" panose="02040503050406030204" pitchFamily="18" charset="0"/>
                <a:ea typeface="Cambria" panose="02040503050406030204" pitchFamily="18" charset="0"/>
              </a:rPr>
              <a:t>len</a:t>
            </a:r>
            <a:r>
              <a:rPr lang="en-US" dirty="0">
                <a:latin typeface="Cambria" panose="02040503050406030204" pitchFamily="18" charset="0"/>
                <a:ea typeface="Cambria" panose="02040503050406030204" pitchFamily="18" charset="0"/>
              </a:rPr>
              <a:t>() to calculate the average.</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3. Write a program that takes a list of numbers and counts how many times a number (e.g. 3) appears using .count().</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4. Create a list and use append(), insert(), and extend() to add multiple elements. Print the final list.</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5. Sort a list in both ascending and descending order using sort() and reverse=True.</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6. Convert a list of numbers into a tuple using tuple(). Then use index() to find the position of a specific number.</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7. Use a list of strings and sort them alphabetically. Then count how many start with a specific letter.</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8. Write a program that takes a tuple of numbers and prints the second-largest number using sorted() and indexing.</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9. Create two lists and concatenate them using the + operator and also using .extend(). Show the difference.</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10. Create a tuple and check if a specific element exists using the in operator.</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11. Convert a string to a list of characters using list() and then back to a string using "".join().</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12. Given a list of numbers, remove duplicates using set(), then convert it back to a list.</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13. Write a program to create a tuple of even numbers from a given list using a loop and conditional.</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14. Use enumerate() with a list of items to print both index and value.</a:t>
            </a:r>
          </a:p>
          <a:p>
            <a:pPr>
              <a:buFont typeface="Wingdings" panose="05000000000000000000" pitchFamily="2" charset="2"/>
              <a:buChar char="v"/>
            </a:pPr>
            <a:r>
              <a:rPr lang="en-US" dirty="0">
                <a:latin typeface="Cambria" panose="02040503050406030204" pitchFamily="18" charset="0"/>
                <a:ea typeface="Cambria" panose="02040503050406030204" pitchFamily="18" charset="0"/>
              </a:rPr>
              <a:t>15. Take a list of integers and use list slicing to reverse it without using .reverse().</a:t>
            </a:r>
          </a:p>
        </p:txBody>
      </p:sp>
    </p:spTree>
    <p:extLst>
      <p:ext uri="{BB962C8B-B14F-4D97-AF65-F5344CB8AC3E}">
        <p14:creationId xmlns:p14="http://schemas.microsoft.com/office/powerpoint/2010/main" val="1679129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D07C7-6911-7E71-1AF4-AB2F9BE107C3}"/>
              </a:ext>
            </a:extLst>
          </p:cNvPr>
          <p:cNvSpPr>
            <a:spLocks noGrp="1"/>
          </p:cNvSpPr>
          <p:nvPr>
            <p:ph type="title"/>
          </p:nvPr>
        </p:nvSpPr>
        <p:spPr>
          <a:xfrm>
            <a:off x="664143" y="144379"/>
            <a:ext cx="10840469" cy="664143"/>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Python Set Collection</a:t>
            </a:r>
          </a:p>
        </p:txBody>
      </p:sp>
      <p:sp>
        <p:nvSpPr>
          <p:cNvPr id="4" name="Rectangle 1">
            <a:extLst>
              <a:ext uri="{FF2B5EF4-FFF2-40B4-BE49-F238E27FC236}">
                <a16:creationId xmlns:a16="http://schemas.microsoft.com/office/drawing/2014/main" id="{20E50218-5018-19A2-8899-819861BAB1D2}"/>
              </a:ext>
            </a:extLst>
          </p:cNvPr>
          <p:cNvSpPr>
            <a:spLocks noGrp="1" noChangeArrowheads="1"/>
          </p:cNvSpPr>
          <p:nvPr>
            <p:ph idx="1"/>
          </p:nvPr>
        </p:nvSpPr>
        <p:spPr bwMode="auto">
          <a:xfrm>
            <a:off x="265568" y="1456058"/>
            <a:ext cx="1163761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Set</a:t>
            </a:r>
            <a:r>
              <a:rPr kumimoji="0" lang="en-US" altLang="en-US" b="0" i="0" u="none" strike="noStrike" cap="none" normalizeH="0" baseline="0" dirty="0">
                <a:ln>
                  <a:noFill/>
                </a:ln>
                <a:solidFill>
                  <a:schemeClr val="tx1"/>
                </a:solidFill>
                <a:effectLst/>
                <a:latin typeface="Arial" panose="020B0604020202020204" pitchFamily="34" charset="0"/>
              </a:rPr>
              <a:t> is an </a:t>
            </a:r>
            <a:r>
              <a:rPr kumimoji="0" lang="en-US" altLang="en-US" b="1" i="0" u="none" strike="noStrike" cap="none" normalizeH="0" baseline="0" dirty="0">
                <a:ln>
                  <a:noFill/>
                </a:ln>
                <a:solidFill>
                  <a:schemeClr val="tx1"/>
                </a:solidFill>
                <a:effectLst/>
                <a:latin typeface="Arial" panose="020B0604020202020204" pitchFamily="34" charset="0"/>
              </a:rPr>
              <a:t>unordered</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mutable</a:t>
            </a:r>
            <a:r>
              <a:rPr kumimoji="0" lang="en-US" altLang="en-US" b="0" i="0" u="none" strike="noStrike" cap="none" normalizeH="0" baseline="0" dirty="0">
                <a:ln>
                  <a:noFill/>
                </a:ln>
                <a:solidFill>
                  <a:schemeClr val="tx1"/>
                </a:solidFill>
                <a:effectLst/>
                <a:latin typeface="Arial" panose="020B0604020202020204" pitchFamily="34" charset="0"/>
              </a:rPr>
              <a:t> collection of </a:t>
            </a:r>
            <a:r>
              <a:rPr kumimoji="0" lang="en-US" altLang="en-US" b="1" i="0" u="none" strike="noStrike" cap="none" normalizeH="0" baseline="0" dirty="0">
                <a:ln>
                  <a:noFill/>
                </a:ln>
                <a:solidFill>
                  <a:schemeClr val="tx1"/>
                </a:solidFill>
                <a:effectLst/>
                <a:latin typeface="Arial" panose="020B0604020202020204" pitchFamily="34" charset="0"/>
              </a:rPr>
              <a:t>unique elements</a:t>
            </a:r>
            <a:r>
              <a:rPr kumimoji="0" lang="en-US" altLang="en-US" b="0" i="0" u="none" strike="noStrike" cap="none" normalizeH="0" baseline="0" dirty="0">
                <a:ln>
                  <a:noFill/>
                </a:ln>
                <a:solidFill>
                  <a:schemeClr val="tx1"/>
                </a:solidFill>
                <a:effectLst/>
                <a:latin typeface="Arial" panose="020B0604020202020204" pitchFamily="34" charset="0"/>
              </a:rPr>
              <a:t>. Sets are ideal for membership tests and performing </a:t>
            </a:r>
            <a:r>
              <a:rPr kumimoji="0" lang="en-US" altLang="en-US" b="1" i="0" u="none" strike="noStrike" cap="none" normalizeH="0" baseline="0" dirty="0">
                <a:ln>
                  <a:noFill/>
                </a:ln>
                <a:solidFill>
                  <a:schemeClr val="tx1"/>
                </a:solidFill>
                <a:effectLst/>
                <a:latin typeface="Arial" panose="020B0604020202020204" pitchFamily="34" charset="0"/>
              </a:rPr>
              <a:t>mathematical set operations</a:t>
            </a:r>
            <a:r>
              <a:rPr kumimoji="0" lang="en-US" altLang="en-US" b="0" i="0" u="none" strike="noStrike" cap="none" normalizeH="0" baseline="0" dirty="0">
                <a:ln>
                  <a:noFill/>
                </a:ln>
                <a:solidFill>
                  <a:schemeClr val="tx1"/>
                </a:solidFill>
                <a:effectLst/>
                <a:latin typeface="Arial" panose="020B0604020202020204" pitchFamily="34" charset="0"/>
              </a:rPr>
              <a:t> like union, intersection, etc.</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Python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example = {1, 2, 3, 4}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Unordered</a:t>
            </a:r>
            <a:r>
              <a:rPr kumimoji="0" lang="en-US" altLang="en-US" b="0" i="0" u="none" strike="noStrike" cap="none" normalizeH="0" baseline="0" dirty="0">
                <a:ln>
                  <a:noFill/>
                </a:ln>
                <a:solidFill>
                  <a:schemeClr val="tx1"/>
                </a:solidFill>
                <a:effectLst/>
                <a:latin typeface="Arial" panose="020B0604020202020204" pitchFamily="34" charset="0"/>
              </a:rPr>
              <a:t>: No guaranteed order of elements.</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Mutable</a:t>
            </a:r>
            <a:r>
              <a:rPr kumimoji="0" lang="en-US" altLang="en-US" b="0" i="0" u="none" strike="noStrike" cap="none" normalizeH="0" baseline="0" dirty="0">
                <a:ln>
                  <a:noFill/>
                </a:ln>
                <a:solidFill>
                  <a:schemeClr val="tx1"/>
                </a:solidFill>
                <a:effectLst/>
                <a:latin typeface="Arial" panose="020B0604020202020204" pitchFamily="34" charset="0"/>
              </a:rPr>
              <a:t>: Elements can be added or removed.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No Duplicates</a:t>
            </a:r>
            <a:r>
              <a:rPr kumimoji="0" lang="en-US" altLang="en-US" b="0" i="0" u="none" strike="noStrike" cap="none" normalizeH="0" baseline="0" dirty="0">
                <a:ln>
                  <a:noFill/>
                </a:ln>
                <a:solidFill>
                  <a:schemeClr val="tx1"/>
                </a:solidFill>
                <a:effectLst/>
                <a:latin typeface="Arial" panose="020B0604020202020204" pitchFamily="34" charset="0"/>
              </a:rPr>
              <a:t>: Every element is unique.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Unindexed</a:t>
            </a:r>
            <a:r>
              <a:rPr kumimoji="0" lang="en-US" altLang="en-US" b="0" i="0" u="none" strike="noStrike" cap="none" normalizeH="0" baseline="0" dirty="0">
                <a:ln>
                  <a:noFill/>
                </a:ln>
                <a:solidFill>
                  <a:schemeClr val="tx1"/>
                </a:solidFill>
                <a:effectLst/>
                <a:latin typeface="Arial" panose="020B0604020202020204" pitchFamily="34" charset="0"/>
              </a:rPr>
              <a:t>: Elements cannot be accessed by index.</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Supports Set Operations</a:t>
            </a:r>
            <a:r>
              <a:rPr kumimoji="0" lang="en-US" altLang="en-US" b="0" i="0" u="none" strike="noStrike" cap="none" normalizeH="0" baseline="0" dirty="0">
                <a:ln>
                  <a:noFill/>
                </a:ln>
                <a:solidFill>
                  <a:schemeClr val="tx1"/>
                </a:solidFill>
                <a:effectLst/>
                <a:latin typeface="Arial" panose="020B0604020202020204" pitchFamily="34" charset="0"/>
              </a:rPr>
              <a:t>: Like union, intersection, difference.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8440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1509-E87E-6C77-ABAA-AD43D0265F45}"/>
              </a:ext>
            </a:extLst>
          </p:cNvPr>
          <p:cNvSpPr>
            <a:spLocks noGrp="1"/>
          </p:cNvSpPr>
          <p:nvPr>
            <p:ph type="title"/>
          </p:nvPr>
        </p:nvSpPr>
        <p:spPr>
          <a:xfrm>
            <a:off x="144379" y="105879"/>
            <a:ext cx="11158103" cy="375384"/>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Python Set Collection Method</a:t>
            </a:r>
            <a:endParaRPr lang="en-US" sz="2400" dirty="0"/>
          </a:p>
        </p:txBody>
      </p:sp>
      <p:graphicFrame>
        <p:nvGraphicFramePr>
          <p:cNvPr id="4" name="Content Placeholder 3">
            <a:extLst>
              <a:ext uri="{FF2B5EF4-FFF2-40B4-BE49-F238E27FC236}">
                <a16:creationId xmlns:a16="http://schemas.microsoft.com/office/drawing/2014/main" id="{A243DE46-1827-F2A5-EF3C-AA5BBBE17B78}"/>
              </a:ext>
            </a:extLst>
          </p:cNvPr>
          <p:cNvGraphicFramePr>
            <a:graphicFrameLocks noGrp="1"/>
          </p:cNvGraphicFramePr>
          <p:nvPr>
            <p:ph idx="1"/>
            <p:extLst>
              <p:ext uri="{D42A27DB-BD31-4B8C-83A1-F6EECF244321}">
                <p14:modId xmlns:p14="http://schemas.microsoft.com/office/powerpoint/2010/main" val="3952788669"/>
              </p:ext>
            </p:extLst>
          </p:nvPr>
        </p:nvGraphicFramePr>
        <p:xfrm>
          <a:off x="221382" y="481263"/>
          <a:ext cx="12047619" cy="6373870"/>
        </p:xfrm>
        <a:graphic>
          <a:graphicData uri="http://schemas.openxmlformats.org/drawingml/2006/table">
            <a:tbl>
              <a:tblPr/>
              <a:tblGrid>
                <a:gridCol w="3207084">
                  <a:extLst>
                    <a:ext uri="{9D8B030D-6E8A-4147-A177-3AD203B41FA5}">
                      <a16:colId xmlns:a16="http://schemas.microsoft.com/office/drawing/2014/main" val="3148694529"/>
                    </a:ext>
                  </a:extLst>
                </a:gridCol>
                <a:gridCol w="5957401">
                  <a:extLst>
                    <a:ext uri="{9D8B030D-6E8A-4147-A177-3AD203B41FA5}">
                      <a16:colId xmlns:a16="http://schemas.microsoft.com/office/drawing/2014/main" val="3493591350"/>
                    </a:ext>
                  </a:extLst>
                </a:gridCol>
                <a:gridCol w="2883134">
                  <a:extLst>
                    <a:ext uri="{9D8B030D-6E8A-4147-A177-3AD203B41FA5}">
                      <a16:colId xmlns:a16="http://schemas.microsoft.com/office/drawing/2014/main" val="1017103556"/>
                    </a:ext>
                  </a:extLst>
                </a:gridCol>
              </a:tblGrid>
              <a:tr h="377850">
                <a:tc>
                  <a:txBody>
                    <a:bodyPr/>
                    <a:lstStyle/>
                    <a:p>
                      <a:pPr algn="ctr"/>
                      <a:r>
                        <a:rPr lang="en-US" sz="2000" b="1" dirty="0">
                          <a:latin typeface="Cambria" panose="02040503050406030204" pitchFamily="18" charset="0"/>
                          <a:ea typeface="Cambria" panose="02040503050406030204" pitchFamily="18" charset="0"/>
                        </a:rPr>
                        <a:t>Method</a:t>
                      </a:r>
                    </a:p>
                  </a:txBody>
                  <a:tcPr marL="66781" marR="66781" marT="33390" marB="33390"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Definition</a:t>
                      </a:r>
                    </a:p>
                  </a:txBody>
                  <a:tcPr marL="66781" marR="66781" marT="33390" marB="33390" anchor="ctr">
                    <a:lnL>
                      <a:noFill/>
                    </a:lnL>
                    <a:lnR>
                      <a:noFill/>
                    </a:lnR>
                    <a:lnT>
                      <a:noFill/>
                    </a:lnT>
                    <a:lnB>
                      <a:noFill/>
                    </a:lnB>
                    <a:solidFill>
                      <a:schemeClr val="accent1">
                        <a:lumMod val="60000"/>
                        <a:lumOff val="40000"/>
                      </a:schemeClr>
                    </a:solidFill>
                  </a:tcPr>
                </a:tc>
                <a:tc>
                  <a:txBody>
                    <a:bodyPr/>
                    <a:lstStyle/>
                    <a:p>
                      <a:pPr algn="ctr"/>
                      <a:r>
                        <a:rPr lang="en-US" sz="2000" b="1" dirty="0">
                          <a:latin typeface="Cambria" panose="02040503050406030204" pitchFamily="18" charset="0"/>
                          <a:ea typeface="Cambria" panose="02040503050406030204" pitchFamily="18" charset="0"/>
                        </a:rPr>
                        <a:t>Example</a:t>
                      </a:r>
                    </a:p>
                  </a:txBody>
                  <a:tcPr marL="66781" marR="66781" marT="33390" marB="33390"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469696418"/>
                  </a:ext>
                </a:extLst>
              </a:tr>
              <a:tr h="284867">
                <a:tc>
                  <a:txBody>
                    <a:bodyPr/>
                    <a:lstStyle/>
                    <a:p>
                      <a:r>
                        <a:rPr lang="en-US" sz="1600" dirty="0">
                          <a:latin typeface="Cambria" panose="02040503050406030204" pitchFamily="18" charset="0"/>
                          <a:ea typeface="Cambria" panose="02040503050406030204" pitchFamily="18" charset="0"/>
                        </a:rPr>
                        <a:t>add(x)</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latin typeface="Cambria" panose="02040503050406030204" pitchFamily="18" charset="0"/>
                          <a:ea typeface="Cambria" panose="02040503050406030204" pitchFamily="18" charset="0"/>
                        </a:rPr>
                        <a:t>Adds element x</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s.add</a:t>
                      </a:r>
                      <a:r>
                        <a:rPr lang="en-US" sz="1600" dirty="0">
                          <a:latin typeface="Cambria" panose="02040503050406030204" pitchFamily="18" charset="0"/>
                          <a:ea typeface="Cambria" panose="02040503050406030204" pitchFamily="18" charset="0"/>
                        </a:rPr>
                        <a:t>(5)</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126394013"/>
                  </a:ext>
                </a:extLst>
              </a:tr>
              <a:tr h="284867">
                <a:tc>
                  <a:txBody>
                    <a:bodyPr/>
                    <a:lstStyle/>
                    <a:p>
                      <a:r>
                        <a:rPr lang="en-US" sz="1600" dirty="0">
                          <a:latin typeface="Cambria" panose="02040503050406030204" pitchFamily="18" charset="0"/>
                          <a:ea typeface="Cambria" panose="02040503050406030204" pitchFamily="18" charset="0"/>
                        </a:rPr>
                        <a:t>update(</a:t>
                      </a:r>
                      <a:r>
                        <a:rPr lang="en-US" sz="1600" dirty="0" err="1">
                          <a:latin typeface="Cambria" panose="02040503050406030204" pitchFamily="18" charset="0"/>
                          <a:ea typeface="Cambria" panose="02040503050406030204" pitchFamily="18" charset="0"/>
                        </a:rPr>
                        <a:t>iterable</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latin typeface="Cambria" panose="02040503050406030204" pitchFamily="18" charset="0"/>
                          <a:ea typeface="Cambria" panose="02040503050406030204" pitchFamily="18" charset="0"/>
                        </a:rPr>
                        <a:t>Adds multiple elements</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s.update</a:t>
                      </a:r>
                      <a:r>
                        <a:rPr lang="en-US" sz="1600" dirty="0">
                          <a:latin typeface="Cambria" panose="02040503050406030204" pitchFamily="18" charset="0"/>
                          <a:ea typeface="Cambria" panose="02040503050406030204" pitchFamily="18" charset="0"/>
                        </a:rPr>
                        <a:t>([6, 7])</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82448115"/>
                  </a:ext>
                </a:extLst>
              </a:tr>
              <a:tr h="475354">
                <a:tc>
                  <a:txBody>
                    <a:bodyPr/>
                    <a:lstStyle/>
                    <a:p>
                      <a:r>
                        <a:rPr lang="en-US" sz="1600" dirty="0">
                          <a:latin typeface="Cambria" panose="02040503050406030204" pitchFamily="18" charset="0"/>
                          <a:ea typeface="Cambria" panose="02040503050406030204" pitchFamily="18" charset="0"/>
                        </a:rPr>
                        <a:t>remove(x)</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Removes x; error if not found</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s.remove(3)</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086828853"/>
                  </a:ext>
                </a:extLst>
              </a:tr>
              <a:tr h="475354">
                <a:tc>
                  <a:txBody>
                    <a:bodyPr/>
                    <a:lstStyle/>
                    <a:p>
                      <a:r>
                        <a:rPr lang="en-US" sz="1600" dirty="0">
                          <a:latin typeface="Cambria" panose="02040503050406030204" pitchFamily="18" charset="0"/>
                          <a:ea typeface="Cambria" panose="02040503050406030204" pitchFamily="18" charset="0"/>
                        </a:rPr>
                        <a:t>discard(x)</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latin typeface="Cambria" panose="02040503050406030204" pitchFamily="18" charset="0"/>
                          <a:ea typeface="Cambria" panose="02040503050406030204" pitchFamily="18" charset="0"/>
                        </a:rPr>
                        <a:t>Removes x; no error if not found</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s.discard</a:t>
                      </a:r>
                      <a:r>
                        <a:rPr lang="en-US" sz="1600" dirty="0">
                          <a:latin typeface="Cambria" panose="02040503050406030204" pitchFamily="18" charset="0"/>
                          <a:ea typeface="Cambria" panose="02040503050406030204" pitchFamily="18" charset="0"/>
                        </a:rPr>
                        <a:t>(10)</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967294584"/>
                  </a:ext>
                </a:extLst>
              </a:tr>
              <a:tr h="475354">
                <a:tc>
                  <a:txBody>
                    <a:bodyPr/>
                    <a:lstStyle/>
                    <a:p>
                      <a:r>
                        <a:rPr lang="en-US" sz="1600" dirty="0">
                          <a:latin typeface="Cambria" panose="02040503050406030204" pitchFamily="18" charset="0"/>
                          <a:ea typeface="Cambria" panose="02040503050406030204" pitchFamily="18" charset="0"/>
                        </a:rPr>
                        <a:t>pop()</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Removes and returns an arbitrary item</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s.pop</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579303544"/>
                  </a:ext>
                </a:extLst>
              </a:tr>
              <a:tr h="284867">
                <a:tc>
                  <a:txBody>
                    <a:bodyPr/>
                    <a:lstStyle/>
                    <a:p>
                      <a:r>
                        <a:rPr lang="en-US" sz="1600" dirty="0">
                          <a:latin typeface="Cambria" panose="02040503050406030204" pitchFamily="18" charset="0"/>
                          <a:ea typeface="Cambria" panose="02040503050406030204" pitchFamily="18" charset="0"/>
                        </a:rPr>
                        <a:t>clear()</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Removes all elements</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s.clear</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20773718"/>
                  </a:ext>
                </a:extLst>
              </a:tr>
              <a:tr h="284867">
                <a:tc>
                  <a:txBody>
                    <a:bodyPr/>
                    <a:lstStyle/>
                    <a:p>
                      <a:r>
                        <a:rPr lang="en-US" sz="1600" dirty="0">
                          <a:latin typeface="Cambria" panose="02040503050406030204" pitchFamily="18" charset="0"/>
                          <a:ea typeface="Cambria" panose="02040503050406030204" pitchFamily="18" charset="0"/>
                        </a:rPr>
                        <a:t>copy()</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a shallow copy</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latin typeface="Cambria" panose="02040503050406030204" pitchFamily="18" charset="0"/>
                          <a:ea typeface="Cambria" panose="02040503050406030204" pitchFamily="18" charset="0"/>
                        </a:rPr>
                        <a:t>s2 = </a:t>
                      </a:r>
                      <a:r>
                        <a:rPr lang="en-US" sz="1600" dirty="0" err="1">
                          <a:latin typeface="Cambria" panose="02040503050406030204" pitchFamily="18" charset="0"/>
                          <a:ea typeface="Cambria" panose="02040503050406030204" pitchFamily="18" charset="0"/>
                        </a:rPr>
                        <a:t>s.copy</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4173553918"/>
                  </a:ext>
                </a:extLst>
              </a:tr>
              <a:tr h="475354">
                <a:tc>
                  <a:txBody>
                    <a:bodyPr/>
                    <a:lstStyle/>
                    <a:p>
                      <a:r>
                        <a:rPr lang="en-US" sz="1600" dirty="0">
                          <a:latin typeface="Cambria" panose="02040503050406030204" pitchFamily="18" charset="0"/>
                          <a:ea typeface="Cambria" panose="02040503050406030204" pitchFamily="18" charset="0"/>
                        </a:rPr>
                        <a:t>union(</a:t>
                      </a:r>
                      <a:r>
                        <a:rPr lang="en-US" sz="1600" dirty="0" err="1">
                          <a:latin typeface="Cambria" panose="02040503050406030204" pitchFamily="18" charset="0"/>
                          <a:ea typeface="Cambria" panose="02040503050406030204" pitchFamily="18" charset="0"/>
                        </a:rPr>
                        <a:t>other_set</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a new set with elements from both sets</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s.union</a:t>
                      </a:r>
                      <a:r>
                        <a:rPr lang="en-US" sz="1600" dirty="0">
                          <a:latin typeface="Cambria" panose="02040503050406030204" pitchFamily="18" charset="0"/>
                          <a:ea typeface="Cambria" panose="02040503050406030204" pitchFamily="18" charset="0"/>
                        </a:rPr>
                        <a:t>({8, 9})</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337908888"/>
                  </a:ext>
                </a:extLst>
              </a:tr>
              <a:tr h="475354">
                <a:tc>
                  <a:txBody>
                    <a:bodyPr/>
                    <a:lstStyle/>
                    <a:p>
                      <a:r>
                        <a:rPr lang="en-US" sz="1600" dirty="0">
                          <a:latin typeface="Cambria" panose="02040503050406030204" pitchFamily="18" charset="0"/>
                          <a:ea typeface="Cambria" panose="02040503050406030204" pitchFamily="18" charset="0"/>
                        </a:rPr>
                        <a:t>intersection(</a:t>
                      </a:r>
                      <a:r>
                        <a:rPr lang="en-US" sz="1600" dirty="0" err="1">
                          <a:latin typeface="Cambria" panose="02040503050406030204" pitchFamily="18" charset="0"/>
                          <a:ea typeface="Cambria" panose="02040503050406030204" pitchFamily="18" charset="0"/>
                        </a:rPr>
                        <a:t>other_set</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elements common to both sets</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s.intersection</a:t>
                      </a:r>
                      <a:r>
                        <a:rPr lang="en-US" sz="1600" dirty="0">
                          <a:latin typeface="Cambria" panose="02040503050406030204" pitchFamily="18" charset="0"/>
                          <a:ea typeface="Cambria" panose="02040503050406030204" pitchFamily="18" charset="0"/>
                        </a:rPr>
                        <a:t>({2, 3})</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516222687"/>
                  </a:ext>
                </a:extLst>
              </a:tr>
              <a:tr h="475354">
                <a:tc>
                  <a:txBody>
                    <a:bodyPr/>
                    <a:lstStyle/>
                    <a:p>
                      <a:r>
                        <a:rPr lang="en-US" sz="1600" dirty="0">
                          <a:latin typeface="Cambria" panose="02040503050406030204" pitchFamily="18" charset="0"/>
                          <a:ea typeface="Cambria" panose="02040503050406030204" pitchFamily="18" charset="0"/>
                        </a:rPr>
                        <a:t>difference(</a:t>
                      </a:r>
                      <a:r>
                        <a:rPr lang="en-US" sz="1600" dirty="0" err="1">
                          <a:latin typeface="Cambria" panose="02040503050406030204" pitchFamily="18" charset="0"/>
                          <a:ea typeface="Cambria" panose="02040503050406030204" pitchFamily="18" charset="0"/>
                        </a:rPr>
                        <a:t>other_set</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elements in s but not in other_set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s.difference</a:t>
                      </a:r>
                      <a:r>
                        <a:rPr lang="en-US" sz="1600" dirty="0">
                          <a:latin typeface="Cambria" panose="02040503050406030204" pitchFamily="18" charset="0"/>
                          <a:ea typeface="Cambria" panose="02040503050406030204" pitchFamily="18" charset="0"/>
                        </a:rPr>
                        <a:t>({1, 2})</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2568058454"/>
                  </a:ext>
                </a:extLst>
              </a:tr>
              <a:tr h="475354">
                <a:tc>
                  <a:txBody>
                    <a:bodyPr/>
                    <a:lstStyle/>
                    <a:p>
                      <a:r>
                        <a:rPr lang="en-US" sz="1600" dirty="0" err="1">
                          <a:latin typeface="Cambria" panose="02040503050406030204" pitchFamily="18" charset="0"/>
                          <a:ea typeface="Cambria" panose="02040503050406030204" pitchFamily="18" charset="0"/>
                        </a:rPr>
                        <a:t>symmetric_difference</a:t>
                      </a:r>
                      <a:r>
                        <a:rPr lang="en-US" sz="1600" dirty="0">
                          <a:latin typeface="Cambria" panose="02040503050406030204" pitchFamily="18" charset="0"/>
                          <a:ea typeface="Cambria" panose="02040503050406030204" pitchFamily="18" charset="0"/>
                        </a:rPr>
                        <a:t>(set)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elements in either but not both</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s.symmetric_difference</a:t>
                      </a:r>
                      <a:r>
                        <a:rPr lang="en-US" sz="1600" dirty="0">
                          <a:latin typeface="Cambria" panose="02040503050406030204" pitchFamily="18" charset="0"/>
                          <a:ea typeface="Cambria" panose="02040503050406030204" pitchFamily="18" charset="0"/>
                        </a:rPr>
                        <a:t>({3, 4})</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1329344534"/>
                  </a:ext>
                </a:extLst>
              </a:tr>
              <a:tr h="475354">
                <a:tc>
                  <a:txBody>
                    <a:bodyPr/>
                    <a:lstStyle/>
                    <a:p>
                      <a:r>
                        <a:rPr lang="en-US" sz="1600" dirty="0" err="1">
                          <a:latin typeface="Cambria" panose="02040503050406030204" pitchFamily="18" charset="0"/>
                          <a:ea typeface="Cambria" panose="02040503050406030204" pitchFamily="18" charset="0"/>
                        </a:rPr>
                        <a:t>issubset</a:t>
                      </a:r>
                      <a:r>
                        <a:rPr lang="en-US" sz="1600" dirty="0">
                          <a:latin typeface="Cambria" panose="02040503050406030204" pitchFamily="18" charset="0"/>
                          <a:ea typeface="Cambria" panose="02040503050406030204" pitchFamily="18" charset="0"/>
                        </a:rPr>
                        <a:t>(</a:t>
                      </a:r>
                      <a:r>
                        <a:rPr lang="en-US" sz="1600" dirty="0" err="1">
                          <a:latin typeface="Cambria" panose="02040503050406030204" pitchFamily="18" charset="0"/>
                          <a:ea typeface="Cambria" panose="02040503050406030204" pitchFamily="18" charset="0"/>
                        </a:rPr>
                        <a:t>other_set</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True if current set is subset of other_set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s.issubset</a:t>
                      </a:r>
                      <a:r>
                        <a:rPr lang="en-US" sz="1600" dirty="0">
                          <a:latin typeface="Cambria" panose="02040503050406030204" pitchFamily="18" charset="0"/>
                          <a:ea typeface="Cambria" panose="02040503050406030204" pitchFamily="18" charset="0"/>
                        </a:rPr>
                        <a:t>({1,2,3,4,5})</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377588248"/>
                  </a:ext>
                </a:extLst>
              </a:tr>
              <a:tr h="475354">
                <a:tc>
                  <a:txBody>
                    <a:bodyPr/>
                    <a:lstStyle/>
                    <a:p>
                      <a:r>
                        <a:rPr lang="en-US" sz="1600" dirty="0" err="1">
                          <a:latin typeface="Cambria" panose="02040503050406030204" pitchFamily="18" charset="0"/>
                          <a:ea typeface="Cambria" panose="02040503050406030204" pitchFamily="18" charset="0"/>
                        </a:rPr>
                        <a:t>issuperset</a:t>
                      </a:r>
                      <a:r>
                        <a:rPr lang="en-US" sz="1600" dirty="0">
                          <a:latin typeface="Cambria" panose="02040503050406030204" pitchFamily="18" charset="0"/>
                          <a:ea typeface="Cambria" panose="02040503050406030204" pitchFamily="18" charset="0"/>
                        </a:rPr>
                        <a:t>(</a:t>
                      </a:r>
                      <a:r>
                        <a:rPr lang="en-US" sz="1600" dirty="0" err="1">
                          <a:latin typeface="Cambria" panose="02040503050406030204" pitchFamily="18" charset="0"/>
                          <a:ea typeface="Cambria" panose="02040503050406030204" pitchFamily="18" charset="0"/>
                        </a:rPr>
                        <a:t>other_set</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a:latin typeface="Cambria" panose="02040503050406030204" pitchFamily="18" charset="0"/>
                          <a:ea typeface="Cambria" panose="02040503050406030204" pitchFamily="18" charset="0"/>
                        </a:rPr>
                        <a:t>Returns True if current set is superset of other_set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s.issuperset</a:t>
                      </a:r>
                      <a:r>
                        <a:rPr lang="en-US" sz="1600" dirty="0">
                          <a:latin typeface="Cambria" panose="02040503050406030204" pitchFamily="18" charset="0"/>
                          <a:ea typeface="Cambria" panose="02040503050406030204" pitchFamily="18" charset="0"/>
                        </a:rPr>
                        <a:t>({2, 3})</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457919635"/>
                  </a:ext>
                </a:extLst>
              </a:tr>
              <a:tr h="475354">
                <a:tc>
                  <a:txBody>
                    <a:bodyPr/>
                    <a:lstStyle/>
                    <a:p>
                      <a:r>
                        <a:rPr lang="en-US" sz="1600" dirty="0" err="1">
                          <a:latin typeface="Cambria" panose="02040503050406030204" pitchFamily="18" charset="0"/>
                          <a:ea typeface="Cambria" panose="02040503050406030204" pitchFamily="18" charset="0"/>
                        </a:rPr>
                        <a:t>isdisjoint</a:t>
                      </a:r>
                      <a:r>
                        <a:rPr lang="en-US" sz="1600" dirty="0">
                          <a:latin typeface="Cambria" panose="02040503050406030204" pitchFamily="18" charset="0"/>
                          <a:ea typeface="Cambria" panose="02040503050406030204" pitchFamily="18" charset="0"/>
                        </a:rPr>
                        <a:t>(</a:t>
                      </a:r>
                      <a:r>
                        <a:rPr lang="en-US" sz="1600" dirty="0" err="1">
                          <a:latin typeface="Cambria" panose="02040503050406030204" pitchFamily="18" charset="0"/>
                          <a:ea typeface="Cambria" panose="02040503050406030204" pitchFamily="18" charset="0"/>
                        </a:rPr>
                        <a:t>other_set</a:t>
                      </a:r>
                      <a:r>
                        <a:rPr lang="en-US" sz="1600" dirty="0">
                          <a:latin typeface="Cambria" panose="02040503050406030204" pitchFamily="18" charset="0"/>
                          <a:ea typeface="Cambria" panose="02040503050406030204" pitchFamily="18" charset="0"/>
                        </a:rPr>
                        <a:t>)</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a:latin typeface="Cambria" panose="02040503050406030204" pitchFamily="18" charset="0"/>
                          <a:ea typeface="Cambria" panose="02040503050406030204" pitchFamily="18" charset="0"/>
                        </a:rPr>
                        <a:t>Returns True if sets have no common elements</a:t>
                      </a:r>
                    </a:p>
                  </a:txBody>
                  <a:tcPr marL="66781" marR="66781" marT="33390" marB="33390" anchor="ctr">
                    <a:lnL>
                      <a:noFill/>
                    </a:lnL>
                    <a:lnR>
                      <a:noFill/>
                    </a:lnR>
                    <a:lnT>
                      <a:noFill/>
                    </a:lnT>
                    <a:lnB>
                      <a:noFill/>
                    </a:lnB>
                    <a:solidFill>
                      <a:schemeClr val="accent4">
                        <a:lumMod val="40000"/>
                        <a:lumOff val="60000"/>
                      </a:schemeClr>
                    </a:solidFill>
                  </a:tcPr>
                </a:tc>
                <a:tc>
                  <a:txBody>
                    <a:bodyPr/>
                    <a:lstStyle/>
                    <a:p>
                      <a:r>
                        <a:rPr lang="en-US" sz="1600" dirty="0" err="1">
                          <a:latin typeface="Cambria" panose="02040503050406030204" pitchFamily="18" charset="0"/>
                          <a:ea typeface="Cambria" panose="02040503050406030204" pitchFamily="18" charset="0"/>
                        </a:rPr>
                        <a:t>s.isdisjoint</a:t>
                      </a:r>
                      <a:r>
                        <a:rPr lang="en-US" sz="1600" dirty="0">
                          <a:latin typeface="Cambria" panose="02040503050406030204" pitchFamily="18" charset="0"/>
                          <a:ea typeface="Cambria" panose="02040503050406030204" pitchFamily="18" charset="0"/>
                        </a:rPr>
                        <a:t>({10, 11})</a:t>
                      </a:r>
                    </a:p>
                  </a:txBody>
                  <a:tcPr marL="66781" marR="66781" marT="33390" marB="33390" anchor="ctr">
                    <a:lnL>
                      <a:noFill/>
                    </a:lnL>
                    <a:lnR>
                      <a:noFill/>
                    </a:lnR>
                    <a:lnT>
                      <a:noFill/>
                    </a:lnT>
                    <a:lnB>
                      <a:noFill/>
                    </a:lnB>
                    <a:solidFill>
                      <a:schemeClr val="accent4">
                        <a:lumMod val="40000"/>
                        <a:lumOff val="60000"/>
                      </a:schemeClr>
                    </a:solidFill>
                  </a:tcPr>
                </a:tc>
                <a:extLst>
                  <a:ext uri="{0D108BD9-81ED-4DB2-BD59-A6C34878D82A}">
                    <a16:rowId xmlns:a16="http://schemas.microsoft.com/office/drawing/2014/main" val="651403086"/>
                  </a:ext>
                </a:extLst>
              </a:tr>
            </a:tbl>
          </a:graphicData>
        </a:graphic>
      </p:graphicFrame>
    </p:spTree>
    <p:extLst>
      <p:ext uri="{BB962C8B-B14F-4D97-AF65-F5344CB8AC3E}">
        <p14:creationId xmlns:p14="http://schemas.microsoft.com/office/powerpoint/2010/main" val="25785115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447A9-AFF1-DC4A-AA87-7032CC809713}"/>
              </a:ext>
            </a:extLst>
          </p:cNvPr>
          <p:cNvSpPr>
            <a:spLocks noGrp="1"/>
          </p:cNvSpPr>
          <p:nvPr>
            <p:ph type="title"/>
          </p:nvPr>
        </p:nvSpPr>
        <p:spPr>
          <a:xfrm>
            <a:off x="365760" y="125128"/>
            <a:ext cx="10927096" cy="519765"/>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Python Dictionary</a:t>
            </a:r>
          </a:p>
        </p:txBody>
      </p:sp>
      <p:sp>
        <p:nvSpPr>
          <p:cNvPr id="4" name="Rectangle 1">
            <a:extLst>
              <a:ext uri="{FF2B5EF4-FFF2-40B4-BE49-F238E27FC236}">
                <a16:creationId xmlns:a16="http://schemas.microsoft.com/office/drawing/2014/main" id="{9BB835B5-C957-D1AB-CCB7-CC11A7AAA634}"/>
              </a:ext>
            </a:extLst>
          </p:cNvPr>
          <p:cNvSpPr>
            <a:spLocks noGrp="1" noChangeArrowheads="1"/>
          </p:cNvSpPr>
          <p:nvPr>
            <p:ph idx="1"/>
          </p:nvPr>
        </p:nvSpPr>
        <p:spPr bwMode="auto">
          <a:xfrm>
            <a:off x="211121" y="1326177"/>
            <a:ext cx="1205878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Definition: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Dictionary</a:t>
            </a:r>
            <a:r>
              <a:rPr kumimoji="0" lang="en-US" altLang="en-US" b="0" i="0" u="none" strike="noStrike" cap="none" normalizeH="0" baseline="0" dirty="0">
                <a:ln>
                  <a:noFill/>
                </a:ln>
                <a:solidFill>
                  <a:schemeClr val="tx1"/>
                </a:solidFill>
                <a:effectLst/>
                <a:latin typeface="Arial" panose="020B0604020202020204" pitchFamily="34" charset="0"/>
              </a:rPr>
              <a:t> is a </a:t>
            </a:r>
            <a:r>
              <a:rPr kumimoji="0" lang="en-US" altLang="en-US" b="1" i="0" u="none" strike="noStrike" cap="none" normalizeH="0" baseline="0" dirty="0">
                <a:ln>
                  <a:noFill/>
                </a:ln>
                <a:solidFill>
                  <a:schemeClr val="tx1"/>
                </a:solidFill>
                <a:effectLst/>
                <a:latin typeface="Arial" panose="020B0604020202020204" pitchFamily="34" charset="0"/>
              </a:rPr>
              <a:t>mutable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unordered</a:t>
            </a:r>
            <a:r>
              <a:rPr kumimoji="0" lang="en-US" altLang="en-US" b="0" i="0" u="none" strike="noStrike" cap="none" normalizeH="0" baseline="0" dirty="0">
                <a:ln>
                  <a:noFill/>
                </a:ln>
                <a:solidFill>
                  <a:schemeClr val="tx1"/>
                </a:solidFill>
                <a:effectLst/>
                <a:latin typeface="Arial" panose="020B0604020202020204" pitchFamily="34" charset="0"/>
              </a:rPr>
              <a:t> (in Python &lt;3.6) or </a:t>
            </a:r>
            <a:r>
              <a:rPr kumimoji="0" lang="en-US" altLang="en-US" b="1" i="0" u="none" strike="noStrike" cap="none" normalizeH="0" baseline="0" dirty="0">
                <a:ln>
                  <a:noFill/>
                </a:ln>
                <a:solidFill>
                  <a:schemeClr val="tx1"/>
                </a:solidFill>
                <a:effectLst/>
                <a:latin typeface="Arial" panose="020B0604020202020204" pitchFamily="34" charset="0"/>
              </a:rPr>
              <a:t>ordered</a:t>
            </a:r>
            <a:r>
              <a:rPr kumimoji="0" lang="en-US" altLang="en-US" b="0" i="0" u="none" strike="noStrike" cap="none" normalizeH="0" baseline="0" dirty="0">
                <a:ln>
                  <a:noFill/>
                </a:ln>
                <a:solidFill>
                  <a:schemeClr val="tx1"/>
                </a:solidFill>
                <a:effectLst/>
                <a:latin typeface="Arial" panose="020B0604020202020204" pitchFamily="34" charset="0"/>
              </a:rPr>
              <a:t> (Python 3.7+) collection that stores </a:t>
            </a:r>
            <a:r>
              <a:rPr kumimoji="0" lang="en-US" altLang="en-US" b="1" i="0" u="none" strike="noStrike" cap="none" normalizeH="0" baseline="0" dirty="0">
                <a:ln>
                  <a:noFill/>
                </a:ln>
                <a:solidFill>
                  <a:schemeClr val="tx1"/>
                </a:solidFill>
                <a:effectLst/>
                <a:latin typeface="Arial" panose="020B0604020202020204" pitchFamily="34" charset="0"/>
              </a:rPr>
              <a:t>key-value pairs</a:t>
            </a:r>
            <a:r>
              <a:rPr kumimoji="0" lang="en-US" altLang="en-US" b="0" i="0" u="none" strike="noStrike" cap="none" normalizeH="0" baseline="0" dirty="0">
                <a:ln>
                  <a:noFill/>
                </a:ln>
                <a:solidFill>
                  <a:schemeClr val="tx1"/>
                </a:solidFill>
                <a:effectLst/>
                <a:latin typeface="Arial" panose="020B0604020202020204" pitchFamily="34" charset="0"/>
              </a:rPr>
              <a:t>. Keys must be </a:t>
            </a:r>
            <a:r>
              <a:rPr kumimoji="0" lang="en-US" altLang="en-US" b="1" i="0" u="none" strike="noStrike" cap="none" normalizeH="0" baseline="0" dirty="0">
                <a:ln>
                  <a:noFill/>
                </a:ln>
                <a:solidFill>
                  <a:schemeClr val="tx1"/>
                </a:solidFill>
                <a:effectLst/>
                <a:latin typeface="Arial" panose="020B0604020202020204" pitchFamily="34" charset="0"/>
              </a:rPr>
              <a:t>unique and immutable</a:t>
            </a:r>
            <a:r>
              <a:rPr kumimoji="0" lang="en-US" altLang="en-US" b="0" i="0" u="none" strike="noStrike" cap="none" normalizeH="0" baseline="0" dirty="0">
                <a:ln>
                  <a:noFill/>
                </a:ln>
                <a:solidFill>
                  <a:schemeClr val="tx1"/>
                </a:solidFill>
                <a:effectLst/>
                <a:latin typeface="Arial" panose="020B0604020202020204" pitchFamily="34" charset="0"/>
              </a:rPr>
              <a:t>; values can be of any type.</a:t>
            </a: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Python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example = {"name": "Alice", "age": 25}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Key-Value Pair Structure</a:t>
            </a:r>
            <a:r>
              <a:rPr kumimoji="0" lang="en-US" altLang="en-US" b="0" i="0" u="none" strike="noStrike" cap="none" normalizeH="0" baseline="0" dirty="0">
                <a:ln>
                  <a:noFill/>
                </a:ln>
                <a:solidFill>
                  <a:schemeClr val="tx1"/>
                </a:solidFill>
                <a:effectLst/>
                <a:latin typeface="Arial" panose="020B0604020202020204" pitchFamily="34" charset="0"/>
              </a:rPr>
              <a:t>: Stores data as </a:t>
            </a:r>
            <a:r>
              <a:rPr kumimoji="0" lang="en-US" altLang="en-US" b="0" i="0" u="none" strike="noStrike" cap="none" normalizeH="0" baseline="0" dirty="0">
                <a:ln>
                  <a:noFill/>
                </a:ln>
                <a:solidFill>
                  <a:schemeClr val="tx1"/>
                </a:solidFill>
                <a:effectLst/>
                <a:latin typeface="Arial Unicode MS"/>
              </a:rPr>
              <a:t>key: value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Mutable</a:t>
            </a:r>
            <a:r>
              <a:rPr kumimoji="0" lang="en-US" altLang="en-US" b="0" i="0" u="none" strike="noStrike" cap="none" normalizeH="0" baseline="0" dirty="0">
                <a:ln>
                  <a:noFill/>
                </a:ln>
                <a:solidFill>
                  <a:schemeClr val="tx1"/>
                </a:solidFill>
                <a:effectLst/>
                <a:latin typeface="Arial" panose="020B0604020202020204" pitchFamily="34" charset="0"/>
              </a:rPr>
              <a:t>: Can be modified after creation.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Unique Keys</a:t>
            </a:r>
            <a:r>
              <a:rPr kumimoji="0" lang="en-US" altLang="en-US" b="0" i="0" u="none" strike="noStrike" cap="none" normalizeH="0" baseline="0" dirty="0">
                <a:ln>
                  <a:noFill/>
                </a:ln>
                <a:solidFill>
                  <a:schemeClr val="tx1"/>
                </a:solidFill>
                <a:effectLst/>
                <a:latin typeface="Arial" panose="020B0604020202020204" pitchFamily="34" charset="0"/>
              </a:rPr>
              <a:t>: Keys must be unique.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Unordered (Pre 3.7)</a:t>
            </a:r>
            <a:r>
              <a:rPr kumimoji="0" lang="en-US" altLang="en-US" b="0" i="0" u="none" strike="noStrike" cap="none" normalizeH="0" baseline="0" dirty="0">
                <a:ln>
                  <a:noFill/>
                </a:ln>
                <a:solidFill>
                  <a:schemeClr val="tx1"/>
                </a:solidFill>
                <a:effectLst/>
                <a:latin typeface="Arial" panose="020B0604020202020204" pitchFamily="34" charset="0"/>
              </a:rPr>
              <a:t>: Order not guaranteed before Python 3.7.</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Efficient</a:t>
            </a:r>
            <a:r>
              <a:rPr kumimoji="0" lang="en-US" altLang="en-US" b="0" i="0" u="none" strike="noStrike" cap="none" normalizeH="0" baseline="0" dirty="0">
                <a:ln>
                  <a:noFill/>
                </a:ln>
                <a:solidFill>
                  <a:schemeClr val="tx1"/>
                </a:solidFill>
                <a:effectLst/>
                <a:latin typeface="Arial" panose="020B0604020202020204" pitchFamily="34" charset="0"/>
              </a:rPr>
              <a:t>: Fast lookups using keys.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12634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CF4B-683E-3C5D-2A00-95EF1C045946}"/>
              </a:ext>
            </a:extLst>
          </p:cNvPr>
          <p:cNvSpPr>
            <a:spLocks noGrp="1"/>
          </p:cNvSpPr>
          <p:nvPr>
            <p:ph type="title"/>
          </p:nvPr>
        </p:nvSpPr>
        <p:spPr>
          <a:xfrm>
            <a:off x="231008" y="0"/>
            <a:ext cx="11263980" cy="356135"/>
          </a:xfrm>
        </p:spPr>
        <p:txBody>
          <a:bodyPr>
            <a:normAutofit fontScale="90000"/>
          </a:bodyPr>
          <a:lstStyle/>
          <a:p>
            <a:r>
              <a:rPr lang="en-US" sz="2000" b="1" dirty="0">
                <a:solidFill>
                  <a:srgbClr val="FF0000"/>
                </a:solidFill>
                <a:latin typeface="Cambria" panose="02040503050406030204" pitchFamily="18" charset="0"/>
                <a:ea typeface="Cambria" panose="02040503050406030204" pitchFamily="18" charset="0"/>
              </a:rPr>
              <a:t>Python Dictionary Collection Methods</a:t>
            </a:r>
            <a:endParaRPr lang="en-US" sz="2000" dirty="0"/>
          </a:p>
        </p:txBody>
      </p:sp>
      <p:graphicFrame>
        <p:nvGraphicFramePr>
          <p:cNvPr id="7" name="Content Placeholder 6">
            <a:extLst>
              <a:ext uri="{FF2B5EF4-FFF2-40B4-BE49-F238E27FC236}">
                <a16:creationId xmlns:a16="http://schemas.microsoft.com/office/drawing/2014/main" id="{E489D5A9-D357-5E80-25C6-0A4838BC6221}"/>
              </a:ext>
            </a:extLst>
          </p:cNvPr>
          <p:cNvGraphicFramePr>
            <a:graphicFrameLocks noGrp="1"/>
          </p:cNvGraphicFramePr>
          <p:nvPr>
            <p:ph idx="1"/>
            <p:extLst>
              <p:ext uri="{D42A27DB-BD31-4B8C-83A1-F6EECF244321}">
                <p14:modId xmlns:p14="http://schemas.microsoft.com/office/powerpoint/2010/main" val="1449530323"/>
              </p:ext>
            </p:extLst>
          </p:nvPr>
        </p:nvGraphicFramePr>
        <p:xfrm>
          <a:off x="182880" y="356135"/>
          <a:ext cx="11656195" cy="6501864"/>
        </p:xfrm>
        <a:graphic>
          <a:graphicData uri="http://schemas.openxmlformats.org/drawingml/2006/table">
            <a:tbl>
              <a:tblPr/>
              <a:tblGrid>
                <a:gridCol w="3051208">
                  <a:extLst>
                    <a:ext uri="{9D8B030D-6E8A-4147-A177-3AD203B41FA5}">
                      <a16:colId xmlns:a16="http://schemas.microsoft.com/office/drawing/2014/main" val="3805831801"/>
                    </a:ext>
                  </a:extLst>
                </a:gridCol>
                <a:gridCol w="4707605">
                  <a:extLst>
                    <a:ext uri="{9D8B030D-6E8A-4147-A177-3AD203B41FA5}">
                      <a16:colId xmlns:a16="http://schemas.microsoft.com/office/drawing/2014/main" val="3414731541"/>
                    </a:ext>
                  </a:extLst>
                </a:gridCol>
                <a:gridCol w="3897382">
                  <a:extLst>
                    <a:ext uri="{9D8B030D-6E8A-4147-A177-3AD203B41FA5}">
                      <a16:colId xmlns:a16="http://schemas.microsoft.com/office/drawing/2014/main" val="2976615581"/>
                    </a:ext>
                  </a:extLst>
                </a:gridCol>
              </a:tblGrid>
              <a:tr h="394395">
                <a:tc>
                  <a:txBody>
                    <a:bodyPr/>
                    <a:lstStyle/>
                    <a:p>
                      <a:pPr algn="ctr"/>
                      <a:r>
                        <a:rPr lang="en-US" sz="1800" b="1" dirty="0"/>
                        <a:t>Function / Method</a:t>
                      </a:r>
                    </a:p>
                  </a:txBody>
                  <a:tcPr marL="34663" marR="34663" marT="17331" marB="17331" anchor="ctr">
                    <a:lnL>
                      <a:noFill/>
                    </a:lnL>
                    <a:lnR>
                      <a:noFill/>
                    </a:lnR>
                    <a:lnT>
                      <a:noFill/>
                    </a:lnT>
                    <a:lnB>
                      <a:noFill/>
                    </a:lnB>
                    <a:solidFill>
                      <a:schemeClr val="accent1">
                        <a:lumMod val="60000"/>
                        <a:lumOff val="40000"/>
                      </a:schemeClr>
                    </a:solidFill>
                  </a:tcPr>
                </a:tc>
                <a:tc>
                  <a:txBody>
                    <a:bodyPr/>
                    <a:lstStyle/>
                    <a:p>
                      <a:pPr algn="ctr"/>
                      <a:r>
                        <a:rPr lang="en-US" sz="1800" b="1" dirty="0"/>
                        <a:t>Description / Use</a:t>
                      </a:r>
                    </a:p>
                  </a:txBody>
                  <a:tcPr marL="34663" marR="34663" marT="17331" marB="17331" anchor="ctr">
                    <a:lnL>
                      <a:noFill/>
                    </a:lnL>
                    <a:lnR>
                      <a:noFill/>
                    </a:lnR>
                    <a:lnT>
                      <a:noFill/>
                    </a:lnT>
                    <a:lnB>
                      <a:noFill/>
                    </a:lnB>
                    <a:solidFill>
                      <a:schemeClr val="accent1">
                        <a:lumMod val="60000"/>
                        <a:lumOff val="40000"/>
                      </a:schemeClr>
                    </a:solidFill>
                  </a:tcPr>
                </a:tc>
                <a:tc>
                  <a:txBody>
                    <a:bodyPr/>
                    <a:lstStyle/>
                    <a:p>
                      <a:pPr algn="ctr"/>
                      <a:r>
                        <a:rPr lang="en-US" sz="1800" b="1" dirty="0"/>
                        <a:t>Example</a:t>
                      </a:r>
                    </a:p>
                  </a:txBody>
                  <a:tcPr marL="34663" marR="34663" marT="17331" marB="17331"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2566362455"/>
                  </a:ext>
                </a:extLst>
              </a:tr>
              <a:tr h="394395">
                <a:tc>
                  <a:txBody>
                    <a:bodyPr/>
                    <a:lstStyle/>
                    <a:p>
                      <a:pPr algn="l"/>
                      <a:r>
                        <a:rPr lang="en-US" sz="1800" b="0" dirty="0" err="1">
                          <a:latin typeface="Cambria" panose="02040503050406030204" pitchFamily="18" charset="0"/>
                          <a:ea typeface="Cambria" panose="02040503050406030204" pitchFamily="18" charset="0"/>
                        </a:rPr>
                        <a:t>dict</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Create a new dictionary</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dict</a:t>
                      </a:r>
                      <a:r>
                        <a:rPr lang="en-US" sz="1800" b="0" dirty="0">
                          <a:latin typeface="Cambria" panose="02040503050406030204" pitchFamily="18" charset="0"/>
                          <a:ea typeface="Cambria" panose="02040503050406030204" pitchFamily="18" charset="0"/>
                        </a:rPr>
                        <a:t>(a=1, b=2) → {'a': 1, 'b': 2}</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1094407209"/>
                  </a:ext>
                </a:extLst>
              </a:tr>
              <a:tr h="394395">
                <a:tc>
                  <a:txBody>
                    <a:bodyPr/>
                    <a:lstStyle/>
                    <a:p>
                      <a:pPr algn="l"/>
                      <a:r>
                        <a:rPr lang="en-US" sz="1800" b="0" dirty="0">
                          <a:latin typeface="Cambria" panose="02040503050406030204" pitchFamily="18" charset="0"/>
                          <a:ea typeface="Cambria" panose="02040503050406030204" pitchFamily="18" charset="0"/>
                        </a:rPr>
                        <a:t>.clear()</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Remove all items from the </a:t>
                      </a:r>
                      <a:r>
                        <a:rPr lang="en-US" sz="1800" b="0" dirty="0" err="1">
                          <a:latin typeface="Cambria" panose="02040503050406030204" pitchFamily="18" charset="0"/>
                          <a:ea typeface="Cambria" panose="02040503050406030204" pitchFamily="18" charset="0"/>
                        </a:rPr>
                        <a:t>dict</a:t>
                      </a:r>
                      <a:endParaRPr lang="en-US" sz="1800" b="0" dirty="0">
                        <a:latin typeface="Cambria" panose="02040503050406030204" pitchFamily="18" charset="0"/>
                        <a:ea typeface="Cambria" panose="02040503050406030204" pitchFamily="18" charset="0"/>
                      </a:endParaRP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d.clear</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847339152"/>
                  </a:ext>
                </a:extLst>
              </a:tr>
              <a:tr h="394395">
                <a:tc>
                  <a:txBody>
                    <a:bodyPr/>
                    <a:lstStyle/>
                    <a:p>
                      <a:pPr algn="l"/>
                      <a:r>
                        <a:rPr lang="en-US" sz="1800" b="0" dirty="0">
                          <a:latin typeface="Cambria" panose="02040503050406030204" pitchFamily="18" charset="0"/>
                          <a:ea typeface="Cambria" panose="02040503050406030204" pitchFamily="18" charset="0"/>
                        </a:rPr>
                        <a:t>.copy()</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Shallow copy of the </a:t>
                      </a:r>
                      <a:r>
                        <a:rPr lang="en-US" sz="1800" b="0" dirty="0" err="1">
                          <a:latin typeface="Cambria" panose="02040503050406030204" pitchFamily="18" charset="0"/>
                          <a:ea typeface="Cambria" panose="02040503050406030204" pitchFamily="18" charset="0"/>
                        </a:rPr>
                        <a:t>dict</a:t>
                      </a:r>
                      <a:endParaRPr lang="en-US" sz="1800" b="0" dirty="0">
                        <a:latin typeface="Cambria" panose="02040503050406030204" pitchFamily="18" charset="0"/>
                        <a:ea typeface="Cambria" panose="02040503050406030204" pitchFamily="18" charset="0"/>
                      </a:endParaRP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d.copy</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1312870764"/>
                  </a:ext>
                </a:extLst>
              </a:tr>
              <a:tr h="732449">
                <a:tc>
                  <a:txBody>
                    <a:bodyPr/>
                    <a:lstStyle/>
                    <a:p>
                      <a:pPr algn="l"/>
                      <a:r>
                        <a:rPr lang="en-US" sz="1800" b="0" dirty="0">
                          <a:latin typeface="Cambria" panose="02040503050406030204" pitchFamily="18" charset="0"/>
                          <a:ea typeface="Cambria" panose="02040503050406030204" pitchFamily="18" charset="0"/>
                        </a:rPr>
                        <a:t>.</a:t>
                      </a:r>
                      <a:r>
                        <a:rPr lang="en-US" sz="1800" b="0" dirty="0" err="1">
                          <a:latin typeface="Cambria" panose="02040503050406030204" pitchFamily="18" charset="0"/>
                          <a:ea typeface="Cambria" panose="02040503050406030204" pitchFamily="18" charset="0"/>
                        </a:rPr>
                        <a:t>fromkeys</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Create new </a:t>
                      </a:r>
                      <a:r>
                        <a:rPr lang="en-US" sz="1800" b="0" dirty="0" err="1">
                          <a:latin typeface="Cambria" panose="02040503050406030204" pitchFamily="18" charset="0"/>
                          <a:ea typeface="Cambria" panose="02040503050406030204" pitchFamily="18" charset="0"/>
                        </a:rPr>
                        <a:t>dict</a:t>
                      </a:r>
                      <a:r>
                        <a:rPr lang="en-US" sz="1800" b="0" dirty="0">
                          <a:latin typeface="Cambria" panose="02040503050406030204" pitchFamily="18" charset="0"/>
                          <a:ea typeface="Cambria" panose="02040503050406030204" pitchFamily="18" charset="0"/>
                        </a:rPr>
                        <a:t> with keys from </a:t>
                      </a:r>
                      <a:r>
                        <a:rPr lang="en-US" sz="1800" b="0" dirty="0" err="1">
                          <a:latin typeface="Cambria" panose="02040503050406030204" pitchFamily="18" charset="0"/>
                          <a:ea typeface="Cambria" panose="02040503050406030204" pitchFamily="18" charset="0"/>
                        </a:rPr>
                        <a:t>iterable</a:t>
                      </a:r>
                      <a:r>
                        <a:rPr lang="en-US" sz="1800" b="0" dirty="0">
                          <a:latin typeface="Cambria" panose="02040503050406030204" pitchFamily="18" charset="0"/>
                          <a:ea typeface="Cambria" panose="02040503050406030204" pitchFamily="18" charset="0"/>
                        </a:rPr>
                        <a:t> and a set value</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dict.fromkeys</a:t>
                      </a:r>
                      <a:r>
                        <a:rPr lang="en-US" sz="1800" b="0" dirty="0">
                          <a:latin typeface="Cambria" panose="02040503050406030204" pitchFamily="18" charset="0"/>
                          <a:ea typeface="Cambria" panose="02040503050406030204" pitchFamily="18" charset="0"/>
                        </a:rPr>
                        <a:t>(['a', 'b'], 0) → {'a': 0, 'b': 0}</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530682260"/>
                  </a:ext>
                </a:extLst>
              </a:tr>
              <a:tr h="601730">
                <a:tc>
                  <a:txBody>
                    <a:bodyPr/>
                    <a:lstStyle/>
                    <a:p>
                      <a:pPr algn="l"/>
                      <a:r>
                        <a:rPr lang="en-US" sz="1800" b="0" dirty="0">
                          <a:latin typeface="Cambria" panose="02040503050406030204" pitchFamily="18" charset="0"/>
                          <a:ea typeface="Cambria" panose="02040503050406030204" pitchFamily="18" charset="0"/>
                        </a:rPr>
                        <a:t>.get()</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Get value for key or return default</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d.get</a:t>
                      </a:r>
                      <a:r>
                        <a:rPr lang="en-US" sz="1800" b="0" dirty="0">
                          <a:latin typeface="Cambria" panose="02040503050406030204" pitchFamily="18" charset="0"/>
                          <a:ea typeface="Cambria" panose="02040503050406030204" pitchFamily="18" charset="0"/>
                        </a:rPr>
                        <a:t>('x', 'default')</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618454168"/>
                  </a:ext>
                </a:extLst>
              </a:tr>
              <a:tr h="394395">
                <a:tc>
                  <a:txBody>
                    <a:bodyPr/>
                    <a:lstStyle/>
                    <a:p>
                      <a:pPr algn="l"/>
                      <a:r>
                        <a:rPr lang="en-US" sz="1800" b="0" dirty="0">
                          <a:latin typeface="Cambria" panose="02040503050406030204" pitchFamily="18" charset="0"/>
                          <a:ea typeface="Cambria" panose="02040503050406030204" pitchFamily="18" charset="0"/>
                        </a:rPr>
                        <a:t>.items()</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Return view of (key, value) pairs</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list(</a:t>
                      </a:r>
                      <a:r>
                        <a:rPr lang="en-US" sz="1800" b="0" dirty="0" err="1">
                          <a:latin typeface="Cambria" panose="02040503050406030204" pitchFamily="18" charset="0"/>
                          <a:ea typeface="Cambria" panose="02040503050406030204" pitchFamily="18" charset="0"/>
                        </a:rPr>
                        <a:t>d.items</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179010828"/>
                  </a:ext>
                </a:extLst>
              </a:tr>
              <a:tr h="394395">
                <a:tc>
                  <a:txBody>
                    <a:bodyPr/>
                    <a:lstStyle/>
                    <a:p>
                      <a:pPr algn="l"/>
                      <a:r>
                        <a:rPr lang="en-US" sz="1800" b="0" dirty="0">
                          <a:latin typeface="Cambria" panose="02040503050406030204" pitchFamily="18" charset="0"/>
                          <a:ea typeface="Cambria" panose="02040503050406030204" pitchFamily="18" charset="0"/>
                        </a:rPr>
                        <a:t>.keys()</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Return view of keys</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list(</a:t>
                      </a:r>
                      <a:r>
                        <a:rPr lang="en-US" sz="1800" b="0" dirty="0" err="1">
                          <a:latin typeface="Cambria" panose="02040503050406030204" pitchFamily="18" charset="0"/>
                          <a:ea typeface="Cambria" panose="02040503050406030204" pitchFamily="18" charset="0"/>
                        </a:rPr>
                        <a:t>d.keys</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700274073"/>
                  </a:ext>
                </a:extLst>
              </a:tr>
              <a:tr h="601730">
                <a:tc>
                  <a:txBody>
                    <a:bodyPr/>
                    <a:lstStyle/>
                    <a:p>
                      <a:pPr algn="l"/>
                      <a:r>
                        <a:rPr lang="en-US" sz="1800" b="0" dirty="0">
                          <a:latin typeface="Cambria" panose="02040503050406030204" pitchFamily="18" charset="0"/>
                          <a:ea typeface="Cambria" panose="02040503050406030204" pitchFamily="18" charset="0"/>
                        </a:rPr>
                        <a:t>.pop()</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a:latin typeface="Cambria" panose="02040503050406030204" pitchFamily="18" charset="0"/>
                          <a:ea typeface="Cambria" panose="02040503050406030204" pitchFamily="18" charset="0"/>
                        </a:rPr>
                        <a:t>Remove specified key and return its value</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d.pop</a:t>
                      </a:r>
                      <a:r>
                        <a:rPr lang="en-US" sz="1800" b="0" dirty="0">
                          <a:latin typeface="Cambria" panose="02040503050406030204" pitchFamily="18" charset="0"/>
                          <a:ea typeface="Cambria" panose="02040503050406030204" pitchFamily="18" charset="0"/>
                        </a:rPr>
                        <a:t>('a')</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235002858"/>
                  </a:ext>
                </a:extLst>
              </a:tr>
              <a:tr h="601730">
                <a:tc>
                  <a:txBody>
                    <a:bodyPr/>
                    <a:lstStyle/>
                    <a:p>
                      <a:pPr algn="l"/>
                      <a:r>
                        <a:rPr lang="en-US" sz="1800" b="0" dirty="0">
                          <a:latin typeface="Cambria" panose="02040503050406030204" pitchFamily="18" charset="0"/>
                          <a:ea typeface="Cambria" panose="02040503050406030204" pitchFamily="18" charset="0"/>
                        </a:rPr>
                        <a:t>.</a:t>
                      </a:r>
                      <a:r>
                        <a:rPr lang="en-US" sz="1800" b="0" dirty="0" err="1">
                          <a:latin typeface="Cambria" panose="02040503050406030204" pitchFamily="18" charset="0"/>
                          <a:ea typeface="Cambria" panose="02040503050406030204" pitchFamily="18" charset="0"/>
                        </a:rPr>
                        <a:t>popitem</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a:latin typeface="Cambria" panose="02040503050406030204" pitchFamily="18" charset="0"/>
                          <a:ea typeface="Cambria" panose="02040503050406030204" pitchFamily="18" charset="0"/>
                        </a:rPr>
                        <a:t>Remove and return last inserted (key, value) pair</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d.popitem</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917842594"/>
                  </a:ext>
                </a:extLst>
              </a:tr>
              <a:tr h="601730">
                <a:tc>
                  <a:txBody>
                    <a:bodyPr/>
                    <a:lstStyle/>
                    <a:p>
                      <a:pPr algn="l"/>
                      <a:r>
                        <a:rPr lang="en-US" sz="1800" b="0" dirty="0">
                          <a:latin typeface="Cambria" panose="02040503050406030204" pitchFamily="18" charset="0"/>
                          <a:ea typeface="Cambria" panose="02040503050406030204" pitchFamily="18" charset="0"/>
                        </a:rPr>
                        <a:t>.</a:t>
                      </a:r>
                      <a:r>
                        <a:rPr lang="en-US" sz="1800" b="0" dirty="0" err="1">
                          <a:latin typeface="Cambria" panose="02040503050406030204" pitchFamily="18" charset="0"/>
                          <a:ea typeface="Cambria" panose="02040503050406030204" pitchFamily="18" charset="0"/>
                        </a:rPr>
                        <a:t>setdefault</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a:latin typeface="Cambria" panose="02040503050406030204" pitchFamily="18" charset="0"/>
                          <a:ea typeface="Cambria" panose="02040503050406030204" pitchFamily="18" charset="0"/>
                        </a:rPr>
                        <a:t>Return value if key exists, else set default</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d.setdefault</a:t>
                      </a:r>
                      <a:r>
                        <a:rPr lang="en-US" sz="1800" b="0" dirty="0">
                          <a:latin typeface="Cambria" panose="02040503050406030204" pitchFamily="18" charset="0"/>
                          <a:ea typeface="Cambria" panose="02040503050406030204" pitchFamily="18" charset="0"/>
                        </a:rPr>
                        <a:t>('x', 0)</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2184796806"/>
                  </a:ext>
                </a:extLst>
              </a:tr>
              <a:tr h="601730">
                <a:tc>
                  <a:txBody>
                    <a:bodyPr/>
                    <a:lstStyle/>
                    <a:p>
                      <a:pPr algn="l"/>
                      <a:r>
                        <a:rPr lang="en-US" sz="1800" b="0" dirty="0">
                          <a:latin typeface="Cambria" panose="02040503050406030204" pitchFamily="18" charset="0"/>
                          <a:ea typeface="Cambria" panose="02040503050406030204" pitchFamily="18" charset="0"/>
                        </a:rPr>
                        <a:t>.update()</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a:latin typeface="Cambria" panose="02040503050406030204" pitchFamily="18" charset="0"/>
                          <a:ea typeface="Cambria" panose="02040503050406030204" pitchFamily="18" charset="0"/>
                        </a:rPr>
                        <a:t>Merge another dict or iterable into the dictionary</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err="1">
                          <a:latin typeface="Cambria" panose="02040503050406030204" pitchFamily="18" charset="0"/>
                          <a:ea typeface="Cambria" panose="02040503050406030204" pitchFamily="18" charset="0"/>
                        </a:rPr>
                        <a:t>d.update</a:t>
                      </a:r>
                      <a:r>
                        <a:rPr lang="en-US" sz="1800" b="0" dirty="0">
                          <a:latin typeface="Cambria" panose="02040503050406030204" pitchFamily="18" charset="0"/>
                          <a:ea typeface="Cambria" panose="02040503050406030204" pitchFamily="18" charset="0"/>
                        </a:rPr>
                        <a:t>({'e': 5})</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3360273611"/>
                  </a:ext>
                </a:extLst>
              </a:tr>
              <a:tr h="394395">
                <a:tc>
                  <a:txBody>
                    <a:bodyPr/>
                    <a:lstStyle/>
                    <a:p>
                      <a:pPr algn="l"/>
                      <a:r>
                        <a:rPr lang="en-US" sz="1800" b="0">
                          <a:latin typeface="Cambria" panose="02040503050406030204" pitchFamily="18" charset="0"/>
                          <a:ea typeface="Cambria" panose="02040503050406030204" pitchFamily="18" charset="0"/>
                        </a:rPr>
                        <a:t>.values()</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Return view of values</a:t>
                      </a:r>
                    </a:p>
                  </a:txBody>
                  <a:tcPr marL="34663" marR="34663" marT="17331" marB="17331" anchor="ctr">
                    <a:lnL>
                      <a:noFill/>
                    </a:lnL>
                    <a:lnR>
                      <a:noFill/>
                    </a:lnR>
                    <a:lnT>
                      <a:noFill/>
                    </a:lnT>
                    <a:lnB>
                      <a:noFill/>
                    </a:lnB>
                    <a:solidFill>
                      <a:schemeClr val="accent3">
                        <a:lumMod val="40000"/>
                        <a:lumOff val="60000"/>
                      </a:schemeClr>
                    </a:solidFill>
                  </a:tcPr>
                </a:tc>
                <a:tc>
                  <a:txBody>
                    <a:bodyPr/>
                    <a:lstStyle/>
                    <a:p>
                      <a:pPr algn="l"/>
                      <a:r>
                        <a:rPr lang="en-US" sz="1800" b="0" dirty="0">
                          <a:latin typeface="Cambria" panose="02040503050406030204" pitchFamily="18" charset="0"/>
                          <a:ea typeface="Cambria" panose="02040503050406030204" pitchFamily="18" charset="0"/>
                        </a:rPr>
                        <a:t>list(</a:t>
                      </a:r>
                      <a:r>
                        <a:rPr lang="en-US" sz="1800" b="0" dirty="0" err="1">
                          <a:latin typeface="Cambria" panose="02040503050406030204" pitchFamily="18" charset="0"/>
                          <a:ea typeface="Cambria" panose="02040503050406030204" pitchFamily="18" charset="0"/>
                        </a:rPr>
                        <a:t>d.values</a:t>
                      </a:r>
                      <a:r>
                        <a:rPr lang="en-US" sz="1800" b="0" dirty="0">
                          <a:latin typeface="Cambria" panose="02040503050406030204" pitchFamily="18" charset="0"/>
                          <a:ea typeface="Cambria" panose="02040503050406030204" pitchFamily="18" charset="0"/>
                        </a:rPr>
                        <a:t>())</a:t>
                      </a:r>
                    </a:p>
                  </a:txBody>
                  <a:tcPr marL="34663" marR="34663" marT="17331" marB="17331" anchor="ctr">
                    <a:lnL>
                      <a:noFill/>
                    </a:lnL>
                    <a:lnR>
                      <a:noFill/>
                    </a:lnR>
                    <a:lnT>
                      <a:noFill/>
                    </a:lnT>
                    <a:lnB>
                      <a:noFill/>
                    </a:lnB>
                    <a:solidFill>
                      <a:schemeClr val="accent3">
                        <a:lumMod val="40000"/>
                        <a:lumOff val="60000"/>
                      </a:schemeClr>
                    </a:solidFill>
                  </a:tcPr>
                </a:tc>
                <a:extLst>
                  <a:ext uri="{0D108BD9-81ED-4DB2-BD59-A6C34878D82A}">
                    <a16:rowId xmlns:a16="http://schemas.microsoft.com/office/drawing/2014/main" val="908767684"/>
                  </a:ext>
                </a:extLst>
              </a:tr>
            </a:tbl>
          </a:graphicData>
        </a:graphic>
      </p:graphicFrame>
    </p:spTree>
    <p:extLst>
      <p:ext uri="{BB962C8B-B14F-4D97-AF65-F5344CB8AC3E}">
        <p14:creationId xmlns:p14="http://schemas.microsoft.com/office/powerpoint/2010/main" val="1005996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CD7B-DF91-E205-B791-2EDE6252B7CB}"/>
              </a:ext>
            </a:extLst>
          </p:cNvPr>
          <p:cNvSpPr>
            <a:spLocks noGrp="1"/>
          </p:cNvSpPr>
          <p:nvPr>
            <p:ph type="title"/>
          </p:nvPr>
        </p:nvSpPr>
        <p:spPr>
          <a:xfrm>
            <a:off x="186610" y="0"/>
            <a:ext cx="11508085" cy="351326"/>
          </a:xfrm>
        </p:spPr>
        <p:txBody>
          <a:bodyPr>
            <a:noAutofit/>
          </a:bodyPr>
          <a:lstStyle/>
          <a:p>
            <a:r>
              <a:rPr lang="en-US" sz="2400" b="1" dirty="0">
                <a:solidFill>
                  <a:srgbClr val="FF0000"/>
                </a:solidFill>
              </a:rPr>
              <a:t>Python Dictionary Built In Function</a:t>
            </a:r>
          </a:p>
        </p:txBody>
      </p:sp>
      <p:graphicFrame>
        <p:nvGraphicFramePr>
          <p:cNvPr id="4" name="Content Placeholder 3">
            <a:extLst>
              <a:ext uri="{FF2B5EF4-FFF2-40B4-BE49-F238E27FC236}">
                <a16:creationId xmlns:a16="http://schemas.microsoft.com/office/drawing/2014/main" id="{62A8E38A-83C5-D82D-DB96-61245193B201}"/>
              </a:ext>
            </a:extLst>
          </p:cNvPr>
          <p:cNvGraphicFramePr>
            <a:graphicFrameLocks noGrp="1"/>
          </p:cNvGraphicFramePr>
          <p:nvPr>
            <p:ph idx="1"/>
            <p:extLst>
              <p:ext uri="{D42A27DB-BD31-4B8C-83A1-F6EECF244321}">
                <p14:modId xmlns:p14="http://schemas.microsoft.com/office/powerpoint/2010/main" val="2745702041"/>
              </p:ext>
            </p:extLst>
          </p:nvPr>
        </p:nvGraphicFramePr>
        <p:xfrm>
          <a:off x="112555" y="351326"/>
          <a:ext cx="12079445" cy="6506677"/>
        </p:xfrm>
        <a:graphic>
          <a:graphicData uri="http://schemas.openxmlformats.org/drawingml/2006/table">
            <a:tbl>
              <a:tblPr/>
              <a:tblGrid>
                <a:gridCol w="2366383">
                  <a:extLst>
                    <a:ext uri="{9D8B030D-6E8A-4147-A177-3AD203B41FA5}">
                      <a16:colId xmlns:a16="http://schemas.microsoft.com/office/drawing/2014/main" val="3203914791"/>
                    </a:ext>
                  </a:extLst>
                </a:gridCol>
                <a:gridCol w="5686580">
                  <a:extLst>
                    <a:ext uri="{9D8B030D-6E8A-4147-A177-3AD203B41FA5}">
                      <a16:colId xmlns:a16="http://schemas.microsoft.com/office/drawing/2014/main" val="65898100"/>
                    </a:ext>
                  </a:extLst>
                </a:gridCol>
                <a:gridCol w="4026482">
                  <a:extLst>
                    <a:ext uri="{9D8B030D-6E8A-4147-A177-3AD203B41FA5}">
                      <a16:colId xmlns:a16="http://schemas.microsoft.com/office/drawing/2014/main" val="1084143167"/>
                    </a:ext>
                  </a:extLst>
                </a:gridCol>
              </a:tblGrid>
              <a:tr h="356792">
                <a:tc>
                  <a:txBody>
                    <a:bodyPr/>
                    <a:lstStyle/>
                    <a:p>
                      <a:pPr algn="ctr"/>
                      <a:r>
                        <a:rPr lang="en-US" sz="2000" dirty="0">
                          <a:latin typeface="Cambria" panose="02040503050406030204" pitchFamily="18" charset="0"/>
                          <a:ea typeface="Cambria" panose="02040503050406030204" pitchFamily="18" charset="0"/>
                        </a:rPr>
                        <a:t>Function</a:t>
                      </a:r>
                    </a:p>
                  </a:txBody>
                  <a:tcPr marL="44450" marR="44450" marT="22225" marB="22225" anchor="ctr">
                    <a:lnL>
                      <a:noFill/>
                    </a:lnL>
                    <a:lnR>
                      <a:noFill/>
                    </a:lnR>
                    <a:lnT>
                      <a:noFill/>
                    </a:lnT>
                    <a:lnB>
                      <a:noFill/>
                    </a:lnB>
                    <a:solidFill>
                      <a:schemeClr val="accent1">
                        <a:lumMod val="60000"/>
                        <a:lumOff val="40000"/>
                      </a:schemeClr>
                    </a:solidFill>
                  </a:tcPr>
                </a:tc>
                <a:tc>
                  <a:txBody>
                    <a:bodyPr/>
                    <a:lstStyle/>
                    <a:p>
                      <a:pPr algn="ctr"/>
                      <a:r>
                        <a:rPr lang="en-US" sz="2000">
                          <a:latin typeface="Cambria" panose="02040503050406030204" pitchFamily="18" charset="0"/>
                          <a:ea typeface="Cambria" panose="02040503050406030204" pitchFamily="18" charset="0"/>
                        </a:rPr>
                        <a:t>Description / Use</a:t>
                      </a:r>
                    </a:p>
                  </a:txBody>
                  <a:tcPr marL="44450" marR="44450" marT="22225" marB="22225" anchor="ctr">
                    <a:lnL>
                      <a:noFill/>
                    </a:lnL>
                    <a:lnR>
                      <a:noFill/>
                    </a:lnR>
                    <a:lnT>
                      <a:noFill/>
                    </a:lnT>
                    <a:lnB>
                      <a:noFill/>
                    </a:lnB>
                    <a:solidFill>
                      <a:schemeClr val="accent1">
                        <a:lumMod val="60000"/>
                        <a:lumOff val="40000"/>
                      </a:schemeClr>
                    </a:solidFill>
                  </a:tcPr>
                </a:tc>
                <a:tc>
                  <a:txBody>
                    <a:bodyPr/>
                    <a:lstStyle/>
                    <a:p>
                      <a:pPr algn="ctr"/>
                      <a:r>
                        <a:rPr lang="en-US" sz="2000" dirty="0">
                          <a:latin typeface="Cambria" panose="02040503050406030204" pitchFamily="18" charset="0"/>
                          <a:ea typeface="Cambria" panose="02040503050406030204" pitchFamily="18" charset="0"/>
                        </a:rPr>
                        <a:t>Example</a:t>
                      </a:r>
                    </a:p>
                  </a:txBody>
                  <a:tcPr marL="44450" marR="44450" marT="22225" marB="22225"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2354415047"/>
                  </a:ext>
                </a:extLst>
              </a:tr>
              <a:tr h="325654">
                <a:tc>
                  <a:txBody>
                    <a:bodyPr/>
                    <a:lstStyle/>
                    <a:p>
                      <a:pPr algn="ctr"/>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a:t>
                      </a:r>
                    </a:p>
                  </a:txBody>
                  <a:tcPr marL="44450" marR="44450" marT="22225" marB="22225"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Number of keys in </a:t>
                      </a:r>
                      <a:r>
                        <a:rPr lang="en-US" sz="1800" dirty="0" err="1">
                          <a:latin typeface="Cambria" panose="02040503050406030204" pitchFamily="18" charset="0"/>
                          <a:ea typeface="Cambria" panose="02040503050406030204" pitchFamily="18" charset="0"/>
                        </a:rPr>
                        <a:t>dict</a:t>
                      </a:r>
                      <a:endParaRPr lang="en-US" sz="1800" dirty="0">
                        <a:latin typeface="Cambria" panose="02040503050406030204" pitchFamily="18" charset="0"/>
                        <a:ea typeface="Cambria" panose="02040503050406030204" pitchFamily="18" charset="0"/>
                      </a:endParaRPr>
                    </a:p>
                  </a:txBody>
                  <a:tcPr marL="44450" marR="44450" marT="22225" marB="22225" anchor="ctr">
                    <a:lnL>
                      <a:noFill/>
                    </a:lnL>
                    <a:lnR>
                      <a:noFill/>
                    </a:lnR>
                    <a:lnT>
                      <a:noFill/>
                    </a:lnT>
                    <a:lnB>
                      <a:noFill/>
                    </a:lnB>
                    <a:noFill/>
                  </a:tcPr>
                </a:tc>
                <a:tc>
                  <a:txBody>
                    <a:bodyPr/>
                    <a:lstStyle/>
                    <a:p>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(d)</a:t>
                      </a:r>
                    </a:p>
                  </a:txBody>
                  <a:tcPr marL="44450" marR="44450" marT="22225" marB="22225" anchor="ctr">
                    <a:lnL>
                      <a:noFill/>
                    </a:lnL>
                    <a:lnR>
                      <a:noFill/>
                    </a:lnR>
                    <a:lnT>
                      <a:noFill/>
                    </a:lnT>
                    <a:lnB>
                      <a:noFill/>
                    </a:lnB>
                    <a:noFill/>
                  </a:tcPr>
                </a:tc>
                <a:extLst>
                  <a:ext uri="{0D108BD9-81ED-4DB2-BD59-A6C34878D82A}">
                    <a16:rowId xmlns:a16="http://schemas.microsoft.com/office/drawing/2014/main" val="3466867595"/>
                  </a:ext>
                </a:extLst>
              </a:tr>
              <a:tr h="506379">
                <a:tc>
                  <a:txBody>
                    <a:bodyPr/>
                    <a:lstStyle/>
                    <a:p>
                      <a:pPr algn="ctr"/>
                      <a:r>
                        <a:rPr lang="en-US" sz="1800" dirty="0">
                          <a:latin typeface="Cambria" panose="02040503050406030204" pitchFamily="18" charset="0"/>
                          <a:ea typeface="Cambria" panose="02040503050406030204" pitchFamily="18" charset="0"/>
                        </a:rPr>
                        <a:t>type()</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the type of object</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type(d) → &lt;class 'dict'&gt;</a:t>
                      </a:r>
                    </a:p>
                  </a:txBody>
                  <a:tcPr marL="44450" marR="44450" marT="22225" marB="22225" anchor="ctr">
                    <a:lnL>
                      <a:noFill/>
                    </a:lnL>
                    <a:lnR>
                      <a:noFill/>
                    </a:lnR>
                    <a:lnT>
                      <a:noFill/>
                    </a:lnT>
                    <a:lnB>
                      <a:noFill/>
                    </a:lnB>
                    <a:noFill/>
                  </a:tcPr>
                </a:tc>
                <a:extLst>
                  <a:ext uri="{0D108BD9-81ED-4DB2-BD59-A6C34878D82A}">
                    <a16:rowId xmlns:a16="http://schemas.microsoft.com/office/drawing/2014/main" val="1005282435"/>
                  </a:ext>
                </a:extLst>
              </a:tr>
              <a:tr h="325654">
                <a:tc>
                  <a:txBody>
                    <a:bodyPr/>
                    <a:lstStyle/>
                    <a:p>
                      <a:pPr algn="ctr"/>
                      <a:r>
                        <a:rPr lang="en-US" sz="1800" dirty="0">
                          <a:latin typeface="Cambria" panose="02040503050406030204" pitchFamily="18" charset="0"/>
                          <a:ea typeface="Cambria" panose="02040503050406030204" pitchFamily="18" charset="0"/>
                        </a:rPr>
                        <a:t>str()</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String representation</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str(d)</a:t>
                      </a:r>
                    </a:p>
                  </a:txBody>
                  <a:tcPr marL="44450" marR="44450" marT="22225" marB="22225" anchor="ctr">
                    <a:lnL>
                      <a:noFill/>
                    </a:lnL>
                    <a:lnR>
                      <a:noFill/>
                    </a:lnR>
                    <a:lnT>
                      <a:noFill/>
                    </a:lnT>
                    <a:lnB>
                      <a:noFill/>
                    </a:lnB>
                    <a:noFill/>
                  </a:tcPr>
                </a:tc>
                <a:extLst>
                  <a:ext uri="{0D108BD9-81ED-4DB2-BD59-A6C34878D82A}">
                    <a16:rowId xmlns:a16="http://schemas.microsoft.com/office/drawing/2014/main" val="2210793021"/>
                  </a:ext>
                </a:extLst>
              </a:tr>
              <a:tr h="506379">
                <a:tc>
                  <a:txBody>
                    <a:bodyPr/>
                    <a:lstStyle/>
                    <a:p>
                      <a:pPr algn="ctr"/>
                      <a:r>
                        <a:rPr lang="en-US" sz="1800" dirty="0">
                          <a:latin typeface="Cambria" panose="02040503050406030204" pitchFamily="18" charset="0"/>
                          <a:ea typeface="Cambria" panose="02040503050406030204" pitchFamily="18" charset="0"/>
                        </a:rPr>
                        <a:t>list()</a:t>
                      </a:r>
                    </a:p>
                  </a:txBody>
                  <a:tcPr marL="44450" marR="44450" marT="22225" marB="22225"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Convert dictionary keys to list</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list(d)</a:t>
                      </a:r>
                    </a:p>
                  </a:txBody>
                  <a:tcPr marL="44450" marR="44450" marT="22225" marB="22225" anchor="ctr">
                    <a:lnL>
                      <a:noFill/>
                    </a:lnL>
                    <a:lnR>
                      <a:noFill/>
                    </a:lnR>
                    <a:lnT>
                      <a:noFill/>
                    </a:lnT>
                    <a:lnB>
                      <a:noFill/>
                    </a:lnB>
                    <a:noFill/>
                  </a:tcPr>
                </a:tc>
                <a:extLst>
                  <a:ext uri="{0D108BD9-81ED-4DB2-BD59-A6C34878D82A}">
                    <a16:rowId xmlns:a16="http://schemas.microsoft.com/office/drawing/2014/main" val="3859669601"/>
                  </a:ext>
                </a:extLst>
              </a:tr>
              <a:tr h="325654">
                <a:tc>
                  <a:txBody>
                    <a:bodyPr/>
                    <a:lstStyle/>
                    <a:p>
                      <a:pPr algn="ctr"/>
                      <a:r>
                        <a:rPr lang="en-US" sz="1800" dirty="0">
                          <a:latin typeface="Cambria" panose="02040503050406030204" pitchFamily="18" charset="0"/>
                          <a:ea typeface="Cambria" panose="02040503050406030204" pitchFamily="18" charset="0"/>
                        </a:rPr>
                        <a:t>sorted()</a:t>
                      </a:r>
                    </a:p>
                  </a:txBody>
                  <a:tcPr marL="44450" marR="44450" marT="22225" marB="22225"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 sorted list of keys</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sorted(d)</a:t>
                      </a:r>
                    </a:p>
                  </a:txBody>
                  <a:tcPr marL="44450" marR="44450" marT="22225" marB="22225" anchor="ctr">
                    <a:lnL>
                      <a:noFill/>
                    </a:lnL>
                    <a:lnR>
                      <a:noFill/>
                    </a:lnR>
                    <a:lnT>
                      <a:noFill/>
                    </a:lnT>
                    <a:lnB>
                      <a:noFill/>
                    </a:lnB>
                    <a:noFill/>
                  </a:tcPr>
                </a:tc>
                <a:extLst>
                  <a:ext uri="{0D108BD9-81ED-4DB2-BD59-A6C34878D82A}">
                    <a16:rowId xmlns:a16="http://schemas.microsoft.com/office/drawing/2014/main" val="977283653"/>
                  </a:ext>
                </a:extLst>
              </a:tr>
              <a:tr h="506379">
                <a:tc>
                  <a:txBody>
                    <a:bodyPr/>
                    <a:lstStyle/>
                    <a:p>
                      <a:pPr algn="ctr"/>
                      <a:r>
                        <a:rPr lang="en-US" sz="1800" dirty="0">
                          <a:latin typeface="Cambria" panose="02040503050406030204" pitchFamily="18" charset="0"/>
                          <a:ea typeface="Cambria" panose="02040503050406030204" pitchFamily="18" charset="0"/>
                        </a:rPr>
                        <a:t>max()</a:t>
                      </a:r>
                    </a:p>
                  </a:txBody>
                  <a:tcPr marL="44450" marR="44450" marT="22225" marB="22225"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 max key (or value with key=...)</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max(d) or max(d.values())</a:t>
                      </a:r>
                    </a:p>
                  </a:txBody>
                  <a:tcPr marL="44450" marR="44450" marT="22225" marB="22225" anchor="ctr">
                    <a:lnL>
                      <a:noFill/>
                    </a:lnL>
                    <a:lnR>
                      <a:noFill/>
                    </a:lnR>
                    <a:lnT>
                      <a:noFill/>
                    </a:lnT>
                    <a:lnB>
                      <a:noFill/>
                    </a:lnB>
                    <a:noFill/>
                  </a:tcPr>
                </a:tc>
                <a:extLst>
                  <a:ext uri="{0D108BD9-81ED-4DB2-BD59-A6C34878D82A}">
                    <a16:rowId xmlns:a16="http://schemas.microsoft.com/office/drawing/2014/main" val="1388539561"/>
                  </a:ext>
                </a:extLst>
              </a:tr>
              <a:tr h="325654">
                <a:tc>
                  <a:txBody>
                    <a:bodyPr/>
                    <a:lstStyle/>
                    <a:p>
                      <a:pPr algn="ctr"/>
                      <a:r>
                        <a:rPr lang="en-US" sz="1800" dirty="0">
                          <a:latin typeface="Cambria" panose="02040503050406030204" pitchFamily="18" charset="0"/>
                          <a:ea typeface="Cambria" panose="02040503050406030204" pitchFamily="18" charset="0"/>
                        </a:rPr>
                        <a:t>min()</a:t>
                      </a:r>
                    </a:p>
                  </a:txBody>
                  <a:tcPr marL="44450" marR="44450" marT="22225" marB="22225"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 min key</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min(d)</a:t>
                      </a:r>
                    </a:p>
                  </a:txBody>
                  <a:tcPr marL="44450" marR="44450" marT="22225" marB="22225" anchor="ctr">
                    <a:lnL>
                      <a:noFill/>
                    </a:lnL>
                    <a:lnR>
                      <a:noFill/>
                    </a:lnR>
                    <a:lnT>
                      <a:noFill/>
                    </a:lnT>
                    <a:lnB>
                      <a:noFill/>
                    </a:lnB>
                    <a:noFill/>
                  </a:tcPr>
                </a:tc>
                <a:extLst>
                  <a:ext uri="{0D108BD9-81ED-4DB2-BD59-A6C34878D82A}">
                    <a16:rowId xmlns:a16="http://schemas.microsoft.com/office/drawing/2014/main" val="2680008374"/>
                  </a:ext>
                </a:extLst>
              </a:tr>
              <a:tr h="325654">
                <a:tc>
                  <a:txBody>
                    <a:bodyPr/>
                    <a:lstStyle/>
                    <a:p>
                      <a:pPr algn="ctr"/>
                      <a:r>
                        <a:rPr lang="en-US" sz="1800" dirty="0">
                          <a:latin typeface="Cambria" panose="02040503050406030204" pitchFamily="18" charset="0"/>
                          <a:ea typeface="Cambria" panose="02040503050406030204" pitchFamily="18" charset="0"/>
                        </a:rPr>
                        <a:t>sum()</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Sum of values (not keys)</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sum(d.values())</a:t>
                      </a:r>
                    </a:p>
                  </a:txBody>
                  <a:tcPr marL="44450" marR="44450" marT="22225" marB="22225" anchor="ctr">
                    <a:lnL>
                      <a:noFill/>
                    </a:lnL>
                    <a:lnR>
                      <a:noFill/>
                    </a:lnR>
                    <a:lnT>
                      <a:noFill/>
                    </a:lnT>
                    <a:lnB>
                      <a:noFill/>
                    </a:lnB>
                    <a:noFill/>
                  </a:tcPr>
                </a:tc>
                <a:extLst>
                  <a:ext uri="{0D108BD9-81ED-4DB2-BD59-A6C34878D82A}">
                    <a16:rowId xmlns:a16="http://schemas.microsoft.com/office/drawing/2014/main" val="3217153579"/>
                  </a:ext>
                </a:extLst>
              </a:tr>
              <a:tr h="506379">
                <a:tc>
                  <a:txBody>
                    <a:bodyPr/>
                    <a:lstStyle/>
                    <a:p>
                      <a:pPr algn="ctr"/>
                      <a:r>
                        <a:rPr lang="en-US" sz="1800" dirty="0">
                          <a:latin typeface="Cambria" panose="02040503050406030204" pitchFamily="18" charset="0"/>
                          <a:ea typeface="Cambria" panose="02040503050406030204" pitchFamily="18" charset="0"/>
                        </a:rPr>
                        <a:t>all()</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True if all keys are truthy</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all(d)</a:t>
                      </a:r>
                    </a:p>
                  </a:txBody>
                  <a:tcPr marL="44450" marR="44450" marT="22225" marB="22225" anchor="ctr">
                    <a:lnL>
                      <a:noFill/>
                    </a:lnL>
                    <a:lnR>
                      <a:noFill/>
                    </a:lnR>
                    <a:lnT>
                      <a:noFill/>
                    </a:lnT>
                    <a:lnB>
                      <a:noFill/>
                    </a:lnB>
                    <a:noFill/>
                  </a:tcPr>
                </a:tc>
                <a:extLst>
                  <a:ext uri="{0D108BD9-81ED-4DB2-BD59-A6C34878D82A}">
                    <a16:rowId xmlns:a16="http://schemas.microsoft.com/office/drawing/2014/main" val="1031815045"/>
                  </a:ext>
                </a:extLst>
              </a:tr>
              <a:tr h="506379">
                <a:tc>
                  <a:txBody>
                    <a:bodyPr/>
                    <a:lstStyle/>
                    <a:p>
                      <a:pPr algn="ctr"/>
                      <a:r>
                        <a:rPr lang="en-US" sz="1800" dirty="0">
                          <a:latin typeface="Cambria" panose="02040503050406030204" pitchFamily="18" charset="0"/>
                          <a:ea typeface="Cambria" panose="02040503050406030204" pitchFamily="18" charset="0"/>
                        </a:rPr>
                        <a:t>any()</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True if any key is truthy</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any(d)</a:t>
                      </a:r>
                    </a:p>
                  </a:txBody>
                  <a:tcPr marL="44450" marR="44450" marT="22225" marB="22225" anchor="ctr">
                    <a:lnL>
                      <a:noFill/>
                    </a:lnL>
                    <a:lnR>
                      <a:noFill/>
                    </a:lnR>
                    <a:lnT>
                      <a:noFill/>
                    </a:lnT>
                    <a:lnB>
                      <a:noFill/>
                    </a:lnB>
                    <a:noFill/>
                  </a:tcPr>
                </a:tc>
                <a:extLst>
                  <a:ext uri="{0D108BD9-81ED-4DB2-BD59-A6C34878D82A}">
                    <a16:rowId xmlns:a16="http://schemas.microsoft.com/office/drawing/2014/main" val="2168762963"/>
                  </a:ext>
                </a:extLst>
              </a:tr>
              <a:tr h="506379">
                <a:tc>
                  <a:txBody>
                    <a:bodyPr/>
                    <a:lstStyle/>
                    <a:p>
                      <a:pPr algn="ctr"/>
                      <a:r>
                        <a:rPr lang="en-US" sz="1800" dirty="0">
                          <a:latin typeface="Cambria" panose="02040503050406030204" pitchFamily="18" charset="0"/>
                          <a:ea typeface="Cambria" panose="02040503050406030204" pitchFamily="18" charset="0"/>
                        </a:rPr>
                        <a:t>zip()</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Create dict from zipped keys/values</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dict(zip(['a','b'], [1,2]))</a:t>
                      </a:r>
                    </a:p>
                  </a:txBody>
                  <a:tcPr marL="44450" marR="44450" marT="22225" marB="22225" anchor="ctr">
                    <a:lnL>
                      <a:noFill/>
                    </a:lnL>
                    <a:lnR>
                      <a:noFill/>
                    </a:lnR>
                    <a:lnT>
                      <a:noFill/>
                    </a:lnT>
                    <a:lnB>
                      <a:noFill/>
                    </a:lnB>
                    <a:noFill/>
                  </a:tcPr>
                </a:tc>
                <a:extLst>
                  <a:ext uri="{0D108BD9-81ED-4DB2-BD59-A6C34878D82A}">
                    <a16:rowId xmlns:a16="http://schemas.microsoft.com/office/drawing/2014/main" val="2247088026"/>
                  </a:ext>
                </a:extLst>
              </a:tr>
              <a:tr h="506379">
                <a:tc>
                  <a:txBody>
                    <a:bodyPr/>
                    <a:lstStyle/>
                    <a:p>
                      <a:pPr algn="ctr"/>
                      <a:r>
                        <a:rPr lang="en-US" sz="1800" dirty="0">
                          <a:latin typeface="Cambria" panose="02040503050406030204" pitchFamily="18" charset="0"/>
                          <a:ea typeface="Cambria" panose="02040503050406030204" pitchFamily="18" charset="0"/>
                        </a:rPr>
                        <a:t>enumerate()</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Iterate with index over dict keys</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list(enumerate(d))</a:t>
                      </a:r>
                    </a:p>
                  </a:txBody>
                  <a:tcPr marL="44450" marR="44450" marT="22225" marB="22225" anchor="ctr">
                    <a:lnL>
                      <a:noFill/>
                    </a:lnL>
                    <a:lnR>
                      <a:noFill/>
                    </a:lnR>
                    <a:lnT>
                      <a:noFill/>
                    </a:lnT>
                    <a:lnB>
                      <a:noFill/>
                    </a:lnB>
                    <a:noFill/>
                  </a:tcPr>
                </a:tc>
                <a:extLst>
                  <a:ext uri="{0D108BD9-81ED-4DB2-BD59-A6C34878D82A}">
                    <a16:rowId xmlns:a16="http://schemas.microsoft.com/office/drawing/2014/main" val="2147869244"/>
                  </a:ext>
                </a:extLst>
              </a:tr>
              <a:tr h="325654">
                <a:tc>
                  <a:txBody>
                    <a:bodyPr/>
                    <a:lstStyle/>
                    <a:p>
                      <a:pPr algn="ctr"/>
                      <a:r>
                        <a:rPr lang="en-US" sz="1800" dirty="0">
                          <a:latin typeface="Cambria" panose="02040503050406030204" pitchFamily="18" charset="0"/>
                          <a:ea typeface="Cambria" panose="02040503050406030204" pitchFamily="18" charset="0"/>
                        </a:rPr>
                        <a:t>reversed()</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Reverse order of keys</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list(reversed(d))</a:t>
                      </a:r>
                    </a:p>
                  </a:txBody>
                  <a:tcPr marL="44450" marR="44450" marT="22225" marB="22225" anchor="ctr">
                    <a:lnL>
                      <a:noFill/>
                    </a:lnL>
                    <a:lnR>
                      <a:noFill/>
                    </a:lnR>
                    <a:lnT>
                      <a:noFill/>
                    </a:lnT>
                    <a:lnB>
                      <a:noFill/>
                    </a:lnB>
                    <a:noFill/>
                  </a:tcPr>
                </a:tc>
                <a:extLst>
                  <a:ext uri="{0D108BD9-81ED-4DB2-BD59-A6C34878D82A}">
                    <a16:rowId xmlns:a16="http://schemas.microsoft.com/office/drawing/2014/main" val="3096310218"/>
                  </a:ext>
                </a:extLst>
              </a:tr>
              <a:tr h="325654">
                <a:tc>
                  <a:txBody>
                    <a:bodyPr/>
                    <a:lstStyle/>
                    <a:p>
                      <a:pPr algn="ctr"/>
                      <a:r>
                        <a:rPr lang="en-US" sz="1800" dirty="0">
                          <a:latin typeface="Cambria" panose="02040503050406030204" pitchFamily="18" charset="0"/>
                          <a:ea typeface="Cambria" panose="02040503050406030204" pitchFamily="18" charset="0"/>
                        </a:rPr>
                        <a:t>in operator</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Check if key exists in dict</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'a' in d → True</a:t>
                      </a:r>
                    </a:p>
                  </a:txBody>
                  <a:tcPr marL="44450" marR="44450" marT="22225" marB="22225" anchor="ctr">
                    <a:lnL>
                      <a:noFill/>
                    </a:lnL>
                    <a:lnR>
                      <a:noFill/>
                    </a:lnR>
                    <a:lnT>
                      <a:noFill/>
                    </a:lnT>
                    <a:lnB>
                      <a:noFill/>
                    </a:lnB>
                    <a:noFill/>
                  </a:tcPr>
                </a:tc>
                <a:extLst>
                  <a:ext uri="{0D108BD9-81ED-4DB2-BD59-A6C34878D82A}">
                    <a16:rowId xmlns:a16="http://schemas.microsoft.com/office/drawing/2014/main" val="164971777"/>
                  </a:ext>
                </a:extLst>
              </a:tr>
              <a:tr h="325654">
                <a:tc>
                  <a:txBody>
                    <a:bodyPr/>
                    <a:lstStyle/>
                    <a:p>
                      <a:pPr algn="ctr"/>
                      <a:r>
                        <a:rPr lang="en-US" sz="1800" dirty="0">
                          <a:latin typeface="Cambria" panose="02040503050406030204" pitchFamily="18" charset="0"/>
                          <a:ea typeface="Cambria" panose="02040503050406030204" pitchFamily="18" charset="0"/>
                        </a:rPr>
                        <a:t>del</a:t>
                      </a:r>
                    </a:p>
                  </a:txBody>
                  <a:tcPr marL="44450" marR="44450" marT="22225" marB="22225"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Delete a key-value pair</a:t>
                      </a:r>
                    </a:p>
                  </a:txBody>
                  <a:tcPr marL="44450" marR="44450" marT="22225" marB="22225"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del d['a']</a:t>
                      </a:r>
                    </a:p>
                  </a:txBody>
                  <a:tcPr marL="44450" marR="44450" marT="22225" marB="22225" anchor="ctr">
                    <a:lnL>
                      <a:noFill/>
                    </a:lnL>
                    <a:lnR>
                      <a:noFill/>
                    </a:lnR>
                    <a:lnT>
                      <a:noFill/>
                    </a:lnT>
                    <a:lnB>
                      <a:noFill/>
                    </a:lnB>
                    <a:noFill/>
                  </a:tcPr>
                </a:tc>
                <a:extLst>
                  <a:ext uri="{0D108BD9-81ED-4DB2-BD59-A6C34878D82A}">
                    <a16:rowId xmlns:a16="http://schemas.microsoft.com/office/drawing/2014/main" val="530722301"/>
                  </a:ext>
                </a:extLst>
              </a:tr>
            </a:tbl>
          </a:graphicData>
        </a:graphic>
      </p:graphicFrame>
    </p:spTree>
    <p:extLst>
      <p:ext uri="{BB962C8B-B14F-4D97-AF65-F5344CB8AC3E}">
        <p14:creationId xmlns:p14="http://schemas.microsoft.com/office/powerpoint/2010/main" val="34206821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BBDA-1E0A-70A6-4C73-73FF23FA1666}"/>
              </a:ext>
            </a:extLst>
          </p:cNvPr>
          <p:cNvSpPr>
            <a:spLocks noGrp="1"/>
          </p:cNvSpPr>
          <p:nvPr>
            <p:ph type="title"/>
          </p:nvPr>
        </p:nvSpPr>
        <p:spPr>
          <a:xfrm>
            <a:off x="119232" y="32923"/>
            <a:ext cx="12072768" cy="419464"/>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Python Function/Method</a:t>
            </a:r>
          </a:p>
        </p:txBody>
      </p:sp>
      <p:sp>
        <p:nvSpPr>
          <p:cNvPr id="3" name="Content Placeholder 2">
            <a:extLst>
              <a:ext uri="{FF2B5EF4-FFF2-40B4-BE49-F238E27FC236}">
                <a16:creationId xmlns:a16="http://schemas.microsoft.com/office/drawing/2014/main" id="{467DF58F-9C47-25BA-45BD-F218D47DABDF}"/>
              </a:ext>
            </a:extLst>
          </p:cNvPr>
          <p:cNvSpPr>
            <a:spLocks noGrp="1"/>
          </p:cNvSpPr>
          <p:nvPr>
            <p:ph idx="1"/>
          </p:nvPr>
        </p:nvSpPr>
        <p:spPr>
          <a:xfrm>
            <a:off x="284205" y="522169"/>
            <a:ext cx="11800564" cy="3041407"/>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function</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a reusable block of code that performs a specific task. It helps in organizing code, improving readability, and avoiding repetition.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Defined using the </a:t>
            </a:r>
            <a:r>
              <a:rPr kumimoji="0" lang="en-US" altLang="en-US" b="1" i="0" u="none" strike="noStrike" cap="none" normalizeH="0" baseline="0" dirty="0">
                <a:ln>
                  <a:noFill/>
                </a:ln>
                <a:solidFill>
                  <a:schemeClr val="tx1"/>
                </a:solidFill>
                <a:effectLst/>
                <a:highlight>
                  <a:srgbClr val="FFFF00"/>
                </a:highlight>
                <a:latin typeface="Cambria" panose="02040503050406030204" pitchFamily="18" charset="0"/>
                <a:ea typeface="Cambria" panose="02040503050406030204" pitchFamily="18" charset="0"/>
              </a:rPr>
              <a:t>def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keyword.</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Can take parameters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(inputs).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Can return values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using the return statement.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Can be called multiple times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from different places in the program.</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Helps in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modular programming</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and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code reuse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
        <p:nvSpPr>
          <p:cNvPr id="7" name="Rectangle 4">
            <a:extLst>
              <a:ext uri="{FF2B5EF4-FFF2-40B4-BE49-F238E27FC236}">
                <a16:creationId xmlns:a16="http://schemas.microsoft.com/office/drawing/2014/main" id="{890B4EC3-0A61-0024-FF56-053BEB56D542}"/>
              </a:ext>
            </a:extLst>
          </p:cNvPr>
          <p:cNvSpPr>
            <a:spLocks noChangeArrowheads="1"/>
          </p:cNvSpPr>
          <p:nvPr/>
        </p:nvSpPr>
        <p:spPr bwMode="auto">
          <a:xfrm>
            <a:off x="226462" y="3596150"/>
            <a:ext cx="612218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Syntax of a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def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function_name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(parameters): # code block return result</a:t>
            </a:r>
          </a:p>
        </p:txBody>
      </p:sp>
      <p:graphicFrame>
        <p:nvGraphicFramePr>
          <p:cNvPr id="8" name="Table 7">
            <a:extLst>
              <a:ext uri="{FF2B5EF4-FFF2-40B4-BE49-F238E27FC236}">
                <a16:creationId xmlns:a16="http://schemas.microsoft.com/office/drawing/2014/main" id="{557268CF-B5F0-F87D-4249-44CBF7451151}"/>
              </a:ext>
            </a:extLst>
          </p:cNvPr>
          <p:cNvGraphicFramePr>
            <a:graphicFrameLocks noGrp="1"/>
          </p:cNvGraphicFramePr>
          <p:nvPr>
            <p:extLst>
              <p:ext uri="{D42A27DB-BD31-4B8C-83A1-F6EECF244321}">
                <p14:modId xmlns:p14="http://schemas.microsoft.com/office/powerpoint/2010/main" val="3329444955"/>
              </p:ext>
            </p:extLst>
          </p:nvPr>
        </p:nvGraphicFramePr>
        <p:xfrm>
          <a:off x="284205" y="4519480"/>
          <a:ext cx="11858307" cy="2273023"/>
        </p:xfrm>
        <a:graphic>
          <a:graphicData uri="http://schemas.openxmlformats.org/drawingml/2006/table">
            <a:tbl>
              <a:tblPr/>
              <a:tblGrid>
                <a:gridCol w="3952769">
                  <a:extLst>
                    <a:ext uri="{9D8B030D-6E8A-4147-A177-3AD203B41FA5}">
                      <a16:colId xmlns:a16="http://schemas.microsoft.com/office/drawing/2014/main" val="3716700902"/>
                    </a:ext>
                  </a:extLst>
                </a:gridCol>
                <a:gridCol w="3952769">
                  <a:extLst>
                    <a:ext uri="{9D8B030D-6E8A-4147-A177-3AD203B41FA5}">
                      <a16:colId xmlns:a16="http://schemas.microsoft.com/office/drawing/2014/main" val="3534653698"/>
                    </a:ext>
                  </a:extLst>
                </a:gridCol>
                <a:gridCol w="3952769">
                  <a:extLst>
                    <a:ext uri="{9D8B030D-6E8A-4147-A177-3AD203B41FA5}">
                      <a16:colId xmlns:a16="http://schemas.microsoft.com/office/drawing/2014/main" val="3251831911"/>
                    </a:ext>
                  </a:extLst>
                </a:gridCol>
              </a:tblGrid>
              <a:tr h="484415">
                <a:tc>
                  <a:txBody>
                    <a:bodyPr/>
                    <a:lstStyle/>
                    <a:p>
                      <a:pPr algn="ctr"/>
                      <a:r>
                        <a:rPr lang="en-US" sz="2000" b="1" dirty="0">
                          <a:solidFill>
                            <a:srgbClr val="FF0000"/>
                          </a:solidFill>
                          <a:latin typeface="Cambria" panose="02040503050406030204" pitchFamily="18" charset="0"/>
                          <a:ea typeface="Cambria" panose="02040503050406030204" pitchFamily="18" charset="0"/>
                        </a:rPr>
                        <a:t>Type</a:t>
                      </a:r>
                    </a:p>
                  </a:txBody>
                  <a:tcPr anchor="ctr">
                    <a:lnL>
                      <a:noFill/>
                    </a:lnL>
                    <a:lnR>
                      <a:noFill/>
                    </a:lnR>
                    <a:lnT>
                      <a:noFill/>
                    </a:lnT>
                    <a:lnB>
                      <a:noFill/>
                    </a:lnB>
                    <a:solidFill>
                      <a:schemeClr val="accent4">
                        <a:lumMod val="60000"/>
                        <a:lumOff val="40000"/>
                      </a:schemeClr>
                    </a:solidFill>
                  </a:tcPr>
                </a:tc>
                <a:tc>
                  <a:txBody>
                    <a:bodyPr/>
                    <a:lstStyle/>
                    <a:p>
                      <a:pPr algn="ctr"/>
                      <a:r>
                        <a:rPr lang="en-US" sz="2000" b="1">
                          <a:solidFill>
                            <a:srgbClr val="FF0000"/>
                          </a:solidFill>
                          <a:latin typeface="Cambria" panose="02040503050406030204" pitchFamily="18" charset="0"/>
                          <a:ea typeface="Cambria" panose="02040503050406030204" pitchFamily="18" charset="0"/>
                        </a:rPr>
                        <a:t>Description</a:t>
                      </a:r>
                    </a:p>
                  </a:txBody>
                  <a:tcPr anchor="ctr">
                    <a:lnL>
                      <a:noFill/>
                    </a:lnL>
                    <a:lnR>
                      <a:noFill/>
                    </a:lnR>
                    <a:lnT>
                      <a:noFill/>
                    </a:lnT>
                    <a:lnB>
                      <a:noFill/>
                    </a:lnB>
                    <a:solidFill>
                      <a:schemeClr val="accent4">
                        <a:lumMod val="60000"/>
                        <a:lumOff val="40000"/>
                      </a:schemeClr>
                    </a:solidFill>
                  </a:tcPr>
                </a:tc>
                <a:tc>
                  <a:txBody>
                    <a:bodyPr/>
                    <a:lstStyle/>
                    <a:p>
                      <a:pPr algn="ctr"/>
                      <a:r>
                        <a:rPr lang="en-US" sz="2000" b="1" dirty="0">
                          <a:solidFill>
                            <a:srgbClr val="FF0000"/>
                          </a:solidFill>
                          <a:latin typeface="Cambria" panose="02040503050406030204" pitchFamily="18" charset="0"/>
                          <a:ea typeface="Cambria" panose="02040503050406030204" pitchFamily="18" charset="0"/>
                        </a:rPr>
                        <a:t>Example</a:t>
                      </a:r>
                    </a:p>
                  </a:txBody>
                  <a:tcPr anchor="ctr">
                    <a:lnL>
                      <a:noFill/>
                    </a:lnL>
                    <a:lnR>
                      <a:noFill/>
                    </a:lnR>
                    <a:lnT>
                      <a:noFill/>
                    </a:lnT>
                    <a:lnB>
                      <a:noFill/>
                    </a:lnB>
                    <a:solidFill>
                      <a:schemeClr val="accent4">
                        <a:lumMod val="60000"/>
                        <a:lumOff val="40000"/>
                      </a:schemeClr>
                    </a:solidFill>
                  </a:tcPr>
                </a:tc>
                <a:extLst>
                  <a:ext uri="{0D108BD9-81ED-4DB2-BD59-A6C34878D82A}">
                    <a16:rowId xmlns:a16="http://schemas.microsoft.com/office/drawing/2014/main" val="1165637346"/>
                  </a:ext>
                </a:extLst>
              </a:tr>
              <a:tr h="447152">
                <a:tc>
                  <a:txBody>
                    <a:bodyPr/>
                    <a:lstStyle/>
                    <a:p>
                      <a:pPr algn="l"/>
                      <a:r>
                        <a:rPr lang="en-US" dirty="0">
                          <a:latin typeface="Cambria" panose="02040503050406030204" pitchFamily="18" charset="0"/>
                          <a:ea typeface="Cambria" panose="02040503050406030204" pitchFamily="18" charset="0"/>
                        </a:rPr>
                        <a:t>Built-in Function</a:t>
                      </a: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Predefined in Python</a:t>
                      </a:r>
                    </a:p>
                  </a:txBody>
                  <a:tcPr anchor="ctr">
                    <a:lnL>
                      <a:noFill/>
                    </a:lnL>
                    <a:lnR>
                      <a:noFill/>
                    </a:lnR>
                    <a:lnT>
                      <a:noFill/>
                    </a:lnT>
                    <a:lnB>
                      <a:noFill/>
                    </a:lnB>
                    <a:noFill/>
                  </a:tcPr>
                </a:tc>
                <a:tc>
                  <a:txBody>
                    <a:bodyPr/>
                    <a:lstStyle/>
                    <a:p>
                      <a:pPr algn="l"/>
                      <a:r>
                        <a:rPr lang="en-US" dirty="0" err="1">
                          <a:latin typeface="Cambria" panose="02040503050406030204" pitchFamily="18" charset="0"/>
                          <a:ea typeface="Cambria" panose="02040503050406030204" pitchFamily="18" charset="0"/>
                        </a:rPr>
                        <a:t>len</a:t>
                      </a:r>
                      <a:r>
                        <a:rPr lang="en-US" dirty="0">
                          <a:latin typeface="Cambria" panose="02040503050406030204" pitchFamily="18" charset="0"/>
                          <a:ea typeface="Cambria" panose="02040503050406030204" pitchFamily="18" charset="0"/>
                        </a:rPr>
                        <a:t>(), print(), type()</a:t>
                      </a:r>
                    </a:p>
                  </a:txBody>
                  <a:tcPr anchor="ctr">
                    <a:lnL>
                      <a:noFill/>
                    </a:lnL>
                    <a:lnR>
                      <a:noFill/>
                    </a:lnR>
                    <a:lnT>
                      <a:noFill/>
                    </a:lnT>
                    <a:lnB>
                      <a:noFill/>
                    </a:lnB>
                    <a:noFill/>
                  </a:tcPr>
                </a:tc>
                <a:extLst>
                  <a:ext uri="{0D108BD9-81ED-4DB2-BD59-A6C34878D82A}">
                    <a16:rowId xmlns:a16="http://schemas.microsoft.com/office/drawing/2014/main" val="1569904855"/>
                  </a:ext>
                </a:extLst>
              </a:tr>
              <a:tr h="447152">
                <a:tc>
                  <a:txBody>
                    <a:bodyPr/>
                    <a:lstStyle/>
                    <a:p>
                      <a:pPr algn="l"/>
                      <a:r>
                        <a:rPr lang="en-US" dirty="0">
                          <a:latin typeface="Cambria" panose="02040503050406030204" pitchFamily="18" charset="0"/>
                          <a:ea typeface="Cambria" panose="02040503050406030204" pitchFamily="18" charset="0"/>
                        </a:rPr>
                        <a:t>User-defined Function</a:t>
                      </a: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Defined by the user</a:t>
                      </a: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def add(a, b): return </a:t>
                      </a:r>
                      <a:r>
                        <a:rPr lang="en-US" dirty="0" err="1">
                          <a:latin typeface="Cambria" panose="02040503050406030204" pitchFamily="18" charset="0"/>
                          <a:ea typeface="Cambria" panose="02040503050406030204" pitchFamily="18" charset="0"/>
                        </a:rPr>
                        <a:t>a+b</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extLst>
                  <a:ext uri="{0D108BD9-81ED-4DB2-BD59-A6C34878D82A}">
                    <a16:rowId xmlns:a16="http://schemas.microsoft.com/office/drawing/2014/main" val="1259967412"/>
                  </a:ext>
                </a:extLst>
              </a:tr>
              <a:tr h="447152">
                <a:tc>
                  <a:txBody>
                    <a:bodyPr/>
                    <a:lstStyle/>
                    <a:p>
                      <a:pPr algn="l"/>
                      <a:r>
                        <a:rPr lang="en-US" dirty="0">
                          <a:latin typeface="Cambria" panose="02040503050406030204" pitchFamily="18" charset="0"/>
                          <a:ea typeface="Cambria" panose="02040503050406030204" pitchFamily="18" charset="0"/>
                        </a:rPr>
                        <a:t>Lambda Function</a:t>
                      </a: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Small anonymous function</a:t>
                      </a: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lambda x: x+1</a:t>
                      </a:r>
                    </a:p>
                  </a:txBody>
                  <a:tcPr anchor="ctr">
                    <a:lnL>
                      <a:noFill/>
                    </a:lnL>
                    <a:lnR>
                      <a:noFill/>
                    </a:lnR>
                    <a:lnT>
                      <a:noFill/>
                    </a:lnT>
                    <a:lnB>
                      <a:noFill/>
                    </a:lnB>
                    <a:noFill/>
                  </a:tcPr>
                </a:tc>
                <a:extLst>
                  <a:ext uri="{0D108BD9-81ED-4DB2-BD59-A6C34878D82A}">
                    <a16:rowId xmlns:a16="http://schemas.microsoft.com/office/drawing/2014/main" val="1057050464"/>
                  </a:ext>
                </a:extLst>
              </a:tr>
              <a:tr h="447152">
                <a:tc>
                  <a:txBody>
                    <a:bodyPr/>
                    <a:lstStyle/>
                    <a:p>
                      <a:pPr algn="l"/>
                      <a:r>
                        <a:rPr lang="en-US" dirty="0">
                          <a:latin typeface="Cambria" panose="02040503050406030204" pitchFamily="18" charset="0"/>
                          <a:ea typeface="Cambria" panose="02040503050406030204" pitchFamily="18" charset="0"/>
                        </a:rPr>
                        <a:t>Recursive Function</a:t>
                      </a:r>
                    </a:p>
                  </a:txBody>
                  <a:tcPr anchor="ctr">
                    <a:lnL>
                      <a:noFill/>
                    </a:lnL>
                    <a:lnR>
                      <a:noFill/>
                    </a:lnR>
                    <a:lnT>
                      <a:noFill/>
                    </a:lnT>
                    <a:lnB>
                      <a:noFill/>
                    </a:lnB>
                    <a:noFill/>
                  </a:tcPr>
                </a:tc>
                <a:tc>
                  <a:txBody>
                    <a:bodyPr/>
                    <a:lstStyle/>
                    <a:p>
                      <a:pPr algn="l"/>
                      <a:r>
                        <a:rPr lang="en-US">
                          <a:latin typeface="Cambria" panose="02040503050406030204" pitchFamily="18" charset="0"/>
                          <a:ea typeface="Cambria" panose="02040503050406030204" pitchFamily="18" charset="0"/>
                        </a:rPr>
                        <a:t>Function calling itself</a:t>
                      </a:r>
                    </a:p>
                  </a:txBody>
                  <a:tcPr anchor="ctr">
                    <a:lnL>
                      <a:noFill/>
                    </a:lnL>
                    <a:lnR>
                      <a:noFill/>
                    </a:lnR>
                    <a:lnT>
                      <a:noFill/>
                    </a:lnT>
                    <a:lnB>
                      <a:noFill/>
                    </a:lnB>
                    <a:noFill/>
                  </a:tcPr>
                </a:tc>
                <a:tc>
                  <a:txBody>
                    <a:bodyPr/>
                    <a:lstStyle/>
                    <a:p>
                      <a:pPr algn="l"/>
                      <a:r>
                        <a:rPr lang="en-US" dirty="0">
                          <a:latin typeface="Cambria" panose="02040503050406030204" pitchFamily="18" charset="0"/>
                          <a:ea typeface="Cambria" panose="02040503050406030204" pitchFamily="18" charset="0"/>
                        </a:rPr>
                        <a:t>factorial(n)</a:t>
                      </a:r>
                    </a:p>
                  </a:txBody>
                  <a:tcPr anchor="ctr">
                    <a:lnL>
                      <a:noFill/>
                    </a:lnL>
                    <a:lnR>
                      <a:noFill/>
                    </a:lnR>
                    <a:lnT>
                      <a:noFill/>
                    </a:lnT>
                    <a:lnB>
                      <a:noFill/>
                    </a:lnB>
                    <a:noFill/>
                  </a:tcPr>
                </a:tc>
                <a:extLst>
                  <a:ext uri="{0D108BD9-81ED-4DB2-BD59-A6C34878D82A}">
                    <a16:rowId xmlns:a16="http://schemas.microsoft.com/office/drawing/2014/main" val="3396272707"/>
                  </a:ext>
                </a:extLst>
              </a:tr>
            </a:tbl>
          </a:graphicData>
        </a:graphic>
      </p:graphicFrame>
    </p:spTree>
    <p:extLst>
      <p:ext uri="{BB962C8B-B14F-4D97-AF65-F5344CB8AC3E}">
        <p14:creationId xmlns:p14="http://schemas.microsoft.com/office/powerpoint/2010/main" val="27631033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3DBF3-CCF8-CE7A-2747-FEC0E2703030}"/>
              </a:ext>
            </a:extLst>
          </p:cNvPr>
          <p:cNvSpPr>
            <a:spLocks noGrp="1"/>
          </p:cNvSpPr>
          <p:nvPr>
            <p:ph type="title"/>
          </p:nvPr>
        </p:nvSpPr>
        <p:spPr>
          <a:xfrm>
            <a:off x="202130" y="85095"/>
            <a:ext cx="10869345" cy="405793"/>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Types Of Python Function</a:t>
            </a:r>
          </a:p>
        </p:txBody>
      </p:sp>
      <p:sp>
        <p:nvSpPr>
          <p:cNvPr id="3" name="Content Placeholder 2">
            <a:extLst>
              <a:ext uri="{FF2B5EF4-FFF2-40B4-BE49-F238E27FC236}">
                <a16:creationId xmlns:a16="http://schemas.microsoft.com/office/drawing/2014/main" id="{2211899A-EBCA-9F53-19CA-F81E0BF0C86D}"/>
              </a:ext>
            </a:extLst>
          </p:cNvPr>
          <p:cNvSpPr>
            <a:spLocks noGrp="1"/>
          </p:cNvSpPr>
          <p:nvPr>
            <p:ph idx="1"/>
          </p:nvPr>
        </p:nvSpPr>
        <p:spPr>
          <a:xfrm>
            <a:off x="202130" y="679458"/>
            <a:ext cx="11396296" cy="2034866"/>
          </a:xfrm>
        </p:spPr>
        <p:txBody>
          <a:bodyPr>
            <a:noAutofit/>
          </a:bodyPr>
          <a:lstStyle/>
          <a:p>
            <a:pPr marL="1371600" lvl="3" indent="0">
              <a:buNone/>
            </a:pPr>
            <a:r>
              <a:rPr lang="en-US" sz="1800" b="1" dirty="0">
                <a:latin typeface="Cambria" panose="02040503050406030204" pitchFamily="18" charset="0"/>
                <a:ea typeface="Cambria" panose="02040503050406030204" pitchFamily="18" charset="0"/>
              </a:rPr>
              <a:t>Built-in Functions</a:t>
            </a:r>
          </a:p>
          <a:p>
            <a:pPr marL="0" indent="0">
              <a:buNone/>
            </a:pPr>
            <a:r>
              <a:rPr lang="en-US" dirty="0">
                <a:latin typeface="Cambria" panose="02040503050406030204" pitchFamily="18" charset="0"/>
                <a:ea typeface="Cambria" panose="02040503050406030204" pitchFamily="18" charset="0"/>
              </a:rPr>
              <a:t>Predefined in Python.</a:t>
            </a:r>
          </a:p>
          <a:p>
            <a:pPr marL="0" indent="0">
              <a:buNone/>
            </a:pPr>
            <a:r>
              <a:rPr lang="en-US" dirty="0">
                <a:latin typeface="Cambria" panose="02040503050406030204" pitchFamily="18" charset="0"/>
                <a:ea typeface="Cambria" panose="02040503050406030204" pitchFamily="18" charset="0"/>
              </a:rPr>
              <a:t>No need to define them.</a:t>
            </a:r>
          </a:p>
          <a:p>
            <a:pPr marL="0" indent="0">
              <a:buNone/>
            </a:pPr>
            <a:r>
              <a:rPr lang="en-US" dirty="0">
                <a:latin typeface="Cambria" panose="02040503050406030204" pitchFamily="18" charset="0"/>
                <a:ea typeface="Cambria" panose="02040503050406030204" pitchFamily="18" charset="0"/>
              </a:rPr>
              <a:t>print(</a:t>
            </a:r>
            <a:r>
              <a:rPr lang="en-US" dirty="0" err="1">
                <a:latin typeface="Cambria" panose="02040503050406030204" pitchFamily="18" charset="0"/>
                <a:ea typeface="Cambria" panose="02040503050406030204" pitchFamily="18" charset="0"/>
              </a:rPr>
              <a:t>len</a:t>
            </a:r>
            <a:r>
              <a:rPr lang="en-US" dirty="0">
                <a:latin typeface="Cambria" panose="02040503050406030204" pitchFamily="18" charset="0"/>
                <a:ea typeface="Cambria" panose="02040503050406030204" pitchFamily="18" charset="0"/>
              </a:rPr>
              <a:t>("hello"))     # </a:t>
            </a:r>
            <a:r>
              <a:rPr lang="en-US" dirty="0" err="1">
                <a:latin typeface="Cambria" panose="02040503050406030204" pitchFamily="18" charset="0"/>
                <a:ea typeface="Cambria" panose="02040503050406030204" pitchFamily="18" charset="0"/>
              </a:rPr>
              <a:t>len</a:t>
            </a:r>
            <a:r>
              <a:rPr lang="en-US" dirty="0">
                <a:latin typeface="Cambria" panose="02040503050406030204" pitchFamily="18" charset="0"/>
                <a:ea typeface="Cambria" panose="02040503050406030204" pitchFamily="18" charset="0"/>
              </a:rPr>
              <a:t>() is a built-in function</a:t>
            </a:r>
          </a:p>
          <a:p>
            <a:pPr marL="0" indent="0">
              <a:buNone/>
            </a:pPr>
            <a:r>
              <a:rPr lang="en-US" dirty="0">
                <a:latin typeface="Cambria" panose="02040503050406030204" pitchFamily="18" charset="0"/>
                <a:ea typeface="Cambria" panose="02040503050406030204" pitchFamily="18" charset="0"/>
              </a:rPr>
              <a:t>print(type(5))          # type() is also built-in</a:t>
            </a: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79BB5829-E955-AEFB-989D-DEE32FFB585D}"/>
              </a:ext>
            </a:extLst>
          </p:cNvPr>
          <p:cNvSpPr>
            <a:spLocks noChangeArrowheads="1"/>
          </p:cNvSpPr>
          <p:nvPr/>
        </p:nvSpPr>
        <p:spPr bwMode="auto">
          <a:xfrm>
            <a:off x="202130" y="2714324"/>
            <a:ext cx="1181019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User-defined Functions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Created by the user using def.</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def add(a, b):</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return a + b</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print(add(3, 4))   # Output: 7</a:t>
            </a:r>
          </a:p>
        </p:txBody>
      </p:sp>
      <p:sp>
        <p:nvSpPr>
          <p:cNvPr id="5" name="Rectangle 2">
            <a:extLst>
              <a:ext uri="{FF2B5EF4-FFF2-40B4-BE49-F238E27FC236}">
                <a16:creationId xmlns:a16="http://schemas.microsoft.com/office/drawing/2014/main" id="{64DAB907-A8FB-37C5-A053-E047F57841BD}"/>
              </a:ext>
            </a:extLst>
          </p:cNvPr>
          <p:cNvSpPr>
            <a:spLocks noChangeArrowheads="1"/>
          </p:cNvSpPr>
          <p:nvPr/>
        </p:nvSpPr>
        <p:spPr bwMode="auto">
          <a:xfrm>
            <a:off x="190901" y="4657220"/>
            <a:ext cx="1181019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Lambda Functions (Anonymous Functions)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Defined using the lambda keyword.</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Used for small, simple functions.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 name (anonymous).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Cambria" panose="02040503050406030204" pitchFamily="18" charset="0"/>
                <a:ea typeface="Cambria" panose="02040503050406030204" pitchFamily="18" charset="0"/>
              </a:rPr>
              <a:t>Syntax of lambda Function</a:t>
            </a: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lambda arguments: expression</a:t>
            </a:r>
          </a:p>
        </p:txBody>
      </p:sp>
    </p:spTree>
    <p:extLst>
      <p:ext uri="{BB962C8B-B14F-4D97-AF65-F5344CB8AC3E}">
        <p14:creationId xmlns:p14="http://schemas.microsoft.com/office/powerpoint/2010/main" val="30902949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EAD1-40F2-B1B4-6247-D2DEA4C7BCAD}"/>
              </a:ext>
            </a:extLst>
          </p:cNvPr>
          <p:cNvSpPr>
            <a:spLocks noGrp="1"/>
          </p:cNvSpPr>
          <p:nvPr>
            <p:ph type="title"/>
          </p:nvPr>
        </p:nvSpPr>
        <p:spPr>
          <a:xfrm>
            <a:off x="202130" y="142846"/>
            <a:ext cx="11158103" cy="425045"/>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Python Types of Function</a:t>
            </a:r>
          </a:p>
        </p:txBody>
      </p:sp>
      <p:sp>
        <p:nvSpPr>
          <p:cNvPr id="3" name="Content Placeholder 2">
            <a:extLst>
              <a:ext uri="{FF2B5EF4-FFF2-40B4-BE49-F238E27FC236}">
                <a16:creationId xmlns:a16="http://schemas.microsoft.com/office/drawing/2014/main" id="{DB2C3A12-53EF-7F4B-8BE2-2F3F49AEA983}"/>
              </a:ext>
            </a:extLst>
          </p:cNvPr>
          <p:cNvSpPr>
            <a:spLocks noGrp="1"/>
          </p:cNvSpPr>
          <p:nvPr>
            <p:ph idx="1"/>
          </p:nvPr>
        </p:nvSpPr>
        <p:spPr>
          <a:xfrm>
            <a:off x="336901" y="1335403"/>
            <a:ext cx="4273601" cy="888733"/>
          </a:xfrm>
        </p:spPr>
        <p:txBody>
          <a:bodyPr/>
          <a:lstStyle/>
          <a:p>
            <a:pPr marL="0" indent="0">
              <a:buNone/>
            </a:pPr>
            <a:r>
              <a:rPr lang="en-US" dirty="0">
                <a:latin typeface="Cambria" panose="02040503050406030204" pitchFamily="18" charset="0"/>
                <a:ea typeface="Cambria" panose="02040503050406030204" pitchFamily="18" charset="0"/>
              </a:rPr>
              <a:t>square = lambda x: x ** 2</a:t>
            </a:r>
          </a:p>
          <a:p>
            <a:pPr marL="0" indent="0">
              <a:buNone/>
            </a:pPr>
            <a:r>
              <a:rPr lang="en-US" dirty="0">
                <a:latin typeface="Cambria" panose="02040503050406030204" pitchFamily="18" charset="0"/>
                <a:ea typeface="Cambria" panose="02040503050406030204" pitchFamily="18" charset="0"/>
              </a:rPr>
              <a:t>print(square(5))   # Output: 25</a:t>
            </a:r>
          </a:p>
          <a:p>
            <a:endParaRPr lang="en-US"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9E97328A-F5E2-84A8-2C4C-A9C802E8AD39}"/>
              </a:ext>
            </a:extLst>
          </p:cNvPr>
          <p:cNvSpPr txBox="1"/>
          <p:nvPr/>
        </p:nvSpPr>
        <p:spPr>
          <a:xfrm>
            <a:off x="336901" y="2251762"/>
            <a:ext cx="6097604" cy="1754326"/>
          </a:xfrm>
          <a:prstGeom prst="rect">
            <a:avLst/>
          </a:prstGeom>
          <a:noFill/>
        </p:spPr>
        <p:txBody>
          <a:bodyPr wrap="square">
            <a:spAutoFit/>
          </a:bodyPr>
          <a:lstStyle/>
          <a:p>
            <a:r>
              <a:rPr lang="en-US" b="1" dirty="0">
                <a:latin typeface="Cambria" panose="02040503050406030204" pitchFamily="18" charset="0"/>
                <a:ea typeface="Cambria" panose="02040503050406030204" pitchFamily="18" charset="0"/>
              </a:rPr>
              <a:t>Recursive Functions</a:t>
            </a:r>
          </a:p>
          <a:p>
            <a:pPr>
              <a:buFont typeface="Arial" panose="020B0604020202020204" pitchFamily="34" charset="0"/>
              <a:buChar char="•"/>
            </a:pPr>
            <a:r>
              <a:rPr lang="en-US" dirty="0">
                <a:latin typeface="Cambria" panose="02040503050406030204" pitchFamily="18" charset="0"/>
                <a:ea typeface="Cambria" panose="02040503050406030204" pitchFamily="18" charset="0"/>
              </a:rPr>
              <a:t>A function that calls itself.</a:t>
            </a:r>
          </a:p>
          <a:p>
            <a:pPr>
              <a:buFont typeface="Arial" panose="020B0604020202020204" pitchFamily="34" charset="0"/>
              <a:buChar char="•"/>
            </a:pPr>
            <a:r>
              <a:rPr lang="en-US" dirty="0">
                <a:latin typeface="Cambria" panose="02040503050406030204" pitchFamily="18" charset="0"/>
                <a:ea typeface="Cambria" panose="02040503050406030204" pitchFamily="18" charset="0"/>
              </a:rPr>
              <a:t>Used to solve problems that can be broken into smaller, similar problems</a:t>
            </a:r>
          </a:p>
          <a:p>
            <a:pPr>
              <a:buFont typeface="Arial" panose="020B0604020202020204" pitchFamily="34" charset="0"/>
              <a:buChar char="•"/>
            </a:pPr>
            <a:r>
              <a:rPr lang="en-US" dirty="0">
                <a:latin typeface="Cambria" panose="02040503050406030204" pitchFamily="18" charset="0"/>
                <a:ea typeface="Cambria" panose="02040503050406030204" pitchFamily="18" charset="0"/>
              </a:rPr>
              <a:t>Direct Recursion</a:t>
            </a:r>
          </a:p>
          <a:p>
            <a:pPr>
              <a:buFont typeface="Arial" panose="020B0604020202020204" pitchFamily="34" charset="0"/>
              <a:buChar char="•"/>
            </a:pPr>
            <a:r>
              <a:rPr lang="en-US" dirty="0">
                <a:latin typeface="Cambria" panose="02040503050406030204" pitchFamily="18" charset="0"/>
                <a:ea typeface="Cambria" panose="02040503050406030204" pitchFamily="18" charset="0"/>
              </a:rPr>
              <a:t>Indirect Recursion</a:t>
            </a:r>
          </a:p>
        </p:txBody>
      </p:sp>
      <p:sp>
        <p:nvSpPr>
          <p:cNvPr id="7" name="TextBox 6">
            <a:extLst>
              <a:ext uri="{FF2B5EF4-FFF2-40B4-BE49-F238E27FC236}">
                <a16:creationId xmlns:a16="http://schemas.microsoft.com/office/drawing/2014/main" id="{417F9D19-C211-5BDB-FB13-D94886DB556D}"/>
              </a:ext>
            </a:extLst>
          </p:cNvPr>
          <p:cNvSpPr txBox="1"/>
          <p:nvPr/>
        </p:nvSpPr>
        <p:spPr>
          <a:xfrm>
            <a:off x="336901" y="4645434"/>
            <a:ext cx="6097604" cy="1754326"/>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def factorial(n):</a:t>
            </a:r>
          </a:p>
          <a:p>
            <a:r>
              <a:rPr lang="en-US" dirty="0">
                <a:latin typeface="Cambria" panose="02040503050406030204" pitchFamily="18" charset="0"/>
                <a:ea typeface="Cambria" panose="02040503050406030204" pitchFamily="18" charset="0"/>
              </a:rPr>
              <a:t>    if n == 1:</a:t>
            </a:r>
          </a:p>
          <a:p>
            <a:r>
              <a:rPr lang="en-US" dirty="0">
                <a:latin typeface="Cambria" panose="02040503050406030204" pitchFamily="18" charset="0"/>
                <a:ea typeface="Cambria" panose="02040503050406030204" pitchFamily="18" charset="0"/>
              </a:rPr>
              <a:t>        return 1</a:t>
            </a:r>
          </a:p>
          <a:p>
            <a:r>
              <a:rPr lang="en-US" dirty="0">
                <a:latin typeface="Cambria" panose="02040503050406030204" pitchFamily="18" charset="0"/>
                <a:ea typeface="Cambria" panose="02040503050406030204" pitchFamily="18" charset="0"/>
              </a:rPr>
              <a:t>    return n * factorial(n - 1)</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print(factorial(5))   # Output: 120</a:t>
            </a:r>
          </a:p>
        </p:txBody>
      </p:sp>
    </p:spTree>
    <p:extLst>
      <p:ext uri="{BB962C8B-B14F-4D97-AF65-F5344CB8AC3E}">
        <p14:creationId xmlns:p14="http://schemas.microsoft.com/office/powerpoint/2010/main" val="42255949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E03BD-3B85-1A68-EB29-193E88D6272C}"/>
              </a:ext>
            </a:extLst>
          </p:cNvPr>
          <p:cNvSpPr>
            <a:spLocks noGrp="1"/>
          </p:cNvSpPr>
          <p:nvPr>
            <p:ph type="title"/>
          </p:nvPr>
        </p:nvSpPr>
        <p:spPr>
          <a:xfrm>
            <a:off x="167359" y="0"/>
            <a:ext cx="8911687" cy="356135"/>
          </a:xfrm>
        </p:spPr>
        <p:txBody>
          <a:bodyPr>
            <a:normAutofit fontScale="90000"/>
          </a:bodyPr>
          <a:lstStyle/>
          <a:p>
            <a:r>
              <a:rPr lang="en-US" sz="2400" b="1" dirty="0">
                <a:solidFill>
                  <a:srgbClr val="FF0000"/>
                </a:solidFill>
                <a:latin typeface="Cambria" panose="02040503050406030204" pitchFamily="18" charset="0"/>
                <a:ea typeface="Cambria" panose="02040503050406030204" pitchFamily="18" charset="0"/>
              </a:rPr>
              <a:t>Python lambda function&amp; filter and map</a:t>
            </a:r>
            <a:br>
              <a:rPr lang="en-US" sz="2400" b="1" dirty="0">
                <a:solidFill>
                  <a:srgbClr val="FF0000"/>
                </a:solidFill>
                <a:latin typeface="Cambria" panose="02040503050406030204" pitchFamily="18" charset="0"/>
                <a:ea typeface="Cambria" panose="02040503050406030204" pitchFamily="18" charset="0"/>
              </a:rPr>
            </a:br>
            <a:endParaRPr lang="en-US" sz="2400" b="1" dirty="0">
              <a:solidFill>
                <a:srgbClr val="FF0000"/>
              </a:solidFill>
            </a:endParaRPr>
          </a:p>
        </p:txBody>
      </p:sp>
      <p:sp>
        <p:nvSpPr>
          <p:cNvPr id="4" name="Rectangle 1">
            <a:extLst>
              <a:ext uri="{FF2B5EF4-FFF2-40B4-BE49-F238E27FC236}">
                <a16:creationId xmlns:a16="http://schemas.microsoft.com/office/drawing/2014/main" id="{9205E718-0CA8-B485-878C-2674A5EB8EF7}"/>
              </a:ext>
            </a:extLst>
          </p:cNvPr>
          <p:cNvSpPr>
            <a:spLocks noGrp="1" noChangeArrowheads="1"/>
          </p:cNvSpPr>
          <p:nvPr>
            <p:ph idx="1"/>
          </p:nvPr>
        </p:nvSpPr>
        <p:spPr bwMode="auto">
          <a:xfrm>
            <a:off x="302112" y="739011"/>
            <a:ext cx="1114847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map() in Python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map() function applies a given function to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each item</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of an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iterable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(like a list or tuple) and returns a new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iterable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 map object).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Takes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two arguments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 function and an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iterable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Returns a map object (which is an iterator).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You usually convert the result to a list or tuple using list() or tuple().</a:t>
            </a:r>
          </a:p>
        </p:txBody>
      </p:sp>
      <p:sp>
        <p:nvSpPr>
          <p:cNvPr id="6" name="TextBox 5">
            <a:extLst>
              <a:ext uri="{FF2B5EF4-FFF2-40B4-BE49-F238E27FC236}">
                <a16:creationId xmlns:a16="http://schemas.microsoft.com/office/drawing/2014/main" id="{0BBC8A7C-A184-85E2-9626-2E1702206B07}"/>
              </a:ext>
            </a:extLst>
          </p:cNvPr>
          <p:cNvSpPr txBox="1"/>
          <p:nvPr/>
        </p:nvSpPr>
        <p:spPr>
          <a:xfrm>
            <a:off x="302111" y="3533667"/>
            <a:ext cx="10218301" cy="2862322"/>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 Function to square a number</a:t>
            </a:r>
          </a:p>
          <a:p>
            <a:r>
              <a:rPr lang="en-US" dirty="0">
                <a:latin typeface="Cambria" panose="02040503050406030204" pitchFamily="18" charset="0"/>
                <a:ea typeface="Cambria" panose="02040503050406030204" pitchFamily="18" charset="0"/>
              </a:rPr>
              <a:t>def square(n):</a:t>
            </a:r>
          </a:p>
          <a:p>
            <a:r>
              <a:rPr lang="en-US" dirty="0">
                <a:latin typeface="Cambria" panose="02040503050406030204" pitchFamily="18" charset="0"/>
                <a:ea typeface="Cambria" panose="02040503050406030204" pitchFamily="18" charset="0"/>
              </a:rPr>
              <a:t>    return n * n</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numbers = [1, 2, 3, 4, 5]</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Apply the square function to all items in the list</a:t>
            </a:r>
          </a:p>
          <a:p>
            <a:r>
              <a:rPr lang="en-US" dirty="0">
                <a:latin typeface="Cambria" panose="02040503050406030204" pitchFamily="18" charset="0"/>
                <a:ea typeface="Cambria" panose="02040503050406030204" pitchFamily="18" charset="0"/>
              </a:rPr>
              <a:t>squared = map(square, numbers)</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print(list(squared))  # Output: [1, 4, 9, 16, 25]</a:t>
            </a:r>
          </a:p>
        </p:txBody>
      </p:sp>
    </p:spTree>
    <p:extLst>
      <p:ext uri="{BB962C8B-B14F-4D97-AF65-F5344CB8AC3E}">
        <p14:creationId xmlns:p14="http://schemas.microsoft.com/office/powerpoint/2010/main" val="20950631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DA5B8F1-7009-19D6-BB47-4E510B40F1C2}"/>
              </a:ext>
            </a:extLst>
          </p:cNvPr>
          <p:cNvSpPr>
            <a:spLocks noGrp="1" noChangeArrowheads="1"/>
          </p:cNvSpPr>
          <p:nvPr>
            <p:ph idx="1"/>
          </p:nvPr>
        </p:nvSpPr>
        <p:spPr bwMode="auto">
          <a:xfrm>
            <a:off x="221396" y="0"/>
            <a:ext cx="1076666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filter() in 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filter() function constructs an iterator from elements of an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iterable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for which a function returns True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Also takes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two arguments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 function and an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iterable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Filters the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iterable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based on the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truth value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returned by the function.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Returns a filter object (which is an iterator).</a:t>
            </a:r>
          </a:p>
        </p:txBody>
      </p:sp>
      <p:sp>
        <p:nvSpPr>
          <p:cNvPr id="6" name="TextBox 5">
            <a:extLst>
              <a:ext uri="{FF2B5EF4-FFF2-40B4-BE49-F238E27FC236}">
                <a16:creationId xmlns:a16="http://schemas.microsoft.com/office/drawing/2014/main" id="{80210E9E-9518-51A5-3617-7FCC2703B2DB}"/>
              </a:ext>
            </a:extLst>
          </p:cNvPr>
          <p:cNvSpPr txBox="1"/>
          <p:nvPr/>
        </p:nvSpPr>
        <p:spPr>
          <a:xfrm>
            <a:off x="221396" y="2110834"/>
            <a:ext cx="10051181" cy="2308324"/>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 Function to check if a number is even</a:t>
            </a:r>
          </a:p>
          <a:p>
            <a:r>
              <a:rPr lang="en-US" dirty="0">
                <a:latin typeface="Cambria" panose="02040503050406030204" pitchFamily="18" charset="0"/>
                <a:ea typeface="Cambria" panose="02040503050406030204" pitchFamily="18" charset="0"/>
              </a:rPr>
              <a:t>def </a:t>
            </a:r>
            <a:r>
              <a:rPr lang="en-US" dirty="0" err="1">
                <a:latin typeface="Cambria" panose="02040503050406030204" pitchFamily="18" charset="0"/>
                <a:ea typeface="Cambria" panose="02040503050406030204" pitchFamily="18" charset="0"/>
              </a:rPr>
              <a:t>is_even</a:t>
            </a:r>
            <a:r>
              <a:rPr lang="en-US" dirty="0">
                <a:latin typeface="Cambria" panose="02040503050406030204" pitchFamily="18" charset="0"/>
                <a:ea typeface="Cambria" panose="02040503050406030204" pitchFamily="18" charset="0"/>
              </a:rPr>
              <a:t>(n):</a:t>
            </a:r>
          </a:p>
          <a:p>
            <a:r>
              <a:rPr lang="en-US" dirty="0">
                <a:latin typeface="Cambria" panose="02040503050406030204" pitchFamily="18" charset="0"/>
                <a:ea typeface="Cambria" panose="02040503050406030204" pitchFamily="18" charset="0"/>
              </a:rPr>
              <a:t>    return n % 2 == 0</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numbers = [1, 2, 3, 4, 5, 6]</a:t>
            </a:r>
          </a:p>
          <a:p>
            <a:r>
              <a:rPr lang="en-US" dirty="0">
                <a:latin typeface="Cambria" panose="02040503050406030204" pitchFamily="18" charset="0"/>
                <a:ea typeface="Cambria" panose="02040503050406030204" pitchFamily="18" charset="0"/>
              </a:rPr>
              <a:t># Filter only even numbers</a:t>
            </a:r>
          </a:p>
          <a:p>
            <a:r>
              <a:rPr lang="en-US" dirty="0" err="1">
                <a:latin typeface="Cambria" panose="02040503050406030204" pitchFamily="18" charset="0"/>
                <a:ea typeface="Cambria" panose="02040503050406030204" pitchFamily="18" charset="0"/>
              </a:rPr>
              <a:t>even_numbers</a:t>
            </a:r>
            <a:r>
              <a:rPr lang="en-US" dirty="0">
                <a:latin typeface="Cambria" panose="02040503050406030204" pitchFamily="18" charset="0"/>
                <a:ea typeface="Cambria" panose="02040503050406030204" pitchFamily="18" charset="0"/>
              </a:rPr>
              <a:t> = filter(</a:t>
            </a:r>
            <a:r>
              <a:rPr lang="en-US" dirty="0" err="1">
                <a:latin typeface="Cambria" panose="02040503050406030204" pitchFamily="18" charset="0"/>
                <a:ea typeface="Cambria" panose="02040503050406030204" pitchFamily="18" charset="0"/>
              </a:rPr>
              <a:t>is_even</a:t>
            </a:r>
            <a:r>
              <a:rPr lang="en-US" dirty="0">
                <a:latin typeface="Cambria" panose="02040503050406030204" pitchFamily="18" charset="0"/>
                <a:ea typeface="Cambria" panose="02040503050406030204" pitchFamily="18" charset="0"/>
              </a:rPr>
              <a:t>, numbers)</a:t>
            </a:r>
          </a:p>
          <a:p>
            <a:r>
              <a:rPr lang="en-US" dirty="0">
                <a:latin typeface="Cambria" panose="02040503050406030204" pitchFamily="18" charset="0"/>
                <a:ea typeface="Cambria" panose="02040503050406030204" pitchFamily="18" charset="0"/>
              </a:rPr>
              <a:t>print(list(</a:t>
            </a:r>
            <a:r>
              <a:rPr lang="en-US" dirty="0" err="1">
                <a:latin typeface="Cambria" panose="02040503050406030204" pitchFamily="18" charset="0"/>
                <a:ea typeface="Cambria" panose="02040503050406030204" pitchFamily="18" charset="0"/>
              </a:rPr>
              <a:t>even_numbers</a:t>
            </a:r>
            <a:r>
              <a:rPr lang="en-US" dirty="0">
                <a:latin typeface="Cambria" panose="02040503050406030204" pitchFamily="18" charset="0"/>
                <a:ea typeface="Cambria" panose="02040503050406030204" pitchFamily="18" charset="0"/>
              </a:rPr>
              <a:t>))  # Output: [2, 4, 6]</a:t>
            </a:r>
          </a:p>
        </p:txBody>
      </p:sp>
      <p:graphicFrame>
        <p:nvGraphicFramePr>
          <p:cNvPr id="7" name="Table 6">
            <a:extLst>
              <a:ext uri="{FF2B5EF4-FFF2-40B4-BE49-F238E27FC236}">
                <a16:creationId xmlns:a16="http://schemas.microsoft.com/office/drawing/2014/main" id="{92F62960-98F7-5411-56CF-3E3AFDFA21F1}"/>
              </a:ext>
            </a:extLst>
          </p:cNvPr>
          <p:cNvGraphicFramePr>
            <a:graphicFrameLocks noGrp="1"/>
          </p:cNvGraphicFramePr>
          <p:nvPr>
            <p:extLst>
              <p:ext uri="{D42A27DB-BD31-4B8C-83A1-F6EECF244321}">
                <p14:modId xmlns:p14="http://schemas.microsoft.com/office/powerpoint/2010/main" val="1405360328"/>
              </p:ext>
            </p:extLst>
          </p:nvPr>
        </p:nvGraphicFramePr>
        <p:xfrm>
          <a:off x="221396" y="4498668"/>
          <a:ext cx="11896809" cy="2239015"/>
        </p:xfrm>
        <a:graphic>
          <a:graphicData uri="http://schemas.openxmlformats.org/drawingml/2006/table">
            <a:tbl>
              <a:tblPr/>
              <a:tblGrid>
                <a:gridCol w="3965603">
                  <a:extLst>
                    <a:ext uri="{9D8B030D-6E8A-4147-A177-3AD203B41FA5}">
                      <a16:colId xmlns:a16="http://schemas.microsoft.com/office/drawing/2014/main" val="2395000212"/>
                    </a:ext>
                  </a:extLst>
                </a:gridCol>
                <a:gridCol w="3965603">
                  <a:extLst>
                    <a:ext uri="{9D8B030D-6E8A-4147-A177-3AD203B41FA5}">
                      <a16:colId xmlns:a16="http://schemas.microsoft.com/office/drawing/2014/main" val="3686277210"/>
                    </a:ext>
                  </a:extLst>
                </a:gridCol>
                <a:gridCol w="3965603">
                  <a:extLst>
                    <a:ext uri="{9D8B030D-6E8A-4147-A177-3AD203B41FA5}">
                      <a16:colId xmlns:a16="http://schemas.microsoft.com/office/drawing/2014/main" val="3697095871"/>
                    </a:ext>
                  </a:extLst>
                </a:gridCol>
              </a:tblGrid>
              <a:tr h="415817">
                <a:tc>
                  <a:txBody>
                    <a:bodyPr/>
                    <a:lstStyle/>
                    <a:p>
                      <a:pPr algn="ctr"/>
                      <a:r>
                        <a:rPr lang="en-US" sz="2000" b="1" i="0" dirty="0">
                          <a:solidFill>
                            <a:srgbClr val="FF0000"/>
                          </a:solidFill>
                          <a:latin typeface="Cambria" panose="02040503050406030204" pitchFamily="18" charset="0"/>
                          <a:ea typeface="Cambria" panose="02040503050406030204" pitchFamily="18" charset="0"/>
                        </a:rPr>
                        <a:t>Feature</a:t>
                      </a:r>
                    </a:p>
                  </a:txBody>
                  <a:tcPr anchor="ctr">
                    <a:lnL>
                      <a:noFill/>
                    </a:lnL>
                    <a:lnR>
                      <a:noFill/>
                    </a:lnR>
                    <a:lnT>
                      <a:noFill/>
                    </a:lnT>
                    <a:lnB>
                      <a:noFill/>
                    </a:lnB>
                    <a:solidFill>
                      <a:schemeClr val="accent3">
                        <a:lumMod val="60000"/>
                        <a:lumOff val="40000"/>
                      </a:schemeClr>
                    </a:solidFill>
                  </a:tcPr>
                </a:tc>
                <a:tc>
                  <a:txBody>
                    <a:bodyPr/>
                    <a:lstStyle/>
                    <a:p>
                      <a:pPr algn="ctr"/>
                      <a:r>
                        <a:rPr lang="en-US" sz="2000" b="1" i="0">
                          <a:solidFill>
                            <a:srgbClr val="FF0000"/>
                          </a:solidFill>
                          <a:latin typeface="Cambria" panose="02040503050406030204" pitchFamily="18" charset="0"/>
                          <a:ea typeface="Cambria" panose="02040503050406030204" pitchFamily="18" charset="0"/>
                        </a:rPr>
                        <a:t>map()</a:t>
                      </a:r>
                    </a:p>
                  </a:txBody>
                  <a:tcPr anchor="ctr">
                    <a:lnL>
                      <a:noFill/>
                    </a:lnL>
                    <a:lnR>
                      <a:noFill/>
                    </a:lnR>
                    <a:lnT>
                      <a:noFill/>
                    </a:lnT>
                    <a:lnB>
                      <a:noFill/>
                    </a:lnB>
                    <a:solidFill>
                      <a:schemeClr val="accent3">
                        <a:lumMod val="60000"/>
                        <a:lumOff val="40000"/>
                      </a:schemeClr>
                    </a:solidFill>
                  </a:tcPr>
                </a:tc>
                <a:tc>
                  <a:txBody>
                    <a:bodyPr/>
                    <a:lstStyle/>
                    <a:p>
                      <a:pPr algn="ctr"/>
                      <a:r>
                        <a:rPr lang="en-US" sz="2000" b="1" i="0" dirty="0">
                          <a:solidFill>
                            <a:srgbClr val="FF0000"/>
                          </a:solidFill>
                          <a:latin typeface="Cambria" panose="02040503050406030204" pitchFamily="18" charset="0"/>
                          <a:ea typeface="Cambria" panose="02040503050406030204" pitchFamily="18" charset="0"/>
                        </a:rPr>
                        <a:t>filter()</a:t>
                      </a:r>
                    </a:p>
                  </a:txBody>
                  <a:tcPr anchor="ctr">
                    <a:lnL>
                      <a:noFill/>
                    </a:lnL>
                    <a:lnR>
                      <a:noFill/>
                    </a:lnR>
                    <a:lnT>
                      <a:noFill/>
                    </a:lnT>
                    <a:lnB>
                      <a:noFill/>
                    </a:lnB>
                    <a:solidFill>
                      <a:schemeClr val="accent3">
                        <a:lumMod val="60000"/>
                        <a:lumOff val="40000"/>
                      </a:schemeClr>
                    </a:solidFill>
                  </a:tcPr>
                </a:tc>
                <a:extLst>
                  <a:ext uri="{0D108BD9-81ED-4DB2-BD59-A6C34878D82A}">
                    <a16:rowId xmlns:a16="http://schemas.microsoft.com/office/drawing/2014/main" val="1208242365"/>
                  </a:ext>
                </a:extLst>
              </a:tr>
              <a:tr h="671705">
                <a:tc>
                  <a:txBody>
                    <a:bodyPr/>
                    <a:lstStyle/>
                    <a:p>
                      <a:r>
                        <a:rPr lang="en-US">
                          <a:latin typeface="Cambria" panose="02040503050406030204" pitchFamily="18" charset="0"/>
                          <a:ea typeface="Cambria" panose="02040503050406030204" pitchFamily="18" charset="0"/>
                        </a:rPr>
                        <a:t>Purpose</a:t>
                      </a:r>
                    </a:p>
                  </a:txBody>
                  <a:tcPr anchor="ctr">
                    <a:lnL>
                      <a:noFill/>
                    </a:lnL>
                    <a:lnR>
                      <a:noFill/>
                    </a:lnR>
                    <a:lnT>
                      <a:noFill/>
                    </a:lnT>
                    <a:lnB>
                      <a:noFill/>
                    </a:lnB>
                    <a:noFill/>
                  </a:tcPr>
                </a:tc>
                <a:tc>
                  <a:txBody>
                    <a:bodyPr/>
                    <a:lstStyle/>
                    <a:p>
                      <a:r>
                        <a:rPr lang="en-US" dirty="0">
                          <a:latin typeface="Cambria" panose="02040503050406030204" pitchFamily="18" charset="0"/>
                          <a:ea typeface="Cambria" panose="02040503050406030204" pitchFamily="18" charset="0"/>
                        </a:rPr>
                        <a:t>Transform each item</a:t>
                      </a: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Select items that meet a condition</a:t>
                      </a:r>
                    </a:p>
                  </a:txBody>
                  <a:tcPr anchor="ctr">
                    <a:lnL>
                      <a:noFill/>
                    </a:lnL>
                    <a:lnR>
                      <a:noFill/>
                    </a:lnR>
                    <a:lnT>
                      <a:noFill/>
                    </a:lnT>
                    <a:lnB>
                      <a:noFill/>
                    </a:lnB>
                    <a:noFill/>
                  </a:tcPr>
                </a:tc>
                <a:extLst>
                  <a:ext uri="{0D108BD9-81ED-4DB2-BD59-A6C34878D82A}">
                    <a16:rowId xmlns:a16="http://schemas.microsoft.com/office/drawing/2014/main" val="583181638"/>
                  </a:ext>
                </a:extLst>
              </a:tr>
              <a:tr h="383831">
                <a:tc>
                  <a:txBody>
                    <a:bodyPr/>
                    <a:lstStyle/>
                    <a:p>
                      <a:r>
                        <a:rPr lang="en-US">
                          <a:latin typeface="Cambria" panose="02040503050406030204" pitchFamily="18" charset="0"/>
                          <a:ea typeface="Cambria" panose="02040503050406030204" pitchFamily="18" charset="0"/>
                        </a:rPr>
                        <a:t>Returns</a:t>
                      </a: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Transformed items</a:t>
                      </a: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Filtered (selected) items</a:t>
                      </a:r>
                    </a:p>
                  </a:txBody>
                  <a:tcPr anchor="ctr">
                    <a:lnL>
                      <a:noFill/>
                    </a:lnL>
                    <a:lnR>
                      <a:noFill/>
                    </a:lnR>
                    <a:lnT>
                      <a:noFill/>
                    </a:lnT>
                    <a:lnB>
                      <a:noFill/>
                    </a:lnB>
                    <a:noFill/>
                  </a:tcPr>
                </a:tc>
                <a:extLst>
                  <a:ext uri="{0D108BD9-81ED-4DB2-BD59-A6C34878D82A}">
                    <a16:rowId xmlns:a16="http://schemas.microsoft.com/office/drawing/2014/main" val="3577599944"/>
                  </a:ext>
                </a:extLst>
              </a:tr>
              <a:tr h="383831">
                <a:tc>
                  <a:txBody>
                    <a:bodyPr/>
                    <a:lstStyle/>
                    <a:p>
                      <a:r>
                        <a:rPr lang="en-US">
                          <a:latin typeface="Cambria" panose="02040503050406030204" pitchFamily="18" charset="0"/>
                          <a:ea typeface="Cambria" panose="02040503050406030204" pitchFamily="18" charset="0"/>
                        </a:rPr>
                        <a:t>Function must</a:t>
                      </a: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Return transformed value</a:t>
                      </a: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Return True or False</a:t>
                      </a:r>
                    </a:p>
                  </a:txBody>
                  <a:tcPr anchor="ctr">
                    <a:lnL>
                      <a:noFill/>
                    </a:lnL>
                    <a:lnR>
                      <a:noFill/>
                    </a:lnR>
                    <a:lnT>
                      <a:noFill/>
                    </a:lnT>
                    <a:lnB>
                      <a:noFill/>
                    </a:lnB>
                    <a:noFill/>
                  </a:tcPr>
                </a:tc>
                <a:extLst>
                  <a:ext uri="{0D108BD9-81ED-4DB2-BD59-A6C34878D82A}">
                    <a16:rowId xmlns:a16="http://schemas.microsoft.com/office/drawing/2014/main" val="28325964"/>
                  </a:ext>
                </a:extLst>
              </a:tr>
              <a:tr h="383831">
                <a:tc>
                  <a:txBody>
                    <a:bodyPr/>
                    <a:lstStyle/>
                    <a:p>
                      <a:r>
                        <a:rPr lang="en-US">
                          <a:latin typeface="Cambria" panose="02040503050406030204" pitchFamily="18" charset="0"/>
                          <a:ea typeface="Cambria" panose="02040503050406030204" pitchFamily="18" charset="0"/>
                        </a:rPr>
                        <a:t>Example usage</a:t>
                      </a: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map(square, list)</a:t>
                      </a:r>
                    </a:p>
                  </a:txBody>
                  <a:tcPr anchor="ctr">
                    <a:lnL>
                      <a:noFill/>
                    </a:lnL>
                    <a:lnR>
                      <a:noFill/>
                    </a:lnR>
                    <a:lnT>
                      <a:noFill/>
                    </a:lnT>
                    <a:lnB>
                      <a:noFill/>
                    </a:lnB>
                    <a:noFill/>
                  </a:tcPr>
                </a:tc>
                <a:tc>
                  <a:txBody>
                    <a:bodyPr/>
                    <a:lstStyle/>
                    <a:p>
                      <a:r>
                        <a:rPr lang="en-US" dirty="0">
                          <a:latin typeface="Cambria" panose="02040503050406030204" pitchFamily="18" charset="0"/>
                          <a:ea typeface="Cambria" panose="02040503050406030204" pitchFamily="18" charset="0"/>
                        </a:rPr>
                        <a:t>filter(</a:t>
                      </a:r>
                      <a:r>
                        <a:rPr lang="en-US" dirty="0" err="1">
                          <a:latin typeface="Cambria" panose="02040503050406030204" pitchFamily="18" charset="0"/>
                          <a:ea typeface="Cambria" panose="02040503050406030204" pitchFamily="18" charset="0"/>
                        </a:rPr>
                        <a:t>is_even</a:t>
                      </a:r>
                      <a:r>
                        <a:rPr lang="en-US" dirty="0">
                          <a:latin typeface="Cambria" panose="02040503050406030204" pitchFamily="18" charset="0"/>
                          <a:ea typeface="Cambria" panose="02040503050406030204" pitchFamily="18" charset="0"/>
                        </a:rPr>
                        <a:t>, list)</a:t>
                      </a:r>
                    </a:p>
                  </a:txBody>
                  <a:tcPr anchor="ctr">
                    <a:lnL>
                      <a:noFill/>
                    </a:lnL>
                    <a:lnR>
                      <a:noFill/>
                    </a:lnR>
                    <a:lnT>
                      <a:noFill/>
                    </a:lnT>
                    <a:lnB>
                      <a:noFill/>
                    </a:lnB>
                    <a:noFill/>
                  </a:tcPr>
                </a:tc>
                <a:extLst>
                  <a:ext uri="{0D108BD9-81ED-4DB2-BD59-A6C34878D82A}">
                    <a16:rowId xmlns:a16="http://schemas.microsoft.com/office/drawing/2014/main" val="729984850"/>
                  </a:ext>
                </a:extLst>
              </a:tr>
            </a:tbl>
          </a:graphicData>
        </a:graphic>
      </p:graphicFrame>
    </p:spTree>
    <p:extLst>
      <p:ext uri="{BB962C8B-B14F-4D97-AF65-F5344CB8AC3E}">
        <p14:creationId xmlns:p14="http://schemas.microsoft.com/office/powerpoint/2010/main" val="15699548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9416-BFF1-2E35-6C5B-7F139785F9BB}"/>
              </a:ext>
            </a:extLst>
          </p:cNvPr>
          <p:cNvSpPr>
            <a:spLocks noGrp="1"/>
          </p:cNvSpPr>
          <p:nvPr>
            <p:ph type="title"/>
          </p:nvPr>
        </p:nvSpPr>
        <p:spPr>
          <a:xfrm>
            <a:off x="186609" y="75470"/>
            <a:ext cx="11912347" cy="453919"/>
          </a:xfrm>
        </p:spPr>
        <p:txBody>
          <a:bodyPr>
            <a:normAutofit fontScale="90000"/>
          </a:bodyPr>
          <a:lstStyle/>
          <a:p>
            <a:r>
              <a:rPr lang="en-US" sz="2400" b="1" dirty="0">
                <a:solidFill>
                  <a:srgbClr val="FF0000"/>
                </a:solidFill>
              </a:rPr>
              <a:t>Python String and its method use</a:t>
            </a:r>
          </a:p>
        </p:txBody>
      </p:sp>
      <p:sp>
        <p:nvSpPr>
          <p:cNvPr id="3" name="Content Placeholder 2">
            <a:extLst>
              <a:ext uri="{FF2B5EF4-FFF2-40B4-BE49-F238E27FC236}">
                <a16:creationId xmlns:a16="http://schemas.microsoft.com/office/drawing/2014/main" id="{ACF4EB81-B9ED-C220-82EE-CB43263FB5A3}"/>
              </a:ext>
            </a:extLst>
          </p:cNvPr>
          <p:cNvSpPr>
            <a:spLocks noGrp="1"/>
          </p:cNvSpPr>
          <p:nvPr>
            <p:ph idx="1"/>
          </p:nvPr>
        </p:nvSpPr>
        <p:spPr>
          <a:xfrm>
            <a:off x="294006" y="2072828"/>
            <a:ext cx="11516191" cy="2598099"/>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Text Handling</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Strings are used to handle textual data (e.g., names, messages, input).</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 Storage &amp; Display</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Used in storing and displaying information in applications.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Immutable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String values cannot be modified after creation; operations return new strings.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Indexing &amp; Slicing</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Individual characters can be accessed using index positions.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String Methods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Python offers many built-in methods to manipulate strings easily.</a:t>
            </a:r>
            <a:endParaRPr lang="en-US" dirty="0">
              <a:latin typeface="Cambria" panose="02040503050406030204" pitchFamily="18" charset="0"/>
              <a:ea typeface="Cambria" panose="02040503050406030204" pitchFamily="18" charset="0"/>
            </a:endParaRPr>
          </a:p>
        </p:txBody>
      </p:sp>
      <p:sp>
        <p:nvSpPr>
          <p:cNvPr id="7" name="Rectangle 4">
            <a:extLst>
              <a:ext uri="{FF2B5EF4-FFF2-40B4-BE49-F238E27FC236}">
                <a16:creationId xmlns:a16="http://schemas.microsoft.com/office/drawing/2014/main" id="{6526F74D-E87E-5AB4-13C1-3987453529B9}"/>
              </a:ext>
            </a:extLst>
          </p:cNvPr>
          <p:cNvSpPr>
            <a:spLocks noChangeArrowheads="1"/>
          </p:cNvSpPr>
          <p:nvPr/>
        </p:nvSpPr>
        <p:spPr bwMode="auto">
          <a:xfrm>
            <a:off x="315955" y="1170448"/>
            <a:ext cx="117830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string</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in Python is a sequence of characters enclosed within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single (' ')</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double (" ")</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or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triple quotes (''' ''' or """ """)</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Strings are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immutable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meaning they cannot be changed after creation.</a:t>
            </a:r>
          </a:p>
        </p:txBody>
      </p:sp>
      <p:sp>
        <p:nvSpPr>
          <p:cNvPr id="11" name="TextBox 10">
            <a:extLst>
              <a:ext uri="{FF2B5EF4-FFF2-40B4-BE49-F238E27FC236}">
                <a16:creationId xmlns:a16="http://schemas.microsoft.com/office/drawing/2014/main" id="{3A402F74-0E3D-D03E-AB05-47D3B5038905}"/>
              </a:ext>
            </a:extLst>
          </p:cNvPr>
          <p:cNvSpPr txBox="1"/>
          <p:nvPr/>
        </p:nvSpPr>
        <p:spPr>
          <a:xfrm>
            <a:off x="315955" y="4926976"/>
            <a:ext cx="6097604" cy="1754326"/>
          </a:xfrm>
          <a:prstGeom prst="rect">
            <a:avLst/>
          </a:prstGeom>
          <a:noFill/>
        </p:spPr>
        <p:txBody>
          <a:bodyPr wrap="square">
            <a:spAutoFit/>
          </a:bodyPr>
          <a:lstStyle/>
          <a:p>
            <a:r>
              <a:rPr lang="en-US" b="1" u="sng" dirty="0">
                <a:latin typeface="Cambria" panose="02040503050406030204" pitchFamily="18" charset="0"/>
                <a:ea typeface="Cambria" panose="02040503050406030204" pitchFamily="18" charset="0"/>
              </a:rPr>
              <a:t>Examples of Python Strings</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name = "Alice"</a:t>
            </a:r>
          </a:p>
          <a:p>
            <a:r>
              <a:rPr lang="en-US" dirty="0">
                <a:latin typeface="Cambria" panose="02040503050406030204" pitchFamily="18" charset="0"/>
                <a:ea typeface="Cambria" panose="02040503050406030204" pitchFamily="18" charset="0"/>
              </a:rPr>
              <a:t>message = 'Welcome to Python!'</a:t>
            </a:r>
          </a:p>
          <a:p>
            <a:r>
              <a:rPr lang="en-US" dirty="0">
                <a:latin typeface="Cambria" panose="02040503050406030204" pitchFamily="18" charset="0"/>
                <a:ea typeface="Cambria" panose="02040503050406030204" pitchFamily="18" charset="0"/>
              </a:rPr>
              <a:t>multiline = """This is</a:t>
            </a:r>
          </a:p>
          <a:p>
            <a:r>
              <a:rPr lang="en-US" dirty="0">
                <a:latin typeface="Cambria" panose="02040503050406030204" pitchFamily="18" charset="0"/>
                <a:ea typeface="Cambria" panose="02040503050406030204" pitchFamily="18" charset="0"/>
              </a:rPr>
              <a:t>a multiline string."""</a:t>
            </a:r>
          </a:p>
        </p:txBody>
      </p:sp>
    </p:spTree>
    <p:extLst>
      <p:ext uri="{BB962C8B-B14F-4D97-AF65-F5344CB8AC3E}">
        <p14:creationId xmlns:p14="http://schemas.microsoft.com/office/powerpoint/2010/main" val="31773849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FE04588-B252-30A0-8F59-D9745B76815B}"/>
              </a:ext>
            </a:extLst>
          </p:cNvPr>
          <p:cNvGraphicFramePr>
            <a:graphicFrameLocks noGrp="1"/>
          </p:cNvGraphicFramePr>
          <p:nvPr>
            <p:ph idx="1"/>
            <p:extLst>
              <p:ext uri="{D42A27DB-BD31-4B8C-83A1-F6EECF244321}">
                <p14:modId xmlns:p14="http://schemas.microsoft.com/office/powerpoint/2010/main" val="2633366397"/>
              </p:ext>
            </p:extLst>
          </p:nvPr>
        </p:nvGraphicFramePr>
        <p:xfrm>
          <a:off x="279133" y="105878"/>
          <a:ext cx="11829448" cy="6730144"/>
        </p:xfrm>
        <a:graphic>
          <a:graphicData uri="http://schemas.openxmlformats.org/drawingml/2006/table">
            <a:tbl>
              <a:tblPr/>
              <a:tblGrid>
                <a:gridCol w="1694046">
                  <a:extLst>
                    <a:ext uri="{9D8B030D-6E8A-4147-A177-3AD203B41FA5}">
                      <a16:colId xmlns:a16="http://schemas.microsoft.com/office/drawing/2014/main" val="3045934001"/>
                    </a:ext>
                  </a:extLst>
                </a:gridCol>
                <a:gridCol w="5188017">
                  <a:extLst>
                    <a:ext uri="{9D8B030D-6E8A-4147-A177-3AD203B41FA5}">
                      <a16:colId xmlns:a16="http://schemas.microsoft.com/office/drawing/2014/main" val="332460374"/>
                    </a:ext>
                  </a:extLst>
                </a:gridCol>
                <a:gridCol w="3263365">
                  <a:extLst>
                    <a:ext uri="{9D8B030D-6E8A-4147-A177-3AD203B41FA5}">
                      <a16:colId xmlns:a16="http://schemas.microsoft.com/office/drawing/2014/main" val="269859264"/>
                    </a:ext>
                  </a:extLst>
                </a:gridCol>
                <a:gridCol w="1684020">
                  <a:extLst>
                    <a:ext uri="{9D8B030D-6E8A-4147-A177-3AD203B41FA5}">
                      <a16:colId xmlns:a16="http://schemas.microsoft.com/office/drawing/2014/main" val="3168831515"/>
                    </a:ext>
                  </a:extLst>
                </a:gridCol>
              </a:tblGrid>
              <a:tr h="343360">
                <a:tc>
                  <a:txBody>
                    <a:bodyPr/>
                    <a:lstStyle/>
                    <a:p>
                      <a:pPr algn="ctr"/>
                      <a:r>
                        <a:rPr lang="en-US" sz="1800" b="1" dirty="0">
                          <a:solidFill>
                            <a:srgbClr val="FF0000"/>
                          </a:solidFill>
                          <a:latin typeface="Cambria" panose="02040503050406030204" pitchFamily="18" charset="0"/>
                          <a:ea typeface="Cambria" panose="02040503050406030204" pitchFamily="18" charset="0"/>
                        </a:rPr>
                        <a:t>Method</a:t>
                      </a:r>
                    </a:p>
                  </a:txBody>
                  <a:tcPr marL="25188" marR="25188" marT="12594" marB="12594" anchor="ctr">
                    <a:lnL>
                      <a:noFill/>
                    </a:lnL>
                    <a:lnR>
                      <a:noFill/>
                    </a:lnR>
                    <a:lnT>
                      <a:noFill/>
                    </a:lnT>
                    <a:lnB>
                      <a:noFill/>
                    </a:lnB>
                    <a:solidFill>
                      <a:schemeClr val="accent1">
                        <a:lumMod val="20000"/>
                        <a:lumOff val="80000"/>
                      </a:schemeClr>
                    </a:solidFill>
                  </a:tcPr>
                </a:tc>
                <a:tc>
                  <a:txBody>
                    <a:bodyPr/>
                    <a:lstStyle/>
                    <a:p>
                      <a:pPr algn="ctr"/>
                      <a:r>
                        <a:rPr lang="en-US" sz="1800" b="1">
                          <a:solidFill>
                            <a:srgbClr val="FF0000"/>
                          </a:solidFill>
                          <a:latin typeface="Cambria" panose="02040503050406030204" pitchFamily="18" charset="0"/>
                          <a:ea typeface="Cambria" panose="02040503050406030204" pitchFamily="18" charset="0"/>
                        </a:rPr>
                        <a:t>Description</a:t>
                      </a:r>
                    </a:p>
                  </a:txBody>
                  <a:tcPr marL="25188" marR="25188" marT="12594" marB="12594" anchor="ctr">
                    <a:lnL>
                      <a:noFill/>
                    </a:lnL>
                    <a:lnR>
                      <a:noFill/>
                    </a:lnR>
                    <a:lnT>
                      <a:noFill/>
                    </a:lnT>
                    <a:lnB>
                      <a:noFill/>
                    </a:lnB>
                    <a:solidFill>
                      <a:schemeClr val="accent1">
                        <a:lumMod val="20000"/>
                        <a:lumOff val="80000"/>
                      </a:schemeClr>
                    </a:solidFill>
                  </a:tcPr>
                </a:tc>
                <a:tc>
                  <a:txBody>
                    <a:bodyPr/>
                    <a:lstStyle/>
                    <a:p>
                      <a:pPr algn="ctr"/>
                      <a:r>
                        <a:rPr lang="en-US" sz="1800" b="1">
                          <a:solidFill>
                            <a:srgbClr val="FF0000"/>
                          </a:solidFill>
                          <a:latin typeface="Cambria" panose="02040503050406030204" pitchFamily="18" charset="0"/>
                          <a:ea typeface="Cambria" panose="02040503050406030204" pitchFamily="18" charset="0"/>
                        </a:rPr>
                        <a:t>Example</a:t>
                      </a:r>
                    </a:p>
                  </a:txBody>
                  <a:tcPr marL="25188" marR="25188" marT="12594" marB="12594" anchor="ctr">
                    <a:lnL>
                      <a:noFill/>
                    </a:lnL>
                    <a:lnR>
                      <a:noFill/>
                    </a:lnR>
                    <a:lnT>
                      <a:noFill/>
                    </a:lnT>
                    <a:lnB>
                      <a:noFill/>
                    </a:lnB>
                    <a:solidFill>
                      <a:schemeClr val="accent1">
                        <a:lumMod val="20000"/>
                        <a:lumOff val="80000"/>
                      </a:schemeClr>
                    </a:solidFill>
                  </a:tcPr>
                </a:tc>
                <a:tc>
                  <a:txBody>
                    <a:bodyPr/>
                    <a:lstStyle/>
                    <a:p>
                      <a:pPr algn="ctr"/>
                      <a:r>
                        <a:rPr lang="en-US" sz="1800" b="1" dirty="0">
                          <a:solidFill>
                            <a:srgbClr val="FF0000"/>
                          </a:solidFill>
                          <a:latin typeface="Cambria" panose="02040503050406030204" pitchFamily="18" charset="0"/>
                          <a:ea typeface="Cambria" panose="02040503050406030204" pitchFamily="18" charset="0"/>
                        </a:rPr>
                        <a:t>Output</a:t>
                      </a:r>
                    </a:p>
                  </a:txBody>
                  <a:tcPr marL="25188" marR="25188" marT="12594" marB="1259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582181860"/>
                  </a:ext>
                </a:extLst>
              </a:tr>
              <a:tr h="311506">
                <a:tc>
                  <a:txBody>
                    <a:bodyPr/>
                    <a:lstStyle/>
                    <a:p>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a:t>
                      </a:r>
                    </a:p>
                  </a:txBody>
                  <a:tcPr marL="25188" marR="25188" marT="12594" marB="12594"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the length of the string</a:t>
                      </a:r>
                    </a:p>
                  </a:txBody>
                  <a:tcPr marL="25188" marR="25188" marT="12594" marB="12594" anchor="ctr">
                    <a:lnL>
                      <a:noFill/>
                    </a:lnL>
                    <a:lnR>
                      <a:noFill/>
                    </a:lnR>
                    <a:lnT>
                      <a:noFill/>
                    </a:lnT>
                    <a:lnB>
                      <a:noFill/>
                    </a:lnB>
                    <a:noFill/>
                  </a:tcPr>
                </a:tc>
                <a:tc>
                  <a:txBody>
                    <a:bodyPr/>
                    <a:lstStyle/>
                    <a:p>
                      <a:r>
                        <a:rPr lang="en-US" sz="1800" dirty="0" err="1">
                          <a:latin typeface="Cambria" panose="02040503050406030204" pitchFamily="18" charset="0"/>
                          <a:ea typeface="Cambria" panose="02040503050406030204" pitchFamily="18" charset="0"/>
                        </a:rPr>
                        <a:t>len</a:t>
                      </a:r>
                      <a:r>
                        <a:rPr lang="en-US" sz="1800" dirty="0">
                          <a:latin typeface="Cambria" panose="02040503050406030204" pitchFamily="18" charset="0"/>
                          <a:ea typeface="Cambria" panose="02040503050406030204" pitchFamily="18" charset="0"/>
                        </a:rPr>
                        <a:t>("hello")</a:t>
                      </a:r>
                    </a:p>
                  </a:txBody>
                  <a:tcPr marL="25188" marR="25188" marT="12594" marB="12594"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5</a:t>
                      </a:r>
                    </a:p>
                  </a:txBody>
                  <a:tcPr marL="25188" marR="25188" marT="12594" marB="12594" anchor="ctr">
                    <a:lnL>
                      <a:noFill/>
                    </a:lnL>
                    <a:lnR>
                      <a:noFill/>
                    </a:lnR>
                    <a:lnT>
                      <a:noFill/>
                    </a:lnT>
                    <a:lnB>
                      <a:noFill/>
                    </a:lnB>
                    <a:noFill/>
                  </a:tcPr>
                </a:tc>
                <a:extLst>
                  <a:ext uri="{0D108BD9-81ED-4DB2-BD59-A6C34878D82A}">
                    <a16:rowId xmlns:a16="http://schemas.microsoft.com/office/drawing/2014/main" val="2114016440"/>
                  </a:ext>
                </a:extLst>
              </a:tr>
              <a:tr h="311506">
                <a:tc>
                  <a:txBody>
                    <a:bodyPr/>
                    <a:lstStyle/>
                    <a:p>
                      <a:r>
                        <a:rPr lang="en-US" sz="1800" dirty="0">
                          <a:latin typeface="Cambria" panose="02040503050406030204" pitchFamily="18" charset="0"/>
                          <a:ea typeface="Cambria" panose="02040503050406030204" pitchFamily="18" charset="0"/>
                        </a:rPr>
                        <a:t>lower()</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Converts string to lowercase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"Hello".lower()</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a:t>
                      </a:r>
                    </a:p>
                  </a:txBody>
                  <a:tcPr marL="25188" marR="25188" marT="12594" marB="12594" anchor="ctr">
                    <a:lnL>
                      <a:noFill/>
                    </a:lnL>
                    <a:lnR>
                      <a:noFill/>
                    </a:lnR>
                    <a:lnT>
                      <a:noFill/>
                    </a:lnT>
                    <a:lnB>
                      <a:noFill/>
                    </a:lnB>
                    <a:noFill/>
                  </a:tcPr>
                </a:tc>
                <a:extLst>
                  <a:ext uri="{0D108BD9-81ED-4DB2-BD59-A6C34878D82A}">
                    <a16:rowId xmlns:a16="http://schemas.microsoft.com/office/drawing/2014/main" val="3918655652"/>
                  </a:ext>
                </a:extLst>
              </a:tr>
              <a:tr h="311506">
                <a:tc>
                  <a:txBody>
                    <a:bodyPr/>
                    <a:lstStyle/>
                    <a:p>
                      <a:r>
                        <a:rPr lang="en-US" sz="1800">
                          <a:latin typeface="Cambria" panose="02040503050406030204" pitchFamily="18" charset="0"/>
                          <a:ea typeface="Cambria" panose="02040503050406030204" pitchFamily="18" charset="0"/>
                        </a:rPr>
                        <a:t>upper()</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Converts string to uppercase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"hello".upper()</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a:t>
                      </a:r>
                    </a:p>
                  </a:txBody>
                  <a:tcPr marL="25188" marR="25188" marT="12594" marB="12594" anchor="ctr">
                    <a:lnL>
                      <a:noFill/>
                    </a:lnL>
                    <a:lnR>
                      <a:noFill/>
                    </a:lnR>
                    <a:lnT>
                      <a:noFill/>
                    </a:lnT>
                    <a:lnB>
                      <a:noFill/>
                    </a:lnB>
                    <a:noFill/>
                  </a:tcPr>
                </a:tc>
                <a:extLst>
                  <a:ext uri="{0D108BD9-81ED-4DB2-BD59-A6C34878D82A}">
                    <a16:rowId xmlns:a16="http://schemas.microsoft.com/office/drawing/2014/main" val="753029540"/>
                  </a:ext>
                </a:extLst>
              </a:tr>
              <a:tr h="435190">
                <a:tc>
                  <a:txBody>
                    <a:bodyPr/>
                    <a:lstStyle/>
                    <a:p>
                      <a:r>
                        <a:rPr lang="en-US" sz="1800">
                          <a:latin typeface="Cambria" panose="02040503050406030204" pitchFamily="18" charset="0"/>
                          <a:ea typeface="Cambria" panose="02040503050406030204" pitchFamily="18" charset="0"/>
                        </a:rPr>
                        <a:t>strip()</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Removes leading/trailing whitespace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 hello ".strip()</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a:t>
                      </a:r>
                    </a:p>
                  </a:txBody>
                  <a:tcPr marL="25188" marR="25188" marT="12594" marB="12594" anchor="ctr">
                    <a:lnL>
                      <a:noFill/>
                    </a:lnL>
                    <a:lnR>
                      <a:noFill/>
                    </a:lnR>
                    <a:lnT>
                      <a:noFill/>
                    </a:lnT>
                    <a:lnB>
                      <a:noFill/>
                    </a:lnB>
                    <a:noFill/>
                  </a:tcPr>
                </a:tc>
                <a:extLst>
                  <a:ext uri="{0D108BD9-81ED-4DB2-BD59-A6C34878D82A}">
                    <a16:rowId xmlns:a16="http://schemas.microsoft.com/office/drawing/2014/main" val="3025197784"/>
                  </a:ext>
                </a:extLst>
              </a:tr>
              <a:tr h="435190">
                <a:tc>
                  <a:txBody>
                    <a:bodyPr/>
                    <a:lstStyle/>
                    <a:p>
                      <a:r>
                        <a:rPr lang="en-US" sz="1800">
                          <a:latin typeface="Cambria" panose="02040503050406030204" pitchFamily="18" charset="0"/>
                          <a:ea typeface="Cambria" panose="02040503050406030204" pitchFamily="18" charset="0"/>
                        </a:rPr>
                        <a:t>replace()</a:t>
                      </a:r>
                    </a:p>
                  </a:txBody>
                  <a:tcPr marL="25188" marR="25188" marT="12594" marB="12594"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Replaces part of string</a:t>
                      </a:r>
                    </a:p>
                  </a:txBody>
                  <a:tcPr marL="25188" marR="25188" marT="12594" marB="12594"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"hi </a:t>
                      </a:r>
                      <a:r>
                        <a:rPr lang="en-US" sz="1800" dirty="0" err="1">
                          <a:latin typeface="Cambria" panose="02040503050406030204" pitchFamily="18" charset="0"/>
                          <a:ea typeface="Cambria" panose="02040503050406030204" pitchFamily="18" charset="0"/>
                        </a:rPr>
                        <a:t>bob".replace</a:t>
                      </a:r>
                      <a:r>
                        <a:rPr lang="en-US" sz="1800" dirty="0">
                          <a:latin typeface="Cambria" panose="02040503050406030204" pitchFamily="18" charset="0"/>
                          <a:ea typeface="Cambria" panose="02040503050406030204" pitchFamily="18" charset="0"/>
                        </a:rPr>
                        <a:t>("bob", "Tom")</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'hi Tom'</a:t>
                      </a:r>
                    </a:p>
                  </a:txBody>
                  <a:tcPr marL="25188" marR="25188" marT="12594" marB="12594" anchor="ctr">
                    <a:lnL>
                      <a:noFill/>
                    </a:lnL>
                    <a:lnR>
                      <a:noFill/>
                    </a:lnR>
                    <a:lnT>
                      <a:noFill/>
                    </a:lnT>
                    <a:lnB>
                      <a:noFill/>
                    </a:lnB>
                    <a:noFill/>
                  </a:tcPr>
                </a:tc>
                <a:extLst>
                  <a:ext uri="{0D108BD9-81ED-4DB2-BD59-A6C34878D82A}">
                    <a16:rowId xmlns:a16="http://schemas.microsoft.com/office/drawing/2014/main" val="897992425"/>
                  </a:ext>
                </a:extLst>
              </a:tr>
              <a:tr h="311506">
                <a:tc>
                  <a:txBody>
                    <a:bodyPr/>
                    <a:lstStyle/>
                    <a:p>
                      <a:r>
                        <a:rPr lang="en-US" sz="1800">
                          <a:latin typeface="Cambria" panose="02040503050406030204" pitchFamily="18" charset="0"/>
                          <a:ea typeface="Cambria" panose="02040503050406030204" pitchFamily="18" charset="0"/>
                        </a:rPr>
                        <a:t>find()</a:t>
                      </a:r>
                    </a:p>
                  </a:txBody>
                  <a:tcPr marL="25188" marR="25188" marT="12594" marB="12594"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Finds first index of substring</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"banana".find("a")</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1</a:t>
                      </a:r>
                    </a:p>
                  </a:txBody>
                  <a:tcPr marL="25188" marR="25188" marT="12594" marB="12594" anchor="ctr">
                    <a:lnL>
                      <a:noFill/>
                    </a:lnL>
                    <a:lnR>
                      <a:noFill/>
                    </a:lnR>
                    <a:lnT>
                      <a:noFill/>
                    </a:lnT>
                    <a:lnB>
                      <a:noFill/>
                    </a:lnB>
                    <a:noFill/>
                  </a:tcPr>
                </a:tc>
                <a:extLst>
                  <a:ext uri="{0D108BD9-81ED-4DB2-BD59-A6C34878D82A}">
                    <a16:rowId xmlns:a16="http://schemas.microsoft.com/office/drawing/2014/main" val="2371019988"/>
                  </a:ext>
                </a:extLst>
              </a:tr>
              <a:tr h="435190">
                <a:tc>
                  <a:txBody>
                    <a:bodyPr/>
                    <a:lstStyle/>
                    <a:p>
                      <a:r>
                        <a:rPr lang="en-US" sz="1800">
                          <a:latin typeface="Cambria" panose="02040503050406030204" pitchFamily="18" charset="0"/>
                          <a:ea typeface="Cambria" panose="02040503050406030204" pitchFamily="18" charset="0"/>
                        </a:rPr>
                        <a:t>count()</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Counts occurrences of substring</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"banana".count("a")</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3</a:t>
                      </a:r>
                    </a:p>
                  </a:txBody>
                  <a:tcPr marL="25188" marR="25188" marT="12594" marB="12594" anchor="ctr">
                    <a:lnL>
                      <a:noFill/>
                    </a:lnL>
                    <a:lnR>
                      <a:noFill/>
                    </a:lnR>
                    <a:lnT>
                      <a:noFill/>
                    </a:lnT>
                    <a:lnB>
                      <a:noFill/>
                    </a:lnB>
                    <a:noFill/>
                  </a:tcPr>
                </a:tc>
                <a:extLst>
                  <a:ext uri="{0D108BD9-81ED-4DB2-BD59-A6C34878D82A}">
                    <a16:rowId xmlns:a16="http://schemas.microsoft.com/office/drawing/2014/main" val="3475859466"/>
                  </a:ext>
                </a:extLst>
              </a:tr>
              <a:tr h="311506">
                <a:tc>
                  <a:txBody>
                    <a:bodyPr/>
                    <a:lstStyle/>
                    <a:p>
                      <a:r>
                        <a:rPr lang="en-US" sz="1800">
                          <a:latin typeface="Cambria" panose="02040503050406030204" pitchFamily="18" charset="0"/>
                          <a:ea typeface="Cambria" panose="02040503050406030204" pitchFamily="18" charset="0"/>
                        </a:rPr>
                        <a:t>split()</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Splits string into a list</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"a,b,c".split(",")</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['a', 'b', 'c']</a:t>
                      </a:r>
                    </a:p>
                  </a:txBody>
                  <a:tcPr marL="25188" marR="25188" marT="12594" marB="12594" anchor="ctr">
                    <a:lnL>
                      <a:noFill/>
                    </a:lnL>
                    <a:lnR>
                      <a:noFill/>
                    </a:lnR>
                    <a:lnT>
                      <a:noFill/>
                    </a:lnT>
                    <a:lnB>
                      <a:noFill/>
                    </a:lnB>
                    <a:noFill/>
                  </a:tcPr>
                </a:tc>
                <a:extLst>
                  <a:ext uri="{0D108BD9-81ED-4DB2-BD59-A6C34878D82A}">
                    <a16:rowId xmlns:a16="http://schemas.microsoft.com/office/drawing/2014/main" val="1148222602"/>
                  </a:ext>
                </a:extLst>
              </a:tr>
              <a:tr h="311506">
                <a:tc>
                  <a:txBody>
                    <a:bodyPr/>
                    <a:lstStyle/>
                    <a:p>
                      <a:r>
                        <a:rPr lang="en-US" sz="1800">
                          <a:latin typeface="Cambria" panose="02040503050406030204" pitchFamily="18" charset="0"/>
                          <a:ea typeface="Cambria" panose="02040503050406030204" pitchFamily="18" charset="0"/>
                        </a:rPr>
                        <a:t>join()</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Joins list into a string</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 ".join(["Hi", "there"])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'Hi there'</a:t>
                      </a:r>
                    </a:p>
                  </a:txBody>
                  <a:tcPr marL="25188" marR="25188" marT="12594" marB="12594" anchor="ctr">
                    <a:lnL>
                      <a:noFill/>
                    </a:lnL>
                    <a:lnR>
                      <a:noFill/>
                    </a:lnR>
                    <a:lnT>
                      <a:noFill/>
                    </a:lnT>
                    <a:lnB>
                      <a:noFill/>
                    </a:lnB>
                    <a:noFill/>
                  </a:tcPr>
                </a:tc>
                <a:extLst>
                  <a:ext uri="{0D108BD9-81ED-4DB2-BD59-A6C34878D82A}">
                    <a16:rowId xmlns:a16="http://schemas.microsoft.com/office/drawing/2014/main" val="3606113220"/>
                  </a:ext>
                </a:extLst>
              </a:tr>
              <a:tr h="311506">
                <a:tc>
                  <a:txBody>
                    <a:bodyPr/>
                    <a:lstStyle/>
                    <a:p>
                      <a:r>
                        <a:rPr lang="en-US" sz="1800" dirty="0">
                          <a:latin typeface="Cambria" panose="02040503050406030204" pitchFamily="18" charset="0"/>
                          <a:ea typeface="Cambria" panose="02040503050406030204" pitchFamily="18" charset="0"/>
                        </a:rPr>
                        <a:t>capitalize()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Capitalizes the first character</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"python".capitalize()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'Python'</a:t>
                      </a:r>
                    </a:p>
                  </a:txBody>
                  <a:tcPr marL="25188" marR="25188" marT="12594" marB="12594" anchor="ctr">
                    <a:lnL>
                      <a:noFill/>
                    </a:lnL>
                    <a:lnR>
                      <a:noFill/>
                    </a:lnR>
                    <a:lnT>
                      <a:noFill/>
                    </a:lnT>
                    <a:lnB>
                      <a:noFill/>
                    </a:lnB>
                    <a:noFill/>
                  </a:tcPr>
                </a:tc>
                <a:extLst>
                  <a:ext uri="{0D108BD9-81ED-4DB2-BD59-A6C34878D82A}">
                    <a16:rowId xmlns:a16="http://schemas.microsoft.com/office/drawing/2014/main" val="463790141"/>
                  </a:ext>
                </a:extLst>
              </a:tr>
              <a:tr h="435190">
                <a:tc>
                  <a:txBody>
                    <a:bodyPr/>
                    <a:lstStyle/>
                    <a:p>
                      <a:r>
                        <a:rPr lang="en-US" sz="1800">
                          <a:latin typeface="Cambria" panose="02040503050406030204" pitchFamily="18" charset="0"/>
                          <a:ea typeface="Cambria" panose="02040503050406030204" pitchFamily="18" charset="0"/>
                        </a:rPr>
                        <a:t>title()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Capitalizes first letter of each word</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 world".title()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 World'</a:t>
                      </a:r>
                    </a:p>
                  </a:txBody>
                  <a:tcPr marL="25188" marR="25188" marT="12594" marB="12594" anchor="ctr">
                    <a:lnL>
                      <a:noFill/>
                    </a:lnL>
                    <a:lnR>
                      <a:noFill/>
                    </a:lnR>
                    <a:lnT>
                      <a:noFill/>
                    </a:lnT>
                    <a:lnB>
                      <a:noFill/>
                    </a:lnB>
                    <a:noFill/>
                  </a:tcPr>
                </a:tc>
                <a:extLst>
                  <a:ext uri="{0D108BD9-81ED-4DB2-BD59-A6C34878D82A}">
                    <a16:rowId xmlns:a16="http://schemas.microsoft.com/office/drawing/2014/main" val="1368627498"/>
                  </a:ext>
                </a:extLst>
              </a:tr>
              <a:tr h="413216">
                <a:tc>
                  <a:txBody>
                    <a:bodyPr/>
                    <a:lstStyle/>
                    <a:p>
                      <a:r>
                        <a:rPr lang="en-US" sz="1800">
                          <a:latin typeface="Cambria" panose="02040503050406030204" pitchFamily="18" charset="0"/>
                          <a:ea typeface="Cambria" panose="02040503050406030204" pitchFamily="18" charset="0"/>
                        </a:rPr>
                        <a:t>startswith()</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Checks if string starts with a substring</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"hello".startswith("he")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True</a:t>
                      </a:r>
                    </a:p>
                  </a:txBody>
                  <a:tcPr marL="25188" marR="25188" marT="12594" marB="12594" anchor="ctr">
                    <a:lnL>
                      <a:noFill/>
                    </a:lnL>
                    <a:lnR>
                      <a:noFill/>
                    </a:lnR>
                    <a:lnT>
                      <a:noFill/>
                    </a:lnT>
                    <a:lnB>
                      <a:noFill/>
                    </a:lnB>
                    <a:noFill/>
                  </a:tcPr>
                </a:tc>
                <a:extLst>
                  <a:ext uri="{0D108BD9-81ED-4DB2-BD59-A6C34878D82A}">
                    <a16:rowId xmlns:a16="http://schemas.microsoft.com/office/drawing/2014/main" val="3482465035"/>
                  </a:ext>
                </a:extLst>
              </a:tr>
              <a:tr h="435190">
                <a:tc>
                  <a:txBody>
                    <a:bodyPr/>
                    <a:lstStyle/>
                    <a:p>
                      <a:r>
                        <a:rPr lang="en-US" sz="1800">
                          <a:latin typeface="Cambria" panose="02040503050406030204" pitchFamily="18" charset="0"/>
                          <a:ea typeface="Cambria" panose="02040503050406030204" pitchFamily="18" charset="0"/>
                        </a:rPr>
                        <a:t>endswith()</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Checks if string ends with a substring</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"test.py".endswith(".py")</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True</a:t>
                      </a:r>
                    </a:p>
                  </a:txBody>
                  <a:tcPr marL="25188" marR="25188" marT="12594" marB="12594" anchor="ctr">
                    <a:lnL>
                      <a:noFill/>
                    </a:lnL>
                    <a:lnR>
                      <a:noFill/>
                    </a:lnR>
                    <a:lnT>
                      <a:noFill/>
                    </a:lnT>
                    <a:lnB>
                      <a:noFill/>
                    </a:lnB>
                    <a:noFill/>
                  </a:tcPr>
                </a:tc>
                <a:extLst>
                  <a:ext uri="{0D108BD9-81ED-4DB2-BD59-A6C34878D82A}">
                    <a16:rowId xmlns:a16="http://schemas.microsoft.com/office/drawing/2014/main" val="345407255"/>
                  </a:ext>
                </a:extLst>
              </a:tr>
              <a:tr h="435190">
                <a:tc>
                  <a:txBody>
                    <a:bodyPr/>
                    <a:lstStyle/>
                    <a:p>
                      <a:r>
                        <a:rPr lang="en-US" sz="1800">
                          <a:latin typeface="Cambria" panose="02040503050406030204" pitchFamily="18" charset="0"/>
                          <a:ea typeface="Cambria" panose="02040503050406030204" pitchFamily="18" charset="0"/>
                        </a:rPr>
                        <a:t>isalnum()</a:t>
                      </a:r>
                    </a:p>
                  </a:txBody>
                  <a:tcPr marL="25188" marR="25188" marT="12594" marB="12594"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Returns True if all characters are alphanumeric</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"abc123".isalnum()</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True</a:t>
                      </a:r>
                    </a:p>
                  </a:txBody>
                  <a:tcPr marL="25188" marR="25188" marT="12594" marB="12594" anchor="ctr">
                    <a:lnL>
                      <a:noFill/>
                    </a:lnL>
                    <a:lnR>
                      <a:noFill/>
                    </a:lnR>
                    <a:lnT>
                      <a:noFill/>
                    </a:lnT>
                    <a:lnB>
                      <a:noFill/>
                    </a:lnB>
                    <a:noFill/>
                  </a:tcPr>
                </a:tc>
                <a:extLst>
                  <a:ext uri="{0D108BD9-81ED-4DB2-BD59-A6C34878D82A}">
                    <a16:rowId xmlns:a16="http://schemas.microsoft.com/office/drawing/2014/main" val="1795761292"/>
                  </a:ext>
                </a:extLst>
              </a:tr>
              <a:tr h="435190">
                <a:tc>
                  <a:txBody>
                    <a:bodyPr/>
                    <a:lstStyle/>
                    <a:p>
                      <a:r>
                        <a:rPr lang="en-US" sz="1800">
                          <a:latin typeface="Cambria" panose="02040503050406030204" pitchFamily="18" charset="0"/>
                          <a:ea typeface="Cambria" panose="02040503050406030204" pitchFamily="18" charset="0"/>
                        </a:rPr>
                        <a:t>isalpha()</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True if all characters are alphabets</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"abc".isalpha()</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True</a:t>
                      </a:r>
                    </a:p>
                  </a:txBody>
                  <a:tcPr marL="25188" marR="25188" marT="12594" marB="12594" anchor="ctr">
                    <a:lnL>
                      <a:noFill/>
                    </a:lnL>
                    <a:lnR>
                      <a:noFill/>
                    </a:lnR>
                    <a:lnT>
                      <a:noFill/>
                    </a:lnT>
                    <a:lnB>
                      <a:noFill/>
                    </a:lnB>
                    <a:noFill/>
                  </a:tcPr>
                </a:tc>
                <a:extLst>
                  <a:ext uri="{0D108BD9-81ED-4DB2-BD59-A6C34878D82A}">
                    <a16:rowId xmlns:a16="http://schemas.microsoft.com/office/drawing/2014/main" val="1060283392"/>
                  </a:ext>
                </a:extLst>
              </a:tr>
              <a:tr h="435190">
                <a:tc>
                  <a:txBody>
                    <a:bodyPr/>
                    <a:lstStyle/>
                    <a:p>
                      <a:r>
                        <a:rPr lang="en-US" sz="1800">
                          <a:latin typeface="Cambria" panose="02040503050406030204" pitchFamily="18" charset="0"/>
                          <a:ea typeface="Cambria" panose="02040503050406030204" pitchFamily="18" charset="0"/>
                        </a:rPr>
                        <a:t>isdigit()</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Returns True if all characters are digits</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"123".isdigit()</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True</a:t>
                      </a:r>
                    </a:p>
                  </a:txBody>
                  <a:tcPr marL="25188" marR="25188" marT="12594" marB="12594" anchor="ctr">
                    <a:lnL>
                      <a:noFill/>
                    </a:lnL>
                    <a:lnR>
                      <a:noFill/>
                    </a:lnR>
                    <a:lnT>
                      <a:noFill/>
                    </a:lnT>
                    <a:lnB>
                      <a:noFill/>
                    </a:lnB>
                    <a:noFill/>
                  </a:tcPr>
                </a:tc>
                <a:extLst>
                  <a:ext uri="{0D108BD9-81ED-4DB2-BD59-A6C34878D82A}">
                    <a16:rowId xmlns:a16="http://schemas.microsoft.com/office/drawing/2014/main" val="2115546817"/>
                  </a:ext>
                </a:extLst>
              </a:tr>
              <a:tr h="311506">
                <a:tc>
                  <a:txBody>
                    <a:bodyPr/>
                    <a:lstStyle/>
                    <a:p>
                      <a:r>
                        <a:rPr lang="en-US" sz="1800">
                          <a:latin typeface="Cambria" panose="02040503050406030204" pitchFamily="18" charset="0"/>
                          <a:ea typeface="Cambria" panose="02040503050406030204" pitchFamily="18" charset="0"/>
                        </a:rPr>
                        <a:t>swapcase()</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Swaps case of all characters</a:t>
                      </a:r>
                    </a:p>
                  </a:txBody>
                  <a:tcPr marL="25188" marR="25188" marT="12594" marB="12594" anchor="ctr">
                    <a:lnL>
                      <a:noFill/>
                    </a:lnL>
                    <a:lnR>
                      <a:noFill/>
                    </a:lnR>
                    <a:lnT>
                      <a:noFill/>
                    </a:lnT>
                    <a:lnB>
                      <a:noFill/>
                    </a:lnB>
                    <a:noFill/>
                  </a:tcPr>
                </a:tc>
                <a:tc>
                  <a:txBody>
                    <a:bodyPr/>
                    <a:lstStyle/>
                    <a:p>
                      <a:r>
                        <a:rPr lang="en-US" sz="1800">
                          <a:latin typeface="Cambria" panose="02040503050406030204" pitchFamily="18" charset="0"/>
                          <a:ea typeface="Cambria" panose="02040503050406030204" pitchFamily="18" charset="0"/>
                        </a:rPr>
                        <a:t>"PyTHon".swapcase()</a:t>
                      </a:r>
                    </a:p>
                  </a:txBody>
                  <a:tcPr marL="25188" marR="25188" marT="12594" marB="12594" anchor="ctr">
                    <a:lnL>
                      <a:noFill/>
                    </a:lnL>
                    <a:lnR>
                      <a:noFill/>
                    </a:lnR>
                    <a:lnT>
                      <a:noFill/>
                    </a:lnT>
                    <a:lnB>
                      <a:noFill/>
                    </a:lnB>
                    <a:noFill/>
                  </a:tcPr>
                </a:tc>
                <a:tc>
                  <a:txBody>
                    <a:bodyPr/>
                    <a:lstStyle/>
                    <a:p>
                      <a:r>
                        <a:rPr lang="en-US" sz="1800" dirty="0">
                          <a:latin typeface="Cambria" panose="02040503050406030204" pitchFamily="18" charset="0"/>
                          <a:ea typeface="Cambria" panose="02040503050406030204" pitchFamily="18" charset="0"/>
                        </a:rPr>
                        <a:t>'</a:t>
                      </a:r>
                      <a:r>
                        <a:rPr lang="en-US" sz="1800" dirty="0" err="1">
                          <a:latin typeface="Cambria" panose="02040503050406030204" pitchFamily="18" charset="0"/>
                          <a:ea typeface="Cambria" panose="02040503050406030204" pitchFamily="18" charset="0"/>
                        </a:rPr>
                        <a:t>pYthON</a:t>
                      </a:r>
                      <a:r>
                        <a:rPr lang="en-US" sz="1800" dirty="0">
                          <a:latin typeface="Cambria" panose="02040503050406030204" pitchFamily="18" charset="0"/>
                          <a:ea typeface="Cambria" panose="02040503050406030204" pitchFamily="18" charset="0"/>
                        </a:rPr>
                        <a:t>'</a:t>
                      </a:r>
                    </a:p>
                  </a:txBody>
                  <a:tcPr marL="25188" marR="25188" marT="12594" marB="12594" anchor="ctr">
                    <a:lnL>
                      <a:noFill/>
                    </a:lnL>
                    <a:lnR>
                      <a:noFill/>
                    </a:lnR>
                    <a:lnT>
                      <a:noFill/>
                    </a:lnT>
                    <a:lnB>
                      <a:noFill/>
                    </a:lnB>
                    <a:noFill/>
                  </a:tcPr>
                </a:tc>
                <a:extLst>
                  <a:ext uri="{0D108BD9-81ED-4DB2-BD59-A6C34878D82A}">
                    <a16:rowId xmlns:a16="http://schemas.microsoft.com/office/drawing/2014/main" val="1636895075"/>
                  </a:ext>
                </a:extLst>
              </a:tr>
            </a:tbl>
          </a:graphicData>
        </a:graphic>
      </p:graphicFrame>
    </p:spTree>
    <p:extLst>
      <p:ext uri="{BB962C8B-B14F-4D97-AF65-F5344CB8AC3E}">
        <p14:creationId xmlns:p14="http://schemas.microsoft.com/office/powerpoint/2010/main" val="16335046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E77C8-A3A1-FB18-A30F-FDF83D5F6185}"/>
              </a:ext>
            </a:extLst>
          </p:cNvPr>
          <p:cNvSpPr>
            <a:spLocks noGrp="1"/>
          </p:cNvSpPr>
          <p:nvPr>
            <p:ph type="title"/>
          </p:nvPr>
        </p:nvSpPr>
        <p:spPr>
          <a:xfrm>
            <a:off x="205860" y="133222"/>
            <a:ext cx="8911687" cy="521296"/>
          </a:xfrm>
        </p:spPr>
        <p:txBody>
          <a:bodyPr>
            <a:normAutofit/>
          </a:bodyPr>
          <a:lstStyle/>
          <a:p>
            <a:r>
              <a:rPr lang="en-US" sz="2800" b="1" dirty="0">
                <a:solidFill>
                  <a:srgbClr val="FF0000"/>
                </a:solidFill>
                <a:latin typeface="Cambria" panose="02040503050406030204" pitchFamily="18" charset="0"/>
                <a:ea typeface="Cambria" panose="02040503050406030204" pitchFamily="18" charset="0"/>
              </a:rPr>
              <a:t>Python Array</a:t>
            </a:r>
          </a:p>
        </p:txBody>
      </p:sp>
      <p:sp>
        <p:nvSpPr>
          <p:cNvPr id="3" name="Content Placeholder 2">
            <a:extLst>
              <a:ext uri="{FF2B5EF4-FFF2-40B4-BE49-F238E27FC236}">
                <a16:creationId xmlns:a16="http://schemas.microsoft.com/office/drawing/2014/main" id="{28D1843D-B006-4676-ADF6-7E601405BC50}"/>
              </a:ext>
            </a:extLst>
          </p:cNvPr>
          <p:cNvSpPr>
            <a:spLocks noGrp="1"/>
          </p:cNvSpPr>
          <p:nvPr>
            <p:ph idx="1"/>
          </p:nvPr>
        </p:nvSpPr>
        <p:spPr>
          <a:xfrm>
            <a:off x="202146" y="766084"/>
            <a:ext cx="11762055" cy="5576963"/>
          </a:xfrm>
        </p:spPr>
        <p:txBody>
          <a:bodyPr/>
          <a:lstStyle/>
          <a:p>
            <a:endParaRPr lang="en-US" dirty="0"/>
          </a:p>
        </p:txBody>
      </p:sp>
    </p:spTree>
    <p:extLst>
      <p:ext uri="{BB962C8B-B14F-4D97-AF65-F5344CB8AC3E}">
        <p14:creationId xmlns:p14="http://schemas.microsoft.com/office/powerpoint/2010/main" val="10151854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BA6C9-636F-3889-03F6-D6FDE8B670DB}"/>
              </a:ext>
            </a:extLst>
          </p:cNvPr>
          <p:cNvSpPr>
            <a:spLocks noGrp="1"/>
          </p:cNvSpPr>
          <p:nvPr>
            <p:ph type="title"/>
          </p:nvPr>
        </p:nvSpPr>
        <p:spPr>
          <a:xfrm>
            <a:off x="167359" y="94721"/>
            <a:ext cx="8911687" cy="376917"/>
          </a:xfrm>
        </p:spPr>
        <p:txBody>
          <a:bodyPr>
            <a:noAutofit/>
          </a:bodyPr>
          <a:lstStyle/>
          <a:p>
            <a:r>
              <a:rPr lang="en-US" sz="2400" b="1" dirty="0">
                <a:solidFill>
                  <a:srgbClr val="FF0000"/>
                </a:solidFill>
                <a:latin typeface="Cambria" panose="02040503050406030204" pitchFamily="18" charset="0"/>
                <a:ea typeface="Cambria" panose="02040503050406030204" pitchFamily="18" charset="0"/>
              </a:rPr>
              <a:t>Python Type Casting</a:t>
            </a:r>
          </a:p>
        </p:txBody>
      </p:sp>
      <p:sp>
        <p:nvSpPr>
          <p:cNvPr id="3" name="Content Placeholder 2">
            <a:extLst>
              <a:ext uri="{FF2B5EF4-FFF2-40B4-BE49-F238E27FC236}">
                <a16:creationId xmlns:a16="http://schemas.microsoft.com/office/drawing/2014/main" id="{CED4F87A-DB91-491E-68D3-E51531D49EB6}"/>
              </a:ext>
            </a:extLst>
          </p:cNvPr>
          <p:cNvSpPr>
            <a:spLocks noGrp="1"/>
          </p:cNvSpPr>
          <p:nvPr>
            <p:ph idx="1"/>
          </p:nvPr>
        </p:nvSpPr>
        <p:spPr>
          <a:xfrm>
            <a:off x="167359" y="563955"/>
            <a:ext cx="11778098" cy="2865045"/>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Type casting</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is the process of converting one data type into another. In Python, you can convert between types like int, float, str, and bool using built-in functions.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solidFill>
                <a:schemeClr val="tx1"/>
              </a:solidFill>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Python provides built-in functions like int(), float(), str(), and bool() for casting.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It’s commonly used when different data types need to work together (e.g., string to int for arithmetic).</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Can be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implicit</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(done by Python) or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explicit</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(done by the programmer).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Improper casting (like converting "</a:t>
            </a:r>
            <a:r>
              <a:rPr kumimoji="0" lang="en-US" altLang="en-US" b="0" i="0" u="none" strike="noStrike" cap="none" normalizeH="0" baseline="0" dirty="0" err="1">
                <a:ln>
                  <a:noFill/>
                </a:ln>
                <a:solidFill>
                  <a:schemeClr val="tx1"/>
                </a:solidFill>
                <a:effectLst/>
                <a:latin typeface="Cambria" panose="02040503050406030204" pitchFamily="18" charset="0"/>
                <a:ea typeface="Cambria" panose="02040503050406030204" pitchFamily="18" charset="0"/>
              </a:rPr>
              <a:t>abc</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int) will cause errors.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Very useful when reading input (strings) that need to be used as numbers.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83E43F73-3546-D7F5-6432-120CF7E698DA}"/>
              </a:ext>
            </a:extLst>
          </p:cNvPr>
          <p:cNvSpPr txBox="1"/>
          <p:nvPr/>
        </p:nvSpPr>
        <p:spPr>
          <a:xfrm>
            <a:off x="642486" y="3685757"/>
            <a:ext cx="6097604" cy="646331"/>
          </a:xfrm>
          <a:prstGeom prst="rect">
            <a:avLst/>
          </a:prstGeom>
          <a:noFill/>
        </p:spPr>
        <p:txBody>
          <a:bodyPr wrap="square">
            <a:spAutoFit/>
          </a:bodyPr>
          <a:lstStyle/>
          <a:p>
            <a:r>
              <a:rPr lang="en-US" b="1" dirty="0"/>
              <a:t>Types of Type Casting in Python</a:t>
            </a:r>
          </a:p>
          <a:p>
            <a:r>
              <a:rPr lang="en-US" dirty="0"/>
              <a:t>Python supports </a:t>
            </a:r>
            <a:r>
              <a:rPr lang="en-US" b="1" dirty="0"/>
              <a:t>two main types of type casting</a:t>
            </a:r>
            <a:r>
              <a:rPr lang="en-US" dirty="0"/>
              <a:t>:</a:t>
            </a:r>
          </a:p>
        </p:txBody>
      </p:sp>
    </p:spTree>
    <p:extLst>
      <p:ext uri="{BB962C8B-B14F-4D97-AF65-F5344CB8AC3E}">
        <p14:creationId xmlns:p14="http://schemas.microsoft.com/office/powerpoint/2010/main" val="37277093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180F5-3312-27A2-14D5-C127E71DADCE}"/>
              </a:ext>
            </a:extLst>
          </p:cNvPr>
          <p:cNvSpPr>
            <a:spLocks noGrp="1"/>
          </p:cNvSpPr>
          <p:nvPr>
            <p:ph type="title"/>
          </p:nvPr>
        </p:nvSpPr>
        <p:spPr>
          <a:xfrm>
            <a:off x="350239" y="142847"/>
            <a:ext cx="8911687" cy="49242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Implicit Type Casting (Automatic)</a:t>
            </a:r>
          </a:p>
        </p:txBody>
      </p:sp>
      <p:sp>
        <p:nvSpPr>
          <p:cNvPr id="4" name="Rectangle 1">
            <a:extLst>
              <a:ext uri="{FF2B5EF4-FFF2-40B4-BE49-F238E27FC236}">
                <a16:creationId xmlns:a16="http://schemas.microsoft.com/office/drawing/2014/main" id="{5898B216-6018-23B4-621C-94302CE6DBB8}"/>
              </a:ext>
            </a:extLst>
          </p:cNvPr>
          <p:cNvSpPr>
            <a:spLocks noGrp="1" noChangeArrowheads="1"/>
          </p:cNvSpPr>
          <p:nvPr>
            <p:ph idx="1"/>
          </p:nvPr>
        </p:nvSpPr>
        <p:spPr bwMode="auto">
          <a:xfrm>
            <a:off x="186096" y="872153"/>
            <a:ext cx="1181980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1. Implicit Type Casting (Automatic)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automatically converts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one data type to another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without user involvement</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especially when it’s safe (e.g., converting int to float).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 5 # int b = 2.5 # float result = a + b # int + float → float print(result) # Output: 7.5 print(type(result)) # Output: &lt;class 'float’&gt;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When it happens: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When mixing different numeric types (int, float)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No data loss occurs</a:t>
            </a:r>
          </a:p>
        </p:txBody>
      </p:sp>
    </p:spTree>
    <p:extLst>
      <p:ext uri="{BB962C8B-B14F-4D97-AF65-F5344CB8AC3E}">
        <p14:creationId xmlns:p14="http://schemas.microsoft.com/office/powerpoint/2010/main" val="41087790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DD02B-EC2D-6AB6-A90A-F7604C2D135C}"/>
              </a:ext>
            </a:extLst>
          </p:cNvPr>
          <p:cNvSpPr>
            <a:spLocks noGrp="1"/>
          </p:cNvSpPr>
          <p:nvPr>
            <p:ph type="title"/>
          </p:nvPr>
        </p:nvSpPr>
        <p:spPr>
          <a:xfrm>
            <a:off x="157734" y="75470"/>
            <a:ext cx="8911687" cy="425044"/>
          </a:xfrm>
        </p:spPr>
        <p:txBody>
          <a:bodyPr>
            <a:normAutofit fontScale="90000"/>
          </a:bodyPr>
          <a:lstStyle/>
          <a:p>
            <a:r>
              <a:rPr kumimoji="0" lang="en-US" alt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2. Explicit Type Casting (Manual)</a:t>
            </a:r>
            <a:br>
              <a:rPr kumimoji="0" lang="en-US" alt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br>
            <a:endParaRPr lang="en-US" sz="2400" b="1" dirty="0">
              <a:solidFill>
                <a:srgbClr val="FF0000"/>
              </a:solidFill>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C766AE94-2FA5-BEB5-2B84-CADD186A334A}"/>
              </a:ext>
            </a:extLst>
          </p:cNvPr>
          <p:cNvSpPr>
            <a:spLocks noGrp="1" noChangeArrowheads="1"/>
          </p:cNvSpPr>
          <p:nvPr>
            <p:ph idx="1"/>
          </p:nvPr>
        </p:nvSpPr>
        <p:spPr bwMode="auto">
          <a:xfrm>
            <a:off x="236079" y="793542"/>
            <a:ext cx="1171984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Definition: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You </a:t>
            </a: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manually convert</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one data type to another using functions like:</a:t>
            </a:r>
          </a:p>
          <a:p>
            <a:pPr marL="1714500" lvl="4" indent="0" defTabSz="914400"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int()   float()       str()     bool()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 "100" b = int(a) # Convert string to integer print(b + 20) # Output: 120 </a:t>
            </a:r>
            <a:endPar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Common use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Converting input from str to int/float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Working with user input or file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Formatting output</a:t>
            </a:r>
          </a:p>
        </p:txBody>
      </p:sp>
      <p:graphicFrame>
        <p:nvGraphicFramePr>
          <p:cNvPr id="5" name="Table 4">
            <a:extLst>
              <a:ext uri="{FF2B5EF4-FFF2-40B4-BE49-F238E27FC236}">
                <a16:creationId xmlns:a16="http://schemas.microsoft.com/office/drawing/2014/main" id="{F90C68DA-CE4A-B389-6BF9-C6EA0BB0908F}"/>
              </a:ext>
            </a:extLst>
          </p:cNvPr>
          <p:cNvGraphicFramePr>
            <a:graphicFrameLocks noGrp="1"/>
          </p:cNvGraphicFramePr>
          <p:nvPr>
            <p:extLst>
              <p:ext uri="{D42A27DB-BD31-4B8C-83A1-F6EECF244321}">
                <p14:modId xmlns:p14="http://schemas.microsoft.com/office/powerpoint/2010/main" val="1254005687"/>
              </p:ext>
            </p:extLst>
          </p:nvPr>
        </p:nvGraphicFramePr>
        <p:xfrm>
          <a:off x="340614" y="4312519"/>
          <a:ext cx="11232666" cy="1127760"/>
        </p:xfrm>
        <a:graphic>
          <a:graphicData uri="http://schemas.openxmlformats.org/drawingml/2006/table">
            <a:tbl>
              <a:tblPr/>
              <a:tblGrid>
                <a:gridCol w="3744222">
                  <a:extLst>
                    <a:ext uri="{9D8B030D-6E8A-4147-A177-3AD203B41FA5}">
                      <a16:colId xmlns:a16="http://schemas.microsoft.com/office/drawing/2014/main" val="1212659420"/>
                    </a:ext>
                  </a:extLst>
                </a:gridCol>
                <a:gridCol w="3744222">
                  <a:extLst>
                    <a:ext uri="{9D8B030D-6E8A-4147-A177-3AD203B41FA5}">
                      <a16:colId xmlns:a16="http://schemas.microsoft.com/office/drawing/2014/main" val="122807715"/>
                    </a:ext>
                  </a:extLst>
                </a:gridCol>
                <a:gridCol w="3744222">
                  <a:extLst>
                    <a:ext uri="{9D8B030D-6E8A-4147-A177-3AD203B41FA5}">
                      <a16:colId xmlns:a16="http://schemas.microsoft.com/office/drawing/2014/main" val="2894979242"/>
                    </a:ext>
                  </a:extLst>
                </a:gridCol>
              </a:tblGrid>
              <a:tr h="0">
                <a:tc>
                  <a:txBody>
                    <a:bodyPr/>
                    <a:lstStyle/>
                    <a:p>
                      <a:pPr algn="ctr"/>
                      <a:r>
                        <a:rPr lang="en-US" sz="2000" b="1" dirty="0">
                          <a:solidFill>
                            <a:srgbClr val="FF0000"/>
                          </a:solidFill>
                          <a:latin typeface="Cambria" panose="02040503050406030204" pitchFamily="18" charset="0"/>
                          <a:ea typeface="Cambria" panose="02040503050406030204" pitchFamily="18" charset="0"/>
                        </a:rPr>
                        <a:t>Type</a:t>
                      </a:r>
                    </a:p>
                  </a:txBody>
                  <a:tcPr anchor="ctr">
                    <a:lnL>
                      <a:noFill/>
                    </a:lnL>
                    <a:lnR>
                      <a:noFill/>
                    </a:lnR>
                    <a:lnT>
                      <a:noFill/>
                    </a:lnT>
                    <a:lnB>
                      <a:noFill/>
                    </a:lnB>
                    <a:solidFill>
                      <a:schemeClr val="accent1">
                        <a:lumMod val="60000"/>
                        <a:lumOff val="40000"/>
                      </a:schemeClr>
                    </a:solidFill>
                  </a:tcPr>
                </a:tc>
                <a:tc>
                  <a:txBody>
                    <a:bodyPr/>
                    <a:lstStyle/>
                    <a:p>
                      <a:pPr algn="ctr"/>
                      <a:r>
                        <a:rPr lang="en-US" sz="2000" b="1" dirty="0">
                          <a:solidFill>
                            <a:srgbClr val="FF0000"/>
                          </a:solidFill>
                          <a:latin typeface="Cambria" panose="02040503050406030204" pitchFamily="18" charset="0"/>
                          <a:ea typeface="Cambria" panose="02040503050406030204" pitchFamily="18" charset="0"/>
                        </a:rPr>
                        <a:t>Description</a:t>
                      </a:r>
                    </a:p>
                  </a:txBody>
                  <a:tcPr anchor="ctr">
                    <a:lnL>
                      <a:noFill/>
                    </a:lnL>
                    <a:lnR>
                      <a:noFill/>
                    </a:lnR>
                    <a:lnT>
                      <a:noFill/>
                    </a:lnT>
                    <a:lnB>
                      <a:noFill/>
                    </a:lnB>
                    <a:solidFill>
                      <a:schemeClr val="accent1">
                        <a:lumMod val="60000"/>
                        <a:lumOff val="40000"/>
                      </a:schemeClr>
                    </a:solidFill>
                  </a:tcPr>
                </a:tc>
                <a:tc>
                  <a:txBody>
                    <a:bodyPr/>
                    <a:lstStyle/>
                    <a:p>
                      <a:pPr algn="ctr"/>
                      <a:r>
                        <a:rPr lang="en-US" sz="2000" b="1" dirty="0">
                          <a:solidFill>
                            <a:srgbClr val="FF0000"/>
                          </a:solidFill>
                          <a:latin typeface="Cambria" panose="02040503050406030204" pitchFamily="18" charset="0"/>
                          <a:ea typeface="Cambria" panose="02040503050406030204" pitchFamily="18" charset="0"/>
                        </a:rPr>
                        <a:t>Example</a:t>
                      </a: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3543873811"/>
                  </a:ext>
                </a:extLst>
              </a:tr>
              <a:tr h="0">
                <a:tc>
                  <a:txBody>
                    <a:bodyPr/>
                    <a:lstStyle/>
                    <a:p>
                      <a:r>
                        <a:rPr lang="en-US" b="1" dirty="0">
                          <a:latin typeface="Cambria" panose="02040503050406030204" pitchFamily="18" charset="0"/>
                          <a:ea typeface="Cambria" panose="02040503050406030204" pitchFamily="18" charset="0"/>
                        </a:rPr>
                        <a:t>Implicit</a:t>
                      </a:r>
                      <a:endParaRPr lang="en-US" dirty="0">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Auto conversion by Python</a:t>
                      </a:r>
                    </a:p>
                  </a:txBody>
                  <a:tcPr anchor="ctr">
                    <a:lnL>
                      <a:noFill/>
                    </a:lnL>
                    <a:lnR>
                      <a:noFill/>
                    </a:lnR>
                    <a:lnT>
                      <a:noFill/>
                    </a:lnT>
                    <a:lnB>
                      <a:noFill/>
                    </a:lnB>
                    <a:noFill/>
                  </a:tcPr>
                </a:tc>
                <a:tc>
                  <a:txBody>
                    <a:bodyPr/>
                    <a:lstStyle/>
                    <a:p>
                      <a:r>
                        <a:rPr lang="en-US">
                          <a:latin typeface="Cambria" panose="02040503050406030204" pitchFamily="18" charset="0"/>
                          <a:ea typeface="Cambria" panose="02040503050406030204" pitchFamily="18" charset="0"/>
                        </a:rPr>
                        <a:t>int + float → float</a:t>
                      </a:r>
                    </a:p>
                  </a:txBody>
                  <a:tcPr anchor="ctr">
                    <a:lnL>
                      <a:noFill/>
                    </a:lnL>
                    <a:lnR>
                      <a:noFill/>
                    </a:lnR>
                    <a:lnT>
                      <a:noFill/>
                    </a:lnT>
                    <a:lnB>
                      <a:noFill/>
                    </a:lnB>
                    <a:noFill/>
                  </a:tcPr>
                </a:tc>
                <a:extLst>
                  <a:ext uri="{0D108BD9-81ED-4DB2-BD59-A6C34878D82A}">
                    <a16:rowId xmlns:a16="http://schemas.microsoft.com/office/drawing/2014/main" val="1023506233"/>
                  </a:ext>
                </a:extLst>
              </a:tr>
              <a:tr h="0">
                <a:tc>
                  <a:txBody>
                    <a:bodyPr/>
                    <a:lstStyle/>
                    <a:p>
                      <a:r>
                        <a:rPr lang="en-US" b="1">
                          <a:latin typeface="Cambria" panose="02040503050406030204" pitchFamily="18" charset="0"/>
                          <a:ea typeface="Cambria" panose="02040503050406030204" pitchFamily="18" charset="0"/>
                        </a:rPr>
                        <a:t>Explicit</a:t>
                      </a:r>
                      <a:endParaRPr lang="en-US">
                        <a:latin typeface="Cambria" panose="02040503050406030204" pitchFamily="18" charset="0"/>
                        <a:ea typeface="Cambria" panose="02040503050406030204" pitchFamily="18" charset="0"/>
                      </a:endParaRPr>
                    </a:p>
                  </a:txBody>
                  <a:tcPr anchor="ctr">
                    <a:lnL>
                      <a:noFill/>
                    </a:lnL>
                    <a:lnR>
                      <a:noFill/>
                    </a:lnR>
                    <a:lnT>
                      <a:noFill/>
                    </a:lnT>
                    <a:lnB>
                      <a:noFill/>
                    </a:lnB>
                    <a:noFill/>
                  </a:tcPr>
                </a:tc>
                <a:tc>
                  <a:txBody>
                    <a:bodyPr/>
                    <a:lstStyle/>
                    <a:p>
                      <a:r>
                        <a:rPr lang="en-US" dirty="0">
                          <a:latin typeface="Cambria" panose="02040503050406030204" pitchFamily="18" charset="0"/>
                          <a:ea typeface="Cambria" panose="02040503050406030204" pitchFamily="18" charset="0"/>
                        </a:rPr>
                        <a:t>Manual conversion using functions</a:t>
                      </a:r>
                    </a:p>
                  </a:txBody>
                  <a:tcPr anchor="ctr">
                    <a:lnL>
                      <a:noFill/>
                    </a:lnL>
                    <a:lnR>
                      <a:noFill/>
                    </a:lnR>
                    <a:lnT>
                      <a:noFill/>
                    </a:lnT>
                    <a:lnB>
                      <a:noFill/>
                    </a:lnB>
                    <a:noFill/>
                  </a:tcPr>
                </a:tc>
                <a:tc>
                  <a:txBody>
                    <a:bodyPr/>
                    <a:lstStyle/>
                    <a:p>
                      <a:r>
                        <a:rPr lang="en-US" dirty="0">
                          <a:latin typeface="Cambria" panose="02040503050406030204" pitchFamily="18" charset="0"/>
                          <a:ea typeface="Cambria" panose="02040503050406030204" pitchFamily="18" charset="0"/>
                        </a:rPr>
                        <a:t>str("5") → int("5") → 5</a:t>
                      </a:r>
                    </a:p>
                  </a:txBody>
                  <a:tcPr anchor="ctr">
                    <a:lnL>
                      <a:noFill/>
                    </a:lnL>
                    <a:lnR>
                      <a:noFill/>
                    </a:lnR>
                    <a:lnT>
                      <a:noFill/>
                    </a:lnT>
                    <a:lnB>
                      <a:noFill/>
                    </a:lnB>
                    <a:noFill/>
                  </a:tcPr>
                </a:tc>
                <a:extLst>
                  <a:ext uri="{0D108BD9-81ED-4DB2-BD59-A6C34878D82A}">
                    <a16:rowId xmlns:a16="http://schemas.microsoft.com/office/drawing/2014/main" val="1670364517"/>
                  </a:ext>
                </a:extLst>
              </a:tr>
            </a:tbl>
          </a:graphicData>
        </a:graphic>
      </p:graphicFrame>
    </p:spTree>
    <p:extLst>
      <p:ext uri="{BB962C8B-B14F-4D97-AF65-F5344CB8AC3E}">
        <p14:creationId xmlns:p14="http://schemas.microsoft.com/office/powerpoint/2010/main" val="13569824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7666-BF03-836B-8B86-6C604BD96396}"/>
              </a:ext>
            </a:extLst>
          </p:cNvPr>
          <p:cNvSpPr>
            <a:spLocks noGrp="1"/>
          </p:cNvSpPr>
          <p:nvPr>
            <p:ph type="title"/>
          </p:nvPr>
        </p:nvSpPr>
        <p:spPr>
          <a:xfrm>
            <a:off x="205859" y="152472"/>
            <a:ext cx="8911687" cy="656050"/>
          </a:xfrm>
        </p:spPr>
        <p:txBody>
          <a:bodyPr>
            <a:normAutofit/>
          </a:bodyPr>
          <a:lstStyle/>
          <a:p>
            <a:r>
              <a:rPr lang="en-US" sz="2400" b="1" dirty="0">
                <a:solidFill>
                  <a:srgbClr val="FF0000"/>
                </a:solidFill>
                <a:latin typeface="Cambria" panose="02040503050406030204" pitchFamily="18" charset="0"/>
                <a:ea typeface="Cambria" panose="02040503050406030204" pitchFamily="18" charset="0"/>
              </a:rPr>
              <a:t>Python </a:t>
            </a:r>
            <a:r>
              <a:rPr lang="en-US" sz="2400" b="1" dirty="0" err="1">
                <a:solidFill>
                  <a:srgbClr val="FF0000"/>
                </a:solidFill>
                <a:latin typeface="Cambria" panose="02040503050406030204" pitchFamily="18" charset="0"/>
                <a:ea typeface="Cambria" panose="02040503050406030204" pitchFamily="18" charset="0"/>
              </a:rPr>
              <a:t>Numpy</a:t>
            </a:r>
            <a:endParaRPr lang="en-US" sz="2400" b="1" dirty="0">
              <a:solidFill>
                <a:srgbClr val="FF0000"/>
              </a:solidFill>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664EE51A-861A-9C69-9118-14B6DF41EB5D}"/>
              </a:ext>
            </a:extLst>
          </p:cNvPr>
          <p:cNvSpPr>
            <a:spLocks noGrp="1"/>
          </p:cNvSpPr>
          <p:nvPr>
            <p:ph idx="1"/>
          </p:nvPr>
        </p:nvSpPr>
        <p:spPr>
          <a:xfrm>
            <a:off x="365776" y="699436"/>
            <a:ext cx="8915400" cy="3777622"/>
          </a:xfrm>
        </p:spPr>
        <p:txBody>
          <a:bodyPr/>
          <a:lstStyle/>
          <a:p>
            <a:endParaRPr lang="en-US" dirty="0"/>
          </a:p>
        </p:txBody>
      </p:sp>
    </p:spTree>
    <p:extLst>
      <p:ext uri="{BB962C8B-B14F-4D97-AF65-F5344CB8AC3E}">
        <p14:creationId xmlns:p14="http://schemas.microsoft.com/office/powerpoint/2010/main" val="235374512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1625</TotalTime>
  <Words>9184</Words>
  <Application>Microsoft Office PowerPoint</Application>
  <PresentationFormat>Widescreen</PresentationFormat>
  <Paragraphs>1302</Paragraphs>
  <Slides>67</Slides>
  <Notes>0</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84" baseType="lpstr">
      <vt:lpstr>Arial</vt:lpstr>
      <vt:lpstr>Arial Unicode MS</vt:lpstr>
      <vt:lpstr>ArialMT</vt:lpstr>
      <vt:lpstr>Calibri</vt:lpstr>
      <vt:lpstr>Cambria</vt:lpstr>
      <vt:lpstr>CascadiaCodeRoman-Bold</vt:lpstr>
      <vt:lpstr>Century Gothic</vt:lpstr>
      <vt:lpstr>Consolas</vt:lpstr>
      <vt:lpstr>Georgia</vt:lpstr>
      <vt:lpstr>Helvetica</vt:lpstr>
      <vt:lpstr>Nunito</vt:lpstr>
      <vt:lpstr>Segoe UI</vt:lpstr>
      <vt:lpstr>Times New Roman</vt:lpstr>
      <vt:lpstr>Wingdings</vt:lpstr>
      <vt:lpstr>Wingdings 3</vt:lpstr>
      <vt:lpstr>Wisp</vt:lpstr>
      <vt:lpstr>Picture</vt:lpstr>
      <vt:lpstr>Python For Data Analytics  Akash -&gt;        9309911897 Pranay -&gt;      9096912594 Mahendra -&gt;9172037674</vt:lpstr>
      <vt:lpstr>Syllabus of Python for Data Anaylytics</vt:lpstr>
      <vt:lpstr>3)Python Fundamentals Syllabus</vt:lpstr>
      <vt:lpstr>Python Introduction</vt:lpstr>
      <vt:lpstr>History Of Python</vt:lpstr>
      <vt:lpstr>PowerPoint Presentation</vt:lpstr>
      <vt:lpstr>Why the Name Python? </vt:lpstr>
      <vt:lpstr>Features of Python</vt:lpstr>
      <vt:lpstr>PowerPoint Presentation</vt:lpstr>
      <vt:lpstr>Python Applications</vt:lpstr>
      <vt:lpstr>PowerPoint Presentation</vt:lpstr>
      <vt:lpstr>Careers With Python</vt:lpstr>
      <vt:lpstr>Installation of Python </vt:lpstr>
      <vt:lpstr>Execution Process of Python</vt:lpstr>
      <vt:lpstr> Execution Process of Python</vt:lpstr>
      <vt:lpstr> Difference between compiler and interpreter</vt:lpstr>
      <vt:lpstr>Automatic Compilation in Python</vt:lpstr>
      <vt:lpstr>Install or download Jupyter Notebook</vt:lpstr>
      <vt:lpstr>Jupyter Notebook</vt:lpstr>
      <vt:lpstr>Jupyter Notebook</vt:lpstr>
      <vt:lpstr>Python print() function</vt:lpstr>
      <vt:lpstr>Python print() function</vt:lpstr>
      <vt:lpstr>Python Variables and There Rules</vt:lpstr>
      <vt:lpstr>Python Datatypes</vt:lpstr>
      <vt:lpstr>Python Datatypes     complex_number = real_part + imaginary_part * j j represents the imaginary unit (just like i in mathematics). Python uses j instead of i for complex numbers.</vt:lpstr>
      <vt:lpstr>Python Keywords</vt:lpstr>
      <vt:lpstr>Python Input() function</vt:lpstr>
      <vt:lpstr>Python Indentation</vt:lpstr>
      <vt:lpstr>Python Operators</vt:lpstr>
      <vt:lpstr>Arithmetic operators  Arithmetic operations between two operands are carried out using arithmetic operators. It includes the  exponent (**) operator as well as the + (addition), - (subtraction), * (multiplication), / (divide), % (reminder), and // (floor division) operators. These operators are used to perform basic mathematical operations such as addition, subtraction, multiplication, division, and modulus.  </vt:lpstr>
      <vt:lpstr>Assignment Operators The right expression's value is assigned to the left operand using the assignment operators. The following table provides a description of the assignment operators. These are used to assign values to variables and can also perform operations while assigning (e.g., +=, -=).    </vt:lpstr>
      <vt:lpstr>Comparison operators/Relational Operators Comparison operators compare the values of the two operands and return a true or false Boolean value in accordance. The following table lists the comparison operators.  Also known as relational operators, these are used to compare two values and return a Boolean result (True or False) based on the comparison.</vt:lpstr>
      <vt:lpstr>Python Logical Operators   These are used to combine multiple conditional statements and return a Boolean value depending on the logic (e.g., AND, OR, NOT).</vt:lpstr>
      <vt:lpstr>Python MemberShip Operators These test whether a value or variable is found within a sequence such as a list, tuple, or string.</vt:lpstr>
      <vt:lpstr>Python Decision Making Statements</vt:lpstr>
      <vt:lpstr>Python Decision Making Statements</vt:lpstr>
      <vt:lpstr>Assignment On Decision Making Statement</vt:lpstr>
      <vt:lpstr>PowerPoint Presentation</vt:lpstr>
      <vt:lpstr>Python Looping Statements</vt:lpstr>
      <vt:lpstr>range() Function in Python? </vt:lpstr>
      <vt:lpstr>Python For Loop and While loop</vt:lpstr>
      <vt:lpstr>Break And Continue Statements in Python</vt:lpstr>
      <vt:lpstr>Python Nesting Loop</vt:lpstr>
      <vt:lpstr>Ptyhon loop Practise Quesions</vt:lpstr>
      <vt:lpstr>Ptyhon loop Practise Quesions</vt:lpstr>
      <vt:lpstr>Python List (Collection)</vt:lpstr>
      <vt:lpstr>List Collection Methods</vt:lpstr>
      <vt:lpstr>Python Tuple Collection</vt:lpstr>
      <vt:lpstr>Python Tuple Collection Method</vt:lpstr>
      <vt:lpstr>Python Question on list and Tuple</vt:lpstr>
      <vt:lpstr>Python Set Collection</vt:lpstr>
      <vt:lpstr>Python Set Collection Method</vt:lpstr>
      <vt:lpstr>Python Dictionary</vt:lpstr>
      <vt:lpstr>Python Dictionary Collection Methods</vt:lpstr>
      <vt:lpstr>Python Dictionary Built In Function</vt:lpstr>
      <vt:lpstr>Python Function/Method</vt:lpstr>
      <vt:lpstr>Types Of Python Function</vt:lpstr>
      <vt:lpstr>Python Types of Function</vt:lpstr>
      <vt:lpstr>Python lambda function&amp; filter and map </vt:lpstr>
      <vt:lpstr>PowerPoint Presentation</vt:lpstr>
      <vt:lpstr>Python String and its method use</vt:lpstr>
      <vt:lpstr>PowerPoint Presentation</vt:lpstr>
      <vt:lpstr>Python Array</vt:lpstr>
      <vt:lpstr>Python Type Casting</vt:lpstr>
      <vt:lpstr>Implicit Type Casting (Automatic)</vt:lpstr>
      <vt:lpstr>2. Explicit Type Casting (Manual) </vt:lpstr>
      <vt:lpstr>Python Numpy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MORE SAUDAGAR</dc:creator>
  <cp:lastModifiedBy>MORE SAUDAGAR</cp:lastModifiedBy>
  <cp:revision>376</cp:revision>
  <dcterms:created xsi:type="dcterms:W3CDTF">2025-07-01T11:43:01Z</dcterms:created>
  <dcterms:modified xsi:type="dcterms:W3CDTF">2025-07-12T16:05:54Z</dcterms:modified>
</cp:coreProperties>
</file>