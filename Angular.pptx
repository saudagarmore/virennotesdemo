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  <p:sldId id="258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0" r:id="rId16"/>
    <p:sldId id="293" r:id="rId17"/>
    <p:sldId id="294" r:id="rId18"/>
    <p:sldId id="295" r:id="rId19"/>
    <p:sldId id="296" r:id="rId20"/>
    <p:sldId id="297" r:id="rId21"/>
    <p:sldId id="271" r:id="rId22"/>
    <p:sldId id="272" r:id="rId23"/>
    <p:sldId id="273" r:id="rId24"/>
    <p:sldId id="274" r:id="rId25"/>
    <p:sldId id="276" r:id="rId26"/>
    <p:sldId id="275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388620"/>
          </a:xfrm>
        </p:spPr>
        <p:txBody>
          <a:bodyPr>
            <a:noAutofit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Angular Introduction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4195"/>
            <a:ext cx="11790045" cy="621792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 b="1">
                <a:latin typeface="Cambria" panose="02040503050406030204" charset="0"/>
                <a:cs typeface="Cambria" panose="02040503050406030204" charset="0"/>
              </a:rPr>
              <a:t>What is Angular?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Angular is a TypeScript-based open-source web application framework developed by Google. It's used to build dynamic and modern single-page web applications (SPAs). Angular provides a robust structure for building scalable web apps by combining declarative templates, dependency injection, end-to-end tooling, and integrated best practices.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Angular is part of the MEAN stack (MongoDB, Express.js, Angular, Node.js).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2000" b="1">
                <a:latin typeface="Cambria" panose="02040503050406030204" charset="0"/>
                <a:cs typeface="Cambria" panose="02040503050406030204" charset="0"/>
              </a:rPr>
              <a:t>Key Features of Angular</a:t>
            </a:r>
            <a:endParaRPr lang="en-US" altLang="en-US" sz="2000" b="1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Component-Based Architecture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Applications are built using components, which are reusable UI blocks with their own logic and view.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Two-Way Data Binding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Synchronizes data between the model and the view automatically, reducing boilerplate code.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Dependency Injection (DI)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Built-in support for DI makes components more modular, testable, and reusable.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Directives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Special markers in templates that let you create custom HTML tags and extend HTML's behavior.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315" y="0"/>
            <a:ext cx="9144000" cy="381000"/>
          </a:xfrm>
        </p:spPr>
        <p:txBody>
          <a:bodyPr>
            <a:noAutofit/>
          </a:bodyPr>
          <a:p>
            <a:r>
              <a:rPr lang="en-US" sz="2800" b="1">
                <a:solidFill>
                  <a:srgbClr val="FF0000"/>
                </a:solidFill>
              </a:rPr>
              <a:t>Angular Application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265" y="248920"/>
            <a:ext cx="11986260" cy="6609080"/>
          </a:xfrm>
        </p:spPr>
        <p:txBody>
          <a:bodyPr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18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18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  <a:sym typeface="+mn-ea"/>
              </a:rPr>
              <a:t>Routing</a:t>
            </a:r>
            <a:endParaRPr lang="en-US" altLang="en-US" sz="18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algn="l">
              <a:buFont typeface="Arial" panose="020B0604020202020204" pitchFamily="34" charset="0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  <a:sym typeface="+mn-ea"/>
              </a:rPr>
              <a:t>Angular provides a powerful client-side routing module for developing single-page applications.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  <a:sym typeface="+mn-ea"/>
              </a:rPr>
              <a:t>RxJS and Reactive Programming</a:t>
            </a:r>
            <a:endParaRPr lang="en-US" altLang="en-US" sz="18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algn="l">
              <a:buFont typeface="Arial" panose="020B0604020202020204" pitchFamily="34" charset="0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  <a:sym typeface="+mn-ea"/>
              </a:rPr>
              <a:t>Angular uses RxJS (Reactive Extensions for JavaScript) for handling asynchronous data streams.</a:t>
            </a:r>
            <a:endParaRPr lang="en-US" altLang="en-US" sz="18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  <a:sym typeface="+mn-ea"/>
              </a:rPr>
              <a:t>TypeScript Support</a:t>
            </a:r>
            <a:endParaRPr lang="en-US" altLang="en-US" sz="18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algn="l">
              <a:buFont typeface="Arial" panose="020B0604020202020204" pitchFamily="34" charset="0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  <a:sym typeface="+mn-ea"/>
              </a:rPr>
              <a:t>Built using TypeScript, which adds strong typing, classes, interfaces, and other modern JavaScript features.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  <a:sym typeface="+mn-ea"/>
              </a:rPr>
              <a:t>Ahead-of-Time (AOT) Compilation</a:t>
            </a:r>
            <a:endParaRPr lang="en-US" altLang="en-US" sz="18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algn="l">
              <a:buFont typeface="Arial" panose="020B0604020202020204" pitchFamily="34" charset="0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  <a:sym typeface="+mn-ea"/>
              </a:rPr>
              <a:t>Angular compiles HTML and TypeScript code into efficient JavaScript code during build time.</a:t>
            </a:r>
            <a:endParaRPr lang="en-US" altLang="en-US" sz="18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  <a:sym typeface="+mn-ea"/>
              </a:rPr>
              <a:t>Modularity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 algn="l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  <a:sym typeface="+mn-ea"/>
              </a:rPr>
              <a:t>Organize code into modules to improve maintainability and reusability.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  <a:sym typeface="+mn-ea"/>
              </a:rPr>
              <a:t>Testing Support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 algn="l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  <a:sym typeface="+mn-ea"/>
              </a:rPr>
              <a:t>Angular comes with tools like Karma, Jasmine, and Protractor for unit and end-to-end testing.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 algn="l">
              <a:buNone/>
            </a:pPr>
            <a:endParaRPr lang="en-US" altLang="en-US" sz="18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91490"/>
          </a:xfrm>
        </p:spPr>
        <p:txBody>
          <a:bodyPr>
            <a:noAutofit/>
          </a:bodyPr>
          <a:p>
            <a:r>
              <a:rPr lang="en-US" altLang="en-US" sz="2400" b="1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Applications of Angular</a:t>
            </a:r>
            <a:endParaRPr lang="en-US" altLang="en-US" sz="2400" b="1">
              <a:solidFill>
                <a:srgbClr val="FF0000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60" y="491490"/>
            <a:ext cx="10515600" cy="6366510"/>
          </a:xfrm>
        </p:spPr>
        <p:txBody>
          <a:bodyPr/>
          <a:p>
            <a:pPr marL="0" indent="0" algn="l">
              <a:buNone/>
            </a:pPr>
            <a:r>
              <a:rPr lang="en-US" altLang="en-US" sz="2000">
                <a:solidFill>
                  <a:srgbClr val="FF0000"/>
                </a:solidFill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Angular is widely used to build:</a:t>
            </a:r>
            <a:endParaRPr lang="en-US" altLang="en-US" sz="2000">
              <a:solidFill>
                <a:srgbClr val="FF0000"/>
              </a:solidFill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  <a:sym typeface="+mn-ea"/>
              </a:rPr>
              <a:t>Single Page Applications (SPAs)</a:t>
            </a:r>
            <a:endParaRPr lang="en-US" altLang="en-US" sz="20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0" indent="0" algn="l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  <a:sym typeface="+mn-ea"/>
              </a:rPr>
              <a:t>Apps that load a single HTML page and update dynamically as the user interacts with it.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  <a:sym typeface="+mn-ea"/>
              </a:rPr>
              <a:t>Enterprise Web Applications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 algn="l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  <a:sym typeface="+mn-ea"/>
              </a:rPr>
              <a:t>Dashboards, admin panels, CRMs, ERPs.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  <a:sym typeface="+mn-ea"/>
              </a:rPr>
              <a:t>Progressive Web Apps (PWAs)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 algn="l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  <a:sym typeface="+mn-ea"/>
              </a:rPr>
              <a:t>Web apps that provide an app-like experience with offline capabilities.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  <a:sym typeface="+mn-ea"/>
              </a:rPr>
              <a:t>E-commerce Platforms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 algn="l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  <a:sym typeface="+mn-ea"/>
              </a:rPr>
              <a:t>For building dynamic online shopping experiences.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  <a:sym typeface="+mn-ea"/>
              </a:rPr>
              <a:t>Content Management Systems (CMS)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 algn="l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  <a:sym typeface="+mn-ea"/>
              </a:rPr>
              <a:t>Customizable platforms for managing digital content.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  <a:sym typeface="+mn-ea"/>
              </a:rPr>
              <a:t>Real-Time Applications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 algn="l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  <a:sym typeface="+mn-ea"/>
              </a:rPr>
              <a:t>Apps like chat systems or collaborative tools using WebSockets with Angular.</a:t>
            </a:r>
            <a:endParaRPr lang="en-US" altLang="en-US" sz="20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en-US" sz="20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1185"/>
          </a:xfrm>
        </p:spPr>
        <p:txBody>
          <a:bodyPr/>
          <a:p>
            <a:r>
              <a:rPr lang="en-US" sz="2800" b="1">
                <a:solidFill>
                  <a:srgbClr val="FF0000"/>
                </a:solidFill>
              </a:rPr>
              <a:t>Introduction Of TypeScript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60" y="448310"/>
            <a:ext cx="10515600" cy="6197600"/>
          </a:xfrm>
        </p:spPr>
        <p:txBody>
          <a:bodyPr/>
          <a:p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Introduction to TypeScript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TypeScript is an open-source programming language developed and maintained by Microsoft.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It is a superset of JavaScript, which means all valid JavaScript code is also valid TypeScript code.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TypeScript adds optional static typing, interfaces, classes, and other modern features.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It is mainly used to develop large-scale applications with improved tooling and maintainability.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Developer and Release Year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Creator: Anders Hejlsberg (also known for creating C#)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Developed by: Microsoft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First Released: October 2012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27685"/>
          </a:xfrm>
        </p:spPr>
        <p:txBody>
          <a:bodyPr>
            <a:noAutofit/>
          </a:bodyPr>
          <a:p>
            <a:r>
              <a:rPr lang="en-US" sz="2400" b="1">
                <a:solidFill>
                  <a:srgbClr val="FF0000"/>
                </a:solidFill>
              </a:rPr>
              <a:t>Typescript Fundamentals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85" y="527685"/>
            <a:ext cx="12058015" cy="613537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Installation of TypeScript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Prerequisites: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You need Node.js installed on your system.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Installation via npm: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npm install -g typescript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Check TypeScript Version: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tsc -v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Compile a TypeScript File: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tsc filename.ts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⭐ Features of TypeScript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Static Typing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TypeScript adds type annotations to variables, functions, etc., enabling type checking at compile time.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Object-Oriented Programming (OOP) Support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Cambria" panose="02040503050406030204" charset="0"/>
                <a:cs typeface="Cambria" panose="02040503050406030204" charset="0"/>
              </a:rPr>
              <a:t>Supports classes, interfaces, inheritance, access modifiers (public, private, protected).</a:t>
            </a: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en-US" sz="20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87680"/>
          </a:xfrm>
        </p:spPr>
        <p:txBody>
          <a:bodyPr/>
          <a:p>
            <a:r>
              <a:rPr lang="en-US" sz="2400" b="1">
                <a:solidFill>
                  <a:srgbClr val="FF0000"/>
                </a:solidFill>
              </a:rPr>
              <a:t>TypeScript Fundamentals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87045"/>
            <a:ext cx="12029440" cy="6263005"/>
          </a:xfrm>
        </p:spPr>
        <p:txBody>
          <a:bodyPr>
            <a:noAutofit/>
          </a:bodyPr>
          <a:p>
            <a:r>
              <a:rPr lang="en-US" altLang="en-US" sz="2000">
                <a:sym typeface="+mn-ea"/>
              </a:rPr>
              <a:t>Type Inference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Infers types even if not explicitly declared.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Compile-Time Error Checking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Helps catch errors before running the code.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ES6+ Features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Supports modern JavaScript features like arrow functions, destructuring, template strings, etc.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Code Navigation &amp; Refactoring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Better IntelliSense, autocompletion, and navigation in modern editors like VS Code.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Cross-Platform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Can run on any platform that supports JavaScript after compiling.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Interoperability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Can use existing JavaScript code and libraries.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04215"/>
          </a:xfrm>
        </p:spPr>
        <p:txBody>
          <a:bodyPr/>
          <a:p>
            <a:r>
              <a:rPr lang="en-US" sz="2400" b="1">
                <a:solidFill>
                  <a:srgbClr val="FF0000"/>
                </a:solidFill>
              </a:rPr>
              <a:t>TypeScript Fundaments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670" y="704215"/>
            <a:ext cx="10515600" cy="4351338"/>
          </a:xfrm>
        </p:spPr>
        <p:txBody>
          <a:bodyPr/>
          <a:p>
            <a:r>
              <a:rPr lang="en-US" altLang="en-US" sz="2000"/>
              <a:t>Why Use TypeScript?</a:t>
            </a:r>
            <a:endParaRPr lang="en-US" altLang="en-US" sz="2000"/>
          </a:p>
          <a:p>
            <a:r>
              <a:rPr lang="en-US" altLang="en-US" sz="2000"/>
              <a:t>Reduces runtime errors through compile-time checks.</a:t>
            </a:r>
            <a:endParaRPr lang="en-US" altLang="en-US" sz="2000"/>
          </a:p>
          <a:p>
            <a:r>
              <a:rPr lang="en-US" altLang="en-US" sz="2000"/>
              <a:t>Makes code easier to understand, maintain, and refactor.</a:t>
            </a:r>
            <a:endParaRPr lang="en-US" altLang="en-US" sz="2000"/>
          </a:p>
          <a:p>
            <a:r>
              <a:rPr lang="en-US" altLang="en-US" sz="2000"/>
              <a:t>Improves IDE support and developer productivity.</a:t>
            </a:r>
            <a:endParaRPr lang="en-US" altLang="en-US" sz="2000"/>
          </a:p>
          <a:p>
            <a:r>
              <a:rPr lang="en-US" altLang="en-US" sz="2000"/>
              <a:t>Ideal for building large, scalable, and enterprise-level applications.</a:t>
            </a:r>
            <a:endParaRPr lang="en-US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0"/>
            <a:ext cx="10515600" cy="386080"/>
          </a:xfrm>
        </p:spPr>
        <p:txBody>
          <a:bodyPr>
            <a:noAutofit/>
          </a:bodyPr>
          <a:p>
            <a:r>
              <a:rPr lang="en-US" sz="2400" b="1">
                <a:solidFill>
                  <a:srgbClr val="FF0000"/>
                </a:solidFill>
              </a:rPr>
              <a:t>Create New Project With TypeScript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95" y="386080"/>
            <a:ext cx="10515600" cy="6471920"/>
          </a:xfrm>
        </p:spPr>
        <p:txBody>
          <a:bodyPr>
            <a:normAutofit lnSpcReduction="10000"/>
          </a:bodyPr>
          <a:p>
            <a:r>
              <a:rPr lang="en-US" altLang="en-US" sz="2000"/>
              <a:t>npm install -g typescript</a:t>
            </a:r>
            <a:endParaRPr lang="en-US" altLang="en-US" sz="2000"/>
          </a:p>
          <a:p>
            <a:r>
              <a:rPr lang="en-US" altLang="en-US" sz="2000"/>
              <a:t>npm init -y   (This will create a package.json file.)</a:t>
            </a:r>
            <a:endParaRPr lang="en-US" altLang="en-US" sz="2000"/>
          </a:p>
          <a:p>
            <a:r>
              <a:rPr lang="en-US" altLang="en-US" sz="2000"/>
              <a:t>Create a tsconfig.json File</a:t>
            </a:r>
            <a:endParaRPr lang="en-US" altLang="en-US" sz="2000"/>
          </a:p>
          <a:p>
            <a:r>
              <a:rPr lang="en-US" altLang="en-US" sz="2000"/>
              <a:t>This configures the TypeScript compiler.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npx tsc --init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tsc first.ts</a:t>
            </a:r>
            <a:endParaRPr lang="en-US" altLang="en-US" sz="2000"/>
          </a:p>
          <a:p>
            <a:r>
              <a:rPr lang="en-US" altLang="en-US" sz="2000"/>
              <a:t>node first.js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.ts file multiple times, or compiling multiple .ts files together, without module boundaries — and let declarations are getting redeclared, causing the error.</a:t>
            </a:r>
            <a:endParaRPr lang="en-US" altLang="en-US" sz="2000"/>
          </a:p>
          <a:p>
            <a:r>
              <a:rPr lang="en-US" altLang="en-US" sz="2000"/>
              <a:t>// index.ts</a:t>
            </a:r>
            <a:endParaRPr lang="en-US" altLang="en-US" sz="2000"/>
          </a:p>
          <a:p>
            <a:r>
              <a:rPr lang="en-US" altLang="en-US" sz="2000"/>
              <a:t>export {}; // &lt;- Add this at the top</a:t>
            </a:r>
            <a:endParaRPr lang="en-US" altLang="en-US" sz="2000"/>
          </a:p>
          <a:p>
            <a:r>
              <a:rPr lang="en-US" altLang="en-US" sz="2000"/>
              <a:t>del *.js // on Windows(run command)</a:t>
            </a:r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635" y="0"/>
            <a:ext cx="10515600" cy="546100"/>
          </a:xfrm>
        </p:spPr>
        <p:txBody>
          <a:bodyPr/>
          <a:p>
            <a:r>
              <a:rPr lang="en-US" sz="2400" b="1">
                <a:solidFill>
                  <a:srgbClr val="FF0000"/>
                </a:solidFill>
              </a:rPr>
              <a:t>Package.json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45" y="0"/>
            <a:ext cx="10515600" cy="513715"/>
          </a:xfrm>
        </p:spPr>
        <p:txBody>
          <a:bodyPr>
            <a:noAutofit/>
          </a:bodyPr>
          <a:p>
            <a:r>
              <a:rPr lang="en-US" sz="2800" b="1">
                <a:solidFill>
                  <a:srgbClr val="FF0000"/>
                </a:solidFill>
              </a:rPr>
              <a:t>Typescipt DataTypes</a:t>
            </a:r>
            <a:endParaRPr lang="en-US" sz="28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390525" y="654685"/>
          <a:ext cx="6772275" cy="2397760"/>
        </p:xfrm>
        <a:graphic>
          <a:graphicData uri="http://schemas.openxmlformats.org/drawingml/2006/table">
            <a:tbl>
              <a:tblPr/>
              <a:tblGrid>
                <a:gridCol w="2305050"/>
                <a:gridCol w="4467225"/>
              </a:tblGrid>
              <a:tr h="299720">
                <a:tc>
                  <a:txBody>
                    <a:bodyPr/>
                    <a:p>
                      <a:r>
                        <a:rPr sz="1600" b="0"/>
                        <a:t>Type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0"/>
                        <a:t>Example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99720">
                <a:tc>
                  <a:txBody>
                    <a:bodyPr/>
                    <a:p>
                      <a:r>
                        <a:rPr sz="1600" b="0"/>
                        <a:t>string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0"/>
                        <a:t>"Hello"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99720">
                <a:tc>
                  <a:txBody>
                    <a:bodyPr/>
                    <a:p>
                      <a:r>
                        <a:rPr sz="1600" b="0"/>
                        <a:t>number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0"/>
                        <a:t>10, 5.5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99720">
                <a:tc>
                  <a:txBody>
                    <a:bodyPr/>
                    <a:p>
                      <a:r>
                        <a:rPr sz="1600" b="0"/>
                        <a:t>boolean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0"/>
                        <a:t>true, false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99720">
                <a:tc>
                  <a:txBody>
                    <a:bodyPr/>
                    <a:p>
                      <a:r>
                        <a:rPr sz="1600" b="0"/>
                        <a:t>any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0"/>
                        <a:t>Anything (not type safe)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99720">
                <a:tc>
                  <a:txBody>
                    <a:bodyPr/>
                    <a:p>
                      <a:r>
                        <a:rPr sz="1600" b="0"/>
                        <a:t>null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0"/>
                        <a:t>null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99720">
                <a:tc>
                  <a:txBody>
                    <a:bodyPr/>
                    <a:p>
                      <a:r>
                        <a:rPr sz="1600" b="0"/>
                        <a:t>undefined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0"/>
                        <a:t>undefined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99720">
                <a:tc>
                  <a:txBody>
                    <a:bodyPr/>
                    <a:p>
                      <a:r>
                        <a:rPr sz="1600" b="0"/>
                        <a:t>void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0"/>
                        <a:t>No return value</a:t>
                      </a:r>
                      <a:endParaRPr sz="16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535" y="0"/>
            <a:ext cx="10515600" cy="456565"/>
          </a:xfrm>
        </p:spPr>
        <p:txBody>
          <a:bodyPr>
            <a:noAutofit/>
          </a:bodyPr>
          <a:p>
            <a:r>
              <a:rPr lang="en-US" sz="2800" b="1">
                <a:solidFill>
                  <a:srgbClr val="FF0000"/>
                </a:solidFill>
              </a:rPr>
              <a:t>Typescript Oops</a:t>
            </a:r>
            <a:endParaRPr lang="en-US" sz="28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05105" y="2651760"/>
          <a:ext cx="10654030" cy="3837940"/>
        </p:xfrm>
        <a:graphic>
          <a:graphicData uri="http://schemas.openxmlformats.org/drawingml/2006/table">
            <a:tbl>
              <a:tblPr/>
              <a:tblGrid>
                <a:gridCol w="4698365"/>
                <a:gridCol w="5955665"/>
              </a:tblGrid>
              <a:tr h="2959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sz="2000" b="1"/>
                        <a:t>Feature</a:t>
                      </a:r>
                      <a:r>
                        <a:rPr lang="en-US" sz="2000" b="1"/>
                        <a:t>s</a:t>
                      </a:r>
                      <a:endParaRPr lang="en-US"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sz="2000" b="1"/>
                        <a:t>Supported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65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2000" b="1"/>
                        <a:t>Classes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600" b="1"/>
                        <a:t>✅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59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2000" b="1"/>
                        <a:t>Objects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600" b="1"/>
                        <a:t>✅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59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2000" b="1"/>
                        <a:t>Constructors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600" b="1"/>
                        <a:t>✅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59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2000" b="1"/>
                        <a:t>Inheritance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600" b="1"/>
                        <a:t>✅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65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2000" b="1"/>
                        <a:t>Access Modifiers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600" b="1"/>
                        <a:t>✅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59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2000" b="1"/>
                        <a:t>Readonly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600" b="1"/>
                        <a:t>✅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59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2000" b="1"/>
                        <a:t>Static Members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600" b="1"/>
                        <a:t>✅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65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2000" b="1"/>
                        <a:t>Abstract Classes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600" b="1"/>
                        <a:t>✅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59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2000" b="1"/>
                        <a:t>Interfaces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600" b="1"/>
                        <a:t>✅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59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2000" b="1"/>
                        <a:t>Overriding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600" b="1"/>
                        <a:t>✅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851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2000" b="1"/>
                        <a:t>Getters/Setters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600" b="1"/>
                        <a:t>✅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59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2000" b="1"/>
                        <a:t>Polymorphism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sz="1600" b="1"/>
                        <a:t>✅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47675"/>
          </a:xfrm>
        </p:spPr>
        <p:txBody>
          <a:bodyPr>
            <a:normAutofit fontScale="90000"/>
          </a:bodyPr>
          <a:p>
            <a:pPr marL="457200" indent="-457200">
              <a:buAutoNum type="arabicPeriod"/>
            </a:pPr>
            <a:r>
              <a:rPr lang="en-US" sz="2400" b="1">
                <a:solidFill>
                  <a:srgbClr val="FF0000"/>
                </a:solidFill>
              </a:rPr>
              <a:t>Class And Object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040" y="447675"/>
            <a:ext cx="11776075" cy="629983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1800"/>
              <a:t>1. Classes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 class is a blueprint for creating objects.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class Person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name: string;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constructor(name: string)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this.name = name;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greet(): void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console.log(`Hello, my name is ${this.name}`);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2 .Objects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You create an object (instance) of a class.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let person1 = new Person("Alice");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person1.greet(); // Hello, my name is Alice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385" y="0"/>
            <a:ext cx="10515600" cy="624205"/>
          </a:xfrm>
        </p:spPr>
        <p:txBody>
          <a:bodyPr/>
          <a:p>
            <a:pPr marL="0" indent="0"/>
            <a:r>
              <a:rPr lang="en-US" sz="2400" b="1">
                <a:solidFill>
                  <a:srgbClr val="FF0000"/>
                </a:solidFill>
              </a:rPr>
              <a:t>2. Constructor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95" y="624205"/>
            <a:ext cx="11848465" cy="5948680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3</a:t>
            </a:r>
            <a:r>
              <a:rPr lang="en-US" altLang="en-US" sz="1800"/>
              <a:t>️</a:t>
            </a:r>
            <a:r>
              <a:rPr lang="en-US" altLang="en-US" sz="1800"/>
              <a:t>⃣ Constructor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 special method to initialize the object.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class Car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brand: string;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constructor(brand: string)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this.brand = brand;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75" y="0"/>
            <a:ext cx="10515600" cy="462915"/>
          </a:xfrm>
        </p:spPr>
        <p:txBody>
          <a:bodyPr>
            <a:normAutofit fontScale="90000"/>
          </a:bodyPr>
          <a:p>
            <a:r>
              <a:rPr lang="en-US" sz="2800" b="1">
                <a:solidFill>
                  <a:srgbClr val="FF0000"/>
                </a:solidFill>
              </a:rPr>
              <a:t>3. TypeScript Inheritance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675" y="462915"/>
            <a:ext cx="11060430" cy="6197600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4️⃣ Inheritance (Extending Classes)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Use extends to inherit from another class.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class Animal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makeSound(): void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console.log("Some sound");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class Dog extends Animal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makeSound(): void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console.log("Bark!");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const dog = new Dog();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dog.makeSound(); // Bark!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286385"/>
          </a:xfrm>
        </p:spPr>
        <p:txBody>
          <a:bodyPr>
            <a:normAutofit fontScale="90000"/>
          </a:bodyPr>
          <a:p>
            <a:r>
              <a:rPr lang="en-US" sz="2800" b="1">
                <a:solidFill>
                  <a:srgbClr val="FF0000"/>
                </a:solidFill>
              </a:rPr>
              <a:t>Single Inheritance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6385"/>
            <a:ext cx="10515600" cy="6431915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class Animal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eat()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console.log("Eating...");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class Dog extends Animal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bark()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console.log("Barking...");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const dog = new Dog();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dog.eat(); // Eating...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dog.bark(); // Barking...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725" y="0"/>
            <a:ext cx="10515600" cy="358775"/>
          </a:xfrm>
        </p:spPr>
        <p:txBody>
          <a:bodyPr>
            <a:normAutofit fontScale="90000"/>
          </a:bodyPr>
          <a:p>
            <a:r>
              <a:rPr lang="en-US" sz="2400" b="1">
                <a:solidFill>
                  <a:srgbClr val="FF0000"/>
                </a:solidFill>
              </a:rPr>
              <a:t>Multilevel Inheritance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225" y="234950"/>
            <a:ext cx="11892280" cy="662305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class LivingThing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breathe()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console.log("Breathing...");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class Animal extends LivingThing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move()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console.log("Moving...");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class Bird extends Animal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fly()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console.log("Flying...");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const bird = new Bird();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bird.breathe(); // Breathing...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bird.move();    // Moving...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bird.fly();     // Flying...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05" y="0"/>
            <a:ext cx="10515600" cy="299085"/>
          </a:xfrm>
        </p:spPr>
        <p:txBody>
          <a:bodyPr>
            <a:normAutofit fontScale="90000"/>
          </a:bodyPr>
          <a:p>
            <a:r>
              <a:rPr lang="en-US" sz="2400" b="1">
                <a:solidFill>
                  <a:srgbClr val="FF0000"/>
                </a:solidFill>
              </a:rPr>
              <a:t>Hierarchical Inheritance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99085"/>
            <a:ext cx="10515600" cy="655891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class Vehicle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start()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console.log("Starting vehicle...");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}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class Car extends Vehicle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drive()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console.log("Driving car...");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}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class Bike extends Vehicle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ride()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console.log("Riding bike...");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}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const car = new Car();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car.start(); // Starting vehicle...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car.drive(); // Driving car...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const bike = new Bike();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bike.start(); // Starting vehicle...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bike.ride();  // Riding bike...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095" y="0"/>
            <a:ext cx="10515600" cy="273050"/>
          </a:xfrm>
        </p:spPr>
        <p:txBody>
          <a:bodyPr>
            <a:normAutofit fontScale="90000"/>
          </a:bodyPr>
          <a:p>
            <a:r>
              <a:rPr lang="en-US" sz="2800" b="1">
                <a:solidFill>
                  <a:srgbClr val="FF0000"/>
                </a:solidFill>
              </a:rPr>
              <a:t>Multiple Inheritance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885" y="273050"/>
            <a:ext cx="11968480" cy="6585585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interface CanFly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fly(): void;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interface CanSwim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swim(): void;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class Duck implements CanFly, CanSwim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fly()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console.log("Flying...");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swim()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console.log("Swimming...");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const duck = new Duck();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duck.fly();  // Flying...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duck.swim(); // Swimming...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935" y="0"/>
            <a:ext cx="10515600" cy="300990"/>
          </a:xfrm>
        </p:spPr>
        <p:txBody>
          <a:bodyPr>
            <a:normAutofit fontScale="90000"/>
          </a:bodyPr>
          <a:p>
            <a:r>
              <a:rPr lang="en-US" sz="2800" b="1">
                <a:solidFill>
                  <a:srgbClr val="FF0000"/>
                </a:solidFill>
              </a:rPr>
              <a:t>Hybrid Inheritance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70" y="300990"/>
            <a:ext cx="10515600" cy="637349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class Machine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powerOn() {     console.log("Powering on...");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}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interface Portable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carry(): void;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interface Rechargeable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recharge(): void;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class Smartphone extends Machine implements Portable, Rechargeable 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carry() {     console.log("Carrying smartphone...");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recharge() {     console.log("Recharging smartphone...");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} }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const phone = new Smartphone();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phone.powerOn();   // Powering on...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phone.carry();     // Carrying smartphone...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phone.recharge();  // Recharging smartphone...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0"/>
            <a:ext cx="10515600" cy="405765"/>
          </a:xfrm>
        </p:spPr>
        <p:txBody>
          <a:bodyPr>
            <a:normAutofit fontScale="90000"/>
          </a:bodyPr>
          <a:p>
            <a:r>
              <a:rPr lang="en-US" altLang="en-US" sz="2800" b="1">
                <a:solidFill>
                  <a:srgbClr val="FF0000"/>
                </a:solidFill>
                <a:sym typeface="+mn-ea"/>
              </a:rPr>
              <a:t>5 Access Modifiers</a:t>
            </a:r>
            <a:endParaRPr lang="en-US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508000"/>
            <a:ext cx="11864975" cy="6208395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Modifier	Description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public	Accessible everywhere (default)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private	Accessible only within the class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protected	Accessible in class and subclasses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class Employee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public name: string;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private salary: number;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constructor(name: string, salary: number)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this.name = name;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this.salary = salary;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public showSalary(): void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console.log(this.salary);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0"/>
            <a:ext cx="10515600" cy="565150"/>
          </a:xfrm>
        </p:spPr>
        <p:txBody>
          <a:bodyPr>
            <a:noAutofit/>
          </a:bodyPr>
          <a:p>
            <a:r>
              <a:rPr lang="en-US" altLang="en-US" sz="2400" b="1">
                <a:solidFill>
                  <a:srgbClr val="FF0000"/>
                </a:solidFill>
                <a:sym typeface="+mn-ea"/>
              </a:rPr>
              <a:t>6.Readonly Properties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325" y="565150"/>
            <a:ext cx="10515600" cy="609727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1800"/>
              <a:t>Can only be set once, in constructor or declaration.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class Book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readonly title: string;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constructor(title: string)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this.title = title;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250"/>
            <a:ext cx="10515600" cy="421005"/>
          </a:xfrm>
        </p:spPr>
        <p:txBody>
          <a:bodyPr>
            <a:normAutofit fontScale="90000"/>
          </a:bodyPr>
          <a:p>
            <a:r>
              <a:rPr lang="en-US" altLang="en-US" sz="2800" b="1">
                <a:solidFill>
                  <a:srgbClr val="FF0000"/>
                </a:solidFill>
                <a:sym typeface="+mn-ea"/>
              </a:rPr>
              <a:t>7️ Static Members</a:t>
            </a:r>
            <a:endParaRPr lang="en-US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190" y="516255"/>
            <a:ext cx="10515600" cy="6145530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Shared by all instances, called on the class itself.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class MathUtils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static pi: number = 3.14;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static area(radius: number): number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return this.pi * radius * radius;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console.log(MathUtils.area(5)); // 78.5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460" y="0"/>
            <a:ext cx="10515600" cy="485140"/>
          </a:xfrm>
        </p:spPr>
        <p:txBody>
          <a:bodyPr>
            <a:normAutofit fontScale="90000"/>
          </a:bodyPr>
          <a:p>
            <a:r>
              <a:rPr lang="en-US" altLang="en-US" sz="2800" b="1">
                <a:solidFill>
                  <a:srgbClr val="FF0000"/>
                </a:solidFill>
                <a:sym typeface="+mn-ea"/>
              </a:rPr>
              <a:t>8️Abstract Classes</a:t>
            </a:r>
            <a:endParaRPr lang="en-US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485140"/>
            <a:ext cx="10515600" cy="6002020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Cannot be instantiated directly. Used for inheritance.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abstract class Shape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abstract area(): number;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class Circle extends Shape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radius: number;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constructor(radius: number)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super();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this.radius = radius;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area(): number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return Math.PI * this.radius * this.radius;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5" y="95885"/>
            <a:ext cx="10515600" cy="453390"/>
          </a:xfrm>
        </p:spPr>
        <p:txBody>
          <a:bodyPr>
            <a:normAutofit fontScale="90000"/>
          </a:bodyPr>
          <a:p>
            <a:r>
              <a:rPr lang="en-US" altLang="en-US" sz="2800" b="1">
                <a:solidFill>
                  <a:srgbClr val="FF0000"/>
                </a:solidFill>
                <a:sym typeface="+mn-ea"/>
              </a:rPr>
              <a:t>9️ Interfaces</a:t>
            </a:r>
            <a:endParaRPr lang="en-US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549275"/>
            <a:ext cx="10515600" cy="6208395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Defines the structure/type a class must follow.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interface Animal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name: string;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makeSound(): void;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class Cat implements Animal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name = "Kitty";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makeSound(): void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console.log("Meow");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075" y="0"/>
            <a:ext cx="10515600" cy="469900"/>
          </a:xfrm>
        </p:spPr>
        <p:txBody>
          <a:bodyPr/>
          <a:p>
            <a:r>
              <a:rPr lang="zh-CN" altLang="en-US" sz="2400" b="1">
                <a:solidFill>
                  <a:srgbClr val="FF0000"/>
                </a:solidFill>
                <a:sym typeface="+mn-ea"/>
              </a:rPr>
              <a:t>🔟</a:t>
            </a:r>
            <a:r>
              <a:rPr lang="en-US" altLang="en-US" sz="2400" b="1">
                <a:solidFill>
                  <a:srgbClr val="FF0000"/>
                </a:solidFill>
                <a:sym typeface="+mn-ea"/>
              </a:rPr>
              <a:t> Method Overriding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5" y="469900"/>
            <a:ext cx="10515600" cy="6388735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Subclass redefines a method from its parent.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class Parent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sayHello(): void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console.log("Hello from Parent");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class Child extends Parent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sayHello(): void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console.log("Hello from Child");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5" y="0"/>
            <a:ext cx="10515600" cy="438150"/>
          </a:xfrm>
        </p:spPr>
        <p:txBody>
          <a:bodyPr>
            <a:normAutofit fontScale="90000"/>
          </a:bodyPr>
          <a:p>
            <a:r>
              <a:rPr lang="en-US" altLang="en-US" sz="2400" b="1">
                <a:solidFill>
                  <a:srgbClr val="FF0000"/>
                </a:solidFill>
                <a:sym typeface="+mn-ea"/>
              </a:rPr>
              <a:t>11. Getters and Setters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438150"/>
            <a:ext cx="10515600" cy="6240780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Control access to properties.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class Student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private _grade: number = 0;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get grade(): number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return this._grade;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set grade(value: number)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if (value &gt;= 0 &amp;&amp; value &lt;= 100)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this._grade = value;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let s = new Student();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s.grade = 90;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console.log(s.grade); // 90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85" y="0"/>
            <a:ext cx="10515600" cy="452755"/>
          </a:xfrm>
        </p:spPr>
        <p:txBody>
          <a:bodyPr>
            <a:normAutofit fontScale="90000"/>
          </a:bodyPr>
          <a:p>
            <a:r>
              <a:rPr lang="en-US" altLang="en-US" sz="2400" b="1">
                <a:solidFill>
                  <a:srgbClr val="FF0000"/>
                </a:solidFill>
                <a:sym typeface="+mn-ea"/>
              </a:rPr>
              <a:t>12. Polymorphism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585" y="452755"/>
            <a:ext cx="10515600" cy="620839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/>
              <a:t>Objects of different classes respond differently to the same method.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class Animal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speak(): void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console.log("Animal speaks");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  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class Dog extends Animal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speak(): void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console.log("Dog barks");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 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class Cat extends Animal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speak(): void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console.log("Cat meows");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}  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const animals: Animal[] = [new Dog(), new Cat()];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for (let a of animals) {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a.speak(); // Dog barks / Cat meows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}</a:t>
            </a:r>
            <a:endParaRPr lang="en-US" altLang="en-US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0400"/>
          </a:xfrm>
        </p:spPr>
        <p:txBody>
          <a:bodyPr/>
          <a:p>
            <a:r>
              <a:rPr lang="en-US" sz="3200" b="1">
                <a:solidFill>
                  <a:srgbClr val="FF0000"/>
                </a:solidFill>
              </a:rPr>
              <a:t>Angular Installation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60400"/>
            <a:ext cx="11689715" cy="582739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sz="2000"/>
              <a:t>Install Angular CLI globally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npm install -g @angular/cli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Create New Angular App On New Folder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ng new my-angular-app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For Run Angular App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5. Serve the application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ng serve</a:t>
            </a:r>
            <a:endParaRPr lang="en-US" altLang="en-US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725" y="0"/>
            <a:ext cx="10515600" cy="344170"/>
          </a:xfrm>
        </p:spPr>
        <p:txBody>
          <a:bodyPr>
            <a:normAutofit fontScale="90000"/>
          </a:bodyPr>
          <a:p>
            <a:r>
              <a:rPr lang="en-US" sz="2400" b="1">
                <a:solidFill>
                  <a:srgbClr val="FF0000"/>
                </a:solidFill>
              </a:rPr>
              <a:t>Angular Project Structure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44170"/>
            <a:ext cx="11671300" cy="651446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my-app/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├── node_modules/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├── src/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├── app/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│   ├── components/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│   ├── services/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│   ├── app-routing.module.ts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│   ├── app.component.ts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│   ├── app.component.html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│   ├── app.component.css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│   └── app.module.ts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├── assets/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├── environments/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│   ├── environment.ts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│   └── environment.prod.ts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├── index.html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├── main.ts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├── polyfills.ts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│   ├── styles.css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  <p:sp>
        <p:nvSpPr>
          <p:cNvPr id="4" name="Text Box 3"/>
          <p:cNvSpPr txBox="1"/>
          <p:nvPr/>
        </p:nvSpPr>
        <p:spPr>
          <a:xfrm>
            <a:off x="5253990" y="4126865"/>
            <a:ext cx="6096000" cy="2393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│   └── test.ts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├── .editorconfig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├── .gitignore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├── angular.json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├── package.json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├── tsconfig.json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└── README.md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312420"/>
          </a:xfrm>
        </p:spPr>
        <p:txBody>
          <a:bodyPr>
            <a:normAutofit fontScale="90000"/>
          </a:bodyPr>
          <a:p>
            <a:r>
              <a:rPr lang="en-US" sz="3200" b="1">
                <a:solidFill>
                  <a:srgbClr val="FF0000"/>
                </a:solidFill>
              </a:rPr>
              <a:t>Angular Folder Structure Overview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460" y="423545"/>
            <a:ext cx="11943715" cy="64344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/>
              <a:t>Folder &amp; File Overview</a:t>
            </a:r>
            <a:endParaRPr lang="en-US" altLang="en-US" sz="1800"/>
          </a:p>
          <a:p>
            <a:pPr marL="0" indent="0">
              <a:buNone/>
            </a:pPr>
            <a:r>
              <a:rPr lang="zh-CN" altLang="en-US" sz="1800"/>
              <a:t>🔹</a:t>
            </a:r>
            <a:r>
              <a:rPr lang="en-US" altLang="en-US" sz="1800"/>
              <a:t> src/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The main source code lives here.</a:t>
            </a:r>
            <a:endParaRPr lang="en-US" altLang="en-US" sz="1800"/>
          </a:p>
          <a:p>
            <a:pPr marL="0" indent="0">
              <a:buNone/>
            </a:pPr>
            <a:r>
              <a:rPr lang="zh-CN" altLang="en-US" sz="1800"/>
              <a:t>📂</a:t>
            </a:r>
            <a:r>
              <a:rPr lang="en-US" altLang="en-US" sz="1800"/>
              <a:t> app/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Contains all application logic.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app.module.ts: Root module that declares components and imports other modules.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app.component.*: The root component (HTML, CSS, TS, spec).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You can create folders like: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components/: UI components.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services/: Business logic, API calls.</a:t>
            </a:r>
            <a:endParaRPr lang="en-US" altLang="en-US" sz="1800"/>
          </a:p>
          <a:p>
            <a:pPr marL="0" indent="0">
              <a:buNone/>
            </a:pPr>
            <a:r>
              <a:rPr lang="zh-CN" altLang="en-US" sz="1800"/>
              <a:t>📂</a:t>
            </a:r>
            <a:r>
              <a:rPr lang="en-US" altLang="en-US" sz="1800"/>
              <a:t> assets/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Static files like images, fonts, icons, etc.</a:t>
            </a:r>
            <a:endParaRPr lang="en-US" altLang="en-US" sz="1800"/>
          </a:p>
          <a:p>
            <a:pPr marL="0" indent="0">
              <a:buNone/>
            </a:pPr>
            <a:r>
              <a:rPr lang="zh-CN" altLang="en-US" sz="1800"/>
              <a:t>📂</a:t>
            </a:r>
            <a:r>
              <a:rPr lang="en-US" altLang="en-US" sz="1800"/>
              <a:t> environments/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Different environment settings: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environment.ts for development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environment.prod.ts for production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Used via Angular’s environment configuration.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68630"/>
          </a:xfrm>
        </p:spPr>
        <p:txBody>
          <a:bodyPr>
            <a:noAutofit/>
          </a:bodyPr>
          <a:p>
            <a:r>
              <a:rPr lang="en-US" sz="2400" b="1">
                <a:solidFill>
                  <a:srgbClr val="FF0000"/>
                </a:solidFill>
                <a:sym typeface="+mn-ea"/>
              </a:rPr>
              <a:t>Angular Folder Structure Overview</a:t>
            </a:r>
            <a:endParaRPr 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960" y="571500"/>
            <a:ext cx="10515600" cy="5986780"/>
          </a:xfrm>
        </p:spPr>
        <p:txBody>
          <a:bodyPr/>
          <a:p>
            <a:r>
              <a:rPr lang="zh-CN" altLang="en-US" sz="1800">
                <a:sym typeface="+mn-ea"/>
              </a:rPr>
              <a:t>📄</a:t>
            </a:r>
            <a:r>
              <a:rPr lang="en-US" altLang="en-US" sz="1800">
                <a:sym typeface="+mn-ea"/>
              </a:rPr>
              <a:t> main.ts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Entry point of the application—bootstraps the root module (AppModule).</a:t>
            </a:r>
            <a:endParaRPr lang="en-US" altLang="en-US" sz="1800"/>
          </a:p>
          <a:p>
            <a:r>
              <a:rPr lang="zh-CN" altLang="en-US" sz="1800">
                <a:sym typeface="+mn-ea"/>
              </a:rPr>
              <a:t>📄</a:t>
            </a:r>
            <a:r>
              <a:rPr lang="en-US" altLang="en-US" sz="1800">
                <a:sym typeface="+mn-ea"/>
              </a:rPr>
              <a:t> index.html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Main HTML page loaded in the browser. Contains &lt;app-root&gt; where Angular app renders.</a:t>
            </a:r>
            <a:endParaRPr lang="en-US" altLang="en-US" sz="1800"/>
          </a:p>
          <a:p>
            <a:r>
              <a:rPr lang="zh-CN" altLang="en-US" sz="1800">
                <a:sym typeface="+mn-ea"/>
              </a:rPr>
              <a:t>📄</a:t>
            </a:r>
            <a:r>
              <a:rPr lang="en-US" altLang="en-US" sz="1800">
                <a:sym typeface="+mn-ea"/>
              </a:rPr>
              <a:t> styles.css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Global CSS styles for the app. You can also use SCSS/LESS.</a:t>
            </a:r>
            <a:endParaRPr lang="en-US" altLang="en-US" sz="1800">
              <a:sym typeface="+mn-ea"/>
            </a:endParaRPr>
          </a:p>
          <a:p>
            <a:endParaRPr lang="en-US" altLang="en-US" sz="1800"/>
          </a:p>
          <a:p>
            <a:endParaRPr lang="en-US" altLang="en-US" sz="18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7960" y="2926080"/>
          <a:ext cx="11850370" cy="2171700"/>
        </p:xfrm>
        <a:graphic>
          <a:graphicData uri="http://schemas.openxmlformats.org/drawingml/2006/table">
            <a:tbl>
              <a:tblPr/>
              <a:tblGrid>
                <a:gridCol w="4227195"/>
                <a:gridCol w="7623175"/>
              </a:tblGrid>
              <a:tr h="361950">
                <a:tc>
                  <a:txBody>
                    <a:bodyPr/>
                    <a:p>
                      <a:pPr algn="ctr"/>
                      <a:r>
                        <a:rPr sz="2400" b="1"/>
                        <a:t>File</a:t>
                      </a:r>
                      <a:endParaRPr sz="2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400" b="1"/>
                        <a:t>Purpose</a:t>
                      </a:r>
                      <a:endParaRPr sz="2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61950">
                <a:tc>
                  <a:txBody>
                    <a:bodyPr/>
                    <a:p>
                      <a:r>
                        <a:rPr sz="1800"/>
                        <a:t>angular.json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Angular CLI config (build settings, project structure)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61950">
                <a:tc>
                  <a:txBody>
                    <a:bodyPr/>
                    <a:p>
                      <a:r>
                        <a:rPr sz="1800"/>
                        <a:t>package.json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Project dependencies and scripts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61950">
                <a:tc>
                  <a:txBody>
                    <a:bodyPr/>
                    <a:p>
                      <a:r>
                        <a:rPr sz="1800"/>
                        <a:t>tsconfig.json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TypeScript compiler configuration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61950">
                <a:tc>
                  <a:txBody>
                    <a:bodyPr/>
                    <a:p>
                      <a:r>
                        <a:rPr sz="1800"/>
                        <a:t>.gitignore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Tells Git which files to ignore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61950">
                <a:tc>
                  <a:txBody>
                    <a:bodyPr/>
                    <a:p>
                      <a:r>
                        <a:rPr sz="1800"/>
                        <a:t>README.md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Project description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453390"/>
          </a:xfrm>
        </p:spPr>
        <p:txBody>
          <a:bodyPr>
            <a:normAutofit fontScale="90000"/>
          </a:bodyPr>
          <a:p>
            <a:r>
              <a:rPr lang="en-US" sz="2800" b="1">
                <a:solidFill>
                  <a:srgbClr val="FF0000"/>
                </a:solidFill>
              </a:rPr>
              <a:t>Angular Imp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571500"/>
            <a:ext cx="11435715" cy="6017895"/>
          </a:xfrm>
        </p:spPr>
        <p:txBody>
          <a:bodyPr/>
          <a:p>
            <a:pPr marL="457200" indent="-457200">
              <a:buAutoNum type="arabicPeriod"/>
            </a:pPr>
            <a:r>
              <a:rPr lang="en-US" altLang="en-US" sz="2000" b="1"/>
              <a:t>Components</a:t>
            </a:r>
            <a:endParaRPr lang="en-US" altLang="en-US" sz="2000" b="1"/>
          </a:p>
          <a:p>
            <a:pPr marL="457200" indent="-457200">
              <a:buAutoNum type="arabicPeriod"/>
            </a:pPr>
            <a:r>
              <a:rPr lang="en-US" altLang="en-US" sz="2000" b="1"/>
              <a:t>✅ Services</a:t>
            </a:r>
            <a:endParaRPr lang="en-US" altLang="en-US" sz="2000" b="1"/>
          </a:p>
          <a:p>
            <a:pPr marL="457200" indent="-457200">
              <a:buAutoNum type="arabicPeriod"/>
            </a:pPr>
            <a:r>
              <a:rPr lang="en-US" altLang="en-US" sz="2000" b="1"/>
              <a:t>✅ Directives</a:t>
            </a:r>
            <a:endParaRPr lang="en-US" altLang="en-US" sz="2000" b="1"/>
          </a:p>
          <a:p>
            <a:pPr marL="457200" indent="-457200">
              <a:buAutoNum type="arabicPeriod"/>
            </a:pPr>
            <a:r>
              <a:rPr lang="en-US" altLang="en-US" sz="2000" b="1"/>
              <a:t>✅ Pipes</a:t>
            </a:r>
            <a:endParaRPr lang="en-US" altLang="en-US" sz="2000" b="1"/>
          </a:p>
          <a:p>
            <a:pPr marL="457200" indent="-457200">
              <a:buAutoNum type="arabicPeriod"/>
            </a:pPr>
            <a:r>
              <a:rPr lang="en-US" altLang="en-US" sz="2000" b="1"/>
              <a:t>✅ Modules</a:t>
            </a:r>
            <a:endParaRPr lang="en-US" altLang="en-US" sz="2000" b="1"/>
          </a:p>
          <a:p>
            <a:pPr marL="457200" indent="-457200">
              <a:buAutoNum type="arabicPeriod"/>
            </a:pPr>
            <a:r>
              <a:rPr lang="en-US" altLang="en-US" sz="2000" b="1"/>
              <a:t>✅ Routing</a:t>
            </a:r>
            <a:endParaRPr lang="en-US" altLang="en-US" sz="2000" b="1"/>
          </a:p>
          <a:p>
            <a:pPr marL="457200" indent="-457200">
              <a:buAutoNum type="arabicPeriod"/>
            </a:pPr>
            <a:endParaRPr lang="en-US" altLang="en-US" sz="2000" b="1"/>
          </a:p>
          <a:p>
            <a:pPr marL="0" indent="0">
              <a:buNone/>
            </a:pPr>
            <a:endParaRPr lang="en-US" altLang="en-US" sz="2000" b="1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54940" y="3429000"/>
          <a:ext cx="11611610" cy="2604770"/>
        </p:xfrm>
        <a:graphic>
          <a:graphicData uri="http://schemas.openxmlformats.org/drawingml/2006/table">
            <a:tbl>
              <a:tblPr/>
              <a:tblGrid>
                <a:gridCol w="3536315"/>
                <a:gridCol w="8075295"/>
              </a:tblGrid>
              <a:tr h="372110">
                <a:tc>
                  <a:txBody>
                    <a:bodyPr/>
                    <a:p>
                      <a:pPr algn="ctr"/>
                      <a:r>
                        <a:rPr sz="2400" b="1">
                          <a:latin typeface="Cambria" panose="02040503050406030204" charset="0"/>
                          <a:cs typeface="Cambria" panose="02040503050406030204" charset="0"/>
                        </a:rPr>
                        <a:t>Concept</a:t>
                      </a:r>
                      <a:endParaRPr sz="24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400" b="1">
                          <a:latin typeface="Cambria" panose="02040503050406030204" charset="0"/>
                          <a:cs typeface="Cambria" panose="02040503050406030204" charset="0"/>
                        </a:rPr>
                        <a:t>Description</a:t>
                      </a:r>
                      <a:endParaRPr sz="24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211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Component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Building block of UI. Contains HTML, CSS, and logic (.ts).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211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Service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Handles business logic or shared functionality (e.g., API calls).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211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Directive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Changes the behavior or appearance of DOM elements.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211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Pipe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Transforms data in templates (e.g., format date, capitalize).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211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Module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Logical group of components/services. Root: AppModule.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211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Routing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Defines navigation between components (URLs/pages).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450" y="0"/>
            <a:ext cx="10515600" cy="358775"/>
          </a:xfrm>
        </p:spPr>
        <p:txBody>
          <a:bodyPr>
            <a:noAutofit/>
          </a:bodyPr>
          <a:p>
            <a:r>
              <a:rPr lang="en-US" sz="2800" b="1">
                <a:solidFill>
                  <a:srgbClr val="FF0000"/>
                </a:solidFill>
              </a:rPr>
              <a:t>Angular </a:t>
            </a:r>
            <a:endParaRPr lang="en-US" sz="28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22250" y="358775"/>
          <a:ext cx="11969750" cy="1706880"/>
        </p:xfrm>
        <a:graphic>
          <a:graphicData uri="http://schemas.openxmlformats.org/drawingml/2006/table">
            <a:tbl>
              <a:tblPr/>
              <a:tblGrid>
                <a:gridCol w="4134485"/>
                <a:gridCol w="7835265"/>
              </a:tblGrid>
              <a:tr h="243840">
                <a:tc>
                  <a:txBody>
                    <a:bodyPr/>
                    <a:p>
                      <a:pPr algn="ctr"/>
                      <a:r>
                        <a:rPr sz="2400" b="1">
                          <a:latin typeface="Cambria" panose="02040503050406030204" charset="0"/>
                          <a:cs typeface="Cambria" panose="02040503050406030204" charset="0"/>
                        </a:rPr>
                        <a:t>Concept</a:t>
                      </a:r>
                      <a:endParaRPr sz="24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400" b="1">
                          <a:latin typeface="Cambria" panose="02040503050406030204" charset="0"/>
                          <a:cs typeface="Cambria" panose="02040503050406030204" charset="0"/>
                        </a:rPr>
                        <a:t>Description</a:t>
                      </a:r>
                      <a:endParaRPr sz="24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Component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Building block of UI. Contains HTML, CSS, and logic (.ts).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Service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Handles business logic or shared functionality (e.g., API calls).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Directive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Changes the behavior or appearance of DOM elements.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Pipe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Transforms data in templates (e.g., format date, capitalize).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Module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Logical group of components/services. Root: AppModule.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Routing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Defines navigation between components (URLs/pages).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58750" y="3429000"/>
            <a:ext cx="3668395" cy="3200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# Create Component</a:t>
            </a:r>
            <a:endParaRPr lang="en-US" altLang="en-US"/>
          </a:p>
          <a:p>
            <a:r>
              <a:rPr lang="en-US" altLang="en-US"/>
              <a:t>ng generate component user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# Create Service</a:t>
            </a:r>
            <a:endParaRPr lang="en-US" altLang="en-US"/>
          </a:p>
          <a:p>
            <a:r>
              <a:rPr lang="en-US" altLang="en-US"/>
              <a:t>ng generate service user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# Create Directive</a:t>
            </a:r>
            <a:endParaRPr lang="en-US" altLang="en-US"/>
          </a:p>
          <a:p>
            <a:r>
              <a:rPr lang="en-US" altLang="en-US"/>
              <a:t>ng generate directive highlight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# Create Pipe</a:t>
            </a:r>
            <a:endParaRPr lang="en-US" altLang="en-US"/>
          </a:p>
          <a:p>
            <a:r>
              <a:rPr lang="en-US" altLang="en-US"/>
              <a:t>ng generate pipe capitalize</a:t>
            </a:r>
            <a:endParaRPr lang="en-US" altLang="en-US"/>
          </a:p>
          <a:p>
            <a:endParaRPr lang="en-US" altLang="en-US"/>
          </a:p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827145" y="3524250"/>
            <a:ext cx="4016375" cy="1753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>
                <a:sym typeface="+mn-ea"/>
              </a:rPr>
              <a:t># Create Module</a:t>
            </a:r>
            <a:endParaRPr lang="en-US" altLang="en-US"/>
          </a:p>
          <a:p>
            <a:r>
              <a:rPr lang="en-US" altLang="en-US">
                <a:sym typeface="+mn-ea"/>
              </a:rPr>
              <a:t>ng generate module user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# Add Routing to Module</a:t>
            </a:r>
            <a:endParaRPr lang="en-US" altLang="en-US"/>
          </a:p>
          <a:p>
            <a:r>
              <a:rPr lang="en-US" altLang="en-US">
                <a:sym typeface="+mn-ea"/>
              </a:rPr>
              <a:t>ng generate module app-routing --flat --module=app</a:t>
            </a:r>
            <a:endParaRPr lang="en-US" altLang="en-US"/>
          </a:p>
          <a:p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425450" y="2669540"/>
            <a:ext cx="9906000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spcAft>
                <a:spcPct val="60000"/>
              </a:spcAft>
            </a:pPr>
            <a:r>
              <a:rPr sz="2400" b="1">
                <a:solidFill>
                  <a:srgbClr val="FF0000"/>
                </a:solidFill>
              </a:rPr>
              <a:t>Angular CLI Commands for Each</a:t>
            </a:r>
            <a:endParaRPr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450" y="0"/>
            <a:ext cx="10515600" cy="485140"/>
          </a:xfrm>
        </p:spPr>
        <p:txBody>
          <a:bodyPr>
            <a:noAutofit/>
          </a:bodyPr>
          <a:p>
            <a:r>
              <a:rPr lang="en-US" sz="3200" b="1">
                <a:solidFill>
                  <a:srgbClr val="FF0000"/>
                </a:solidFill>
              </a:rPr>
              <a:t>Components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5" y="2593340"/>
            <a:ext cx="5466715" cy="421830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400"/>
              <a:t>src/app/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│├── user/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│   ├── user.component.ts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│   ├── user.service.ts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│   ├── user.module.ts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│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├── shared/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│   ├── highlight.directive.ts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│   ├── capitalize.pipe.ts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│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├── app-routing.module.ts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├── app.module.ts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└── app.component.ts</a:t>
            </a:r>
            <a:endParaRPr lang="en-US" altLang="en-US" sz="1400"/>
          </a:p>
          <a:p>
            <a:pPr marL="0" indent="0">
              <a:buNone/>
            </a:pPr>
            <a:endParaRPr lang="en-US" altLang="en-US" sz="1400"/>
          </a:p>
        </p:txBody>
      </p:sp>
      <p:sp>
        <p:nvSpPr>
          <p:cNvPr id="4" name="Text Box 3"/>
          <p:cNvSpPr txBox="1"/>
          <p:nvPr/>
        </p:nvSpPr>
        <p:spPr>
          <a:xfrm>
            <a:off x="635" y="485140"/>
            <a:ext cx="11823065" cy="2107565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spcAft>
                <a:spcPct val="60000"/>
              </a:spcAft>
              <a:buNone/>
            </a:pPr>
            <a:r>
              <a:rPr sz="2400" b="1"/>
              <a:t> Definition:</a:t>
            </a:r>
            <a:endParaRPr sz="2400" b="1"/>
          </a:p>
          <a:p>
            <a:pPr indent="0">
              <a:buNone/>
            </a:pPr>
            <a:r>
              <a:t>A Component in Angular is the basic building block of the user interface. It controls a section of the screen (called a view) and consists of:</a:t>
            </a:r>
          </a:p>
          <a:p>
            <a:pPr indent="0">
              <a:buNone/>
            </a:pPr>
            <a:r>
              <a:t>A TypeScript file (logic)</a:t>
            </a:r>
            <a:r>
              <a:rPr lang="en-US"/>
              <a:t>  </a:t>
            </a:r>
            <a:endParaRPr lang="en-US"/>
          </a:p>
          <a:p>
            <a:pPr indent="0">
              <a:buNone/>
            </a:pPr>
            <a:r>
              <a:t>An HTML file (template)</a:t>
            </a:r>
          </a:p>
          <a:p>
            <a:pPr indent="0">
              <a:buNone/>
            </a:pPr>
            <a:r>
              <a:t>A CSS file (style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381500" y="2593975"/>
            <a:ext cx="6777990" cy="3123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@Component({</a:t>
            </a:r>
            <a:endParaRPr lang="en-US" altLang="en-US"/>
          </a:p>
          <a:p>
            <a:r>
              <a:rPr lang="en-US" altLang="en-US"/>
              <a:t>  selector: 'app-root',</a:t>
            </a:r>
            <a:endParaRPr lang="en-US" altLang="en-US"/>
          </a:p>
          <a:p>
            <a:r>
              <a:rPr lang="en-US" altLang="en-US"/>
              <a:t>  templateUrl: './app.component.html',</a:t>
            </a:r>
            <a:endParaRPr lang="en-US" altLang="en-US"/>
          </a:p>
          <a:p>
            <a:r>
              <a:rPr lang="en-US" altLang="en-US"/>
              <a:t>  styleUrls: ['./app.component.css']</a:t>
            </a:r>
            <a:endParaRPr lang="en-US" altLang="en-US"/>
          </a:p>
          <a:p>
            <a:r>
              <a:rPr lang="en-US" altLang="en-US"/>
              <a:t>})</a:t>
            </a:r>
            <a:endParaRPr lang="en-US" altLang="en-US"/>
          </a:p>
          <a:p>
            <a:r>
              <a:rPr lang="en-US" altLang="en-US"/>
              <a:t>export class AppComponent {}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575" y="95885"/>
            <a:ext cx="10515600" cy="468630"/>
          </a:xfrm>
        </p:spPr>
        <p:txBody>
          <a:bodyPr>
            <a:normAutofit fontScale="90000"/>
          </a:bodyPr>
          <a:p>
            <a:r>
              <a:rPr lang="en-US" sz="360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  <a:t>Service</a:t>
            </a:r>
            <a:endParaRPr lang="en-US" sz="3600">
              <a:solidFill>
                <a:srgbClr val="FF0000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575" y="715010"/>
            <a:ext cx="10515600" cy="5526405"/>
          </a:xfrm>
        </p:spPr>
        <p:txBody>
          <a:bodyPr/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import { Injectable } from '@angular/core';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@Injectable({ providedIn: 'root' })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export class UserService {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getUsers() {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return [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  { name: 'alice', vip: true },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  { name: 'bob', vip: false },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  { name: 'charlie', vip: true }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  ];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}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}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159375" y="863600"/>
            <a:ext cx="6604000" cy="316103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sz="3200" b="1"/>
              <a:t>Definition:</a:t>
            </a:r>
            <a:endParaRPr sz="3200" b="1"/>
          </a:p>
          <a:p>
            <a:r>
              <a:rPr sz="2400"/>
              <a:t>A Service is a class that contains business logic or reusable functions (e.g., fetching data, calculations). It's usually injected into components using Dependency Injection.</a:t>
            </a:r>
            <a:endParaRPr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5" y="127000"/>
            <a:ext cx="10515600" cy="612775"/>
          </a:xfrm>
        </p:spPr>
        <p:txBody>
          <a:bodyPr/>
          <a:p>
            <a:r>
              <a:rPr lang="en-US" sz="2800" b="1">
                <a:solidFill>
                  <a:srgbClr val="FF0000"/>
                </a:solidFill>
              </a:rPr>
              <a:t>Pipe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5" y="889635"/>
            <a:ext cx="11816715" cy="5701030"/>
          </a:xfrm>
        </p:spPr>
        <p:txBody>
          <a:bodyPr/>
          <a:p>
            <a:pPr marL="0" indent="0">
              <a:buNone/>
            </a:pPr>
            <a:r>
              <a:rPr lang="en-US" altLang="en-US" sz="2400"/>
              <a:t>import { Pipe, PipeTransform } from '@angular/core';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@Pipe({ name: 'capitalize' })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export class CapitalizePipe implements PipeTransform {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transform(value: string): string {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return value.charAt(0).toUpperCase() + value.slice(1);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}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}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  <p:sp>
        <p:nvSpPr>
          <p:cNvPr id="4" name="Text Box 3"/>
          <p:cNvSpPr txBox="1"/>
          <p:nvPr/>
        </p:nvSpPr>
        <p:spPr>
          <a:xfrm>
            <a:off x="409575" y="4566920"/>
            <a:ext cx="11562080" cy="21310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sz="2800" b="1"/>
              <a:t>4. Pipe</a:t>
            </a:r>
            <a:endParaRPr sz="2800" b="1"/>
          </a:p>
          <a:p>
            <a:pPr>
              <a:spcAft>
                <a:spcPct val="60000"/>
              </a:spcAft>
            </a:pPr>
            <a:r>
              <a:rPr sz="2800" b="1"/>
              <a:t>✅ Definition:</a:t>
            </a:r>
            <a:endParaRPr sz="2800" b="1"/>
          </a:p>
          <a:p>
            <a:r>
              <a:rPr sz="2000"/>
              <a:t>A Pipe is used to transform data in the template before displaying it.</a:t>
            </a:r>
            <a:endParaRPr sz="2000"/>
          </a:p>
          <a:p>
            <a:r>
              <a:rPr sz="2000"/>
              <a:t>Angular has built-in pipes like date, uppercase, currency, or you can create custom pipes.</a:t>
            </a:r>
            <a:endParaRPr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450" y="0"/>
            <a:ext cx="10515600" cy="389890"/>
          </a:xfrm>
        </p:spPr>
        <p:txBody>
          <a:bodyPr>
            <a:noAutofit/>
          </a:bodyPr>
          <a:p>
            <a:r>
              <a:rPr lang="en-US" sz="2800" b="1">
                <a:solidFill>
                  <a:srgbClr val="FF0000"/>
                </a:solidFill>
              </a:rPr>
              <a:t>Directives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325" y="389890"/>
            <a:ext cx="11657965" cy="627189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2000"/>
              <a:t>import { Directive, ElementRef, Input, OnInit } from '@angular/core';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@Directive({ selector: '[appHighlight]' })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export class HighlightDirective implements OnInit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@Input('appHighlight') isVip: boolean = false;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constructor(private el: ElementRef) {}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ngOnInit()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if (this.isVip)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this.el.nativeElement.style.backgroundColor = 'gold';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}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6318885" y="890905"/>
            <a:ext cx="5730875" cy="522033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300" b="1"/>
              <a:t>3. Directive</a:t>
            </a:r>
            <a:endParaRPr sz="2300" b="1"/>
          </a:p>
          <a:p>
            <a:pPr>
              <a:spcAft>
                <a:spcPct val="60000"/>
              </a:spcAft>
            </a:pPr>
            <a:r>
              <a:rPr sz="2200" b="1"/>
              <a:t>✅ Definition:</a:t>
            </a:r>
            <a:endParaRPr sz="2200" b="1"/>
          </a:p>
          <a:p>
            <a:r>
              <a:rPr sz="1600"/>
              <a:t>A Directive is used to modify the behavior or appearance of elements in the DOM.</a:t>
            </a:r>
            <a:endParaRPr sz="1600"/>
          </a:p>
          <a:p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Structural Directives: Change layout (*ngIf, *ngFor)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Attribute Directives: Change appearance ([ngClass], custom like appHighlight)</a:t>
            </a: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5" y="143510"/>
            <a:ext cx="10515600" cy="564515"/>
          </a:xfrm>
        </p:spPr>
        <p:txBody>
          <a:bodyPr/>
          <a:p>
            <a:r>
              <a:rPr lang="en-US" sz="2800" b="1">
                <a:solidFill>
                  <a:srgbClr val="FF0000"/>
                </a:solidFill>
              </a:rPr>
              <a:t>Angular Routing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708025"/>
            <a:ext cx="11276965" cy="5763895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/>
              <a:t>import { NgModule } from '@angular/core';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import { RouterModule, Routes } from '@angular/router';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import { UserComponent } from './user/user.component';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const routes: Routes = [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{ path: '', component: UserComponent },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];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@NgModule({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imports: [RouterModule.forRoot(routes)],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exports: [RouterModule]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export class AppRoutingModule {}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638800" y="2680335"/>
            <a:ext cx="6349365" cy="289369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endParaRPr sz="2400" b="1"/>
          </a:p>
          <a:p>
            <a:pPr>
              <a:spcAft>
                <a:spcPct val="60000"/>
              </a:spcAft>
            </a:pPr>
            <a:r>
              <a:rPr sz="2400" b="1"/>
              <a:t>6. Routing</a:t>
            </a:r>
            <a:endParaRPr sz="2400" b="1"/>
          </a:p>
          <a:p>
            <a:r>
              <a:t>Routing allows navigation between different views or components via URLs. It's configured in the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325" y="0"/>
            <a:ext cx="10515600" cy="469900"/>
          </a:xfrm>
        </p:spPr>
        <p:txBody>
          <a:bodyPr>
            <a:normAutofit fontScale="90000"/>
          </a:bodyPr>
          <a:p>
            <a:r>
              <a:rPr lang="en-US" sz="3200" b="1">
                <a:solidFill>
                  <a:srgbClr val="FF0000"/>
                </a:solidFill>
              </a:rPr>
              <a:t>Angular Module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469265"/>
            <a:ext cx="11753215" cy="638937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/>
              <a:t>import { NgModule } from '@angular/core';    import { BrowserModule } from '@angular/platform-browser';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import { FormsModule } from '@angular/forms';   import { AppRoutingModule } from './app-routing.module';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import { AppComponent } from './app.component';  import { UserComponent } from './user/user.component';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import { UserService } from './user/user.service';   import { HighlightDirective } from './shared/highlight.directive';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import { CapitalizePipe } from './shared/capitalize.pipe';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@NgModule({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declarations: [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AppComponent,       UserComponent,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HighlightDirective,    CapitalizePipe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],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imports: [BrowserModule, AppRoutingModule, FormsModule],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providers: [UserService],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bootstrap: [AppComponent]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})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export class AppModule {}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</p:txBody>
      </p:sp>
      <p:sp>
        <p:nvSpPr>
          <p:cNvPr id="4" name="Text Box 3"/>
          <p:cNvSpPr txBox="1"/>
          <p:nvPr/>
        </p:nvSpPr>
        <p:spPr>
          <a:xfrm>
            <a:off x="3208020" y="4476750"/>
            <a:ext cx="8827135" cy="21310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sz="2400" b="1"/>
              <a:t>5. Module</a:t>
            </a:r>
            <a:endParaRPr sz="2400" b="1"/>
          </a:p>
          <a:p>
            <a:pPr>
              <a:spcAft>
                <a:spcPct val="60000"/>
              </a:spcAft>
            </a:pPr>
            <a:r>
              <a:t>A Module is a container that groups related components, services, pipes, and directives together. The main module is AppModule.</a:t>
            </a:r>
          </a:p>
          <a:p>
            <a:r>
              <a:t>You can create feature modules to organize large projects.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75" y="0"/>
            <a:ext cx="10515600" cy="517525"/>
          </a:xfrm>
        </p:spPr>
        <p:txBody>
          <a:bodyPr/>
          <a:p>
            <a:r>
              <a:rPr lang="en-US" sz="2800" b="1">
                <a:solidFill>
                  <a:srgbClr val="FF0000"/>
                </a:solidFill>
              </a:rPr>
              <a:t>Angular Features And Their Implementations</a:t>
            </a:r>
            <a:endParaRPr lang="en-US" sz="28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38430" y="651510"/>
          <a:ext cx="11833860" cy="2178050"/>
        </p:xfrm>
        <a:graphic>
          <a:graphicData uri="http://schemas.openxmlformats.org/drawingml/2006/table">
            <a:tbl>
              <a:tblPr/>
              <a:tblGrid>
                <a:gridCol w="5916930"/>
                <a:gridCol w="5916930"/>
              </a:tblGrid>
              <a:tr h="311150">
                <a:tc>
                  <a:txBody>
                    <a:bodyPr/>
                    <a:p>
                      <a:pPr algn="ctr"/>
                      <a:r>
                        <a:rPr sz="2400" b="1"/>
                        <a:t>Feature</a:t>
                      </a:r>
                      <a:endParaRPr sz="2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400" b="1"/>
                        <a:t>Implemented</a:t>
                      </a:r>
                      <a:endParaRPr sz="2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11150">
                <a:tc>
                  <a:txBody>
                    <a:bodyPr/>
                    <a:p>
                      <a:pPr algn="l"/>
                      <a:r>
                        <a:rPr sz="1800"/>
                        <a:t>Components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✅ User UI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11150">
                <a:tc>
                  <a:txBody>
                    <a:bodyPr/>
                    <a:p>
                      <a:pPr algn="l"/>
                      <a:r>
                        <a:rPr sz="1800"/>
                        <a:t>Services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✅ User data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11150">
                <a:tc>
                  <a:txBody>
                    <a:bodyPr/>
                    <a:p>
                      <a:pPr algn="l"/>
                      <a:r>
                        <a:rPr sz="1800"/>
                        <a:t>Pipes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✅ Capitalize names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11150">
                <a:tc>
                  <a:txBody>
                    <a:bodyPr/>
                    <a:p>
                      <a:pPr algn="l"/>
                      <a:r>
                        <a:rPr sz="1800"/>
                        <a:t>Directives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✅ Highlight VIPs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11150">
                <a:tc>
                  <a:txBody>
                    <a:bodyPr/>
                    <a:p>
                      <a:pPr algn="l"/>
                      <a:r>
                        <a:rPr sz="1800"/>
                        <a:t>Modules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✅ Organized logic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11150">
                <a:tc>
                  <a:txBody>
                    <a:bodyPr/>
                    <a:p>
                      <a:pPr algn="l"/>
                      <a:r>
                        <a:rPr sz="1800"/>
                        <a:t>Routing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800"/>
                        <a:t>✅ Navigation structure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33*188"/>
  <p:tag name="TABLE_ENDDRAG_RECT" val="30*51*533*188"/>
</p:tagLst>
</file>

<file path=ppt/tags/tag2.xml><?xml version="1.0" encoding="utf-8"?>
<p:tagLst xmlns:p="http://schemas.openxmlformats.org/presentationml/2006/main">
  <p:tag name="TABLE_ENDDRAG_ORIGIN_RECT" val="838*302"/>
  <p:tag name="TABLE_ENDDRAG_RECT" val="27*35*838*302"/>
</p:tagLst>
</file>

<file path=ppt/tags/tag3.xml><?xml version="1.0" encoding="utf-8"?>
<p:tagLst xmlns:p="http://schemas.openxmlformats.org/presentationml/2006/main">
  <p:tag name="TABLE_ENDDRAG_ORIGIN_RECT" val="933*171"/>
  <p:tag name="TABLE_ENDDRAG_RECT" val="14*230*933*171"/>
</p:tagLst>
</file>

<file path=ppt/tags/tag4.xml><?xml version="1.0" encoding="utf-8"?>
<p:tagLst xmlns:p="http://schemas.openxmlformats.org/presentationml/2006/main">
  <p:tag name="TABLE_ENDDRAG_ORIGIN_RECT" val="914*204"/>
  <p:tag name="TABLE_ENDDRAG_RECT" val="12*270*914*204"/>
</p:tagLst>
</file>

<file path=ppt/tags/tag5.xml><?xml version="1.0" encoding="utf-8"?>
<p:tagLst xmlns:p="http://schemas.openxmlformats.org/presentationml/2006/main">
  <p:tag name="TABLE_ENDDRAG_ORIGIN_RECT" val="942*134"/>
  <p:tag name="TABLE_ENDDRAG_RECT" val="17*28*942*134"/>
</p:tagLst>
</file>

<file path=ppt/tags/tag6.xml><?xml version="1.0" encoding="utf-8"?>
<p:tagLst xmlns:p="http://schemas.openxmlformats.org/presentationml/2006/main">
  <p:tag name="TABLE_ENDDRAG_ORIGIN_RECT" val="931*171"/>
  <p:tag name="TABLE_ENDDRAG_RECT" val="10*51*931*17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16278</Words>
  <Application>WPS Presentation</Application>
  <PresentationFormat>Widescreen</PresentationFormat>
  <Paragraphs>863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Arial</vt:lpstr>
      <vt:lpstr>SimSun</vt:lpstr>
      <vt:lpstr>Wingdings</vt:lpstr>
      <vt:lpstr>Cambria</vt:lpstr>
      <vt:lpstr>Calibri Light</vt:lpstr>
      <vt:lpstr>Microsoft YaHei</vt:lpstr>
      <vt:lpstr>Arial Unicode MS</vt:lpstr>
      <vt:lpstr>Calibri</vt:lpstr>
      <vt:lpstr>Arial</vt:lpstr>
      <vt:lpstr>Office Theme</vt:lpstr>
      <vt:lpstr>Angular Introduction</vt:lpstr>
      <vt:lpstr>Angular Application</vt:lpstr>
      <vt:lpstr>Applications of Angular</vt:lpstr>
      <vt:lpstr>Introduction Of TypeScript</vt:lpstr>
      <vt:lpstr>Typescript Fundamentals</vt:lpstr>
      <vt:lpstr>TypeScript Fundamentals</vt:lpstr>
      <vt:lpstr>TypeScript Fundaments</vt:lpstr>
      <vt:lpstr>Create New Project With TypeScript</vt:lpstr>
      <vt:lpstr>Package.json</vt:lpstr>
      <vt:lpstr>Typescipt DataTypes</vt:lpstr>
      <vt:lpstr>Typescript Oops</vt:lpstr>
      <vt:lpstr>Class And Object</vt:lpstr>
      <vt:lpstr>2. Constructor</vt:lpstr>
      <vt:lpstr>3. TypeScript Inheritance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 Access Modifiers</vt:lpstr>
      <vt:lpstr>6.Readonly Properties</vt:lpstr>
      <vt:lpstr>7️ Static Members</vt:lpstr>
      <vt:lpstr>8️Abstract Classes</vt:lpstr>
      <vt:lpstr>9️ Interfaces</vt:lpstr>
      <vt:lpstr>🔟 Method Overriding</vt:lpstr>
      <vt:lpstr>11. Getters and Setters</vt:lpstr>
      <vt:lpstr>12. Polymorphism</vt:lpstr>
      <vt:lpstr>Angular Installation</vt:lpstr>
      <vt:lpstr>Angular Project Structure</vt:lpstr>
      <vt:lpstr>Angular Folder Structure Overview</vt:lpstr>
      <vt:lpstr>Angular Folder Structure Overview</vt:lpstr>
      <vt:lpstr>Angular Imp</vt:lpstr>
      <vt:lpstr>Angular </vt:lpstr>
      <vt:lpstr>Components</vt:lpstr>
      <vt:lpstr>Service</vt:lpstr>
      <vt:lpstr>Pipe</vt:lpstr>
      <vt:lpstr>Directives</vt:lpstr>
      <vt:lpstr>Angular Routing</vt:lpstr>
      <vt:lpstr>Angular Module</vt:lpstr>
      <vt:lpstr>Angular Features And Their Implementations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UV-user</dc:creator>
  <cp:lastModifiedBy>Nishank Amte</cp:lastModifiedBy>
  <cp:revision>110</cp:revision>
  <dcterms:created xsi:type="dcterms:W3CDTF">2025-08-07T07:19:00Z</dcterms:created>
  <dcterms:modified xsi:type="dcterms:W3CDTF">2025-08-10T13:23:36Z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7D0C9BCE00094F7BA98F1483BFED0642_11</vt:lpwstr>
  </property>
  <property fmtid="{D5CDD505-2E9C-101B-9397-08002B2CF9AE}" pid="3" name="KSOProductBuildVer">
    <vt:lpwstr>1033-12.2.0.21931</vt:lpwstr>
  </property>
</Properties>
</file>