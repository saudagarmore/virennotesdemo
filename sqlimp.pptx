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313" r:id="rId3"/>
    <p:sldId id="310" r:id="rId4"/>
    <p:sldId id="287" r:id="rId5"/>
    <p:sldId id="257" r:id="rId6"/>
    <p:sldId id="256" r:id="rId7"/>
    <p:sldId id="296" r:id="rId8"/>
    <p:sldId id="297" r:id="rId9"/>
    <p:sldId id="294" r:id="rId10"/>
    <p:sldId id="288" r:id="rId11"/>
    <p:sldId id="289" r:id="rId12"/>
    <p:sldId id="314" r:id="rId13"/>
    <p:sldId id="290" r:id="rId14"/>
    <p:sldId id="293" r:id="rId15"/>
    <p:sldId id="265" r:id="rId16"/>
    <p:sldId id="315" r:id="rId17"/>
    <p:sldId id="316" r:id="rId18"/>
    <p:sldId id="317" r:id="rId19"/>
    <p:sldId id="264" r:id="rId20"/>
    <p:sldId id="319" r:id="rId21"/>
    <p:sldId id="320" r:id="rId22"/>
    <p:sldId id="266" r:id="rId23"/>
    <p:sldId id="300" r:id="rId24"/>
    <p:sldId id="321" r:id="rId25"/>
    <p:sldId id="267" r:id="rId26"/>
    <p:sldId id="305" r:id="rId27"/>
    <p:sldId id="271" r:id="rId28"/>
    <p:sldId id="273" r:id="rId29"/>
    <p:sldId id="274" r:id="rId30"/>
    <p:sldId id="275" r:id="rId31"/>
    <p:sldId id="277" r:id="rId32"/>
    <p:sldId id="323" r:id="rId33"/>
    <p:sldId id="324" r:id="rId34"/>
    <p:sldId id="279" r:id="rId35"/>
    <p:sldId id="280" r:id="rId36"/>
    <p:sldId id="282" r:id="rId37"/>
    <p:sldId id="284" r:id="rId38"/>
    <p:sldId id="325"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3" Type="http://schemas.openxmlformats.org/officeDocument/2006/relationships/tableStyles" Target="tableStyles.xml"/><Relationship Id="rId42" Type="http://schemas.openxmlformats.org/officeDocument/2006/relationships/viewProps" Target="viewProps.xml"/><Relationship Id="rId41" Type="http://schemas.openxmlformats.org/officeDocument/2006/relationships/presProps" Target="presProps.xml"/><Relationship Id="rId40" Type="http://schemas.openxmlformats.org/officeDocument/2006/relationships/notesMaster" Target="notesMasters/notesMaster1.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2235"/>
            <a:ext cx="10515600" cy="398145"/>
          </a:xfrm>
        </p:spPr>
        <p:txBody>
          <a:bodyPr>
            <a:noAutofit/>
          </a:bodyPr>
          <a:p>
            <a:r>
              <a:rPr lang="en-US" altLang="en-US" sz="2400" b="1">
                <a:solidFill>
                  <a:srgbClr val="FF0000"/>
                </a:solidFill>
                <a:sym typeface="+mn-ea"/>
              </a:rPr>
              <a:t>4. Data Control Language (DCL)</a:t>
            </a:r>
            <a:endParaRPr lang="en-US" altLang="en-US" sz="2400" b="1">
              <a:solidFill>
                <a:srgbClr val="FF0000"/>
              </a:solidFill>
              <a:sym typeface="+mn-ea"/>
            </a:endParaRPr>
          </a:p>
        </p:txBody>
      </p:sp>
      <p:sp>
        <p:nvSpPr>
          <p:cNvPr id="3" name="Content Placeholder 2"/>
          <p:cNvSpPr>
            <a:spLocks noGrp="1"/>
          </p:cNvSpPr>
          <p:nvPr>
            <p:ph idx="1"/>
          </p:nvPr>
        </p:nvSpPr>
        <p:spPr>
          <a:xfrm>
            <a:off x="113030" y="500380"/>
            <a:ext cx="11938635" cy="6267450"/>
          </a:xfrm>
        </p:spPr>
        <p:txBody>
          <a:bodyPr>
            <a:normAutofit fontScale="65000"/>
          </a:bodyPr>
          <a:p>
            <a:pPr marL="0" indent="0">
              <a:buNone/>
            </a:pPr>
            <a:r>
              <a:rPr lang="en-US" altLang="en-US"/>
              <a:t>Data Control Language (DCL) is a subset of SQL commands used to control access to data in a database. DCL is primarily concerned with permissions and deals with the rights and privileges of the database users. The main commands in DCL are GRANT and REVOKE.</a:t>
            </a:r>
            <a:endParaRPr lang="en-US" altLang="en-US"/>
          </a:p>
          <a:p>
            <a:pPr marL="0" indent="0">
              <a:buNone/>
            </a:pPr>
            <a:r>
              <a:rPr lang="en-US" altLang="en-US" b="1"/>
              <a:t>1)GRANT</a:t>
            </a:r>
            <a:r>
              <a:rPr lang="en-US" altLang="en-US"/>
              <a:t>: This command is used to give users access privileges to the database. These privileges include SELECT, INSERT, UPDATE, DELETE, and more, which can be granted to users or roles.</a:t>
            </a:r>
            <a:endParaRPr lang="en-US" altLang="en-US"/>
          </a:p>
          <a:p>
            <a:pPr marL="0" indent="0">
              <a:buNone/>
            </a:pPr>
            <a:r>
              <a:rPr lang="en-US" altLang="en-US"/>
              <a:t>Syntax:GRANT privilege_name ON object TO user;</a:t>
            </a:r>
            <a:endParaRPr lang="en-US" altLang="en-US"/>
          </a:p>
          <a:p>
            <a:pPr marL="0" indent="0">
              <a:buNone/>
            </a:pPr>
            <a:r>
              <a:rPr lang="en-US" altLang="en-US"/>
              <a:t>Example:Granting SELECT privilege on a table to a user:</a:t>
            </a:r>
            <a:endParaRPr lang="en-US" altLang="en-US"/>
          </a:p>
          <a:p>
            <a:pPr marL="0" indent="0">
              <a:buNone/>
            </a:pPr>
            <a:r>
              <a:rPr lang="en-US" altLang="en-US"/>
              <a:t>GRANT SELECT ON employees TO user123;</a:t>
            </a:r>
            <a:endParaRPr lang="en-US" altLang="en-US"/>
          </a:p>
          <a:p>
            <a:pPr marL="0" indent="0">
              <a:buNone/>
            </a:pPr>
            <a:r>
              <a:rPr lang="en-US" altLang="en-US"/>
              <a:t>Granting multiple privileges:</a:t>
            </a:r>
            <a:endParaRPr lang="en-US" altLang="en-US"/>
          </a:p>
          <a:p>
            <a:pPr marL="0" indent="0">
              <a:buNone/>
            </a:pPr>
            <a:r>
              <a:rPr lang="en-US" altLang="en-US"/>
              <a:t>GRANT SELECT, UPDATE ON employees TO user123;</a:t>
            </a:r>
            <a:endParaRPr lang="en-US" altLang="en-US"/>
          </a:p>
          <a:p>
            <a:pPr marL="0" indent="0">
              <a:buNone/>
            </a:pPr>
            <a:endParaRPr lang="en-US" altLang="en-US"/>
          </a:p>
          <a:p>
            <a:pPr marL="0" indent="0">
              <a:buNone/>
            </a:pPr>
            <a:r>
              <a:rPr lang="en-US" altLang="en-US"/>
              <a:t>2. </a:t>
            </a:r>
            <a:r>
              <a:rPr lang="en-US" altLang="en-US" b="1"/>
              <a:t>REVOKE</a:t>
            </a:r>
            <a:r>
              <a:rPr lang="en-US" altLang="en-US"/>
              <a:t>: This command is used to remove previously granted privileges from a user or role. It’s the opposite of GRANT and ensures that unauthorized users can’t access sensitive data.</a:t>
            </a:r>
            <a:endParaRPr lang="en-US" altLang="en-US"/>
          </a:p>
          <a:p>
            <a:pPr marL="0" indent="0">
              <a:buNone/>
            </a:pPr>
            <a:r>
              <a:rPr lang="en-US" altLang="en-US"/>
              <a:t>Syntax: REVOKE privilege_name ON object FROM user;</a:t>
            </a:r>
            <a:endParaRPr lang="en-US" altLang="en-US"/>
          </a:p>
          <a:p>
            <a:pPr marL="0" indent="0">
              <a:buNone/>
            </a:pPr>
            <a:r>
              <a:rPr lang="en-US" altLang="en-US"/>
              <a:t>Example:Revoking SELECT privilege:</a:t>
            </a:r>
            <a:endParaRPr lang="en-US" altLang="en-US"/>
          </a:p>
          <a:p>
            <a:pPr marL="0" indent="0">
              <a:buNone/>
            </a:pPr>
            <a:r>
              <a:rPr lang="en-US" altLang="en-US"/>
              <a:t>REVOKE SELECT ON employees FROM user123;</a:t>
            </a:r>
            <a:endParaRPr lang="en-US" altLang="en-US"/>
          </a:p>
          <a:p>
            <a:pPr marL="0" indent="0">
              <a:buNone/>
            </a:pPr>
            <a:r>
              <a:rPr lang="en-US" altLang="en-US"/>
              <a:t>Revoking all privileges:</a:t>
            </a:r>
            <a:endParaRPr lang="en-US" altLang="en-US"/>
          </a:p>
          <a:p>
            <a:pPr marL="0" indent="0">
              <a:buNone/>
            </a:pPr>
            <a:r>
              <a:rPr lang="en-US" altLang="en-US"/>
              <a:t>REVOKE ALL PRIVILEGES ON employees FROM user123;</a:t>
            </a: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69570"/>
          </a:xfrm>
        </p:spPr>
        <p:txBody>
          <a:bodyPr>
            <a:noAutofit/>
          </a:bodyPr>
          <a:p>
            <a:pPr algn="ctr"/>
            <a:r>
              <a:rPr lang="en-US" sz="2400" b="1">
                <a:solidFill>
                  <a:srgbClr val="FF0000"/>
                </a:solidFill>
              </a:rPr>
              <a:t>Adv Java Module And Syllabus</a:t>
            </a:r>
            <a:endParaRPr lang="en-US" sz="2400" b="1">
              <a:solidFill>
                <a:srgbClr val="FF0000"/>
              </a:solidFill>
            </a:endParaRPr>
          </a:p>
        </p:txBody>
      </p:sp>
      <p:sp>
        <p:nvSpPr>
          <p:cNvPr id="4" name="Content Placeholder 2"/>
          <p:cNvSpPr>
            <a:spLocks noGrp="1"/>
          </p:cNvSpPr>
          <p:nvPr/>
        </p:nvSpPr>
        <p:spPr>
          <a:xfrm>
            <a:off x="100330" y="368935"/>
            <a:ext cx="11965305" cy="6489065"/>
          </a:xfrm>
          <a:prstGeom prst="rect">
            <a:avLst/>
          </a:prstGeom>
        </p:spPr>
        <p:txBody>
          <a:bodyPr vert="horz" lIns="91440" tIns="45720" rIns="91440" bIns="45720" rtlCol="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000"/>
              <a:t>SQL(Mysql)</a:t>
            </a:r>
            <a:endParaRPr lang="en-US" altLang="en-US" sz="2000"/>
          </a:p>
        </p:txBody>
      </p:sp>
      <p:sp>
        <p:nvSpPr>
          <p:cNvPr id="5" name="Text Box 4"/>
          <p:cNvSpPr txBox="1"/>
          <p:nvPr/>
        </p:nvSpPr>
        <p:spPr>
          <a:xfrm>
            <a:off x="8637270" y="1678940"/>
            <a:ext cx="3555365" cy="2644775"/>
          </a:xfrm>
          <a:prstGeom prst="rect">
            <a:avLst/>
          </a:prstGeom>
          <a:noFill/>
        </p:spPr>
        <p:txBody>
          <a:bodyPr wrap="square" rtlCol="0" anchor="ctr" anchorCtr="0">
            <a:noAutofit/>
          </a:bodyPr>
          <a:p>
            <a:pPr marL="571500" indent="-571500" algn="l">
              <a:buFont typeface="+mj-lt"/>
              <a:buAutoNum type="romanUcPeriod"/>
            </a:pPr>
            <a:r>
              <a:rPr lang="en-US" sz="2400">
                <a:sym typeface="+mn-ea"/>
              </a:rPr>
              <a:t>SQL (10-12 days)</a:t>
            </a:r>
            <a:endParaRPr lang="en-US" sz="2400"/>
          </a:p>
          <a:p>
            <a:pPr marL="571500" indent="-571500" algn="l">
              <a:buFont typeface="+mj-lt"/>
              <a:buAutoNum type="romanUcPeriod"/>
            </a:pPr>
            <a:r>
              <a:rPr lang="en-US" sz="2400">
                <a:sym typeface="+mn-ea"/>
              </a:rPr>
              <a:t>JDBC (3-4) Days</a:t>
            </a:r>
            <a:endParaRPr lang="en-US" sz="2400"/>
          </a:p>
          <a:p>
            <a:pPr marL="571500" indent="-571500" algn="l">
              <a:buFont typeface="+mj-lt"/>
              <a:buAutoNum type="romanUcPeriod"/>
            </a:pPr>
            <a:r>
              <a:rPr lang="en-US" sz="2400">
                <a:sym typeface="+mn-ea"/>
              </a:rPr>
              <a:t>JSP  (3-4)</a:t>
            </a:r>
            <a:endParaRPr lang="en-US" sz="2400"/>
          </a:p>
          <a:p>
            <a:pPr marL="571500" indent="-571500" algn="l">
              <a:buFont typeface="+mj-lt"/>
              <a:buAutoNum type="romanUcPeriod"/>
            </a:pPr>
            <a:r>
              <a:rPr lang="en-US" sz="2400">
                <a:sym typeface="+mn-ea"/>
              </a:rPr>
              <a:t>Servlet (3-4)</a:t>
            </a:r>
            <a:endParaRPr lang="en-US" sz="2400"/>
          </a:p>
          <a:p>
            <a:pPr marL="571500" indent="-571500" algn="l">
              <a:buFont typeface="+mj-lt"/>
              <a:buAutoNum type="romanUcPeriod"/>
            </a:pPr>
            <a:r>
              <a:rPr lang="en-US" sz="2400">
                <a:sym typeface="+mn-ea"/>
              </a:rPr>
              <a:t>Hibernate (12 days)</a:t>
            </a:r>
            <a:endParaRPr lang="en-US" sz="2400"/>
          </a:p>
          <a:p>
            <a:pPr marL="571500" indent="-571500" algn="l">
              <a:buFont typeface="+mj-lt"/>
              <a:buAutoNum type="romanUcPeriod"/>
            </a:pPr>
            <a:endParaRPr lang="en-US" sz="2400"/>
          </a:p>
        </p:txBody>
      </p:sp>
      <p:sp>
        <p:nvSpPr>
          <p:cNvPr id="3" name="Text Box 2"/>
          <p:cNvSpPr txBox="1"/>
          <p:nvPr/>
        </p:nvSpPr>
        <p:spPr>
          <a:xfrm>
            <a:off x="100330" y="784860"/>
            <a:ext cx="9278620" cy="5929630"/>
          </a:xfrm>
          <a:prstGeom prst="rect">
            <a:avLst/>
          </a:prstGeom>
          <a:noFill/>
        </p:spPr>
        <p:txBody>
          <a:bodyPr wrap="square" rtlCol="0" anchor="t">
            <a:noAutofit/>
          </a:bodyPr>
          <a:p>
            <a:pPr marL="457200" indent="-457200">
              <a:buAutoNum type="arabicPeriod"/>
            </a:pPr>
            <a:r>
              <a:rPr lang="en-US" altLang="en-US" sz="2400">
                <a:solidFill>
                  <a:schemeClr val="tx1"/>
                </a:solidFill>
                <a:sym typeface="+mn-ea"/>
              </a:rPr>
              <a:t>Introduction.</a:t>
            </a:r>
            <a:endParaRPr lang="en-US" altLang="en-US" sz="2400">
              <a:solidFill>
                <a:schemeClr val="tx1"/>
              </a:solidFill>
            </a:endParaRPr>
          </a:p>
          <a:p>
            <a:pPr marL="457200" indent="-457200">
              <a:buAutoNum type="arabicPeriod"/>
            </a:pPr>
            <a:r>
              <a:rPr lang="en-US" altLang="en-US" sz="2400">
                <a:solidFill>
                  <a:schemeClr val="tx1"/>
                </a:solidFill>
                <a:sym typeface="+mn-ea"/>
              </a:rPr>
              <a:t>what is table,database </a:t>
            </a:r>
            <a:endParaRPr lang="en-US" altLang="en-US" sz="2400">
              <a:solidFill>
                <a:schemeClr val="tx1"/>
              </a:solidFill>
            </a:endParaRPr>
          </a:p>
          <a:p>
            <a:pPr marL="457200" indent="-457200">
              <a:buAutoNum type="arabicPeriod"/>
            </a:pPr>
            <a:r>
              <a:rPr lang="en-US" altLang="en-US" sz="2400">
                <a:solidFill>
                  <a:schemeClr val="tx1"/>
                </a:solidFill>
                <a:sym typeface="+mn-ea"/>
              </a:rPr>
              <a:t>DDL,DMl,DQL,tql Commands</a:t>
            </a:r>
            <a:endParaRPr lang="en-US" altLang="en-US" sz="2400">
              <a:solidFill>
                <a:schemeClr val="tx1"/>
              </a:solidFill>
            </a:endParaRPr>
          </a:p>
          <a:p>
            <a:pPr marL="457200" indent="-457200">
              <a:buAutoNum type="arabicPeriod"/>
            </a:pPr>
            <a:r>
              <a:rPr lang="en-US" altLang="en-US" sz="2400">
                <a:solidFill>
                  <a:schemeClr val="tx1"/>
                </a:solidFill>
                <a:sym typeface="+mn-ea"/>
              </a:rPr>
              <a:t>(create,insert,update,delete,alter,drop,rename,truncate,drop etc Commands</a:t>
            </a:r>
            <a:endParaRPr lang="en-US" altLang="en-US" sz="2400">
              <a:solidFill>
                <a:schemeClr val="tx1"/>
              </a:solidFill>
            </a:endParaRPr>
          </a:p>
          <a:p>
            <a:pPr marL="457200" indent="-457200">
              <a:buAutoNum type="arabicPeriod"/>
            </a:pPr>
            <a:r>
              <a:rPr lang="en-US" altLang="en-US" sz="2400">
                <a:solidFill>
                  <a:schemeClr val="tx1"/>
                </a:solidFill>
                <a:sym typeface="+mn-ea"/>
              </a:rPr>
              <a:t>sql Aggreagate Function</a:t>
            </a:r>
            <a:endParaRPr lang="en-US" altLang="en-US" sz="2400">
              <a:solidFill>
                <a:schemeClr val="tx1"/>
              </a:solidFill>
            </a:endParaRPr>
          </a:p>
          <a:p>
            <a:pPr marL="457200" indent="-457200">
              <a:buAutoNum type="arabicPeriod"/>
            </a:pPr>
            <a:r>
              <a:rPr lang="en-US" altLang="en-US" sz="2400">
                <a:solidFill>
                  <a:schemeClr val="tx1"/>
                </a:solidFill>
                <a:sym typeface="+mn-ea"/>
              </a:rPr>
              <a:t>sum,min,max,count,avg</a:t>
            </a:r>
            <a:endParaRPr lang="en-US" altLang="en-US" sz="2400">
              <a:solidFill>
                <a:schemeClr val="tx1"/>
              </a:solidFill>
              <a:sym typeface="+mn-ea"/>
            </a:endParaRPr>
          </a:p>
          <a:p>
            <a:pPr marL="457200" indent="-457200">
              <a:buAutoNum type="arabicPeriod"/>
            </a:pPr>
            <a:r>
              <a:rPr lang="en-US" altLang="en-US" sz="2400">
                <a:solidFill>
                  <a:schemeClr val="tx1"/>
                </a:solidFill>
                <a:sym typeface="+mn-ea"/>
              </a:rPr>
              <a:t>SQL Keys And Constraints </a:t>
            </a:r>
            <a:endParaRPr lang="en-US" altLang="en-US" sz="2400">
              <a:solidFill>
                <a:schemeClr val="tx1"/>
              </a:solidFill>
            </a:endParaRPr>
          </a:p>
          <a:p>
            <a:pPr marL="457200" indent="-457200">
              <a:buAutoNum type="arabicPeriod"/>
            </a:pPr>
            <a:r>
              <a:rPr lang="en-US" altLang="en-US" sz="2400">
                <a:solidFill>
                  <a:srgbClr val="FF0000"/>
                </a:solidFill>
                <a:sym typeface="+mn-ea"/>
              </a:rPr>
              <a:t>sql operators  </a:t>
            </a:r>
            <a:endParaRPr lang="en-US" altLang="en-US" sz="2400">
              <a:solidFill>
                <a:srgbClr val="FF0000"/>
              </a:solidFill>
            </a:endParaRPr>
          </a:p>
          <a:p>
            <a:pPr marL="457200" indent="-457200">
              <a:buAutoNum type="arabicPeriod"/>
            </a:pPr>
            <a:r>
              <a:rPr lang="en-US" altLang="en-US" sz="2400">
                <a:solidFill>
                  <a:srgbClr val="FF0000"/>
                </a:solidFill>
                <a:sym typeface="+mn-ea"/>
              </a:rPr>
              <a:t>sql in not in operators</a:t>
            </a:r>
            <a:endParaRPr lang="en-US" altLang="en-US" sz="2400">
              <a:solidFill>
                <a:srgbClr val="FF0000"/>
              </a:solidFill>
            </a:endParaRPr>
          </a:p>
          <a:p>
            <a:pPr marL="457200" indent="-457200">
              <a:buAutoNum type="arabicPeriod"/>
            </a:pPr>
            <a:r>
              <a:rPr lang="en-US" altLang="en-US" sz="2400">
                <a:solidFill>
                  <a:srgbClr val="FF0000"/>
                </a:solidFill>
                <a:sym typeface="+mn-ea"/>
              </a:rPr>
              <a:t>Sql Clauses Group-by And Order-by ,Having Clause , where clause</a:t>
            </a:r>
            <a:endParaRPr lang="en-US" altLang="en-US" sz="2400">
              <a:solidFill>
                <a:srgbClr val="FF0000"/>
              </a:solidFill>
            </a:endParaRPr>
          </a:p>
          <a:p>
            <a:pPr marL="457200" indent="-457200">
              <a:buAutoNum type="arabicPeriod"/>
            </a:pPr>
            <a:r>
              <a:rPr lang="en-US" altLang="en-US" sz="2400">
                <a:solidFill>
                  <a:srgbClr val="FF0000"/>
                </a:solidFill>
                <a:sym typeface="+mn-ea"/>
              </a:rPr>
              <a:t>sql Like ,limit, opeartors</a:t>
            </a:r>
            <a:endParaRPr lang="en-US" altLang="en-US" sz="2400">
              <a:solidFill>
                <a:srgbClr val="FF0000"/>
              </a:solidFill>
              <a:sym typeface="+mn-ea"/>
            </a:endParaRPr>
          </a:p>
          <a:p>
            <a:pPr marL="457200" indent="-457200">
              <a:buAutoNum type="arabicPeriod"/>
            </a:pPr>
            <a:r>
              <a:rPr lang="en-US" altLang="en-US" sz="2400">
                <a:solidFill>
                  <a:srgbClr val="FF0000"/>
                </a:solidFill>
                <a:sym typeface="+mn-ea"/>
              </a:rPr>
              <a:t>SQL Joins and its types</a:t>
            </a:r>
            <a:endParaRPr lang="en-US" altLang="en-US" sz="2400">
              <a:solidFill>
                <a:srgbClr val="FF0000"/>
              </a:solidFill>
              <a:sym typeface="+mn-ea"/>
            </a:endParaRPr>
          </a:p>
          <a:p>
            <a:pPr marL="457200" indent="-457200">
              <a:buAutoNum type="arabicPeriod"/>
            </a:pPr>
            <a:r>
              <a:rPr lang="en-US" altLang="en-US" sz="2400">
                <a:solidFill>
                  <a:srgbClr val="FF0000"/>
                </a:solidFill>
                <a:sym typeface="+mn-ea"/>
              </a:rPr>
              <a:t>sql Procedures create, drop ,alter </a:t>
            </a:r>
            <a:endParaRPr lang="en-US" altLang="en-US" sz="2400">
              <a:solidFill>
                <a:srgbClr val="FF0000"/>
              </a:solidFill>
            </a:endParaRPr>
          </a:p>
          <a:p>
            <a:pPr marL="457200" indent="-457200">
              <a:buAutoNum type="arabicPeriod"/>
            </a:pPr>
            <a:r>
              <a:rPr lang="en-US" altLang="en-US" sz="2400">
                <a:solidFill>
                  <a:srgbClr val="FF0000"/>
                </a:solidFill>
                <a:sym typeface="+mn-ea"/>
              </a:rPr>
              <a:t>calling procedure.</a:t>
            </a:r>
            <a:endParaRPr lang="en-US" altLang="en-US" sz="2400">
              <a:solidFill>
                <a:srgbClr val="FF0000"/>
              </a:solidFill>
              <a:sym typeface="+mn-ea"/>
            </a:endParaRPr>
          </a:p>
          <a:p>
            <a:pPr marL="457200" indent="-457200">
              <a:buAutoNum type="arabicPeriod"/>
            </a:pPr>
            <a:r>
              <a:rPr lang="en-US" altLang="en-US" sz="2400">
                <a:solidFill>
                  <a:schemeClr val="tx1"/>
                </a:solidFill>
                <a:sym typeface="+mn-ea"/>
              </a:rPr>
              <a:t>Sql Subqueries</a:t>
            </a:r>
            <a:endParaRPr lang="en-US" altLang="en-US" sz="2400">
              <a:solidFill>
                <a:schemeClr val="tx1"/>
              </a:solidFill>
            </a:endParaRPr>
          </a:p>
          <a:p>
            <a:pPr marL="457200" indent="-457200">
              <a:buAutoNum type="arabicPeriod"/>
            </a:pPr>
            <a:endParaRPr lang="en-US" altLang="en-US" sz="2400">
              <a:solidFill>
                <a:schemeClr val="tx1"/>
              </a:solidFill>
              <a:sym typeface="+mn-e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756285" y="146050"/>
            <a:ext cx="10515600" cy="341630"/>
          </a:xfrm>
        </p:spPr>
        <p:txBody>
          <a:bodyPr>
            <a:noAutofit/>
          </a:bodyPr>
          <a:p>
            <a:pPr algn="ctr"/>
            <a:r>
              <a:rPr lang="en-US" sz="2400" b="1">
                <a:solidFill>
                  <a:srgbClr val="FF0000"/>
                </a:solidFill>
              </a:rPr>
              <a:t>What is  Sql</a:t>
            </a:r>
            <a:endParaRPr lang="en-US" sz="2400" b="1">
              <a:solidFill>
                <a:srgbClr val="FF0000"/>
              </a:solidFill>
            </a:endParaRPr>
          </a:p>
        </p:txBody>
      </p:sp>
      <p:sp>
        <p:nvSpPr>
          <p:cNvPr id="3" name="Content Placeholder 2"/>
          <p:cNvSpPr>
            <a:spLocks noGrp="1"/>
          </p:cNvSpPr>
          <p:nvPr>
            <p:ph idx="1"/>
          </p:nvPr>
        </p:nvSpPr>
        <p:spPr>
          <a:xfrm>
            <a:off x="180975" y="579755"/>
            <a:ext cx="11884025" cy="6062345"/>
          </a:xfrm>
        </p:spPr>
        <p:txBody>
          <a:bodyPr>
            <a:noAutofit/>
          </a:bodyPr>
          <a:p>
            <a:pPr marL="0" indent="0">
              <a:buNone/>
            </a:pPr>
            <a:r>
              <a:rPr lang="en-US" altLang="en-US" sz="1800">
                <a:sym typeface="+mn-ea"/>
              </a:rPr>
              <a:t>SQL (Structured Query Language) is a programming language used to store, retrieve, manage, and manipulate data in relational databases.</a:t>
            </a:r>
            <a:endParaRPr lang="en-US" altLang="en-US" sz="1800"/>
          </a:p>
          <a:p>
            <a:pPr marL="0" indent="0">
              <a:buNone/>
            </a:pPr>
            <a:r>
              <a:rPr lang="en-US" altLang="en-US" sz="1800"/>
              <a:t>SQL (Structured Query Language) is a standard programming language used to manage and manipulate relational databases. It allows users to create, read, update, and delete data — often referred to as CRUD operations.</a:t>
            </a:r>
            <a:endParaRPr lang="en-US" altLang="en-US" sz="1800"/>
          </a:p>
          <a:p>
            <a:pPr marL="0" indent="0">
              <a:buNone/>
            </a:pPr>
            <a:endParaRPr lang="en-US" altLang="en-US" sz="1800"/>
          </a:p>
          <a:p>
            <a:pPr marL="0" indent="0">
              <a:buNone/>
            </a:pPr>
            <a:r>
              <a:rPr lang="en-US" altLang="en-US" sz="2000" b="1">
                <a:solidFill>
                  <a:srgbClr val="FF0000"/>
                </a:solidFill>
              </a:rPr>
              <a:t> Why SQL is Used For:</a:t>
            </a:r>
            <a:endParaRPr lang="en-US" altLang="en-US" sz="2000" b="1">
              <a:solidFill>
                <a:srgbClr val="FF0000"/>
              </a:solidFill>
            </a:endParaRPr>
          </a:p>
          <a:p>
            <a:pPr marL="0" indent="0">
              <a:buNone/>
            </a:pPr>
            <a:r>
              <a:rPr lang="en-US" altLang="en-US" sz="1800"/>
              <a:t>Querying data</a:t>
            </a:r>
            <a:endParaRPr lang="en-US" altLang="en-US" sz="1800"/>
          </a:p>
          <a:p>
            <a:pPr marL="0" indent="0">
              <a:buNone/>
            </a:pPr>
            <a:r>
              <a:rPr lang="en-US" altLang="en-US" sz="1800"/>
              <a:t>Inserting new data</a:t>
            </a:r>
            <a:endParaRPr lang="en-US" altLang="en-US" sz="1800"/>
          </a:p>
          <a:p>
            <a:pPr marL="0" indent="0">
              <a:buNone/>
            </a:pPr>
            <a:r>
              <a:rPr lang="en-US" altLang="en-US" sz="1800"/>
              <a:t>Updating existing data</a:t>
            </a:r>
            <a:endParaRPr lang="en-US" altLang="en-US" sz="1800"/>
          </a:p>
          <a:p>
            <a:pPr marL="0" indent="0">
              <a:buNone/>
            </a:pPr>
            <a:r>
              <a:rPr lang="en-US" altLang="en-US" sz="1800"/>
              <a:t>Deleting data</a:t>
            </a:r>
            <a:endParaRPr lang="en-US" altLang="en-US" sz="1800"/>
          </a:p>
          <a:p>
            <a:pPr marL="0" indent="0">
              <a:buNone/>
            </a:pPr>
            <a:r>
              <a:rPr lang="en-US" altLang="en-US" sz="1800"/>
              <a:t>Creating or modifying tables and databases</a:t>
            </a:r>
            <a:endParaRPr lang="en-US" altLang="en-US" sz="1800"/>
          </a:p>
          <a:p>
            <a:pPr marL="0" indent="0">
              <a:buNone/>
            </a:pPr>
            <a:endParaRPr lang="en-US" altLang="en-US" sz="1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635"/>
            <a:ext cx="11997055" cy="569595"/>
          </a:xfrm>
        </p:spPr>
        <p:txBody>
          <a:bodyPr/>
          <a:p>
            <a:pPr algn="ctr"/>
            <a:r>
              <a:rPr lang="en-US" sz="2400" b="1">
                <a:solidFill>
                  <a:srgbClr val="FF0000"/>
                </a:solidFill>
              </a:rPr>
              <a:t>History Of Sql</a:t>
            </a:r>
            <a:endParaRPr lang="en-US" sz="2400" b="1">
              <a:solidFill>
                <a:srgbClr val="FF0000"/>
              </a:solidFill>
            </a:endParaRPr>
          </a:p>
        </p:txBody>
      </p:sp>
      <p:sp>
        <p:nvSpPr>
          <p:cNvPr id="3" name="Content Placeholder 2"/>
          <p:cNvSpPr>
            <a:spLocks noGrp="1"/>
          </p:cNvSpPr>
          <p:nvPr>
            <p:ph idx="1"/>
          </p:nvPr>
        </p:nvSpPr>
        <p:spPr>
          <a:xfrm>
            <a:off x="167640" y="570230"/>
            <a:ext cx="11912600" cy="5289550"/>
          </a:xfrm>
        </p:spPr>
        <p:txBody>
          <a:bodyPr/>
          <a:p>
            <a:pPr marL="0" indent="0">
              <a:buNone/>
            </a:pPr>
            <a:r>
              <a:rPr lang="en-US" altLang="en-US" sz="2000"/>
              <a:t>1970: Edgar F. Codd at IBM proposes the relational database model, which organizes data into tables.</a:t>
            </a:r>
            <a:endParaRPr lang="en-US" altLang="en-US" sz="2000"/>
          </a:p>
          <a:p>
            <a:r>
              <a:rPr lang="en-US" altLang="en-US" sz="2000"/>
              <a:t>1974: </a:t>
            </a:r>
            <a:r>
              <a:rPr lang="en-US" altLang="en-US" sz="2000" b="1"/>
              <a:t>Donald D. Chamberlin and Raymond F. Boyce </a:t>
            </a:r>
            <a:r>
              <a:rPr lang="en-US" altLang="en-US" sz="2000"/>
              <a:t>at IBM create SEQUEL (later renamed SQL) to query relational databases.</a:t>
            </a:r>
            <a:endParaRPr lang="en-US" altLang="en-US" sz="2000"/>
          </a:p>
          <a:p>
            <a:r>
              <a:rPr lang="en-US" altLang="en-US" sz="2000"/>
              <a:t>1978: IBM builds a prototype database system called System R, using SQL successfully.</a:t>
            </a:r>
            <a:endParaRPr lang="en-US" altLang="en-US" sz="2000"/>
          </a:p>
          <a:p>
            <a:r>
              <a:rPr lang="en-US" altLang="en-US" sz="2000"/>
              <a:t>1981: IBM releases its first commercial SQL-based product, SQL/DS.</a:t>
            </a:r>
            <a:endParaRPr lang="en-US" altLang="en-US" sz="2000"/>
          </a:p>
          <a:p>
            <a:r>
              <a:rPr lang="en-US" altLang="en-US" sz="2000"/>
              <a:t>1986: SQL becomes an official ANSI standard, adopted worldwide.</a:t>
            </a:r>
            <a:endParaRPr lang="en-US" altLang="en-US" sz="2000"/>
          </a:p>
          <a:p>
            <a:r>
              <a:rPr lang="en-US" altLang="en-US" sz="2000"/>
              <a:t>1990s–Present: SQL becomes the universal language for managing structured data across countless systems — from MySQL and PostgreSQL to cloud databases.</a:t>
            </a:r>
            <a:endParaRPr lang="en-US" altLang="en-US" sz="2000"/>
          </a:p>
          <a:p>
            <a:endParaRPr lang="en-US" altLang="en-US" sz="2000" b="1">
              <a:solidFill>
                <a:srgbClr val="FF0000"/>
              </a:solidFill>
              <a:sym typeface="+mn-ea"/>
            </a:endParaRPr>
          </a:p>
          <a:p>
            <a:r>
              <a:rPr lang="en-US" altLang="en-US" sz="2000" b="1">
                <a:solidFill>
                  <a:srgbClr val="FF0000"/>
                </a:solidFill>
                <a:sym typeface="+mn-ea"/>
              </a:rPr>
              <a:t>Who Developed SQL?</a:t>
            </a:r>
            <a:endParaRPr lang="en-US" altLang="en-US" sz="2000" b="1">
              <a:solidFill>
                <a:srgbClr val="FF0000"/>
              </a:solidFill>
              <a:sym typeface="+mn-ea"/>
            </a:endParaRPr>
          </a:p>
          <a:p>
            <a:r>
              <a:rPr lang="en-US" altLang="en-US" sz="2000">
                <a:sym typeface="+mn-ea"/>
              </a:rPr>
              <a:t>SQL was developed at IBM in the early 1970s by Donald D. Chamberlin and Raymond F. Boyce.</a:t>
            </a:r>
            <a:endParaRPr lang="en-US" altLang="en-US" sz="2000"/>
          </a:p>
          <a:p>
            <a:pPr marL="457200" indent="-457200">
              <a:buAutoNum type="arabicPeriod"/>
            </a:pPr>
            <a:r>
              <a:rPr lang="en-US" altLang="en-US" sz="2000">
                <a:sym typeface="+mn-ea"/>
              </a:rPr>
              <a:t>They created SQL as part of a research project called System R at IBM's San Jose Research Laboratory.</a:t>
            </a:r>
            <a:endParaRPr lang="en-US" altLang="en-US" sz="2000"/>
          </a:p>
          <a:p>
            <a:pPr marL="457200" indent="-457200">
              <a:buAutoNum type="arabicPeriod"/>
            </a:pPr>
            <a:r>
              <a:rPr lang="en-US" altLang="en-US" sz="2000">
                <a:sym typeface="+mn-ea"/>
              </a:rPr>
              <a:t>It was originally called SEQUEL (Structured English Query Language), intended to interact with relational databases using a language that resembled English.</a:t>
            </a:r>
            <a:endParaRPr lang="en-US" altLang="en-US" sz="20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ctrTitle"/>
          </p:nvPr>
        </p:nvSpPr>
        <p:spPr>
          <a:xfrm>
            <a:off x="1524000" y="0"/>
            <a:ext cx="9144000" cy="444500"/>
          </a:xfrm>
        </p:spPr>
        <p:txBody>
          <a:bodyPr>
            <a:noAutofit/>
          </a:bodyPr>
          <a:p>
            <a:r>
              <a:rPr lang="en-US" altLang="en-US" sz="2800" b="1">
                <a:solidFill>
                  <a:srgbClr val="FF0000"/>
                </a:solidFill>
                <a:sym typeface="+mn-ea"/>
              </a:rPr>
              <a:t>Where User Sql </a:t>
            </a:r>
            <a:endParaRPr lang="en-US" altLang="en-US" sz="2800">
              <a:sym typeface="+mn-ea"/>
            </a:endParaRPr>
          </a:p>
        </p:txBody>
      </p:sp>
      <p:sp>
        <p:nvSpPr>
          <p:cNvPr id="3" name="Subtitle 2"/>
          <p:cNvSpPr>
            <a:spLocks noGrp="1"/>
          </p:cNvSpPr>
          <p:nvPr>
            <p:ph type="subTitle" idx="1"/>
          </p:nvPr>
        </p:nvSpPr>
        <p:spPr>
          <a:xfrm>
            <a:off x="128270" y="444500"/>
            <a:ext cx="11907520" cy="6223000"/>
          </a:xfrm>
        </p:spPr>
        <p:txBody>
          <a:bodyPr>
            <a:noAutofit/>
          </a:bodyPr>
          <a:p>
            <a:pPr algn="l"/>
            <a:r>
              <a:rPr lang="en-US" altLang="en-US" sz="1800">
                <a:sym typeface="+mn-ea"/>
              </a:rPr>
              <a:t>SQL, or Structured Query Language, is the backbone of database management. It offers various commands and functionalities to handle data in a database. </a:t>
            </a:r>
            <a:endParaRPr lang="en-US" altLang="en-US" sz="1800">
              <a:sym typeface="+mn-ea"/>
            </a:endParaRPr>
          </a:p>
          <a:p>
            <a:pPr algn="l"/>
            <a:endParaRPr lang="zh-CN" altLang="en-US" sz="1800"/>
          </a:p>
          <a:p>
            <a:pPr algn="l"/>
            <a:r>
              <a:rPr lang="zh-CN" altLang="en-US" sz="1800"/>
              <a:t>🔹</a:t>
            </a:r>
            <a:r>
              <a:rPr lang="en-US" altLang="en-US" sz="1800"/>
              <a:t> Databases:</a:t>
            </a:r>
            <a:endParaRPr lang="en-US" altLang="en-US" sz="1800"/>
          </a:p>
          <a:p>
            <a:pPr algn="l"/>
            <a:r>
              <a:rPr lang="en-US" altLang="en-US" sz="1800" b="1"/>
              <a:t>MySQL          </a:t>
            </a:r>
            <a:r>
              <a:rPr lang="en-US" altLang="en-US" sz="1800"/>
              <a:t>PostgreSQL       Oracle Database      SQL Server     SQLite</a:t>
            </a:r>
            <a:endParaRPr lang="en-US" altLang="en-US" sz="1800"/>
          </a:p>
          <a:p>
            <a:pPr algn="l"/>
            <a:endParaRPr lang="zh-CN" altLang="en-US" sz="1800"/>
          </a:p>
          <a:p>
            <a:pPr algn="l"/>
            <a:r>
              <a:rPr lang="zh-CN" altLang="en-US" sz="1800"/>
              <a:t>🔹</a:t>
            </a:r>
            <a:r>
              <a:rPr lang="en-US" altLang="en-US" sz="1800"/>
              <a:t> Web &amp; App Development:</a:t>
            </a:r>
            <a:endParaRPr lang="en-US" altLang="en-US" sz="1800"/>
          </a:p>
          <a:p>
            <a:pPr algn="l"/>
            <a:r>
              <a:rPr lang="en-US" altLang="en-US" sz="1800"/>
              <a:t>Backend servers use SQL to store and retrieve user data.</a:t>
            </a:r>
            <a:endParaRPr lang="en-US" altLang="en-US" sz="1800"/>
          </a:p>
          <a:p>
            <a:pPr algn="l"/>
            <a:r>
              <a:rPr lang="en-US" altLang="en-US" sz="1800"/>
              <a:t>Examples: Instagram, YouTube, online stores, booking sites.</a:t>
            </a:r>
            <a:endParaRPr lang="en-US" altLang="en-US" sz="1800"/>
          </a:p>
          <a:p>
            <a:pPr algn="l"/>
            <a:r>
              <a:rPr lang="zh-CN" altLang="en-US" sz="1800"/>
              <a:t>🔹</a:t>
            </a:r>
            <a:r>
              <a:rPr lang="en-US" altLang="en-US" sz="1800"/>
              <a:t> Data Analysis:</a:t>
            </a:r>
            <a:endParaRPr lang="en-US" altLang="en-US" sz="1800"/>
          </a:p>
          <a:p>
            <a:pPr algn="l"/>
            <a:r>
              <a:rPr lang="en-US" altLang="en-US" sz="1800"/>
              <a:t>Tools like Power BI, Tableau, and Excel use SQL to fetch and analyze data.</a:t>
            </a:r>
            <a:endParaRPr lang="en-US" altLang="en-US" sz="1800"/>
          </a:p>
          <a:p>
            <a:pPr algn="l"/>
            <a:r>
              <a:rPr lang="zh-CN" altLang="en-US" sz="1800"/>
              <a:t>🔹</a:t>
            </a:r>
            <a:r>
              <a:rPr lang="en-US" altLang="en-US" sz="1800"/>
              <a:t> Cloud Platforms:</a:t>
            </a:r>
            <a:endParaRPr lang="en-US" altLang="en-US" sz="1800"/>
          </a:p>
          <a:p>
            <a:pPr algn="l"/>
            <a:r>
              <a:rPr lang="en-US" altLang="en-US" sz="1800"/>
              <a:t>Amazon Redshift, Google BigQuery, Azure SQL Database all support SQL.</a:t>
            </a:r>
            <a:endParaRPr lang="en-US" altLang="en-US" sz="1800"/>
          </a:p>
          <a:p>
            <a:pPr algn="l"/>
            <a:r>
              <a:rPr lang="zh-CN" altLang="en-US" sz="1800"/>
              <a:t>🔹</a:t>
            </a:r>
            <a:r>
              <a:rPr lang="en-US" altLang="en-US" sz="1800"/>
              <a:t> Data Warehousing &amp; ETL:</a:t>
            </a:r>
            <a:endParaRPr lang="en-US" altLang="en-US" sz="1800"/>
          </a:p>
          <a:p>
            <a:pPr algn="l"/>
            <a:r>
              <a:rPr lang="en-US" altLang="en-US" sz="1800"/>
              <a:t>Moving, transforming, and cleaning large datasets using SQL pipelines.</a:t>
            </a:r>
            <a:endParaRPr lang="en-US" altLang="en-US"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59410" y="91440"/>
            <a:ext cx="10515600" cy="328295"/>
          </a:xfrm>
        </p:spPr>
        <p:txBody>
          <a:bodyPr>
            <a:normAutofit fontScale="90000"/>
          </a:bodyPr>
          <a:p>
            <a:pPr algn="ctr"/>
            <a:r>
              <a:rPr lang="en-US" sz="2800" b="1">
                <a:solidFill>
                  <a:srgbClr val="FF0000"/>
                </a:solidFill>
              </a:rPr>
              <a:t>What is Database</a:t>
            </a:r>
            <a:endParaRPr lang="en-US" sz="2800" b="1">
              <a:solidFill>
                <a:srgbClr val="FF0000"/>
              </a:solidFill>
            </a:endParaRPr>
          </a:p>
        </p:txBody>
      </p:sp>
      <p:sp>
        <p:nvSpPr>
          <p:cNvPr id="3" name="Content Placeholder 2"/>
          <p:cNvSpPr>
            <a:spLocks noGrp="1"/>
          </p:cNvSpPr>
          <p:nvPr>
            <p:ph idx="1"/>
          </p:nvPr>
        </p:nvSpPr>
        <p:spPr>
          <a:xfrm>
            <a:off x="167640" y="419735"/>
            <a:ext cx="11938635" cy="6322695"/>
          </a:xfrm>
        </p:spPr>
        <p:txBody>
          <a:bodyPr>
            <a:noAutofit/>
          </a:bodyPr>
          <a:p>
            <a:pPr marL="0" indent="0">
              <a:buNone/>
            </a:pPr>
            <a:r>
              <a:rPr lang="en-US" altLang="en-US" sz="1800"/>
              <a:t>A database is an organized collection of data that is stored and accessed electronically. Databases are used to store, manage, and retrieve information efficiently.</a:t>
            </a:r>
            <a:endParaRPr lang="en-US" altLang="en-US" sz="1800"/>
          </a:p>
          <a:p>
            <a:pPr marL="0" indent="0">
              <a:buNone/>
            </a:pPr>
            <a:r>
              <a:rPr lang="en-US" altLang="en-US" sz="1800"/>
              <a:t>A database is an organized collection of data stored dynamically.  It allows users to efficiently store, retrieve, and manage information. Databases are managed by software called a Database Management System (DBMS).</a:t>
            </a:r>
            <a:endParaRPr lang="en-US" altLang="en-US" sz="1800"/>
          </a:p>
          <a:p>
            <a:pPr marL="0" indent="0">
              <a:buNone/>
            </a:pPr>
            <a:r>
              <a:rPr lang="en-US" altLang="en-US" sz="1800" b="1"/>
              <a:t>Key Concepts:</a:t>
            </a:r>
            <a:endParaRPr lang="en-US" altLang="en-US" sz="1800" b="1"/>
          </a:p>
          <a:p>
            <a:pPr marL="0" indent="0">
              <a:buNone/>
            </a:pPr>
            <a:r>
              <a:rPr lang="en-US" altLang="en-US" sz="1800"/>
              <a:t>Data: Information stored in a structured format (e.g., text, numbers, dates).</a:t>
            </a:r>
            <a:endParaRPr lang="en-US" altLang="en-US" sz="1800"/>
          </a:p>
          <a:p>
            <a:pPr marL="0" indent="0">
              <a:buNone/>
            </a:pPr>
            <a:r>
              <a:rPr lang="en-US" altLang="en-US" sz="1800"/>
              <a:t>Database Management System (DBMS): Software used to interact with the database (e.g., MySQL, PostgreSQL, Oracle).</a:t>
            </a:r>
            <a:endParaRPr lang="en-US" altLang="en-US" sz="1800"/>
          </a:p>
          <a:p>
            <a:pPr marL="0" indent="0">
              <a:buNone/>
            </a:pPr>
            <a:r>
              <a:rPr lang="en-US" altLang="en-US" sz="1800"/>
              <a:t>Tables: In relational databases, data is stored in tables (like spreadsheets) with rows and columns.</a:t>
            </a:r>
            <a:endParaRPr lang="en-US" altLang="en-US" sz="1800"/>
          </a:p>
          <a:p>
            <a:pPr marL="0" indent="0">
              <a:buNone/>
            </a:pPr>
            <a:r>
              <a:rPr lang="en-US" altLang="en-US" sz="1800"/>
              <a:t>Queries: Commands (usually written in SQL) used to retrieve or manipulate data.</a:t>
            </a:r>
            <a:endParaRPr lang="en-US" altLang="en-US" sz="1800"/>
          </a:p>
          <a:p>
            <a:pPr marL="0" indent="0">
              <a:buNone/>
            </a:pPr>
            <a:r>
              <a:rPr lang="en-US" altLang="en-US" sz="1800" b="1"/>
              <a:t>Types of Databases:</a:t>
            </a:r>
            <a:endParaRPr lang="en-US" altLang="en-US" sz="1800" b="1"/>
          </a:p>
          <a:p>
            <a:pPr marL="0" indent="0">
              <a:buNone/>
            </a:pPr>
            <a:r>
              <a:rPr lang="en-US" altLang="en-US" sz="1800" b="1"/>
              <a:t>Relational Databases (RDBMS):</a:t>
            </a:r>
            <a:endParaRPr lang="en-US" altLang="en-US" sz="1800" b="1"/>
          </a:p>
          <a:p>
            <a:pPr marL="0" indent="0">
              <a:buNone/>
            </a:pPr>
            <a:r>
              <a:rPr lang="en-US" altLang="en-US" sz="1800"/>
              <a:t>Data is stored in tables.</a:t>
            </a:r>
            <a:endParaRPr lang="en-US" altLang="en-US" sz="1800"/>
          </a:p>
          <a:p>
            <a:pPr marL="0" indent="0">
              <a:buNone/>
            </a:pPr>
            <a:r>
              <a:rPr lang="en-US" altLang="en-US" sz="1800"/>
              <a:t>Uses SQL (Structured Query Language).</a:t>
            </a:r>
            <a:endParaRPr lang="en-US" altLang="en-US" sz="1800"/>
          </a:p>
          <a:p>
            <a:pPr marL="0" indent="0">
              <a:buNone/>
            </a:pPr>
            <a:r>
              <a:rPr lang="en-US" altLang="en-US" sz="1800"/>
              <a:t>Examples: MySQL, PostgreSQL, Oracle, Microsoft SQL Server.</a:t>
            </a:r>
            <a:endParaRPr lang="en-US" altLang="en-US" sz="1800"/>
          </a:p>
          <a:p>
            <a:pPr marL="0" indent="0">
              <a:buNone/>
            </a:pPr>
            <a:r>
              <a:rPr lang="en-US" altLang="en-US" sz="1800" b="1"/>
              <a:t>NoSQL Databases:</a:t>
            </a:r>
            <a:endParaRPr lang="en-US" altLang="en-US" sz="1800" b="1"/>
          </a:p>
          <a:p>
            <a:pPr marL="0" indent="0">
              <a:buNone/>
            </a:pPr>
            <a:r>
              <a:rPr lang="en-US" altLang="en-US" sz="1800"/>
              <a:t>Used for unstructured or semi-structured data.</a:t>
            </a:r>
            <a:endParaRPr lang="en-US" altLang="en-US" sz="1800"/>
          </a:p>
          <a:p>
            <a:pPr marL="0" indent="0">
              <a:buNone/>
            </a:pPr>
            <a:r>
              <a:rPr lang="en-US" altLang="en-US" sz="1800"/>
              <a:t>Types: document-based (MongoDB), key-value (Redis), graph (Neo4j), column-family (Cassandra).</a:t>
            </a:r>
            <a:endParaRPr lang="en-US" altLang="en-US" sz="1800"/>
          </a:p>
          <a:p>
            <a:pPr marL="0" indent="0">
              <a:buNone/>
            </a:pPr>
            <a:r>
              <a:rPr lang="en-US" altLang="en-US" sz="1800"/>
              <a:t>More flexible with schema design.</a:t>
            </a:r>
            <a:endParaRPr lang="en-US" altLang="en-US" sz="1800"/>
          </a:p>
          <a:p>
            <a:pPr marL="0" indent="0">
              <a:buNone/>
            </a:pPr>
            <a:endParaRPr lang="en-US" alt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77800" y="238125"/>
            <a:ext cx="11859260" cy="6295390"/>
          </a:xfrm>
        </p:spPr>
        <p:txBody>
          <a:bodyPr/>
          <a:p>
            <a:pPr marL="0" indent="0">
              <a:buNone/>
            </a:pPr>
            <a:r>
              <a:rPr lang="en-US" altLang="en-US" sz="1800" b="1">
                <a:sym typeface="+mn-ea"/>
              </a:rPr>
              <a:t>In-memory Databases:</a:t>
            </a:r>
            <a:endParaRPr lang="en-US" altLang="en-US" sz="1800" b="1"/>
          </a:p>
          <a:p>
            <a:pPr marL="0" indent="0">
              <a:buNone/>
            </a:pPr>
            <a:r>
              <a:rPr lang="en-US" altLang="en-US" sz="1800">
                <a:sym typeface="+mn-ea"/>
              </a:rPr>
              <a:t>Data is stored in RAM for fast access.</a:t>
            </a:r>
            <a:endParaRPr lang="en-US" altLang="en-US" sz="1800"/>
          </a:p>
          <a:p>
            <a:pPr marL="0" indent="0">
              <a:buNone/>
            </a:pPr>
            <a:r>
              <a:rPr lang="en-US" altLang="en-US" sz="1800">
                <a:sym typeface="+mn-ea"/>
              </a:rPr>
              <a:t>Example: Redis.</a:t>
            </a:r>
            <a:endParaRPr lang="en-US" altLang="en-US" sz="1800"/>
          </a:p>
          <a:p>
            <a:pPr marL="0" indent="0">
              <a:buNone/>
            </a:pPr>
            <a:r>
              <a:rPr lang="en-US" altLang="en-US" sz="1800" b="1">
                <a:sym typeface="+mn-ea"/>
              </a:rPr>
              <a:t>Cloud Databases:</a:t>
            </a:r>
            <a:endParaRPr lang="en-US" altLang="en-US" sz="1800" b="1"/>
          </a:p>
          <a:p>
            <a:pPr marL="0" indent="0">
              <a:buNone/>
            </a:pPr>
            <a:r>
              <a:rPr lang="en-US" altLang="en-US" sz="1800">
                <a:sym typeface="+mn-ea"/>
              </a:rPr>
              <a:t>Hosted on cloud platforms (e.g., AWS, Google Cloud, Azure).</a:t>
            </a:r>
            <a:endParaRPr lang="en-US" altLang="en-US" sz="1800"/>
          </a:p>
          <a:p>
            <a:pPr marL="0" indent="0">
              <a:buNone/>
            </a:pPr>
            <a:r>
              <a:rPr lang="en-US" altLang="en-US" sz="1800">
                <a:sym typeface="+mn-ea"/>
              </a:rPr>
              <a:t>Examples: Amazon RDS, Firebase, Google BigQuery.</a:t>
            </a:r>
            <a:endParaRPr lang="en-US" altLang="en-US" sz="1800"/>
          </a:p>
          <a:p>
            <a:endParaRPr lang="en-US" altLang="en-US" sz="1800"/>
          </a:p>
        </p:txBody>
      </p:sp>
      <p:sp>
        <p:nvSpPr>
          <p:cNvPr id="2" name="Title 1"/>
          <p:cNvSpPr>
            <a:spLocks noGrp="1"/>
          </p:cNvSpPr>
          <p:nvPr>
            <p:ph type="title"/>
          </p:nvPr>
        </p:nvSpPr>
        <p:spPr>
          <a:xfrm>
            <a:off x="177800" y="2544445"/>
            <a:ext cx="10515600" cy="368300"/>
          </a:xfrm>
        </p:spPr>
        <p:txBody>
          <a:bodyPr>
            <a:normAutofit fontScale="90000"/>
          </a:bodyPr>
          <a:p>
            <a:pPr algn="ctr"/>
            <a:r>
              <a:rPr lang="en-US" sz="2800" b="1">
                <a:solidFill>
                  <a:srgbClr val="FF0000"/>
                </a:solidFill>
              </a:rPr>
              <a:t>Installation of Mysql workbench in windows 10,11</a:t>
            </a:r>
            <a:endParaRPr lang="en-US" sz="2800" b="1">
              <a:solidFill>
                <a:srgbClr val="FF00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400050"/>
          </a:xfrm>
        </p:spPr>
        <p:txBody>
          <a:bodyPr>
            <a:noAutofit/>
          </a:bodyPr>
          <a:p>
            <a:r>
              <a:rPr lang="en-US" sz="2000" b="1">
                <a:solidFill>
                  <a:srgbClr val="FF0000"/>
                </a:solidFill>
              </a:rPr>
              <a:t>Datatypes of Sql for Mysql Workbench</a:t>
            </a:r>
            <a:endParaRPr lang="en-US" sz="2000" b="1">
              <a:solidFill>
                <a:srgbClr val="FF0000"/>
              </a:solidFill>
            </a:endParaRPr>
          </a:p>
        </p:txBody>
      </p:sp>
      <p:graphicFrame>
        <p:nvGraphicFramePr>
          <p:cNvPr id="4" name="Table 3"/>
          <p:cNvGraphicFramePr/>
          <p:nvPr>
            <p:custDataLst>
              <p:tags r:id="rId1"/>
            </p:custDataLst>
          </p:nvPr>
        </p:nvGraphicFramePr>
        <p:xfrm>
          <a:off x="0" y="291465"/>
          <a:ext cx="12192635" cy="6567170"/>
        </p:xfrm>
        <a:graphic>
          <a:graphicData uri="http://schemas.openxmlformats.org/drawingml/2006/table">
            <a:tbl>
              <a:tblPr/>
              <a:tblGrid>
                <a:gridCol w="1708150"/>
                <a:gridCol w="2146935"/>
                <a:gridCol w="8337550"/>
              </a:tblGrid>
              <a:tr h="304800">
                <a:tc>
                  <a:txBody>
                    <a:bodyPr/>
                    <a:p>
                      <a:pPr algn="ctr"/>
                      <a:r>
                        <a:rPr sz="2000" b="1"/>
                        <a:t>Category</a:t>
                      </a:r>
                      <a:endParaRPr sz="20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b="1"/>
                        <a:t>Data Type</a:t>
                      </a:r>
                      <a:endParaRPr sz="20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b="1"/>
                        <a:t>Description</a:t>
                      </a:r>
                      <a:endParaRPr sz="2000" b="1"/>
                    </a:p>
                  </a:txBody>
                  <a:tcPr marL="0" marR="0" marT="0" marB="0" anchor="ctr" anchorCtr="0">
                    <a:lnL>
                      <a:noFill/>
                    </a:lnL>
                    <a:lnR>
                      <a:noFill/>
                    </a:lnR>
                    <a:lnT>
                      <a:noFill/>
                    </a:lnT>
                    <a:lnB>
                      <a:noFill/>
                    </a:lnB>
                    <a:solidFill>
                      <a:schemeClr val="accent1">
                        <a:lumMod val="40000"/>
                        <a:lumOff val="60000"/>
                      </a:schemeClr>
                    </a:solidFill>
                  </a:tcPr>
                </a:tc>
              </a:tr>
              <a:tr h="276860">
                <a:tc>
                  <a:txBody>
                    <a:bodyPr/>
                    <a:p>
                      <a:r>
                        <a:rPr sz="1800"/>
                        <a:t>Numeric</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TINYINT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Very small integer (-128 to 127 or 0 to 255 if UNSIGNED)</a:t>
                      </a:r>
                      <a:r>
                        <a:rPr lang="en-US" sz="1800"/>
                        <a:t> short </a:t>
                      </a:r>
                      <a:endParaRPr lang="en-US" sz="1800"/>
                    </a:p>
                  </a:txBody>
                  <a:tcPr marL="0" marR="0" marT="0" marB="0" anchor="ctr" anchorCtr="0">
                    <a:lnL>
                      <a:noFill/>
                    </a:lnL>
                    <a:lnR>
                      <a:noFill/>
                    </a:lnR>
                    <a:lnT>
                      <a:noFill/>
                    </a:lnT>
                    <a:lnB>
                      <a:noFill/>
                    </a:lnB>
                    <a:solidFill>
                      <a:schemeClr val="accent1">
                        <a:lumMod val="40000"/>
                        <a:lumOff val="60000"/>
                      </a:schemeClr>
                    </a:solidFill>
                  </a:tcPr>
                </a:tc>
              </a:tr>
              <a:tr h="276860">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SMALLINT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Small integer (-32,768 to 32,767)</a:t>
                      </a:r>
                      <a:endParaRPr sz="1800"/>
                    </a:p>
                  </a:txBody>
                  <a:tcPr marL="0" marR="0" marT="0" marB="0" anchor="ctr" anchorCtr="0">
                    <a:lnL>
                      <a:noFill/>
                    </a:lnL>
                    <a:lnR>
                      <a:noFill/>
                    </a:lnR>
                    <a:lnT>
                      <a:noFill/>
                    </a:lnT>
                    <a:lnB>
                      <a:noFill/>
                    </a:lnB>
                    <a:solidFill>
                      <a:schemeClr val="accent1">
                        <a:lumMod val="40000"/>
                        <a:lumOff val="60000"/>
                      </a:schemeClr>
                    </a:solidFill>
                  </a:tcPr>
                </a:tc>
              </a:tr>
              <a:tr h="276225">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INT / INTEGER</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Standard integer (-2,147,483,648 to 2,147,483,647)</a:t>
                      </a:r>
                      <a:endParaRPr sz="1800"/>
                    </a:p>
                  </a:txBody>
                  <a:tcPr marL="0" marR="0" marT="0" marB="0" anchor="ctr" anchorCtr="0">
                    <a:lnL>
                      <a:noFill/>
                    </a:lnL>
                    <a:lnR>
                      <a:noFill/>
                    </a:lnR>
                    <a:lnT>
                      <a:noFill/>
                    </a:lnT>
                    <a:lnB>
                      <a:noFill/>
                    </a:lnB>
                    <a:solidFill>
                      <a:schemeClr val="accent1">
                        <a:lumMod val="40000"/>
                        <a:lumOff val="60000"/>
                      </a:schemeClr>
                    </a:solidFill>
                  </a:tcPr>
                </a:tc>
              </a:tr>
              <a:tr h="276860">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BIGINT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Large integer (-9 quintillion range)</a:t>
                      </a:r>
                      <a:r>
                        <a:rPr lang="en-US" sz="1800"/>
                        <a:t>              1000000000</a:t>
                      </a:r>
                      <a:endParaRPr lang="en-US" sz="1800"/>
                    </a:p>
                  </a:txBody>
                  <a:tcPr marL="0" marR="0" marT="0" marB="0" anchor="ctr" anchorCtr="0">
                    <a:lnL>
                      <a:noFill/>
                    </a:lnL>
                    <a:lnR>
                      <a:noFill/>
                    </a:lnR>
                    <a:lnT>
                      <a:noFill/>
                    </a:lnT>
                    <a:lnB>
                      <a:noFill/>
                    </a:lnB>
                    <a:solidFill>
                      <a:schemeClr val="accent1">
                        <a:lumMod val="40000"/>
                        <a:lumOff val="60000"/>
                      </a:schemeClr>
                    </a:solidFill>
                  </a:tcPr>
                </a:tc>
              </a:tr>
              <a:tr h="527685">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DECIMAL(p,s)</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Exact fixed-point number — great for currency (e.g., DECIMAL(10,2) for 99999999.99)</a:t>
                      </a:r>
                      <a:endParaRPr sz="1800"/>
                    </a:p>
                  </a:txBody>
                  <a:tcPr marL="0" marR="0" marT="0" marB="0" anchor="ctr" anchorCtr="0">
                    <a:lnL>
                      <a:noFill/>
                    </a:lnL>
                    <a:lnR>
                      <a:noFill/>
                    </a:lnR>
                    <a:lnT>
                      <a:noFill/>
                    </a:lnT>
                    <a:lnB>
                      <a:noFill/>
                    </a:lnB>
                    <a:solidFill>
                      <a:schemeClr val="accent1">
                        <a:lumMod val="40000"/>
                        <a:lumOff val="60000"/>
                      </a:schemeClr>
                    </a:solidFill>
                  </a:tcPr>
                </a:tc>
              </a:tr>
              <a:tr h="276860">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FLOAT(p)</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Approximate decimal, faster but less precise</a:t>
                      </a:r>
                      <a:endParaRPr sz="1800"/>
                    </a:p>
                  </a:txBody>
                  <a:tcPr marL="0" marR="0" marT="0" marB="0" anchor="ctr" anchorCtr="0">
                    <a:lnL>
                      <a:noFill/>
                    </a:lnL>
                    <a:lnR>
                      <a:noFill/>
                    </a:lnR>
                    <a:lnT>
                      <a:noFill/>
                    </a:lnT>
                    <a:lnB>
                      <a:noFill/>
                    </a:lnB>
                    <a:solidFill>
                      <a:schemeClr val="accent1">
                        <a:lumMod val="40000"/>
                        <a:lumOff val="60000"/>
                      </a:schemeClr>
                    </a:solidFill>
                  </a:tcPr>
                </a:tc>
              </a:tr>
              <a:tr h="276225">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DOUBLE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Double-precision floating point</a:t>
                      </a:r>
                      <a:endParaRPr sz="1800"/>
                    </a:p>
                  </a:txBody>
                  <a:tcPr marL="0" marR="0" marT="0" marB="0" anchor="ctr" anchorCtr="0">
                    <a:lnL>
                      <a:noFill/>
                    </a:lnL>
                    <a:lnR>
                      <a:noFill/>
                    </a:lnR>
                    <a:lnT>
                      <a:noFill/>
                    </a:lnT>
                    <a:lnB>
                      <a:noFill/>
                    </a:lnB>
                    <a:solidFill>
                      <a:schemeClr val="accent1">
                        <a:lumMod val="40000"/>
                        <a:lumOff val="60000"/>
                      </a:schemeClr>
                    </a:solidFill>
                  </a:tcPr>
                </a:tc>
              </a:tr>
              <a:tr h="276860">
                <a:tc>
                  <a:txBody>
                    <a:bodyPr/>
                    <a:p>
                      <a:r>
                        <a:rPr sz="1800"/>
                        <a:t> String</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CHAR(n)</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Fixed-length string (e.g., CHAR(5) always stores 5 characters)</a:t>
                      </a:r>
                      <a:endParaRPr lang="en-US" sz="1800"/>
                    </a:p>
                  </a:txBody>
                  <a:tcPr marL="0" marR="0" marT="0" marB="0" anchor="ctr" anchorCtr="0">
                    <a:lnL>
                      <a:noFill/>
                    </a:lnL>
                    <a:lnR>
                      <a:noFill/>
                    </a:lnR>
                    <a:lnT>
                      <a:noFill/>
                    </a:lnT>
                    <a:lnB>
                      <a:noFill/>
                    </a:lnB>
                    <a:solidFill>
                      <a:schemeClr val="accent1">
                        <a:lumMod val="40000"/>
                        <a:lumOff val="60000"/>
                      </a:schemeClr>
                    </a:solidFill>
                  </a:tcPr>
                </a:tc>
              </a:tr>
              <a:tr h="528320">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VARCHAR(n)</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Variable-length string up to 65,535 bytes (depending on encoding &amp; row size)</a:t>
                      </a:r>
                      <a:endParaRPr sz="1800"/>
                    </a:p>
                  </a:txBody>
                  <a:tcPr marL="0" marR="0" marT="0" marB="0" anchor="ctr" anchorCtr="0">
                    <a:lnL>
                      <a:noFill/>
                    </a:lnL>
                    <a:lnR>
                      <a:noFill/>
                    </a:lnR>
                    <a:lnT>
                      <a:noFill/>
                    </a:lnT>
                    <a:lnB>
                      <a:noFill/>
                    </a:lnB>
                    <a:solidFill>
                      <a:schemeClr val="accent1">
                        <a:lumMod val="40000"/>
                        <a:lumOff val="60000"/>
                      </a:schemeClr>
                    </a:solidFill>
                  </a:tcPr>
                </a:tc>
              </a:tr>
              <a:tr h="276225">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TEXT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Long text data up to 65,535 characters</a:t>
                      </a:r>
                      <a:endParaRPr sz="1800"/>
                    </a:p>
                  </a:txBody>
                  <a:tcPr marL="0" marR="0" marT="0" marB="0" anchor="ctr" anchorCtr="0">
                    <a:lnL>
                      <a:noFill/>
                    </a:lnL>
                    <a:lnR>
                      <a:noFill/>
                    </a:lnR>
                    <a:lnT>
                      <a:noFill/>
                    </a:lnT>
                    <a:lnB>
                      <a:noFill/>
                    </a:lnB>
                    <a:solidFill>
                      <a:schemeClr val="accent1">
                        <a:lumMod val="40000"/>
                        <a:lumOff val="60000"/>
                      </a:schemeClr>
                    </a:solidFill>
                  </a:tcPr>
                </a:tc>
              </a:tr>
              <a:tr h="277495">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TINYTEXT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Very small text (up to 255 characters)</a:t>
                      </a:r>
                      <a:endParaRPr sz="1800"/>
                    </a:p>
                  </a:txBody>
                  <a:tcPr marL="0" marR="0" marT="0" marB="0" anchor="ctr" anchorCtr="0">
                    <a:lnL>
                      <a:noFill/>
                    </a:lnL>
                    <a:lnR>
                      <a:noFill/>
                    </a:lnR>
                    <a:lnT>
                      <a:noFill/>
                    </a:lnT>
                    <a:lnB>
                      <a:noFill/>
                    </a:lnB>
                    <a:solidFill>
                      <a:schemeClr val="accent1">
                        <a:lumMod val="40000"/>
                        <a:lumOff val="60000"/>
                      </a:schemeClr>
                    </a:solidFill>
                  </a:tcPr>
                </a:tc>
              </a:tr>
              <a:tr h="276225">
                <a:tc>
                  <a:txBody>
                    <a:bodyPr/>
                    <a:p>
                      <a:r>
                        <a:rPr sz="1800"/>
                        <a:t> Date/Time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DATE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Stores date only (YYYY-MM-DD)</a:t>
                      </a:r>
                      <a:r>
                        <a:rPr lang="en-US" sz="1800"/>
                        <a:t> (DD-MM-YYYY)   26-09-2025   2025-09-26</a:t>
                      </a:r>
                      <a:endParaRPr lang="en-US" sz="1800"/>
                    </a:p>
                  </a:txBody>
                  <a:tcPr marL="0" marR="0" marT="0" marB="0" anchor="ctr" anchorCtr="0">
                    <a:lnL>
                      <a:noFill/>
                    </a:lnL>
                    <a:lnR>
                      <a:noFill/>
                    </a:lnR>
                    <a:lnT>
                      <a:noFill/>
                    </a:lnT>
                    <a:lnB>
                      <a:noFill/>
                    </a:lnB>
                    <a:solidFill>
                      <a:schemeClr val="accent1">
                        <a:lumMod val="40000"/>
                        <a:lumOff val="60000"/>
                      </a:schemeClr>
                    </a:solidFill>
                  </a:tcPr>
                </a:tc>
              </a:tr>
              <a:tr h="276225">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TIME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Stores time only (HH:MM:SS)</a:t>
                      </a:r>
                      <a:endParaRPr sz="1800"/>
                    </a:p>
                  </a:txBody>
                  <a:tcPr marL="0" marR="0" marT="0" marB="0" anchor="ctr" anchorCtr="0">
                    <a:lnL>
                      <a:noFill/>
                    </a:lnL>
                    <a:lnR>
                      <a:noFill/>
                    </a:lnR>
                    <a:lnT>
                      <a:noFill/>
                    </a:lnT>
                    <a:lnB>
                      <a:noFill/>
                    </a:lnB>
                    <a:solidFill>
                      <a:schemeClr val="accent1">
                        <a:lumMod val="40000"/>
                        <a:lumOff val="60000"/>
                      </a:schemeClr>
                    </a:solidFill>
                  </a:tcPr>
                </a:tc>
              </a:tr>
              <a:tr h="276860">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DATETIME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Date and time (YYYY-MM-DD HH:MM:SS)</a:t>
                      </a:r>
                      <a:endParaRPr sz="1800"/>
                    </a:p>
                  </a:txBody>
                  <a:tcPr marL="0" marR="0" marT="0" marB="0" anchor="ctr" anchorCtr="0">
                    <a:lnL>
                      <a:noFill/>
                    </a:lnL>
                    <a:lnR>
                      <a:noFill/>
                    </a:lnR>
                    <a:lnT>
                      <a:noFill/>
                    </a:lnT>
                    <a:lnB>
                      <a:noFill/>
                    </a:lnB>
                    <a:solidFill>
                      <a:schemeClr val="accent1">
                        <a:lumMod val="40000"/>
                        <a:lumOff val="60000"/>
                      </a:schemeClr>
                    </a:solidFill>
                  </a:tcPr>
                </a:tc>
              </a:tr>
              <a:tr h="528320">
                <a:tc>
                  <a:txBody>
                    <a:bodyPr/>
                    <a:p>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TIMESTAMP</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Like DATETIME, but also tracks time zone changes and can auto-update on row change</a:t>
                      </a:r>
                      <a:endParaRPr sz="1800"/>
                    </a:p>
                  </a:txBody>
                  <a:tcPr marL="0" marR="0" marT="0" marB="0" anchor="ctr" anchorCtr="0">
                    <a:lnL>
                      <a:noFill/>
                    </a:lnL>
                    <a:lnR>
                      <a:noFill/>
                    </a:lnR>
                    <a:lnT>
                      <a:noFill/>
                    </a:lnT>
                    <a:lnB>
                      <a:noFill/>
                    </a:lnB>
                    <a:solidFill>
                      <a:schemeClr val="accent1">
                        <a:lumMod val="40000"/>
                        <a:lumOff val="60000"/>
                      </a:schemeClr>
                    </a:solidFill>
                  </a:tcPr>
                </a:tc>
              </a:tr>
              <a:tr h="276860">
                <a:tc>
                  <a:txBody>
                    <a:bodyPr/>
                    <a:p>
                      <a:r>
                        <a:rPr sz="1800"/>
                        <a:t> Boolean</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BOOLEAN / BOOL</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Alias for TINYINT(1) — stores 0 (false) or 1 (true)</a:t>
                      </a:r>
                      <a:endParaRPr sz="1800"/>
                    </a:p>
                  </a:txBody>
                  <a:tcPr marL="0" marR="0" marT="0" marB="0" anchor="ctr" anchorCtr="0">
                    <a:lnL>
                      <a:noFill/>
                    </a:lnL>
                    <a:lnR>
                      <a:noFill/>
                    </a:lnR>
                    <a:lnT>
                      <a:noFill/>
                    </a:lnT>
                    <a:lnB>
                      <a:noFill/>
                    </a:lnB>
                    <a:solidFill>
                      <a:schemeClr val="accent1">
                        <a:lumMod val="40000"/>
                        <a:lumOff val="60000"/>
                      </a:schemeClr>
                    </a:solidFill>
                  </a:tcPr>
                </a:tc>
              </a:tr>
              <a:tr h="276860">
                <a:tc>
                  <a:txBody>
                    <a:bodyPr/>
                    <a:p>
                      <a:r>
                        <a:rPr sz="1800"/>
                        <a:t> Binary</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BLOB</a:t>
                      </a:r>
                      <a:r>
                        <a:rPr lang="en-US" sz="1800"/>
                        <a:t>/CloB</a:t>
                      </a:r>
                      <a:endParaRPr lang="en-US"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Binary Large Object — used for images, files, encrypted data</a:t>
                      </a:r>
                      <a:endParaRPr sz="1800"/>
                    </a:p>
                  </a:txBody>
                  <a:tcPr marL="0" marR="0" marT="0" marB="0" anchor="ctr" anchorCtr="0">
                    <a:lnL>
                      <a:noFill/>
                    </a:lnL>
                    <a:lnR>
                      <a:noFill/>
                    </a:lnR>
                    <a:lnT>
                      <a:noFill/>
                    </a:lnT>
                    <a:lnB>
                      <a:noFill/>
                    </a:lnB>
                    <a:solidFill>
                      <a:schemeClr val="accent1">
                        <a:lumMod val="40000"/>
                        <a:lumOff val="60000"/>
                      </a:schemeClr>
                    </a:solidFill>
                  </a:tcPr>
                </a:tc>
              </a:tr>
              <a:tr h="528320">
                <a:tc>
                  <a:txBody>
                    <a:bodyPr/>
                    <a:p>
                      <a:r>
                        <a:rPr sz="1800"/>
                        <a:t> Enum/Set</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ENUM(...)</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String object with predefined set of values (e.g., ENUM('small', 'medium', 'large'))</a:t>
                      </a:r>
                      <a:endParaRPr sz="1800"/>
                    </a:p>
                  </a:txBody>
                  <a:tcPr marL="0" marR="0" marT="0" marB="0" anchor="ctr" anchorCtr="0">
                    <a:lnL>
                      <a:noFill/>
                    </a:lnL>
                    <a:lnR>
                      <a:noFill/>
                    </a:lnR>
                    <a:lnT>
                      <a:noFill/>
                    </a:lnT>
                    <a:lnB>
                      <a:noFill/>
                    </a:lnB>
                    <a:solidFill>
                      <a:schemeClr val="accent1">
                        <a:lumMod val="40000"/>
                        <a:lumOff val="60000"/>
                      </a:schemeClr>
                    </a:solidFill>
                  </a:tcPr>
                </a:tc>
              </a:tr>
              <a:tr h="276225">
                <a:tc>
                  <a:txBody>
                    <a:bodyPr/>
                    <a:p>
                      <a:r>
                        <a:rPr sz="1800"/>
                        <a:t> JSON</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JSON</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r>
                        <a:rPr sz="1800"/>
                        <a:t>Stores JSON-formatted data (MySQL 5.7+)</a:t>
                      </a:r>
                      <a:endParaRPr sz="18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0" y="-635"/>
            <a:ext cx="12192000" cy="6858635"/>
          </a:xfrm>
        </p:spPr>
        <p:txBody>
          <a:bodyPr>
            <a:noAutofit/>
          </a:bodyPr>
          <a:p>
            <a:pPr marL="0" indent="0">
              <a:buNone/>
            </a:pPr>
            <a:r>
              <a:rPr lang="en-US" altLang="en-US" sz="1800"/>
              <a:t>1. </a:t>
            </a:r>
            <a:r>
              <a:rPr lang="en-US" altLang="en-US" sz="2000" b="1">
                <a:solidFill>
                  <a:srgbClr val="FF0000"/>
                </a:solidFill>
              </a:rPr>
              <a:t>Data Definition Language (DDL)</a:t>
            </a:r>
            <a:endParaRPr lang="en-US" altLang="en-US" sz="2000" b="1">
              <a:solidFill>
                <a:srgbClr val="FF0000"/>
              </a:solidFill>
            </a:endParaRPr>
          </a:p>
          <a:p>
            <a:pPr marL="0" indent="0">
              <a:buNone/>
            </a:pPr>
            <a:r>
              <a:rPr lang="en-US" altLang="en-US" sz="1800"/>
              <a:t>The Data Definition Language (DDL) encompasses a series of SQL commands specifically aimed at designing and shaping the structure of a database. Its primary function is to define and manage the schema, or blueprint, of database objects. DDL includes SQL statements that are responsible for creating, altering, and removing database structures, distinct from the data they contain. These commands are generally reserved for database administrators or developers, as they directly impact the database’s architecture. </a:t>
            </a:r>
            <a:endParaRPr lang="en-US" altLang="en-US" sz="1800"/>
          </a:p>
          <a:p>
            <a:pPr marL="0" indent="0">
              <a:buNone/>
            </a:pPr>
            <a:r>
              <a:rPr lang="en-US" altLang="en-US" sz="2000" b="1"/>
              <a:t>DDL commands:</a:t>
            </a:r>
            <a:endParaRPr lang="en-US" altLang="en-US" sz="2000" b="1"/>
          </a:p>
          <a:p>
            <a:pPr marL="0" indent="0">
              <a:buNone/>
            </a:pPr>
            <a:r>
              <a:rPr lang="en-US" altLang="en-US" sz="1800" b="1"/>
              <a:t>CREATE</a:t>
            </a:r>
            <a:r>
              <a:rPr lang="en-US" altLang="en-US" sz="1800"/>
              <a:t>: Utilized for the creation of databases and various database objects such as tables, views, indexes, stored procedures, functions, and triggers.</a:t>
            </a:r>
            <a:endParaRPr lang="en-US" altLang="en-US" sz="1800"/>
          </a:p>
          <a:p>
            <a:pPr marL="0" indent="0">
              <a:buNone/>
            </a:pPr>
            <a:r>
              <a:rPr lang="en-US" altLang="en-US" sz="1800" b="1"/>
              <a:t>DROP</a:t>
            </a:r>
            <a:r>
              <a:rPr lang="en-US" altLang="en-US" sz="1800"/>
              <a:t>: Employed to remove objects from a database. Deleting tables, views, indexes, or other database structures when they are no longer needed.    ALTER TABLE table_name DROP COLUMN column_name;</a:t>
            </a:r>
            <a:endParaRPr lang="en-US" altLang="en-US" sz="1800"/>
          </a:p>
          <a:p>
            <a:pPr marL="0" indent="0">
              <a:buNone/>
            </a:pPr>
            <a:r>
              <a:rPr lang="en-US" altLang="en-US" sz="1800" b="1"/>
              <a:t>ALTER</a:t>
            </a:r>
            <a:r>
              <a:rPr lang="en-US" altLang="en-US" sz="1800"/>
              <a:t>: Used to modify the design or structure of an existing database. Changing attributes of database elements, like altering table schemas or modifying column properties.</a:t>
            </a:r>
            <a:endParaRPr lang="en-US" altLang="en-US" sz="1800"/>
          </a:p>
          <a:p>
            <a:pPr marL="0" indent="0">
              <a:buNone/>
            </a:pPr>
            <a:r>
              <a:rPr lang="en-US" altLang="en-US" sz="1800"/>
              <a:t>ALTER TABLE table_name RENAME COLUMN name TO full_name;</a:t>
            </a:r>
            <a:endParaRPr lang="en-US" altLang="en-US" sz="1800"/>
          </a:p>
          <a:p>
            <a:pPr marL="0" indent="0">
              <a:buNone/>
            </a:pPr>
            <a:r>
              <a:rPr lang="en-US" altLang="en-US" sz="1800" b="1"/>
              <a:t>TRUNCATE</a:t>
            </a:r>
            <a:r>
              <a:rPr lang="en-US" altLang="en-US" sz="1800"/>
              <a:t>: Employed to delete all records from a table, including freeing up space allocated for those records. Quickly remove all data from a table while retaining the table structure for future use.</a:t>
            </a:r>
            <a:endParaRPr lang="en-US" altLang="en-US" sz="1800"/>
          </a:p>
          <a:p>
            <a:pPr marL="0" indent="0">
              <a:buNone/>
            </a:pPr>
            <a:r>
              <a:rPr lang="en-US" altLang="en-US" sz="1800" b="1"/>
              <a:t>COMMENT</a:t>
            </a:r>
            <a:r>
              <a:rPr lang="en-US" altLang="en-US" sz="1800"/>
              <a:t>: Used for adding comments to the data dictionary. Documenting the database by adding descriptive text to database objects, enhancing readability and maintainability.     -&gt;alter table  table_name modify  column_name varchar(100) comment 'imp name'; </a:t>
            </a:r>
            <a:endParaRPr lang="en-US" altLang="en-US" sz="1800"/>
          </a:p>
          <a:p>
            <a:pPr marL="0" indent="0">
              <a:buNone/>
            </a:pPr>
            <a:r>
              <a:rPr lang="en-US" altLang="en-US" sz="1800"/>
              <a:t>SHOW FULL COLUMNS FROM table_name;</a:t>
            </a:r>
            <a:endParaRPr lang="en-US" altLang="en-US" sz="1800"/>
          </a:p>
          <a:p>
            <a:pPr marL="0" indent="0">
              <a:buNone/>
            </a:pPr>
            <a:r>
              <a:rPr lang="en-US" altLang="en-US" sz="1800" b="1"/>
              <a:t>RENAME</a:t>
            </a:r>
            <a:r>
              <a:rPr lang="en-US" altLang="en-US" sz="1800"/>
              <a:t>: Utilized for changing the name of an existing database object. Updating names of database elements to better reflect their purpose or to comply with naming conventions.   RENAME TABLE table_name TO  new_table_name;</a:t>
            </a:r>
            <a:endParaRPr lang="en-US" altLang="en-US" sz="1800"/>
          </a:p>
          <a:p>
            <a:pPr marL="0" indent="0">
              <a:buNone/>
            </a:pPr>
            <a:endParaRPr lang="en-US" altLang="en-US" sz="18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635"/>
            <a:ext cx="10515600" cy="328295"/>
          </a:xfrm>
        </p:spPr>
        <p:txBody>
          <a:bodyPr>
            <a:noAutofit/>
          </a:bodyPr>
          <a:p>
            <a:r>
              <a:rPr lang="en-US" sz="2400" b="1">
                <a:solidFill>
                  <a:srgbClr val="FF0000"/>
                </a:solidFill>
              </a:rPr>
              <a:t>DDL Command Code</a:t>
            </a:r>
            <a:endParaRPr lang="en-US" sz="2400" b="1">
              <a:solidFill>
                <a:srgbClr val="FF0000"/>
              </a:solidFill>
            </a:endParaRPr>
          </a:p>
        </p:txBody>
      </p:sp>
      <p:pic>
        <p:nvPicPr>
          <p:cNvPr id="4" name="Picture 3"/>
          <p:cNvPicPr/>
          <p:nvPr/>
        </p:nvPicPr>
        <p:blipFill>
          <a:blip r:embed="rId1"/>
          <a:stretch>
            <a:fillRect/>
          </a:stretch>
        </p:blipFill>
        <p:spPr>
          <a:xfrm>
            <a:off x="-635" y="328295"/>
            <a:ext cx="12193270" cy="652970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97155" y="-635"/>
            <a:ext cx="11959590" cy="5644515"/>
          </a:xfrm>
        </p:spPr>
        <p:txBody>
          <a:bodyPr/>
          <a:p>
            <a:pPr marL="0" indent="0">
              <a:buNone/>
            </a:pPr>
            <a:r>
              <a:rPr lang="en-US" altLang="en-US" sz="1600"/>
              <a:t>CREATE TABLE employees (</a:t>
            </a:r>
            <a:endParaRPr lang="en-US" altLang="en-US" sz="1600"/>
          </a:p>
          <a:p>
            <a:pPr marL="0" indent="0">
              <a:buNone/>
            </a:pPr>
            <a:r>
              <a:rPr lang="en-US" altLang="en-US" sz="1600"/>
              <a:t>    id INT,     name VARCHAR(50)</a:t>
            </a:r>
            <a:endParaRPr lang="en-US" altLang="en-US" sz="1600"/>
          </a:p>
          <a:p>
            <a:pPr marL="0" indent="0">
              <a:buNone/>
            </a:pPr>
            <a:r>
              <a:rPr lang="en-US" altLang="en-US" sz="1600"/>
              <a:t>) COMMENT='Employee master data';</a:t>
            </a:r>
            <a:endParaRPr lang="en-US" altLang="en-US" sz="1600"/>
          </a:p>
          <a:p>
            <a:pPr marL="0" indent="0">
              <a:buNone/>
            </a:pPr>
            <a:r>
              <a:rPr lang="en-US" altLang="en-US" sz="1600"/>
              <a:t>CREATE TABLE employees (</a:t>
            </a:r>
            <a:endParaRPr lang="en-US" altLang="en-US" sz="1600"/>
          </a:p>
          <a:p>
            <a:pPr marL="0" indent="0">
              <a:buNone/>
            </a:pPr>
            <a:r>
              <a:rPr lang="en-US" altLang="en-US" sz="1600"/>
              <a:t>    id INT COMMENT 'Primary key',</a:t>
            </a:r>
            <a:endParaRPr lang="en-US" altLang="en-US" sz="1600"/>
          </a:p>
          <a:p>
            <a:pPr marL="0" indent="0">
              <a:buNone/>
            </a:pPr>
            <a:r>
              <a:rPr lang="en-US" altLang="en-US" sz="1600"/>
              <a:t>    name VARCHAR(50) COMMENT 'Full name of the employee');</a:t>
            </a:r>
            <a:endParaRPr lang="en-US" altLang="en-US" sz="1600"/>
          </a:p>
          <a:p>
            <a:pPr marL="0" indent="0">
              <a:buNone/>
            </a:pPr>
            <a:endParaRPr lang="en-US" altLang="en-US" sz="1600"/>
          </a:p>
          <a:p>
            <a:pPr marL="0" indent="0">
              <a:buNone/>
            </a:pPr>
            <a:endParaRPr lang="en-US" altLang="en-US" sz="1600"/>
          </a:p>
          <a:p>
            <a:pPr marL="0" indent="0">
              <a:buNone/>
            </a:pPr>
            <a:endParaRPr lang="en-US" altLang="en-US" sz="1600"/>
          </a:p>
        </p:txBody>
      </p:sp>
      <p:sp>
        <p:nvSpPr>
          <p:cNvPr id="2" name="Text Box 1"/>
          <p:cNvSpPr txBox="1"/>
          <p:nvPr/>
        </p:nvSpPr>
        <p:spPr>
          <a:xfrm>
            <a:off x="4301490" y="243840"/>
            <a:ext cx="6096000" cy="337185"/>
          </a:xfrm>
          <a:prstGeom prst="rect">
            <a:avLst/>
          </a:prstGeom>
          <a:noFill/>
        </p:spPr>
        <p:txBody>
          <a:bodyPr wrap="square" rtlCol="0" anchor="t">
            <a:spAutoFit/>
          </a:bodyPr>
          <a:p>
            <a:pPr marL="0" indent="0">
              <a:buNone/>
            </a:pPr>
            <a:r>
              <a:rPr lang="en-US" altLang="en-US" sz="1600">
                <a:sym typeface="+mn-ea"/>
              </a:rPr>
              <a:t>SHOW FULL COLUMNS FROM employees;</a:t>
            </a:r>
            <a:endParaRPr lang="en-US" altLang="en-US" sz="1600">
              <a:sym typeface="+mn-ea"/>
            </a:endParaRPr>
          </a:p>
        </p:txBody>
      </p:sp>
      <p:sp>
        <p:nvSpPr>
          <p:cNvPr id="4" name="Text Box 3"/>
          <p:cNvSpPr txBox="1"/>
          <p:nvPr/>
        </p:nvSpPr>
        <p:spPr>
          <a:xfrm>
            <a:off x="97155" y="2056130"/>
            <a:ext cx="11960225" cy="2670175"/>
          </a:xfrm>
          <a:prstGeom prst="rect">
            <a:avLst/>
          </a:prstGeom>
          <a:noFill/>
        </p:spPr>
        <p:txBody>
          <a:bodyPr wrap="square" rtlCol="0" anchor="t">
            <a:noAutofit/>
          </a:bodyPr>
          <a:p>
            <a:pPr marL="0" indent="0" algn="ctr">
              <a:lnSpc>
                <a:spcPts val="2250"/>
              </a:lnSpc>
              <a:spcBef>
                <a:spcPts val="2000"/>
              </a:spcBef>
              <a:spcAft>
                <a:spcPct val="2000"/>
              </a:spcAft>
            </a:pPr>
            <a:r>
              <a:rPr lang="en-US" b="1">
                <a:solidFill>
                  <a:srgbClr val="FF0000"/>
                </a:solidFill>
                <a:latin typeface="Cambria" panose="02040503050406030204" charset="0"/>
                <a:ea typeface="sohne"/>
                <a:cs typeface="Cambria" panose="02040503050406030204" charset="0"/>
                <a:sym typeface="+mn-ea"/>
              </a:rPr>
              <a:t>1</a:t>
            </a:r>
            <a:r>
              <a:rPr b="1">
                <a:solidFill>
                  <a:srgbClr val="FF0000"/>
                </a:solidFill>
                <a:latin typeface="Cambria" panose="02040503050406030204" charset="0"/>
                <a:ea typeface="sohne"/>
                <a:cs typeface="Cambria" panose="02040503050406030204" charset="0"/>
                <a:sym typeface="+mn-ea"/>
              </a:rPr>
              <a:t>. Data Query Language (DQL)</a:t>
            </a:r>
            <a:endParaRPr b="1" i="0">
              <a:solidFill>
                <a:srgbClr val="FF0000"/>
              </a:solidFill>
              <a:latin typeface="Cambria" panose="02040503050406030204" charset="0"/>
              <a:ea typeface="sohne"/>
              <a:cs typeface="Cambria" panose="02040503050406030204" charset="0"/>
            </a:endParaRPr>
          </a:p>
          <a:p>
            <a:pPr marL="0" indent="0">
              <a:lnSpc>
                <a:spcPts val="2400"/>
              </a:lnSpc>
              <a:spcBef>
                <a:spcPts val="900"/>
              </a:spcBef>
              <a:spcAft>
                <a:spcPct val="4000"/>
              </a:spcAft>
            </a:pPr>
            <a:r>
              <a:rPr>
                <a:solidFill>
                  <a:srgbClr val="242424"/>
                </a:solidFill>
                <a:latin typeface="Cambria" panose="02040503050406030204" charset="0"/>
                <a:ea typeface="source-serif-pro"/>
                <a:cs typeface="Cambria" panose="02040503050406030204" charset="0"/>
                <a:sym typeface="+mn-ea"/>
              </a:rPr>
              <a:t>DQL, or Data Query Language, is a part of SQL (Structured Query Language) that focuses specifically on retrieving data from databases. It includes the use of the SELECT statement, which is the primary command in DQL. This statement is used to query the database for specific information,</a:t>
            </a:r>
            <a:endParaRPr b="0" i="0">
              <a:solidFill>
                <a:srgbClr val="242424"/>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r>
              <a:rPr lang="en-US" b="1">
                <a:solidFill>
                  <a:srgbClr val="242424"/>
                </a:solidFill>
                <a:latin typeface="Cambria" panose="02040503050406030204" charset="0"/>
                <a:ea typeface="source-serif-pro"/>
                <a:cs typeface="Cambria" panose="02040503050406030204" charset="0"/>
                <a:sym typeface="+mn-ea"/>
              </a:rPr>
              <a:t>select</a:t>
            </a:r>
            <a:endParaRPr lang="en-US" b="1" i="0">
              <a:solidFill>
                <a:srgbClr val="242424"/>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r>
              <a:rPr lang="en-US" altLang="en-US" b="1">
                <a:solidFill>
                  <a:srgbClr val="242424"/>
                </a:solidFill>
                <a:latin typeface="Cambria" panose="02040503050406030204" charset="0"/>
                <a:ea typeface="source-serif-pro"/>
                <a:cs typeface="Cambria" panose="02040503050406030204" charset="0"/>
                <a:sym typeface="+mn-ea"/>
              </a:rPr>
              <a:t>SELECT * FROM employees;</a:t>
            </a:r>
            <a:endParaRPr lang="en-US" altLang="en-US" b="1" i="0">
              <a:solidFill>
                <a:srgbClr val="242424"/>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r>
              <a:rPr lang="en-US" altLang="en-US" b="1">
                <a:solidFill>
                  <a:srgbClr val="242424"/>
                </a:solidFill>
                <a:latin typeface="Cambria" panose="02040503050406030204" charset="0"/>
                <a:ea typeface="source-serif-pro"/>
                <a:cs typeface="Cambria" panose="02040503050406030204" charset="0"/>
                <a:sym typeface="+mn-ea"/>
              </a:rPr>
              <a:t>SELECT name, department FROM employees;</a:t>
            </a:r>
            <a:endParaRPr lang="en-US" altLang="en-US" b="1">
              <a:solidFill>
                <a:srgbClr val="242424"/>
              </a:solidFill>
              <a:latin typeface="Cambria" panose="02040503050406030204" charset="0"/>
              <a:ea typeface="source-serif-pro"/>
              <a:cs typeface="Cambria" panose="02040503050406030204" charset="0"/>
              <a:sym typeface="+mn-ea"/>
            </a:endParaRPr>
          </a:p>
        </p:txBody>
      </p:sp>
      <p:sp>
        <p:nvSpPr>
          <p:cNvPr id="5" name="Text Box 4"/>
          <p:cNvSpPr txBox="1"/>
          <p:nvPr/>
        </p:nvSpPr>
        <p:spPr>
          <a:xfrm>
            <a:off x="97155" y="4725670"/>
            <a:ext cx="11958955" cy="2016760"/>
          </a:xfrm>
          <a:prstGeom prst="rect">
            <a:avLst/>
          </a:prstGeom>
          <a:noFill/>
        </p:spPr>
        <p:txBody>
          <a:bodyPr wrap="square" rtlCol="0" anchor="t">
            <a:noAutofit/>
          </a:bodyPr>
          <a:p>
            <a:pPr marL="0" indent="0" algn="ctr">
              <a:lnSpc>
                <a:spcPts val="2250"/>
              </a:lnSpc>
              <a:spcBef>
                <a:spcPts val="2000"/>
              </a:spcBef>
              <a:spcAft>
                <a:spcPct val="2000"/>
              </a:spcAft>
            </a:pPr>
            <a:r>
              <a:rPr lang="en-US" altLang="en-US" b="1">
                <a:solidFill>
                  <a:srgbClr val="FF0000"/>
                </a:solidFill>
                <a:latin typeface="Cambria" panose="02040503050406030204" charset="0"/>
                <a:ea typeface="source-serif-pro"/>
                <a:cs typeface="Cambria" panose="02040503050406030204" charset="0"/>
                <a:sym typeface="+mn-ea"/>
              </a:rPr>
              <a:t>2.Data Manipulation Language (DML)</a:t>
            </a:r>
            <a:endParaRPr lang="en-US" altLang="en-US" b="1" i="0">
              <a:solidFill>
                <a:srgbClr val="FF0000"/>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r>
              <a:rPr lang="en-US" altLang="en-US">
                <a:solidFill>
                  <a:srgbClr val="242424"/>
                </a:solidFill>
                <a:latin typeface="Cambria" panose="02040503050406030204" charset="0"/>
                <a:ea typeface="source-serif-pro"/>
                <a:cs typeface="Cambria" panose="02040503050406030204" charset="0"/>
                <a:sym typeface="+mn-ea"/>
              </a:rPr>
              <a:t>SQL commands that focus on modifying or handling data within a database fall under the category of Data Manipulation Language (DML). This segment encompasses a significant portion of SQL operations. DML commands are:</a:t>
            </a:r>
            <a:endParaRPr lang="en-US" altLang="en-US">
              <a:solidFill>
                <a:srgbClr val="242424"/>
              </a:solidFill>
              <a:latin typeface="Cambria" panose="02040503050406030204" charset="0"/>
              <a:ea typeface="source-serif-pro"/>
              <a:cs typeface="Cambria" panose="02040503050406030204" charset="0"/>
              <a:sym typeface="+mn-e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127000" y="128270"/>
            <a:ext cx="11892280" cy="6561455"/>
          </a:xfrm>
          <a:prstGeom prst="rect">
            <a:avLst/>
          </a:prstGeom>
        </p:spPr>
        <p:txBody>
          <a:bodyPr>
            <a:noAutofit/>
          </a:bodyPr>
          <a:p>
            <a:pPr marL="0" indent="0" algn="l">
              <a:lnSpc>
                <a:spcPts val="2250"/>
              </a:lnSpc>
              <a:spcBef>
                <a:spcPts val="2000"/>
              </a:spcBef>
              <a:spcAft>
                <a:spcPct val="2000"/>
              </a:spcAft>
            </a:pPr>
            <a:r>
              <a:rPr lang="en-US" altLang="en-US" b="1" i="0">
                <a:solidFill>
                  <a:srgbClr val="242424"/>
                </a:solidFill>
                <a:latin typeface="Cambria" panose="02040503050406030204" charset="0"/>
                <a:ea typeface="source-serif-pro"/>
                <a:cs typeface="Cambria" panose="02040503050406030204" charset="0"/>
              </a:rPr>
              <a:t>INSERT</a:t>
            </a:r>
            <a:r>
              <a:rPr lang="en-US" altLang="en-US" i="0">
                <a:solidFill>
                  <a:srgbClr val="242424"/>
                </a:solidFill>
                <a:latin typeface="Cambria" panose="02040503050406030204" charset="0"/>
                <a:ea typeface="source-serif-pro"/>
                <a:cs typeface="Cambria" panose="02040503050406030204" charset="0"/>
              </a:rPr>
              <a:t>: Used to add new rows (records) to a table.</a:t>
            </a:r>
            <a:endParaRPr lang="en-US" altLang="en-US" i="0">
              <a:solidFill>
                <a:srgbClr val="242424"/>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r>
              <a:rPr lang="en-US" altLang="en-US" i="0">
                <a:solidFill>
                  <a:srgbClr val="242424"/>
                </a:solidFill>
                <a:latin typeface="Cambria" panose="02040503050406030204" charset="0"/>
                <a:ea typeface="source-serif-pro"/>
                <a:cs typeface="Cambria" panose="02040503050406030204" charset="0"/>
              </a:rPr>
              <a:t>Syntax: INSERT INTO table_name (column1, column2) VALUES (value1, value2);</a:t>
            </a:r>
            <a:endParaRPr lang="en-US" altLang="en-US" i="0">
              <a:solidFill>
                <a:srgbClr val="242424"/>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r>
              <a:rPr lang="en-US" altLang="en-US" i="0">
                <a:solidFill>
                  <a:srgbClr val="242424"/>
                </a:solidFill>
                <a:latin typeface="Cambria" panose="02040503050406030204" charset="0"/>
                <a:ea typeface="source-serif-pro"/>
                <a:cs typeface="Cambria" panose="02040503050406030204" charset="0"/>
              </a:rPr>
              <a:t>Example: INSERT INTO employees (name, department) VALUES ('John Doe', 'Marketing');</a:t>
            </a:r>
            <a:endParaRPr lang="en-US" altLang="en-US" i="0">
              <a:solidFill>
                <a:srgbClr val="242424"/>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endParaRPr lang="en-US" altLang="en-US" i="0">
              <a:solidFill>
                <a:srgbClr val="242424"/>
              </a:solidFill>
              <a:latin typeface="Cambria" panose="02040503050406030204" charset="0"/>
              <a:ea typeface="source-serif-pro"/>
              <a:cs typeface="Cambria" panose="02040503050406030204" charset="0"/>
            </a:endParaRPr>
          </a:p>
          <a:p>
            <a:pPr marL="0" indent="0">
              <a:buNone/>
            </a:pPr>
            <a:r>
              <a:rPr lang="en-US" altLang="en-US">
                <a:latin typeface="Cambria" panose="02040503050406030204" charset="0"/>
                <a:cs typeface="Cambria" panose="02040503050406030204" charset="0"/>
                <a:sym typeface="+mn-ea"/>
              </a:rPr>
              <a:t> </a:t>
            </a:r>
            <a:r>
              <a:rPr lang="en-US" altLang="en-US" b="1">
                <a:latin typeface="Cambria" panose="02040503050406030204" charset="0"/>
                <a:cs typeface="Cambria" panose="02040503050406030204" charset="0"/>
                <a:sym typeface="+mn-ea"/>
              </a:rPr>
              <a:t>UPDATE</a:t>
            </a:r>
            <a:r>
              <a:rPr lang="en-US" altLang="en-US">
                <a:latin typeface="Cambria" panose="02040503050406030204" charset="0"/>
                <a:cs typeface="Cambria" panose="02040503050406030204" charset="0"/>
                <a:sym typeface="+mn-ea"/>
              </a:rPr>
              <a:t>: Modifies existing data within a table. It can update one or more columns for all rows that meet the condition specified.</a:t>
            </a:r>
            <a:endParaRPr lang="en-US" altLang="en-US">
              <a:latin typeface="Cambria" panose="02040503050406030204" charset="0"/>
              <a:cs typeface="Cambria" panose="02040503050406030204" charset="0"/>
            </a:endParaRPr>
          </a:p>
          <a:p>
            <a:pPr marL="0" indent="0">
              <a:buNone/>
            </a:pPr>
            <a:r>
              <a:rPr lang="en-US" altLang="en-US">
                <a:latin typeface="Cambria" panose="02040503050406030204" charset="0"/>
                <a:cs typeface="Cambria" panose="02040503050406030204" charset="0"/>
                <a:sym typeface="+mn-ea"/>
              </a:rPr>
              <a:t>Syntax:</a:t>
            </a:r>
            <a:endParaRPr lang="en-US" altLang="en-US">
              <a:latin typeface="Cambria" panose="02040503050406030204" charset="0"/>
              <a:cs typeface="Cambria" panose="02040503050406030204" charset="0"/>
            </a:endParaRPr>
          </a:p>
          <a:p>
            <a:pPr marL="0" indent="0">
              <a:buNone/>
            </a:pPr>
            <a:r>
              <a:rPr lang="en-US" altLang="en-US">
                <a:latin typeface="Cambria" panose="02040503050406030204" charset="0"/>
                <a:cs typeface="Cambria" panose="02040503050406030204" charset="0"/>
                <a:sym typeface="+mn-ea"/>
              </a:rPr>
              <a:t>UPDATE table_name SET column1 = value1, column2 = value2 WHERE condition;</a:t>
            </a:r>
            <a:endParaRPr lang="en-US" altLang="en-US">
              <a:latin typeface="Cambria" panose="02040503050406030204" charset="0"/>
              <a:cs typeface="Cambria" panose="02040503050406030204" charset="0"/>
            </a:endParaRPr>
          </a:p>
          <a:p>
            <a:pPr marL="0" indent="0">
              <a:buNone/>
            </a:pPr>
            <a:r>
              <a:rPr lang="en-US" altLang="en-US">
                <a:latin typeface="Cambria" panose="02040503050406030204" charset="0"/>
                <a:cs typeface="Cambria" panose="02040503050406030204" charset="0"/>
                <a:sym typeface="+mn-ea"/>
              </a:rPr>
              <a:t>Example:</a:t>
            </a:r>
            <a:endParaRPr lang="en-US" altLang="en-US">
              <a:latin typeface="Cambria" panose="02040503050406030204" charset="0"/>
              <a:cs typeface="Cambria" panose="02040503050406030204" charset="0"/>
            </a:endParaRPr>
          </a:p>
          <a:p>
            <a:pPr marL="0" indent="0">
              <a:buNone/>
            </a:pPr>
            <a:r>
              <a:rPr lang="en-US" altLang="en-US">
                <a:latin typeface="Cambria" panose="02040503050406030204" charset="0"/>
                <a:cs typeface="Cambria" panose="02040503050406030204" charset="0"/>
                <a:sym typeface="+mn-ea"/>
              </a:rPr>
              <a:t>UPDATE employees SET department = 'HR' WHERE id = 123;</a:t>
            </a:r>
            <a:endParaRPr lang="en-US" altLang="en-US">
              <a:latin typeface="Cambria" panose="02040503050406030204" charset="0"/>
              <a:cs typeface="Cambria" panose="02040503050406030204" charset="0"/>
            </a:endParaRPr>
          </a:p>
          <a:p>
            <a:pPr marL="0" indent="0">
              <a:buNone/>
            </a:pPr>
            <a:endParaRPr lang="en-US" altLang="en-US" b="1">
              <a:latin typeface="Cambria" panose="02040503050406030204" charset="0"/>
              <a:cs typeface="Cambria" panose="02040503050406030204" charset="0"/>
              <a:sym typeface="+mn-ea"/>
            </a:endParaRPr>
          </a:p>
          <a:p>
            <a:pPr marL="0" indent="0">
              <a:buNone/>
            </a:pPr>
            <a:r>
              <a:rPr lang="en-US" altLang="en-US" b="1">
                <a:latin typeface="Cambria" panose="02040503050406030204" charset="0"/>
                <a:cs typeface="Cambria" panose="02040503050406030204" charset="0"/>
                <a:sym typeface="+mn-ea"/>
              </a:rPr>
              <a:t>DELETE</a:t>
            </a:r>
            <a:r>
              <a:rPr lang="en-US" altLang="en-US">
                <a:latin typeface="Cambria" panose="02040503050406030204" charset="0"/>
                <a:cs typeface="Cambria" panose="02040503050406030204" charset="0"/>
                <a:sym typeface="+mn-ea"/>
              </a:rPr>
              <a:t>: Removes one or more rows from a table. Without a specific condition, it will delete all rows in the table.</a:t>
            </a:r>
            <a:endParaRPr lang="en-US" altLang="en-US">
              <a:latin typeface="Cambria" panose="02040503050406030204" charset="0"/>
              <a:cs typeface="Cambria" panose="02040503050406030204" charset="0"/>
            </a:endParaRPr>
          </a:p>
          <a:p>
            <a:pPr marL="0" indent="0">
              <a:buNone/>
            </a:pPr>
            <a:r>
              <a:rPr lang="en-US" altLang="en-US">
                <a:latin typeface="Cambria" panose="02040503050406030204" charset="0"/>
                <a:cs typeface="Cambria" panose="02040503050406030204" charset="0"/>
                <a:sym typeface="+mn-ea"/>
              </a:rPr>
              <a:t>Syntax:</a:t>
            </a:r>
            <a:endParaRPr lang="en-US" altLang="en-US">
              <a:latin typeface="Cambria" panose="02040503050406030204" charset="0"/>
              <a:cs typeface="Cambria" panose="02040503050406030204" charset="0"/>
            </a:endParaRPr>
          </a:p>
          <a:p>
            <a:pPr marL="0" indent="0">
              <a:buNone/>
            </a:pPr>
            <a:r>
              <a:rPr lang="en-US" altLang="en-US">
                <a:latin typeface="Cambria" panose="02040503050406030204" charset="0"/>
                <a:cs typeface="Cambria" panose="02040503050406030204" charset="0"/>
                <a:sym typeface="+mn-ea"/>
              </a:rPr>
              <a:t>DELETE FROM table_name WHERE condition;</a:t>
            </a:r>
            <a:endParaRPr lang="en-US" altLang="en-US">
              <a:latin typeface="Cambria" panose="02040503050406030204" charset="0"/>
              <a:cs typeface="Cambria" panose="02040503050406030204" charset="0"/>
            </a:endParaRPr>
          </a:p>
          <a:p>
            <a:pPr marL="0" indent="0">
              <a:buNone/>
            </a:pPr>
            <a:r>
              <a:rPr lang="en-US" altLang="en-US">
                <a:latin typeface="Cambria" panose="02040503050406030204" charset="0"/>
                <a:cs typeface="Cambria" panose="02040503050406030204" charset="0"/>
                <a:sym typeface="+mn-ea"/>
              </a:rPr>
              <a:t>Example:</a:t>
            </a:r>
            <a:endParaRPr lang="en-US" altLang="en-US">
              <a:latin typeface="Cambria" panose="02040503050406030204" charset="0"/>
              <a:cs typeface="Cambria" panose="02040503050406030204" charset="0"/>
            </a:endParaRPr>
          </a:p>
          <a:p>
            <a:pPr marL="0" indent="0">
              <a:buNone/>
            </a:pPr>
            <a:r>
              <a:rPr lang="en-US" altLang="en-US">
                <a:latin typeface="Cambria" panose="02040503050406030204" charset="0"/>
                <a:cs typeface="Cambria" panose="02040503050406030204" charset="0"/>
                <a:sym typeface="+mn-ea"/>
              </a:rPr>
              <a:t>DELETE FROM employees WHERE department = 'Intern';</a:t>
            </a:r>
            <a:endParaRPr lang="en-US" altLang="en-US">
              <a:latin typeface="Cambria" panose="02040503050406030204" charset="0"/>
              <a:cs typeface="Cambria" panose="02040503050406030204" charset="0"/>
            </a:endParaRPr>
          </a:p>
          <a:p>
            <a:pPr marL="0" indent="0">
              <a:buNone/>
            </a:pPr>
            <a:endParaRPr lang="en-US" altLang="en-US" b="1">
              <a:latin typeface="Cambria" panose="02040503050406030204" charset="0"/>
              <a:cs typeface="Cambria" panose="02040503050406030204" charset="0"/>
              <a:sym typeface="+mn-ea"/>
            </a:endParaRPr>
          </a:p>
          <a:p>
            <a:pPr marL="0" indent="0">
              <a:buNone/>
            </a:pPr>
            <a:r>
              <a:rPr lang="en-US" altLang="en-US" b="1">
                <a:latin typeface="Cambria" panose="02040503050406030204" charset="0"/>
                <a:cs typeface="Cambria" panose="02040503050406030204" charset="0"/>
                <a:sym typeface="+mn-ea"/>
              </a:rPr>
              <a:t>CALL</a:t>
            </a:r>
            <a:r>
              <a:rPr lang="en-US" altLang="en-US">
                <a:latin typeface="Cambria" panose="02040503050406030204" charset="0"/>
                <a:cs typeface="Cambria" panose="02040503050406030204" charset="0"/>
                <a:sym typeface="+mn-ea"/>
              </a:rPr>
              <a:t>: The CALL statement is used to execute a stored procedure (a pre-defined SQL function or a routine).</a:t>
            </a:r>
            <a:endParaRPr lang="en-US" altLang="en-US">
              <a:latin typeface="Cambria" panose="02040503050406030204" charset="0"/>
              <a:cs typeface="Cambria" panose="02040503050406030204" charset="0"/>
            </a:endParaRPr>
          </a:p>
          <a:p>
            <a:pPr marL="0" indent="0">
              <a:buNone/>
            </a:pPr>
            <a:endParaRPr lang="en-US" altLang="en-US">
              <a:latin typeface="Cambria" panose="02040503050406030204" charset="0"/>
              <a:cs typeface="Cambria" panose="02040503050406030204" charset="0"/>
            </a:endParaRPr>
          </a:p>
          <a:p>
            <a:pPr marL="0" indent="0">
              <a:buNone/>
            </a:pPr>
            <a:r>
              <a:rPr lang="en-US" altLang="en-US">
                <a:latin typeface="Cambria" panose="02040503050406030204" charset="0"/>
                <a:cs typeface="Cambria" panose="02040503050406030204" charset="0"/>
                <a:sym typeface="+mn-ea"/>
              </a:rPr>
              <a:t>CALL UpdateEmployeeSalary(101, 5000);</a:t>
            </a:r>
            <a:endParaRPr lang="en-US" altLang="en-US">
              <a:latin typeface="Cambria" panose="02040503050406030204" charset="0"/>
              <a:cs typeface="Cambria" panose="02040503050406030204" charset="0"/>
            </a:endParaRPr>
          </a:p>
          <a:p>
            <a:pPr marL="0" indent="0">
              <a:buNone/>
            </a:pPr>
            <a:endParaRPr lang="en-US" altLang="en-US">
              <a:latin typeface="Cambria" panose="02040503050406030204" charset="0"/>
              <a:cs typeface="Cambria" panose="02040503050406030204" charset="0"/>
            </a:endParaRPr>
          </a:p>
          <a:p>
            <a:pPr marL="0" indent="0">
              <a:buNone/>
            </a:pPr>
            <a:endParaRPr lang="en-US" altLang="en-US">
              <a:latin typeface="Cambria" panose="02040503050406030204" charset="0"/>
              <a:cs typeface="Cambria" panose="02040503050406030204" charset="0"/>
            </a:endParaRPr>
          </a:p>
          <a:p>
            <a:pPr marL="0" indent="0">
              <a:lnSpc>
                <a:spcPts val="2400"/>
              </a:lnSpc>
              <a:spcBef>
                <a:spcPts val="900"/>
              </a:spcBef>
              <a:spcAft>
                <a:spcPct val="4000"/>
              </a:spcAft>
            </a:pPr>
            <a:endParaRPr lang="en-US" altLang="en-US" i="0">
              <a:solidFill>
                <a:srgbClr val="242424"/>
              </a:solidFill>
              <a:latin typeface="Cambria" panose="02040503050406030204" charset="0"/>
              <a:ea typeface="source-serif-pro"/>
              <a:cs typeface="Cambria" panose="02040503050406030204" charset="0"/>
            </a:endParaRPr>
          </a:p>
          <a:p>
            <a:pPr marL="0" indent="0">
              <a:lnSpc>
                <a:spcPts val="2400"/>
              </a:lnSpc>
              <a:spcBef>
                <a:spcPts val="900"/>
              </a:spcBef>
              <a:spcAft>
                <a:spcPct val="4000"/>
              </a:spcAft>
            </a:pPr>
            <a:endParaRPr lang="en-US" altLang="en-US" i="0">
              <a:solidFill>
                <a:srgbClr val="242424"/>
              </a:solidFill>
              <a:latin typeface="Cambria" panose="02040503050406030204" charset="0"/>
              <a:ea typeface="source-serif-pro"/>
              <a:cs typeface="Cambria" panose="0204050305040603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05410"/>
            <a:ext cx="10515600" cy="285115"/>
          </a:xfrm>
        </p:spPr>
        <p:txBody>
          <a:bodyPr>
            <a:noAutofit/>
          </a:bodyPr>
          <a:p>
            <a:pPr algn="ctr"/>
            <a:r>
              <a:rPr lang="en-US" altLang="en-US" sz="2400" b="1">
                <a:solidFill>
                  <a:srgbClr val="FF0000"/>
                </a:solidFill>
                <a:sym typeface="+mn-ea"/>
              </a:rPr>
              <a:t>3. Transaction Control Language (TCL)</a:t>
            </a:r>
            <a:endParaRPr lang="en-US" altLang="en-US" sz="2400" b="1">
              <a:solidFill>
                <a:srgbClr val="FF0000"/>
              </a:solidFill>
              <a:sym typeface="+mn-ea"/>
            </a:endParaRPr>
          </a:p>
        </p:txBody>
      </p:sp>
      <p:sp>
        <p:nvSpPr>
          <p:cNvPr id="3" name="Content Placeholder 2"/>
          <p:cNvSpPr>
            <a:spLocks noGrp="1"/>
          </p:cNvSpPr>
          <p:nvPr>
            <p:ph idx="1"/>
          </p:nvPr>
        </p:nvSpPr>
        <p:spPr>
          <a:xfrm>
            <a:off x="99695" y="472440"/>
            <a:ext cx="11856085" cy="6102985"/>
          </a:xfrm>
        </p:spPr>
        <p:txBody>
          <a:bodyPr>
            <a:normAutofit fontScale="65000"/>
          </a:bodyPr>
          <a:p>
            <a:pPr marL="0" indent="0">
              <a:buNone/>
            </a:pPr>
            <a:r>
              <a:rPr lang="en-US" altLang="en-US"/>
              <a:t>Transaction Control Language (TCL) in SQL is a set of commands specifically designed to manage the changes made by DML statements (like INSERT, UPDATE, DELETE). It allows control over transaction processes in a database. The primary TCL commands are COMMIT, ROLLBACK, and SAVEPOINT.</a:t>
            </a:r>
            <a:endParaRPr lang="en-US" altLang="en-US"/>
          </a:p>
          <a:p>
            <a:pPr marL="0" indent="0">
              <a:buNone/>
            </a:pPr>
            <a:r>
              <a:rPr lang="en-US" altLang="en-US" b="1"/>
              <a:t>COMMIT</a:t>
            </a:r>
            <a:r>
              <a:rPr lang="en-US" altLang="en-US"/>
              <a:t>: This command is used to permanently save all changes made during the current transaction. Once a transaction is committed, it cannot be undone.</a:t>
            </a:r>
            <a:endParaRPr lang="en-US" altLang="en-US"/>
          </a:p>
          <a:p>
            <a:pPr marL="0" indent="0">
              <a:buNone/>
            </a:pPr>
            <a:r>
              <a:rPr lang="en-US" altLang="en-US"/>
              <a:t>Example: After updating a record in a table, you can commit the transaction:</a:t>
            </a:r>
            <a:endParaRPr lang="en-US" altLang="en-US"/>
          </a:p>
          <a:p>
            <a:pPr marL="0" indent="0">
              <a:buNone/>
            </a:pPr>
            <a:r>
              <a:rPr lang="en-US" altLang="en-US"/>
              <a:t>UPDATE employees SET salary = salary + 1000 WHERE id = 101;</a:t>
            </a:r>
            <a:endParaRPr lang="en-US" altLang="en-US"/>
          </a:p>
          <a:p>
            <a:pPr marL="0" indent="0">
              <a:buNone/>
            </a:pPr>
            <a:r>
              <a:rPr lang="en-US" altLang="en-US"/>
              <a:t>COMMIT;</a:t>
            </a:r>
            <a:endParaRPr lang="en-US" altLang="en-US"/>
          </a:p>
          <a:p>
            <a:pPr marL="0" indent="0">
              <a:buNone/>
            </a:pPr>
            <a:r>
              <a:rPr lang="en-US" altLang="en-US" b="1"/>
              <a:t>2. ROLLBACK:</a:t>
            </a:r>
            <a:r>
              <a:rPr lang="en-US" altLang="en-US"/>
              <a:t> Used to undo transactions that have not yet been committed. It can revert the database to the last committed state. ROLLBACK is useful in case of an error or if the transaction needs to be aborted.</a:t>
            </a:r>
            <a:endParaRPr lang="en-US" altLang="en-US"/>
          </a:p>
          <a:p>
            <a:pPr marL="0" indent="0">
              <a:buNone/>
            </a:pPr>
            <a:r>
              <a:rPr lang="en-US" altLang="en-US"/>
              <a:t>Example: If you decide not to apply the changes made in the previous example:</a:t>
            </a:r>
            <a:endParaRPr lang="en-US" altLang="en-US"/>
          </a:p>
          <a:p>
            <a:pPr marL="0" indent="0">
              <a:buNone/>
            </a:pPr>
            <a:r>
              <a:rPr lang="en-US" altLang="en-US"/>
              <a:t>UPDATE employees SET salary = salary + 1000 WHERE id = 101;</a:t>
            </a:r>
            <a:endParaRPr lang="en-US" altLang="en-US"/>
          </a:p>
          <a:p>
            <a:pPr marL="0" indent="0">
              <a:buNone/>
            </a:pPr>
            <a:r>
              <a:rPr lang="en-US" altLang="en-US"/>
              <a:t>ROLLBACK;</a:t>
            </a:r>
            <a:endParaRPr lang="en-US" altLang="en-US"/>
          </a:p>
          <a:p>
            <a:pPr marL="0" indent="0">
              <a:buNone/>
            </a:pPr>
            <a:r>
              <a:rPr lang="en-US" altLang="en-US" b="1"/>
              <a:t>3. SAVEPOINT:</a:t>
            </a:r>
            <a:r>
              <a:rPr lang="en-US" altLang="en-US"/>
              <a:t> This command allows you to set a savepoint within a transaction, which is a point to which you can later roll back. It helps create a partial rollback point within a long transaction.</a:t>
            </a:r>
            <a:endParaRPr lang="en-US" altLang="en-US"/>
          </a:p>
          <a:p>
            <a:pPr marL="0" indent="0">
              <a:buNone/>
            </a:pPr>
            <a:r>
              <a:rPr lang="en-US" altLang="en-US"/>
              <a:t>Example: Creating a savepoint and rolling back to it:</a:t>
            </a:r>
            <a:endParaRPr lang="en-US" altLang="en-US"/>
          </a:p>
          <a:p>
            <a:pPr marL="0" indent="0">
              <a:buNone/>
            </a:pPr>
            <a:r>
              <a:rPr lang="en-US" altLang="en-US"/>
              <a:t>UPDATE employees SET salary = salary + 500 WHERE id = </a:t>
            </a:r>
            <a:endParaRPr lang="en-US"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54965" y="0"/>
            <a:ext cx="10515600" cy="417830"/>
          </a:xfrm>
        </p:spPr>
        <p:txBody>
          <a:bodyPr>
            <a:noAutofit/>
          </a:bodyPr>
          <a:p>
            <a:r>
              <a:rPr lang="en-US" altLang="en-US" sz="2000" b="1">
                <a:solidFill>
                  <a:srgbClr val="FF0000"/>
                </a:solidFill>
                <a:sym typeface="+mn-ea"/>
              </a:rPr>
              <a:t>SQL, aggregate functions</a:t>
            </a:r>
            <a:endParaRPr lang="en-US" altLang="en-US" sz="2000" b="1">
              <a:solidFill>
                <a:srgbClr val="FF0000"/>
              </a:solidFill>
              <a:sym typeface="+mn-ea"/>
            </a:endParaRPr>
          </a:p>
        </p:txBody>
      </p:sp>
      <p:sp>
        <p:nvSpPr>
          <p:cNvPr id="3" name="Content Placeholder 2"/>
          <p:cNvSpPr>
            <a:spLocks noGrp="1"/>
          </p:cNvSpPr>
          <p:nvPr>
            <p:ph idx="1"/>
          </p:nvPr>
        </p:nvSpPr>
        <p:spPr>
          <a:xfrm>
            <a:off x="108585" y="417830"/>
            <a:ext cx="11950700" cy="690880"/>
          </a:xfrm>
        </p:spPr>
        <p:txBody>
          <a:bodyPr/>
          <a:p>
            <a:r>
              <a:rPr lang="en-US" altLang="en-US" sz="1800"/>
              <a:t>In SQL, aggregate functions perform a calculation on a set of values and return a single value. They're commonly used with the GROUP BY clause to summarize data.</a:t>
            </a:r>
            <a:endParaRPr lang="en-US" altLang="en-US" sz="1800"/>
          </a:p>
        </p:txBody>
      </p:sp>
      <p:graphicFrame>
        <p:nvGraphicFramePr>
          <p:cNvPr id="4" name="Table 3"/>
          <p:cNvGraphicFramePr/>
          <p:nvPr>
            <p:custDataLst>
              <p:tags r:id="rId1"/>
            </p:custDataLst>
          </p:nvPr>
        </p:nvGraphicFramePr>
        <p:xfrm>
          <a:off x="108585" y="1108710"/>
          <a:ext cx="11849100" cy="1676400"/>
        </p:xfrm>
        <a:graphic>
          <a:graphicData uri="http://schemas.openxmlformats.org/drawingml/2006/table">
            <a:tbl>
              <a:tblPr/>
              <a:tblGrid>
                <a:gridCol w="5924550"/>
                <a:gridCol w="5924550"/>
              </a:tblGrid>
              <a:tr h="304800">
                <a:tc>
                  <a:txBody>
                    <a:bodyPr/>
                    <a:p>
                      <a:pPr algn="ctr"/>
                      <a:r>
                        <a:rPr sz="1600" b="1">
                          <a:solidFill>
                            <a:srgbClr val="FF0000"/>
                          </a:solidFill>
                        </a:rPr>
                        <a:t>Function</a:t>
                      </a:r>
                      <a:endParaRPr sz="1600" b="1">
                        <a:solidFill>
                          <a:srgbClr val="FF0000"/>
                        </a:solidFill>
                      </a:endParaRPr>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1600" b="1">
                          <a:solidFill>
                            <a:srgbClr val="FF0000"/>
                          </a:solidFill>
                        </a:rPr>
                        <a:t>Description</a:t>
                      </a:r>
                      <a:endParaRPr sz="1600" b="1">
                        <a:solidFill>
                          <a:srgbClr val="FF0000"/>
                        </a:solidFill>
                      </a:endParaRPr>
                    </a:p>
                  </a:txBody>
                  <a:tcPr marL="0" marR="0" marT="0" marB="0" anchor="ctr" anchorCtr="0">
                    <a:lnL>
                      <a:noFill/>
                    </a:lnL>
                    <a:lnR>
                      <a:noFill/>
                    </a:lnR>
                    <a:lnT>
                      <a:noFill/>
                    </a:lnT>
                    <a:lnB>
                      <a:noFill/>
                    </a:lnB>
                    <a:solidFill>
                      <a:schemeClr val="accent2">
                        <a:lumMod val="40000"/>
                        <a:lumOff val="60000"/>
                      </a:schemeClr>
                    </a:solidFill>
                  </a:tcPr>
                </a:tc>
              </a:tr>
              <a:tr h="274320">
                <a:tc>
                  <a:txBody>
                    <a:bodyPr/>
                    <a:p>
                      <a:pPr algn="ctr"/>
                      <a:r>
                        <a:rPr sz="1600"/>
                        <a:t>COUNT()</a:t>
                      </a:r>
                      <a:endParaRPr sz="16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1600"/>
                        <a:t>Counts the number of rows.</a:t>
                      </a:r>
                      <a:endParaRPr sz="1600"/>
                    </a:p>
                  </a:txBody>
                  <a:tcPr marL="0" marR="0" marT="0" marB="0" anchor="ctr" anchorCtr="0">
                    <a:lnL>
                      <a:noFill/>
                    </a:lnL>
                    <a:lnR>
                      <a:noFill/>
                    </a:lnR>
                    <a:lnT>
                      <a:noFill/>
                    </a:lnT>
                    <a:lnB>
                      <a:noFill/>
                    </a:lnB>
                    <a:solidFill>
                      <a:schemeClr val="accent2">
                        <a:lumMod val="40000"/>
                        <a:lumOff val="60000"/>
                      </a:schemeClr>
                    </a:solidFill>
                  </a:tcPr>
                </a:tc>
              </a:tr>
              <a:tr h="274320">
                <a:tc>
                  <a:txBody>
                    <a:bodyPr/>
                    <a:p>
                      <a:pPr algn="ctr"/>
                      <a:r>
                        <a:rPr sz="1600"/>
                        <a:t>SUM()</a:t>
                      </a:r>
                      <a:endParaRPr sz="16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1600"/>
                        <a:t>Adds up all the values in a column.</a:t>
                      </a:r>
                      <a:endParaRPr sz="1600"/>
                    </a:p>
                  </a:txBody>
                  <a:tcPr marL="0" marR="0" marT="0" marB="0" anchor="ctr" anchorCtr="0">
                    <a:lnL>
                      <a:noFill/>
                    </a:lnL>
                    <a:lnR>
                      <a:noFill/>
                    </a:lnR>
                    <a:lnT>
                      <a:noFill/>
                    </a:lnT>
                    <a:lnB>
                      <a:noFill/>
                    </a:lnB>
                    <a:solidFill>
                      <a:schemeClr val="accent2">
                        <a:lumMod val="40000"/>
                        <a:lumOff val="60000"/>
                      </a:schemeClr>
                    </a:solidFill>
                  </a:tcPr>
                </a:tc>
              </a:tr>
              <a:tr h="274320">
                <a:tc>
                  <a:txBody>
                    <a:bodyPr/>
                    <a:p>
                      <a:pPr algn="ctr"/>
                      <a:r>
                        <a:rPr sz="1600"/>
                        <a:t>AVG()</a:t>
                      </a:r>
                      <a:endParaRPr sz="16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1600"/>
                        <a:t>Calculates the average of a numeric column.</a:t>
                      </a:r>
                      <a:endParaRPr sz="1600"/>
                    </a:p>
                  </a:txBody>
                  <a:tcPr marL="0" marR="0" marT="0" marB="0" anchor="ctr" anchorCtr="0">
                    <a:lnL>
                      <a:noFill/>
                    </a:lnL>
                    <a:lnR>
                      <a:noFill/>
                    </a:lnR>
                    <a:lnT>
                      <a:noFill/>
                    </a:lnT>
                    <a:lnB>
                      <a:noFill/>
                    </a:lnB>
                    <a:solidFill>
                      <a:schemeClr val="accent2">
                        <a:lumMod val="40000"/>
                        <a:lumOff val="60000"/>
                      </a:schemeClr>
                    </a:solidFill>
                  </a:tcPr>
                </a:tc>
              </a:tr>
              <a:tr h="274320">
                <a:tc>
                  <a:txBody>
                    <a:bodyPr/>
                    <a:p>
                      <a:pPr algn="ctr"/>
                      <a:r>
                        <a:rPr sz="1600"/>
                        <a:t>MIN()</a:t>
                      </a:r>
                      <a:endParaRPr sz="16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1600"/>
                        <a:t>Returns the smallest value in a column.</a:t>
                      </a:r>
                      <a:endParaRPr sz="1600"/>
                    </a:p>
                  </a:txBody>
                  <a:tcPr marL="0" marR="0" marT="0" marB="0" anchor="ctr" anchorCtr="0">
                    <a:lnL>
                      <a:noFill/>
                    </a:lnL>
                    <a:lnR>
                      <a:noFill/>
                    </a:lnR>
                    <a:lnT>
                      <a:noFill/>
                    </a:lnT>
                    <a:lnB>
                      <a:noFill/>
                    </a:lnB>
                    <a:solidFill>
                      <a:schemeClr val="accent2">
                        <a:lumMod val="40000"/>
                        <a:lumOff val="60000"/>
                      </a:schemeClr>
                    </a:solidFill>
                  </a:tcPr>
                </a:tc>
              </a:tr>
              <a:tr h="274320">
                <a:tc>
                  <a:txBody>
                    <a:bodyPr/>
                    <a:p>
                      <a:pPr algn="ctr"/>
                      <a:r>
                        <a:rPr sz="1600"/>
                        <a:t>MAX()</a:t>
                      </a:r>
                      <a:endParaRPr sz="16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1600"/>
                        <a:t>Returns the largest value in a column.</a:t>
                      </a:r>
                      <a:endParaRPr sz="1600"/>
                    </a:p>
                  </a:txBody>
                  <a:tcPr marL="0" marR="0" marT="0" marB="0" anchor="ctr" anchorCtr="0">
                    <a:lnL>
                      <a:noFill/>
                    </a:lnL>
                    <a:lnR>
                      <a:noFill/>
                    </a:lnR>
                    <a:lnT>
                      <a:noFill/>
                    </a:lnT>
                    <a:lnB>
                      <a:noFill/>
                    </a:lnB>
                    <a:solidFill>
                      <a:schemeClr val="accent2">
                        <a:lumMod val="40000"/>
                        <a:lumOff val="60000"/>
                      </a:schemeClr>
                    </a:solidFill>
                  </a:tcPr>
                </a:tc>
              </a:tr>
            </a:tbl>
          </a:graphicData>
        </a:graphic>
      </p:graphicFrame>
      <p:sp>
        <p:nvSpPr>
          <p:cNvPr id="6" name="Text Box 5"/>
          <p:cNvSpPr txBox="1"/>
          <p:nvPr/>
        </p:nvSpPr>
        <p:spPr>
          <a:xfrm>
            <a:off x="108585" y="3674110"/>
            <a:ext cx="11950700" cy="3088640"/>
          </a:xfrm>
          <a:prstGeom prst="rect">
            <a:avLst/>
          </a:prstGeom>
          <a:noFill/>
        </p:spPr>
        <p:txBody>
          <a:bodyPr wrap="square" rtlCol="0" anchor="t">
            <a:noAutofit/>
          </a:bodyPr>
          <a:p>
            <a:pPr marL="0" indent="0">
              <a:buNone/>
            </a:pPr>
            <a:r>
              <a:rPr lang="en-US" altLang="en-US" sz="2000">
                <a:sym typeface="+mn-ea"/>
              </a:rPr>
              <a:t>Constraints in SQL are rules applied to table columns to control the type of data that can be stored.</a:t>
            </a:r>
            <a:endParaRPr lang="en-US" altLang="en-US" sz="2000"/>
          </a:p>
          <a:p>
            <a:pPr marL="0" indent="0">
              <a:buNone/>
            </a:pPr>
            <a:r>
              <a:rPr lang="en-US" altLang="en-US" sz="2000">
                <a:sym typeface="+mn-ea"/>
              </a:rPr>
              <a:t>They ensure data accuracy, reliability, and integrity.</a:t>
            </a:r>
            <a:endParaRPr lang="en-US" altLang="en-US" sz="2000"/>
          </a:p>
          <a:p>
            <a:pPr marL="0" indent="0">
              <a:buNone/>
            </a:pPr>
            <a:endParaRPr lang="en-US" altLang="en-US" sz="2000"/>
          </a:p>
          <a:p>
            <a:pPr marL="0" indent="0">
              <a:buNone/>
            </a:pPr>
            <a:r>
              <a:rPr lang="en-US" altLang="en-US" sz="2000" b="1">
                <a:sym typeface="+mn-ea"/>
              </a:rPr>
              <a:t>SQL constraints:</a:t>
            </a:r>
            <a:endParaRPr lang="en-US" altLang="en-US" sz="2000" b="1"/>
          </a:p>
          <a:p>
            <a:pPr marL="0" indent="0">
              <a:buNone/>
            </a:pPr>
            <a:r>
              <a:rPr lang="en-US" altLang="en-US" sz="2000">
                <a:sym typeface="+mn-ea"/>
              </a:rPr>
              <a:t>Prevent invalid data entry</a:t>
            </a:r>
            <a:endParaRPr lang="en-US" altLang="en-US" sz="2000"/>
          </a:p>
          <a:p>
            <a:pPr marL="0" indent="0">
              <a:buNone/>
            </a:pPr>
            <a:r>
              <a:rPr lang="en-US" altLang="en-US" sz="2000">
                <a:sym typeface="+mn-ea"/>
              </a:rPr>
              <a:t>Maintain consistency across tables</a:t>
            </a:r>
            <a:endParaRPr lang="en-US" altLang="en-US" sz="2000"/>
          </a:p>
          <a:p>
            <a:pPr marL="0" indent="0">
              <a:buNone/>
            </a:pPr>
            <a:r>
              <a:rPr lang="en-US" altLang="en-US" sz="2000">
                <a:sym typeface="+mn-ea"/>
              </a:rPr>
              <a:t>Reduce errors and data corruption</a:t>
            </a:r>
            <a:endParaRPr lang="en-US" altLang="en-US" sz="2000"/>
          </a:p>
          <a:p>
            <a:pPr marL="0" indent="0">
              <a:buNone/>
            </a:pPr>
            <a:r>
              <a:rPr lang="en-US" altLang="en-US" sz="2000">
                <a:sym typeface="+mn-ea"/>
              </a:rPr>
              <a:t>Enforce business rules (e.g., age can’t be negative)</a:t>
            </a:r>
            <a:endParaRPr lang="en-US" altLang="en-US" sz="2000"/>
          </a:p>
          <a:p>
            <a:pPr marL="0" indent="0">
              <a:buNone/>
            </a:pPr>
            <a:r>
              <a:rPr lang="en-US" altLang="en-US" sz="2000">
                <a:sym typeface="+mn-ea"/>
              </a:rPr>
              <a:t>Help ensure relational integrity</a:t>
            </a:r>
            <a:endParaRPr lang="en-US" altLang="en-US" sz="2000"/>
          </a:p>
        </p:txBody>
      </p:sp>
      <p:sp>
        <p:nvSpPr>
          <p:cNvPr id="7" name="Text Box 6"/>
          <p:cNvSpPr txBox="1"/>
          <p:nvPr/>
        </p:nvSpPr>
        <p:spPr>
          <a:xfrm>
            <a:off x="146050" y="3043555"/>
            <a:ext cx="6096000" cy="398780"/>
          </a:xfrm>
          <a:prstGeom prst="rect">
            <a:avLst/>
          </a:prstGeom>
          <a:noFill/>
        </p:spPr>
        <p:txBody>
          <a:bodyPr wrap="square" rtlCol="0" anchor="t">
            <a:spAutoFit/>
          </a:bodyPr>
          <a:p>
            <a:r>
              <a:rPr lang="en-US" altLang="en-US" sz="2000" b="1">
                <a:solidFill>
                  <a:srgbClr val="FF0000"/>
                </a:solidFill>
                <a:sym typeface="+mn-ea"/>
              </a:rPr>
              <a:t>SQL, Constraints</a:t>
            </a:r>
            <a:endParaRPr lang="en-US" altLang="en-US" sz="2000" b="1">
              <a:solidFill>
                <a:srgbClr val="FF0000"/>
              </a:solidFill>
              <a:sym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97205" y="0"/>
            <a:ext cx="10515600" cy="262890"/>
          </a:xfrm>
        </p:spPr>
        <p:txBody>
          <a:bodyPr>
            <a:noAutofit/>
          </a:bodyPr>
          <a:p>
            <a:pPr algn="ctr"/>
            <a:r>
              <a:rPr lang="en-US" sz="1800" b="1"/>
              <a:t>SQL Constraints </a:t>
            </a:r>
            <a:endParaRPr lang="en-US" sz="1800" b="1"/>
          </a:p>
        </p:txBody>
      </p:sp>
      <p:graphicFrame>
        <p:nvGraphicFramePr>
          <p:cNvPr id="4" name="Table 3"/>
          <p:cNvGraphicFramePr/>
          <p:nvPr>
            <p:custDataLst>
              <p:tags r:id="rId1"/>
            </p:custDataLst>
          </p:nvPr>
        </p:nvGraphicFramePr>
        <p:xfrm>
          <a:off x="165100" y="295910"/>
          <a:ext cx="11935460" cy="1463040"/>
        </p:xfrm>
        <a:graphic>
          <a:graphicData uri="http://schemas.openxmlformats.org/drawingml/2006/table">
            <a:tbl>
              <a:tblPr/>
              <a:tblGrid>
                <a:gridCol w="5967730"/>
                <a:gridCol w="5967730"/>
              </a:tblGrid>
              <a:tr h="243840">
                <a:tc>
                  <a:txBody>
                    <a:bodyPr/>
                    <a:p>
                      <a:pPr algn="ctr"/>
                      <a:r>
                        <a:rPr sz="1600" b="1"/>
                        <a:t>Constraint</a:t>
                      </a:r>
                      <a:endParaRPr sz="1600" b="1"/>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600" b="1"/>
                        <a:t>Description</a:t>
                      </a:r>
                      <a:endParaRPr sz="1600" b="1"/>
                    </a:p>
                  </a:txBody>
                  <a:tcPr marL="0" marR="0" marT="0" marB="0" anchor="ctr" anchorCtr="0">
                    <a:lnL>
                      <a:noFill/>
                    </a:lnL>
                    <a:lnR>
                      <a:noFill/>
                    </a:lnR>
                    <a:lnT>
                      <a:noFill/>
                    </a:lnT>
                    <a:lnB>
                      <a:noFill/>
                    </a:lnB>
                    <a:solidFill>
                      <a:schemeClr val="accent1">
                        <a:lumMod val="40000"/>
                        <a:lumOff val="60000"/>
                      </a:schemeClr>
                    </a:solidFill>
                  </a:tcPr>
                </a:tc>
              </a:tr>
              <a:tr h="243840">
                <a:tc>
                  <a:txBody>
                    <a:bodyPr/>
                    <a:p>
                      <a:r>
                        <a:rPr sz="1600"/>
                        <a:t>NOT NULL</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No NULL values allowed</a:t>
                      </a:r>
                      <a:endParaRPr sz="1600"/>
                    </a:p>
                  </a:txBody>
                  <a:tcPr marL="0" marR="0" marT="0" marB="0" anchor="ctr" anchorCtr="0">
                    <a:lnL>
                      <a:noFill/>
                    </a:lnL>
                    <a:lnR>
                      <a:noFill/>
                    </a:lnR>
                    <a:lnT>
                      <a:noFill/>
                    </a:lnT>
                    <a:lnB>
                      <a:noFill/>
                    </a:lnB>
                    <a:solidFill>
                      <a:schemeClr val="accent1">
                        <a:lumMod val="40000"/>
                        <a:lumOff val="60000"/>
                      </a:schemeClr>
                    </a:solidFill>
                  </a:tcPr>
                </a:tc>
              </a:tr>
              <a:tr h="243840">
                <a:tc>
                  <a:txBody>
                    <a:bodyPr/>
                    <a:p>
                      <a:r>
                        <a:rPr sz="1600"/>
                        <a:t>UNIQUE</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All values must be unique</a:t>
                      </a:r>
                      <a:endParaRPr sz="1600"/>
                    </a:p>
                  </a:txBody>
                  <a:tcPr marL="0" marR="0" marT="0" marB="0" anchor="ctr" anchorCtr="0">
                    <a:lnL>
                      <a:noFill/>
                    </a:lnL>
                    <a:lnR>
                      <a:noFill/>
                    </a:lnR>
                    <a:lnT>
                      <a:noFill/>
                    </a:lnT>
                    <a:lnB>
                      <a:noFill/>
                    </a:lnB>
                    <a:solidFill>
                      <a:schemeClr val="accent1">
                        <a:lumMod val="40000"/>
                        <a:lumOff val="60000"/>
                      </a:schemeClr>
                    </a:solidFill>
                  </a:tcPr>
                </a:tc>
              </a:tr>
              <a:tr h="243840">
                <a:tc>
                  <a:txBody>
                    <a:bodyPr/>
                    <a:p>
                      <a:r>
                        <a:rPr sz="1600"/>
                        <a:t>CHECK</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Limits values based on a condition</a:t>
                      </a:r>
                      <a:endParaRPr sz="1600"/>
                    </a:p>
                  </a:txBody>
                  <a:tcPr marL="0" marR="0" marT="0" marB="0" anchor="ctr" anchorCtr="0">
                    <a:lnL>
                      <a:noFill/>
                    </a:lnL>
                    <a:lnR>
                      <a:noFill/>
                    </a:lnR>
                    <a:lnT>
                      <a:noFill/>
                    </a:lnT>
                    <a:lnB>
                      <a:noFill/>
                    </a:lnB>
                    <a:solidFill>
                      <a:schemeClr val="accent1">
                        <a:lumMod val="40000"/>
                        <a:lumOff val="60000"/>
                      </a:schemeClr>
                    </a:solidFill>
                  </a:tcPr>
                </a:tc>
              </a:tr>
              <a:tr h="243840">
                <a:tc>
                  <a:txBody>
                    <a:bodyPr/>
                    <a:p>
                      <a:r>
                        <a:rPr sz="1600"/>
                        <a:t>DEFAULT</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Sets a default value</a:t>
                      </a:r>
                      <a:endParaRPr sz="1600"/>
                    </a:p>
                  </a:txBody>
                  <a:tcPr marL="0" marR="0" marT="0" marB="0" anchor="ctr" anchorCtr="0">
                    <a:lnL>
                      <a:noFill/>
                    </a:lnL>
                    <a:lnR>
                      <a:noFill/>
                    </a:lnR>
                    <a:lnT>
                      <a:noFill/>
                    </a:lnT>
                    <a:lnB>
                      <a:noFill/>
                    </a:lnB>
                    <a:solidFill>
                      <a:schemeClr val="accent1">
                        <a:lumMod val="40000"/>
                        <a:lumOff val="60000"/>
                      </a:schemeClr>
                    </a:solidFill>
                  </a:tcPr>
                </a:tc>
              </a:tr>
              <a:tr h="243840">
                <a:tc>
                  <a:txBody>
                    <a:bodyPr/>
                    <a:p>
                      <a:r>
                        <a:rPr sz="1600"/>
                        <a:t>AUTO_INCREMENT / IDENTITY</a:t>
                      </a:r>
                      <a:endParaRPr sz="1600"/>
                    </a:p>
                  </a:txBody>
                  <a:tcPr marL="0" marR="0" marT="0" marB="0" anchor="ctr" anchorCtr="0">
                    <a:lnL>
                      <a:noFill/>
                    </a:lnL>
                    <a:lnR>
                      <a:noFill/>
                    </a:lnR>
                    <a:lnT>
                      <a:noFill/>
                    </a:lnT>
                    <a:lnB>
                      <a:noFill/>
                    </a:lnB>
                    <a:solidFill>
                      <a:schemeClr val="accent1">
                        <a:lumMod val="40000"/>
                        <a:lumOff val="60000"/>
                      </a:schemeClr>
                    </a:solidFill>
                  </a:tcPr>
                </a:tc>
                <a:tc>
                  <a:txBody>
                    <a:bodyPr/>
                    <a:p>
                      <a:r>
                        <a:rPr sz="1600"/>
                        <a:t>Auto-generates values</a:t>
                      </a:r>
                      <a:endParaRPr sz="16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
        <p:nvSpPr>
          <p:cNvPr id="5" name="Text Box 4"/>
          <p:cNvSpPr txBox="1"/>
          <p:nvPr/>
        </p:nvSpPr>
        <p:spPr>
          <a:xfrm>
            <a:off x="168275" y="2168525"/>
            <a:ext cx="11934825" cy="656590"/>
          </a:xfrm>
          <a:prstGeom prst="rect">
            <a:avLst/>
          </a:prstGeom>
          <a:noFill/>
        </p:spPr>
        <p:txBody>
          <a:bodyPr wrap="square" rtlCol="0" anchor="t">
            <a:noAutofit/>
          </a:bodyPr>
          <a:p>
            <a:r>
              <a:rPr sz="1600">
                <a:sym typeface="+mn-ea"/>
              </a:rPr>
              <a:t>SQL keys are fields/columns that help identify records, link tables, and maintain data integrity.</a:t>
            </a:r>
            <a:endParaRPr sz="1600"/>
          </a:p>
          <a:p>
            <a:r>
              <a:rPr sz="1600">
                <a:sym typeface="+mn-ea"/>
              </a:rPr>
              <a:t> They are the backbone of relational database management.</a:t>
            </a:r>
            <a:endParaRPr lang="en-US" sz="1600">
              <a:sym typeface="+mn-ea"/>
            </a:endParaRPr>
          </a:p>
        </p:txBody>
      </p:sp>
      <p:sp>
        <p:nvSpPr>
          <p:cNvPr id="6" name="Text Box 5"/>
          <p:cNvSpPr txBox="1"/>
          <p:nvPr/>
        </p:nvSpPr>
        <p:spPr>
          <a:xfrm>
            <a:off x="165100" y="2836545"/>
            <a:ext cx="5080000" cy="1698625"/>
          </a:xfrm>
          <a:prstGeom prst="rect">
            <a:avLst/>
          </a:prstGeom>
        </p:spPr>
        <p:txBody>
          <a:bodyPr>
            <a:noAutofit/>
          </a:bodyPr>
          <a:p>
            <a:pPr>
              <a:spcAft>
                <a:spcPct val="60000"/>
              </a:spcAft>
            </a:pPr>
            <a:r>
              <a:rPr b="1"/>
              <a:t>Why SQL Keys Are Used </a:t>
            </a:r>
            <a:endParaRPr sz="2800" b="1"/>
          </a:p>
          <a:p>
            <a:pPr>
              <a:buAutoNum type="arabicPeriod"/>
            </a:pPr>
            <a:r>
              <a:rPr sz="1600"/>
              <a:t>To uniquely identify each record in a table.</a:t>
            </a:r>
            <a:endParaRPr sz="1600"/>
          </a:p>
          <a:p>
            <a:pPr>
              <a:buAutoNum type="arabicPeriod"/>
            </a:pPr>
            <a:r>
              <a:rPr sz="1600"/>
              <a:t>To create relationships between tables.</a:t>
            </a:r>
            <a:endParaRPr sz="1600"/>
          </a:p>
          <a:p>
            <a:pPr>
              <a:buAutoNum type="arabicPeriod"/>
            </a:pPr>
            <a:r>
              <a:rPr sz="1600"/>
              <a:t>To maintain data integrity and accuracy.</a:t>
            </a:r>
            <a:endParaRPr sz="1600"/>
          </a:p>
          <a:p>
            <a:pPr>
              <a:buAutoNum type="arabicPeriod"/>
            </a:pPr>
            <a:r>
              <a:rPr sz="1600"/>
              <a:t>To prevent duplicate or invalid data.</a:t>
            </a:r>
            <a:endParaRPr sz="1600"/>
          </a:p>
          <a:p>
            <a:pPr>
              <a:buAutoNum type="arabicPeriod"/>
            </a:pPr>
            <a:r>
              <a:rPr sz="1600"/>
              <a:t>To improve search and query performance.</a:t>
            </a:r>
            <a:endParaRPr sz="1600"/>
          </a:p>
          <a:p>
            <a:pPr>
              <a:buAutoNum type="arabicPeriod"/>
            </a:pPr>
            <a:endParaRPr sz="1600"/>
          </a:p>
          <a:p>
            <a:pPr>
              <a:buAutoNum type="arabicPeriod"/>
            </a:pPr>
            <a:endParaRPr sz="1600"/>
          </a:p>
        </p:txBody>
      </p:sp>
      <p:graphicFrame>
        <p:nvGraphicFramePr>
          <p:cNvPr id="7" name="Table 6"/>
          <p:cNvGraphicFramePr/>
          <p:nvPr>
            <p:custDataLst>
              <p:tags r:id="rId2"/>
            </p:custDataLst>
          </p:nvPr>
        </p:nvGraphicFramePr>
        <p:xfrm>
          <a:off x="168275" y="4546600"/>
          <a:ext cx="11616055" cy="2314575"/>
        </p:xfrm>
        <a:graphic>
          <a:graphicData uri="http://schemas.openxmlformats.org/drawingml/2006/table">
            <a:tbl>
              <a:tblPr/>
              <a:tblGrid>
                <a:gridCol w="2813050"/>
                <a:gridCol w="8803005"/>
              </a:tblGrid>
              <a:tr h="257175">
                <a:tc>
                  <a:txBody>
                    <a:bodyPr/>
                    <a:p>
                      <a:pPr algn="ctr"/>
                      <a:r>
                        <a:rPr sz="1600" b="1"/>
                        <a:t>Key Type</a:t>
                      </a:r>
                      <a:endParaRPr sz="1600" b="1"/>
                    </a:p>
                  </a:txBody>
                  <a:tcPr marL="0" marR="0" marT="0" marB="0" anchor="ctr" anchorCtr="0">
                    <a:lnL>
                      <a:noFill/>
                    </a:lnL>
                    <a:lnR>
                      <a:noFill/>
                    </a:lnR>
                    <a:lnT>
                      <a:noFill/>
                    </a:lnT>
                    <a:lnB>
                      <a:noFill/>
                    </a:lnB>
                    <a:noFill/>
                  </a:tcPr>
                </a:tc>
                <a:tc>
                  <a:txBody>
                    <a:bodyPr/>
                    <a:p>
                      <a:pPr algn="ctr"/>
                      <a:r>
                        <a:rPr sz="1600" b="1"/>
                        <a:t>Description</a:t>
                      </a:r>
                      <a:endParaRPr sz="1600" b="1"/>
                    </a:p>
                  </a:txBody>
                  <a:tcPr marL="0" marR="0" marT="0" marB="0" anchor="ctr" anchorCtr="0">
                    <a:lnL>
                      <a:noFill/>
                    </a:lnL>
                    <a:lnR>
                      <a:noFill/>
                    </a:lnR>
                    <a:lnT>
                      <a:noFill/>
                    </a:lnT>
                    <a:lnB>
                      <a:noFill/>
                    </a:lnB>
                    <a:noFill/>
                  </a:tcPr>
                </a:tc>
              </a:tr>
              <a:tr h="257175">
                <a:tc>
                  <a:txBody>
                    <a:bodyPr/>
                    <a:p>
                      <a:r>
                        <a:rPr sz="1600" b="1"/>
                        <a:t> Primary Key</a:t>
                      </a:r>
                      <a:endParaRPr sz="1600" b="1"/>
                    </a:p>
                  </a:txBody>
                  <a:tcPr marL="0" marR="0" marT="0" marB="0" anchor="ctr" anchorCtr="0">
                    <a:lnL>
                      <a:noFill/>
                    </a:lnL>
                    <a:lnR>
                      <a:noFill/>
                    </a:lnR>
                    <a:lnT>
                      <a:noFill/>
                    </a:lnT>
                    <a:lnB>
                      <a:noFill/>
                    </a:lnB>
                    <a:noFill/>
                  </a:tcPr>
                </a:tc>
                <a:tc>
                  <a:txBody>
                    <a:bodyPr/>
                    <a:p>
                      <a:r>
                        <a:rPr sz="1600"/>
                        <a:t>Uniquely identifies each row in a table. No duplicates, no NULLs.</a:t>
                      </a:r>
                      <a:endParaRPr sz="1600"/>
                    </a:p>
                  </a:txBody>
                  <a:tcPr marL="0" marR="0" marT="0" marB="0" anchor="ctr" anchorCtr="0">
                    <a:lnL>
                      <a:noFill/>
                    </a:lnL>
                    <a:lnR>
                      <a:noFill/>
                    </a:lnR>
                    <a:lnT>
                      <a:noFill/>
                    </a:lnT>
                    <a:lnB>
                      <a:noFill/>
                    </a:lnB>
                    <a:noFill/>
                  </a:tcPr>
                </a:tc>
              </a:tr>
              <a:tr h="257175">
                <a:tc>
                  <a:txBody>
                    <a:bodyPr/>
                    <a:p>
                      <a:r>
                        <a:rPr lang="en-US" sz="1600" b="1"/>
                        <a:t> </a:t>
                      </a:r>
                      <a:r>
                        <a:rPr sz="1600" b="1"/>
                        <a:t>Foreign Key</a:t>
                      </a:r>
                      <a:endParaRPr sz="1600" b="1"/>
                    </a:p>
                  </a:txBody>
                  <a:tcPr marL="0" marR="0" marT="0" marB="0" anchor="ctr" anchorCtr="0">
                    <a:lnL>
                      <a:noFill/>
                    </a:lnL>
                    <a:lnR>
                      <a:noFill/>
                    </a:lnR>
                    <a:lnT>
                      <a:noFill/>
                    </a:lnT>
                    <a:lnB>
                      <a:noFill/>
                    </a:lnB>
                    <a:noFill/>
                  </a:tcPr>
                </a:tc>
                <a:tc>
                  <a:txBody>
                    <a:bodyPr/>
                    <a:p>
                      <a:r>
                        <a:rPr sz="1600"/>
                        <a:t>Links two tables by referencing a primary key in another table.</a:t>
                      </a:r>
                      <a:endParaRPr sz="1600"/>
                    </a:p>
                  </a:txBody>
                  <a:tcPr marL="0" marR="0" marT="0" marB="0" anchor="ctr" anchorCtr="0">
                    <a:lnL>
                      <a:noFill/>
                    </a:lnL>
                    <a:lnR>
                      <a:noFill/>
                    </a:lnR>
                    <a:lnT>
                      <a:noFill/>
                    </a:lnT>
                    <a:lnB>
                      <a:noFill/>
                    </a:lnB>
                    <a:noFill/>
                  </a:tcPr>
                </a:tc>
              </a:tr>
              <a:tr h="257175">
                <a:tc>
                  <a:txBody>
                    <a:bodyPr/>
                    <a:p>
                      <a:r>
                        <a:rPr lang="en-US" sz="1600" b="1"/>
                        <a:t> </a:t>
                      </a:r>
                      <a:r>
                        <a:rPr sz="1600" b="1"/>
                        <a:t>Unique Key</a:t>
                      </a:r>
                      <a:endParaRPr sz="1600" b="1"/>
                    </a:p>
                  </a:txBody>
                  <a:tcPr marL="0" marR="0" marT="0" marB="0" anchor="ctr" anchorCtr="0">
                    <a:lnL>
                      <a:noFill/>
                    </a:lnL>
                    <a:lnR>
                      <a:noFill/>
                    </a:lnR>
                    <a:lnT>
                      <a:noFill/>
                    </a:lnT>
                    <a:lnB>
                      <a:noFill/>
                    </a:lnB>
                    <a:noFill/>
                  </a:tcPr>
                </a:tc>
                <a:tc>
                  <a:txBody>
                    <a:bodyPr/>
                    <a:p>
                      <a:r>
                        <a:rPr sz="1600"/>
                        <a:t>Ensures all values in a column are unique, but allows one NULL value.</a:t>
                      </a:r>
                      <a:endParaRPr sz="1600"/>
                    </a:p>
                  </a:txBody>
                  <a:tcPr marL="0" marR="0" marT="0" marB="0" anchor="ctr" anchorCtr="0">
                    <a:lnL>
                      <a:noFill/>
                    </a:lnL>
                    <a:lnR>
                      <a:noFill/>
                    </a:lnR>
                    <a:lnT>
                      <a:noFill/>
                    </a:lnT>
                    <a:lnB>
                      <a:noFill/>
                    </a:lnB>
                    <a:noFill/>
                  </a:tcPr>
                </a:tc>
              </a:tr>
              <a:tr h="257175">
                <a:tc>
                  <a:txBody>
                    <a:bodyPr/>
                    <a:p>
                      <a:r>
                        <a:rPr sz="1600" b="1"/>
                        <a:t> Composite Key</a:t>
                      </a:r>
                      <a:endParaRPr sz="1600" b="1"/>
                    </a:p>
                  </a:txBody>
                  <a:tcPr marL="0" marR="0" marT="0" marB="0" anchor="ctr" anchorCtr="0">
                    <a:lnL>
                      <a:noFill/>
                    </a:lnL>
                    <a:lnR>
                      <a:noFill/>
                    </a:lnR>
                    <a:lnT>
                      <a:noFill/>
                    </a:lnT>
                    <a:lnB>
                      <a:noFill/>
                    </a:lnB>
                    <a:noFill/>
                  </a:tcPr>
                </a:tc>
                <a:tc>
                  <a:txBody>
                    <a:bodyPr/>
                    <a:p>
                      <a:r>
                        <a:rPr sz="1600"/>
                        <a:t>A primary or unique key made of two or more columns.</a:t>
                      </a:r>
                      <a:endParaRPr sz="1600"/>
                    </a:p>
                  </a:txBody>
                  <a:tcPr marL="0" marR="0" marT="0" marB="0" anchor="ctr" anchorCtr="0">
                    <a:lnL>
                      <a:noFill/>
                    </a:lnL>
                    <a:lnR>
                      <a:noFill/>
                    </a:lnR>
                    <a:lnT>
                      <a:noFill/>
                    </a:lnT>
                    <a:lnB>
                      <a:noFill/>
                    </a:lnB>
                    <a:noFill/>
                  </a:tcPr>
                </a:tc>
              </a:tr>
              <a:tr h="257175">
                <a:tc>
                  <a:txBody>
                    <a:bodyPr/>
                    <a:p>
                      <a:r>
                        <a:rPr sz="1600"/>
                        <a:t> Candidate Key</a:t>
                      </a:r>
                      <a:endParaRPr sz="1600"/>
                    </a:p>
                  </a:txBody>
                  <a:tcPr marL="0" marR="0" marT="0" marB="0" anchor="ctr" anchorCtr="0">
                    <a:lnL>
                      <a:noFill/>
                    </a:lnL>
                    <a:lnR>
                      <a:noFill/>
                    </a:lnR>
                    <a:lnT>
                      <a:noFill/>
                    </a:lnT>
                    <a:lnB>
                      <a:noFill/>
                    </a:lnB>
                    <a:noFill/>
                  </a:tcPr>
                </a:tc>
                <a:tc>
                  <a:txBody>
                    <a:bodyPr/>
                    <a:p>
                      <a:r>
                        <a:rPr sz="1600"/>
                        <a:t>A column (or set) that can qualify as a primary key. One is chosen as PK.</a:t>
                      </a:r>
                      <a:endParaRPr sz="1600"/>
                    </a:p>
                  </a:txBody>
                  <a:tcPr marL="0" marR="0" marT="0" marB="0" anchor="ctr" anchorCtr="0">
                    <a:lnL>
                      <a:noFill/>
                    </a:lnL>
                    <a:lnR>
                      <a:noFill/>
                    </a:lnR>
                    <a:lnT>
                      <a:noFill/>
                    </a:lnT>
                    <a:lnB>
                      <a:noFill/>
                    </a:lnB>
                    <a:noFill/>
                  </a:tcPr>
                </a:tc>
              </a:tr>
              <a:tr h="257175">
                <a:tc>
                  <a:txBody>
                    <a:bodyPr/>
                    <a:p>
                      <a:r>
                        <a:rPr sz="1600"/>
                        <a:t> Alternate Key</a:t>
                      </a:r>
                      <a:endParaRPr sz="1600"/>
                    </a:p>
                  </a:txBody>
                  <a:tcPr marL="0" marR="0" marT="0" marB="0" anchor="ctr" anchorCtr="0">
                    <a:lnL>
                      <a:noFill/>
                    </a:lnL>
                    <a:lnR>
                      <a:noFill/>
                    </a:lnR>
                    <a:lnT>
                      <a:noFill/>
                    </a:lnT>
                    <a:lnB>
                      <a:noFill/>
                    </a:lnB>
                    <a:noFill/>
                  </a:tcPr>
                </a:tc>
                <a:tc>
                  <a:txBody>
                    <a:bodyPr/>
                    <a:p>
                      <a:r>
                        <a:rPr sz="1600"/>
                        <a:t>Candidate keys not chosen as the primary key.</a:t>
                      </a:r>
                      <a:r>
                        <a:rPr lang="en-US" sz="1600"/>
                        <a:t> unqiue</a:t>
                      </a:r>
                      <a:endParaRPr lang="en-US" sz="1600"/>
                    </a:p>
                  </a:txBody>
                  <a:tcPr marL="0" marR="0" marT="0" marB="0" anchor="ctr" anchorCtr="0">
                    <a:lnL>
                      <a:noFill/>
                    </a:lnL>
                    <a:lnR>
                      <a:noFill/>
                    </a:lnR>
                    <a:lnT>
                      <a:noFill/>
                    </a:lnT>
                    <a:lnB>
                      <a:noFill/>
                    </a:lnB>
                    <a:noFill/>
                  </a:tcPr>
                </a:tc>
              </a:tr>
              <a:tr h="257175">
                <a:tc>
                  <a:txBody>
                    <a:bodyPr/>
                    <a:p>
                      <a:r>
                        <a:rPr sz="1600"/>
                        <a:t> Super Key</a:t>
                      </a:r>
                      <a:endParaRPr sz="1600"/>
                    </a:p>
                  </a:txBody>
                  <a:tcPr marL="0" marR="0" marT="0" marB="0" anchor="ctr" anchorCtr="0">
                    <a:lnL>
                      <a:noFill/>
                    </a:lnL>
                    <a:lnR>
                      <a:noFill/>
                    </a:lnR>
                    <a:lnT>
                      <a:noFill/>
                    </a:lnT>
                    <a:lnB>
                      <a:noFill/>
                    </a:lnB>
                    <a:noFill/>
                  </a:tcPr>
                </a:tc>
                <a:tc>
                  <a:txBody>
                    <a:bodyPr/>
                    <a:p>
                      <a:r>
                        <a:rPr sz="1600"/>
                        <a:t>Any set of columns that uniquely identifies a row (can include extra cols).</a:t>
                      </a:r>
                      <a:endParaRPr sz="1600"/>
                    </a:p>
                  </a:txBody>
                  <a:tcPr marL="0" marR="0" marT="0" marB="0" anchor="ctr" anchorCtr="0">
                    <a:lnL>
                      <a:noFill/>
                    </a:lnL>
                    <a:lnR>
                      <a:noFill/>
                    </a:lnR>
                    <a:lnT>
                      <a:noFill/>
                    </a:lnT>
                    <a:lnB>
                      <a:noFill/>
                    </a:lnB>
                    <a:noFill/>
                  </a:tcPr>
                </a:tc>
              </a:tr>
              <a:tr h="257175">
                <a:tc>
                  <a:txBody>
                    <a:bodyPr/>
                    <a:p>
                      <a:r>
                        <a:rPr sz="1600"/>
                        <a:t> Index Key</a:t>
                      </a:r>
                      <a:endParaRPr sz="1600"/>
                    </a:p>
                  </a:txBody>
                  <a:tcPr marL="0" marR="0" marT="0" marB="0" anchor="ctr" anchorCtr="0">
                    <a:lnL>
                      <a:noFill/>
                    </a:lnL>
                    <a:lnR>
                      <a:noFill/>
                    </a:lnR>
                    <a:lnT>
                      <a:noFill/>
                    </a:lnT>
                    <a:lnB>
                      <a:noFill/>
                    </a:lnB>
                    <a:noFill/>
                  </a:tcPr>
                </a:tc>
                <a:tc>
                  <a:txBody>
                    <a:bodyPr/>
                    <a:p>
                      <a:r>
                        <a:rPr sz="1600"/>
                        <a:t>Speeds up queries. Not necessarily unique or enforcing integrity.</a:t>
                      </a:r>
                      <a:endParaRPr sz="1600"/>
                    </a:p>
                  </a:txBody>
                  <a:tcPr marL="0" marR="0" marT="0" marB="0" anchor="ctr" anchorCtr="0">
                    <a:lnL>
                      <a:noFill/>
                    </a:lnL>
                    <a:lnR>
                      <a:noFill/>
                    </a:lnR>
                    <a:lnT>
                      <a:noFill/>
                    </a:lnT>
                    <a:lnB>
                      <a:noFill/>
                    </a:lnB>
                    <a:noFill/>
                  </a:tcPr>
                </a:tc>
              </a:tr>
            </a:tbl>
          </a:graphicData>
        </a:graphic>
      </p:graphicFrame>
      <p:sp>
        <p:nvSpPr>
          <p:cNvPr id="8" name="Text Box 7"/>
          <p:cNvSpPr txBox="1"/>
          <p:nvPr/>
        </p:nvSpPr>
        <p:spPr>
          <a:xfrm>
            <a:off x="5245100" y="3035935"/>
            <a:ext cx="6096000" cy="1322070"/>
          </a:xfrm>
          <a:prstGeom prst="rect">
            <a:avLst/>
          </a:prstGeom>
          <a:noFill/>
        </p:spPr>
        <p:txBody>
          <a:bodyPr wrap="square" rtlCol="0" anchor="t">
            <a:spAutoFit/>
          </a:bodyPr>
          <a:p>
            <a:pPr>
              <a:buAutoNum type="arabicPeriod"/>
            </a:pPr>
            <a:r>
              <a:rPr sz="1600">
                <a:sym typeface="+mn-ea"/>
              </a:rPr>
              <a:t>To enforce database rules and constraints.</a:t>
            </a:r>
            <a:endParaRPr sz="1600"/>
          </a:p>
          <a:p>
            <a:pPr>
              <a:buAutoNum type="arabicPeriod"/>
            </a:pPr>
            <a:r>
              <a:rPr sz="1600">
                <a:sym typeface="+mn-ea"/>
              </a:rPr>
              <a:t>To organize data properly using normalization.</a:t>
            </a:r>
            <a:endParaRPr sz="1600"/>
          </a:p>
          <a:p>
            <a:pPr>
              <a:buAutoNum type="arabicPeriod"/>
            </a:pPr>
            <a:r>
              <a:rPr sz="1600">
                <a:sym typeface="+mn-ea"/>
              </a:rPr>
              <a:t>To avoid data redundancy (duplicate data).</a:t>
            </a:r>
            <a:endParaRPr sz="1600"/>
          </a:p>
          <a:p>
            <a:pPr>
              <a:buAutoNum type="arabicPeriod"/>
            </a:pPr>
            <a:r>
              <a:rPr sz="1600">
                <a:sym typeface="+mn-ea"/>
              </a:rPr>
              <a:t>To ensure consistency across related tables.</a:t>
            </a:r>
            <a:endParaRPr sz="1600"/>
          </a:p>
          <a:p>
            <a:pPr>
              <a:buAutoNum type="arabicPeriod"/>
            </a:pPr>
            <a:r>
              <a:rPr sz="1600">
                <a:sym typeface="+mn-ea"/>
              </a:rPr>
              <a:t>To support the relational structure of databases.</a:t>
            </a:r>
            <a:endParaRPr lang="en-US" sz="1600">
              <a:sym typeface="+mn-ea"/>
            </a:endParaRPr>
          </a:p>
        </p:txBody>
      </p:sp>
      <p:sp>
        <p:nvSpPr>
          <p:cNvPr id="3" name="Text Box 2"/>
          <p:cNvSpPr txBox="1"/>
          <p:nvPr/>
        </p:nvSpPr>
        <p:spPr>
          <a:xfrm>
            <a:off x="168275" y="1809115"/>
            <a:ext cx="11932285" cy="344170"/>
          </a:xfrm>
          <a:prstGeom prst="rect">
            <a:avLst/>
          </a:prstGeom>
          <a:noFill/>
        </p:spPr>
        <p:txBody>
          <a:bodyPr wrap="square" rtlCol="0" anchor="t">
            <a:noAutofit/>
          </a:bodyPr>
          <a:p>
            <a:pPr algn="ctr"/>
            <a:r>
              <a:rPr lang="en-US" b="1">
                <a:solidFill>
                  <a:srgbClr val="FF0000"/>
                </a:solidFill>
                <a:sym typeface="+mn-ea"/>
              </a:rPr>
              <a:t>Sql Keys</a:t>
            </a:r>
            <a:endParaRPr lang="en-US" b="1">
              <a:solidFill>
                <a:srgbClr val="FF0000"/>
              </a:solidFill>
              <a:sym typeface="+mn-e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81965" y="0"/>
            <a:ext cx="10515600" cy="464185"/>
          </a:xfrm>
        </p:spPr>
        <p:txBody>
          <a:bodyPr/>
          <a:p>
            <a:pPr algn="ctr"/>
            <a:r>
              <a:rPr lang="en-US" sz="2000"/>
              <a:t>Create Manually Keys</a:t>
            </a:r>
            <a:endParaRPr lang="en-US" sz="2000"/>
          </a:p>
        </p:txBody>
      </p:sp>
      <p:sp>
        <p:nvSpPr>
          <p:cNvPr id="3" name="Content Placeholder 2"/>
          <p:cNvSpPr>
            <a:spLocks noGrp="1"/>
          </p:cNvSpPr>
          <p:nvPr>
            <p:ph idx="1"/>
          </p:nvPr>
        </p:nvSpPr>
        <p:spPr>
          <a:xfrm>
            <a:off x="99060" y="354965"/>
            <a:ext cx="11268075" cy="6503670"/>
          </a:xfrm>
        </p:spPr>
        <p:txBody>
          <a:bodyPr>
            <a:noAutofit/>
          </a:bodyPr>
          <a:p>
            <a:pPr marL="0" indent="0">
              <a:buNone/>
            </a:pPr>
            <a:r>
              <a:rPr lang="en-US" altLang="en-US" sz="1800" b="1"/>
              <a:t>Primary keys</a:t>
            </a:r>
            <a:endParaRPr lang="en-US" altLang="en-US" sz="1800"/>
          </a:p>
          <a:p>
            <a:pPr marL="0" indent="0">
              <a:buNone/>
            </a:pPr>
            <a:r>
              <a:rPr lang="en-US" altLang="en-US" sz="1800"/>
              <a:t>ALTER TABLE table_name</a:t>
            </a:r>
            <a:endParaRPr lang="en-US" altLang="en-US" sz="1800"/>
          </a:p>
          <a:p>
            <a:pPr marL="0" indent="0">
              <a:buNone/>
            </a:pPr>
            <a:r>
              <a:rPr lang="en-US" altLang="en-US" sz="1800"/>
              <a:t>ADD CONSTRAINT pk_name PRIMARY KEY (column_name);</a:t>
            </a:r>
            <a:endParaRPr lang="en-US" altLang="en-US" sz="1800"/>
          </a:p>
          <a:p>
            <a:pPr marL="0" indent="0">
              <a:buNone/>
            </a:pPr>
            <a:r>
              <a:rPr lang="en-US" altLang="en-US" sz="1800"/>
              <a:t>---------------------------------------------</a:t>
            </a:r>
            <a:endParaRPr lang="en-US" altLang="en-US" sz="1800"/>
          </a:p>
          <a:p>
            <a:pPr marL="0" indent="0">
              <a:buNone/>
            </a:pPr>
            <a:r>
              <a:rPr lang="en-US" altLang="en-US" sz="1800"/>
              <a:t>ALTER TABLE table_name</a:t>
            </a:r>
            <a:endParaRPr lang="en-US" altLang="en-US" sz="1800"/>
          </a:p>
          <a:p>
            <a:pPr marL="0" indent="0">
              <a:buNone/>
            </a:pPr>
            <a:r>
              <a:rPr lang="en-US" altLang="en-US" sz="1800"/>
              <a:t>DROP CONSTRAINT pk_name;</a:t>
            </a:r>
            <a:endParaRPr lang="en-US" altLang="en-US" sz="1800"/>
          </a:p>
          <a:p>
            <a:pPr marL="0" indent="0">
              <a:buNone/>
            </a:pPr>
            <a:r>
              <a:rPr lang="en-US" altLang="en-US" sz="1800"/>
              <a:t>---------------------------------------</a:t>
            </a:r>
            <a:endParaRPr lang="en-US" altLang="en-US" sz="1800"/>
          </a:p>
          <a:p>
            <a:pPr marL="0" indent="0">
              <a:buNone/>
            </a:pPr>
            <a:r>
              <a:rPr lang="en-US" altLang="en-US" sz="1800"/>
              <a:t>ALTER TABLE table_name</a:t>
            </a:r>
            <a:endParaRPr lang="en-US" altLang="en-US" sz="1800"/>
          </a:p>
          <a:p>
            <a:pPr marL="0" indent="0">
              <a:buNone/>
            </a:pPr>
            <a:r>
              <a:rPr lang="en-US" altLang="en-US" sz="1800"/>
              <a:t>DROP PRIMARY KEY;</a:t>
            </a:r>
            <a:endParaRPr lang="en-US" altLang="en-US" sz="1800"/>
          </a:p>
          <a:p>
            <a:pPr marL="0" indent="0">
              <a:buNone/>
            </a:pPr>
            <a:r>
              <a:rPr lang="en-US" altLang="en-US" sz="1800" b="1"/>
              <a:t>Foreign Key</a:t>
            </a:r>
            <a:endParaRPr lang="en-US" altLang="en-US" sz="1800"/>
          </a:p>
          <a:p>
            <a:pPr marL="0" indent="0">
              <a:buNone/>
            </a:pPr>
            <a:r>
              <a:rPr lang="en-US" altLang="en-US" sz="1800"/>
              <a:t>ALTER TABLE table_name</a:t>
            </a:r>
            <a:endParaRPr lang="en-US" altLang="en-US" sz="1800"/>
          </a:p>
          <a:p>
            <a:pPr marL="0" indent="0">
              <a:buNone/>
            </a:pPr>
            <a:r>
              <a:rPr lang="en-US" altLang="en-US" sz="1800"/>
              <a:t>ADD CONSTRAINT fk_name FOREIGN KEY (column_name)</a:t>
            </a:r>
            <a:endParaRPr lang="en-US" altLang="en-US" sz="1800"/>
          </a:p>
          <a:p>
            <a:pPr marL="0" indent="0">
              <a:buNone/>
            </a:pPr>
            <a:r>
              <a:rPr lang="en-US" altLang="en-US" sz="1800"/>
              <a:t>REFERENCES parent_table(parent_column);</a:t>
            </a:r>
            <a:endParaRPr lang="en-US" altLang="en-US" sz="1800"/>
          </a:p>
          <a:p>
            <a:pPr marL="0" indent="0">
              <a:buNone/>
            </a:pPr>
            <a:r>
              <a:rPr lang="en-US" altLang="en-US" sz="1800"/>
              <a:t>-----------------------------------------</a:t>
            </a:r>
            <a:endParaRPr lang="en-US" altLang="en-US" sz="1800"/>
          </a:p>
          <a:p>
            <a:pPr marL="0" indent="0">
              <a:buNone/>
            </a:pPr>
            <a:r>
              <a:rPr lang="en-US" altLang="en-US" sz="1800"/>
              <a:t>ALTER TABLE table_name</a:t>
            </a:r>
            <a:endParaRPr lang="en-US" altLang="en-US" sz="1800"/>
          </a:p>
          <a:p>
            <a:pPr marL="0" indent="0">
              <a:buNone/>
            </a:pPr>
            <a:r>
              <a:rPr lang="en-US" altLang="en-US" sz="1800"/>
              <a:t>DROP CONSTRAINT fk_name;</a:t>
            </a:r>
            <a:endParaRPr lang="en-US" altLang="en-US" sz="1800"/>
          </a:p>
          <a:p>
            <a:pPr marL="0" indent="0">
              <a:buNone/>
            </a:pPr>
            <a:r>
              <a:rPr lang="en-US" altLang="en-US" sz="1800">
                <a:sym typeface="+mn-ea"/>
              </a:rPr>
              <a:t>ALTER TABLE table_name</a:t>
            </a:r>
            <a:endParaRPr lang="en-US" altLang="en-US" sz="1800"/>
          </a:p>
          <a:p>
            <a:pPr marL="0" indent="0">
              <a:buNone/>
            </a:pPr>
            <a:r>
              <a:rPr lang="en-US" altLang="en-US" sz="1800">
                <a:sym typeface="+mn-ea"/>
              </a:rPr>
              <a:t>DROP FOREIGN KEY fk_name ;</a:t>
            </a:r>
            <a:endParaRPr lang="en-US" altLang="en-US" sz="1800"/>
          </a:p>
          <a:p>
            <a:pPr marL="0" indent="0">
              <a:buNone/>
            </a:pPr>
            <a:endParaRPr lang="en-US" altLang="en-US" sz="1800"/>
          </a:p>
        </p:txBody>
      </p:sp>
      <p:sp>
        <p:nvSpPr>
          <p:cNvPr id="4" name="Text Box 3"/>
          <p:cNvSpPr txBox="1"/>
          <p:nvPr/>
        </p:nvSpPr>
        <p:spPr>
          <a:xfrm>
            <a:off x="5744210" y="260985"/>
            <a:ext cx="6096000" cy="1814830"/>
          </a:xfrm>
          <a:prstGeom prst="rect">
            <a:avLst/>
          </a:prstGeom>
          <a:noFill/>
        </p:spPr>
        <p:txBody>
          <a:bodyPr wrap="square" rtlCol="0" anchor="t">
            <a:spAutoFit/>
          </a:bodyPr>
          <a:p>
            <a:pPr marL="0" indent="0">
              <a:buNone/>
            </a:pPr>
            <a:r>
              <a:rPr lang="en-US" altLang="en-US" sz="1600" b="1">
                <a:sym typeface="+mn-ea"/>
              </a:rPr>
              <a:t>Unique Keys</a:t>
            </a:r>
            <a:endParaRPr lang="en-US" altLang="en-US" sz="1600"/>
          </a:p>
          <a:p>
            <a:pPr marL="0" indent="0">
              <a:buNone/>
            </a:pPr>
            <a:r>
              <a:rPr lang="en-US" altLang="en-US" sz="1600">
                <a:sym typeface="+mn-ea"/>
              </a:rPr>
              <a:t>ALTER TABLE table_name</a:t>
            </a:r>
            <a:endParaRPr lang="en-US" altLang="en-US" sz="1600"/>
          </a:p>
          <a:p>
            <a:pPr marL="0" indent="0">
              <a:buNone/>
            </a:pPr>
            <a:r>
              <a:rPr lang="en-US" altLang="en-US" sz="1600">
                <a:sym typeface="+mn-ea"/>
              </a:rPr>
              <a:t>ADD CONSTRAINT unique_name UNIQUE (column_name);</a:t>
            </a:r>
            <a:endParaRPr lang="en-US" altLang="en-US" sz="1600"/>
          </a:p>
          <a:p>
            <a:pPr marL="0" indent="0">
              <a:buNone/>
            </a:pPr>
            <a:r>
              <a:rPr lang="en-US" altLang="en-US" sz="1600">
                <a:sym typeface="+mn-ea"/>
              </a:rPr>
              <a:t>--------------------------------------</a:t>
            </a:r>
            <a:endParaRPr lang="en-US" altLang="en-US" sz="1600"/>
          </a:p>
          <a:p>
            <a:pPr marL="0" indent="0">
              <a:buNone/>
            </a:pPr>
            <a:r>
              <a:rPr lang="en-US" altLang="en-US" sz="1600">
                <a:sym typeface="+mn-ea"/>
              </a:rPr>
              <a:t>ALTER TABLE table_name</a:t>
            </a:r>
            <a:endParaRPr lang="en-US" altLang="en-US" sz="1600"/>
          </a:p>
          <a:p>
            <a:pPr marL="0" indent="0">
              <a:buNone/>
            </a:pPr>
            <a:r>
              <a:rPr lang="en-US" altLang="en-US" sz="1600">
                <a:sym typeface="+mn-ea"/>
              </a:rPr>
              <a:t>DROP CONSTRAINT unique_name;</a:t>
            </a:r>
            <a:endParaRPr lang="en-US" altLang="en-US" sz="1600"/>
          </a:p>
          <a:p>
            <a:pPr marL="0" indent="0">
              <a:buNone/>
            </a:pPr>
            <a:endParaRPr lang="en-US" altLang="en-US" sz="16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133985" y="172085"/>
            <a:ext cx="11938000" cy="6560185"/>
          </a:xfrm>
        </p:spPr>
        <p:txBody>
          <a:bodyPr>
            <a:noAutofit/>
          </a:bodyPr>
          <a:p>
            <a:pPr marL="0" indent="0">
              <a:buNone/>
            </a:pPr>
            <a:r>
              <a:rPr lang="en-US" altLang="en-US" sz="1800"/>
              <a:t>CREATE TABLE Students (</a:t>
            </a:r>
            <a:endParaRPr lang="en-US" altLang="en-US" sz="1800"/>
          </a:p>
          <a:p>
            <a:pPr marL="0" indent="0">
              <a:buNone/>
            </a:pPr>
            <a:r>
              <a:rPr lang="en-US" altLang="en-US" sz="1800"/>
              <a:t>    StudentID INT NOT NULL,                -- Candidate Key (Primary Key chosen here)</a:t>
            </a:r>
            <a:endParaRPr lang="en-US" altLang="en-US" sz="1800"/>
          </a:p>
          <a:p>
            <a:pPr marL="0" indent="0">
              <a:buNone/>
            </a:pPr>
            <a:r>
              <a:rPr lang="en-US" altLang="en-US" sz="1800"/>
              <a:t>    Email VARCHAR(255) NOT NULL,            -- Candidate Key (Alternate Key)</a:t>
            </a:r>
            <a:endParaRPr lang="en-US" altLang="en-US" sz="1800"/>
          </a:p>
          <a:p>
            <a:pPr marL="0" indent="0">
              <a:buNone/>
            </a:pPr>
            <a:r>
              <a:rPr lang="en-US" altLang="en-US" sz="1800"/>
              <a:t>    StudentName VARCHAR(100) NOT NULL,      -- Indexed column (Index Key)</a:t>
            </a:r>
            <a:endParaRPr lang="en-US" altLang="en-US" sz="1800"/>
          </a:p>
          <a:p>
            <a:pPr marL="0" indent="0">
              <a:buNone/>
            </a:pPr>
            <a:r>
              <a:rPr lang="en-US" altLang="en-US" sz="1800"/>
              <a:t>    PhoneNumber VARCHAR(15),</a:t>
            </a:r>
            <a:endParaRPr lang="en-US" altLang="en-US" sz="1800"/>
          </a:p>
          <a:p>
            <a:pPr marL="0" indent="0">
              <a:buNone/>
            </a:pPr>
            <a:r>
              <a:rPr lang="en-US" altLang="en-US" sz="1800"/>
              <a:t>    PRIMARY KEY (StudentID),                 -- Candidate Key chosen as Primary Key</a:t>
            </a:r>
            <a:endParaRPr lang="en-US" altLang="en-US" sz="1800"/>
          </a:p>
          <a:p>
            <a:pPr marL="0" indent="0">
              <a:buNone/>
            </a:pPr>
            <a:r>
              <a:rPr lang="en-US" altLang="en-US" sz="1800"/>
              <a:t>    UNIQUE (Email),                         -- Alternate Key (candidate key not chosen as PK)</a:t>
            </a:r>
            <a:endParaRPr lang="en-US" altLang="en-US" sz="1800"/>
          </a:p>
          <a:p>
            <a:pPr marL="0" indent="0">
              <a:buNone/>
            </a:pPr>
            <a:r>
              <a:rPr lang="en-US" altLang="en-US" sz="1800"/>
              <a:t>    INDEX idx_student_name (StudentName)   -- Index Key on StudentName for fast search</a:t>
            </a:r>
            <a:endParaRPr lang="en-US" altLang="en-US" sz="1800"/>
          </a:p>
          <a:p>
            <a:pPr marL="0" indent="0">
              <a:buNone/>
            </a:pPr>
            <a:r>
              <a:rPr lang="en-US" altLang="en-US" sz="1800"/>
              <a:t>);</a:t>
            </a:r>
            <a:endParaRPr lang="en-US" altLang="en-US" sz="1800"/>
          </a:p>
          <a:p>
            <a:pPr marL="0" indent="0">
              <a:buNone/>
            </a:pPr>
            <a:r>
              <a:rPr lang="en-US" altLang="en-US" sz="1800" b="1"/>
              <a:t>Candidate Keys</a:t>
            </a:r>
            <a:r>
              <a:rPr lang="en-US" altLang="en-US" sz="1800"/>
              <a:t>: StudentID and Email (both uniquely identify a student).</a:t>
            </a:r>
            <a:endParaRPr lang="en-US" altLang="en-US" sz="1800"/>
          </a:p>
          <a:p>
            <a:pPr marL="0" indent="0">
              <a:buNone/>
            </a:pPr>
            <a:r>
              <a:rPr lang="en-US" altLang="en-US" sz="1800" b="1"/>
              <a:t>Primary Key:</a:t>
            </a:r>
            <a:r>
              <a:rPr lang="en-US" altLang="en-US" sz="1800"/>
              <a:t> StudentID is selected as the primary key.</a:t>
            </a:r>
            <a:endParaRPr lang="en-US" altLang="en-US" sz="1800"/>
          </a:p>
          <a:p>
            <a:pPr marL="0" indent="0">
              <a:buNone/>
            </a:pPr>
            <a:r>
              <a:rPr lang="en-US" altLang="en-US" sz="1800" b="1"/>
              <a:t>Alternate Key</a:t>
            </a:r>
            <a:r>
              <a:rPr lang="en-US" altLang="en-US" sz="1800"/>
              <a:t>: Email is unique but not the primary key, so it acts as an alternate key.</a:t>
            </a:r>
            <a:endParaRPr lang="en-US" altLang="en-US" sz="1800"/>
          </a:p>
          <a:p>
            <a:pPr marL="0" indent="0">
              <a:buNone/>
            </a:pPr>
            <a:r>
              <a:rPr lang="en-US" altLang="en-US" sz="1800" b="1"/>
              <a:t>Super Key:</a:t>
            </a:r>
            <a:r>
              <a:rPr lang="en-US" altLang="en-US" sz="1800"/>
              <a:t> Any set that uniquely identifies a row, for example:</a:t>
            </a:r>
            <a:endParaRPr lang="en-US" altLang="en-US" sz="1800"/>
          </a:p>
          <a:p>
            <a:pPr marL="0" indent="0">
              <a:buNone/>
            </a:pPr>
            <a:r>
              <a:rPr lang="en-US" altLang="en-US" sz="1800"/>
              <a:t>{StudentID}</a:t>
            </a:r>
            <a:endParaRPr lang="en-US" altLang="en-US" sz="1800"/>
          </a:p>
          <a:p>
            <a:pPr marL="0" indent="0">
              <a:buNone/>
            </a:pPr>
            <a:r>
              <a:rPr lang="en-US" altLang="en-US" sz="1800"/>
              <a:t>{StudentID, Email}</a:t>
            </a:r>
            <a:endParaRPr lang="en-US" altLang="en-US" sz="1800"/>
          </a:p>
          <a:p>
            <a:pPr marL="0" indent="0">
              <a:buNone/>
            </a:pPr>
            <a:r>
              <a:rPr lang="en-US" altLang="en-US" sz="1800"/>
              <a:t>{StudentID, StudentName}</a:t>
            </a:r>
            <a:endParaRPr lang="en-US" altLang="en-US" sz="1800"/>
          </a:p>
          <a:p>
            <a:pPr marL="0" indent="0">
              <a:buNone/>
            </a:pPr>
            <a:r>
              <a:rPr lang="en-US" altLang="en-US" sz="1800"/>
              <a:t>Index Key: StudentName has an index idx_student_name to speed up queries searching by name.</a:t>
            </a:r>
            <a:endParaRPr lang="en-US" altLang="en-US" sz="1800"/>
          </a:p>
          <a:p>
            <a:pPr marL="0" indent="0">
              <a:buNone/>
            </a:pPr>
            <a:endParaRPr lang="en-US" altLang="en-US" sz="1800"/>
          </a:p>
          <a:p>
            <a:pPr marL="0" indent="0">
              <a:buNone/>
            </a:pPr>
            <a:endParaRPr lang="en-US" altLang="en-US" sz="18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81940" y="0"/>
            <a:ext cx="10515600" cy="502920"/>
          </a:xfrm>
        </p:spPr>
        <p:txBody>
          <a:bodyPr>
            <a:normAutofit fontScale="90000"/>
          </a:bodyPr>
          <a:p>
            <a:r>
              <a:rPr lang="en-US" sz="2800" b="1">
                <a:solidFill>
                  <a:srgbClr val="FF0000"/>
                </a:solidFill>
              </a:rPr>
              <a:t>SQL Keys</a:t>
            </a:r>
            <a:endParaRPr lang="en-US" sz="2800" b="1">
              <a:solidFill>
                <a:srgbClr val="FF0000"/>
              </a:solidFill>
            </a:endParaRPr>
          </a:p>
        </p:txBody>
      </p:sp>
      <p:sp>
        <p:nvSpPr>
          <p:cNvPr id="5" name="Text Box 4"/>
          <p:cNvSpPr txBox="1"/>
          <p:nvPr/>
        </p:nvSpPr>
        <p:spPr>
          <a:xfrm>
            <a:off x="0" y="502920"/>
            <a:ext cx="3435350" cy="2045335"/>
          </a:xfrm>
          <a:prstGeom prst="rect">
            <a:avLst/>
          </a:prstGeom>
        </p:spPr>
        <p:txBody>
          <a:bodyPr>
            <a:noAutofit/>
          </a:bodyPr>
          <a:p>
            <a:pPr>
              <a:spcAft>
                <a:spcPct val="60000"/>
              </a:spcAft>
            </a:pPr>
            <a:r>
              <a:rPr b="1"/>
              <a:t> Composite Key</a:t>
            </a:r>
            <a:endParaRPr b="1"/>
          </a:p>
          <a:p>
            <a:r>
              <a:t>A composite key is a primary key made of two or more columns.</a:t>
            </a:r>
          </a:p>
          <a:p>
            <a:r>
              <a:t>Use PRIMARY KEY (col1, col2) in the CREATE TABLE statement.</a:t>
            </a:r>
          </a:p>
        </p:txBody>
      </p:sp>
      <p:sp>
        <p:nvSpPr>
          <p:cNvPr id="6" name="Text Box 5"/>
          <p:cNvSpPr txBox="1"/>
          <p:nvPr/>
        </p:nvSpPr>
        <p:spPr>
          <a:xfrm>
            <a:off x="3747135" y="502920"/>
            <a:ext cx="3585210" cy="2045970"/>
          </a:xfrm>
          <a:prstGeom prst="rect">
            <a:avLst/>
          </a:prstGeom>
        </p:spPr>
        <p:txBody>
          <a:bodyPr>
            <a:noAutofit/>
          </a:bodyPr>
          <a:p>
            <a:pPr>
              <a:spcAft>
                <a:spcPct val="60000"/>
              </a:spcAft>
            </a:pPr>
            <a:r>
              <a:rPr sz="2400" b="1"/>
              <a:t> Alternate Key</a:t>
            </a:r>
            <a:endParaRPr sz="2400" b="1"/>
          </a:p>
          <a:p>
            <a:r>
              <a:t>An alternate key is any candidate key not chosen as the primary key.</a:t>
            </a:r>
          </a:p>
          <a:p>
            <a:r>
              <a:t> In SQL, you define it using a UNIQUE constraint.</a:t>
            </a:r>
          </a:p>
        </p:txBody>
      </p:sp>
      <p:sp>
        <p:nvSpPr>
          <p:cNvPr id="7" name="Text Box 6"/>
          <p:cNvSpPr txBox="1"/>
          <p:nvPr/>
        </p:nvSpPr>
        <p:spPr>
          <a:xfrm>
            <a:off x="7644130" y="502920"/>
            <a:ext cx="4402455" cy="2155825"/>
          </a:xfrm>
          <a:prstGeom prst="rect">
            <a:avLst/>
          </a:prstGeom>
        </p:spPr>
        <p:txBody>
          <a:bodyPr>
            <a:noAutofit/>
          </a:bodyPr>
          <a:p>
            <a:pPr>
              <a:spcAft>
                <a:spcPct val="60000"/>
              </a:spcAft>
            </a:pPr>
            <a:r>
              <a:rPr b="1"/>
              <a:t>  Candidate Key</a:t>
            </a:r>
            <a:endParaRPr b="1"/>
          </a:p>
          <a:p>
            <a:pPr>
              <a:spcAft>
                <a:spcPct val="60000"/>
              </a:spcAft>
            </a:pPr>
            <a:r>
              <a:t>A candidate key is any column or combination of columns that can uniquely identify a row.</a:t>
            </a:r>
          </a:p>
          <a:p>
            <a:r>
              <a:t>💡 To define candidate keys in SQL, use PRIMARY KEY and UNIQUE constraints.</a:t>
            </a:r>
          </a:p>
        </p:txBody>
      </p:sp>
      <p:graphicFrame>
        <p:nvGraphicFramePr>
          <p:cNvPr id="3" name="Table 2"/>
          <p:cNvGraphicFramePr/>
          <p:nvPr>
            <p:custDataLst>
              <p:tags r:id="rId1"/>
            </p:custDataLst>
          </p:nvPr>
        </p:nvGraphicFramePr>
        <p:xfrm>
          <a:off x="196850" y="3542030"/>
          <a:ext cx="11744325" cy="2946400"/>
        </p:xfrm>
        <a:graphic>
          <a:graphicData uri="http://schemas.openxmlformats.org/drawingml/2006/table">
            <a:tbl>
              <a:tblPr/>
              <a:tblGrid>
                <a:gridCol w="2669540"/>
                <a:gridCol w="4448175"/>
                <a:gridCol w="4626610"/>
              </a:tblGrid>
              <a:tr h="589280">
                <a:tc>
                  <a:txBody>
                    <a:bodyPr/>
                    <a:p>
                      <a:r>
                        <a:rPr sz="1800"/>
                        <a:t>Operator Type</a:t>
                      </a:r>
                      <a:endParaRPr sz="1800"/>
                    </a:p>
                  </a:txBody>
                  <a:tcPr marL="0" marR="0" marT="0" marB="0" anchor="ctr" anchorCtr="0">
                    <a:lnL>
                      <a:noFill/>
                    </a:lnL>
                    <a:lnR>
                      <a:noFill/>
                    </a:lnR>
                    <a:lnT>
                      <a:noFill/>
                    </a:lnT>
                    <a:lnB>
                      <a:noFill/>
                    </a:lnB>
                    <a:noFill/>
                  </a:tcPr>
                </a:tc>
                <a:tc>
                  <a:txBody>
                    <a:bodyPr/>
                    <a:p>
                      <a:r>
                        <a:rPr sz="1800"/>
                        <a:t>Examples</a:t>
                      </a:r>
                      <a:endParaRPr sz="1800"/>
                    </a:p>
                  </a:txBody>
                  <a:tcPr marL="0" marR="0" marT="0" marB="0" anchor="ctr" anchorCtr="0">
                    <a:lnL>
                      <a:noFill/>
                    </a:lnL>
                    <a:lnR>
                      <a:noFill/>
                    </a:lnR>
                    <a:lnT>
                      <a:noFill/>
                    </a:lnT>
                    <a:lnB>
                      <a:noFill/>
                    </a:lnB>
                    <a:noFill/>
                  </a:tcPr>
                </a:tc>
                <a:tc>
                  <a:txBody>
                    <a:bodyPr/>
                    <a:p>
                      <a:r>
                        <a:rPr sz="1800"/>
                        <a:t>Usage</a:t>
                      </a:r>
                      <a:endParaRPr sz="1800"/>
                    </a:p>
                  </a:txBody>
                  <a:tcPr marL="0" marR="0" marT="0" marB="0" anchor="ctr" anchorCtr="0">
                    <a:lnL>
                      <a:noFill/>
                    </a:lnL>
                    <a:lnR>
                      <a:noFill/>
                    </a:lnR>
                    <a:lnT>
                      <a:noFill/>
                    </a:lnT>
                    <a:lnB>
                      <a:noFill/>
                    </a:lnB>
                    <a:noFill/>
                  </a:tcPr>
                </a:tc>
              </a:tr>
              <a:tr h="589280">
                <a:tc>
                  <a:txBody>
                    <a:bodyPr/>
                    <a:p>
                      <a:r>
                        <a:rPr sz="1800"/>
                        <a:t>Arithmetic</a:t>
                      </a:r>
                      <a:endParaRPr sz="1800"/>
                    </a:p>
                  </a:txBody>
                  <a:tcPr marL="0" marR="0" marT="0" marB="0" anchor="ctr" anchorCtr="0">
                    <a:lnL>
                      <a:noFill/>
                    </a:lnL>
                    <a:lnR>
                      <a:noFill/>
                    </a:lnR>
                    <a:lnT>
                      <a:noFill/>
                    </a:lnT>
                    <a:lnB>
                      <a:noFill/>
                    </a:lnB>
                    <a:noFill/>
                  </a:tcPr>
                </a:tc>
                <a:tc>
                  <a:txBody>
                    <a:bodyPr/>
                    <a:p>
                      <a:r>
                        <a:rPr sz="1800"/>
                        <a:t>+, -, *, /, %</a:t>
                      </a:r>
                      <a:endParaRPr sz="1800"/>
                    </a:p>
                  </a:txBody>
                  <a:tcPr marL="0" marR="0" marT="0" marB="0" anchor="ctr" anchorCtr="0">
                    <a:lnL>
                      <a:noFill/>
                    </a:lnL>
                    <a:lnR>
                      <a:noFill/>
                    </a:lnR>
                    <a:lnT>
                      <a:noFill/>
                    </a:lnT>
                    <a:lnB>
                      <a:noFill/>
                    </a:lnB>
                    <a:noFill/>
                  </a:tcPr>
                </a:tc>
                <a:tc>
                  <a:txBody>
                    <a:bodyPr/>
                    <a:p>
                      <a:r>
                        <a:rPr sz="1800"/>
                        <a:t>Calculations on numeric values</a:t>
                      </a:r>
                      <a:endParaRPr sz="1800"/>
                    </a:p>
                  </a:txBody>
                  <a:tcPr marL="0" marR="0" marT="0" marB="0" anchor="ctr" anchorCtr="0">
                    <a:lnL>
                      <a:noFill/>
                    </a:lnL>
                    <a:lnR>
                      <a:noFill/>
                    </a:lnR>
                    <a:lnT>
                      <a:noFill/>
                    </a:lnT>
                    <a:lnB>
                      <a:noFill/>
                    </a:lnB>
                    <a:noFill/>
                  </a:tcPr>
                </a:tc>
              </a:tr>
              <a:tr h="589280">
                <a:tc>
                  <a:txBody>
                    <a:bodyPr/>
                    <a:p>
                      <a:r>
                        <a:rPr sz="1800"/>
                        <a:t>Comparison</a:t>
                      </a:r>
                      <a:endParaRPr sz="1800"/>
                    </a:p>
                  </a:txBody>
                  <a:tcPr marL="0" marR="0" marT="0" marB="0" anchor="ctr" anchorCtr="0">
                    <a:lnL>
                      <a:noFill/>
                    </a:lnL>
                    <a:lnR>
                      <a:noFill/>
                    </a:lnR>
                    <a:lnT>
                      <a:noFill/>
                    </a:lnT>
                    <a:lnB>
                      <a:noFill/>
                    </a:lnB>
                    <a:noFill/>
                  </a:tcPr>
                </a:tc>
                <a:tc>
                  <a:txBody>
                    <a:bodyPr/>
                    <a:p>
                      <a:r>
                        <a:rPr sz="1800"/>
                        <a:t>=, !=, &lt;, &gt;, &lt;=, &gt;=, BETWEEN, LIKE, IN</a:t>
                      </a:r>
                      <a:endParaRPr sz="1800"/>
                    </a:p>
                  </a:txBody>
                  <a:tcPr marL="0" marR="0" marT="0" marB="0" anchor="ctr" anchorCtr="0">
                    <a:lnL>
                      <a:noFill/>
                    </a:lnL>
                    <a:lnR>
                      <a:noFill/>
                    </a:lnR>
                    <a:lnT>
                      <a:noFill/>
                    </a:lnT>
                    <a:lnB>
                      <a:noFill/>
                    </a:lnB>
                    <a:noFill/>
                  </a:tcPr>
                </a:tc>
                <a:tc>
                  <a:txBody>
                    <a:bodyPr/>
                    <a:p>
                      <a:r>
                        <a:rPr sz="1800"/>
                        <a:t>Filter rows based on conditions</a:t>
                      </a:r>
                      <a:endParaRPr sz="1800"/>
                    </a:p>
                  </a:txBody>
                  <a:tcPr marL="0" marR="0" marT="0" marB="0" anchor="ctr" anchorCtr="0">
                    <a:lnL>
                      <a:noFill/>
                    </a:lnL>
                    <a:lnR>
                      <a:noFill/>
                    </a:lnR>
                    <a:lnT>
                      <a:noFill/>
                    </a:lnT>
                    <a:lnB>
                      <a:noFill/>
                    </a:lnB>
                    <a:noFill/>
                  </a:tcPr>
                </a:tc>
              </a:tr>
              <a:tr h="589280">
                <a:tc>
                  <a:txBody>
                    <a:bodyPr/>
                    <a:p>
                      <a:r>
                        <a:rPr sz="1800"/>
                        <a:t>Logical</a:t>
                      </a:r>
                      <a:endParaRPr sz="1800"/>
                    </a:p>
                  </a:txBody>
                  <a:tcPr marL="0" marR="0" marT="0" marB="0" anchor="ctr" anchorCtr="0">
                    <a:lnL>
                      <a:noFill/>
                    </a:lnL>
                    <a:lnR>
                      <a:noFill/>
                    </a:lnR>
                    <a:lnT>
                      <a:noFill/>
                    </a:lnT>
                    <a:lnB>
                      <a:noFill/>
                    </a:lnB>
                    <a:noFill/>
                  </a:tcPr>
                </a:tc>
                <a:tc>
                  <a:txBody>
                    <a:bodyPr/>
                    <a:p>
                      <a:r>
                        <a:rPr sz="1800"/>
                        <a:t>AND, OR, NOT</a:t>
                      </a:r>
                      <a:endParaRPr sz="1800"/>
                    </a:p>
                  </a:txBody>
                  <a:tcPr marL="0" marR="0" marT="0" marB="0" anchor="ctr" anchorCtr="0">
                    <a:lnL>
                      <a:noFill/>
                    </a:lnL>
                    <a:lnR>
                      <a:noFill/>
                    </a:lnR>
                    <a:lnT>
                      <a:noFill/>
                    </a:lnT>
                    <a:lnB>
                      <a:noFill/>
                    </a:lnB>
                    <a:noFill/>
                  </a:tcPr>
                </a:tc>
                <a:tc>
                  <a:txBody>
                    <a:bodyPr/>
                    <a:p>
                      <a:r>
                        <a:rPr sz="1800"/>
                        <a:t>Combine multiple conditions</a:t>
                      </a:r>
                      <a:endParaRPr sz="1800"/>
                    </a:p>
                  </a:txBody>
                  <a:tcPr marL="0" marR="0" marT="0" marB="0" anchor="ctr" anchorCtr="0">
                    <a:lnL>
                      <a:noFill/>
                    </a:lnL>
                    <a:lnR>
                      <a:noFill/>
                    </a:lnR>
                    <a:lnT>
                      <a:noFill/>
                    </a:lnT>
                    <a:lnB>
                      <a:noFill/>
                    </a:lnB>
                    <a:noFill/>
                  </a:tcPr>
                </a:tc>
              </a:tr>
            </a:tbl>
          </a:graphicData>
        </a:graphic>
      </p:graphicFrame>
      <p:sp>
        <p:nvSpPr>
          <p:cNvPr id="8" name="Text Box 7"/>
          <p:cNvSpPr txBox="1"/>
          <p:nvPr/>
        </p:nvSpPr>
        <p:spPr>
          <a:xfrm>
            <a:off x="114935" y="2548890"/>
            <a:ext cx="6096000" cy="398780"/>
          </a:xfrm>
          <a:prstGeom prst="rect">
            <a:avLst/>
          </a:prstGeom>
          <a:noFill/>
        </p:spPr>
        <p:txBody>
          <a:bodyPr wrap="square" rtlCol="0" anchor="t">
            <a:spAutoFit/>
          </a:bodyPr>
          <a:p>
            <a:r>
              <a:rPr lang="en-US" sz="2000" b="1">
                <a:solidFill>
                  <a:srgbClr val="FF0000"/>
                </a:solidFill>
                <a:sym typeface="+mn-ea"/>
              </a:rPr>
              <a:t>SQL Operators</a:t>
            </a:r>
            <a:endParaRPr lang="en-US" sz="2000" b="1">
              <a:solidFill>
                <a:srgbClr val="FF0000"/>
              </a:solidFill>
              <a:sym typeface="+mn-ea"/>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35" y="-635"/>
            <a:ext cx="12052300" cy="570865"/>
          </a:xfrm>
        </p:spPr>
        <p:txBody>
          <a:bodyPr>
            <a:noAutofit/>
          </a:bodyPr>
          <a:p>
            <a:pPr algn="ctr"/>
            <a:r>
              <a:rPr lang="en-US" altLang="en-US" sz="2400" b="1">
                <a:solidFill>
                  <a:srgbClr val="FF0000"/>
                </a:solidFill>
                <a:sym typeface="+mn-ea"/>
              </a:rPr>
              <a:t> LIKE Operator</a:t>
            </a:r>
            <a:endParaRPr lang="en-US" altLang="en-US" sz="2400" b="1">
              <a:solidFill>
                <a:srgbClr val="FF0000"/>
              </a:solidFill>
              <a:sym typeface="+mn-ea"/>
            </a:endParaRPr>
          </a:p>
        </p:txBody>
      </p:sp>
      <p:sp>
        <p:nvSpPr>
          <p:cNvPr id="3" name="Content Placeholder 2"/>
          <p:cNvSpPr>
            <a:spLocks noGrp="1"/>
          </p:cNvSpPr>
          <p:nvPr>
            <p:ph idx="1"/>
          </p:nvPr>
        </p:nvSpPr>
        <p:spPr>
          <a:xfrm>
            <a:off x="222250" y="401955"/>
            <a:ext cx="10515600" cy="4351338"/>
          </a:xfrm>
        </p:spPr>
        <p:txBody>
          <a:bodyPr>
            <a:normAutofit/>
          </a:bodyPr>
          <a:p>
            <a:pPr marL="0" indent="0">
              <a:buNone/>
            </a:pPr>
            <a:r>
              <a:rPr lang="en-US" altLang="en-US" sz="1800"/>
              <a:t>The LIKE operator is used in a WHERE clause to search for a specified pattern in a column.</a:t>
            </a:r>
            <a:endParaRPr lang="en-US" altLang="en-US" sz="1800"/>
          </a:p>
          <a:p>
            <a:pPr marL="0" indent="0">
              <a:buNone/>
            </a:pPr>
            <a:r>
              <a:rPr lang="en-US" altLang="en-US" sz="1800"/>
              <a:t>Often used with wildcards:</a:t>
            </a:r>
            <a:endParaRPr lang="en-US" altLang="en-US" sz="1800"/>
          </a:p>
          <a:p>
            <a:pPr marL="0" indent="0">
              <a:buNone/>
            </a:pPr>
            <a:r>
              <a:rPr lang="en-US" altLang="en-US" sz="1800"/>
              <a:t>% — matches zero or more characters</a:t>
            </a:r>
            <a:endParaRPr lang="en-US" altLang="en-US" sz="1800"/>
          </a:p>
          <a:p>
            <a:pPr marL="0" indent="0">
              <a:buNone/>
            </a:pPr>
            <a:r>
              <a:rPr lang="en-US" altLang="en-US" sz="1800"/>
              <a:t>_ — matches exactly one character</a:t>
            </a:r>
            <a:endParaRPr lang="en-US" altLang="en-US" sz="1800"/>
          </a:p>
        </p:txBody>
      </p:sp>
      <p:graphicFrame>
        <p:nvGraphicFramePr>
          <p:cNvPr id="4" name="Table 3"/>
          <p:cNvGraphicFramePr/>
          <p:nvPr>
            <p:custDataLst>
              <p:tags r:id="rId1"/>
            </p:custDataLst>
          </p:nvPr>
        </p:nvGraphicFramePr>
        <p:xfrm>
          <a:off x="210185" y="2164080"/>
          <a:ext cx="11675745" cy="2529840"/>
        </p:xfrm>
        <a:graphic>
          <a:graphicData uri="http://schemas.openxmlformats.org/drawingml/2006/table">
            <a:tbl>
              <a:tblPr/>
              <a:tblGrid>
                <a:gridCol w="3891915"/>
                <a:gridCol w="3891915"/>
                <a:gridCol w="3891915"/>
              </a:tblGrid>
              <a:tr h="421640">
                <a:tc>
                  <a:txBody>
                    <a:bodyPr/>
                    <a:p>
                      <a:r>
                        <a:rPr sz="2000"/>
                        <a:t>Pattern</a:t>
                      </a:r>
                      <a:endParaRPr sz="2000"/>
                    </a:p>
                  </a:txBody>
                  <a:tcPr marL="0" marR="0" marT="0" marB="0" anchor="ctr" anchorCtr="0">
                    <a:lnL>
                      <a:noFill/>
                    </a:lnL>
                    <a:lnR>
                      <a:noFill/>
                    </a:lnR>
                    <a:lnT>
                      <a:noFill/>
                    </a:lnT>
                    <a:lnB>
                      <a:noFill/>
                    </a:lnB>
                    <a:noFill/>
                  </a:tcPr>
                </a:tc>
                <a:tc>
                  <a:txBody>
                    <a:bodyPr/>
                    <a:p>
                      <a:r>
                        <a:rPr sz="2000"/>
                        <a:t>Meaning</a:t>
                      </a:r>
                      <a:endParaRPr sz="2000"/>
                    </a:p>
                  </a:txBody>
                  <a:tcPr marL="0" marR="0" marT="0" marB="0" anchor="ctr" anchorCtr="0">
                    <a:lnL>
                      <a:noFill/>
                    </a:lnL>
                    <a:lnR>
                      <a:noFill/>
                    </a:lnR>
                    <a:lnT>
                      <a:noFill/>
                    </a:lnT>
                    <a:lnB>
                      <a:noFill/>
                    </a:lnB>
                    <a:noFill/>
                  </a:tcPr>
                </a:tc>
                <a:tc>
                  <a:txBody>
                    <a:bodyPr/>
                    <a:p>
                      <a:r>
                        <a:rPr sz="2000"/>
                        <a:t>Matches Example</a:t>
                      </a:r>
                      <a:endParaRPr sz="2000"/>
                    </a:p>
                  </a:txBody>
                  <a:tcPr marL="0" marR="0" marT="0" marB="0" anchor="ctr" anchorCtr="0">
                    <a:lnL>
                      <a:noFill/>
                    </a:lnL>
                    <a:lnR>
                      <a:noFill/>
                    </a:lnR>
                    <a:lnT>
                      <a:noFill/>
                    </a:lnT>
                    <a:lnB>
                      <a:noFill/>
                    </a:lnB>
                    <a:noFill/>
                  </a:tcPr>
                </a:tc>
              </a:tr>
              <a:tr h="421640">
                <a:tc>
                  <a:txBody>
                    <a:bodyPr/>
                    <a:p>
                      <a:r>
                        <a:rPr sz="2000" b="1"/>
                        <a:t>'A%'</a:t>
                      </a:r>
                      <a:endParaRPr sz="2000" b="1"/>
                    </a:p>
                  </a:txBody>
                  <a:tcPr marL="0" marR="0" marT="0" marB="0" anchor="ctr" anchorCtr="0">
                    <a:lnL>
                      <a:noFill/>
                    </a:lnL>
                    <a:lnR>
                      <a:noFill/>
                    </a:lnR>
                    <a:lnT>
                      <a:noFill/>
                    </a:lnT>
                    <a:lnB>
                      <a:noFill/>
                    </a:lnB>
                    <a:noFill/>
                  </a:tcPr>
                </a:tc>
                <a:tc>
                  <a:txBody>
                    <a:bodyPr/>
                    <a:p>
                      <a:r>
                        <a:rPr sz="2000" b="1"/>
                        <a:t>Starts with "A"</a:t>
                      </a:r>
                      <a:endParaRPr sz="2000" b="1"/>
                    </a:p>
                  </a:txBody>
                  <a:tcPr marL="0" marR="0" marT="0" marB="0" anchor="ctr" anchorCtr="0">
                    <a:lnL>
                      <a:noFill/>
                    </a:lnL>
                    <a:lnR>
                      <a:noFill/>
                    </a:lnR>
                    <a:lnT>
                      <a:noFill/>
                    </a:lnT>
                    <a:lnB>
                      <a:noFill/>
                    </a:lnB>
                    <a:noFill/>
                  </a:tcPr>
                </a:tc>
                <a:tc>
                  <a:txBody>
                    <a:bodyPr/>
                    <a:p>
                      <a:r>
                        <a:rPr sz="2000" b="1"/>
                        <a:t>"Anna", "Alex", "Alice"</a:t>
                      </a:r>
                      <a:endParaRPr sz="2000" b="1"/>
                    </a:p>
                  </a:txBody>
                  <a:tcPr marL="0" marR="0" marT="0" marB="0" anchor="ctr" anchorCtr="0">
                    <a:lnL>
                      <a:noFill/>
                    </a:lnL>
                    <a:lnR>
                      <a:noFill/>
                    </a:lnR>
                    <a:lnT>
                      <a:noFill/>
                    </a:lnT>
                    <a:lnB>
                      <a:noFill/>
                    </a:lnB>
                    <a:noFill/>
                  </a:tcPr>
                </a:tc>
              </a:tr>
              <a:tr h="421640">
                <a:tc>
                  <a:txBody>
                    <a:bodyPr/>
                    <a:p>
                      <a:r>
                        <a:rPr sz="2000" b="1"/>
                        <a:t>'%A'</a:t>
                      </a:r>
                      <a:endParaRPr sz="2000" b="1"/>
                    </a:p>
                  </a:txBody>
                  <a:tcPr marL="0" marR="0" marT="0" marB="0" anchor="ctr" anchorCtr="0">
                    <a:lnL>
                      <a:noFill/>
                    </a:lnL>
                    <a:lnR>
                      <a:noFill/>
                    </a:lnR>
                    <a:lnT>
                      <a:noFill/>
                    </a:lnT>
                    <a:lnB>
                      <a:noFill/>
                    </a:lnB>
                    <a:noFill/>
                  </a:tcPr>
                </a:tc>
                <a:tc>
                  <a:txBody>
                    <a:bodyPr/>
                    <a:p>
                      <a:r>
                        <a:rPr sz="2000" b="1"/>
                        <a:t>Ends with "A"</a:t>
                      </a:r>
                      <a:endParaRPr sz="2000" b="1"/>
                    </a:p>
                  </a:txBody>
                  <a:tcPr marL="0" marR="0" marT="0" marB="0" anchor="ctr" anchorCtr="0">
                    <a:lnL>
                      <a:noFill/>
                    </a:lnL>
                    <a:lnR>
                      <a:noFill/>
                    </a:lnR>
                    <a:lnT>
                      <a:noFill/>
                    </a:lnT>
                    <a:lnB>
                      <a:noFill/>
                    </a:lnB>
                    <a:noFill/>
                  </a:tcPr>
                </a:tc>
                <a:tc>
                  <a:txBody>
                    <a:bodyPr/>
                    <a:p>
                      <a:r>
                        <a:rPr sz="2000" b="1"/>
                        <a:t>"LISA", "A"</a:t>
                      </a:r>
                      <a:endParaRPr sz="2000" b="1"/>
                    </a:p>
                  </a:txBody>
                  <a:tcPr marL="0" marR="0" marT="0" marB="0" anchor="ctr" anchorCtr="0">
                    <a:lnL>
                      <a:noFill/>
                    </a:lnL>
                    <a:lnR>
                      <a:noFill/>
                    </a:lnR>
                    <a:lnT>
                      <a:noFill/>
                    </a:lnT>
                    <a:lnB>
                      <a:noFill/>
                    </a:lnB>
                    <a:noFill/>
                  </a:tcPr>
                </a:tc>
              </a:tr>
              <a:tr h="421640">
                <a:tc>
                  <a:txBody>
                    <a:bodyPr/>
                    <a:p>
                      <a:r>
                        <a:rPr sz="2000" b="1"/>
                        <a:t>'%</a:t>
                      </a:r>
                      <a:r>
                        <a:rPr lang="en-US" sz="2000" b="1"/>
                        <a:t>V</a:t>
                      </a:r>
                      <a:r>
                        <a:rPr sz="2000" b="1"/>
                        <a:t>%'</a:t>
                      </a:r>
                      <a:endParaRPr sz="2000" b="1"/>
                    </a:p>
                  </a:txBody>
                  <a:tcPr marL="0" marR="0" marT="0" marB="0" anchor="ctr" anchorCtr="0">
                    <a:lnL>
                      <a:noFill/>
                    </a:lnL>
                    <a:lnR>
                      <a:noFill/>
                    </a:lnR>
                    <a:lnT>
                      <a:noFill/>
                    </a:lnT>
                    <a:lnB>
                      <a:noFill/>
                    </a:lnB>
                    <a:noFill/>
                  </a:tcPr>
                </a:tc>
                <a:tc>
                  <a:txBody>
                    <a:bodyPr/>
                    <a:p>
                      <a:r>
                        <a:rPr sz="2000" b="1"/>
                        <a:t>Contains "A" anywhere</a:t>
                      </a:r>
                      <a:endParaRPr sz="2000" b="1"/>
                    </a:p>
                  </a:txBody>
                  <a:tcPr marL="0" marR="0" marT="0" marB="0" anchor="ctr" anchorCtr="0">
                    <a:lnL>
                      <a:noFill/>
                    </a:lnL>
                    <a:lnR>
                      <a:noFill/>
                    </a:lnR>
                    <a:lnT>
                      <a:noFill/>
                    </a:lnT>
                    <a:lnB>
                      <a:noFill/>
                    </a:lnB>
                    <a:noFill/>
                  </a:tcPr>
                </a:tc>
                <a:tc>
                  <a:txBody>
                    <a:bodyPr/>
                    <a:p>
                      <a:r>
                        <a:rPr sz="2000" b="1"/>
                        <a:t>"MARK", "JAMES"</a:t>
                      </a:r>
                      <a:endParaRPr sz="2000" b="1"/>
                    </a:p>
                  </a:txBody>
                  <a:tcPr marL="0" marR="0" marT="0" marB="0" anchor="ctr" anchorCtr="0">
                    <a:lnL>
                      <a:noFill/>
                    </a:lnL>
                    <a:lnR>
                      <a:noFill/>
                    </a:lnR>
                    <a:lnT>
                      <a:noFill/>
                    </a:lnT>
                    <a:lnB>
                      <a:noFill/>
                    </a:lnB>
                    <a:noFill/>
                  </a:tcPr>
                </a:tc>
              </a:tr>
              <a:tr h="421640">
                <a:tc>
                  <a:txBody>
                    <a:bodyPr/>
                    <a:p>
                      <a:r>
                        <a:rPr sz="2000"/>
                        <a:t>'A%B'</a:t>
                      </a:r>
                      <a:endParaRPr sz="2000"/>
                    </a:p>
                  </a:txBody>
                  <a:tcPr marL="0" marR="0" marT="0" marB="0" anchor="ctr" anchorCtr="0">
                    <a:lnL>
                      <a:noFill/>
                    </a:lnL>
                    <a:lnR>
                      <a:noFill/>
                    </a:lnR>
                    <a:lnT>
                      <a:noFill/>
                    </a:lnT>
                    <a:lnB>
                      <a:noFill/>
                    </a:lnB>
                    <a:noFill/>
                  </a:tcPr>
                </a:tc>
                <a:tc>
                  <a:txBody>
                    <a:bodyPr/>
                    <a:p>
                      <a:r>
                        <a:rPr sz="2000"/>
                        <a:t>Starts with "A" and ends with "B"</a:t>
                      </a:r>
                      <a:endParaRPr sz="2000"/>
                    </a:p>
                  </a:txBody>
                  <a:tcPr marL="0" marR="0" marT="0" marB="0" anchor="ctr" anchorCtr="0">
                    <a:lnL>
                      <a:noFill/>
                    </a:lnL>
                    <a:lnR>
                      <a:noFill/>
                    </a:lnR>
                    <a:lnT>
                      <a:noFill/>
                    </a:lnT>
                    <a:lnB>
                      <a:noFill/>
                    </a:lnB>
                    <a:noFill/>
                  </a:tcPr>
                </a:tc>
                <a:tc>
                  <a:txBody>
                    <a:bodyPr/>
                    <a:p>
                      <a:r>
                        <a:rPr sz="2000"/>
                        <a:t>"A...B" like "AxxB"</a:t>
                      </a:r>
                      <a:endParaRPr sz="2000"/>
                    </a:p>
                  </a:txBody>
                  <a:tcPr marL="0" marR="0" marT="0" marB="0" anchor="ctr" anchorCtr="0">
                    <a:lnL>
                      <a:noFill/>
                    </a:lnL>
                    <a:lnR>
                      <a:noFill/>
                    </a:lnR>
                    <a:lnT>
                      <a:noFill/>
                    </a:lnT>
                    <a:lnB>
                      <a:noFill/>
                    </a:lnB>
                    <a:noFill/>
                  </a:tcPr>
                </a:tc>
              </a:tr>
              <a:tr h="421640">
                <a:tc>
                  <a:txBody>
                    <a:bodyPr/>
                    <a:p>
                      <a:r>
                        <a:rPr sz="2000"/>
                        <a:t>'%'</a:t>
                      </a:r>
                      <a:endParaRPr sz="2000"/>
                    </a:p>
                  </a:txBody>
                  <a:tcPr marL="0" marR="0" marT="0" marB="0" anchor="ctr" anchorCtr="0">
                    <a:lnL>
                      <a:noFill/>
                    </a:lnL>
                    <a:lnR>
                      <a:noFill/>
                    </a:lnR>
                    <a:lnT>
                      <a:noFill/>
                    </a:lnT>
                    <a:lnB>
                      <a:noFill/>
                    </a:lnB>
                    <a:noFill/>
                  </a:tcPr>
                </a:tc>
                <a:tc>
                  <a:txBody>
                    <a:bodyPr/>
                    <a:p>
                      <a:r>
                        <a:rPr sz="2000"/>
                        <a:t>Matches everything (returns all rows)</a:t>
                      </a:r>
                      <a:endParaRPr sz="2000"/>
                    </a:p>
                  </a:txBody>
                  <a:tcPr marL="0" marR="0" marT="0" marB="0" anchor="ctr" anchorCtr="0">
                    <a:lnL>
                      <a:noFill/>
                    </a:lnL>
                    <a:lnR>
                      <a:noFill/>
                    </a:lnR>
                    <a:lnT>
                      <a:noFill/>
                    </a:lnT>
                    <a:lnB>
                      <a:noFill/>
                    </a:lnB>
                    <a:noFill/>
                  </a:tcPr>
                </a:tc>
                <a:tc>
                  <a:txBody>
                    <a:bodyPr/>
                    <a:p>
                      <a:r>
                        <a:rPr sz="2000"/>
                        <a:t>"Any text"</a:t>
                      </a:r>
                      <a:endParaRPr sz="2000"/>
                    </a:p>
                  </a:txBody>
                  <a:tcPr marL="0" marR="0" marT="0" marB="0" anchor="ctr" anchorCtr="0">
                    <a:lnL>
                      <a:noFill/>
                    </a:lnL>
                    <a:lnR>
                      <a:noFill/>
                    </a:lnR>
                    <a:lnT>
                      <a:noFill/>
                    </a:lnT>
                    <a:lnB>
                      <a:noFill/>
                    </a:lnB>
                    <a:noFill/>
                  </a:tcPr>
                </a:tc>
              </a:tr>
            </a:tbl>
          </a:graphicData>
        </a:graphic>
      </p:graphicFrame>
      <p:sp>
        <p:nvSpPr>
          <p:cNvPr id="5" name="Text Box 4"/>
          <p:cNvSpPr txBox="1"/>
          <p:nvPr/>
        </p:nvSpPr>
        <p:spPr>
          <a:xfrm>
            <a:off x="210185" y="5239385"/>
            <a:ext cx="6096000" cy="1198880"/>
          </a:xfrm>
          <a:prstGeom prst="rect">
            <a:avLst/>
          </a:prstGeom>
          <a:noFill/>
        </p:spPr>
        <p:txBody>
          <a:bodyPr wrap="square" rtlCol="0" anchor="t">
            <a:spAutoFit/>
          </a:bodyPr>
          <a:p>
            <a:r>
              <a:rPr lang="en-US" altLang="en-US"/>
              <a:t>SELECT column_name</a:t>
            </a:r>
            <a:endParaRPr lang="en-US" altLang="en-US"/>
          </a:p>
          <a:p>
            <a:r>
              <a:rPr lang="en-US" altLang="en-US"/>
              <a:t>FROM table_name</a:t>
            </a:r>
            <a:endParaRPr lang="en-US" altLang="en-US"/>
          </a:p>
          <a:p>
            <a:r>
              <a:rPr lang="en-US" altLang="en-US"/>
              <a:t>WHERE column_name LIKE 'pattern%';</a:t>
            </a:r>
            <a:endParaRPr lang="en-US" altLang="en-US"/>
          </a:p>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Table 3"/>
          <p:cNvGraphicFramePr/>
          <p:nvPr>
            <p:custDataLst>
              <p:tags r:id="rId1"/>
            </p:custDataLst>
          </p:nvPr>
        </p:nvGraphicFramePr>
        <p:xfrm>
          <a:off x="168910" y="120015"/>
          <a:ext cx="11936095" cy="1889760"/>
        </p:xfrm>
        <a:graphic>
          <a:graphicData uri="http://schemas.openxmlformats.org/drawingml/2006/table">
            <a:tbl>
              <a:tblPr/>
              <a:tblGrid>
                <a:gridCol w="4705985"/>
                <a:gridCol w="7230110"/>
              </a:tblGrid>
              <a:tr h="365760">
                <a:tc>
                  <a:txBody>
                    <a:bodyPr/>
                    <a:p>
                      <a:pPr algn="ctr"/>
                      <a:r>
                        <a:rPr sz="2400" b="1">
                          <a:solidFill>
                            <a:srgbClr val="FF0000"/>
                          </a:solidFill>
                        </a:rPr>
                        <a:t>Pattern</a:t>
                      </a:r>
                      <a:endParaRPr sz="2400" b="1">
                        <a:solidFill>
                          <a:srgbClr val="FF0000"/>
                        </a:solidFill>
                      </a:endParaRPr>
                    </a:p>
                  </a:txBody>
                  <a:tcPr marL="0" marR="0" marT="0" marB="0" anchor="ctr" anchorCtr="0">
                    <a:lnL>
                      <a:noFill/>
                    </a:lnL>
                    <a:lnR>
                      <a:noFill/>
                    </a:lnR>
                    <a:lnT>
                      <a:noFill/>
                    </a:lnT>
                    <a:lnB>
                      <a:noFill/>
                    </a:lnB>
                    <a:solidFill>
                      <a:schemeClr val="accent2">
                        <a:lumMod val="20000"/>
                        <a:lumOff val="80000"/>
                      </a:schemeClr>
                    </a:solidFill>
                  </a:tcPr>
                </a:tc>
                <a:tc>
                  <a:txBody>
                    <a:bodyPr/>
                    <a:p>
                      <a:pPr algn="ctr"/>
                      <a:r>
                        <a:rPr sz="2400" b="1">
                          <a:solidFill>
                            <a:srgbClr val="FF0000"/>
                          </a:solidFill>
                        </a:rPr>
                        <a:t>What It Does</a:t>
                      </a:r>
                      <a:endParaRPr sz="2400" b="1">
                        <a:solidFill>
                          <a:srgbClr val="FF0000"/>
                        </a:solidFill>
                      </a:endParaRPr>
                    </a:p>
                  </a:txBody>
                  <a:tcPr marL="0" marR="0" marT="0" marB="0" anchor="ctr" anchorCtr="0">
                    <a:lnL>
                      <a:noFill/>
                    </a:lnL>
                    <a:lnR>
                      <a:noFill/>
                    </a:lnR>
                    <a:lnT>
                      <a:noFill/>
                    </a:lnT>
                    <a:lnB>
                      <a:noFill/>
                    </a:lnB>
                    <a:solidFill>
                      <a:schemeClr val="accent2">
                        <a:lumMod val="20000"/>
                        <a:lumOff val="80000"/>
                      </a:schemeClr>
                    </a:solidFill>
                  </a:tcPr>
                </a:tc>
              </a:tr>
              <a:tr h="304800">
                <a:tc>
                  <a:txBody>
                    <a:bodyPr/>
                    <a:p>
                      <a:r>
                        <a:rPr sz="2000"/>
                        <a:t>%abc</a:t>
                      </a:r>
                      <a:endParaRPr sz="2000"/>
                    </a:p>
                  </a:txBody>
                  <a:tcPr marL="0" marR="0" marT="0" marB="0" anchor="ctr" anchorCtr="0">
                    <a:lnL>
                      <a:noFill/>
                    </a:lnL>
                    <a:lnR>
                      <a:noFill/>
                    </a:lnR>
                    <a:lnT>
                      <a:noFill/>
                    </a:lnT>
                    <a:lnB>
                      <a:noFill/>
                    </a:lnB>
                    <a:solidFill>
                      <a:schemeClr val="accent2">
                        <a:lumMod val="20000"/>
                        <a:lumOff val="80000"/>
                      </a:schemeClr>
                    </a:solidFill>
                  </a:tcPr>
                </a:tc>
                <a:tc>
                  <a:txBody>
                    <a:bodyPr/>
                    <a:p>
                      <a:r>
                        <a:rPr sz="2000"/>
                        <a:t>Ends with abc</a:t>
                      </a:r>
                      <a:endParaRPr sz="2000"/>
                    </a:p>
                  </a:txBody>
                  <a:tcPr marL="0" marR="0" marT="0" marB="0" anchor="ctr" anchorCtr="0">
                    <a:lnL>
                      <a:noFill/>
                    </a:lnL>
                    <a:lnR>
                      <a:noFill/>
                    </a:lnR>
                    <a:lnT>
                      <a:noFill/>
                    </a:lnT>
                    <a:lnB>
                      <a:noFill/>
                    </a:lnB>
                    <a:solidFill>
                      <a:schemeClr val="accent2">
                        <a:lumMod val="20000"/>
                        <a:lumOff val="80000"/>
                      </a:schemeClr>
                    </a:solidFill>
                  </a:tcPr>
                </a:tc>
              </a:tr>
              <a:tr h="304800">
                <a:tc>
                  <a:txBody>
                    <a:bodyPr/>
                    <a:p>
                      <a:r>
                        <a:rPr sz="2000"/>
                        <a:t>abc%</a:t>
                      </a:r>
                      <a:endParaRPr sz="2000"/>
                    </a:p>
                  </a:txBody>
                  <a:tcPr marL="0" marR="0" marT="0" marB="0" anchor="ctr" anchorCtr="0">
                    <a:lnL>
                      <a:noFill/>
                    </a:lnL>
                    <a:lnR>
                      <a:noFill/>
                    </a:lnR>
                    <a:lnT>
                      <a:noFill/>
                    </a:lnT>
                    <a:lnB>
                      <a:noFill/>
                    </a:lnB>
                    <a:solidFill>
                      <a:schemeClr val="accent2">
                        <a:lumMod val="20000"/>
                        <a:lumOff val="80000"/>
                      </a:schemeClr>
                    </a:solidFill>
                  </a:tcPr>
                </a:tc>
                <a:tc>
                  <a:txBody>
                    <a:bodyPr/>
                    <a:p>
                      <a:r>
                        <a:rPr sz="2000"/>
                        <a:t>Starts with abc</a:t>
                      </a:r>
                      <a:endParaRPr sz="2000"/>
                    </a:p>
                  </a:txBody>
                  <a:tcPr marL="0" marR="0" marT="0" marB="0" anchor="ctr" anchorCtr="0">
                    <a:lnL>
                      <a:noFill/>
                    </a:lnL>
                    <a:lnR>
                      <a:noFill/>
                    </a:lnR>
                    <a:lnT>
                      <a:noFill/>
                    </a:lnT>
                    <a:lnB>
                      <a:noFill/>
                    </a:lnB>
                    <a:solidFill>
                      <a:schemeClr val="accent2">
                        <a:lumMod val="20000"/>
                        <a:lumOff val="80000"/>
                      </a:schemeClr>
                    </a:solidFill>
                  </a:tcPr>
                </a:tc>
              </a:tr>
              <a:tr h="304800">
                <a:tc>
                  <a:txBody>
                    <a:bodyPr/>
                    <a:p>
                      <a:r>
                        <a:rPr sz="2000"/>
                        <a:t>%abc%</a:t>
                      </a:r>
                      <a:endParaRPr sz="2000"/>
                    </a:p>
                  </a:txBody>
                  <a:tcPr marL="0" marR="0" marT="0" marB="0" anchor="ctr" anchorCtr="0">
                    <a:lnL>
                      <a:noFill/>
                    </a:lnL>
                    <a:lnR>
                      <a:noFill/>
                    </a:lnR>
                    <a:lnT>
                      <a:noFill/>
                    </a:lnT>
                    <a:lnB>
                      <a:noFill/>
                    </a:lnB>
                    <a:solidFill>
                      <a:schemeClr val="accent2">
                        <a:lumMod val="20000"/>
                        <a:lumOff val="80000"/>
                      </a:schemeClr>
                    </a:solidFill>
                  </a:tcPr>
                </a:tc>
                <a:tc>
                  <a:txBody>
                    <a:bodyPr/>
                    <a:p>
                      <a:r>
                        <a:rPr sz="2000"/>
                        <a:t>Contains abc</a:t>
                      </a:r>
                      <a:endParaRPr sz="2000"/>
                    </a:p>
                  </a:txBody>
                  <a:tcPr marL="0" marR="0" marT="0" marB="0" anchor="ctr" anchorCtr="0">
                    <a:lnL>
                      <a:noFill/>
                    </a:lnL>
                    <a:lnR>
                      <a:noFill/>
                    </a:lnR>
                    <a:lnT>
                      <a:noFill/>
                    </a:lnT>
                    <a:lnB>
                      <a:noFill/>
                    </a:lnB>
                    <a:solidFill>
                      <a:schemeClr val="accent2">
                        <a:lumMod val="20000"/>
                        <a:lumOff val="80000"/>
                      </a:schemeClr>
                    </a:solidFill>
                  </a:tcPr>
                </a:tc>
              </a:tr>
              <a:tr h="304800">
                <a:tc>
                  <a:txBody>
                    <a:bodyPr/>
                    <a:p>
                      <a:r>
                        <a:rPr sz="2000"/>
                        <a:t>a_c</a:t>
                      </a:r>
                      <a:endParaRPr sz="2000"/>
                    </a:p>
                  </a:txBody>
                  <a:tcPr marL="0" marR="0" marT="0" marB="0" anchor="ctr" anchorCtr="0">
                    <a:lnL>
                      <a:noFill/>
                    </a:lnL>
                    <a:lnR>
                      <a:noFill/>
                    </a:lnR>
                    <a:lnT>
                      <a:noFill/>
                    </a:lnT>
                    <a:lnB>
                      <a:noFill/>
                    </a:lnB>
                    <a:solidFill>
                      <a:schemeClr val="accent2">
                        <a:lumMod val="20000"/>
                        <a:lumOff val="80000"/>
                      </a:schemeClr>
                    </a:solidFill>
                  </a:tcPr>
                </a:tc>
                <a:tc>
                  <a:txBody>
                    <a:bodyPr/>
                    <a:p>
                      <a:r>
                        <a:rPr sz="2000"/>
                        <a:t>3-letter string, starts with a, ends with c</a:t>
                      </a:r>
                      <a:endParaRPr sz="2000"/>
                    </a:p>
                  </a:txBody>
                  <a:tcPr marL="0" marR="0" marT="0" marB="0" anchor="ctr" anchorCtr="0">
                    <a:lnL>
                      <a:noFill/>
                    </a:lnL>
                    <a:lnR>
                      <a:noFill/>
                    </a:lnR>
                    <a:lnT>
                      <a:noFill/>
                    </a:lnT>
                    <a:lnB>
                      <a:noFill/>
                    </a:lnB>
                    <a:solidFill>
                      <a:schemeClr val="accent2">
                        <a:lumMod val="20000"/>
                        <a:lumOff val="80000"/>
                      </a:schemeClr>
                    </a:solidFill>
                  </a:tcPr>
                </a:tc>
              </a:tr>
              <a:tr h="304800">
                <a:tc>
                  <a:txBody>
                    <a:bodyPr/>
                    <a:p>
                      <a:r>
                        <a:rPr lang="en-US" sz="2000"/>
                        <a:t>        </a:t>
                      </a:r>
                      <a:r>
                        <a:rPr sz="2000"/>
                        <a:t>_a%</a:t>
                      </a:r>
                      <a:endParaRPr sz="2000"/>
                    </a:p>
                  </a:txBody>
                  <a:tcPr marL="0" marR="0" marT="0" marB="0" anchor="ctr" anchorCtr="0">
                    <a:lnL>
                      <a:noFill/>
                    </a:lnL>
                    <a:lnR>
                      <a:noFill/>
                    </a:lnR>
                    <a:lnT>
                      <a:noFill/>
                    </a:lnT>
                    <a:lnB>
                      <a:noFill/>
                    </a:lnB>
                    <a:solidFill>
                      <a:schemeClr val="accent2">
                        <a:lumMod val="20000"/>
                        <a:lumOff val="80000"/>
                      </a:schemeClr>
                    </a:solidFill>
                  </a:tcPr>
                </a:tc>
                <a:tc>
                  <a:txBody>
                    <a:bodyPr/>
                    <a:p>
                      <a:r>
                        <a:rPr sz="2000"/>
                        <a:t>2nd letter is a, any length</a:t>
                      </a:r>
                      <a:endParaRPr sz="2000"/>
                    </a:p>
                  </a:txBody>
                  <a:tcPr marL="0" marR="0" marT="0" marB="0" anchor="ctr" anchorCtr="0">
                    <a:lnL>
                      <a:noFill/>
                    </a:lnL>
                    <a:lnR>
                      <a:noFill/>
                    </a:lnR>
                    <a:lnT>
                      <a:noFill/>
                    </a:lnT>
                    <a:lnB>
                      <a:noFill/>
                    </a:lnB>
                    <a:solidFill>
                      <a:schemeClr val="accent2">
                        <a:lumMod val="20000"/>
                        <a:lumOff val="80000"/>
                      </a:schemeClr>
                    </a:solidFill>
                  </a:tcPr>
                </a:tc>
              </a:tr>
            </a:tbl>
          </a:graphicData>
        </a:graphic>
      </p:graphicFrame>
      <p:sp>
        <p:nvSpPr>
          <p:cNvPr id="5" name="Text Box 4"/>
          <p:cNvSpPr txBox="1"/>
          <p:nvPr/>
        </p:nvSpPr>
        <p:spPr>
          <a:xfrm>
            <a:off x="50165" y="2219325"/>
            <a:ext cx="5284470" cy="621030"/>
          </a:xfrm>
          <a:prstGeom prst="rect">
            <a:avLst/>
          </a:prstGeom>
          <a:noFill/>
        </p:spPr>
        <p:txBody>
          <a:bodyPr wrap="square" rtlCol="0" anchor="t">
            <a:noAutofit/>
          </a:bodyPr>
          <a:p>
            <a:r>
              <a:rPr lang="en-US" altLang="en-US"/>
              <a:t>SELECT * FROM employees</a:t>
            </a:r>
            <a:endParaRPr lang="en-US" altLang="en-US"/>
          </a:p>
          <a:p>
            <a:r>
              <a:rPr lang="en-US" altLang="en-US"/>
              <a:t>WHERE name LIKE '%son';</a:t>
            </a:r>
            <a:endParaRPr lang="en-US" altLang="en-US"/>
          </a:p>
          <a:p>
            <a:endParaRPr lang="en-US"/>
          </a:p>
        </p:txBody>
      </p:sp>
      <p:sp>
        <p:nvSpPr>
          <p:cNvPr id="6" name="Text Box 5"/>
          <p:cNvSpPr txBox="1"/>
          <p:nvPr/>
        </p:nvSpPr>
        <p:spPr>
          <a:xfrm>
            <a:off x="50165" y="3049905"/>
            <a:ext cx="4631055" cy="3557270"/>
          </a:xfrm>
          <a:prstGeom prst="rect">
            <a:avLst/>
          </a:prstGeom>
          <a:noFill/>
        </p:spPr>
        <p:txBody>
          <a:bodyPr wrap="square" rtlCol="0" anchor="t">
            <a:noAutofit/>
          </a:bodyPr>
          <a:p>
            <a:r>
              <a:rPr lang="en-US" altLang="en-US"/>
              <a:t>-- Match multiple patterns</a:t>
            </a:r>
            <a:endParaRPr lang="en-US" altLang="en-US"/>
          </a:p>
          <a:p>
            <a:r>
              <a:rPr lang="en-US" altLang="en-US"/>
              <a:t>WHERE name LIKE 'A%' OR name LIKE 'B%'</a:t>
            </a:r>
            <a:endParaRPr lang="en-US" altLang="en-US"/>
          </a:p>
          <a:p>
            <a:endParaRPr lang="en-US" altLang="en-US"/>
          </a:p>
          <a:p>
            <a:r>
              <a:rPr lang="en-US" altLang="en-US"/>
              <a:t>-- Exclude a pattern</a:t>
            </a:r>
            <a:endParaRPr lang="en-US" altLang="en-US"/>
          </a:p>
          <a:p>
            <a:r>
              <a:rPr lang="en-US" altLang="en-US"/>
              <a:t>WHERE name NOT LIKE '%test%'</a:t>
            </a:r>
            <a:endParaRPr lang="en-US" altLang="en-US"/>
          </a:p>
          <a:p>
            <a:endParaRPr lang="en-US" altLang="en-US"/>
          </a:p>
          <a:p>
            <a:r>
              <a:rPr lang="en-US" altLang="en-US"/>
              <a:t>-- Combine with other conditions</a:t>
            </a:r>
            <a:endParaRPr lang="en-US" altLang="en-US"/>
          </a:p>
          <a:p>
            <a:r>
              <a:rPr lang="en-US" altLang="en-US"/>
              <a:t>WHERE name LIKE 'J%' AND age &gt; 30</a:t>
            </a:r>
            <a:endParaRPr lang="en-US" altLang="en-US"/>
          </a:p>
          <a:p>
            <a:endParaRPr lang="en-US"/>
          </a:p>
        </p:txBody>
      </p:sp>
      <p:sp>
        <p:nvSpPr>
          <p:cNvPr id="7" name="Text Box 6"/>
          <p:cNvSpPr txBox="1"/>
          <p:nvPr/>
        </p:nvSpPr>
        <p:spPr>
          <a:xfrm>
            <a:off x="5826760" y="2219960"/>
            <a:ext cx="6096000" cy="620395"/>
          </a:xfrm>
          <a:prstGeom prst="rect">
            <a:avLst/>
          </a:prstGeom>
          <a:noFill/>
        </p:spPr>
        <p:txBody>
          <a:bodyPr wrap="square" rtlCol="0" anchor="t">
            <a:noAutofit/>
          </a:bodyPr>
          <a:p>
            <a:r>
              <a:rPr lang="en-US" altLang="en-US"/>
              <a:t>SELECT * FROM users</a:t>
            </a:r>
            <a:endParaRPr lang="en-US" altLang="en-US"/>
          </a:p>
          <a:p>
            <a:r>
              <a:rPr lang="en-US" altLang="en-US"/>
              <a:t>WHERE phone LIKE '555%';</a:t>
            </a:r>
            <a:endParaRPr lang="en-US" altLang="en-US"/>
          </a:p>
          <a:p>
            <a:endParaRPr lang="en-US"/>
          </a:p>
        </p:txBody>
      </p:sp>
      <p:sp>
        <p:nvSpPr>
          <p:cNvPr id="8" name="Text Box 7"/>
          <p:cNvSpPr txBox="1"/>
          <p:nvPr/>
        </p:nvSpPr>
        <p:spPr>
          <a:xfrm>
            <a:off x="4909820" y="3050540"/>
            <a:ext cx="7012940" cy="3415030"/>
          </a:xfrm>
          <a:prstGeom prst="rect">
            <a:avLst/>
          </a:prstGeom>
          <a:noFill/>
        </p:spPr>
        <p:txBody>
          <a:bodyPr wrap="square" rtlCol="0" anchor="t">
            <a:spAutoFit/>
          </a:bodyPr>
          <a:p>
            <a:r>
              <a:rPr lang="en-US" altLang="en-US"/>
              <a:t>-- Email ending with @gmail.com</a:t>
            </a:r>
            <a:endParaRPr lang="en-US" altLang="en-US"/>
          </a:p>
          <a:p>
            <a:r>
              <a:rPr lang="en-US" altLang="en-US"/>
              <a:t>SELECT * FROM users</a:t>
            </a:r>
            <a:endParaRPr lang="en-US" altLang="en-US"/>
          </a:p>
          <a:p>
            <a:r>
              <a:rPr lang="en-US" altLang="en-US"/>
              <a:t>WHERE email LIKE '%@gmail.com';</a:t>
            </a:r>
            <a:endParaRPr lang="en-US" altLang="en-US"/>
          </a:p>
          <a:p>
            <a:endParaRPr lang="en-US" altLang="en-US"/>
          </a:p>
          <a:p>
            <a:r>
              <a:rPr lang="en-US" altLang="en-US"/>
              <a:t>-- Products with "Pro" in the name</a:t>
            </a:r>
            <a:endParaRPr lang="en-US" altLang="en-US"/>
          </a:p>
          <a:p>
            <a:r>
              <a:rPr lang="en-US" altLang="en-US"/>
              <a:t>SELECT * FROM products</a:t>
            </a:r>
            <a:endParaRPr lang="en-US" altLang="en-US"/>
          </a:p>
          <a:p>
            <a:r>
              <a:rPr lang="en-US" altLang="en-US"/>
              <a:t>WHERE name LIKE '%Pro%';</a:t>
            </a:r>
            <a:endParaRPr lang="en-US" altLang="en-US"/>
          </a:p>
          <a:p>
            <a:endParaRPr lang="en-US" altLang="en-US"/>
          </a:p>
          <a:p>
            <a:r>
              <a:rPr lang="en-US" altLang="en-US"/>
              <a:t>-- Customer names that start with 'Mc'</a:t>
            </a:r>
            <a:endParaRPr lang="en-US" altLang="en-US"/>
          </a:p>
          <a:p>
            <a:r>
              <a:rPr lang="en-US" altLang="en-US"/>
              <a:t>SELECT * FROM customers</a:t>
            </a:r>
            <a:endParaRPr lang="en-US" altLang="en-US"/>
          </a:p>
          <a:p>
            <a:r>
              <a:rPr lang="en-US" altLang="en-US"/>
              <a:t>WHERE name LIKE 'Mc%';</a:t>
            </a:r>
            <a:endParaRPr lang="en-US" altLang="en-US"/>
          </a:p>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266700"/>
          </a:xfrm>
        </p:spPr>
        <p:txBody>
          <a:bodyPr>
            <a:noAutofit/>
          </a:bodyPr>
          <a:p>
            <a:pPr algn="ctr"/>
            <a:r>
              <a:rPr lang="en-US" sz="1800" b="1">
                <a:solidFill>
                  <a:srgbClr val="FF0000"/>
                </a:solidFill>
                <a:latin typeface="Cambria" panose="02040503050406030204" charset="0"/>
                <a:cs typeface="Cambria" panose="02040503050406030204" charset="0"/>
              </a:rPr>
              <a:t>SQL Clause</a:t>
            </a:r>
            <a:endParaRPr lang="en-US" sz="1800" b="1">
              <a:solidFill>
                <a:srgbClr val="FF0000"/>
              </a:solidFill>
              <a:latin typeface="Cambria" panose="02040503050406030204" charset="0"/>
              <a:cs typeface="Cambria" panose="02040503050406030204" charset="0"/>
            </a:endParaRPr>
          </a:p>
        </p:txBody>
      </p:sp>
      <p:graphicFrame>
        <p:nvGraphicFramePr>
          <p:cNvPr id="4" name="Table 3"/>
          <p:cNvGraphicFramePr/>
          <p:nvPr>
            <p:custDataLst>
              <p:tags r:id="rId1"/>
            </p:custDataLst>
          </p:nvPr>
        </p:nvGraphicFramePr>
        <p:xfrm>
          <a:off x="0" y="2484120"/>
          <a:ext cx="11921490" cy="2032000"/>
        </p:xfrm>
        <a:graphic>
          <a:graphicData uri="http://schemas.openxmlformats.org/drawingml/2006/table">
            <a:tbl>
              <a:tblPr/>
              <a:tblGrid>
                <a:gridCol w="4932045"/>
                <a:gridCol w="6989445"/>
              </a:tblGrid>
              <a:tr h="311150">
                <a:tc>
                  <a:txBody>
                    <a:bodyPr/>
                    <a:p>
                      <a:pPr algn="ctr"/>
                      <a:r>
                        <a:rPr sz="1600" b="1">
                          <a:solidFill>
                            <a:srgbClr val="FF0000"/>
                          </a:solidFill>
                          <a:latin typeface="Cambria" panose="02040503050406030204" charset="0"/>
                          <a:cs typeface="Cambria" panose="02040503050406030204" charset="0"/>
                        </a:rPr>
                        <a:t>Clause</a:t>
                      </a:r>
                      <a:endParaRPr sz="1600" b="1">
                        <a:solidFill>
                          <a:srgbClr val="FF0000"/>
                        </a:solidFill>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pPr algn="ctr"/>
                      <a:r>
                        <a:rPr sz="1600" b="1">
                          <a:solidFill>
                            <a:srgbClr val="FF0000"/>
                          </a:solidFill>
                          <a:latin typeface="Cambria" panose="02040503050406030204" charset="0"/>
                          <a:cs typeface="Cambria" panose="02040503050406030204" charset="0"/>
                        </a:rPr>
                        <a:t>Description</a:t>
                      </a:r>
                      <a:endParaRPr sz="1600" b="1">
                        <a:solidFill>
                          <a:srgbClr val="FF0000"/>
                        </a:solidFill>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243840">
                <a:tc>
                  <a:txBody>
                    <a:bodyPr/>
                    <a:p>
                      <a:r>
                        <a:rPr sz="1600">
                          <a:latin typeface="Cambria" panose="02040503050406030204" charset="0"/>
                          <a:cs typeface="Cambria" panose="02040503050406030204" charset="0"/>
                        </a:rPr>
                        <a:t>SELECT</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600">
                          <a:latin typeface="Cambria" panose="02040503050406030204" charset="0"/>
                          <a:cs typeface="Cambria" panose="02040503050406030204" charset="0"/>
                        </a:rPr>
                        <a:t>Specifies the columns to return</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257810">
                <a:tc>
                  <a:txBody>
                    <a:bodyPr/>
                    <a:p>
                      <a:r>
                        <a:rPr sz="1600">
                          <a:latin typeface="Cambria" panose="02040503050406030204" charset="0"/>
                          <a:cs typeface="Cambria" panose="02040503050406030204" charset="0"/>
                        </a:rPr>
                        <a:t>FROM</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600">
                          <a:latin typeface="Cambria" panose="02040503050406030204" charset="0"/>
                          <a:cs typeface="Cambria" panose="02040503050406030204" charset="0"/>
                        </a:rPr>
                        <a:t>Specifies the table(s) to query</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243840">
                <a:tc>
                  <a:txBody>
                    <a:bodyPr/>
                    <a:p>
                      <a:r>
                        <a:rPr sz="1600">
                          <a:latin typeface="Cambria" panose="02040503050406030204" charset="0"/>
                          <a:cs typeface="Cambria" panose="02040503050406030204" charset="0"/>
                        </a:rPr>
                        <a:t>WHERE</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600">
                          <a:latin typeface="Cambria" panose="02040503050406030204" charset="0"/>
                          <a:cs typeface="Cambria" panose="02040503050406030204" charset="0"/>
                        </a:rPr>
                        <a:t>Filters rows based on a condition</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243840">
                <a:tc>
                  <a:txBody>
                    <a:bodyPr/>
                    <a:p>
                      <a:r>
                        <a:rPr sz="1600">
                          <a:latin typeface="Cambria" panose="02040503050406030204" charset="0"/>
                          <a:cs typeface="Cambria" panose="02040503050406030204" charset="0"/>
                        </a:rPr>
                        <a:t>GROUP BY</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600">
                          <a:latin typeface="Cambria" panose="02040503050406030204" charset="0"/>
                          <a:cs typeface="Cambria" panose="02040503050406030204" charset="0"/>
                        </a:rPr>
                        <a:t>Groups rows that have the same values in specified columns</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243840">
                <a:tc>
                  <a:txBody>
                    <a:bodyPr/>
                    <a:p>
                      <a:r>
                        <a:rPr sz="1600">
                          <a:latin typeface="Cambria" panose="02040503050406030204" charset="0"/>
                          <a:cs typeface="Cambria" panose="02040503050406030204" charset="0"/>
                        </a:rPr>
                        <a:t>ORDER BY</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600">
                          <a:latin typeface="Cambria" panose="02040503050406030204" charset="0"/>
                          <a:cs typeface="Cambria" panose="02040503050406030204" charset="0"/>
                        </a:rPr>
                        <a:t>Sorts the result set by one or more columns</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243840">
                <a:tc>
                  <a:txBody>
                    <a:bodyPr/>
                    <a:p>
                      <a:r>
                        <a:rPr sz="1600">
                          <a:latin typeface="Cambria" panose="02040503050406030204" charset="0"/>
                          <a:cs typeface="Cambria" panose="02040503050406030204" charset="0"/>
                        </a:rPr>
                        <a:t>LIMIT / TOP</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600">
                          <a:latin typeface="Cambria" panose="02040503050406030204" charset="0"/>
                          <a:cs typeface="Cambria" panose="02040503050406030204" charset="0"/>
                        </a:rPr>
                        <a:t>Limits the number of rows returned</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r h="243840">
                <a:tc>
                  <a:txBody>
                    <a:bodyPr/>
                    <a:p>
                      <a:r>
                        <a:rPr sz="1600">
                          <a:latin typeface="Cambria" panose="02040503050406030204" charset="0"/>
                          <a:cs typeface="Cambria" panose="02040503050406030204" charset="0"/>
                        </a:rPr>
                        <a:t>JOIN</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c>
                  <a:txBody>
                    <a:bodyPr/>
                    <a:p>
                      <a:r>
                        <a:rPr sz="1600">
                          <a:latin typeface="Cambria" panose="02040503050406030204" charset="0"/>
                          <a:cs typeface="Cambria" panose="02040503050406030204" charset="0"/>
                        </a:rPr>
                        <a:t>Combines rows from two or more tables based on a related column</a:t>
                      </a:r>
                      <a:endParaRPr sz="1600">
                        <a:latin typeface="Cambria" panose="02040503050406030204" charset="0"/>
                        <a:cs typeface="Cambria" panose="02040503050406030204" charset="0"/>
                      </a:endParaRPr>
                    </a:p>
                  </a:txBody>
                  <a:tcPr marL="0" marR="0" marT="0" marB="0" anchor="ctr" anchorCtr="0">
                    <a:lnL>
                      <a:noFill/>
                    </a:lnL>
                    <a:lnR>
                      <a:noFill/>
                    </a:lnR>
                    <a:lnT>
                      <a:noFill/>
                    </a:lnT>
                    <a:lnB>
                      <a:noFill/>
                    </a:lnB>
                    <a:solidFill>
                      <a:schemeClr val="accent1">
                        <a:lumMod val="20000"/>
                        <a:lumOff val="80000"/>
                      </a:schemeClr>
                    </a:solidFill>
                  </a:tcPr>
                </a:tc>
              </a:tr>
            </a:tbl>
          </a:graphicData>
        </a:graphic>
      </p:graphicFrame>
      <p:sp>
        <p:nvSpPr>
          <p:cNvPr id="5" name="Text Box 4"/>
          <p:cNvSpPr txBox="1"/>
          <p:nvPr/>
        </p:nvSpPr>
        <p:spPr>
          <a:xfrm>
            <a:off x="0" y="353695"/>
            <a:ext cx="12192000" cy="2043430"/>
          </a:xfrm>
          <a:prstGeom prst="rect">
            <a:avLst/>
          </a:prstGeom>
        </p:spPr>
        <p:txBody>
          <a:bodyPr wrap="square">
            <a:noAutofit/>
          </a:bodyPr>
          <a:p>
            <a:r>
              <a:rPr lang="en-US" altLang="en-US"/>
              <a:t>An SQL clause is a component of an SQL statement that performs a specific function — like selecting data, filtering rows, grouping results, etc. Each clause defines a part of what the SQL query should do.</a:t>
            </a:r>
            <a:endParaRPr lang="en-US" altLang="en-US"/>
          </a:p>
          <a:p>
            <a:endParaRPr lang="en-US" altLang="en-US"/>
          </a:p>
          <a:p>
            <a:r>
              <a:rPr lang="en-US" altLang="en-US"/>
              <a:t>1)Clauses are building blocks of SQL statements — they define different parts of a query and what actions to perform.</a:t>
            </a:r>
            <a:endParaRPr lang="en-US" altLang="en-US"/>
          </a:p>
          <a:p>
            <a:r>
              <a:rPr lang="en-US" altLang="en-US"/>
              <a:t>2)Each clause has a specific role, such as selecting data, filtering rows, grouping, or sorting results.</a:t>
            </a:r>
            <a:endParaRPr lang="en-US" altLang="en-US"/>
          </a:p>
          <a:p>
            <a:r>
              <a:rPr lang="en-US" altLang="en-US"/>
              <a:t>3)Common SQL clauses include: SELECT, FROM, WHERE, GROUP BY, HAVING, ORDER BY, and LIMIT.</a:t>
            </a:r>
            <a:endParaRPr lang="en-US" altLang="en-US"/>
          </a:p>
          <a:p>
            <a:r>
              <a:rPr lang="en-US" altLang="en-US"/>
              <a:t>4)Clauses work together in a specific order to form a complete SQL query that retrieves the desired data.</a:t>
            </a:r>
            <a:endParaRPr lang="en-US" altLang="en-US"/>
          </a:p>
        </p:txBody>
      </p:sp>
      <p:sp>
        <p:nvSpPr>
          <p:cNvPr id="3" name="Text Box 2"/>
          <p:cNvSpPr txBox="1"/>
          <p:nvPr/>
        </p:nvSpPr>
        <p:spPr>
          <a:xfrm>
            <a:off x="0" y="4589145"/>
            <a:ext cx="6096000" cy="398780"/>
          </a:xfrm>
          <a:prstGeom prst="rect">
            <a:avLst/>
          </a:prstGeom>
          <a:noFill/>
        </p:spPr>
        <p:txBody>
          <a:bodyPr wrap="square" rtlCol="0" anchor="t">
            <a:spAutoFit/>
          </a:bodyPr>
          <a:p>
            <a:pPr algn="l"/>
            <a:r>
              <a:rPr lang="en-US" sz="2000" b="1">
                <a:solidFill>
                  <a:srgbClr val="FF0000"/>
                </a:solidFill>
                <a:latin typeface="Cambria" panose="02040503050406030204" charset="0"/>
                <a:cs typeface="Cambria" panose="02040503050406030204" charset="0"/>
                <a:sym typeface="+mn-ea"/>
              </a:rPr>
              <a:t>SQL Limit Clause</a:t>
            </a:r>
            <a:endParaRPr lang="en-US" sz="2000" b="1">
              <a:solidFill>
                <a:srgbClr val="FF0000"/>
              </a:solidFill>
              <a:latin typeface="Cambria" panose="02040503050406030204" charset="0"/>
              <a:cs typeface="Cambria" panose="02040503050406030204" charset="0"/>
              <a:sym typeface="+mn-ea"/>
            </a:endParaRPr>
          </a:p>
        </p:txBody>
      </p:sp>
      <p:sp>
        <p:nvSpPr>
          <p:cNvPr id="6" name="Text Box 5"/>
          <p:cNvSpPr txBox="1"/>
          <p:nvPr/>
        </p:nvSpPr>
        <p:spPr>
          <a:xfrm>
            <a:off x="0" y="4987925"/>
            <a:ext cx="11921490" cy="398780"/>
          </a:xfrm>
          <a:prstGeom prst="rect">
            <a:avLst/>
          </a:prstGeom>
          <a:noFill/>
        </p:spPr>
        <p:txBody>
          <a:bodyPr wrap="square" rtlCol="0" anchor="t">
            <a:spAutoFit/>
          </a:bodyPr>
          <a:p>
            <a:pPr marL="0" indent="0">
              <a:buNone/>
            </a:pPr>
            <a:r>
              <a:rPr lang="en-US" altLang="en-US" sz="2000">
                <a:sym typeface="+mn-ea"/>
              </a:rPr>
              <a:t>The LIMIT clause in SQL is used to restrict the number of rows returned by a query.</a:t>
            </a:r>
            <a:endParaRPr lang="en-US" altLang="en-US" sz="2000">
              <a:sym typeface="+mn-ea"/>
            </a:endParaRPr>
          </a:p>
        </p:txBody>
      </p:sp>
      <p:sp>
        <p:nvSpPr>
          <p:cNvPr id="7" name="Text Box 6"/>
          <p:cNvSpPr txBox="1"/>
          <p:nvPr/>
        </p:nvSpPr>
        <p:spPr>
          <a:xfrm>
            <a:off x="91440" y="5387340"/>
            <a:ext cx="4549775" cy="1365885"/>
          </a:xfrm>
          <a:prstGeom prst="rect">
            <a:avLst/>
          </a:prstGeom>
          <a:noFill/>
        </p:spPr>
        <p:txBody>
          <a:bodyPr wrap="square" rtlCol="0" anchor="t">
            <a:noAutofit/>
          </a:bodyPr>
          <a:p>
            <a:pPr marL="0" indent="0">
              <a:buNone/>
            </a:pPr>
            <a:r>
              <a:rPr lang="en-US" altLang="en-US" sz="2000" b="1">
                <a:sym typeface="+mn-ea"/>
              </a:rPr>
              <a:t>Syntax:</a:t>
            </a:r>
            <a:endParaRPr lang="en-US" altLang="en-US" sz="2000" b="1">
              <a:sym typeface="+mn-ea"/>
            </a:endParaRPr>
          </a:p>
          <a:p>
            <a:pPr marL="0" indent="0">
              <a:buNone/>
            </a:pPr>
            <a:r>
              <a:rPr lang="en-US" altLang="en-US" sz="2000">
                <a:sym typeface="+mn-ea"/>
              </a:rPr>
              <a:t>SELECT column1, column2, ...</a:t>
            </a:r>
            <a:endParaRPr lang="en-US" altLang="en-US" sz="2000"/>
          </a:p>
          <a:p>
            <a:pPr marL="0" indent="0">
              <a:buNone/>
            </a:pPr>
            <a:r>
              <a:rPr lang="en-US" altLang="en-US" sz="2000">
                <a:sym typeface="+mn-ea"/>
              </a:rPr>
              <a:t>FROM table_name</a:t>
            </a:r>
            <a:endParaRPr lang="en-US" altLang="en-US" sz="2000"/>
          </a:p>
          <a:p>
            <a:pPr marL="0" indent="0">
              <a:buNone/>
            </a:pPr>
            <a:r>
              <a:rPr lang="en-US" altLang="en-US" sz="2000">
                <a:sym typeface="+mn-ea"/>
              </a:rPr>
              <a:t>LIMIT number_of_rows;</a:t>
            </a:r>
            <a:endParaRPr lang="en-US" altLang="en-US" sz="2000">
              <a:sym typeface="+mn-ea"/>
            </a:endParaRPr>
          </a:p>
        </p:txBody>
      </p:sp>
      <p:sp>
        <p:nvSpPr>
          <p:cNvPr id="8" name="Text Box 7"/>
          <p:cNvSpPr txBox="1"/>
          <p:nvPr/>
        </p:nvSpPr>
        <p:spPr>
          <a:xfrm>
            <a:off x="5922645" y="5518785"/>
            <a:ext cx="5055870" cy="1234440"/>
          </a:xfrm>
          <a:prstGeom prst="rect">
            <a:avLst/>
          </a:prstGeom>
          <a:noFill/>
        </p:spPr>
        <p:txBody>
          <a:bodyPr wrap="square" rtlCol="0" anchor="t">
            <a:noAutofit/>
          </a:bodyPr>
          <a:p>
            <a:pPr marL="0" indent="0">
              <a:buNone/>
            </a:pPr>
            <a:r>
              <a:rPr lang="en-US" altLang="en-US" sz="2000">
                <a:sym typeface="+mn-ea"/>
              </a:rPr>
              <a:t>SELECT * FROM employees</a:t>
            </a:r>
            <a:endParaRPr lang="en-US" altLang="en-US" sz="2000"/>
          </a:p>
          <a:p>
            <a:pPr marL="0" indent="0">
              <a:buNone/>
            </a:pPr>
            <a:r>
              <a:rPr lang="en-US" altLang="en-US" sz="2000">
                <a:sym typeface="+mn-ea"/>
              </a:rPr>
              <a:t>LIMIT 5;</a:t>
            </a:r>
            <a:endParaRPr lang="en-US" altLang="en-US" sz="2000"/>
          </a:p>
          <a:p>
            <a:pPr marL="0" indent="0">
              <a:buNone/>
            </a:pPr>
            <a:r>
              <a:rPr lang="en-US" altLang="en-US" sz="2000">
                <a:sym typeface="+mn-ea"/>
              </a:rPr>
              <a:t>SELECT * FROM customers</a:t>
            </a:r>
            <a:endParaRPr lang="en-US" altLang="en-US" sz="2000"/>
          </a:p>
          <a:p>
            <a:pPr marL="0" indent="0">
              <a:buNone/>
            </a:pPr>
            <a:r>
              <a:rPr lang="en-US" altLang="en-US" sz="2000">
                <a:sym typeface="+mn-ea"/>
              </a:rPr>
              <a:t>LIMIT 10, 5;</a:t>
            </a:r>
            <a:endParaRPr lang="en-US" altLang="en-US" sz="2000"/>
          </a:p>
          <a:p>
            <a:pPr marL="0" indent="0">
              <a:buNone/>
            </a:pPr>
            <a:endParaRPr lang="en-US" altLang="en-US" sz="2000"/>
          </a:p>
          <a:p>
            <a:pPr marL="0" indent="0">
              <a:buNone/>
            </a:pPr>
            <a:endParaRPr lang="en-US" altLang="en-US" sz="2000"/>
          </a:p>
          <a:p>
            <a:pPr marL="0" indent="0">
              <a:buNone/>
            </a:pPr>
            <a:endParaRPr lang="en-US" altLang="en-US" sz="20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330200"/>
          </a:xfrm>
        </p:spPr>
        <p:txBody>
          <a:bodyPr>
            <a:noAutofit/>
          </a:bodyPr>
          <a:p>
            <a:pPr algn="ctr"/>
            <a:r>
              <a:rPr lang="en-US" sz="2800" b="1">
                <a:solidFill>
                  <a:srgbClr val="FF0000"/>
                </a:solidFill>
              </a:rPr>
              <a:t>Order By Clause</a:t>
            </a:r>
            <a:endParaRPr lang="en-US" sz="2800" b="1">
              <a:solidFill>
                <a:srgbClr val="FF0000"/>
              </a:solidFill>
            </a:endParaRPr>
          </a:p>
        </p:txBody>
      </p:sp>
      <p:sp>
        <p:nvSpPr>
          <p:cNvPr id="3" name="Content Placeholder 2"/>
          <p:cNvSpPr>
            <a:spLocks noGrp="1"/>
          </p:cNvSpPr>
          <p:nvPr>
            <p:ph idx="1"/>
          </p:nvPr>
        </p:nvSpPr>
        <p:spPr>
          <a:xfrm>
            <a:off x="103505" y="444500"/>
            <a:ext cx="12087860" cy="6413500"/>
          </a:xfrm>
        </p:spPr>
        <p:txBody>
          <a:bodyPr>
            <a:normAutofit lnSpcReduction="20000"/>
          </a:bodyPr>
          <a:p>
            <a:pPr marL="0" indent="0">
              <a:buNone/>
            </a:pPr>
            <a:r>
              <a:rPr lang="en-US" altLang="en-US" sz="1800"/>
              <a:t>The SQL ORDER BY clause is used to sort the data in ascending or descending order, based on one or more columns. Some databases sort the query results in an ascending order by default.</a:t>
            </a:r>
            <a:endParaRPr lang="en-US" altLang="en-US" sz="1800"/>
          </a:p>
          <a:p>
            <a:pPr marL="0" indent="0">
              <a:buNone/>
            </a:pPr>
            <a:r>
              <a:rPr lang="en-US" altLang="en-US" sz="1800"/>
              <a:t> </a:t>
            </a:r>
            <a:endParaRPr lang="en-US" altLang="en-US" sz="1800"/>
          </a:p>
          <a:p>
            <a:pPr marL="0" indent="0">
              <a:buNone/>
            </a:pPr>
            <a:r>
              <a:rPr lang="en-US" altLang="en-US" sz="1800"/>
              <a:t>Syntax</a:t>
            </a:r>
            <a:endParaRPr lang="en-US" altLang="en-US" sz="1800"/>
          </a:p>
          <a:p>
            <a:pPr marL="0" indent="0">
              <a:buNone/>
            </a:pPr>
            <a:r>
              <a:rPr lang="en-US" altLang="en-US" sz="1800"/>
              <a:t>The basic syntax of the ORDER BY clause is as follows −</a:t>
            </a:r>
            <a:endParaRPr lang="en-US" altLang="en-US" sz="1800"/>
          </a:p>
          <a:p>
            <a:pPr marL="0" indent="0">
              <a:buNone/>
            </a:pPr>
            <a:endParaRPr lang="en-US" altLang="en-US" sz="1800"/>
          </a:p>
          <a:p>
            <a:pPr marL="0" indent="0">
              <a:buNone/>
            </a:pPr>
            <a:r>
              <a:rPr lang="en-US" altLang="en-US" sz="1800"/>
              <a:t>SELECT column-list </a:t>
            </a:r>
            <a:endParaRPr lang="en-US" altLang="en-US" sz="1800"/>
          </a:p>
          <a:p>
            <a:pPr marL="0" indent="0">
              <a:buNone/>
            </a:pPr>
            <a:r>
              <a:rPr lang="en-US" altLang="en-US" sz="1800"/>
              <a:t>FROM table_name </a:t>
            </a:r>
            <a:endParaRPr lang="en-US" altLang="en-US" sz="1800"/>
          </a:p>
          <a:p>
            <a:pPr marL="0" indent="0">
              <a:buNone/>
            </a:pPr>
            <a:r>
              <a:rPr lang="en-US" altLang="en-US" sz="1800"/>
              <a:t>[WHERE condition] </a:t>
            </a:r>
            <a:endParaRPr lang="en-US" altLang="en-US" sz="1800"/>
          </a:p>
          <a:p>
            <a:pPr marL="0" indent="0">
              <a:buNone/>
            </a:pPr>
            <a:r>
              <a:rPr lang="en-US" altLang="en-US" sz="1800"/>
              <a:t>[ORDER BY column1, column2, .. columnN]</a:t>
            </a:r>
            <a:endParaRPr lang="en-US" altLang="en-US" sz="1800"/>
          </a:p>
          <a:p>
            <a:pPr marL="0" indent="0">
              <a:buNone/>
            </a:pPr>
            <a:r>
              <a:rPr lang="en-US" altLang="en-US" sz="1800"/>
              <a:t>          [ASC | DESC];</a:t>
            </a:r>
            <a:endParaRPr lang="en-US" altLang="en-US" sz="1800"/>
          </a:p>
          <a:p>
            <a:pPr marL="0" indent="0">
              <a:buNone/>
            </a:pPr>
            <a:endParaRPr lang="en-US" altLang="en-US" sz="1800"/>
          </a:p>
          <a:p>
            <a:pPr marL="0" indent="0">
              <a:buNone/>
            </a:pPr>
            <a:endParaRPr lang="en-US" altLang="en-US" sz="1800"/>
          </a:p>
          <a:p>
            <a:pPr marL="0" indent="0">
              <a:buNone/>
            </a:pPr>
            <a:r>
              <a:rPr lang="en-US" altLang="en-US" sz="1800">
                <a:sym typeface="+mn-ea"/>
              </a:rPr>
              <a:t>SQL&gt; SELECT * FROM CUSTOMERS</a:t>
            </a:r>
            <a:endParaRPr lang="en-US" altLang="en-US" sz="1800"/>
          </a:p>
          <a:p>
            <a:pPr marL="0" indent="0">
              <a:buNone/>
            </a:pPr>
            <a:r>
              <a:rPr lang="en-US" altLang="en-US" sz="1800">
                <a:sym typeface="+mn-ea"/>
              </a:rPr>
              <a:t>   ORDER BY NAME DESC;</a:t>
            </a:r>
            <a:endParaRPr lang="en-US" altLang="en-US" sz="1800"/>
          </a:p>
          <a:p>
            <a:pPr marL="0" indent="0">
              <a:buNone/>
            </a:pPr>
            <a:r>
              <a:rPr lang="en-US" altLang="en-US" sz="1800">
                <a:sym typeface="+mn-ea"/>
              </a:rPr>
              <a:t>SQL&gt; SELECT * FROM CUSTOMERS</a:t>
            </a:r>
            <a:endParaRPr lang="en-US" altLang="en-US" sz="1800"/>
          </a:p>
          <a:p>
            <a:pPr marL="0" indent="0">
              <a:buNone/>
            </a:pPr>
            <a:r>
              <a:rPr lang="en-US" altLang="en-US" sz="1800">
                <a:sym typeface="+mn-ea"/>
              </a:rPr>
              <a:t>   ORDER BY NAME, SALARY;</a:t>
            </a:r>
            <a:endParaRPr lang="en-US" altLang="en-US" sz="1800">
              <a:sym typeface="+mn-ea"/>
            </a:endParaRPr>
          </a:p>
          <a:p>
            <a:pPr marL="0" indent="0">
              <a:buNone/>
            </a:pPr>
            <a:r>
              <a:rPr lang="en-US" altLang="en-US" sz="1800"/>
              <a:t>SELECT * FROM customers</a:t>
            </a:r>
            <a:endParaRPr lang="en-US" altLang="en-US" sz="1800"/>
          </a:p>
          <a:p>
            <a:pPr marL="0" indent="0">
              <a:buNone/>
            </a:pPr>
            <a:r>
              <a:rPr lang="en-US" altLang="en-US" sz="1800"/>
              <a:t>ORDER BY created_at DESC</a:t>
            </a:r>
            <a:endParaRPr lang="en-US" altLang="en-US" sz="1800"/>
          </a:p>
          <a:p>
            <a:pPr marL="0" indent="0">
              <a:buNone/>
            </a:pPr>
            <a:r>
              <a:rPr lang="en-US" altLang="en-US" sz="1800"/>
              <a:t>LIMIT 10;</a:t>
            </a:r>
            <a:endParaRPr lang="en-US" altLang="en-US" sz="1800"/>
          </a:p>
          <a:p>
            <a:pPr marL="0" indent="0">
              <a:buNone/>
            </a:pPr>
            <a:endParaRPr lang="en-US" altLang="en-US" sz="1800"/>
          </a:p>
          <a:p>
            <a:pPr marL="0" indent="0">
              <a:buNone/>
            </a:pPr>
            <a:endParaRPr lang="en-US" altLang="en-US" sz="18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0190" y="104140"/>
            <a:ext cx="11609070" cy="396875"/>
          </a:xfrm>
        </p:spPr>
        <p:txBody>
          <a:bodyPr>
            <a:normAutofit fontScale="90000"/>
          </a:bodyPr>
          <a:p>
            <a:r>
              <a:rPr lang="en-US" sz="3200" b="1">
                <a:solidFill>
                  <a:srgbClr val="FF0000"/>
                </a:solidFill>
              </a:rPr>
              <a:t>SQL Distinct Keyword</a:t>
            </a:r>
            <a:endParaRPr lang="en-US" sz="3200" b="1">
              <a:solidFill>
                <a:srgbClr val="FF0000"/>
              </a:solidFill>
            </a:endParaRPr>
          </a:p>
        </p:txBody>
      </p:sp>
      <p:sp>
        <p:nvSpPr>
          <p:cNvPr id="3" name="Content Placeholder 2"/>
          <p:cNvSpPr>
            <a:spLocks noGrp="1"/>
          </p:cNvSpPr>
          <p:nvPr>
            <p:ph idx="1"/>
          </p:nvPr>
        </p:nvSpPr>
        <p:spPr>
          <a:xfrm>
            <a:off x="0" y="501015"/>
            <a:ext cx="12192635" cy="6147435"/>
          </a:xfrm>
        </p:spPr>
        <p:txBody>
          <a:bodyPr>
            <a:normAutofit fontScale="90000"/>
          </a:bodyPr>
          <a:p>
            <a:pPr marL="0" indent="0">
              <a:buNone/>
            </a:pPr>
            <a:r>
              <a:rPr lang="en-US" altLang="en-US" sz="2000"/>
              <a:t>The SQL DISTINCT keyword is used in conjunction with the SELECT statement to eliminate all the duplicate records and fetching only unique records.</a:t>
            </a:r>
            <a:endParaRPr lang="en-US" altLang="en-US" sz="2000"/>
          </a:p>
          <a:p>
            <a:pPr marL="0" indent="0">
              <a:buNone/>
            </a:pPr>
            <a:r>
              <a:rPr lang="zh-CN" altLang="en-US" sz="2000"/>
              <a:t>🔹</a:t>
            </a:r>
            <a:r>
              <a:rPr lang="en-US" altLang="en-US" sz="2000"/>
              <a:t> What is DISTINCT in SQL?</a:t>
            </a:r>
            <a:endParaRPr lang="en-US" altLang="en-US" sz="2000"/>
          </a:p>
          <a:p>
            <a:pPr marL="342900" indent="-342900">
              <a:buAutoNum type="arabicPeriod"/>
            </a:pPr>
            <a:r>
              <a:rPr lang="en-US" altLang="en-US" sz="2000"/>
              <a:t>The DISTINCT keyword is used to remove duplicate values from the result set.</a:t>
            </a:r>
            <a:endParaRPr lang="en-US" altLang="en-US" sz="2000"/>
          </a:p>
          <a:p>
            <a:pPr marL="342900" indent="-342900">
              <a:buAutoNum type="arabicPeriod"/>
            </a:pPr>
            <a:r>
              <a:rPr lang="en-US" altLang="en-US" sz="2000"/>
              <a:t>It ensures that the output only contains unique rows for the specified columns.</a:t>
            </a:r>
            <a:endParaRPr lang="en-US" altLang="en-US" sz="2000"/>
          </a:p>
          <a:p>
            <a:pPr marL="0" indent="0">
              <a:buNone/>
            </a:pPr>
            <a:r>
              <a:rPr lang="en-US" altLang="en-US" sz="2000"/>
              <a:t>There may be a situation when you have multiple duplicate records in a table. While fetching such records, it makes more sense to fetch only those unique records instead of fetching duplicate records.</a:t>
            </a:r>
            <a:endParaRPr lang="en-US" altLang="en-US" sz="2000"/>
          </a:p>
          <a:p>
            <a:pPr marL="0" indent="0">
              <a:buNone/>
            </a:pPr>
            <a:r>
              <a:rPr lang="en-US" altLang="en-US" sz="2000"/>
              <a:t> </a:t>
            </a:r>
            <a:endParaRPr lang="en-US" altLang="en-US" sz="2000"/>
          </a:p>
          <a:p>
            <a:pPr marL="0" indent="0">
              <a:buNone/>
            </a:pPr>
            <a:r>
              <a:rPr lang="en-US" altLang="en-US" sz="2000"/>
              <a:t>Syntax</a:t>
            </a:r>
            <a:endParaRPr lang="en-US" altLang="en-US" sz="2000"/>
          </a:p>
          <a:p>
            <a:pPr marL="0" indent="0">
              <a:buNone/>
            </a:pPr>
            <a:r>
              <a:rPr lang="en-US" altLang="en-US" sz="2000"/>
              <a:t>The basic syntax of DISTINCT keyword to eliminate the duplicate records is as follows −</a:t>
            </a:r>
            <a:endParaRPr lang="en-US" altLang="en-US" sz="2000"/>
          </a:p>
          <a:p>
            <a:pPr marL="0" indent="0">
              <a:buNone/>
            </a:pPr>
            <a:endParaRPr lang="en-US" altLang="en-US" sz="2000"/>
          </a:p>
          <a:p>
            <a:pPr marL="0" indent="0">
              <a:buNone/>
            </a:pPr>
            <a:r>
              <a:rPr lang="en-US" altLang="en-US" sz="2000"/>
              <a:t>SELECT DISTINCT column1, column2,.....columnN </a:t>
            </a:r>
            <a:endParaRPr lang="en-US" altLang="en-US" sz="2000"/>
          </a:p>
          <a:p>
            <a:pPr marL="0" indent="0">
              <a:buNone/>
            </a:pPr>
            <a:r>
              <a:rPr lang="en-US" altLang="en-US" sz="2000"/>
              <a:t>FROM table_name</a:t>
            </a:r>
            <a:endParaRPr lang="en-US" altLang="en-US" sz="2000"/>
          </a:p>
          <a:p>
            <a:pPr marL="0" indent="0">
              <a:buNone/>
            </a:pPr>
            <a:r>
              <a:rPr lang="en-US" altLang="en-US" sz="2000"/>
              <a:t>WHERE [condition]</a:t>
            </a:r>
            <a:endParaRPr lang="en-US" altLang="en-US" sz="2000"/>
          </a:p>
          <a:p>
            <a:pPr marL="0" indent="0">
              <a:buNone/>
            </a:pPr>
            <a:endParaRPr lang="en-US" altLang="en-US" sz="2000"/>
          </a:p>
          <a:p>
            <a:pPr marL="0" indent="0">
              <a:buNone/>
            </a:pPr>
            <a:r>
              <a:rPr lang="en-US" altLang="en-US" sz="2000"/>
              <a:t>SELECT DISTINCT name FROM Students;</a:t>
            </a:r>
            <a:endParaRPr lang="en-US" altLang="en-US" sz="2000"/>
          </a:p>
          <a:p>
            <a:pPr marL="0" indent="0">
              <a:buNone/>
            </a:pPr>
            <a:endParaRPr lang="en-US" altLang="en-US" sz="2000"/>
          </a:p>
          <a:p>
            <a:pPr marL="0" indent="0">
              <a:buNone/>
            </a:pPr>
            <a:endParaRPr lang="en-US" altLang="en-US" sz="2000"/>
          </a:p>
        </p:txBody>
      </p:sp>
      <p:sp>
        <p:nvSpPr>
          <p:cNvPr id="4" name="Text Box 3"/>
          <p:cNvSpPr txBox="1"/>
          <p:nvPr/>
        </p:nvSpPr>
        <p:spPr>
          <a:xfrm>
            <a:off x="6620510" y="4364990"/>
            <a:ext cx="4809490" cy="1630045"/>
          </a:xfrm>
          <a:prstGeom prst="rect">
            <a:avLst/>
          </a:prstGeom>
          <a:noFill/>
        </p:spPr>
        <p:txBody>
          <a:bodyPr wrap="square" rtlCol="0" anchor="t">
            <a:spAutoFit/>
          </a:bodyPr>
          <a:p>
            <a:r>
              <a:rPr lang="en-US" altLang="en-US" sz="2000">
                <a:sym typeface="+mn-ea"/>
              </a:rPr>
              <a:t>SELECT DISTINCT Category</a:t>
            </a:r>
            <a:endParaRPr lang="en-US" altLang="en-US" sz="2000"/>
          </a:p>
          <a:p>
            <a:r>
              <a:rPr lang="en-US" altLang="en-US" sz="2000">
                <a:sym typeface="+mn-ea"/>
              </a:rPr>
              <a:t>FROM Sales;</a:t>
            </a:r>
            <a:endParaRPr lang="en-US" altLang="en-US" sz="2000"/>
          </a:p>
          <a:p>
            <a:r>
              <a:rPr lang="en-US" altLang="en-US" sz="2000">
                <a:sym typeface="+mn-ea"/>
              </a:rPr>
              <a:t>SELECT DISTINCT Product, Category</a:t>
            </a:r>
            <a:endParaRPr lang="en-US" altLang="en-US" sz="2000"/>
          </a:p>
          <a:p>
            <a:r>
              <a:rPr lang="en-US" altLang="en-US" sz="2000">
                <a:sym typeface="+mn-ea"/>
              </a:rPr>
              <a:t>FROM Sales;</a:t>
            </a:r>
            <a:endParaRPr lang="en-US" altLang="en-US" sz="2000"/>
          </a:p>
          <a:p>
            <a:endParaRPr lang="en-US" altLang="en-US" sz="20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0" y="0"/>
            <a:ext cx="12192000" cy="297815"/>
          </a:xfrm>
        </p:spPr>
        <p:txBody>
          <a:bodyPr>
            <a:noAutofit/>
          </a:bodyPr>
          <a:p>
            <a:pPr algn="ctr"/>
            <a:r>
              <a:rPr lang="en-US" sz="2000" b="1">
                <a:solidFill>
                  <a:srgbClr val="FF0000"/>
                </a:solidFill>
              </a:rPr>
              <a:t>Group By Clause</a:t>
            </a:r>
            <a:endParaRPr lang="en-US" sz="2000" b="1">
              <a:solidFill>
                <a:srgbClr val="FF0000"/>
              </a:solidFill>
            </a:endParaRPr>
          </a:p>
        </p:txBody>
      </p:sp>
      <p:sp>
        <p:nvSpPr>
          <p:cNvPr id="3" name="Content Placeholder 2"/>
          <p:cNvSpPr>
            <a:spLocks noGrp="1"/>
          </p:cNvSpPr>
          <p:nvPr>
            <p:ph idx="1"/>
          </p:nvPr>
        </p:nvSpPr>
        <p:spPr>
          <a:xfrm>
            <a:off x="0" y="297180"/>
            <a:ext cx="12191365" cy="6560820"/>
          </a:xfrm>
        </p:spPr>
        <p:txBody>
          <a:bodyPr>
            <a:normAutofit/>
          </a:bodyPr>
          <a:p>
            <a:pPr marL="0" indent="0">
              <a:buNone/>
            </a:pPr>
            <a:r>
              <a:rPr lang="en-US" altLang="en-US" sz="1800"/>
              <a:t>1)The SQL GROUP BY clause is used in collaboration with the SELECT statement to arrange identical data into groups. This GROUP BY clause follows the WHERE clause in a SELECT statement.</a:t>
            </a:r>
            <a:endParaRPr lang="en-US" altLang="en-US" sz="1800"/>
          </a:p>
          <a:p>
            <a:pPr marL="0" indent="0">
              <a:buNone/>
            </a:pPr>
            <a:r>
              <a:rPr lang="en-US" altLang="en-US" sz="1800"/>
              <a:t>2)it is often used with aggregate functions like count(),max(),min(),sum() etc. to group the result-set by one or more columns.</a:t>
            </a:r>
            <a:endParaRPr lang="en-US" altLang="en-US" sz="1800"/>
          </a:p>
          <a:p>
            <a:pPr marL="0" indent="0">
              <a:buNone/>
            </a:pPr>
            <a:r>
              <a:rPr lang="en-US" altLang="en-US" sz="1800" b="1"/>
              <a:t>Syntax  </a:t>
            </a:r>
            <a:r>
              <a:rPr lang="en-US" altLang="en-US" sz="1800"/>
              <a:t>:The basic syntax of a GROUP BY clause is shown in the following code block. The GROUP BY clause must follow the conditions in the WHERE clause and must precede the ORDER BY clause if one is used.</a:t>
            </a:r>
            <a:endParaRPr lang="en-US" altLang="en-US" sz="1800"/>
          </a:p>
          <a:p>
            <a:pPr marL="0" indent="0">
              <a:buNone/>
            </a:pPr>
            <a:endParaRPr lang="en-US" altLang="en-US" sz="1800"/>
          </a:p>
          <a:p>
            <a:pPr marL="0" indent="0">
              <a:buNone/>
            </a:pPr>
            <a:r>
              <a:rPr lang="en-US" altLang="en-US" sz="1800"/>
              <a:t>SELECT column1, column2</a:t>
            </a:r>
            <a:endParaRPr lang="en-US" altLang="en-US" sz="1800"/>
          </a:p>
          <a:p>
            <a:pPr marL="0" indent="0">
              <a:buNone/>
            </a:pPr>
            <a:r>
              <a:rPr lang="en-US" altLang="en-US" sz="1800"/>
              <a:t>FROM table_name</a:t>
            </a:r>
            <a:endParaRPr lang="en-US" altLang="en-US" sz="1800"/>
          </a:p>
          <a:p>
            <a:pPr marL="0" indent="0">
              <a:buNone/>
            </a:pPr>
            <a:r>
              <a:rPr lang="en-US" altLang="en-US" sz="1800"/>
              <a:t>WHERE [ conditions ]</a:t>
            </a:r>
            <a:endParaRPr lang="en-US" altLang="en-US" sz="1800"/>
          </a:p>
          <a:p>
            <a:pPr marL="0" indent="0">
              <a:buNone/>
            </a:pPr>
            <a:r>
              <a:rPr lang="en-US" altLang="en-US" sz="1800"/>
              <a:t>GROUP BY column1, column2;</a:t>
            </a:r>
            <a:endParaRPr lang="en-US" altLang="en-US" sz="1800"/>
          </a:p>
          <a:p>
            <a:pPr marL="0" indent="0">
              <a:buNone/>
            </a:pPr>
            <a:r>
              <a:rPr lang="en-US" altLang="en-US" sz="1800"/>
              <a:t>ORDER BY column1, column2</a:t>
            </a:r>
            <a:endParaRPr lang="en-US" altLang="en-US" sz="1800"/>
          </a:p>
          <a:p>
            <a:pPr marL="0" indent="0">
              <a:buNone/>
            </a:pPr>
            <a:r>
              <a:rPr lang="en-US" altLang="en-US" sz="1800"/>
              <a:t>order by mname ASC;</a:t>
            </a:r>
            <a:endParaRPr lang="en-US" altLang="en-US" sz="1800"/>
          </a:p>
          <a:p>
            <a:pPr marL="0" indent="0">
              <a:buNone/>
            </a:pPr>
            <a:endParaRPr lang="en-US" altLang="en-US" sz="1800"/>
          </a:p>
          <a:p>
            <a:pPr marL="0" indent="0">
              <a:buNone/>
            </a:pPr>
            <a:r>
              <a:rPr lang="en-US" altLang="en-US" sz="1800"/>
              <a:t>SQL&gt; SELECT distinct NAME, SUM(SALARY) FROM CUSTOMERS</a:t>
            </a:r>
            <a:endParaRPr lang="en-US" altLang="en-US" sz="1800"/>
          </a:p>
          <a:p>
            <a:pPr marL="0" indent="0">
              <a:buNone/>
            </a:pPr>
            <a:r>
              <a:rPr lang="en-US" altLang="en-US" sz="1800"/>
              <a:t>   GROUP BY NAME;</a:t>
            </a:r>
            <a:endParaRPr lang="en-US" altLang="en-US" sz="1800"/>
          </a:p>
          <a:p>
            <a:pPr marL="0" indent="0">
              <a:buNone/>
            </a:pPr>
            <a:endParaRPr lang="en-US" altLang="en-US" sz="1800"/>
          </a:p>
          <a:p>
            <a:pPr marL="0" indent="0">
              <a:buNone/>
            </a:pPr>
            <a:endParaRPr lang="en-US" altLang="en-US" sz="18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38455"/>
          </a:xfrm>
        </p:spPr>
        <p:txBody>
          <a:bodyPr>
            <a:normAutofit fontScale="90000"/>
          </a:bodyPr>
          <a:p>
            <a:pPr algn="ctr"/>
            <a:r>
              <a:rPr lang="en-US" altLang="en-US" sz="2800" b="1">
                <a:solidFill>
                  <a:srgbClr val="FF0000"/>
                </a:solidFill>
                <a:sym typeface="+mn-ea"/>
              </a:rPr>
              <a:t>What is HAVING in SQL?</a:t>
            </a:r>
            <a:endParaRPr lang="en-US" altLang="en-US" sz="2800" b="1">
              <a:solidFill>
                <a:srgbClr val="FF0000"/>
              </a:solidFill>
              <a:sym typeface="+mn-ea"/>
            </a:endParaRPr>
          </a:p>
        </p:txBody>
      </p:sp>
      <p:sp>
        <p:nvSpPr>
          <p:cNvPr id="3" name="Content Placeholder 2"/>
          <p:cNvSpPr>
            <a:spLocks noGrp="1"/>
          </p:cNvSpPr>
          <p:nvPr>
            <p:ph idx="1"/>
          </p:nvPr>
        </p:nvSpPr>
        <p:spPr>
          <a:xfrm>
            <a:off x="112395" y="339090"/>
            <a:ext cx="11993880" cy="6356985"/>
          </a:xfrm>
        </p:spPr>
        <p:txBody>
          <a:bodyPr/>
          <a:p>
            <a:r>
              <a:rPr lang="en-US" altLang="en-US" sz="2000"/>
              <a:t>The HAVING clause is used to filter grouped records (i.e., records created by the GROUP BY clause).</a:t>
            </a:r>
            <a:endParaRPr lang="en-US" altLang="en-US" sz="2000"/>
          </a:p>
          <a:p>
            <a:r>
              <a:rPr lang="en-US" altLang="en-US" sz="2000"/>
              <a:t>It’s like WHERE, but for groups, not individual rows.</a:t>
            </a:r>
            <a:endParaRPr lang="en-US" altLang="en-US" sz="2000"/>
          </a:p>
          <a:p>
            <a:r>
              <a:rPr lang="en-US" altLang="en-US" sz="2000"/>
              <a:t>The where clause places condition on the selected columns,whereas the having clause places conditions on groups created by the group by clause.</a:t>
            </a:r>
            <a:endParaRPr lang="en-US" altLang="en-US" sz="2000"/>
          </a:p>
          <a:p>
            <a:r>
              <a:rPr lang="en-US" altLang="en-US" sz="2000"/>
              <a:t>It’s usually used with aggregate functions (SUM(), COUNT(), AVG(), etc.).</a:t>
            </a:r>
            <a:endParaRPr lang="en-US" altLang="en-US" sz="2000"/>
          </a:p>
          <a:p>
            <a:r>
              <a:rPr lang="en-US" altLang="en-US" sz="2000" b="1"/>
              <a:t>Syntax:</a:t>
            </a:r>
            <a:endParaRPr lang="en-US" altLang="en-US" sz="2000" b="1"/>
          </a:p>
          <a:p>
            <a:r>
              <a:rPr lang="en-US" altLang="en-US" sz="2000"/>
              <a:t>select columns, from table_name</a:t>
            </a:r>
            <a:endParaRPr lang="en-US" altLang="en-US" sz="2000"/>
          </a:p>
          <a:p>
            <a:r>
              <a:rPr lang="en-US" altLang="en-US" sz="2000"/>
              <a:t> where conditions </a:t>
            </a:r>
            <a:endParaRPr lang="en-US" altLang="en-US" sz="2000"/>
          </a:p>
          <a:p>
            <a:r>
              <a:rPr lang="en-US" altLang="en-US" sz="2000"/>
              <a:t>group by columns </a:t>
            </a:r>
            <a:endParaRPr lang="en-US" altLang="en-US" sz="2000"/>
          </a:p>
          <a:p>
            <a:r>
              <a:rPr lang="en-US" altLang="en-US" sz="2000"/>
              <a:t>having conditionon grorup-by columns;</a:t>
            </a:r>
            <a:endParaRPr lang="en-US" altLang="en-US" sz="2000"/>
          </a:p>
        </p:txBody>
      </p:sp>
      <p:sp>
        <p:nvSpPr>
          <p:cNvPr id="4" name="Text Box 3"/>
          <p:cNvSpPr txBox="1"/>
          <p:nvPr/>
        </p:nvSpPr>
        <p:spPr>
          <a:xfrm>
            <a:off x="349250" y="5006975"/>
            <a:ext cx="4522470" cy="1244600"/>
          </a:xfrm>
          <a:prstGeom prst="rect">
            <a:avLst/>
          </a:prstGeom>
          <a:noFill/>
        </p:spPr>
        <p:txBody>
          <a:bodyPr wrap="square" rtlCol="0" anchor="t">
            <a:noAutofit/>
          </a:bodyPr>
          <a:p>
            <a:r>
              <a:rPr lang="en-US" altLang="en-US"/>
              <a:t>SELECT Category, SUM(Amount) AS TotalSales</a:t>
            </a:r>
            <a:endParaRPr lang="en-US" altLang="en-US"/>
          </a:p>
          <a:p>
            <a:r>
              <a:rPr lang="en-US" altLang="en-US"/>
              <a:t>FROM Sales</a:t>
            </a:r>
            <a:endParaRPr lang="en-US" altLang="en-US"/>
          </a:p>
          <a:p>
            <a:r>
              <a:rPr lang="en-US" altLang="en-US"/>
              <a:t>GROUP BY Category</a:t>
            </a:r>
            <a:endParaRPr lang="en-US" altLang="en-US"/>
          </a:p>
          <a:p>
            <a:r>
              <a:rPr lang="en-US" altLang="en-US"/>
              <a:t>HAVING SUM(Amount) &gt; 1000;</a:t>
            </a:r>
            <a:endParaRPr lang="en-US" altLang="en-US"/>
          </a:p>
          <a:p>
            <a:endParaRPr lang="en-US"/>
          </a:p>
        </p:txBody>
      </p:sp>
      <p:sp>
        <p:nvSpPr>
          <p:cNvPr id="5" name="Text Box 4"/>
          <p:cNvSpPr txBox="1"/>
          <p:nvPr/>
        </p:nvSpPr>
        <p:spPr>
          <a:xfrm>
            <a:off x="6010275" y="4498340"/>
            <a:ext cx="6096000" cy="1753235"/>
          </a:xfrm>
          <a:prstGeom prst="rect">
            <a:avLst/>
          </a:prstGeom>
          <a:noFill/>
        </p:spPr>
        <p:txBody>
          <a:bodyPr wrap="square" rtlCol="0" anchor="t">
            <a:spAutoFit/>
          </a:bodyPr>
          <a:p>
            <a:r>
              <a:rPr lang="en-US" altLang="en-US"/>
              <a:t>SELECT Category, SUM(Amount) AS TotalSales</a:t>
            </a:r>
            <a:endParaRPr lang="en-US" altLang="en-US"/>
          </a:p>
          <a:p>
            <a:r>
              <a:rPr lang="en-US" altLang="en-US"/>
              <a:t>FROM Sales</a:t>
            </a:r>
            <a:endParaRPr lang="en-US" altLang="en-US"/>
          </a:p>
          <a:p>
            <a:r>
              <a:rPr lang="en-US" altLang="en-US"/>
              <a:t>WHERE Amount &gt; 100  -- filter individual rows first</a:t>
            </a:r>
            <a:endParaRPr lang="en-US" altLang="en-US"/>
          </a:p>
          <a:p>
            <a:r>
              <a:rPr lang="en-US" altLang="en-US"/>
              <a:t>GROUP BY Category</a:t>
            </a:r>
            <a:endParaRPr lang="en-US" altLang="en-US"/>
          </a:p>
          <a:p>
            <a:r>
              <a:rPr lang="en-US" altLang="en-US"/>
              <a:t>HAVING SUM(Amount) &gt; 1000;  -- filter groups next</a:t>
            </a:r>
            <a:endParaRPr lang="en-US" altLang="en-US"/>
          </a:p>
          <a:p>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11785" y="0"/>
            <a:ext cx="10939780" cy="267970"/>
          </a:xfrm>
        </p:spPr>
        <p:txBody>
          <a:bodyPr>
            <a:noAutofit/>
          </a:bodyPr>
          <a:p>
            <a:pPr algn="ctr"/>
            <a:r>
              <a:rPr lang="en-US" sz="2000" b="1">
                <a:solidFill>
                  <a:srgbClr val="FF0000"/>
                </a:solidFill>
              </a:rPr>
              <a:t>SQL Join</a:t>
            </a:r>
            <a:endParaRPr lang="en-US" sz="2000" b="1">
              <a:solidFill>
                <a:srgbClr val="FF0000"/>
              </a:solidFill>
            </a:endParaRPr>
          </a:p>
        </p:txBody>
      </p:sp>
      <p:sp>
        <p:nvSpPr>
          <p:cNvPr id="3" name="Content Placeholder 2"/>
          <p:cNvSpPr>
            <a:spLocks noGrp="1"/>
          </p:cNvSpPr>
          <p:nvPr>
            <p:ph idx="1"/>
          </p:nvPr>
        </p:nvSpPr>
        <p:spPr>
          <a:xfrm>
            <a:off x="121920" y="267970"/>
            <a:ext cx="12070080" cy="541020"/>
          </a:xfrm>
        </p:spPr>
        <p:txBody>
          <a:bodyPr>
            <a:noAutofit/>
          </a:bodyPr>
          <a:p>
            <a:r>
              <a:rPr lang="en-US" altLang="en-US" sz="1800"/>
              <a:t>In SQL, a JOIN is used to combine rows from two or more tables based on a related column between them (usually a foreign key). This allows you to query data from multiple tables in a single query.</a:t>
            </a:r>
            <a:endParaRPr lang="en-US" altLang="en-US" sz="1800"/>
          </a:p>
        </p:txBody>
      </p:sp>
      <p:sp>
        <p:nvSpPr>
          <p:cNvPr id="4" name="Text Box 3"/>
          <p:cNvSpPr txBox="1"/>
          <p:nvPr/>
        </p:nvSpPr>
        <p:spPr>
          <a:xfrm>
            <a:off x="119380" y="882015"/>
            <a:ext cx="11964035" cy="5808980"/>
          </a:xfrm>
          <a:prstGeom prst="rect">
            <a:avLst/>
          </a:prstGeom>
        </p:spPr>
        <p:txBody>
          <a:bodyPr wrap="square">
            <a:noAutofit/>
          </a:bodyPr>
          <a:p>
            <a:pPr marL="342900" indent="-342900">
              <a:buFont typeface="+mj-lt"/>
              <a:buAutoNum type="arabicPeriod"/>
            </a:pPr>
            <a:r>
              <a:t>INNER JOIN</a:t>
            </a:r>
          </a:p>
          <a:p>
            <a:pPr marL="342900" indent="-342900">
              <a:buFont typeface="+mj-lt"/>
              <a:buAutoNum type="arabicPeriod"/>
            </a:pPr>
            <a:r>
              <a:rPr lang="en-US"/>
              <a:t>Outer Join</a:t>
            </a:r>
            <a:endParaRPr lang="en-US"/>
          </a:p>
          <a:p>
            <a:pPr marL="800100" lvl="1" indent="-342900">
              <a:buFont typeface="+mj-lt"/>
              <a:buAutoNum type="arabicPeriod"/>
            </a:pPr>
            <a:r>
              <a:t>LEFT JOIN (or LEFT OUTER JOIN)</a:t>
            </a:r>
          </a:p>
          <a:p>
            <a:pPr marL="800100" lvl="1" indent="-342900">
              <a:buFont typeface="+mj-lt"/>
              <a:buAutoNum type="arabicPeriod"/>
            </a:pPr>
            <a:r>
              <a:t>RIGHT JOIN (or RIGHT OUTER JOIN)</a:t>
            </a:r>
          </a:p>
          <a:p>
            <a:pPr marL="342900" indent="-342900">
              <a:buFont typeface="+mj-lt"/>
              <a:buAutoNum type="arabicPeriod"/>
            </a:pPr>
            <a:r>
              <a:t>CROSS JOIN</a:t>
            </a:r>
          </a:p>
          <a:p>
            <a:pPr marL="342900" indent="-342900">
              <a:buFont typeface="+mj-lt"/>
              <a:buAutoNum type="arabicPeriod"/>
            </a:pPr>
            <a:r>
              <a:t>SELF JOIN</a:t>
            </a:r>
            <a:r>
              <a:rPr lang="en-US"/>
              <a:t> </a:t>
            </a:r>
            <a:endParaRPr lang="en-US"/>
          </a:p>
        </p:txBody>
      </p:sp>
      <p:sp>
        <p:nvSpPr>
          <p:cNvPr id="5" name="Text Box 4"/>
          <p:cNvSpPr txBox="1"/>
          <p:nvPr/>
        </p:nvSpPr>
        <p:spPr>
          <a:xfrm>
            <a:off x="4531360" y="2274570"/>
            <a:ext cx="4158615" cy="460375"/>
          </a:xfrm>
          <a:prstGeom prst="rect">
            <a:avLst/>
          </a:prstGeom>
          <a:noFill/>
        </p:spPr>
        <p:txBody>
          <a:bodyPr wrap="square" rtlCol="0" anchor="t">
            <a:spAutoFit/>
          </a:bodyPr>
          <a:p>
            <a:pPr algn="ctr"/>
            <a:r>
              <a:rPr lang="en-US" sz="2400" b="1">
                <a:solidFill>
                  <a:srgbClr val="FF0000"/>
                </a:solidFill>
                <a:sym typeface="+mn-ea"/>
              </a:rPr>
              <a:t>Inner Join</a:t>
            </a:r>
            <a:endParaRPr lang="en-US" sz="2400" b="1">
              <a:solidFill>
                <a:srgbClr val="FF0000"/>
              </a:solidFill>
              <a:sym typeface="+mn-ea"/>
            </a:endParaRPr>
          </a:p>
        </p:txBody>
      </p:sp>
      <p:graphicFrame>
        <p:nvGraphicFramePr>
          <p:cNvPr id="6" name="Table 5"/>
          <p:cNvGraphicFramePr/>
          <p:nvPr>
            <p:custDataLst>
              <p:tags r:id="rId1"/>
            </p:custDataLst>
          </p:nvPr>
        </p:nvGraphicFramePr>
        <p:xfrm>
          <a:off x="120650" y="3429000"/>
          <a:ext cx="5466080" cy="1950720"/>
        </p:xfrm>
        <a:graphic>
          <a:graphicData uri="http://schemas.openxmlformats.org/drawingml/2006/table">
            <a:tbl>
              <a:tblPr/>
              <a:tblGrid>
                <a:gridCol w="1366520"/>
                <a:gridCol w="1366520"/>
                <a:gridCol w="1366520"/>
                <a:gridCol w="1366520"/>
              </a:tblGrid>
              <a:tr h="487680">
                <a:tc>
                  <a:txBody>
                    <a:bodyPr/>
                    <a:p>
                      <a:pPr algn="ctr"/>
                      <a:r>
                        <a:rPr sz="2000"/>
                        <a:t>mark_id</a:t>
                      </a:r>
                      <a:endParaRPr sz="20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a:t>student_id</a:t>
                      </a:r>
                      <a:endParaRPr sz="20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a:t>subject</a:t>
                      </a:r>
                      <a:endParaRPr sz="20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a:t>marks</a:t>
                      </a:r>
                      <a:endParaRPr sz="2000"/>
                    </a:p>
                  </a:txBody>
                  <a:tcPr marL="0" marR="0" marT="0" marB="0" anchor="ctr" anchorCtr="0">
                    <a:lnL>
                      <a:noFill/>
                    </a:lnL>
                    <a:lnR>
                      <a:noFill/>
                    </a:lnR>
                    <a:lnT>
                      <a:noFill/>
                    </a:lnT>
                    <a:lnB>
                      <a:noFill/>
                    </a:lnB>
                    <a:solidFill>
                      <a:schemeClr val="accent2">
                        <a:lumMod val="40000"/>
                        <a:lumOff val="60000"/>
                      </a:schemeClr>
                    </a:solidFill>
                  </a:tcPr>
                </a:tc>
              </a:tr>
              <a:tr h="487680">
                <a:tc>
                  <a:txBody>
                    <a:bodyPr/>
                    <a:p>
                      <a:pPr algn="ctr"/>
                      <a:r>
                        <a:rPr sz="2000"/>
                        <a:t>201</a:t>
                      </a:r>
                      <a:endParaRPr sz="20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a:t>1</a:t>
                      </a:r>
                      <a:endParaRPr sz="20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a:t>Math</a:t>
                      </a:r>
                      <a:endParaRPr sz="20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a:t>85</a:t>
                      </a:r>
                      <a:endParaRPr sz="2000"/>
                    </a:p>
                  </a:txBody>
                  <a:tcPr marL="0" marR="0" marT="0" marB="0" anchor="ctr" anchorCtr="0">
                    <a:lnL>
                      <a:noFill/>
                    </a:lnL>
                    <a:lnR>
                      <a:noFill/>
                    </a:lnR>
                    <a:lnT>
                      <a:noFill/>
                    </a:lnT>
                    <a:lnB>
                      <a:noFill/>
                    </a:lnB>
                    <a:solidFill>
                      <a:schemeClr val="accent2">
                        <a:lumMod val="40000"/>
                        <a:lumOff val="60000"/>
                      </a:schemeClr>
                    </a:solidFill>
                  </a:tcPr>
                </a:tc>
              </a:tr>
              <a:tr h="487680">
                <a:tc>
                  <a:txBody>
                    <a:bodyPr/>
                    <a:p>
                      <a:pPr algn="ctr"/>
                      <a:r>
                        <a:rPr sz="2000"/>
                        <a:t>202</a:t>
                      </a:r>
                      <a:endParaRPr sz="20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a:t>2</a:t>
                      </a:r>
                      <a:endParaRPr sz="20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lang="en-US" sz="2000"/>
                        <a:t>English</a:t>
                      </a:r>
                      <a:endParaRPr lang="en-US" sz="20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a:t>90</a:t>
                      </a:r>
                      <a:endParaRPr sz="2000"/>
                    </a:p>
                  </a:txBody>
                  <a:tcPr marL="0" marR="0" marT="0" marB="0" anchor="ctr" anchorCtr="0">
                    <a:lnL>
                      <a:noFill/>
                    </a:lnL>
                    <a:lnR>
                      <a:noFill/>
                    </a:lnR>
                    <a:lnT>
                      <a:noFill/>
                    </a:lnT>
                    <a:lnB>
                      <a:noFill/>
                    </a:lnB>
                    <a:solidFill>
                      <a:schemeClr val="accent2">
                        <a:lumMod val="40000"/>
                        <a:lumOff val="60000"/>
                      </a:schemeClr>
                    </a:solidFill>
                  </a:tcPr>
                </a:tc>
              </a:tr>
              <a:tr h="487680">
                <a:tc>
                  <a:txBody>
                    <a:bodyPr/>
                    <a:p>
                      <a:pPr algn="ctr"/>
                      <a:r>
                        <a:rPr sz="2000"/>
                        <a:t>203</a:t>
                      </a:r>
                      <a:endParaRPr sz="20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a:t>4</a:t>
                      </a:r>
                      <a:endParaRPr sz="20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lang="en-US" sz="2000"/>
                        <a:t>Marathi</a:t>
                      </a:r>
                      <a:endParaRPr lang="en-US" sz="20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2000"/>
                        <a:t>75</a:t>
                      </a:r>
                      <a:endParaRPr sz="2000"/>
                    </a:p>
                  </a:txBody>
                  <a:tcPr marL="0" marR="0" marT="0" marB="0" anchor="ctr" anchorCtr="0">
                    <a:lnL>
                      <a:noFill/>
                    </a:lnL>
                    <a:lnR>
                      <a:noFill/>
                    </a:lnR>
                    <a:lnT>
                      <a:noFill/>
                    </a:lnT>
                    <a:lnB>
                      <a:noFill/>
                    </a:lnB>
                    <a:solidFill>
                      <a:schemeClr val="accent2">
                        <a:lumMod val="40000"/>
                        <a:lumOff val="60000"/>
                      </a:schemeClr>
                    </a:solidFill>
                  </a:tcPr>
                </a:tc>
              </a:tr>
            </a:tbl>
          </a:graphicData>
        </a:graphic>
      </p:graphicFrame>
      <p:graphicFrame>
        <p:nvGraphicFramePr>
          <p:cNvPr id="7" name="Table 6"/>
          <p:cNvGraphicFramePr/>
          <p:nvPr>
            <p:custDataLst>
              <p:tags r:id="rId2"/>
            </p:custDataLst>
          </p:nvPr>
        </p:nvGraphicFramePr>
        <p:xfrm>
          <a:off x="6835140" y="3429000"/>
          <a:ext cx="5248910" cy="1950720"/>
        </p:xfrm>
        <a:graphic>
          <a:graphicData uri="http://schemas.openxmlformats.org/drawingml/2006/table">
            <a:tbl>
              <a:tblPr/>
              <a:tblGrid>
                <a:gridCol w="2624455"/>
                <a:gridCol w="2624455"/>
              </a:tblGrid>
              <a:tr h="487680">
                <a:tc>
                  <a:txBody>
                    <a:bodyPr/>
                    <a:p>
                      <a:pPr algn="ctr"/>
                      <a:r>
                        <a:rPr sz="1800"/>
                        <a:t>student_id</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sz="1800"/>
                        <a:t>name</a:t>
                      </a:r>
                      <a:endParaRPr sz="1800"/>
                    </a:p>
                  </a:txBody>
                  <a:tcPr marL="0" marR="0" marT="0" marB="0" anchor="ctr" anchorCtr="0">
                    <a:lnL>
                      <a:noFill/>
                    </a:lnL>
                    <a:lnR>
                      <a:noFill/>
                    </a:lnR>
                    <a:lnT>
                      <a:noFill/>
                    </a:lnT>
                    <a:lnB>
                      <a:noFill/>
                    </a:lnB>
                    <a:solidFill>
                      <a:schemeClr val="accent2">
                        <a:lumMod val="40000"/>
                        <a:lumOff val="60000"/>
                      </a:schemeClr>
                    </a:solidFill>
                  </a:tcPr>
                </a:tc>
              </a:tr>
              <a:tr h="487680">
                <a:tc>
                  <a:txBody>
                    <a:bodyPr/>
                    <a:p>
                      <a:pPr algn="ctr"/>
                      <a:r>
                        <a:rPr sz="1800"/>
                        <a:t>1</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lang="en-US" sz="1800"/>
                        <a:t>Priti</a:t>
                      </a:r>
                      <a:endParaRPr lang="en-US" sz="1800"/>
                    </a:p>
                  </a:txBody>
                  <a:tcPr marL="0" marR="0" marT="0" marB="0" anchor="ctr" anchorCtr="0">
                    <a:lnL>
                      <a:noFill/>
                    </a:lnL>
                    <a:lnR>
                      <a:noFill/>
                    </a:lnR>
                    <a:lnT>
                      <a:noFill/>
                    </a:lnT>
                    <a:lnB>
                      <a:noFill/>
                    </a:lnB>
                    <a:solidFill>
                      <a:schemeClr val="accent2">
                        <a:lumMod val="40000"/>
                        <a:lumOff val="60000"/>
                      </a:schemeClr>
                    </a:solidFill>
                  </a:tcPr>
                </a:tc>
              </a:tr>
              <a:tr h="487680">
                <a:tc>
                  <a:txBody>
                    <a:bodyPr/>
                    <a:p>
                      <a:pPr algn="ctr"/>
                      <a:r>
                        <a:rPr sz="1800"/>
                        <a:t>2</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lang="en-US" sz="1800"/>
                        <a:t>Gnesh</a:t>
                      </a:r>
                      <a:endParaRPr lang="en-US" sz="1800"/>
                    </a:p>
                  </a:txBody>
                  <a:tcPr marL="0" marR="0" marT="0" marB="0" anchor="ctr" anchorCtr="0">
                    <a:lnL>
                      <a:noFill/>
                    </a:lnL>
                    <a:lnR>
                      <a:noFill/>
                    </a:lnR>
                    <a:lnT>
                      <a:noFill/>
                    </a:lnT>
                    <a:lnB>
                      <a:noFill/>
                    </a:lnB>
                    <a:solidFill>
                      <a:schemeClr val="accent2">
                        <a:lumMod val="40000"/>
                        <a:lumOff val="60000"/>
                      </a:schemeClr>
                    </a:solidFill>
                  </a:tcPr>
                </a:tc>
              </a:tr>
              <a:tr h="487680">
                <a:tc>
                  <a:txBody>
                    <a:bodyPr/>
                    <a:p>
                      <a:pPr algn="ctr"/>
                      <a:r>
                        <a:rPr sz="1800"/>
                        <a:t>3</a:t>
                      </a:r>
                      <a:endParaRPr sz="1800"/>
                    </a:p>
                  </a:txBody>
                  <a:tcPr marL="0" marR="0" marT="0" marB="0" anchor="ctr" anchorCtr="0">
                    <a:lnL>
                      <a:noFill/>
                    </a:lnL>
                    <a:lnR>
                      <a:noFill/>
                    </a:lnR>
                    <a:lnT>
                      <a:noFill/>
                    </a:lnT>
                    <a:lnB>
                      <a:noFill/>
                    </a:lnB>
                    <a:solidFill>
                      <a:schemeClr val="accent2">
                        <a:lumMod val="40000"/>
                        <a:lumOff val="60000"/>
                      </a:schemeClr>
                    </a:solidFill>
                  </a:tcPr>
                </a:tc>
                <a:tc>
                  <a:txBody>
                    <a:bodyPr/>
                    <a:p>
                      <a:pPr algn="ctr"/>
                      <a:r>
                        <a:rPr lang="en-US" sz="1800"/>
                        <a:t>Parth</a:t>
                      </a:r>
                      <a:endParaRPr lang="en-US" sz="1800"/>
                    </a:p>
                  </a:txBody>
                  <a:tcPr marL="0" marR="0" marT="0" marB="0" anchor="ctr" anchorCtr="0">
                    <a:lnL>
                      <a:noFill/>
                    </a:lnL>
                    <a:lnR>
                      <a:noFill/>
                    </a:lnR>
                    <a:lnT>
                      <a:noFill/>
                    </a:lnT>
                    <a:lnB>
                      <a:noFill/>
                    </a:lnB>
                    <a:solidFill>
                      <a:schemeClr val="accent2">
                        <a:lumMod val="40000"/>
                        <a:lumOff val="60000"/>
                      </a:schemeClr>
                    </a:solidFill>
                  </a:tcPr>
                </a:tc>
              </a:tr>
            </a:tbl>
          </a:graphicData>
        </a:graphic>
      </p:graphicFrame>
      <p:sp>
        <p:nvSpPr>
          <p:cNvPr id="8" name="Text Box 7"/>
          <p:cNvSpPr txBox="1"/>
          <p:nvPr/>
        </p:nvSpPr>
        <p:spPr>
          <a:xfrm>
            <a:off x="119380" y="2766060"/>
            <a:ext cx="12069445" cy="414020"/>
          </a:xfrm>
          <a:prstGeom prst="rect">
            <a:avLst/>
          </a:prstGeom>
          <a:noFill/>
        </p:spPr>
        <p:txBody>
          <a:bodyPr wrap="square" rtlCol="0" anchor="t">
            <a:noAutofit/>
          </a:bodyPr>
          <a:p>
            <a:r>
              <a:rPr lang="en-US" altLang="en-US" sz="2000">
                <a:sym typeface="+mn-ea"/>
              </a:rPr>
              <a:t>Returns only the rows that have matching values in both tables.</a:t>
            </a:r>
            <a:endParaRPr lang="en-US" altLang="en-US" sz="2000">
              <a:sym typeface="+mn-ea"/>
            </a:endParaRPr>
          </a:p>
        </p:txBody>
      </p:sp>
      <p:sp>
        <p:nvSpPr>
          <p:cNvPr id="9" name="Text Box 8"/>
          <p:cNvSpPr txBox="1"/>
          <p:nvPr/>
        </p:nvSpPr>
        <p:spPr>
          <a:xfrm>
            <a:off x="121920" y="5550535"/>
            <a:ext cx="6096000" cy="1141095"/>
          </a:xfrm>
          <a:prstGeom prst="rect">
            <a:avLst/>
          </a:prstGeom>
          <a:noFill/>
        </p:spPr>
        <p:txBody>
          <a:bodyPr wrap="square" rtlCol="0" anchor="t">
            <a:noAutofit/>
          </a:bodyPr>
          <a:p>
            <a:r>
              <a:rPr lang="en-US" altLang="en-US" sz="2000">
                <a:sym typeface="+mn-ea"/>
              </a:rPr>
              <a:t>SELECT s.name, m.subject, m.marks</a:t>
            </a:r>
            <a:endParaRPr lang="en-US" altLang="en-US" sz="2000"/>
          </a:p>
          <a:p>
            <a:r>
              <a:rPr lang="en-US" altLang="en-US" sz="2000">
                <a:sym typeface="+mn-ea"/>
              </a:rPr>
              <a:t>FROM Students s</a:t>
            </a:r>
            <a:endParaRPr lang="en-US" altLang="en-US" sz="2000"/>
          </a:p>
          <a:p>
            <a:r>
              <a:rPr lang="en-US" altLang="en-US" sz="2000">
                <a:sym typeface="+mn-ea"/>
              </a:rPr>
              <a:t>INNER JOIN Marks m ON s.student_id = m.student_id;</a:t>
            </a:r>
            <a:endParaRPr lang="en-US" altLang="en-US" sz="2000"/>
          </a:p>
          <a:p>
            <a:endParaRPr lang="en-US" altLang="en-US" sz="2000"/>
          </a:p>
        </p:txBody>
      </p:sp>
      <p:sp>
        <p:nvSpPr>
          <p:cNvPr id="11" name="Text Box 10"/>
          <p:cNvSpPr txBox="1"/>
          <p:nvPr/>
        </p:nvSpPr>
        <p:spPr>
          <a:xfrm>
            <a:off x="5987415" y="5550535"/>
            <a:ext cx="5960110" cy="1140460"/>
          </a:xfrm>
          <a:prstGeom prst="rect">
            <a:avLst/>
          </a:prstGeom>
          <a:noFill/>
        </p:spPr>
        <p:txBody>
          <a:bodyPr wrap="square" rtlCol="0" anchor="t">
            <a:noAutofit/>
          </a:bodyPr>
          <a:p>
            <a:r>
              <a:rPr lang="en-US" altLang="en-US" sz="2000">
                <a:sym typeface="+mn-ea"/>
              </a:rPr>
              <a:t>SELECT * FROM </a:t>
            </a:r>
            <a:r>
              <a:rPr lang="en-US" altLang="en-US" sz="2000">
                <a:sym typeface="+mn-ea"/>
              </a:rPr>
              <a:t>Students </a:t>
            </a:r>
            <a:endParaRPr lang="en-US" altLang="en-US" sz="2000"/>
          </a:p>
          <a:p>
            <a:r>
              <a:rPr lang="en-US" altLang="en-US" sz="2000">
                <a:sym typeface="+mn-ea"/>
              </a:rPr>
              <a:t>INNER JOIN </a:t>
            </a:r>
            <a:r>
              <a:rPr lang="en-US" altLang="en-US" sz="2000">
                <a:sym typeface="+mn-ea"/>
              </a:rPr>
              <a:t>Marks </a:t>
            </a:r>
            <a:endParaRPr lang="en-US" altLang="en-US" sz="2000"/>
          </a:p>
          <a:p>
            <a:r>
              <a:rPr lang="en-US" altLang="en-US" sz="2000">
                <a:sym typeface="+mn-ea"/>
              </a:rPr>
              <a:t>ON </a:t>
            </a:r>
            <a:r>
              <a:rPr lang="en-US" altLang="en-US" sz="2000">
                <a:sym typeface="+mn-ea"/>
              </a:rPr>
              <a:t>Students </a:t>
            </a:r>
            <a:r>
              <a:rPr lang="en-US" altLang="en-US" sz="2000">
                <a:sym typeface="+mn-ea"/>
              </a:rPr>
              <a:t>.</a:t>
            </a:r>
            <a:r>
              <a:rPr sz="2000">
                <a:sym typeface="+mn-ea"/>
              </a:rPr>
              <a:t>student_id</a:t>
            </a:r>
            <a:r>
              <a:rPr lang="en-US" altLang="en-US" sz="2000">
                <a:sym typeface="+mn-ea"/>
              </a:rPr>
              <a:t>= </a:t>
            </a:r>
            <a:r>
              <a:rPr lang="en-US" altLang="en-US" sz="2000">
                <a:sym typeface="+mn-ea"/>
              </a:rPr>
              <a:t>Marks </a:t>
            </a:r>
            <a:r>
              <a:rPr lang="en-US" altLang="en-US" sz="2000">
                <a:sym typeface="+mn-ea"/>
              </a:rPr>
              <a:t>.</a:t>
            </a:r>
            <a:r>
              <a:rPr sz="2000">
                <a:sym typeface="+mn-ea"/>
              </a:rPr>
              <a:t>mark_id</a:t>
            </a:r>
            <a:r>
              <a:rPr lang="en-US" altLang="en-US" sz="2000">
                <a:sym typeface="+mn-ea"/>
              </a:rPr>
              <a:t>;</a:t>
            </a:r>
            <a:endParaRPr lang="en-US" altLang="en-US" sz="2000"/>
          </a:p>
          <a:p>
            <a:endParaRPr lang="en-US" altLang="en-US" sz="20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65430" y="0"/>
            <a:ext cx="11088370" cy="315595"/>
          </a:xfrm>
        </p:spPr>
        <p:txBody>
          <a:bodyPr>
            <a:noAutofit/>
          </a:bodyPr>
          <a:p>
            <a:r>
              <a:rPr lang="en-US" altLang="en-US" sz="2400" b="1">
                <a:solidFill>
                  <a:srgbClr val="FF0000"/>
                </a:solidFill>
                <a:sym typeface="+mn-ea"/>
              </a:rPr>
              <a:t>2. LEFT JOIN (or LEFT OUTER JOIN)</a:t>
            </a:r>
            <a:endParaRPr lang="en-US" altLang="en-US" sz="2400" b="1">
              <a:solidFill>
                <a:srgbClr val="FF0000"/>
              </a:solidFill>
              <a:sym typeface="+mn-ea"/>
            </a:endParaRPr>
          </a:p>
        </p:txBody>
      </p:sp>
      <p:sp>
        <p:nvSpPr>
          <p:cNvPr id="3" name="Content Placeholder 2"/>
          <p:cNvSpPr>
            <a:spLocks noGrp="1"/>
          </p:cNvSpPr>
          <p:nvPr>
            <p:ph idx="1"/>
          </p:nvPr>
        </p:nvSpPr>
        <p:spPr>
          <a:xfrm>
            <a:off x="147955" y="315595"/>
            <a:ext cx="11719560" cy="4351655"/>
          </a:xfrm>
        </p:spPr>
        <p:txBody>
          <a:bodyPr/>
          <a:p>
            <a:r>
              <a:rPr lang="en-US" altLang="en-US" sz="1800"/>
              <a:t>Returns all rows from the left table and the matched rows from the right table.</a:t>
            </a:r>
            <a:endParaRPr lang="en-US" altLang="en-US" sz="1800"/>
          </a:p>
          <a:p>
            <a:r>
              <a:rPr lang="en-US" altLang="en-US" sz="1800"/>
              <a:t>If there is no match, NULLs are returned for columns from the right table.</a:t>
            </a:r>
            <a:endParaRPr lang="en-US" altLang="en-US" sz="1800"/>
          </a:p>
          <a:p>
            <a:endParaRPr lang="en-US" altLang="en-US" sz="1800"/>
          </a:p>
          <a:p>
            <a:r>
              <a:rPr lang="en-US" altLang="en-US" sz="1800"/>
              <a:t>SELECT */ (c.cname,c.clocation,o.ordid,o.ordproduct)</a:t>
            </a:r>
            <a:endParaRPr lang="en-US" altLang="en-US" sz="1800"/>
          </a:p>
          <a:p>
            <a:r>
              <a:rPr lang="en-US" altLang="en-US" sz="1800"/>
              <a:t>FROM Customers</a:t>
            </a:r>
            <a:endParaRPr lang="en-US" altLang="en-US" sz="1800"/>
          </a:p>
          <a:p>
            <a:r>
              <a:rPr lang="en-US" altLang="en-US" sz="1800"/>
              <a:t>LEFT JOIN Customer</a:t>
            </a:r>
            <a:endParaRPr lang="en-US" altLang="en-US" sz="1800"/>
          </a:p>
          <a:p>
            <a:r>
              <a:rPr lang="en-US" altLang="en-US" sz="1800"/>
              <a:t>ON ORders.CustomerID = Orders.CustomerID;</a:t>
            </a:r>
            <a:endParaRPr lang="en-US" altLang="en-US" sz="1800"/>
          </a:p>
          <a:p>
            <a:endParaRPr lang="en-US" altLang="en-US" sz="1800"/>
          </a:p>
        </p:txBody>
      </p:sp>
      <p:graphicFrame>
        <p:nvGraphicFramePr>
          <p:cNvPr id="4" name="Table 3"/>
          <p:cNvGraphicFramePr/>
          <p:nvPr>
            <p:custDataLst>
              <p:tags r:id="rId1"/>
            </p:custDataLst>
          </p:nvPr>
        </p:nvGraphicFramePr>
        <p:xfrm>
          <a:off x="147320" y="3116580"/>
          <a:ext cx="11921490" cy="1550670"/>
        </p:xfrm>
        <a:graphic>
          <a:graphicData uri="http://schemas.openxmlformats.org/drawingml/2006/table">
            <a:tbl>
              <a:tblPr/>
              <a:tblGrid>
                <a:gridCol w="5960745"/>
                <a:gridCol w="5960745"/>
              </a:tblGrid>
              <a:tr h="516890">
                <a:tc>
                  <a:txBody>
                    <a:bodyPr/>
                    <a:p>
                      <a:pPr algn="ctr"/>
                      <a:r>
                        <a:rPr sz="2000"/>
                        <a:t>Join Type</a:t>
                      </a:r>
                      <a:endParaRPr sz="2000"/>
                    </a:p>
                  </a:txBody>
                  <a:tcPr marL="0" marR="0" marT="0" marB="0" anchor="ctr" anchorCtr="0">
                    <a:lnL>
                      <a:noFill/>
                    </a:lnL>
                    <a:lnR>
                      <a:noFill/>
                    </a:lnR>
                    <a:lnT>
                      <a:noFill/>
                    </a:lnT>
                    <a:lnB>
                      <a:noFill/>
                    </a:lnB>
                    <a:noFill/>
                  </a:tcPr>
                </a:tc>
                <a:tc>
                  <a:txBody>
                    <a:bodyPr/>
                    <a:p>
                      <a:pPr algn="ctr"/>
                      <a:r>
                        <a:rPr sz="2000"/>
                        <a:t>Alias / Equivalent</a:t>
                      </a:r>
                      <a:endParaRPr sz="2000"/>
                    </a:p>
                  </a:txBody>
                  <a:tcPr marL="0" marR="0" marT="0" marB="0" anchor="ctr" anchorCtr="0">
                    <a:lnL>
                      <a:noFill/>
                    </a:lnL>
                    <a:lnR>
                      <a:noFill/>
                    </a:lnR>
                    <a:lnT>
                      <a:noFill/>
                    </a:lnT>
                    <a:lnB>
                      <a:noFill/>
                    </a:lnB>
                    <a:noFill/>
                  </a:tcPr>
                </a:tc>
              </a:tr>
              <a:tr h="516890">
                <a:tc>
                  <a:txBody>
                    <a:bodyPr/>
                    <a:p>
                      <a:pPr algn="ctr"/>
                      <a:r>
                        <a:rPr sz="2000"/>
                        <a:t>LEFT JOIN</a:t>
                      </a:r>
                      <a:endParaRPr sz="2000"/>
                    </a:p>
                  </a:txBody>
                  <a:tcPr marL="0" marR="0" marT="0" marB="0" anchor="ctr" anchorCtr="0">
                    <a:lnL>
                      <a:noFill/>
                    </a:lnL>
                    <a:lnR>
                      <a:noFill/>
                    </a:lnR>
                    <a:lnT>
                      <a:noFill/>
                    </a:lnT>
                    <a:lnB>
                      <a:noFill/>
                    </a:lnB>
                    <a:noFill/>
                  </a:tcPr>
                </a:tc>
                <a:tc>
                  <a:txBody>
                    <a:bodyPr/>
                    <a:p>
                      <a:pPr algn="ctr"/>
                      <a:r>
                        <a:rPr sz="2000"/>
                        <a:t>LEFT OUTER JOIN</a:t>
                      </a:r>
                      <a:endParaRPr sz="2000"/>
                    </a:p>
                  </a:txBody>
                  <a:tcPr marL="0" marR="0" marT="0" marB="0" anchor="ctr" anchorCtr="0">
                    <a:lnL>
                      <a:noFill/>
                    </a:lnL>
                    <a:lnR>
                      <a:noFill/>
                    </a:lnR>
                    <a:lnT>
                      <a:noFill/>
                    </a:lnT>
                    <a:lnB>
                      <a:noFill/>
                    </a:lnB>
                    <a:noFill/>
                  </a:tcPr>
                </a:tc>
              </a:tr>
              <a:tr h="516890">
                <a:tc>
                  <a:txBody>
                    <a:bodyPr/>
                    <a:p>
                      <a:pPr algn="ctr"/>
                      <a:r>
                        <a:rPr sz="2000"/>
                        <a:t>RIGHT JOIN</a:t>
                      </a:r>
                      <a:endParaRPr sz="2000"/>
                    </a:p>
                  </a:txBody>
                  <a:tcPr marL="0" marR="0" marT="0" marB="0" anchor="ctr" anchorCtr="0">
                    <a:lnL>
                      <a:noFill/>
                    </a:lnL>
                    <a:lnR>
                      <a:noFill/>
                    </a:lnR>
                    <a:lnT>
                      <a:noFill/>
                    </a:lnT>
                    <a:lnB>
                      <a:noFill/>
                    </a:lnB>
                    <a:noFill/>
                  </a:tcPr>
                </a:tc>
                <a:tc>
                  <a:txBody>
                    <a:bodyPr/>
                    <a:p>
                      <a:pPr algn="ctr"/>
                      <a:r>
                        <a:rPr sz="2000"/>
                        <a:t>RIGHT OUTER JOIN</a:t>
                      </a:r>
                      <a:endParaRPr sz="2000"/>
                    </a:p>
                  </a:txBody>
                  <a:tcPr marL="0" marR="0" marT="0" marB="0" anchor="ctr" anchorCtr="0">
                    <a:lnL>
                      <a:noFill/>
                    </a:lnL>
                    <a:lnR>
                      <a:noFill/>
                    </a:lnR>
                    <a:lnT>
                      <a:noFill/>
                    </a:lnT>
                    <a:lnB>
                      <a:noFill/>
                    </a:lnB>
                    <a:noFill/>
                  </a:tcPr>
                </a:tc>
              </a:tr>
            </a:tbl>
          </a:graphicData>
        </a:graphic>
      </p:graphicFrame>
      <p:sp>
        <p:nvSpPr>
          <p:cNvPr id="5" name="Text Box 4"/>
          <p:cNvSpPr txBox="1"/>
          <p:nvPr/>
        </p:nvSpPr>
        <p:spPr>
          <a:xfrm>
            <a:off x="0" y="4667250"/>
            <a:ext cx="12067540" cy="2076450"/>
          </a:xfrm>
          <a:prstGeom prst="rect">
            <a:avLst/>
          </a:prstGeom>
        </p:spPr>
        <p:txBody>
          <a:bodyPr wrap="square">
            <a:noAutofit/>
          </a:bodyPr>
          <a:p>
            <a:r>
              <a:t>In SQL, the terms:</a:t>
            </a:r>
          </a:p>
          <a:p/>
          <a:p>
            <a:pPr>
              <a:buFont typeface="Arial" panose="020B0604020202020204"/>
              <a:buChar char="•"/>
            </a:pPr>
            <a:r>
              <a:t>LEFT JOIN and LEFT OUTER JOIN</a:t>
            </a:r>
          </a:p>
          <a:p>
            <a:pPr>
              <a:buFont typeface="Arial" panose="020B0604020202020204"/>
              <a:buChar char="•"/>
            </a:pPr>
          </a:p>
          <a:p>
            <a:pPr>
              <a:buFont typeface="Arial" panose="020B0604020202020204"/>
              <a:buChar char="•"/>
            </a:pPr>
            <a:r>
              <a:t>RIGHT JOIN and RIGHT OUTER JOIN</a:t>
            </a:r>
          </a:p>
          <a:p>
            <a:r>
              <a:t>mean exactly the same thing. There's no functional difference between them — the OUTER keyword is optional and just adds clarity.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07010" y="0"/>
            <a:ext cx="11634470" cy="404495"/>
          </a:xfrm>
        </p:spPr>
        <p:txBody>
          <a:bodyPr>
            <a:noAutofit/>
          </a:bodyPr>
          <a:p>
            <a:r>
              <a:rPr lang="en-US" altLang="en-US" sz="2400" b="1">
                <a:solidFill>
                  <a:srgbClr val="FF0000"/>
                </a:solidFill>
                <a:sym typeface="+mn-ea"/>
              </a:rPr>
              <a:t>3. RIGHT JOIN (or RIGHT OUTER JOIN)</a:t>
            </a:r>
            <a:endParaRPr lang="en-US" altLang="en-US" sz="2400" b="1">
              <a:solidFill>
                <a:srgbClr val="FF0000"/>
              </a:solidFill>
              <a:sym typeface="+mn-ea"/>
            </a:endParaRPr>
          </a:p>
        </p:txBody>
      </p:sp>
      <p:sp>
        <p:nvSpPr>
          <p:cNvPr id="3" name="Content Placeholder 2"/>
          <p:cNvSpPr>
            <a:spLocks noGrp="1"/>
          </p:cNvSpPr>
          <p:nvPr>
            <p:ph idx="1"/>
          </p:nvPr>
        </p:nvSpPr>
        <p:spPr>
          <a:xfrm>
            <a:off x="0" y="404495"/>
            <a:ext cx="12103100" cy="5727700"/>
          </a:xfrm>
        </p:spPr>
        <p:txBody>
          <a:bodyPr/>
          <a:p>
            <a:r>
              <a:rPr lang="en-US" altLang="en-US" sz="2000"/>
              <a:t>Returns all rows from the right table and the matched rows from the left table.</a:t>
            </a:r>
            <a:endParaRPr lang="en-US" altLang="en-US" sz="2000"/>
          </a:p>
          <a:p>
            <a:r>
              <a:rPr lang="en-US" altLang="en-US" sz="2000"/>
              <a:t>If there is no match, NULLs are returned for columns from the left table.</a:t>
            </a:r>
            <a:endParaRPr lang="en-US" altLang="en-US" sz="2000"/>
          </a:p>
          <a:p>
            <a:endParaRPr lang="en-US" altLang="en-US" sz="2000"/>
          </a:p>
          <a:p>
            <a:r>
              <a:rPr lang="en-US" altLang="en-US" sz="2000"/>
              <a:t>SELECT *</a:t>
            </a:r>
            <a:endParaRPr lang="en-US" altLang="en-US" sz="2000"/>
          </a:p>
          <a:p>
            <a:r>
              <a:rPr lang="en-US" altLang="en-US" sz="2000"/>
              <a:t>FROM Orders</a:t>
            </a:r>
            <a:endParaRPr lang="en-US" altLang="en-US" sz="2000"/>
          </a:p>
          <a:p>
            <a:r>
              <a:rPr lang="en-US" altLang="en-US" sz="2000"/>
              <a:t>RIGHT JOIN Customers</a:t>
            </a:r>
            <a:endParaRPr lang="en-US" altLang="en-US" sz="2000"/>
          </a:p>
          <a:p>
            <a:r>
              <a:rPr lang="en-US" altLang="en-US" sz="2000"/>
              <a:t>ON Orders.CustomerID = Customers.CustomerID;</a:t>
            </a:r>
            <a:endParaRPr lang="en-US" altLang="en-US" sz="2000"/>
          </a:p>
          <a:p>
            <a:endParaRPr lang="en-US" altLang="en-US" sz="2000"/>
          </a:p>
        </p:txBody>
      </p:sp>
      <p:sp>
        <p:nvSpPr>
          <p:cNvPr id="4" name="Text Box 3"/>
          <p:cNvSpPr txBox="1"/>
          <p:nvPr/>
        </p:nvSpPr>
        <p:spPr>
          <a:xfrm>
            <a:off x="529590" y="3879850"/>
            <a:ext cx="6096000" cy="368300"/>
          </a:xfrm>
          <a:prstGeom prst="rect">
            <a:avLst/>
          </a:prstGeom>
          <a:noFill/>
        </p:spPr>
        <p:txBody>
          <a:bodyPr wrap="square" rtlCol="0" anchor="t">
            <a:spAutoFit/>
          </a:bodyPr>
          <a:p>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93675" y="0"/>
            <a:ext cx="11160125" cy="389255"/>
          </a:xfrm>
        </p:spPr>
        <p:txBody>
          <a:bodyPr>
            <a:normAutofit fontScale="90000"/>
          </a:bodyPr>
          <a:p>
            <a:r>
              <a:rPr lang="en-US" sz="2400" b="1">
                <a:solidFill>
                  <a:srgbClr val="FF0000"/>
                </a:solidFill>
              </a:rPr>
              <a:t>4.Cross Join</a:t>
            </a:r>
            <a:endParaRPr lang="en-US" sz="2400" b="1">
              <a:solidFill>
                <a:srgbClr val="FF0000"/>
              </a:solidFill>
            </a:endParaRPr>
          </a:p>
        </p:txBody>
      </p:sp>
      <p:sp>
        <p:nvSpPr>
          <p:cNvPr id="3" name="Content Placeholder 2"/>
          <p:cNvSpPr>
            <a:spLocks noGrp="1"/>
          </p:cNvSpPr>
          <p:nvPr>
            <p:ph idx="1"/>
          </p:nvPr>
        </p:nvSpPr>
        <p:spPr>
          <a:xfrm>
            <a:off x="193675" y="389255"/>
            <a:ext cx="11966575" cy="5934710"/>
          </a:xfrm>
        </p:spPr>
        <p:txBody>
          <a:bodyPr/>
          <a:p>
            <a:pPr marL="0" indent="0">
              <a:buNone/>
            </a:pPr>
            <a:r>
              <a:rPr lang="en-US" altLang="en-US" sz="1800" b="1"/>
              <a:t>What is a CROSS JOIN?</a:t>
            </a:r>
            <a:endParaRPr lang="en-US" altLang="en-US" sz="1800" b="1"/>
          </a:p>
          <a:p>
            <a:pPr marL="0" indent="0">
              <a:buNone/>
            </a:pPr>
            <a:r>
              <a:rPr lang="en-US" altLang="en-US" sz="1800"/>
              <a:t>A CROSS JOIN returns the Cartesian product of two tables: Every row in the first table is joined with every row in the second table.</a:t>
            </a:r>
            <a:endParaRPr lang="en-US" altLang="en-US" sz="1800"/>
          </a:p>
          <a:p>
            <a:pPr marL="0" indent="0">
              <a:buNone/>
            </a:pPr>
            <a:r>
              <a:rPr lang="en-US" altLang="en-US" sz="1800"/>
              <a:t>For a table with 4 rows, cross joining it to itself gives 4 × 4 = 16 rows.</a:t>
            </a: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r>
              <a:rPr lang="en-US" altLang="en-US" sz="1800"/>
              <a:t>SELECT s.name AS student, sub.subject_name AS subject</a:t>
            </a:r>
            <a:endParaRPr lang="en-US" altLang="en-US" sz="1800"/>
          </a:p>
          <a:p>
            <a:pPr marL="0" indent="0">
              <a:buNone/>
            </a:pPr>
            <a:r>
              <a:rPr lang="en-US" altLang="en-US" sz="1800"/>
              <a:t>FROM Students s</a:t>
            </a:r>
            <a:endParaRPr lang="en-US" altLang="en-US" sz="1800"/>
          </a:p>
          <a:p>
            <a:pPr marL="0" indent="0">
              <a:buNone/>
            </a:pPr>
            <a:r>
              <a:rPr lang="en-US" altLang="en-US" sz="1800"/>
              <a:t>CROSS JOIN Subjects sub;</a:t>
            </a:r>
            <a:endParaRPr lang="en-US" altLang="en-US" sz="1800"/>
          </a:p>
          <a:p>
            <a:pPr marL="0" indent="0">
              <a:buNone/>
            </a:pPr>
            <a:endParaRPr lang="en-US" altLang="en-US" sz="1800"/>
          </a:p>
        </p:txBody>
      </p:sp>
      <p:graphicFrame>
        <p:nvGraphicFramePr>
          <p:cNvPr id="4" name="Table 3"/>
          <p:cNvGraphicFramePr/>
          <p:nvPr>
            <p:custDataLst>
              <p:tags r:id="rId1"/>
            </p:custDataLst>
          </p:nvPr>
        </p:nvGraphicFramePr>
        <p:xfrm>
          <a:off x="193675" y="1953895"/>
          <a:ext cx="5113020" cy="914400"/>
        </p:xfrm>
        <a:graphic>
          <a:graphicData uri="http://schemas.openxmlformats.org/drawingml/2006/table">
            <a:tbl>
              <a:tblPr/>
              <a:tblGrid>
                <a:gridCol w="2556510"/>
                <a:gridCol w="2556510"/>
              </a:tblGrid>
              <a:tr h="304800">
                <a:tc>
                  <a:txBody>
                    <a:bodyPr/>
                    <a:p>
                      <a:pPr algn="ctr"/>
                      <a:r>
                        <a:rPr sz="2000"/>
                        <a:t>student_id</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a:t>name</a:t>
                      </a:r>
                      <a:endParaRPr sz="2000"/>
                    </a:p>
                  </a:txBody>
                  <a:tcPr marL="0" marR="0" marT="0" marB="0" anchor="ctr" anchorCtr="0">
                    <a:lnL>
                      <a:noFill/>
                    </a:lnL>
                    <a:lnR>
                      <a:noFill/>
                    </a:lnR>
                    <a:lnT>
                      <a:noFill/>
                    </a:lnT>
                    <a:lnB>
                      <a:noFill/>
                    </a:lnB>
                    <a:solidFill>
                      <a:schemeClr val="accent1">
                        <a:lumMod val="40000"/>
                        <a:lumOff val="60000"/>
                      </a:schemeClr>
                    </a:solidFill>
                  </a:tcPr>
                </a:tc>
              </a:tr>
              <a:tr h="304800">
                <a:tc>
                  <a:txBody>
                    <a:bodyPr/>
                    <a:p>
                      <a:pPr algn="ctr"/>
                      <a:r>
                        <a:rPr sz="2000"/>
                        <a:t>1</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lang="en-US" sz="2000"/>
                        <a:t>Rahul</a:t>
                      </a:r>
                      <a:endParaRPr lang="en-US" sz="2000"/>
                    </a:p>
                  </a:txBody>
                  <a:tcPr marL="0" marR="0" marT="0" marB="0" anchor="ctr" anchorCtr="0">
                    <a:lnL>
                      <a:noFill/>
                    </a:lnL>
                    <a:lnR>
                      <a:noFill/>
                    </a:lnR>
                    <a:lnT>
                      <a:noFill/>
                    </a:lnT>
                    <a:lnB>
                      <a:noFill/>
                    </a:lnB>
                    <a:solidFill>
                      <a:schemeClr val="accent1">
                        <a:lumMod val="40000"/>
                        <a:lumOff val="60000"/>
                      </a:schemeClr>
                    </a:solidFill>
                  </a:tcPr>
                </a:tc>
              </a:tr>
              <a:tr h="304800">
                <a:tc>
                  <a:txBody>
                    <a:bodyPr/>
                    <a:p>
                      <a:pPr algn="ctr"/>
                      <a:r>
                        <a:rPr sz="2000"/>
                        <a:t>2</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lang="en-US" sz="2000"/>
                        <a:t>Rohit</a:t>
                      </a:r>
                      <a:endParaRPr lang="en-US" sz="20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graphicFrame>
        <p:nvGraphicFramePr>
          <p:cNvPr id="5" name="Table 4"/>
          <p:cNvGraphicFramePr/>
          <p:nvPr>
            <p:custDataLst>
              <p:tags r:id="rId2"/>
            </p:custDataLst>
          </p:nvPr>
        </p:nvGraphicFramePr>
        <p:xfrm>
          <a:off x="6108700" y="1953895"/>
          <a:ext cx="5245100" cy="914400"/>
        </p:xfrm>
        <a:graphic>
          <a:graphicData uri="http://schemas.openxmlformats.org/drawingml/2006/table">
            <a:tbl>
              <a:tblPr/>
              <a:tblGrid>
                <a:gridCol w="2622550"/>
                <a:gridCol w="2622550"/>
              </a:tblGrid>
              <a:tr h="304800">
                <a:tc>
                  <a:txBody>
                    <a:bodyPr/>
                    <a:p>
                      <a:pPr algn="ctr"/>
                      <a:r>
                        <a:rPr sz="2000"/>
                        <a:t>subject_id</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a:t>subject_name</a:t>
                      </a:r>
                      <a:endParaRPr sz="2000"/>
                    </a:p>
                  </a:txBody>
                  <a:tcPr marL="0" marR="0" marT="0" marB="0" anchor="ctr" anchorCtr="0">
                    <a:lnL>
                      <a:noFill/>
                    </a:lnL>
                    <a:lnR>
                      <a:noFill/>
                    </a:lnR>
                    <a:lnT>
                      <a:noFill/>
                    </a:lnT>
                    <a:lnB>
                      <a:noFill/>
                    </a:lnB>
                    <a:solidFill>
                      <a:schemeClr val="accent1">
                        <a:lumMod val="40000"/>
                        <a:lumOff val="60000"/>
                      </a:schemeClr>
                    </a:solidFill>
                  </a:tcPr>
                </a:tc>
              </a:tr>
              <a:tr h="304800">
                <a:tc>
                  <a:txBody>
                    <a:bodyPr/>
                    <a:p>
                      <a:pPr algn="ctr"/>
                      <a:r>
                        <a:rPr sz="2000"/>
                        <a:t>101</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a:t>Math</a:t>
                      </a:r>
                      <a:endParaRPr sz="2000"/>
                    </a:p>
                  </a:txBody>
                  <a:tcPr marL="0" marR="0" marT="0" marB="0" anchor="ctr" anchorCtr="0">
                    <a:lnL>
                      <a:noFill/>
                    </a:lnL>
                    <a:lnR>
                      <a:noFill/>
                    </a:lnR>
                    <a:lnT>
                      <a:noFill/>
                    </a:lnT>
                    <a:lnB>
                      <a:noFill/>
                    </a:lnB>
                    <a:solidFill>
                      <a:schemeClr val="accent1">
                        <a:lumMod val="40000"/>
                        <a:lumOff val="60000"/>
                      </a:schemeClr>
                    </a:solidFill>
                  </a:tcPr>
                </a:tc>
              </a:tr>
              <a:tr h="304800">
                <a:tc>
                  <a:txBody>
                    <a:bodyPr/>
                    <a:p>
                      <a:pPr algn="ctr"/>
                      <a:r>
                        <a:rPr sz="2000"/>
                        <a:t>102</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a:t>Science</a:t>
                      </a:r>
                      <a:endParaRPr sz="20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graphicFrame>
        <p:nvGraphicFramePr>
          <p:cNvPr id="6" name="Table 5"/>
          <p:cNvGraphicFramePr/>
          <p:nvPr>
            <p:custDataLst>
              <p:tags r:id="rId3"/>
            </p:custDataLst>
          </p:nvPr>
        </p:nvGraphicFramePr>
        <p:xfrm>
          <a:off x="3613150" y="3429000"/>
          <a:ext cx="8483600" cy="1424940"/>
        </p:xfrm>
        <a:graphic>
          <a:graphicData uri="http://schemas.openxmlformats.org/drawingml/2006/table">
            <a:tbl>
              <a:tblPr/>
              <a:tblGrid>
                <a:gridCol w="3263265"/>
                <a:gridCol w="5220335"/>
              </a:tblGrid>
              <a:tr h="356235">
                <a:tc>
                  <a:txBody>
                    <a:bodyPr/>
                    <a:p>
                      <a:pPr algn="ctr"/>
                      <a:r>
                        <a:rPr sz="1800"/>
                        <a:t>Use Case</a:t>
                      </a:r>
                      <a:endParaRPr sz="18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1800"/>
                        <a:t>Example</a:t>
                      </a:r>
                      <a:endParaRPr sz="1800"/>
                    </a:p>
                  </a:txBody>
                  <a:tcPr marL="0" marR="0" marT="0" marB="0" anchor="ctr" anchorCtr="0">
                    <a:lnL>
                      <a:noFill/>
                    </a:lnL>
                    <a:lnR>
                      <a:noFill/>
                    </a:lnR>
                    <a:lnT>
                      <a:noFill/>
                    </a:lnT>
                    <a:lnB>
                      <a:noFill/>
                    </a:lnB>
                    <a:solidFill>
                      <a:schemeClr val="accent1">
                        <a:lumMod val="40000"/>
                        <a:lumOff val="60000"/>
                      </a:schemeClr>
                    </a:solidFill>
                  </a:tcPr>
                </a:tc>
              </a:tr>
              <a:tr h="356235">
                <a:tc>
                  <a:txBody>
                    <a:bodyPr/>
                    <a:p>
                      <a:r>
                        <a:rPr sz="1800"/>
                        <a:t>Generate all combinations</a:t>
                      </a:r>
                      <a:endParaRPr sz="1800"/>
                    </a:p>
                  </a:txBody>
                  <a:tcPr marL="0" marR="0" marT="0" marB="0" anchor="ctr" anchorCtr="0">
                    <a:lnL>
                      <a:noFill/>
                    </a:lnL>
                    <a:lnR>
                      <a:noFill/>
                    </a:lnR>
                    <a:lnT>
                      <a:noFill/>
                    </a:lnT>
                    <a:lnB>
                      <a:noFill/>
                    </a:lnB>
                    <a:noFill/>
                  </a:tcPr>
                </a:tc>
                <a:tc>
                  <a:txBody>
                    <a:bodyPr/>
                    <a:p>
                      <a:r>
                        <a:rPr sz="1800"/>
                        <a:t>All sizes and colors of a product</a:t>
                      </a:r>
                      <a:endParaRPr sz="1800"/>
                    </a:p>
                  </a:txBody>
                  <a:tcPr marL="0" marR="0" marT="0" marB="0" anchor="ctr" anchorCtr="0">
                    <a:lnL>
                      <a:noFill/>
                    </a:lnL>
                    <a:lnR>
                      <a:noFill/>
                    </a:lnR>
                    <a:lnT>
                      <a:noFill/>
                    </a:lnT>
                    <a:lnB>
                      <a:noFill/>
                    </a:lnB>
                    <a:noFill/>
                  </a:tcPr>
                </a:tc>
              </a:tr>
              <a:tr h="356235">
                <a:tc>
                  <a:txBody>
                    <a:bodyPr/>
                    <a:p>
                      <a:r>
                        <a:rPr sz="1800"/>
                        <a:t>Testing / dummy data</a:t>
                      </a:r>
                      <a:endParaRPr sz="1800"/>
                    </a:p>
                  </a:txBody>
                  <a:tcPr marL="0" marR="0" marT="0" marB="0" anchor="ctr" anchorCtr="0">
                    <a:lnL>
                      <a:noFill/>
                    </a:lnL>
                    <a:lnR>
                      <a:noFill/>
                    </a:lnR>
                    <a:lnT>
                      <a:noFill/>
                    </a:lnT>
                    <a:lnB>
                      <a:noFill/>
                    </a:lnB>
                    <a:noFill/>
                  </a:tcPr>
                </a:tc>
                <a:tc>
                  <a:txBody>
                    <a:bodyPr/>
                    <a:p>
                      <a:r>
                        <a:rPr sz="1800"/>
                        <a:t>Simulate every scenario</a:t>
                      </a:r>
                      <a:endParaRPr sz="1800"/>
                    </a:p>
                  </a:txBody>
                  <a:tcPr marL="0" marR="0" marT="0" marB="0" anchor="ctr" anchorCtr="0">
                    <a:lnL>
                      <a:noFill/>
                    </a:lnL>
                    <a:lnR>
                      <a:noFill/>
                    </a:lnR>
                    <a:lnT>
                      <a:noFill/>
                    </a:lnT>
                    <a:lnB>
                      <a:noFill/>
                    </a:lnB>
                    <a:noFill/>
                  </a:tcPr>
                </a:tc>
              </a:tr>
              <a:tr h="356235">
                <a:tc>
                  <a:txBody>
                    <a:bodyPr/>
                    <a:p>
                      <a:r>
                        <a:rPr sz="1800"/>
                        <a:t>Matrix-like reports</a:t>
                      </a:r>
                      <a:endParaRPr sz="1800"/>
                    </a:p>
                  </a:txBody>
                  <a:tcPr marL="0" marR="0" marT="0" marB="0" anchor="ctr" anchorCtr="0">
                    <a:lnL>
                      <a:noFill/>
                    </a:lnL>
                    <a:lnR>
                      <a:noFill/>
                    </a:lnR>
                    <a:lnT>
                      <a:noFill/>
                    </a:lnT>
                    <a:lnB>
                      <a:noFill/>
                    </a:lnB>
                    <a:noFill/>
                  </a:tcPr>
                </a:tc>
                <a:tc>
                  <a:txBody>
                    <a:bodyPr/>
                    <a:p>
                      <a:r>
                        <a:rPr sz="1800"/>
                        <a:t>Every employee paired with every task</a:t>
                      </a:r>
                      <a:endParaRPr sz="1800"/>
                    </a:p>
                  </a:txBody>
                  <a:tcPr marL="0" marR="0" marT="0" marB="0" anchor="ctr" anchorCtr="0">
                    <a:lnL>
                      <a:noFill/>
                    </a:lnL>
                    <a:lnR>
                      <a:noFill/>
                    </a:lnR>
                    <a:lnT>
                      <a:noFill/>
                    </a:lnT>
                    <a:lnB>
                      <a:noFill/>
                    </a:lnB>
                    <a:noFill/>
                  </a:tcPr>
                </a:tc>
              </a:tr>
            </a:tbl>
          </a:graphicData>
        </a:graphic>
      </p:graphicFrame>
      <p:sp>
        <p:nvSpPr>
          <p:cNvPr id="7" name="Text Box 6"/>
          <p:cNvSpPr txBox="1"/>
          <p:nvPr/>
        </p:nvSpPr>
        <p:spPr>
          <a:xfrm>
            <a:off x="193675" y="5314315"/>
            <a:ext cx="11542395" cy="1233170"/>
          </a:xfrm>
          <a:prstGeom prst="rect">
            <a:avLst/>
          </a:prstGeom>
          <a:noFill/>
        </p:spPr>
        <p:txBody>
          <a:bodyPr wrap="square" rtlCol="0" anchor="t">
            <a:noAutofit/>
          </a:bodyPr>
          <a:p>
            <a:r>
              <a:rPr lang="en-US" altLang="en-US" sz="2000">
                <a:sym typeface="+mn-ea"/>
              </a:rPr>
              <a:t>No ON clause is used in a true CROSS JOIN.</a:t>
            </a:r>
            <a:endParaRPr lang="en-US" altLang="en-US" sz="2000"/>
          </a:p>
          <a:p>
            <a:r>
              <a:rPr lang="en-US" altLang="en-US" sz="2000">
                <a:sym typeface="+mn-ea"/>
              </a:rPr>
              <a:t>Be careful: If both tables are large, the result can be huge.</a:t>
            </a:r>
            <a:endParaRPr lang="en-US" altLang="en-US" sz="2000"/>
          </a:p>
          <a:p>
            <a:r>
              <a:rPr lang="en-US" altLang="en-US" sz="2000">
                <a:sym typeface="+mn-ea"/>
              </a:rPr>
              <a:t>It's different from an INNER JOIN, which only returns matching rows based on a condition.</a:t>
            </a:r>
            <a:endParaRPr lang="en-US" altLang="en-US" sz="2000">
              <a:sym typeface="+mn-ea"/>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75895" y="116840"/>
            <a:ext cx="12015470" cy="360045"/>
          </a:xfrm>
        </p:spPr>
        <p:txBody>
          <a:bodyPr>
            <a:normAutofit fontScale="90000"/>
          </a:bodyPr>
          <a:p>
            <a:r>
              <a:rPr lang="en-US" sz="2800" b="1">
                <a:solidFill>
                  <a:srgbClr val="FF0000"/>
                </a:solidFill>
              </a:rPr>
              <a:t>5.Self Join </a:t>
            </a:r>
            <a:endParaRPr lang="en-US" sz="2800" b="1">
              <a:solidFill>
                <a:srgbClr val="FF0000"/>
              </a:solidFill>
            </a:endParaRPr>
          </a:p>
        </p:txBody>
      </p:sp>
      <p:sp>
        <p:nvSpPr>
          <p:cNvPr id="3" name="Content Placeholder 2"/>
          <p:cNvSpPr>
            <a:spLocks noGrp="1"/>
          </p:cNvSpPr>
          <p:nvPr>
            <p:ph idx="1"/>
          </p:nvPr>
        </p:nvSpPr>
        <p:spPr>
          <a:xfrm>
            <a:off x="175895" y="476885"/>
            <a:ext cx="11833860" cy="6285865"/>
          </a:xfrm>
        </p:spPr>
        <p:txBody>
          <a:bodyPr>
            <a:noAutofit/>
          </a:bodyPr>
          <a:p>
            <a:pPr marL="0" indent="0">
              <a:buNone/>
            </a:pPr>
            <a:r>
              <a:rPr lang="en-US" altLang="en-US" sz="1800"/>
              <a:t>Definition:</a:t>
            </a:r>
            <a:endParaRPr lang="en-US" altLang="en-US" sz="1800"/>
          </a:p>
          <a:p>
            <a:pPr marL="0" indent="0">
              <a:buNone/>
            </a:pPr>
            <a:r>
              <a:rPr lang="en-US" altLang="en-US" sz="1800"/>
              <a:t>A SELF JOIN is a regular join (like INNER or LEFT), but the table is joined with itself.</a:t>
            </a:r>
            <a:endParaRPr lang="en-US" altLang="en-US" sz="1800"/>
          </a:p>
          <a:p>
            <a:pPr marL="0" indent="0">
              <a:buNone/>
            </a:pPr>
            <a:r>
              <a:rPr lang="en-US" altLang="en-US" sz="1800"/>
              <a:t>This is useful when you have hierarchical or relational data within the same table (like employees and managers).</a:t>
            </a: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endParaRPr lang="en-US" altLang="en-US" sz="1800"/>
          </a:p>
          <a:p>
            <a:pPr marL="0" indent="0">
              <a:buNone/>
            </a:pPr>
            <a:r>
              <a:rPr lang="en-US" altLang="en-US" sz="1800"/>
              <a:t>SELECT E1.Name AS Employee, E2.Name AS Manager</a:t>
            </a:r>
            <a:endParaRPr lang="en-US" altLang="en-US" sz="1800"/>
          </a:p>
          <a:p>
            <a:pPr marL="0" indent="0">
              <a:buNone/>
            </a:pPr>
            <a:r>
              <a:rPr lang="en-US" altLang="en-US" sz="1800"/>
              <a:t>FROM Employees E1</a:t>
            </a:r>
            <a:endParaRPr lang="en-US" altLang="en-US" sz="1800"/>
          </a:p>
          <a:p>
            <a:pPr marL="0" indent="0">
              <a:buNone/>
            </a:pPr>
            <a:r>
              <a:rPr lang="en-US" altLang="en-US" sz="1800"/>
              <a:t>LEFT JOIN Employees E2 ON E1.ManagerID = E2.EmpID;</a:t>
            </a:r>
            <a:endParaRPr lang="en-US" altLang="en-US" sz="1800"/>
          </a:p>
          <a:p>
            <a:pPr marL="0" indent="0">
              <a:buNone/>
            </a:pPr>
            <a:endParaRPr lang="en-US" altLang="en-US" sz="1800"/>
          </a:p>
          <a:p>
            <a:pPr marL="0" indent="0">
              <a:buNone/>
            </a:pPr>
            <a:r>
              <a:rPr lang="en-US" altLang="en-US" sz="1800"/>
              <a:t> </a:t>
            </a:r>
            <a:r>
              <a:rPr lang="en-US" altLang="en-US" sz="1800" b="1"/>
              <a:t>When to Use SELF JOIN</a:t>
            </a:r>
            <a:endParaRPr lang="en-US" altLang="en-US" sz="1800" b="1"/>
          </a:p>
          <a:p>
            <a:pPr marL="0" indent="0">
              <a:buNone/>
            </a:pPr>
            <a:r>
              <a:rPr lang="en-US" altLang="en-US" sz="1800"/>
              <a:t>Organization hierarchies (Employee → Manager)</a:t>
            </a:r>
            <a:endParaRPr lang="en-US" altLang="en-US" sz="1800"/>
          </a:p>
          <a:p>
            <a:pPr marL="0" indent="0">
              <a:buNone/>
            </a:pPr>
            <a:r>
              <a:rPr lang="en-US" altLang="en-US" sz="1800"/>
              <a:t>Product components (Component → Parent component)</a:t>
            </a:r>
            <a:endParaRPr lang="en-US" altLang="en-US" sz="1800"/>
          </a:p>
          <a:p>
            <a:pPr marL="0" indent="0">
              <a:buNone/>
            </a:pPr>
            <a:r>
              <a:rPr lang="en-US" altLang="en-US" sz="1800"/>
              <a:t>Friends/followers in social networks (User → Friend)</a:t>
            </a:r>
            <a:endParaRPr lang="en-US" altLang="en-US" sz="1800"/>
          </a:p>
        </p:txBody>
      </p:sp>
      <p:graphicFrame>
        <p:nvGraphicFramePr>
          <p:cNvPr id="4" name="Table 3"/>
          <p:cNvGraphicFramePr/>
          <p:nvPr>
            <p:custDataLst>
              <p:tags r:id="rId1"/>
            </p:custDataLst>
          </p:nvPr>
        </p:nvGraphicFramePr>
        <p:xfrm>
          <a:off x="0" y="1622425"/>
          <a:ext cx="11856720" cy="1806575"/>
        </p:xfrm>
        <a:graphic>
          <a:graphicData uri="http://schemas.openxmlformats.org/drawingml/2006/table">
            <a:tbl>
              <a:tblPr/>
              <a:tblGrid>
                <a:gridCol w="2964180"/>
                <a:gridCol w="2964180"/>
                <a:gridCol w="2964180"/>
                <a:gridCol w="2964180"/>
              </a:tblGrid>
              <a:tr h="361315">
                <a:tc>
                  <a:txBody>
                    <a:bodyPr/>
                    <a:p>
                      <a:pPr algn="ctr"/>
                      <a:r>
                        <a:rPr sz="2000"/>
                        <a:t>EmpID</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a:t>Name</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a:t>DeptID</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a:t>ManagerID</a:t>
                      </a:r>
                      <a:endParaRPr sz="2000"/>
                    </a:p>
                  </a:txBody>
                  <a:tcPr marL="0" marR="0" marT="0" marB="0" anchor="ctr" anchorCtr="0">
                    <a:lnL>
                      <a:noFill/>
                    </a:lnL>
                    <a:lnR>
                      <a:noFill/>
                    </a:lnR>
                    <a:lnT>
                      <a:noFill/>
                    </a:lnT>
                    <a:lnB>
                      <a:noFill/>
                    </a:lnB>
                    <a:solidFill>
                      <a:schemeClr val="accent1">
                        <a:lumMod val="40000"/>
                        <a:lumOff val="60000"/>
                      </a:schemeClr>
                    </a:solidFill>
                  </a:tcPr>
                </a:tc>
              </a:tr>
              <a:tr h="361315">
                <a:tc>
                  <a:txBody>
                    <a:bodyPr/>
                    <a:p>
                      <a:pPr algn="ctr"/>
                      <a:r>
                        <a:rPr sz="2000"/>
                        <a:t>1</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lang="en-US" sz="2000"/>
                        <a:t>Ravi</a:t>
                      </a:r>
                      <a:endParaRPr lang="en-US"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a:t>10</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a:t>NULL</a:t>
                      </a:r>
                      <a:endParaRPr sz="2000"/>
                    </a:p>
                  </a:txBody>
                  <a:tcPr marL="0" marR="0" marT="0" marB="0" anchor="ctr" anchorCtr="0">
                    <a:lnL>
                      <a:noFill/>
                    </a:lnL>
                    <a:lnR>
                      <a:noFill/>
                    </a:lnR>
                    <a:lnT>
                      <a:noFill/>
                    </a:lnT>
                    <a:lnB>
                      <a:noFill/>
                    </a:lnB>
                    <a:solidFill>
                      <a:schemeClr val="accent1">
                        <a:lumMod val="40000"/>
                        <a:lumOff val="60000"/>
                      </a:schemeClr>
                    </a:solidFill>
                  </a:tcPr>
                </a:tc>
              </a:tr>
              <a:tr h="361315">
                <a:tc>
                  <a:txBody>
                    <a:bodyPr/>
                    <a:p>
                      <a:pPr algn="ctr"/>
                      <a:r>
                        <a:rPr sz="2000"/>
                        <a:t>2</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lang="en-US" sz="2000"/>
                        <a:t>Pranav</a:t>
                      </a:r>
                      <a:endParaRPr lang="en-US"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a:t>20</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a:t>1</a:t>
                      </a:r>
                      <a:endParaRPr sz="2000"/>
                    </a:p>
                  </a:txBody>
                  <a:tcPr marL="0" marR="0" marT="0" marB="0" anchor="ctr" anchorCtr="0">
                    <a:lnL>
                      <a:noFill/>
                    </a:lnL>
                    <a:lnR>
                      <a:noFill/>
                    </a:lnR>
                    <a:lnT>
                      <a:noFill/>
                    </a:lnT>
                    <a:lnB>
                      <a:noFill/>
                    </a:lnB>
                    <a:solidFill>
                      <a:schemeClr val="accent1">
                        <a:lumMod val="40000"/>
                        <a:lumOff val="60000"/>
                      </a:schemeClr>
                    </a:solidFill>
                  </a:tcPr>
                </a:tc>
              </a:tr>
              <a:tr h="361315">
                <a:tc>
                  <a:txBody>
                    <a:bodyPr/>
                    <a:p>
                      <a:pPr algn="ctr"/>
                      <a:r>
                        <a:rPr sz="2000"/>
                        <a:t>3</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lang="en-US" sz="2000"/>
                        <a:t>Rushi</a:t>
                      </a:r>
                      <a:endParaRPr lang="en-US"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a:t>NULL</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a:t>1</a:t>
                      </a:r>
                      <a:endParaRPr sz="2000"/>
                    </a:p>
                  </a:txBody>
                  <a:tcPr marL="0" marR="0" marT="0" marB="0" anchor="ctr" anchorCtr="0">
                    <a:lnL>
                      <a:noFill/>
                    </a:lnL>
                    <a:lnR>
                      <a:noFill/>
                    </a:lnR>
                    <a:lnT>
                      <a:noFill/>
                    </a:lnT>
                    <a:lnB>
                      <a:noFill/>
                    </a:lnB>
                    <a:solidFill>
                      <a:schemeClr val="accent1">
                        <a:lumMod val="40000"/>
                        <a:lumOff val="60000"/>
                      </a:schemeClr>
                    </a:solidFill>
                  </a:tcPr>
                </a:tc>
              </a:tr>
              <a:tr h="361315">
                <a:tc>
                  <a:txBody>
                    <a:bodyPr/>
                    <a:p>
                      <a:pPr algn="ctr"/>
                      <a:r>
                        <a:rPr sz="2000"/>
                        <a:t>4</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lang="en-US" sz="2000"/>
                        <a:t>Priyanka</a:t>
                      </a:r>
                      <a:endParaRPr lang="en-US"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a:t>30</a:t>
                      </a:r>
                      <a:endParaRPr sz="2000"/>
                    </a:p>
                  </a:txBody>
                  <a:tcPr marL="0" marR="0" marT="0" marB="0" anchor="ctr" anchorCtr="0">
                    <a:lnL>
                      <a:noFill/>
                    </a:lnL>
                    <a:lnR>
                      <a:noFill/>
                    </a:lnR>
                    <a:lnT>
                      <a:noFill/>
                    </a:lnT>
                    <a:lnB>
                      <a:noFill/>
                    </a:lnB>
                    <a:solidFill>
                      <a:schemeClr val="accent1">
                        <a:lumMod val="40000"/>
                        <a:lumOff val="60000"/>
                      </a:schemeClr>
                    </a:solidFill>
                  </a:tcPr>
                </a:tc>
                <a:tc>
                  <a:txBody>
                    <a:bodyPr/>
                    <a:p>
                      <a:pPr algn="ctr"/>
                      <a:r>
                        <a:rPr sz="2000"/>
                        <a:t>2</a:t>
                      </a:r>
                      <a:endParaRPr sz="2000"/>
                    </a:p>
                  </a:txBody>
                  <a:tcPr marL="0" marR="0" marT="0" marB="0" anchor="ctr" anchorCtr="0">
                    <a:lnL>
                      <a:noFill/>
                    </a:lnL>
                    <a:lnR>
                      <a:noFill/>
                    </a:lnR>
                    <a:lnT>
                      <a:noFill/>
                    </a:lnT>
                    <a:lnB>
                      <a:noFill/>
                    </a:lnB>
                    <a:solidFill>
                      <a:schemeClr val="accent1">
                        <a:lumMod val="40000"/>
                        <a:lumOff val="60000"/>
                      </a:schemeClr>
                    </a:solidFill>
                  </a:tcPr>
                </a:tc>
              </a:tr>
            </a:tbl>
          </a:graphicData>
        </a:graphic>
      </p:graphicFrame>
      <p:sp>
        <p:nvSpPr>
          <p:cNvPr id="5" name="Text Box 4"/>
          <p:cNvSpPr txBox="1"/>
          <p:nvPr/>
        </p:nvSpPr>
        <p:spPr>
          <a:xfrm>
            <a:off x="6462395" y="3981450"/>
            <a:ext cx="5547360" cy="2683510"/>
          </a:xfrm>
          <a:prstGeom prst="rect">
            <a:avLst/>
          </a:prstGeom>
          <a:ln>
            <a:solidFill>
              <a:schemeClr val="accent1"/>
            </a:solidFill>
          </a:ln>
        </p:spPr>
        <p:txBody>
          <a:bodyPr>
            <a:noAutofit/>
          </a:bodyPr>
          <a:p>
            <a:pPr>
              <a:spcAft>
                <a:spcPct val="60000"/>
              </a:spcAft>
            </a:pPr>
            <a:r>
              <a:rPr sz="2400" b="1"/>
              <a:t> Why use aliases (AS) in a self join?</a:t>
            </a:r>
            <a:endParaRPr sz="2400" b="1"/>
          </a:p>
          <a:p>
            <a:r>
              <a:rPr sz="2000"/>
              <a:t>Because you're joining a table to itself, and SQL needs a way to distinguish between the two instances of the same table.</a:t>
            </a:r>
            <a:endParaRPr sz="20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83540"/>
          </a:xfrm>
        </p:spPr>
        <p:txBody>
          <a:bodyPr>
            <a:noAutofit/>
          </a:bodyPr>
          <a:p>
            <a:pPr algn="ctr"/>
            <a:r>
              <a:rPr lang="en-US" altLang="en-US" sz="2400" b="1">
                <a:solidFill>
                  <a:srgbClr val="FF0000"/>
                </a:solidFill>
                <a:sym typeface="+mn-ea"/>
              </a:rPr>
              <a:t> What Is a Subquery?</a:t>
            </a:r>
            <a:endParaRPr lang="en-US" altLang="en-US" sz="2400" b="1">
              <a:solidFill>
                <a:srgbClr val="FF0000"/>
              </a:solidFill>
              <a:sym typeface="+mn-ea"/>
            </a:endParaRPr>
          </a:p>
        </p:txBody>
      </p:sp>
      <p:sp>
        <p:nvSpPr>
          <p:cNvPr id="3" name="Content Placeholder 2"/>
          <p:cNvSpPr>
            <a:spLocks noGrp="1"/>
          </p:cNvSpPr>
          <p:nvPr>
            <p:ph idx="1"/>
          </p:nvPr>
        </p:nvSpPr>
        <p:spPr>
          <a:xfrm>
            <a:off x="134620" y="575310"/>
            <a:ext cx="11678285" cy="6172200"/>
          </a:xfrm>
        </p:spPr>
        <p:txBody>
          <a:bodyPr>
            <a:normAutofit/>
          </a:bodyPr>
          <a:p>
            <a:pPr marL="0" indent="0">
              <a:buNone/>
            </a:pPr>
            <a:r>
              <a:rPr lang="en-US" altLang="en-US" sz="1800"/>
              <a:t>SQL subqueries (also called inner queries or nested queries) are queries inside another query. They're a powerful feature for writing more advanced, dynamic SQL.</a:t>
            </a:r>
            <a:endParaRPr lang="en-US" altLang="en-US" sz="1800"/>
          </a:p>
          <a:p>
            <a:pPr marL="0" indent="0">
              <a:buNone/>
            </a:pPr>
            <a:r>
              <a:rPr lang="en-US" altLang="en-US" sz="1800"/>
              <a:t>A subquery is a query nested inside:</a:t>
            </a:r>
            <a:endParaRPr lang="en-US" altLang="en-US" sz="1800"/>
          </a:p>
          <a:p>
            <a:pPr marL="0" indent="0">
              <a:buNone/>
            </a:pPr>
            <a:r>
              <a:rPr lang="en-US" altLang="en-US" sz="1800"/>
              <a:t>a SELECT</a:t>
            </a:r>
            <a:endParaRPr lang="en-US" altLang="en-US" sz="1800"/>
          </a:p>
          <a:p>
            <a:pPr marL="0" indent="0">
              <a:buNone/>
            </a:pPr>
            <a:r>
              <a:rPr lang="en-US" altLang="en-US" sz="1800"/>
              <a:t>FROM</a:t>
            </a:r>
            <a:endParaRPr lang="en-US" altLang="en-US" sz="1800"/>
          </a:p>
          <a:p>
            <a:pPr marL="0" indent="0">
              <a:buNone/>
            </a:pPr>
            <a:r>
              <a:rPr lang="en-US" altLang="en-US" sz="1800"/>
              <a:t>or WHERE clause of another query SELECT name</a:t>
            </a:r>
            <a:endParaRPr lang="en-US" altLang="en-US" sz="1800"/>
          </a:p>
          <a:p>
            <a:pPr marL="0" indent="0">
              <a:buNone/>
            </a:pPr>
            <a:r>
              <a:rPr lang="en-US" altLang="en-US" sz="1800"/>
              <a:t>FROM employees</a:t>
            </a:r>
            <a:endParaRPr lang="en-US" altLang="en-US" sz="1800"/>
          </a:p>
          <a:p>
            <a:pPr marL="0" indent="0">
              <a:buNone/>
            </a:pPr>
            <a:r>
              <a:rPr lang="en-US" altLang="en-US" sz="1800">
                <a:sym typeface="+mn-ea"/>
              </a:rPr>
              <a:t>The main query is called the outer query.</a:t>
            </a:r>
            <a:endParaRPr lang="en-US" altLang="en-US" sz="1800"/>
          </a:p>
          <a:p>
            <a:pPr marL="0" indent="0">
              <a:buNone/>
            </a:pPr>
            <a:endParaRPr lang="en-US" altLang="en-US" sz="1800"/>
          </a:p>
          <a:p>
            <a:pPr marL="0" indent="0">
              <a:buNone/>
            </a:pPr>
            <a:r>
              <a:rPr lang="en-US" altLang="en-US" sz="1800">
                <a:sym typeface="+mn-ea"/>
              </a:rPr>
              <a:t>SELECT column1</a:t>
            </a:r>
            <a:endParaRPr lang="en-US" altLang="en-US" sz="1800"/>
          </a:p>
          <a:p>
            <a:pPr marL="0" indent="0">
              <a:buNone/>
            </a:pPr>
            <a:r>
              <a:rPr lang="en-US" altLang="en-US" sz="1800">
                <a:sym typeface="+mn-ea"/>
              </a:rPr>
              <a:t>FROM table1</a:t>
            </a:r>
            <a:endParaRPr lang="en-US" altLang="en-US" sz="1800"/>
          </a:p>
          <a:p>
            <a:pPr marL="0" indent="0">
              <a:buNone/>
            </a:pPr>
            <a:r>
              <a:rPr lang="en-US" altLang="en-US" sz="1800">
                <a:sym typeface="+mn-ea"/>
              </a:rPr>
              <a:t>WHERE column2 = (SELECT column3 FROM table2 WHERE condition);</a:t>
            </a:r>
            <a:endParaRPr lang="en-US" altLang="en-US" sz="1800"/>
          </a:p>
          <a:p>
            <a:pPr marL="0" indent="0">
              <a:buNone/>
            </a:pPr>
            <a:r>
              <a:rPr lang="en-US" altLang="en-US" sz="1800">
                <a:sym typeface="+mn-ea"/>
              </a:rPr>
              <a:t>-------------------------------</a:t>
            </a:r>
            <a:endParaRPr lang="en-US" altLang="en-US" sz="1800"/>
          </a:p>
          <a:p>
            <a:pPr marL="0" indent="0">
              <a:buNone/>
            </a:pPr>
            <a:r>
              <a:rPr lang="en-US" altLang="en-US" sz="1800"/>
              <a:t>WHERE department_id = (</a:t>
            </a:r>
            <a:endParaRPr lang="en-US" altLang="en-US" sz="1800"/>
          </a:p>
          <a:p>
            <a:pPr marL="0" indent="0">
              <a:buNone/>
            </a:pPr>
            <a:r>
              <a:rPr lang="en-US" altLang="en-US" sz="1800"/>
              <a:t>    SELECT id FROM departments WHERE name = 'Sales'</a:t>
            </a:r>
            <a:endParaRPr lang="en-US" altLang="en-US" sz="1800"/>
          </a:p>
          <a:p>
            <a:pPr marL="0" indent="0">
              <a:buNone/>
            </a:pPr>
            <a:r>
              <a:rPr lang="en-US" altLang="en-US" sz="1800"/>
              <a:t>);</a:t>
            </a:r>
            <a:endParaRPr lang="en-US" altLang="en-US" sz="1800"/>
          </a:p>
          <a:p>
            <a:pPr marL="0" indent="0">
              <a:buNone/>
            </a:pPr>
            <a:endParaRPr lang="en-US" altLang="en-US" sz="1800"/>
          </a:p>
        </p:txBody>
      </p:sp>
      <p:sp>
        <p:nvSpPr>
          <p:cNvPr id="4" name="Text Box 3"/>
          <p:cNvSpPr txBox="1"/>
          <p:nvPr/>
        </p:nvSpPr>
        <p:spPr>
          <a:xfrm>
            <a:off x="5716905" y="2512695"/>
            <a:ext cx="6096000" cy="1189355"/>
          </a:xfrm>
          <a:prstGeom prst="rect">
            <a:avLst/>
          </a:prstGeom>
          <a:noFill/>
        </p:spPr>
        <p:txBody>
          <a:bodyPr wrap="square" rtlCol="0" anchor="t">
            <a:noAutofit/>
          </a:bodyPr>
          <a:p>
            <a:r>
              <a:rPr lang="en-US" altLang="en-US"/>
              <a:t>SELECT </a:t>
            </a:r>
            <a:endParaRPr lang="en-US" altLang="en-US"/>
          </a:p>
          <a:p>
            <a:r>
              <a:rPr lang="en-US" altLang="en-US"/>
              <a:t>    name,</a:t>
            </a:r>
            <a:endParaRPr lang="en-US" altLang="en-US"/>
          </a:p>
          <a:p>
            <a:r>
              <a:rPr lang="en-US" altLang="en-US"/>
              <a:t>    (SELECT AVG(salary) FROM employees) AS avg_salary</a:t>
            </a:r>
            <a:endParaRPr lang="en-US" altLang="en-US"/>
          </a:p>
          <a:p>
            <a:r>
              <a:rPr lang="en-US" altLang="en-US"/>
              <a:t>FROM employees;</a:t>
            </a:r>
            <a:endParaRPr lang="en-US" altLang="en-US"/>
          </a:p>
          <a:p>
            <a:endParaRPr lang="en-US"/>
          </a:p>
        </p:txBody>
      </p:sp>
      <p:sp>
        <p:nvSpPr>
          <p:cNvPr id="5" name="Text Box 4"/>
          <p:cNvSpPr txBox="1"/>
          <p:nvPr/>
        </p:nvSpPr>
        <p:spPr>
          <a:xfrm>
            <a:off x="7260590" y="4015740"/>
            <a:ext cx="4931410" cy="2030095"/>
          </a:xfrm>
          <a:prstGeom prst="rect">
            <a:avLst/>
          </a:prstGeom>
          <a:noFill/>
        </p:spPr>
        <p:txBody>
          <a:bodyPr wrap="square" rtlCol="0" anchor="t">
            <a:spAutoFit/>
          </a:bodyPr>
          <a:p>
            <a:r>
              <a:rPr lang="en-US" altLang="en-US"/>
              <a:t>SELECT department, total</a:t>
            </a:r>
            <a:endParaRPr lang="en-US" altLang="en-US"/>
          </a:p>
          <a:p>
            <a:r>
              <a:rPr lang="en-US" altLang="en-US"/>
              <a:t>FROM (</a:t>
            </a:r>
            <a:endParaRPr lang="en-US" altLang="en-US"/>
          </a:p>
          <a:p>
            <a:r>
              <a:rPr lang="en-US" altLang="en-US"/>
              <a:t>    SELECT department, SUM(salary) AS total</a:t>
            </a:r>
            <a:endParaRPr lang="en-US" altLang="en-US"/>
          </a:p>
          <a:p>
            <a:r>
              <a:rPr lang="en-US" altLang="en-US"/>
              <a:t>    FROM employees</a:t>
            </a:r>
            <a:endParaRPr lang="en-US" altLang="en-US"/>
          </a:p>
          <a:p>
            <a:r>
              <a:rPr lang="en-US" altLang="en-US"/>
              <a:t>    GROUP BY department</a:t>
            </a:r>
            <a:endParaRPr lang="en-US" altLang="en-US"/>
          </a:p>
          <a:p>
            <a:r>
              <a:rPr lang="en-US" altLang="en-US"/>
              <a:t>) AS dept_salary;</a:t>
            </a:r>
            <a:endParaRPr lang="en-US" altLang="en-US"/>
          </a:p>
          <a:p>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90830" y="401955"/>
            <a:ext cx="10515600" cy="4351338"/>
          </a:xfrm>
        </p:spPr>
        <p:txBody>
          <a:bodyPr>
            <a:normAutofit/>
          </a:bodyPr>
          <a:p>
            <a:pPr marL="0" indent="0">
              <a:buNone/>
            </a:pPr>
            <a:r>
              <a:rPr lang="en-US" altLang="en-US" sz="1800"/>
              <a:t>SELECT name</a:t>
            </a:r>
            <a:endParaRPr lang="en-US" altLang="en-US" sz="1800"/>
          </a:p>
          <a:p>
            <a:pPr marL="0" indent="0">
              <a:buNone/>
            </a:pPr>
            <a:r>
              <a:rPr lang="en-US" altLang="en-US" sz="1800"/>
              <a:t>FROM employees</a:t>
            </a:r>
            <a:endParaRPr lang="en-US" altLang="en-US" sz="1800"/>
          </a:p>
          <a:p>
            <a:pPr marL="0" indent="0">
              <a:buNone/>
            </a:pPr>
            <a:r>
              <a:rPr lang="en-US" altLang="en-US" sz="1800"/>
              <a:t>WHERE department_id IN (</a:t>
            </a:r>
            <a:endParaRPr lang="en-US" altLang="en-US" sz="1800"/>
          </a:p>
          <a:p>
            <a:pPr marL="0" indent="0">
              <a:buNone/>
            </a:pPr>
            <a:r>
              <a:rPr lang="en-US" altLang="en-US" sz="1800"/>
              <a:t>    SELECT id FROM departments WHERE location = 'New York'</a:t>
            </a:r>
            <a:endParaRPr lang="en-US" altLang="en-US" sz="1800"/>
          </a:p>
          <a:p>
            <a:pPr marL="0" indent="0">
              <a:buNone/>
            </a:pPr>
            <a:r>
              <a:rPr lang="en-US" altLang="en-US" sz="1800"/>
              <a:t>);</a:t>
            </a:r>
            <a:endParaRPr lang="en-US" altLang="en-US" sz="1800"/>
          </a:p>
          <a:p>
            <a:pPr marL="0" indent="0">
              <a:buNone/>
            </a:pPr>
            <a:r>
              <a:rPr lang="en-US" altLang="en-US" sz="1800"/>
              <a:t>--------------------------------------</a:t>
            </a:r>
            <a:endParaRPr lang="en-US" altLang="en-US" sz="1800"/>
          </a:p>
          <a:p>
            <a:pPr marL="0" indent="0">
              <a:buNone/>
            </a:pPr>
            <a:r>
              <a:rPr lang="en-US" altLang="en-US" sz="1800"/>
              <a:t>SELECT name</a:t>
            </a:r>
            <a:endParaRPr lang="en-US" altLang="en-US" sz="1800"/>
          </a:p>
          <a:p>
            <a:pPr marL="0" indent="0">
              <a:buNone/>
            </a:pPr>
            <a:r>
              <a:rPr lang="en-US" altLang="en-US" sz="1800"/>
              <a:t>FROM customers c</a:t>
            </a:r>
            <a:endParaRPr lang="en-US" altLang="en-US" sz="1800"/>
          </a:p>
          <a:p>
            <a:pPr marL="0" indent="0">
              <a:buNone/>
            </a:pPr>
            <a:r>
              <a:rPr lang="en-US" altLang="en-US" sz="1800"/>
              <a:t>WHERE EXISTS (</a:t>
            </a:r>
            <a:endParaRPr lang="en-US" altLang="en-US" sz="1800"/>
          </a:p>
          <a:p>
            <a:pPr marL="0" indent="0">
              <a:buNone/>
            </a:pPr>
            <a:r>
              <a:rPr lang="en-US" altLang="en-US" sz="1800"/>
              <a:t>    SELECT 1 FROM orders o WHERE o.customer_id = c.id</a:t>
            </a:r>
            <a:endParaRPr lang="en-US" altLang="en-US" sz="1800"/>
          </a:p>
          <a:p>
            <a:pPr marL="0" indent="0">
              <a:buNone/>
            </a:pPr>
            <a:r>
              <a:rPr lang="en-US" altLang="en-US" sz="1800"/>
              <a:t>);</a:t>
            </a:r>
            <a:endParaRPr lang="en-US" altLang="en-US" sz="1800"/>
          </a:p>
          <a:p>
            <a:pPr marL="0" indent="0">
              <a:buNone/>
            </a:pPr>
            <a:endParaRPr lang="en-US" altLang="en-US" sz="1800"/>
          </a:p>
        </p:txBody>
      </p:sp>
      <p:sp>
        <p:nvSpPr>
          <p:cNvPr id="4" name="Text Box 3"/>
          <p:cNvSpPr txBox="1"/>
          <p:nvPr/>
        </p:nvSpPr>
        <p:spPr>
          <a:xfrm>
            <a:off x="8496300" y="182880"/>
            <a:ext cx="3427095" cy="2030095"/>
          </a:xfrm>
          <a:prstGeom prst="rect">
            <a:avLst/>
          </a:prstGeom>
          <a:noFill/>
        </p:spPr>
        <p:txBody>
          <a:bodyPr wrap="square" rtlCol="0" anchor="t">
            <a:spAutoFit/>
          </a:bodyPr>
          <a:p>
            <a:r>
              <a:rPr lang="en-US" altLang="en-US"/>
              <a:t>SELECT Name, Salary</a:t>
            </a:r>
            <a:endParaRPr lang="en-US" altLang="en-US"/>
          </a:p>
          <a:p>
            <a:r>
              <a:rPr lang="en-US" altLang="en-US"/>
              <a:t>FROM Employees</a:t>
            </a:r>
            <a:endParaRPr lang="en-US" altLang="en-US"/>
          </a:p>
          <a:p>
            <a:r>
              <a:rPr lang="en-US" altLang="en-US"/>
              <a:t>WHERE Salary &gt; (</a:t>
            </a:r>
            <a:endParaRPr lang="en-US" altLang="en-US"/>
          </a:p>
          <a:p>
            <a:r>
              <a:rPr lang="en-US" altLang="en-US"/>
              <a:t>    SELECT AVG(Salary)</a:t>
            </a:r>
            <a:endParaRPr lang="en-US" altLang="en-US"/>
          </a:p>
          <a:p>
            <a:r>
              <a:rPr lang="en-US" altLang="en-US"/>
              <a:t>    FROM Employees</a:t>
            </a:r>
            <a:endParaRPr lang="en-US" altLang="en-US"/>
          </a:p>
          <a:p>
            <a:r>
              <a:rPr lang="en-US" altLang="en-US"/>
              <a:t>);</a:t>
            </a:r>
            <a:endParaRPr lang="en-US" altLang="en-US"/>
          </a:p>
          <a:p>
            <a:endParaRPr lang="en-US"/>
          </a:p>
        </p:txBody>
      </p:sp>
      <p:sp>
        <p:nvSpPr>
          <p:cNvPr id="5" name="Text Box 4"/>
          <p:cNvSpPr txBox="1"/>
          <p:nvPr/>
        </p:nvSpPr>
        <p:spPr>
          <a:xfrm>
            <a:off x="6812280" y="2446655"/>
            <a:ext cx="5111115" cy="2306955"/>
          </a:xfrm>
          <a:prstGeom prst="rect">
            <a:avLst/>
          </a:prstGeom>
          <a:noFill/>
        </p:spPr>
        <p:txBody>
          <a:bodyPr wrap="square" rtlCol="0" anchor="t">
            <a:spAutoFit/>
          </a:bodyPr>
          <a:p>
            <a:r>
              <a:rPr lang="en-US" altLang="en-US"/>
              <a:t>SELECT Department, AvgSalary</a:t>
            </a:r>
            <a:endParaRPr lang="en-US" altLang="en-US"/>
          </a:p>
          <a:p>
            <a:r>
              <a:rPr lang="en-US" altLang="en-US"/>
              <a:t>FROM (</a:t>
            </a:r>
            <a:endParaRPr lang="en-US" altLang="en-US"/>
          </a:p>
          <a:p>
            <a:r>
              <a:rPr lang="en-US" altLang="en-US"/>
              <a:t>    SELECT Department, AVG(Salary) AS AvgSalary</a:t>
            </a:r>
            <a:endParaRPr lang="en-US" altLang="en-US"/>
          </a:p>
          <a:p>
            <a:r>
              <a:rPr lang="en-US" altLang="en-US"/>
              <a:t>    FROM Employees</a:t>
            </a:r>
            <a:endParaRPr lang="en-US" altLang="en-US"/>
          </a:p>
          <a:p>
            <a:r>
              <a:rPr lang="en-US" altLang="en-US"/>
              <a:t>    GROUP BY Department</a:t>
            </a:r>
            <a:endParaRPr lang="en-US" altLang="en-US"/>
          </a:p>
          <a:p>
            <a:r>
              <a:rPr lang="en-US" altLang="en-US"/>
              <a:t>) AS DeptAvg</a:t>
            </a:r>
            <a:endParaRPr lang="en-US" altLang="en-US"/>
          </a:p>
          <a:p>
            <a:r>
              <a:rPr lang="en-US" altLang="en-US"/>
              <a:t>WHERE AvgSalary &gt; 6000;</a:t>
            </a:r>
            <a:endParaRPr lang="en-US" altLang="en-US"/>
          </a:p>
          <a:p>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81305" y="0"/>
            <a:ext cx="10515600" cy="319405"/>
          </a:xfrm>
        </p:spPr>
        <p:txBody>
          <a:bodyPr>
            <a:normAutofit fontScale="90000"/>
          </a:bodyPr>
          <a:p>
            <a:pPr algn="ctr"/>
            <a:r>
              <a:rPr lang="en-US" altLang="en-US" sz="2800" b="1">
                <a:solidFill>
                  <a:srgbClr val="FF0000"/>
                </a:solidFill>
                <a:sym typeface="+mn-ea"/>
              </a:rPr>
              <a:t>  What is a Stored Procedure</a:t>
            </a:r>
            <a:endParaRPr lang="en-US" altLang="en-US" sz="2800" b="1">
              <a:solidFill>
                <a:srgbClr val="FF0000"/>
              </a:solidFill>
              <a:sym typeface="+mn-ea"/>
            </a:endParaRPr>
          </a:p>
        </p:txBody>
      </p:sp>
      <p:sp>
        <p:nvSpPr>
          <p:cNvPr id="3" name="Content Placeholder 2"/>
          <p:cNvSpPr>
            <a:spLocks noGrp="1"/>
          </p:cNvSpPr>
          <p:nvPr>
            <p:ph idx="1"/>
          </p:nvPr>
        </p:nvSpPr>
        <p:spPr>
          <a:xfrm>
            <a:off x="-635" y="320040"/>
            <a:ext cx="12193270" cy="6411595"/>
          </a:xfrm>
        </p:spPr>
        <p:txBody>
          <a:bodyPr>
            <a:noAutofit/>
          </a:bodyPr>
          <a:p>
            <a:pPr marL="0" indent="0">
              <a:buNone/>
            </a:pPr>
            <a:r>
              <a:rPr lang="en-US" altLang="en-US" sz="1800"/>
              <a:t>A stored procedure is a precompiled SQL code block stored in the database. It can be executed (called) with or without parameters to perform operations like SELECT, INSERT, UPDATE, and DELETE.</a:t>
            </a:r>
            <a:endParaRPr lang="en-US" altLang="en-US" sz="1800"/>
          </a:p>
          <a:p>
            <a:pPr marL="0" indent="0">
              <a:buNone/>
            </a:pPr>
            <a:r>
              <a:rPr lang="en-US" altLang="en-US" sz="1800"/>
              <a:t>A stored procedure is a predefined set of SQL statements that are stored in the database and can be executed (called) repeatedly.</a:t>
            </a:r>
            <a:endParaRPr lang="en-US" altLang="en-US" sz="1800"/>
          </a:p>
          <a:p>
            <a:pPr marL="0" indent="0">
              <a:buNone/>
            </a:pPr>
            <a:r>
              <a:rPr lang="en-US" altLang="en-US" sz="1800"/>
              <a:t>in procedure creation you can take you table column name and procedure paramter of differnt name</a:t>
            </a:r>
            <a:endParaRPr lang="en-US" altLang="en-US" sz="1800"/>
          </a:p>
          <a:p>
            <a:pPr marL="0" indent="0">
              <a:buNone/>
            </a:pPr>
            <a:r>
              <a:rPr lang="en-US" altLang="en-US" sz="1800"/>
              <a:t>but same data datatypes.</a:t>
            </a:r>
            <a:endParaRPr lang="en-US" altLang="en-US" sz="1800"/>
          </a:p>
          <a:p>
            <a:pPr marL="0" indent="0">
              <a:buNone/>
            </a:pPr>
            <a:r>
              <a:rPr lang="en-US" altLang="en-US" sz="1800"/>
              <a:t>A stored procedure is like a small program saved in your database. You create it once, and then you can run it anytime to perform tasks like:</a:t>
            </a:r>
            <a:endParaRPr lang="en-US" altLang="en-US" sz="1800"/>
          </a:p>
          <a:p>
            <a:pPr marL="0" indent="0">
              <a:buNone/>
            </a:pPr>
            <a:r>
              <a:rPr lang="en-US" altLang="en-US" sz="1800"/>
              <a:t>Inserting data</a:t>
            </a:r>
            <a:endParaRPr lang="en-US" altLang="en-US" sz="1800"/>
          </a:p>
          <a:p>
            <a:pPr marL="0" indent="0">
              <a:buNone/>
            </a:pPr>
            <a:r>
              <a:rPr lang="en-US" altLang="en-US" sz="1800"/>
              <a:t>Updating records</a:t>
            </a:r>
            <a:endParaRPr lang="en-US" altLang="en-US" sz="1800"/>
          </a:p>
          <a:p>
            <a:pPr marL="0" indent="0">
              <a:buNone/>
            </a:pPr>
            <a:r>
              <a:rPr lang="en-US" altLang="en-US" sz="1800"/>
              <a:t>Running complex queries</a:t>
            </a:r>
            <a:endParaRPr lang="en-US" altLang="en-US" sz="1800"/>
          </a:p>
          <a:p>
            <a:pPr marL="0" indent="0">
              <a:buNone/>
            </a:pPr>
            <a:r>
              <a:rPr lang="en-US" altLang="en-US" sz="1800"/>
              <a:t>Performing calculations</a:t>
            </a:r>
            <a:endParaRPr lang="en-US" altLang="en-US" sz="1800"/>
          </a:p>
          <a:p>
            <a:pPr marL="0" indent="0">
              <a:buNone/>
            </a:pPr>
            <a:r>
              <a:rPr lang="en-US" altLang="en-US" sz="1800"/>
              <a:t> Key Benefits / Uses:</a:t>
            </a:r>
            <a:endParaRPr lang="en-US" altLang="en-US" sz="1800"/>
          </a:p>
          <a:p>
            <a:pPr marL="457200" indent="-457200">
              <a:buAutoNum type="arabicPeriod"/>
            </a:pPr>
            <a:r>
              <a:rPr lang="en-US" altLang="en-US" sz="1800"/>
              <a:t> Improves performance (compiled once, reused many times)</a:t>
            </a:r>
            <a:endParaRPr lang="en-US" altLang="en-US" sz="1800"/>
          </a:p>
          <a:p>
            <a:pPr marL="457200" indent="-457200">
              <a:buAutoNum type="arabicPeriod"/>
            </a:pPr>
            <a:r>
              <a:rPr lang="en-US" altLang="en-US" sz="1800"/>
              <a:t> Encapsulates logic (DRY: don't repeat yourself)</a:t>
            </a:r>
            <a:endParaRPr lang="en-US" altLang="en-US" sz="1800"/>
          </a:p>
          <a:p>
            <a:pPr marL="457200" indent="-457200">
              <a:buAutoNum type="arabicPeriod"/>
            </a:pPr>
            <a:r>
              <a:rPr lang="en-US" altLang="en-US" sz="1800"/>
              <a:t> Enhances security (limit user permissions to only executing procedures)</a:t>
            </a:r>
            <a:endParaRPr lang="en-US" altLang="en-US" sz="1800"/>
          </a:p>
          <a:p>
            <a:pPr marL="457200" indent="-457200">
              <a:buAutoNum type="arabicPeriod"/>
            </a:pPr>
            <a:r>
              <a:rPr lang="en-US" altLang="en-US" sz="1800"/>
              <a:t> Easier maintenance (logic centralized in one place)</a:t>
            </a:r>
            <a:endParaRPr lang="en-US" altLang="en-US" sz="1800"/>
          </a:p>
          <a:p>
            <a:pPr marL="457200" indent="-457200">
              <a:buAutoNum type="arabicPeriod"/>
            </a:pPr>
            <a:r>
              <a:rPr lang="en-US" altLang="en-US" sz="1800"/>
              <a:t> Transaction support (execute multiple steps atomically)</a:t>
            </a:r>
            <a:endParaRPr lang="en-US" altLang="en-US" sz="1800"/>
          </a:p>
          <a:p>
            <a:pPr marL="0" indent="0">
              <a:buNone/>
            </a:pPr>
            <a:endParaRPr lang="en-US" altLang="en-US" sz="1800"/>
          </a:p>
          <a:p>
            <a:pPr marL="0" indent="0">
              <a:buNone/>
            </a:pPr>
            <a:endParaRPr lang="en-US" altLang="en-US" sz="1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222885" y="140335"/>
            <a:ext cx="11848465" cy="6417310"/>
          </a:xfrm>
        </p:spPr>
        <p:txBody>
          <a:bodyPr/>
          <a:p>
            <a:pPr marL="0" indent="0">
              <a:buNone/>
            </a:pPr>
            <a:endParaRPr lang="en-US" altLang="en-US" sz="1800"/>
          </a:p>
          <a:p>
            <a:pPr marL="0" indent="0">
              <a:buNone/>
            </a:pPr>
            <a:r>
              <a:rPr lang="en-US" altLang="en-US" sz="1800">
                <a:sym typeface="+mn-ea"/>
              </a:rPr>
              <a:t> Table: employees</a:t>
            </a:r>
            <a:endParaRPr lang="en-US" altLang="en-US" sz="1800"/>
          </a:p>
          <a:p>
            <a:pPr marL="0" indent="0">
              <a:buNone/>
            </a:pPr>
            <a:r>
              <a:rPr lang="en-US" altLang="en-US" sz="1800">
                <a:sym typeface="+mn-ea"/>
              </a:rPr>
              <a:t>CREATE TABLE employees (</a:t>
            </a:r>
            <a:endParaRPr lang="en-US" altLang="en-US" sz="1800"/>
          </a:p>
          <a:p>
            <a:pPr marL="0" indent="0">
              <a:buNone/>
            </a:pPr>
            <a:r>
              <a:rPr lang="en-US" altLang="en-US" sz="1800">
                <a:sym typeface="+mn-ea"/>
              </a:rPr>
              <a:t>    id INT AUTO_INCREMENT PRIMARY KEY,</a:t>
            </a:r>
            <a:endParaRPr lang="en-US" altLang="en-US" sz="1800"/>
          </a:p>
          <a:p>
            <a:pPr marL="0" indent="0">
              <a:buNone/>
            </a:pPr>
            <a:r>
              <a:rPr lang="en-US" altLang="en-US" sz="1800">
                <a:sym typeface="+mn-ea"/>
              </a:rPr>
              <a:t>    name VARCHAR(100),</a:t>
            </a:r>
            <a:endParaRPr lang="en-US" altLang="en-US" sz="1800"/>
          </a:p>
          <a:p>
            <a:pPr marL="0" indent="0">
              <a:buNone/>
            </a:pPr>
            <a:r>
              <a:rPr lang="en-US" altLang="en-US" sz="1800">
                <a:sym typeface="+mn-ea"/>
              </a:rPr>
              <a:t>    email VARCHAR(100),</a:t>
            </a:r>
            <a:endParaRPr lang="en-US" altLang="en-US" sz="1800"/>
          </a:p>
          <a:p>
            <a:pPr marL="0" indent="0">
              <a:buNone/>
            </a:pPr>
            <a:r>
              <a:rPr lang="en-US" altLang="en-US" sz="1800">
                <a:sym typeface="+mn-ea"/>
              </a:rPr>
              <a:t>    salary DECIMAL(10,2)</a:t>
            </a:r>
            <a:endParaRPr lang="en-US" altLang="en-US" sz="1800"/>
          </a:p>
          <a:p>
            <a:pPr marL="0" indent="0">
              <a:buNone/>
            </a:pPr>
            <a:r>
              <a:rPr lang="en-US" altLang="en-US" sz="1800">
                <a:sym typeface="+mn-ea"/>
              </a:rPr>
              <a:t>);</a:t>
            </a:r>
            <a:endParaRPr lang="en-US" altLang="en-US" sz="1800"/>
          </a:p>
          <a:p>
            <a:pPr marL="0" indent="0">
              <a:buNone/>
            </a:pPr>
            <a:endParaRPr lang="en-US" altLang="en-US" sz="1800"/>
          </a:p>
          <a:p>
            <a:pPr marL="0" indent="0">
              <a:buNone/>
            </a:pPr>
            <a:endParaRPr lang="en-US" altLang="en-US" sz="1800"/>
          </a:p>
        </p:txBody>
      </p:sp>
      <p:sp>
        <p:nvSpPr>
          <p:cNvPr id="2" name="Text Box 1"/>
          <p:cNvSpPr txBox="1"/>
          <p:nvPr/>
        </p:nvSpPr>
        <p:spPr>
          <a:xfrm>
            <a:off x="4389120" y="140335"/>
            <a:ext cx="7191375" cy="5675630"/>
          </a:xfrm>
          <a:prstGeom prst="rect">
            <a:avLst/>
          </a:prstGeom>
          <a:noFill/>
        </p:spPr>
        <p:txBody>
          <a:bodyPr wrap="square" rtlCol="0" anchor="t">
            <a:noAutofit/>
          </a:bodyPr>
          <a:p>
            <a:pPr marL="0" indent="0">
              <a:buNone/>
            </a:pPr>
            <a:r>
              <a:rPr lang="en-US" altLang="en-US">
                <a:sym typeface="+mn-ea"/>
              </a:rPr>
              <a:t> Stored Procedures for Full CRUD</a:t>
            </a:r>
            <a:endParaRPr lang="en-US" altLang="en-US" sz="1800"/>
          </a:p>
          <a:p>
            <a:pPr marL="0" indent="0">
              <a:buNone/>
            </a:pPr>
            <a:r>
              <a:rPr lang="en-US" altLang="en-US">
                <a:sym typeface="+mn-ea"/>
              </a:rPr>
              <a:t>1. Create (Insert)</a:t>
            </a:r>
            <a:endParaRPr lang="en-US" altLang="en-US" sz="1800">
              <a:sym typeface="+mn-ea"/>
            </a:endParaRPr>
          </a:p>
          <a:p>
            <a:pPr marL="0" indent="0">
              <a:buNone/>
            </a:pPr>
            <a:endParaRPr lang="en-US" altLang="en-US" sz="1800"/>
          </a:p>
          <a:p>
            <a:pPr marL="0" indent="0">
              <a:buNone/>
            </a:pPr>
            <a:r>
              <a:rPr lang="en-US" altLang="en-US">
                <a:sym typeface="+mn-ea"/>
              </a:rPr>
              <a:t>DELIMITER   //  some database (user $$)</a:t>
            </a:r>
            <a:endParaRPr lang="en-US" altLang="en-US" sz="1800"/>
          </a:p>
          <a:p>
            <a:pPr marL="0" indent="0">
              <a:buNone/>
            </a:pPr>
            <a:r>
              <a:rPr lang="en-US" altLang="en-US">
                <a:sym typeface="+mn-ea"/>
              </a:rPr>
              <a:t>CREATE PROCEDURE sp_create_employee(</a:t>
            </a:r>
            <a:endParaRPr lang="en-US" altLang="en-US" sz="1800">
              <a:sym typeface="+mn-ea"/>
            </a:endParaRPr>
          </a:p>
          <a:p>
            <a:pPr marL="0" indent="0">
              <a:buNone/>
            </a:pPr>
            <a:r>
              <a:rPr lang="en-US" altLang="en-US">
                <a:sym typeface="+mn-ea"/>
              </a:rPr>
              <a:t>    IN emp_name VARCHAR(100),</a:t>
            </a:r>
            <a:endParaRPr lang="en-US" altLang="en-US" sz="1800"/>
          </a:p>
          <a:p>
            <a:pPr marL="0" indent="0">
              <a:buNone/>
            </a:pPr>
            <a:r>
              <a:rPr lang="en-US" altLang="en-US">
                <a:sym typeface="+mn-ea"/>
              </a:rPr>
              <a:t>    IN emp_email VARCHAR(100),</a:t>
            </a:r>
            <a:endParaRPr lang="en-US" altLang="en-US" sz="1800"/>
          </a:p>
          <a:p>
            <a:pPr marL="0" indent="0">
              <a:buNone/>
            </a:pPr>
            <a:r>
              <a:rPr lang="en-US" altLang="en-US">
                <a:sym typeface="+mn-ea"/>
              </a:rPr>
              <a:t>    IN emp_salary DECIMAL(10,2)</a:t>
            </a:r>
            <a:endParaRPr lang="en-US" altLang="en-US" sz="1800"/>
          </a:p>
          <a:p>
            <a:pPr marL="0" indent="0">
              <a:buNone/>
            </a:pPr>
            <a:r>
              <a:rPr lang="en-US" altLang="en-US">
                <a:sym typeface="+mn-ea"/>
              </a:rPr>
              <a:t>)</a:t>
            </a:r>
            <a:endParaRPr lang="en-US" altLang="en-US" sz="1800"/>
          </a:p>
          <a:p>
            <a:pPr marL="0" indent="0">
              <a:buNone/>
            </a:pPr>
            <a:r>
              <a:rPr lang="en-US" altLang="en-US">
                <a:sym typeface="+mn-ea"/>
              </a:rPr>
              <a:t>BEGIN </a:t>
            </a:r>
            <a:endParaRPr lang="en-US" altLang="en-US" sz="1800"/>
          </a:p>
          <a:p>
            <a:pPr marL="0" indent="0">
              <a:buNone/>
            </a:pPr>
            <a:r>
              <a:rPr lang="en-US" altLang="en-US">
                <a:sym typeface="+mn-ea"/>
              </a:rPr>
              <a:t>    INSERT INTO employees(name, email, salary)</a:t>
            </a:r>
            <a:endParaRPr lang="en-US" altLang="en-US" sz="1800"/>
          </a:p>
          <a:p>
            <a:pPr marL="0" indent="0">
              <a:buNone/>
            </a:pPr>
            <a:r>
              <a:rPr lang="en-US" altLang="en-US">
                <a:sym typeface="+mn-ea"/>
              </a:rPr>
              <a:t>    VALUES (emp_name, emp_email, emp_salary);</a:t>
            </a:r>
            <a:endParaRPr lang="en-US" altLang="en-US" sz="1800"/>
          </a:p>
          <a:p>
            <a:pPr marL="0" indent="0">
              <a:buNone/>
            </a:pPr>
            <a:r>
              <a:rPr lang="en-US" altLang="en-US">
                <a:sym typeface="+mn-ea"/>
              </a:rPr>
              <a:t>END  //</a:t>
            </a:r>
            <a:endParaRPr lang="en-US" altLang="en-US" sz="1800"/>
          </a:p>
          <a:p>
            <a:pPr marL="0" indent="0">
              <a:buNone/>
            </a:pPr>
            <a:r>
              <a:rPr lang="en-US" altLang="en-US">
                <a:sym typeface="+mn-ea"/>
              </a:rPr>
              <a:t>DELIMITER ;</a:t>
            </a:r>
            <a:endParaRPr lang="en-US" altLang="en-US" sz="1800">
              <a:sym typeface="+mn-ea"/>
            </a:endParaRPr>
          </a:p>
          <a:p>
            <a:pPr marL="0" indent="0">
              <a:buNone/>
            </a:pPr>
            <a:endParaRPr lang="en-US" altLang="en-US" sz="1800">
              <a:sym typeface="+mn-ea"/>
            </a:endParaRPr>
          </a:p>
          <a:p>
            <a:pPr marL="0" indent="0">
              <a:buNone/>
            </a:pPr>
            <a:r>
              <a:rPr lang="en-US" altLang="en-US">
                <a:sym typeface="+mn-ea"/>
              </a:rPr>
              <a:t>call Procedurename(values_of_Columns);</a:t>
            </a:r>
            <a:endParaRPr lang="en-US" altLang="en-US" sz="1800"/>
          </a:p>
          <a:p>
            <a:pPr marL="0" indent="0">
              <a:buNone/>
            </a:pPr>
            <a:endParaRPr lang="en-US" altLang="en-US" sz="1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119380" y="0"/>
            <a:ext cx="10515600" cy="804545"/>
          </a:xfrm>
        </p:spPr>
        <p:txBody>
          <a:bodyPr/>
          <a:p>
            <a:r>
              <a:rPr lang="en-US" sz="2400" b="1">
                <a:solidFill>
                  <a:srgbClr val="FF0000"/>
                </a:solidFill>
              </a:rPr>
              <a:t>Fetch Data Using Procedure</a:t>
            </a:r>
            <a:endParaRPr lang="en-US" sz="2400" b="1">
              <a:solidFill>
                <a:srgbClr val="FF0000"/>
              </a:solidFill>
            </a:endParaRPr>
          </a:p>
        </p:txBody>
      </p:sp>
      <p:sp>
        <p:nvSpPr>
          <p:cNvPr id="3" name="Content Placeholder 2"/>
          <p:cNvSpPr>
            <a:spLocks noGrp="1"/>
          </p:cNvSpPr>
          <p:nvPr>
            <p:ph idx="1"/>
          </p:nvPr>
        </p:nvSpPr>
        <p:spPr>
          <a:xfrm>
            <a:off x="119380" y="600710"/>
            <a:ext cx="5977255" cy="6115050"/>
          </a:xfrm>
        </p:spPr>
        <p:txBody>
          <a:bodyPr>
            <a:noAutofit/>
          </a:bodyPr>
          <a:p>
            <a:pPr marL="0" indent="0">
              <a:buNone/>
            </a:pPr>
            <a:r>
              <a:rPr lang="en-US" altLang="en-US" sz="1800">
                <a:sym typeface="+mn-ea"/>
              </a:rPr>
              <a:t>2. Read (Select All)</a:t>
            </a:r>
            <a:endParaRPr lang="en-US" altLang="en-US" sz="1800"/>
          </a:p>
          <a:p>
            <a:pPr marL="0" indent="0">
              <a:buNone/>
            </a:pPr>
            <a:r>
              <a:rPr lang="en-US" altLang="en-US" sz="1800">
                <a:sym typeface="+mn-ea"/>
              </a:rPr>
              <a:t>DELIMITER  //  $$</a:t>
            </a:r>
            <a:endParaRPr lang="en-US" altLang="en-US" sz="1800"/>
          </a:p>
          <a:p>
            <a:pPr marL="0" indent="0">
              <a:buNone/>
            </a:pPr>
            <a:r>
              <a:rPr lang="en-US" altLang="en-US" sz="1800">
                <a:sym typeface="+mn-ea"/>
              </a:rPr>
              <a:t>CREATE PROCEDURE sp_get_employees()</a:t>
            </a:r>
            <a:endParaRPr lang="en-US" altLang="en-US" sz="1800"/>
          </a:p>
          <a:p>
            <a:pPr marL="0" indent="0">
              <a:buNone/>
            </a:pPr>
            <a:r>
              <a:rPr lang="en-US" altLang="en-US" sz="1800">
                <a:sym typeface="+mn-ea"/>
              </a:rPr>
              <a:t>BEGIN</a:t>
            </a:r>
            <a:endParaRPr lang="en-US" altLang="en-US" sz="1800"/>
          </a:p>
          <a:p>
            <a:pPr marL="0" indent="0">
              <a:buNone/>
            </a:pPr>
            <a:r>
              <a:rPr lang="en-US" altLang="en-US" sz="1800">
                <a:sym typeface="+mn-ea"/>
              </a:rPr>
              <a:t>    SELECT * FROM employees;</a:t>
            </a:r>
            <a:endParaRPr lang="en-US" altLang="en-US" sz="1800"/>
          </a:p>
          <a:p>
            <a:pPr marL="0" indent="0">
              <a:buNone/>
            </a:pPr>
            <a:r>
              <a:rPr lang="en-US" altLang="en-US" sz="1800">
                <a:sym typeface="+mn-ea"/>
              </a:rPr>
              <a:t>END   //  $$</a:t>
            </a:r>
            <a:endParaRPr lang="en-US" altLang="en-US" sz="1800"/>
          </a:p>
          <a:p>
            <a:pPr marL="0" indent="0">
              <a:buNone/>
            </a:pPr>
            <a:r>
              <a:rPr lang="en-US" altLang="en-US" sz="1800">
                <a:sym typeface="+mn-ea"/>
              </a:rPr>
              <a:t>DELIMITER ;</a:t>
            </a:r>
            <a:endParaRPr lang="en-US" altLang="en-US" sz="1800">
              <a:sym typeface="+mn-ea"/>
            </a:endParaRPr>
          </a:p>
          <a:p>
            <a:pPr marL="0" indent="0">
              <a:buNone/>
            </a:pPr>
            <a:endParaRPr lang="en-US" altLang="en-US" sz="1800"/>
          </a:p>
          <a:p>
            <a:pPr marL="0" indent="0">
              <a:buNone/>
            </a:pPr>
            <a:r>
              <a:rPr lang="en-US" altLang="en-US" sz="1800">
                <a:sym typeface="+mn-ea"/>
              </a:rPr>
              <a:t>2.1 Read by ID</a:t>
            </a:r>
            <a:endParaRPr lang="en-US" altLang="en-US" sz="1800"/>
          </a:p>
          <a:p>
            <a:pPr marL="0" indent="0">
              <a:buNone/>
            </a:pPr>
            <a:r>
              <a:rPr lang="en-US" altLang="en-US" sz="1800">
                <a:sym typeface="+mn-ea"/>
              </a:rPr>
              <a:t>DELIMITER  // $$</a:t>
            </a:r>
            <a:endParaRPr lang="en-US" altLang="en-US" sz="1800"/>
          </a:p>
          <a:p>
            <a:pPr marL="0" indent="0">
              <a:buNone/>
            </a:pPr>
            <a:r>
              <a:rPr lang="en-US" altLang="en-US" sz="1800">
                <a:sym typeface="+mn-ea"/>
              </a:rPr>
              <a:t>CREATE PROCEDURE sp_get_employee_by_id( IN emp_id INT)</a:t>
            </a:r>
            <a:endParaRPr lang="en-US" altLang="en-US" sz="1800"/>
          </a:p>
          <a:p>
            <a:pPr marL="0" indent="0">
              <a:buNone/>
            </a:pPr>
            <a:r>
              <a:rPr lang="en-US" altLang="en-US" sz="1800">
                <a:sym typeface="+mn-ea"/>
              </a:rPr>
              <a:t>BEGIN</a:t>
            </a:r>
            <a:endParaRPr lang="en-US" altLang="en-US" sz="1800"/>
          </a:p>
          <a:p>
            <a:pPr marL="0" indent="0">
              <a:buNone/>
            </a:pPr>
            <a:r>
              <a:rPr lang="en-US" altLang="en-US" sz="1800">
                <a:sym typeface="+mn-ea"/>
              </a:rPr>
              <a:t>    SELECT * FROM employees WHERE id = emp_id;</a:t>
            </a:r>
            <a:endParaRPr lang="en-US" altLang="en-US" sz="1800"/>
          </a:p>
          <a:p>
            <a:pPr marL="0" indent="0">
              <a:buNone/>
            </a:pPr>
            <a:r>
              <a:rPr lang="en-US" altLang="en-US" sz="1800">
                <a:sym typeface="+mn-ea"/>
              </a:rPr>
              <a:t>END $$</a:t>
            </a:r>
            <a:endParaRPr lang="en-US" altLang="en-US" sz="1800"/>
          </a:p>
          <a:p>
            <a:pPr marL="0" indent="0">
              <a:buNone/>
            </a:pPr>
            <a:r>
              <a:rPr lang="en-US" altLang="en-US" sz="1800">
                <a:sym typeface="+mn-ea"/>
              </a:rPr>
              <a:t>DELIMITER ;</a:t>
            </a:r>
            <a:endParaRPr lang="en-US" altLang="en-US" sz="1800"/>
          </a:p>
          <a:p>
            <a:endParaRPr lang="en-US" altLang="en-US" sz="1800"/>
          </a:p>
        </p:txBody>
      </p:sp>
      <p:sp>
        <p:nvSpPr>
          <p:cNvPr id="4" name="Text Box 3"/>
          <p:cNvSpPr txBox="1"/>
          <p:nvPr/>
        </p:nvSpPr>
        <p:spPr>
          <a:xfrm>
            <a:off x="6097270" y="157480"/>
            <a:ext cx="5809615" cy="6558915"/>
          </a:xfrm>
          <a:prstGeom prst="rect">
            <a:avLst/>
          </a:prstGeom>
          <a:noFill/>
        </p:spPr>
        <p:txBody>
          <a:bodyPr wrap="square" rtlCol="0" anchor="t">
            <a:noAutofit/>
          </a:bodyPr>
          <a:p>
            <a:pPr marL="0" indent="0" algn="l">
              <a:lnSpc>
                <a:spcPct val="130000"/>
              </a:lnSpc>
              <a:buNone/>
            </a:pPr>
            <a:r>
              <a:rPr lang="zh-CN" altLang="en-US" b="1">
                <a:solidFill>
                  <a:srgbClr val="FF0000"/>
                </a:solidFill>
                <a:sym typeface="+mn-ea"/>
              </a:rPr>
              <a:t>🟡</a:t>
            </a:r>
            <a:r>
              <a:rPr lang="en-US" altLang="en-US" b="1">
                <a:solidFill>
                  <a:srgbClr val="FF0000"/>
                </a:solidFill>
                <a:sym typeface="+mn-ea"/>
              </a:rPr>
              <a:t> 3. Update</a:t>
            </a:r>
            <a:endParaRPr lang="en-US" altLang="en-US" b="1">
              <a:solidFill>
                <a:srgbClr val="FF0000"/>
              </a:solidFill>
            </a:endParaRPr>
          </a:p>
          <a:p>
            <a:pPr marL="0" indent="0" algn="l">
              <a:lnSpc>
                <a:spcPct val="130000"/>
              </a:lnSpc>
              <a:buNone/>
            </a:pPr>
            <a:r>
              <a:rPr lang="en-US" altLang="en-US">
                <a:sym typeface="+mn-ea"/>
              </a:rPr>
              <a:t>DELIMITER $$</a:t>
            </a:r>
            <a:endParaRPr lang="en-US" altLang="en-US"/>
          </a:p>
          <a:p>
            <a:pPr marL="0" indent="0" algn="l">
              <a:lnSpc>
                <a:spcPct val="130000"/>
              </a:lnSpc>
              <a:buNone/>
            </a:pPr>
            <a:r>
              <a:rPr lang="en-US" altLang="en-US">
                <a:sym typeface="+mn-ea"/>
              </a:rPr>
              <a:t>CREATE PROCEDURE sp_update_employee(</a:t>
            </a:r>
            <a:endParaRPr lang="en-US" altLang="en-US"/>
          </a:p>
          <a:p>
            <a:pPr marL="0" indent="0" algn="l">
              <a:lnSpc>
                <a:spcPct val="130000"/>
              </a:lnSpc>
              <a:buNone/>
            </a:pPr>
            <a:r>
              <a:rPr lang="en-US" altLang="en-US">
                <a:sym typeface="+mn-ea"/>
              </a:rPr>
              <a:t>    IN emp_id INT,</a:t>
            </a:r>
            <a:endParaRPr lang="en-US" altLang="en-US"/>
          </a:p>
          <a:p>
            <a:pPr marL="0" indent="0" algn="l">
              <a:lnSpc>
                <a:spcPct val="130000"/>
              </a:lnSpc>
              <a:buNone/>
            </a:pPr>
            <a:r>
              <a:rPr lang="en-US" altLang="en-US">
                <a:sym typeface="+mn-ea"/>
              </a:rPr>
              <a:t>    IN emp_name VARCHAR(100),</a:t>
            </a:r>
            <a:endParaRPr lang="en-US" altLang="en-US"/>
          </a:p>
          <a:p>
            <a:pPr marL="0" indent="0" algn="l">
              <a:lnSpc>
                <a:spcPct val="130000"/>
              </a:lnSpc>
              <a:buNone/>
            </a:pPr>
            <a:r>
              <a:rPr lang="en-US" altLang="en-US">
                <a:sym typeface="+mn-ea"/>
              </a:rPr>
              <a:t>    IN emp_email VARCHAR(100),</a:t>
            </a:r>
            <a:endParaRPr lang="en-US" altLang="en-US"/>
          </a:p>
          <a:p>
            <a:pPr marL="0" indent="0" algn="l">
              <a:lnSpc>
                <a:spcPct val="130000"/>
              </a:lnSpc>
              <a:buNone/>
            </a:pPr>
            <a:r>
              <a:rPr lang="en-US" altLang="en-US">
                <a:sym typeface="+mn-ea"/>
              </a:rPr>
              <a:t>    IN emp_salary DECIMAL(10,2)</a:t>
            </a:r>
            <a:endParaRPr lang="en-US" altLang="en-US"/>
          </a:p>
          <a:p>
            <a:pPr marL="0" indent="0" algn="l">
              <a:lnSpc>
                <a:spcPct val="130000"/>
              </a:lnSpc>
              <a:buNone/>
            </a:pPr>
            <a:r>
              <a:rPr lang="en-US" altLang="en-US">
                <a:sym typeface="+mn-ea"/>
              </a:rPr>
              <a:t>)</a:t>
            </a:r>
            <a:endParaRPr lang="en-US" altLang="en-US"/>
          </a:p>
          <a:p>
            <a:pPr marL="0" indent="0" algn="l">
              <a:lnSpc>
                <a:spcPct val="130000"/>
              </a:lnSpc>
              <a:buNone/>
            </a:pPr>
            <a:r>
              <a:rPr lang="en-US" altLang="en-US">
                <a:sym typeface="+mn-ea"/>
              </a:rPr>
              <a:t>BEGIN</a:t>
            </a:r>
            <a:endParaRPr lang="en-US" altLang="en-US"/>
          </a:p>
          <a:p>
            <a:pPr marL="0" indent="0" algn="l">
              <a:lnSpc>
                <a:spcPct val="130000"/>
              </a:lnSpc>
              <a:buNone/>
            </a:pPr>
            <a:r>
              <a:rPr lang="en-US" altLang="en-US">
                <a:sym typeface="+mn-ea"/>
              </a:rPr>
              <a:t>    UPDATE employees</a:t>
            </a:r>
            <a:endParaRPr lang="en-US" altLang="en-US"/>
          </a:p>
          <a:p>
            <a:pPr marL="0" indent="0" algn="l">
              <a:lnSpc>
                <a:spcPct val="130000"/>
              </a:lnSpc>
              <a:buNone/>
            </a:pPr>
            <a:r>
              <a:rPr lang="en-US" altLang="en-US">
                <a:sym typeface="+mn-ea"/>
              </a:rPr>
              <a:t>    SET name = emp_name,</a:t>
            </a:r>
            <a:endParaRPr lang="en-US" altLang="en-US"/>
          </a:p>
          <a:p>
            <a:pPr marL="0" indent="0" algn="l">
              <a:lnSpc>
                <a:spcPct val="130000"/>
              </a:lnSpc>
              <a:buNone/>
            </a:pPr>
            <a:r>
              <a:rPr lang="en-US" altLang="en-US">
                <a:sym typeface="+mn-ea"/>
              </a:rPr>
              <a:t>        email = emp_email,</a:t>
            </a:r>
            <a:endParaRPr lang="en-US" altLang="en-US"/>
          </a:p>
          <a:p>
            <a:pPr marL="0" indent="0" algn="l">
              <a:lnSpc>
                <a:spcPct val="130000"/>
              </a:lnSpc>
              <a:buNone/>
            </a:pPr>
            <a:r>
              <a:rPr lang="en-US" altLang="en-US">
                <a:sym typeface="+mn-ea"/>
              </a:rPr>
              <a:t>        salary = emp_salary</a:t>
            </a:r>
            <a:endParaRPr lang="en-US" altLang="en-US"/>
          </a:p>
          <a:p>
            <a:pPr marL="0" indent="0" algn="l">
              <a:lnSpc>
                <a:spcPct val="130000"/>
              </a:lnSpc>
              <a:buNone/>
            </a:pPr>
            <a:r>
              <a:rPr lang="en-US" altLang="en-US">
                <a:sym typeface="+mn-ea"/>
              </a:rPr>
              <a:t>    WHERE id = emp_id;</a:t>
            </a:r>
            <a:endParaRPr lang="en-US" altLang="en-US"/>
          </a:p>
          <a:p>
            <a:pPr marL="0" indent="0" algn="l">
              <a:lnSpc>
                <a:spcPct val="130000"/>
              </a:lnSpc>
              <a:buNone/>
            </a:pPr>
            <a:r>
              <a:rPr lang="en-US" altLang="en-US">
                <a:sym typeface="+mn-ea"/>
              </a:rPr>
              <a:t>END $$</a:t>
            </a:r>
            <a:endParaRPr lang="en-US" altLang="en-US"/>
          </a:p>
          <a:p>
            <a:pPr marL="0" indent="0" algn="l">
              <a:lnSpc>
                <a:spcPct val="130000"/>
              </a:lnSpc>
              <a:buNone/>
            </a:pPr>
            <a:endParaRPr lang="en-US" altLang="en-US"/>
          </a:p>
          <a:p>
            <a:pPr marL="0" indent="0" algn="l">
              <a:lnSpc>
                <a:spcPct val="130000"/>
              </a:lnSpc>
              <a:buNone/>
            </a:pPr>
            <a:endParaRPr lang="en-US"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250825" y="0"/>
            <a:ext cx="10515600" cy="542925"/>
          </a:xfrm>
        </p:spPr>
        <p:txBody>
          <a:bodyPr/>
          <a:p>
            <a:r>
              <a:rPr lang="en-US" sz="2400" b="1">
                <a:solidFill>
                  <a:srgbClr val="FF0000"/>
                </a:solidFill>
              </a:rPr>
              <a:t>Delete Procedure</a:t>
            </a:r>
            <a:endParaRPr lang="en-US" sz="2400" b="1">
              <a:solidFill>
                <a:srgbClr val="FF0000"/>
              </a:solidFill>
            </a:endParaRPr>
          </a:p>
        </p:txBody>
      </p:sp>
      <p:sp>
        <p:nvSpPr>
          <p:cNvPr id="3" name="Content Placeholder 2"/>
          <p:cNvSpPr>
            <a:spLocks noGrp="1"/>
          </p:cNvSpPr>
          <p:nvPr>
            <p:ph idx="1"/>
          </p:nvPr>
        </p:nvSpPr>
        <p:spPr>
          <a:xfrm>
            <a:off x="250190" y="542925"/>
            <a:ext cx="4648835" cy="4543425"/>
          </a:xfrm>
        </p:spPr>
        <p:txBody>
          <a:bodyPr>
            <a:noAutofit/>
          </a:bodyPr>
          <a:p>
            <a:pPr marL="0" indent="0">
              <a:buNone/>
            </a:pPr>
            <a:r>
              <a:rPr lang="en-US" altLang="en-US" sz="1800">
                <a:sym typeface="+mn-ea"/>
              </a:rPr>
              <a:t>DELIMITER ;</a:t>
            </a:r>
            <a:endParaRPr lang="en-US" altLang="en-US" sz="1800"/>
          </a:p>
          <a:p>
            <a:pPr marL="0" indent="0">
              <a:buNone/>
            </a:pPr>
            <a:r>
              <a:rPr lang="en-US" altLang="en-US" sz="1800">
                <a:sym typeface="+mn-ea"/>
              </a:rPr>
              <a:t> Delete</a:t>
            </a:r>
            <a:endParaRPr lang="en-US" altLang="en-US" sz="1800"/>
          </a:p>
          <a:p>
            <a:pPr marL="0" indent="0">
              <a:buNone/>
            </a:pPr>
            <a:r>
              <a:rPr lang="en-US" altLang="en-US" sz="1800">
                <a:sym typeface="+mn-ea"/>
              </a:rPr>
              <a:t>DELIMITER $$</a:t>
            </a:r>
            <a:endParaRPr lang="en-US" altLang="en-US" sz="1800"/>
          </a:p>
          <a:p>
            <a:pPr marL="0" indent="0">
              <a:buNone/>
            </a:pPr>
            <a:r>
              <a:rPr lang="en-US" altLang="en-US" sz="1800">
                <a:sym typeface="+mn-ea"/>
              </a:rPr>
              <a:t>CREATE PROCEDURE sp_delete_employee(</a:t>
            </a:r>
            <a:endParaRPr lang="en-US" altLang="en-US" sz="1800"/>
          </a:p>
          <a:p>
            <a:pPr marL="0" indent="0">
              <a:buNone/>
            </a:pPr>
            <a:r>
              <a:rPr lang="en-US" altLang="en-US" sz="1800">
                <a:sym typeface="+mn-ea"/>
              </a:rPr>
              <a:t>    IN emp_id INT</a:t>
            </a:r>
            <a:endParaRPr lang="en-US" altLang="en-US" sz="1800"/>
          </a:p>
          <a:p>
            <a:pPr marL="0" indent="0">
              <a:buNone/>
            </a:pPr>
            <a:r>
              <a:rPr lang="en-US" altLang="en-US" sz="1800">
                <a:sym typeface="+mn-ea"/>
              </a:rPr>
              <a:t>)</a:t>
            </a:r>
            <a:endParaRPr lang="en-US" altLang="en-US" sz="1800"/>
          </a:p>
          <a:p>
            <a:pPr marL="0" indent="0">
              <a:buNone/>
            </a:pPr>
            <a:r>
              <a:rPr lang="en-US" altLang="en-US" sz="1800">
                <a:sym typeface="+mn-ea"/>
              </a:rPr>
              <a:t>BEGIN</a:t>
            </a:r>
            <a:endParaRPr lang="en-US" altLang="en-US" sz="1800"/>
          </a:p>
          <a:p>
            <a:pPr marL="0" indent="0">
              <a:buNone/>
            </a:pPr>
            <a:r>
              <a:rPr lang="en-US" altLang="en-US" sz="1800">
                <a:sym typeface="+mn-ea"/>
              </a:rPr>
              <a:t> DELETE FROM employees WHERE id = emp_id;</a:t>
            </a:r>
            <a:endParaRPr lang="en-US" altLang="en-US" sz="1800"/>
          </a:p>
          <a:p>
            <a:pPr marL="0" indent="0">
              <a:buNone/>
            </a:pPr>
            <a:r>
              <a:rPr lang="en-US" altLang="en-US" sz="1800">
                <a:sym typeface="+mn-ea"/>
              </a:rPr>
              <a:t>END $$</a:t>
            </a:r>
            <a:endParaRPr lang="en-US" altLang="en-US" sz="1800"/>
          </a:p>
          <a:p>
            <a:pPr marL="0" indent="0">
              <a:buNone/>
            </a:pPr>
            <a:r>
              <a:rPr lang="en-US" altLang="en-US" sz="1800">
                <a:sym typeface="+mn-ea"/>
              </a:rPr>
              <a:t>DELIMITER ;</a:t>
            </a:r>
            <a:endParaRPr lang="en-US" altLang="en-US" sz="1800"/>
          </a:p>
          <a:p>
            <a:pPr marL="0" indent="0">
              <a:buNone/>
            </a:pPr>
            <a:endParaRPr lang="zh-CN" altLang="en-US" sz="1800">
              <a:sym typeface="+mn-ea"/>
            </a:endParaRPr>
          </a:p>
          <a:p>
            <a:pPr marL="0" indent="0">
              <a:buNone/>
            </a:pPr>
            <a:r>
              <a:rPr lang="en-US" altLang="en-US" sz="1800"/>
              <a:t>call delete(101);</a:t>
            </a:r>
            <a:endParaRPr lang="en-US" altLang="en-US" sz="1800"/>
          </a:p>
        </p:txBody>
      </p:sp>
      <p:sp>
        <p:nvSpPr>
          <p:cNvPr id="4" name="Text Box 3"/>
          <p:cNvSpPr txBox="1"/>
          <p:nvPr/>
        </p:nvSpPr>
        <p:spPr>
          <a:xfrm>
            <a:off x="5303520" y="542925"/>
            <a:ext cx="6729730" cy="5794375"/>
          </a:xfrm>
          <a:prstGeom prst="rect">
            <a:avLst/>
          </a:prstGeom>
          <a:noFill/>
        </p:spPr>
        <p:txBody>
          <a:bodyPr wrap="square" rtlCol="0" anchor="t">
            <a:noAutofit/>
          </a:bodyPr>
          <a:p>
            <a:pPr marL="0" indent="0">
              <a:buNone/>
            </a:pPr>
            <a:r>
              <a:rPr lang="en-US" altLang="en-US">
                <a:sym typeface="+mn-ea"/>
              </a:rPr>
              <a:t>-- Select all</a:t>
            </a:r>
            <a:endParaRPr lang="en-US" altLang="en-US"/>
          </a:p>
          <a:p>
            <a:pPr marL="0" indent="0">
              <a:buNone/>
            </a:pPr>
            <a:r>
              <a:rPr lang="en-US" altLang="en-US">
                <a:sym typeface="+mn-ea"/>
              </a:rPr>
              <a:t>CALL sp_get_employees();</a:t>
            </a:r>
            <a:endParaRPr lang="en-US" altLang="en-US"/>
          </a:p>
          <a:p>
            <a:pPr marL="0" indent="0">
              <a:buNone/>
            </a:pPr>
            <a:endParaRPr lang="en-US" altLang="en-US"/>
          </a:p>
          <a:p>
            <a:pPr marL="0" indent="0">
              <a:buNone/>
            </a:pPr>
            <a:r>
              <a:rPr lang="en-US" altLang="en-US">
                <a:sym typeface="+mn-ea"/>
              </a:rPr>
              <a:t>-- Select by ID</a:t>
            </a:r>
            <a:endParaRPr lang="en-US" altLang="en-US"/>
          </a:p>
          <a:p>
            <a:pPr marL="0" indent="0">
              <a:buNone/>
            </a:pPr>
            <a:r>
              <a:rPr lang="en-US" altLang="en-US">
                <a:sym typeface="+mn-ea"/>
              </a:rPr>
              <a:t>CALL sp_get_employee_by_id(1);</a:t>
            </a:r>
            <a:endParaRPr lang="en-US" altLang="en-US">
              <a:sym typeface="+mn-ea"/>
            </a:endParaRPr>
          </a:p>
          <a:p>
            <a:pPr marL="0" indent="0">
              <a:buNone/>
            </a:pPr>
            <a:endParaRPr lang="en-US" altLang="en-US">
              <a:sym typeface="+mn-ea"/>
            </a:endParaRPr>
          </a:p>
          <a:p>
            <a:pPr marL="0" indent="0">
              <a:buNone/>
            </a:pPr>
            <a:endParaRPr lang="en-US" altLang="en-US"/>
          </a:p>
          <a:p>
            <a:pPr marL="0" indent="0">
              <a:buNone/>
            </a:pPr>
            <a:r>
              <a:rPr lang="en-US" altLang="en-US">
                <a:sym typeface="+mn-ea"/>
              </a:rPr>
              <a:t>-- Update</a:t>
            </a:r>
            <a:endParaRPr lang="en-US" altLang="en-US"/>
          </a:p>
          <a:p>
            <a:pPr marL="0" indent="0">
              <a:buNone/>
            </a:pPr>
            <a:r>
              <a:rPr lang="en-US" altLang="en-US">
                <a:sym typeface="+mn-ea"/>
              </a:rPr>
              <a:t>CALL sp_update_employee(1, 'Alice Smith', 'alice.smith@example.com', 60000.00);</a:t>
            </a:r>
            <a:endParaRPr lang="en-US" altLang="en-US"/>
          </a:p>
          <a:p>
            <a:pPr marL="0" indent="0">
              <a:buNone/>
            </a:pPr>
            <a:endParaRPr lang="en-US" altLang="en-US"/>
          </a:p>
          <a:p>
            <a:pPr marL="0" indent="0">
              <a:buNone/>
            </a:pPr>
            <a:r>
              <a:rPr lang="en-US" altLang="en-US">
                <a:sym typeface="+mn-ea"/>
              </a:rPr>
              <a:t>-- Delete</a:t>
            </a:r>
            <a:endParaRPr lang="en-US" altLang="en-US"/>
          </a:p>
          <a:p>
            <a:pPr marL="0" indent="0">
              <a:buNone/>
            </a:pPr>
            <a:r>
              <a:rPr lang="en-US" altLang="en-US">
                <a:sym typeface="+mn-ea"/>
              </a:rPr>
              <a:t>CALL sp_delete_employee(1);</a:t>
            </a:r>
            <a:endParaRPr lang="en-US" altLang="en-US"/>
          </a:p>
          <a:p>
            <a:pPr marL="0" indent="0">
              <a:buNone/>
            </a:pPr>
            <a:endParaRPr lang="en-US"/>
          </a:p>
          <a:p>
            <a:pPr marL="0" indent="0">
              <a:buNone/>
            </a:pPr>
            <a:endParaRPr lang="en-US"/>
          </a:p>
          <a:p>
            <a:pPr marL="0" indent="0">
              <a:buNone/>
            </a:pPr>
            <a:endParaRPr lang="en-US"/>
          </a:p>
          <a:p>
            <a:pPr marL="0" indent="0">
              <a:buNone/>
            </a:pPr>
            <a:endParaRPr lang="en-US"/>
          </a:p>
          <a:p>
            <a:pPr marL="0" indent="0">
              <a:buNone/>
            </a:pPr>
            <a:endParaRPr lang="en-US" altLang="en-US">
              <a:sym typeface="+mn-ea"/>
            </a:endParaRPr>
          </a:p>
        </p:txBody>
      </p:sp>
      <p:sp>
        <p:nvSpPr>
          <p:cNvPr id="5" name="Text Box 4"/>
          <p:cNvSpPr txBox="1"/>
          <p:nvPr/>
        </p:nvSpPr>
        <p:spPr>
          <a:xfrm>
            <a:off x="250190" y="6025515"/>
            <a:ext cx="11417935" cy="645160"/>
          </a:xfrm>
          <a:prstGeom prst="rect">
            <a:avLst/>
          </a:prstGeom>
          <a:noFill/>
        </p:spPr>
        <p:txBody>
          <a:bodyPr wrap="square" rtlCol="0" anchor="t">
            <a:spAutoFit/>
          </a:bodyPr>
          <a:p>
            <a:pPr algn="ctr"/>
            <a:r>
              <a:rPr lang="en-US" sz="3600">
                <a:solidFill>
                  <a:srgbClr val="FF0000"/>
                </a:solidFill>
                <a:sym typeface="+mn-ea"/>
              </a:rPr>
              <a:t>SQL END</a:t>
            </a:r>
            <a:endParaRPr lang="en-US" sz="3600">
              <a:solidFill>
                <a:srgbClr val="FF0000"/>
              </a:solidFill>
              <a:sym typeface="+mn-ea"/>
            </a:endParaRPr>
          </a:p>
        </p:txBody>
      </p:sp>
      <p:sp>
        <p:nvSpPr>
          <p:cNvPr id="6" name="Text Box 5"/>
          <p:cNvSpPr txBox="1"/>
          <p:nvPr/>
        </p:nvSpPr>
        <p:spPr>
          <a:xfrm>
            <a:off x="5572125" y="82550"/>
            <a:ext cx="6096000" cy="460375"/>
          </a:xfrm>
          <a:prstGeom prst="rect">
            <a:avLst/>
          </a:prstGeom>
          <a:noFill/>
        </p:spPr>
        <p:txBody>
          <a:bodyPr wrap="square" rtlCol="0" anchor="t">
            <a:spAutoFit/>
          </a:bodyPr>
          <a:p>
            <a:r>
              <a:rPr lang="en-US" sz="2400" b="1">
                <a:solidFill>
                  <a:srgbClr val="FF0000"/>
                </a:solidFill>
                <a:sym typeface="+mn-ea"/>
              </a:rPr>
              <a:t>Calling Procedure</a:t>
            </a:r>
            <a:endParaRPr lang="en-US" sz="2400" b="1">
              <a:solidFill>
                <a:srgbClr val="FF0000"/>
              </a:solidFill>
              <a:sym typeface="+mn-ea"/>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0"/>
            <a:ext cx="10515600" cy="314960"/>
          </a:xfrm>
        </p:spPr>
        <p:txBody>
          <a:bodyPr>
            <a:noAutofit/>
          </a:bodyPr>
          <a:p>
            <a:pPr algn="ctr"/>
            <a:r>
              <a:rPr lang="en-US" altLang="en-US" sz="2000" b="1">
                <a:solidFill>
                  <a:srgbClr val="FF0000"/>
                </a:solidFill>
                <a:sym typeface="+mn-ea"/>
              </a:rPr>
              <a:t>WHEN–CASE–THEN Statement</a:t>
            </a:r>
            <a:endParaRPr lang="en-US" altLang="en-US" sz="2000" b="1">
              <a:solidFill>
                <a:srgbClr val="FF0000"/>
              </a:solidFill>
              <a:sym typeface="+mn-ea"/>
            </a:endParaRPr>
          </a:p>
        </p:txBody>
      </p:sp>
      <p:sp>
        <p:nvSpPr>
          <p:cNvPr id="3" name="Content Placeholder 2"/>
          <p:cNvSpPr>
            <a:spLocks noGrp="1"/>
          </p:cNvSpPr>
          <p:nvPr>
            <p:ph idx="1"/>
          </p:nvPr>
        </p:nvSpPr>
        <p:spPr>
          <a:xfrm>
            <a:off x="635" y="314960"/>
            <a:ext cx="12064365" cy="6330950"/>
          </a:xfrm>
        </p:spPr>
        <p:txBody>
          <a:bodyPr>
            <a:noAutofit/>
          </a:bodyPr>
          <a:p>
            <a:r>
              <a:rPr lang="en-US" altLang="en-US" sz="1800"/>
              <a:t>The WHEN–CASE–THEN structure is commonly used in SQL (and conceptually similar in other languages) to apply conditional logic—that is, to return different results based on different conditions. It works like an IF–ELSE ladder.</a:t>
            </a:r>
            <a:endParaRPr lang="en-US" altLang="en-US" sz="1800"/>
          </a:p>
          <a:p>
            <a:pPr marL="0" indent="0">
              <a:buNone/>
            </a:pPr>
            <a:r>
              <a:rPr lang="en-US" altLang="en-US" sz="1800" b="1"/>
              <a:t>Definition</a:t>
            </a:r>
            <a:endParaRPr lang="en-US" altLang="en-US" sz="1800" b="1"/>
          </a:p>
          <a:p>
            <a:r>
              <a:rPr lang="en-US" altLang="en-US" sz="1800"/>
              <a:t>The CASE expression evaluates conditions using WHEN, and when a condition is true, it returns the corresponding THEN result. If none of the conditions match, an optional ELSE result is returned.</a:t>
            </a:r>
            <a:endParaRPr lang="en-US" altLang="en-US" sz="1800"/>
          </a:p>
          <a:p>
            <a:pPr marL="0" indent="0">
              <a:buNone/>
            </a:pPr>
            <a:r>
              <a:rPr lang="en-US" altLang="en-US" sz="1800" b="1"/>
              <a:t>Why it is used</a:t>
            </a:r>
            <a:endParaRPr lang="en-US" altLang="en-US" sz="1800" b="1"/>
          </a:p>
          <a:p>
            <a:r>
              <a:rPr lang="en-US" altLang="en-US" sz="1800"/>
              <a:t>To perform conditional decision-making</a:t>
            </a:r>
            <a:endParaRPr lang="en-US" altLang="en-US" sz="1800"/>
          </a:p>
          <a:p>
            <a:r>
              <a:rPr lang="en-US" altLang="en-US" sz="1800"/>
              <a:t>To replace multiple IF–ELSE statements</a:t>
            </a:r>
            <a:endParaRPr lang="en-US" altLang="en-US" sz="1800"/>
          </a:p>
          <a:p>
            <a:r>
              <a:rPr lang="en-US" altLang="en-US" sz="1800"/>
              <a:t>To make queries more readable and organized</a:t>
            </a:r>
            <a:endParaRPr lang="en-US" altLang="en-US" sz="1800"/>
          </a:p>
          <a:p>
            <a:r>
              <a:rPr lang="en-US" altLang="en-US" sz="1800"/>
              <a:t>To categorize or transform data based on conditions</a:t>
            </a:r>
            <a:endParaRPr lang="en-US" altLang="en-US" sz="1800"/>
          </a:p>
          <a:p>
            <a:pPr marL="0" indent="0">
              <a:buNone/>
            </a:pPr>
            <a:r>
              <a:rPr lang="en-US" altLang="en-US" sz="1800" b="1"/>
              <a:t>General Syntax</a:t>
            </a:r>
            <a:endParaRPr lang="en-US" altLang="en-US" sz="1800" b="1"/>
          </a:p>
          <a:p>
            <a:pPr marL="0" indent="0">
              <a:buNone/>
            </a:pPr>
            <a:r>
              <a:rPr lang="en-US" altLang="en-US" sz="1800"/>
              <a:t>CASE</a:t>
            </a:r>
            <a:endParaRPr lang="en-US" altLang="en-US" sz="1800"/>
          </a:p>
          <a:p>
            <a:pPr marL="0" indent="0">
              <a:buNone/>
            </a:pPr>
            <a:r>
              <a:rPr lang="en-US" altLang="en-US" sz="1800"/>
              <a:t>    WHEN condition1 THEN result1</a:t>
            </a:r>
            <a:endParaRPr lang="en-US" altLang="en-US" sz="1800"/>
          </a:p>
          <a:p>
            <a:pPr marL="0" indent="0">
              <a:buNone/>
            </a:pPr>
            <a:r>
              <a:rPr lang="en-US" altLang="en-US" sz="1800"/>
              <a:t>    WHEN condition2 THEN result2</a:t>
            </a:r>
            <a:endParaRPr lang="en-US" altLang="en-US" sz="1800"/>
          </a:p>
          <a:p>
            <a:pPr marL="0" indent="0">
              <a:buNone/>
            </a:pPr>
            <a:r>
              <a:rPr lang="en-US" altLang="en-US" sz="1800"/>
              <a:t>    WHEN condition3 THEN result3</a:t>
            </a:r>
            <a:endParaRPr lang="en-US" altLang="en-US" sz="1800"/>
          </a:p>
          <a:p>
            <a:pPr marL="0" indent="0">
              <a:buNone/>
            </a:pPr>
            <a:r>
              <a:rPr lang="en-US" altLang="en-US" sz="1800"/>
              <a:t>    ELSE default_result</a:t>
            </a:r>
            <a:endParaRPr lang="en-US" altLang="en-US" sz="1800"/>
          </a:p>
          <a:p>
            <a:pPr marL="0" indent="0">
              <a:buNone/>
            </a:pPr>
            <a:r>
              <a:rPr lang="en-US" altLang="en-US" sz="1800"/>
              <a:t>END</a:t>
            </a:r>
            <a:endParaRPr lang="en-US" altLang="en-US" sz="1800"/>
          </a:p>
        </p:txBody>
      </p:sp>
      <p:sp>
        <p:nvSpPr>
          <p:cNvPr id="5" name="Text Box 4"/>
          <p:cNvSpPr txBox="1"/>
          <p:nvPr/>
        </p:nvSpPr>
        <p:spPr>
          <a:xfrm>
            <a:off x="5047615" y="4776470"/>
            <a:ext cx="6667500" cy="1267460"/>
          </a:xfrm>
          <a:prstGeom prst="rect">
            <a:avLst/>
          </a:prstGeom>
        </p:spPr>
        <p:txBody>
          <a:bodyPr>
            <a:noAutofit/>
          </a:bodyPr>
          <a:p>
            <a:r>
              <a:rPr sz="1600"/>
              <a:t>WHEN → checks a condition</a:t>
            </a:r>
            <a:endParaRPr sz="1600"/>
          </a:p>
          <a:p>
            <a:r>
              <a:rPr sz="1600"/>
              <a:t>THEN → returns a result if the condition is true</a:t>
            </a:r>
            <a:endParaRPr sz="1600"/>
          </a:p>
          <a:p>
            <a:r>
              <a:rPr sz="1600"/>
              <a:t>CASE → wraps all conditions together</a:t>
            </a:r>
            <a:endParaRPr sz="1600"/>
          </a:p>
          <a:p>
            <a:r>
              <a:rPr sz="1600"/>
              <a:t>ELSE → returns a default value</a:t>
            </a:r>
            <a:endParaRPr sz="1600"/>
          </a:p>
        </p:txBody>
      </p:sp>
    </p:spTree>
  </p:cSld>
  <p:clrMapOvr>
    <a:masterClrMapping/>
  </p:clrMapOvr>
</p:sld>
</file>

<file path=ppt/tags/tag1.xml><?xml version="1.0" encoding="utf-8"?>
<p:tagLst xmlns:p="http://schemas.openxmlformats.org/presentationml/2006/main">
  <p:tag name="TABLE_ENDDRAG_ORIGIN_RECT" val="960*517"/>
  <p:tag name="TABLE_ENDDRAG_RECT" val="0*22*960*517"/>
</p:tagLst>
</file>

<file path=ppt/tags/tag2.xml><?xml version="1.0" encoding="utf-8"?>
<p:tagLst xmlns:p="http://schemas.openxmlformats.org/presentationml/2006/main">
  <p:tag name="TABLE_ENDDRAG_ORIGIN_RECT" val="933*111"/>
  <p:tag name="TABLE_ENDDRAG_RECT" val="8*87*933*111"/>
</p:tagLst>
</file>

<file path=ppt/tags/tag3.xml><?xml version="1.0" encoding="utf-8"?>
<p:tagLst xmlns:p="http://schemas.openxmlformats.org/presentationml/2006/main">
  <p:tag name="TABLE_ENDDRAG_ORIGIN_RECT" val="939*110"/>
  <p:tag name="TABLE_ENDDRAG_RECT" val="13*23*939*110"/>
</p:tagLst>
</file>

<file path=ppt/tags/tag4.xml><?xml version="1.0" encoding="utf-8"?>
<p:tagLst xmlns:p="http://schemas.openxmlformats.org/presentationml/2006/main">
  <p:tag name="TABLE_ENDDRAG_ORIGIN_RECT" val="914*196"/>
  <p:tag name="TABLE_ENDDRAG_RECT" val="13*343*914*196"/>
</p:tagLst>
</file>

<file path=ppt/tags/tag5.xml><?xml version="1.0" encoding="utf-8"?>
<p:tagLst xmlns:p="http://schemas.openxmlformats.org/presentationml/2006/main">
  <p:tag name="TABLE_ENDDRAG_ORIGIN_RECT" val="924*231"/>
  <p:tag name="TABLE_ENDDRAG_RECT" val="15*278*924*231"/>
</p:tagLst>
</file>

<file path=ppt/tags/tag6.xml><?xml version="1.0" encoding="utf-8"?>
<p:tagLst xmlns:p="http://schemas.openxmlformats.org/presentationml/2006/main">
  <p:tag name="TABLE_ENDDRAG_ORIGIN_RECT" val="919*199"/>
  <p:tag name="TABLE_ENDDRAG_RECT" val="16*190*919*199"/>
</p:tagLst>
</file>

<file path=ppt/tags/tag7.xml><?xml version="1.0" encoding="utf-8"?>
<p:tagLst xmlns:p="http://schemas.openxmlformats.org/presentationml/2006/main">
  <p:tag name="TABLE_ENDDRAG_ORIGIN_RECT" val="939*138"/>
  <p:tag name="TABLE_ENDDRAG_RECT" val="13*9*939*138"/>
</p:tagLst>
</file>

<file path=ppt/tags/tag8.xml><?xml version="1.0" encoding="utf-8"?>
<p:tagLst xmlns:p="http://schemas.openxmlformats.org/presentationml/2006/main">
  <p:tag name="TABLE_ENDDRAG_ORIGIN_RECT" val="938*153"/>
  <p:tag name="TABLE_ENDDRAG_RECT" val="0*195*938*153"/>
</p:tagLst>
</file>

<file path=ppt/tags/tag9.xml><?xml version="1.0" encoding="utf-8"?>
<p:tagLst xmlns:p="http://schemas.openxmlformats.org/presentationml/2006/main">
  <p:tag name="TABLE_ENDDRAG_ORIGIN_RECT" val="430*153"/>
  <p:tag name="TABLE_ENDDRAG_RECT" val="7*248*430*153"/>
</p:tagLst>
</file>

<file path=ppt/tags/tag10.xml><?xml version="1.0" encoding="utf-8"?>
<p:tagLst xmlns:p="http://schemas.openxmlformats.org/presentationml/2006/main">
  <p:tag name="TABLE_ENDDRAG_ORIGIN_RECT" val="413*153"/>
  <p:tag name="TABLE_ENDDRAG_RECT" val="538*248*413*153"/>
</p:tagLst>
</file>

<file path=ppt/tags/tag11.xml><?xml version="1.0" encoding="utf-8"?>
<p:tagLst xmlns:p="http://schemas.openxmlformats.org/presentationml/2006/main">
  <p:tag name="TABLE_ENDDRAG_ORIGIN_RECT" val="938*121"/>
  <p:tag name="TABLE_ENDDRAG_RECT" val="11*269*938*122"/>
</p:tagLst>
</file>

<file path=ppt/tags/tag12.xml><?xml version="1.0" encoding="utf-8"?>
<p:tagLst xmlns:p="http://schemas.openxmlformats.org/presentationml/2006/main">
  <p:tag name="TABLE_ENDDRAG_ORIGIN_RECT" val="402*71"/>
  <p:tag name="TABLE_ENDDRAG_RECT" val="15*153*402*71"/>
</p:tagLst>
</file>

<file path=ppt/tags/tag13.xml><?xml version="1.0" encoding="utf-8"?>
<p:tagLst xmlns:p="http://schemas.openxmlformats.org/presentationml/2006/main">
  <p:tag name="TABLE_ENDDRAG_ORIGIN_RECT" val="413*67"/>
  <p:tag name="TABLE_ENDDRAG_RECT" val="481*153*413*67"/>
</p:tagLst>
</file>

<file path=ppt/tags/tag14.xml><?xml version="1.0" encoding="utf-8"?>
<p:tagLst xmlns:p="http://schemas.openxmlformats.org/presentationml/2006/main">
  <p:tag name="TABLE_ENDDRAG_ORIGIN_RECT" val="668*112"/>
  <p:tag name="TABLE_ENDDRAG_RECT" val="258*298*668*112"/>
</p:tagLst>
</file>

<file path=ppt/tags/tag15.xml><?xml version="1.0" encoding="utf-8"?>
<p:tagLst xmlns:p="http://schemas.openxmlformats.org/presentationml/2006/main">
  <p:tag name="TABLE_ENDDRAG_ORIGIN_RECT" val="933*142"/>
  <p:tag name="TABLE_ENDDRAG_RECT" val="0*127*933*14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28721</Words>
  <Application>WPS Presentation</Application>
  <PresentationFormat>Widescreen</PresentationFormat>
  <Paragraphs>1199</Paragraphs>
  <Slides>37</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37</vt:i4>
      </vt:variant>
    </vt:vector>
  </HeadingPairs>
  <TitlesOfParts>
    <vt:vector size="50" baseType="lpstr">
      <vt:lpstr>Arial</vt:lpstr>
      <vt:lpstr>SimSun</vt:lpstr>
      <vt:lpstr>Wingdings</vt:lpstr>
      <vt:lpstr>Calibri Light</vt:lpstr>
      <vt:lpstr>Calibri</vt:lpstr>
      <vt:lpstr>Microsoft YaHei</vt:lpstr>
      <vt:lpstr>Arial Unicode MS</vt:lpstr>
      <vt:lpstr>Cambria</vt:lpstr>
      <vt:lpstr>sohne</vt:lpstr>
      <vt:lpstr>Segoe Print</vt:lpstr>
      <vt:lpstr>source-serif-pro</vt:lpstr>
      <vt:lpstr>Arial</vt:lpstr>
      <vt:lpstr>Office Theme</vt:lpstr>
      <vt:lpstr>4. Data Control Language (DCL)</vt:lpstr>
      <vt:lpstr>Adv Java Module And Syllabus</vt:lpstr>
      <vt:lpstr>What is  Sql</vt:lpstr>
      <vt:lpstr>History Of Sql</vt:lpstr>
      <vt:lpstr>Where User Sql </vt:lpstr>
      <vt:lpstr>What is Database</vt:lpstr>
      <vt:lpstr>Installation of Mysql workbench in windows 10,11</vt:lpstr>
      <vt:lpstr>Datatypes of Sql for Mysql Workbench</vt:lpstr>
      <vt:lpstr>PowerPoint 演示文稿</vt:lpstr>
      <vt:lpstr>DDL Command Code</vt:lpstr>
      <vt:lpstr>PowerPoint 演示文稿</vt:lpstr>
      <vt:lpstr>PowerPoint 演示文稿</vt:lpstr>
      <vt:lpstr>3. Transaction Control Language (TCL)</vt:lpstr>
      <vt:lpstr>SQL, aggregate functions</vt:lpstr>
      <vt:lpstr>SQL Constraints </vt:lpstr>
      <vt:lpstr>Create Manually Keys</vt:lpstr>
      <vt:lpstr>PowerPoint 演示文稿</vt:lpstr>
      <vt:lpstr>SQL Keys</vt:lpstr>
      <vt:lpstr> LIKE Operator</vt:lpstr>
      <vt:lpstr>PowerPoint 演示文稿</vt:lpstr>
      <vt:lpstr>SQL Clause</vt:lpstr>
      <vt:lpstr>Order By Clause</vt:lpstr>
      <vt:lpstr>SQL Distinct Keyword</vt:lpstr>
      <vt:lpstr>Group By Clause</vt:lpstr>
      <vt:lpstr>What is HAVING in SQL?</vt:lpstr>
      <vt:lpstr>SQL Join</vt:lpstr>
      <vt:lpstr>2. LEFT JOIN (or LEFT OUTER JOIN)</vt:lpstr>
      <vt:lpstr>3. RIGHT JOIN (or RIGHT OUTER JOIN)</vt:lpstr>
      <vt:lpstr>4.Cross Join</vt:lpstr>
      <vt:lpstr>5.Self Join </vt:lpstr>
      <vt:lpstr> What Is a Subquery?</vt:lpstr>
      <vt:lpstr>PowerPoint 演示文稿</vt:lpstr>
      <vt:lpstr>  What is a Stored Procedure</vt:lpstr>
      <vt:lpstr>PowerPoint 演示文稿</vt:lpstr>
      <vt:lpstr>Fetch Data Using Procedure</vt:lpstr>
      <vt:lpstr>Delete Procedure</vt:lpstr>
      <vt:lpstr>WHEN–CASE–THEN Statement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Applications Where SQL Is Used</dc:title>
  <dc:creator>UV-user</dc:creator>
  <cp:lastModifiedBy>Nishank Amte</cp:lastModifiedBy>
  <cp:revision>348</cp:revision>
  <dcterms:created xsi:type="dcterms:W3CDTF">2025-08-25T05:13:00Z</dcterms:created>
  <dcterms:modified xsi:type="dcterms:W3CDTF">2026-01-26T09:27:00Z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19D4013ADBCA460FAD8A393FB41E8750_11</vt:lpwstr>
  </property>
  <property fmtid="{D5CDD505-2E9C-101B-9397-08002B2CF9AE}" pid="3" name="KSOProductBuildVer">
    <vt:lpwstr>1033-12.2.0.23196</vt:lpwstr>
  </property>
</Properties>
</file>