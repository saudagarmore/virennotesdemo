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6070" y="164465"/>
            <a:ext cx="11593195" cy="416560"/>
          </a:xfrm>
        </p:spPr>
        <p:txBody>
          <a:bodyPr>
            <a:normAutofit fontScale="90000"/>
          </a:bodyPr>
          <a:p>
            <a:r>
              <a:rPr lang="en-US" sz="2400"/>
              <a:t>JFS 12 pm WeekEnd Batch</a:t>
            </a:r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215" y="1069975"/>
            <a:ext cx="11170285" cy="5487670"/>
          </a:xfrm>
        </p:spPr>
        <p:txBody>
          <a:bodyPr>
            <a:normAutofit/>
          </a:bodyPr>
          <a:p>
            <a:pPr marL="457200" indent="-457200" algn="l">
              <a:buAutoNum type="arabicPeriod"/>
            </a:pPr>
            <a:r>
              <a:rPr lang="en-US" altLang="en-US"/>
              <a:t>Abstraction &amp; Abstract class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Object Cloning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Exception Handling in JAVA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Collection Framework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Arraylist,linkedlist,set,map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Date Concept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Java Enum</a:t>
            </a:r>
            <a:endParaRPr lang="en-US" altLang="en-US"/>
          </a:p>
          <a:p>
            <a:pPr marL="457200" indent="-457200" algn="l">
              <a:buAutoNum type="arabicPeriod"/>
            </a:pPr>
            <a:r>
              <a:rPr lang="en-US" altLang="en-US"/>
              <a:t>File Handling Concept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77825"/>
          </a:xfrm>
        </p:spPr>
        <p:txBody>
          <a:bodyPr>
            <a:normAutofit fontScale="90000"/>
          </a:bodyPr>
          <a:p>
            <a:pPr algn="ctr"/>
            <a:r>
              <a:rPr lang="en-US" altLang="en-US" sz="2000" b="1">
                <a:solidFill>
                  <a:srgbClr val="FF0000"/>
                </a:solidFill>
                <a:sym typeface="+mn-ea"/>
              </a:rPr>
              <a:t>Abstraction &amp; Abstract class</a:t>
            </a:r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377825"/>
            <a:ext cx="11802745" cy="6254750"/>
          </a:xfrm>
        </p:spPr>
        <p:txBody>
          <a:bodyPr>
            <a:noAutofit/>
          </a:bodyPr>
          <a:p>
            <a:r>
              <a:rPr lang="en-US" altLang="en-US" sz="1800"/>
              <a:t>Data Abstraction in Java means showing only the essential features of an object and hiding the internal implementation details. It helps reduce complexity and increases security and maintainability of code.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How Data Abstraction Is Achieved in Java</a:t>
            </a:r>
            <a:endParaRPr lang="en-US" altLang="en-US" sz="1800"/>
          </a:p>
          <a:p>
            <a:r>
              <a:rPr lang="en-US" altLang="en-US" sz="1800"/>
              <a:t>Java provides two main ways to implement abstraction:</a:t>
            </a:r>
            <a:endParaRPr lang="en-US" altLang="en-US" sz="1800"/>
          </a:p>
          <a:p>
            <a:r>
              <a:rPr lang="en-US" altLang="en-US" sz="1800"/>
              <a:t>1. Abstract Classes</a:t>
            </a:r>
            <a:endParaRPr lang="en-US" altLang="en-US" sz="1800"/>
          </a:p>
          <a:p>
            <a:r>
              <a:rPr lang="en-US" altLang="en-US" sz="1800"/>
              <a:t>2. Interfaces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1. Abstract Classes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An abstract class is a class that cannot be instantiated and may contain abstract (incomplete) and non-abstract (complete) methods.</a:t>
            </a:r>
            <a:endParaRPr lang="en-US" altLang="en-US" sz="1800"/>
          </a:p>
          <a:p>
            <a:r>
              <a:rPr lang="en-US" altLang="en-US" sz="1800"/>
              <a:t>Uses the abstract keyword</a:t>
            </a:r>
            <a:endParaRPr lang="en-US" altLang="en-US" sz="1800"/>
          </a:p>
          <a:p>
            <a:r>
              <a:rPr lang="en-US" altLang="en-US" sz="1800"/>
              <a:t>Can have constructors and instance variables</a:t>
            </a:r>
            <a:endParaRPr lang="en-US" altLang="en-US" sz="1800"/>
          </a:p>
          <a:p>
            <a:r>
              <a:rPr lang="en-US" altLang="en-US" sz="1800"/>
              <a:t>Can contain both abstract and non-abstract methods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2. Interfaces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An interface defines a contract that a class must follow. It contains only abstract methods (before Java 8) and can have default/static methods (Java 8+).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Achieves 100% abstraction (traditional view)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Supports multiple inheritance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Methods are public by default</a:t>
            </a:r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22580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Advantages of Abstraction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90" y="32258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Hides implementation details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Improves code security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Makes code easier to change and maintain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Reduces dependency between components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345" y="0"/>
            <a:ext cx="10515600" cy="382270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Object cloning in java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610" y="382270"/>
            <a:ext cx="11802110" cy="6295390"/>
          </a:xfrm>
        </p:spPr>
        <p:txBody>
          <a:bodyPr/>
          <a:p>
            <a:r>
              <a:rPr lang="en-US" altLang="en-US" sz="1800"/>
              <a:t>Object Cloning in Java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Object cloning in Java means creating an exact copy of an object. The copied object has the same data as the original but exists as a separate object in memory.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How Object Cloning Works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Java provides object cloning using the Cloneable interface and the clone() method of the Object class.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Steps to Perform Object Cloning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Implement the Cloneable interface</a:t>
            </a:r>
            <a:endParaRPr lang="en-US" altLang="en-US" sz="1800"/>
          </a:p>
          <a:p>
            <a:r>
              <a:rPr lang="en-US" altLang="en-US" sz="1800"/>
              <a:t>Override the clone() method</a:t>
            </a:r>
            <a:endParaRPr lang="en-US" altLang="en-US" sz="1800"/>
          </a:p>
          <a:p>
            <a:r>
              <a:rPr lang="en-US" altLang="en-US" sz="1800"/>
              <a:t>Call clone() to create a copy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4733925" y="2133600"/>
            <a:ext cx="6844665" cy="482092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b="1"/>
              <a:t>Important Points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t>Cloneable is a marker interface</a:t>
            </a:r>
          </a:p>
          <a:p>
            <a:pPr indent="0">
              <a:buFont typeface="Arial" panose="020B0604020202020204"/>
              <a:buNone/>
            </a:pPr>
            <a:r>
              <a:t>If a class does not implement Cloneable, clone() throws CloneNotSupportedException</a:t>
            </a:r>
          </a:p>
          <a:p>
            <a:pPr>
              <a:buFont typeface="Arial" panose="020B0604020202020204"/>
              <a:buChar char="•"/>
            </a:pPr>
          </a:p>
          <a:p>
            <a:pPr indent="0">
              <a:buFont typeface="Arial" panose="020B0604020202020204"/>
              <a:buNone/>
            </a:pPr>
            <a:r>
              <a:t>clone() performs shallow copy by default</a:t>
            </a:r>
          </a:p>
          <a:p>
            <a:pPr indent="0">
              <a:buFont typeface="Arial" panose="020B0604020202020204"/>
              <a:buNone/>
            </a:pPr>
            <a:r>
              <a:t>clone() method is protected in Object class</a:t>
            </a:r>
          </a:p>
          <a:p>
            <a:pPr>
              <a:spcAft>
                <a:spcPct val="60000"/>
              </a:spcAft>
            </a:pPr>
            <a:r>
              <a:rPr b="1"/>
              <a:t>Advantages</a:t>
            </a:r>
            <a:endParaRPr b="1"/>
          </a:p>
          <a:p>
            <a:pPr>
              <a:spcAft>
                <a:spcPct val="60000"/>
              </a:spcAft>
            </a:pPr>
            <a:r>
              <a:t>Fast object creation</a:t>
            </a:r>
          </a:p>
          <a:p>
            <a:pPr indent="0">
              <a:buFont typeface="Arial" panose="020B0604020202020204"/>
              <a:buNone/>
            </a:pPr>
            <a:r>
              <a:t>Useful when object creation is costly</a:t>
            </a:r>
          </a:p>
          <a:p>
            <a:pPr>
              <a:spcAft>
                <a:spcPct val="60000"/>
              </a:spcAft>
            </a:pPr>
            <a:r>
              <a:rPr b="1"/>
              <a:t>Disadvantages</a:t>
            </a:r>
            <a:endParaRPr b="1"/>
          </a:p>
          <a:p>
            <a:pPr>
              <a:spcAft>
                <a:spcPct val="60000"/>
              </a:spcAft>
            </a:pPr>
            <a:r>
              <a:t>Complex to implement correctly</a:t>
            </a:r>
          </a:p>
          <a:p>
            <a:pPr indent="0">
              <a:buFont typeface="Arial" panose="020B0604020202020204"/>
              <a:buNone/>
            </a:pPr>
            <a:r>
              <a:t>Not recommended for beginners</a:t>
            </a:r>
          </a:p>
          <a:p>
            <a:pPr indent="0">
              <a:buFont typeface="Arial" panose="020B0604020202020204"/>
              <a:buNone/>
            </a:pPr>
            <a:r>
              <a:t>Constructors are not called during cloning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915" y="203835"/>
            <a:ext cx="10515600" cy="64725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class Student implements Cloneable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int id;     String name;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Student(int id, String name)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this.id = id;         this.name = name;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public Object clone() throws CloneNotSupportedException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return super.clone();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public static void main(String[] args)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try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Student s1 = new Student(1, "Alex");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Student s2 = (Student) s1.clone();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System.out.println(s1.id + " " + s1.name);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System.out.println(s2.id + " " + s2.name);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} catch (CloneNotSupportedException e)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System.out.println("Cloning not allowed");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}     }   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34925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Types of Object Cloning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95" y="525145"/>
            <a:ext cx="11856720" cy="6116955"/>
          </a:xfrm>
        </p:spPr>
        <p:txBody>
          <a:bodyPr/>
          <a:p>
            <a:r>
              <a:rPr lang="en-US" altLang="en-US" sz="1800"/>
              <a:t>Types of Object Cloning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1. Shallow Copy</a:t>
            </a:r>
            <a:endParaRPr lang="en-US" altLang="en-US" sz="1800" b="1"/>
          </a:p>
          <a:p>
            <a:r>
              <a:rPr lang="en-US" altLang="en-US" sz="1800"/>
              <a:t>Copies primitive data types</a:t>
            </a:r>
            <a:endParaRPr lang="en-US" altLang="en-US" sz="1800"/>
          </a:p>
          <a:p>
            <a:r>
              <a:rPr lang="en-US" altLang="en-US" sz="1800"/>
              <a:t>Copies object references (not the actual objects)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5873115" y="349885"/>
            <a:ext cx="6096000" cy="2505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class Address {</a:t>
            </a:r>
            <a:endParaRPr lang="en-US" altLang="en-US"/>
          </a:p>
          <a:p>
            <a:r>
              <a:rPr lang="en-US" altLang="en-US"/>
              <a:t>    String city;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r>
              <a:rPr lang="en-US" altLang="en-US"/>
              <a:t>class Person implements Cloneable {</a:t>
            </a:r>
            <a:endParaRPr lang="en-US" altLang="en-US"/>
          </a:p>
          <a:p>
            <a:r>
              <a:rPr lang="en-US" altLang="en-US"/>
              <a:t>    int id;    Address address;</a:t>
            </a:r>
            <a:endParaRPr lang="en-US" altLang="en-US"/>
          </a:p>
          <a:p>
            <a:r>
              <a:rPr lang="en-US" altLang="en-US"/>
              <a:t>    public Object clone() throws CloneNotSupportedException {</a:t>
            </a:r>
            <a:endParaRPr lang="en-US" altLang="en-US"/>
          </a:p>
          <a:p>
            <a:r>
              <a:rPr lang="en-US" altLang="en-US"/>
              <a:t>        return super.clone();</a:t>
            </a:r>
            <a:endParaRPr lang="en-US" altLang="en-US"/>
          </a:p>
          <a:p>
            <a:r>
              <a:rPr lang="en-US" altLang="en-US"/>
              <a:t>  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84480" y="2701608"/>
            <a:ext cx="5080000" cy="135001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200" b="1"/>
              <a:t>2. Deep Copy</a:t>
            </a:r>
            <a:endParaRPr sz="2200" b="1"/>
          </a:p>
          <a:p>
            <a:pPr>
              <a:spcAft>
                <a:spcPct val="60000"/>
              </a:spcAft>
            </a:pPr>
            <a:r>
              <a:rPr sz="1600"/>
              <a:t>Copies primitive data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Copies actual objects (creates new references)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5873115" y="3428365"/>
            <a:ext cx="6096000" cy="3309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class Person implements Cloneable {</a:t>
            </a:r>
            <a:endParaRPr lang="en-US" altLang="en-US"/>
          </a:p>
          <a:p>
            <a:r>
              <a:rPr lang="en-US" altLang="en-US"/>
              <a:t>    int id;</a:t>
            </a:r>
            <a:endParaRPr lang="en-US" altLang="en-US"/>
          </a:p>
          <a:p>
            <a:r>
              <a:rPr lang="en-US" altLang="en-US"/>
              <a:t>    Address address;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public Object clone() throws CloneNotSupportedException {</a:t>
            </a:r>
            <a:endParaRPr lang="en-US" altLang="en-US"/>
          </a:p>
          <a:p>
            <a:r>
              <a:rPr lang="en-US" altLang="en-US"/>
              <a:t>        Person p = (Person) super.clone();</a:t>
            </a:r>
            <a:endParaRPr lang="en-US" altLang="en-US"/>
          </a:p>
          <a:p>
            <a:r>
              <a:rPr lang="en-US" altLang="en-US"/>
              <a:t>        p.address = new Address();</a:t>
            </a:r>
            <a:endParaRPr lang="en-US" altLang="en-US"/>
          </a:p>
          <a:p>
            <a:r>
              <a:rPr lang="en-US" altLang="en-US"/>
              <a:t>        p.address.city = this.address.city;</a:t>
            </a:r>
            <a:endParaRPr lang="en-US" altLang="en-US"/>
          </a:p>
          <a:p>
            <a:r>
              <a:rPr lang="en-US" altLang="en-US"/>
              <a:t>        return p;</a:t>
            </a:r>
            <a:endParaRPr lang="en-US" altLang="en-US"/>
          </a:p>
          <a:p>
            <a:r>
              <a:rPr lang="en-US" altLang="en-US"/>
              <a:t>  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3377</Words>
  <Application>WPS Presentation</Application>
  <PresentationFormat>Widescreen</PresentationFormat>
  <Paragraphs>116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UV-user</dc:creator>
  <cp:lastModifiedBy>Nishank Amte</cp:lastModifiedBy>
  <cp:revision>26</cp:revision>
  <dcterms:created xsi:type="dcterms:W3CDTF">2025-07-23T00:59:00Z</dcterms:created>
  <dcterms:modified xsi:type="dcterms:W3CDTF">2025-12-26T05:38:45Z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FB028B83EC8B4D52AEDA2C298611C8C7_11</vt:lpwstr>
  </property>
  <property fmtid="{D5CDD505-2E9C-101B-9397-08002B2CF9AE}" pid="3" name="KSOProductBuildVer">
    <vt:lpwstr>1033-12.2.0.23196</vt:lpwstr>
  </property>
</Properties>
</file>