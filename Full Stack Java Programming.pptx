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9" r:id="rId3"/>
    <p:sldId id="293" r:id="rId4"/>
    <p:sldId id="284" r:id="rId5"/>
    <p:sldId id="256" r:id="rId6"/>
    <p:sldId id="257" r:id="rId7"/>
    <p:sldId id="279" r:id="rId8"/>
    <p:sldId id="283" r:id="rId9"/>
    <p:sldId id="258" r:id="rId10"/>
    <p:sldId id="297" r:id="rId11"/>
    <p:sldId id="260" r:id="rId12"/>
    <p:sldId id="261" r:id="rId13"/>
    <p:sldId id="262" r:id="rId14"/>
    <p:sldId id="282" r:id="rId15"/>
    <p:sldId id="281" r:id="rId16"/>
    <p:sldId id="263" r:id="rId17"/>
    <p:sldId id="285" r:id="rId18"/>
    <p:sldId id="286" r:id="rId19"/>
    <p:sldId id="287" r:id="rId20"/>
    <p:sldId id="264" r:id="rId21"/>
    <p:sldId id="265" r:id="rId22"/>
    <p:sldId id="288" r:id="rId23"/>
    <p:sldId id="289" r:id="rId24"/>
    <p:sldId id="266" r:id="rId25"/>
    <p:sldId id="295" r:id="rId26"/>
    <p:sldId id="290" r:id="rId27"/>
    <p:sldId id="291" r:id="rId28"/>
    <p:sldId id="294" r:id="rId29"/>
    <p:sldId id="292" r:id="rId30"/>
    <p:sldId id="268" r:id="rId31"/>
    <p:sldId id="296" r:id="rId32"/>
    <p:sldId id="269" r:id="rId33"/>
    <p:sldId id="271" r:id="rId34"/>
    <p:sldId id="270" r:id="rId35"/>
    <p:sldId id="267" r:id="rId36"/>
    <p:sldId id="272" r:id="rId37"/>
    <p:sldId id="298" r:id="rId38"/>
    <p:sldId id="273" r:id="rId39"/>
    <p:sldId id="274" r:id="rId40"/>
    <p:sldId id="275" r:id="rId41"/>
    <p:sldId id="276" r:id="rId42"/>
    <p:sldId id="277" r:id="rId43"/>
    <p:sldId id="278"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6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8844211-6BB7-47FC-8A46-8D7F0C444A3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5345BF-7FB1-491B-8041-550E6263476A}"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8844211-6BB7-47FC-8A46-8D7F0C444A3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5345BF-7FB1-491B-8041-550E6263476A}"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8844211-6BB7-47FC-8A46-8D7F0C444A3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5345BF-7FB1-491B-8041-550E6263476A}"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8844211-6BB7-47FC-8A46-8D7F0C444A3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5345BF-7FB1-491B-8041-550E6263476A}"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8844211-6BB7-47FC-8A46-8D7F0C444A36}"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5345BF-7FB1-491B-8041-550E6263476A}"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8844211-6BB7-47FC-8A46-8D7F0C444A36}"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5345BF-7FB1-491B-8041-550E6263476A}"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844211-6BB7-47FC-8A46-8D7F0C444A36}"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85345BF-7FB1-491B-8041-550E6263476A}"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8844211-6BB7-47FC-8A46-8D7F0C444A3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5345BF-7FB1-491B-8041-550E6263476A}"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8844211-6BB7-47FC-8A46-8D7F0C444A3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5345BF-7FB1-491B-8041-550E6263476A}"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8844211-6BB7-47FC-8A46-8D7F0C444A3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5345BF-7FB1-491B-8041-550E6263476A}"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8844211-6BB7-47FC-8A46-8D7F0C444A3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5345BF-7FB1-491B-8041-550E6263476A}"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844211-6BB7-47FC-8A46-8D7F0C444A36}"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5345BF-7FB1-491B-8041-550E6263476A}"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jdk.java.net/" TargetMode="External"/><Relationship Id="rId1" Type="http://schemas.openxmlformats.org/officeDocument/2006/relationships/hyperlink" Target="https://www.oracle.com/java/technologies/javase-downloads.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https://code.visualstudio.com/" TargetMode="External"/><Relationship Id="rId3" Type="http://schemas.openxmlformats.org/officeDocument/2006/relationships/hyperlink" Target="https://netbeans.apache.org/" TargetMode="External"/><Relationship Id="rId2" Type="http://schemas.openxmlformats.org/officeDocument/2006/relationships/hyperlink" Target="https://www.eclipse.org/" TargetMode="External"/><Relationship Id="rId1" Type="http://schemas.openxmlformats.org/officeDocument/2006/relationships/hyperlink" Target="https://www.jetbrains.com/idea/"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emf"/></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377" y="85994"/>
            <a:ext cx="10515600" cy="308642"/>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Why Java</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67377" y="453206"/>
            <a:ext cx="12041204" cy="6404794"/>
          </a:xfrm>
        </p:spPr>
        <p:txBody>
          <a:bodyPr>
            <a:noAutofit/>
          </a:bodyPr>
          <a:lstStyle/>
          <a:p>
            <a:pPr marL="0" indent="0">
              <a:buNone/>
            </a:pPr>
            <a:r>
              <a:rPr lang="en-US" sz="1800" dirty="0">
                <a:latin typeface="Cambria" panose="02040503050406030204" pitchFamily="18" charset="0"/>
                <a:ea typeface="Cambria" panose="02040503050406030204" pitchFamily="18" charset="0"/>
              </a:rPr>
              <a:t>Java is one of the most widely used and respected programming languages in the world. It was designed with specific goals that make it an ideal choice for a wide range of applications. Below is a theoretical explanation of </a:t>
            </a:r>
            <a:r>
              <a:rPr lang="en-US" sz="1800" b="1" dirty="0">
                <a:latin typeface="Cambria" panose="02040503050406030204" pitchFamily="18" charset="0"/>
                <a:ea typeface="Cambria" panose="02040503050406030204" pitchFamily="18" charset="0"/>
              </a:rPr>
              <a:t>why Java is used</a:t>
            </a:r>
            <a:r>
              <a:rPr lang="en-US" sz="1800" dirty="0">
                <a:latin typeface="Cambria" panose="02040503050406030204" pitchFamily="18" charset="0"/>
                <a:ea typeface="Cambria" panose="02040503050406030204" pitchFamily="18" charset="0"/>
              </a:rPr>
              <a:t>, including its features, advantages, and use cases.</a:t>
            </a:r>
            <a:endParaRPr lang="en-US" sz="1800" dirty="0">
              <a:latin typeface="Cambria" panose="02040503050406030204" pitchFamily="18" charset="0"/>
              <a:ea typeface="Cambria" panose="02040503050406030204" pitchFamily="18" charset="0"/>
            </a:endParaRPr>
          </a:p>
          <a:p>
            <a:pPr marL="0" indent="0">
              <a:buNone/>
            </a:pPr>
            <a:r>
              <a:rPr lang="en-US" sz="1800" b="1" dirty="0">
                <a:latin typeface="Cambria" panose="02040503050406030204" pitchFamily="18" charset="0"/>
                <a:ea typeface="Cambria" panose="02040503050406030204" pitchFamily="18" charset="0"/>
              </a:rPr>
              <a:t> 1. Platform Independence</a:t>
            </a:r>
            <a:endParaRPr lang="en-US" sz="1800" b="1"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Java follows the principle of Write Once, Run Anywhere (WORA).  Java programs are compiled into bytecode, which can run on any device with a Java Virtual Machine (JVM). This removes the need to rewrite code for different operating systems or hardware.</a:t>
            </a:r>
            <a:endParaRPr lang="en-US" sz="1800" dirty="0">
              <a:latin typeface="Cambria" panose="02040503050406030204" pitchFamily="18" charset="0"/>
              <a:ea typeface="Cambria" panose="02040503050406030204" pitchFamily="18" charset="0"/>
            </a:endParaRPr>
          </a:p>
          <a:p>
            <a:pPr marL="0" indent="0">
              <a:buNone/>
            </a:pPr>
            <a:r>
              <a:rPr lang="en-US" sz="1800" b="1" dirty="0">
                <a:latin typeface="Cambria" panose="02040503050406030204" pitchFamily="18" charset="0"/>
                <a:ea typeface="Cambria" panose="02040503050406030204" pitchFamily="18" charset="0"/>
              </a:rPr>
              <a:t> 2. Object-Oriented Programming (OOP)</a:t>
            </a:r>
            <a:endParaRPr lang="en-US" sz="1800" b="1"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Java is a pure object-oriented language (except for primitive data types).  Supports key OOP principles: Encapsulation, Inheritance, Polymorphism, and Abstraction. Encourages modular, reusable, and maintainable code.</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 </a:t>
            </a:r>
            <a:r>
              <a:rPr lang="en-US" sz="1800" b="1" dirty="0">
                <a:latin typeface="Cambria" panose="02040503050406030204" pitchFamily="18" charset="0"/>
                <a:ea typeface="Cambria" panose="02040503050406030204" pitchFamily="18" charset="0"/>
              </a:rPr>
              <a:t>3. Simple and Familiar Syntax</a:t>
            </a:r>
            <a:endParaRPr lang="en-US" sz="1800" b="1"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Java has a clean and readable syntax, influenced by C and C++.  Easier to learn for beginners with a basic understanding of programming.    </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Removes complex and error-prone features like pointers, multiple inheritance via classes, and manual memory management.</a:t>
            </a:r>
            <a:endParaRPr lang="en-US" sz="1800" dirty="0">
              <a:latin typeface="Cambria" panose="02040503050406030204" pitchFamily="18" charset="0"/>
              <a:ea typeface="Cambria" panose="02040503050406030204" pitchFamily="18" charset="0"/>
            </a:endParaRPr>
          </a:p>
          <a:p>
            <a:pPr marL="0" indent="0">
              <a:buNone/>
            </a:pPr>
            <a:r>
              <a:rPr lang="en-US" sz="1800" b="1" dirty="0">
                <a:latin typeface="Cambria" panose="02040503050406030204" pitchFamily="18" charset="0"/>
                <a:ea typeface="Cambria" panose="02040503050406030204" pitchFamily="18" charset="0"/>
              </a:rPr>
              <a:t> 4. Automatic Memory Management (Garbage Collection)</a:t>
            </a:r>
            <a:endParaRPr lang="en-US" sz="1800" b="1"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Java handles memory allocation and deallocation automatically. No need for manual malloc or free as in C/C++. Reduces memory leaks and improves application stability.</a:t>
            </a:r>
            <a:endParaRPr lang="en-US" sz="1800" dirty="0">
              <a:latin typeface="Cambria" panose="02040503050406030204" pitchFamily="18" charset="0"/>
              <a:ea typeface="Cambria" panose="02040503050406030204" pitchFamily="18" charset="0"/>
            </a:endParaRPr>
          </a:p>
          <a:p>
            <a:pPr marL="0" indent="0">
              <a:buNone/>
            </a:pPr>
            <a:endParaRPr lang="en-US" sz="1800"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6253" y="73826"/>
            <a:ext cx="11993078" cy="6663857"/>
          </a:xfrm>
        </p:spPr>
        <p:txBody>
          <a:bodyPr>
            <a:noAutofit/>
          </a:bodyPr>
          <a:lstStyle/>
          <a:p>
            <a:pPr marL="0" indent="0">
              <a:buNone/>
            </a:pPr>
            <a:r>
              <a:rPr lang="en-US" sz="1600" b="1" dirty="0">
                <a:latin typeface="Cambria" panose="02040503050406030204" pitchFamily="18" charset="0"/>
                <a:ea typeface="Cambria" panose="02040503050406030204" pitchFamily="18" charset="0"/>
              </a:rPr>
              <a:t> 5. Secure Language</a:t>
            </a:r>
            <a:endParaRPr lang="en-US" sz="1600" b="1"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Java provides a secure runtime environment.  Features like bytecode verification, sandboxing, and runtime security checks make Java suitable for network applications and web-based software.</a:t>
            </a:r>
            <a:endParaRPr lang="en-US" sz="1600" dirty="0">
              <a:latin typeface="Cambria" panose="02040503050406030204" pitchFamily="18" charset="0"/>
              <a:ea typeface="Cambria" panose="02040503050406030204" pitchFamily="18" charset="0"/>
            </a:endParaRPr>
          </a:p>
          <a:p>
            <a:pPr marL="0" indent="0">
              <a:buNone/>
            </a:pPr>
            <a:r>
              <a:rPr lang="en-US" sz="1600" b="1" dirty="0">
                <a:latin typeface="Cambria" panose="02040503050406030204" pitchFamily="18" charset="0"/>
                <a:ea typeface="Cambria" panose="02040503050406030204" pitchFamily="18" charset="0"/>
              </a:rPr>
              <a:t>6. Multithreading Support</a:t>
            </a:r>
            <a:endParaRPr lang="en-US" sz="1600" b="1"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Java supports multithreading at the language level.  Allows multiple tasks to run concurrently within the same program.</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Ideal for modern applications that require responsiveness and parallel processing.</a:t>
            </a:r>
            <a:endParaRPr lang="en-US" sz="1600" dirty="0">
              <a:latin typeface="Cambria" panose="02040503050406030204" pitchFamily="18" charset="0"/>
              <a:ea typeface="Cambria" panose="02040503050406030204" pitchFamily="18" charset="0"/>
            </a:endParaRPr>
          </a:p>
          <a:p>
            <a:pPr marL="0" indent="0">
              <a:buNone/>
            </a:pPr>
            <a:r>
              <a:rPr lang="en-US" sz="1600" b="1" dirty="0">
                <a:latin typeface="Cambria" panose="02040503050406030204" pitchFamily="18" charset="0"/>
                <a:ea typeface="Cambria" panose="02040503050406030204" pitchFamily="18" charset="0"/>
              </a:rPr>
              <a:t>7. Rich Standard Library (Java API)</a:t>
            </a:r>
            <a:endParaRPr lang="en-US" sz="1600" b="1"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Java comes with an extensive built-in library.  Packages for data structures, networking, file handling, GUIs (Swing/JavaFX), concurrency, and more.  Saves time and reduces the need for third-party tools.</a:t>
            </a:r>
            <a:endParaRPr lang="en-US" sz="1600" dirty="0">
              <a:latin typeface="Cambria" panose="02040503050406030204" pitchFamily="18" charset="0"/>
              <a:ea typeface="Cambria" panose="02040503050406030204" pitchFamily="18" charset="0"/>
            </a:endParaRPr>
          </a:p>
          <a:p>
            <a:pPr marL="0" indent="0">
              <a:buNone/>
            </a:pPr>
            <a:r>
              <a:rPr lang="en-US" sz="1600" b="1" dirty="0">
                <a:latin typeface="Cambria" panose="02040503050406030204" pitchFamily="18" charset="0"/>
                <a:ea typeface="Cambria" panose="02040503050406030204" pitchFamily="18" charset="0"/>
              </a:rPr>
              <a:t>8. Robust and Reliable</a:t>
            </a:r>
            <a:endParaRPr lang="en-US" sz="1600" b="1"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Java emphasizes error handling and stability.  Strong type checking at compile-time.  Exception handling mechanisms improve code reliability.</a:t>
            </a:r>
            <a:endParaRPr lang="en-US" sz="1600" dirty="0">
              <a:latin typeface="Cambria" panose="02040503050406030204" pitchFamily="18" charset="0"/>
              <a:ea typeface="Cambria" panose="02040503050406030204" pitchFamily="18" charset="0"/>
            </a:endParaRPr>
          </a:p>
          <a:p>
            <a:pPr marL="0" indent="0">
              <a:buNone/>
            </a:pPr>
            <a:r>
              <a:rPr lang="en-US" sz="1600" b="1" dirty="0">
                <a:latin typeface="Cambria" panose="02040503050406030204" pitchFamily="18" charset="0"/>
                <a:ea typeface="Cambria" panose="02040503050406030204" pitchFamily="18" charset="0"/>
              </a:rPr>
              <a:t> 9. High Performance (via JIT)</a:t>
            </a:r>
            <a:endParaRPr lang="en-US" sz="1600" b="1"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Though interpreted, Java is quite fast due to the Just-In-Time (JIT) compiler.  Converts frequently used bytecode into native machine code during execution.  Improves performance close to native languages.</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 </a:t>
            </a:r>
            <a:r>
              <a:rPr lang="en-US" sz="1600" b="1" dirty="0">
                <a:latin typeface="Cambria" panose="02040503050406030204" pitchFamily="18" charset="0"/>
                <a:ea typeface="Cambria" panose="02040503050406030204" pitchFamily="18" charset="0"/>
              </a:rPr>
              <a:t>10. Wide Adoption and Community Support</a:t>
            </a:r>
            <a:endParaRPr lang="en-US" sz="1600" b="1"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Java has a large, active developer community.  Millions of developers and vast resources available (tutorials, forums, libraries).</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Continuous updates and innovations (Java 17, 21, 22…).</a:t>
            </a:r>
            <a:endParaRPr lang="en-US" sz="1600" dirty="0">
              <a:latin typeface="Cambria" panose="02040503050406030204" pitchFamily="18" charset="0"/>
              <a:ea typeface="Cambria" panose="02040503050406030204" pitchFamily="18" charset="0"/>
            </a:endParaRPr>
          </a:p>
          <a:p>
            <a:pPr marL="0" indent="0">
              <a:buNone/>
            </a:pPr>
            <a:r>
              <a:rPr lang="en-US" sz="1600" b="1" dirty="0">
                <a:latin typeface="Cambria" panose="02040503050406030204" pitchFamily="18" charset="0"/>
                <a:ea typeface="Cambria" panose="02040503050406030204" pitchFamily="18" charset="0"/>
              </a:rPr>
              <a:t>11. Versatile and Scalable</a:t>
            </a:r>
            <a:endParaRPr lang="en-US" sz="1600" b="1"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Java is used in many domains:   Web </a:t>
            </a:r>
            <a:r>
              <a:rPr lang="en-US" sz="1600">
                <a:latin typeface="Cambria" panose="02040503050406030204" pitchFamily="18" charset="0"/>
                <a:ea typeface="Cambria" panose="02040503050406030204" pitchFamily="18" charset="0"/>
              </a:rPr>
              <a:t>applications  ,  </a:t>
            </a:r>
            <a:r>
              <a:rPr lang="en-US" sz="1600" dirty="0">
                <a:latin typeface="Cambria" panose="02040503050406030204" pitchFamily="18" charset="0"/>
                <a:ea typeface="Cambria" panose="02040503050406030204" pitchFamily="18" charset="0"/>
              </a:rPr>
              <a:t>Mobile apps (</a:t>
            </a:r>
            <a:r>
              <a:rPr lang="en-US" sz="1600">
                <a:latin typeface="Cambria" panose="02040503050406030204" pitchFamily="18" charset="0"/>
                <a:ea typeface="Cambria" panose="02040503050406030204" pitchFamily="18" charset="0"/>
              </a:rPr>
              <a:t>Android),   Enterprise software,   Banking systems  , Big </a:t>
            </a:r>
            <a:r>
              <a:rPr lang="en-US" sz="1600" dirty="0">
                <a:latin typeface="Cambria" panose="02040503050406030204" pitchFamily="18" charset="0"/>
                <a:ea typeface="Cambria" panose="02040503050406030204" pitchFamily="18" charset="0"/>
              </a:rPr>
              <a:t>Data and </a:t>
            </a:r>
            <a:r>
              <a:rPr lang="en-US" sz="1600">
                <a:latin typeface="Cambria" panose="02040503050406030204" pitchFamily="18" charset="0"/>
                <a:ea typeface="Cambria" panose="02040503050406030204" pitchFamily="18" charset="0"/>
              </a:rPr>
              <a:t>Cloud Computing  ,Scientific </a:t>
            </a:r>
            <a:r>
              <a:rPr lang="en-US" sz="1600" dirty="0">
                <a:latin typeface="Cambria" panose="02040503050406030204" pitchFamily="18" charset="0"/>
                <a:ea typeface="Cambria" panose="02040503050406030204" pitchFamily="18" charset="0"/>
              </a:rPr>
              <a:t>applications</a:t>
            </a:r>
            <a:endParaRPr lang="en-US" sz="1600" dirty="0">
              <a:latin typeface="Cambria" panose="02040503050406030204" pitchFamily="18" charset="0"/>
              <a:ea typeface="Cambria" panose="02040503050406030204" pitchFamily="18" charset="0"/>
            </a:endParaRPr>
          </a:p>
          <a:p>
            <a:pPr marL="0" indent="0">
              <a:buNone/>
            </a:pPr>
            <a:endParaRPr lang="en-US" sz="1600"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429" y="391461"/>
            <a:ext cx="10515600" cy="4351338"/>
          </a:xfrm>
        </p:spPr>
        <p:txBody>
          <a:bodyPr/>
          <a:lstStyle/>
          <a:p>
            <a:pPr marL="0" marR="0" algn="just">
              <a:spcBef>
                <a:spcPts val="0"/>
              </a:spcBef>
              <a:spcAft>
                <a:spcPts val="0"/>
              </a:spcAft>
            </a:pPr>
            <a:r>
              <a:rPr lang="en-IN" sz="1800" kern="50" dirty="0">
                <a:solidFill>
                  <a:srgbClr val="00000A"/>
                </a:solidFill>
                <a:effectLst/>
                <a:latin typeface="Cambria" panose="02040503050406030204" pitchFamily="18" charset="0"/>
                <a:ea typeface="Times New Roman" panose="02020603050405020304" pitchFamily="18" charset="0"/>
                <a:cs typeface="Calibri" panose="020F0502020204030204" pitchFamily="34" charset="0"/>
              </a:rPr>
              <a:t>Any hardware or software environment in which a program runs is known as a Platform.</a:t>
            </a:r>
            <a:endParaRPr lang="en-US" sz="1800" kern="50" dirty="0">
              <a:effectLst/>
              <a:latin typeface="Liberation Serif"/>
              <a:ea typeface="Droid Sans Fallback"/>
              <a:cs typeface="FreeSans"/>
            </a:endParaRPr>
          </a:p>
          <a:p>
            <a:pPr marL="0" marR="0" algn="just">
              <a:spcBef>
                <a:spcPts val="0"/>
              </a:spcBef>
              <a:spcAft>
                <a:spcPts val="0"/>
              </a:spcAft>
            </a:pPr>
            <a:r>
              <a:rPr lang="en-IN" sz="1800" kern="50" dirty="0">
                <a:solidFill>
                  <a:srgbClr val="00000A"/>
                </a:solidFill>
                <a:effectLst/>
                <a:latin typeface="Cambria" panose="02040503050406030204" pitchFamily="18" charset="0"/>
                <a:ea typeface="Times New Roman" panose="02020603050405020304" pitchFamily="18" charset="0"/>
                <a:cs typeface="Calibri" panose="020F0502020204030204" pitchFamily="34" charset="0"/>
              </a:rPr>
              <a:t>Since Java has its own runtime environment (JRE) and API, it is called Platform.</a:t>
            </a:r>
            <a:endParaRPr lang="en-US" sz="1800" kern="50" dirty="0">
              <a:effectLst/>
              <a:latin typeface="Liberation Serif"/>
              <a:ea typeface="Droid Sans Fallback"/>
              <a:cs typeface="FreeSans"/>
            </a:endParaRPr>
          </a:p>
          <a:p>
            <a:pPr marL="0" marR="0" algn="just">
              <a:spcBef>
                <a:spcPts val="0"/>
              </a:spcBef>
              <a:spcAft>
                <a:spcPts val="0"/>
              </a:spcAft>
            </a:pPr>
            <a:r>
              <a:rPr lang="en-IN" sz="1800" kern="50" dirty="0">
                <a:solidFill>
                  <a:srgbClr val="00000A"/>
                </a:solidFill>
                <a:effectLst/>
                <a:latin typeface="Cambria" panose="02040503050406030204" pitchFamily="18" charset="0"/>
                <a:ea typeface="Times New Roman" panose="02020603050405020304" pitchFamily="18" charset="0"/>
                <a:cs typeface="Calibri" panose="020F0502020204030204" pitchFamily="34" charset="0"/>
              </a:rPr>
              <a:t>JVM is the responsible to make java application as independent of platform and portable</a:t>
            </a:r>
            <a:endParaRPr lang="en-US" sz="1800" kern="50" dirty="0">
              <a:effectLst/>
              <a:latin typeface="Liberation Serif"/>
              <a:ea typeface="Droid Sans Fallback"/>
              <a:cs typeface="FreeSans"/>
            </a:endParaRPr>
          </a:p>
          <a:p>
            <a:endParaRPr lang="en-US" dirty="0"/>
          </a:p>
        </p:txBody>
      </p:sp>
      <p:graphicFrame>
        <p:nvGraphicFramePr>
          <p:cNvPr id="4" name="Table 3"/>
          <p:cNvGraphicFramePr>
            <a:graphicFrameLocks noGrp="1"/>
          </p:cNvGraphicFramePr>
          <p:nvPr/>
        </p:nvGraphicFramePr>
        <p:xfrm>
          <a:off x="260685" y="1600200"/>
          <a:ext cx="10515600" cy="1828800"/>
        </p:xfrm>
        <a:graphic>
          <a:graphicData uri="http://schemas.openxmlformats.org/drawingml/2006/table">
            <a:tbl>
              <a:tblPr/>
              <a:tblGrid>
                <a:gridCol w="5257800"/>
                <a:gridCol w="5257800"/>
              </a:tblGrid>
              <a:tr h="0">
                <a:tc>
                  <a:txBody>
                    <a:bodyPr/>
                    <a:lstStyle/>
                    <a:p>
                      <a:r>
                        <a:rPr lang="en-US"/>
                        <a:t>Command</a:t>
                      </a:r>
                      <a:endParaRPr lang="en-US"/>
                    </a:p>
                  </a:txBody>
                  <a:tcPr anchor="ctr">
                    <a:lnL>
                      <a:noFill/>
                    </a:lnL>
                    <a:lnR>
                      <a:noFill/>
                    </a:lnR>
                    <a:lnT>
                      <a:noFill/>
                    </a:lnT>
                    <a:lnB>
                      <a:noFill/>
                    </a:lnB>
                    <a:noFill/>
                  </a:tcPr>
                </a:tc>
                <a:tc>
                  <a:txBody>
                    <a:bodyPr/>
                    <a:lstStyle/>
                    <a:p>
                      <a:r>
                        <a:rPr lang="en-US"/>
                        <a:t>What It Does</a:t>
                      </a:r>
                      <a:endParaRPr lang="en-US"/>
                    </a:p>
                  </a:txBody>
                  <a:tcPr anchor="ctr">
                    <a:lnL>
                      <a:noFill/>
                    </a:lnL>
                    <a:lnR>
                      <a:noFill/>
                    </a:lnR>
                    <a:lnT>
                      <a:noFill/>
                    </a:lnT>
                    <a:lnB>
                      <a:noFill/>
                    </a:lnB>
                    <a:noFill/>
                  </a:tcPr>
                </a:tc>
              </a:tr>
              <a:tr h="0">
                <a:tc>
                  <a:txBody>
                    <a:bodyPr/>
                    <a:lstStyle/>
                    <a:p>
                      <a:r>
                        <a:rPr lang="en-US" dirty="0"/>
                        <a:t>cd</a:t>
                      </a:r>
                      <a:endParaRPr lang="en-US" dirty="0"/>
                    </a:p>
                  </a:txBody>
                  <a:tcPr anchor="ctr">
                    <a:lnL>
                      <a:noFill/>
                    </a:lnL>
                    <a:lnR>
                      <a:noFill/>
                    </a:lnR>
                    <a:lnT>
                      <a:noFill/>
                    </a:lnT>
                    <a:lnB>
                      <a:noFill/>
                    </a:lnB>
                    <a:noFill/>
                  </a:tcPr>
                </a:tc>
                <a:tc>
                  <a:txBody>
                    <a:bodyPr/>
                    <a:lstStyle/>
                    <a:p>
                      <a:r>
                        <a:rPr lang="en-US"/>
                        <a:t>Show current directory</a:t>
                      </a:r>
                      <a:endParaRPr lang="en-US"/>
                    </a:p>
                  </a:txBody>
                  <a:tcPr anchor="ctr">
                    <a:lnL>
                      <a:noFill/>
                    </a:lnL>
                    <a:lnR>
                      <a:noFill/>
                    </a:lnR>
                    <a:lnT>
                      <a:noFill/>
                    </a:lnT>
                    <a:lnB>
                      <a:noFill/>
                    </a:lnB>
                    <a:noFill/>
                  </a:tcPr>
                </a:tc>
              </a:tr>
              <a:tr h="0">
                <a:tc>
                  <a:txBody>
                    <a:bodyPr/>
                    <a:lstStyle/>
                    <a:p>
                      <a:r>
                        <a:rPr lang="en-US"/>
                        <a:t>cd ..</a:t>
                      </a:r>
                      <a:endParaRPr lang="en-US"/>
                    </a:p>
                  </a:txBody>
                  <a:tcPr anchor="ctr">
                    <a:lnL>
                      <a:noFill/>
                    </a:lnL>
                    <a:lnR>
                      <a:noFill/>
                    </a:lnR>
                    <a:lnT>
                      <a:noFill/>
                    </a:lnT>
                    <a:lnB>
                      <a:noFill/>
                    </a:lnB>
                    <a:noFill/>
                  </a:tcPr>
                </a:tc>
                <a:tc>
                  <a:txBody>
                    <a:bodyPr/>
                    <a:lstStyle/>
                    <a:p>
                      <a:r>
                        <a:rPr lang="en-US"/>
                        <a:t>Go up one folder</a:t>
                      </a:r>
                      <a:endParaRPr lang="en-US"/>
                    </a:p>
                  </a:txBody>
                  <a:tcPr anchor="ctr">
                    <a:lnL>
                      <a:noFill/>
                    </a:lnL>
                    <a:lnR>
                      <a:noFill/>
                    </a:lnR>
                    <a:lnT>
                      <a:noFill/>
                    </a:lnT>
                    <a:lnB>
                      <a:noFill/>
                    </a:lnB>
                    <a:noFill/>
                  </a:tcPr>
                </a:tc>
              </a:tr>
              <a:tr h="0">
                <a:tc>
                  <a:txBody>
                    <a:bodyPr/>
                    <a:lstStyle/>
                    <a:p>
                      <a:r>
                        <a:rPr lang="en-US"/>
                        <a:t>cd \</a:t>
                      </a:r>
                      <a:endParaRPr lang="en-US"/>
                    </a:p>
                  </a:txBody>
                  <a:tcPr anchor="ctr">
                    <a:lnL>
                      <a:noFill/>
                    </a:lnL>
                    <a:lnR>
                      <a:noFill/>
                    </a:lnR>
                    <a:lnT>
                      <a:noFill/>
                    </a:lnT>
                    <a:lnB>
                      <a:noFill/>
                    </a:lnB>
                    <a:noFill/>
                  </a:tcPr>
                </a:tc>
                <a:tc>
                  <a:txBody>
                    <a:bodyPr/>
                    <a:lstStyle/>
                    <a:p>
                      <a:r>
                        <a:rPr lang="en-US"/>
                        <a:t>Go to root of current drive</a:t>
                      </a:r>
                      <a:endParaRPr lang="en-US"/>
                    </a:p>
                  </a:txBody>
                  <a:tcPr anchor="ctr">
                    <a:lnL>
                      <a:noFill/>
                    </a:lnL>
                    <a:lnR>
                      <a:noFill/>
                    </a:lnR>
                    <a:lnT>
                      <a:noFill/>
                    </a:lnT>
                    <a:lnB>
                      <a:noFill/>
                    </a:lnB>
                    <a:noFill/>
                  </a:tcPr>
                </a:tc>
              </a:tr>
              <a:tr h="0">
                <a:tc>
                  <a:txBody>
                    <a:bodyPr/>
                    <a:lstStyle/>
                    <a:p>
                      <a:r>
                        <a:rPr lang="en-US"/>
                        <a:t>dir</a:t>
                      </a:r>
                      <a:endParaRPr lang="en-US"/>
                    </a:p>
                  </a:txBody>
                  <a:tcPr anchor="ctr">
                    <a:lnL>
                      <a:noFill/>
                    </a:lnL>
                    <a:lnR>
                      <a:noFill/>
                    </a:lnR>
                    <a:lnT>
                      <a:noFill/>
                    </a:lnT>
                    <a:lnB>
                      <a:noFill/>
                    </a:lnB>
                    <a:noFill/>
                  </a:tcPr>
                </a:tc>
                <a:tc>
                  <a:txBody>
                    <a:bodyPr/>
                    <a:lstStyle/>
                    <a:p>
                      <a:r>
                        <a:rPr lang="en-US" dirty="0"/>
                        <a:t>List contents of current folder</a:t>
                      </a:r>
                      <a:endParaRPr lang="en-US" dirty="0"/>
                    </a:p>
                  </a:txBody>
                  <a:tcPr anchor="ctr">
                    <a:lnL>
                      <a:noFill/>
                    </a:lnL>
                    <a:lnR>
                      <a:noFill/>
                    </a:lnR>
                    <a:lnT>
                      <a:noFill/>
                    </a:lnT>
                    <a:lnB>
                      <a:noFill/>
                    </a:lnB>
                    <a:no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787534"/>
            <a:ext cx="9144000" cy="641466"/>
          </a:xfrm>
        </p:spPr>
        <p:txBody>
          <a:bodyPr>
            <a:normAutofit/>
          </a:bodyPr>
          <a:lstStyle/>
          <a:p>
            <a:r>
              <a:rPr lang="en-US" sz="3200" b="1" dirty="0">
                <a:solidFill>
                  <a:srgbClr val="FF0000"/>
                </a:solidFill>
                <a:latin typeface="Cambria" panose="02040503050406030204" pitchFamily="18" charset="0"/>
                <a:ea typeface="Cambria" panose="02040503050406030204" pitchFamily="18" charset="0"/>
              </a:rPr>
              <a:t>Full Stack Java Programming</a:t>
            </a:r>
            <a:endParaRPr lang="en-US" sz="3200" b="1" dirty="0">
              <a:solidFill>
                <a:srgbClr val="FF0000"/>
              </a:solidFill>
              <a:latin typeface="Cambria" panose="02040503050406030204" pitchFamily="18" charset="0"/>
              <a:ea typeface="Cambria" panose="0204050305040603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054" y="143745"/>
            <a:ext cx="10515600" cy="315912"/>
          </a:xfrm>
        </p:spPr>
        <p:txBody>
          <a:bodyPr>
            <a:noAutofit/>
          </a:bodyPr>
          <a:lstStyle/>
          <a:p>
            <a:r>
              <a:rPr lang="en-US" sz="2400" b="1" dirty="0">
                <a:solidFill>
                  <a:srgbClr val="FF0000"/>
                </a:solidFill>
                <a:latin typeface="Cambria" panose="02040503050406030204" pitchFamily="18" charset="0"/>
                <a:ea typeface="Cambria" panose="02040503050406030204" pitchFamily="18" charset="0"/>
              </a:rPr>
              <a:t>Introduction To Java Programming</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99695" y="626745"/>
            <a:ext cx="11991975" cy="6008370"/>
          </a:xfrm>
        </p:spPr>
        <p:txBody>
          <a:bodyPr>
            <a:noAutofit/>
          </a:bodyPr>
          <a:lstStyle/>
          <a:p>
            <a:pPr>
              <a:lnSpc>
                <a:spcPct val="110000"/>
              </a:lnSpc>
            </a:pPr>
            <a:r>
              <a:rPr lang="en-US" sz="1800" dirty="0">
                <a:latin typeface="Cambria" panose="02040503050406030204" pitchFamily="18" charset="0"/>
                <a:ea typeface="Cambria" panose="02040503050406030204" pitchFamily="18" charset="0"/>
              </a:rPr>
              <a:t>Java is a </a:t>
            </a:r>
            <a:r>
              <a:rPr lang="en-US" sz="1800" b="1" dirty="0">
                <a:latin typeface="Cambria" panose="02040503050406030204" pitchFamily="18" charset="0"/>
                <a:ea typeface="Cambria" panose="02040503050406030204" pitchFamily="18" charset="0"/>
              </a:rPr>
              <a:t>high-level, object-oriented, and platform-independent programming language</a:t>
            </a:r>
            <a:r>
              <a:rPr lang="en-US" sz="1800" dirty="0">
                <a:latin typeface="Cambria" panose="02040503050406030204" pitchFamily="18" charset="0"/>
                <a:ea typeface="Cambria" panose="02040503050406030204" pitchFamily="18" charset="0"/>
              </a:rPr>
              <a:t> developed to let developers "write once, run anywhere." It is one of the most widely used languages in the software world today—used in web apps, mobile apps, enterprise software, and more.</a:t>
            </a:r>
            <a:endParaRPr lang="en-US" sz="1800" dirty="0">
              <a:latin typeface="Cambria" panose="02040503050406030204" pitchFamily="18" charset="0"/>
              <a:ea typeface="Cambria" panose="02040503050406030204" pitchFamily="18" charset="0"/>
            </a:endParaRPr>
          </a:p>
          <a:p>
            <a:pPr>
              <a:lnSpc>
                <a:spcPct val="110000"/>
              </a:lnSpc>
            </a:pPr>
            <a:r>
              <a:rPr lang="en-US" sz="2000" dirty="0">
                <a:latin typeface="Cambria" panose="02040503050406030204" pitchFamily="18" charset="0"/>
                <a:ea typeface="Cambria" panose="02040503050406030204" pitchFamily="18" charset="0"/>
              </a:rPr>
              <a:t>Java is high level  Programming </a:t>
            </a:r>
            <a:r>
              <a:rPr lang="en-US" sz="2000" b="0" i="0" u="none" strike="noStrike" baseline="0" dirty="0">
                <a:latin typeface="Cambria" panose="02040503050406030204" pitchFamily="18" charset="0"/>
                <a:ea typeface="Cambria" panose="02040503050406030204" pitchFamily="18" charset="0"/>
              </a:rPr>
              <a:t>language</a:t>
            </a:r>
            <a:endParaRPr lang="en-US" sz="2000" b="0" i="0" u="none" strike="noStrike" baseline="0" dirty="0">
              <a:latin typeface="Cambria" panose="02040503050406030204" pitchFamily="18" charset="0"/>
              <a:ea typeface="Cambria" panose="02040503050406030204" pitchFamily="18" charset="0"/>
            </a:endParaRPr>
          </a:p>
          <a:p>
            <a:pPr>
              <a:lnSpc>
                <a:spcPct val="110000"/>
              </a:lnSpc>
            </a:pPr>
            <a:r>
              <a:rPr lang="en-US" sz="2000" b="1" i="0" u="none" strike="noStrike" baseline="0" dirty="0">
                <a:latin typeface="Cambria" panose="02040503050406030204" pitchFamily="18" charset="0"/>
                <a:ea typeface="Cambria" panose="02040503050406030204" pitchFamily="18" charset="0"/>
              </a:rPr>
              <a:t>JAVA </a:t>
            </a:r>
            <a:r>
              <a:rPr lang="en-US" sz="2000" b="0" i="0" u="none" strike="noStrike" baseline="0" dirty="0">
                <a:latin typeface="Cambria" panose="02040503050406030204" pitchFamily="18" charset="0"/>
                <a:ea typeface="Cambria" panose="02040503050406030204" pitchFamily="18" charset="0"/>
              </a:rPr>
              <a:t>was developed by </a:t>
            </a:r>
            <a:r>
              <a:rPr lang="en-US" sz="2000" b="0" i="0" u="none" strike="noStrike" baseline="0" dirty="0">
                <a:highlight>
                  <a:srgbClr val="FFFF00"/>
                </a:highlight>
                <a:latin typeface="Cambria" panose="02040503050406030204" pitchFamily="18" charset="0"/>
                <a:ea typeface="Cambria" panose="02040503050406030204" pitchFamily="18" charset="0"/>
              </a:rPr>
              <a:t>James Gosling </a:t>
            </a:r>
            <a:r>
              <a:rPr lang="en-US" sz="2000" b="0" i="0" u="none" strike="noStrike" baseline="0" dirty="0">
                <a:latin typeface="Cambria" panose="02040503050406030204" pitchFamily="18" charset="0"/>
                <a:ea typeface="Cambria" panose="02040503050406030204" pitchFamily="18" charset="0"/>
              </a:rPr>
              <a:t>at </a:t>
            </a:r>
            <a:r>
              <a:rPr lang="en-US" sz="2000" b="1" i="0" u="none" strike="noStrike" baseline="0" dirty="0">
                <a:latin typeface="Cambria" panose="02040503050406030204" pitchFamily="18" charset="0"/>
                <a:ea typeface="Cambria" panose="02040503050406030204" pitchFamily="18" charset="0"/>
              </a:rPr>
              <a:t>Sun Microsystems </a:t>
            </a:r>
            <a:r>
              <a:rPr lang="en-US" sz="2000" b="0" i="0" u="none" strike="noStrike" baseline="0" dirty="0">
                <a:latin typeface="Cambria" panose="02040503050406030204" pitchFamily="18" charset="0"/>
                <a:ea typeface="Cambria" panose="02040503050406030204" pitchFamily="18" charset="0"/>
              </a:rPr>
              <a:t>Inc in the year </a:t>
            </a:r>
            <a:r>
              <a:rPr lang="en-US" sz="2000" b="1" i="0" u="none" strike="noStrike" baseline="0" dirty="0">
                <a:latin typeface="Cambria" panose="02040503050406030204" pitchFamily="18" charset="0"/>
                <a:ea typeface="Cambria" panose="02040503050406030204" pitchFamily="18" charset="0"/>
              </a:rPr>
              <a:t>1995</a:t>
            </a:r>
            <a:r>
              <a:rPr lang="en-US" sz="2000" b="0" i="0" u="none" strike="noStrike" baseline="0" dirty="0">
                <a:latin typeface="Cambria" panose="02040503050406030204" pitchFamily="18" charset="0"/>
                <a:ea typeface="Cambria" panose="02040503050406030204" pitchFamily="18" charset="0"/>
              </a:rPr>
              <a:t>, later acquired by Oracle Corporation.</a:t>
            </a:r>
            <a:endParaRPr lang="en-US" sz="2000" b="0" i="0" u="none" strike="noStrike" baseline="0" dirty="0">
              <a:latin typeface="Cambria" panose="02040503050406030204" pitchFamily="18" charset="0"/>
              <a:ea typeface="Cambria" panose="02040503050406030204" pitchFamily="18" charset="0"/>
            </a:endParaRPr>
          </a:p>
          <a:p>
            <a:pPr>
              <a:lnSpc>
                <a:spcPct val="110000"/>
              </a:lnSpc>
            </a:pPr>
            <a:r>
              <a:rPr lang="en-US" sz="2000" b="0" i="0" u="none" strike="noStrike" baseline="0" dirty="0">
                <a:latin typeface="Cambria" panose="02040503050406030204" pitchFamily="18" charset="0"/>
                <a:ea typeface="Cambria" panose="02040503050406030204" pitchFamily="18" charset="0"/>
              </a:rPr>
              <a:t>It is a simple programming language. </a:t>
            </a:r>
            <a:endParaRPr lang="en-US" sz="2000" b="0" i="0" u="none" strike="noStrike" baseline="0" dirty="0">
              <a:latin typeface="Cambria" panose="02040503050406030204" pitchFamily="18" charset="0"/>
              <a:ea typeface="Cambria" panose="02040503050406030204" pitchFamily="18" charset="0"/>
            </a:endParaRPr>
          </a:p>
          <a:p>
            <a:pPr>
              <a:lnSpc>
                <a:spcPct val="110000"/>
              </a:lnSpc>
            </a:pPr>
            <a:r>
              <a:rPr lang="en-US" sz="2000" b="0" i="0" u="none" strike="noStrike" baseline="0" dirty="0">
                <a:latin typeface="Cambria" panose="02040503050406030204" pitchFamily="18" charset="0"/>
                <a:ea typeface="Cambria" panose="02040503050406030204" pitchFamily="18" charset="0"/>
              </a:rPr>
              <a:t>Java makes writing, compiling, and debugging programming easy. </a:t>
            </a:r>
            <a:endParaRPr lang="en-US" sz="2000" b="0" i="0" u="none" strike="noStrike" baseline="0" dirty="0">
              <a:latin typeface="Cambria" panose="02040503050406030204" pitchFamily="18" charset="0"/>
              <a:ea typeface="Cambria" panose="02040503050406030204" pitchFamily="18" charset="0"/>
            </a:endParaRPr>
          </a:p>
          <a:p>
            <a:pPr>
              <a:lnSpc>
                <a:spcPct val="110000"/>
              </a:lnSpc>
            </a:pPr>
            <a:r>
              <a:rPr lang="en-US" sz="2000" b="0" i="0" u="none" strike="noStrike" baseline="0" dirty="0">
                <a:latin typeface="Cambria" panose="02040503050406030204" pitchFamily="18" charset="0"/>
                <a:ea typeface="Cambria" panose="02040503050406030204" pitchFamily="18" charset="0"/>
              </a:rPr>
              <a:t>It helps to create reusable code and modular programs. </a:t>
            </a:r>
            <a:endParaRPr lang="en-US" sz="2000" b="0" i="0" u="none" strike="noStrike" baseline="0" dirty="0">
              <a:latin typeface="Cambria" panose="02040503050406030204" pitchFamily="18" charset="0"/>
              <a:ea typeface="Cambria" panose="02040503050406030204" pitchFamily="18" charset="0"/>
            </a:endParaRPr>
          </a:p>
          <a:p>
            <a:pPr>
              <a:lnSpc>
                <a:spcPct val="110000"/>
              </a:lnSpc>
            </a:pPr>
            <a:r>
              <a:rPr lang="en-US" sz="2000" b="0" i="0" u="none" strike="noStrike" baseline="0" dirty="0">
                <a:latin typeface="Cambria" panose="02040503050406030204" pitchFamily="18" charset="0"/>
                <a:ea typeface="Cambria" panose="02040503050406030204" pitchFamily="18" charset="0"/>
              </a:rPr>
              <a:t>Java is a class-based, object-oriented programming language and is designed to have as few implementation dependencies as possible. </a:t>
            </a:r>
            <a:endParaRPr lang="en-US" sz="2000" b="0" i="0" u="none" strike="noStrike" baseline="0" dirty="0">
              <a:latin typeface="Cambria" panose="02040503050406030204" pitchFamily="18" charset="0"/>
              <a:ea typeface="Cambria" panose="02040503050406030204" pitchFamily="18" charset="0"/>
            </a:endParaRPr>
          </a:p>
          <a:p>
            <a:pPr>
              <a:lnSpc>
                <a:spcPct val="110000"/>
              </a:lnSpc>
            </a:pPr>
            <a:r>
              <a:rPr lang="en-US" sz="2000" b="0" i="0" u="none" strike="noStrike" baseline="0" dirty="0">
                <a:latin typeface="Cambria" panose="02040503050406030204" pitchFamily="18" charset="0"/>
                <a:ea typeface="Cambria" panose="02040503050406030204" pitchFamily="18" charset="0"/>
              </a:rPr>
              <a:t>A general-purpose programming language made for developers to </a:t>
            </a:r>
            <a:r>
              <a:rPr lang="en-US" sz="2000" b="0" i="1" u="none" strike="noStrike" baseline="0" dirty="0">
                <a:latin typeface="Cambria" panose="02040503050406030204" pitchFamily="18" charset="0"/>
                <a:ea typeface="Cambria" panose="02040503050406030204" pitchFamily="18" charset="0"/>
              </a:rPr>
              <a:t>write once run anywhere </a:t>
            </a:r>
            <a:r>
              <a:rPr lang="en-US" sz="2000" b="0" i="0" u="none" strike="noStrike" baseline="0" dirty="0">
                <a:latin typeface="Cambria" panose="02040503050406030204" pitchFamily="18" charset="0"/>
                <a:ea typeface="Cambria" panose="02040503050406030204" pitchFamily="18" charset="0"/>
              </a:rPr>
              <a:t>that is compiled Java code can run on all platforms that support Java. </a:t>
            </a:r>
            <a:endParaRPr lang="en-US" sz="2000" b="0" i="0" u="none" strike="noStrike" baseline="0" dirty="0">
              <a:latin typeface="Cambria" panose="02040503050406030204" pitchFamily="18" charset="0"/>
              <a:ea typeface="Cambria" panose="02040503050406030204" pitchFamily="18" charset="0"/>
            </a:endParaRPr>
          </a:p>
          <a:p>
            <a:pPr>
              <a:lnSpc>
                <a:spcPct val="110000"/>
              </a:lnSpc>
            </a:pPr>
            <a:endParaRPr lang="en-US" sz="2000" b="0" i="0" u="none" strike="noStrike" baseline="0" dirty="0">
              <a:latin typeface="Cambria" panose="02040503050406030204" pitchFamily="18" charset="0"/>
              <a:ea typeface="Cambria" panose="02040503050406030204" pitchFamily="18" charset="0"/>
            </a:endParaRPr>
          </a:p>
          <a:p>
            <a:pPr>
              <a:lnSpc>
                <a:spcPct val="110000"/>
              </a:lnSpc>
            </a:pPr>
            <a:endParaRPr lang="en-US" sz="2000" b="0" i="0" u="none" strike="noStrike" baseline="0" dirty="0">
              <a:latin typeface="Cambria" panose="02040503050406030204" pitchFamily="18" charset="0"/>
              <a:ea typeface="Cambria" panose="02040503050406030204" pitchFamily="18" charset="0"/>
            </a:endParaRPr>
          </a:p>
          <a:p>
            <a:pPr>
              <a:lnSpc>
                <a:spcPct val="110000"/>
              </a:lnSpc>
            </a:pPr>
            <a:endParaRPr lang="en-US" sz="2000" b="0" i="0" u="none" strike="noStrike" baseline="0" dirty="0">
              <a:latin typeface="Cambria" panose="02040503050406030204" pitchFamily="18" charset="0"/>
              <a:ea typeface="Cambria" panose="02040503050406030204" pitchFamily="18" charset="0"/>
            </a:endParaRPr>
          </a:p>
          <a:p>
            <a:pPr>
              <a:lnSpc>
                <a:spcPct val="110000"/>
              </a:lnSpc>
            </a:pPr>
            <a:endParaRPr lang="en-US" sz="2000" dirty="0">
              <a:latin typeface="Cambria" panose="02040503050406030204" pitchFamily="18" charset="0"/>
              <a:ea typeface="Cambria" panose="02040503050406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27" y="105244"/>
            <a:ext cx="11267173" cy="575794"/>
          </a:xfrm>
        </p:spPr>
        <p:txBody>
          <a:bodyPr>
            <a:normAutofit/>
          </a:bodyPr>
          <a:lstStyle/>
          <a:p>
            <a:r>
              <a:rPr lang="en-US" sz="2400" b="1" dirty="0">
                <a:solidFill>
                  <a:srgbClr val="FF0000"/>
                </a:solidFill>
                <a:latin typeface="Cambria" panose="02040503050406030204" pitchFamily="18" charset="0"/>
                <a:ea typeface="Cambria" panose="02040503050406030204" pitchFamily="18" charset="0"/>
              </a:rPr>
              <a:t>Introduction To Java Programming</a:t>
            </a:r>
            <a:endParaRPr lang="en-US" sz="2400" dirty="0"/>
          </a:p>
        </p:txBody>
      </p:sp>
      <p:sp>
        <p:nvSpPr>
          <p:cNvPr id="3" name="Content Placeholder 2"/>
          <p:cNvSpPr>
            <a:spLocks noGrp="1"/>
          </p:cNvSpPr>
          <p:nvPr>
            <p:ph idx="1"/>
          </p:nvPr>
        </p:nvSpPr>
        <p:spPr>
          <a:xfrm>
            <a:off x="86627" y="1377231"/>
            <a:ext cx="12012329" cy="4103537"/>
          </a:xfrm>
        </p:spPr>
        <p:txBody>
          <a:bodyPr>
            <a:normAutofit fontScale="92500"/>
          </a:bodyPr>
          <a:lstStyle/>
          <a:p>
            <a:pPr>
              <a:lnSpc>
                <a:spcPct val="150000"/>
              </a:lnSpc>
            </a:pPr>
            <a:r>
              <a:rPr lang="en-US" sz="2000" b="0" i="0" u="none" strike="noStrike" baseline="0" dirty="0">
                <a:latin typeface="Cambria" panose="02040503050406030204" pitchFamily="18" charset="0"/>
                <a:ea typeface="Cambria" panose="02040503050406030204" pitchFamily="18" charset="0"/>
              </a:rPr>
              <a:t>Java is platform independent language. Java program do not access the operating system directly . Java virtual machine (JVM) is used as an abstraction between the OS and the java programs .This makes java program highly portable , a java program can run on all supported platforms (Windows or </a:t>
            </a:r>
            <a:r>
              <a:rPr lang="en-US" sz="2000" b="0" i="0" u="none" strike="noStrike" baseline="0" dirty="0" err="1">
                <a:latin typeface="Cambria" panose="02040503050406030204" pitchFamily="18" charset="0"/>
                <a:ea typeface="Cambria" panose="02040503050406030204" pitchFamily="18" charset="0"/>
              </a:rPr>
              <a:t>linux</a:t>
            </a:r>
            <a:r>
              <a:rPr lang="en-US" sz="2000" b="0" i="0" u="none" strike="noStrike" baseline="0" dirty="0">
                <a:latin typeface="Cambria" panose="02040503050406030204" pitchFamily="18" charset="0"/>
                <a:ea typeface="Cambria" panose="02040503050406030204" pitchFamily="18" charset="0"/>
              </a:rPr>
              <a:t> ) without any modification.</a:t>
            </a:r>
            <a:endParaRPr lang="en-US" sz="2000" b="0" i="0" u="none" strike="noStrike" baseline="0" dirty="0">
              <a:solidFill>
                <a:srgbClr val="000000"/>
              </a:solidFill>
              <a:latin typeface="Cambria" panose="02040503050406030204" pitchFamily="18" charset="0"/>
              <a:ea typeface="Cambria" panose="02040503050406030204" pitchFamily="18" charset="0"/>
            </a:endParaRPr>
          </a:p>
          <a:p>
            <a:pPr>
              <a:lnSpc>
                <a:spcPct val="150000"/>
              </a:lnSpc>
            </a:pPr>
            <a:r>
              <a:rPr lang="en-US" sz="2000" b="0" i="0" u="none" strike="noStrike" baseline="0" dirty="0">
                <a:latin typeface="Cambria" panose="02040503050406030204" pitchFamily="18" charset="0"/>
                <a:ea typeface="Cambria" panose="02040503050406030204" pitchFamily="18" charset="0"/>
              </a:rPr>
              <a:t>The principles for creating java were simple, robust, secured, high performance, portable, multi-threaded, interpreted, dynamic, etc. </a:t>
            </a:r>
            <a:endParaRPr lang="en-US" sz="2000" b="0" i="0" u="none" strike="noStrike" baseline="0" dirty="0">
              <a:latin typeface="Cambria" panose="02040503050406030204" pitchFamily="18" charset="0"/>
              <a:ea typeface="Cambria" panose="02040503050406030204" pitchFamily="18" charset="0"/>
            </a:endParaRPr>
          </a:p>
          <a:p>
            <a:pPr>
              <a:lnSpc>
                <a:spcPct val="150000"/>
              </a:lnSpc>
            </a:pPr>
            <a:r>
              <a:rPr lang="en-US" sz="2000" b="0" i="0" u="none" strike="noStrike" baseline="0" dirty="0">
                <a:latin typeface="Cambria" panose="02040503050406030204" pitchFamily="18" charset="0"/>
                <a:ea typeface="Cambria" panose="02040503050406030204" pitchFamily="18" charset="0"/>
              </a:rPr>
              <a:t>Currently, Java is used in mobile devices, internet programming, games, e-business, web application ,EE Application, Distributed Application etc. </a:t>
            </a:r>
            <a:endParaRPr lang="en-US" sz="2000" b="0" i="0" u="none" strike="noStrike" baseline="0" dirty="0">
              <a:latin typeface="Cambria" panose="02040503050406030204" pitchFamily="18" charset="0"/>
              <a:ea typeface="Cambria" panose="02040503050406030204" pitchFamily="18" charset="0"/>
            </a:endParaRPr>
          </a:p>
          <a:p>
            <a:pPr>
              <a:lnSpc>
                <a:spcPct val="150000"/>
              </a:lnSpc>
            </a:pPr>
            <a:r>
              <a:rPr lang="en-US" sz="2000" b="0" i="0" u="none" strike="noStrike" baseline="0" dirty="0">
                <a:latin typeface="Cambria" panose="02040503050406030204" pitchFamily="18" charset="0"/>
                <a:ea typeface="Cambria" panose="02040503050406030204" pitchFamily="18" charset="0"/>
              </a:rPr>
              <a:t>The syntax of Java is similar to c/</a:t>
            </a:r>
            <a:r>
              <a:rPr lang="en-US" sz="2000" b="0" i="0" u="none" strike="noStrike" baseline="0" dirty="0" err="1">
                <a:latin typeface="Cambria" panose="02040503050406030204" pitchFamily="18" charset="0"/>
                <a:ea typeface="Cambria" panose="02040503050406030204" pitchFamily="18" charset="0"/>
              </a:rPr>
              <a:t>c++</a:t>
            </a:r>
            <a:r>
              <a:rPr lang="en-US" sz="2000" b="0" i="0" u="none" strike="noStrike" baseline="0" dirty="0">
                <a:latin typeface="Cambria" panose="02040503050406030204" pitchFamily="18" charset="0"/>
                <a:ea typeface="Cambria" panose="02040503050406030204" pitchFamily="18" charset="0"/>
              </a:rPr>
              <a:t>.</a:t>
            </a:r>
            <a:endParaRPr lang="en-US" sz="2000" b="0" i="0" u="none" strike="noStrike" baseline="0" dirty="0">
              <a:latin typeface="Cambria" panose="02040503050406030204" pitchFamily="18" charset="0"/>
              <a:ea typeface="Cambria" panose="02040503050406030204" pitchFamily="18" charset="0"/>
            </a:endParaRPr>
          </a:p>
          <a:p>
            <a:pPr>
              <a:lnSpc>
                <a:spcPct val="150000"/>
              </a:lnSpc>
            </a:pPr>
            <a:endParaRPr lang="en-US" sz="2000" dirty="0">
              <a:latin typeface="Cambria" panose="02040503050406030204" pitchFamily="18" charset="0"/>
              <a:ea typeface="Cambria" panose="020405030504060302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004" y="199139"/>
            <a:ext cx="11122794" cy="481898"/>
          </a:xfrm>
        </p:spPr>
        <p:txBody>
          <a:bodyPr>
            <a:normAutofit/>
          </a:bodyPr>
          <a:lstStyle/>
          <a:p>
            <a:r>
              <a:rPr lang="en-US" sz="2400" b="1" dirty="0">
                <a:solidFill>
                  <a:srgbClr val="FF0000"/>
                </a:solidFill>
                <a:latin typeface="Cambria" panose="02040503050406030204" pitchFamily="18" charset="0"/>
                <a:ea typeface="Cambria" panose="02040503050406030204" pitchFamily="18" charset="0"/>
              </a:rPr>
              <a:t>What is high level programming language</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67378" y="901600"/>
            <a:ext cx="11993078" cy="3458644"/>
          </a:xfrm>
        </p:spPr>
        <p:txBody>
          <a:bodyPr>
            <a:normAutofit/>
          </a:bodyPr>
          <a:lstStyle/>
          <a:p>
            <a:r>
              <a:rPr lang="en-US" sz="1800" dirty="0">
                <a:latin typeface="Cambria" panose="02040503050406030204" pitchFamily="18" charset="0"/>
                <a:ea typeface="Cambria" panose="02040503050406030204" pitchFamily="18" charset="0"/>
              </a:rPr>
              <a:t>A </a:t>
            </a:r>
            <a:r>
              <a:rPr lang="en-US" sz="1800" b="1" dirty="0">
                <a:latin typeface="Cambria" panose="02040503050406030204" pitchFamily="18" charset="0"/>
                <a:ea typeface="Cambria" panose="02040503050406030204" pitchFamily="18" charset="0"/>
              </a:rPr>
              <a:t>high-level programming language</a:t>
            </a:r>
            <a:r>
              <a:rPr lang="en-US" sz="1800" dirty="0">
                <a:latin typeface="Cambria" panose="02040503050406030204" pitchFamily="18" charset="0"/>
                <a:ea typeface="Cambria" panose="02040503050406030204" pitchFamily="18" charset="0"/>
              </a:rPr>
              <a:t> is a language that is designed to be </a:t>
            </a:r>
            <a:r>
              <a:rPr lang="en-US" sz="1800" b="1" dirty="0">
                <a:latin typeface="Cambria" panose="02040503050406030204" pitchFamily="18" charset="0"/>
                <a:ea typeface="Cambria" panose="02040503050406030204" pitchFamily="18" charset="0"/>
              </a:rPr>
              <a:t>easy for humans to read, write, and understand</a:t>
            </a:r>
            <a:r>
              <a:rPr lang="en-US" sz="1800" dirty="0">
                <a:latin typeface="Cambria" panose="02040503050406030204" pitchFamily="18" charset="0"/>
                <a:ea typeface="Cambria" panose="02040503050406030204" pitchFamily="18" charset="0"/>
              </a:rPr>
              <a:t>, while abstracting away most of the low-level details of the computer's hardware.</a:t>
            </a:r>
            <a:endParaRPr lang="en-US" sz="1800" dirty="0">
              <a:latin typeface="Cambria" panose="02040503050406030204" pitchFamily="18" charset="0"/>
              <a:ea typeface="Cambria" panose="02040503050406030204" pitchFamily="18" charset="0"/>
            </a:endParaRPr>
          </a:p>
          <a:p>
            <a:endParaRPr lang="en-US" sz="1800" dirty="0">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Key Characteristics of High-Level Languages:</a:t>
            </a:r>
            <a:endPar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Human-readable syntax</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(e.g., if, while, class)</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Abstraction from hardware</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 no need to manage memory directly</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Portable code</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 can run on different systems with little or no modification</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Easier debugging and maintenance</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Faster development time</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endParaRPr lang="en-US" sz="1800" dirty="0">
              <a:latin typeface="Cambria" panose="02040503050406030204" pitchFamily="18" charset="0"/>
              <a:ea typeface="Cambria" panose="02040503050406030204" pitchFamily="18" charset="0"/>
            </a:endParaRPr>
          </a:p>
          <a:p>
            <a:endParaRPr lang="en-US" sz="1800" dirty="0">
              <a:latin typeface="Cambria" panose="02040503050406030204" pitchFamily="18" charset="0"/>
              <a:ea typeface="Cambria" panose="02040503050406030204" pitchFamily="18" charset="0"/>
            </a:endParaRPr>
          </a:p>
          <a:p>
            <a:endParaRPr lang="en-US" sz="1800" dirty="0">
              <a:latin typeface="Cambria" panose="02040503050406030204" pitchFamily="18" charset="0"/>
              <a:ea typeface="Cambria" panose="02040503050406030204" pitchFamily="18" charset="0"/>
            </a:endParaRPr>
          </a:p>
        </p:txBody>
      </p:sp>
      <p:graphicFrame>
        <p:nvGraphicFramePr>
          <p:cNvPr id="5" name="Table 4"/>
          <p:cNvGraphicFramePr>
            <a:graphicFrameLocks noGrp="1"/>
          </p:cNvGraphicFramePr>
          <p:nvPr/>
        </p:nvGraphicFramePr>
        <p:xfrm>
          <a:off x="154004" y="4859120"/>
          <a:ext cx="11790948" cy="1097280"/>
        </p:xfrm>
        <a:graphic>
          <a:graphicData uri="http://schemas.openxmlformats.org/drawingml/2006/table">
            <a:tbl>
              <a:tblPr/>
              <a:tblGrid>
                <a:gridCol w="3058501"/>
                <a:gridCol w="2900915"/>
                <a:gridCol w="5831532"/>
              </a:tblGrid>
              <a:tr h="0">
                <a:tc>
                  <a:txBody>
                    <a:bodyPr/>
                    <a:lstStyle/>
                    <a:p>
                      <a:pPr algn="ctr"/>
                      <a:r>
                        <a:rPr lang="en-US" b="1">
                          <a:solidFill>
                            <a:srgbClr val="FF0000"/>
                          </a:solidFill>
                          <a:latin typeface="Cambria" panose="02040503050406030204" pitchFamily="18" charset="0"/>
                          <a:ea typeface="Cambria" panose="02040503050406030204" pitchFamily="18" charset="0"/>
                        </a:rPr>
                        <a:t>Type</a:t>
                      </a:r>
                      <a:endParaRPr lang="en-US" b="1">
                        <a:solidFill>
                          <a:srgbClr val="FF0000"/>
                        </a:solidFill>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1">
                        <a:lumMod val="40000"/>
                        <a:lumOff val="60000"/>
                      </a:schemeClr>
                    </a:solidFill>
                  </a:tcPr>
                </a:tc>
                <a:tc>
                  <a:txBody>
                    <a:bodyPr/>
                    <a:lstStyle/>
                    <a:p>
                      <a:pPr algn="ctr"/>
                      <a:r>
                        <a:rPr lang="en-US" b="1">
                          <a:solidFill>
                            <a:srgbClr val="FF0000"/>
                          </a:solidFill>
                          <a:latin typeface="Cambria" panose="02040503050406030204" pitchFamily="18" charset="0"/>
                          <a:ea typeface="Cambria" panose="02040503050406030204" pitchFamily="18" charset="0"/>
                        </a:rPr>
                        <a:t>Example</a:t>
                      </a:r>
                      <a:endParaRPr lang="en-US" b="1">
                        <a:solidFill>
                          <a:srgbClr val="FF0000"/>
                        </a:solidFill>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1">
                        <a:lumMod val="40000"/>
                        <a:lumOff val="60000"/>
                      </a:schemeClr>
                    </a:solidFill>
                  </a:tcPr>
                </a:tc>
                <a:tc>
                  <a:txBody>
                    <a:bodyPr/>
                    <a:lstStyle/>
                    <a:p>
                      <a:pPr algn="ctr"/>
                      <a:r>
                        <a:rPr lang="en-US" b="1" dirty="0">
                          <a:solidFill>
                            <a:srgbClr val="FF0000"/>
                          </a:solidFill>
                          <a:latin typeface="Cambria" panose="02040503050406030204" pitchFamily="18" charset="0"/>
                          <a:ea typeface="Cambria" panose="02040503050406030204" pitchFamily="18" charset="0"/>
                        </a:rPr>
                        <a:t>Description</a:t>
                      </a:r>
                      <a:endParaRPr lang="en-US" b="1" dirty="0">
                        <a:solidFill>
                          <a:srgbClr val="FF0000"/>
                        </a:solidFill>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1">
                        <a:lumMod val="40000"/>
                        <a:lumOff val="60000"/>
                      </a:schemeClr>
                    </a:solidFill>
                  </a:tcPr>
                </a:tc>
              </a:tr>
              <a:tr h="0">
                <a:tc>
                  <a:txBody>
                    <a:bodyPr/>
                    <a:lstStyle/>
                    <a:p>
                      <a:r>
                        <a:rPr lang="en-US" b="1"/>
                        <a:t>Low-Level</a:t>
                      </a:r>
                      <a:endParaRPr lang="en-US"/>
                    </a:p>
                  </a:txBody>
                  <a:tcPr anchor="ctr">
                    <a:lnL>
                      <a:noFill/>
                    </a:lnL>
                    <a:lnR>
                      <a:noFill/>
                    </a:lnR>
                    <a:lnT>
                      <a:noFill/>
                    </a:lnT>
                    <a:lnB>
                      <a:noFill/>
                    </a:lnB>
                    <a:noFill/>
                  </a:tcPr>
                </a:tc>
                <a:tc>
                  <a:txBody>
                    <a:bodyPr/>
                    <a:lstStyle/>
                    <a:p>
                      <a:r>
                        <a:rPr lang="en-US"/>
                        <a:t>Assembly</a:t>
                      </a:r>
                      <a:endParaRPr lang="en-US"/>
                    </a:p>
                  </a:txBody>
                  <a:tcPr anchor="ctr">
                    <a:lnL>
                      <a:noFill/>
                    </a:lnL>
                    <a:lnR>
                      <a:noFill/>
                    </a:lnR>
                    <a:lnT>
                      <a:noFill/>
                    </a:lnT>
                    <a:lnB>
                      <a:noFill/>
                    </a:lnB>
                    <a:noFill/>
                  </a:tcPr>
                </a:tc>
                <a:tc>
                  <a:txBody>
                    <a:bodyPr/>
                    <a:lstStyle/>
                    <a:p>
                      <a:r>
                        <a:rPr lang="en-US"/>
                        <a:t>Very close to machine code, hard to understand and write</a:t>
                      </a:r>
                      <a:endParaRPr lang="en-US"/>
                    </a:p>
                  </a:txBody>
                  <a:tcPr anchor="ctr">
                    <a:lnL>
                      <a:noFill/>
                    </a:lnL>
                    <a:lnR>
                      <a:noFill/>
                    </a:lnR>
                    <a:lnT>
                      <a:noFill/>
                    </a:lnT>
                    <a:lnB>
                      <a:noFill/>
                    </a:lnB>
                    <a:noFill/>
                  </a:tcPr>
                </a:tc>
              </a:tr>
              <a:tr h="0">
                <a:tc>
                  <a:txBody>
                    <a:bodyPr/>
                    <a:lstStyle/>
                    <a:p>
                      <a:r>
                        <a:rPr lang="en-US" b="1"/>
                        <a:t>High-Level</a:t>
                      </a:r>
                      <a:endParaRPr lang="en-US"/>
                    </a:p>
                  </a:txBody>
                  <a:tcPr anchor="ctr">
                    <a:lnL>
                      <a:noFill/>
                    </a:lnL>
                    <a:lnR>
                      <a:noFill/>
                    </a:lnR>
                    <a:lnT>
                      <a:noFill/>
                    </a:lnT>
                    <a:lnB>
                      <a:noFill/>
                    </a:lnB>
                    <a:noFill/>
                  </a:tcPr>
                </a:tc>
                <a:tc>
                  <a:txBody>
                    <a:bodyPr/>
                    <a:lstStyle/>
                    <a:p>
                      <a:r>
                        <a:rPr lang="en-US"/>
                        <a:t>Java, Python</a:t>
                      </a:r>
                      <a:endParaRPr lang="en-US"/>
                    </a:p>
                  </a:txBody>
                  <a:tcPr anchor="ctr">
                    <a:lnL>
                      <a:noFill/>
                    </a:lnL>
                    <a:lnR>
                      <a:noFill/>
                    </a:lnR>
                    <a:lnT>
                      <a:noFill/>
                    </a:lnT>
                    <a:lnB>
                      <a:noFill/>
                    </a:lnB>
                    <a:noFill/>
                  </a:tcPr>
                </a:tc>
                <a:tc>
                  <a:txBody>
                    <a:bodyPr/>
                    <a:lstStyle/>
                    <a:p>
                      <a:r>
                        <a:rPr lang="en-US" dirty="0"/>
                        <a:t>Human-friendly, hides hardware complexities</a:t>
                      </a:r>
                      <a:endParaRPr lang="en-US" dirty="0"/>
                    </a:p>
                  </a:txBody>
                  <a:tcPr anchor="ctr">
                    <a:lnL>
                      <a:noFill/>
                    </a:lnL>
                    <a:lnR>
                      <a:noFill/>
                    </a:lnR>
                    <a:lnT>
                      <a:noFill/>
                    </a:lnT>
                    <a:lnB>
                      <a:noFill/>
                    </a:lnB>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055" y="0"/>
            <a:ext cx="10515600" cy="298383"/>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History Of Java</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04675" y="344604"/>
            <a:ext cx="11982650" cy="6431581"/>
          </a:xfrm>
        </p:spPr>
        <p:txBody>
          <a:bodyPr>
            <a:noAutofit/>
          </a:bodyPr>
          <a:lstStyle/>
          <a:p>
            <a:pPr marL="0" indent="0">
              <a:buNone/>
            </a:pPr>
            <a:r>
              <a:rPr lang="en-US" sz="1800" b="1" i="0" u="none" strike="noStrike" baseline="0" dirty="0">
                <a:solidFill>
                  <a:srgbClr val="000000"/>
                </a:solidFill>
                <a:latin typeface="Cambria" panose="02040503050406030204" pitchFamily="18" charset="0"/>
                <a:ea typeface="Cambria" panose="02040503050406030204" pitchFamily="18" charset="0"/>
              </a:rPr>
              <a:t>1. Origin and Purpose</a:t>
            </a:r>
            <a:endParaRPr lang="en-US" sz="1800" b="1" i="0" u="none" strike="noStrike" baseline="0" dirty="0">
              <a:solidFill>
                <a:srgbClr val="000000"/>
              </a:solidFill>
              <a:latin typeface="Cambria" panose="02040503050406030204" pitchFamily="18" charset="0"/>
              <a:ea typeface="Cambria" panose="02040503050406030204" pitchFamily="18" charset="0"/>
            </a:endParaRPr>
          </a:p>
          <a:p>
            <a:pPr marL="0" indent="0">
              <a:buNone/>
            </a:pPr>
            <a:r>
              <a:rPr lang="en-US" sz="1600" b="0" i="0" u="none" strike="noStrike" baseline="0" dirty="0">
                <a:solidFill>
                  <a:srgbClr val="000000"/>
                </a:solidFill>
                <a:latin typeface="Cambria" panose="02040503050406030204" pitchFamily="18" charset="0"/>
                <a:ea typeface="Cambria" panose="02040503050406030204" pitchFamily="18" charset="0"/>
              </a:rPr>
              <a:t>1991 – Project "Green" at Sun Microsystems</a:t>
            </a:r>
            <a:endParaRPr lang="en-US" sz="1600" b="0" i="0" u="none" strike="noStrike" baseline="0" dirty="0">
              <a:solidFill>
                <a:srgbClr val="000000"/>
              </a:solidFill>
              <a:latin typeface="Cambria" panose="02040503050406030204" pitchFamily="18" charset="0"/>
              <a:ea typeface="Cambria" panose="02040503050406030204" pitchFamily="18" charset="0"/>
            </a:endParaRPr>
          </a:p>
          <a:p>
            <a:pPr marL="0" indent="0">
              <a:buNone/>
            </a:pPr>
            <a:r>
              <a:rPr lang="en-US" sz="1600" b="0" i="0" u="none" strike="noStrike" baseline="0" dirty="0">
                <a:solidFill>
                  <a:srgbClr val="000000"/>
                </a:solidFill>
                <a:latin typeface="Cambria" panose="02040503050406030204" pitchFamily="18" charset="0"/>
                <a:ea typeface="Cambria" panose="02040503050406030204" pitchFamily="18" charset="0"/>
              </a:rPr>
              <a:t>Java started as part of an internal project led by James Gosling, with the aim to develop software for consumer electronics like TVs, VCRs, and set-top boxes.  It was originally named "Oak", inspired by an oak tree outside Gosling’s office.</a:t>
            </a:r>
            <a:endParaRPr lang="en-US" sz="1600" b="0" i="0" u="none" strike="noStrike" baseline="0" dirty="0">
              <a:solidFill>
                <a:srgbClr val="000000"/>
              </a:solidFill>
              <a:latin typeface="Cambria" panose="02040503050406030204" pitchFamily="18" charset="0"/>
              <a:ea typeface="Cambria" panose="02040503050406030204" pitchFamily="18" charset="0"/>
            </a:endParaRPr>
          </a:p>
          <a:p>
            <a:pPr marL="0" indent="0">
              <a:buNone/>
            </a:pPr>
            <a:r>
              <a:rPr lang="en-US" sz="1600" b="0" i="0" u="none" strike="noStrike" baseline="0" dirty="0">
                <a:solidFill>
                  <a:srgbClr val="000000"/>
                </a:solidFill>
                <a:latin typeface="Cambria" panose="02040503050406030204" pitchFamily="18" charset="0"/>
                <a:ea typeface="Cambria" panose="02040503050406030204" pitchFamily="18" charset="0"/>
              </a:rPr>
              <a:t>It was designed to be portable, robust, and platform-independent, a big need for embedded systems.</a:t>
            </a:r>
            <a:endParaRPr lang="en-US" sz="1600" b="0" i="0" u="none" strike="noStrike" baseline="0" dirty="0">
              <a:solidFill>
                <a:srgbClr val="000000"/>
              </a:solidFill>
              <a:latin typeface="Cambria" panose="02040503050406030204" pitchFamily="18" charset="0"/>
              <a:ea typeface="Cambria" panose="02040503050406030204" pitchFamily="18" charset="0"/>
            </a:endParaRPr>
          </a:p>
          <a:p>
            <a:pPr marL="0" indent="0">
              <a:buNone/>
            </a:pPr>
            <a:r>
              <a:rPr lang="en-US" sz="1600" b="1" i="0" u="none" strike="noStrike" baseline="0" dirty="0">
                <a:solidFill>
                  <a:srgbClr val="000000"/>
                </a:solidFill>
                <a:latin typeface="Cambria" panose="02040503050406030204" pitchFamily="18" charset="0"/>
                <a:ea typeface="Cambria" panose="02040503050406030204" pitchFamily="18" charset="0"/>
              </a:rPr>
              <a:t> 2. Oak to Java – Naming Change</a:t>
            </a:r>
            <a:endParaRPr lang="en-US" sz="1600" b="1" i="0" u="none" strike="noStrike" baseline="0" dirty="0">
              <a:solidFill>
                <a:srgbClr val="000000"/>
              </a:solidFill>
              <a:latin typeface="Cambria" panose="02040503050406030204" pitchFamily="18" charset="0"/>
              <a:ea typeface="Cambria" panose="02040503050406030204" pitchFamily="18" charset="0"/>
            </a:endParaRPr>
          </a:p>
          <a:p>
            <a:pPr marL="0" indent="0">
              <a:buNone/>
            </a:pPr>
            <a:r>
              <a:rPr lang="en-US" sz="1600" b="0" i="0" u="none" strike="noStrike" baseline="0" dirty="0">
                <a:solidFill>
                  <a:srgbClr val="000000"/>
                </a:solidFill>
                <a:latin typeface="Cambria" panose="02040503050406030204" pitchFamily="18" charset="0"/>
                <a:ea typeface="Cambria" panose="02040503050406030204" pitchFamily="18" charset="0"/>
              </a:rPr>
              <a:t>1995 – Oak renamed to Java   "Oak" was already a trademark, so they renamed it to Java, inspired by Java coffee.</a:t>
            </a:r>
            <a:endParaRPr lang="en-US" sz="1600" b="0" i="0" u="none" strike="noStrike" baseline="0" dirty="0">
              <a:solidFill>
                <a:srgbClr val="000000"/>
              </a:solidFill>
              <a:latin typeface="Cambria" panose="02040503050406030204" pitchFamily="18" charset="0"/>
              <a:ea typeface="Cambria" panose="02040503050406030204" pitchFamily="18" charset="0"/>
            </a:endParaRPr>
          </a:p>
          <a:p>
            <a:pPr marL="0" indent="0">
              <a:buNone/>
            </a:pPr>
            <a:r>
              <a:rPr lang="en-US" sz="1600" b="0" i="0" u="none" strike="noStrike" baseline="0" dirty="0">
                <a:solidFill>
                  <a:srgbClr val="000000"/>
                </a:solidFill>
                <a:latin typeface="Cambria" panose="02040503050406030204" pitchFamily="18" charset="0"/>
                <a:ea typeface="Cambria" panose="02040503050406030204" pitchFamily="18" charset="0"/>
              </a:rPr>
              <a:t>This reflects the language’s design goal of being strong, refreshing, and globally appealing.</a:t>
            </a:r>
            <a:endParaRPr lang="en-US" sz="1600" b="0" i="0" u="none" strike="noStrike" baseline="0" dirty="0">
              <a:solidFill>
                <a:srgbClr val="000000"/>
              </a:solidFill>
              <a:latin typeface="Cambria" panose="02040503050406030204" pitchFamily="18" charset="0"/>
              <a:ea typeface="Cambria" panose="02040503050406030204" pitchFamily="18" charset="0"/>
            </a:endParaRPr>
          </a:p>
          <a:p>
            <a:pPr marL="0" indent="0">
              <a:buNone/>
            </a:pPr>
            <a:r>
              <a:rPr lang="en-US" sz="1600" b="0" i="0" u="none" strike="noStrike" baseline="0" dirty="0">
                <a:solidFill>
                  <a:srgbClr val="000000"/>
                </a:solidFill>
                <a:latin typeface="Cambria" panose="02040503050406030204" pitchFamily="18" charset="0"/>
                <a:ea typeface="Cambria" panose="02040503050406030204" pitchFamily="18" charset="0"/>
              </a:rPr>
              <a:t>Java was officially launched along with </a:t>
            </a:r>
            <a:r>
              <a:rPr lang="en-US" sz="1600" b="0" i="0" u="none" strike="noStrike" baseline="0" dirty="0" err="1">
                <a:solidFill>
                  <a:srgbClr val="000000"/>
                </a:solidFill>
                <a:latin typeface="Cambria" panose="02040503050406030204" pitchFamily="18" charset="0"/>
                <a:ea typeface="Cambria" panose="02040503050406030204" pitchFamily="18" charset="0"/>
              </a:rPr>
              <a:t>HotJava</a:t>
            </a:r>
            <a:r>
              <a:rPr lang="en-US" sz="1600" b="0" i="0" u="none" strike="noStrike" baseline="0" dirty="0">
                <a:solidFill>
                  <a:srgbClr val="000000"/>
                </a:solidFill>
                <a:latin typeface="Cambria" panose="02040503050406030204" pitchFamily="18" charset="0"/>
                <a:ea typeface="Cambria" panose="02040503050406030204" pitchFamily="18" charset="0"/>
              </a:rPr>
              <a:t>, a browser that supported Java applets.</a:t>
            </a:r>
            <a:endParaRPr lang="en-US" sz="1600" b="0" i="0" u="none" strike="noStrike" baseline="0" dirty="0">
              <a:solidFill>
                <a:srgbClr val="000000"/>
              </a:solidFill>
              <a:latin typeface="Cambria" panose="02040503050406030204" pitchFamily="18" charset="0"/>
              <a:ea typeface="Cambria" panose="02040503050406030204" pitchFamily="18" charset="0"/>
            </a:endParaRPr>
          </a:p>
          <a:p>
            <a:pPr marL="0" indent="0">
              <a:buNone/>
            </a:pPr>
            <a:endParaRPr lang="en-US" sz="1600" b="0" i="0" u="none" strike="noStrike" baseline="0" dirty="0">
              <a:solidFill>
                <a:srgbClr val="000000"/>
              </a:solidFill>
              <a:latin typeface="Cambria" panose="02040503050406030204" pitchFamily="18" charset="0"/>
              <a:ea typeface="Cambria" panose="02040503050406030204" pitchFamily="18" charset="0"/>
            </a:endParaRPr>
          </a:p>
          <a:p>
            <a:pPr marL="0" indent="0">
              <a:buNone/>
            </a:pPr>
            <a:r>
              <a:rPr lang="en-US" sz="1600" b="1" i="0" u="none" strike="noStrike" baseline="0" dirty="0">
                <a:solidFill>
                  <a:srgbClr val="000000"/>
                </a:solidFill>
                <a:latin typeface="Cambria" panose="02040503050406030204" pitchFamily="18" charset="0"/>
                <a:ea typeface="Cambria" panose="02040503050406030204" pitchFamily="18" charset="0"/>
              </a:rPr>
              <a:t> 3. Java's Core Philosophy</a:t>
            </a:r>
            <a:endParaRPr lang="en-US" sz="1600" b="1" i="0" u="none" strike="noStrike" baseline="0" dirty="0">
              <a:solidFill>
                <a:srgbClr val="000000"/>
              </a:solidFill>
              <a:latin typeface="Cambria" panose="02040503050406030204" pitchFamily="18" charset="0"/>
              <a:ea typeface="Cambria" panose="02040503050406030204" pitchFamily="18" charset="0"/>
            </a:endParaRPr>
          </a:p>
          <a:p>
            <a:pPr marL="0" indent="0">
              <a:buNone/>
            </a:pPr>
            <a:r>
              <a:rPr lang="en-US" sz="1600" b="0" i="0" u="none" strike="noStrike" baseline="0" dirty="0">
                <a:solidFill>
                  <a:srgbClr val="000000"/>
                </a:solidFill>
                <a:latin typeface="Cambria" panose="02040503050406030204" pitchFamily="18" charset="0"/>
                <a:ea typeface="Cambria" panose="02040503050406030204" pitchFamily="18" charset="0"/>
              </a:rPr>
              <a:t>"Write Once, Run Anywhere" (WORA)  Java code is compiled into bytecode, which runs on the Java Virtual Machine (JVM).</a:t>
            </a:r>
            <a:endParaRPr lang="en-US" sz="1600" b="0" i="0" u="none" strike="noStrike" baseline="0" dirty="0">
              <a:solidFill>
                <a:srgbClr val="000000"/>
              </a:solidFill>
              <a:latin typeface="Cambria" panose="02040503050406030204" pitchFamily="18" charset="0"/>
              <a:ea typeface="Cambria" panose="02040503050406030204" pitchFamily="18" charset="0"/>
            </a:endParaRPr>
          </a:p>
          <a:p>
            <a:pPr marL="0" indent="0">
              <a:buNone/>
            </a:pPr>
            <a:r>
              <a:rPr lang="en-US" sz="1600" b="0" i="0" u="none" strike="noStrike" baseline="0" dirty="0">
                <a:solidFill>
                  <a:srgbClr val="000000"/>
                </a:solidFill>
                <a:latin typeface="Cambria" panose="02040503050406030204" pitchFamily="18" charset="0"/>
                <a:ea typeface="Cambria" panose="02040503050406030204" pitchFamily="18" charset="0"/>
              </a:rPr>
              <a:t>This made Java platform-independent, unlike C/C++ which needed recompilation for different OSs.</a:t>
            </a:r>
            <a:endParaRPr lang="en-US" sz="1600" b="0" i="0" u="none" strike="noStrike" baseline="0" dirty="0">
              <a:solidFill>
                <a:srgbClr val="000000"/>
              </a:solidFill>
              <a:latin typeface="Cambria" panose="02040503050406030204" pitchFamily="18" charset="0"/>
              <a:ea typeface="Cambria" panose="02040503050406030204" pitchFamily="18" charset="0"/>
            </a:endParaRPr>
          </a:p>
          <a:p>
            <a:pPr marL="0" indent="0">
              <a:buNone/>
            </a:pPr>
            <a:endParaRPr lang="en-US" sz="1600" b="0" i="0" u="none" strike="noStrike" baseline="0" dirty="0">
              <a:solidFill>
                <a:srgbClr val="000000"/>
              </a:solidFill>
              <a:latin typeface="Cambria" panose="02040503050406030204" pitchFamily="18" charset="0"/>
              <a:ea typeface="Cambria" panose="02040503050406030204" pitchFamily="18" charset="0"/>
            </a:endParaRPr>
          </a:p>
          <a:p>
            <a:pPr marL="0" indent="0">
              <a:buNone/>
            </a:pPr>
            <a:r>
              <a:rPr lang="en-US" sz="1600" b="1" i="0" u="none" strike="noStrike" baseline="0" dirty="0">
                <a:solidFill>
                  <a:srgbClr val="000000"/>
                </a:solidFill>
                <a:latin typeface="Cambria" panose="02040503050406030204" pitchFamily="18" charset="0"/>
                <a:ea typeface="Cambria" panose="02040503050406030204" pitchFamily="18" charset="0"/>
              </a:rPr>
              <a:t>4. Java 1.0 (1996) – First Official Release</a:t>
            </a:r>
            <a:endParaRPr lang="en-US" sz="1600" b="1" i="0" u="none" strike="noStrike" baseline="0" dirty="0">
              <a:solidFill>
                <a:srgbClr val="000000"/>
              </a:solidFill>
              <a:latin typeface="Cambria" panose="02040503050406030204" pitchFamily="18" charset="0"/>
              <a:ea typeface="Cambria" panose="02040503050406030204" pitchFamily="18" charset="0"/>
            </a:endParaRPr>
          </a:p>
          <a:p>
            <a:pPr marL="0" indent="0">
              <a:buNone/>
            </a:pPr>
            <a:r>
              <a:rPr lang="en-US" sz="1600" b="0" i="0" u="none" strike="noStrike" baseline="0" dirty="0">
                <a:solidFill>
                  <a:srgbClr val="000000"/>
                </a:solidFill>
                <a:latin typeface="Cambria" panose="02040503050406030204" pitchFamily="18" charset="0"/>
                <a:ea typeface="Cambria" panose="02040503050406030204" pitchFamily="18" charset="0"/>
              </a:rPr>
              <a:t>Launched as Java Development Kit (JDK) 1.0.</a:t>
            </a:r>
            <a:endParaRPr lang="en-US" sz="1600" b="0" i="0" u="none" strike="noStrike" baseline="0" dirty="0">
              <a:solidFill>
                <a:srgbClr val="000000"/>
              </a:solidFill>
              <a:latin typeface="Cambria" panose="02040503050406030204" pitchFamily="18" charset="0"/>
              <a:ea typeface="Cambria" panose="02040503050406030204" pitchFamily="18" charset="0"/>
            </a:endParaRPr>
          </a:p>
          <a:p>
            <a:pPr marL="0" indent="0">
              <a:buNone/>
            </a:pPr>
            <a:r>
              <a:rPr lang="en-US" sz="1600" b="0" i="0" u="none" strike="noStrike" baseline="0" dirty="0">
                <a:solidFill>
                  <a:srgbClr val="000000"/>
                </a:solidFill>
                <a:latin typeface="Cambria" panose="02040503050406030204" pitchFamily="18" charset="0"/>
                <a:ea typeface="Cambria" panose="02040503050406030204" pitchFamily="18" charset="0"/>
              </a:rPr>
              <a:t>Included features like:</a:t>
            </a:r>
            <a:endParaRPr lang="en-US" sz="1600" b="0" i="0" u="none" strike="noStrike" baseline="0" dirty="0">
              <a:solidFill>
                <a:srgbClr val="000000"/>
              </a:solidFill>
              <a:latin typeface="Cambria" panose="02040503050406030204" pitchFamily="18" charset="0"/>
              <a:ea typeface="Cambria" panose="02040503050406030204" pitchFamily="18" charset="0"/>
            </a:endParaRPr>
          </a:p>
          <a:p>
            <a:pPr marL="0" indent="0">
              <a:buNone/>
            </a:pPr>
            <a:r>
              <a:rPr lang="en-US" sz="1600" b="0" i="0" u="none" strike="noStrike" baseline="0" dirty="0">
                <a:solidFill>
                  <a:srgbClr val="000000"/>
                </a:solidFill>
                <a:latin typeface="Cambria" panose="02040503050406030204" pitchFamily="18" charset="0"/>
                <a:ea typeface="Cambria" panose="02040503050406030204" pitchFamily="18" charset="0"/>
              </a:rPr>
              <a:t>Basic OOP support  Applets (small programs that could run in browsers)</a:t>
            </a:r>
            <a:endParaRPr lang="en-US" sz="1600" b="0" i="0" u="none" strike="noStrike" baseline="0" dirty="0">
              <a:solidFill>
                <a:srgbClr val="000000"/>
              </a:solidFill>
              <a:latin typeface="Cambria" panose="02040503050406030204" pitchFamily="18" charset="0"/>
              <a:ea typeface="Cambria" panose="02040503050406030204" pitchFamily="18" charset="0"/>
            </a:endParaRPr>
          </a:p>
          <a:p>
            <a:pPr marL="0" indent="0">
              <a:buNone/>
            </a:pPr>
            <a:r>
              <a:rPr lang="en-US" sz="1600" b="0" i="0" u="none" strike="noStrike" baseline="0" dirty="0">
                <a:solidFill>
                  <a:srgbClr val="000000"/>
                </a:solidFill>
                <a:latin typeface="Cambria" panose="02040503050406030204" pitchFamily="18" charset="0"/>
                <a:ea typeface="Cambria" panose="02040503050406030204" pitchFamily="18" charset="0"/>
              </a:rPr>
              <a:t>AWT (Abstract Window Toolkit) for building GUIs, Popular in web development because of applet support.</a:t>
            </a:r>
            <a:endParaRPr lang="en-US" sz="1600" dirty="0">
              <a:latin typeface="Cambria" panose="02040503050406030204" pitchFamily="18" charset="0"/>
              <a:ea typeface="Cambria" panose="020405030504060302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02" y="0"/>
            <a:ext cx="11170920" cy="231006"/>
          </a:xfrm>
        </p:spPr>
        <p:txBody>
          <a:bodyPr>
            <a:normAutofit fontScale="90000"/>
          </a:bodyPr>
          <a:lstStyle/>
          <a:p>
            <a:r>
              <a:rPr lang="en-US" sz="1800" b="1" dirty="0">
                <a:solidFill>
                  <a:srgbClr val="FF0000"/>
                </a:solidFill>
                <a:latin typeface="Cambria" panose="02040503050406030204" pitchFamily="18" charset="0"/>
                <a:ea typeface="Cambria" panose="02040503050406030204" pitchFamily="18" charset="0"/>
              </a:rPr>
              <a:t>Java Version History</a:t>
            </a:r>
            <a:endParaRPr lang="en-US" sz="1800" b="1" dirty="0">
              <a:solidFill>
                <a:srgbClr val="FF0000"/>
              </a:solidFill>
              <a:latin typeface="Cambria" panose="02040503050406030204" pitchFamily="18" charset="0"/>
              <a:ea typeface="Cambria" panose="02040503050406030204" pitchFamily="18" charset="0"/>
            </a:endParaRPr>
          </a:p>
        </p:txBody>
      </p:sp>
      <p:graphicFrame>
        <p:nvGraphicFramePr>
          <p:cNvPr id="7" name="Content Placeholder 6"/>
          <p:cNvGraphicFramePr>
            <a:graphicFrameLocks noGrp="1"/>
          </p:cNvGraphicFramePr>
          <p:nvPr>
            <p:ph idx="1"/>
          </p:nvPr>
        </p:nvGraphicFramePr>
        <p:xfrm>
          <a:off x="80210" y="231006"/>
          <a:ext cx="12111789" cy="6683996"/>
        </p:xfrm>
        <a:graphic>
          <a:graphicData uri="http://schemas.openxmlformats.org/drawingml/2006/table">
            <a:tbl>
              <a:tblPr/>
              <a:tblGrid>
                <a:gridCol w="2331923"/>
                <a:gridCol w="1889439"/>
                <a:gridCol w="7890427"/>
              </a:tblGrid>
              <a:tr h="161081">
                <a:tc>
                  <a:txBody>
                    <a:bodyPr/>
                    <a:lstStyle/>
                    <a:p>
                      <a:pPr algn="ctr"/>
                      <a:r>
                        <a:rPr lang="en-US" sz="1600" b="1">
                          <a:solidFill>
                            <a:srgbClr val="FF0000"/>
                          </a:solidFill>
                        </a:rPr>
                        <a:t>Version</a:t>
                      </a:r>
                      <a:endParaRPr lang="en-US" sz="1600">
                        <a:solidFill>
                          <a:srgbClr val="FF0000"/>
                        </a:solidFill>
                      </a:endParaRPr>
                    </a:p>
                  </a:txBody>
                  <a:tcPr marL="23908" marR="23908" marT="11954" marB="11954" anchor="ctr">
                    <a:lnL>
                      <a:noFill/>
                    </a:lnL>
                    <a:lnR>
                      <a:noFill/>
                    </a:lnR>
                    <a:lnT>
                      <a:noFill/>
                    </a:lnT>
                    <a:lnB>
                      <a:noFill/>
                    </a:lnB>
                    <a:solidFill>
                      <a:schemeClr val="accent5">
                        <a:lumMod val="40000"/>
                        <a:lumOff val="60000"/>
                      </a:schemeClr>
                    </a:solidFill>
                  </a:tcPr>
                </a:tc>
                <a:tc>
                  <a:txBody>
                    <a:bodyPr/>
                    <a:lstStyle/>
                    <a:p>
                      <a:pPr algn="ctr"/>
                      <a:r>
                        <a:rPr lang="en-US" sz="1600" b="1" dirty="0">
                          <a:solidFill>
                            <a:srgbClr val="FF0000"/>
                          </a:solidFill>
                        </a:rPr>
                        <a:t>Year</a:t>
                      </a:r>
                      <a:endParaRPr lang="en-US" sz="1600" dirty="0">
                        <a:solidFill>
                          <a:srgbClr val="FF0000"/>
                        </a:solidFill>
                      </a:endParaRPr>
                    </a:p>
                  </a:txBody>
                  <a:tcPr marL="23908" marR="23908" marT="11954" marB="11954" anchor="ctr">
                    <a:lnL>
                      <a:noFill/>
                    </a:lnL>
                    <a:lnR>
                      <a:noFill/>
                    </a:lnR>
                    <a:lnT>
                      <a:noFill/>
                    </a:lnT>
                    <a:lnB>
                      <a:noFill/>
                    </a:lnB>
                    <a:solidFill>
                      <a:schemeClr val="accent5">
                        <a:lumMod val="40000"/>
                        <a:lumOff val="60000"/>
                      </a:schemeClr>
                    </a:solidFill>
                  </a:tcPr>
                </a:tc>
                <a:tc>
                  <a:txBody>
                    <a:bodyPr/>
                    <a:lstStyle/>
                    <a:p>
                      <a:pPr algn="ctr"/>
                      <a:r>
                        <a:rPr lang="en-US" sz="1600" b="1" dirty="0">
                          <a:solidFill>
                            <a:srgbClr val="FF0000"/>
                          </a:solidFill>
                        </a:rPr>
                        <a:t>Key Features</a:t>
                      </a:r>
                      <a:endParaRPr lang="en-US" sz="1600" dirty="0">
                        <a:solidFill>
                          <a:srgbClr val="FF0000"/>
                        </a:solidFill>
                      </a:endParaRPr>
                    </a:p>
                  </a:txBody>
                  <a:tcPr marL="23908" marR="23908" marT="11954" marB="11954" anchor="ctr">
                    <a:lnL>
                      <a:noFill/>
                    </a:lnL>
                    <a:lnR>
                      <a:noFill/>
                    </a:lnR>
                    <a:lnT>
                      <a:noFill/>
                    </a:lnT>
                    <a:lnB>
                      <a:noFill/>
                    </a:lnB>
                    <a:solidFill>
                      <a:schemeClr val="accent5">
                        <a:lumMod val="40000"/>
                        <a:lumOff val="60000"/>
                      </a:schemeClr>
                    </a:solidFill>
                  </a:tcPr>
                </a:tc>
              </a:tr>
              <a:tr h="232840">
                <a:tc>
                  <a:txBody>
                    <a:bodyPr/>
                    <a:lstStyle/>
                    <a:p>
                      <a:r>
                        <a:rPr lang="en-US" sz="1600" b="1"/>
                        <a:t>Java 1.0</a:t>
                      </a:r>
                      <a:endParaRPr lang="en-US" sz="1600"/>
                    </a:p>
                  </a:txBody>
                  <a:tcPr marL="23908" marR="23908" marT="11954" marB="11954" anchor="ctr">
                    <a:lnL>
                      <a:noFill/>
                    </a:lnL>
                    <a:lnR>
                      <a:noFill/>
                    </a:lnR>
                    <a:lnT>
                      <a:noFill/>
                    </a:lnT>
                    <a:lnB>
                      <a:noFill/>
                    </a:lnB>
                    <a:noFill/>
                  </a:tcPr>
                </a:tc>
                <a:tc>
                  <a:txBody>
                    <a:bodyPr/>
                    <a:lstStyle/>
                    <a:p>
                      <a:r>
                        <a:rPr lang="en-US" sz="1600"/>
                        <a:t>1996</a:t>
                      </a:r>
                      <a:endParaRPr lang="en-US" sz="1600"/>
                    </a:p>
                  </a:txBody>
                  <a:tcPr marL="23908" marR="23908" marT="11954" marB="11954" anchor="ctr">
                    <a:lnL>
                      <a:noFill/>
                    </a:lnL>
                    <a:lnR>
                      <a:noFill/>
                    </a:lnR>
                    <a:lnT>
                      <a:noFill/>
                    </a:lnT>
                    <a:lnB>
                      <a:noFill/>
                    </a:lnB>
                    <a:noFill/>
                  </a:tcPr>
                </a:tc>
                <a:tc>
                  <a:txBody>
                    <a:bodyPr/>
                    <a:lstStyle/>
                    <a:p>
                      <a:r>
                        <a:rPr lang="en-US" sz="1600"/>
                        <a:t>First official release. Included AWT, Applets, basic OOP features</a:t>
                      </a:r>
                      <a:endParaRPr lang="en-US" sz="1600"/>
                    </a:p>
                  </a:txBody>
                  <a:tcPr marL="23908" marR="23908" marT="11954" marB="11954" anchor="ctr">
                    <a:lnL>
                      <a:noFill/>
                    </a:lnL>
                    <a:lnR>
                      <a:noFill/>
                    </a:lnR>
                    <a:lnT>
                      <a:noFill/>
                    </a:lnT>
                    <a:lnB>
                      <a:noFill/>
                    </a:lnB>
                    <a:noFill/>
                  </a:tcPr>
                </a:tc>
              </a:tr>
              <a:tr h="232840">
                <a:tc>
                  <a:txBody>
                    <a:bodyPr/>
                    <a:lstStyle/>
                    <a:p>
                      <a:r>
                        <a:rPr lang="en-US" sz="1600" b="1" dirty="0"/>
                        <a:t>Java 1.1</a:t>
                      </a:r>
                      <a:endParaRPr lang="en-US" sz="1600" dirty="0"/>
                    </a:p>
                  </a:txBody>
                  <a:tcPr marL="23908" marR="23908" marT="11954" marB="11954" anchor="ctr">
                    <a:lnL>
                      <a:noFill/>
                    </a:lnL>
                    <a:lnR>
                      <a:noFill/>
                    </a:lnR>
                    <a:lnT>
                      <a:noFill/>
                    </a:lnT>
                    <a:lnB>
                      <a:noFill/>
                    </a:lnB>
                    <a:noFill/>
                  </a:tcPr>
                </a:tc>
                <a:tc>
                  <a:txBody>
                    <a:bodyPr/>
                    <a:lstStyle/>
                    <a:p>
                      <a:r>
                        <a:rPr lang="en-US" sz="1600"/>
                        <a:t>1997</a:t>
                      </a:r>
                      <a:endParaRPr lang="en-US" sz="1600"/>
                    </a:p>
                  </a:txBody>
                  <a:tcPr marL="23908" marR="23908" marT="11954" marB="11954" anchor="ctr">
                    <a:lnL>
                      <a:noFill/>
                    </a:lnL>
                    <a:lnR>
                      <a:noFill/>
                    </a:lnR>
                    <a:lnT>
                      <a:noFill/>
                    </a:lnT>
                    <a:lnB>
                      <a:noFill/>
                    </a:lnB>
                    <a:noFill/>
                  </a:tcPr>
                </a:tc>
                <a:tc>
                  <a:txBody>
                    <a:bodyPr/>
                    <a:lstStyle/>
                    <a:p>
                      <a:r>
                        <a:rPr lang="en-US" sz="1600"/>
                        <a:t>Inner classes, JDBC (database access), JavaBeans</a:t>
                      </a:r>
                      <a:endParaRPr lang="en-US" sz="1600"/>
                    </a:p>
                  </a:txBody>
                  <a:tcPr marL="23908" marR="23908" marT="11954" marB="11954" anchor="ctr">
                    <a:lnL>
                      <a:noFill/>
                    </a:lnL>
                    <a:lnR>
                      <a:noFill/>
                    </a:lnR>
                    <a:lnT>
                      <a:noFill/>
                    </a:lnT>
                    <a:lnB>
                      <a:noFill/>
                    </a:lnB>
                    <a:noFill/>
                  </a:tcPr>
                </a:tc>
              </a:tr>
              <a:tr h="333472">
                <a:tc>
                  <a:txBody>
                    <a:bodyPr/>
                    <a:lstStyle/>
                    <a:p>
                      <a:r>
                        <a:rPr lang="en-US" sz="1600" b="1" dirty="0"/>
                        <a:t>Java 2 (1.2)</a:t>
                      </a:r>
                      <a:endParaRPr lang="en-US" sz="1600" dirty="0"/>
                    </a:p>
                  </a:txBody>
                  <a:tcPr marL="23908" marR="23908" marT="11954" marB="11954" anchor="ctr">
                    <a:lnL>
                      <a:noFill/>
                    </a:lnL>
                    <a:lnR>
                      <a:noFill/>
                    </a:lnR>
                    <a:lnT>
                      <a:noFill/>
                    </a:lnT>
                    <a:lnB>
                      <a:noFill/>
                    </a:lnB>
                    <a:noFill/>
                  </a:tcPr>
                </a:tc>
                <a:tc>
                  <a:txBody>
                    <a:bodyPr/>
                    <a:lstStyle/>
                    <a:p>
                      <a:r>
                        <a:rPr lang="en-US" sz="1600"/>
                        <a:t>1998</a:t>
                      </a:r>
                      <a:endParaRPr lang="en-US" sz="1600"/>
                    </a:p>
                  </a:txBody>
                  <a:tcPr marL="23908" marR="23908" marT="11954" marB="11954" anchor="ctr">
                    <a:lnL>
                      <a:noFill/>
                    </a:lnL>
                    <a:lnR>
                      <a:noFill/>
                    </a:lnR>
                    <a:lnT>
                      <a:noFill/>
                    </a:lnT>
                    <a:lnB>
                      <a:noFill/>
                    </a:lnB>
                    <a:noFill/>
                  </a:tcPr>
                </a:tc>
                <a:tc>
                  <a:txBody>
                    <a:bodyPr/>
                    <a:lstStyle/>
                    <a:p>
                      <a:r>
                        <a:rPr lang="en-US" sz="1600"/>
                        <a:t>Swing GUI toolkit, Collections Framework, JIT compiler, Java Plug-in</a:t>
                      </a:r>
                      <a:endParaRPr lang="en-US" sz="1600"/>
                    </a:p>
                  </a:txBody>
                  <a:tcPr marL="23908" marR="23908" marT="11954" marB="11954" anchor="ctr">
                    <a:lnL>
                      <a:noFill/>
                    </a:lnL>
                    <a:lnR>
                      <a:noFill/>
                    </a:lnR>
                    <a:lnT>
                      <a:noFill/>
                    </a:lnT>
                    <a:lnB>
                      <a:noFill/>
                    </a:lnB>
                    <a:noFill/>
                  </a:tcPr>
                </a:tc>
              </a:tr>
              <a:tr h="232840">
                <a:tc>
                  <a:txBody>
                    <a:bodyPr/>
                    <a:lstStyle/>
                    <a:p>
                      <a:r>
                        <a:rPr lang="en-US" sz="1600" b="1"/>
                        <a:t>Java 1.3</a:t>
                      </a:r>
                      <a:endParaRPr lang="en-US" sz="1600"/>
                    </a:p>
                  </a:txBody>
                  <a:tcPr marL="23908" marR="23908" marT="11954" marB="11954" anchor="ctr">
                    <a:lnL>
                      <a:noFill/>
                    </a:lnL>
                    <a:lnR>
                      <a:noFill/>
                    </a:lnR>
                    <a:lnT>
                      <a:noFill/>
                    </a:lnT>
                    <a:lnB>
                      <a:noFill/>
                    </a:lnB>
                    <a:noFill/>
                  </a:tcPr>
                </a:tc>
                <a:tc>
                  <a:txBody>
                    <a:bodyPr/>
                    <a:lstStyle/>
                    <a:p>
                      <a:r>
                        <a:rPr lang="en-US" sz="1600"/>
                        <a:t>2000</a:t>
                      </a:r>
                      <a:endParaRPr lang="en-US" sz="1600"/>
                    </a:p>
                  </a:txBody>
                  <a:tcPr marL="23908" marR="23908" marT="11954" marB="11954" anchor="ctr">
                    <a:lnL>
                      <a:noFill/>
                    </a:lnL>
                    <a:lnR>
                      <a:noFill/>
                    </a:lnR>
                    <a:lnT>
                      <a:noFill/>
                    </a:lnT>
                    <a:lnB>
                      <a:noFill/>
                    </a:lnB>
                    <a:noFill/>
                  </a:tcPr>
                </a:tc>
                <a:tc>
                  <a:txBody>
                    <a:bodyPr/>
                    <a:lstStyle/>
                    <a:p>
                      <a:r>
                        <a:rPr lang="en-US" sz="1600" dirty="0" err="1"/>
                        <a:t>HotSpot</a:t>
                      </a:r>
                      <a:r>
                        <a:rPr lang="en-US" sz="1600" dirty="0"/>
                        <a:t> JVM, minor performance and API improvements</a:t>
                      </a:r>
                      <a:endParaRPr lang="en-US" sz="1600" dirty="0"/>
                    </a:p>
                  </a:txBody>
                  <a:tcPr marL="23908" marR="23908" marT="11954" marB="11954" anchor="ctr">
                    <a:lnL>
                      <a:noFill/>
                    </a:lnL>
                    <a:lnR>
                      <a:noFill/>
                    </a:lnR>
                    <a:lnT>
                      <a:noFill/>
                    </a:lnT>
                    <a:lnB>
                      <a:noFill/>
                    </a:lnB>
                    <a:noFill/>
                  </a:tcPr>
                </a:tc>
              </a:tr>
              <a:tr h="232840">
                <a:tc>
                  <a:txBody>
                    <a:bodyPr/>
                    <a:lstStyle/>
                    <a:p>
                      <a:r>
                        <a:rPr lang="en-US" sz="1600" b="1" dirty="0"/>
                        <a:t>Java 1.4</a:t>
                      </a:r>
                      <a:endParaRPr lang="en-US" sz="1600" dirty="0"/>
                    </a:p>
                  </a:txBody>
                  <a:tcPr marL="23908" marR="23908" marT="11954" marB="11954" anchor="ctr">
                    <a:lnL>
                      <a:noFill/>
                    </a:lnL>
                    <a:lnR>
                      <a:noFill/>
                    </a:lnR>
                    <a:lnT>
                      <a:noFill/>
                    </a:lnT>
                    <a:lnB>
                      <a:noFill/>
                    </a:lnB>
                    <a:noFill/>
                  </a:tcPr>
                </a:tc>
                <a:tc>
                  <a:txBody>
                    <a:bodyPr/>
                    <a:lstStyle/>
                    <a:p>
                      <a:r>
                        <a:rPr lang="en-US" sz="1600"/>
                        <a:t>2002</a:t>
                      </a:r>
                      <a:endParaRPr lang="en-US" sz="1600"/>
                    </a:p>
                  </a:txBody>
                  <a:tcPr marL="23908" marR="23908" marT="11954" marB="11954" anchor="ctr">
                    <a:lnL>
                      <a:noFill/>
                    </a:lnL>
                    <a:lnR>
                      <a:noFill/>
                    </a:lnR>
                    <a:lnT>
                      <a:noFill/>
                    </a:lnT>
                    <a:lnB>
                      <a:noFill/>
                    </a:lnB>
                    <a:noFill/>
                  </a:tcPr>
                </a:tc>
                <a:tc>
                  <a:txBody>
                    <a:bodyPr/>
                    <a:lstStyle/>
                    <a:p>
                      <a:r>
                        <a:rPr lang="en-US" sz="1600" dirty="0"/>
                        <a:t>assert keyword, NIO (new I/O), Logging API, Image I/O</a:t>
                      </a:r>
                      <a:endParaRPr lang="en-US" sz="1600" dirty="0"/>
                    </a:p>
                  </a:txBody>
                  <a:tcPr marL="23908" marR="23908" marT="11954" marB="11954" anchor="ctr">
                    <a:lnL>
                      <a:noFill/>
                    </a:lnL>
                    <a:lnR>
                      <a:noFill/>
                    </a:lnR>
                    <a:lnT>
                      <a:noFill/>
                    </a:lnT>
                    <a:lnB>
                      <a:noFill/>
                    </a:lnB>
                    <a:noFill/>
                  </a:tcPr>
                </a:tc>
              </a:tr>
              <a:tr h="232840">
                <a:tc>
                  <a:txBody>
                    <a:bodyPr/>
                    <a:lstStyle/>
                    <a:p>
                      <a:r>
                        <a:rPr lang="en-US" sz="1600" b="1"/>
                        <a:t>Java 5 (1.5)</a:t>
                      </a:r>
                      <a:endParaRPr lang="en-US" sz="1600"/>
                    </a:p>
                  </a:txBody>
                  <a:tcPr marL="23908" marR="23908" marT="11954" marB="11954" anchor="ctr">
                    <a:lnL>
                      <a:noFill/>
                    </a:lnL>
                    <a:lnR>
                      <a:noFill/>
                    </a:lnR>
                    <a:lnT>
                      <a:noFill/>
                    </a:lnT>
                    <a:lnB>
                      <a:noFill/>
                    </a:lnB>
                    <a:noFill/>
                  </a:tcPr>
                </a:tc>
                <a:tc>
                  <a:txBody>
                    <a:bodyPr/>
                    <a:lstStyle/>
                    <a:p>
                      <a:r>
                        <a:rPr lang="en-US" sz="1600"/>
                        <a:t>2004</a:t>
                      </a:r>
                      <a:endParaRPr lang="en-US" sz="1600"/>
                    </a:p>
                  </a:txBody>
                  <a:tcPr marL="23908" marR="23908" marT="11954" marB="11954" anchor="ctr">
                    <a:lnL>
                      <a:noFill/>
                    </a:lnL>
                    <a:lnR>
                      <a:noFill/>
                    </a:lnR>
                    <a:lnT>
                      <a:noFill/>
                    </a:lnT>
                    <a:lnB>
                      <a:noFill/>
                    </a:lnB>
                    <a:noFill/>
                  </a:tcPr>
                </a:tc>
                <a:tc>
                  <a:txBody>
                    <a:bodyPr/>
                    <a:lstStyle/>
                    <a:p>
                      <a:r>
                        <a:rPr lang="en-US" sz="1600"/>
                        <a:t>Generics, annotations, enhanced for-loop, enums, autoboxing</a:t>
                      </a:r>
                      <a:endParaRPr lang="en-US" sz="1600"/>
                    </a:p>
                  </a:txBody>
                  <a:tcPr marL="23908" marR="23908" marT="11954" marB="11954" anchor="ctr">
                    <a:lnL>
                      <a:noFill/>
                    </a:lnL>
                    <a:lnR>
                      <a:noFill/>
                    </a:lnR>
                    <a:lnT>
                      <a:noFill/>
                    </a:lnT>
                    <a:lnB>
                      <a:noFill/>
                    </a:lnB>
                    <a:noFill/>
                  </a:tcPr>
                </a:tc>
              </a:tr>
              <a:tr h="333472">
                <a:tc>
                  <a:txBody>
                    <a:bodyPr/>
                    <a:lstStyle/>
                    <a:p>
                      <a:r>
                        <a:rPr lang="en-US" sz="1600" b="1"/>
                        <a:t>Java 6</a:t>
                      </a:r>
                      <a:endParaRPr lang="en-US" sz="1600"/>
                    </a:p>
                  </a:txBody>
                  <a:tcPr marL="23908" marR="23908" marT="11954" marB="11954" anchor="ctr">
                    <a:lnL>
                      <a:noFill/>
                    </a:lnL>
                    <a:lnR>
                      <a:noFill/>
                    </a:lnR>
                    <a:lnT>
                      <a:noFill/>
                    </a:lnT>
                    <a:lnB>
                      <a:noFill/>
                    </a:lnB>
                    <a:noFill/>
                  </a:tcPr>
                </a:tc>
                <a:tc>
                  <a:txBody>
                    <a:bodyPr/>
                    <a:lstStyle/>
                    <a:p>
                      <a:r>
                        <a:rPr lang="en-US" sz="1600"/>
                        <a:t>2006</a:t>
                      </a:r>
                      <a:endParaRPr lang="en-US" sz="1600"/>
                    </a:p>
                  </a:txBody>
                  <a:tcPr marL="23908" marR="23908" marT="11954" marB="11954" anchor="ctr">
                    <a:lnL>
                      <a:noFill/>
                    </a:lnL>
                    <a:lnR>
                      <a:noFill/>
                    </a:lnR>
                    <a:lnT>
                      <a:noFill/>
                    </a:lnT>
                    <a:lnB>
                      <a:noFill/>
                    </a:lnB>
                    <a:noFill/>
                  </a:tcPr>
                </a:tc>
                <a:tc>
                  <a:txBody>
                    <a:bodyPr/>
                    <a:lstStyle/>
                    <a:p>
                      <a:r>
                        <a:rPr lang="en-US" sz="1600"/>
                        <a:t>Scripting via JSR 223, Web services support, compiler API, performance improvements</a:t>
                      </a:r>
                      <a:endParaRPr lang="en-US" sz="1600"/>
                    </a:p>
                  </a:txBody>
                  <a:tcPr marL="23908" marR="23908" marT="11954" marB="11954" anchor="ctr">
                    <a:lnL>
                      <a:noFill/>
                    </a:lnL>
                    <a:lnR>
                      <a:noFill/>
                    </a:lnR>
                    <a:lnT>
                      <a:noFill/>
                    </a:lnT>
                    <a:lnB>
                      <a:noFill/>
                    </a:lnB>
                    <a:noFill/>
                  </a:tcPr>
                </a:tc>
              </a:tr>
              <a:tr h="232840">
                <a:tc>
                  <a:txBody>
                    <a:bodyPr/>
                    <a:lstStyle/>
                    <a:p>
                      <a:r>
                        <a:rPr lang="en-US" sz="1600" b="1"/>
                        <a:t>Java 7</a:t>
                      </a:r>
                      <a:endParaRPr lang="en-US" sz="1600"/>
                    </a:p>
                  </a:txBody>
                  <a:tcPr marL="23908" marR="23908" marT="11954" marB="11954" anchor="ctr">
                    <a:lnL>
                      <a:noFill/>
                    </a:lnL>
                    <a:lnR>
                      <a:noFill/>
                    </a:lnR>
                    <a:lnT>
                      <a:noFill/>
                    </a:lnT>
                    <a:lnB>
                      <a:noFill/>
                    </a:lnB>
                    <a:noFill/>
                  </a:tcPr>
                </a:tc>
                <a:tc>
                  <a:txBody>
                    <a:bodyPr/>
                    <a:lstStyle/>
                    <a:p>
                      <a:r>
                        <a:rPr lang="en-US" sz="1600"/>
                        <a:t>2011</a:t>
                      </a:r>
                      <a:endParaRPr lang="en-US" sz="1600"/>
                    </a:p>
                  </a:txBody>
                  <a:tcPr marL="23908" marR="23908" marT="11954" marB="11954" anchor="ctr">
                    <a:lnL>
                      <a:noFill/>
                    </a:lnL>
                    <a:lnR>
                      <a:noFill/>
                    </a:lnR>
                    <a:lnT>
                      <a:noFill/>
                    </a:lnT>
                    <a:lnB>
                      <a:noFill/>
                    </a:lnB>
                    <a:noFill/>
                  </a:tcPr>
                </a:tc>
                <a:tc>
                  <a:txBody>
                    <a:bodyPr/>
                    <a:lstStyle/>
                    <a:p>
                      <a:r>
                        <a:rPr lang="en-US" sz="1600"/>
                        <a:t>try-with-resources, switch on String, diamond operator, NIO.2</a:t>
                      </a:r>
                      <a:endParaRPr lang="en-US" sz="1600"/>
                    </a:p>
                  </a:txBody>
                  <a:tcPr marL="23908" marR="23908" marT="11954" marB="11954" anchor="ctr">
                    <a:lnL>
                      <a:noFill/>
                    </a:lnL>
                    <a:lnR>
                      <a:noFill/>
                    </a:lnR>
                    <a:lnT>
                      <a:noFill/>
                    </a:lnT>
                    <a:lnB>
                      <a:noFill/>
                    </a:lnB>
                    <a:noFill/>
                  </a:tcPr>
                </a:tc>
              </a:tr>
              <a:tr h="333472">
                <a:tc>
                  <a:txBody>
                    <a:bodyPr/>
                    <a:lstStyle/>
                    <a:p>
                      <a:r>
                        <a:rPr lang="en-US" sz="1600" b="1" dirty="0"/>
                        <a:t>Java 8</a:t>
                      </a:r>
                      <a:endParaRPr lang="en-US" sz="1600" dirty="0"/>
                    </a:p>
                  </a:txBody>
                  <a:tcPr marL="23908" marR="23908" marT="11954" marB="11954" anchor="ctr">
                    <a:lnL>
                      <a:noFill/>
                    </a:lnL>
                    <a:lnR>
                      <a:noFill/>
                    </a:lnR>
                    <a:lnT>
                      <a:noFill/>
                    </a:lnT>
                    <a:lnB>
                      <a:noFill/>
                    </a:lnB>
                    <a:noFill/>
                  </a:tcPr>
                </a:tc>
                <a:tc>
                  <a:txBody>
                    <a:bodyPr/>
                    <a:lstStyle/>
                    <a:p>
                      <a:r>
                        <a:rPr lang="en-US" sz="1600"/>
                        <a:t>2014</a:t>
                      </a:r>
                      <a:endParaRPr lang="en-US" sz="1600"/>
                    </a:p>
                  </a:txBody>
                  <a:tcPr marL="23908" marR="23908" marT="11954" marB="11954" anchor="ctr">
                    <a:lnL>
                      <a:noFill/>
                    </a:lnL>
                    <a:lnR>
                      <a:noFill/>
                    </a:lnR>
                    <a:lnT>
                      <a:noFill/>
                    </a:lnT>
                    <a:lnB>
                      <a:noFill/>
                    </a:lnB>
                    <a:noFill/>
                  </a:tcPr>
                </a:tc>
                <a:tc>
                  <a:txBody>
                    <a:bodyPr/>
                    <a:lstStyle/>
                    <a:p>
                      <a:r>
                        <a:rPr lang="en-US" sz="1600"/>
                        <a:t>Lambda expressions, Stream API, new Date-Time API (java.time), default methods</a:t>
                      </a:r>
                      <a:endParaRPr lang="en-US" sz="1600"/>
                    </a:p>
                  </a:txBody>
                  <a:tcPr marL="23908" marR="23908" marT="11954" marB="11954" anchor="ctr">
                    <a:lnL>
                      <a:noFill/>
                    </a:lnL>
                    <a:lnR>
                      <a:noFill/>
                    </a:lnR>
                    <a:lnT>
                      <a:noFill/>
                    </a:lnT>
                    <a:lnB>
                      <a:noFill/>
                    </a:lnB>
                    <a:noFill/>
                  </a:tcPr>
                </a:tc>
              </a:tr>
              <a:tr h="232840">
                <a:tc>
                  <a:txBody>
                    <a:bodyPr/>
                    <a:lstStyle/>
                    <a:p>
                      <a:r>
                        <a:rPr lang="en-US" sz="1600" b="1"/>
                        <a:t>Java 9</a:t>
                      </a:r>
                      <a:endParaRPr lang="en-US" sz="1600"/>
                    </a:p>
                  </a:txBody>
                  <a:tcPr marL="23908" marR="23908" marT="11954" marB="11954" anchor="ctr">
                    <a:lnL>
                      <a:noFill/>
                    </a:lnL>
                    <a:lnR>
                      <a:noFill/>
                    </a:lnR>
                    <a:lnT>
                      <a:noFill/>
                    </a:lnT>
                    <a:lnB>
                      <a:noFill/>
                    </a:lnB>
                    <a:noFill/>
                  </a:tcPr>
                </a:tc>
                <a:tc>
                  <a:txBody>
                    <a:bodyPr/>
                    <a:lstStyle/>
                    <a:p>
                      <a:r>
                        <a:rPr lang="en-US" sz="1600"/>
                        <a:t>2017</a:t>
                      </a:r>
                      <a:endParaRPr lang="en-US" sz="1600"/>
                    </a:p>
                  </a:txBody>
                  <a:tcPr marL="23908" marR="23908" marT="11954" marB="11954" anchor="ctr">
                    <a:lnL>
                      <a:noFill/>
                    </a:lnL>
                    <a:lnR>
                      <a:noFill/>
                    </a:lnR>
                    <a:lnT>
                      <a:noFill/>
                    </a:lnT>
                    <a:lnB>
                      <a:noFill/>
                    </a:lnB>
                    <a:noFill/>
                  </a:tcPr>
                </a:tc>
                <a:tc>
                  <a:txBody>
                    <a:bodyPr/>
                    <a:lstStyle/>
                    <a:p>
                      <a:r>
                        <a:rPr lang="en-US" sz="1600"/>
                        <a:t>Project Jigsaw (module system), JShell (REPL), improved JVM</a:t>
                      </a:r>
                      <a:endParaRPr lang="en-US" sz="1600"/>
                    </a:p>
                  </a:txBody>
                  <a:tcPr marL="23908" marR="23908" marT="11954" marB="11954" anchor="ctr">
                    <a:lnL>
                      <a:noFill/>
                    </a:lnL>
                    <a:lnR>
                      <a:noFill/>
                    </a:lnR>
                    <a:lnT>
                      <a:noFill/>
                    </a:lnT>
                    <a:lnB>
                      <a:noFill/>
                    </a:lnB>
                    <a:noFill/>
                  </a:tcPr>
                </a:tc>
              </a:tr>
              <a:tr h="232840">
                <a:tc>
                  <a:txBody>
                    <a:bodyPr/>
                    <a:lstStyle/>
                    <a:p>
                      <a:r>
                        <a:rPr lang="en-US" sz="1600" b="1" dirty="0"/>
                        <a:t>Java 10</a:t>
                      </a:r>
                      <a:endParaRPr lang="en-US" sz="1600" dirty="0"/>
                    </a:p>
                  </a:txBody>
                  <a:tcPr marL="23908" marR="23908" marT="11954" marB="11954" anchor="ctr">
                    <a:lnL>
                      <a:noFill/>
                    </a:lnL>
                    <a:lnR>
                      <a:noFill/>
                    </a:lnR>
                    <a:lnT>
                      <a:noFill/>
                    </a:lnT>
                    <a:lnB>
                      <a:noFill/>
                    </a:lnB>
                    <a:noFill/>
                  </a:tcPr>
                </a:tc>
                <a:tc>
                  <a:txBody>
                    <a:bodyPr/>
                    <a:lstStyle/>
                    <a:p>
                      <a:r>
                        <a:rPr lang="en-US" sz="1600"/>
                        <a:t>2018 (Mar)</a:t>
                      </a:r>
                      <a:endParaRPr lang="en-US" sz="1600"/>
                    </a:p>
                  </a:txBody>
                  <a:tcPr marL="23908" marR="23908" marT="11954" marB="11954" anchor="ctr">
                    <a:lnL>
                      <a:noFill/>
                    </a:lnL>
                    <a:lnR>
                      <a:noFill/>
                    </a:lnR>
                    <a:lnT>
                      <a:noFill/>
                    </a:lnT>
                    <a:lnB>
                      <a:noFill/>
                    </a:lnB>
                    <a:noFill/>
                  </a:tcPr>
                </a:tc>
                <a:tc>
                  <a:txBody>
                    <a:bodyPr/>
                    <a:lstStyle/>
                    <a:p>
                      <a:r>
                        <a:rPr lang="en-US" sz="1600"/>
                        <a:t>var keyword for local variable type inference</a:t>
                      </a:r>
                      <a:endParaRPr lang="en-US" sz="1600"/>
                    </a:p>
                  </a:txBody>
                  <a:tcPr marL="23908" marR="23908" marT="11954" marB="11954" anchor="ctr">
                    <a:lnL>
                      <a:noFill/>
                    </a:lnL>
                    <a:lnR>
                      <a:noFill/>
                    </a:lnR>
                    <a:lnT>
                      <a:noFill/>
                    </a:lnT>
                    <a:lnB>
                      <a:noFill/>
                    </a:lnB>
                    <a:noFill/>
                  </a:tcPr>
                </a:tc>
              </a:tr>
              <a:tr h="333472">
                <a:tc>
                  <a:txBody>
                    <a:bodyPr/>
                    <a:lstStyle/>
                    <a:p>
                      <a:r>
                        <a:rPr lang="en-US" sz="1600" b="1"/>
                        <a:t>Java 11</a:t>
                      </a:r>
                      <a:endParaRPr lang="en-US" sz="1600"/>
                    </a:p>
                  </a:txBody>
                  <a:tcPr marL="23908" marR="23908" marT="11954" marB="11954" anchor="ctr">
                    <a:lnL>
                      <a:noFill/>
                    </a:lnL>
                    <a:lnR>
                      <a:noFill/>
                    </a:lnR>
                    <a:lnT>
                      <a:noFill/>
                    </a:lnT>
                    <a:lnB>
                      <a:noFill/>
                    </a:lnB>
                    <a:noFill/>
                  </a:tcPr>
                </a:tc>
                <a:tc>
                  <a:txBody>
                    <a:bodyPr/>
                    <a:lstStyle/>
                    <a:p>
                      <a:r>
                        <a:rPr lang="en-US" sz="1600"/>
                        <a:t>2018 (Sep)</a:t>
                      </a:r>
                      <a:endParaRPr lang="en-US" sz="1600"/>
                    </a:p>
                  </a:txBody>
                  <a:tcPr marL="23908" marR="23908" marT="11954" marB="11954" anchor="ctr">
                    <a:lnL>
                      <a:noFill/>
                    </a:lnL>
                    <a:lnR>
                      <a:noFill/>
                    </a:lnR>
                    <a:lnT>
                      <a:noFill/>
                    </a:lnT>
                    <a:lnB>
                      <a:noFill/>
                    </a:lnB>
                    <a:noFill/>
                  </a:tcPr>
                </a:tc>
                <a:tc>
                  <a:txBody>
                    <a:bodyPr/>
                    <a:lstStyle/>
                    <a:p>
                      <a:r>
                        <a:rPr lang="en-US" sz="1600"/>
                        <a:t>Long-Term Support (LTS), HTTP Client API, String methods, var in lambda parameters</a:t>
                      </a:r>
                      <a:endParaRPr lang="en-US" sz="1600"/>
                    </a:p>
                  </a:txBody>
                  <a:tcPr marL="23908" marR="23908" marT="11954" marB="11954" anchor="ctr">
                    <a:lnL>
                      <a:noFill/>
                    </a:lnL>
                    <a:lnR>
                      <a:noFill/>
                    </a:lnR>
                    <a:lnT>
                      <a:noFill/>
                    </a:lnT>
                    <a:lnB>
                      <a:noFill/>
                    </a:lnB>
                    <a:noFill/>
                  </a:tcPr>
                </a:tc>
              </a:tr>
              <a:tr h="232840">
                <a:tc>
                  <a:txBody>
                    <a:bodyPr/>
                    <a:lstStyle/>
                    <a:p>
                      <a:r>
                        <a:rPr lang="en-US" sz="1600" b="1"/>
                        <a:t>Java 12</a:t>
                      </a:r>
                      <a:endParaRPr lang="en-US" sz="1600"/>
                    </a:p>
                  </a:txBody>
                  <a:tcPr marL="23908" marR="23908" marT="11954" marB="11954" anchor="ctr">
                    <a:lnL>
                      <a:noFill/>
                    </a:lnL>
                    <a:lnR>
                      <a:noFill/>
                    </a:lnR>
                    <a:lnT>
                      <a:noFill/>
                    </a:lnT>
                    <a:lnB>
                      <a:noFill/>
                    </a:lnB>
                    <a:noFill/>
                  </a:tcPr>
                </a:tc>
                <a:tc>
                  <a:txBody>
                    <a:bodyPr/>
                    <a:lstStyle/>
                    <a:p>
                      <a:r>
                        <a:rPr lang="en-US" sz="1600" dirty="0"/>
                        <a:t>2019 (Mar)</a:t>
                      </a:r>
                      <a:endParaRPr lang="en-US" sz="1600" dirty="0"/>
                    </a:p>
                  </a:txBody>
                  <a:tcPr marL="23908" marR="23908" marT="11954" marB="11954" anchor="ctr">
                    <a:lnL>
                      <a:noFill/>
                    </a:lnL>
                    <a:lnR>
                      <a:noFill/>
                    </a:lnR>
                    <a:lnT>
                      <a:noFill/>
                    </a:lnT>
                    <a:lnB>
                      <a:noFill/>
                    </a:lnB>
                    <a:noFill/>
                  </a:tcPr>
                </a:tc>
                <a:tc>
                  <a:txBody>
                    <a:bodyPr/>
                    <a:lstStyle/>
                    <a:p>
                      <a:r>
                        <a:rPr lang="en-US" sz="1600"/>
                        <a:t>Switch expressions (preview), Shenandoah GC (experimental)</a:t>
                      </a:r>
                      <a:endParaRPr lang="en-US" sz="1600"/>
                    </a:p>
                  </a:txBody>
                  <a:tcPr marL="23908" marR="23908" marT="11954" marB="11954" anchor="ctr">
                    <a:lnL>
                      <a:noFill/>
                    </a:lnL>
                    <a:lnR>
                      <a:noFill/>
                    </a:lnR>
                    <a:lnT>
                      <a:noFill/>
                    </a:lnT>
                    <a:lnB>
                      <a:noFill/>
                    </a:lnB>
                    <a:noFill/>
                  </a:tcPr>
                </a:tc>
              </a:tr>
              <a:tr h="232840">
                <a:tc>
                  <a:txBody>
                    <a:bodyPr/>
                    <a:lstStyle/>
                    <a:p>
                      <a:r>
                        <a:rPr lang="en-US" sz="1600" b="1"/>
                        <a:t>Java 13</a:t>
                      </a:r>
                      <a:endParaRPr lang="en-US" sz="1600"/>
                    </a:p>
                  </a:txBody>
                  <a:tcPr marL="23908" marR="23908" marT="11954" marB="11954" anchor="ctr">
                    <a:lnL>
                      <a:noFill/>
                    </a:lnL>
                    <a:lnR>
                      <a:noFill/>
                    </a:lnR>
                    <a:lnT>
                      <a:noFill/>
                    </a:lnT>
                    <a:lnB>
                      <a:noFill/>
                    </a:lnB>
                    <a:noFill/>
                  </a:tcPr>
                </a:tc>
                <a:tc>
                  <a:txBody>
                    <a:bodyPr/>
                    <a:lstStyle/>
                    <a:p>
                      <a:r>
                        <a:rPr lang="en-US" sz="1600"/>
                        <a:t>2019 (Sep)</a:t>
                      </a:r>
                      <a:endParaRPr lang="en-US" sz="1600"/>
                    </a:p>
                  </a:txBody>
                  <a:tcPr marL="23908" marR="23908" marT="11954" marB="11954" anchor="ctr">
                    <a:lnL>
                      <a:noFill/>
                    </a:lnL>
                    <a:lnR>
                      <a:noFill/>
                    </a:lnR>
                    <a:lnT>
                      <a:noFill/>
                    </a:lnT>
                    <a:lnB>
                      <a:noFill/>
                    </a:lnB>
                    <a:noFill/>
                  </a:tcPr>
                </a:tc>
                <a:tc>
                  <a:txBody>
                    <a:bodyPr/>
                    <a:lstStyle/>
                    <a:p>
                      <a:r>
                        <a:rPr lang="en-US" sz="1600"/>
                        <a:t>Text blocks (preview), dynamic CDS archives</a:t>
                      </a:r>
                      <a:endParaRPr lang="en-US" sz="1600"/>
                    </a:p>
                  </a:txBody>
                  <a:tcPr marL="23908" marR="23908" marT="11954" marB="11954" anchor="ctr">
                    <a:lnL>
                      <a:noFill/>
                    </a:lnL>
                    <a:lnR>
                      <a:noFill/>
                    </a:lnR>
                    <a:lnT>
                      <a:noFill/>
                    </a:lnT>
                    <a:lnB>
                      <a:noFill/>
                    </a:lnB>
                    <a:noFill/>
                  </a:tcPr>
                </a:tc>
              </a:tr>
              <a:tr h="232840">
                <a:tc>
                  <a:txBody>
                    <a:bodyPr/>
                    <a:lstStyle/>
                    <a:p>
                      <a:r>
                        <a:rPr lang="en-US" sz="1600" b="1"/>
                        <a:t>Java 14</a:t>
                      </a:r>
                      <a:endParaRPr lang="en-US" sz="1600"/>
                    </a:p>
                  </a:txBody>
                  <a:tcPr marL="23908" marR="23908" marT="11954" marB="11954" anchor="ctr">
                    <a:lnL>
                      <a:noFill/>
                    </a:lnL>
                    <a:lnR>
                      <a:noFill/>
                    </a:lnR>
                    <a:lnT>
                      <a:noFill/>
                    </a:lnT>
                    <a:lnB>
                      <a:noFill/>
                    </a:lnB>
                    <a:noFill/>
                  </a:tcPr>
                </a:tc>
                <a:tc>
                  <a:txBody>
                    <a:bodyPr/>
                    <a:lstStyle/>
                    <a:p>
                      <a:r>
                        <a:rPr lang="en-US" sz="1600"/>
                        <a:t>2020 (Mar)</a:t>
                      </a:r>
                      <a:endParaRPr lang="en-US" sz="1600"/>
                    </a:p>
                  </a:txBody>
                  <a:tcPr marL="23908" marR="23908" marT="11954" marB="11954" anchor="ctr">
                    <a:lnL>
                      <a:noFill/>
                    </a:lnL>
                    <a:lnR>
                      <a:noFill/>
                    </a:lnR>
                    <a:lnT>
                      <a:noFill/>
                    </a:lnT>
                    <a:lnB>
                      <a:noFill/>
                    </a:lnB>
                    <a:noFill/>
                  </a:tcPr>
                </a:tc>
                <a:tc>
                  <a:txBody>
                    <a:bodyPr/>
                    <a:lstStyle/>
                    <a:p>
                      <a:r>
                        <a:rPr lang="en-US" sz="1600"/>
                        <a:t>Records (preview), instanceof pattern matching (preview)</a:t>
                      </a:r>
                      <a:endParaRPr lang="en-US" sz="1600"/>
                    </a:p>
                  </a:txBody>
                  <a:tcPr marL="23908" marR="23908" marT="11954" marB="11954" anchor="ctr">
                    <a:lnL>
                      <a:noFill/>
                    </a:lnL>
                    <a:lnR>
                      <a:noFill/>
                    </a:lnR>
                    <a:lnT>
                      <a:noFill/>
                    </a:lnT>
                    <a:lnB>
                      <a:noFill/>
                    </a:lnB>
                    <a:noFill/>
                  </a:tcPr>
                </a:tc>
              </a:tr>
              <a:tr h="232840">
                <a:tc>
                  <a:txBody>
                    <a:bodyPr/>
                    <a:lstStyle/>
                    <a:p>
                      <a:r>
                        <a:rPr lang="en-US" sz="1600" b="1"/>
                        <a:t>Java 15</a:t>
                      </a:r>
                      <a:endParaRPr lang="en-US" sz="1600"/>
                    </a:p>
                  </a:txBody>
                  <a:tcPr marL="23908" marR="23908" marT="11954" marB="11954" anchor="ctr">
                    <a:lnL>
                      <a:noFill/>
                    </a:lnL>
                    <a:lnR>
                      <a:noFill/>
                    </a:lnR>
                    <a:lnT>
                      <a:noFill/>
                    </a:lnT>
                    <a:lnB>
                      <a:noFill/>
                    </a:lnB>
                    <a:noFill/>
                  </a:tcPr>
                </a:tc>
                <a:tc>
                  <a:txBody>
                    <a:bodyPr/>
                    <a:lstStyle/>
                    <a:p>
                      <a:r>
                        <a:rPr lang="en-US" sz="1600"/>
                        <a:t>2020 (Sep)</a:t>
                      </a:r>
                      <a:endParaRPr lang="en-US" sz="1600"/>
                    </a:p>
                  </a:txBody>
                  <a:tcPr marL="23908" marR="23908" marT="11954" marB="11954" anchor="ctr">
                    <a:lnL>
                      <a:noFill/>
                    </a:lnL>
                    <a:lnR>
                      <a:noFill/>
                    </a:lnR>
                    <a:lnT>
                      <a:noFill/>
                    </a:lnT>
                    <a:lnB>
                      <a:noFill/>
                    </a:lnB>
                    <a:noFill/>
                  </a:tcPr>
                </a:tc>
                <a:tc>
                  <a:txBody>
                    <a:bodyPr/>
                    <a:lstStyle/>
                    <a:p>
                      <a:r>
                        <a:rPr lang="en-US" sz="1600"/>
                        <a:t>Sealed classes (preview), hidden classes</a:t>
                      </a:r>
                      <a:endParaRPr lang="en-US" sz="1600"/>
                    </a:p>
                  </a:txBody>
                  <a:tcPr marL="23908" marR="23908" marT="11954" marB="11954" anchor="ctr">
                    <a:lnL>
                      <a:noFill/>
                    </a:lnL>
                    <a:lnR>
                      <a:noFill/>
                    </a:lnR>
                    <a:lnT>
                      <a:noFill/>
                    </a:lnT>
                    <a:lnB>
                      <a:noFill/>
                    </a:lnB>
                    <a:noFill/>
                  </a:tcPr>
                </a:tc>
              </a:tr>
              <a:tr h="333472">
                <a:tc>
                  <a:txBody>
                    <a:bodyPr/>
                    <a:lstStyle/>
                    <a:p>
                      <a:r>
                        <a:rPr lang="en-US" sz="1600" b="1"/>
                        <a:t>Java 16</a:t>
                      </a:r>
                      <a:endParaRPr lang="en-US" sz="1600"/>
                    </a:p>
                  </a:txBody>
                  <a:tcPr marL="23908" marR="23908" marT="11954" marB="11954" anchor="ctr">
                    <a:lnL>
                      <a:noFill/>
                    </a:lnL>
                    <a:lnR>
                      <a:noFill/>
                    </a:lnR>
                    <a:lnT>
                      <a:noFill/>
                    </a:lnT>
                    <a:lnB>
                      <a:noFill/>
                    </a:lnB>
                    <a:noFill/>
                  </a:tcPr>
                </a:tc>
                <a:tc>
                  <a:txBody>
                    <a:bodyPr/>
                    <a:lstStyle/>
                    <a:p>
                      <a:r>
                        <a:rPr lang="en-US" sz="1600"/>
                        <a:t>2021 (Mar)</a:t>
                      </a:r>
                      <a:endParaRPr lang="en-US" sz="1600"/>
                    </a:p>
                  </a:txBody>
                  <a:tcPr marL="23908" marR="23908" marT="11954" marB="11954" anchor="ctr">
                    <a:lnL>
                      <a:noFill/>
                    </a:lnL>
                    <a:lnR>
                      <a:noFill/>
                    </a:lnR>
                    <a:lnT>
                      <a:noFill/>
                    </a:lnT>
                    <a:lnB>
                      <a:noFill/>
                    </a:lnB>
                    <a:noFill/>
                  </a:tcPr>
                </a:tc>
                <a:tc>
                  <a:txBody>
                    <a:bodyPr/>
                    <a:lstStyle/>
                    <a:p>
                      <a:r>
                        <a:rPr lang="en-US" sz="1600"/>
                        <a:t>Records (finalized), Pattern matching (enhanced), new packaging tool</a:t>
                      </a:r>
                      <a:endParaRPr lang="en-US" sz="1600"/>
                    </a:p>
                  </a:txBody>
                  <a:tcPr marL="23908" marR="23908" marT="11954" marB="11954" anchor="ctr">
                    <a:lnL>
                      <a:noFill/>
                    </a:lnL>
                    <a:lnR>
                      <a:noFill/>
                    </a:lnR>
                    <a:lnT>
                      <a:noFill/>
                    </a:lnT>
                    <a:lnB>
                      <a:noFill/>
                    </a:lnB>
                    <a:noFill/>
                  </a:tcPr>
                </a:tc>
              </a:tr>
              <a:tr h="232840">
                <a:tc>
                  <a:txBody>
                    <a:bodyPr/>
                    <a:lstStyle/>
                    <a:p>
                      <a:r>
                        <a:rPr lang="en-US" sz="1600" b="1"/>
                        <a:t>Java 17</a:t>
                      </a:r>
                      <a:endParaRPr lang="en-US" sz="1600"/>
                    </a:p>
                  </a:txBody>
                  <a:tcPr marL="23908" marR="23908" marT="11954" marB="11954" anchor="ctr">
                    <a:lnL>
                      <a:noFill/>
                    </a:lnL>
                    <a:lnR>
                      <a:noFill/>
                    </a:lnR>
                    <a:lnT>
                      <a:noFill/>
                    </a:lnT>
                    <a:lnB>
                      <a:noFill/>
                    </a:lnB>
                    <a:noFill/>
                  </a:tcPr>
                </a:tc>
                <a:tc>
                  <a:txBody>
                    <a:bodyPr/>
                    <a:lstStyle/>
                    <a:p>
                      <a:r>
                        <a:rPr lang="en-US" sz="1600"/>
                        <a:t>2021 (Sep)</a:t>
                      </a:r>
                      <a:endParaRPr lang="en-US" sz="1600"/>
                    </a:p>
                  </a:txBody>
                  <a:tcPr marL="23908" marR="23908" marT="11954" marB="11954" anchor="ctr">
                    <a:lnL>
                      <a:noFill/>
                    </a:lnL>
                    <a:lnR>
                      <a:noFill/>
                    </a:lnR>
                    <a:lnT>
                      <a:noFill/>
                    </a:lnT>
                    <a:lnB>
                      <a:noFill/>
                    </a:lnB>
                    <a:noFill/>
                  </a:tcPr>
                </a:tc>
                <a:tc>
                  <a:txBody>
                    <a:bodyPr/>
                    <a:lstStyle/>
                    <a:p>
                      <a:r>
                        <a:rPr lang="en-US" sz="1600" b="1"/>
                        <a:t>LTS version</a:t>
                      </a:r>
                      <a:r>
                        <a:rPr lang="en-US" sz="1600"/>
                        <a:t>, sealed classes (final), enhanced pattern matching</a:t>
                      </a:r>
                      <a:endParaRPr lang="en-US" sz="1600"/>
                    </a:p>
                  </a:txBody>
                  <a:tcPr marL="23908" marR="23908" marT="11954" marB="11954" anchor="ctr">
                    <a:lnL>
                      <a:noFill/>
                    </a:lnL>
                    <a:lnR>
                      <a:noFill/>
                    </a:lnR>
                    <a:lnT>
                      <a:noFill/>
                    </a:lnT>
                    <a:lnB>
                      <a:noFill/>
                    </a:lnB>
                    <a:noFill/>
                  </a:tcPr>
                </a:tc>
              </a:tr>
              <a:tr h="333472">
                <a:tc>
                  <a:txBody>
                    <a:bodyPr/>
                    <a:lstStyle/>
                    <a:p>
                      <a:r>
                        <a:rPr lang="en-US" sz="1600" b="1"/>
                        <a:t>Java 18</a:t>
                      </a:r>
                      <a:endParaRPr lang="en-US" sz="1600"/>
                    </a:p>
                  </a:txBody>
                  <a:tcPr marL="23908" marR="23908" marT="11954" marB="11954" anchor="ctr">
                    <a:lnL>
                      <a:noFill/>
                    </a:lnL>
                    <a:lnR>
                      <a:noFill/>
                    </a:lnR>
                    <a:lnT>
                      <a:noFill/>
                    </a:lnT>
                    <a:lnB>
                      <a:noFill/>
                    </a:lnB>
                    <a:noFill/>
                  </a:tcPr>
                </a:tc>
                <a:tc>
                  <a:txBody>
                    <a:bodyPr/>
                    <a:lstStyle/>
                    <a:p>
                      <a:r>
                        <a:rPr lang="en-US" sz="1600"/>
                        <a:t>2022 (Mar)</a:t>
                      </a:r>
                      <a:endParaRPr lang="en-US" sz="1600"/>
                    </a:p>
                  </a:txBody>
                  <a:tcPr marL="23908" marR="23908" marT="11954" marB="11954" anchor="ctr">
                    <a:lnL>
                      <a:noFill/>
                    </a:lnL>
                    <a:lnR>
                      <a:noFill/>
                    </a:lnR>
                    <a:lnT>
                      <a:noFill/>
                    </a:lnT>
                    <a:lnB>
                      <a:noFill/>
                    </a:lnB>
                    <a:noFill/>
                  </a:tcPr>
                </a:tc>
                <a:tc>
                  <a:txBody>
                    <a:bodyPr/>
                    <a:lstStyle/>
                    <a:p>
                      <a:r>
                        <a:rPr lang="en-US" sz="1600"/>
                        <a:t>UTF-8 by default, Simple Web Server (for testing), preview of UTF support</a:t>
                      </a:r>
                      <a:endParaRPr lang="en-US" sz="1600"/>
                    </a:p>
                  </a:txBody>
                  <a:tcPr marL="23908" marR="23908" marT="11954" marB="11954" anchor="ctr">
                    <a:lnL>
                      <a:noFill/>
                    </a:lnL>
                    <a:lnR>
                      <a:noFill/>
                    </a:lnR>
                    <a:lnT>
                      <a:noFill/>
                    </a:lnT>
                    <a:lnB>
                      <a:noFill/>
                    </a:lnB>
                    <a:noFill/>
                  </a:tcPr>
                </a:tc>
              </a:tr>
              <a:tr h="333472">
                <a:tc>
                  <a:txBody>
                    <a:bodyPr/>
                    <a:lstStyle/>
                    <a:p>
                      <a:r>
                        <a:rPr lang="en-US" sz="1600" b="1"/>
                        <a:t>Java 19</a:t>
                      </a:r>
                      <a:endParaRPr lang="en-US" sz="1600"/>
                    </a:p>
                  </a:txBody>
                  <a:tcPr marL="23908" marR="23908" marT="11954" marB="11954" anchor="ctr">
                    <a:lnL>
                      <a:noFill/>
                    </a:lnL>
                    <a:lnR>
                      <a:noFill/>
                    </a:lnR>
                    <a:lnT>
                      <a:noFill/>
                    </a:lnT>
                    <a:lnB>
                      <a:noFill/>
                    </a:lnB>
                    <a:noFill/>
                  </a:tcPr>
                </a:tc>
                <a:tc>
                  <a:txBody>
                    <a:bodyPr/>
                    <a:lstStyle/>
                    <a:p>
                      <a:r>
                        <a:rPr lang="en-US" sz="1600"/>
                        <a:t>2022 (Sep)</a:t>
                      </a:r>
                      <a:endParaRPr lang="en-US" sz="1600"/>
                    </a:p>
                  </a:txBody>
                  <a:tcPr marL="23908" marR="23908" marT="11954" marB="11954" anchor="ctr">
                    <a:lnL>
                      <a:noFill/>
                    </a:lnL>
                    <a:lnR>
                      <a:noFill/>
                    </a:lnR>
                    <a:lnT>
                      <a:noFill/>
                    </a:lnT>
                    <a:lnB>
                      <a:noFill/>
                    </a:lnB>
                    <a:noFill/>
                  </a:tcPr>
                </a:tc>
                <a:tc>
                  <a:txBody>
                    <a:bodyPr/>
                    <a:lstStyle/>
                    <a:p>
                      <a:r>
                        <a:rPr lang="en-US" sz="1600"/>
                        <a:t>Virtual threads (preview – Project Loom), record patterns, structured concurrency</a:t>
                      </a:r>
                      <a:endParaRPr lang="en-US" sz="1600"/>
                    </a:p>
                  </a:txBody>
                  <a:tcPr marL="23908" marR="23908" marT="11954" marB="11954" anchor="ctr">
                    <a:lnL>
                      <a:noFill/>
                    </a:lnL>
                    <a:lnR>
                      <a:noFill/>
                    </a:lnR>
                    <a:lnT>
                      <a:noFill/>
                    </a:lnT>
                    <a:lnB>
                      <a:noFill/>
                    </a:lnB>
                    <a:noFill/>
                  </a:tcPr>
                </a:tc>
              </a:tr>
              <a:tr h="232840">
                <a:tc>
                  <a:txBody>
                    <a:bodyPr/>
                    <a:lstStyle/>
                    <a:p>
                      <a:r>
                        <a:rPr lang="en-US" sz="1600" b="1"/>
                        <a:t>Java 20</a:t>
                      </a:r>
                      <a:endParaRPr lang="en-US" sz="1600"/>
                    </a:p>
                  </a:txBody>
                  <a:tcPr marL="23908" marR="23908" marT="11954" marB="11954" anchor="ctr">
                    <a:lnL>
                      <a:noFill/>
                    </a:lnL>
                    <a:lnR>
                      <a:noFill/>
                    </a:lnR>
                    <a:lnT>
                      <a:noFill/>
                    </a:lnT>
                    <a:lnB>
                      <a:noFill/>
                    </a:lnB>
                    <a:noFill/>
                  </a:tcPr>
                </a:tc>
                <a:tc>
                  <a:txBody>
                    <a:bodyPr/>
                    <a:lstStyle/>
                    <a:p>
                      <a:r>
                        <a:rPr lang="en-US" sz="1600"/>
                        <a:t>2023 (Mar)</a:t>
                      </a:r>
                      <a:endParaRPr lang="en-US" sz="1600"/>
                    </a:p>
                  </a:txBody>
                  <a:tcPr marL="23908" marR="23908" marT="11954" marB="11954" anchor="ctr">
                    <a:lnL>
                      <a:noFill/>
                    </a:lnL>
                    <a:lnR>
                      <a:noFill/>
                    </a:lnR>
                    <a:lnT>
                      <a:noFill/>
                    </a:lnT>
                    <a:lnB>
                      <a:noFill/>
                    </a:lnB>
                    <a:noFill/>
                  </a:tcPr>
                </a:tc>
                <a:tc>
                  <a:txBody>
                    <a:bodyPr/>
                    <a:lstStyle/>
                    <a:p>
                      <a:r>
                        <a:rPr lang="en-US" sz="1600"/>
                        <a:t>Record patterns (second preview), scoped values</a:t>
                      </a:r>
                      <a:endParaRPr lang="en-US" sz="1600"/>
                    </a:p>
                  </a:txBody>
                  <a:tcPr marL="23908" marR="23908" marT="11954" marB="11954" anchor="ctr">
                    <a:lnL>
                      <a:noFill/>
                    </a:lnL>
                    <a:lnR>
                      <a:noFill/>
                    </a:lnR>
                    <a:lnT>
                      <a:noFill/>
                    </a:lnT>
                    <a:lnB>
                      <a:noFill/>
                    </a:lnB>
                    <a:noFill/>
                  </a:tcPr>
                </a:tc>
              </a:tr>
              <a:tr h="333472">
                <a:tc>
                  <a:txBody>
                    <a:bodyPr/>
                    <a:lstStyle/>
                    <a:p>
                      <a:r>
                        <a:rPr lang="en-US" sz="1600" b="1" dirty="0"/>
                        <a:t>Java 21</a:t>
                      </a:r>
                      <a:endParaRPr lang="en-US" sz="1600" dirty="0"/>
                    </a:p>
                  </a:txBody>
                  <a:tcPr marL="23908" marR="23908" marT="11954" marB="11954" anchor="ctr">
                    <a:lnL>
                      <a:noFill/>
                    </a:lnL>
                    <a:lnR>
                      <a:noFill/>
                    </a:lnR>
                    <a:lnT>
                      <a:noFill/>
                    </a:lnT>
                    <a:lnB>
                      <a:noFill/>
                    </a:lnB>
                    <a:noFill/>
                  </a:tcPr>
                </a:tc>
                <a:tc>
                  <a:txBody>
                    <a:bodyPr/>
                    <a:lstStyle/>
                    <a:p>
                      <a:r>
                        <a:rPr lang="en-US" sz="1600"/>
                        <a:t>2023 (Sep)</a:t>
                      </a:r>
                      <a:endParaRPr lang="en-US" sz="1600"/>
                    </a:p>
                  </a:txBody>
                  <a:tcPr marL="23908" marR="23908" marT="11954" marB="11954" anchor="ctr">
                    <a:lnL>
                      <a:noFill/>
                    </a:lnL>
                    <a:lnR>
                      <a:noFill/>
                    </a:lnR>
                    <a:lnT>
                      <a:noFill/>
                    </a:lnT>
                    <a:lnB>
                      <a:noFill/>
                    </a:lnB>
                    <a:noFill/>
                  </a:tcPr>
                </a:tc>
                <a:tc>
                  <a:txBody>
                    <a:bodyPr/>
                    <a:lstStyle/>
                    <a:p>
                      <a:r>
                        <a:rPr lang="en-US" sz="1600" b="1" dirty="0"/>
                        <a:t>LTS version</a:t>
                      </a:r>
                      <a:r>
                        <a:rPr lang="en-US" sz="1600" dirty="0"/>
                        <a:t>, virtual threads (final), string templates, more pattern matching</a:t>
                      </a:r>
                      <a:endParaRPr lang="en-US" sz="1600" dirty="0"/>
                    </a:p>
                  </a:txBody>
                  <a:tcPr marL="23908" marR="23908" marT="11954" marB="11954" anchor="ctr">
                    <a:lnL>
                      <a:noFill/>
                    </a:lnL>
                    <a:lnR>
                      <a:noFill/>
                    </a:lnR>
                    <a:lnT>
                      <a:noFill/>
                    </a:lnT>
                    <a:lnB>
                      <a:noFill/>
                    </a:lnB>
                    <a:no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 y="114869"/>
            <a:ext cx="10515600" cy="250891"/>
          </a:xfrm>
        </p:spPr>
        <p:txBody>
          <a:bodyPr>
            <a:noAutofit/>
          </a:bodyPr>
          <a:lstStyle/>
          <a:p>
            <a:r>
              <a:rPr lang="en-US" sz="2400" b="1" dirty="0">
                <a:solidFill>
                  <a:srgbClr val="FF0000"/>
                </a:solidFill>
                <a:latin typeface="Cambria" panose="02040503050406030204" pitchFamily="18" charset="0"/>
                <a:ea typeface="Cambria" panose="02040503050406030204" pitchFamily="18" charset="0"/>
              </a:rPr>
              <a:t>Java Features</a:t>
            </a:r>
            <a:endParaRPr lang="en-US" sz="2400" b="1" dirty="0">
              <a:solidFill>
                <a:srgbClr val="FF0000"/>
              </a:solidFill>
              <a:latin typeface="Cambria" panose="02040503050406030204" pitchFamily="18" charset="0"/>
              <a:ea typeface="Cambria" panose="02040503050406030204" pitchFamily="18" charset="0"/>
            </a:endParaRPr>
          </a:p>
        </p:txBody>
      </p:sp>
      <p:sp>
        <p:nvSpPr>
          <p:cNvPr id="4" name="Rectangle 1"/>
          <p:cNvSpPr>
            <a:spLocks noGrp="1" noChangeArrowheads="1"/>
          </p:cNvSpPr>
          <p:nvPr>
            <p:ph idx="1"/>
          </p:nvPr>
        </p:nvSpPr>
        <p:spPr bwMode="auto">
          <a:xfrm>
            <a:off x="106680" y="489245"/>
            <a:ext cx="11472512" cy="3739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Simple</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 Easy to learn, especially if you know C or C++.</a:t>
            </a: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Object-Oriented</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 Everything in Java is an object.</a:t>
            </a: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Platform Independent</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 Write once, run anywhere (WORA).</a:t>
            </a: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Secure</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 Built-in security features like bytecode verification and runtime checking.</a:t>
            </a: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Robust</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 Strong memory management, exception handling, and type checking.</a:t>
            </a: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Multithreaded</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 Supports multiple threads of execution for better performance.</a:t>
            </a: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High Performance</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 Just-In-Time (JIT) compiler improves execution speed.</a:t>
            </a: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Distributed</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 Java is designed for building distributed applications (e.g., using RMI, CORBA).</a:t>
            </a: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Dynamic</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 Supports dynamic loading of classes at runtime.</a:t>
            </a: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Portable </a:t>
            </a:r>
            <a:r>
              <a:rPr lang="en-US" altLang="en-US" sz="1600" b="1" dirty="0">
                <a:latin typeface="Cambria" panose="02040503050406030204" pitchFamily="18" charset="0"/>
                <a:ea typeface="Cambria" panose="02040503050406030204" pitchFamily="18" charset="0"/>
              </a:rPr>
              <a:t>– </a:t>
            </a:r>
            <a:r>
              <a:rPr lang="en-US" altLang="en-US" sz="1600" dirty="0">
                <a:latin typeface="Cambria" panose="02040503050406030204" pitchFamily="18" charset="0"/>
                <a:ea typeface="Cambria" panose="02040503050406030204" pitchFamily="18" charset="0"/>
              </a:rPr>
              <a:t>can run on multiple </a:t>
            </a:r>
            <a:r>
              <a:rPr lang="en-US" altLang="en-US" sz="1600" dirty="0" err="1">
                <a:latin typeface="Cambria" panose="02040503050406030204" pitchFamily="18" charset="0"/>
                <a:ea typeface="Cambria" panose="02040503050406030204" pitchFamily="18" charset="0"/>
              </a:rPr>
              <a:t>os</a:t>
            </a:r>
            <a:r>
              <a:rPr lang="en-US" altLang="en-US" sz="1600" dirty="0">
                <a:latin typeface="Cambria" panose="02040503050406030204" pitchFamily="18" charset="0"/>
                <a:ea typeface="Cambria" panose="02040503050406030204" pitchFamily="18" charset="0"/>
              </a:rPr>
              <a:t>.</a:t>
            </a:r>
            <a:endParaRPr kumimoji="0" lang="en-US" altLang="en-US" sz="160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pic>
        <p:nvPicPr>
          <p:cNvPr id="3" name="Picture 2" descr="major features of java"/>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830854" y="4010024"/>
            <a:ext cx="8008219" cy="312710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055" y="134121"/>
            <a:ext cx="10515600" cy="318268"/>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Java Applications</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97055" y="829820"/>
            <a:ext cx="11058625" cy="4656580"/>
          </a:xfrm>
        </p:spPr>
        <p:txBody>
          <a:bodyPr>
            <a:normAutofit/>
          </a:bodyPr>
          <a:lstStyle/>
          <a:p>
            <a:pPr>
              <a:lnSpc>
                <a:spcPct val="100000"/>
              </a:lnSpc>
            </a:pPr>
            <a:r>
              <a:rPr lang="en-US" sz="1800" dirty="0">
                <a:latin typeface="Cambria" panose="02040503050406030204" pitchFamily="18" charset="0"/>
                <a:ea typeface="Cambria" panose="02040503050406030204" pitchFamily="18" charset="0"/>
              </a:rPr>
              <a:t>Java is </a:t>
            </a:r>
            <a:r>
              <a:rPr lang="en-US" sz="1800" b="1" dirty="0">
                <a:latin typeface="Cambria" panose="02040503050406030204" pitchFamily="18" charset="0"/>
                <a:ea typeface="Cambria" panose="02040503050406030204" pitchFamily="18" charset="0"/>
              </a:rPr>
              <a:t>everywhere</a:t>
            </a:r>
            <a:r>
              <a:rPr lang="en-US" sz="1800" dirty="0">
                <a:latin typeface="Cambria" panose="02040503050406030204" pitchFamily="18" charset="0"/>
                <a:ea typeface="Cambria" panose="02040503050406030204" pitchFamily="18" charset="0"/>
              </a:rPr>
              <a:t>. Some popular domains where Java is widely used:</a:t>
            </a:r>
            <a:endParaRPr lang="en-US" sz="1800" dirty="0">
              <a:latin typeface="Cambria" panose="02040503050406030204" pitchFamily="18" charset="0"/>
              <a:ea typeface="Cambria" panose="02040503050406030204" pitchFamily="18" charset="0"/>
            </a:endParaRPr>
          </a:p>
          <a:p>
            <a:pPr>
              <a:lnSpc>
                <a:spcPct val="100000"/>
              </a:lnSpc>
              <a:buFont typeface="Arial" panose="020B0604020202020204" pitchFamily="34" charset="0"/>
              <a:buChar char="•"/>
            </a:pPr>
            <a:r>
              <a:rPr lang="en-US" sz="1800" b="1" dirty="0">
                <a:latin typeface="Cambria" panose="02040503050406030204" pitchFamily="18" charset="0"/>
                <a:ea typeface="Cambria" panose="02040503050406030204" pitchFamily="18" charset="0"/>
              </a:rPr>
              <a:t>Mobile Applications</a:t>
            </a:r>
            <a:r>
              <a:rPr lang="en-US" sz="1800" dirty="0">
                <a:latin typeface="Cambria" panose="02040503050406030204" pitchFamily="18" charset="0"/>
                <a:ea typeface="Cambria" panose="02040503050406030204" pitchFamily="18" charset="0"/>
              </a:rPr>
              <a:t> (especially Android)</a:t>
            </a:r>
            <a:endParaRPr lang="en-US" sz="1800" dirty="0">
              <a:latin typeface="Cambria" panose="02040503050406030204" pitchFamily="18" charset="0"/>
              <a:ea typeface="Cambria" panose="02040503050406030204" pitchFamily="18" charset="0"/>
            </a:endParaRPr>
          </a:p>
          <a:p>
            <a:pPr>
              <a:lnSpc>
                <a:spcPct val="100000"/>
              </a:lnSpc>
              <a:buFont typeface="Arial" panose="020B0604020202020204" pitchFamily="34" charset="0"/>
              <a:buChar char="•"/>
            </a:pPr>
            <a:r>
              <a:rPr lang="en-US" sz="1800" b="1" dirty="0">
                <a:latin typeface="Cambria" panose="02040503050406030204" pitchFamily="18" charset="0"/>
                <a:ea typeface="Cambria" panose="02040503050406030204" pitchFamily="18" charset="0"/>
              </a:rPr>
              <a:t>Web Applications</a:t>
            </a:r>
            <a:r>
              <a:rPr lang="en-US" sz="1800" dirty="0">
                <a:latin typeface="Cambria" panose="02040503050406030204" pitchFamily="18" charset="0"/>
                <a:ea typeface="Cambria" panose="02040503050406030204" pitchFamily="18" charset="0"/>
              </a:rPr>
              <a:t> (using Servlets, JSP, Spring)</a:t>
            </a:r>
            <a:endParaRPr lang="en-US" sz="1800" dirty="0">
              <a:latin typeface="Cambria" panose="02040503050406030204" pitchFamily="18" charset="0"/>
              <a:ea typeface="Cambria" panose="02040503050406030204" pitchFamily="18" charset="0"/>
            </a:endParaRPr>
          </a:p>
          <a:p>
            <a:pPr>
              <a:lnSpc>
                <a:spcPct val="100000"/>
              </a:lnSpc>
              <a:buFont typeface="Arial" panose="020B0604020202020204" pitchFamily="34" charset="0"/>
              <a:buChar char="•"/>
            </a:pPr>
            <a:r>
              <a:rPr lang="en-US" sz="1800" b="1" dirty="0">
                <a:latin typeface="Cambria" panose="02040503050406030204" pitchFamily="18" charset="0"/>
                <a:ea typeface="Cambria" panose="02040503050406030204" pitchFamily="18" charset="0"/>
              </a:rPr>
              <a:t>Enterprise Applications</a:t>
            </a:r>
            <a:r>
              <a:rPr lang="en-US" sz="1800" dirty="0">
                <a:latin typeface="Cambria" panose="02040503050406030204" pitchFamily="18" charset="0"/>
                <a:ea typeface="Cambria" panose="02040503050406030204" pitchFamily="18" charset="0"/>
              </a:rPr>
              <a:t> (banking, insurance, e-commerce)</a:t>
            </a:r>
            <a:endParaRPr lang="en-US" sz="1800" dirty="0">
              <a:latin typeface="Cambria" panose="02040503050406030204" pitchFamily="18" charset="0"/>
              <a:ea typeface="Cambria" panose="02040503050406030204" pitchFamily="18" charset="0"/>
            </a:endParaRPr>
          </a:p>
          <a:p>
            <a:pPr>
              <a:lnSpc>
                <a:spcPct val="100000"/>
              </a:lnSpc>
              <a:buFont typeface="Arial" panose="020B0604020202020204" pitchFamily="34" charset="0"/>
              <a:buChar char="•"/>
            </a:pPr>
            <a:r>
              <a:rPr lang="en-US" sz="1800" b="1" dirty="0">
                <a:latin typeface="Cambria" panose="02040503050406030204" pitchFamily="18" charset="0"/>
                <a:ea typeface="Cambria" panose="02040503050406030204" pitchFamily="18" charset="0"/>
              </a:rPr>
              <a:t>Desktop GUI Applications </a:t>
            </a:r>
            <a:r>
              <a:rPr lang="en-US" sz="1800" dirty="0">
                <a:latin typeface="Cambria" panose="02040503050406030204" pitchFamily="18" charset="0"/>
                <a:ea typeface="Cambria" panose="02040503050406030204" pitchFamily="18" charset="0"/>
              </a:rPr>
              <a:t>(</a:t>
            </a:r>
            <a:r>
              <a:rPr lang="en-US" sz="1800" dirty="0" err="1">
                <a:latin typeface="Cambria" panose="02040503050406030204" pitchFamily="18" charset="0"/>
                <a:ea typeface="Cambria" panose="02040503050406030204" pitchFamily="18" charset="0"/>
              </a:rPr>
              <a:t>Ms</a:t>
            </a:r>
            <a:r>
              <a:rPr lang="en-US" sz="1800" dirty="0">
                <a:latin typeface="Cambria" panose="02040503050406030204" pitchFamily="18" charset="0"/>
                <a:ea typeface="Cambria" panose="02040503050406030204" pitchFamily="18" charset="0"/>
              </a:rPr>
              <a:t>-word ,Note Pad ,Word pad, )</a:t>
            </a:r>
            <a:endParaRPr lang="en-US" sz="1800" dirty="0">
              <a:latin typeface="Cambria" panose="02040503050406030204" pitchFamily="18" charset="0"/>
              <a:ea typeface="Cambria" panose="02040503050406030204" pitchFamily="18" charset="0"/>
            </a:endParaRPr>
          </a:p>
          <a:p>
            <a:pPr>
              <a:lnSpc>
                <a:spcPct val="100000"/>
              </a:lnSpc>
              <a:buFont typeface="Arial" panose="020B0604020202020204" pitchFamily="34" charset="0"/>
              <a:buChar char="•"/>
            </a:pPr>
            <a:r>
              <a:rPr lang="en-US" sz="1800" b="1" dirty="0">
                <a:latin typeface="Cambria" panose="02040503050406030204" pitchFamily="18" charset="0"/>
                <a:ea typeface="Cambria" panose="02040503050406030204" pitchFamily="18" charset="0"/>
              </a:rPr>
              <a:t>Scientific Applications</a:t>
            </a:r>
            <a:r>
              <a:rPr lang="en-US" sz="1800" dirty="0">
                <a:latin typeface="Cambria" panose="02040503050406030204" pitchFamily="18" charset="0"/>
                <a:ea typeface="Cambria" panose="02040503050406030204" pitchFamily="18" charset="0"/>
              </a:rPr>
              <a:t> (MATLAB-like tools, simulations)</a:t>
            </a:r>
            <a:endParaRPr lang="en-US" sz="1800" dirty="0">
              <a:latin typeface="Cambria" panose="02040503050406030204" pitchFamily="18" charset="0"/>
              <a:ea typeface="Cambria" panose="02040503050406030204" pitchFamily="18" charset="0"/>
            </a:endParaRPr>
          </a:p>
          <a:p>
            <a:pPr>
              <a:lnSpc>
                <a:spcPct val="100000"/>
              </a:lnSpc>
              <a:buFont typeface="Arial" panose="020B0604020202020204" pitchFamily="34" charset="0"/>
              <a:buChar char="•"/>
            </a:pPr>
            <a:r>
              <a:rPr lang="en-US" sz="1800" b="1" dirty="0">
                <a:latin typeface="Cambria" panose="02040503050406030204" pitchFamily="18" charset="0"/>
                <a:ea typeface="Cambria" panose="02040503050406030204" pitchFamily="18" charset="0"/>
              </a:rPr>
              <a:t>Big Data and Cloud-based Systems </a:t>
            </a:r>
            <a:r>
              <a:rPr lang="en-US" sz="1800" dirty="0">
                <a:latin typeface="Cambria" panose="02040503050406030204" pitchFamily="18" charset="0"/>
                <a:ea typeface="Cambria" panose="02040503050406030204" pitchFamily="18" charset="0"/>
              </a:rPr>
              <a:t>(Netflix ,Google cloud platform, google Drive)</a:t>
            </a:r>
            <a:endParaRPr lang="en-US" sz="1800" dirty="0">
              <a:latin typeface="Cambria" panose="02040503050406030204" pitchFamily="18" charset="0"/>
              <a:ea typeface="Cambria" panose="02040503050406030204" pitchFamily="18" charset="0"/>
            </a:endParaRPr>
          </a:p>
          <a:p>
            <a:pPr>
              <a:lnSpc>
                <a:spcPct val="100000"/>
              </a:lnSpc>
              <a:buFont typeface="Arial" panose="020B0604020202020204" pitchFamily="34" charset="0"/>
              <a:buChar char="•"/>
            </a:pPr>
            <a:r>
              <a:rPr lang="en-US" sz="1800" b="1" dirty="0">
                <a:latin typeface="Cambria" panose="02040503050406030204" pitchFamily="18" charset="0"/>
                <a:ea typeface="Cambria" panose="02040503050406030204" pitchFamily="18" charset="0"/>
              </a:rPr>
              <a:t>Embedded Systems &amp; IoT </a:t>
            </a:r>
            <a:r>
              <a:rPr lang="en-US" sz="1800" dirty="0">
                <a:latin typeface="Cambria" panose="02040503050406030204" pitchFamily="18" charset="0"/>
                <a:ea typeface="Cambria" panose="02040503050406030204" pitchFamily="18" charset="0"/>
              </a:rPr>
              <a:t>(Automotive System, Smart Agriculture ,</a:t>
            </a:r>
            <a:r>
              <a:rPr lang="en-US" sz="1800" dirty="0" err="1">
                <a:latin typeface="Cambria" panose="02040503050406030204" pitchFamily="18" charset="0"/>
                <a:ea typeface="Cambria" panose="02040503050406030204" pitchFamily="18" charset="0"/>
              </a:rPr>
              <a:t>Surveillence</a:t>
            </a:r>
            <a:r>
              <a:rPr lang="en-US" sz="1800" dirty="0">
                <a:latin typeface="Cambria" panose="02040503050406030204" pitchFamily="18" charset="0"/>
                <a:ea typeface="Cambria" panose="02040503050406030204" pitchFamily="18" charset="0"/>
              </a:rPr>
              <a:t> Camera)</a:t>
            </a:r>
            <a:endParaRPr lang="en-US" sz="1800" dirty="0">
              <a:latin typeface="Cambria" panose="02040503050406030204" pitchFamily="18" charset="0"/>
              <a:ea typeface="Cambria" panose="02040503050406030204" pitchFamily="18" charset="0"/>
            </a:endParaRPr>
          </a:p>
          <a:p>
            <a:pPr>
              <a:lnSpc>
                <a:spcPct val="100000"/>
              </a:lnSpc>
              <a:buFont typeface="Arial" panose="020B0604020202020204" pitchFamily="34" charset="0"/>
              <a:buChar char="•"/>
            </a:pPr>
            <a:r>
              <a:rPr lang="en-US" sz="1800" b="1" dirty="0">
                <a:latin typeface="Cambria" panose="02040503050406030204" pitchFamily="18" charset="0"/>
                <a:ea typeface="Cambria" panose="02040503050406030204" pitchFamily="18" charset="0"/>
              </a:rPr>
              <a:t>Game Development</a:t>
            </a:r>
            <a:r>
              <a:rPr lang="en-US" sz="1800" dirty="0">
                <a:latin typeface="Cambria" panose="02040503050406030204" pitchFamily="18" charset="0"/>
                <a:ea typeface="Cambria" panose="02040503050406030204" pitchFamily="18" charset="0"/>
              </a:rPr>
              <a:t> (using </a:t>
            </a:r>
            <a:r>
              <a:rPr lang="en-US" sz="1800" dirty="0" err="1">
                <a:latin typeface="Cambria" panose="02040503050406030204" pitchFamily="18" charset="0"/>
                <a:ea typeface="Cambria" panose="02040503050406030204" pitchFamily="18" charset="0"/>
              </a:rPr>
              <a:t>LibGDX</a:t>
            </a:r>
            <a:r>
              <a:rPr lang="en-US" sz="1800" dirty="0">
                <a:latin typeface="Cambria" panose="02040503050406030204" pitchFamily="18" charset="0"/>
                <a:ea typeface="Cambria" panose="02040503050406030204" pitchFamily="18" charset="0"/>
              </a:rPr>
              <a:t>, </a:t>
            </a:r>
            <a:r>
              <a:rPr lang="en-US" sz="1800" dirty="0" err="1">
                <a:latin typeface="Cambria" panose="02040503050406030204" pitchFamily="18" charset="0"/>
                <a:ea typeface="Cambria" panose="02040503050406030204" pitchFamily="18" charset="0"/>
              </a:rPr>
              <a:t>jMonkeyEngine</a:t>
            </a:r>
            <a:r>
              <a:rPr lang="en-US" sz="1800" dirty="0">
                <a:latin typeface="Cambria" panose="02040503050406030204" pitchFamily="18" charset="0"/>
                <a:ea typeface="Cambria" panose="02040503050406030204" pitchFamily="18" charset="0"/>
              </a:rPr>
              <a:t>)</a:t>
            </a:r>
            <a:endParaRPr lang="en-US" sz="1800" dirty="0">
              <a:latin typeface="Cambria" panose="02040503050406030204" pitchFamily="18" charset="0"/>
              <a:ea typeface="Cambria" panose="02040503050406030204" pitchFamily="18" charset="0"/>
            </a:endParaRPr>
          </a:p>
          <a:p>
            <a:pPr>
              <a:lnSpc>
                <a:spcPct val="100000"/>
              </a:lnSpc>
              <a:buFont typeface="Arial" panose="020B0604020202020204" pitchFamily="34" charset="0"/>
              <a:buChar char="•"/>
            </a:pPr>
            <a:r>
              <a:rPr lang="en-US" sz="1800" b="1" dirty="0">
                <a:latin typeface="Cambria" panose="02040503050406030204" pitchFamily="18" charset="0"/>
                <a:ea typeface="Cambria" panose="02040503050406030204" pitchFamily="18" charset="0"/>
              </a:rPr>
              <a:t>Software Programming IDE </a:t>
            </a:r>
            <a:r>
              <a:rPr lang="en-US" sz="1800" dirty="0">
                <a:latin typeface="Cambria" panose="02040503050406030204" pitchFamily="18" charset="0"/>
                <a:ea typeface="Cambria" panose="02040503050406030204" pitchFamily="18" charset="0"/>
              </a:rPr>
              <a:t>(Eclipse ,Visual Studio, STS </a:t>
            </a:r>
            <a:r>
              <a:rPr lang="en-US" sz="1800" dirty="0" err="1">
                <a:latin typeface="Cambria" panose="02040503050406030204" pitchFamily="18" charset="0"/>
                <a:ea typeface="Cambria" panose="02040503050406030204" pitchFamily="18" charset="0"/>
              </a:rPr>
              <a:t>etc</a:t>
            </a:r>
            <a:r>
              <a:rPr lang="en-US" sz="1800" dirty="0">
                <a:latin typeface="Cambria" panose="02040503050406030204" pitchFamily="18" charset="0"/>
                <a:ea typeface="Cambria" panose="02040503050406030204" pitchFamily="18" charset="0"/>
              </a:rPr>
              <a:t>)</a:t>
            </a:r>
            <a:endParaRPr lang="en-US" sz="1800" dirty="0">
              <a:latin typeface="Cambria" panose="02040503050406030204" pitchFamily="18" charset="0"/>
              <a:ea typeface="Cambria" panose="02040503050406030204" pitchFamily="18" charset="0"/>
            </a:endParaRPr>
          </a:p>
          <a:p>
            <a:pPr>
              <a:lnSpc>
                <a:spcPct val="100000"/>
              </a:lnSpc>
            </a:pPr>
            <a:endParaRPr lang="en-US" sz="1800"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304" y="85992"/>
            <a:ext cx="10515600" cy="289393"/>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Careers With Java Full Stack Development/Developer</a:t>
            </a:r>
            <a:endParaRPr lang="en-US" sz="2400" b="1" dirty="0">
              <a:solidFill>
                <a:srgbClr val="FF0000"/>
              </a:solidFill>
              <a:latin typeface="Cambria" panose="02040503050406030204" pitchFamily="18" charset="0"/>
              <a:ea typeface="Cambria" panose="02040503050406030204" pitchFamily="18" charset="0"/>
            </a:endParaRPr>
          </a:p>
        </p:txBody>
      </p:sp>
      <p:graphicFrame>
        <p:nvGraphicFramePr>
          <p:cNvPr id="9" name="Content Placeholder 8"/>
          <p:cNvGraphicFramePr>
            <a:graphicFrameLocks noGrp="1"/>
          </p:cNvGraphicFramePr>
          <p:nvPr>
            <p:ph idx="1"/>
          </p:nvPr>
        </p:nvGraphicFramePr>
        <p:xfrm>
          <a:off x="58152" y="375385"/>
          <a:ext cx="12075696" cy="5289792"/>
        </p:xfrm>
        <a:graphic>
          <a:graphicData uri="http://schemas.openxmlformats.org/drawingml/2006/table">
            <a:tbl>
              <a:tblPr/>
              <a:tblGrid>
                <a:gridCol w="1820766"/>
                <a:gridCol w="4852094"/>
                <a:gridCol w="5402836"/>
              </a:tblGrid>
              <a:tr h="371612">
                <a:tc>
                  <a:txBody>
                    <a:bodyPr/>
                    <a:lstStyle/>
                    <a:p>
                      <a:pPr algn="ctr"/>
                      <a:r>
                        <a:rPr lang="en-US" sz="1800" b="1">
                          <a:latin typeface="Cambria" panose="02040503050406030204" pitchFamily="18" charset="0"/>
                          <a:ea typeface="Cambria" panose="02040503050406030204" pitchFamily="18" charset="0"/>
                        </a:rPr>
                        <a:t>Profile</a:t>
                      </a:r>
                      <a:endParaRPr lang="en-US" sz="1800">
                        <a:latin typeface="Cambria" panose="02040503050406030204" pitchFamily="18" charset="0"/>
                        <a:ea typeface="Cambria" panose="02040503050406030204" pitchFamily="18" charset="0"/>
                      </a:endParaRPr>
                    </a:p>
                  </a:txBody>
                  <a:tcPr marL="37191" marR="37191" marT="18595" marB="18595" anchor="ctr">
                    <a:lnL>
                      <a:noFill/>
                    </a:lnL>
                    <a:lnR>
                      <a:noFill/>
                    </a:lnR>
                    <a:lnT>
                      <a:noFill/>
                    </a:lnT>
                    <a:lnB>
                      <a:noFill/>
                    </a:lnB>
                    <a:solidFill>
                      <a:schemeClr val="accent1">
                        <a:lumMod val="40000"/>
                        <a:lumOff val="60000"/>
                      </a:schemeClr>
                    </a:solidFill>
                  </a:tcPr>
                </a:tc>
                <a:tc>
                  <a:txBody>
                    <a:bodyPr/>
                    <a:lstStyle/>
                    <a:p>
                      <a:pPr algn="ctr"/>
                      <a:r>
                        <a:rPr lang="en-US" sz="1800" b="1" dirty="0">
                          <a:latin typeface="Cambria" panose="02040503050406030204" pitchFamily="18" charset="0"/>
                          <a:ea typeface="Cambria" panose="02040503050406030204" pitchFamily="18" charset="0"/>
                        </a:rPr>
                        <a:t>Description</a:t>
                      </a:r>
                      <a:endParaRPr lang="en-US" sz="1800" dirty="0">
                        <a:latin typeface="Cambria" panose="02040503050406030204" pitchFamily="18" charset="0"/>
                        <a:ea typeface="Cambria" panose="02040503050406030204" pitchFamily="18" charset="0"/>
                      </a:endParaRPr>
                    </a:p>
                  </a:txBody>
                  <a:tcPr marL="37191" marR="37191" marT="18595" marB="18595" anchor="ctr">
                    <a:lnL>
                      <a:noFill/>
                    </a:lnL>
                    <a:lnR>
                      <a:noFill/>
                    </a:lnR>
                    <a:lnT>
                      <a:noFill/>
                    </a:lnT>
                    <a:lnB>
                      <a:noFill/>
                    </a:lnB>
                    <a:solidFill>
                      <a:schemeClr val="accent1">
                        <a:lumMod val="40000"/>
                        <a:lumOff val="60000"/>
                      </a:schemeClr>
                    </a:solidFill>
                  </a:tcPr>
                </a:tc>
                <a:tc>
                  <a:txBody>
                    <a:bodyPr/>
                    <a:lstStyle/>
                    <a:p>
                      <a:pPr algn="ctr"/>
                      <a:r>
                        <a:rPr lang="en-US" sz="1800" b="1" dirty="0">
                          <a:latin typeface="Cambria" panose="02040503050406030204" pitchFamily="18" charset="0"/>
                          <a:ea typeface="Cambria" panose="02040503050406030204" pitchFamily="18" charset="0"/>
                        </a:rPr>
                        <a:t>Skills Required</a:t>
                      </a:r>
                      <a:endParaRPr lang="en-US" sz="1800" dirty="0">
                        <a:latin typeface="Cambria" panose="02040503050406030204" pitchFamily="18" charset="0"/>
                        <a:ea typeface="Cambria" panose="02040503050406030204" pitchFamily="18" charset="0"/>
                      </a:endParaRPr>
                    </a:p>
                  </a:txBody>
                  <a:tcPr marL="37191" marR="37191" marT="18595" marB="18595" anchor="ctr">
                    <a:lnL>
                      <a:noFill/>
                    </a:lnL>
                    <a:lnR>
                      <a:noFill/>
                    </a:lnR>
                    <a:lnT>
                      <a:noFill/>
                    </a:lnT>
                    <a:lnB>
                      <a:noFill/>
                    </a:lnB>
                    <a:solidFill>
                      <a:schemeClr val="accent1">
                        <a:lumMod val="40000"/>
                        <a:lumOff val="60000"/>
                      </a:schemeClr>
                    </a:solidFill>
                  </a:tcPr>
                </a:tc>
              </a:tr>
              <a:tr h="632911">
                <a:tc>
                  <a:txBody>
                    <a:bodyPr/>
                    <a:lstStyle/>
                    <a:p>
                      <a:r>
                        <a:rPr lang="en-US" sz="1600" b="1" dirty="0"/>
                        <a:t>Java Developer</a:t>
                      </a:r>
                      <a:endParaRPr lang="en-US" sz="1600" dirty="0"/>
                    </a:p>
                  </a:txBody>
                  <a:tcPr marL="37191" marR="37191" marT="18595" marB="18595" anchor="ctr">
                    <a:lnL>
                      <a:noFill/>
                    </a:lnL>
                    <a:lnR>
                      <a:noFill/>
                    </a:lnR>
                    <a:lnT>
                      <a:noFill/>
                    </a:lnT>
                    <a:lnB>
                      <a:noFill/>
                    </a:lnB>
                    <a:noFill/>
                  </a:tcPr>
                </a:tc>
                <a:tc>
                  <a:txBody>
                    <a:bodyPr/>
                    <a:lstStyle/>
                    <a:p>
                      <a:r>
                        <a:rPr lang="en-US" sz="1600" dirty="0"/>
                        <a:t>Develops back-end components, business logic, and server-side applications using Java.</a:t>
                      </a:r>
                      <a:endParaRPr lang="en-US" sz="1600" dirty="0"/>
                    </a:p>
                  </a:txBody>
                  <a:tcPr marL="37191" marR="37191" marT="18595" marB="18595" anchor="ctr">
                    <a:lnL>
                      <a:noFill/>
                    </a:lnL>
                    <a:lnR>
                      <a:noFill/>
                    </a:lnR>
                    <a:lnT>
                      <a:noFill/>
                    </a:lnT>
                    <a:lnB>
                      <a:noFill/>
                    </a:lnB>
                    <a:noFill/>
                  </a:tcPr>
                </a:tc>
                <a:tc>
                  <a:txBody>
                    <a:bodyPr/>
                    <a:lstStyle/>
                    <a:p>
                      <a:r>
                        <a:rPr lang="en-US" sz="1600"/>
                        <a:t>Core Java, OOPs, Collections, Multithreading, JDBC, Java SE/EE, Spring/Spring Boot, Maven, REST APIs</a:t>
                      </a:r>
                      <a:endParaRPr lang="en-US" sz="1600"/>
                    </a:p>
                  </a:txBody>
                  <a:tcPr marL="37191" marR="37191" marT="18595" marB="18595" anchor="ctr">
                    <a:lnL>
                      <a:noFill/>
                    </a:lnL>
                    <a:lnR>
                      <a:noFill/>
                    </a:lnR>
                    <a:lnT>
                      <a:noFill/>
                    </a:lnT>
                    <a:lnB>
                      <a:noFill/>
                    </a:lnB>
                    <a:noFill/>
                  </a:tcPr>
                </a:tc>
              </a:tr>
              <a:tr h="619248">
                <a:tc>
                  <a:txBody>
                    <a:bodyPr/>
                    <a:lstStyle/>
                    <a:p>
                      <a:r>
                        <a:rPr lang="en-US" sz="1600" b="1" dirty="0"/>
                        <a:t>Full Stack Java Developer</a:t>
                      </a:r>
                      <a:endParaRPr lang="en-US" sz="1600" dirty="0"/>
                    </a:p>
                  </a:txBody>
                  <a:tcPr marL="37191" marR="37191" marT="18595" marB="18595" anchor="ctr">
                    <a:lnL>
                      <a:noFill/>
                    </a:lnL>
                    <a:lnR>
                      <a:noFill/>
                    </a:lnR>
                    <a:lnT>
                      <a:noFill/>
                    </a:lnT>
                    <a:lnB>
                      <a:noFill/>
                    </a:lnB>
                    <a:noFill/>
                  </a:tcPr>
                </a:tc>
                <a:tc>
                  <a:txBody>
                    <a:bodyPr/>
                    <a:lstStyle/>
                    <a:p>
                      <a:r>
                        <a:rPr lang="en-US" sz="1600" dirty="0"/>
                        <a:t>Works on both front-end and back-end of web applications using Java and modern front-end tools.</a:t>
                      </a:r>
                      <a:endParaRPr lang="en-US" sz="1600" dirty="0"/>
                    </a:p>
                  </a:txBody>
                  <a:tcPr marL="37191" marR="37191" marT="18595" marB="18595" anchor="ctr">
                    <a:lnL>
                      <a:noFill/>
                    </a:lnL>
                    <a:lnR>
                      <a:noFill/>
                    </a:lnR>
                    <a:lnT>
                      <a:noFill/>
                    </a:lnT>
                    <a:lnB>
                      <a:noFill/>
                    </a:lnB>
                    <a:noFill/>
                  </a:tcPr>
                </a:tc>
                <a:tc>
                  <a:txBody>
                    <a:bodyPr/>
                    <a:lstStyle/>
                    <a:p>
                      <a:r>
                        <a:rPr lang="en-US" sz="1600"/>
                        <a:t>Java (SE &amp; EE), Spring Boot, Hibernate, REST APIs, HTML, CSS, JavaScript, React/Angular, MySQL, Git</a:t>
                      </a:r>
                      <a:endParaRPr lang="en-US" sz="1600"/>
                    </a:p>
                  </a:txBody>
                  <a:tcPr marL="37191" marR="37191" marT="18595" marB="18595" anchor="ctr">
                    <a:lnL>
                      <a:noFill/>
                    </a:lnL>
                    <a:lnR>
                      <a:noFill/>
                    </a:lnR>
                    <a:lnT>
                      <a:noFill/>
                    </a:lnT>
                    <a:lnB>
                      <a:noFill/>
                    </a:lnB>
                    <a:noFill/>
                  </a:tcPr>
                </a:tc>
              </a:tr>
              <a:tr h="536682">
                <a:tc>
                  <a:txBody>
                    <a:bodyPr/>
                    <a:lstStyle/>
                    <a:p>
                      <a:r>
                        <a:rPr lang="en-US" sz="1600" b="1" dirty="0"/>
                        <a:t>Back-End Developer (Java)</a:t>
                      </a:r>
                      <a:endParaRPr lang="en-US" sz="1600" dirty="0"/>
                    </a:p>
                  </a:txBody>
                  <a:tcPr marL="37191" marR="37191" marT="18595" marB="18595" anchor="ctr">
                    <a:lnL>
                      <a:noFill/>
                    </a:lnL>
                    <a:lnR>
                      <a:noFill/>
                    </a:lnR>
                    <a:lnT>
                      <a:noFill/>
                    </a:lnT>
                    <a:lnB>
                      <a:noFill/>
                    </a:lnB>
                    <a:noFill/>
                  </a:tcPr>
                </a:tc>
                <a:tc>
                  <a:txBody>
                    <a:bodyPr/>
                    <a:lstStyle/>
                    <a:p>
                      <a:r>
                        <a:rPr lang="en-US" sz="1600" dirty="0"/>
                        <a:t>Specializes in server-side programming, APIs, database interaction, and system logic.</a:t>
                      </a:r>
                      <a:endParaRPr lang="en-US" sz="1600" dirty="0"/>
                    </a:p>
                  </a:txBody>
                  <a:tcPr marL="37191" marR="37191" marT="18595" marB="18595" anchor="ctr">
                    <a:lnL>
                      <a:noFill/>
                    </a:lnL>
                    <a:lnR>
                      <a:noFill/>
                    </a:lnR>
                    <a:lnT>
                      <a:noFill/>
                    </a:lnT>
                    <a:lnB>
                      <a:noFill/>
                    </a:lnB>
                    <a:noFill/>
                  </a:tcPr>
                </a:tc>
                <a:tc>
                  <a:txBody>
                    <a:bodyPr/>
                    <a:lstStyle/>
                    <a:p>
                      <a:r>
                        <a:rPr lang="en-US" sz="1600" dirty="0"/>
                        <a:t>Java EE, Spring MVC, Spring Boot, JPA/Hibernate, RESTful APIs, MySQL/PostgreSQL, Microservices</a:t>
                      </a:r>
                      <a:endParaRPr lang="en-US" sz="1600" dirty="0"/>
                    </a:p>
                  </a:txBody>
                  <a:tcPr marL="37191" marR="37191" marT="18595" marB="18595" anchor="ctr">
                    <a:lnL>
                      <a:noFill/>
                    </a:lnL>
                    <a:lnR>
                      <a:noFill/>
                    </a:lnR>
                    <a:lnT>
                      <a:noFill/>
                    </a:lnT>
                    <a:lnB>
                      <a:noFill/>
                    </a:lnB>
                    <a:noFill/>
                  </a:tcPr>
                </a:tc>
              </a:tr>
              <a:tr h="547003">
                <a:tc>
                  <a:txBody>
                    <a:bodyPr/>
                    <a:lstStyle/>
                    <a:p>
                      <a:r>
                        <a:rPr lang="en-US" sz="1600" b="1"/>
                        <a:t>Front-End Developer (Java Stack)</a:t>
                      </a:r>
                      <a:endParaRPr lang="en-US" sz="1600"/>
                    </a:p>
                  </a:txBody>
                  <a:tcPr marL="37191" marR="37191" marT="18595" marB="18595" anchor="ctr">
                    <a:lnL>
                      <a:noFill/>
                    </a:lnL>
                    <a:lnR>
                      <a:noFill/>
                    </a:lnR>
                    <a:lnT>
                      <a:noFill/>
                    </a:lnT>
                    <a:lnB>
                      <a:noFill/>
                    </a:lnB>
                    <a:noFill/>
                  </a:tcPr>
                </a:tc>
                <a:tc>
                  <a:txBody>
                    <a:bodyPr/>
                    <a:lstStyle/>
                    <a:p>
                      <a:r>
                        <a:rPr lang="en-US" sz="1600"/>
                        <a:t>Focuses on building interactive UI that communicates with Java-based back-end.</a:t>
                      </a:r>
                      <a:endParaRPr lang="en-US" sz="1600"/>
                    </a:p>
                  </a:txBody>
                  <a:tcPr marL="37191" marR="37191" marT="18595" marB="18595" anchor="ctr">
                    <a:lnL>
                      <a:noFill/>
                    </a:lnL>
                    <a:lnR>
                      <a:noFill/>
                    </a:lnR>
                    <a:lnT>
                      <a:noFill/>
                    </a:lnT>
                    <a:lnB>
                      <a:noFill/>
                    </a:lnB>
                    <a:noFill/>
                  </a:tcPr>
                </a:tc>
                <a:tc>
                  <a:txBody>
                    <a:bodyPr/>
                    <a:lstStyle/>
                    <a:p>
                      <a:r>
                        <a:rPr lang="en-US" sz="1600" dirty="0"/>
                        <a:t>HTML, CSS, JavaScript, Bootstrap, React/Angular, AJAX, JSON, REST APIs</a:t>
                      </a:r>
                      <a:endParaRPr lang="en-US" sz="1600" dirty="0"/>
                    </a:p>
                  </a:txBody>
                  <a:tcPr marL="37191" marR="37191" marT="18595" marB="18595" anchor="ctr">
                    <a:lnL>
                      <a:noFill/>
                    </a:lnL>
                    <a:lnR>
                      <a:noFill/>
                    </a:lnR>
                    <a:lnT>
                      <a:noFill/>
                    </a:lnT>
                    <a:lnB>
                      <a:noFill/>
                    </a:lnB>
                    <a:noFill/>
                  </a:tcPr>
                </a:tc>
              </a:tr>
              <a:tr h="553414">
                <a:tc>
                  <a:txBody>
                    <a:bodyPr/>
                    <a:lstStyle/>
                    <a:p>
                      <a:r>
                        <a:rPr lang="en-US" sz="1600" b="1"/>
                        <a:t>Web Application Developer</a:t>
                      </a:r>
                      <a:endParaRPr lang="en-US" sz="1600"/>
                    </a:p>
                  </a:txBody>
                  <a:tcPr marL="37191" marR="37191" marT="18595" marB="18595" anchor="ctr">
                    <a:lnL>
                      <a:noFill/>
                    </a:lnL>
                    <a:lnR>
                      <a:noFill/>
                    </a:lnR>
                    <a:lnT>
                      <a:noFill/>
                    </a:lnT>
                    <a:lnB>
                      <a:noFill/>
                    </a:lnB>
                    <a:noFill/>
                  </a:tcPr>
                </a:tc>
                <a:tc>
                  <a:txBody>
                    <a:bodyPr/>
                    <a:lstStyle/>
                    <a:p>
                      <a:r>
                        <a:rPr lang="en-US" sz="1600" dirty="0"/>
                        <a:t>Builds dynamic web applications using Java and web frameworks.</a:t>
                      </a:r>
                      <a:endParaRPr lang="en-US" sz="1600" dirty="0"/>
                    </a:p>
                  </a:txBody>
                  <a:tcPr marL="37191" marR="37191" marT="18595" marB="18595" anchor="ctr">
                    <a:lnL>
                      <a:noFill/>
                    </a:lnL>
                    <a:lnR>
                      <a:noFill/>
                    </a:lnR>
                    <a:lnT>
                      <a:noFill/>
                    </a:lnT>
                    <a:lnB>
                      <a:noFill/>
                    </a:lnB>
                    <a:noFill/>
                  </a:tcPr>
                </a:tc>
                <a:tc>
                  <a:txBody>
                    <a:bodyPr/>
                    <a:lstStyle/>
                    <a:p>
                      <a:r>
                        <a:rPr lang="en-US" sz="1600" dirty="0"/>
                        <a:t>JSP, Servlets, Spring MVC, HTML, JavaScript, Bootstrap, SQL, Git</a:t>
                      </a:r>
                      <a:endParaRPr lang="en-US" sz="1600" dirty="0"/>
                    </a:p>
                  </a:txBody>
                  <a:tcPr marL="37191" marR="37191" marT="18595" marB="18595" anchor="ctr">
                    <a:lnL>
                      <a:noFill/>
                    </a:lnL>
                    <a:lnR>
                      <a:noFill/>
                    </a:lnR>
                    <a:lnT>
                      <a:noFill/>
                    </a:lnT>
                    <a:lnB>
                      <a:noFill/>
                    </a:lnB>
                    <a:noFill/>
                  </a:tcPr>
                </a:tc>
              </a:tr>
              <a:tr h="719982">
                <a:tc>
                  <a:txBody>
                    <a:bodyPr/>
                    <a:lstStyle/>
                    <a:p>
                      <a:r>
                        <a:rPr lang="en-US" sz="1600" b="1" dirty="0"/>
                        <a:t>Software Engineer (Java)</a:t>
                      </a:r>
                      <a:endParaRPr lang="en-US" sz="1600" dirty="0"/>
                    </a:p>
                  </a:txBody>
                  <a:tcPr marL="37191" marR="37191" marT="18595" marB="18595" anchor="ctr">
                    <a:lnL>
                      <a:noFill/>
                    </a:lnL>
                    <a:lnR>
                      <a:noFill/>
                    </a:lnR>
                    <a:lnT>
                      <a:noFill/>
                    </a:lnT>
                    <a:lnB>
                      <a:noFill/>
                    </a:lnB>
                    <a:noFill/>
                  </a:tcPr>
                </a:tc>
                <a:tc>
                  <a:txBody>
                    <a:bodyPr/>
                    <a:lstStyle/>
                    <a:p>
                      <a:r>
                        <a:rPr lang="en-US" sz="1600" dirty="0"/>
                        <a:t>Generalist role writing code, solving problems, and contributing to full lifecycle software development.</a:t>
                      </a:r>
                      <a:endParaRPr lang="en-US" sz="1600" dirty="0"/>
                    </a:p>
                  </a:txBody>
                  <a:tcPr marL="37191" marR="37191" marT="18595" marB="18595" anchor="ctr">
                    <a:lnL>
                      <a:noFill/>
                    </a:lnL>
                    <a:lnR>
                      <a:noFill/>
                    </a:lnR>
                    <a:lnT>
                      <a:noFill/>
                    </a:lnT>
                    <a:lnB>
                      <a:noFill/>
                    </a:lnB>
                    <a:noFill/>
                  </a:tcPr>
                </a:tc>
                <a:tc>
                  <a:txBody>
                    <a:bodyPr/>
                    <a:lstStyle/>
                    <a:p>
                      <a:r>
                        <a:rPr lang="en-US" sz="1600" dirty="0"/>
                        <a:t>Core Java, OOP, Spring Boot, Git, JUnit, APIs, Agile tools</a:t>
                      </a:r>
                      <a:endParaRPr lang="en-US" sz="1600" dirty="0"/>
                    </a:p>
                  </a:txBody>
                  <a:tcPr marL="37191" marR="37191" marT="18595" marB="18595" anchor="ctr">
                    <a:lnL>
                      <a:noFill/>
                    </a:lnL>
                    <a:lnR>
                      <a:noFill/>
                    </a:lnR>
                    <a:lnT>
                      <a:noFill/>
                    </a:lnT>
                    <a:lnB>
                      <a:noFill/>
                    </a:lnB>
                    <a:noFill/>
                  </a:tcPr>
                </a:tc>
              </a:tr>
              <a:tr h="588958">
                <a:tc>
                  <a:txBody>
                    <a:bodyPr/>
                    <a:lstStyle/>
                    <a:p>
                      <a:r>
                        <a:rPr lang="en-US" sz="1600" b="1" dirty="0"/>
                        <a:t>Technical Support Engineer (Java Apps)</a:t>
                      </a:r>
                      <a:endParaRPr lang="en-US" sz="1600" dirty="0"/>
                    </a:p>
                  </a:txBody>
                  <a:tcPr marL="37191" marR="37191" marT="18595" marB="18595" anchor="ctr">
                    <a:lnL>
                      <a:noFill/>
                    </a:lnL>
                    <a:lnR>
                      <a:noFill/>
                    </a:lnR>
                    <a:lnT>
                      <a:noFill/>
                    </a:lnT>
                    <a:lnB>
                      <a:noFill/>
                    </a:lnB>
                    <a:noFill/>
                  </a:tcPr>
                </a:tc>
                <a:tc>
                  <a:txBody>
                    <a:bodyPr/>
                    <a:lstStyle/>
                    <a:p>
                      <a:r>
                        <a:rPr lang="en-US" sz="1600" dirty="0"/>
                        <a:t>Provides maintenance and debugging support for Java-based systems and applications.</a:t>
                      </a:r>
                      <a:endParaRPr lang="en-US" sz="1600" dirty="0"/>
                    </a:p>
                  </a:txBody>
                  <a:tcPr marL="37191" marR="37191" marT="18595" marB="18595" anchor="ctr">
                    <a:lnL>
                      <a:noFill/>
                    </a:lnL>
                    <a:lnR>
                      <a:noFill/>
                    </a:lnR>
                    <a:lnT>
                      <a:noFill/>
                    </a:lnT>
                    <a:lnB>
                      <a:noFill/>
                    </a:lnB>
                    <a:noFill/>
                  </a:tcPr>
                </a:tc>
                <a:tc>
                  <a:txBody>
                    <a:bodyPr/>
                    <a:lstStyle/>
                    <a:p>
                      <a:r>
                        <a:rPr lang="en-US" sz="1600" dirty="0"/>
                        <a:t>Java basics, Log analysis, SQL, Issue tracking tools (Jira), Shell scripting</a:t>
                      </a:r>
                      <a:endParaRPr lang="en-US" sz="1600" dirty="0"/>
                    </a:p>
                  </a:txBody>
                  <a:tcPr marL="37191" marR="37191" marT="18595" marB="18595" anchor="ctr">
                    <a:lnL>
                      <a:noFill/>
                    </a:lnL>
                    <a:lnR>
                      <a:noFill/>
                    </a:lnR>
                    <a:lnT>
                      <a:noFill/>
                    </a:lnT>
                    <a:lnB>
                      <a:noFill/>
                    </a:lnB>
                    <a:noFill/>
                  </a:tcPr>
                </a:tc>
              </a:tr>
              <a:tr h="719982">
                <a:tc>
                  <a:txBody>
                    <a:bodyPr/>
                    <a:lstStyle/>
                    <a:p>
                      <a:r>
                        <a:rPr lang="en-US" sz="1600" b="1"/>
                        <a:t>Java Architect</a:t>
                      </a:r>
                      <a:endParaRPr lang="en-US" sz="1600"/>
                    </a:p>
                  </a:txBody>
                  <a:tcPr marL="37191" marR="37191" marT="18595" marB="18595" anchor="ctr">
                    <a:lnL>
                      <a:noFill/>
                    </a:lnL>
                    <a:lnR>
                      <a:noFill/>
                    </a:lnR>
                    <a:lnT>
                      <a:noFill/>
                    </a:lnT>
                    <a:lnB>
                      <a:noFill/>
                    </a:lnB>
                    <a:noFill/>
                  </a:tcPr>
                </a:tc>
                <a:tc>
                  <a:txBody>
                    <a:bodyPr/>
                    <a:lstStyle/>
                    <a:p>
                      <a:r>
                        <a:rPr lang="en-US" sz="1600" dirty="0"/>
                        <a:t>Designs high-level structure and architecture for Java applications and enterprise systems.</a:t>
                      </a:r>
                      <a:endParaRPr lang="en-US" sz="1600" dirty="0"/>
                    </a:p>
                  </a:txBody>
                  <a:tcPr marL="37191" marR="37191" marT="18595" marB="18595" anchor="ctr">
                    <a:lnL>
                      <a:noFill/>
                    </a:lnL>
                    <a:lnR>
                      <a:noFill/>
                    </a:lnR>
                    <a:lnT>
                      <a:noFill/>
                    </a:lnT>
                    <a:lnB>
                      <a:noFill/>
                    </a:lnB>
                    <a:noFill/>
                  </a:tcPr>
                </a:tc>
                <a:tc>
                  <a:txBody>
                    <a:bodyPr/>
                    <a:lstStyle/>
                    <a:p>
                      <a:r>
                        <a:rPr lang="en-US" sz="1600" dirty="0"/>
                        <a:t>Advanced Java, Spring, Microservices, Design Patterns, Cloud (AWS/Azure), Docker, CI/CD, System Design</a:t>
                      </a:r>
                      <a:endParaRPr lang="en-US" sz="1600" dirty="0"/>
                    </a:p>
                  </a:txBody>
                  <a:tcPr marL="37191" marR="37191" marT="18595" marB="18595" anchor="ctr">
                    <a:lnL>
                      <a:noFill/>
                    </a:lnL>
                    <a:lnR>
                      <a:noFill/>
                    </a:lnR>
                    <a:lnT>
                      <a:noFill/>
                    </a:lnT>
                    <a:lnB>
                      <a:noFill/>
                    </a:lnB>
                    <a:no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045" y="85994"/>
            <a:ext cx="11867949" cy="395269"/>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Careers With Java Full Stack Development/Developer</a:t>
            </a:r>
            <a:endParaRPr lang="en-US" sz="2400" dirty="0"/>
          </a:p>
        </p:txBody>
      </p:sp>
      <p:sp>
        <p:nvSpPr>
          <p:cNvPr id="6" name="Content Placeholder 5"/>
          <p:cNvSpPr txBox="1">
            <a:spLocks noGrp="1"/>
          </p:cNvSpPr>
          <p:nvPr>
            <p:ph idx="1"/>
          </p:nvPr>
        </p:nvSpPr>
        <p:spPr>
          <a:xfrm>
            <a:off x="-16042" y="853473"/>
            <a:ext cx="12224084" cy="4117024"/>
          </a:xfrm>
          <a:prstGeom prst="rect">
            <a:avLst/>
          </a:prstGeom>
          <a:solidFill>
            <a:schemeClr val="bg1"/>
          </a:solidFill>
        </p:spPr>
        <p:txBody>
          <a:bodyPr wrap="square">
            <a:spAutoFit/>
          </a:bodyPr>
          <a:lstStyle/>
          <a:p>
            <a:pPr>
              <a:buFont typeface="Wingdings" panose="05000000000000000000" pitchFamily="2" charset="2"/>
              <a:buChar char="ü"/>
            </a:pPr>
            <a:r>
              <a:rPr lang="en-US" sz="1800" b="1" dirty="0">
                <a:solidFill>
                  <a:srgbClr val="7030A0"/>
                </a:solidFill>
                <a:latin typeface="Cambria" panose="02040503050406030204" pitchFamily="18" charset="0"/>
                <a:ea typeface="Cambria" panose="02040503050406030204" pitchFamily="18" charset="0"/>
              </a:rPr>
              <a:t>Java Trainee/Intern → </a:t>
            </a:r>
            <a:endParaRPr lang="en-US" sz="1800" b="1" dirty="0">
              <a:solidFill>
                <a:srgbClr val="7030A0"/>
              </a:solidFill>
              <a:latin typeface="Cambria" panose="02040503050406030204" pitchFamily="18" charset="0"/>
              <a:ea typeface="Cambria" panose="02040503050406030204" pitchFamily="18" charset="0"/>
            </a:endParaRPr>
          </a:p>
          <a:p>
            <a:pPr>
              <a:buFont typeface="Wingdings" panose="05000000000000000000" pitchFamily="2" charset="2"/>
              <a:buChar char="ü"/>
            </a:pPr>
            <a:endParaRPr lang="en-US" sz="1800" b="1" dirty="0">
              <a:solidFill>
                <a:srgbClr val="7030A0"/>
              </a:solidFill>
              <a:latin typeface="Cambria" panose="02040503050406030204" pitchFamily="18" charset="0"/>
              <a:ea typeface="Cambria" panose="02040503050406030204" pitchFamily="18" charset="0"/>
            </a:endParaRPr>
          </a:p>
          <a:p>
            <a:pPr>
              <a:buFont typeface="Wingdings" panose="05000000000000000000" pitchFamily="2" charset="2"/>
              <a:buChar char="ü"/>
            </a:pPr>
            <a:r>
              <a:rPr lang="en-US" sz="1800" b="1" dirty="0">
                <a:solidFill>
                  <a:srgbClr val="7030A0"/>
                </a:solidFill>
                <a:latin typeface="Cambria" panose="02040503050406030204" pitchFamily="18" charset="0"/>
                <a:ea typeface="Cambria" panose="02040503050406030204" pitchFamily="18" charset="0"/>
              </a:rPr>
              <a:t>Java Developer →</a:t>
            </a:r>
            <a:endParaRPr lang="en-US" sz="1800" b="1" dirty="0">
              <a:solidFill>
                <a:srgbClr val="7030A0"/>
              </a:solidFill>
              <a:latin typeface="Cambria" panose="02040503050406030204" pitchFamily="18" charset="0"/>
              <a:ea typeface="Cambria" panose="02040503050406030204" pitchFamily="18" charset="0"/>
            </a:endParaRPr>
          </a:p>
          <a:p>
            <a:pPr>
              <a:buFont typeface="Wingdings" panose="05000000000000000000" pitchFamily="2" charset="2"/>
              <a:buChar char="ü"/>
            </a:pPr>
            <a:endParaRPr lang="en-US" sz="1800" b="1" dirty="0">
              <a:solidFill>
                <a:srgbClr val="7030A0"/>
              </a:solidFill>
              <a:latin typeface="Cambria" panose="02040503050406030204" pitchFamily="18" charset="0"/>
              <a:ea typeface="Cambria" panose="02040503050406030204" pitchFamily="18" charset="0"/>
            </a:endParaRPr>
          </a:p>
          <a:p>
            <a:pPr>
              <a:buFont typeface="Wingdings" panose="05000000000000000000" pitchFamily="2" charset="2"/>
              <a:buChar char="ü"/>
            </a:pPr>
            <a:r>
              <a:rPr lang="en-US" sz="1800" b="1" dirty="0">
                <a:solidFill>
                  <a:srgbClr val="7030A0"/>
                </a:solidFill>
                <a:latin typeface="Cambria" panose="02040503050406030204" pitchFamily="18" charset="0"/>
                <a:ea typeface="Cambria" panose="02040503050406030204" pitchFamily="18" charset="0"/>
              </a:rPr>
              <a:t> Full Stack Developer → </a:t>
            </a:r>
            <a:endParaRPr lang="en-US" sz="1800" b="1" dirty="0">
              <a:solidFill>
                <a:srgbClr val="7030A0"/>
              </a:solidFill>
              <a:latin typeface="Cambria" panose="02040503050406030204" pitchFamily="18" charset="0"/>
              <a:ea typeface="Cambria" panose="02040503050406030204" pitchFamily="18" charset="0"/>
            </a:endParaRPr>
          </a:p>
          <a:p>
            <a:pPr>
              <a:buFont typeface="Wingdings" panose="05000000000000000000" pitchFamily="2" charset="2"/>
              <a:buChar char="ü"/>
            </a:pPr>
            <a:r>
              <a:rPr lang="en-US" sz="1800" b="1" dirty="0">
                <a:solidFill>
                  <a:srgbClr val="7030A0"/>
                </a:solidFill>
                <a:latin typeface="Cambria" panose="02040503050406030204" pitchFamily="18" charset="0"/>
                <a:ea typeface="Cambria" panose="02040503050406030204" pitchFamily="18" charset="0"/>
              </a:rPr>
              <a:t>4-5</a:t>
            </a:r>
            <a:endParaRPr lang="en-US" sz="1800" b="1" dirty="0">
              <a:solidFill>
                <a:srgbClr val="7030A0"/>
              </a:solidFill>
              <a:latin typeface="Cambria" panose="02040503050406030204" pitchFamily="18" charset="0"/>
              <a:ea typeface="Cambria" panose="02040503050406030204" pitchFamily="18" charset="0"/>
            </a:endParaRPr>
          </a:p>
          <a:p>
            <a:pPr>
              <a:buFont typeface="Wingdings" panose="05000000000000000000" pitchFamily="2" charset="2"/>
              <a:buChar char="ü"/>
            </a:pPr>
            <a:r>
              <a:rPr lang="en-US" sz="1800" b="1" dirty="0">
                <a:solidFill>
                  <a:srgbClr val="7030A0"/>
                </a:solidFill>
                <a:latin typeface="Cambria" panose="02040503050406030204" pitchFamily="18" charset="0"/>
                <a:ea typeface="Cambria" panose="02040503050406030204" pitchFamily="18" charset="0"/>
              </a:rPr>
              <a:t>Lead Developer →  5-10</a:t>
            </a:r>
            <a:endParaRPr lang="en-US" sz="1800" b="1" dirty="0">
              <a:solidFill>
                <a:srgbClr val="7030A0"/>
              </a:solidFill>
              <a:latin typeface="Cambria" panose="02040503050406030204" pitchFamily="18" charset="0"/>
              <a:ea typeface="Cambria" panose="02040503050406030204" pitchFamily="18" charset="0"/>
            </a:endParaRPr>
          </a:p>
          <a:p>
            <a:pPr>
              <a:buFont typeface="Wingdings" panose="05000000000000000000" pitchFamily="2" charset="2"/>
              <a:buChar char="ü"/>
            </a:pPr>
            <a:endParaRPr lang="en-US" sz="1800" b="1" dirty="0">
              <a:solidFill>
                <a:srgbClr val="7030A0"/>
              </a:solidFill>
              <a:latin typeface="Cambria" panose="02040503050406030204" pitchFamily="18" charset="0"/>
              <a:ea typeface="Cambria" panose="02040503050406030204" pitchFamily="18" charset="0"/>
            </a:endParaRPr>
          </a:p>
          <a:p>
            <a:pPr>
              <a:buFont typeface="Wingdings" panose="05000000000000000000" pitchFamily="2" charset="2"/>
              <a:buChar char="ü"/>
            </a:pPr>
            <a:r>
              <a:rPr lang="en-US" sz="1800" b="1" dirty="0">
                <a:solidFill>
                  <a:srgbClr val="7030A0"/>
                </a:solidFill>
                <a:latin typeface="Cambria" panose="02040503050406030204" pitchFamily="18" charset="0"/>
                <a:ea typeface="Cambria" panose="02040503050406030204" pitchFamily="18" charset="0"/>
              </a:rPr>
              <a:t>Technical Architect → </a:t>
            </a:r>
            <a:endParaRPr lang="en-US" sz="1800" b="1" dirty="0">
              <a:solidFill>
                <a:srgbClr val="7030A0"/>
              </a:solidFill>
              <a:latin typeface="Cambria" panose="02040503050406030204" pitchFamily="18" charset="0"/>
              <a:ea typeface="Cambria" panose="02040503050406030204" pitchFamily="18" charset="0"/>
            </a:endParaRPr>
          </a:p>
          <a:p>
            <a:pPr>
              <a:buFont typeface="Wingdings" panose="05000000000000000000" pitchFamily="2" charset="2"/>
              <a:buChar char="ü"/>
            </a:pPr>
            <a:endParaRPr lang="en-US" sz="1800" b="1" dirty="0">
              <a:solidFill>
                <a:srgbClr val="7030A0"/>
              </a:solidFill>
              <a:latin typeface="Cambria" panose="02040503050406030204" pitchFamily="18" charset="0"/>
              <a:ea typeface="Cambria" panose="02040503050406030204" pitchFamily="18" charset="0"/>
            </a:endParaRPr>
          </a:p>
          <a:p>
            <a:pPr>
              <a:buFont typeface="Wingdings" panose="05000000000000000000" pitchFamily="2" charset="2"/>
              <a:buChar char="ü"/>
            </a:pPr>
            <a:r>
              <a:rPr lang="en-US" sz="1800" b="1" dirty="0">
                <a:solidFill>
                  <a:srgbClr val="7030A0"/>
                </a:solidFill>
                <a:latin typeface="Cambria" panose="02040503050406030204" pitchFamily="18" charset="0"/>
                <a:ea typeface="Cambria" panose="02040503050406030204" pitchFamily="18" charset="0"/>
              </a:rPr>
              <a:t>Engineering Manager → </a:t>
            </a:r>
            <a:endParaRPr lang="en-US" sz="1800" b="1" dirty="0">
              <a:solidFill>
                <a:srgbClr val="7030A0"/>
              </a:solidFill>
              <a:latin typeface="Cambria" panose="02040503050406030204" pitchFamily="18" charset="0"/>
              <a:ea typeface="Cambria" panose="020405030504060302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086" y="0"/>
            <a:ext cx="11142044" cy="356135"/>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Java Editions (Platforms)</a:t>
            </a:r>
            <a:endParaRPr lang="en-US" sz="2400"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0" y="356134"/>
            <a:ext cx="12192000" cy="6381549"/>
          </a:xfrm>
        </p:spPr>
        <p:txBody>
          <a:bodyPr>
            <a:noAutofit/>
          </a:bodyPr>
          <a:lstStyle/>
          <a:p>
            <a:r>
              <a:rPr lang="en-US" sz="1800" dirty="0">
                <a:latin typeface="Cambria" panose="02040503050406030204" pitchFamily="18" charset="0"/>
                <a:ea typeface="Cambria" panose="02040503050406030204" pitchFamily="18" charset="0"/>
              </a:rPr>
              <a:t>Java comes in four main editions:</a:t>
            </a:r>
            <a:endParaRPr lang="en-US" sz="1800" dirty="0">
              <a:latin typeface="Cambria" panose="02040503050406030204" pitchFamily="18" charset="0"/>
              <a:ea typeface="Cambria" panose="02040503050406030204" pitchFamily="18" charset="0"/>
            </a:endParaRPr>
          </a:p>
          <a:p>
            <a:pPr marL="342900" indent="-342900">
              <a:buFont typeface="+mj-lt"/>
              <a:buAutoNum type="arabicPeriod"/>
            </a:pPr>
            <a:r>
              <a:rPr lang="en-US" sz="1800" b="1" dirty="0">
                <a:latin typeface="Cambria" panose="02040503050406030204" pitchFamily="18" charset="0"/>
                <a:ea typeface="Cambria" panose="02040503050406030204" pitchFamily="18" charset="0"/>
              </a:rPr>
              <a:t>Java SE (Standard Edition):</a:t>
            </a:r>
            <a:br>
              <a:rPr lang="en-US" sz="1800" dirty="0">
                <a:latin typeface="Cambria" panose="02040503050406030204" pitchFamily="18" charset="0"/>
                <a:ea typeface="Cambria" panose="02040503050406030204" pitchFamily="18" charset="0"/>
              </a:rPr>
            </a:br>
            <a:r>
              <a:rPr lang="en-US" sz="1800" dirty="0">
                <a:latin typeface="Cambria" panose="02040503050406030204" pitchFamily="18" charset="0"/>
                <a:ea typeface="Cambria" panose="02040503050406030204" pitchFamily="18" charset="0"/>
              </a:rPr>
              <a:t>Core functionality – basic libraries, data types, OOP concepts, networking, multithreading, etc.</a:t>
            </a:r>
            <a:endParaRPr lang="en-US" sz="1800" dirty="0">
              <a:latin typeface="Cambria" panose="02040503050406030204" pitchFamily="18" charset="0"/>
              <a:ea typeface="Cambria" panose="02040503050406030204" pitchFamily="18" charset="0"/>
            </a:endParaRPr>
          </a:p>
          <a:p>
            <a:pPr marL="0" indent="0" algn="just">
              <a:lnSpc>
                <a:spcPct val="115000"/>
              </a:lnSpc>
              <a:spcBef>
                <a:spcPts val="0"/>
              </a:spcBef>
              <a:buNone/>
            </a:pPr>
            <a:r>
              <a:rPr lang="en-US" sz="1800" dirty="0" err="1">
                <a:effectLst/>
                <a:latin typeface="Cambria" panose="02040503050406030204" pitchFamily="18" charset="0"/>
                <a:ea typeface="Cambria" panose="02040503050406030204" pitchFamily="18" charset="0"/>
                <a:cs typeface="Arial" panose="020B0604020202020204" pitchFamily="34" charset="0"/>
              </a:rPr>
              <a:t>JavaSE</a:t>
            </a:r>
            <a:r>
              <a:rPr lang="en-US" sz="1800" dirty="0">
                <a:effectLst/>
                <a:latin typeface="Cambria" panose="02040503050406030204" pitchFamily="18" charset="0"/>
                <a:ea typeface="Cambria" panose="02040503050406030204" pitchFamily="18" charset="0"/>
                <a:cs typeface="Arial" panose="020B0604020202020204" pitchFamily="34" charset="0"/>
              </a:rPr>
              <a:t> is mainly used to create applications for Desktop environment.</a:t>
            </a:r>
            <a:endParaRPr lang="en-US" sz="1800" dirty="0">
              <a:effectLst/>
              <a:latin typeface="Cambria" panose="02040503050406030204" pitchFamily="18" charset="0"/>
              <a:ea typeface="Cambria" panose="02040503050406030204" pitchFamily="18" charset="0"/>
              <a:cs typeface="Arial" panose="020B0604020202020204" pitchFamily="34" charset="0"/>
            </a:endParaRPr>
          </a:p>
          <a:p>
            <a:pPr marL="0" indent="0" algn="just">
              <a:lnSpc>
                <a:spcPct val="115000"/>
              </a:lnSpc>
              <a:spcBef>
                <a:spcPts val="0"/>
              </a:spcBef>
              <a:buNone/>
            </a:pPr>
            <a:r>
              <a:rPr lang="en-US" sz="1800" dirty="0">
                <a:effectLst/>
                <a:latin typeface="Cambria" panose="02040503050406030204" pitchFamily="18" charset="0"/>
                <a:ea typeface="Cambria" panose="02040503050406030204" pitchFamily="18" charset="0"/>
                <a:cs typeface="Arial" panose="020B0604020202020204" pitchFamily="34" charset="0"/>
              </a:rPr>
              <a:t>It consist all the basics of Java the language, variables, primitive data types, Arrays, Streams, Strings Java Database Connectivity(JDBC) and much more. </a:t>
            </a:r>
            <a:endParaRPr lang="en-US" sz="1800" dirty="0">
              <a:effectLst/>
              <a:latin typeface="Cambria" panose="02040503050406030204" pitchFamily="18" charset="0"/>
              <a:ea typeface="Cambria" panose="02040503050406030204" pitchFamily="18" charset="0"/>
              <a:cs typeface="Arial" panose="020B0604020202020204" pitchFamily="34" charset="0"/>
            </a:endParaRPr>
          </a:p>
          <a:p>
            <a:pPr>
              <a:buFont typeface="+mj-lt"/>
              <a:buAutoNum type="arabicPeriod"/>
            </a:pPr>
            <a:endParaRPr lang="en-US" sz="1800" dirty="0">
              <a:latin typeface="Cambria" panose="02040503050406030204" pitchFamily="18" charset="0"/>
              <a:ea typeface="Cambria" panose="02040503050406030204" pitchFamily="18" charset="0"/>
            </a:endParaRPr>
          </a:p>
          <a:p>
            <a:pPr marL="0" indent="0">
              <a:buNone/>
            </a:pPr>
            <a:r>
              <a:rPr lang="en-US" sz="1800" b="1" dirty="0">
                <a:latin typeface="Cambria" panose="02040503050406030204" pitchFamily="18" charset="0"/>
                <a:ea typeface="Cambria" panose="02040503050406030204" pitchFamily="18" charset="0"/>
              </a:rPr>
              <a:t>2 . Java EE (Enterprise Edition):</a:t>
            </a:r>
            <a:br>
              <a:rPr lang="en-US" sz="1800" dirty="0">
                <a:latin typeface="Cambria" panose="02040503050406030204" pitchFamily="18" charset="0"/>
                <a:ea typeface="Cambria" panose="02040503050406030204" pitchFamily="18" charset="0"/>
              </a:rPr>
            </a:br>
            <a:r>
              <a:rPr lang="en-US" sz="1800" dirty="0">
                <a:latin typeface="Cambria" panose="02040503050406030204" pitchFamily="18" charset="0"/>
                <a:ea typeface="Cambria" panose="02040503050406030204" pitchFamily="18" charset="0"/>
              </a:rPr>
              <a:t>Now called </a:t>
            </a:r>
            <a:r>
              <a:rPr lang="en-US" sz="1800" b="1" dirty="0">
                <a:latin typeface="Cambria" panose="02040503050406030204" pitchFamily="18" charset="0"/>
                <a:ea typeface="Cambria" panose="02040503050406030204" pitchFamily="18" charset="0"/>
              </a:rPr>
              <a:t>Jakarta EE</a:t>
            </a:r>
            <a:r>
              <a:rPr lang="en-US" sz="1800" dirty="0">
                <a:latin typeface="Cambria" panose="02040503050406030204" pitchFamily="18" charset="0"/>
                <a:ea typeface="Cambria" panose="02040503050406030204" pitchFamily="18" charset="0"/>
              </a:rPr>
              <a:t> – includes Java SE + APIs for web, enterprise, and distributed systems (Servlets, JSP, EJB, etc.).</a:t>
            </a:r>
            <a:endParaRPr lang="en-US" sz="1800" dirty="0">
              <a:latin typeface="Cambria" panose="02040503050406030204" pitchFamily="18" charset="0"/>
              <a:ea typeface="Cambria" panose="02040503050406030204" pitchFamily="18" charset="0"/>
            </a:endParaRPr>
          </a:p>
          <a:p>
            <a:pPr marL="0" marR="0" lvl="0" indent="0" algn="just">
              <a:lnSpc>
                <a:spcPct val="115000"/>
              </a:lnSpc>
              <a:spcBef>
                <a:spcPts val="0"/>
              </a:spcBef>
              <a:spcAft>
                <a:spcPts val="0"/>
              </a:spcAft>
              <a:buNone/>
            </a:pPr>
            <a:r>
              <a:rPr lang="en-US" sz="1800" dirty="0">
                <a:effectLst/>
                <a:latin typeface="Cambria" panose="02040503050406030204" pitchFamily="18" charset="0"/>
                <a:ea typeface="Cambria" panose="02040503050406030204" pitchFamily="18" charset="0"/>
                <a:cs typeface="Arial" panose="020B0604020202020204" pitchFamily="34" charset="0"/>
              </a:rPr>
              <a:t>The enterprise edition of Java has a much larger usage of Java, like development of web applications, networking, server side scripting and other various web based applications.</a:t>
            </a:r>
            <a:endParaRPr lang="en-US" sz="1800" dirty="0">
              <a:effectLst/>
              <a:latin typeface="Cambria" panose="02040503050406030204" pitchFamily="18" charset="0"/>
              <a:ea typeface="Cambria" panose="02040503050406030204" pitchFamily="18" charset="0"/>
              <a:cs typeface="Arial" panose="020B0604020202020204" pitchFamily="34" charset="0"/>
            </a:endParaRPr>
          </a:p>
          <a:p>
            <a:pPr marL="0" marR="0" lvl="0" indent="0" algn="just">
              <a:lnSpc>
                <a:spcPct val="115000"/>
              </a:lnSpc>
              <a:spcBef>
                <a:spcPts val="0"/>
              </a:spcBef>
              <a:spcAft>
                <a:spcPts val="0"/>
              </a:spcAft>
              <a:buNone/>
            </a:pPr>
            <a:r>
              <a:rPr lang="en-US" sz="1800" dirty="0" err="1">
                <a:effectLst/>
                <a:latin typeface="Cambria" panose="02040503050406030204" pitchFamily="18" charset="0"/>
                <a:ea typeface="Cambria" panose="02040503050406030204" pitchFamily="18" charset="0"/>
                <a:cs typeface="Arial" panose="020B0604020202020204" pitchFamily="34" charset="0"/>
              </a:rPr>
              <a:t>JavaEE</a:t>
            </a:r>
            <a:r>
              <a:rPr lang="en-US" sz="1800" dirty="0">
                <a:effectLst/>
                <a:latin typeface="Cambria" panose="02040503050406030204" pitchFamily="18" charset="0"/>
                <a:ea typeface="Cambria" panose="02040503050406030204" pitchFamily="18" charset="0"/>
                <a:cs typeface="Arial" panose="020B0604020202020204" pitchFamily="34" charset="0"/>
              </a:rPr>
              <a:t> uses many components of </a:t>
            </a:r>
            <a:r>
              <a:rPr lang="en-US" sz="1800" dirty="0" err="1">
                <a:effectLst/>
                <a:latin typeface="Cambria" panose="02040503050406030204" pitchFamily="18" charset="0"/>
                <a:ea typeface="Cambria" panose="02040503050406030204" pitchFamily="18" charset="0"/>
                <a:cs typeface="Arial" panose="020B0604020202020204" pitchFamily="34" charset="0"/>
              </a:rPr>
              <a:t>JavaSE</a:t>
            </a:r>
            <a:r>
              <a:rPr lang="en-US" sz="1800" dirty="0">
                <a:effectLst/>
                <a:latin typeface="Cambria" panose="02040503050406030204" pitchFamily="18" charset="0"/>
                <a:ea typeface="Cambria" panose="02040503050406030204" pitchFamily="18" charset="0"/>
                <a:cs typeface="Arial" panose="020B0604020202020204" pitchFamily="34" charset="0"/>
              </a:rPr>
              <a:t>, as well as, has many new features of it’s own like Servlets, JavaBeans, Java Message Services </a:t>
            </a:r>
            <a:r>
              <a:rPr lang="en-US" sz="1800" dirty="0" err="1">
                <a:effectLst/>
                <a:latin typeface="Cambria" panose="02040503050406030204" pitchFamily="18" charset="0"/>
                <a:ea typeface="Cambria" panose="02040503050406030204" pitchFamily="18" charset="0"/>
                <a:cs typeface="Arial" panose="020B0604020202020204" pitchFamily="34" charset="0"/>
              </a:rPr>
              <a:t>etc</a:t>
            </a:r>
            <a:endParaRPr lang="en-US" sz="1800" dirty="0">
              <a:effectLst/>
              <a:latin typeface="Cambria" panose="02040503050406030204" pitchFamily="18" charset="0"/>
              <a:ea typeface="Cambria" panose="02040503050406030204" pitchFamily="18" charset="0"/>
              <a:cs typeface="Arial" panose="020B0604020202020204" pitchFamily="34" charset="0"/>
            </a:endParaRPr>
          </a:p>
          <a:p>
            <a:pPr marL="0" indent="0">
              <a:buNone/>
            </a:pPr>
            <a:r>
              <a:rPr lang="en-US" sz="1800" b="1" dirty="0">
                <a:latin typeface="Cambria" panose="02040503050406030204" pitchFamily="18" charset="0"/>
                <a:ea typeface="Cambria" panose="02040503050406030204" pitchFamily="18" charset="0"/>
              </a:rPr>
              <a:t>3 J ava ME (Micro Edition):</a:t>
            </a:r>
            <a:br>
              <a:rPr lang="en-US" sz="1800" dirty="0">
                <a:latin typeface="Cambria" panose="02040503050406030204" pitchFamily="18" charset="0"/>
                <a:ea typeface="Cambria" panose="02040503050406030204" pitchFamily="18" charset="0"/>
              </a:rPr>
            </a:br>
            <a:r>
              <a:rPr lang="en-US" sz="1800" dirty="0">
                <a:latin typeface="Cambria" panose="02040503050406030204" pitchFamily="18" charset="0"/>
                <a:ea typeface="Cambria" panose="02040503050406030204" pitchFamily="18" charset="0"/>
              </a:rPr>
              <a:t>Lightweight version for mobile devices and embedded systems.</a:t>
            </a:r>
            <a:endParaRPr lang="en-US" sz="1800" dirty="0">
              <a:latin typeface="Cambria" panose="02040503050406030204" pitchFamily="18" charset="0"/>
              <a:ea typeface="Cambria" panose="02040503050406030204" pitchFamily="18" charset="0"/>
            </a:endParaRPr>
          </a:p>
          <a:p>
            <a:pPr marL="342900" marR="0" lvl="0" indent="-342900" algn="just">
              <a:lnSpc>
                <a:spcPct val="115000"/>
              </a:lnSpc>
              <a:spcBef>
                <a:spcPts val="0"/>
              </a:spcBef>
              <a:spcAft>
                <a:spcPts val="0"/>
              </a:spcAft>
              <a:buFont typeface="+mj-lt"/>
              <a:buAutoNum type="arabicParenR"/>
            </a:pPr>
            <a:r>
              <a:rPr lang="en-US" sz="1800" dirty="0">
                <a:effectLst/>
                <a:latin typeface="Times New Roman" panose="02020603050405020304" pitchFamily="18" charset="0"/>
                <a:ea typeface="Calibri" panose="020F0502020204030204" pitchFamily="34" charset="0"/>
                <a:cs typeface="Arial" panose="020B0604020202020204" pitchFamily="34" charset="0"/>
              </a:rPr>
              <a:t>This version of Java is mainly concentrated for the applications running on embedded systems, mobiles wireless devices, set top boxes etc.  Old Nokia phones, which used Symbian OS, used this technology.</a:t>
            </a:r>
            <a:endParaRPr lang="en-US" sz="1800" dirty="0">
              <a:effectLst/>
              <a:latin typeface="Times New Roman" panose="02020603050405020304" pitchFamily="18" charset="0"/>
              <a:ea typeface="Calibri" panose="020F0502020204030204" pitchFamily="34" charset="0"/>
              <a:cs typeface="Arial" panose="020B0604020202020204" pitchFamily="34" charset="0"/>
            </a:endParaRPr>
          </a:p>
          <a:p>
            <a:pPr marL="0" indent="0">
              <a:buNone/>
            </a:pPr>
            <a:r>
              <a:rPr lang="en-US" sz="1800" b="1" dirty="0">
                <a:latin typeface="Cambria" panose="02040503050406030204" pitchFamily="18" charset="0"/>
                <a:ea typeface="Cambria" panose="02040503050406030204" pitchFamily="18" charset="0"/>
              </a:rPr>
              <a:t>4. JavaFX:</a:t>
            </a:r>
            <a:br>
              <a:rPr lang="en-US" sz="1800" dirty="0">
                <a:latin typeface="Cambria" panose="02040503050406030204" pitchFamily="18" charset="0"/>
                <a:ea typeface="Cambria" panose="02040503050406030204" pitchFamily="18" charset="0"/>
              </a:rPr>
            </a:br>
            <a:r>
              <a:rPr lang="en-US" sz="1800" dirty="0">
                <a:latin typeface="Cambria" panose="02040503050406030204" pitchFamily="18" charset="0"/>
                <a:ea typeface="Cambria" panose="02040503050406030204" pitchFamily="18" charset="0"/>
              </a:rPr>
              <a:t>Used for building rich GUI desktop applications.</a:t>
            </a:r>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 </a:t>
            </a:r>
            <a:endParaRPr lang="en-US" sz="1800" dirty="0">
              <a:latin typeface="Cambria" panose="02040503050406030204" pitchFamily="18" charset="0"/>
              <a:ea typeface="Cambria" panose="020405030504060302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375385"/>
          </a:xfrm>
        </p:spPr>
        <p:txBody>
          <a:bodyPr>
            <a:normAutofit fontScale="90000"/>
          </a:bodyPr>
          <a:lstStyle/>
          <a:p>
            <a:pPr algn="l"/>
            <a:r>
              <a:rPr lang="en-US" sz="2400" b="1" dirty="0">
                <a:solidFill>
                  <a:srgbClr val="FF0000"/>
                </a:solidFill>
                <a:latin typeface="Cambria" panose="02040503050406030204" pitchFamily="18" charset="0"/>
                <a:ea typeface="Cambria" panose="02040503050406030204" pitchFamily="18" charset="0"/>
              </a:rPr>
              <a:t>Java </a:t>
            </a:r>
            <a:r>
              <a:rPr lang="en-US" sz="2400" b="1" i="0" u="none" strike="noStrike" baseline="0" dirty="0">
                <a:solidFill>
                  <a:srgbClr val="FF0000"/>
                </a:solidFill>
                <a:latin typeface="Cambria" panose="02040503050406030204" pitchFamily="18" charset="0"/>
                <a:ea typeface="Cambria" panose="02040503050406030204" pitchFamily="18" charset="0"/>
              </a:rPr>
              <a:t> Environment </a:t>
            </a:r>
            <a:r>
              <a:rPr lang="en-US" sz="2400" b="1" dirty="0">
                <a:solidFill>
                  <a:srgbClr val="FF0000"/>
                </a:solidFill>
                <a:latin typeface="Cambria" panose="02040503050406030204" pitchFamily="18" charset="0"/>
                <a:ea typeface="Cambria" panose="02040503050406030204" pitchFamily="18" charset="0"/>
              </a:rPr>
              <a:t> Setup</a:t>
            </a:r>
            <a:endParaRPr lang="en-US" sz="2400" b="1" dirty="0">
              <a:solidFill>
                <a:srgbClr val="FF0000"/>
              </a:solidFill>
              <a:latin typeface="Cambria" panose="02040503050406030204" pitchFamily="18" charset="0"/>
              <a:ea typeface="Cambria" panose="02040503050406030204" pitchFamily="18" charset="0"/>
            </a:endParaRPr>
          </a:p>
        </p:txBody>
      </p:sp>
      <p:sp>
        <p:nvSpPr>
          <p:cNvPr id="4" name="Rectangle 1"/>
          <p:cNvSpPr>
            <a:spLocks noGrp="1" noChangeArrowheads="1"/>
          </p:cNvSpPr>
          <p:nvPr>
            <p:ph idx="1"/>
          </p:nvPr>
        </p:nvSpPr>
        <p:spPr bwMode="auto">
          <a:xfrm>
            <a:off x="104717" y="1126155"/>
            <a:ext cx="11982566"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1. Download &amp; Install JDK</a:t>
            </a:r>
            <a:endPar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Java Development Kit (JDK)</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includes the Java compiler, JVM, and development tools.</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Step 1: Download JDK</a:t>
            </a:r>
            <a:endPar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Go to the official Oracle JDK page:</a:t>
            </a:r>
            <a:b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hlinkClick r:id="rId1"/>
              </a:rPr>
              <a:t>https://www.oracle.com/java/technologies/javase-downloads.html</a:t>
            </a:r>
            <a:b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or use OpenJDK:</a:t>
            </a:r>
            <a:b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hlinkClick r:id="rId2"/>
              </a:rPr>
              <a:t>https://jdk.java.net/</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👉Step 2: Choose the right version</a:t>
            </a:r>
            <a:endPar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For beginners or most development,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Java 17 LTS</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or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Java 21 LTS</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is recommended.</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Choose the correct installer for your OS (Windows / macOS / Linux).</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Step 3: Install</a:t>
            </a:r>
            <a:endPar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Run the installer and follow the instructions.</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Note the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installation path</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(e.g., C:\Program Files\Java\jdk-17).</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27" y="93261"/>
            <a:ext cx="11267173" cy="510774"/>
          </a:xfrm>
        </p:spPr>
        <p:txBody>
          <a:bodyPr>
            <a:normAutofit/>
          </a:bodyPr>
          <a:lstStyle/>
          <a:p>
            <a:r>
              <a:rPr lang="en-US" sz="2400" b="1" dirty="0">
                <a:solidFill>
                  <a:srgbClr val="FF0000"/>
                </a:solidFill>
                <a:latin typeface="Cambria" panose="02040503050406030204" pitchFamily="18" charset="0"/>
                <a:ea typeface="Cambria" panose="02040503050406030204" pitchFamily="18" charset="0"/>
              </a:rPr>
              <a:t>Java </a:t>
            </a:r>
            <a:r>
              <a:rPr lang="en-US" sz="2400" b="1" i="0" u="none" strike="noStrike" baseline="0" dirty="0">
                <a:solidFill>
                  <a:srgbClr val="FF0000"/>
                </a:solidFill>
                <a:latin typeface="Cambria" panose="02040503050406030204" pitchFamily="18" charset="0"/>
                <a:ea typeface="Cambria" panose="02040503050406030204" pitchFamily="18" charset="0"/>
              </a:rPr>
              <a:t> Environment </a:t>
            </a:r>
            <a:r>
              <a:rPr lang="en-US" sz="2400" b="1" dirty="0">
                <a:solidFill>
                  <a:srgbClr val="FF0000"/>
                </a:solidFill>
                <a:latin typeface="Cambria" panose="02040503050406030204" pitchFamily="18" charset="0"/>
                <a:ea typeface="Cambria" panose="02040503050406030204" pitchFamily="18" charset="0"/>
              </a:rPr>
              <a:t> Setup</a:t>
            </a:r>
            <a:endParaRPr lang="en-US" sz="2400" dirty="0"/>
          </a:p>
        </p:txBody>
      </p:sp>
      <p:sp>
        <p:nvSpPr>
          <p:cNvPr id="4" name="Rectangle 1"/>
          <p:cNvSpPr>
            <a:spLocks noGrp="1" noChangeArrowheads="1"/>
          </p:cNvSpPr>
          <p:nvPr>
            <p:ph idx="1"/>
          </p:nvPr>
        </p:nvSpPr>
        <p:spPr bwMode="auto">
          <a:xfrm>
            <a:off x="113899" y="784781"/>
            <a:ext cx="1196420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2. Set Environment Variables (Windows)</a:t>
            </a:r>
            <a:endPar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compile and run Java from the command line, set JAVA_HOME and add bin to the PATH.</a:t>
            </a:r>
            <a:endPar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Step 1: Set JAVA_HOME</a:t>
            </a:r>
            <a:endPar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Open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System Properties</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&gt;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Environment Variables</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Under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System Variables</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click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New</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Name: JAVA_HOME</a:t>
            </a:r>
            <a:b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Value: path to your JDK (e.g., C:\Program Files\Java\jdk-17)</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Step 2: Update Path</a:t>
            </a:r>
            <a:endPar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Find the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Path</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variable under System Variables, click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Edit</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Click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New</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and add:   </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%JAVA_HOME%\bin</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
        <p:nvSpPr>
          <p:cNvPr id="3" name="Rectangle 1"/>
          <p:cNvSpPr txBox="1">
            <a:spLocks noChangeArrowheads="1"/>
          </p:cNvSpPr>
          <p:nvPr/>
        </p:nvSpPr>
        <p:spPr bwMode="auto">
          <a:xfrm>
            <a:off x="86627" y="4783974"/>
            <a:ext cx="1183907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Tx/>
              <a:buNone/>
            </a:pPr>
            <a:r>
              <a:rPr lang="en-US" altLang="en-US" sz="1800" b="1" dirty="0">
                <a:latin typeface="Cambria" panose="02040503050406030204" pitchFamily="18" charset="0"/>
                <a:ea typeface="Cambria" panose="02040503050406030204" pitchFamily="18" charset="0"/>
              </a:rPr>
              <a:t>3. Verify Installation</a:t>
            </a:r>
            <a:endParaRPr lang="en-US" altLang="en-US" sz="1800" b="1" dirty="0">
              <a:latin typeface="Cambria" panose="02040503050406030204" pitchFamily="18" charset="0"/>
              <a:ea typeface="Cambria" panose="02040503050406030204" pitchFamily="18" charset="0"/>
            </a:endParaRPr>
          </a:p>
          <a:p>
            <a:pPr marL="0" indent="0" eaLnBrk="0" fontAlgn="base" hangingPunct="0">
              <a:lnSpc>
                <a:spcPct val="100000"/>
              </a:lnSpc>
              <a:spcBef>
                <a:spcPct val="0"/>
              </a:spcBef>
              <a:spcAft>
                <a:spcPct val="0"/>
              </a:spcAft>
              <a:buFontTx/>
              <a:buNone/>
            </a:pPr>
            <a:r>
              <a:rPr lang="en-US" altLang="en-US" sz="1800" b="1" dirty="0">
                <a:latin typeface="Cambria" panose="02040503050406030204" pitchFamily="18" charset="0"/>
                <a:ea typeface="Cambria" panose="02040503050406030204" pitchFamily="18" charset="0"/>
              </a:rPr>
              <a:t>On Command Prompt / Terminal:   </a:t>
            </a:r>
            <a:r>
              <a:rPr lang="en-US" altLang="en-US" sz="1800" dirty="0">
                <a:latin typeface="Cambria" panose="02040503050406030204" pitchFamily="18" charset="0"/>
                <a:ea typeface="Cambria" panose="02040503050406030204" pitchFamily="18" charset="0"/>
              </a:rPr>
              <a:t> java -version </a:t>
            </a:r>
            <a:endParaRPr lang="en-US" altLang="en-US" sz="1800" dirty="0">
              <a:latin typeface="Cambria" panose="02040503050406030204" pitchFamily="18" charset="0"/>
              <a:ea typeface="Cambria" panose="02040503050406030204" pitchFamily="18" charset="0"/>
            </a:endParaRPr>
          </a:p>
          <a:p>
            <a:pPr marL="0" indent="0" eaLnBrk="0" fontAlgn="base" hangingPunct="0">
              <a:lnSpc>
                <a:spcPct val="100000"/>
              </a:lnSpc>
              <a:spcBef>
                <a:spcPct val="0"/>
              </a:spcBef>
              <a:spcAft>
                <a:spcPct val="0"/>
              </a:spcAft>
              <a:buFontTx/>
              <a:buNone/>
            </a:pPr>
            <a:r>
              <a:rPr lang="en-US" altLang="en-US" sz="1800" dirty="0">
                <a:latin typeface="Cambria" panose="02040503050406030204" pitchFamily="18" charset="0"/>
                <a:ea typeface="Cambria" panose="02040503050406030204" pitchFamily="18" charset="0"/>
              </a:rPr>
              <a:t> You should see something like:</a:t>
            </a:r>
            <a:endParaRPr lang="en-US" altLang="en-US" sz="1800" dirty="0">
              <a:latin typeface="Cambria" panose="02040503050406030204" pitchFamily="18" charset="0"/>
              <a:ea typeface="Cambria" panose="02040503050406030204" pitchFamily="18" charset="0"/>
            </a:endParaRPr>
          </a:p>
          <a:p>
            <a:pPr marL="0" indent="0" eaLnBrk="0" fontAlgn="base" hangingPunct="0">
              <a:lnSpc>
                <a:spcPct val="100000"/>
              </a:lnSpc>
              <a:spcBef>
                <a:spcPct val="0"/>
              </a:spcBef>
              <a:spcAft>
                <a:spcPct val="0"/>
              </a:spcAft>
              <a:buFontTx/>
              <a:buNone/>
            </a:pPr>
            <a:r>
              <a:rPr lang="en-US" altLang="en-US" sz="1800" dirty="0">
                <a:latin typeface="Cambria" panose="02040503050406030204" pitchFamily="18" charset="0"/>
                <a:ea typeface="Cambria" panose="02040503050406030204" pitchFamily="18" charset="0"/>
              </a:rPr>
              <a:t>java</a:t>
            </a:r>
            <a:endParaRPr lang="en-US" altLang="en-US" sz="1800" dirty="0">
              <a:latin typeface="Cambria" panose="02040503050406030204" pitchFamily="18" charset="0"/>
              <a:ea typeface="Cambria" panose="02040503050406030204" pitchFamily="18" charset="0"/>
            </a:endParaRPr>
          </a:p>
          <a:p>
            <a:pPr marL="0" indent="0" eaLnBrk="0" fontAlgn="base" hangingPunct="0">
              <a:lnSpc>
                <a:spcPct val="100000"/>
              </a:lnSpc>
              <a:spcBef>
                <a:spcPct val="0"/>
              </a:spcBef>
              <a:spcAft>
                <a:spcPct val="0"/>
              </a:spcAft>
              <a:buFontTx/>
              <a:buNone/>
            </a:pPr>
            <a:r>
              <a:rPr lang="en-US" altLang="en-US" sz="1800" dirty="0">
                <a:latin typeface="Cambria" panose="02040503050406030204" pitchFamily="18" charset="0"/>
                <a:ea typeface="Cambria" panose="02040503050406030204" pitchFamily="18" charset="0"/>
              </a:rPr>
              <a:t>java version "17.0.10" 2024-01-16 LTS Java(TM) SE Runtime Environment ... </a:t>
            </a:r>
            <a:endParaRPr lang="en-US" altLang="en-US" sz="1800" dirty="0">
              <a:latin typeface="Cambria" panose="02040503050406030204" pitchFamily="18" charset="0"/>
              <a:ea typeface="Cambria" panose="02040503050406030204" pitchFamily="18" charset="0"/>
            </a:endParaRPr>
          </a:p>
          <a:p>
            <a:pPr marL="0" indent="0" eaLnBrk="0" fontAlgn="base" hangingPunct="0">
              <a:lnSpc>
                <a:spcPct val="100000"/>
              </a:lnSpc>
              <a:spcBef>
                <a:spcPct val="0"/>
              </a:spcBef>
              <a:spcAft>
                <a:spcPct val="0"/>
              </a:spcAft>
              <a:buFontTx/>
              <a:buNone/>
            </a:pPr>
            <a:r>
              <a:rPr lang="en-US" altLang="en-US" sz="1800" dirty="0" err="1">
                <a:latin typeface="Cambria" panose="02040503050406030204" pitchFamily="18" charset="0"/>
                <a:ea typeface="Cambria" panose="02040503050406030204" pitchFamily="18" charset="0"/>
              </a:rPr>
              <a:t>javac</a:t>
            </a:r>
            <a:r>
              <a:rPr lang="en-US" altLang="en-US" sz="1800" dirty="0">
                <a:latin typeface="Cambria" panose="02040503050406030204" pitchFamily="18" charset="0"/>
                <a:ea typeface="Cambria" panose="02040503050406030204" pitchFamily="18" charset="0"/>
              </a:rPr>
              <a:t> -version</a:t>
            </a:r>
            <a:endParaRPr lang="en-US" altLang="en-US" sz="1800" dirty="0">
              <a:latin typeface="Cambria" panose="02040503050406030204" pitchFamily="18" charset="0"/>
              <a:ea typeface="Cambria" panose="020405030504060302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01" y="114868"/>
            <a:ext cx="11084293" cy="472273"/>
          </a:xfrm>
        </p:spPr>
        <p:txBody>
          <a:bodyPr>
            <a:normAutofit/>
          </a:bodyPr>
          <a:lstStyle/>
          <a:p>
            <a:r>
              <a:rPr lang="en-US" sz="2400" b="1" dirty="0">
                <a:solidFill>
                  <a:srgbClr val="FF0000"/>
                </a:solidFill>
                <a:latin typeface="Cambria" panose="02040503050406030204" pitchFamily="18" charset="0"/>
                <a:ea typeface="Cambria" panose="02040503050406030204" pitchFamily="18" charset="0"/>
              </a:rPr>
              <a:t>Java </a:t>
            </a:r>
            <a:r>
              <a:rPr lang="en-US" sz="2400" b="1" i="0" u="none" strike="noStrike" baseline="0" dirty="0">
                <a:solidFill>
                  <a:srgbClr val="FF0000"/>
                </a:solidFill>
                <a:latin typeface="Cambria" panose="02040503050406030204" pitchFamily="18" charset="0"/>
                <a:ea typeface="Cambria" panose="02040503050406030204" pitchFamily="18" charset="0"/>
              </a:rPr>
              <a:t> Environment </a:t>
            </a:r>
            <a:r>
              <a:rPr lang="en-US" sz="2400" b="1" dirty="0">
                <a:solidFill>
                  <a:srgbClr val="FF0000"/>
                </a:solidFill>
                <a:latin typeface="Cambria" panose="02040503050406030204" pitchFamily="18" charset="0"/>
                <a:ea typeface="Cambria" panose="02040503050406030204" pitchFamily="18" charset="0"/>
              </a:rPr>
              <a:t> Setup</a:t>
            </a:r>
            <a:endParaRPr lang="en-US" sz="2400" dirty="0"/>
          </a:p>
        </p:txBody>
      </p:sp>
      <p:graphicFrame>
        <p:nvGraphicFramePr>
          <p:cNvPr id="5" name="Table 4"/>
          <p:cNvGraphicFramePr>
            <a:graphicFrameLocks noGrp="1"/>
          </p:cNvGraphicFramePr>
          <p:nvPr/>
        </p:nvGraphicFramePr>
        <p:xfrm>
          <a:off x="85021" y="1631557"/>
          <a:ext cx="12021957" cy="2796065"/>
        </p:xfrm>
        <a:graphic>
          <a:graphicData uri="http://schemas.openxmlformats.org/drawingml/2006/table">
            <a:tbl>
              <a:tblPr/>
              <a:tblGrid>
                <a:gridCol w="2646949"/>
                <a:gridCol w="5034013"/>
                <a:gridCol w="4340995"/>
              </a:tblGrid>
              <a:tr h="559213">
                <a:tc>
                  <a:txBody>
                    <a:bodyPr/>
                    <a:lstStyle/>
                    <a:p>
                      <a:pPr algn="ctr"/>
                      <a:r>
                        <a:rPr lang="en-US" sz="2000" b="1" dirty="0">
                          <a:latin typeface="Cambria" panose="02040503050406030204" pitchFamily="18" charset="0"/>
                          <a:ea typeface="Cambria" panose="02040503050406030204" pitchFamily="18" charset="0"/>
                        </a:rPr>
                        <a:t>IDE</a:t>
                      </a:r>
                      <a:endParaRPr lang="en-US" sz="2000" b="1"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tx2">
                        <a:lumMod val="40000"/>
                        <a:lumOff val="60000"/>
                      </a:schemeClr>
                    </a:solidFill>
                  </a:tcPr>
                </a:tc>
                <a:tc>
                  <a:txBody>
                    <a:bodyPr/>
                    <a:lstStyle/>
                    <a:p>
                      <a:pPr algn="ctr"/>
                      <a:r>
                        <a:rPr lang="en-US" sz="2000" b="1">
                          <a:latin typeface="Cambria" panose="02040503050406030204" pitchFamily="18" charset="0"/>
                          <a:ea typeface="Cambria" panose="02040503050406030204" pitchFamily="18" charset="0"/>
                        </a:rPr>
                        <a:t>Features</a:t>
                      </a:r>
                      <a:endParaRPr lang="en-US" sz="2000" b="1">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tx2">
                        <a:lumMod val="40000"/>
                        <a:lumOff val="60000"/>
                      </a:schemeClr>
                    </a:solidFill>
                  </a:tcPr>
                </a:tc>
                <a:tc>
                  <a:txBody>
                    <a:bodyPr/>
                    <a:lstStyle/>
                    <a:p>
                      <a:pPr algn="ctr"/>
                      <a:r>
                        <a:rPr lang="en-US" sz="2000" b="1" dirty="0">
                          <a:latin typeface="Cambria" panose="02040503050406030204" pitchFamily="18" charset="0"/>
                          <a:ea typeface="Cambria" panose="02040503050406030204" pitchFamily="18" charset="0"/>
                        </a:rPr>
                        <a:t>Download</a:t>
                      </a:r>
                      <a:endParaRPr lang="en-US" sz="2000" b="1"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tx2">
                        <a:lumMod val="40000"/>
                        <a:lumOff val="60000"/>
                      </a:schemeClr>
                    </a:solidFill>
                  </a:tcPr>
                </a:tc>
              </a:tr>
              <a:tr h="559213">
                <a:tc>
                  <a:txBody>
                    <a:bodyPr/>
                    <a:lstStyle/>
                    <a:p>
                      <a:r>
                        <a:rPr lang="en-US" dirty="0"/>
                        <a:t>IntelliJ IDEA</a:t>
                      </a:r>
                      <a:endParaRPr lang="en-US" dirty="0"/>
                    </a:p>
                  </a:txBody>
                  <a:tcPr anchor="ctr">
                    <a:lnL>
                      <a:noFill/>
                    </a:lnL>
                    <a:lnR>
                      <a:noFill/>
                    </a:lnR>
                    <a:lnT>
                      <a:noFill/>
                    </a:lnT>
                    <a:lnB>
                      <a:noFill/>
                    </a:lnB>
                    <a:noFill/>
                  </a:tcPr>
                </a:tc>
                <a:tc>
                  <a:txBody>
                    <a:bodyPr/>
                    <a:lstStyle/>
                    <a:p>
                      <a:r>
                        <a:rPr lang="en-US"/>
                        <a:t>Smart features, good for all levels</a:t>
                      </a:r>
                      <a:endParaRPr lang="en-US"/>
                    </a:p>
                  </a:txBody>
                  <a:tcPr anchor="ctr">
                    <a:lnL>
                      <a:noFill/>
                    </a:lnL>
                    <a:lnR>
                      <a:noFill/>
                    </a:lnR>
                    <a:lnT>
                      <a:noFill/>
                    </a:lnT>
                    <a:lnB>
                      <a:noFill/>
                    </a:lnB>
                    <a:noFill/>
                  </a:tcPr>
                </a:tc>
                <a:tc>
                  <a:txBody>
                    <a:bodyPr/>
                    <a:lstStyle/>
                    <a:p>
                      <a:r>
                        <a:rPr lang="en-US">
                          <a:hlinkClick r:id="rId1"/>
                        </a:rPr>
                        <a:t>jetbrains.com/idea</a:t>
                      </a:r>
                      <a:endParaRPr lang="en-US"/>
                    </a:p>
                  </a:txBody>
                  <a:tcPr anchor="ctr">
                    <a:lnL>
                      <a:noFill/>
                    </a:lnL>
                    <a:lnR>
                      <a:noFill/>
                    </a:lnR>
                    <a:lnT>
                      <a:noFill/>
                    </a:lnT>
                    <a:lnB>
                      <a:noFill/>
                    </a:lnB>
                    <a:noFill/>
                  </a:tcPr>
                </a:tc>
              </a:tr>
              <a:tr h="559213">
                <a:tc>
                  <a:txBody>
                    <a:bodyPr/>
                    <a:lstStyle/>
                    <a:p>
                      <a:r>
                        <a:rPr lang="en-US"/>
                        <a:t>Eclipse</a:t>
                      </a:r>
                      <a:endParaRPr lang="en-US"/>
                    </a:p>
                  </a:txBody>
                  <a:tcPr anchor="ctr">
                    <a:lnL>
                      <a:noFill/>
                    </a:lnL>
                    <a:lnR>
                      <a:noFill/>
                    </a:lnR>
                    <a:lnT>
                      <a:noFill/>
                    </a:lnT>
                    <a:lnB>
                      <a:noFill/>
                    </a:lnB>
                    <a:noFill/>
                  </a:tcPr>
                </a:tc>
                <a:tc>
                  <a:txBody>
                    <a:bodyPr/>
                    <a:lstStyle/>
                    <a:p>
                      <a:r>
                        <a:rPr lang="en-US" dirty="0"/>
                        <a:t>Popular in enterprise</a:t>
                      </a:r>
                      <a:endParaRPr lang="en-US" dirty="0"/>
                    </a:p>
                  </a:txBody>
                  <a:tcPr anchor="ctr">
                    <a:lnL>
                      <a:noFill/>
                    </a:lnL>
                    <a:lnR>
                      <a:noFill/>
                    </a:lnR>
                    <a:lnT>
                      <a:noFill/>
                    </a:lnT>
                    <a:lnB>
                      <a:noFill/>
                    </a:lnB>
                    <a:noFill/>
                  </a:tcPr>
                </a:tc>
                <a:tc>
                  <a:txBody>
                    <a:bodyPr/>
                    <a:lstStyle/>
                    <a:p>
                      <a:r>
                        <a:rPr lang="en-US">
                          <a:hlinkClick r:id="rId2"/>
                        </a:rPr>
                        <a:t>eclipse.org</a:t>
                      </a:r>
                      <a:endParaRPr lang="en-US"/>
                    </a:p>
                  </a:txBody>
                  <a:tcPr anchor="ctr">
                    <a:lnL>
                      <a:noFill/>
                    </a:lnL>
                    <a:lnR>
                      <a:noFill/>
                    </a:lnR>
                    <a:lnT>
                      <a:noFill/>
                    </a:lnT>
                    <a:lnB>
                      <a:noFill/>
                    </a:lnB>
                    <a:noFill/>
                  </a:tcPr>
                </a:tc>
              </a:tr>
              <a:tr h="559213">
                <a:tc>
                  <a:txBody>
                    <a:bodyPr/>
                    <a:lstStyle/>
                    <a:p>
                      <a:r>
                        <a:rPr lang="en-US" dirty="0"/>
                        <a:t>NetBeans</a:t>
                      </a:r>
                      <a:endParaRPr lang="en-US" dirty="0"/>
                    </a:p>
                  </a:txBody>
                  <a:tcPr anchor="ctr">
                    <a:lnL>
                      <a:noFill/>
                    </a:lnL>
                    <a:lnR>
                      <a:noFill/>
                    </a:lnR>
                    <a:lnT>
                      <a:noFill/>
                    </a:lnT>
                    <a:lnB>
                      <a:noFill/>
                    </a:lnB>
                    <a:noFill/>
                  </a:tcPr>
                </a:tc>
                <a:tc>
                  <a:txBody>
                    <a:bodyPr/>
                    <a:lstStyle/>
                    <a:p>
                      <a:r>
                        <a:rPr lang="en-US"/>
                        <a:t>Official Oracle IDE</a:t>
                      </a:r>
                      <a:endParaRPr lang="en-US"/>
                    </a:p>
                  </a:txBody>
                  <a:tcPr anchor="ctr">
                    <a:lnL>
                      <a:noFill/>
                    </a:lnL>
                    <a:lnR>
                      <a:noFill/>
                    </a:lnR>
                    <a:lnT>
                      <a:noFill/>
                    </a:lnT>
                    <a:lnB>
                      <a:noFill/>
                    </a:lnB>
                    <a:noFill/>
                  </a:tcPr>
                </a:tc>
                <a:tc>
                  <a:txBody>
                    <a:bodyPr/>
                    <a:lstStyle/>
                    <a:p>
                      <a:r>
                        <a:rPr lang="en-US">
                          <a:hlinkClick r:id="rId3"/>
                        </a:rPr>
                        <a:t>netbeans.apache.org</a:t>
                      </a:r>
                      <a:endParaRPr lang="en-US"/>
                    </a:p>
                  </a:txBody>
                  <a:tcPr anchor="ctr">
                    <a:lnL>
                      <a:noFill/>
                    </a:lnL>
                    <a:lnR>
                      <a:noFill/>
                    </a:lnR>
                    <a:lnT>
                      <a:noFill/>
                    </a:lnT>
                    <a:lnB>
                      <a:noFill/>
                    </a:lnB>
                    <a:noFill/>
                  </a:tcPr>
                </a:tc>
              </a:tr>
              <a:tr h="559213">
                <a:tc>
                  <a:txBody>
                    <a:bodyPr/>
                    <a:lstStyle/>
                    <a:p>
                      <a:r>
                        <a:rPr lang="en-US"/>
                        <a:t>VS Code</a:t>
                      </a:r>
                      <a:endParaRPr lang="en-US"/>
                    </a:p>
                  </a:txBody>
                  <a:tcPr anchor="ctr">
                    <a:lnL>
                      <a:noFill/>
                    </a:lnL>
                    <a:lnR>
                      <a:noFill/>
                    </a:lnR>
                    <a:lnT>
                      <a:noFill/>
                    </a:lnT>
                    <a:lnB>
                      <a:noFill/>
                    </a:lnB>
                    <a:noFill/>
                  </a:tcPr>
                </a:tc>
                <a:tc>
                  <a:txBody>
                    <a:bodyPr/>
                    <a:lstStyle/>
                    <a:p>
                      <a:r>
                        <a:rPr lang="en-US"/>
                        <a:t>Lightweight, needs Java extensions</a:t>
                      </a:r>
                      <a:endParaRPr lang="en-US"/>
                    </a:p>
                  </a:txBody>
                  <a:tcPr anchor="ctr">
                    <a:lnL>
                      <a:noFill/>
                    </a:lnL>
                    <a:lnR>
                      <a:noFill/>
                    </a:lnR>
                    <a:lnT>
                      <a:noFill/>
                    </a:lnT>
                    <a:lnB>
                      <a:noFill/>
                    </a:lnB>
                    <a:noFill/>
                  </a:tcPr>
                </a:tc>
                <a:tc>
                  <a:txBody>
                    <a:bodyPr/>
                    <a:lstStyle/>
                    <a:p>
                      <a:r>
                        <a:rPr lang="en-US" dirty="0">
                          <a:hlinkClick r:id="rId4"/>
                        </a:rPr>
                        <a:t>code.visualstudio.com</a:t>
                      </a:r>
                      <a:endParaRPr lang="en-US" dirty="0"/>
                    </a:p>
                  </a:txBody>
                  <a:tcPr anchor="ctr">
                    <a:lnL>
                      <a:noFill/>
                    </a:lnL>
                    <a:lnR>
                      <a:noFill/>
                    </a:lnR>
                    <a:lnT>
                      <a:noFill/>
                    </a:lnT>
                    <a:lnB>
                      <a:noFill/>
                    </a:lnB>
                    <a:noFill/>
                  </a:tcPr>
                </a:tc>
              </a:tr>
            </a:tbl>
          </a:graphicData>
        </a:graphic>
      </p:graphicFrame>
      <p:sp>
        <p:nvSpPr>
          <p:cNvPr id="7" name="TextBox 6"/>
          <p:cNvSpPr txBox="1"/>
          <p:nvPr/>
        </p:nvSpPr>
        <p:spPr>
          <a:xfrm>
            <a:off x="77000" y="749492"/>
            <a:ext cx="11742823" cy="646331"/>
          </a:xfrm>
          <a:prstGeom prst="rect">
            <a:avLst/>
          </a:prstGeom>
          <a:noFill/>
        </p:spPr>
        <p:txBody>
          <a:bodyPr wrap="square">
            <a:spAutoFit/>
          </a:bodyPr>
          <a:lstStyle/>
          <a:p>
            <a:r>
              <a:rPr lang="en-US" b="1" dirty="0"/>
              <a:t>4. Install an IDE (Optional but Recommended)</a:t>
            </a:r>
            <a:endParaRPr lang="en-US" b="1" dirty="0"/>
          </a:p>
          <a:p>
            <a:r>
              <a:rPr lang="en-US" dirty="0"/>
              <a:t>Choose an IDE to write and run Java code more easily:</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377" y="52286"/>
            <a:ext cx="11286423" cy="315912"/>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Difference Between Path And </a:t>
            </a:r>
            <a:r>
              <a:rPr lang="en-US" sz="2400" b="1" dirty="0" err="1">
                <a:solidFill>
                  <a:srgbClr val="FF0000"/>
                </a:solidFill>
                <a:latin typeface="Cambria" panose="02040503050406030204" pitchFamily="18" charset="0"/>
                <a:ea typeface="Cambria" panose="02040503050406030204" pitchFamily="18" charset="0"/>
              </a:rPr>
              <a:t>ClassPath</a:t>
            </a:r>
            <a:endParaRPr lang="en-US" sz="2400" b="1" dirty="0">
              <a:solidFill>
                <a:srgbClr val="FF0000"/>
              </a:solidFill>
              <a:latin typeface="Cambria" panose="02040503050406030204" pitchFamily="18" charset="0"/>
              <a:ea typeface="Cambria" panose="02040503050406030204" pitchFamily="18" charset="0"/>
            </a:endParaRPr>
          </a:p>
        </p:txBody>
      </p:sp>
      <p:sp>
        <p:nvSpPr>
          <p:cNvPr id="4" name="Rectangle 1"/>
          <p:cNvSpPr>
            <a:spLocks noGrp="1" noChangeArrowheads="1"/>
          </p:cNvSpPr>
          <p:nvPr>
            <p:ph idx="1"/>
          </p:nvPr>
        </p:nvSpPr>
        <p:spPr bwMode="auto">
          <a:xfrm>
            <a:off x="67377" y="368198"/>
            <a:ext cx="1202195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1. What is PATH?</a:t>
            </a:r>
            <a:endPar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It’s a system-level environment variable.  Used to locate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executable files</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like java and </a:t>
            </a:r>
            <a:r>
              <a:rPr kumimoji="0" lang="en-US" altLang="en-US" sz="18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javac</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Example:</a:t>
            </a:r>
            <a:endPar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Windows set PATH=C:\Program Files\Java\jdk-17\bin;%PATH% </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Linux/macOS export PATH=/</a:t>
            </a:r>
            <a:r>
              <a:rPr kumimoji="0" lang="en-US" altLang="en-US" sz="18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usr</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/lib/</a:t>
            </a:r>
            <a:r>
              <a:rPr kumimoji="0" lang="en-US" altLang="en-US" sz="18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jvm</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/java-17-openjdk/bin:$PATH </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This allows you to run:</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javac</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Hello.java</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java Hello  (from any directory.)</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
        <p:nvSpPr>
          <p:cNvPr id="16" name="TextBox 15"/>
          <p:cNvSpPr txBox="1"/>
          <p:nvPr/>
        </p:nvSpPr>
        <p:spPr>
          <a:xfrm>
            <a:off x="67377" y="2629095"/>
            <a:ext cx="11909659" cy="4247317"/>
          </a:xfrm>
          <a:prstGeom prst="rect">
            <a:avLst/>
          </a:prstGeom>
          <a:noFill/>
        </p:spPr>
        <p:txBody>
          <a:bodyPr wrap="square">
            <a:spAutoFit/>
          </a:bodyPr>
          <a:lstStyle/>
          <a:p>
            <a:r>
              <a:rPr lang="en-US" b="1" dirty="0">
                <a:latin typeface="Cambria" panose="02040503050406030204" pitchFamily="18" charset="0"/>
                <a:ea typeface="Cambria" panose="02040503050406030204" pitchFamily="18" charset="0"/>
              </a:rPr>
              <a:t>2. What is CLASSPATH? </a:t>
            </a:r>
            <a:endParaRPr lang="en-US" b="1"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US" sz="1800" b="0" i="0" u="none" strike="noStrike" baseline="0" dirty="0">
                <a:latin typeface="Cambria" panose="02040503050406030204" pitchFamily="18" charset="0"/>
                <a:ea typeface="Cambria" panose="02040503050406030204" pitchFamily="18" charset="0"/>
              </a:rPr>
              <a:t>The </a:t>
            </a:r>
            <a:r>
              <a:rPr lang="en-US" sz="1800" b="0" i="0" u="none" strike="noStrike" baseline="0" dirty="0" err="1">
                <a:latin typeface="Cambria" panose="02040503050406030204" pitchFamily="18" charset="0"/>
                <a:ea typeface="Cambria" panose="02040503050406030204" pitchFamily="18" charset="0"/>
              </a:rPr>
              <a:t>classpath</a:t>
            </a:r>
            <a:r>
              <a:rPr lang="en-US" sz="1800" b="0" i="0" u="none" strike="noStrike" baseline="0" dirty="0">
                <a:latin typeface="Cambria" panose="02040503050406030204" pitchFamily="18" charset="0"/>
                <a:ea typeface="Cambria" panose="02040503050406030204" pitchFamily="18" charset="0"/>
              </a:rPr>
              <a:t> is the file path where the java runtime and Java compiler look for </a:t>
            </a:r>
            <a:r>
              <a:rPr lang="en-US" sz="1800" b="1" i="0" u="none" strike="noStrike" baseline="0" dirty="0">
                <a:latin typeface="Cambria" panose="02040503050406030204" pitchFamily="18" charset="0"/>
                <a:ea typeface="Cambria" panose="02040503050406030204" pitchFamily="18" charset="0"/>
              </a:rPr>
              <a:t>.class </a:t>
            </a:r>
            <a:r>
              <a:rPr lang="en-US" sz="1800" b="0" i="0" u="none" strike="noStrike" baseline="0" dirty="0">
                <a:latin typeface="Cambria" panose="02040503050406030204" pitchFamily="18" charset="0"/>
                <a:ea typeface="Cambria" panose="02040503050406030204" pitchFamily="18" charset="0"/>
              </a:rPr>
              <a:t>files to load. By default, JDK provides many libraries. If you want to include external libraries they should be added to the </a:t>
            </a:r>
            <a:r>
              <a:rPr lang="en-US" sz="1800" b="0" i="0" u="none" strike="noStrike" baseline="0" dirty="0" err="1">
                <a:latin typeface="Cambria" panose="02040503050406030204" pitchFamily="18" charset="0"/>
                <a:ea typeface="Cambria" panose="02040503050406030204" pitchFamily="18" charset="0"/>
              </a:rPr>
              <a:t>classpath</a:t>
            </a:r>
            <a:r>
              <a:rPr lang="en-US" sz="1800" b="0" i="0" u="none" strike="noStrike" baseline="0" dirty="0">
                <a:latin typeface="Cambria" panose="02040503050406030204" pitchFamily="18" charset="0"/>
                <a:ea typeface="Cambria" panose="02040503050406030204" pitchFamily="18" charset="0"/>
              </a:rPr>
              <a:t>. </a:t>
            </a:r>
            <a:endParaRPr lang="en-US" sz="1800" b="0" i="0" u="none" strike="noStrike" baseline="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It tells Java where to look for .class files, packages, or JAR files.  Useful when your code uses external libraries or classes not in the current directory.</a:t>
            </a:r>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Example:   Suppose your code uses mysql-connector.jar:</a:t>
            </a:r>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set CLASSPATH=.;C:\libs\mysql-connector.jar</a:t>
            </a:r>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The . includes the current directory, so Java can still find your own classes.</a:t>
            </a:r>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PATH = "Where is </a:t>
            </a:r>
            <a:r>
              <a:rPr lang="en-US" dirty="0" err="1">
                <a:latin typeface="Cambria" panose="02040503050406030204" pitchFamily="18" charset="0"/>
                <a:ea typeface="Cambria" panose="02040503050406030204" pitchFamily="18" charset="0"/>
              </a:rPr>
              <a:t>javac</a:t>
            </a:r>
            <a:r>
              <a:rPr lang="en-US" dirty="0">
                <a:latin typeface="Cambria" panose="02040503050406030204" pitchFamily="18" charset="0"/>
                <a:ea typeface="Cambria" panose="02040503050406030204" pitchFamily="18" charset="0"/>
              </a:rPr>
              <a:t>/java?" (Tools)</a:t>
            </a:r>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CLASSPATH = "Where is </a:t>
            </a:r>
            <a:r>
              <a:rPr lang="en-US" dirty="0" err="1">
                <a:latin typeface="Cambria" panose="02040503050406030204" pitchFamily="18" charset="0"/>
                <a:ea typeface="Cambria" panose="02040503050406030204" pitchFamily="18" charset="0"/>
              </a:rPr>
              <a:t>MyClass.class</a:t>
            </a:r>
            <a:r>
              <a:rPr lang="en-US" dirty="0">
                <a:latin typeface="Cambria" panose="02040503050406030204" pitchFamily="18" charset="0"/>
                <a:ea typeface="Cambria" panose="02040503050406030204" pitchFamily="18" charset="0"/>
              </a:rPr>
              <a:t>?" (Code and Libraries)</a:t>
            </a:r>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When You Might Use CLASSPATH : Using external libraries (like JDBC, Apache Commons)</a:t>
            </a:r>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Working with custom packages or compiled classes from other directories</a:t>
            </a: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5244"/>
            <a:ext cx="10515600" cy="356769"/>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Java First Project</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83683" y="497338"/>
            <a:ext cx="11896022" cy="6255418"/>
          </a:xfrm>
        </p:spPr>
        <p:txBody>
          <a:bodyPr>
            <a:noAutofit/>
          </a:bodyPr>
          <a:lstStyle/>
          <a:p>
            <a:pPr marL="0" indent="0">
              <a:buNone/>
            </a:pPr>
            <a:r>
              <a:rPr lang="en-US" sz="1800" dirty="0">
                <a:latin typeface="Cambria" panose="02040503050406030204" pitchFamily="18" charset="0"/>
                <a:ea typeface="Cambria" panose="02040503050406030204" pitchFamily="18" charset="0"/>
              </a:rPr>
              <a:t>// HelloWorld.java</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class HelloWorld {</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    public static void main(String[] args) {</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        </a:t>
            </a:r>
            <a:r>
              <a:rPr lang="en-US" sz="1800" dirty="0" err="1">
                <a:latin typeface="Cambria" panose="02040503050406030204" pitchFamily="18" charset="0"/>
                <a:ea typeface="Cambria" panose="02040503050406030204" pitchFamily="18" charset="0"/>
              </a:rPr>
              <a:t>System.out.println</a:t>
            </a:r>
            <a:r>
              <a:rPr lang="en-US" sz="1800" dirty="0">
                <a:latin typeface="Cambria" panose="02040503050406030204" pitchFamily="18" charset="0"/>
                <a:ea typeface="Cambria" panose="02040503050406030204" pitchFamily="18" charset="0"/>
              </a:rPr>
              <a:t>("Hello, Java!");</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    }</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a:t>
            </a:r>
            <a:endParaRPr lang="en-US" sz="1800" dirty="0">
              <a:latin typeface="Cambria" panose="02040503050406030204" pitchFamily="18" charset="0"/>
              <a:ea typeface="Cambria" panose="02040503050406030204" pitchFamily="18" charset="0"/>
            </a:endParaRPr>
          </a:p>
          <a:p>
            <a:pPr marL="0" indent="0">
              <a:buNone/>
            </a:pP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Save File Name as HellowWorld.java</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For Compile </a:t>
            </a:r>
            <a:endParaRPr lang="en-US" sz="1800" dirty="0">
              <a:latin typeface="Cambria" panose="02040503050406030204" pitchFamily="18" charset="0"/>
              <a:ea typeface="Cambria" panose="02040503050406030204" pitchFamily="18" charset="0"/>
            </a:endParaRPr>
          </a:p>
          <a:p>
            <a:pPr marL="0" indent="0">
              <a:buNone/>
            </a:pPr>
            <a:r>
              <a:rPr lang="en-US" sz="1800" dirty="0" err="1">
                <a:latin typeface="Cambria" panose="02040503050406030204" pitchFamily="18" charset="0"/>
                <a:ea typeface="Cambria" panose="02040503050406030204" pitchFamily="18" charset="0"/>
              </a:rPr>
              <a:t>javac</a:t>
            </a:r>
            <a:r>
              <a:rPr lang="en-US" sz="1800" dirty="0">
                <a:latin typeface="Cambria" panose="02040503050406030204" pitchFamily="18" charset="0"/>
                <a:ea typeface="Cambria" panose="02040503050406030204" pitchFamily="18" charset="0"/>
              </a:rPr>
              <a:t> HelloWorld.java</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For Run</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java HelloWorld</a:t>
            </a:r>
            <a:endParaRPr lang="en-US" sz="1800" dirty="0">
              <a:latin typeface="Cambria" panose="02040503050406030204" pitchFamily="18" charset="0"/>
              <a:ea typeface="Cambria" panose="02040503050406030204" pitchFamily="18" charset="0"/>
            </a:endParaRPr>
          </a:p>
          <a:p>
            <a:pPr marL="0" indent="0">
              <a:buNone/>
            </a:pPr>
            <a:endParaRPr lang="en-US" sz="1800" dirty="0">
              <a:latin typeface="Cambria" panose="02040503050406030204" pitchFamily="18" charset="0"/>
              <a:ea typeface="Cambria" panose="020405030504060302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556" y="151012"/>
            <a:ext cx="10515600" cy="472273"/>
          </a:xfrm>
        </p:spPr>
        <p:txBody>
          <a:bodyPr>
            <a:normAutofit/>
          </a:bodyPr>
          <a:lstStyle/>
          <a:p>
            <a:pPr algn="l"/>
            <a:r>
              <a:rPr lang="en-US" sz="2400" b="1" dirty="0">
                <a:solidFill>
                  <a:srgbClr val="FF0000"/>
                </a:solidFill>
                <a:latin typeface="Cambria" panose="02040503050406030204" pitchFamily="18" charset="0"/>
                <a:ea typeface="Cambria" panose="02040503050406030204" pitchFamily="18" charset="0"/>
              </a:rPr>
              <a:t>Java</a:t>
            </a:r>
            <a:r>
              <a:rPr lang="en-US" sz="2400" b="1" i="0" u="none" strike="noStrike" baseline="0" dirty="0">
                <a:solidFill>
                  <a:srgbClr val="FF0000"/>
                </a:solidFill>
                <a:latin typeface="Cambria" panose="02040503050406030204" pitchFamily="18" charset="0"/>
                <a:ea typeface="Cambria" panose="02040503050406030204" pitchFamily="18" charset="0"/>
              </a:rPr>
              <a:t> Program Internal</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35556" y="623285"/>
            <a:ext cx="10515600" cy="3304640"/>
          </a:xfrm>
        </p:spPr>
        <p:txBody>
          <a:bodyPr>
            <a:normAutofit/>
          </a:bodyPr>
          <a:lstStyle/>
          <a:p>
            <a:pPr marL="0" indent="0">
              <a:buNone/>
            </a:pPr>
            <a:r>
              <a:rPr lang="en-US" sz="1600" dirty="0">
                <a:latin typeface="Cambria" panose="02040503050406030204" pitchFamily="18" charset="0"/>
                <a:ea typeface="Cambria" panose="02040503050406030204" pitchFamily="18" charset="0"/>
              </a:rPr>
              <a:t>Your Code (HelloWorld.java)</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     ↓ [</a:t>
            </a:r>
            <a:r>
              <a:rPr lang="en-US" sz="1600" dirty="0" err="1">
                <a:latin typeface="Cambria" panose="02040503050406030204" pitchFamily="18" charset="0"/>
                <a:ea typeface="Cambria" panose="02040503050406030204" pitchFamily="18" charset="0"/>
              </a:rPr>
              <a:t>javac</a:t>
            </a:r>
            <a:r>
              <a:rPr lang="en-US" sz="1600" dirty="0">
                <a:latin typeface="Cambria" panose="02040503050406030204" pitchFamily="18" charset="0"/>
                <a:ea typeface="Cambria" panose="02040503050406030204" pitchFamily="18" charset="0"/>
              </a:rPr>
              <a:t>]</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Bytecode (</a:t>
            </a:r>
            <a:r>
              <a:rPr lang="en-US" sz="1600" dirty="0" err="1">
                <a:latin typeface="Cambria" panose="02040503050406030204" pitchFamily="18" charset="0"/>
                <a:ea typeface="Cambria" panose="02040503050406030204" pitchFamily="18" charset="0"/>
              </a:rPr>
              <a:t>HelloWorld.class</a:t>
            </a:r>
            <a:r>
              <a:rPr lang="en-US" sz="1600" dirty="0">
                <a:latin typeface="Cambria" panose="02040503050406030204" pitchFamily="18" charset="0"/>
                <a:ea typeface="Cambria" panose="02040503050406030204" pitchFamily="18" charset="0"/>
              </a:rPr>
              <a:t>)</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     ↓ [java + JVM]</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JVM loads class</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     ↓</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Looks for main method: public static void main(String[] args)</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     ↓</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Runs </a:t>
            </a:r>
            <a:r>
              <a:rPr lang="en-US" sz="1600" dirty="0" err="1">
                <a:latin typeface="Cambria" panose="02040503050406030204" pitchFamily="18" charset="0"/>
                <a:ea typeface="Cambria" panose="02040503050406030204" pitchFamily="18" charset="0"/>
              </a:rPr>
              <a:t>System.out.println</a:t>
            </a:r>
            <a:r>
              <a:rPr lang="en-US" sz="1600" dirty="0">
                <a:latin typeface="Cambria" panose="02040503050406030204" pitchFamily="18" charset="0"/>
                <a:ea typeface="Cambria" panose="02040503050406030204" pitchFamily="18" charset="0"/>
              </a:rPr>
              <a:t>("Hello, Java!")</a:t>
            </a:r>
            <a:endParaRPr lang="en-US" sz="1600" dirty="0">
              <a:latin typeface="Cambria" panose="02040503050406030204" pitchFamily="18" charset="0"/>
              <a:ea typeface="Cambria" panose="02040503050406030204" pitchFamily="18" charset="0"/>
            </a:endParaRPr>
          </a:p>
          <a:p>
            <a:endParaRPr lang="en-US" sz="1600" dirty="0"/>
          </a:p>
        </p:txBody>
      </p:sp>
      <p:sp>
        <p:nvSpPr>
          <p:cNvPr id="5" name="TextBox 4"/>
          <p:cNvSpPr txBox="1"/>
          <p:nvPr/>
        </p:nvSpPr>
        <p:spPr>
          <a:xfrm>
            <a:off x="135556" y="4165135"/>
            <a:ext cx="6097604" cy="369332"/>
          </a:xfrm>
          <a:prstGeom prst="rect">
            <a:avLst/>
          </a:prstGeom>
          <a:noFill/>
        </p:spPr>
        <p:txBody>
          <a:bodyPr wrap="square">
            <a:spAutoFit/>
          </a:bodyPr>
          <a:lstStyle/>
          <a:p>
            <a:r>
              <a:rPr lang="en-US" dirty="0"/>
              <a:t> public static void main(String[] args) {</a:t>
            </a:r>
            <a:endParaRPr lang="en-US" dirty="0"/>
          </a:p>
        </p:txBody>
      </p:sp>
      <p:sp>
        <p:nvSpPr>
          <p:cNvPr id="6" name="Rectangle 1"/>
          <p:cNvSpPr>
            <a:spLocks noChangeArrowheads="1"/>
          </p:cNvSpPr>
          <p:nvPr/>
        </p:nvSpPr>
        <p:spPr bwMode="auto">
          <a:xfrm>
            <a:off x="0" y="4688916"/>
            <a:ext cx="1147331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public</a:t>
            </a:r>
            <a:r>
              <a:rPr kumimoji="0" lang="en-US" altLang="en-US" sz="1800" b="0" i="0" u="none" strike="noStrike" cap="none" normalizeH="0" baseline="0" dirty="0">
                <a:ln>
                  <a:noFill/>
                </a:ln>
                <a:solidFill>
                  <a:schemeClr val="tx1"/>
                </a:solidFill>
                <a:effectLst/>
                <a:latin typeface="Arial" panose="020B0604020202020204" pitchFamily="34" charset="0"/>
              </a:rPr>
              <a:t>: JVM can access it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static</a:t>
            </a:r>
            <a:r>
              <a:rPr kumimoji="0" lang="en-US" altLang="en-US" sz="1800" b="0" i="0" u="none" strike="noStrike" cap="none" normalizeH="0" baseline="0" dirty="0">
                <a:ln>
                  <a:noFill/>
                </a:ln>
                <a:solidFill>
                  <a:schemeClr val="tx1"/>
                </a:solidFill>
                <a:effectLst/>
                <a:latin typeface="Arial" panose="020B0604020202020204" pitchFamily="34" charset="0"/>
              </a:rPr>
              <a:t>: No object creation needed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void</a:t>
            </a:r>
            <a:r>
              <a:rPr kumimoji="0" lang="en-US" altLang="en-US" sz="1800" b="0" i="0" u="none" strike="noStrike" cap="none" normalizeH="0" baseline="0" dirty="0">
                <a:ln>
                  <a:noFill/>
                </a:ln>
                <a:solidFill>
                  <a:schemeClr val="tx1"/>
                </a:solidFill>
                <a:effectLst/>
                <a:latin typeface="Arial" panose="020B0604020202020204" pitchFamily="34" charset="0"/>
              </a:rPr>
              <a:t>: No return value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String[] args</a:t>
            </a:r>
            <a:r>
              <a:rPr kumimoji="0" lang="en-US" altLang="en-US" sz="1800" b="0" i="0" u="none" strike="noStrike" cap="none" normalizeH="0" baseline="0" dirty="0">
                <a:ln>
                  <a:noFill/>
                </a:ln>
                <a:solidFill>
                  <a:schemeClr val="tx1"/>
                </a:solidFill>
                <a:effectLst/>
                <a:latin typeface="Arial" panose="020B0604020202020204" pitchFamily="34" charset="0"/>
              </a:rPr>
              <a:t>: Command-line arguments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878" y="247265"/>
            <a:ext cx="11132419" cy="433772"/>
          </a:xfrm>
        </p:spPr>
        <p:txBody>
          <a:bodyPr>
            <a:normAutofit/>
          </a:bodyPr>
          <a:lstStyle/>
          <a:p>
            <a:r>
              <a:rPr lang="en-US" sz="1800" b="1" dirty="0">
                <a:solidFill>
                  <a:srgbClr val="FF0000"/>
                </a:solidFill>
                <a:latin typeface="Cambria" panose="02040503050406030204" pitchFamily="18" charset="0"/>
                <a:ea typeface="Cambria" panose="02040503050406030204" pitchFamily="18" charset="0"/>
              </a:rPr>
              <a:t>Java</a:t>
            </a:r>
            <a:r>
              <a:rPr lang="en-US" sz="1800" b="1" i="0" u="none" strike="noStrike" baseline="0" dirty="0">
                <a:solidFill>
                  <a:srgbClr val="FF0000"/>
                </a:solidFill>
                <a:latin typeface="Cambria" panose="02040503050406030204" pitchFamily="18" charset="0"/>
                <a:ea typeface="Cambria" panose="02040503050406030204" pitchFamily="18" charset="0"/>
              </a:rPr>
              <a:t> Program Internal</a:t>
            </a:r>
            <a:endParaRPr lang="en-US" sz="1800" dirty="0"/>
          </a:p>
        </p:txBody>
      </p:sp>
      <p:sp>
        <p:nvSpPr>
          <p:cNvPr id="3" name="Content Placeholder 2"/>
          <p:cNvSpPr>
            <a:spLocks noGrp="1"/>
          </p:cNvSpPr>
          <p:nvPr>
            <p:ph idx="1"/>
          </p:nvPr>
        </p:nvSpPr>
        <p:spPr>
          <a:xfrm>
            <a:off x="105878" y="795721"/>
            <a:ext cx="11887200" cy="5815014"/>
          </a:xfrm>
        </p:spPr>
        <p:txBody>
          <a:bodyPr>
            <a:noAutofit/>
          </a:bodyPr>
          <a:lstStyle/>
          <a:p>
            <a:r>
              <a:rPr lang="en-US" sz="1800" dirty="0">
                <a:latin typeface="Cambria" panose="02040503050406030204" pitchFamily="18" charset="0"/>
                <a:ea typeface="Cambria" panose="02040503050406030204" pitchFamily="18" charset="0"/>
              </a:rPr>
              <a:t> </a:t>
            </a:r>
            <a:r>
              <a:rPr lang="en-US" sz="1800" dirty="0" err="1">
                <a:latin typeface="Cambria" panose="02040503050406030204" pitchFamily="18" charset="0"/>
                <a:ea typeface="Cambria" panose="02040503050406030204" pitchFamily="18" charset="0"/>
              </a:rPr>
              <a:t>System.out.println</a:t>
            </a:r>
            <a:r>
              <a:rPr lang="en-US" sz="1800" dirty="0">
                <a:latin typeface="Cambria" panose="02040503050406030204" pitchFamily="18" charset="0"/>
                <a:ea typeface="Cambria" panose="02040503050406030204" pitchFamily="18" charset="0"/>
              </a:rPr>
              <a:t>("Hello, Java!");</a:t>
            </a:r>
            <a:endParaRPr lang="en-US" sz="1800" dirty="0">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Prints text to the console/output screen.</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System</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System is a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final class</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in the </a:t>
            </a:r>
            <a:r>
              <a:rPr kumimoji="0" lang="en-US" altLang="en-US" sz="18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java.lang</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package.</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It cannot be instantiated.</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It provides access to system-level resources like input, output, and error streams.</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out</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Standard output stream</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out is a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static field</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of the System class.</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It is an instance of </a:t>
            </a:r>
            <a:r>
              <a:rPr kumimoji="0" lang="en-US" altLang="en-US" sz="18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PrintStream</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It represents the standard output stream (usually the console).</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None/>
            </a:pPr>
            <a:endParaRPr lang="en-US" altLang="en-US" sz="1800" dirty="0">
              <a:latin typeface="Cambria" panose="02040503050406030204" pitchFamily="18" charset="0"/>
              <a:ea typeface="Cambria" panose="02040503050406030204" pitchFamily="18" charset="0"/>
            </a:endParaRPr>
          </a:p>
          <a:p>
            <a:pPr marL="0" indent="0" eaLnBrk="0" fontAlgn="base" hangingPunct="0">
              <a:lnSpc>
                <a:spcPct val="100000"/>
              </a:lnSpc>
              <a:spcBef>
                <a:spcPct val="0"/>
              </a:spcBef>
              <a:spcAft>
                <a:spcPct val="0"/>
              </a:spcAft>
              <a:buNone/>
            </a:pP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Type:</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altLang="en-US" sz="18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PrintStream</a:t>
            </a:r>
            <a:b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Declaration:</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public static final </a:t>
            </a:r>
            <a:r>
              <a:rPr kumimoji="0" lang="en-US" altLang="en-US" sz="18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PrintStream</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out </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println</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Prints with a new line</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println</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is a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method</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of the </a:t>
            </a:r>
            <a:r>
              <a:rPr kumimoji="0" lang="en-US" altLang="en-US" sz="18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PrintStream</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class.</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It prints the passed data followed by a newline.</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Class:</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altLang="en-US" sz="18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java.io.PrintStream</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endParaRPr lang="en-US" sz="1800" dirty="0">
              <a:latin typeface="Cambria" panose="02040503050406030204" pitchFamily="18" charset="0"/>
              <a:ea typeface="Cambria" panose="020405030504060302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02" y="143745"/>
            <a:ext cx="10978414" cy="395270"/>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Difference Between Compiler And Interpreter</a:t>
            </a:r>
            <a:endParaRPr lang="en-US" sz="2400" b="1" dirty="0">
              <a:solidFill>
                <a:srgbClr val="FF0000"/>
              </a:solidFill>
              <a:latin typeface="Cambria" panose="02040503050406030204" pitchFamily="18" charset="0"/>
              <a:ea typeface="Cambria" panose="02040503050406030204" pitchFamily="18" charset="0"/>
            </a:endParaRPr>
          </a:p>
        </p:txBody>
      </p:sp>
      <p:graphicFrame>
        <p:nvGraphicFramePr>
          <p:cNvPr id="4" name="Content Placeholder 3"/>
          <p:cNvGraphicFramePr>
            <a:graphicFrameLocks noGrp="1"/>
          </p:cNvGraphicFramePr>
          <p:nvPr>
            <p:ph idx="1"/>
          </p:nvPr>
        </p:nvGraphicFramePr>
        <p:xfrm>
          <a:off x="77002" y="616017"/>
          <a:ext cx="12041204" cy="3793451"/>
        </p:xfrm>
        <a:graphic>
          <a:graphicData uri="http://schemas.openxmlformats.org/drawingml/2006/table">
            <a:tbl>
              <a:tblPr/>
              <a:tblGrid>
                <a:gridCol w="2320134"/>
                <a:gridCol w="5168907"/>
                <a:gridCol w="4552163"/>
              </a:tblGrid>
              <a:tr h="321951">
                <a:tc>
                  <a:txBody>
                    <a:bodyPr/>
                    <a:lstStyle/>
                    <a:p>
                      <a:pPr algn="ctr"/>
                      <a:r>
                        <a:rPr lang="en-US" sz="2400" b="1" dirty="0">
                          <a:solidFill>
                            <a:srgbClr val="FF0000"/>
                          </a:solidFill>
                          <a:latin typeface="Cambria" panose="02040503050406030204" pitchFamily="18" charset="0"/>
                          <a:ea typeface="Cambria" panose="02040503050406030204" pitchFamily="18" charset="0"/>
                        </a:rPr>
                        <a:t>Feature</a:t>
                      </a:r>
                      <a:endParaRPr lang="en-US" sz="2400" b="1" dirty="0">
                        <a:solidFill>
                          <a:srgbClr val="FF0000"/>
                        </a:solidFill>
                        <a:latin typeface="Cambria" panose="02040503050406030204" pitchFamily="18" charset="0"/>
                        <a:ea typeface="Cambria" panose="02040503050406030204" pitchFamily="18" charset="0"/>
                      </a:endParaRPr>
                    </a:p>
                  </a:txBody>
                  <a:tcPr marL="80580" marR="80580" marT="40290" marB="40290" anchor="ctr">
                    <a:lnL>
                      <a:noFill/>
                    </a:lnL>
                    <a:lnR>
                      <a:noFill/>
                    </a:lnR>
                    <a:lnT>
                      <a:noFill/>
                    </a:lnT>
                    <a:lnB>
                      <a:noFill/>
                    </a:lnB>
                    <a:solidFill>
                      <a:schemeClr val="accent5">
                        <a:lumMod val="40000"/>
                        <a:lumOff val="60000"/>
                      </a:schemeClr>
                    </a:solidFill>
                  </a:tcPr>
                </a:tc>
                <a:tc>
                  <a:txBody>
                    <a:bodyPr/>
                    <a:lstStyle/>
                    <a:p>
                      <a:pPr algn="ctr"/>
                      <a:r>
                        <a:rPr lang="en-US" sz="2000" b="1" dirty="0">
                          <a:solidFill>
                            <a:srgbClr val="FF0000"/>
                          </a:solidFill>
                          <a:latin typeface="Cambria" panose="02040503050406030204" pitchFamily="18" charset="0"/>
                          <a:ea typeface="Cambria" panose="02040503050406030204" pitchFamily="18" charset="0"/>
                        </a:rPr>
                        <a:t>Compiler</a:t>
                      </a:r>
                      <a:endParaRPr lang="en-US" sz="2000" b="1" dirty="0">
                        <a:solidFill>
                          <a:srgbClr val="FF0000"/>
                        </a:solidFill>
                        <a:latin typeface="Cambria" panose="02040503050406030204" pitchFamily="18" charset="0"/>
                        <a:ea typeface="Cambria" panose="02040503050406030204" pitchFamily="18" charset="0"/>
                      </a:endParaRPr>
                    </a:p>
                  </a:txBody>
                  <a:tcPr marL="80580" marR="80580" marT="40290" marB="40290" anchor="ctr">
                    <a:lnL>
                      <a:noFill/>
                    </a:lnL>
                    <a:lnR>
                      <a:noFill/>
                    </a:lnR>
                    <a:lnT>
                      <a:noFill/>
                    </a:lnT>
                    <a:lnB>
                      <a:noFill/>
                    </a:lnB>
                    <a:solidFill>
                      <a:schemeClr val="accent5">
                        <a:lumMod val="40000"/>
                        <a:lumOff val="60000"/>
                      </a:schemeClr>
                    </a:solidFill>
                  </a:tcPr>
                </a:tc>
                <a:tc>
                  <a:txBody>
                    <a:bodyPr/>
                    <a:lstStyle/>
                    <a:p>
                      <a:pPr algn="ctr"/>
                      <a:r>
                        <a:rPr lang="en-US" sz="2000" b="1" dirty="0">
                          <a:solidFill>
                            <a:srgbClr val="FF0000"/>
                          </a:solidFill>
                          <a:latin typeface="Cambria" panose="02040503050406030204" pitchFamily="18" charset="0"/>
                          <a:ea typeface="Cambria" panose="02040503050406030204" pitchFamily="18" charset="0"/>
                        </a:rPr>
                        <a:t>Interpreter</a:t>
                      </a:r>
                      <a:endParaRPr lang="en-US" sz="2000" b="1" dirty="0">
                        <a:solidFill>
                          <a:srgbClr val="FF0000"/>
                        </a:solidFill>
                        <a:latin typeface="Cambria" panose="02040503050406030204" pitchFamily="18" charset="0"/>
                        <a:ea typeface="Cambria" panose="02040503050406030204" pitchFamily="18" charset="0"/>
                      </a:endParaRPr>
                    </a:p>
                  </a:txBody>
                  <a:tcPr marL="80580" marR="80580" marT="40290" marB="40290" anchor="ctr">
                    <a:lnL>
                      <a:noFill/>
                    </a:lnL>
                    <a:lnR>
                      <a:noFill/>
                    </a:lnR>
                    <a:lnT>
                      <a:noFill/>
                    </a:lnT>
                    <a:lnB>
                      <a:noFill/>
                    </a:lnB>
                    <a:solidFill>
                      <a:schemeClr val="accent5">
                        <a:lumMod val="40000"/>
                        <a:lumOff val="60000"/>
                      </a:schemeClr>
                    </a:solidFill>
                  </a:tcPr>
                </a:tc>
              </a:tr>
              <a:tr h="432767">
                <a:tc>
                  <a:txBody>
                    <a:bodyPr/>
                    <a:lstStyle/>
                    <a:p>
                      <a:pPr algn="ctr"/>
                      <a:r>
                        <a:rPr lang="en-US" sz="1800" b="1" dirty="0"/>
                        <a:t>Definition</a:t>
                      </a:r>
                      <a:endParaRPr lang="en-US" sz="1800" dirty="0"/>
                    </a:p>
                  </a:txBody>
                  <a:tcPr marL="80580" marR="80580" marT="40290" marB="40290" anchor="ctr">
                    <a:lnL>
                      <a:noFill/>
                    </a:lnL>
                    <a:lnR>
                      <a:noFill/>
                    </a:lnR>
                    <a:lnT>
                      <a:noFill/>
                    </a:lnT>
                    <a:lnB>
                      <a:noFill/>
                    </a:lnB>
                    <a:solidFill>
                      <a:schemeClr val="accent5">
                        <a:lumMod val="40000"/>
                        <a:lumOff val="60000"/>
                      </a:schemeClr>
                    </a:solidFill>
                  </a:tcPr>
                </a:tc>
                <a:tc>
                  <a:txBody>
                    <a:bodyPr/>
                    <a:lstStyle/>
                    <a:p>
                      <a:r>
                        <a:rPr lang="en-US" sz="1600"/>
                        <a:t>Translates the </a:t>
                      </a:r>
                      <a:r>
                        <a:rPr lang="en-US" sz="1600" b="1"/>
                        <a:t>entire program</a:t>
                      </a:r>
                      <a:r>
                        <a:rPr lang="en-US" sz="1600"/>
                        <a:t> at once into machine code</a:t>
                      </a:r>
                      <a:endParaRPr lang="en-US" sz="1600"/>
                    </a:p>
                  </a:txBody>
                  <a:tcPr marL="80580" marR="80580" marT="40290" marB="40290" anchor="ctr">
                    <a:lnL>
                      <a:noFill/>
                    </a:lnL>
                    <a:lnR>
                      <a:noFill/>
                    </a:lnR>
                    <a:lnT>
                      <a:noFill/>
                    </a:lnT>
                    <a:lnB>
                      <a:noFill/>
                    </a:lnB>
                    <a:noFill/>
                  </a:tcPr>
                </a:tc>
                <a:tc>
                  <a:txBody>
                    <a:bodyPr/>
                    <a:lstStyle/>
                    <a:p>
                      <a:r>
                        <a:rPr lang="en-US" sz="1600"/>
                        <a:t>Translates and </a:t>
                      </a:r>
                      <a:r>
                        <a:rPr lang="en-US" sz="1600" b="1"/>
                        <a:t>executes code line-by-line</a:t>
                      </a:r>
                      <a:endParaRPr lang="en-US" sz="1600"/>
                    </a:p>
                  </a:txBody>
                  <a:tcPr marL="80580" marR="80580" marT="40290" marB="40290" anchor="ctr">
                    <a:lnL>
                      <a:noFill/>
                    </a:lnL>
                    <a:lnR>
                      <a:noFill/>
                    </a:lnR>
                    <a:lnT>
                      <a:noFill/>
                    </a:lnT>
                    <a:lnB>
                      <a:noFill/>
                    </a:lnB>
                    <a:noFill/>
                  </a:tcPr>
                </a:tc>
              </a:tr>
              <a:tr h="426970">
                <a:tc>
                  <a:txBody>
                    <a:bodyPr/>
                    <a:lstStyle/>
                    <a:p>
                      <a:pPr algn="ctr"/>
                      <a:r>
                        <a:rPr lang="en-US" sz="1800" b="1" dirty="0"/>
                        <a:t>Speed</a:t>
                      </a:r>
                      <a:endParaRPr lang="en-US" sz="1800" dirty="0"/>
                    </a:p>
                  </a:txBody>
                  <a:tcPr marL="80580" marR="80580" marT="40290" marB="40290" anchor="ctr">
                    <a:lnL>
                      <a:noFill/>
                    </a:lnL>
                    <a:lnR>
                      <a:noFill/>
                    </a:lnR>
                    <a:lnT>
                      <a:noFill/>
                    </a:lnT>
                    <a:lnB>
                      <a:noFill/>
                    </a:lnB>
                    <a:solidFill>
                      <a:schemeClr val="accent5">
                        <a:lumMod val="40000"/>
                        <a:lumOff val="60000"/>
                      </a:schemeClr>
                    </a:solidFill>
                  </a:tcPr>
                </a:tc>
                <a:tc>
                  <a:txBody>
                    <a:bodyPr/>
                    <a:lstStyle/>
                    <a:p>
                      <a:r>
                        <a:rPr lang="en-US" sz="1600" b="1" dirty="0"/>
                        <a:t>Faster</a:t>
                      </a:r>
                      <a:r>
                        <a:rPr lang="en-US" sz="1600" dirty="0"/>
                        <a:t> after compilation</a:t>
                      </a:r>
                      <a:endParaRPr lang="en-US" sz="1600" dirty="0"/>
                    </a:p>
                  </a:txBody>
                  <a:tcPr marL="80580" marR="80580" marT="40290" marB="40290" anchor="ctr">
                    <a:lnL>
                      <a:noFill/>
                    </a:lnL>
                    <a:lnR>
                      <a:noFill/>
                    </a:lnR>
                    <a:lnT>
                      <a:noFill/>
                    </a:lnT>
                    <a:lnB>
                      <a:noFill/>
                    </a:lnB>
                    <a:noFill/>
                  </a:tcPr>
                </a:tc>
                <a:tc>
                  <a:txBody>
                    <a:bodyPr/>
                    <a:lstStyle/>
                    <a:p>
                      <a:r>
                        <a:rPr lang="en-US" sz="1600" b="1"/>
                        <a:t>Slower</a:t>
                      </a:r>
                      <a:r>
                        <a:rPr lang="en-US" sz="1600"/>
                        <a:t> due to line-by-line execution</a:t>
                      </a:r>
                      <a:endParaRPr lang="en-US" sz="1600"/>
                    </a:p>
                  </a:txBody>
                  <a:tcPr marL="80580" marR="80580" marT="40290" marB="40290" anchor="ctr">
                    <a:lnL>
                      <a:noFill/>
                    </a:lnL>
                    <a:lnR>
                      <a:noFill/>
                    </a:lnR>
                    <a:lnT>
                      <a:noFill/>
                    </a:lnT>
                    <a:lnB>
                      <a:noFill/>
                    </a:lnB>
                    <a:noFill/>
                  </a:tcPr>
                </a:tc>
              </a:tr>
              <a:tr h="410428">
                <a:tc>
                  <a:txBody>
                    <a:bodyPr/>
                    <a:lstStyle/>
                    <a:p>
                      <a:pPr algn="ctr"/>
                      <a:r>
                        <a:rPr lang="en-US" sz="1800" b="1" dirty="0"/>
                        <a:t>Error Handling</a:t>
                      </a:r>
                      <a:endParaRPr lang="en-US" sz="1800" dirty="0"/>
                    </a:p>
                  </a:txBody>
                  <a:tcPr marL="80580" marR="80580" marT="40290" marB="40290" anchor="ctr">
                    <a:lnL>
                      <a:noFill/>
                    </a:lnL>
                    <a:lnR>
                      <a:noFill/>
                    </a:lnR>
                    <a:lnT>
                      <a:noFill/>
                    </a:lnT>
                    <a:lnB>
                      <a:noFill/>
                    </a:lnB>
                    <a:solidFill>
                      <a:schemeClr val="accent5">
                        <a:lumMod val="40000"/>
                        <a:lumOff val="60000"/>
                      </a:schemeClr>
                    </a:solidFill>
                  </a:tcPr>
                </a:tc>
                <a:tc>
                  <a:txBody>
                    <a:bodyPr/>
                    <a:lstStyle/>
                    <a:p>
                      <a:r>
                        <a:rPr lang="en-US" sz="1600"/>
                        <a:t>Shows </a:t>
                      </a:r>
                      <a:r>
                        <a:rPr lang="en-US" sz="1600" b="1"/>
                        <a:t>all errors at once after compiling</a:t>
                      </a:r>
                      <a:endParaRPr lang="en-US" sz="1600"/>
                    </a:p>
                  </a:txBody>
                  <a:tcPr marL="80580" marR="80580" marT="40290" marB="40290" anchor="ctr">
                    <a:lnL>
                      <a:noFill/>
                    </a:lnL>
                    <a:lnR>
                      <a:noFill/>
                    </a:lnR>
                    <a:lnT>
                      <a:noFill/>
                    </a:lnT>
                    <a:lnB>
                      <a:noFill/>
                    </a:lnB>
                    <a:noFill/>
                  </a:tcPr>
                </a:tc>
                <a:tc>
                  <a:txBody>
                    <a:bodyPr/>
                    <a:lstStyle/>
                    <a:p>
                      <a:r>
                        <a:rPr lang="en-US" sz="1600"/>
                        <a:t>Shows </a:t>
                      </a:r>
                      <a:r>
                        <a:rPr lang="en-US" sz="1600" b="1"/>
                        <a:t>errors one by one during execution</a:t>
                      </a:r>
                      <a:endParaRPr lang="en-US" sz="1600"/>
                    </a:p>
                  </a:txBody>
                  <a:tcPr marL="80580" marR="80580" marT="40290" marB="40290" anchor="ctr">
                    <a:lnL>
                      <a:noFill/>
                    </a:lnL>
                    <a:lnR>
                      <a:noFill/>
                    </a:lnR>
                    <a:lnT>
                      <a:noFill/>
                    </a:lnT>
                    <a:lnB>
                      <a:noFill/>
                    </a:lnB>
                    <a:noFill/>
                  </a:tcPr>
                </a:tc>
              </a:tr>
              <a:tr h="462013">
                <a:tc>
                  <a:txBody>
                    <a:bodyPr/>
                    <a:lstStyle/>
                    <a:p>
                      <a:pPr algn="ctr"/>
                      <a:r>
                        <a:rPr lang="en-US" sz="1800" b="1" dirty="0"/>
                        <a:t>Output</a:t>
                      </a:r>
                      <a:endParaRPr lang="en-US" sz="1800" dirty="0"/>
                    </a:p>
                  </a:txBody>
                  <a:tcPr marL="80580" marR="80580" marT="40290" marB="40290" anchor="ctr">
                    <a:lnL>
                      <a:noFill/>
                    </a:lnL>
                    <a:lnR>
                      <a:noFill/>
                    </a:lnR>
                    <a:lnT>
                      <a:noFill/>
                    </a:lnT>
                    <a:lnB>
                      <a:noFill/>
                    </a:lnB>
                    <a:solidFill>
                      <a:schemeClr val="accent5">
                        <a:lumMod val="40000"/>
                        <a:lumOff val="60000"/>
                      </a:schemeClr>
                    </a:solidFill>
                  </a:tcPr>
                </a:tc>
                <a:tc>
                  <a:txBody>
                    <a:bodyPr/>
                    <a:lstStyle/>
                    <a:p>
                      <a:r>
                        <a:rPr lang="en-US" sz="1600" dirty="0"/>
                        <a:t>Creates a separate </a:t>
                      </a:r>
                      <a:r>
                        <a:rPr lang="en-US" sz="1600" b="1" dirty="0"/>
                        <a:t>executable file</a:t>
                      </a:r>
                      <a:r>
                        <a:rPr lang="en-US" sz="1600" dirty="0"/>
                        <a:t> (.exe, .class)</a:t>
                      </a:r>
                      <a:endParaRPr lang="en-US" sz="1600" dirty="0"/>
                    </a:p>
                  </a:txBody>
                  <a:tcPr marL="80580" marR="80580" marT="40290" marB="40290" anchor="ctr">
                    <a:lnL>
                      <a:noFill/>
                    </a:lnL>
                    <a:lnR>
                      <a:noFill/>
                    </a:lnR>
                    <a:lnT>
                      <a:noFill/>
                    </a:lnT>
                    <a:lnB>
                      <a:noFill/>
                    </a:lnB>
                    <a:noFill/>
                  </a:tcPr>
                </a:tc>
                <a:tc>
                  <a:txBody>
                    <a:bodyPr/>
                    <a:lstStyle/>
                    <a:p>
                      <a:r>
                        <a:rPr lang="en-US" sz="1600"/>
                        <a:t>Does </a:t>
                      </a:r>
                      <a:r>
                        <a:rPr lang="en-US" sz="1600" b="1"/>
                        <a:t>not create a separate file</a:t>
                      </a:r>
                      <a:endParaRPr lang="en-US" sz="1600"/>
                    </a:p>
                  </a:txBody>
                  <a:tcPr marL="80580" marR="80580" marT="40290" marB="40290" anchor="ctr">
                    <a:lnL>
                      <a:noFill/>
                    </a:lnL>
                    <a:lnR>
                      <a:noFill/>
                    </a:lnR>
                    <a:lnT>
                      <a:noFill/>
                    </a:lnT>
                    <a:lnB>
                      <a:noFill/>
                    </a:lnB>
                    <a:noFill/>
                  </a:tcPr>
                </a:tc>
              </a:tr>
              <a:tr h="322321">
                <a:tc>
                  <a:txBody>
                    <a:bodyPr/>
                    <a:lstStyle/>
                    <a:p>
                      <a:pPr algn="ctr"/>
                      <a:r>
                        <a:rPr lang="en-US" sz="1800" b="1" dirty="0"/>
                        <a:t>Execution</a:t>
                      </a:r>
                      <a:endParaRPr lang="en-US" sz="1800" dirty="0"/>
                    </a:p>
                  </a:txBody>
                  <a:tcPr marL="80580" marR="80580" marT="40290" marB="40290" anchor="ctr">
                    <a:lnL>
                      <a:noFill/>
                    </a:lnL>
                    <a:lnR>
                      <a:noFill/>
                    </a:lnR>
                    <a:lnT>
                      <a:noFill/>
                    </a:lnT>
                    <a:lnB>
                      <a:noFill/>
                    </a:lnB>
                    <a:solidFill>
                      <a:schemeClr val="accent5">
                        <a:lumMod val="40000"/>
                        <a:lumOff val="60000"/>
                      </a:schemeClr>
                    </a:solidFill>
                  </a:tcPr>
                </a:tc>
                <a:tc>
                  <a:txBody>
                    <a:bodyPr/>
                    <a:lstStyle/>
                    <a:p>
                      <a:r>
                        <a:rPr lang="en-US" sz="1600"/>
                        <a:t>Needs </a:t>
                      </a:r>
                      <a:r>
                        <a:rPr lang="en-US" sz="1600" b="1"/>
                        <a:t>compilation before running</a:t>
                      </a:r>
                      <a:endParaRPr lang="en-US" sz="1600"/>
                    </a:p>
                  </a:txBody>
                  <a:tcPr marL="80580" marR="80580" marT="40290" marB="40290" anchor="ctr">
                    <a:lnL>
                      <a:noFill/>
                    </a:lnL>
                    <a:lnR>
                      <a:noFill/>
                    </a:lnR>
                    <a:lnT>
                      <a:noFill/>
                    </a:lnT>
                    <a:lnB>
                      <a:noFill/>
                    </a:lnB>
                    <a:noFill/>
                  </a:tcPr>
                </a:tc>
                <a:tc>
                  <a:txBody>
                    <a:bodyPr/>
                    <a:lstStyle/>
                    <a:p>
                      <a:r>
                        <a:rPr lang="en-US" sz="1600" b="1"/>
                        <a:t>Directly runs</a:t>
                      </a:r>
                      <a:r>
                        <a:rPr lang="en-US" sz="1600"/>
                        <a:t> the code</a:t>
                      </a:r>
                      <a:endParaRPr lang="en-US" sz="1600"/>
                    </a:p>
                  </a:txBody>
                  <a:tcPr marL="80580" marR="80580" marT="40290" marB="40290" anchor="ctr">
                    <a:lnL>
                      <a:noFill/>
                    </a:lnL>
                    <a:lnR>
                      <a:noFill/>
                    </a:lnR>
                    <a:lnT>
                      <a:noFill/>
                    </a:lnT>
                    <a:lnB>
                      <a:noFill/>
                    </a:lnB>
                    <a:noFill/>
                  </a:tcPr>
                </a:tc>
              </a:tr>
              <a:tr h="322321">
                <a:tc>
                  <a:txBody>
                    <a:bodyPr/>
                    <a:lstStyle/>
                    <a:p>
                      <a:pPr algn="ctr"/>
                      <a:r>
                        <a:rPr lang="en-US" sz="1800" b="1" dirty="0"/>
                        <a:t>Examples</a:t>
                      </a:r>
                      <a:endParaRPr lang="en-US" sz="1800" dirty="0"/>
                    </a:p>
                  </a:txBody>
                  <a:tcPr marL="80580" marR="80580" marT="40290" marB="40290" anchor="ctr">
                    <a:lnL>
                      <a:noFill/>
                    </a:lnL>
                    <a:lnR>
                      <a:noFill/>
                    </a:lnR>
                    <a:lnT>
                      <a:noFill/>
                    </a:lnT>
                    <a:lnB>
                      <a:noFill/>
                    </a:lnB>
                    <a:solidFill>
                      <a:schemeClr val="accent5">
                        <a:lumMod val="40000"/>
                        <a:lumOff val="60000"/>
                      </a:schemeClr>
                    </a:solidFill>
                  </a:tcPr>
                </a:tc>
                <a:tc>
                  <a:txBody>
                    <a:bodyPr/>
                    <a:lstStyle/>
                    <a:p>
                      <a:r>
                        <a:rPr lang="en-US" sz="1600"/>
                        <a:t>C, C++, Java (compiled to bytecode)</a:t>
                      </a:r>
                      <a:endParaRPr lang="en-US" sz="1600"/>
                    </a:p>
                  </a:txBody>
                  <a:tcPr marL="80580" marR="80580" marT="40290" marB="40290" anchor="ctr">
                    <a:lnL>
                      <a:noFill/>
                    </a:lnL>
                    <a:lnR>
                      <a:noFill/>
                    </a:lnR>
                    <a:lnT>
                      <a:noFill/>
                    </a:lnT>
                    <a:lnB>
                      <a:noFill/>
                    </a:lnB>
                    <a:noFill/>
                  </a:tcPr>
                </a:tc>
                <a:tc>
                  <a:txBody>
                    <a:bodyPr/>
                    <a:lstStyle/>
                    <a:p>
                      <a:r>
                        <a:rPr lang="en-US" sz="1600"/>
                        <a:t>Python, JavaScript, PHP</a:t>
                      </a:r>
                      <a:endParaRPr lang="en-US" sz="1600"/>
                    </a:p>
                  </a:txBody>
                  <a:tcPr marL="80580" marR="80580" marT="40290" marB="40290" anchor="ctr">
                    <a:lnL>
                      <a:noFill/>
                    </a:lnL>
                    <a:lnR>
                      <a:noFill/>
                    </a:lnR>
                    <a:lnT>
                      <a:noFill/>
                    </a:lnT>
                    <a:lnB>
                      <a:noFill/>
                    </a:lnB>
                    <a:noFill/>
                  </a:tcPr>
                </a:tc>
              </a:tr>
              <a:tr h="438815">
                <a:tc>
                  <a:txBody>
                    <a:bodyPr/>
                    <a:lstStyle/>
                    <a:p>
                      <a:pPr algn="ctr"/>
                      <a:r>
                        <a:rPr lang="en-US" sz="1800" b="1" dirty="0"/>
                        <a:t>Memory Usage</a:t>
                      </a:r>
                      <a:endParaRPr lang="en-US" sz="1800" dirty="0"/>
                    </a:p>
                  </a:txBody>
                  <a:tcPr marL="80580" marR="80580" marT="40290" marB="40290" anchor="ctr">
                    <a:lnL>
                      <a:noFill/>
                    </a:lnL>
                    <a:lnR>
                      <a:noFill/>
                    </a:lnR>
                    <a:lnT>
                      <a:noFill/>
                    </a:lnT>
                    <a:lnB>
                      <a:noFill/>
                    </a:lnB>
                    <a:solidFill>
                      <a:schemeClr val="accent5">
                        <a:lumMod val="40000"/>
                        <a:lumOff val="60000"/>
                      </a:schemeClr>
                    </a:solidFill>
                  </a:tcPr>
                </a:tc>
                <a:tc>
                  <a:txBody>
                    <a:bodyPr/>
                    <a:lstStyle/>
                    <a:p>
                      <a:r>
                        <a:rPr lang="en-US" sz="1600" dirty="0"/>
                        <a:t>Uses </a:t>
                      </a:r>
                      <a:r>
                        <a:rPr lang="en-US" sz="1600" b="1" dirty="0"/>
                        <a:t>more memory</a:t>
                      </a:r>
                      <a:r>
                        <a:rPr lang="en-US" sz="1600" dirty="0"/>
                        <a:t> (stores compiled code)</a:t>
                      </a:r>
                      <a:endParaRPr lang="en-US" sz="1600" dirty="0"/>
                    </a:p>
                  </a:txBody>
                  <a:tcPr marL="80580" marR="80580" marT="40290" marB="40290" anchor="ctr">
                    <a:lnL>
                      <a:noFill/>
                    </a:lnL>
                    <a:lnR>
                      <a:noFill/>
                    </a:lnR>
                    <a:lnT>
                      <a:noFill/>
                    </a:lnT>
                    <a:lnB>
                      <a:noFill/>
                    </a:lnB>
                    <a:noFill/>
                  </a:tcPr>
                </a:tc>
                <a:tc>
                  <a:txBody>
                    <a:bodyPr/>
                    <a:lstStyle/>
                    <a:p>
                      <a:r>
                        <a:rPr lang="en-US" sz="1600"/>
                        <a:t>Uses </a:t>
                      </a:r>
                      <a:r>
                        <a:rPr lang="en-US" sz="1600" b="1"/>
                        <a:t>less memory</a:t>
                      </a:r>
                      <a:endParaRPr lang="en-US" sz="1600"/>
                    </a:p>
                  </a:txBody>
                  <a:tcPr marL="80580" marR="80580" marT="40290" marB="40290" anchor="ctr">
                    <a:lnL>
                      <a:noFill/>
                    </a:lnL>
                    <a:lnR>
                      <a:noFill/>
                    </a:lnR>
                    <a:lnT>
                      <a:noFill/>
                    </a:lnT>
                    <a:lnB>
                      <a:noFill/>
                    </a:lnB>
                    <a:noFill/>
                  </a:tcPr>
                </a:tc>
              </a:tr>
              <a:tr h="466318">
                <a:tc>
                  <a:txBody>
                    <a:bodyPr/>
                    <a:lstStyle/>
                    <a:p>
                      <a:pPr algn="ctr"/>
                      <a:r>
                        <a:rPr lang="en-US" sz="1800" b="1" dirty="0"/>
                        <a:t>Modification</a:t>
                      </a:r>
                      <a:endParaRPr lang="en-US" sz="1800" dirty="0"/>
                    </a:p>
                  </a:txBody>
                  <a:tcPr marL="80580" marR="80580" marT="40290" marB="40290" anchor="ctr">
                    <a:lnL>
                      <a:noFill/>
                    </a:lnL>
                    <a:lnR>
                      <a:noFill/>
                    </a:lnR>
                    <a:lnT>
                      <a:noFill/>
                    </a:lnT>
                    <a:lnB>
                      <a:noFill/>
                    </a:lnB>
                    <a:solidFill>
                      <a:schemeClr val="accent5">
                        <a:lumMod val="40000"/>
                        <a:lumOff val="60000"/>
                      </a:schemeClr>
                    </a:solidFill>
                  </a:tcPr>
                </a:tc>
                <a:tc>
                  <a:txBody>
                    <a:bodyPr/>
                    <a:lstStyle/>
                    <a:p>
                      <a:r>
                        <a:rPr lang="en-US" sz="1600"/>
                        <a:t>Needs to </a:t>
                      </a:r>
                      <a:r>
                        <a:rPr lang="en-US" sz="1600" b="1"/>
                        <a:t>recompile after every change</a:t>
                      </a:r>
                      <a:endParaRPr lang="en-US" sz="1600"/>
                    </a:p>
                  </a:txBody>
                  <a:tcPr marL="80580" marR="80580" marT="40290" marB="40290" anchor="ctr">
                    <a:lnL>
                      <a:noFill/>
                    </a:lnL>
                    <a:lnR>
                      <a:noFill/>
                    </a:lnR>
                    <a:lnT>
                      <a:noFill/>
                    </a:lnT>
                    <a:lnB>
                      <a:noFill/>
                    </a:lnB>
                    <a:noFill/>
                  </a:tcPr>
                </a:tc>
                <a:tc>
                  <a:txBody>
                    <a:bodyPr/>
                    <a:lstStyle/>
                    <a:p>
                      <a:r>
                        <a:rPr lang="en-US" sz="1600" dirty="0"/>
                        <a:t>Changes can be run </a:t>
                      </a:r>
                      <a:r>
                        <a:rPr lang="en-US" sz="1600" b="1" dirty="0"/>
                        <a:t>immediately</a:t>
                      </a:r>
                      <a:endParaRPr lang="en-US" sz="1600" dirty="0"/>
                    </a:p>
                  </a:txBody>
                  <a:tcPr marL="80580" marR="80580" marT="40290" marB="40290" anchor="ctr">
                    <a:lnL>
                      <a:noFill/>
                    </a:lnL>
                    <a:lnR>
                      <a:noFill/>
                    </a:lnR>
                    <a:lnT>
                      <a:noFill/>
                    </a:lnT>
                    <a:lnB>
                      <a:noFill/>
                    </a:lnB>
                    <a:noFill/>
                  </a:tcPr>
                </a:tc>
              </a:tr>
            </a:tbl>
          </a:graphicData>
        </a:graphic>
      </p:graphicFrame>
      <p:sp>
        <p:nvSpPr>
          <p:cNvPr id="6" name="TextBox 5"/>
          <p:cNvSpPr txBox="1"/>
          <p:nvPr/>
        </p:nvSpPr>
        <p:spPr>
          <a:xfrm>
            <a:off x="211755" y="4803791"/>
            <a:ext cx="3975234" cy="1754326"/>
          </a:xfrm>
          <a:prstGeom prst="rect">
            <a:avLst/>
          </a:prstGeom>
          <a:noFill/>
        </p:spPr>
        <p:txBody>
          <a:bodyPr wrap="square">
            <a:spAutoFit/>
          </a:bodyPr>
          <a:lstStyle/>
          <a:p>
            <a:pPr algn="ctr"/>
            <a:r>
              <a:rPr lang="en-US" b="1" dirty="0">
                <a:solidFill>
                  <a:srgbClr val="FF0000"/>
                </a:solidFill>
                <a:latin typeface="Cambria" panose="02040503050406030204" pitchFamily="18" charset="0"/>
                <a:ea typeface="Cambria" panose="02040503050406030204" pitchFamily="18" charset="0"/>
              </a:rPr>
              <a:t>Compiler Flow</a:t>
            </a:r>
            <a:endParaRPr lang="en-US" b="1" dirty="0">
              <a:solidFill>
                <a:srgbClr val="FF0000"/>
              </a:solidFill>
              <a:latin typeface="Cambria" panose="02040503050406030204" pitchFamily="18" charset="0"/>
              <a:ea typeface="Cambria" panose="02040503050406030204" pitchFamily="18" charset="0"/>
            </a:endParaRPr>
          </a:p>
          <a:p>
            <a:r>
              <a:rPr lang="en-US" dirty="0"/>
              <a:t>Source Code (.java)</a:t>
            </a:r>
            <a:endParaRPr lang="en-US" dirty="0"/>
          </a:p>
          <a:p>
            <a:r>
              <a:rPr lang="en-US" dirty="0"/>
              <a:t>       ↓ [Compiler: </a:t>
            </a:r>
            <a:r>
              <a:rPr lang="en-US" dirty="0" err="1"/>
              <a:t>javac</a:t>
            </a:r>
            <a:r>
              <a:rPr lang="en-US" dirty="0"/>
              <a:t>]</a:t>
            </a:r>
            <a:endParaRPr lang="en-US" dirty="0"/>
          </a:p>
          <a:p>
            <a:r>
              <a:rPr lang="en-US" dirty="0"/>
              <a:t>Bytecode (.class)</a:t>
            </a:r>
            <a:endParaRPr lang="en-US" dirty="0"/>
          </a:p>
          <a:p>
            <a:r>
              <a:rPr lang="en-US" dirty="0"/>
              <a:t>       ↓ [JVM]</a:t>
            </a:r>
            <a:endParaRPr lang="en-US" dirty="0"/>
          </a:p>
          <a:p>
            <a:r>
              <a:rPr lang="en-US" dirty="0"/>
              <a:t>Output</a:t>
            </a:r>
            <a:endParaRPr lang="en-US" dirty="0"/>
          </a:p>
        </p:txBody>
      </p:sp>
      <p:sp>
        <p:nvSpPr>
          <p:cNvPr id="9" name="TextBox 8"/>
          <p:cNvSpPr txBox="1"/>
          <p:nvPr/>
        </p:nvSpPr>
        <p:spPr>
          <a:xfrm>
            <a:off x="7505299" y="4942290"/>
            <a:ext cx="4295274" cy="1477328"/>
          </a:xfrm>
          <a:prstGeom prst="rect">
            <a:avLst/>
          </a:prstGeom>
          <a:noFill/>
        </p:spPr>
        <p:txBody>
          <a:bodyPr wrap="square">
            <a:spAutoFit/>
          </a:bodyPr>
          <a:lstStyle/>
          <a:p>
            <a:pPr algn="ctr"/>
            <a:r>
              <a:rPr lang="en-US" b="1" dirty="0">
                <a:solidFill>
                  <a:srgbClr val="FF0000"/>
                </a:solidFill>
              </a:rPr>
              <a:t>Interpreter Flow</a:t>
            </a:r>
            <a:endParaRPr lang="en-US" b="1" dirty="0">
              <a:solidFill>
                <a:srgbClr val="FF0000"/>
              </a:solidFill>
            </a:endParaRPr>
          </a:p>
          <a:p>
            <a:pPr algn="ctr"/>
            <a:endParaRPr lang="en-US" b="1" dirty="0">
              <a:solidFill>
                <a:srgbClr val="FF0000"/>
              </a:solidFill>
            </a:endParaRPr>
          </a:p>
          <a:p>
            <a:r>
              <a:rPr lang="en-US" dirty="0"/>
              <a:t>Source Code (Python, JAVA)</a:t>
            </a:r>
            <a:endParaRPr lang="en-US" dirty="0"/>
          </a:p>
          <a:p>
            <a:r>
              <a:rPr lang="en-US" dirty="0"/>
              <a:t>       ↓ [Interpreter]</a:t>
            </a:r>
            <a:endParaRPr lang="en-US" dirty="0"/>
          </a:p>
          <a:p>
            <a:r>
              <a:rPr lang="en-US" dirty="0"/>
              <a:t>One line → Translate → Execute → Repeat</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02" y="143744"/>
            <a:ext cx="11170920" cy="366395"/>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Introduction of </a:t>
            </a:r>
            <a:r>
              <a:rPr lang="en-US" sz="2400" b="1" dirty="0" err="1">
                <a:solidFill>
                  <a:srgbClr val="FF0000"/>
                </a:solidFill>
                <a:latin typeface="Cambria" panose="02040503050406030204" pitchFamily="18" charset="0"/>
                <a:ea typeface="Cambria" panose="02040503050406030204" pitchFamily="18" charset="0"/>
              </a:rPr>
              <a:t>Jdk</a:t>
            </a:r>
            <a:r>
              <a:rPr lang="en-US" sz="2400" b="1" dirty="0">
                <a:solidFill>
                  <a:srgbClr val="FF0000"/>
                </a:solidFill>
                <a:latin typeface="Cambria" panose="02040503050406030204" pitchFamily="18" charset="0"/>
                <a:ea typeface="Cambria" panose="02040503050406030204" pitchFamily="18" charset="0"/>
              </a:rPr>
              <a:t>, </a:t>
            </a:r>
            <a:r>
              <a:rPr lang="en-US" sz="2400" b="1" dirty="0" err="1">
                <a:solidFill>
                  <a:srgbClr val="FF0000"/>
                </a:solidFill>
                <a:latin typeface="Cambria" panose="02040503050406030204" pitchFamily="18" charset="0"/>
                <a:ea typeface="Cambria" panose="02040503050406030204" pitchFamily="18" charset="0"/>
              </a:rPr>
              <a:t>Jvm</a:t>
            </a:r>
            <a:r>
              <a:rPr lang="en-US" sz="2400" b="1" dirty="0">
                <a:solidFill>
                  <a:srgbClr val="FF0000"/>
                </a:solidFill>
                <a:latin typeface="Cambria" panose="02040503050406030204" pitchFamily="18" charset="0"/>
                <a:ea typeface="Cambria" panose="02040503050406030204" pitchFamily="18" charset="0"/>
              </a:rPr>
              <a:t>, </a:t>
            </a:r>
            <a:r>
              <a:rPr lang="en-US" sz="2400" b="1" dirty="0" err="1">
                <a:solidFill>
                  <a:srgbClr val="FF0000"/>
                </a:solidFill>
                <a:latin typeface="Cambria" panose="02040503050406030204" pitchFamily="18" charset="0"/>
                <a:ea typeface="Cambria" panose="02040503050406030204" pitchFamily="18" charset="0"/>
              </a:rPr>
              <a:t>Jre</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82879" y="564715"/>
            <a:ext cx="11742821" cy="6028589"/>
          </a:xfrm>
        </p:spPr>
        <p:txBody>
          <a:bodyPr>
            <a:noAutofit/>
          </a:bodyPr>
          <a:lstStyle/>
          <a:p>
            <a:pPr marL="0" indent="0">
              <a:buNone/>
            </a:pPr>
            <a:r>
              <a:rPr lang="en-US" sz="1800" dirty="0">
                <a:latin typeface="Cambria" panose="02040503050406030204" pitchFamily="18" charset="0"/>
                <a:ea typeface="Cambria" panose="02040503050406030204" pitchFamily="18" charset="0"/>
              </a:rPr>
              <a:t>1. JDK – Java Development Kit</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Definition:</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JDK is a software development kit used to develop Java applications. It includes the tools required to write, compile, and run Java programs.</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 </a:t>
            </a:r>
            <a:r>
              <a:rPr lang="en-US" sz="1800" b="1" dirty="0">
                <a:latin typeface="Cambria" panose="02040503050406030204" pitchFamily="18" charset="0"/>
                <a:ea typeface="Cambria" panose="02040503050406030204" pitchFamily="18" charset="0"/>
              </a:rPr>
              <a:t>What’s Included:</a:t>
            </a:r>
            <a:endParaRPr lang="en-US" sz="1800" b="1"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JRE (Java Runtime Environment)</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Compiler (</a:t>
            </a:r>
            <a:r>
              <a:rPr lang="en-US" sz="1800" dirty="0" err="1">
                <a:latin typeface="Cambria" panose="02040503050406030204" pitchFamily="18" charset="0"/>
                <a:ea typeface="Cambria" panose="02040503050406030204" pitchFamily="18" charset="0"/>
              </a:rPr>
              <a:t>javac</a:t>
            </a:r>
            <a:r>
              <a:rPr lang="en-US" sz="1800" dirty="0">
                <a:latin typeface="Cambria" panose="02040503050406030204" pitchFamily="18" charset="0"/>
                <a:ea typeface="Cambria" panose="02040503050406030204" pitchFamily="18" charset="0"/>
              </a:rPr>
              <a:t>)</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Debugger (</a:t>
            </a:r>
            <a:r>
              <a:rPr lang="en-US" sz="1800" dirty="0" err="1">
                <a:latin typeface="Cambria" panose="02040503050406030204" pitchFamily="18" charset="0"/>
                <a:ea typeface="Cambria" panose="02040503050406030204" pitchFamily="18" charset="0"/>
              </a:rPr>
              <a:t>jdb</a:t>
            </a:r>
            <a:r>
              <a:rPr lang="en-US" sz="1800" dirty="0">
                <a:latin typeface="Cambria" panose="02040503050406030204" pitchFamily="18" charset="0"/>
                <a:ea typeface="Cambria" panose="02040503050406030204" pitchFamily="18" charset="0"/>
              </a:rPr>
              <a:t>)</a:t>
            </a:r>
            <a:endParaRPr lang="en-US" sz="1800" dirty="0">
              <a:latin typeface="Cambria" panose="02040503050406030204" pitchFamily="18" charset="0"/>
              <a:ea typeface="Cambria" panose="02040503050406030204" pitchFamily="18" charset="0"/>
            </a:endParaRPr>
          </a:p>
          <a:p>
            <a:pPr marL="0" indent="0">
              <a:buNone/>
            </a:pPr>
            <a:r>
              <a:rPr lang="en-US" sz="1800" dirty="0" err="1">
                <a:latin typeface="Cambria" panose="02040503050406030204" pitchFamily="18" charset="0"/>
                <a:ea typeface="Cambria" panose="02040503050406030204" pitchFamily="18" charset="0"/>
              </a:rPr>
              <a:t>JavaDoc</a:t>
            </a:r>
            <a:r>
              <a:rPr lang="en-US" sz="1800" dirty="0">
                <a:latin typeface="Cambria" panose="02040503050406030204" pitchFamily="18" charset="0"/>
                <a:ea typeface="Cambria" panose="02040503050406030204" pitchFamily="18" charset="0"/>
              </a:rPr>
              <a:t> tool</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Jar tool</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Other developer tools</a:t>
            </a:r>
            <a:endParaRPr lang="en-US" sz="1800" dirty="0">
              <a:latin typeface="Cambria" panose="02040503050406030204" pitchFamily="18" charset="0"/>
              <a:ea typeface="Cambria" panose="02040503050406030204" pitchFamily="18" charset="0"/>
            </a:endParaRPr>
          </a:p>
          <a:p>
            <a:pPr marL="0" indent="0">
              <a:buNone/>
            </a:pP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 Example:</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When you write and compile a Java program using:</a:t>
            </a:r>
            <a:endParaRPr lang="en-US" sz="1800" dirty="0">
              <a:latin typeface="Cambria" panose="02040503050406030204" pitchFamily="18" charset="0"/>
              <a:ea typeface="Cambria" panose="02040503050406030204" pitchFamily="18" charset="0"/>
            </a:endParaRPr>
          </a:p>
          <a:p>
            <a:pPr marL="0" indent="0">
              <a:buNone/>
            </a:pPr>
            <a:r>
              <a:rPr lang="en-US" sz="1800" dirty="0" err="1">
                <a:latin typeface="Cambria" panose="02040503050406030204" pitchFamily="18" charset="0"/>
                <a:ea typeface="Cambria" panose="02040503050406030204" pitchFamily="18" charset="0"/>
              </a:rPr>
              <a:t>javac</a:t>
            </a:r>
            <a:r>
              <a:rPr lang="en-US" sz="1800" dirty="0">
                <a:latin typeface="Cambria" panose="02040503050406030204" pitchFamily="18" charset="0"/>
                <a:ea typeface="Cambria" panose="02040503050406030204" pitchFamily="18" charset="0"/>
              </a:rPr>
              <a:t> HelloWorld.java</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JDK is required by developers.</a:t>
            </a:r>
            <a:endParaRPr lang="en-US" sz="1800" dirty="0">
              <a:latin typeface="Cambria" panose="02040503050406030204" pitchFamily="18" charset="0"/>
              <a:ea typeface="Cambria" panose="02040503050406030204" pitchFamily="18" charset="0"/>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092164" y="1732412"/>
            <a:ext cx="6833536" cy="4293003"/>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754" y="0"/>
            <a:ext cx="11219046" cy="299018"/>
          </a:xfrm>
        </p:spPr>
        <p:txBody>
          <a:bodyPr>
            <a:noAutofit/>
          </a:bodyPr>
          <a:lstStyle/>
          <a:p>
            <a:r>
              <a:rPr lang="en-US" sz="2000" b="1" dirty="0">
                <a:solidFill>
                  <a:srgbClr val="FF0000"/>
                </a:solidFill>
                <a:latin typeface="Cambria" panose="02040503050406030204" pitchFamily="18" charset="0"/>
                <a:ea typeface="Cambria" panose="02040503050406030204" pitchFamily="18" charset="0"/>
              </a:rPr>
              <a:t>Components of JDK</a:t>
            </a:r>
            <a:endParaRPr lang="en-US" sz="20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34753" y="299018"/>
            <a:ext cx="11454063" cy="6409790"/>
          </a:xfrm>
        </p:spPr>
        <p:txBody>
          <a:bodyPr>
            <a:noAutofit/>
          </a:bodyPr>
          <a:lstStyle/>
          <a:p>
            <a:r>
              <a:rPr lang="en-US" sz="1800" b="1" i="0" u="none" strike="noStrike" baseline="0" dirty="0">
                <a:latin typeface="Cambria" panose="02040503050406030204" pitchFamily="18" charset="0"/>
                <a:ea typeface="Cambria" panose="02040503050406030204" pitchFamily="18" charset="0"/>
              </a:rPr>
              <a:t>Important Components of JDK </a:t>
            </a:r>
            <a:endParaRPr lang="en-US" sz="1800" b="0" i="0" u="none" strike="noStrike" baseline="0" dirty="0">
              <a:latin typeface="Cambria" panose="02040503050406030204" pitchFamily="18" charset="0"/>
              <a:ea typeface="Cambria" panose="02040503050406030204" pitchFamily="18" charset="0"/>
            </a:endParaRPr>
          </a:p>
          <a:p>
            <a:r>
              <a:rPr lang="fr-FR" sz="1800" b="0" i="0" u="none" strike="noStrike" baseline="0" dirty="0" err="1">
                <a:latin typeface="Cambria" panose="02040503050406030204" pitchFamily="18" charset="0"/>
                <a:ea typeface="Cambria" panose="02040503050406030204" pitchFamily="18" charset="0"/>
              </a:rPr>
              <a:t>javac</a:t>
            </a:r>
            <a:r>
              <a:rPr lang="fr-FR" sz="1800" b="0" i="0" u="none" strike="noStrike" baseline="0" dirty="0">
                <a:latin typeface="Cambria" panose="02040503050406030204" pitchFamily="18" charset="0"/>
                <a:ea typeface="Cambria" panose="02040503050406030204" pitchFamily="18" charset="0"/>
              </a:rPr>
              <a:t>- Java compiler </a:t>
            </a:r>
            <a:r>
              <a:rPr lang="fr-FR" sz="1800" b="0" i="0" u="none" strike="noStrike" baseline="0" dirty="0" err="1">
                <a:latin typeface="Cambria" panose="02040503050406030204" pitchFamily="18" charset="0"/>
                <a:ea typeface="Cambria" panose="02040503050406030204" pitchFamily="18" charset="0"/>
              </a:rPr>
              <a:t>converts</a:t>
            </a:r>
            <a:r>
              <a:rPr lang="fr-FR" sz="1800" b="0" i="0" u="none" strike="noStrike" baseline="0" dirty="0">
                <a:latin typeface="Cambria" panose="02040503050406030204" pitchFamily="18" charset="0"/>
                <a:ea typeface="Cambria" panose="02040503050406030204" pitchFamily="18" charset="0"/>
              </a:rPr>
              <a:t> source code </a:t>
            </a:r>
            <a:r>
              <a:rPr lang="fr-FR" sz="1800" b="0" i="0" u="none" strike="noStrike" baseline="0" dirty="0" err="1">
                <a:latin typeface="Cambria" panose="02040503050406030204" pitchFamily="18" charset="0"/>
                <a:ea typeface="Cambria" panose="02040503050406030204" pitchFamily="18" charset="0"/>
              </a:rPr>
              <a:t>into</a:t>
            </a:r>
            <a:r>
              <a:rPr lang="fr-FR" sz="1800" b="0" i="0" u="none" strike="noStrike" baseline="0" dirty="0">
                <a:latin typeface="Cambria" panose="02040503050406030204" pitchFamily="18" charset="0"/>
                <a:ea typeface="Cambria" panose="02040503050406030204" pitchFamily="18" charset="0"/>
              </a:rPr>
              <a:t> Java </a:t>
            </a:r>
            <a:r>
              <a:rPr lang="fr-FR" sz="1800" b="0" i="0" u="none" strike="noStrike" baseline="0" dirty="0" err="1">
                <a:latin typeface="Cambria" panose="02040503050406030204" pitchFamily="18" charset="0"/>
                <a:ea typeface="Cambria" panose="02040503050406030204" pitchFamily="18" charset="0"/>
              </a:rPr>
              <a:t>bytecode</a:t>
            </a:r>
            <a:r>
              <a:rPr lang="fr-FR" sz="1800" b="0" i="0" u="none" strike="noStrike" baseline="0" dirty="0">
                <a:latin typeface="Cambria" panose="02040503050406030204" pitchFamily="18" charset="0"/>
                <a:ea typeface="Cambria" panose="02040503050406030204" pitchFamily="18" charset="0"/>
              </a:rPr>
              <a:t> </a:t>
            </a:r>
            <a:endParaRPr lang="fr-FR" sz="1800" b="0" i="0" u="none" strike="noStrike" baseline="0" dirty="0">
              <a:latin typeface="Cambria" panose="02040503050406030204" pitchFamily="18" charset="0"/>
              <a:ea typeface="Cambria" panose="02040503050406030204" pitchFamily="18" charset="0"/>
            </a:endParaRPr>
          </a:p>
          <a:p>
            <a:r>
              <a:rPr lang="en-US" sz="1800" b="0" i="0" u="none" strike="noStrike" baseline="0" dirty="0">
                <a:latin typeface="Cambria" panose="02040503050406030204" pitchFamily="18" charset="0"/>
                <a:ea typeface="Cambria" panose="02040503050406030204" pitchFamily="18" charset="0"/>
              </a:rPr>
              <a:t>java - The loader of the java apps. </a:t>
            </a:r>
            <a:endParaRPr lang="en-US" sz="1800" b="0" i="0" u="none" strike="noStrike" baseline="0" dirty="0">
              <a:latin typeface="Cambria" panose="02040503050406030204" pitchFamily="18" charset="0"/>
              <a:ea typeface="Cambria" panose="02040503050406030204" pitchFamily="18" charset="0"/>
            </a:endParaRPr>
          </a:p>
          <a:p>
            <a:r>
              <a:rPr lang="en-US" sz="1800" b="0" i="0" u="none" strike="noStrike" baseline="0" dirty="0" err="1">
                <a:latin typeface="Cambria" panose="02040503050406030204" pitchFamily="18" charset="0"/>
                <a:ea typeface="Cambria" panose="02040503050406030204" pitchFamily="18" charset="0"/>
              </a:rPr>
              <a:t>javap</a:t>
            </a:r>
            <a:r>
              <a:rPr lang="en-US" sz="1800" b="0" i="0" u="none" strike="noStrike" baseline="0" dirty="0">
                <a:latin typeface="Cambria" panose="02040503050406030204" pitchFamily="18" charset="0"/>
                <a:ea typeface="Cambria" panose="02040503050406030204" pitchFamily="18" charset="0"/>
              </a:rPr>
              <a:t>- Class file disassembler, </a:t>
            </a:r>
            <a:endParaRPr lang="en-US" sz="1800" b="0" i="0" u="none" strike="noStrike" baseline="0" dirty="0">
              <a:latin typeface="Cambria" panose="02040503050406030204" pitchFamily="18" charset="0"/>
              <a:ea typeface="Cambria" panose="02040503050406030204" pitchFamily="18" charset="0"/>
            </a:endParaRPr>
          </a:p>
          <a:p>
            <a:r>
              <a:rPr lang="en-US" sz="1800" b="0" i="0" u="none" strike="noStrike" baseline="0" dirty="0" err="1">
                <a:latin typeface="Cambria" panose="02040503050406030204" pitchFamily="18" charset="0"/>
                <a:ea typeface="Cambria" panose="02040503050406030204" pitchFamily="18" charset="0"/>
              </a:rPr>
              <a:t>javadoc</a:t>
            </a:r>
            <a:r>
              <a:rPr lang="en-US" sz="1800" b="0" i="0" u="none" strike="noStrike" baseline="0" dirty="0">
                <a:latin typeface="Cambria" panose="02040503050406030204" pitchFamily="18" charset="0"/>
                <a:ea typeface="Cambria" panose="02040503050406030204" pitchFamily="18" charset="0"/>
              </a:rPr>
              <a:t> - Documentation generator, </a:t>
            </a:r>
            <a:endParaRPr lang="en-US" sz="1800" b="0" i="0" u="none" strike="noStrike" baseline="0" dirty="0">
              <a:latin typeface="Cambria" panose="02040503050406030204" pitchFamily="18" charset="0"/>
              <a:ea typeface="Cambria" panose="02040503050406030204" pitchFamily="18" charset="0"/>
            </a:endParaRPr>
          </a:p>
          <a:p>
            <a:r>
              <a:rPr lang="en-US" sz="1800" b="0" i="0" u="none" strike="noStrike" baseline="0" dirty="0">
                <a:latin typeface="Cambria" panose="02040503050406030204" pitchFamily="18" charset="0"/>
                <a:ea typeface="Cambria" panose="02040503050406030204" pitchFamily="18" charset="0"/>
              </a:rPr>
              <a:t>jar - Java Archiver helps manage JAR files. </a:t>
            </a:r>
            <a:endParaRPr lang="en-US" sz="1800" b="0" i="0" u="none" strike="noStrike" baseline="0" dirty="0">
              <a:latin typeface="Cambria" panose="02040503050406030204" pitchFamily="18" charset="0"/>
              <a:ea typeface="Cambria" panose="02040503050406030204" pitchFamily="18" charset="0"/>
            </a:endParaRPr>
          </a:p>
          <a:p>
            <a:r>
              <a:rPr lang="en-US" sz="1800" b="0" i="0" u="none" strike="noStrike" baseline="0" dirty="0" err="1">
                <a:latin typeface="Cambria" panose="02040503050406030204" pitchFamily="18" charset="0"/>
                <a:ea typeface="Cambria" panose="02040503050406030204" pitchFamily="18" charset="0"/>
              </a:rPr>
              <a:t>appletviewer</a:t>
            </a:r>
            <a:r>
              <a:rPr lang="en-US" sz="1800" b="0" i="0" u="none" strike="noStrike" baseline="0" dirty="0">
                <a:latin typeface="Cambria" panose="02040503050406030204" pitchFamily="18" charset="0"/>
                <a:ea typeface="Cambria" panose="02040503050406030204" pitchFamily="18" charset="0"/>
              </a:rPr>
              <a:t>- Debugging of Java applets without a web browser, </a:t>
            </a:r>
            <a:endParaRPr lang="en-US" sz="1800" b="0" i="0" u="none" strike="noStrike" baseline="0" dirty="0">
              <a:latin typeface="Cambria" panose="02040503050406030204" pitchFamily="18" charset="0"/>
              <a:ea typeface="Cambria" panose="02040503050406030204" pitchFamily="18" charset="0"/>
            </a:endParaRPr>
          </a:p>
          <a:p>
            <a:r>
              <a:rPr lang="en-US" sz="1800" b="0" i="0" u="none" strike="noStrike" baseline="0" dirty="0" err="1">
                <a:latin typeface="Cambria" panose="02040503050406030204" pitchFamily="18" charset="0"/>
                <a:ea typeface="Cambria" panose="02040503050406030204" pitchFamily="18" charset="0"/>
              </a:rPr>
              <a:t>xjc</a:t>
            </a:r>
            <a:r>
              <a:rPr lang="en-US" sz="1800" b="0" i="0" u="none" strike="noStrike" baseline="0" dirty="0">
                <a:latin typeface="Cambria" panose="02040503050406030204" pitchFamily="18" charset="0"/>
                <a:ea typeface="Cambria" panose="02040503050406030204" pitchFamily="18" charset="0"/>
              </a:rPr>
              <a:t> - Accepts an XML schema and generates Java classes, </a:t>
            </a:r>
            <a:endParaRPr lang="en-US" sz="1800" b="0" i="0" u="none" strike="noStrike" baseline="0" dirty="0">
              <a:latin typeface="Cambria" panose="02040503050406030204" pitchFamily="18" charset="0"/>
              <a:ea typeface="Cambria" panose="02040503050406030204" pitchFamily="18" charset="0"/>
            </a:endParaRPr>
          </a:p>
          <a:p>
            <a:r>
              <a:rPr lang="en-US" sz="1800" b="0" i="0" u="none" strike="noStrike" baseline="0" dirty="0">
                <a:latin typeface="Cambria" panose="02040503050406030204" pitchFamily="18" charset="0"/>
                <a:ea typeface="Cambria" panose="02040503050406030204" pitchFamily="18" charset="0"/>
              </a:rPr>
              <a:t>apt- Annotation-processing tool, </a:t>
            </a:r>
            <a:endParaRPr lang="en-US" sz="1800" b="0" i="0" u="none" strike="noStrike" baseline="0" dirty="0">
              <a:latin typeface="Cambria" panose="02040503050406030204" pitchFamily="18" charset="0"/>
              <a:ea typeface="Cambria" panose="02040503050406030204" pitchFamily="18" charset="0"/>
            </a:endParaRPr>
          </a:p>
          <a:p>
            <a:r>
              <a:rPr lang="en-US" sz="1800" b="0" i="0" u="none" strike="noStrike" baseline="0" dirty="0" err="1">
                <a:latin typeface="Cambria" panose="02040503050406030204" pitchFamily="18" charset="0"/>
                <a:ea typeface="Cambria" panose="02040503050406030204" pitchFamily="18" charset="0"/>
              </a:rPr>
              <a:t>jdb</a:t>
            </a:r>
            <a:r>
              <a:rPr lang="en-US" sz="1800" b="0" i="0" u="none" strike="noStrike" baseline="0" dirty="0">
                <a:latin typeface="Cambria" panose="02040503050406030204" pitchFamily="18" charset="0"/>
                <a:ea typeface="Cambria" panose="02040503050406030204" pitchFamily="18" charset="0"/>
              </a:rPr>
              <a:t>- Debugger, </a:t>
            </a:r>
            <a:endParaRPr lang="en-US" sz="1800" b="0" i="0" u="none" strike="noStrike" baseline="0" dirty="0">
              <a:latin typeface="Cambria" panose="02040503050406030204" pitchFamily="18" charset="0"/>
              <a:ea typeface="Cambria" panose="02040503050406030204" pitchFamily="18" charset="0"/>
            </a:endParaRPr>
          </a:p>
          <a:p>
            <a:r>
              <a:rPr lang="en-US" sz="1800" b="0" i="0" u="none" strike="noStrike" baseline="0" dirty="0" err="1">
                <a:latin typeface="Cambria" panose="02040503050406030204" pitchFamily="18" charset="0"/>
                <a:ea typeface="Cambria" panose="02040503050406030204" pitchFamily="18" charset="0"/>
              </a:rPr>
              <a:t>jmc</a:t>
            </a:r>
            <a:r>
              <a:rPr lang="en-US" sz="1800" b="0" i="0" u="none" strike="noStrike" baseline="0" dirty="0">
                <a:latin typeface="Cambria" panose="02040503050406030204" pitchFamily="18" charset="0"/>
                <a:ea typeface="Cambria" panose="02040503050406030204" pitchFamily="18" charset="0"/>
              </a:rPr>
              <a:t>- Java Mission Control, </a:t>
            </a:r>
            <a:endParaRPr lang="en-US" sz="1800" b="0" i="0" u="none" strike="noStrike" baseline="0" dirty="0">
              <a:latin typeface="Cambria" panose="02040503050406030204" pitchFamily="18" charset="0"/>
              <a:ea typeface="Cambria" panose="02040503050406030204" pitchFamily="18" charset="0"/>
            </a:endParaRPr>
          </a:p>
          <a:p>
            <a:r>
              <a:rPr lang="en-US" sz="1800" b="0" i="0" u="none" strike="noStrike" baseline="0" dirty="0" err="1">
                <a:latin typeface="Cambria" panose="02040503050406030204" pitchFamily="18" charset="0"/>
                <a:ea typeface="Cambria" panose="02040503050406030204" pitchFamily="18" charset="0"/>
              </a:rPr>
              <a:t>JConsole</a:t>
            </a:r>
            <a:r>
              <a:rPr lang="en-US" sz="1800" b="0" i="0" u="none" strike="noStrike" baseline="0" dirty="0">
                <a:latin typeface="Cambria" panose="02040503050406030204" pitchFamily="18" charset="0"/>
                <a:ea typeface="Cambria" panose="02040503050406030204" pitchFamily="18" charset="0"/>
              </a:rPr>
              <a:t>- Monitoring and Management Console, </a:t>
            </a:r>
            <a:endParaRPr lang="en-US" sz="1800" b="0" i="0" u="none" strike="noStrike" baseline="0" dirty="0">
              <a:latin typeface="Cambria" panose="02040503050406030204" pitchFamily="18" charset="0"/>
              <a:ea typeface="Cambria" panose="02040503050406030204" pitchFamily="18" charset="0"/>
            </a:endParaRPr>
          </a:p>
          <a:p>
            <a:r>
              <a:rPr lang="en-US" sz="1800" b="0" i="0" u="none" strike="noStrike" baseline="0" dirty="0">
                <a:latin typeface="Cambria" panose="02040503050406030204" pitchFamily="18" charset="0"/>
                <a:ea typeface="Cambria" panose="02040503050406030204" pitchFamily="18" charset="0"/>
              </a:rPr>
              <a:t>pack200 - JAR compression tool, </a:t>
            </a:r>
            <a:endParaRPr lang="en-US" sz="1800" b="0" i="0" u="none" strike="noStrike" baseline="0" dirty="0">
              <a:latin typeface="Cambria" panose="02040503050406030204" pitchFamily="18" charset="0"/>
              <a:ea typeface="Cambria" panose="02040503050406030204" pitchFamily="18" charset="0"/>
            </a:endParaRPr>
          </a:p>
          <a:p>
            <a:r>
              <a:rPr lang="en-US" sz="1800" b="0" i="0" u="none" strike="noStrike" baseline="0" dirty="0" err="1">
                <a:latin typeface="Cambria" panose="02040503050406030204" pitchFamily="18" charset="0"/>
                <a:ea typeface="Cambria" panose="02040503050406030204" pitchFamily="18" charset="0"/>
              </a:rPr>
              <a:t>extcheck</a:t>
            </a:r>
            <a:r>
              <a:rPr lang="en-US" sz="1800" b="0" i="0" u="none" strike="noStrike" baseline="0" dirty="0">
                <a:latin typeface="Cambria" panose="02040503050406030204" pitchFamily="18" charset="0"/>
                <a:ea typeface="Cambria" panose="02040503050406030204" pitchFamily="18" charset="0"/>
              </a:rPr>
              <a:t>- Utility tool to detects JAR file conflicts, </a:t>
            </a:r>
            <a:endParaRPr lang="en-US" sz="1800" b="0" i="0" u="none" strike="noStrike" baseline="0" dirty="0">
              <a:latin typeface="Cambria" panose="02040503050406030204" pitchFamily="18" charset="0"/>
              <a:ea typeface="Cambria" panose="02040503050406030204" pitchFamily="18" charset="0"/>
            </a:endParaRPr>
          </a:p>
          <a:p>
            <a:r>
              <a:rPr lang="en-US" sz="1800" b="0" i="0" u="none" strike="noStrike" baseline="0" dirty="0" err="1">
                <a:latin typeface="Cambria" panose="02040503050406030204" pitchFamily="18" charset="0"/>
                <a:ea typeface="Cambria" panose="02040503050406030204" pitchFamily="18" charset="0"/>
              </a:rPr>
              <a:t>idlj</a:t>
            </a:r>
            <a:r>
              <a:rPr lang="en-US" sz="1800" b="0" i="0" u="none" strike="noStrike" baseline="0" dirty="0">
                <a:latin typeface="Cambria" panose="02040503050406030204" pitchFamily="18" charset="0"/>
                <a:ea typeface="Cambria" panose="02040503050406030204" pitchFamily="18" charset="0"/>
              </a:rPr>
              <a:t>- IDL-to-Java compiler, </a:t>
            </a:r>
            <a:endParaRPr lang="en-US" sz="1800" b="0" i="0" u="none" strike="noStrike" baseline="0" dirty="0">
              <a:latin typeface="Cambria" panose="02040503050406030204" pitchFamily="18" charset="0"/>
              <a:ea typeface="Cambria" panose="02040503050406030204" pitchFamily="18" charset="0"/>
            </a:endParaRPr>
          </a:p>
          <a:p>
            <a:r>
              <a:rPr lang="en-US" sz="1800" b="0" i="0" u="none" strike="noStrike" baseline="0" dirty="0" err="1">
                <a:latin typeface="Cambria" panose="02040503050406030204" pitchFamily="18" charset="0"/>
                <a:ea typeface="Cambria" panose="02040503050406030204" pitchFamily="18" charset="0"/>
              </a:rPr>
              <a:t>keytool</a:t>
            </a:r>
            <a:r>
              <a:rPr lang="en-US" sz="1800" b="0" i="0" u="none" strike="noStrike" baseline="0" dirty="0">
                <a:latin typeface="Cambria" panose="02040503050406030204" pitchFamily="18" charset="0"/>
                <a:ea typeface="Cambria" panose="02040503050406030204" pitchFamily="18" charset="0"/>
              </a:rPr>
              <a:t>- The keystore manipulating tool, </a:t>
            </a:r>
            <a:endParaRPr lang="en-US" sz="1800" b="0" i="0" u="none" strike="noStrike" baseline="0" dirty="0">
              <a:latin typeface="Cambria" panose="02040503050406030204" pitchFamily="18" charset="0"/>
              <a:ea typeface="Cambria" panose="02040503050406030204" pitchFamily="18" charset="0"/>
            </a:endParaRPr>
          </a:p>
          <a:p>
            <a:r>
              <a:rPr lang="en-US" sz="1800" b="0" i="0" u="none" strike="noStrike" baseline="0" dirty="0" err="1">
                <a:latin typeface="Cambria" panose="02040503050406030204" pitchFamily="18" charset="0"/>
                <a:ea typeface="Cambria" panose="02040503050406030204" pitchFamily="18" charset="0"/>
              </a:rPr>
              <a:t>jstatd</a:t>
            </a:r>
            <a:r>
              <a:rPr lang="en-US" sz="1800" b="0" i="0" u="none" strike="noStrike" baseline="0" dirty="0">
                <a:latin typeface="Cambria" panose="02040503050406030204" pitchFamily="18" charset="0"/>
                <a:ea typeface="Cambria" panose="02040503050406030204" pitchFamily="18" charset="0"/>
              </a:rPr>
              <a:t>- </a:t>
            </a:r>
            <a:r>
              <a:rPr lang="en-US" sz="1800" b="0" i="0" u="none" strike="noStrike" baseline="0" dirty="0" err="1">
                <a:latin typeface="Cambria" panose="02040503050406030204" pitchFamily="18" charset="0"/>
                <a:ea typeface="Cambria" panose="02040503050406030204" pitchFamily="18" charset="0"/>
              </a:rPr>
              <a:t>jstat</a:t>
            </a:r>
            <a:r>
              <a:rPr lang="en-US" sz="1800" b="0" i="0" u="none" strike="noStrike" baseline="0" dirty="0">
                <a:latin typeface="Cambria" panose="02040503050406030204" pitchFamily="18" charset="0"/>
                <a:ea typeface="Cambria" panose="02040503050406030204" pitchFamily="18" charset="0"/>
              </a:rPr>
              <a:t> daemon (experimental)      </a:t>
            </a:r>
            <a:r>
              <a:rPr lang="en-US" sz="1800" b="0" i="0" u="none" strike="noStrike" baseline="0" dirty="0" err="1">
                <a:latin typeface="Cambria" panose="02040503050406030204" pitchFamily="18" charset="0"/>
                <a:ea typeface="Cambria" panose="02040503050406030204" pitchFamily="18" charset="0"/>
              </a:rPr>
              <a:t>jstat</a:t>
            </a:r>
            <a:r>
              <a:rPr lang="en-US" sz="1800" b="0" i="0" u="none" strike="noStrike" baseline="0" dirty="0">
                <a:latin typeface="Cambria" panose="02040503050406030204" pitchFamily="18" charset="0"/>
                <a:ea typeface="Cambria" panose="02040503050406030204" pitchFamily="18" charset="0"/>
              </a:rPr>
              <a:t>- JVM statistics monitoring tool </a:t>
            </a:r>
            <a:endParaRPr lang="en-US" sz="1800" b="0" i="0" u="none" strike="noStrike" baseline="0" dirty="0">
              <a:latin typeface="Cambria" panose="02040503050406030204" pitchFamily="18" charset="0"/>
              <a:ea typeface="Cambria" panose="02040503050406030204" pitchFamily="18" charset="0"/>
            </a:endParaRPr>
          </a:p>
          <a:p>
            <a:endParaRPr lang="en-US" sz="1800" dirty="0">
              <a:latin typeface="Cambria" panose="02040503050406030204" pitchFamily="18" charset="0"/>
              <a:ea typeface="Cambria" panose="020405030504060302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878" y="114869"/>
            <a:ext cx="11142044" cy="376019"/>
          </a:xfrm>
        </p:spPr>
        <p:txBody>
          <a:bodyPr>
            <a:noAutofit/>
          </a:bodyPr>
          <a:lstStyle/>
          <a:p>
            <a:r>
              <a:rPr lang="en-US" sz="2400" b="1" dirty="0">
                <a:solidFill>
                  <a:srgbClr val="FF0000"/>
                </a:solidFill>
                <a:latin typeface="Cambria" panose="02040503050406030204" pitchFamily="18" charset="0"/>
                <a:ea typeface="Cambria" panose="02040503050406030204" pitchFamily="18" charset="0"/>
              </a:rPr>
              <a:t>JRE</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05877" y="564715"/>
            <a:ext cx="11954577" cy="6178416"/>
          </a:xfrm>
        </p:spPr>
        <p:txBody>
          <a:bodyPr>
            <a:noAutofit/>
          </a:bodyPr>
          <a:lstStyle/>
          <a:p>
            <a:pPr marL="0" indent="0">
              <a:buNone/>
            </a:pPr>
            <a:r>
              <a:rPr lang="en-US" sz="1800" dirty="0">
                <a:latin typeface="Cambria" panose="02040503050406030204" pitchFamily="18" charset="0"/>
                <a:ea typeface="Cambria" panose="02040503050406030204" pitchFamily="18" charset="0"/>
              </a:rPr>
              <a:t>🔹 2. JRE – Java Runtime Environment</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Definition:</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JRE provides the environment required to run Java applications. It includes the JVM and standard Java libraries (APIs).</a:t>
            </a:r>
            <a:endParaRPr lang="en-US" sz="1800" dirty="0">
              <a:latin typeface="Cambria" panose="02040503050406030204" pitchFamily="18" charset="0"/>
              <a:ea typeface="Cambria" panose="02040503050406030204" pitchFamily="18" charset="0"/>
            </a:endParaRPr>
          </a:p>
          <a:p>
            <a:pPr marL="0" indent="0">
              <a:buNone/>
            </a:pPr>
            <a:r>
              <a:rPr lang="en-US" sz="1800" b="0" i="0" u="none" strike="noStrike" baseline="0" dirty="0">
                <a:latin typeface="Cambria" panose="02040503050406030204" pitchFamily="18" charset="0"/>
                <a:ea typeface="Cambria" panose="02040503050406030204" pitchFamily="18" charset="0"/>
              </a:rPr>
              <a:t>JDK includes JRE. </a:t>
            </a:r>
            <a:endParaRPr lang="en-US" sz="1800" b="0" i="0" u="none" strike="noStrike" baseline="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 </a:t>
            </a:r>
            <a:r>
              <a:rPr lang="en-US" sz="1800" b="1" dirty="0">
                <a:latin typeface="Cambria" panose="02040503050406030204" pitchFamily="18" charset="0"/>
                <a:ea typeface="Cambria" panose="02040503050406030204" pitchFamily="18" charset="0"/>
              </a:rPr>
              <a:t>What’s Included:</a:t>
            </a:r>
            <a:endParaRPr lang="en-US" sz="1800" b="1"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JVM (Java Virtual Machine)</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Core Java libraries (e.g., </a:t>
            </a:r>
            <a:r>
              <a:rPr lang="en-US" sz="1800" dirty="0" err="1">
                <a:latin typeface="Cambria" panose="02040503050406030204" pitchFamily="18" charset="0"/>
                <a:ea typeface="Cambria" panose="02040503050406030204" pitchFamily="18" charset="0"/>
              </a:rPr>
              <a:t>java.lang</a:t>
            </a:r>
            <a:r>
              <a:rPr lang="en-US" sz="1800" dirty="0">
                <a:latin typeface="Cambria" panose="02040503050406030204" pitchFamily="18" charset="0"/>
                <a:ea typeface="Cambria" panose="02040503050406030204" pitchFamily="18" charset="0"/>
              </a:rPr>
              <a:t>, java.io)</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Supporting files</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 What It Does:</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It does not include development tools like the compiler</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 — just enough to execute Java programs.</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JRE is needed by end users who only want to run Java apps.</a:t>
            </a:r>
            <a:endParaRPr lang="en-US" sz="1800" dirty="0">
              <a:latin typeface="Cambria" panose="02040503050406030204" pitchFamily="18" charset="0"/>
              <a:ea typeface="Cambria" panose="02040503050406030204" pitchFamily="18" charset="0"/>
            </a:endParaRPr>
          </a:p>
          <a:p>
            <a:r>
              <a:rPr lang="en-US" sz="1800" b="0" i="0" u="none" strike="noStrike" baseline="0" dirty="0">
                <a:latin typeface="Cambria" panose="02040503050406030204" pitchFamily="18" charset="0"/>
                <a:ea typeface="Cambria" panose="02040503050406030204" pitchFamily="18" charset="0"/>
              </a:rPr>
              <a:t>JRE installation on our computers allows the</a:t>
            </a:r>
            <a:endParaRPr lang="en-US" sz="1800" b="0" i="0" u="none" strike="noStrike" baseline="0" dirty="0">
              <a:latin typeface="Cambria" panose="02040503050406030204" pitchFamily="18" charset="0"/>
              <a:ea typeface="Cambria" panose="02040503050406030204" pitchFamily="18" charset="0"/>
            </a:endParaRPr>
          </a:p>
          <a:p>
            <a:r>
              <a:rPr lang="en-US" sz="1800" b="0" i="0" u="none" strike="noStrike" baseline="0" dirty="0">
                <a:latin typeface="Cambria" panose="02040503050406030204" pitchFamily="18" charset="0"/>
                <a:ea typeface="Cambria" panose="02040503050406030204" pitchFamily="18" charset="0"/>
              </a:rPr>
              <a:t> java program to run.  we cannot compile it. </a:t>
            </a:r>
            <a:endParaRPr lang="en-US" sz="1800" b="0" i="0" u="none" strike="noStrike" baseline="0" dirty="0">
              <a:latin typeface="Cambria" panose="02040503050406030204" pitchFamily="18" charset="0"/>
              <a:ea typeface="Cambria" panose="02040503050406030204" pitchFamily="18" charset="0"/>
            </a:endParaRPr>
          </a:p>
          <a:p>
            <a:r>
              <a:rPr lang="en-US" sz="1800" b="0" i="0" u="none" strike="noStrike" baseline="0" dirty="0">
                <a:latin typeface="Cambria" panose="02040503050406030204" pitchFamily="18" charset="0"/>
                <a:ea typeface="Cambria" panose="02040503050406030204" pitchFamily="18" charset="0"/>
              </a:rPr>
              <a:t>JRE includes a browser, JVM, applet supports, and plugins. For running the java program, a computer needs JRE. </a:t>
            </a:r>
            <a:endParaRPr lang="en-US" sz="1800" b="0" i="0" u="none" strike="noStrike" baseline="0" dirty="0">
              <a:latin typeface="Cambria" panose="02040503050406030204" pitchFamily="18" charset="0"/>
              <a:ea typeface="Cambria" panose="02040503050406030204" pitchFamily="18" charset="0"/>
            </a:endParaRPr>
          </a:p>
          <a:p>
            <a:pPr marL="0" indent="0">
              <a:buNone/>
            </a:pPr>
            <a:endParaRPr lang="en-US" sz="1800" dirty="0">
              <a:latin typeface="Cambria" panose="02040503050406030204" pitchFamily="18" charset="0"/>
              <a:ea typeface="Cambria" panose="02040503050406030204" pitchFamily="18" charset="0"/>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343048" y="1673843"/>
            <a:ext cx="5621154" cy="4014688"/>
          </a:xfrm>
          <a:prstGeom prst="rect">
            <a:avLst/>
          </a:prstGeom>
          <a:noFill/>
          <a:ln>
            <a:noFill/>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375385"/>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JVM</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77804" y="409466"/>
            <a:ext cx="11520638" cy="3989279"/>
          </a:xfrm>
        </p:spPr>
        <p:txBody>
          <a:bodyPr>
            <a:noAutofit/>
          </a:bodyPr>
          <a:lstStyle/>
          <a:p>
            <a:pPr marL="0" indent="0">
              <a:buNone/>
            </a:pPr>
            <a:r>
              <a:rPr lang="en-US" sz="1800" dirty="0">
                <a:latin typeface="Cambria" panose="02040503050406030204" pitchFamily="18" charset="0"/>
                <a:ea typeface="Cambria" panose="02040503050406030204" pitchFamily="18" charset="0"/>
              </a:rPr>
              <a:t> 🔹 3. JVM – Java Virtual Machine</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Definition:  JVM is an abstract machine that executes Java bytecode (.class files). It makes Java platform-independent by converting bytecode to machine-specific instructions at runtime.</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a:t>
            </a:r>
            <a:r>
              <a:rPr lang="en-US" sz="1800" b="1" dirty="0">
                <a:latin typeface="Cambria" panose="02040503050406030204" pitchFamily="18" charset="0"/>
                <a:ea typeface="Cambria" panose="02040503050406030204" pitchFamily="18" charset="0"/>
              </a:rPr>
              <a:t> Responsibilities of JVM:</a:t>
            </a:r>
            <a:endParaRPr lang="en-US" sz="1800" b="1"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Load class files</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Verify bytecode</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Allocate memory</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Execute code (interpret or compile with JIT)</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Perform garbage collection</a:t>
            </a:r>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 JVM is the core engine behind running Java.</a:t>
            </a:r>
            <a:endParaRPr lang="en-US" sz="1800" dirty="0">
              <a:latin typeface="Cambria" panose="02040503050406030204" pitchFamily="18" charset="0"/>
              <a:ea typeface="Cambria" panose="02040503050406030204" pitchFamily="18" charset="0"/>
            </a:endParaRPr>
          </a:p>
        </p:txBody>
      </p:sp>
      <p:sp>
        <p:nvSpPr>
          <p:cNvPr id="5" name="TextBox 4"/>
          <p:cNvSpPr txBox="1"/>
          <p:nvPr/>
        </p:nvSpPr>
        <p:spPr>
          <a:xfrm>
            <a:off x="8480658" y="4788871"/>
            <a:ext cx="3541295" cy="2031325"/>
          </a:xfrm>
          <a:prstGeom prst="rect">
            <a:avLst/>
          </a:prstGeom>
          <a:noFill/>
        </p:spPr>
        <p:txBody>
          <a:bodyPr wrap="square">
            <a:spAutoFit/>
          </a:bodyPr>
          <a:lstStyle/>
          <a:p>
            <a:r>
              <a:rPr lang="en-US" dirty="0"/>
              <a:t>Source Code (.java)</a:t>
            </a:r>
            <a:endParaRPr lang="en-US" dirty="0"/>
          </a:p>
          <a:p>
            <a:r>
              <a:rPr lang="en-US" dirty="0"/>
              <a:t>      ↓      [JDK compiles]</a:t>
            </a:r>
            <a:endParaRPr lang="en-US" dirty="0"/>
          </a:p>
          <a:p>
            <a:r>
              <a:rPr lang="en-US" dirty="0"/>
              <a:t>Bytecode (.class)</a:t>
            </a:r>
            <a:endParaRPr lang="en-US" dirty="0"/>
          </a:p>
          <a:p>
            <a:r>
              <a:rPr lang="en-US" dirty="0"/>
              <a:t>      ↓      [JRE runs]</a:t>
            </a:r>
            <a:endParaRPr lang="en-US" dirty="0"/>
          </a:p>
          <a:p>
            <a:r>
              <a:rPr lang="en-US" dirty="0"/>
              <a:t>    JVM</a:t>
            </a:r>
            <a:endParaRPr lang="en-US" dirty="0"/>
          </a:p>
          <a:p>
            <a:r>
              <a:rPr lang="en-US" dirty="0"/>
              <a:t>      ↓</a:t>
            </a:r>
            <a:endParaRPr lang="en-US" dirty="0"/>
          </a:p>
          <a:p>
            <a:r>
              <a:rPr lang="en-US" dirty="0"/>
              <a:t> Machine code execution</a:t>
            </a:r>
            <a:endParaRPr lang="en-US" dirty="0"/>
          </a:p>
        </p:txBody>
      </p:sp>
      <p:sp>
        <p:nvSpPr>
          <p:cNvPr id="6" name="TextBox 5"/>
          <p:cNvSpPr txBox="1"/>
          <p:nvPr/>
        </p:nvSpPr>
        <p:spPr>
          <a:xfrm>
            <a:off x="170047" y="5054548"/>
            <a:ext cx="8065971" cy="923330"/>
          </a:xfrm>
          <a:prstGeom prst="rect">
            <a:avLst/>
          </a:prstGeom>
          <a:noFill/>
        </p:spPr>
        <p:txBody>
          <a:bodyPr wrap="square">
            <a:spAutoFit/>
          </a:bodyPr>
          <a:lstStyle/>
          <a:p>
            <a:r>
              <a:rPr lang="en-US" sz="1800" b="0" i="0" u="none" strike="noStrike" baseline="0" dirty="0">
                <a:latin typeface="Cambria" panose="02040503050406030204" pitchFamily="18" charset="0"/>
                <a:ea typeface="Cambria" panose="02040503050406030204" pitchFamily="18" charset="0"/>
              </a:rPr>
              <a:t>Every Operating System has a different JVM but the output they produce after the execution of bytecode is the same across all the operating systems. This is why Java is known as a </a:t>
            </a:r>
            <a:r>
              <a:rPr lang="en-US" sz="1800" b="1" i="0" u="none" strike="noStrike" baseline="0" dirty="0">
                <a:latin typeface="Cambria" panose="02040503050406030204" pitchFamily="18" charset="0"/>
                <a:ea typeface="Cambria" panose="02040503050406030204" pitchFamily="18" charset="0"/>
              </a:rPr>
              <a:t>platform-independent language. </a:t>
            </a:r>
            <a:endParaRPr lang="en-US" sz="1800" b="0" i="0" u="none" strike="noStrike" baseline="0" dirty="0">
              <a:latin typeface="Cambria" panose="02040503050406030204" pitchFamily="18" charset="0"/>
              <a:ea typeface="Cambria" panose="02040503050406030204" pitchFamily="18" charset="0"/>
            </a:endParaRPr>
          </a:p>
        </p:txBody>
      </p:sp>
      <p:pic>
        <p:nvPicPr>
          <p:cNvPr id="8" name="Picture 7"/>
          <p:cNvPicPr>
            <a:picLocks noChangeAspect="1"/>
          </p:cNvPicPr>
          <p:nvPr/>
        </p:nvPicPr>
        <p:blipFill>
          <a:blip r:embed="rId1"/>
          <a:stretch>
            <a:fillRect/>
          </a:stretch>
        </p:blipFill>
        <p:spPr>
          <a:xfrm>
            <a:off x="4456497" y="1409511"/>
            <a:ext cx="7657699" cy="337935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85993"/>
            <a:ext cx="10515600" cy="308643"/>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Java Just in Time Compiler</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12558" y="709094"/>
            <a:ext cx="10515600" cy="2601997"/>
          </a:xfrm>
        </p:spPr>
        <p:txBody>
          <a:bodyPr>
            <a:normAutofit lnSpcReduction="10000"/>
          </a:bodyPr>
          <a:lstStyle/>
          <a:p>
            <a:pPr marL="342900" marR="0" lvl="0" indent="-342900" algn="just">
              <a:lnSpc>
                <a:spcPct val="115000"/>
              </a:lnSpc>
              <a:spcBef>
                <a:spcPts val="0"/>
              </a:spcBef>
              <a:spcAft>
                <a:spcPts val="0"/>
              </a:spcAft>
              <a:buFont typeface="+mj-lt"/>
              <a:buAutoNum type="arabicParenR"/>
              <a:tabLst>
                <a:tab pos="457200" algn="l"/>
              </a:tabLst>
            </a:pPr>
            <a:r>
              <a:rPr lang="en-US" sz="1800" dirty="0">
                <a:effectLst/>
                <a:latin typeface="Cambria" panose="02040503050406030204" pitchFamily="18" charset="0"/>
                <a:ea typeface="Cambria" panose="02040503050406030204" pitchFamily="18" charset="0"/>
                <a:cs typeface="Arial" panose="020B0604020202020204" pitchFamily="34" charset="0"/>
              </a:rPr>
              <a:t>The JIT compiler interacts with the JVM at runtime and compiles similar bytecodes into native machine code. </a:t>
            </a:r>
            <a:endParaRPr lang="en-US" sz="1800" dirty="0">
              <a:effectLst/>
              <a:latin typeface="Cambria" panose="02040503050406030204" pitchFamily="18" charset="0"/>
              <a:ea typeface="Cambria" panose="02040503050406030204" pitchFamily="18" charset="0"/>
              <a:cs typeface="Arial" panose="020B0604020202020204" pitchFamily="34" charset="0"/>
            </a:endParaRPr>
          </a:p>
          <a:p>
            <a:pPr marL="342900" marR="0" lvl="0" indent="-342900" algn="just">
              <a:lnSpc>
                <a:spcPct val="115000"/>
              </a:lnSpc>
              <a:spcBef>
                <a:spcPts val="0"/>
              </a:spcBef>
              <a:spcAft>
                <a:spcPts val="0"/>
              </a:spcAft>
              <a:buFont typeface="+mj-lt"/>
              <a:buAutoNum type="arabicParenR"/>
              <a:tabLst>
                <a:tab pos="457200" algn="l"/>
              </a:tabLst>
            </a:pPr>
            <a:r>
              <a:rPr lang="en-US" sz="1800" dirty="0">
                <a:effectLst/>
                <a:latin typeface="Cambria" panose="02040503050406030204" pitchFamily="18" charset="0"/>
                <a:ea typeface="Cambria" panose="02040503050406030204" pitchFamily="18" charset="0"/>
                <a:cs typeface="Arial" panose="020B0604020202020204" pitchFamily="34" charset="0"/>
              </a:rPr>
              <a:t>Whenever there is a repetition of the same code that is being executed, the JIT compiler provides its native machine code at that instance so that the repeated code doesn’t take the same amount of process time again. This saves execution time and increases efficiency.</a:t>
            </a:r>
            <a:endParaRPr lang="en-US" sz="1800" dirty="0">
              <a:effectLst/>
              <a:latin typeface="Cambria" panose="02040503050406030204" pitchFamily="18" charset="0"/>
              <a:ea typeface="Cambria" panose="02040503050406030204" pitchFamily="18" charset="0"/>
              <a:cs typeface="Arial" panose="020B0604020202020204" pitchFamily="34" charset="0"/>
            </a:endParaRPr>
          </a:p>
          <a:p>
            <a:pPr marL="342900" marR="0" lvl="0" indent="-342900" algn="just">
              <a:lnSpc>
                <a:spcPct val="115000"/>
              </a:lnSpc>
              <a:spcBef>
                <a:spcPts val="0"/>
              </a:spcBef>
              <a:spcAft>
                <a:spcPts val="0"/>
              </a:spcAft>
              <a:buFont typeface="+mj-lt"/>
              <a:buAutoNum type="arabicParenR"/>
              <a:tabLst>
                <a:tab pos="457200" algn="l"/>
              </a:tabLst>
            </a:pPr>
            <a:r>
              <a:rPr lang="en-US" sz="1800" dirty="0">
                <a:effectLst/>
                <a:latin typeface="Cambria" panose="02040503050406030204" pitchFamily="18" charset="0"/>
                <a:ea typeface="Cambria" panose="02040503050406030204" pitchFamily="18" charset="0"/>
                <a:cs typeface="Arial" panose="020B0604020202020204" pitchFamily="34" charset="0"/>
              </a:rPr>
              <a:t>The JIT compiler achieves much higher execution efficiency only when there is a repetition of the same bytecode.</a:t>
            </a:r>
            <a:endParaRPr lang="en-US" sz="1800" dirty="0">
              <a:effectLst/>
              <a:latin typeface="Cambria" panose="02040503050406030204" pitchFamily="18" charset="0"/>
              <a:ea typeface="Cambria" panose="02040503050406030204" pitchFamily="18" charset="0"/>
              <a:cs typeface="Arial" panose="020B0604020202020204" pitchFamily="34" charset="0"/>
            </a:endParaRPr>
          </a:p>
          <a:p>
            <a:pPr marL="342900" marR="0" lvl="0" indent="-342900" algn="just">
              <a:lnSpc>
                <a:spcPct val="115000"/>
              </a:lnSpc>
              <a:spcBef>
                <a:spcPts val="0"/>
              </a:spcBef>
              <a:spcAft>
                <a:spcPts val="0"/>
              </a:spcAft>
              <a:buFont typeface="+mj-lt"/>
              <a:buAutoNum type="arabicParenR"/>
              <a:tabLst>
                <a:tab pos="457200" algn="l"/>
              </a:tabLst>
            </a:pPr>
            <a:r>
              <a:rPr lang="en-US" sz="1800" dirty="0">
                <a:effectLst/>
                <a:latin typeface="Cambria" panose="02040503050406030204" pitchFamily="18" charset="0"/>
                <a:ea typeface="Cambria" panose="02040503050406030204" pitchFamily="18" charset="0"/>
                <a:cs typeface="Arial" panose="020B0604020202020204" pitchFamily="34" charset="0"/>
              </a:rPr>
              <a:t>JIT will not be much performance efficient when the repeated code is not frequent. </a:t>
            </a:r>
            <a:endParaRPr lang="en-US" sz="1800" dirty="0">
              <a:effectLst/>
              <a:latin typeface="Cambria" panose="02040503050406030204" pitchFamily="18" charset="0"/>
              <a:ea typeface="Cambria" panose="02040503050406030204" pitchFamily="18" charset="0"/>
              <a:cs typeface="Arial" panose="020B0604020202020204" pitchFamily="34" charset="0"/>
            </a:endParaRPr>
          </a:p>
          <a:p>
            <a:endParaRPr lang="en-US" dirty="0">
              <a:latin typeface="Cambria" panose="02040503050406030204" pitchFamily="18" charset="0"/>
              <a:ea typeface="Cambria" panose="020405030504060302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009080" y="3428999"/>
            <a:ext cx="9203324" cy="3068053"/>
          </a:xfrm>
          <a:prstGeom prst="rect">
            <a:avLst/>
          </a:prstGeom>
          <a:noFill/>
          <a:ln>
            <a:noFill/>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4869"/>
            <a:ext cx="11142044" cy="385645"/>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Difference Between JDK,JRE,JVM</a:t>
            </a:r>
            <a:endParaRPr lang="en-US" sz="2400" b="1" dirty="0">
              <a:solidFill>
                <a:srgbClr val="FF0000"/>
              </a:solidFill>
              <a:latin typeface="Cambria" panose="02040503050406030204" pitchFamily="18" charset="0"/>
              <a:ea typeface="Cambria" panose="02040503050406030204" pitchFamily="18" charset="0"/>
            </a:endParaRPr>
          </a:p>
        </p:txBody>
      </p:sp>
      <p:graphicFrame>
        <p:nvGraphicFramePr>
          <p:cNvPr id="4" name="Content Placeholder 3"/>
          <p:cNvGraphicFramePr>
            <a:graphicFrameLocks noGrp="1"/>
          </p:cNvGraphicFramePr>
          <p:nvPr>
            <p:ph idx="1"/>
          </p:nvPr>
        </p:nvGraphicFramePr>
        <p:xfrm>
          <a:off x="123524" y="577106"/>
          <a:ext cx="11944952" cy="3494376"/>
        </p:xfrm>
        <a:graphic>
          <a:graphicData uri="http://schemas.openxmlformats.org/drawingml/2006/table">
            <a:tbl>
              <a:tblPr/>
              <a:tblGrid>
                <a:gridCol w="2436796"/>
                <a:gridCol w="2877954"/>
                <a:gridCol w="3339966"/>
                <a:gridCol w="3290236"/>
              </a:tblGrid>
              <a:tr h="436797">
                <a:tc>
                  <a:txBody>
                    <a:bodyPr/>
                    <a:lstStyle/>
                    <a:p>
                      <a:pPr algn="ctr"/>
                      <a:r>
                        <a:rPr lang="en-US" sz="1800" b="1">
                          <a:solidFill>
                            <a:srgbClr val="FF0000"/>
                          </a:solidFill>
                          <a:latin typeface="Cambria" panose="02040503050406030204" pitchFamily="18" charset="0"/>
                          <a:ea typeface="Cambria" panose="02040503050406030204" pitchFamily="18" charset="0"/>
                        </a:rPr>
                        <a:t>Feature</a:t>
                      </a:r>
                      <a:endParaRPr lang="en-US" sz="1800" b="1">
                        <a:solidFill>
                          <a:srgbClr val="FF0000"/>
                        </a:solidFill>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1">
                        <a:lumMod val="40000"/>
                        <a:lumOff val="60000"/>
                      </a:schemeClr>
                    </a:solidFill>
                  </a:tcPr>
                </a:tc>
                <a:tc>
                  <a:txBody>
                    <a:bodyPr/>
                    <a:lstStyle/>
                    <a:p>
                      <a:pPr algn="ctr"/>
                      <a:r>
                        <a:rPr lang="en-US" sz="1800" b="1">
                          <a:solidFill>
                            <a:srgbClr val="FF0000"/>
                          </a:solidFill>
                          <a:latin typeface="Cambria" panose="02040503050406030204" pitchFamily="18" charset="0"/>
                          <a:ea typeface="Cambria" panose="02040503050406030204" pitchFamily="18" charset="0"/>
                        </a:rPr>
                        <a:t>JDK</a:t>
                      </a:r>
                      <a:endParaRPr lang="en-US" sz="1800" b="1">
                        <a:solidFill>
                          <a:srgbClr val="FF0000"/>
                        </a:solidFill>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1">
                        <a:lumMod val="40000"/>
                        <a:lumOff val="60000"/>
                      </a:schemeClr>
                    </a:solidFill>
                  </a:tcPr>
                </a:tc>
                <a:tc>
                  <a:txBody>
                    <a:bodyPr/>
                    <a:lstStyle/>
                    <a:p>
                      <a:pPr algn="ctr"/>
                      <a:r>
                        <a:rPr lang="en-US" sz="1800" b="1">
                          <a:solidFill>
                            <a:srgbClr val="FF0000"/>
                          </a:solidFill>
                          <a:latin typeface="Cambria" panose="02040503050406030204" pitchFamily="18" charset="0"/>
                          <a:ea typeface="Cambria" panose="02040503050406030204" pitchFamily="18" charset="0"/>
                        </a:rPr>
                        <a:t>JRE</a:t>
                      </a:r>
                      <a:endParaRPr lang="en-US" sz="1800" b="1">
                        <a:solidFill>
                          <a:srgbClr val="FF0000"/>
                        </a:solidFill>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1">
                        <a:lumMod val="40000"/>
                        <a:lumOff val="60000"/>
                      </a:schemeClr>
                    </a:solidFill>
                  </a:tcPr>
                </a:tc>
                <a:tc>
                  <a:txBody>
                    <a:bodyPr/>
                    <a:lstStyle/>
                    <a:p>
                      <a:pPr algn="ctr"/>
                      <a:r>
                        <a:rPr lang="en-US" sz="1800" b="1" dirty="0">
                          <a:solidFill>
                            <a:srgbClr val="FF0000"/>
                          </a:solidFill>
                          <a:latin typeface="Cambria" panose="02040503050406030204" pitchFamily="18" charset="0"/>
                          <a:ea typeface="Cambria" panose="02040503050406030204" pitchFamily="18" charset="0"/>
                        </a:rPr>
                        <a:t>JVM</a:t>
                      </a:r>
                      <a:endParaRPr lang="en-US" sz="1800" b="1" dirty="0">
                        <a:solidFill>
                          <a:srgbClr val="FF0000"/>
                        </a:solidFill>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1">
                        <a:lumMod val="40000"/>
                        <a:lumOff val="60000"/>
                      </a:schemeClr>
                    </a:solidFill>
                  </a:tcPr>
                </a:tc>
              </a:tr>
              <a:tr h="436797">
                <a:tc>
                  <a:txBody>
                    <a:bodyPr/>
                    <a:lstStyle/>
                    <a:p>
                      <a:pPr algn="l"/>
                      <a:r>
                        <a:rPr lang="en-US" b="1">
                          <a:latin typeface="Cambria" panose="02040503050406030204" pitchFamily="18" charset="0"/>
                          <a:ea typeface="Cambria" panose="02040503050406030204" pitchFamily="18" charset="0"/>
                        </a:rPr>
                        <a:t>Full Form</a:t>
                      </a:r>
                      <a:endParaRPr lang="en-US">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pPr algn="l"/>
                      <a:r>
                        <a:rPr lang="en-US" dirty="0">
                          <a:latin typeface="Cambria" panose="02040503050406030204" pitchFamily="18" charset="0"/>
                          <a:ea typeface="Cambria" panose="02040503050406030204" pitchFamily="18" charset="0"/>
                        </a:rPr>
                        <a:t>Java Development Kit</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pPr algn="l"/>
                      <a:r>
                        <a:rPr lang="en-US">
                          <a:latin typeface="Cambria" panose="02040503050406030204" pitchFamily="18" charset="0"/>
                          <a:ea typeface="Cambria" panose="02040503050406030204" pitchFamily="18" charset="0"/>
                        </a:rPr>
                        <a:t>Java Runtime Environment</a:t>
                      </a:r>
                      <a:endParaRPr lang="en-US">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pPr algn="l"/>
                      <a:r>
                        <a:rPr lang="en-US" dirty="0">
                          <a:latin typeface="Cambria" panose="02040503050406030204" pitchFamily="18" charset="0"/>
                          <a:ea typeface="Cambria" panose="02040503050406030204" pitchFamily="18" charset="0"/>
                        </a:rPr>
                        <a:t>Java Virtual Machine</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noFill/>
                  </a:tcPr>
                </a:tc>
              </a:tr>
              <a:tr h="436797">
                <a:tc>
                  <a:txBody>
                    <a:bodyPr/>
                    <a:lstStyle/>
                    <a:p>
                      <a:pPr algn="l"/>
                      <a:r>
                        <a:rPr lang="en-US" b="1" dirty="0">
                          <a:latin typeface="Cambria" panose="02040503050406030204" pitchFamily="18" charset="0"/>
                          <a:ea typeface="Cambria" panose="02040503050406030204" pitchFamily="18" charset="0"/>
                        </a:rPr>
                        <a:t>Purpose</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pPr algn="l"/>
                      <a:r>
                        <a:rPr lang="en-US">
                          <a:latin typeface="Cambria" panose="02040503050406030204" pitchFamily="18" charset="0"/>
                          <a:ea typeface="Cambria" panose="02040503050406030204" pitchFamily="18" charset="0"/>
                        </a:rPr>
                        <a:t>Develop, compile, and run</a:t>
                      </a:r>
                      <a:endParaRPr lang="en-US">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pPr algn="l"/>
                      <a:r>
                        <a:rPr lang="en-US">
                          <a:latin typeface="Cambria" panose="02040503050406030204" pitchFamily="18" charset="0"/>
                          <a:ea typeface="Cambria" panose="02040503050406030204" pitchFamily="18" charset="0"/>
                        </a:rPr>
                        <a:t>Run only</a:t>
                      </a:r>
                      <a:endParaRPr lang="en-US">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pPr algn="l"/>
                      <a:r>
                        <a:rPr lang="en-US">
                          <a:latin typeface="Cambria" panose="02040503050406030204" pitchFamily="18" charset="0"/>
                          <a:ea typeface="Cambria" panose="02040503050406030204" pitchFamily="18" charset="0"/>
                        </a:rPr>
                        <a:t>Execute Java bytecode</a:t>
                      </a:r>
                      <a:endParaRPr lang="en-US">
                        <a:latin typeface="Cambria" panose="02040503050406030204" pitchFamily="18" charset="0"/>
                        <a:ea typeface="Cambria" panose="02040503050406030204" pitchFamily="18" charset="0"/>
                      </a:endParaRPr>
                    </a:p>
                  </a:txBody>
                  <a:tcPr anchor="ctr">
                    <a:lnL>
                      <a:noFill/>
                    </a:lnL>
                    <a:lnR>
                      <a:noFill/>
                    </a:lnR>
                    <a:lnT>
                      <a:noFill/>
                    </a:lnT>
                    <a:lnB>
                      <a:noFill/>
                    </a:lnB>
                    <a:noFill/>
                  </a:tcPr>
                </a:tc>
              </a:tr>
              <a:tr h="436797">
                <a:tc>
                  <a:txBody>
                    <a:bodyPr/>
                    <a:lstStyle/>
                    <a:p>
                      <a:pPr algn="l"/>
                      <a:r>
                        <a:rPr lang="en-US" b="1" dirty="0">
                          <a:latin typeface="Cambria" panose="02040503050406030204" pitchFamily="18" charset="0"/>
                          <a:ea typeface="Cambria" panose="02040503050406030204" pitchFamily="18" charset="0"/>
                        </a:rPr>
                        <a:t>Includes</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pPr algn="l"/>
                      <a:r>
                        <a:rPr lang="en-US">
                          <a:latin typeface="Cambria" panose="02040503050406030204" pitchFamily="18" charset="0"/>
                          <a:ea typeface="Cambria" panose="02040503050406030204" pitchFamily="18" charset="0"/>
                        </a:rPr>
                        <a:t>JRE + development tools</a:t>
                      </a:r>
                      <a:endParaRPr lang="en-US">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pPr algn="l"/>
                      <a:r>
                        <a:rPr lang="en-US">
                          <a:latin typeface="Cambria" panose="02040503050406030204" pitchFamily="18" charset="0"/>
                          <a:ea typeface="Cambria" panose="02040503050406030204" pitchFamily="18" charset="0"/>
                        </a:rPr>
                        <a:t>JVM + Java libraries</a:t>
                      </a:r>
                      <a:endParaRPr lang="en-US">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pPr algn="l"/>
                      <a:r>
                        <a:rPr lang="en-US">
                          <a:latin typeface="Cambria" panose="02040503050406030204" pitchFamily="18" charset="0"/>
                          <a:ea typeface="Cambria" panose="02040503050406030204" pitchFamily="18" charset="0"/>
                        </a:rPr>
                        <a:t>Only execution engine</a:t>
                      </a:r>
                      <a:endParaRPr lang="en-US">
                        <a:latin typeface="Cambria" panose="02040503050406030204" pitchFamily="18" charset="0"/>
                        <a:ea typeface="Cambria" panose="02040503050406030204" pitchFamily="18" charset="0"/>
                      </a:endParaRPr>
                    </a:p>
                  </a:txBody>
                  <a:tcPr anchor="ctr">
                    <a:lnL>
                      <a:noFill/>
                    </a:lnL>
                    <a:lnR>
                      <a:noFill/>
                    </a:lnR>
                    <a:lnT>
                      <a:noFill/>
                    </a:lnT>
                    <a:lnB>
                      <a:noFill/>
                    </a:lnB>
                    <a:noFill/>
                  </a:tcPr>
                </a:tc>
              </a:tr>
              <a:tr h="436797">
                <a:tc>
                  <a:txBody>
                    <a:bodyPr/>
                    <a:lstStyle/>
                    <a:p>
                      <a:pPr algn="l"/>
                      <a:r>
                        <a:rPr lang="en-US" b="1" dirty="0">
                          <a:latin typeface="Cambria" panose="02040503050406030204" pitchFamily="18" charset="0"/>
                          <a:ea typeface="Cambria" panose="02040503050406030204" pitchFamily="18" charset="0"/>
                        </a:rPr>
                        <a:t>Used By</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pPr algn="l"/>
                      <a:r>
                        <a:rPr lang="en-US">
                          <a:latin typeface="Cambria" panose="02040503050406030204" pitchFamily="18" charset="0"/>
                          <a:ea typeface="Cambria" panose="02040503050406030204" pitchFamily="18" charset="0"/>
                        </a:rPr>
                        <a:t>Developers</a:t>
                      </a:r>
                      <a:endParaRPr lang="en-US">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pPr algn="l"/>
                      <a:r>
                        <a:rPr lang="en-US">
                          <a:latin typeface="Cambria" panose="02040503050406030204" pitchFamily="18" charset="0"/>
                          <a:ea typeface="Cambria" panose="02040503050406030204" pitchFamily="18" charset="0"/>
                        </a:rPr>
                        <a:t>End users</a:t>
                      </a:r>
                      <a:endParaRPr lang="en-US">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pPr algn="l"/>
                      <a:r>
                        <a:rPr lang="en-US">
                          <a:latin typeface="Cambria" panose="02040503050406030204" pitchFamily="18" charset="0"/>
                          <a:ea typeface="Cambria" panose="02040503050406030204" pitchFamily="18" charset="0"/>
                        </a:rPr>
                        <a:t>Internally by Java programs</a:t>
                      </a:r>
                      <a:endParaRPr lang="en-US">
                        <a:latin typeface="Cambria" panose="02040503050406030204" pitchFamily="18" charset="0"/>
                        <a:ea typeface="Cambria" panose="02040503050406030204" pitchFamily="18" charset="0"/>
                      </a:endParaRPr>
                    </a:p>
                  </a:txBody>
                  <a:tcPr anchor="ctr">
                    <a:lnL>
                      <a:noFill/>
                    </a:lnL>
                    <a:lnR>
                      <a:noFill/>
                    </a:lnR>
                    <a:lnT>
                      <a:noFill/>
                    </a:lnT>
                    <a:lnB>
                      <a:noFill/>
                    </a:lnB>
                    <a:noFill/>
                  </a:tcPr>
                </a:tc>
              </a:tr>
              <a:tr h="436797">
                <a:tc>
                  <a:txBody>
                    <a:bodyPr/>
                    <a:lstStyle/>
                    <a:p>
                      <a:pPr algn="l"/>
                      <a:r>
                        <a:rPr lang="en-US" b="1" dirty="0">
                          <a:latin typeface="Cambria" panose="02040503050406030204" pitchFamily="18" charset="0"/>
                          <a:ea typeface="Cambria" panose="02040503050406030204" pitchFamily="18" charset="0"/>
                        </a:rPr>
                        <a:t>Contains Compiler?</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pPr algn="l"/>
                      <a:r>
                        <a:rPr lang="en-US">
                          <a:latin typeface="Cambria" panose="02040503050406030204" pitchFamily="18" charset="0"/>
                          <a:ea typeface="Cambria" panose="02040503050406030204" pitchFamily="18" charset="0"/>
                        </a:rPr>
                        <a:t>✅ Yes (javac)</a:t>
                      </a:r>
                      <a:endParaRPr lang="en-US">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pPr algn="l"/>
                      <a:r>
                        <a:rPr lang="en-US">
                          <a:latin typeface="Cambria" panose="02040503050406030204" pitchFamily="18" charset="0"/>
                          <a:ea typeface="Cambria" panose="02040503050406030204" pitchFamily="18" charset="0"/>
                        </a:rPr>
                        <a:t>❌ No</a:t>
                      </a:r>
                      <a:endParaRPr lang="en-US">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pPr algn="l"/>
                      <a:r>
                        <a:rPr lang="en-US" dirty="0">
                          <a:latin typeface="Cambria" panose="02040503050406030204" pitchFamily="18" charset="0"/>
                          <a:ea typeface="Cambria" panose="02040503050406030204" pitchFamily="18" charset="0"/>
                        </a:rPr>
                        <a:t>❌ No</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noFill/>
                  </a:tcPr>
                </a:tc>
              </a:tr>
              <a:tr h="436797">
                <a:tc>
                  <a:txBody>
                    <a:bodyPr/>
                    <a:lstStyle/>
                    <a:p>
                      <a:pPr algn="l"/>
                      <a:r>
                        <a:rPr lang="en-US" b="1">
                          <a:latin typeface="Cambria" panose="02040503050406030204" pitchFamily="18" charset="0"/>
                          <a:ea typeface="Cambria" panose="02040503050406030204" pitchFamily="18" charset="0"/>
                        </a:rPr>
                        <a:t>Platform Dependent?</a:t>
                      </a:r>
                      <a:endParaRPr lang="en-US">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pPr algn="l"/>
                      <a:r>
                        <a:rPr lang="en-US" dirty="0">
                          <a:latin typeface="Cambria" panose="02040503050406030204" pitchFamily="18" charset="0"/>
                          <a:ea typeface="Cambria" panose="02040503050406030204" pitchFamily="18" charset="0"/>
                        </a:rPr>
                        <a:t>✅ Yes</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pPr algn="l"/>
                      <a:r>
                        <a:rPr lang="en-US">
                          <a:latin typeface="Cambria" panose="02040503050406030204" pitchFamily="18" charset="0"/>
                          <a:ea typeface="Cambria" panose="02040503050406030204" pitchFamily="18" charset="0"/>
                        </a:rPr>
                        <a:t>✅ Yes</a:t>
                      </a:r>
                      <a:endParaRPr lang="en-US">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pPr algn="l"/>
                      <a:r>
                        <a:rPr lang="en-US" dirty="0">
                          <a:latin typeface="Cambria" panose="02040503050406030204" pitchFamily="18" charset="0"/>
                          <a:ea typeface="Cambria" panose="02040503050406030204" pitchFamily="18" charset="0"/>
                        </a:rPr>
                        <a:t>❌ No</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noFill/>
                  </a:tcPr>
                </a:tc>
              </a:tr>
              <a:tr h="436797">
                <a:tc>
                  <a:txBody>
                    <a:bodyPr/>
                    <a:lstStyle/>
                    <a:p>
                      <a:pPr algn="l"/>
                      <a:r>
                        <a:rPr lang="en-US" b="1">
                          <a:latin typeface="Cambria" panose="02040503050406030204" pitchFamily="18" charset="0"/>
                          <a:ea typeface="Cambria" panose="02040503050406030204" pitchFamily="18" charset="0"/>
                        </a:rPr>
                        <a:t>Can Run Code?</a:t>
                      </a:r>
                      <a:endParaRPr lang="en-US">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pPr algn="l"/>
                      <a:r>
                        <a:rPr lang="en-US">
                          <a:latin typeface="Cambria" panose="02040503050406030204" pitchFamily="18" charset="0"/>
                          <a:ea typeface="Cambria" panose="02040503050406030204" pitchFamily="18" charset="0"/>
                        </a:rPr>
                        <a:t>✅ Yes</a:t>
                      </a:r>
                      <a:endParaRPr lang="en-US">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pPr algn="l"/>
                      <a:r>
                        <a:rPr lang="en-US">
                          <a:latin typeface="Cambria" panose="02040503050406030204" pitchFamily="18" charset="0"/>
                          <a:ea typeface="Cambria" panose="02040503050406030204" pitchFamily="18" charset="0"/>
                        </a:rPr>
                        <a:t>✅ Yes</a:t>
                      </a:r>
                      <a:endParaRPr lang="en-US">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pPr algn="l"/>
                      <a:r>
                        <a:rPr lang="en-US" dirty="0">
                          <a:latin typeface="Cambria" panose="02040503050406030204" pitchFamily="18" charset="0"/>
                          <a:ea typeface="Cambria" panose="02040503050406030204" pitchFamily="18" charset="0"/>
                        </a:rPr>
                        <a:t>✅ Yes (with class files)</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no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4869"/>
            <a:ext cx="10515600" cy="315911"/>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Java Comments and Expression and literal</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86489" y="737970"/>
            <a:ext cx="11819022" cy="4351338"/>
          </a:xfrm>
        </p:spPr>
        <p:txBody>
          <a:bodyPr>
            <a:normAutofit/>
          </a:bodyPr>
          <a:lstStyle/>
          <a:p>
            <a:r>
              <a:rPr lang="en-US" sz="1800" dirty="0">
                <a:latin typeface="Cambria" panose="02040503050406030204" pitchFamily="18" charset="0"/>
                <a:ea typeface="Cambria" panose="02040503050406030204" pitchFamily="18" charset="0"/>
              </a:rPr>
              <a:t>Comments are </a:t>
            </a:r>
            <a:r>
              <a:rPr lang="en-US" sz="1800" b="1" dirty="0">
                <a:latin typeface="Cambria" panose="02040503050406030204" pitchFamily="18" charset="0"/>
                <a:ea typeface="Cambria" panose="02040503050406030204" pitchFamily="18" charset="0"/>
              </a:rPr>
              <a:t>non-executable lines</a:t>
            </a:r>
            <a:r>
              <a:rPr lang="en-US" sz="1800" dirty="0">
                <a:latin typeface="Cambria" panose="02040503050406030204" pitchFamily="18" charset="0"/>
                <a:ea typeface="Cambria" panose="02040503050406030204" pitchFamily="18" charset="0"/>
              </a:rPr>
              <a:t> in code used to explain what the code does. They are ignored by the Java compiler.</a:t>
            </a:r>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They help:</a:t>
            </a:r>
            <a:endParaRPr lang="en-US" sz="1800" dirty="0">
              <a:latin typeface="Cambria" panose="02040503050406030204" pitchFamily="18" charset="0"/>
              <a:ea typeface="Cambria" panose="02040503050406030204" pitchFamily="18" charset="0"/>
            </a:endParaRPr>
          </a:p>
          <a:p>
            <a:pPr>
              <a:buFont typeface="Arial" panose="020B0604020202020204" pitchFamily="34" charset="0"/>
              <a:buChar char="•"/>
            </a:pPr>
            <a:r>
              <a:rPr lang="en-US" sz="1800" dirty="0">
                <a:latin typeface="Cambria" panose="02040503050406030204" pitchFamily="18" charset="0"/>
                <a:ea typeface="Cambria" panose="02040503050406030204" pitchFamily="18" charset="0"/>
              </a:rPr>
              <a:t>Explain code logic</a:t>
            </a:r>
            <a:endParaRPr lang="en-US" sz="1800" dirty="0">
              <a:latin typeface="Cambria" panose="02040503050406030204" pitchFamily="18" charset="0"/>
              <a:ea typeface="Cambria" panose="02040503050406030204" pitchFamily="18" charset="0"/>
            </a:endParaRPr>
          </a:p>
          <a:p>
            <a:pPr>
              <a:buFont typeface="Arial" panose="020B0604020202020204" pitchFamily="34" charset="0"/>
              <a:buChar char="•"/>
            </a:pPr>
            <a:r>
              <a:rPr lang="en-US" sz="1800" dirty="0">
                <a:latin typeface="Cambria" panose="02040503050406030204" pitchFamily="18" charset="0"/>
                <a:ea typeface="Cambria" panose="02040503050406030204" pitchFamily="18" charset="0"/>
              </a:rPr>
              <a:t>Make code easier to read</a:t>
            </a:r>
            <a:endParaRPr lang="en-US" sz="1800" dirty="0">
              <a:latin typeface="Cambria" panose="02040503050406030204" pitchFamily="18" charset="0"/>
              <a:ea typeface="Cambria" panose="02040503050406030204" pitchFamily="18" charset="0"/>
            </a:endParaRPr>
          </a:p>
          <a:p>
            <a:pPr>
              <a:buFont typeface="Arial" panose="020B0604020202020204" pitchFamily="34" charset="0"/>
              <a:buChar char="•"/>
            </a:pPr>
            <a:r>
              <a:rPr lang="en-US" sz="1800" dirty="0">
                <a:latin typeface="Cambria" panose="02040503050406030204" pitchFamily="18" charset="0"/>
                <a:ea typeface="Cambria" panose="02040503050406030204" pitchFamily="18" charset="0"/>
              </a:rPr>
              <a:t>Temporarily disable code during debugging</a:t>
            </a:r>
            <a:endParaRPr lang="en-US" sz="1800" dirty="0">
              <a:latin typeface="Cambria" panose="02040503050406030204" pitchFamily="18" charset="0"/>
              <a:ea typeface="Cambria" panose="02040503050406030204" pitchFamily="18" charset="0"/>
            </a:endParaRPr>
          </a:p>
          <a:p>
            <a:pPr>
              <a:buFont typeface="Arial" panose="020B0604020202020204" pitchFamily="34" charset="0"/>
              <a:buChar char="•"/>
            </a:pPr>
            <a:endParaRPr lang="en-US" sz="1800" dirty="0">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Types of Comments in Java</a:t>
            </a:r>
            <a:endPar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pP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Single-line Comments</a:t>
            </a:r>
            <a:endPar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Start with //</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Multi-line Comments</a:t>
            </a:r>
            <a:endPar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Start with </a:t>
            </a:r>
            <a:r>
              <a:rPr kumimoji="0" lang="en-US" alt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and end with </a:t>
            </a:r>
            <a:r>
              <a:rPr kumimoji="0" lang="en-US" alt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4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457200" marR="0" lvl="1" indent="0" algn="l" defTabSz="914400" rtl="0" eaLnBrk="0" fontAlgn="base" latinLnBrk="0" hangingPunct="0">
              <a:lnSpc>
                <a:spcPct val="100000"/>
              </a:lnSpc>
              <a:spcBef>
                <a:spcPct val="0"/>
              </a:spcBef>
              <a:spcAft>
                <a:spcPct val="0"/>
              </a:spcAft>
              <a:buClrTx/>
              <a:buSzTx/>
              <a:buNone/>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endParaRPr lang="en-US" sz="1800" dirty="0">
              <a:latin typeface="Cambria" panose="02040503050406030204" pitchFamily="18" charset="0"/>
              <a:ea typeface="Cambria" panose="020405030504060302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2995"/>
            <a:ext cx="11267173" cy="433772"/>
          </a:xfrm>
        </p:spPr>
        <p:txBody>
          <a:bodyPr>
            <a:normAutofit/>
          </a:bodyPr>
          <a:lstStyle/>
          <a:p>
            <a:r>
              <a:rPr lang="en-US" sz="2400" b="1" dirty="0">
                <a:solidFill>
                  <a:srgbClr val="FF0000"/>
                </a:solidFill>
                <a:latin typeface="Cambria" panose="02040503050406030204" pitchFamily="18" charset="0"/>
                <a:ea typeface="Cambria" panose="02040503050406030204" pitchFamily="18" charset="0"/>
              </a:rPr>
              <a:t>Java Token</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75786" y="757221"/>
            <a:ext cx="10515600" cy="4351338"/>
          </a:xfrm>
        </p:spPr>
        <p:txBody>
          <a:bodyPr/>
          <a:lstStyle/>
          <a:p>
            <a:r>
              <a:rPr lang="en-US" sz="1800" b="0" i="0" u="none" strike="noStrike" baseline="0" dirty="0">
                <a:latin typeface="Cambria" panose="02040503050406030204" pitchFamily="18" charset="0"/>
                <a:ea typeface="Cambria" panose="02040503050406030204" pitchFamily="18" charset="0"/>
              </a:rPr>
              <a:t>A </a:t>
            </a:r>
            <a:r>
              <a:rPr lang="en-US" sz="1800" b="1" i="0" u="none" strike="noStrike" baseline="0" dirty="0">
                <a:latin typeface="Cambria" panose="02040503050406030204" pitchFamily="18" charset="0"/>
                <a:ea typeface="Cambria" panose="02040503050406030204" pitchFamily="18" charset="0"/>
              </a:rPr>
              <a:t>token </a:t>
            </a:r>
            <a:r>
              <a:rPr lang="en-US" sz="1800" b="0" i="0" u="none" strike="noStrike" baseline="0" dirty="0">
                <a:latin typeface="Cambria" panose="02040503050406030204" pitchFamily="18" charset="0"/>
                <a:ea typeface="Cambria" panose="02040503050406030204" pitchFamily="18" charset="0"/>
              </a:rPr>
              <a:t>is the smallest element of a program that is meaningful to the compiler. Tokens can be classified as follows: </a:t>
            </a:r>
            <a:endParaRPr lang="en-US" sz="1800" b="0" i="0" u="none" strike="noStrike" baseline="0" dirty="0">
              <a:latin typeface="Cambria" panose="02040503050406030204" pitchFamily="18" charset="0"/>
              <a:ea typeface="Cambria" panose="02040503050406030204" pitchFamily="18" charset="0"/>
            </a:endParaRPr>
          </a:p>
          <a:p>
            <a:r>
              <a:rPr lang="en-US" sz="1800" b="0" i="0" u="none" strike="noStrike" baseline="0" dirty="0">
                <a:latin typeface="Cambria" panose="02040503050406030204" pitchFamily="18" charset="0"/>
                <a:ea typeface="Cambria" panose="02040503050406030204" pitchFamily="18" charset="0"/>
              </a:rPr>
              <a:t>Keywords </a:t>
            </a:r>
            <a:endParaRPr lang="en-US" sz="1800" b="0" i="0" u="none" strike="noStrike" baseline="0" dirty="0">
              <a:latin typeface="Cambria" panose="02040503050406030204" pitchFamily="18" charset="0"/>
              <a:ea typeface="Cambria" panose="02040503050406030204" pitchFamily="18" charset="0"/>
            </a:endParaRPr>
          </a:p>
          <a:p>
            <a:r>
              <a:rPr lang="en-US" sz="1800" b="0" i="0" u="none" strike="noStrike" baseline="0" dirty="0">
                <a:latin typeface="Cambria" panose="02040503050406030204" pitchFamily="18" charset="0"/>
                <a:ea typeface="Cambria" panose="02040503050406030204" pitchFamily="18" charset="0"/>
              </a:rPr>
              <a:t>Identifiers </a:t>
            </a:r>
            <a:endParaRPr lang="en-US" sz="1800" b="0" i="0" u="none" strike="noStrike" baseline="0" dirty="0">
              <a:latin typeface="Cambria" panose="02040503050406030204" pitchFamily="18" charset="0"/>
              <a:ea typeface="Cambria" panose="02040503050406030204" pitchFamily="18" charset="0"/>
            </a:endParaRPr>
          </a:p>
          <a:p>
            <a:r>
              <a:rPr lang="en-US" sz="1800" b="0" i="0" u="none" strike="noStrike" baseline="0" dirty="0">
                <a:latin typeface="Cambria" panose="02040503050406030204" pitchFamily="18" charset="0"/>
                <a:ea typeface="Cambria" panose="02040503050406030204" pitchFamily="18" charset="0"/>
              </a:rPr>
              <a:t>Variables </a:t>
            </a:r>
            <a:endParaRPr lang="en-US" sz="1800" b="0" i="0" u="none" strike="noStrike" baseline="0" dirty="0">
              <a:latin typeface="Cambria" panose="02040503050406030204" pitchFamily="18" charset="0"/>
              <a:ea typeface="Cambria" panose="02040503050406030204" pitchFamily="18" charset="0"/>
            </a:endParaRPr>
          </a:p>
          <a:p>
            <a:r>
              <a:rPr lang="en-US" sz="1800" b="0" i="0" u="none" strike="noStrike" baseline="0" dirty="0">
                <a:latin typeface="Cambria" panose="02040503050406030204" pitchFamily="18" charset="0"/>
                <a:ea typeface="Cambria" panose="02040503050406030204" pitchFamily="18" charset="0"/>
              </a:rPr>
              <a:t>Constants </a:t>
            </a:r>
            <a:endParaRPr lang="en-US" sz="1800" b="0" i="0" u="none" strike="noStrike" baseline="0" dirty="0">
              <a:latin typeface="Cambria" panose="02040503050406030204" pitchFamily="18" charset="0"/>
              <a:ea typeface="Cambria" panose="02040503050406030204" pitchFamily="18" charset="0"/>
            </a:endParaRPr>
          </a:p>
          <a:p>
            <a:r>
              <a:rPr lang="en-US" sz="1800" b="0" i="0" u="none" strike="noStrike" baseline="0" dirty="0">
                <a:latin typeface="Cambria" panose="02040503050406030204" pitchFamily="18" charset="0"/>
                <a:ea typeface="Cambria" panose="02040503050406030204" pitchFamily="18" charset="0"/>
              </a:rPr>
              <a:t>Special Symbols </a:t>
            </a:r>
            <a:endParaRPr lang="en-US" sz="1800" b="0" i="0" u="none" strike="noStrike" baseline="0" dirty="0">
              <a:latin typeface="Cambria" panose="02040503050406030204" pitchFamily="18" charset="0"/>
              <a:ea typeface="Cambria" panose="02040503050406030204" pitchFamily="18" charset="0"/>
            </a:endParaRPr>
          </a:p>
          <a:p>
            <a:r>
              <a:rPr lang="en-US" sz="1800" b="0" i="0" u="none" strike="noStrike" baseline="0" dirty="0">
                <a:latin typeface="Cambria" panose="02040503050406030204" pitchFamily="18" charset="0"/>
                <a:ea typeface="Cambria" panose="02040503050406030204" pitchFamily="18" charset="0"/>
              </a:rPr>
              <a:t>Data types </a:t>
            </a:r>
            <a:endParaRPr lang="en-US" sz="1800" b="0" i="0" u="none" strike="noStrike" baseline="0" dirty="0">
              <a:latin typeface="Cambria" panose="02040503050406030204" pitchFamily="18" charset="0"/>
              <a:ea typeface="Cambria" panose="02040503050406030204" pitchFamily="18" charset="0"/>
            </a:endParaRPr>
          </a:p>
          <a:p>
            <a:r>
              <a:rPr lang="en-US" sz="1800" b="0" i="0" u="none" strike="noStrike" baseline="0" dirty="0">
                <a:latin typeface="Cambria" panose="02040503050406030204" pitchFamily="18" charset="0"/>
                <a:ea typeface="Cambria" panose="02040503050406030204" pitchFamily="18" charset="0"/>
              </a:rPr>
              <a:t>Operators </a:t>
            </a:r>
            <a:endParaRPr lang="en-US" sz="1800" b="0" i="0" u="none" strike="noStrike" baseline="0"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057" y="70037"/>
            <a:ext cx="10515600" cy="441040"/>
          </a:xfrm>
        </p:spPr>
        <p:txBody>
          <a:bodyPr>
            <a:normAutofit/>
          </a:bodyPr>
          <a:lstStyle/>
          <a:p>
            <a:r>
              <a:rPr lang="en-US" sz="2000" b="1" dirty="0">
                <a:solidFill>
                  <a:srgbClr val="FF0000"/>
                </a:solidFill>
                <a:latin typeface="Cambria" panose="02040503050406030204" pitchFamily="18" charset="0"/>
                <a:ea typeface="Cambria" panose="02040503050406030204" pitchFamily="18" charset="0"/>
              </a:rPr>
              <a:t>Java Keywords</a:t>
            </a:r>
            <a:endParaRPr lang="en-US" sz="20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74057" y="428426"/>
            <a:ext cx="11843886" cy="1217494"/>
          </a:xfrm>
        </p:spPr>
        <p:txBody>
          <a:bodyPr>
            <a:normAutofit/>
          </a:bodyPr>
          <a:lstStyle/>
          <a:p>
            <a:r>
              <a:rPr lang="en-US" sz="1800" b="0" i="0" u="none" strike="noStrike" baseline="0" dirty="0">
                <a:latin typeface="Cambria" panose="02040503050406030204" pitchFamily="18" charset="0"/>
                <a:ea typeface="Cambria" panose="02040503050406030204" pitchFamily="18" charset="0"/>
              </a:rPr>
              <a:t>Keyword</a:t>
            </a:r>
            <a:r>
              <a:rPr lang="en-US" sz="1800" b="1" i="0" u="none" strike="noStrike" baseline="0" dirty="0">
                <a:latin typeface="Cambria" panose="02040503050406030204" pitchFamily="18" charset="0"/>
                <a:ea typeface="Cambria" panose="02040503050406030204" pitchFamily="18" charset="0"/>
              </a:rPr>
              <a:t>: Keywords are pre-defined or reserved words in a programming language. Each keyword is meant to perform a specific function in a program. </a:t>
            </a:r>
            <a:r>
              <a:rPr lang="en-US" sz="1800" b="0" i="0" u="none" strike="noStrike" baseline="0" dirty="0">
                <a:latin typeface="Cambria" panose="02040503050406030204" pitchFamily="18" charset="0"/>
                <a:ea typeface="Cambria" panose="02040503050406030204" pitchFamily="18" charset="0"/>
              </a:rPr>
              <a:t>Since keywords are referred names for a compiler, they can’t be used as variable names because by doing so, we are trying to assign a new meaning to the keyword which is not allowed. </a:t>
            </a:r>
            <a:r>
              <a:rPr lang="en-US" sz="1800" b="1" i="0" u="none" strike="noStrike" baseline="0" dirty="0">
                <a:latin typeface="Cambria" panose="02040503050406030204" pitchFamily="18" charset="0"/>
                <a:ea typeface="Cambria" panose="02040503050406030204" pitchFamily="18" charset="0"/>
              </a:rPr>
              <a:t>Java </a:t>
            </a:r>
            <a:r>
              <a:rPr lang="en-US" sz="1800" b="0" i="0" u="none" strike="noStrike" baseline="0" dirty="0">
                <a:latin typeface="Cambria" panose="02040503050406030204" pitchFamily="18" charset="0"/>
                <a:ea typeface="Cambria" panose="02040503050406030204" pitchFamily="18" charset="0"/>
              </a:rPr>
              <a:t>language supports following keywords:  in java have</a:t>
            </a:r>
            <a:r>
              <a:rPr lang="en-US" sz="1800" b="1" i="0" u="none" strike="noStrike" baseline="0" dirty="0">
                <a:latin typeface="Cambria" panose="02040503050406030204" pitchFamily="18" charset="0"/>
                <a:ea typeface="Cambria" panose="02040503050406030204" pitchFamily="18" charset="0"/>
              </a:rPr>
              <a:t> 67</a:t>
            </a:r>
            <a:r>
              <a:rPr lang="en-US" sz="1800" b="0" i="0" u="none" strike="noStrike" baseline="0" dirty="0">
                <a:latin typeface="Cambria" panose="02040503050406030204" pitchFamily="18" charset="0"/>
                <a:ea typeface="Cambria" panose="02040503050406030204" pitchFamily="18" charset="0"/>
              </a:rPr>
              <a:t> Keywords</a:t>
            </a:r>
            <a:endParaRPr lang="en-US" sz="1800" b="0" i="0" u="none" strike="noStrike" baseline="0" dirty="0">
              <a:latin typeface="Cambria" panose="02040503050406030204" pitchFamily="18" charset="0"/>
              <a:ea typeface="Cambria" panose="02040503050406030204" pitchFamily="18" charset="0"/>
            </a:endParaRPr>
          </a:p>
          <a:p>
            <a:endParaRPr lang="en-US" sz="1800" dirty="0">
              <a:latin typeface="Cambria" panose="02040503050406030204" pitchFamily="18" charset="0"/>
              <a:ea typeface="Cambria" panose="02040503050406030204" pitchFamily="18" charset="0"/>
            </a:endParaRPr>
          </a:p>
        </p:txBody>
      </p:sp>
      <p:graphicFrame>
        <p:nvGraphicFramePr>
          <p:cNvPr id="6" name="Table 5"/>
          <p:cNvGraphicFramePr>
            <a:graphicFrameLocks noGrp="1"/>
          </p:cNvGraphicFramePr>
          <p:nvPr/>
        </p:nvGraphicFramePr>
        <p:xfrm>
          <a:off x="99862" y="1792366"/>
          <a:ext cx="11992276" cy="4995597"/>
        </p:xfrm>
        <a:graphic>
          <a:graphicData uri="http://schemas.openxmlformats.org/drawingml/2006/table">
            <a:tbl>
              <a:tblPr/>
              <a:tblGrid>
                <a:gridCol w="1982688"/>
                <a:gridCol w="10009588"/>
              </a:tblGrid>
              <a:tr h="370617">
                <a:tc>
                  <a:txBody>
                    <a:bodyPr/>
                    <a:lstStyle/>
                    <a:p>
                      <a:pPr algn="ctr"/>
                      <a:r>
                        <a:rPr lang="en-US" sz="1800" b="1" dirty="0">
                          <a:latin typeface="Cambria" panose="02040503050406030204" pitchFamily="18" charset="0"/>
                          <a:ea typeface="Cambria" panose="02040503050406030204" pitchFamily="18" charset="0"/>
                        </a:rPr>
                        <a:t>Category</a:t>
                      </a:r>
                      <a:endParaRPr lang="en-US" sz="1800" dirty="0">
                        <a:latin typeface="Cambria" panose="02040503050406030204" pitchFamily="18" charset="0"/>
                        <a:ea typeface="Cambria" panose="02040503050406030204" pitchFamily="18" charset="0"/>
                      </a:endParaRPr>
                    </a:p>
                  </a:txBody>
                  <a:tcPr marL="80580" marR="80580" marT="40290" marB="40290" anchor="ctr">
                    <a:lnL>
                      <a:noFill/>
                    </a:lnL>
                    <a:lnR>
                      <a:noFill/>
                    </a:lnR>
                    <a:lnT>
                      <a:noFill/>
                    </a:lnT>
                    <a:lnB>
                      <a:noFill/>
                    </a:lnB>
                    <a:solidFill>
                      <a:schemeClr val="tx2">
                        <a:lumMod val="40000"/>
                        <a:lumOff val="60000"/>
                      </a:schemeClr>
                    </a:solidFill>
                  </a:tcPr>
                </a:tc>
                <a:tc>
                  <a:txBody>
                    <a:bodyPr/>
                    <a:lstStyle/>
                    <a:p>
                      <a:pPr algn="ctr"/>
                      <a:r>
                        <a:rPr lang="en-US" sz="1800" b="1" dirty="0">
                          <a:latin typeface="Cambria" panose="02040503050406030204" pitchFamily="18" charset="0"/>
                          <a:ea typeface="Cambria" panose="02040503050406030204" pitchFamily="18" charset="0"/>
                        </a:rPr>
                        <a:t>Keywords</a:t>
                      </a:r>
                      <a:endParaRPr lang="en-US" sz="1800" dirty="0">
                        <a:latin typeface="Cambria" panose="02040503050406030204" pitchFamily="18" charset="0"/>
                        <a:ea typeface="Cambria" panose="02040503050406030204" pitchFamily="18" charset="0"/>
                      </a:endParaRPr>
                    </a:p>
                  </a:txBody>
                  <a:tcPr marL="80580" marR="80580" marT="40290" marB="40290" anchor="ctr">
                    <a:lnL>
                      <a:noFill/>
                    </a:lnL>
                    <a:lnR>
                      <a:noFill/>
                    </a:lnR>
                    <a:lnT>
                      <a:noFill/>
                    </a:lnT>
                    <a:lnB>
                      <a:noFill/>
                    </a:lnB>
                    <a:solidFill>
                      <a:schemeClr val="tx2">
                        <a:lumMod val="40000"/>
                        <a:lumOff val="60000"/>
                      </a:schemeClr>
                    </a:solidFill>
                  </a:tcPr>
                </a:tc>
              </a:tr>
              <a:tr h="618202">
                <a:tc>
                  <a:txBody>
                    <a:bodyPr/>
                    <a:lstStyle/>
                    <a:p>
                      <a:r>
                        <a:rPr lang="en-US" sz="1800" b="1" dirty="0">
                          <a:latin typeface="Cambria" panose="02040503050406030204" pitchFamily="18" charset="0"/>
                          <a:ea typeface="Cambria" panose="02040503050406030204" pitchFamily="18" charset="0"/>
                        </a:rPr>
                        <a:t>Control Flow</a:t>
                      </a:r>
                      <a:endParaRPr lang="en-US" sz="1800" dirty="0">
                        <a:latin typeface="Cambria" panose="02040503050406030204" pitchFamily="18" charset="0"/>
                        <a:ea typeface="Cambria" panose="02040503050406030204" pitchFamily="18" charset="0"/>
                      </a:endParaRPr>
                    </a:p>
                  </a:txBody>
                  <a:tcPr marL="80580" marR="80580" marT="40290" marB="40290" anchor="ctr">
                    <a:lnL>
                      <a:noFill/>
                    </a:lnL>
                    <a:lnR>
                      <a:noFill/>
                    </a:lnR>
                    <a:lnT>
                      <a:noFill/>
                    </a:lnT>
                    <a:lnB>
                      <a:noFill/>
                    </a:lnB>
                    <a:noFill/>
                  </a:tcPr>
                </a:tc>
                <a:tc>
                  <a:txBody>
                    <a:bodyPr/>
                    <a:lstStyle/>
                    <a:p>
                      <a:r>
                        <a:rPr lang="en-US" sz="2000" dirty="0">
                          <a:latin typeface="Cambria" panose="02040503050406030204" pitchFamily="18" charset="0"/>
                          <a:ea typeface="Cambria" panose="02040503050406030204" pitchFamily="18" charset="0"/>
                        </a:rPr>
                        <a:t>if, else, switch, case, default, while, do, for, break, continue, return, yield</a:t>
                      </a:r>
                      <a:endParaRPr lang="en-US" sz="2000" dirty="0">
                        <a:latin typeface="Cambria" panose="02040503050406030204" pitchFamily="18" charset="0"/>
                        <a:ea typeface="Cambria" panose="02040503050406030204" pitchFamily="18" charset="0"/>
                      </a:endParaRPr>
                    </a:p>
                  </a:txBody>
                  <a:tcPr marL="80580" marR="80580" marT="40290" marB="40290" anchor="ctr">
                    <a:lnL>
                      <a:noFill/>
                    </a:lnL>
                    <a:lnR>
                      <a:noFill/>
                    </a:lnR>
                    <a:lnT>
                      <a:noFill/>
                    </a:lnT>
                    <a:lnB>
                      <a:noFill/>
                    </a:lnB>
                    <a:noFill/>
                  </a:tcPr>
                </a:tc>
              </a:tr>
              <a:tr h="720746">
                <a:tc>
                  <a:txBody>
                    <a:bodyPr/>
                    <a:lstStyle/>
                    <a:p>
                      <a:r>
                        <a:rPr lang="en-US" sz="1800" b="1" dirty="0">
                          <a:latin typeface="Cambria" panose="02040503050406030204" pitchFamily="18" charset="0"/>
                          <a:ea typeface="Cambria" panose="02040503050406030204" pitchFamily="18" charset="0"/>
                        </a:rPr>
                        <a:t>Modifiers</a:t>
                      </a:r>
                      <a:endParaRPr lang="en-US" sz="1800" dirty="0">
                        <a:latin typeface="Cambria" panose="02040503050406030204" pitchFamily="18" charset="0"/>
                        <a:ea typeface="Cambria" panose="02040503050406030204" pitchFamily="18" charset="0"/>
                      </a:endParaRPr>
                    </a:p>
                  </a:txBody>
                  <a:tcPr marL="80580" marR="80580" marT="40290" marB="40290" anchor="ctr">
                    <a:lnL>
                      <a:noFill/>
                    </a:lnL>
                    <a:lnR>
                      <a:noFill/>
                    </a:lnR>
                    <a:lnT>
                      <a:noFill/>
                    </a:lnT>
                    <a:lnB>
                      <a:noFill/>
                    </a:lnB>
                    <a:noFill/>
                  </a:tcPr>
                </a:tc>
                <a:tc>
                  <a:txBody>
                    <a:bodyPr/>
                    <a:lstStyle/>
                    <a:p>
                      <a:r>
                        <a:rPr lang="en-US" sz="2000" dirty="0">
                          <a:latin typeface="Cambria" panose="02040503050406030204" pitchFamily="18" charset="0"/>
                          <a:ea typeface="Cambria" panose="02040503050406030204" pitchFamily="18" charset="0"/>
                        </a:rPr>
                        <a:t>public, protected, private, static, final, abstract, synchronized, volatile, transient, native, </a:t>
                      </a:r>
                      <a:r>
                        <a:rPr lang="en-US" sz="2000" dirty="0" err="1">
                          <a:latin typeface="Cambria" panose="02040503050406030204" pitchFamily="18" charset="0"/>
                          <a:ea typeface="Cambria" panose="02040503050406030204" pitchFamily="18" charset="0"/>
                        </a:rPr>
                        <a:t>strictfp</a:t>
                      </a:r>
                      <a:endParaRPr lang="en-US" sz="2000" dirty="0">
                        <a:latin typeface="Cambria" panose="02040503050406030204" pitchFamily="18" charset="0"/>
                        <a:ea typeface="Cambria" panose="02040503050406030204" pitchFamily="18" charset="0"/>
                      </a:endParaRPr>
                    </a:p>
                  </a:txBody>
                  <a:tcPr marL="80580" marR="80580" marT="40290" marB="40290" anchor="ctr">
                    <a:lnL>
                      <a:noFill/>
                    </a:lnL>
                    <a:lnR>
                      <a:noFill/>
                    </a:lnR>
                    <a:lnT>
                      <a:noFill/>
                    </a:lnT>
                    <a:lnB>
                      <a:noFill/>
                    </a:lnB>
                    <a:noFill/>
                  </a:tcPr>
                </a:tc>
              </a:tr>
              <a:tr h="720746">
                <a:tc>
                  <a:txBody>
                    <a:bodyPr/>
                    <a:lstStyle/>
                    <a:p>
                      <a:r>
                        <a:rPr lang="en-US" sz="1800" b="1">
                          <a:latin typeface="Cambria" panose="02040503050406030204" pitchFamily="18" charset="0"/>
                          <a:ea typeface="Cambria" panose="02040503050406030204" pitchFamily="18" charset="0"/>
                        </a:rPr>
                        <a:t>Class/Object</a:t>
                      </a:r>
                      <a:endParaRPr lang="en-US" sz="1800">
                        <a:latin typeface="Cambria" panose="02040503050406030204" pitchFamily="18" charset="0"/>
                        <a:ea typeface="Cambria" panose="02040503050406030204" pitchFamily="18" charset="0"/>
                      </a:endParaRPr>
                    </a:p>
                  </a:txBody>
                  <a:tcPr marL="80580" marR="80580" marT="40290" marB="40290" anchor="ctr">
                    <a:lnL>
                      <a:noFill/>
                    </a:lnL>
                    <a:lnR>
                      <a:noFill/>
                    </a:lnR>
                    <a:lnT>
                      <a:noFill/>
                    </a:lnT>
                    <a:lnB>
                      <a:noFill/>
                    </a:lnB>
                    <a:noFill/>
                  </a:tcPr>
                </a:tc>
                <a:tc>
                  <a:txBody>
                    <a:bodyPr/>
                    <a:lstStyle/>
                    <a:p>
                      <a:r>
                        <a:rPr lang="en-US" sz="2000">
                          <a:latin typeface="Cambria" panose="02040503050406030204" pitchFamily="18" charset="0"/>
                          <a:ea typeface="Cambria" panose="02040503050406030204" pitchFamily="18" charset="0"/>
                        </a:rPr>
                        <a:t>class, interface, enum, extends, implements, new, this, super, instanceof, record, sealed, non-sealed, permits</a:t>
                      </a:r>
                      <a:endParaRPr lang="en-US" sz="2000">
                        <a:latin typeface="Cambria" panose="02040503050406030204" pitchFamily="18" charset="0"/>
                        <a:ea typeface="Cambria" panose="02040503050406030204" pitchFamily="18" charset="0"/>
                      </a:endParaRPr>
                    </a:p>
                  </a:txBody>
                  <a:tcPr marL="80580" marR="80580" marT="40290" marB="40290" anchor="ctr">
                    <a:lnL>
                      <a:noFill/>
                    </a:lnL>
                    <a:lnR>
                      <a:noFill/>
                    </a:lnR>
                    <a:lnT>
                      <a:noFill/>
                    </a:lnT>
                    <a:lnB>
                      <a:noFill/>
                    </a:lnB>
                    <a:noFill/>
                  </a:tcPr>
                </a:tc>
              </a:tr>
              <a:tr h="402447">
                <a:tc>
                  <a:txBody>
                    <a:bodyPr/>
                    <a:lstStyle/>
                    <a:p>
                      <a:r>
                        <a:rPr lang="en-US" sz="1800" b="1">
                          <a:latin typeface="Cambria" panose="02040503050406030204" pitchFamily="18" charset="0"/>
                          <a:ea typeface="Cambria" panose="02040503050406030204" pitchFamily="18" charset="0"/>
                        </a:rPr>
                        <a:t>Exceptions</a:t>
                      </a:r>
                      <a:endParaRPr lang="en-US" sz="1800">
                        <a:latin typeface="Cambria" panose="02040503050406030204" pitchFamily="18" charset="0"/>
                        <a:ea typeface="Cambria" panose="02040503050406030204" pitchFamily="18" charset="0"/>
                      </a:endParaRPr>
                    </a:p>
                  </a:txBody>
                  <a:tcPr marL="80580" marR="80580" marT="40290" marB="40290" anchor="ctr">
                    <a:lnL>
                      <a:noFill/>
                    </a:lnL>
                    <a:lnR>
                      <a:noFill/>
                    </a:lnR>
                    <a:lnT>
                      <a:noFill/>
                    </a:lnT>
                    <a:lnB>
                      <a:noFill/>
                    </a:lnB>
                    <a:noFill/>
                  </a:tcPr>
                </a:tc>
                <a:tc>
                  <a:txBody>
                    <a:bodyPr/>
                    <a:lstStyle/>
                    <a:p>
                      <a:r>
                        <a:rPr lang="en-US" sz="2000">
                          <a:latin typeface="Cambria" panose="02040503050406030204" pitchFamily="18" charset="0"/>
                          <a:ea typeface="Cambria" panose="02040503050406030204" pitchFamily="18" charset="0"/>
                        </a:rPr>
                        <a:t>try, catch, finally, throw, throws</a:t>
                      </a:r>
                      <a:endParaRPr lang="en-US" sz="2000">
                        <a:latin typeface="Cambria" panose="02040503050406030204" pitchFamily="18" charset="0"/>
                        <a:ea typeface="Cambria" panose="02040503050406030204" pitchFamily="18" charset="0"/>
                      </a:endParaRPr>
                    </a:p>
                  </a:txBody>
                  <a:tcPr marL="80580" marR="80580" marT="40290" marB="40290" anchor="ctr">
                    <a:lnL>
                      <a:noFill/>
                    </a:lnL>
                    <a:lnR>
                      <a:noFill/>
                    </a:lnR>
                    <a:lnT>
                      <a:noFill/>
                    </a:lnT>
                    <a:lnB>
                      <a:noFill/>
                    </a:lnB>
                    <a:noFill/>
                  </a:tcPr>
                </a:tc>
              </a:tr>
              <a:tr h="402447">
                <a:tc>
                  <a:txBody>
                    <a:bodyPr/>
                    <a:lstStyle/>
                    <a:p>
                      <a:r>
                        <a:rPr lang="en-US" sz="1800" b="1">
                          <a:latin typeface="Cambria" panose="02040503050406030204" pitchFamily="18" charset="0"/>
                          <a:ea typeface="Cambria" panose="02040503050406030204" pitchFamily="18" charset="0"/>
                        </a:rPr>
                        <a:t>Data Types</a:t>
                      </a:r>
                      <a:endParaRPr lang="en-US" sz="1800">
                        <a:latin typeface="Cambria" panose="02040503050406030204" pitchFamily="18" charset="0"/>
                        <a:ea typeface="Cambria" panose="02040503050406030204" pitchFamily="18" charset="0"/>
                      </a:endParaRPr>
                    </a:p>
                  </a:txBody>
                  <a:tcPr marL="80580" marR="80580" marT="40290" marB="40290" anchor="ctr">
                    <a:lnL>
                      <a:noFill/>
                    </a:lnL>
                    <a:lnR>
                      <a:noFill/>
                    </a:lnR>
                    <a:lnT>
                      <a:noFill/>
                    </a:lnT>
                    <a:lnB>
                      <a:noFill/>
                    </a:lnB>
                    <a:noFill/>
                  </a:tcPr>
                </a:tc>
                <a:tc>
                  <a:txBody>
                    <a:bodyPr/>
                    <a:lstStyle/>
                    <a:p>
                      <a:r>
                        <a:rPr lang="en-US" sz="2000">
                          <a:latin typeface="Cambria" panose="02040503050406030204" pitchFamily="18" charset="0"/>
                          <a:ea typeface="Cambria" panose="02040503050406030204" pitchFamily="18" charset="0"/>
                        </a:rPr>
                        <a:t>int, float, double, char, byte, short, long, boolean, void</a:t>
                      </a:r>
                      <a:endParaRPr lang="en-US" sz="2000">
                        <a:latin typeface="Cambria" panose="02040503050406030204" pitchFamily="18" charset="0"/>
                        <a:ea typeface="Cambria" panose="02040503050406030204" pitchFamily="18" charset="0"/>
                      </a:endParaRPr>
                    </a:p>
                  </a:txBody>
                  <a:tcPr marL="80580" marR="80580" marT="40290" marB="40290" anchor="ctr">
                    <a:lnL>
                      <a:noFill/>
                    </a:lnL>
                    <a:lnR>
                      <a:noFill/>
                    </a:lnR>
                    <a:lnT>
                      <a:noFill/>
                    </a:lnT>
                    <a:lnB>
                      <a:noFill/>
                    </a:lnB>
                    <a:noFill/>
                  </a:tcPr>
                </a:tc>
              </a:tr>
              <a:tr h="402447">
                <a:tc>
                  <a:txBody>
                    <a:bodyPr/>
                    <a:lstStyle/>
                    <a:p>
                      <a:r>
                        <a:rPr lang="en-US" sz="1800" b="1">
                          <a:latin typeface="Cambria" panose="02040503050406030204" pitchFamily="18" charset="0"/>
                          <a:ea typeface="Cambria" panose="02040503050406030204" pitchFamily="18" charset="0"/>
                        </a:rPr>
                        <a:t>Packages/Import</a:t>
                      </a:r>
                      <a:endParaRPr lang="en-US" sz="1800">
                        <a:latin typeface="Cambria" panose="02040503050406030204" pitchFamily="18" charset="0"/>
                        <a:ea typeface="Cambria" panose="02040503050406030204" pitchFamily="18" charset="0"/>
                      </a:endParaRPr>
                    </a:p>
                  </a:txBody>
                  <a:tcPr marL="80580" marR="80580" marT="40290" marB="40290" anchor="ctr">
                    <a:lnL>
                      <a:noFill/>
                    </a:lnL>
                    <a:lnR>
                      <a:noFill/>
                    </a:lnR>
                    <a:lnT>
                      <a:noFill/>
                    </a:lnT>
                    <a:lnB>
                      <a:noFill/>
                    </a:lnB>
                    <a:noFill/>
                  </a:tcPr>
                </a:tc>
                <a:tc>
                  <a:txBody>
                    <a:bodyPr/>
                    <a:lstStyle/>
                    <a:p>
                      <a:r>
                        <a:rPr lang="en-US" sz="2000">
                          <a:latin typeface="Cambria" panose="02040503050406030204" pitchFamily="18" charset="0"/>
                          <a:ea typeface="Cambria" panose="02040503050406030204" pitchFamily="18" charset="0"/>
                        </a:rPr>
                        <a:t>package, import</a:t>
                      </a:r>
                      <a:endParaRPr lang="en-US" sz="2000">
                        <a:latin typeface="Cambria" panose="02040503050406030204" pitchFamily="18" charset="0"/>
                        <a:ea typeface="Cambria" panose="02040503050406030204" pitchFamily="18" charset="0"/>
                      </a:endParaRPr>
                    </a:p>
                  </a:txBody>
                  <a:tcPr marL="80580" marR="80580" marT="40290" marB="40290" anchor="ctr">
                    <a:lnL>
                      <a:noFill/>
                    </a:lnL>
                    <a:lnR>
                      <a:noFill/>
                    </a:lnR>
                    <a:lnT>
                      <a:noFill/>
                    </a:lnT>
                    <a:lnB>
                      <a:noFill/>
                    </a:lnB>
                    <a:noFill/>
                  </a:tcPr>
                </a:tc>
              </a:tr>
              <a:tr h="739743">
                <a:tc>
                  <a:txBody>
                    <a:bodyPr/>
                    <a:lstStyle/>
                    <a:p>
                      <a:r>
                        <a:rPr lang="en-US" sz="1800" b="1">
                          <a:latin typeface="Cambria" panose="02040503050406030204" pitchFamily="18" charset="0"/>
                          <a:ea typeface="Cambria" panose="02040503050406030204" pitchFamily="18" charset="0"/>
                        </a:rPr>
                        <a:t>Others</a:t>
                      </a:r>
                      <a:endParaRPr lang="en-US" sz="1800">
                        <a:latin typeface="Cambria" panose="02040503050406030204" pitchFamily="18" charset="0"/>
                        <a:ea typeface="Cambria" panose="02040503050406030204" pitchFamily="18" charset="0"/>
                      </a:endParaRPr>
                    </a:p>
                  </a:txBody>
                  <a:tcPr marL="80580" marR="80580" marT="40290" marB="40290" anchor="ctr">
                    <a:lnL>
                      <a:noFill/>
                    </a:lnL>
                    <a:lnR>
                      <a:noFill/>
                    </a:lnR>
                    <a:lnT>
                      <a:noFill/>
                    </a:lnT>
                    <a:lnB>
                      <a:noFill/>
                    </a:lnB>
                    <a:noFill/>
                  </a:tcPr>
                </a:tc>
                <a:tc>
                  <a:txBody>
                    <a:bodyPr/>
                    <a:lstStyle/>
                    <a:p>
                      <a:r>
                        <a:rPr lang="en-US" sz="2000">
                          <a:latin typeface="Cambria" panose="02040503050406030204" pitchFamily="18" charset="0"/>
                          <a:ea typeface="Cambria" panose="02040503050406030204" pitchFamily="18" charset="0"/>
                        </a:rPr>
                        <a:t>var, assert, goto (reserved, not used), const (reserved, not used), true, false, null, break, continue, return, switch, default</a:t>
                      </a:r>
                      <a:endParaRPr lang="en-US" sz="2000">
                        <a:latin typeface="Cambria" panose="02040503050406030204" pitchFamily="18" charset="0"/>
                        <a:ea typeface="Cambria" panose="02040503050406030204" pitchFamily="18" charset="0"/>
                      </a:endParaRPr>
                    </a:p>
                  </a:txBody>
                  <a:tcPr marL="80580" marR="80580" marT="40290" marB="40290" anchor="ctr">
                    <a:lnL>
                      <a:noFill/>
                    </a:lnL>
                    <a:lnR>
                      <a:noFill/>
                    </a:lnR>
                    <a:lnT>
                      <a:noFill/>
                    </a:lnT>
                    <a:lnB>
                      <a:noFill/>
                    </a:lnB>
                    <a:noFill/>
                  </a:tcPr>
                </a:tc>
              </a:tr>
              <a:tr h="618202">
                <a:tc>
                  <a:txBody>
                    <a:bodyPr/>
                    <a:lstStyle/>
                    <a:p>
                      <a:r>
                        <a:rPr lang="en-US" sz="1800" b="1" dirty="0">
                          <a:latin typeface="Cambria" panose="02040503050406030204" pitchFamily="18" charset="0"/>
                          <a:ea typeface="Cambria" panose="02040503050406030204" pitchFamily="18" charset="0"/>
                        </a:rPr>
                        <a:t>Lambdas</a:t>
                      </a:r>
                      <a:endParaRPr lang="en-US" sz="1800" dirty="0">
                        <a:latin typeface="Cambria" panose="02040503050406030204" pitchFamily="18" charset="0"/>
                        <a:ea typeface="Cambria" panose="02040503050406030204" pitchFamily="18" charset="0"/>
                      </a:endParaRPr>
                    </a:p>
                  </a:txBody>
                  <a:tcPr marL="80580" marR="80580" marT="40290" marB="40290" anchor="ctr">
                    <a:lnL>
                      <a:noFill/>
                    </a:lnL>
                    <a:lnR>
                      <a:noFill/>
                    </a:lnR>
                    <a:lnT>
                      <a:noFill/>
                    </a:lnT>
                    <a:lnB>
                      <a:noFill/>
                    </a:lnB>
                    <a:noFill/>
                  </a:tcPr>
                </a:tc>
                <a:tc>
                  <a:txBody>
                    <a:bodyPr/>
                    <a:lstStyle/>
                    <a:p>
                      <a:r>
                        <a:rPr lang="en-US" sz="2000" dirty="0">
                          <a:latin typeface="Cambria" panose="02040503050406030204" pitchFamily="18" charset="0"/>
                          <a:ea typeface="Cambria" panose="02040503050406030204" pitchFamily="18" charset="0"/>
                        </a:rPr>
                        <a:t>-&gt; (technically not a keyword but an operator used in lambda expressions)</a:t>
                      </a:r>
                      <a:endParaRPr lang="en-US" sz="2000" dirty="0">
                        <a:latin typeface="Cambria" panose="02040503050406030204" pitchFamily="18" charset="0"/>
                        <a:ea typeface="Cambria" panose="02040503050406030204" pitchFamily="18" charset="0"/>
                      </a:endParaRPr>
                    </a:p>
                  </a:txBody>
                  <a:tcPr marL="80580" marR="80580" marT="40290" marB="40290" anchor="ctr">
                    <a:lnL>
                      <a:noFill/>
                    </a:lnL>
                    <a:lnR>
                      <a:noFill/>
                    </a:lnR>
                    <a:lnT>
                      <a:noFill/>
                    </a:lnT>
                    <a:lnB>
                      <a:noFill/>
                    </a:lnB>
                    <a:no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931" y="162994"/>
            <a:ext cx="10515600" cy="404897"/>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Java Input Statement</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25730" y="567690"/>
            <a:ext cx="11911330" cy="6290945"/>
          </a:xfrm>
        </p:spPr>
        <p:txBody>
          <a:bodyPr/>
          <a:lstStyle/>
          <a:p>
            <a:pPr marL="0" indent="0">
              <a:buNone/>
            </a:pPr>
            <a:r>
              <a:rPr lang="en-US" altLang="en-US" sz="1600"/>
              <a:t>Java Scanner Class </a:t>
            </a:r>
            <a:endParaRPr lang="en-US" altLang="en-US" sz="1600"/>
          </a:p>
          <a:p>
            <a:pPr marL="0" indent="0">
              <a:buNone/>
            </a:pPr>
            <a:r>
              <a:rPr lang="en-US" altLang="en-US" sz="1600"/>
              <a:t>Belongs to the package: java.util</a:t>
            </a:r>
            <a:endParaRPr lang="en-US" altLang="en-US" sz="1600"/>
          </a:p>
          <a:p>
            <a:pPr marL="0" indent="0">
              <a:buNone/>
            </a:pPr>
            <a:r>
              <a:rPr lang="en-US" altLang="en-US" sz="1600"/>
              <a:t>Used to take input from various sources: keyboard, files, strings, etc.</a:t>
            </a:r>
            <a:endParaRPr lang="en-US" altLang="en-US" sz="1600"/>
          </a:p>
          <a:p>
            <a:pPr marL="0" indent="0">
              <a:buNone/>
            </a:pPr>
            <a:r>
              <a:rPr lang="en-US" altLang="en-US" sz="1600"/>
              <a:t>Most commonly used for keyboard input (System.in)</a:t>
            </a:r>
            <a:endParaRPr lang="en-US" altLang="en-US" sz="1600"/>
          </a:p>
          <a:p>
            <a:pPr marL="0" indent="0">
              <a:buNone/>
            </a:pPr>
            <a:r>
              <a:rPr lang="en-US" altLang="en-US" sz="1600"/>
              <a:t>Introduced in Java 5 (version)</a:t>
            </a:r>
            <a:endParaRPr lang="en-US" altLang="en-US" sz="1600"/>
          </a:p>
          <a:p>
            <a:pPr marL="0" indent="0">
              <a:buNone/>
            </a:pPr>
            <a:r>
              <a:rPr lang="en-US" altLang="en-US" sz="1600"/>
              <a:t>Must import java.util.Scanner before use</a:t>
            </a:r>
            <a:endParaRPr lang="en-US" altLang="en-US" sz="1600"/>
          </a:p>
        </p:txBody>
      </p:sp>
      <p:graphicFrame>
        <p:nvGraphicFramePr>
          <p:cNvPr id="4" name="Table 3"/>
          <p:cNvGraphicFramePr/>
          <p:nvPr>
            <p:custDataLst>
              <p:tags r:id="rId1"/>
            </p:custDataLst>
          </p:nvPr>
        </p:nvGraphicFramePr>
        <p:xfrm>
          <a:off x="125730" y="2741295"/>
          <a:ext cx="11689080" cy="3956050"/>
        </p:xfrm>
        <a:graphic>
          <a:graphicData uri="http://schemas.openxmlformats.org/drawingml/2006/table">
            <a:tbl>
              <a:tblPr/>
              <a:tblGrid>
                <a:gridCol w="3896360"/>
                <a:gridCol w="3896360"/>
                <a:gridCol w="3896360"/>
              </a:tblGrid>
              <a:tr h="395605">
                <a:tc>
                  <a:txBody>
                    <a:bodyPr/>
                    <a:p>
                      <a:pPr algn="ctr"/>
                      <a:r>
                        <a:rPr sz="1800" b="1">
                          <a:solidFill>
                            <a:srgbClr val="FF0000"/>
                          </a:solidFill>
                        </a:rPr>
                        <a:t>Method</a:t>
                      </a:r>
                      <a:endParaRPr sz="18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800" b="1">
                          <a:solidFill>
                            <a:srgbClr val="FF0000"/>
                          </a:solidFill>
                        </a:rPr>
                        <a:t>Description</a:t>
                      </a:r>
                      <a:endParaRPr sz="18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800" b="1">
                          <a:solidFill>
                            <a:srgbClr val="FF0000"/>
                          </a:solidFill>
                        </a:rPr>
                        <a:t>Example</a:t>
                      </a:r>
                      <a:endParaRPr sz="18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r>
              <a:tr h="395605">
                <a:tc>
                  <a:txBody>
                    <a:bodyPr/>
                    <a:p>
                      <a:r>
                        <a:rPr sz="1800"/>
                        <a:t>next()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Reads one word (until space)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String word = sc.next();</a:t>
                      </a:r>
                      <a:endParaRPr sz="1800"/>
                    </a:p>
                  </a:txBody>
                  <a:tcPr marL="0" marR="0" marT="0" marB="0" anchor="ctr" anchorCtr="0">
                    <a:lnL>
                      <a:noFill/>
                    </a:lnL>
                    <a:lnR>
                      <a:noFill/>
                    </a:lnR>
                    <a:lnT>
                      <a:noFill/>
                    </a:lnT>
                    <a:lnB>
                      <a:noFill/>
                    </a:lnB>
                    <a:solidFill>
                      <a:schemeClr val="accent1">
                        <a:lumMod val="40000"/>
                        <a:lumOff val="60000"/>
                      </a:schemeClr>
                    </a:solidFill>
                  </a:tcPr>
                </a:tc>
              </a:tr>
              <a:tr h="395605">
                <a:tc>
                  <a:txBody>
                    <a:bodyPr/>
                    <a:p>
                      <a:r>
                        <a:rPr sz="1800"/>
                        <a:t>nextLine()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Reads a full line (including spaces)</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String line = sc.nextLine();</a:t>
                      </a:r>
                      <a:endParaRPr sz="1800"/>
                    </a:p>
                  </a:txBody>
                  <a:tcPr marL="0" marR="0" marT="0" marB="0" anchor="ctr" anchorCtr="0">
                    <a:lnL>
                      <a:noFill/>
                    </a:lnL>
                    <a:lnR>
                      <a:noFill/>
                    </a:lnR>
                    <a:lnT>
                      <a:noFill/>
                    </a:lnT>
                    <a:lnB>
                      <a:noFill/>
                    </a:lnB>
                    <a:solidFill>
                      <a:schemeClr val="accent1">
                        <a:lumMod val="40000"/>
                        <a:lumOff val="60000"/>
                      </a:schemeClr>
                    </a:solidFill>
                  </a:tcPr>
                </a:tc>
              </a:tr>
              <a:tr h="395605">
                <a:tc>
                  <a:txBody>
                    <a:bodyPr/>
                    <a:p>
                      <a:r>
                        <a:rPr sz="1800"/>
                        <a:t>nextInt()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Reads an integer</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int num = sc.nextInt();</a:t>
                      </a:r>
                      <a:endParaRPr sz="1800"/>
                    </a:p>
                  </a:txBody>
                  <a:tcPr marL="0" marR="0" marT="0" marB="0" anchor="ctr" anchorCtr="0">
                    <a:lnL>
                      <a:noFill/>
                    </a:lnL>
                    <a:lnR>
                      <a:noFill/>
                    </a:lnR>
                    <a:lnT>
                      <a:noFill/>
                    </a:lnT>
                    <a:lnB>
                      <a:noFill/>
                    </a:lnB>
                    <a:solidFill>
                      <a:schemeClr val="accent1">
                        <a:lumMod val="40000"/>
                        <a:lumOff val="60000"/>
                      </a:schemeClr>
                    </a:solidFill>
                  </a:tcPr>
                </a:tc>
              </a:tr>
              <a:tr h="395605">
                <a:tc>
                  <a:txBody>
                    <a:bodyPr/>
                    <a:p>
                      <a:r>
                        <a:rPr sz="1800"/>
                        <a:t>nextDouble()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Reads a double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double price = sc.nextDouble();</a:t>
                      </a:r>
                      <a:endParaRPr sz="1800"/>
                    </a:p>
                  </a:txBody>
                  <a:tcPr marL="0" marR="0" marT="0" marB="0" anchor="ctr" anchorCtr="0">
                    <a:lnL>
                      <a:noFill/>
                    </a:lnL>
                    <a:lnR>
                      <a:noFill/>
                    </a:lnR>
                    <a:lnT>
                      <a:noFill/>
                    </a:lnT>
                    <a:lnB>
                      <a:noFill/>
                    </a:lnB>
                    <a:solidFill>
                      <a:schemeClr val="accent1">
                        <a:lumMod val="40000"/>
                        <a:lumOff val="60000"/>
                      </a:schemeClr>
                    </a:solidFill>
                  </a:tcPr>
                </a:tc>
              </a:tr>
              <a:tr h="395605">
                <a:tc>
                  <a:txBody>
                    <a:bodyPr/>
                    <a:p>
                      <a:r>
                        <a:rPr sz="1800"/>
                        <a:t>nextFloat()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Reads a float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float f = sc.nextFloat();</a:t>
                      </a:r>
                      <a:endParaRPr sz="1800"/>
                    </a:p>
                  </a:txBody>
                  <a:tcPr marL="0" marR="0" marT="0" marB="0" anchor="ctr" anchorCtr="0">
                    <a:lnL>
                      <a:noFill/>
                    </a:lnL>
                    <a:lnR>
                      <a:noFill/>
                    </a:lnR>
                    <a:lnT>
                      <a:noFill/>
                    </a:lnT>
                    <a:lnB>
                      <a:noFill/>
                    </a:lnB>
                    <a:solidFill>
                      <a:schemeClr val="accent1">
                        <a:lumMod val="40000"/>
                        <a:lumOff val="60000"/>
                      </a:schemeClr>
                    </a:solidFill>
                  </a:tcPr>
                </a:tc>
              </a:tr>
              <a:tr h="395605">
                <a:tc>
                  <a:txBody>
                    <a:bodyPr/>
                    <a:p>
                      <a:r>
                        <a:rPr sz="1800"/>
                        <a:t>nextBoolean()</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Reads a boolean</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boolean b = sc.nextBoolean();</a:t>
                      </a:r>
                      <a:endParaRPr sz="1800"/>
                    </a:p>
                  </a:txBody>
                  <a:tcPr marL="0" marR="0" marT="0" marB="0" anchor="ctr" anchorCtr="0">
                    <a:lnL>
                      <a:noFill/>
                    </a:lnL>
                    <a:lnR>
                      <a:noFill/>
                    </a:lnR>
                    <a:lnT>
                      <a:noFill/>
                    </a:lnT>
                    <a:lnB>
                      <a:noFill/>
                    </a:lnB>
                    <a:solidFill>
                      <a:schemeClr val="accent1">
                        <a:lumMod val="40000"/>
                        <a:lumOff val="60000"/>
                      </a:schemeClr>
                    </a:solidFill>
                  </a:tcPr>
                </a:tc>
              </a:tr>
              <a:tr h="395605">
                <a:tc>
                  <a:txBody>
                    <a:bodyPr/>
                    <a:p>
                      <a:r>
                        <a:rPr sz="1800"/>
                        <a:t>nextLong()</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Reads a long</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long l = sc.nextLong();</a:t>
                      </a:r>
                      <a:endParaRPr sz="1800"/>
                    </a:p>
                  </a:txBody>
                  <a:tcPr marL="0" marR="0" marT="0" marB="0" anchor="ctr" anchorCtr="0">
                    <a:lnL>
                      <a:noFill/>
                    </a:lnL>
                    <a:lnR>
                      <a:noFill/>
                    </a:lnR>
                    <a:lnT>
                      <a:noFill/>
                    </a:lnT>
                    <a:lnB>
                      <a:noFill/>
                    </a:lnB>
                    <a:solidFill>
                      <a:schemeClr val="accent1">
                        <a:lumMod val="40000"/>
                        <a:lumOff val="60000"/>
                      </a:schemeClr>
                    </a:solidFill>
                  </a:tcPr>
                </a:tc>
              </a:tr>
              <a:tr h="395605">
                <a:tc>
                  <a:txBody>
                    <a:bodyPr/>
                    <a:p>
                      <a:r>
                        <a:rPr sz="1800"/>
                        <a:t>nextShort()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Reads a short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short s = sc.nextShort();</a:t>
                      </a:r>
                      <a:endParaRPr sz="1800"/>
                    </a:p>
                  </a:txBody>
                  <a:tcPr marL="0" marR="0" marT="0" marB="0" anchor="ctr" anchorCtr="0">
                    <a:lnL>
                      <a:noFill/>
                    </a:lnL>
                    <a:lnR>
                      <a:noFill/>
                    </a:lnR>
                    <a:lnT>
                      <a:noFill/>
                    </a:lnT>
                    <a:lnB>
                      <a:noFill/>
                    </a:lnB>
                    <a:solidFill>
                      <a:schemeClr val="accent1">
                        <a:lumMod val="40000"/>
                        <a:lumOff val="60000"/>
                      </a:schemeClr>
                    </a:solidFill>
                  </a:tcPr>
                </a:tc>
              </a:tr>
              <a:tr h="395605">
                <a:tc>
                  <a:txBody>
                    <a:bodyPr/>
                    <a:p>
                      <a:r>
                        <a:rPr sz="1800"/>
                        <a:t>close()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Closes the Scanner</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sc.close();</a:t>
                      </a:r>
                      <a:endParaRPr sz="1800"/>
                    </a:p>
                  </a:txBody>
                  <a:tcPr marL="0" marR="0" marT="0" marB="0" anchor="ctr" anchorCtr="0">
                    <a:lnL>
                      <a:noFill/>
                    </a:lnL>
                    <a:lnR>
                      <a:noFill/>
                    </a:lnR>
                    <a:lnT>
                      <a:noFill/>
                    </a:lnT>
                    <a:lnB>
                      <a:noFill/>
                    </a:lnB>
                    <a:solidFill>
                      <a:schemeClr val="accent1">
                        <a:lumMod val="40000"/>
                        <a:lumOff val="60000"/>
                      </a:schemeClr>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930" y="85992"/>
            <a:ext cx="10515600" cy="453023"/>
          </a:xfrm>
        </p:spPr>
        <p:txBody>
          <a:bodyPr>
            <a:normAutofit/>
          </a:bodyPr>
          <a:lstStyle/>
          <a:p>
            <a:r>
              <a:rPr lang="en-US" sz="2400" b="1" dirty="0">
                <a:solidFill>
                  <a:srgbClr val="FF0000"/>
                </a:solidFill>
                <a:latin typeface="Cambria" panose="02040503050406030204" pitchFamily="18" charset="0"/>
                <a:ea typeface="Cambria" panose="02040503050406030204" pitchFamily="18" charset="0"/>
              </a:rPr>
              <a:t>Java Variables And Java Datatype</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25930" y="824598"/>
            <a:ext cx="10515600" cy="3141010"/>
          </a:xfrm>
        </p:spPr>
        <p:txBody>
          <a:bodyPr>
            <a:normAutofit lnSpcReduction="10000"/>
          </a:bodyPr>
          <a:lstStyle/>
          <a:p>
            <a:r>
              <a:rPr lang="en-US" sz="1800" b="1" dirty="0">
                <a:latin typeface="Cambria" panose="02040503050406030204" pitchFamily="18" charset="0"/>
                <a:ea typeface="Cambria" panose="02040503050406030204" pitchFamily="18" charset="0"/>
              </a:rPr>
              <a:t>1. Variables</a:t>
            </a:r>
            <a:endParaRPr lang="en-US" sz="1800" b="1" dirty="0">
              <a:latin typeface="Cambria" panose="02040503050406030204" pitchFamily="18" charset="0"/>
              <a:ea typeface="Cambria" panose="02040503050406030204" pitchFamily="18" charset="0"/>
            </a:endParaRPr>
          </a:p>
          <a:p>
            <a:r>
              <a:rPr lang="en-US" sz="1800" b="1" dirty="0">
                <a:latin typeface="Cambria" panose="02040503050406030204" pitchFamily="18" charset="0"/>
                <a:ea typeface="Cambria" panose="02040503050406030204" pitchFamily="18" charset="0"/>
              </a:rPr>
              <a:t>Definition:</a:t>
            </a:r>
            <a:endParaRPr lang="en-US" sz="1800" b="1"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A </a:t>
            </a:r>
            <a:r>
              <a:rPr lang="en-US" sz="1800" b="1" dirty="0">
                <a:latin typeface="Cambria" panose="02040503050406030204" pitchFamily="18" charset="0"/>
                <a:ea typeface="Cambria" panose="02040503050406030204" pitchFamily="18" charset="0"/>
              </a:rPr>
              <a:t>variable</a:t>
            </a:r>
            <a:r>
              <a:rPr lang="en-US" sz="1800" dirty="0">
                <a:latin typeface="Cambria" panose="02040503050406030204" pitchFamily="18" charset="0"/>
                <a:ea typeface="Cambria" panose="02040503050406030204" pitchFamily="18" charset="0"/>
              </a:rPr>
              <a:t> is a name given to a memory location that stores data temporarily during program execution.</a:t>
            </a:r>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int age;</a:t>
            </a:r>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float salary;</a:t>
            </a:r>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char grade;</a:t>
            </a:r>
            <a:endParaRPr lang="en-US" sz="1800" dirty="0">
              <a:latin typeface="Cambria" panose="02040503050406030204" pitchFamily="18" charset="0"/>
              <a:ea typeface="Cambria" panose="02040503050406030204" pitchFamily="18" charset="0"/>
            </a:endParaRPr>
          </a:p>
          <a:p>
            <a:r>
              <a:rPr lang="en-US" sz="1800" b="1" dirty="0"/>
              <a:t>Definition:</a:t>
            </a:r>
            <a:endParaRPr lang="en-US" sz="1800" b="1" dirty="0"/>
          </a:p>
          <a:p>
            <a:r>
              <a:rPr lang="en-US" sz="1800" dirty="0"/>
              <a:t>Data types specify the type of data a variable can hold.</a:t>
            </a:r>
            <a:endParaRPr lang="en-US" sz="1800" dirty="0"/>
          </a:p>
          <a:p>
            <a:endParaRPr lang="en-US" sz="1800" dirty="0">
              <a:latin typeface="Cambria" panose="02040503050406030204" pitchFamily="18" charset="0"/>
              <a:ea typeface="Cambria" panose="02040503050406030204" pitchFamily="18" charset="0"/>
            </a:endParaRPr>
          </a:p>
        </p:txBody>
      </p:sp>
      <p:graphicFrame>
        <p:nvGraphicFramePr>
          <p:cNvPr id="4" name="Table 3"/>
          <p:cNvGraphicFramePr>
            <a:graphicFrameLocks noGrp="1"/>
          </p:cNvGraphicFramePr>
          <p:nvPr/>
        </p:nvGraphicFramePr>
        <p:xfrm>
          <a:off x="241433" y="4251191"/>
          <a:ext cx="11443635" cy="2194560"/>
        </p:xfrm>
        <a:graphic>
          <a:graphicData uri="http://schemas.openxmlformats.org/drawingml/2006/table">
            <a:tbl>
              <a:tblPr/>
              <a:tblGrid>
                <a:gridCol w="3814545"/>
                <a:gridCol w="3814545"/>
                <a:gridCol w="3814545"/>
              </a:tblGrid>
              <a:tr h="0">
                <a:tc>
                  <a:txBody>
                    <a:bodyPr/>
                    <a:lstStyle/>
                    <a:p>
                      <a:pPr algn="ctr"/>
                      <a:r>
                        <a:rPr lang="en-US" b="1">
                          <a:latin typeface="Cambria" panose="02040503050406030204" pitchFamily="18" charset="0"/>
                          <a:ea typeface="Cambria" panose="02040503050406030204" pitchFamily="18" charset="0"/>
                        </a:rPr>
                        <a:t>Type</a:t>
                      </a:r>
                      <a:endParaRPr lang="en-US" b="1">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60000"/>
                        <a:lumOff val="40000"/>
                      </a:schemeClr>
                    </a:solidFill>
                  </a:tcPr>
                </a:tc>
                <a:tc>
                  <a:txBody>
                    <a:bodyPr/>
                    <a:lstStyle/>
                    <a:p>
                      <a:pPr algn="ctr"/>
                      <a:r>
                        <a:rPr lang="en-US" b="1">
                          <a:latin typeface="Cambria" panose="02040503050406030204" pitchFamily="18" charset="0"/>
                          <a:ea typeface="Cambria" panose="02040503050406030204" pitchFamily="18" charset="0"/>
                        </a:rPr>
                        <a:t>Description</a:t>
                      </a:r>
                      <a:endParaRPr lang="en-US" b="1">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60000"/>
                        <a:lumOff val="40000"/>
                      </a:schemeClr>
                    </a:solidFill>
                  </a:tcPr>
                </a:tc>
                <a:tc>
                  <a:txBody>
                    <a:bodyPr/>
                    <a:lstStyle/>
                    <a:p>
                      <a:pPr algn="ctr"/>
                      <a:r>
                        <a:rPr lang="en-US" b="1" dirty="0">
                          <a:latin typeface="Cambria" panose="02040503050406030204" pitchFamily="18" charset="0"/>
                          <a:ea typeface="Cambria" panose="02040503050406030204" pitchFamily="18" charset="0"/>
                        </a:rPr>
                        <a:t>Example</a:t>
                      </a:r>
                      <a:endParaRPr lang="en-US" b="1"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60000"/>
                        <a:lumOff val="40000"/>
                      </a:schemeClr>
                    </a:solidFill>
                  </a:tcPr>
                </a:tc>
              </a:tr>
              <a:tr h="0">
                <a:tc>
                  <a:txBody>
                    <a:bodyPr/>
                    <a:lstStyle/>
                    <a:p>
                      <a:r>
                        <a:rPr lang="en-US"/>
                        <a:t>int</a:t>
                      </a:r>
                      <a:endParaRPr lang="en-US"/>
                    </a:p>
                  </a:txBody>
                  <a:tcPr anchor="ctr">
                    <a:lnL>
                      <a:noFill/>
                    </a:lnL>
                    <a:lnR>
                      <a:noFill/>
                    </a:lnR>
                    <a:lnT>
                      <a:noFill/>
                    </a:lnT>
                    <a:lnB>
                      <a:noFill/>
                    </a:lnB>
                    <a:noFill/>
                  </a:tcPr>
                </a:tc>
                <a:tc>
                  <a:txBody>
                    <a:bodyPr/>
                    <a:lstStyle/>
                    <a:p>
                      <a:r>
                        <a:rPr lang="en-US"/>
                        <a:t>Integer values</a:t>
                      </a:r>
                      <a:endParaRPr lang="en-US"/>
                    </a:p>
                  </a:txBody>
                  <a:tcPr anchor="ctr">
                    <a:lnL>
                      <a:noFill/>
                    </a:lnL>
                    <a:lnR>
                      <a:noFill/>
                    </a:lnR>
                    <a:lnT>
                      <a:noFill/>
                    </a:lnT>
                    <a:lnB>
                      <a:noFill/>
                    </a:lnB>
                    <a:noFill/>
                  </a:tcPr>
                </a:tc>
                <a:tc>
                  <a:txBody>
                    <a:bodyPr/>
                    <a:lstStyle/>
                    <a:p>
                      <a:r>
                        <a:rPr lang="en-US"/>
                        <a:t>int a = 10;</a:t>
                      </a:r>
                      <a:endParaRPr lang="en-US"/>
                    </a:p>
                  </a:txBody>
                  <a:tcPr anchor="ctr">
                    <a:lnL>
                      <a:noFill/>
                    </a:lnL>
                    <a:lnR>
                      <a:noFill/>
                    </a:lnR>
                    <a:lnT>
                      <a:noFill/>
                    </a:lnT>
                    <a:lnB>
                      <a:noFill/>
                    </a:lnB>
                    <a:noFill/>
                  </a:tcPr>
                </a:tc>
              </a:tr>
              <a:tr h="0">
                <a:tc>
                  <a:txBody>
                    <a:bodyPr/>
                    <a:lstStyle/>
                    <a:p>
                      <a:r>
                        <a:rPr lang="en-US"/>
                        <a:t>float</a:t>
                      </a:r>
                      <a:endParaRPr lang="en-US"/>
                    </a:p>
                  </a:txBody>
                  <a:tcPr anchor="ctr">
                    <a:lnL>
                      <a:noFill/>
                    </a:lnL>
                    <a:lnR>
                      <a:noFill/>
                    </a:lnR>
                    <a:lnT>
                      <a:noFill/>
                    </a:lnT>
                    <a:lnB>
                      <a:noFill/>
                    </a:lnB>
                    <a:noFill/>
                  </a:tcPr>
                </a:tc>
                <a:tc>
                  <a:txBody>
                    <a:bodyPr/>
                    <a:lstStyle/>
                    <a:p>
                      <a:r>
                        <a:rPr lang="en-US"/>
                        <a:t>Floating-point numbers</a:t>
                      </a:r>
                      <a:endParaRPr lang="en-US"/>
                    </a:p>
                  </a:txBody>
                  <a:tcPr anchor="ctr">
                    <a:lnL>
                      <a:noFill/>
                    </a:lnL>
                    <a:lnR>
                      <a:noFill/>
                    </a:lnR>
                    <a:lnT>
                      <a:noFill/>
                    </a:lnT>
                    <a:lnB>
                      <a:noFill/>
                    </a:lnB>
                    <a:noFill/>
                  </a:tcPr>
                </a:tc>
                <a:tc>
                  <a:txBody>
                    <a:bodyPr/>
                    <a:lstStyle/>
                    <a:p>
                      <a:r>
                        <a:rPr lang="en-US"/>
                        <a:t>float pi = 3.14;</a:t>
                      </a:r>
                      <a:endParaRPr lang="en-US"/>
                    </a:p>
                  </a:txBody>
                  <a:tcPr anchor="ctr">
                    <a:lnL>
                      <a:noFill/>
                    </a:lnL>
                    <a:lnR>
                      <a:noFill/>
                    </a:lnR>
                    <a:lnT>
                      <a:noFill/>
                    </a:lnT>
                    <a:lnB>
                      <a:noFill/>
                    </a:lnB>
                    <a:noFill/>
                  </a:tcPr>
                </a:tc>
              </a:tr>
              <a:tr h="0">
                <a:tc>
                  <a:txBody>
                    <a:bodyPr/>
                    <a:lstStyle/>
                    <a:p>
                      <a:r>
                        <a:rPr lang="en-US"/>
                        <a:t>double</a:t>
                      </a:r>
                      <a:endParaRPr lang="en-US"/>
                    </a:p>
                  </a:txBody>
                  <a:tcPr anchor="ctr">
                    <a:lnL>
                      <a:noFill/>
                    </a:lnL>
                    <a:lnR>
                      <a:noFill/>
                    </a:lnR>
                    <a:lnT>
                      <a:noFill/>
                    </a:lnT>
                    <a:lnB>
                      <a:noFill/>
                    </a:lnB>
                    <a:noFill/>
                  </a:tcPr>
                </a:tc>
                <a:tc>
                  <a:txBody>
                    <a:bodyPr/>
                    <a:lstStyle/>
                    <a:p>
                      <a:r>
                        <a:rPr lang="en-US"/>
                        <a:t>Double precision float</a:t>
                      </a:r>
                      <a:endParaRPr lang="en-US"/>
                    </a:p>
                  </a:txBody>
                  <a:tcPr anchor="ctr">
                    <a:lnL>
                      <a:noFill/>
                    </a:lnL>
                    <a:lnR>
                      <a:noFill/>
                    </a:lnR>
                    <a:lnT>
                      <a:noFill/>
                    </a:lnT>
                    <a:lnB>
                      <a:noFill/>
                    </a:lnB>
                    <a:noFill/>
                  </a:tcPr>
                </a:tc>
                <a:tc>
                  <a:txBody>
                    <a:bodyPr/>
                    <a:lstStyle/>
                    <a:p>
                      <a:r>
                        <a:rPr lang="en-US"/>
                        <a:t>double d = 3.14159;</a:t>
                      </a:r>
                      <a:endParaRPr lang="en-US"/>
                    </a:p>
                  </a:txBody>
                  <a:tcPr anchor="ctr">
                    <a:lnL>
                      <a:noFill/>
                    </a:lnL>
                    <a:lnR>
                      <a:noFill/>
                    </a:lnR>
                    <a:lnT>
                      <a:noFill/>
                    </a:lnT>
                    <a:lnB>
                      <a:noFill/>
                    </a:lnB>
                    <a:noFill/>
                  </a:tcPr>
                </a:tc>
              </a:tr>
              <a:tr h="0">
                <a:tc>
                  <a:txBody>
                    <a:bodyPr/>
                    <a:lstStyle/>
                    <a:p>
                      <a:r>
                        <a:rPr lang="en-US"/>
                        <a:t>char</a:t>
                      </a:r>
                      <a:endParaRPr lang="en-US"/>
                    </a:p>
                  </a:txBody>
                  <a:tcPr anchor="ctr">
                    <a:lnL>
                      <a:noFill/>
                    </a:lnL>
                    <a:lnR>
                      <a:noFill/>
                    </a:lnR>
                    <a:lnT>
                      <a:noFill/>
                    </a:lnT>
                    <a:lnB>
                      <a:noFill/>
                    </a:lnB>
                    <a:noFill/>
                  </a:tcPr>
                </a:tc>
                <a:tc>
                  <a:txBody>
                    <a:bodyPr/>
                    <a:lstStyle/>
                    <a:p>
                      <a:r>
                        <a:rPr lang="en-US"/>
                        <a:t>Single characters</a:t>
                      </a:r>
                      <a:endParaRPr lang="en-US"/>
                    </a:p>
                  </a:txBody>
                  <a:tcPr anchor="ctr">
                    <a:lnL>
                      <a:noFill/>
                    </a:lnL>
                    <a:lnR>
                      <a:noFill/>
                    </a:lnR>
                    <a:lnT>
                      <a:noFill/>
                    </a:lnT>
                    <a:lnB>
                      <a:noFill/>
                    </a:lnB>
                    <a:noFill/>
                  </a:tcPr>
                </a:tc>
                <a:tc>
                  <a:txBody>
                    <a:bodyPr/>
                    <a:lstStyle/>
                    <a:p>
                      <a:r>
                        <a:rPr lang="en-US"/>
                        <a:t>char c = 'A';</a:t>
                      </a:r>
                      <a:endParaRPr lang="en-US"/>
                    </a:p>
                  </a:txBody>
                  <a:tcPr anchor="ctr">
                    <a:lnL>
                      <a:noFill/>
                    </a:lnL>
                    <a:lnR>
                      <a:noFill/>
                    </a:lnR>
                    <a:lnT>
                      <a:noFill/>
                    </a:lnT>
                    <a:lnB>
                      <a:noFill/>
                    </a:lnB>
                    <a:noFill/>
                  </a:tcPr>
                </a:tc>
              </a:tr>
              <a:tr h="0">
                <a:tc>
                  <a:txBody>
                    <a:bodyPr/>
                    <a:lstStyle/>
                    <a:p>
                      <a:r>
                        <a:rPr lang="en-US"/>
                        <a:t>void</a:t>
                      </a:r>
                      <a:endParaRPr lang="en-US"/>
                    </a:p>
                  </a:txBody>
                  <a:tcPr anchor="ctr">
                    <a:lnL>
                      <a:noFill/>
                    </a:lnL>
                    <a:lnR>
                      <a:noFill/>
                    </a:lnR>
                    <a:lnT>
                      <a:noFill/>
                    </a:lnT>
                    <a:lnB>
                      <a:noFill/>
                    </a:lnB>
                    <a:noFill/>
                  </a:tcPr>
                </a:tc>
                <a:tc>
                  <a:txBody>
                    <a:bodyPr/>
                    <a:lstStyle/>
                    <a:p>
                      <a:r>
                        <a:rPr lang="en-US"/>
                        <a:t>No value/return type</a:t>
                      </a:r>
                      <a:endParaRPr lang="en-US"/>
                    </a:p>
                  </a:txBody>
                  <a:tcPr anchor="ctr">
                    <a:lnL>
                      <a:noFill/>
                    </a:lnL>
                    <a:lnR>
                      <a:noFill/>
                    </a:lnR>
                    <a:lnT>
                      <a:noFill/>
                    </a:lnT>
                    <a:lnB>
                      <a:noFill/>
                    </a:lnB>
                    <a:noFill/>
                  </a:tcPr>
                </a:tc>
                <a:tc>
                  <a:txBody>
                    <a:bodyPr/>
                    <a:lstStyle/>
                    <a:p>
                      <a:r>
                        <a:rPr lang="en-US" dirty="0"/>
                        <a:t>void </a:t>
                      </a:r>
                      <a:r>
                        <a:rPr lang="en-US" dirty="0" err="1"/>
                        <a:t>func</a:t>
                      </a:r>
                      <a:r>
                        <a:rPr lang="en-US" dirty="0"/>
                        <a:t>();</a:t>
                      </a:r>
                      <a:endParaRPr lang="en-US" dirty="0"/>
                    </a:p>
                  </a:txBody>
                  <a:tcPr anchor="ctr">
                    <a:lnL>
                      <a:noFill/>
                    </a:lnL>
                    <a:lnR>
                      <a:noFill/>
                    </a:lnR>
                    <a:lnT>
                      <a:noFill/>
                    </a:lnT>
                    <a:lnB>
                      <a:noFill/>
                    </a:lnB>
                    <a:no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804" y="85993"/>
            <a:ext cx="10515600" cy="520399"/>
          </a:xfrm>
        </p:spPr>
        <p:txBody>
          <a:bodyPr>
            <a:normAutofit/>
          </a:bodyPr>
          <a:lstStyle/>
          <a:p>
            <a:r>
              <a:rPr lang="en-US" sz="2400" b="1" dirty="0">
                <a:solidFill>
                  <a:srgbClr val="FF0000"/>
                </a:solidFill>
                <a:latin typeface="Cambria" panose="02040503050406030204" pitchFamily="18" charset="0"/>
                <a:ea typeface="Cambria" panose="02040503050406030204" pitchFamily="18" charset="0"/>
              </a:rPr>
              <a:t>Java Memory Management</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77804" y="632093"/>
            <a:ext cx="12040402" cy="1081204"/>
          </a:xfrm>
        </p:spPr>
        <p:txBody>
          <a:bodyPr>
            <a:normAutofit lnSpcReduction="10000"/>
          </a:bodyPr>
          <a:lstStyle/>
          <a:p>
            <a:r>
              <a:rPr lang="en-US" sz="1800" b="1" dirty="0"/>
              <a:t>3. Operators</a:t>
            </a:r>
            <a:endParaRPr lang="en-US" sz="1800" b="1" dirty="0"/>
          </a:p>
          <a:p>
            <a:r>
              <a:rPr lang="en-US" sz="1800" b="1" dirty="0"/>
              <a:t>✅ Definition:</a:t>
            </a:r>
            <a:endParaRPr lang="en-US" sz="1800" b="1" dirty="0"/>
          </a:p>
          <a:p>
            <a:r>
              <a:rPr lang="en-US" sz="1800" dirty="0"/>
              <a:t>Operators are symbols that perform operations on variables and values.</a:t>
            </a:r>
            <a:endParaRPr lang="en-US" sz="1800" dirty="0"/>
          </a:p>
        </p:txBody>
      </p:sp>
      <p:graphicFrame>
        <p:nvGraphicFramePr>
          <p:cNvPr id="4" name="Table 3"/>
          <p:cNvGraphicFramePr>
            <a:graphicFrameLocks noGrp="1"/>
          </p:cNvGraphicFramePr>
          <p:nvPr/>
        </p:nvGraphicFramePr>
        <p:xfrm>
          <a:off x="154805" y="1989255"/>
          <a:ext cx="11770896" cy="2590800"/>
        </p:xfrm>
        <a:graphic>
          <a:graphicData uri="http://schemas.openxmlformats.org/drawingml/2006/table">
            <a:tbl>
              <a:tblPr/>
              <a:tblGrid>
                <a:gridCol w="3923632"/>
                <a:gridCol w="3923632"/>
                <a:gridCol w="3923632"/>
              </a:tblGrid>
              <a:tr h="343485">
                <a:tc>
                  <a:txBody>
                    <a:bodyPr/>
                    <a:lstStyle/>
                    <a:p>
                      <a:pPr algn="ctr"/>
                      <a:r>
                        <a:rPr lang="en-US" sz="2000" b="1">
                          <a:latin typeface="Cambria" panose="02040503050406030204" pitchFamily="18" charset="0"/>
                          <a:ea typeface="Cambria" panose="02040503050406030204" pitchFamily="18" charset="0"/>
                        </a:rPr>
                        <a:t>Type</a:t>
                      </a:r>
                      <a:endParaRPr lang="en-US" sz="2000" b="1">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60000"/>
                        <a:lumOff val="40000"/>
                      </a:schemeClr>
                    </a:solidFill>
                  </a:tcPr>
                </a:tc>
                <a:tc>
                  <a:txBody>
                    <a:bodyPr/>
                    <a:lstStyle/>
                    <a:p>
                      <a:pPr algn="ctr"/>
                      <a:r>
                        <a:rPr lang="en-US" sz="2000" b="1">
                          <a:latin typeface="Cambria" panose="02040503050406030204" pitchFamily="18" charset="0"/>
                          <a:ea typeface="Cambria" panose="02040503050406030204" pitchFamily="18" charset="0"/>
                        </a:rPr>
                        <a:t>Operators</a:t>
                      </a:r>
                      <a:endParaRPr lang="en-US" sz="2000" b="1">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60000"/>
                        <a:lumOff val="40000"/>
                      </a:schemeClr>
                    </a:solidFill>
                  </a:tcPr>
                </a:tc>
                <a:tc>
                  <a:txBody>
                    <a:bodyPr/>
                    <a:lstStyle/>
                    <a:p>
                      <a:pPr algn="ctr"/>
                      <a:r>
                        <a:rPr lang="en-US" sz="2000" b="1" dirty="0">
                          <a:latin typeface="Cambria" panose="02040503050406030204" pitchFamily="18" charset="0"/>
                          <a:ea typeface="Cambria" panose="02040503050406030204" pitchFamily="18" charset="0"/>
                        </a:rPr>
                        <a:t>Example</a:t>
                      </a:r>
                      <a:endParaRPr lang="en-US" sz="2000" b="1" dirty="0">
                        <a:latin typeface="Cambria" panose="02040503050406030204" pitchFamily="18" charset="0"/>
                        <a:ea typeface="Cambria" panose="02040503050406030204" pitchFamily="18" charset="0"/>
                      </a:endParaRPr>
                    </a:p>
                  </a:txBody>
                  <a:tcPr anchor="ctr">
                    <a:lnL>
                      <a:noFill/>
                    </a:lnL>
                    <a:lnR>
                      <a:noFill/>
                    </a:lnR>
                    <a:lnT>
                      <a:noFill/>
                    </a:lnT>
                    <a:lnB>
                      <a:noFill/>
                    </a:lnB>
                    <a:solidFill>
                      <a:schemeClr val="accent2">
                        <a:lumMod val="60000"/>
                        <a:lumOff val="40000"/>
                      </a:schemeClr>
                    </a:solidFill>
                  </a:tcPr>
                </a:tc>
              </a:tr>
              <a:tr h="317063">
                <a:tc>
                  <a:txBody>
                    <a:bodyPr/>
                    <a:lstStyle/>
                    <a:p>
                      <a:r>
                        <a:rPr lang="en-US"/>
                        <a:t>Arithmetic</a:t>
                      </a:r>
                      <a:endParaRPr lang="en-US"/>
                    </a:p>
                  </a:txBody>
                  <a:tcPr anchor="ctr">
                    <a:lnL>
                      <a:noFill/>
                    </a:lnL>
                    <a:lnR>
                      <a:noFill/>
                    </a:lnR>
                    <a:lnT>
                      <a:noFill/>
                    </a:lnT>
                    <a:lnB>
                      <a:noFill/>
                    </a:lnB>
                    <a:noFill/>
                  </a:tcPr>
                </a:tc>
                <a:tc>
                  <a:txBody>
                    <a:bodyPr/>
                    <a:lstStyle/>
                    <a:p>
                      <a:r>
                        <a:rPr lang="en-US"/>
                        <a:t>+, -, *, /, %</a:t>
                      </a:r>
                      <a:endParaRPr lang="en-US"/>
                    </a:p>
                  </a:txBody>
                  <a:tcPr anchor="ctr">
                    <a:lnL>
                      <a:noFill/>
                    </a:lnL>
                    <a:lnR>
                      <a:noFill/>
                    </a:lnR>
                    <a:lnT>
                      <a:noFill/>
                    </a:lnT>
                    <a:lnB>
                      <a:noFill/>
                    </a:lnB>
                    <a:noFill/>
                  </a:tcPr>
                </a:tc>
                <a:tc>
                  <a:txBody>
                    <a:bodyPr/>
                    <a:lstStyle/>
                    <a:p>
                      <a:r>
                        <a:rPr lang="en-US"/>
                        <a:t>a + b</a:t>
                      </a:r>
                      <a:endParaRPr lang="en-US"/>
                    </a:p>
                  </a:txBody>
                  <a:tcPr anchor="ctr">
                    <a:lnL>
                      <a:noFill/>
                    </a:lnL>
                    <a:lnR>
                      <a:noFill/>
                    </a:lnR>
                    <a:lnT>
                      <a:noFill/>
                    </a:lnT>
                    <a:lnB>
                      <a:noFill/>
                    </a:lnB>
                    <a:noFill/>
                  </a:tcPr>
                </a:tc>
              </a:tr>
              <a:tr h="317063">
                <a:tc>
                  <a:txBody>
                    <a:bodyPr/>
                    <a:lstStyle/>
                    <a:p>
                      <a:r>
                        <a:rPr lang="en-US"/>
                        <a:t>Relational</a:t>
                      </a:r>
                      <a:endParaRPr lang="en-US"/>
                    </a:p>
                  </a:txBody>
                  <a:tcPr anchor="ctr">
                    <a:lnL>
                      <a:noFill/>
                    </a:lnL>
                    <a:lnR>
                      <a:noFill/>
                    </a:lnR>
                    <a:lnT>
                      <a:noFill/>
                    </a:lnT>
                    <a:lnB>
                      <a:noFill/>
                    </a:lnB>
                    <a:noFill/>
                  </a:tcPr>
                </a:tc>
                <a:tc>
                  <a:txBody>
                    <a:bodyPr/>
                    <a:lstStyle/>
                    <a:p>
                      <a:r>
                        <a:rPr lang="en-US"/>
                        <a:t>==, !=, &gt;, &lt;, &gt;=, &lt;=</a:t>
                      </a:r>
                      <a:endParaRPr lang="en-US"/>
                    </a:p>
                  </a:txBody>
                  <a:tcPr anchor="ctr">
                    <a:lnL>
                      <a:noFill/>
                    </a:lnL>
                    <a:lnR>
                      <a:noFill/>
                    </a:lnR>
                    <a:lnT>
                      <a:noFill/>
                    </a:lnT>
                    <a:lnB>
                      <a:noFill/>
                    </a:lnB>
                    <a:noFill/>
                  </a:tcPr>
                </a:tc>
                <a:tc>
                  <a:txBody>
                    <a:bodyPr/>
                    <a:lstStyle/>
                    <a:p>
                      <a:r>
                        <a:rPr lang="en-US"/>
                        <a:t>a &gt; b</a:t>
                      </a:r>
                      <a:endParaRPr lang="en-US"/>
                    </a:p>
                  </a:txBody>
                  <a:tcPr anchor="ctr">
                    <a:lnL>
                      <a:noFill/>
                    </a:lnL>
                    <a:lnR>
                      <a:noFill/>
                    </a:lnR>
                    <a:lnT>
                      <a:noFill/>
                    </a:lnT>
                    <a:lnB>
                      <a:noFill/>
                    </a:lnB>
                    <a:noFill/>
                  </a:tcPr>
                </a:tc>
              </a:tr>
              <a:tr h="317063">
                <a:tc>
                  <a:txBody>
                    <a:bodyPr/>
                    <a:lstStyle/>
                    <a:p>
                      <a:r>
                        <a:rPr lang="en-US"/>
                        <a:t>Logical</a:t>
                      </a:r>
                      <a:endParaRPr lang="en-US"/>
                    </a:p>
                  </a:txBody>
                  <a:tcPr anchor="ctr">
                    <a:lnL>
                      <a:noFill/>
                    </a:lnL>
                    <a:lnR>
                      <a:noFill/>
                    </a:lnR>
                    <a:lnT>
                      <a:noFill/>
                    </a:lnT>
                    <a:lnB>
                      <a:noFill/>
                    </a:lnB>
                    <a:noFill/>
                  </a:tcPr>
                </a:tc>
                <a:tc>
                  <a:txBody>
                    <a:bodyPr/>
                    <a:lstStyle/>
                    <a:p>
                      <a:r>
                        <a:rPr lang="en-US"/>
                        <a:t>&amp;&amp;, ||</a:t>
                      </a:r>
                      <a:endParaRPr lang="en-US"/>
                    </a:p>
                  </a:txBody>
                  <a:tcPr anchor="ctr">
                    <a:lnL>
                      <a:noFill/>
                    </a:lnL>
                    <a:lnR>
                      <a:noFill/>
                    </a:lnR>
                    <a:lnT>
                      <a:noFill/>
                    </a:lnT>
                    <a:lnB>
                      <a:noFill/>
                    </a:lnB>
                    <a:noFill/>
                  </a:tcPr>
                </a:tc>
                <a:tc>
                  <a:txBody>
                    <a:bodyPr/>
                    <a:lstStyle/>
                    <a:p>
                      <a:endParaRPr lang="en-US"/>
                    </a:p>
                  </a:txBody>
                  <a:tcPr anchor="ctr">
                    <a:lnL>
                      <a:noFill/>
                    </a:lnL>
                    <a:lnR>
                      <a:noFill/>
                    </a:lnR>
                    <a:lnT>
                      <a:noFill/>
                    </a:lnT>
                    <a:lnB>
                      <a:noFill/>
                    </a:lnB>
                    <a:noFill/>
                  </a:tcPr>
                </a:tc>
              </a:tr>
              <a:tr h="317063">
                <a:tc>
                  <a:txBody>
                    <a:bodyPr/>
                    <a:lstStyle/>
                    <a:p>
                      <a:r>
                        <a:rPr lang="en-US"/>
                        <a:t>Assignment</a:t>
                      </a:r>
                      <a:endParaRPr lang="en-US"/>
                    </a:p>
                  </a:txBody>
                  <a:tcPr anchor="ctr">
                    <a:lnL>
                      <a:noFill/>
                    </a:lnL>
                    <a:lnR>
                      <a:noFill/>
                    </a:lnR>
                    <a:lnT>
                      <a:noFill/>
                    </a:lnT>
                    <a:lnB>
                      <a:noFill/>
                    </a:lnB>
                    <a:noFill/>
                  </a:tcPr>
                </a:tc>
                <a:tc>
                  <a:txBody>
                    <a:bodyPr/>
                    <a:lstStyle/>
                    <a:p>
                      <a:r>
                        <a:rPr lang="en-US"/>
                        <a:t>=, +=, -=, *=, /=, %=</a:t>
                      </a:r>
                      <a:endParaRPr lang="en-US"/>
                    </a:p>
                  </a:txBody>
                  <a:tcPr anchor="ctr">
                    <a:lnL>
                      <a:noFill/>
                    </a:lnL>
                    <a:lnR>
                      <a:noFill/>
                    </a:lnR>
                    <a:lnT>
                      <a:noFill/>
                    </a:lnT>
                    <a:lnB>
                      <a:noFill/>
                    </a:lnB>
                    <a:noFill/>
                  </a:tcPr>
                </a:tc>
                <a:tc>
                  <a:txBody>
                    <a:bodyPr/>
                    <a:lstStyle/>
                    <a:p>
                      <a:r>
                        <a:rPr lang="en-US"/>
                        <a:t>x += 10</a:t>
                      </a:r>
                      <a:endParaRPr lang="en-US"/>
                    </a:p>
                  </a:txBody>
                  <a:tcPr anchor="ctr">
                    <a:lnL>
                      <a:noFill/>
                    </a:lnL>
                    <a:lnR>
                      <a:noFill/>
                    </a:lnR>
                    <a:lnT>
                      <a:noFill/>
                    </a:lnT>
                    <a:lnB>
                      <a:noFill/>
                    </a:lnB>
                    <a:noFill/>
                  </a:tcPr>
                </a:tc>
              </a:tr>
              <a:tr h="317063">
                <a:tc>
                  <a:txBody>
                    <a:bodyPr/>
                    <a:lstStyle/>
                    <a:p>
                      <a:r>
                        <a:rPr lang="en-US"/>
                        <a:t>Increment/Decrement</a:t>
                      </a:r>
                      <a:endParaRPr lang="en-US"/>
                    </a:p>
                  </a:txBody>
                  <a:tcPr anchor="ctr">
                    <a:lnL>
                      <a:noFill/>
                    </a:lnL>
                    <a:lnR>
                      <a:noFill/>
                    </a:lnR>
                    <a:lnT>
                      <a:noFill/>
                    </a:lnT>
                    <a:lnB>
                      <a:noFill/>
                    </a:lnB>
                    <a:noFill/>
                  </a:tcPr>
                </a:tc>
                <a:tc>
                  <a:txBody>
                    <a:bodyPr/>
                    <a:lstStyle/>
                    <a:p>
                      <a:r>
                        <a:rPr lang="en-US"/>
                        <a:t>++, --</a:t>
                      </a:r>
                      <a:endParaRPr lang="en-US"/>
                    </a:p>
                  </a:txBody>
                  <a:tcPr anchor="ctr">
                    <a:lnL>
                      <a:noFill/>
                    </a:lnL>
                    <a:lnR>
                      <a:noFill/>
                    </a:lnR>
                    <a:lnT>
                      <a:noFill/>
                    </a:lnT>
                    <a:lnB>
                      <a:noFill/>
                    </a:lnB>
                    <a:noFill/>
                  </a:tcPr>
                </a:tc>
                <a:tc>
                  <a:txBody>
                    <a:bodyPr/>
                    <a:lstStyle/>
                    <a:p>
                      <a:r>
                        <a:rPr lang="en-US"/>
                        <a:t>i++, --j</a:t>
                      </a:r>
                      <a:endParaRPr lang="en-US"/>
                    </a:p>
                  </a:txBody>
                  <a:tcPr anchor="ctr">
                    <a:lnL>
                      <a:noFill/>
                    </a:lnL>
                    <a:lnR>
                      <a:noFill/>
                    </a:lnR>
                    <a:lnT>
                      <a:noFill/>
                    </a:lnT>
                    <a:lnB>
                      <a:noFill/>
                    </a:lnB>
                    <a:noFill/>
                  </a:tcPr>
                </a:tc>
              </a:tr>
              <a:tr h="317063">
                <a:tc>
                  <a:txBody>
                    <a:bodyPr/>
                    <a:lstStyle/>
                    <a:p>
                      <a:endParaRPr lang="en-US" dirty="0"/>
                    </a:p>
                  </a:txBody>
                  <a:tcPr anchor="ctr">
                    <a:lnL>
                      <a:noFill/>
                    </a:lnL>
                    <a:lnR>
                      <a:noFill/>
                    </a:lnR>
                    <a:lnT>
                      <a:noFill/>
                    </a:lnT>
                    <a:lnB>
                      <a:noFill/>
                    </a:lnB>
                    <a:noFill/>
                  </a:tcPr>
                </a:tc>
                <a:tc>
                  <a:txBody>
                    <a:bodyPr/>
                    <a:lstStyle/>
                    <a:p>
                      <a:endParaRPr lang="en-US"/>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81" y="124493"/>
            <a:ext cx="10515600" cy="366395"/>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Decision Making Statement</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45181" y="612841"/>
            <a:ext cx="10515600" cy="5961213"/>
          </a:xfrm>
        </p:spPr>
        <p:txBody>
          <a:bodyPr>
            <a:normAutofit/>
          </a:bodyPr>
          <a:lstStyle/>
          <a:p>
            <a:r>
              <a:rPr lang="en-US" sz="1600" b="1" dirty="0">
                <a:latin typeface="Cambria" panose="02040503050406030204" pitchFamily="18" charset="0"/>
                <a:ea typeface="Cambria" panose="02040503050406030204" pitchFamily="18" charset="0"/>
              </a:rPr>
              <a:t>if Statement</a:t>
            </a:r>
            <a:endParaRPr lang="en-US" sz="1600" b="1" dirty="0">
              <a:latin typeface="Cambria" panose="02040503050406030204" pitchFamily="18" charset="0"/>
              <a:ea typeface="Cambria" panose="02040503050406030204" pitchFamily="18" charset="0"/>
            </a:endParaRPr>
          </a:p>
          <a:p>
            <a:r>
              <a:rPr lang="en-US" sz="1600" b="1" dirty="0">
                <a:latin typeface="Cambria" panose="02040503050406030204" pitchFamily="18" charset="0"/>
                <a:ea typeface="Cambria" panose="02040503050406030204" pitchFamily="18" charset="0"/>
              </a:rPr>
              <a:t> Definition:</a:t>
            </a:r>
            <a:endParaRPr lang="en-US" sz="1600" b="1" dirty="0">
              <a:latin typeface="Cambria" panose="02040503050406030204" pitchFamily="18" charset="0"/>
              <a:ea typeface="Cambria" panose="02040503050406030204" pitchFamily="18" charset="0"/>
            </a:endParaRPr>
          </a:p>
          <a:p>
            <a:r>
              <a:rPr lang="en-US" sz="1600" dirty="0">
                <a:latin typeface="Cambria" panose="02040503050406030204" pitchFamily="18" charset="0"/>
                <a:ea typeface="Cambria" panose="02040503050406030204" pitchFamily="18" charset="0"/>
              </a:rPr>
              <a:t>Used to execute code </a:t>
            </a:r>
            <a:r>
              <a:rPr lang="en-US" sz="1600" b="1" dirty="0">
                <a:latin typeface="Cambria" panose="02040503050406030204" pitchFamily="18" charset="0"/>
                <a:ea typeface="Cambria" panose="02040503050406030204" pitchFamily="18" charset="0"/>
              </a:rPr>
              <a:t>only if</a:t>
            </a:r>
            <a:r>
              <a:rPr lang="en-US" sz="1600" dirty="0">
                <a:latin typeface="Cambria" panose="02040503050406030204" pitchFamily="18" charset="0"/>
                <a:ea typeface="Cambria" panose="02040503050406030204" pitchFamily="18" charset="0"/>
              </a:rPr>
              <a:t> a specific condition is </a:t>
            </a:r>
            <a:r>
              <a:rPr lang="en-US" sz="1600" b="1" dirty="0">
                <a:latin typeface="Cambria" panose="02040503050406030204" pitchFamily="18" charset="0"/>
                <a:ea typeface="Cambria" panose="02040503050406030204" pitchFamily="18" charset="0"/>
              </a:rPr>
              <a:t>true</a:t>
            </a:r>
            <a:r>
              <a:rPr lang="en-US" sz="1600" dirty="0">
                <a:latin typeface="Cambria" panose="02040503050406030204" pitchFamily="18" charset="0"/>
                <a:ea typeface="Cambria" panose="02040503050406030204" pitchFamily="18" charset="0"/>
              </a:rPr>
              <a:t>.</a:t>
            </a:r>
            <a:endParaRPr lang="en-US" sz="1600" dirty="0">
              <a:latin typeface="Cambria" panose="02040503050406030204" pitchFamily="18" charset="0"/>
              <a:ea typeface="Cambria" panose="02040503050406030204" pitchFamily="18" charset="0"/>
            </a:endParaRPr>
          </a:p>
          <a:p>
            <a:r>
              <a:rPr lang="en-US" sz="1600" dirty="0">
                <a:latin typeface="Cambria" panose="02040503050406030204" pitchFamily="18" charset="0"/>
                <a:ea typeface="Cambria" panose="02040503050406030204" pitchFamily="18" charset="0"/>
              </a:rPr>
              <a:t>if (condition) {</a:t>
            </a:r>
            <a:endParaRPr lang="en-US" sz="1600" dirty="0">
              <a:latin typeface="Cambria" panose="02040503050406030204" pitchFamily="18" charset="0"/>
              <a:ea typeface="Cambria" panose="02040503050406030204" pitchFamily="18" charset="0"/>
            </a:endParaRPr>
          </a:p>
          <a:p>
            <a:r>
              <a:rPr lang="en-US" sz="1600" dirty="0">
                <a:latin typeface="Cambria" panose="02040503050406030204" pitchFamily="18" charset="0"/>
                <a:ea typeface="Cambria" panose="02040503050406030204" pitchFamily="18" charset="0"/>
              </a:rPr>
              <a:t>    // code to execute</a:t>
            </a:r>
            <a:endParaRPr lang="en-US" sz="1600" dirty="0">
              <a:latin typeface="Cambria" panose="02040503050406030204" pitchFamily="18" charset="0"/>
              <a:ea typeface="Cambria" panose="02040503050406030204" pitchFamily="18" charset="0"/>
            </a:endParaRPr>
          </a:p>
          <a:p>
            <a:r>
              <a:rPr lang="en-US" sz="1600" dirty="0">
                <a:latin typeface="Cambria" panose="02040503050406030204" pitchFamily="18" charset="0"/>
                <a:ea typeface="Cambria" panose="02040503050406030204" pitchFamily="18" charset="0"/>
              </a:rPr>
              <a:t>}</a:t>
            </a:r>
            <a:endParaRPr lang="en-US" sz="1600" dirty="0">
              <a:latin typeface="Cambria" panose="02040503050406030204" pitchFamily="18" charset="0"/>
              <a:ea typeface="Cambria" panose="02040503050406030204" pitchFamily="18" charset="0"/>
            </a:endParaRPr>
          </a:p>
          <a:p>
            <a:r>
              <a:rPr lang="en-US" sz="1600" b="1" dirty="0">
                <a:latin typeface="Cambria" panose="02040503050406030204" pitchFamily="18" charset="0"/>
                <a:ea typeface="Cambria" panose="02040503050406030204" pitchFamily="18" charset="0"/>
              </a:rPr>
              <a:t>if-else Statement</a:t>
            </a:r>
            <a:endParaRPr lang="en-US" sz="1600" b="1" dirty="0">
              <a:latin typeface="Cambria" panose="02040503050406030204" pitchFamily="18" charset="0"/>
              <a:ea typeface="Cambria" panose="02040503050406030204" pitchFamily="18" charset="0"/>
            </a:endParaRPr>
          </a:p>
          <a:p>
            <a:r>
              <a:rPr lang="en-US" sz="1600" b="1" dirty="0">
                <a:latin typeface="Cambria" panose="02040503050406030204" pitchFamily="18" charset="0"/>
                <a:ea typeface="Cambria" panose="02040503050406030204" pitchFamily="18" charset="0"/>
              </a:rPr>
              <a:t> Definition:</a:t>
            </a:r>
            <a:endParaRPr lang="en-US" sz="1600" b="1" dirty="0">
              <a:latin typeface="Cambria" panose="02040503050406030204" pitchFamily="18" charset="0"/>
              <a:ea typeface="Cambria" panose="02040503050406030204" pitchFamily="18" charset="0"/>
            </a:endParaRPr>
          </a:p>
          <a:p>
            <a:r>
              <a:rPr lang="en-US" sz="1600" dirty="0">
                <a:latin typeface="Cambria" panose="02040503050406030204" pitchFamily="18" charset="0"/>
                <a:ea typeface="Cambria" panose="02040503050406030204" pitchFamily="18" charset="0"/>
              </a:rPr>
              <a:t>Executes one block if condition is true, another if false.</a:t>
            </a:r>
            <a:endParaRPr lang="en-US" sz="1600" dirty="0">
              <a:latin typeface="Cambria" panose="02040503050406030204" pitchFamily="18" charset="0"/>
              <a:ea typeface="Cambria" panose="02040503050406030204" pitchFamily="18" charset="0"/>
            </a:endParaRPr>
          </a:p>
          <a:p>
            <a:r>
              <a:rPr lang="en-US" sz="1600" dirty="0">
                <a:latin typeface="Cambria" panose="02040503050406030204" pitchFamily="18" charset="0"/>
                <a:ea typeface="Cambria" panose="02040503050406030204" pitchFamily="18" charset="0"/>
              </a:rPr>
              <a:t>if (condition) {</a:t>
            </a:r>
            <a:endParaRPr lang="en-US" sz="1600" dirty="0">
              <a:latin typeface="Cambria" panose="02040503050406030204" pitchFamily="18" charset="0"/>
              <a:ea typeface="Cambria" panose="02040503050406030204" pitchFamily="18" charset="0"/>
            </a:endParaRPr>
          </a:p>
          <a:p>
            <a:r>
              <a:rPr lang="en-US" sz="1600" dirty="0">
                <a:latin typeface="Cambria" panose="02040503050406030204" pitchFamily="18" charset="0"/>
                <a:ea typeface="Cambria" panose="02040503050406030204" pitchFamily="18" charset="0"/>
              </a:rPr>
              <a:t>    // if true</a:t>
            </a:r>
            <a:endParaRPr lang="en-US" sz="1600" dirty="0">
              <a:latin typeface="Cambria" panose="02040503050406030204" pitchFamily="18" charset="0"/>
              <a:ea typeface="Cambria" panose="02040503050406030204" pitchFamily="18" charset="0"/>
            </a:endParaRPr>
          </a:p>
          <a:p>
            <a:r>
              <a:rPr lang="en-US" sz="1600" dirty="0">
                <a:latin typeface="Cambria" panose="02040503050406030204" pitchFamily="18" charset="0"/>
                <a:ea typeface="Cambria" panose="02040503050406030204" pitchFamily="18" charset="0"/>
              </a:rPr>
              <a:t>} else {</a:t>
            </a:r>
            <a:endParaRPr lang="en-US" sz="1600" dirty="0">
              <a:latin typeface="Cambria" panose="02040503050406030204" pitchFamily="18" charset="0"/>
              <a:ea typeface="Cambria" panose="02040503050406030204" pitchFamily="18" charset="0"/>
            </a:endParaRPr>
          </a:p>
          <a:p>
            <a:r>
              <a:rPr lang="en-US" sz="1600" dirty="0">
                <a:latin typeface="Cambria" panose="02040503050406030204" pitchFamily="18" charset="0"/>
                <a:ea typeface="Cambria" panose="02040503050406030204" pitchFamily="18" charset="0"/>
              </a:rPr>
              <a:t>    // if false</a:t>
            </a:r>
            <a:endParaRPr lang="en-US" sz="1600" dirty="0">
              <a:latin typeface="Cambria" panose="02040503050406030204" pitchFamily="18" charset="0"/>
              <a:ea typeface="Cambria" panose="02040503050406030204" pitchFamily="18" charset="0"/>
            </a:endParaRPr>
          </a:p>
          <a:p>
            <a:r>
              <a:rPr lang="en-US" sz="1600" dirty="0">
                <a:latin typeface="Cambria" panose="02040503050406030204" pitchFamily="18" charset="0"/>
                <a:ea typeface="Cambria" panose="02040503050406030204" pitchFamily="18" charset="0"/>
              </a:rPr>
              <a:t>}</a:t>
            </a:r>
            <a:endParaRPr lang="en-US" sz="1600" dirty="0">
              <a:latin typeface="Cambria" panose="02040503050406030204" pitchFamily="18" charset="0"/>
              <a:ea typeface="Cambria" panose="02040503050406030204" pitchFamily="18" charset="0"/>
            </a:endParaRPr>
          </a:p>
          <a:p>
            <a:pPr marL="0" lvl="0" indent="0" eaLnBrk="0" fontAlgn="base" hangingPunct="0">
              <a:lnSpc>
                <a:spcPct val="100000"/>
              </a:lnSpc>
              <a:spcBef>
                <a:spcPct val="0"/>
              </a:spcBef>
              <a:spcAft>
                <a:spcPct val="0"/>
              </a:spcAft>
              <a:buNone/>
            </a:pPr>
            <a:r>
              <a:rPr lang="en-US" altLang="en-US" sz="1600" b="1" dirty="0">
                <a:latin typeface="Cambria" panose="02040503050406030204" pitchFamily="18" charset="0"/>
                <a:ea typeface="Cambria" panose="02040503050406030204" pitchFamily="18" charset="0"/>
              </a:rPr>
              <a:t>Nested if-else</a:t>
            </a:r>
            <a:endParaRPr lang="en-US" altLang="en-US" sz="1600" b="1" dirty="0">
              <a:latin typeface="Cambria" panose="02040503050406030204" pitchFamily="18" charset="0"/>
              <a:ea typeface="Cambria" panose="02040503050406030204" pitchFamily="18" charset="0"/>
            </a:endParaRPr>
          </a:p>
          <a:p>
            <a:pPr marL="0" lvl="0" indent="0" eaLnBrk="0" fontAlgn="base" hangingPunct="0">
              <a:lnSpc>
                <a:spcPct val="100000"/>
              </a:lnSpc>
              <a:spcBef>
                <a:spcPct val="0"/>
              </a:spcBef>
              <a:spcAft>
                <a:spcPct val="0"/>
              </a:spcAft>
              <a:buNone/>
            </a:pPr>
            <a:endParaRPr lang="en-US" altLang="en-US" sz="1600" b="1" dirty="0">
              <a:latin typeface="Cambria" panose="02040503050406030204" pitchFamily="18" charset="0"/>
              <a:ea typeface="Cambria" panose="02040503050406030204" pitchFamily="18" charset="0"/>
            </a:endParaRPr>
          </a:p>
          <a:p>
            <a:pPr marL="0" lvl="0" indent="0" eaLnBrk="0" fontAlgn="base" hangingPunct="0">
              <a:lnSpc>
                <a:spcPct val="100000"/>
              </a:lnSpc>
              <a:spcBef>
                <a:spcPct val="0"/>
              </a:spcBef>
              <a:spcAft>
                <a:spcPct val="0"/>
              </a:spcAft>
              <a:buNone/>
            </a:pPr>
            <a:r>
              <a:rPr lang="en-US" altLang="en-US" sz="1600" b="1" dirty="0">
                <a:latin typeface="Cambria" panose="02040503050406030204" pitchFamily="18" charset="0"/>
                <a:ea typeface="Cambria" panose="02040503050406030204" pitchFamily="18" charset="0"/>
              </a:rPr>
              <a:t>✅ Definition:</a:t>
            </a:r>
            <a:endParaRPr lang="en-US" altLang="en-US" sz="1600" b="1" dirty="0">
              <a:latin typeface="Cambria" panose="02040503050406030204" pitchFamily="18" charset="0"/>
              <a:ea typeface="Cambria" panose="02040503050406030204" pitchFamily="18" charset="0"/>
            </a:endParaRPr>
          </a:p>
          <a:p>
            <a:pPr marL="0" lvl="0" indent="0" eaLnBrk="0" fontAlgn="base" hangingPunct="0">
              <a:lnSpc>
                <a:spcPct val="100000"/>
              </a:lnSpc>
              <a:spcBef>
                <a:spcPct val="0"/>
              </a:spcBef>
              <a:spcAft>
                <a:spcPct val="0"/>
              </a:spcAft>
              <a:buNone/>
            </a:pPr>
            <a:r>
              <a:rPr lang="en-US" altLang="en-US" sz="1600" dirty="0">
                <a:latin typeface="Cambria" panose="02040503050406030204" pitchFamily="18" charset="0"/>
                <a:ea typeface="Cambria" panose="02040503050406030204" pitchFamily="18" charset="0"/>
              </a:rPr>
              <a:t>An if or else statement </a:t>
            </a:r>
            <a:r>
              <a:rPr lang="en-US" altLang="en-US" sz="1600" b="1" dirty="0">
                <a:latin typeface="Cambria" panose="02040503050406030204" pitchFamily="18" charset="0"/>
                <a:ea typeface="Cambria" panose="02040503050406030204" pitchFamily="18" charset="0"/>
              </a:rPr>
              <a:t>inside another if or else</a:t>
            </a:r>
            <a:endParaRPr lang="en-US" altLang="en-US" sz="1600" dirty="0">
              <a:latin typeface="Cambria" panose="02040503050406030204" pitchFamily="18" charset="0"/>
              <a:ea typeface="Cambria" panose="02040503050406030204" pitchFamily="18" charset="0"/>
            </a:endParaRPr>
          </a:p>
          <a:p>
            <a:endParaRPr lang="en-US" sz="1600" dirty="0">
              <a:latin typeface="Cambria" panose="02040503050406030204" pitchFamily="18" charset="0"/>
              <a:ea typeface="Cambria" panose="020405030504060302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4431" y="73826"/>
            <a:ext cx="10515600" cy="6615732"/>
          </a:xfrm>
        </p:spPr>
        <p:txBody>
          <a:bodyPr>
            <a:normAutofit fontScale="92500" lnSpcReduction="10000"/>
          </a:bodyPr>
          <a:lstStyle/>
          <a:p>
            <a:pPr marL="0" indent="0">
              <a:buNone/>
            </a:pPr>
            <a:r>
              <a:rPr lang="en-US" sz="1600" dirty="0">
                <a:latin typeface="Cambria" panose="02040503050406030204" pitchFamily="18" charset="0"/>
                <a:ea typeface="Cambria" panose="02040503050406030204" pitchFamily="18" charset="0"/>
              </a:rPr>
              <a:t>if (condition1) {</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    if (condition2) {</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        // nested if</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    } else {</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        // nested else</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    }</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 else {</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    // outer else</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a:t>
            </a:r>
            <a:endParaRPr lang="en-US" sz="1600" dirty="0">
              <a:latin typeface="Cambria" panose="02040503050406030204" pitchFamily="18" charset="0"/>
              <a:ea typeface="Cambria" panose="02040503050406030204" pitchFamily="18" charset="0"/>
            </a:endParaRPr>
          </a:p>
          <a:p>
            <a:pPr marL="0" indent="0">
              <a:buNone/>
            </a:pPr>
            <a:r>
              <a:rPr lang="en-US" sz="1600" b="1" dirty="0">
                <a:latin typeface="Cambria" panose="02040503050406030204" pitchFamily="18" charset="0"/>
                <a:ea typeface="Cambria" panose="02040503050406030204" pitchFamily="18" charset="0"/>
              </a:rPr>
              <a:t>Ladder if-else (else-if ladder)</a:t>
            </a:r>
            <a:endParaRPr lang="en-US" sz="1600" b="1" dirty="0">
              <a:latin typeface="Cambria" panose="02040503050406030204" pitchFamily="18" charset="0"/>
              <a:ea typeface="Cambria" panose="02040503050406030204" pitchFamily="18" charset="0"/>
            </a:endParaRPr>
          </a:p>
          <a:p>
            <a:pPr marL="0" indent="0">
              <a:buNone/>
            </a:pPr>
            <a:r>
              <a:rPr lang="en-US" sz="1600" b="1" dirty="0">
                <a:latin typeface="Cambria" panose="02040503050406030204" pitchFamily="18" charset="0"/>
                <a:ea typeface="Cambria" panose="02040503050406030204" pitchFamily="18" charset="0"/>
              </a:rPr>
              <a:t>✅ Definition:</a:t>
            </a:r>
            <a:endParaRPr lang="en-US" sz="1600" b="1"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Used when there are </a:t>
            </a:r>
            <a:r>
              <a:rPr lang="en-US" sz="1600" b="1" dirty="0">
                <a:latin typeface="Cambria" panose="02040503050406030204" pitchFamily="18" charset="0"/>
                <a:ea typeface="Cambria" panose="02040503050406030204" pitchFamily="18" charset="0"/>
              </a:rPr>
              <a:t>multiple conditions</a:t>
            </a:r>
            <a:r>
              <a:rPr lang="en-US" sz="1600" dirty="0">
                <a:latin typeface="Cambria" panose="02040503050406030204" pitchFamily="18" charset="0"/>
                <a:ea typeface="Cambria" panose="02040503050406030204" pitchFamily="18" charset="0"/>
              </a:rPr>
              <a:t> to check sequentially.</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if (condition1) {</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    // block 1</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 else if (condition2) {</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    // block 2</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 else if (condition3) {</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    // block 3</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 else {</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    // default block</a:t>
            </a:r>
            <a:endParaRPr lang="en-US"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a:t>
            </a:r>
            <a:endParaRPr lang="en-US" sz="1600" dirty="0">
              <a:latin typeface="Cambria" panose="02040503050406030204" pitchFamily="18" charset="0"/>
              <a:ea typeface="Cambria" panose="02040503050406030204" pitchFamily="18" charset="0"/>
            </a:endParaRPr>
          </a:p>
          <a:p>
            <a:pPr marL="0" indent="0">
              <a:buNone/>
            </a:pPr>
            <a:endParaRPr lang="en-US" sz="1600" dirty="0">
              <a:latin typeface="Cambria" panose="02040503050406030204" pitchFamily="18" charset="0"/>
              <a:ea typeface="Cambria" panose="02040503050406030204" pitchFamily="18" charset="0"/>
            </a:endParaRPr>
          </a:p>
          <a:p>
            <a:pPr marL="0" indent="0">
              <a:buNone/>
            </a:pPr>
            <a:endParaRPr lang="en-US" sz="1600" dirty="0">
              <a:latin typeface="Cambria" panose="02040503050406030204" pitchFamily="18" charset="0"/>
              <a:ea typeface="Cambria" panose="02040503050406030204" pitchFamily="18" charset="0"/>
            </a:endParaRPr>
          </a:p>
          <a:p>
            <a:pPr marL="0" indent="0">
              <a:buNone/>
            </a:pPr>
            <a:endParaRPr lang="en-US" sz="1600" dirty="0">
              <a:latin typeface="Cambria" panose="02040503050406030204" pitchFamily="18" charset="0"/>
              <a:ea typeface="Cambria" panose="020405030504060302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055" y="114869"/>
            <a:ext cx="10515600" cy="315912"/>
          </a:xfrm>
        </p:spPr>
        <p:txBody>
          <a:bodyPr>
            <a:normAutofit fontScale="90000"/>
          </a:bodyPr>
          <a:lstStyle/>
          <a:p>
            <a:r>
              <a:rPr lang="en-US" sz="2800" b="1" dirty="0">
                <a:solidFill>
                  <a:srgbClr val="FF0000"/>
                </a:solidFill>
                <a:latin typeface="Cambria" panose="02040503050406030204" pitchFamily="18" charset="0"/>
                <a:ea typeface="Cambria" panose="02040503050406030204" pitchFamily="18" charset="0"/>
              </a:rPr>
              <a:t>Java Switch Case Statement</a:t>
            </a:r>
            <a:endParaRPr lang="en-US" sz="28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97055" y="622466"/>
            <a:ext cx="10515600" cy="5884211"/>
          </a:xfrm>
        </p:spPr>
        <p:txBody>
          <a:bodyPr>
            <a:normAutofit/>
          </a:bodyPr>
          <a:lstStyle/>
          <a:p>
            <a:r>
              <a:rPr lang="en-US" sz="1800" b="1" dirty="0">
                <a:latin typeface="Cambria" panose="02040503050406030204" pitchFamily="18" charset="0"/>
                <a:ea typeface="Cambria" panose="02040503050406030204" pitchFamily="18" charset="0"/>
              </a:rPr>
              <a:t>Switch Case</a:t>
            </a:r>
            <a:endParaRPr lang="en-US" sz="1800" b="1" dirty="0">
              <a:latin typeface="Cambria" panose="02040503050406030204" pitchFamily="18" charset="0"/>
              <a:ea typeface="Cambria" panose="02040503050406030204" pitchFamily="18" charset="0"/>
            </a:endParaRPr>
          </a:p>
          <a:p>
            <a:r>
              <a:rPr lang="en-US" sz="1800" b="1" dirty="0">
                <a:latin typeface="Cambria" panose="02040503050406030204" pitchFamily="18" charset="0"/>
                <a:ea typeface="Cambria" panose="02040503050406030204" pitchFamily="18" charset="0"/>
              </a:rPr>
              <a:t>✅ Definition:</a:t>
            </a:r>
            <a:endParaRPr lang="en-US" sz="1800" b="1"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Used to select one option from many, based on the </a:t>
            </a:r>
            <a:r>
              <a:rPr lang="en-US" sz="1800" b="1" dirty="0">
                <a:latin typeface="Cambria" panose="02040503050406030204" pitchFamily="18" charset="0"/>
                <a:ea typeface="Cambria" panose="02040503050406030204" pitchFamily="18" charset="0"/>
              </a:rPr>
              <a:t>value of a variable</a:t>
            </a:r>
            <a:r>
              <a:rPr lang="en-US" sz="1800" dirty="0">
                <a:latin typeface="Cambria" panose="02040503050406030204" pitchFamily="18" charset="0"/>
                <a:ea typeface="Cambria" panose="02040503050406030204" pitchFamily="18" charset="0"/>
              </a:rPr>
              <a:t>.</a:t>
            </a:r>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switch (expression) {</a:t>
            </a:r>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    case value1:</a:t>
            </a:r>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        // statements</a:t>
            </a:r>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        break;</a:t>
            </a:r>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    case value2:</a:t>
            </a:r>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        // statements</a:t>
            </a:r>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        break;</a:t>
            </a:r>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    ...</a:t>
            </a:r>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    default:</a:t>
            </a:r>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        // statements</a:t>
            </a:r>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a:t>
            </a:r>
            <a:endParaRPr lang="en-US" sz="1800" dirty="0">
              <a:latin typeface="Cambria" panose="02040503050406030204" pitchFamily="18" charset="0"/>
              <a:ea typeface="Cambria" panose="02040503050406030204" pitchFamily="18" charset="0"/>
            </a:endParaRPr>
          </a:p>
          <a:p>
            <a:pPr marL="0" lvl="0" indent="0" eaLnBrk="0" fontAlgn="base" hangingPunct="0">
              <a:lnSpc>
                <a:spcPct val="100000"/>
              </a:lnSpc>
              <a:spcBef>
                <a:spcPct val="0"/>
              </a:spcBef>
              <a:spcAft>
                <a:spcPct val="0"/>
              </a:spcAft>
              <a:buFontTx/>
              <a:buChar char="•"/>
            </a:pPr>
            <a:r>
              <a:rPr lang="en-US" altLang="en-US" sz="1800" dirty="0">
                <a:latin typeface="Cambria" panose="02040503050406030204" pitchFamily="18" charset="0"/>
                <a:ea typeface="Cambria" panose="02040503050406030204" pitchFamily="18" charset="0"/>
              </a:rPr>
              <a:t>break prevents fall-through to the next case.</a:t>
            </a:r>
            <a:endParaRPr lang="en-US" altLang="en-US" sz="1800" dirty="0">
              <a:latin typeface="Cambria" panose="02040503050406030204" pitchFamily="18" charset="0"/>
              <a:ea typeface="Cambria" panose="02040503050406030204" pitchFamily="18" charset="0"/>
            </a:endParaRPr>
          </a:p>
          <a:p>
            <a:pPr marL="0" lvl="0" indent="0" eaLnBrk="0" fontAlgn="base" hangingPunct="0">
              <a:lnSpc>
                <a:spcPct val="100000"/>
              </a:lnSpc>
              <a:spcBef>
                <a:spcPct val="0"/>
              </a:spcBef>
              <a:spcAft>
                <a:spcPct val="0"/>
              </a:spcAft>
              <a:buFontTx/>
              <a:buChar char="•"/>
            </a:pPr>
            <a:r>
              <a:rPr lang="en-US" altLang="en-US" sz="1800" dirty="0">
                <a:latin typeface="Cambria" panose="02040503050406030204" pitchFamily="18" charset="0"/>
                <a:ea typeface="Cambria" panose="02040503050406030204" pitchFamily="18" charset="0"/>
              </a:rPr>
              <a:t>default is optional but good for handling unexpected values.</a:t>
            </a:r>
            <a:endParaRPr lang="en-US" altLang="en-US" sz="1800" dirty="0">
              <a:latin typeface="Cambria" panose="02040503050406030204" pitchFamily="18" charset="0"/>
              <a:ea typeface="Cambria" panose="02040503050406030204" pitchFamily="18" charset="0"/>
            </a:endParaRPr>
          </a:p>
          <a:p>
            <a:endParaRPr lang="en-US" sz="1800" dirty="0">
              <a:latin typeface="Cambria" panose="02040503050406030204" pitchFamily="18" charset="0"/>
              <a:ea typeface="Cambria" panose="02040503050406030204" pitchFamily="18" charset="0"/>
            </a:endParaRPr>
          </a:p>
          <a:p>
            <a:endParaRPr lang="en-US" sz="1800" dirty="0">
              <a:latin typeface="Cambria" panose="02040503050406030204" pitchFamily="18" charset="0"/>
              <a:ea typeface="Cambria" panose="02040503050406030204" pitchFamily="18" charset="0"/>
            </a:endParaRPr>
          </a:p>
          <a:p>
            <a:endParaRPr lang="en-US" sz="1800" dirty="0">
              <a:latin typeface="Cambria" panose="02040503050406030204" pitchFamily="18" charset="0"/>
              <a:ea typeface="Cambria" panose="020405030504060302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930" y="95618"/>
            <a:ext cx="10515600" cy="356769"/>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Java Control Statement</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25930" y="564715"/>
            <a:ext cx="10515600" cy="4351338"/>
          </a:xfrm>
        </p:spPr>
        <p:txBody>
          <a:bodyPr>
            <a:normAutofit/>
          </a:bodyPr>
          <a:lstStyle/>
          <a:p>
            <a:r>
              <a:rPr lang="en-US" sz="1800" dirty="0">
                <a:latin typeface="Cambria" panose="02040503050406030204" pitchFamily="18" charset="0"/>
                <a:ea typeface="Cambria" panose="02040503050406030204" pitchFamily="18" charset="0"/>
              </a:rPr>
              <a:t>Loops are used to execute a block of code repeatedly </a:t>
            </a:r>
            <a:r>
              <a:rPr lang="en-US" sz="1800" b="1" dirty="0">
                <a:latin typeface="Cambria" panose="02040503050406030204" pitchFamily="18" charset="0"/>
                <a:ea typeface="Cambria" panose="02040503050406030204" pitchFamily="18" charset="0"/>
              </a:rPr>
              <a:t>until a condition is false</a:t>
            </a:r>
            <a:r>
              <a:rPr lang="en-US" sz="1800" dirty="0">
                <a:latin typeface="Cambria" panose="02040503050406030204" pitchFamily="18" charset="0"/>
                <a:ea typeface="Cambria" panose="02040503050406030204" pitchFamily="18" charset="0"/>
              </a:rPr>
              <a:t>.</a:t>
            </a:r>
            <a:endParaRPr lang="en-US" sz="1800" dirty="0">
              <a:latin typeface="Cambria" panose="02040503050406030204" pitchFamily="18" charset="0"/>
              <a:ea typeface="Cambria" panose="02040503050406030204" pitchFamily="18" charset="0"/>
            </a:endParaRPr>
          </a:p>
          <a:p>
            <a:endParaRPr lang="en-US" sz="1800" dirty="0">
              <a:latin typeface="Cambria" panose="02040503050406030204" pitchFamily="18" charset="0"/>
              <a:ea typeface="Cambria" panose="02040503050406030204" pitchFamily="18" charset="0"/>
            </a:endParaRPr>
          </a:p>
        </p:txBody>
      </p:sp>
      <p:graphicFrame>
        <p:nvGraphicFramePr>
          <p:cNvPr id="5" name="Table 4"/>
          <p:cNvGraphicFramePr>
            <a:graphicFrameLocks noGrp="1"/>
          </p:cNvGraphicFramePr>
          <p:nvPr/>
        </p:nvGraphicFramePr>
        <p:xfrm>
          <a:off x="251860" y="1234135"/>
          <a:ext cx="11940140" cy="4389730"/>
        </p:xfrm>
        <a:graphic>
          <a:graphicData uri="http://schemas.openxmlformats.org/drawingml/2006/table">
            <a:tbl>
              <a:tblPr/>
              <a:tblGrid>
                <a:gridCol w="2388028"/>
                <a:gridCol w="2388028"/>
                <a:gridCol w="2388028"/>
                <a:gridCol w="2388028"/>
                <a:gridCol w="2388028"/>
              </a:tblGrid>
              <a:tr h="355211">
                <a:tc>
                  <a:txBody>
                    <a:bodyPr/>
                    <a:lstStyle/>
                    <a:p>
                      <a:pPr algn="ctr"/>
                      <a:r>
                        <a:rPr lang="en-US" sz="2000" b="1">
                          <a:latin typeface="Cambria" panose="02040503050406030204" pitchFamily="18" charset="0"/>
                          <a:ea typeface="Cambria" panose="02040503050406030204" pitchFamily="18" charset="0"/>
                        </a:rPr>
                        <a:t>Feature</a:t>
                      </a:r>
                      <a:endParaRPr lang="en-US" sz="2000" b="1">
                        <a:latin typeface="Cambria" panose="02040503050406030204" pitchFamily="18" charset="0"/>
                        <a:ea typeface="Cambria" panose="02040503050406030204" pitchFamily="18" charset="0"/>
                      </a:endParaRPr>
                    </a:p>
                  </a:txBody>
                  <a:tcPr marL="88803" marR="88803" marT="44401" marB="44401" anchor="ctr">
                    <a:lnL>
                      <a:noFill/>
                    </a:lnL>
                    <a:lnR>
                      <a:noFill/>
                    </a:lnR>
                    <a:lnT>
                      <a:noFill/>
                    </a:lnT>
                    <a:lnB>
                      <a:noFill/>
                    </a:lnB>
                    <a:solidFill>
                      <a:schemeClr val="accent2">
                        <a:lumMod val="60000"/>
                        <a:lumOff val="40000"/>
                      </a:schemeClr>
                    </a:solidFill>
                  </a:tcPr>
                </a:tc>
                <a:tc>
                  <a:txBody>
                    <a:bodyPr/>
                    <a:lstStyle/>
                    <a:p>
                      <a:pPr algn="ctr"/>
                      <a:r>
                        <a:rPr lang="en-US" sz="2000" b="1">
                          <a:latin typeface="Cambria" panose="02040503050406030204" pitchFamily="18" charset="0"/>
                          <a:ea typeface="Cambria" panose="02040503050406030204" pitchFamily="18" charset="0"/>
                        </a:rPr>
                        <a:t>for Loop</a:t>
                      </a:r>
                      <a:endParaRPr lang="en-US" sz="2000" b="1">
                        <a:latin typeface="Cambria" panose="02040503050406030204" pitchFamily="18" charset="0"/>
                        <a:ea typeface="Cambria" panose="02040503050406030204" pitchFamily="18" charset="0"/>
                      </a:endParaRPr>
                    </a:p>
                  </a:txBody>
                  <a:tcPr marL="88803" marR="88803" marT="44401" marB="44401" anchor="ctr">
                    <a:lnL>
                      <a:noFill/>
                    </a:lnL>
                    <a:lnR>
                      <a:noFill/>
                    </a:lnR>
                    <a:lnT>
                      <a:noFill/>
                    </a:lnT>
                    <a:lnB>
                      <a:noFill/>
                    </a:lnB>
                    <a:solidFill>
                      <a:schemeClr val="accent2">
                        <a:lumMod val="60000"/>
                        <a:lumOff val="40000"/>
                      </a:schemeClr>
                    </a:solidFill>
                  </a:tcPr>
                </a:tc>
                <a:tc>
                  <a:txBody>
                    <a:bodyPr/>
                    <a:lstStyle/>
                    <a:p>
                      <a:pPr algn="ctr"/>
                      <a:r>
                        <a:rPr lang="en-US" sz="2000" b="1">
                          <a:latin typeface="Cambria" panose="02040503050406030204" pitchFamily="18" charset="0"/>
                          <a:ea typeface="Cambria" panose="02040503050406030204" pitchFamily="18" charset="0"/>
                        </a:rPr>
                        <a:t>while Loop</a:t>
                      </a:r>
                      <a:endParaRPr lang="en-US" sz="2000" b="1">
                        <a:latin typeface="Cambria" panose="02040503050406030204" pitchFamily="18" charset="0"/>
                        <a:ea typeface="Cambria" panose="02040503050406030204" pitchFamily="18" charset="0"/>
                      </a:endParaRPr>
                    </a:p>
                  </a:txBody>
                  <a:tcPr marL="88803" marR="88803" marT="44401" marB="44401" anchor="ctr">
                    <a:lnL>
                      <a:noFill/>
                    </a:lnL>
                    <a:lnR>
                      <a:noFill/>
                    </a:lnR>
                    <a:lnT>
                      <a:noFill/>
                    </a:lnT>
                    <a:lnB>
                      <a:noFill/>
                    </a:lnB>
                    <a:solidFill>
                      <a:schemeClr val="accent2">
                        <a:lumMod val="60000"/>
                        <a:lumOff val="40000"/>
                      </a:schemeClr>
                    </a:solidFill>
                  </a:tcPr>
                </a:tc>
                <a:tc>
                  <a:txBody>
                    <a:bodyPr/>
                    <a:lstStyle/>
                    <a:p>
                      <a:pPr algn="ctr"/>
                      <a:r>
                        <a:rPr lang="en-US" sz="2000" b="1">
                          <a:latin typeface="Cambria" panose="02040503050406030204" pitchFamily="18" charset="0"/>
                          <a:ea typeface="Cambria" panose="02040503050406030204" pitchFamily="18" charset="0"/>
                        </a:rPr>
                        <a:t>do-while Loop</a:t>
                      </a:r>
                      <a:endParaRPr lang="en-US" sz="2000" b="1">
                        <a:latin typeface="Cambria" panose="02040503050406030204" pitchFamily="18" charset="0"/>
                        <a:ea typeface="Cambria" panose="02040503050406030204" pitchFamily="18" charset="0"/>
                      </a:endParaRPr>
                    </a:p>
                  </a:txBody>
                  <a:tcPr marL="88803" marR="88803" marT="44401" marB="44401" anchor="ctr">
                    <a:lnL>
                      <a:noFill/>
                    </a:lnL>
                    <a:lnR>
                      <a:noFill/>
                    </a:lnR>
                    <a:lnT>
                      <a:noFill/>
                    </a:lnT>
                    <a:lnB>
                      <a:noFill/>
                    </a:lnB>
                    <a:solidFill>
                      <a:schemeClr val="accent2">
                        <a:lumMod val="60000"/>
                        <a:lumOff val="40000"/>
                      </a:schemeClr>
                    </a:solidFill>
                  </a:tcPr>
                </a:tc>
                <a:tc>
                  <a:txBody>
                    <a:bodyPr/>
                    <a:lstStyle/>
                    <a:p>
                      <a:pPr algn="ctr"/>
                      <a:r>
                        <a:rPr lang="en-US" sz="2000" b="1" dirty="0">
                          <a:latin typeface="Cambria" panose="02040503050406030204" pitchFamily="18" charset="0"/>
                          <a:ea typeface="Cambria" panose="02040503050406030204" pitchFamily="18" charset="0"/>
                        </a:rPr>
                        <a:t>Syntax</a:t>
                      </a:r>
                      <a:endParaRPr lang="en-US" sz="2000" b="1" dirty="0">
                        <a:latin typeface="Cambria" panose="02040503050406030204" pitchFamily="18" charset="0"/>
                        <a:ea typeface="Cambria" panose="02040503050406030204" pitchFamily="18" charset="0"/>
                      </a:endParaRPr>
                    </a:p>
                  </a:txBody>
                  <a:tcPr marL="88803" marR="88803" marT="44401" marB="44401" anchor="ctr">
                    <a:lnL>
                      <a:noFill/>
                    </a:lnL>
                    <a:lnR>
                      <a:noFill/>
                    </a:lnR>
                    <a:lnT>
                      <a:noFill/>
                    </a:lnT>
                    <a:lnB>
                      <a:noFill/>
                    </a:lnB>
                    <a:solidFill>
                      <a:schemeClr val="accent2">
                        <a:lumMod val="60000"/>
                        <a:lumOff val="40000"/>
                      </a:schemeClr>
                    </a:solidFill>
                  </a:tcPr>
                </a:tc>
              </a:tr>
              <a:tr h="621620">
                <a:tc>
                  <a:txBody>
                    <a:bodyPr/>
                    <a:lstStyle/>
                    <a:p>
                      <a:r>
                        <a:rPr lang="en-US" sz="1700" b="1"/>
                        <a:t>Condition Check</a:t>
                      </a:r>
                      <a:endParaRPr lang="en-US" sz="1700"/>
                    </a:p>
                  </a:txBody>
                  <a:tcPr marL="88803" marR="88803" marT="44401" marB="44401" anchor="ctr">
                    <a:lnL>
                      <a:noFill/>
                    </a:lnL>
                    <a:lnR>
                      <a:noFill/>
                    </a:lnR>
                    <a:lnT>
                      <a:noFill/>
                    </a:lnT>
                    <a:lnB>
                      <a:noFill/>
                    </a:lnB>
                    <a:noFill/>
                  </a:tcPr>
                </a:tc>
                <a:tc>
                  <a:txBody>
                    <a:bodyPr/>
                    <a:lstStyle/>
                    <a:p>
                      <a:r>
                        <a:rPr lang="en-US" sz="1700"/>
                        <a:t>Before entering loop</a:t>
                      </a:r>
                      <a:endParaRPr lang="en-US" sz="1700"/>
                    </a:p>
                  </a:txBody>
                  <a:tcPr marL="88803" marR="88803" marT="44401" marB="44401" anchor="ctr">
                    <a:lnL>
                      <a:noFill/>
                    </a:lnL>
                    <a:lnR>
                      <a:noFill/>
                    </a:lnR>
                    <a:lnT>
                      <a:noFill/>
                    </a:lnT>
                    <a:lnB>
                      <a:noFill/>
                    </a:lnB>
                    <a:noFill/>
                  </a:tcPr>
                </a:tc>
                <a:tc>
                  <a:txBody>
                    <a:bodyPr/>
                    <a:lstStyle/>
                    <a:p>
                      <a:r>
                        <a:rPr lang="en-US" sz="1700"/>
                        <a:t>Before entering loop</a:t>
                      </a:r>
                      <a:endParaRPr lang="en-US" sz="1700"/>
                    </a:p>
                  </a:txBody>
                  <a:tcPr marL="88803" marR="88803" marT="44401" marB="44401" anchor="ctr">
                    <a:lnL>
                      <a:noFill/>
                    </a:lnL>
                    <a:lnR>
                      <a:noFill/>
                    </a:lnR>
                    <a:lnT>
                      <a:noFill/>
                    </a:lnT>
                    <a:lnB>
                      <a:noFill/>
                    </a:lnB>
                    <a:noFill/>
                  </a:tcPr>
                </a:tc>
                <a:tc>
                  <a:txBody>
                    <a:bodyPr/>
                    <a:lstStyle/>
                    <a:p>
                      <a:r>
                        <a:rPr lang="en-US" sz="1700"/>
                        <a:t>After executing loop body</a:t>
                      </a:r>
                      <a:endParaRPr lang="en-US" sz="1700"/>
                    </a:p>
                  </a:txBody>
                  <a:tcPr marL="88803" marR="88803" marT="44401" marB="44401" anchor="ctr">
                    <a:lnL>
                      <a:noFill/>
                    </a:lnL>
                    <a:lnR>
                      <a:noFill/>
                    </a:lnR>
                    <a:lnT>
                      <a:noFill/>
                    </a:lnT>
                    <a:lnB>
                      <a:noFill/>
                    </a:lnB>
                    <a:noFill/>
                  </a:tcPr>
                </a:tc>
                <a:tc>
                  <a:txBody>
                    <a:bodyPr/>
                    <a:lstStyle/>
                    <a:p>
                      <a:r>
                        <a:rPr lang="en-US" sz="1700"/>
                        <a:t>for (init; cond; inc) { // code}</a:t>
                      </a:r>
                      <a:endParaRPr lang="en-US" sz="1700"/>
                    </a:p>
                  </a:txBody>
                  <a:tcPr marL="88803" marR="88803" marT="44401" marB="44401" anchor="ctr">
                    <a:lnL>
                      <a:noFill/>
                    </a:lnL>
                    <a:lnR>
                      <a:noFill/>
                    </a:lnR>
                    <a:lnT>
                      <a:noFill/>
                    </a:lnT>
                    <a:lnB>
                      <a:noFill/>
                    </a:lnB>
                    <a:noFill/>
                  </a:tcPr>
                </a:tc>
              </a:tr>
              <a:tr h="621620">
                <a:tc>
                  <a:txBody>
                    <a:bodyPr/>
                    <a:lstStyle/>
                    <a:p>
                      <a:r>
                        <a:rPr lang="en-US" sz="1700" b="1"/>
                        <a:t>Use Case</a:t>
                      </a:r>
                      <a:endParaRPr lang="en-US" sz="1700"/>
                    </a:p>
                  </a:txBody>
                  <a:tcPr marL="88803" marR="88803" marT="44401" marB="44401" anchor="ctr">
                    <a:lnL>
                      <a:noFill/>
                    </a:lnL>
                    <a:lnR>
                      <a:noFill/>
                    </a:lnR>
                    <a:lnT>
                      <a:noFill/>
                    </a:lnT>
                    <a:lnB>
                      <a:noFill/>
                    </a:lnB>
                    <a:noFill/>
                  </a:tcPr>
                </a:tc>
                <a:tc>
                  <a:txBody>
                    <a:bodyPr/>
                    <a:lstStyle/>
                    <a:p>
                      <a:r>
                        <a:rPr lang="en-US" sz="1700"/>
                        <a:t>Known number of iterations</a:t>
                      </a:r>
                      <a:endParaRPr lang="en-US" sz="1700"/>
                    </a:p>
                  </a:txBody>
                  <a:tcPr marL="88803" marR="88803" marT="44401" marB="44401" anchor="ctr">
                    <a:lnL>
                      <a:noFill/>
                    </a:lnL>
                    <a:lnR>
                      <a:noFill/>
                    </a:lnR>
                    <a:lnT>
                      <a:noFill/>
                    </a:lnT>
                    <a:lnB>
                      <a:noFill/>
                    </a:lnB>
                    <a:noFill/>
                  </a:tcPr>
                </a:tc>
                <a:tc>
                  <a:txBody>
                    <a:bodyPr/>
                    <a:lstStyle/>
                    <a:p>
                      <a:r>
                        <a:rPr lang="en-US" sz="1700"/>
                        <a:t>Unknown number of iterations</a:t>
                      </a:r>
                      <a:endParaRPr lang="en-US" sz="1700"/>
                    </a:p>
                  </a:txBody>
                  <a:tcPr marL="88803" marR="88803" marT="44401" marB="44401" anchor="ctr">
                    <a:lnL>
                      <a:noFill/>
                    </a:lnL>
                    <a:lnR>
                      <a:noFill/>
                    </a:lnR>
                    <a:lnT>
                      <a:noFill/>
                    </a:lnT>
                    <a:lnB>
                      <a:noFill/>
                    </a:lnB>
                    <a:noFill/>
                  </a:tcPr>
                </a:tc>
                <a:tc>
                  <a:txBody>
                    <a:bodyPr/>
                    <a:lstStyle/>
                    <a:p>
                      <a:r>
                        <a:rPr lang="en-US" sz="1700"/>
                        <a:t>At least one execution needed</a:t>
                      </a:r>
                      <a:endParaRPr lang="en-US" sz="1700"/>
                    </a:p>
                  </a:txBody>
                  <a:tcPr marL="88803" marR="88803" marT="44401" marB="44401" anchor="ctr">
                    <a:lnL>
                      <a:noFill/>
                    </a:lnL>
                    <a:lnR>
                      <a:noFill/>
                    </a:lnR>
                    <a:lnT>
                      <a:noFill/>
                    </a:lnT>
                    <a:lnB>
                      <a:noFill/>
                    </a:lnB>
                    <a:noFill/>
                  </a:tcPr>
                </a:tc>
                <a:tc>
                  <a:txBody>
                    <a:bodyPr/>
                    <a:lstStyle/>
                    <a:p>
                      <a:r>
                        <a:rPr lang="en-US" sz="1700"/>
                        <a:t>while (cond) { // code}</a:t>
                      </a:r>
                      <a:endParaRPr lang="en-US" sz="1700"/>
                    </a:p>
                  </a:txBody>
                  <a:tcPr marL="88803" marR="88803" marT="44401" marB="44401" anchor="ctr">
                    <a:lnL>
                      <a:noFill/>
                    </a:lnL>
                    <a:lnR>
                      <a:noFill/>
                    </a:lnR>
                    <a:lnT>
                      <a:noFill/>
                    </a:lnT>
                    <a:lnB>
                      <a:noFill/>
                    </a:lnB>
                    <a:noFill/>
                  </a:tcPr>
                </a:tc>
              </a:tr>
              <a:tr h="621620">
                <a:tc>
                  <a:txBody>
                    <a:bodyPr/>
                    <a:lstStyle/>
                    <a:p>
                      <a:r>
                        <a:rPr lang="en-US" sz="1700" b="1"/>
                        <a:t>Initialization</a:t>
                      </a:r>
                      <a:endParaRPr lang="en-US" sz="1700"/>
                    </a:p>
                  </a:txBody>
                  <a:tcPr marL="88803" marR="88803" marT="44401" marB="44401" anchor="ctr">
                    <a:lnL>
                      <a:noFill/>
                    </a:lnL>
                    <a:lnR>
                      <a:noFill/>
                    </a:lnR>
                    <a:lnT>
                      <a:noFill/>
                    </a:lnT>
                    <a:lnB>
                      <a:noFill/>
                    </a:lnB>
                    <a:noFill/>
                  </a:tcPr>
                </a:tc>
                <a:tc>
                  <a:txBody>
                    <a:bodyPr/>
                    <a:lstStyle/>
                    <a:p>
                      <a:r>
                        <a:rPr lang="en-US" sz="1700"/>
                        <a:t>Inside loop header</a:t>
                      </a:r>
                      <a:endParaRPr lang="en-US" sz="1700"/>
                    </a:p>
                  </a:txBody>
                  <a:tcPr marL="88803" marR="88803" marT="44401" marB="44401" anchor="ctr">
                    <a:lnL>
                      <a:noFill/>
                    </a:lnL>
                    <a:lnR>
                      <a:noFill/>
                    </a:lnR>
                    <a:lnT>
                      <a:noFill/>
                    </a:lnT>
                    <a:lnB>
                      <a:noFill/>
                    </a:lnB>
                    <a:noFill/>
                  </a:tcPr>
                </a:tc>
                <a:tc>
                  <a:txBody>
                    <a:bodyPr/>
                    <a:lstStyle/>
                    <a:p>
                      <a:r>
                        <a:rPr lang="en-US" sz="1700"/>
                        <a:t>Outside loop</a:t>
                      </a:r>
                      <a:endParaRPr lang="en-US" sz="1700"/>
                    </a:p>
                  </a:txBody>
                  <a:tcPr marL="88803" marR="88803" marT="44401" marB="44401" anchor="ctr">
                    <a:lnL>
                      <a:noFill/>
                    </a:lnL>
                    <a:lnR>
                      <a:noFill/>
                    </a:lnR>
                    <a:lnT>
                      <a:noFill/>
                    </a:lnT>
                    <a:lnB>
                      <a:noFill/>
                    </a:lnB>
                    <a:noFill/>
                  </a:tcPr>
                </a:tc>
                <a:tc>
                  <a:txBody>
                    <a:bodyPr/>
                    <a:lstStyle/>
                    <a:p>
                      <a:r>
                        <a:rPr lang="en-US" sz="1700"/>
                        <a:t>Outside loop</a:t>
                      </a:r>
                      <a:endParaRPr lang="en-US" sz="1700"/>
                    </a:p>
                  </a:txBody>
                  <a:tcPr marL="88803" marR="88803" marT="44401" marB="44401" anchor="ctr">
                    <a:lnL>
                      <a:noFill/>
                    </a:lnL>
                    <a:lnR>
                      <a:noFill/>
                    </a:lnR>
                    <a:lnT>
                      <a:noFill/>
                    </a:lnT>
                    <a:lnB>
                      <a:noFill/>
                    </a:lnB>
                    <a:noFill/>
                  </a:tcPr>
                </a:tc>
                <a:tc>
                  <a:txBody>
                    <a:bodyPr/>
                    <a:lstStyle/>
                    <a:p>
                      <a:r>
                        <a:rPr lang="en-US" sz="1700"/>
                        <a:t>do { // code} while (cond);</a:t>
                      </a:r>
                      <a:endParaRPr lang="en-US" sz="1700"/>
                    </a:p>
                  </a:txBody>
                  <a:tcPr marL="88803" marR="88803" marT="44401" marB="44401" anchor="ctr">
                    <a:lnL>
                      <a:noFill/>
                    </a:lnL>
                    <a:lnR>
                      <a:noFill/>
                    </a:lnR>
                    <a:lnT>
                      <a:noFill/>
                    </a:lnT>
                    <a:lnB>
                      <a:noFill/>
                    </a:lnB>
                    <a:noFill/>
                  </a:tcPr>
                </a:tc>
              </a:tr>
              <a:tr h="888028">
                <a:tc>
                  <a:txBody>
                    <a:bodyPr/>
                    <a:lstStyle/>
                    <a:p>
                      <a:r>
                        <a:rPr lang="en-US" sz="1700" b="1"/>
                        <a:t>Increment/Decrement</a:t>
                      </a:r>
                      <a:endParaRPr lang="en-US" sz="1700"/>
                    </a:p>
                  </a:txBody>
                  <a:tcPr marL="88803" marR="88803" marT="44401" marB="44401" anchor="ctr">
                    <a:lnL>
                      <a:noFill/>
                    </a:lnL>
                    <a:lnR>
                      <a:noFill/>
                    </a:lnR>
                    <a:lnT>
                      <a:noFill/>
                    </a:lnT>
                    <a:lnB>
                      <a:noFill/>
                    </a:lnB>
                    <a:noFill/>
                  </a:tcPr>
                </a:tc>
                <a:tc>
                  <a:txBody>
                    <a:bodyPr/>
                    <a:lstStyle/>
                    <a:p>
                      <a:r>
                        <a:rPr lang="en-US" sz="1700"/>
                        <a:t>In loop header</a:t>
                      </a:r>
                      <a:endParaRPr lang="en-US" sz="1700"/>
                    </a:p>
                  </a:txBody>
                  <a:tcPr marL="88803" marR="88803" marT="44401" marB="44401" anchor="ctr">
                    <a:lnL>
                      <a:noFill/>
                    </a:lnL>
                    <a:lnR>
                      <a:noFill/>
                    </a:lnR>
                    <a:lnT>
                      <a:noFill/>
                    </a:lnT>
                    <a:lnB>
                      <a:noFill/>
                    </a:lnB>
                    <a:noFill/>
                  </a:tcPr>
                </a:tc>
                <a:tc>
                  <a:txBody>
                    <a:bodyPr/>
                    <a:lstStyle/>
                    <a:p>
                      <a:r>
                        <a:rPr lang="en-US" sz="1700"/>
                        <a:t>Inside loop body</a:t>
                      </a:r>
                      <a:endParaRPr lang="en-US" sz="1700"/>
                    </a:p>
                  </a:txBody>
                  <a:tcPr marL="88803" marR="88803" marT="44401" marB="44401" anchor="ctr">
                    <a:lnL>
                      <a:noFill/>
                    </a:lnL>
                    <a:lnR>
                      <a:noFill/>
                    </a:lnR>
                    <a:lnT>
                      <a:noFill/>
                    </a:lnT>
                    <a:lnB>
                      <a:noFill/>
                    </a:lnB>
                    <a:noFill/>
                  </a:tcPr>
                </a:tc>
                <a:tc>
                  <a:txBody>
                    <a:bodyPr/>
                    <a:lstStyle/>
                    <a:p>
                      <a:r>
                        <a:rPr lang="en-US" sz="1700"/>
                        <a:t>Inside loop body</a:t>
                      </a:r>
                      <a:endParaRPr lang="en-US" sz="1700"/>
                    </a:p>
                  </a:txBody>
                  <a:tcPr marL="88803" marR="88803" marT="44401" marB="44401" anchor="ctr">
                    <a:lnL>
                      <a:noFill/>
                    </a:lnL>
                    <a:lnR>
                      <a:noFill/>
                    </a:lnR>
                    <a:lnT>
                      <a:noFill/>
                    </a:lnT>
                    <a:lnB>
                      <a:noFill/>
                    </a:lnB>
                    <a:noFill/>
                  </a:tcPr>
                </a:tc>
                <a:tc>
                  <a:txBody>
                    <a:bodyPr/>
                    <a:lstStyle/>
                    <a:p>
                      <a:r>
                        <a:rPr lang="en-US" sz="1700"/>
                        <a:t>(Shown inside respective loop bodies)</a:t>
                      </a:r>
                      <a:endParaRPr lang="en-US" sz="1700"/>
                    </a:p>
                  </a:txBody>
                  <a:tcPr marL="88803" marR="88803" marT="44401" marB="44401" anchor="ctr">
                    <a:lnL>
                      <a:noFill/>
                    </a:lnL>
                    <a:lnR>
                      <a:noFill/>
                    </a:lnR>
                    <a:lnT>
                      <a:noFill/>
                    </a:lnT>
                    <a:lnB>
                      <a:noFill/>
                    </a:lnB>
                    <a:noFill/>
                  </a:tcPr>
                </a:tc>
              </a:tr>
              <a:tr h="621620">
                <a:tc>
                  <a:txBody>
                    <a:bodyPr/>
                    <a:lstStyle/>
                    <a:p>
                      <a:r>
                        <a:rPr lang="en-US" sz="1700" b="1"/>
                        <a:t>Guarantees Execution?</a:t>
                      </a:r>
                      <a:endParaRPr lang="en-US" sz="1700"/>
                    </a:p>
                  </a:txBody>
                  <a:tcPr marL="88803" marR="88803" marT="44401" marB="44401" anchor="ctr">
                    <a:lnL>
                      <a:noFill/>
                    </a:lnL>
                    <a:lnR>
                      <a:noFill/>
                    </a:lnR>
                    <a:lnT>
                      <a:noFill/>
                    </a:lnT>
                    <a:lnB>
                      <a:noFill/>
                    </a:lnB>
                    <a:noFill/>
                  </a:tcPr>
                </a:tc>
                <a:tc>
                  <a:txBody>
                    <a:bodyPr/>
                    <a:lstStyle/>
                    <a:p>
                      <a:r>
                        <a:rPr lang="en-US" sz="1700"/>
                        <a:t>No</a:t>
                      </a:r>
                      <a:endParaRPr lang="en-US" sz="1700"/>
                    </a:p>
                  </a:txBody>
                  <a:tcPr marL="88803" marR="88803" marT="44401" marB="44401" anchor="ctr">
                    <a:lnL>
                      <a:noFill/>
                    </a:lnL>
                    <a:lnR>
                      <a:noFill/>
                    </a:lnR>
                    <a:lnT>
                      <a:noFill/>
                    </a:lnT>
                    <a:lnB>
                      <a:noFill/>
                    </a:lnB>
                    <a:noFill/>
                  </a:tcPr>
                </a:tc>
                <a:tc>
                  <a:txBody>
                    <a:bodyPr/>
                    <a:lstStyle/>
                    <a:p>
                      <a:r>
                        <a:rPr lang="en-US" sz="1700"/>
                        <a:t>No</a:t>
                      </a:r>
                      <a:endParaRPr lang="en-US" sz="1700"/>
                    </a:p>
                  </a:txBody>
                  <a:tcPr marL="88803" marR="88803" marT="44401" marB="44401" anchor="ctr">
                    <a:lnL>
                      <a:noFill/>
                    </a:lnL>
                    <a:lnR>
                      <a:noFill/>
                    </a:lnR>
                    <a:lnT>
                      <a:noFill/>
                    </a:lnT>
                    <a:lnB>
                      <a:noFill/>
                    </a:lnB>
                    <a:noFill/>
                  </a:tcPr>
                </a:tc>
                <a:tc>
                  <a:txBody>
                    <a:bodyPr/>
                    <a:lstStyle/>
                    <a:p>
                      <a:r>
                        <a:rPr lang="en-US" sz="1700"/>
                        <a:t>Yes</a:t>
                      </a:r>
                      <a:endParaRPr lang="en-US" sz="1700"/>
                    </a:p>
                  </a:txBody>
                  <a:tcPr marL="88803" marR="88803" marT="44401" marB="44401" anchor="ctr">
                    <a:lnL>
                      <a:noFill/>
                    </a:lnL>
                    <a:lnR>
                      <a:noFill/>
                    </a:lnR>
                    <a:lnT>
                      <a:noFill/>
                    </a:lnT>
                    <a:lnB>
                      <a:noFill/>
                    </a:lnB>
                    <a:noFill/>
                  </a:tcPr>
                </a:tc>
                <a:tc>
                  <a:txBody>
                    <a:bodyPr/>
                    <a:lstStyle/>
                    <a:p>
                      <a:r>
                        <a:rPr lang="en-US" sz="1700"/>
                        <a:t>-</a:t>
                      </a:r>
                      <a:endParaRPr lang="en-US" sz="1700"/>
                    </a:p>
                  </a:txBody>
                  <a:tcPr marL="88803" marR="88803" marT="44401" marB="44401" anchor="ctr">
                    <a:lnL>
                      <a:noFill/>
                    </a:lnL>
                    <a:lnR>
                      <a:noFill/>
                    </a:lnR>
                    <a:lnT>
                      <a:noFill/>
                    </a:lnT>
                    <a:lnB>
                      <a:noFill/>
                    </a:lnB>
                    <a:noFill/>
                  </a:tcPr>
                </a:tc>
              </a:tr>
              <a:tr h="621620">
                <a:tc>
                  <a:txBody>
                    <a:bodyPr/>
                    <a:lstStyle/>
                    <a:p>
                      <a:r>
                        <a:rPr lang="en-US" sz="1700" b="1"/>
                        <a:t>Syntax Simplicity</a:t>
                      </a:r>
                      <a:endParaRPr lang="en-US" sz="1700"/>
                    </a:p>
                  </a:txBody>
                  <a:tcPr marL="88803" marR="88803" marT="44401" marB="44401" anchor="ctr">
                    <a:lnL>
                      <a:noFill/>
                    </a:lnL>
                    <a:lnR>
                      <a:noFill/>
                    </a:lnR>
                    <a:lnT>
                      <a:noFill/>
                    </a:lnT>
                    <a:lnB>
                      <a:noFill/>
                    </a:lnB>
                    <a:noFill/>
                  </a:tcPr>
                </a:tc>
                <a:tc>
                  <a:txBody>
                    <a:bodyPr/>
                    <a:lstStyle/>
                    <a:p>
                      <a:r>
                        <a:rPr lang="en-US" sz="1700"/>
                        <a:t>Compact</a:t>
                      </a:r>
                      <a:endParaRPr lang="en-US" sz="1700"/>
                    </a:p>
                  </a:txBody>
                  <a:tcPr marL="88803" marR="88803" marT="44401" marB="44401" anchor="ctr">
                    <a:lnL>
                      <a:noFill/>
                    </a:lnL>
                    <a:lnR>
                      <a:noFill/>
                    </a:lnR>
                    <a:lnT>
                      <a:noFill/>
                    </a:lnT>
                    <a:lnB>
                      <a:noFill/>
                    </a:lnB>
                    <a:noFill/>
                  </a:tcPr>
                </a:tc>
                <a:tc>
                  <a:txBody>
                    <a:bodyPr/>
                    <a:lstStyle/>
                    <a:p>
                      <a:r>
                        <a:rPr lang="en-US" sz="1700"/>
                        <a:t>Less compact</a:t>
                      </a:r>
                      <a:endParaRPr lang="en-US" sz="1700"/>
                    </a:p>
                  </a:txBody>
                  <a:tcPr marL="88803" marR="88803" marT="44401" marB="44401" anchor="ctr">
                    <a:lnL>
                      <a:noFill/>
                    </a:lnL>
                    <a:lnR>
                      <a:noFill/>
                    </a:lnR>
                    <a:lnT>
                      <a:noFill/>
                    </a:lnT>
                    <a:lnB>
                      <a:noFill/>
                    </a:lnB>
                    <a:noFill/>
                  </a:tcPr>
                </a:tc>
                <a:tc>
                  <a:txBody>
                    <a:bodyPr/>
                    <a:lstStyle/>
                    <a:p>
                      <a:r>
                        <a:rPr lang="en-US" sz="1700"/>
                        <a:t>Slightly more complex</a:t>
                      </a:r>
                      <a:endParaRPr lang="en-US" sz="1700"/>
                    </a:p>
                  </a:txBody>
                  <a:tcPr marL="88803" marR="88803" marT="44401" marB="44401" anchor="ctr">
                    <a:lnL>
                      <a:noFill/>
                    </a:lnL>
                    <a:lnR>
                      <a:noFill/>
                    </a:lnR>
                    <a:lnT>
                      <a:noFill/>
                    </a:lnT>
                    <a:lnB>
                      <a:noFill/>
                    </a:lnB>
                    <a:noFill/>
                  </a:tcPr>
                </a:tc>
                <a:tc>
                  <a:txBody>
                    <a:bodyPr/>
                    <a:lstStyle/>
                    <a:p>
                      <a:r>
                        <a:rPr lang="en-US" sz="1700" dirty="0"/>
                        <a:t>-</a:t>
                      </a:r>
                      <a:endParaRPr lang="en-US" sz="1700" dirty="0"/>
                    </a:p>
                  </a:txBody>
                  <a:tcPr marL="88803" marR="88803" marT="44401" marB="44401" anchor="ctr">
                    <a:lnL>
                      <a:noFill/>
                    </a:lnL>
                    <a:lnR>
                      <a:noFill/>
                    </a:lnR>
                    <a:lnT>
                      <a:noFill/>
                    </a:lnT>
                    <a:lnB>
                      <a:noFill/>
                    </a:lnB>
                    <a:no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5243"/>
            <a:ext cx="10515600" cy="308643"/>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Java if and if-else Statement</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77804" y="555090"/>
            <a:ext cx="10515600" cy="4351338"/>
          </a:xfrm>
        </p:spPr>
        <p:txBody>
          <a:bodyPr/>
          <a:lstStyle/>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054" y="114869"/>
            <a:ext cx="10515600" cy="385646"/>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Java Nesting if-else </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97054" y="526216"/>
            <a:ext cx="10515600" cy="4351338"/>
          </a:xfrm>
        </p:spPr>
        <p:txBody>
          <a:bodyPr/>
          <a:lstStyle/>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930" y="124494"/>
            <a:ext cx="10515600" cy="308643"/>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Java Ladder if-else Statement</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25930" y="593591"/>
            <a:ext cx="10515600" cy="4351338"/>
          </a:xfrm>
        </p:spPr>
        <p:txBody>
          <a:bodyPr/>
          <a:lstStyle/>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055" y="95619"/>
            <a:ext cx="10515600" cy="424146"/>
          </a:xfrm>
        </p:spPr>
        <p:txBody>
          <a:bodyPr>
            <a:normAutofit/>
          </a:bodyPr>
          <a:lstStyle/>
          <a:p>
            <a:r>
              <a:rPr lang="en-US" sz="2000" b="1" dirty="0">
                <a:solidFill>
                  <a:srgbClr val="FF0000"/>
                </a:solidFill>
                <a:latin typeface="Cambria" panose="02040503050406030204" pitchFamily="18" charset="0"/>
                <a:ea typeface="Cambria" panose="02040503050406030204" pitchFamily="18" charset="0"/>
              </a:rPr>
              <a:t>Java Switch-case Statement</a:t>
            </a:r>
            <a:endParaRPr lang="en-US" sz="20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97055" y="519765"/>
            <a:ext cx="10515600" cy="4351338"/>
          </a:xfrm>
        </p:spPr>
        <p:txBody>
          <a:bodyPr/>
          <a:lstStyle/>
          <a:p>
            <a:endParaRPr lang="en-US" dirty="0"/>
          </a:p>
        </p:txBody>
      </p:sp>
    </p:spTree>
  </p:cSld>
  <p:clrMapOvr>
    <a:masterClrMapping/>
  </p:clrMapOvr>
</p:sld>
</file>

<file path=ppt/tags/tag1.xml><?xml version="1.0" encoding="utf-8"?>
<p:tagLst xmlns:p="http://schemas.openxmlformats.org/presentationml/2006/main">
  <p:tag name="TABLE_ENDDRAG_ORIGIN_RECT" val="920*311"/>
  <p:tag name="TABLE_ENDDRAG_RECT" val="9*216*920*31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26352</Words>
  <Application>WPS Presentation</Application>
  <PresentationFormat>Widescreen</PresentationFormat>
  <Paragraphs>1150</Paragraphs>
  <Slides>42</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42</vt:i4>
      </vt:variant>
    </vt:vector>
  </HeadingPairs>
  <TitlesOfParts>
    <vt:vector size="56" baseType="lpstr">
      <vt:lpstr>Arial</vt:lpstr>
      <vt:lpstr>SimSun</vt:lpstr>
      <vt:lpstr>Wingdings</vt:lpstr>
      <vt:lpstr>Cambria</vt:lpstr>
      <vt:lpstr>Times New Roman</vt:lpstr>
      <vt:lpstr>Calibri</vt:lpstr>
      <vt:lpstr>Liberation Serif</vt:lpstr>
      <vt:lpstr>Segoe Print</vt:lpstr>
      <vt:lpstr>Droid Sans Fallback</vt:lpstr>
      <vt:lpstr>FreeSans</vt:lpstr>
      <vt:lpstr>Microsoft YaHei</vt:lpstr>
      <vt:lpstr>Arial Unicode MS</vt:lpstr>
      <vt:lpstr>Calibri Light</vt:lpstr>
      <vt:lpstr>Office Theme</vt:lpstr>
      <vt:lpstr>Why Java</vt:lpstr>
      <vt:lpstr>PowerPoint 演示文稿</vt:lpstr>
      <vt:lpstr>PowerPoint 演示文稿</vt:lpstr>
      <vt:lpstr>Full Stack Java Programming</vt:lpstr>
      <vt:lpstr>Introduction To Java Programming</vt:lpstr>
      <vt:lpstr>Introduction To Java Programming</vt:lpstr>
      <vt:lpstr>What is high level programming language</vt:lpstr>
      <vt:lpstr>History Of Java</vt:lpstr>
      <vt:lpstr>Java Version History</vt:lpstr>
      <vt:lpstr>Java Features</vt:lpstr>
      <vt:lpstr>Java Applications</vt:lpstr>
      <vt:lpstr>Careers With Java Full Stack Development/Developer</vt:lpstr>
      <vt:lpstr>Careers With Java Full Stack Development/Developer</vt:lpstr>
      <vt:lpstr>Java Editions (Platforms)</vt:lpstr>
      <vt:lpstr>Java  Environment  Setup</vt:lpstr>
      <vt:lpstr>Java  Environment  Setup</vt:lpstr>
      <vt:lpstr>Java  Environment  Setup</vt:lpstr>
      <vt:lpstr>Difference Between Path And ClassPath</vt:lpstr>
      <vt:lpstr>Java First Project</vt:lpstr>
      <vt:lpstr>Java Program Internal</vt:lpstr>
      <vt:lpstr>Java Program Internal</vt:lpstr>
      <vt:lpstr>Difference Between Compiler And Interpreter</vt:lpstr>
      <vt:lpstr>Introduction of Jdk, Jvm, Jre</vt:lpstr>
      <vt:lpstr>Components of JDK</vt:lpstr>
      <vt:lpstr>JRE</vt:lpstr>
      <vt:lpstr>JVM</vt:lpstr>
      <vt:lpstr>Java Just in Time Compiler</vt:lpstr>
      <vt:lpstr>Difference Between JDK,JRE,JVM</vt:lpstr>
      <vt:lpstr>Java Comments and Expression and literal</vt:lpstr>
      <vt:lpstr>Java Token</vt:lpstr>
      <vt:lpstr>Java Keywords</vt:lpstr>
      <vt:lpstr>Java Input Statement</vt:lpstr>
      <vt:lpstr>Java Variables And Java Datatype</vt:lpstr>
      <vt:lpstr>Java Memory Management</vt:lpstr>
      <vt:lpstr>Decision Making Statement</vt:lpstr>
      <vt:lpstr>PowerPoint 演示文稿</vt:lpstr>
      <vt:lpstr>Java Switch Case Statement</vt:lpstr>
      <vt:lpstr>Java Control Statement</vt:lpstr>
      <vt:lpstr>Java if and if-else Statement</vt:lpstr>
      <vt:lpstr>Java Nesting if-else </vt:lpstr>
      <vt:lpstr>Java Ladder if-else Statement</vt:lpstr>
      <vt:lpstr>Java Switch-case Statement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MORE SAUDAGAR</dc:creator>
  <cp:lastModifiedBy>Nishank Amte</cp:lastModifiedBy>
  <cp:revision>251</cp:revision>
  <dcterms:created xsi:type="dcterms:W3CDTF">2025-07-13T08:29:00Z</dcterms:created>
  <dcterms:modified xsi:type="dcterms:W3CDTF">2025-09-13T07:18:08Z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C988F45663DF421B870E53DD11A3CFED_12</vt:lpwstr>
  </property>
  <property fmtid="{D5CDD505-2E9C-101B-9397-08002B2CF9AE}" pid="3" name="KSOProductBuildVer">
    <vt:lpwstr>1033-12.2.0.22549</vt:lpwstr>
  </property>
</Properties>
</file>