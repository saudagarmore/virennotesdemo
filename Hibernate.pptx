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66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66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Gadugi" panose="020B0502040204020203"/>
                <a:cs typeface="Gadugi" panose="020B05020402040202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97790">
              <a:lnSpc>
                <a:spcPts val="131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Gadugi" panose="020B0502040204020203"/>
                <a:cs typeface="Gadugi" panose="020B05020402040202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97790">
              <a:lnSpc>
                <a:spcPts val="131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Gadugi" panose="020B0502040204020203"/>
                <a:cs typeface="Gadugi" panose="020B05020402040202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97790">
              <a:lnSpc>
                <a:spcPts val="131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Gadugi" panose="020B0502040204020203"/>
                <a:cs typeface="Gadugi" panose="020B05020402040202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97790">
              <a:lnSpc>
                <a:spcPts val="131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97790">
              <a:lnSpc>
                <a:spcPts val="131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4295" y="1133855"/>
            <a:ext cx="6083808" cy="3415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Gadugi" panose="020B0502040204020203"/>
                <a:cs typeface="Gadugi" panose="020B05020402040202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494529" y="9544243"/>
            <a:ext cx="234315" cy="188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97790">
              <a:lnSpc>
                <a:spcPts val="131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hyperlink" Target="mailto:r@gmail.com" TargetMode="External"/><Relationship Id="rId3" Type="http://schemas.openxmlformats.org/officeDocument/2006/relationships/hyperlink" Target="mailto:a@gmail.com" TargetMode="Externa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5.png"/><Relationship Id="rId2" Type="http://schemas.openxmlformats.org/officeDocument/2006/relationships/hyperlink" Target="mailto:r@gmail.com" TargetMode="External"/><Relationship Id="rId1" Type="http://schemas.openxmlformats.org/officeDocument/2006/relationships/hyperlink" Target="mailto:a@gmail.com" TargetMode="Externa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0.png"/><Relationship Id="rId2" Type="http://schemas.openxmlformats.org/officeDocument/2006/relationships/hyperlink" Target="mailto:r@gmail.com" TargetMode="External"/><Relationship Id="rId1" Type="http://schemas.openxmlformats.org/officeDocument/2006/relationships/hyperlink" Target="mailto:a@gmail.com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1540" y="25814"/>
            <a:ext cx="76771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0" dirty="0">
                <a:latin typeface="Calibri" panose="020F0502020204030204"/>
                <a:cs typeface="Calibri" panose="020F0502020204030204"/>
              </a:rPr>
              <a:t>3/30/2023</a:t>
            </a:r>
            <a:endParaRPr sz="12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38200" y="1127760"/>
            <a:ext cx="6096000" cy="3429000"/>
            <a:chOff x="838200" y="1127760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838200" y="1127760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3428999"/>
                  </a:moveTo>
                  <a:lnTo>
                    <a:pt x="0" y="3428999"/>
                  </a:lnTo>
                  <a:lnTo>
                    <a:pt x="0" y="0"/>
                  </a:lnTo>
                  <a:lnTo>
                    <a:pt x="6096000" y="0"/>
                  </a:lnTo>
                  <a:lnTo>
                    <a:pt x="6096000" y="3428999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86027" y="1248156"/>
              <a:ext cx="5801995" cy="3190240"/>
            </a:xfrm>
            <a:custGeom>
              <a:avLst/>
              <a:gdLst/>
              <a:ahLst/>
              <a:cxnLst/>
              <a:rect l="l" t="t" r="r" b="b"/>
              <a:pathLst>
                <a:path w="5801995" h="3190240">
                  <a:moveTo>
                    <a:pt x="5269992" y="3189732"/>
                  </a:moveTo>
                  <a:lnTo>
                    <a:pt x="531876" y="3189732"/>
                  </a:lnTo>
                  <a:lnTo>
                    <a:pt x="483407" y="3187561"/>
                  </a:lnTo>
                  <a:lnTo>
                    <a:pt x="436169" y="3181175"/>
                  </a:lnTo>
                  <a:lnTo>
                    <a:pt x="390348" y="3170759"/>
                  </a:lnTo>
                  <a:lnTo>
                    <a:pt x="346131" y="3156500"/>
                  </a:lnTo>
                  <a:lnTo>
                    <a:pt x="303705" y="3138585"/>
                  </a:lnTo>
                  <a:lnTo>
                    <a:pt x="263256" y="3117200"/>
                  </a:lnTo>
                  <a:lnTo>
                    <a:pt x="224971" y="3092532"/>
                  </a:lnTo>
                  <a:lnTo>
                    <a:pt x="189036" y="3064768"/>
                  </a:lnTo>
                  <a:lnTo>
                    <a:pt x="155638" y="3034093"/>
                  </a:lnTo>
                  <a:lnTo>
                    <a:pt x="124963" y="3000695"/>
                  </a:lnTo>
                  <a:lnTo>
                    <a:pt x="97199" y="2964760"/>
                  </a:lnTo>
                  <a:lnTo>
                    <a:pt x="72531" y="2926475"/>
                  </a:lnTo>
                  <a:lnTo>
                    <a:pt x="51146" y="2886026"/>
                  </a:lnTo>
                  <a:lnTo>
                    <a:pt x="33231" y="2843600"/>
                  </a:lnTo>
                  <a:lnTo>
                    <a:pt x="18972" y="2799383"/>
                  </a:lnTo>
                  <a:lnTo>
                    <a:pt x="8556" y="2753562"/>
                  </a:lnTo>
                  <a:lnTo>
                    <a:pt x="2170" y="2706324"/>
                  </a:lnTo>
                  <a:lnTo>
                    <a:pt x="0" y="2657855"/>
                  </a:lnTo>
                  <a:lnTo>
                    <a:pt x="0" y="531876"/>
                  </a:lnTo>
                  <a:lnTo>
                    <a:pt x="2170" y="483407"/>
                  </a:lnTo>
                  <a:lnTo>
                    <a:pt x="8556" y="436169"/>
                  </a:lnTo>
                  <a:lnTo>
                    <a:pt x="18972" y="390348"/>
                  </a:lnTo>
                  <a:lnTo>
                    <a:pt x="33231" y="346131"/>
                  </a:lnTo>
                  <a:lnTo>
                    <a:pt x="51146" y="303705"/>
                  </a:lnTo>
                  <a:lnTo>
                    <a:pt x="72531" y="263256"/>
                  </a:lnTo>
                  <a:lnTo>
                    <a:pt x="97199" y="224971"/>
                  </a:lnTo>
                  <a:lnTo>
                    <a:pt x="124963" y="189036"/>
                  </a:lnTo>
                  <a:lnTo>
                    <a:pt x="155638" y="155638"/>
                  </a:lnTo>
                  <a:lnTo>
                    <a:pt x="189036" y="124963"/>
                  </a:lnTo>
                  <a:lnTo>
                    <a:pt x="224971" y="97199"/>
                  </a:lnTo>
                  <a:lnTo>
                    <a:pt x="263256" y="72531"/>
                  </a:lnTo>
                  <a:lnTo>
                    <a:pt x="303705" y="51146"/>
                  </a:lnTo>
                  <a:lnTo>
                    <a:pt x="346131" y="33231"/>
                  </a:lnTo>
                  <a:lnTo>
                    <a:pt x="390348" y="18972"/>
                  </a:lnTo>
                  <a:lnTo>
                    <a:pt x="436169" y="8556"/>
                  </a:lnTo>
                  <a:lnTo>
                    <a:pt x="483407" y="2170"/>
                  </a:lnTo>
                  <a:lnTo>
                    <a:pt x="531876" y="0"/>
                  </a:lnTo>
                  <a:lnTo>
                    <a:pt x="5269992" y="0"/>
                  </a:lnTo>
                  <a:lnTo>
                    <a:pt x="5318460" y="2170"/>
                  </a:lnTo>
                  <a:lnTo>
                    <a:pt x="5365698" y="8556"/>
                  </a:lnTo>
                  <a:lnTo>
                    <a:pt x="5411519" y="18972"/>
                  </a:lnTo>
                  <a:lnTo>
                    <a:pt x="5455736" y="33231"/>
                  </a:lnTo>
                  <a:lnTo>
                    <a:pt x="5498162" y="51146"/>
                  </a:lnTo>
                  <a:lnTo>
                    <a:pt x="5538611" y="72531"/>
                  </a:lnTo>
                  <a:lnTo>
                    <a:pt x="5576896" y="97199"/>
                  </a:lnTo>
                  <a:lnTo>
                    <a:pt x="5612831" y="124963"/>
                  </a:lnTo>
                  <a:lnTo>
                    <a:pt x="5646229" y="155638"/>
                  </a:lnTo>
                  <a:lnTo>
                    <a:pt x="5676904" y="189036"/>
                  </a:lnTo>
                  <a:lnTo>
                    <a:pt x="5704668" y="224971"/>
                  </a:lnTo>
                  <a:lnTo>
                    <a:pt x="5729336" y="263256"/>
                  </a:lnTo>
                  <a:lnTo>
                    <a:pt x="5750721" y="303705"/>
                  </a:lnTo>
                  <a:lnTo>
                    <a:pt x="5768636" y="346131"/>
                  </a:lnTo>
                  <a:lnTo>
                    <a:pt x="5782895" y="390348"/>
                  </a:lnTo>
                  <a:lnTo>
                    <a:pt x="5793311" y="436169"/>
                  </a:lnTo>
                  <a:lnTo>
                    <a:pt x="5799697" y="483407"/>
                  </a:lnTo>
                  <a:lnTo>
                    <a:pt x="5801867" y="531876"/>
                  </a:lnTo>
                  <a:lnTo>
                    <a:pt x="5801867" y="2657855"/>
                  </a:lnTo>
                  <a:lnTo>
                    <a:pt x="5799697" y="2706324"/>
                  </a:lnTo>
                  <a:lnTo>
                    <a:pt x="5793311" y="2753562"/>
                  </a:lnTo>
                  <a:lnTo>
                    <a:pt x="5782895" y="2799383"/>
                  </a:lnTo>
                  <a:lnTo>
                    <a:pt x="5768636" y="2843600"/>
                  </a:lnTo>
                  <a:lnTo>
                    <a:pt x="5750721" y="2886026"/>
                  </a:lnTo>
                  <a:lnTo>
                    <a:pt x="5729336" y="2926475"/>
                  </a:lnTo>
                  <a:lnTo>
                    <a:pt x="5704668" y="2964760"/>
                  </a:lnTo>
                  <a:lnTo>
                    <a:pt x="5676904" y="3000695"/>
                  </a:lnTo>
                  <a:lnTo>
                    <a:pt x="5646229" y="3034093"/>
                  </a:lnTo>
                  <a:lnTo>
                    <a:pt x="5612831" y="3064768"/>
                  </a:lnTo>
                  <a:lnTo>
                    <a:pt x="5576896" y="3092532"/>
                  </a:lnTo>
                  <a:lnTo>
                    <a:pt x="5538611" y="3117200"/>
                  </a:lnTo>
                  <a:lnTo>
                    <a:pt x="5498162" y="3138585"/>
                  </a:lnTo>
                  <a:lnTo>
                    <a:pt x="5455736" y="3156500"/>
                  </a:lnTo>
                  <a:lnTo>
                    <a:pt x="5411519" y="3170759"/>
                  </a:lnTo>
                  <a:lnTo>
                    <a:pt x="5365698" y="3181175"/>
                  </a:lnTo>
                  <a:lnTo>
                    <a:pt x="5318460" y="3187561"/>
                  </a:lnTo>
                  <a:lnTo>
                    <a:pt x="5269992" y="31897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86027" y="1248156"/>
              <a:ext cx="5801995" cy="3190240"/>
            </a:xfrm>
            <a:custGeom>
              <a:avLst/>
              <a:gdLst/>
              <a:ahLst/>
              <a:cxnLst/>
              <a:rect l="l" t="t" r="r" b="b"/>
              <a:pathLst>
                <a:path w="5801995" h="3190240">
                  <a:moveTo>
                    <a:pt x="0" y="531876"/>
                  </a:moveTo>
                  <a:lnTo>
                    <a:pt x="2170" y="483407"/>
                  </a:lnTo>
                  <a:lnTo>
                    <a:pt x="8556" y="436169"/>
                  </a:lnTo>
                  <a:lnTo>
                    <a:pt x="18972" y="390348"/>
                  </a:lnTo>
                  <a:lnTo>
                    <a:pt x="33231" y="346131"/>
                  </a:lnTo>
                  <a:lnTo>
                    <a:pt x="51146" y="303705"/>
                  </a:lnTo>
                  <a:lnTo>
                    <a:pt x="72531" y="263256"/>
                  </a:lnTo>
                  <a:lnTo>
                    <a:pt x="97199" y="224971"/>
                  </a:lnTo>
                  <a:lnTo>
                    <a:pt x="124963" y="189036"/>
                  </a:lnTo>
                  <a:lnTo>
                    <a:pt x="155638" y="155638"/>
                  </a:lnTo>
                  <a:lnTo>
                    <a:pt x="189036" y="124963"/>
                  </a:lnTo>
                  <a:lnTo>
                    <a:pt x="224971" y="97199"/>
                  </a:lnTo>
                  <a:lnTo>
                    <a:pt x="263256" y="72531"/>
                  </a:lnTo>
                  <a:lnTo>
                    <a:pt x="303705" y="51146"/>
                  </a:lnTo>
                  <a:lnTo>
                    <a:pt x="346131" y="33231"/>
                  </a:lnTo>
                  <a:lnTo>
                    <a:pt x="390348" y="18972"/>
                  </a:lnTo>
                  <a:lnTo>
                    <a:pt x="436169" y="8556"/>
                  </a:lnTo>
                  <a:lnTo>
                    <a:pt x="483407" y="2170"/>
                  </a:lnTo>
                  <a:lnTo>
                    <a:pt x="531876" y="0"/>
                  </a:lnTo>
                  <a:lnTo>
                    <a:pt x="5269992" y="0"/>
                  </a:lnTo>
                  <a:lnTo>
                    <a:pt x="5318460" y="2170"/>
                  </a:lnTo>
                  <a:lnTo>
                    <a:pt x="5365698" y="8556"/>
                  </a:lnTo>
                  <a:lnTo>
                    <a:pt x="5411519" y="18972"/>
                  </a:lnTo>
                  <a:lnTo>
                    <a:pt x="5455736" y="33231"/>
                  </a:lnTo>
                  <a:lnTo>
                    <a:pt x="5498162" y="51146"/>
                  </a:lnTo>
                  <a:lnTo>
                    <a:pt x="5538611" y="72531"/>
                  </a:lnTo>
                  <a:lnTo>
                    <a:pt x="5576896" y="97199"/>
                  </a:lnTo>
                  <a:lnTo>
                    <a:pt x="5612831" y="124963"/>
                  </a:lnTo>
                  <a:lnTo>
                    <a:pt x="5646229" y="155638"/>
                  </a:lnTo>
                  <a:lnTo>
                    <a:pt x="5676904" y="189036"/>
                  </a:lnTo>
                  <a:lnTo>
                    <a:pt x="5704668" y="224971"/>
                  </a:lnTo>
                  <a:lnTo>
                    <a:pt x="5729336" y="263256"/>
                  </a:lnTo>
                  <a:lnTo>
                    <a:pt x="5750721" y="303705"/>
                  </a:lnTo>
                  <a:lnTo>
                    <a:pt x="5768636" y="346131"/>
                  </a:lnTo>
                  <a:lnTo>
                    <a:pt x="5782895" y="390348"/>
                  </a:lnTo>
                  <a:lnTo>
                    <a:pt x="5793311" y="436169"/>
                  </a:lnTo>
                  <a:lnTo>
                    <a:pt x="5799697" y="483407"/>
                  </a:lnTo>
                  <a:lnTo>
                    <a:pt x="5801867" y="531876"/>
                  </a:lnTo>
                  <a:lnTo>
                    <a:pt x="5801867" y="2657855"/>
                  </a:lnTo>
                  <a:lnTo>
                    <a:pt x="5799697" y="2706324"/>
                  </a:lnTo>
                  <a:lnTo>
                    <a:pt x="5793311" y="2753562"/>
                  </a:lnTo>
                  <a:lnTo>
                    <a:pt x="5782895" y="2799383"/>
                  </a:lnTo>
                  <a:lnTo>
                    <a:pt x="5768636" y="2843600"/>
                  </a:lnTo>
                  <a:lnTo>
                    <a:pt x="5750721" y="2886026"/>
                  </a:lnTo>
                  <a:lnTo>
                    <a:pt x="5729336" y="2926475"/>
                  </a:lnTo>
                  <a:lnTo>
                    <a:pt x="5704668" y="2964760"/>
                  </a:lnTo>
                  <a:lnTo>
                    <a:pt x="5676904" y="3000695"/>
                  </a:lnTo>
                  <a:lnTo>
                    <a:pt x="5646229" y="3034093"/>
                  </a:lnTo>
                  <a:lnTo>
                    <a:pt x="5612831" y="3064768"/>
                  </a:lnTo>
                  <a:lnTo>
                    <a:pt x="5576896" y="3092532"/>
                  </a:lnTo>
                  <a:lnTo>
                    <a:pt x="5538611" y="3117200"/>
                  </a:lnTo>
                  <a:lnTo>
                    <a:pt x="5498162" y="3138585"/>
                  </a:lnTo>
                  <a:lnTo>
                    <a:pt x="5455736" y="3156500"/>
                  </a:lnTo>
                  <a:lnTo>
                    <a:pt x="5411519" y="3170759"/>
                  </a:lnTo>
                  <a:lnTo>
                    <a:pt x="5365698" y="3181175"/>
                  </a:lnTo>
                  <a:lnTo>
                    <a:pt x="5318460" y="3187561"/>
                  </a:lnTo>
                  <a:lnTo>
                    <a:pt x="5269992" y="3189732"/>
                  </a:lnTo>
                  <a:lnTo>
                    <a:pt x="531876" y="3189732"/>
                  </a:lnTo>
                  <a:lnTo>
                    <a:pt x="483407" y="3187561"/>
                  </a:lnTo>
                  <a:lnTo>
                    <a:pt x="436169" y="3181175"/>
                  </a:lnTo>
                  <a:lnTo>
                    <a:pt x="390348" y="3170759"/>
                  </a:lnTo>
                  <a:lnTo>
                    <a:pt x="346131" y="3156500"/>
                  </a:lnTo>
                  <a:lnTo>
                    <a:pt x="303705" y="3138585"/>
                  </a:lnTo>
                  <a:lnTo>
                    <a:pt x="263256" y="3117200"/>
                  </a:lnTo>
                  <a:lnTo>
                    <a:pt x="224971" y="3092532"/>
                  </a:lnTo>
                  <a:lnTo>
                    <a:pt x="189036" y="3064768"/>
                  </a:lnTo>
                  <a:lnTo>
                    <a:pt x="155638" y="3034093"/>
                  </a:lnTo>
                  <a:lnTo>
                    <a:pt x="124963" y="3000695"/>
                  </a:lnTo>
                  <a:lnTo>
                    <a:pt x="97199" y="2964760"/>
                  </a:lnTo>
                  <a:lnTo>
                    <a:pt x="72531" y="2926475"/>
                  </a:lnTo>
                  <a:lnTo>
                    <a:pt x="51146" y="2886026"/>
                  </a:lnTo>
                  <a:lnTo>
                    <a:pt x="33231" y="2843600"/>
                  </a:lnTo>
                  <a:lnTo>
                    <a:pt x="18972" y="2799383"/>
                  </a:lnTo>
                  <a:lnTo>
                    <a:pt x="8556" y="2753562"/>
                  </a:lnTo>
                  <a:lnTo>
                    <a:pt x="2170" y="2706324"/>
                  </a:lnTo>
                  <a:lnTo>
                    <a:pt x="0" y="2657855"/>
                  </a:lnTo>
                  <a:lnTo>
                    <a:pt x="0" y="531876"/>
                  </a:lnTo>
                  <a:close/>
                </a:path>
              </a:pathLst>
            </a:custGeom>
            <a:ln w="18288">
              <a:solidFill>
                <a:srgbClr val="70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44295" y="1133855"/>
            <a:ext cx="6082665" cy="341566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320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20"/>
              </a:spcBef>
            </a:pPr>
            <a:endParaRPr sz="4800">
              <a:latin typeface="Times New Roman" panose="02020603050405020304"/>
              <a:cs typeface="Times New Roman" panose="02020603050405020304"/>
            </a:endParaRPr>
          </a:p>
          <a:p>
            <a:pPr marL="2540" algn="ctr">
              <a:lnSpc>
                <a:spcPct val="100000"/>
              </a:lnSpc>
            </a:pPr>
            <a:r>
              <a:rPr sz="4800" b="1" spc="-10" dirty="0">
                <a:latin typeface="Gadugi" panose="020B0502040204020203"/>
                <a:cs typeface="Gadugi" panose="020B0502040204020203"/>
              </a:rPr>
              <a:t>HIBERNATE</a:t>
            </a:r>
            <a:endParaRPr sz="4800">
              <a:latin typeface="Gadugi" panose="020B0502040204020203"/>
              <a:cs typeface="Gadugi" panose="020B0502040204020203"/>
            </a:endParaRPr>
          </a:p>
          <a:p>
            <a:pPr marL="635" algn="ctr">
              <a:lnSpc>
                <a:spcPct val="100000"/>
              </a:lnSpc>
              <a:spcBef>
                <a:spcPts val="30"/>
              </a:spcBef>
            </a:pPr>
            <a:r>
              <a:rPr sz="4000" b="1" dirty="0">
                <a:latin typeface="Gadugi" panose="020B0502040204020203"/>
                <a:cs typeface="Gadugi" panose="020B0502040204020203"/>
              </a:rPr>
              <a:t>WITH</a:t>
            </a:r>
            <a:r>
              <a:rPr sz="4000" b="1" spc="-100" dirty="0">
                <a:latin typeface="Gadugi" panose="020B0502040204020203"/>
                <a:cs typeface="Gadugi" panose="020B0502040204020203"/>
              </a:rPr>
              <a:t> </a:t>
            </a:r>
            <a:r>
              <a:rPr sz="4000" b="1" spc="-25" dirty="0">
                <a:latin typeface="Gadugi" panose="020B0502040204020203"/>
                <a:cs typeface="Gadugi" panose="020B0502040204020203"/>
              </a:rPr>
              <a:t>JPA</a:t>
            </a:r>
            <a:endParaRPr sz="40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66216" y="5634228"/>
            <a:ext cx="5842000" cy="3167380"/>
            <a:chOff x="966216" y="5634228"/>
            <a:chExt cx="5842000" cy="3167380"/>
          </a:xfrm>
        </p:grpSpPr>
        <p:sp>
          <p:nvSpPr>
            <p:cNvPr id="9" name="object 9"/>
            <p:cNvSpPr/>
            <p:nvPr/>
          </p:nvSpPr>
          <p:spPr>
            <a:xfrm>
              <a:off x="966216" y="5634228"/>
              <a:ext cx="5842000" cy="3167380"/>
            </a:xfrm>
            <a:custGeom>
              <a:avLst/>
              <a:gdLst/>
              <a:ahLst/>
              <a:cxnLst/>
              <a:rect l="l" t="t" r="r" b="b"/>
              <a:pathLst>
                <a:path w="5842000" h="3167379">
                  <a:moveTo>
                    <a:pt x="5841491" y="3166871"/>
                  </a:moveTo>
                  <a:lnTo>
                    <a:pt x="0" y="3166871"/>
                  </a:lnTo>
                  <a:lnTo>
                    <a:pt x="0" y="0"/>
                  </a:lnTo>
                  <a:lnTo>
                    <a:pt x="5841491" y="0"/>
                  </a:lnTo>
                  <a:lnTo>
                    <a:pt x="5841491" y="316687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41475" y="6100571"/>
              <a:ext cx="5491480" cy="0"/>
            </a:xfrm>
            <a:custGeom>
              <a:avLst/>
              <a:gdLst/>
              <a:ahLst/>
              <a:cxnLst/>
              <a:rect l="l" t="t" r="r" b="b"/>
              <a:pathLst>
                <a:path w="5491480">
                  <a:moveTo>
                    <a:pt x="0" y="0"/>
                  </a:moveTo>
                  <a:lnTo>
                    <a:pt x="5490972" y="0"/>
                  </a:lnTo>
                </a:path>
              </a:pathLst>
            </a:custGeom>
            <a:ln w="12192">
              <a:solidFill>
                <a:srgbClr val="D146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66216" y="5634228"/>
            <a:ext cx="5842000" cy="3167380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345"/>
              </a:spcBef>
            </a:pPr>
            <a:r>
              <a:rPr sz="1400" b="1" spc="-10" dirty="0">
                <a:latin typeface="Gadugi" panose="020B0502040204020203"/>
                <a:cs typeface="Gadugi" panose="020B0502040204020203"/>
              </a:rPr>
              <a:t>DRAWBACKS</a:t>
            </a:r>
            <a:r>
              <a:rPr sz="1400" b="1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1400" b="1" dirty="0">
                <a:latin typeface="Gadugi" panose="020B0502040204020203"/>
                <a:cs typeface="Gadugi" panose="020B0502040204020203"/>
              </a:rPr>
              <a:t>OF</a:t>
            </a:r>
            <a:r>
              <a:rPr sz="1400" b="1" spc="-60" dirty="0">
                <a:latin typeface="Gadugi" panose="020B0502040204020203"/>
                <a:cs typeface="Gadugi" panose="020B0502040204020203"/>
              </a:rPr>
              <a:t> </a:t>
            </a:r>
            <a:r>
              <a:rPr sz="1400" b="1" spc="-20" dirty="0">
                <a:latin typeface="Gadugi" panose="020B0502040204020203"/>
                <a:cs typeface="Gadugi" panose="020B0502040204020203"/>
              </a:rPr>
              <a:t>JDBC</a:t>
            </a:r>
            <a:endParaRPr sz="1400">
              <a:latin typeface="Gadugi" panose="020B0502040204020203"/>
              <a:cs typeface="Gadugi" panose="020B0502040204020203"/>
            </a:endParaRPr>
          </a:p>
          <a:p>
            <a:pPr>
              <a:lnSpc>
                <a:spcPct val="100000"/>
              </a:lnSpc>
              <a:spcBef>
                <a:spcPts val="1805"/>
              </a:spcBef>
            </a:pPr>
            <a:endParaRPr sz="1400">
              <a:latin typeface="Gadugi" panose="020B0502040204020203"/>
              <a:cs typeface="Gadugi" panose="020B0502040204020203"/>
            </a:endParaRPr>
          </a:p>
          <a:p>
            <a:pPr marL="177800">
              <a:lnSpc>
                <a:spcPct val="100000"/>
              </a:lnSpc>
            </a:pPr>
            <a:r>
              <a:rPr sz="1200" dirty="0">
                <a:latin typeface="Gadugi" panose="020B0502040204020203"/>
                <a:cs typeface="Gadugi" panose="020B0502040204020203"/>
              </a:rPr>
              <a:t>The</a:t>
            </a:r>
            <a:r>
              <a:rPr sz="12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drawbacks</a:t>
            </a:r>
            <a:r>
              <a:rPr sz="12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of</a:t>
            </a:r>
            <a:r>
              <a:rPr sz="12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JDBC</a:t>
            </a:r>
            <a:r>
              <a:rPr sz="12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200" spc="-20" dirty="0">
                <a:latin typeface="Gadugi" panose="020B0502040204020203"/>
                <a:cs typeface="Gadugi" panose="020B0502040204020203"/>
              </a:rPr>
              <a:t>are:</a:t>
            </a:r>
            <a:endParaRPr sz="1200">
              <a:latin typeface="Gadugi" panose="020B0502040204020203"/>
              <a:cs typeface="Gadugi" panose="020B0502040204020203"/>
            </a:endParaRPr>
          </a:p>
          <a:p>
            <a:pPr marL="579755" indent="-173355">
              <a:lnSpc>
                <a:spcPct val="100000"/>
              </a:lnSpc>
              <a:spcBef>
                <a:spcPts val="1445"/>
              </a:spcBef>
              <a:buFont typeface="Arial" panose="020B0604020202020204"/>
              <a:buChar char="•"/>
              <a:tabLst>
                <a:tab pos="579755" algn="l"/>
              </a:tabLst>
            </a:pPr>
            <a:r>
              <a:rPr sz="1200" dirty="0">
                <a:latin typeface="Gadugi" panose="020B0502040204020203"/>
                <a:cs typeface="Gadugi" panose="020B0502040204020203"/>
              </a:rPr>
              <a:t>We</a:t>
            </a:r>
            <a:r>
              <a:rPr sz="12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need</a:t>
            </a:r>
            <a:r>
              <a:rPr sz="12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to</a:t>
            </a:r>
            <a:r>
              <a:rPr sz="12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write</a:t>
            </a:r>
            <a:r>
              <a:rPr sz="12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lengthy</a:t>
            </a:r>
            <a:r>
              <a:rPr sz="12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200" spc="-20" dirty="0">
                <a:latin typeface="Gadugi" panose="020B0502040204020203"/>
                <a:cs typeface="Gadugi" panose="020B0502040204020203"/>
              </a:rPr>
              <a:t>code</a:t>
            </a:r>
            <a:endParaRPr sz="1200">
              <a:latin typeface="Gadugi" panose="020B0502040204020203"/>
              <a:cs typeface="Gadugi" panose="020B0502040204020203"/>
            </a:endParaRPr>
          </a:p>
          <a:p>
            <a:pPr marL="579755" indent="-173355">
              <a:lnSpc>
                <a:spcPct val="100000"/>
              </a:lnSpc>
              <a:spcBef>
                <a:spcPts val="1440"/>
              </a:spcBef>
              <a:buFont typeface="Arial" panose="020B0604020202020204"/>
              <a:buChar char="•"/>
              <a:tabLst>
                <a:tab pos="579755" algn="l"/>
              </a:tabLst>
            </a:pPr>
            <a:r>
              <a:rPr sz="1200" dirty="0">
                <a:latin typeface="Gadugi" panose="020B0502040204020203"/>
                <a:cs typeface="Gadugi" panose="020B0502040204020203"/>
              </a:rPr>
              <a:t>Remembering</a:t>
            </a:r>
            <a:r>
              <a:rPr sz="12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SQL</a:t>
            </a:r>
            <a:r>
              <a:rPr sz="12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1200" spc="-10" dirty="0">
                <a:latin typeface="Gadugi" panose="020B0502040204020203"/>
                <a:cs typeface="Gadugi" panose="020B0502040204020203"/>
              </a:rPr>
              <a:t>queries</a:t>
            </a:r>
            <a:endParaRPr sz="1200">
              <a:latin typeface="Gadugi" panose="020B0502040204020203"/>
              <a:cs typeface="Gadugi" panose="020B0502040204020203"/>
            </a:endParaRPr>
          </a:p>
          <a:p>
            <a:pPr marL="579755" indent="-173355">
              <a:lnSpc>
                <a:spcPct val="100000"/>
              </a:lnSpc>
              <a:spcBef>
                <a:spcPts val="1435"/>
              </a:spcBef>
              <a:buFont typeface="Arial" panose="020B0604020202020204"/>
              <a:buChar char="•"/>
              <a:tabLst>
                <a:tab pos="579755" algn="l"/>
              </a:tabLst>
            </a:pPr>
            <a:r>
              <a:rPr sz="1200" dirty="0">
                <a:latin typeface="Gadugi" panose="020B0502040204020203"/>
                <a:cs typeface="Gadugi" panose="020B0502040204020203"/>
              </a:rPr>
              <a:t>Creating</a:t>
            </a:r>
            <a:r>
              <a:rPr sz="12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tables</a:t>
            </a:r>
            <a:r>
              <a:rPr sz="12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in</a:t>
            </a:r>
            <a:r>
              <a:rPr sz="12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the</a:t>
            </a:r>
            <a:r>
              <a:rPr sz="12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database</a:t>
            </a:r>
            <a:r>
              <a:rPr sz="12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1200" spc="-10" dirty="0">
                <a:latin typeface="Gadugi" panose="020B0502040204020203"/>
                <a:cs typeface="Gadugi" panose="020B0502040204020203"/>
              </a:rPr>
              <a:t>explicitly</a:t>
            </a:r>
            <a:endParaRPr sz="1200">
              <a:latin typeface="Gadugi" panose="020B0502040204020203"/>
              <a:cs typeface="Gadugi" panose="020B0502040204020203"/>
            </a:endParaRPr>
          </a:p>
          <a:p>
            <a:pPr marL="579755" indent="-173355">
              <a:lnSpc>
                <a:spcPct val="100000"/>
              </a:lnSpc>
              <a:spcBef>
                <a:spcPts val="1440"/>
              </a:spcBef>
              <a:buFont typeface="Arial" panose="020B0604020202020204"/>
              <a:buChar char="•"/>
              <a:tabLst>
                <a:tab pos="579755" algn="l"/>
              </a:tabLst>
            </a:pPr>
            <a:r>
              <a:rPr sz="1200" dirty="0">
                <a:latin typeface="Gadugi" panose="020B0502040204020203"/>
                <a:cs typeface="Gadugi" panose="020B0502040204020203"/>
              </a:rPr>
              <a:t>Follow 5</a:t>
            </a:r>
            <a:r>
              <a:rPr sz="12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steps</a:t>
            </a:r>
            <a:r>
              <a:rPr sz="12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every time</a:t>
            </a:r>
            <a:r>
              <a:rPr sz="12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to</a:t>
            </a:r>
            <a:r>
              <a:rPr sz="12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perform</a:t>
            </a:r>
            <a:r>
              <a:rPr sz="12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CRUD</a:t>
            </a:r>
            <a:r>
              <a:rPr sz="12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200" spc="-10" dirty="0">
                <a:latin typeface="Gadugi" panose="020B0502040204020203"/>
                <a:cs typeface="Gadugi" panose="020B0502040204020203"/>
              </a:rPr>
              <a:t>operations.</a:t>
            </a:r>
            <a:endParaRPr sz="12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44295" y="550773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3"/>
                </a:lnTo>
                <a:lnTo>
                  <a:pt x="6082284" y="3415283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31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1540" y="25814"/>
            <a:ext cx="76771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0" dirty="0">
                <a:latin typeface="Calibri" panose="020F0502020204030204"/>
                <a:cs typeface="Calibri" panose="020F0502020204030204"/>
              </a:rPr>
              <a:t>3/30/2023</a:t>
            </a:r>
            <a:endParaRPr sz="12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66216" y="1260348"/>
            <a:ext cx="5842000" cy="3167380"/>
            <a:chOff x="966216" y="1260348"/>
            <a:chExt cx="5842000" cy="3167380"/>
          </a:xfrm>
        </p:grpSpPr>
        <p:sp>
          <p:nvSpPr>
            <p:cNvPr id="4" name="object 4"/>
            <p:cNvSpPr/>
            <p:nvPr/>
          </p:nvSpPr>
          <p:spPr>
            <a:xfrm>
              <a:off x="966216" y="1260348"/>
              <a:ext cx="5842000" cy="3167380"/>
            </a:xfrm>
            <a:custGeom>
              <a:avLst/>
              <a:gdLst/>
              <a:ahLst/>
              <a:cxnLst/>
              <a:rect l="l" t="t" r="r" b="b"/>
              <a:pathLst>
                <a:path w="5842000" h="3167379">
                  <a:moveTo>
                    <a:pt x="5841491" y="3166871"/>
                  </a:moveTo>
                  <a:lnTo>
                    <a:pt x="0" y="3166871"/>
                  </a:lnTo>
                  <a:lnTo>
                    <a:pt x="0" y="0"/>
                  </a:lnTo>
                  <a:lnTo>
                    <a:pt x="5841491" y="0"/>
                  </a:lnTo>
                  <a:lnTo>
                    <a:pt x="5841491" y="316687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41475" y="1726691"/>
              <a:ext cx="5491480" cy="0"/>
            </a:xfrm>
            <a:custGeom>
              <a:avLst/>
              <a:gdLst/>
              <a:ahLst/>
              <a:cxnLst/>
              <a:rect l="l" t="t" r="r" b="b"/>
              <a:pathLst>
                <a:path w="5491480">
                  <a:moveTo>
                    <a:pt x="0" y="0"/>
                  </a:moveTo>
                  <a:lnTo>
                    <a:pt x="5490972" y="0"/>
                  </a:lnTo>
                </a:path>
              </a:pathLst>
            </a:custGeom>
            <a:ln w="12192">
              <a:solidFill>
                <a:srgbClr val="D146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66216" y="1260348"/>
            <a:ext cx="5842000" cy="3167380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345"/>
              </a:spcBef>
            </a:pPr>
            <a:r>
              <a:rPr sz="1400" b="1" spc="-2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WHAT</a:t>
            </a:r>
            <a:r>
              <a:rPr sz="1400" b="1" spc="-5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1400" b="1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IS</a:t>
            </a:r>
            <a:r>
              <a:rPr sz="1400" b="1" spc="-3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1400" b="1" spc="-1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HIBERNATE?</a:t>
            </a:r>
            <a:endParaRPr sz="1400">
              <a:latin typeface="Gadugi" panose="020B0502040204020203"/>
              <a:cs typeface="Gadugi" panose="020B0502040204020203"/>
            </a:endParaRPr>
          </a:p>
          <a:p>
            <a:pPr marL="349250" marR="193675" indent="-171450">
              <a:lnSpc>
                <a:spcPct val="150000"/>
              </a:lnSpc>
              <a:spcBef>
                <a:spcPts val="900"/>
              </a:spcBef>
              <a:buAutoNum type="arabicPeriod"/>
              <a:tabLst>
                <a:tab pos="350520" algn="l"/>
              </a:tabLst>
            </a:pP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Hibernate</a:t>
            </a:r>
            <a:r>
              <a:rPr sz="1400" spc="13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1400" spc="14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400" spc="14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Java</a:t>
            </a:r>
            <a:r>
              <a:rPr sz="1400" spc="12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framework</a:t>
            </a:r>
            <a:r>
              <a:rPr sz="1400" spc="13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1400" spc="13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simplifies</a:t>
            </a:r>
            <a:r>
              <a:rPr sz="1400" spc="13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400" spc="13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development</a:t>
            </a:r>
            <a:r>
              <a:rPr sz="1400" spc="13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400" spc="14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Java </a:t>
            </a:r>
            <a:r>
              <a:rPr sz="1400" spc="-2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400" spc="-1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application</a:t>
            </a:r>
            <a:r>
              <a:rPr sz="1400" spc="-3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400" spc="-1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interact </a:t>
            </a: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400" spc="-3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400" spc="-1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database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349250" indent="-17145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349250" algn="l"/>
              </a:tabLst>
            </a:pPr>
            <a:r>
              <a:rPr sz="1400" spc="-1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Hibernate</a:t>
            </a:r>
            <a:r>
              <a:rPr sz="1400" spc="-2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1400" spc="-1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400" spc="-2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open-</a:t>
            </a: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source</a:t>
            </a:r>
            <a:r>
              <a:rPr sz="1400" spc="-1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ORM</a:t>
            </a:r>
            <a:r>
              <a:rPr sz="1400" spc="27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tool</a:t>
            </a:r>
            <a:r>
              <a:rPr sz="1400" spc="-3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.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349250" indent="-17145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349250" algn="l"/>
              </a:tabLst>
            </a:pPr>
            <a:r>
              <a:rPr sz="1400" spc="-1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Hibernate</a:t>
            </a:r>
            <a:r>
              <a:rPr sz="1400" spc="-2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implements </a:t>
            </a:r>
            <a:r>
              <a:rPr sz="1400" spc="-3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JPA</a:t>
            </a:r>
            <a:r>
              <a:rPr sz="1400" spc="-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specification</a:t>
            </a:r>
            <a:r>
              <a:rPr sz="1400" spc="-2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400" spc="-4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1400" spc="-2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persistence.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349250" marR="190500" indent="-171450">
              <a:lnSpc>
                <a:spcPct val="150000"/>
              </a:lnSpc>
              <a:buAutoNum type="arabicPeriod"/>
              <a:tabLst>
                <a:tab pos="350520" algn="l"/>
              </a:tabLst>
            </a:pPr>
            <a:r>
              <a:rPr sz="1400" dirty="0">
                <a:latin typeface="Calibri" panose="020F0502020204030204"/>
                <a:cs typeface="Calibri" panose="020F0502020204030204"/>
              </a:rPr>
              <a:t>Hibernate</a:t>
            </a:r>
            <a:r>
              <a:rPr sz="1400" spc="36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framework</a:t>
            </a:r>
            <a:r>
              <a:rPr sz="1400" spc="35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can</a:t>
            </a:r>
            <a:r>
              <a:rPr sz="1400" spc="36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be</a:t>
            </a:r>
            <a:r>
              <a:rPr sz="1400" spc="38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used</a:t>
            </a:r>
            <a:r>
              <a:rPr sz="1400" spc="35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to</a:t>
            </a:r>
            <a:r>
              <a:rPr sz="1400" spc="37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create</a:t>
            </a:r>
            <a:r>
              <a:rPr sz="1400" spc="35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tables</a:t>
            </a:r>
            <a:r>
              <a:rPr sz="1400" spc="36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in</a:t>
            </a:r>
            <a:r>
              <a:rPr sz="1400" spc="35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the</a:t>
            </a:r>
            <a:r>
              <a:rPr sz="1400" spc="36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database 	implicitly.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349250" indent="-17145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349250" algn="l"/>
              </a:tabLst>
            </a:pPr>
            <a:r>
              <a:rPr sz="1400" dirty="0">
                <a:latin typeface="Calibri" panose="020F0502020204030204"/>
                <a:cs typeface="Calibri" panose="020F0502020204030204"/>
              </a:rPr>
              <a:t>It</a:t>
            </a:r>
            <a:r>
              <a:rPr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has</a:t>
            </a:r>
            <a:r>
              <a:rPr sz="1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inbuilt</a:t>
            </a:r>
            <a:r>
              <a:rPr sz="1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methods</a:t>
            </a:r>
            <a:r>
              <a:rPr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which</a:t>
            </a:r>
            <a:r>
              <a:rPr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implicitly</a:t>
            </a:r>
            <a:r>
              <a:rPr sz="1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calls</a:t>
            </a:r>
            <a:r>
              <a:rPr sz="1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the</a:t>
            </a:r>
            <a:r>
              <a:rPr sz="1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SQL</a:t>
            </a:r>
            <a:r>
              <a:rPr sz="1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queries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44295" y="113385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4"/>
                </a:lnTo>
                <a:lnTo>
                  <a:pt x="6082284" y="3415284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966216" y="5634228"/>
            <a:ext cx="5842000" cy="3167380"/>
            <a:chOff x="966216" y="5634228"/>
            <a:chExt cx="5842000" cy="3167380"/>
          </a:xfrm>
        </p:grpSpPr>
        <p:sp>
          <p:nvSpPr>
            <p:cNvPr id="9" name="object 9"/>
            <p:cNvSpPr/>
            <p:nvPr/>
          </p:nvSpPr>
          <p:spPr>
            <a:xfrm>
              <a:off x="966216" y="5634228"/>
              <a:ext cx="5842000" cy="3167380"/>
            </a:xfrm>
            <a:custGeom>
              <a:avLst/>
              <a:gdLst/>
              <a:ahLst/>
              <a:cxnLst/>
              <a:rect l="l" t="t" r="r" b="b"/>
              <a:pathLst>
                <a:path w="5842000" h="3167379">
                  <a:moveTo>
                    <a:pt x="5841491" y="3166871"/>
                  </a:moveTo>
                  <a:lnTo>
                    <a:pt x="0" y="3166871"/>
                  </a:lnTo>
                  <a:lnTo>
                    <a:pt x="0" y="0"/>
                  </a:lnTo>
                  <a:lnTo>
                    <a:pt x="5841491" y="0"/>
                  </a:lnTo>
                  <a:lnTo>
                    <a:pt x="5841491" y="316687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41475" y="6100571"/>
              <a:ext cx="5491480" cy="0"/>
            </a:xfrm>
            <a:custGeom>
              <a:avLst/>
              <a:gdLst/>
              <a:ahLst/>
              <a:cxnLst/>
              <a:rect l="l" t="t" r="r" b="b"/>
              <a:pathLst>
                <a:path w="5491480">
                  <a:moveTo>
                    <a:pt x="0" y="0"/>
                  </a:moveTo>
                  <a:lnTo>
                    <a:pt x="5490972" y="0"/>
                  </a:lnTo>
                </a:path>
              </a:pathLst>
            </a:custGeom>
            <a:ln w="12192">
              <a:solidFill>
                <a:srgbClr val="D146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66216" y="5634228"/>
            <a:ext cx="5842000" cy="316738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100"/>
              </a:spcBef>
            </a:pPr>
            <a:r>
              <a:rPr sz="1600" b="1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WHY</a:t>
            </a:r>
            <a:r>
              <a:rPr sz="1600" b="1" spc="-35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1600" b="1" spc="-1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HIBERNATE?</a:t>
            </a:r>
            <a:endParaRPr sz="1600">
              <a:latin typeface="Gadugi" panose="020B0502040204020203"/>
              <a:cs typeface="Gadugi" panose="020B0502040204020203"/>
            </a:endParaRPr>
          </a:p>
          <a:p>
            <a:pPr marL="347980" marR="531495" indent="-170815">
              <a:lnSpc>
                <a:spcPct val="150000"/>
              </a:lnSpc>
              <a:spcBef>
                <a:spcPts val="1115"/>
              </a:spcBef>
              <a:buAutoNum type="arabicPeriod"/>
              <a:tabLst>
                <a:tab pos="349885" algn="l"/>
              </a:tabLst>
            </a:pPr>
            <a:r>
              <a:rPr sz="1000" dirty="0">
                <a:latin typeface="Calibri" panose="020F0502020204030204"/>
                <a:cs typeface="Calibri" panose="020F0502020204030204"/>
              </a:rPr>
              <a:t>Hibernate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Reduces</a:t>
            </a:r>
            <a:r>
              <a:rPr sz="1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lines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of</a:t>
            </a:r>
            <a:r>
              <a:rPr sz="1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code</a:t>
            </a:r>
            <a:r>
              <a:rPr sz="1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by</a:t>
            </a:r>
            <a:r>
              <a:rPr sz="1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maintaining</a:t>
            </a:r>
            <a:r>
              <a:rPr sz="1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object-</a:t>
            </a:r>
            <a:r>
              <a:rPr sz="1000" dirty="0">
                <a:latin typeface="Calibri" panose="020F0502020204030204"/>
                <a:cs typeface="Calibri" panose="020F0502020204030204"/>
              </a:rPr>
              <a:t>table mapping</a:t>
            </a:r>
            <a:r>
              <a:rPr sz="1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itself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and</a:t>
            </a:r>
            <a:r>
              <a:rPr sz="1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returns</a:t>
            </a:r>
            <a:r>
              <a:rPr sz="1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result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25" dirty="0">
                <a:latin typeface="Calibri" panose="020F0502020204030204"/>
                <a:cs typeface="Calibri" panose="020F0502020204030204"/>
              </a:rPr>
              <a:t>to</a:t>
            </a:r>
            <a:r>
              <a:rPr sz="1000" dirty="0">
                <a:latin typeface="Calibri" panose="020F0502020204030204"/>
                <a:cs typeface="Calibri" panose="020F0502020204030204"/>
              </a:rPr>
              <a:t> 	application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in</a:t>
            </a:r>
            <a:r>
              <a:rPr sz="1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form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of</a:t>
            </a:r>
            <a:r>
              <a:rPr sz="1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Java</a:t>
            </a:r>
            <a:r>
              <a:rPr sz="1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objects.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348615" indent="-17081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48615" algn="l"/>
              </a:tabLst>
            </a:pPr>
            <a:r>
              <a:rPr sz="1000" dirty="0">
                <a:latin typeface="Calibri" panose="020F0502020204030204"/>
                <a:cs typeface="Calibri" panose="020F0502020204030204"/>
              </a:rPr>
              <a:t>Hibernate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does</a:t>
            </a:r>
            <a:r>
              <a:rPr sz="1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the</a:t>
            </a:r>
            <a:r>
              <a:rPr sz="1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implementation</a:t>
            </a:r>
            <a:r>
              <a:rPr sz="1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internally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like</a:t>
            </a:r>
            <a:r>
              <a:rPr sz="1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writing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queries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&amp;</a:t>
            </a:r>
            <a:r>
              <a:rPr sz="1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Establishing</a:t>
            </a:r>
            <a:r>
              <a:rPr sz="1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connection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20" dirty="0">
                <a:latin typeface="Calibri" panose="020F0502020204030204"/>
                <a:cs typeface="Calibri" panose="020F0502020204030204"/>
              </a:rPr>
              <a:t>etc.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347980" marR="741680" indent="-170815">
              <a:lnSpc>
                <a:spcPct val="150000"/>
              </a:lnSpc>
              <a:buAutoNum type="arabicPeriod"/>
              <a:tabLst>
                <a:tab pos="349885" algn="l"/>
              </a:tabLst>
            </a:pPr>
            <a:r>
              <a:rPr sz="1000" dirty="0">
                <a:latin typeface="Calibri" panose="020F0502020204030204"/>
                <a:cs typeface="Calibri" panose="020F0502020204030204"/>
              </a:rPr>
              <a:t>Hibernate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removes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a</a:t>
            </a:r>
            <a:r>
              <a:rPr sz="1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lot</a:t>
            </a:r>
            <a:r>
              <a:rPr sz="1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of</a:t>
            </a:r>
            <a:r>
              <a:rPr sz="1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boiler-</a:t>
            </a:r>
            <a:r>
              <a:rPr sz="1000" dirty="0">
                <a:latin typeface="Calibri" panose="020F0502020204030204"/>
                <a:cs typeface="Calibri" panose="020F0502020204030204"/>
              </a:rPr>
              <a:t>plate</a:t>
            </a:r>
            <a:r>
              <a:rPr sz="10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code</a:t>
            </a:r>
            <a:r>
              <a:rPr sz="1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that</a:t>
            </a:r>
            <a:r>
              <a:rPr sz="1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comes</a:t>
            </a:r>
            <a:r>
              <a:rPr sz="1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with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JDBC</a:t>
            </a:r>
            <a:r>
              <a:rPr sz="1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API,</a:t>
            </a:r>
            <a:r>
              <a:rPr sz="1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the</a:t>
            </a:r>
            <a:r>
              <a:rPr sz="1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code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looks</a:t>
            </a:r>
            <a:r>
              <a:rPr sz="1000" spc="-20" dirty="0">
                <a:latin typeface="Calibri" panose="020F0502020204030204"/>
                <a:cs typeface="Calibri" panose="020F0502020204030204"/>
              </a:rPr>
              <a:t> more </a:t>
            </a:r>
            <a:r>
              <a:rPr sz="1000" spc="-20" dirty="0">
                <a:latin typeface="Calibri" panose="020F0502020204030204"/>
                <a:cs typeface="Calibri" panose="020F0502020204030204"/>
              </a:rPr>
              <a:t>	</a:t>
            </a:r>
            <a:r>
              <a:rPr sz="1000" dirty="0">
                <a:latin typeface="Calibri" panose="020F0502020204030204"/>
                <a:cs typeface="Calibri" panose="020F0502020204030204"/>
              </a:rPr>
              <a:t>cleaner and</a:t>
            </a:r>
            <a:r>
              <a:rPr sz="1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readable.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347980" marR="480060" indent="-170815">
              <a:lnSpc>
                <a:spcPct val="150000"/>
              </a:lnSpc>
              <a:buAutoNum type="arabicPeriod"/>
              <a:tabLst>
                <a:tab pos="349885" algn="l"/>
              </a:tabLst>
            </a:pPr>
            <a:r>
              <a:rPr sz="1000" dirty="0">
                <a:latin typeface="Calibri" panose="020F0502020204030204"/>
                <a:cs typeface="Calibri" panose="020F0502020204030204"/>
              </a:rPr>
              <a:t>Hibernate</a:t>
            </a:r>
            <a:r>
              <a:rPr sz="1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supports</a:t>
            </a:r>
            <a:r>
              <a:rPr sz="1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inheritance,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associations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and</a:t>
            </a:r>
            <a:r>
              <a:rPr sz="1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collections.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These</a:t>
            </a:r>
            <a:r>
              <a:rPr sz="1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features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are</a:t>
            </a:r>
            <a:r>
              <a:rPr sz="1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not</a:t>
            </a:r>
            <a:r>
              <a:rPr sz="1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present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20" dirty="0">
                <a:latin typeface="Calibri" panose="020F0502020204030204"/>
                <a:cs typeface="Calibri" panose="020F0502020204030204"/>
              </a:rPr>
              <a:t>with </a:t>
            </a:r>
            <a:r>
              <a:rPr sz="1000" spc="-20" dirty="0">
                <a:latin typeface="Calibri" panose="020F0502020204030204"/>
                <a:cs typeface="Calibri" panose="020F0502020204030204"/>
              </a:rPr>
              <a:t>	</a:t>
            </a:r>
            <a:r>
              <a:rPr sz="1000" dirty="0">
                <a:latin typeface="Calibri" panose="020F0502020204030204"/>
                <a:cs typeface="Calibri" panose="020F0502020204030204"/>
              </a:rPr>
              <a:t>JDBC</a:t>
            </a:r>
            <a:r>
              <a:rPr sz="1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20" dirty="0">
                <a:latin typeface="Calibri" panose="020F0502020204030204"/>
                <a:cs typeface="Calibri" panose="020F0502020204030204"/>
              </a:rPr>
              <a:t>API.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347980" marR="574675" indent="-170815">
              <a:lnSpc>
                <a:spcPct val="150000"/>
              </a:lnSpc>
              <a:buAutoNum type="arabicPeriod"/>
              <a:tabLst>
                <a:tab pos="349885" algn="l"/>
              </a:tabLst>
            </a:pPr>
            <a:r>
              <a:rPr sz="1000" dirty="0">
                <a:latin typeface="Calibri" panose="020F0502020204030204"/>
                <a:cs typeface="Calibri" panose="020F0502020204030204"/>
              </a:rPr>
              <a:t>JDBC</a:t>
            </a:r>
            <a:r>
              <a:rPr sz="1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is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database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dependent </a:t>
            </a:r>
            <a:r>
              <a:rPr sz="1000" dirty="0">
                <a:latin typeface="Calibri" panose="020F0502020204030204"/>
                <a:cs typeface="Calibri" panose="020F0502020204030204"/>
              </a:rPr>
              <a:t>i.e.</a:t>
            </a:r>
            <a:r>
              <a:rPr sz="1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one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needs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to</a:t>
            </a:r>
            <a:r>
              <a:rPr sz="1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write 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different</a:t>
            </a:r>
            <a:r>
              <a:rPr sz="1000" dirty="0">
                <a:latin typeface="Calibri" panose="020F0502020204030204"/>
                <a:cs typeface="Calibri" panose="020F0502020204030204"/>
              </a:rPr>
              <a:t> codes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for</a:t>
            </a:r>
            <a:r>
              <a:rPr sz="1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different</a:t>
            </a:r>
            <a:r>
              <a:rPr sz="10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database. 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	</a:t>
            </a:r>
            <a:r>
              <a:rPr sz="1000" dirty="0">
                <a:latin typeface="Calibri" panose="020F0502020204030204"/>
                <a:cs typeface="Calibri" panose="020F0502020204030204"/>
              </a:rPr>
              <a:t>Whereas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Hibernate</a:t>
            </a:r>
            <a:r>
              <a:rPr sz="1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is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database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independent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and</a:t>
            </a:r>
            <a:r>
              <a:rPr sz="1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same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code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can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work</a:t>
            </a:r>
            <a:r>
              <a:rPr sz="1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for</a:t>
            </a:r>
            <a:r>
              <a:rPr sz="1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many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databases</a:t>
            </a:r>
            <a:r>
              <a:rPr sz="10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20" dirty="0">
                <a:latin typeface="Calibri" panose="020F0502020204030204"/>
                <a:cs typeface="Calibri" panose="020F0502020204030204"/>
              </a:rPr>
              <a:t>with </a:t>
            </a:r>
            <a:r>
              <a:rPr sz="1000" spc="-20" dirty="0">
                <a:latin typeface="Calibri" panose="020F0502020204030204"/>
                <a:cs typeface="Calibri" panose="020F0502020204030204"/>
              </a:rPr>
              <a:t>	</a:t>
            </a:r>
            <a:r>
              <a:rPr sz="1000" dirty="0">
                <a:latin typeface="Calibri" panose="020F0502020204030204"/>
                <a:cs typeface="Calibri" panose="020F0502020204030204"/>
              </a:rPr>
              <a:t>minor</a:t>
            </a:r>
            <a:r>
              <a:rPr sz="1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changes.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348615" indent="-17081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48615" algn="l"/>
              </a:tabLst>
            </a:pPr>
            <a:r>
              <a:rPr sz="1000" dirty="0">
                <a:latin typeface="Calibri" panose="020F0502020204030204"/>
                <a:cs typeface="Calibri" panose="020F0502020204030204"/>
              </a:rPr>
              <a:t>Automatic</a:t>
            </a:r>
            <a:r>
              <a:rPr sz="1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SQL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Query</a:t>
            </a:r>
            <a:r>
              <a:rPr sz="1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Generation.</a:t>
            </a:r>
            <a:r>
              <a:rPr sz="1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There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is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no</a:t>
            </a:r>
            <a:r>
              <a:rPr sz="1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problem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of</a:t>
            </a:r>
            <a:r>
              <a:rPr sz="1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remembering</a:t>
            </a:r>
            <a:r>
              <a:rPr sz="10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sql 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queries.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44295" y="550773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3"/>
                </a:lnTo>
                <a:lnTo>
                  <a:pt x="6082284" y="3415283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31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1540" y="25814"/>
            <a:ext cx="76771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0" dirty="0">
                <a:latin typeface="Calibri" panose="020F0502020204030204"/>
                <a:cs typeface="Calibri" panose="020F0502020204030204"/>
              </a:rPr>
              <a:t>3/30/2023</a:t>
            </a:r>
            <a:endParaRPr sz="1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6216" y="1260348"/>
            <a:ext cx="5842000" cy="3167380"/>
          </a:xfrm>
          <a:prstGeom prst="rect">
            <a:avLst/>
          </a:prstGeom>
          <a:solidFill>
            <a:srgbClr val="F4F4F4"/>
          </a:solidFill>
        </p:spPr>
        <p:txBody>
          <a:bodyPr vert="horz" wrap="square" lIns="0" tIns="3365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265"/>
              </a:spcBef>
              <a:tabLst>
                <a:tab pos="5666105" algn="l"/>
              </a:tabLst>
            </a:pPr>
            <a:r>
              <a:rPr sz="2700" u="sng" spc="-185" dirty="0">
                <a:solidFill>
                  <a:srgbClr val="3B3838"/>
                </a:solidFill>
                <a:uFill>
                  <a:solidFill>
                    <a:srgbClr val="D14626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b="1" u="sng" spc="-25" dirty="0">
                <a:solidFill>
                  <a:srgbClr val="3B3838"/>
                </a:solidFill>
                <a:uFill>
                  <a:solidFill>
                    <a:srgbClr val="D14626"/>
                  </a:solidFill>
                </a:uFill>
                <a:latin typeface="Gadugi" panose="020B0502040204020203"/>
                <a:cs typeface="Gadugi" panose="020B0502040204020203"/>
              </a:rPr>
              <a:t>ORM</a:t>
            </a:r>
            <a:r>
              <a:rPr sz="2700" b="1" u="sng" dirty="0">
                <a:solidFill>
                  <a:srgbClr val="3B3838"/>
                </a:solidFill>
                <a:uFill>
                  <a:solidFill>
                    <a:srgbClr val="D14626"/>
                  </a:solidFill>
                </a:uFill>
                <a:latin typeface="Gadugi" panose="020B0502040204020203"/>
                <a:cs typeface="Gadugi" panose="020B0502040204020203"/>
              </a:rPr>
              <a:t>	</a:t>
            </a:r>
            <a:endParaRPr sz="2700">
              <a:latin typeface="Gadugi" panose="020B0502040204020203"/>
              <a:cs typeface="Gadugi" panose="020B0502040204020203"/>
            </a:endParaRPr>
          </a:p>
          <a:p>
            <a:pPr marL="406400" indent="-173355">
              <a:lnSpc>
                <a:spcPct val="100000"/>
              </a:lnSpc>
              <a:spcBef>
                <a:spcPts val="1450"/>
              </a:spcBef>
              <a:buAutoNum type="arabicPeriod"/>
              <a:tabLst>
                <a:tab pos="406400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ORM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is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an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acronym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of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latin typeface="Gadugi" panose="020B0502040204020203"/>
                <a:cs typeface="Gadugi" panose="020B0502040204020203"/>
              </a:rPr>
              <a:t>OBJECT-RELATIONAL</a:t>
            </a:r>
            <a:r>
              <a:rPr sz="900" b="1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latin typeface="Gadugi" panose="020B0502040204020203"/>
                <a:cs typeface="Gadugi" panose="020B0502040204020203"/>
              </a:rPr>
              <a:t>MAPPING.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0" indent="-17335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406400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ORM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acts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as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converter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between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java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object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and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database.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0" indent="-17335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406400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ORM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Handles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logic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required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to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interact with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databases.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5765" indent="-172720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405765" algn="l"/>
              </a:tabLst>
            </a:pPr>
            <a:r>
              <a:rPr sz="90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You</a:t>
            </a:r>
            <a:r>
              <a:rPr sz="900" spc="-2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write</a:t>
            </a:r>
            <a:r>
              <a:rPr sz="900" spc="-15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spc="-1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less</a:t>
            </a:r>
            <a:r>
              <a:rPr sz="900" spc="-2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code</a:t>
            </a:r>
            <a:r>
              <a:rPr sz="900" spc="-3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when</a:t>
            </a:r>
            <a:r>
              <a:rPr sz="900" spc="-15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spc="-1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using</a:t>
            </a:r>
            <a:r>
              <a:rPr sz="900" spc="-2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spc="7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ORM</a:t>
            </a:r>
            <a:r>
              <a:rPr sz="900" spc="-1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tools</a:t>
            </a:r>
            <a:r>
              <a:rPr sz="900" spc="-35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than</a:t>
            </a:r>
            <a:r>
              <a:rPr sz="900" spc="-1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with</a:t>
            </a:r>
            <a:r>
              <a:rPr sz="900" spc="5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spc="-2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SQL.</a:t>
            </a:r>
            <a:endParaRPr sz="900">
              <a:latin typeface="Tahoma" panose="020B0604030504040204"/>
              <a:cs typeface="Tahoma" panose="020B0604030504040204"/>
            </a:endParaRPr>
          </a:p>
          <a:p>
            <a:pPr marL="405765" indent="-172720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405765" algn="l"/>
              </a:tabLst>
            </a:pPr>
            <a:r>
              <a:rPr sz="90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There</a:t>
            </a:r>
            <a:r>
              <a:rPr sz="900" spc="-65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spc="-1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are</a:t>
            </a:r>
            <a:r>
              <a:rPr sz="900" spc="-35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spc="-1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some</a:t>
            </a:r>
            <a:r>
              <a:rPr sz="900" spc="-65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popular</a:t>
            </a:r>
            <a:r>
              <a:rPr sz="900" spc="-4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spc="7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ORM</a:t>
            </a:r>
            <a:r>
              <a:rPr sz="900" spc="-55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spc="-1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tools:</a:t>
            </a:r>
            <a:endParaRPr sz="900">
              <a:latin typeface="Tahoma" panose="020B0604030504040204"/>
              <a:cs typeface="Tahoma" panose="020B0604030504040204"/>
            </a:endParaRPr>
          </a:p>
          <a:p>
            <a:pPr marL="375920" lvl="1" indent="-142875">
              <a:lnSpc>
                <a:spcPct val="100000"/>
              </a:lnSpc>
              <a:spcBef>
                <a:spcPts val="540"/>
              </a:spcBef>
              <a:buFont typeface="Arial" panose="020B0604020202020204"/>
              <a:buChar char="•"/>
              <a:tabLst>
                <a:tab pos="375920" algn="l"/>
              </a:tabLst>
            </a:pPr>
            <a:r>
              <a:rPr sz="900" spc="-1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Hibernate</a:t>
            </a:r>
            <a:endParaRPr sz="900">
              <a:latin typeface="Tahoma" panose="020B0604030504040204"/>
              <a:cs typeface="Tahoma" panose="020B0604030504040204"/>
            </a:endParaRPr>
          </a:p>
          <a:p>
            <a:pPr marL="375920" lvl="1" indent="-142875">
              <a:lnSpc>
                <a:spcPct val="100000"/>
              </a:lnSpc>
              <a:spcBef>
                <a:spcPts val="540"/>
              </a:spcBef>
              <a:buFont typeface="Arial" panose="020B0604020202020204"/>
              <a:buChar char="•"/>
              <a:tabLst>
                <a:tab pos="375920" algn="l"/>
              </a:tabLst>
            </a:pPr>
            <a:r>
              <a:rPr sz="900" spc="-1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TopLink</a:t>
            </a:r>
            <a:endParaRPr sz="900">
              <a:latin typeface="Tahoma" panose="020B0604030504040204"/>
              <a:cs typeface="Tahoma" panose="020B0604030504040204"/>
            </a:endParaRPr>
          </a:p>
          <a:p>
            <a:pPr marL="375920" lvl="1" indent="-142875">
              <a:lnSpc>
                <a:spcPct val="100000"/>
              </a:lnSpc>
              <a:spcBef>
                <a:spcPts val="540"/>
              </a:spcBef>
              <a:buFont typeface="Arial" panose="020B0604020202020204"/>
              <a:buChar char="•"/>
              <a:tabLst>
                <a:tab pos="375920" algn="l"/>
              </a:tabLst>
            </a:pPr>
            <a:r>
              <a:rPr sz="90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Eclipse</a:t>
            </a:r>
            <a:r>
              <a:rPr sz="900" spc="-25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spc="-2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Link</a:t>
            </a:r>
            <a:endParaRPr sz="900">
              <a:latin typeface="Tahoma" panose="020B0604030504040204"/>
              <a:cs typeface="Tahoma" panose="020B0604030504040204"/>
            </a:endParaRPr>
          </a:p>
          <a:p>
            <a:pPr marL="375920" lvl="1" indent="-142875">
              <a:lnSpc>
                <a:spcPct val="100000"/>
              </a:lnSpc>
              <a:spcBef>
                <a:spcPts val="540"/>
              </a:spcBef>
              <a:buFont typeface="Arial" panose="020B0604020202020204"/>
              <a:buChar char="•"/>
              <a:tabLst>
                <a:tab pos="375920" algn="l"/>
              </a:tabLst>
            </a:pPr>
            <a:r>
              <a:rPr sz="90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Open</a:t>
            </a:r>
            <a:r>
              <a:rPr sz="900" spc="2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spc="-25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JPA</a:t>
            </a:r>
            <a:endParaRPr sz="900">
              <a:latin typeface="Tahoma" panose="020B0604030504040204"/>
              <a:cs typeface="Tahoma" panose="020B0604030504040204"/>
            </a:endParaRPr>
          </a:p>
          <a:p>
            <a:pPr marL="375920" lvl="1" indent="-142875">
              <a:lnSpc>
                <a:spcPct val="100000"/>
              </a:lnSpc>
              <a:spcBef>
                <a:spcPts val="540"/>
              </a:spcBef>
              <a:buFont typeface="Arial" panose="020B0604020202020204"/>
              <a:buChar char="•"/>
              <a:tabLst>
                <a:tab pos="375920" algn="l"/>
              </a:tabLst>
            </a:pPr>
            <a:r>
              <a:rPr sz="90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MyBatis</a:t>
            </a:r>
            <a:r>
              <a:rPr sz="900" spc="145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spc="-1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(ibatis)</a:t>
            </a:r>
            <a:endParaRPr sz="900">
              <a:latin typeface="Tahoma" panose="020B0604030504040204"/>
              <a:cs typeface="Tahoma" panose="020B0604030504040204"/>
            </a:endParaRPr>
          </a:p>
          <a:p>
            <a:pPr marL="405765" indent="-172720">
              <a:lnSpc>
                <a:spcPct val="100000"/>
              </a:lnSpc>
              <a:spcBef>
                <a:spcPts val="540"/>
              </a:spcBef>
              <a:buAutoNum type="arabicPeriod" startAt="6"/>
              <a:tabLst>
                <a:tab pos="405765" algn="l"/>
              </a:tabLst>
            </a:pPr>
            <a:r>
              <a:rPr sz="90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900" spc="-3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most</a:t>
            </a:r>
            <a:r>
              <a:rPr sz="900" spc="-35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spc="-1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used</a:t>
            </a:r>
            <a:r>
              <a:rPr sz="900" spc="-35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spc="7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ORM</a:t>
            </a:r>
            <a:r>
              <a:rPr sz="900" spc="-45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tool</a:t>
            </a:r>
            <a:r>
              <a:rPr sz="900" spc="-35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is</a:t>
            </a:r>
            <a:r>
              <a:rPr sz="900" spc="-2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spc="-10" dirty="0">
                <a:solidFill>
                  <a:srgbClr val="0A0A23"/>
                </a:solidFill>
                <a:latin typeface="Tahoma" panose="020B0604030504040204"/>
                <a:cs typeface="Tahoma" panose="020B0604030504040204"/>
              </a:rPr>
              <a:t>Hibernate.</a:t>
            </a:r>
            <a:endParaRPr sz="900">
              <a:latin typeface="Tahoma" panose="020B0604030504040204"/>
              <a:cs typeface="Tahoma" panose="020B0604030504040204"/>
            </a:endParaRPr>
          </a:p>
          <a:p>
            <a:pPr marL="406400" indent="-173355">
              <a:lnSpc>
                <a:spcPct val="100000"/>
              </a:lnSpc>
              <a:spcBef>
                <a:spcPts val="540"/>
              </a:spcBef>
              <a:buAutoNum type="arabicPeriod" startAt="6"/>
              <a:tabLst>
                <a:tab pos="406400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ORM</a:t>
            </a:r>
            <a:r>
              <a:rPr sz="9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tool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internally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uses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JDBC</a:t>
            </a:r>
            <a:r>
              <a:rPr sz="900" b="1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API</a:t>
            </a:r>
            <a:r>
              <a:rPr sz="900" b="1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to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interact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with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database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44295" y="113385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4"/>
                </a:lnTo>
                <a:lnTo>
                  <a:pt x="6082284" y="3415284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966216" y="5634228"/>
            <a:ext cx="5842000" cy="3167380"/>
            <a:chOff x="966216" y="5634228"/>
            <a:chExt cx="5842000" cy="3167380"/>
          </a:xfrm>
        </p:grpSpPr>
        <p:sp>
          <p:nvSpPr>
            <p:cNvPr id="6" name="object 6"/>
            <p:cNvSpPr/>
            <p:nvPr/>
          </p:nvSpPr>
          <p:spPr>
            <a:xfrm>
              <a:off x="966216" y="5634228"/>
              <a:ext cx="5842000" cy="3167380"/>
            </a:xfrm>
            <a:custGeom>
              <a:avLst/>
              <a:gdLst/>
              <a:ahLst/>
              <a:cxnLst/>
              <a:rect l="l" t="t" r="r" b="b"/>
              <a:pathLst>
                <a:path w="5842000" h="3167379">
                  <a:moveTo>
                    <a:pt x="5841491" y="3166871"/>
                  </a:moveTo>
                  <a:lnTo>
                    <a:pt x="0" y="3166871"/>
                  </a:lnTo>
                  <a:lnTo>
                    <a:pt x="0" y="0"/>
                  </a:lnTo>
                  <a:lnTo>
                    <a:pt x="5841491" y="0"/>
                  </a:lnTo>
                  <a:lnTo>
                    <a:pt x="5841491" y="316687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41475" y="6100571"/>
              <a:ext cx="5491480" cy="0"/>
            </a:xfrm>
            <a:custGeom>
              <a:avLst/>
              <a:gdLst/>
              <a:ahLst/>
              <a:cxnLst/>
              <a:rect l="l" t="t" r="r" b="b"/>
              <a:pathLst>
                <a:path w="5491480">
                  <a:moveTo>
                    <a:pt x="0" y="0"/>
                  </a:moveTo>
                  <a:lnTo>
                    <a:pt x="5490972" y="0"/>
                  </a:lnTo>
                </a:path>
              </a:pathLst>
            </a:custGeom>
            <a:ln w="12192">
              <a:solidFill>
                <a:srgbClr val="D146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66216" y="5634228"/>
            <a:ext cx="5842000" cy="31673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260"/>
              </a:spcBef>
            </a:pPr>
            <a:r>
              <a:rPr sz="2700" b="1" spc="-25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JPA</a:t>
            </a:r>
            <a:endParaRPr sz="2700">
              <a:latin typeface="Gadugi" panose="020B0502040204020203"/>
              <a:cs typeface="Gadugi" panose="020B0502040204020203"/>
            </a:endParaRPr>
          </a:p>
          <a:p>
            <a:pPr marL="400050" indent="-172085">
              <a:lnSpc>
                <a:spcPct val="100000"/>
              </a:lnSpc>
              <a:spcBef>
                <a:spcPts val="790"/>
              </a:spcBef>
              <a:buAutoNum type="arabicPeriod"/>
              <a:tabLst>
                <a:tab pos="400050" algn="l"/>
              </a:tabLst>
            </a:pPr>
            <a:r>
              <a:rPr sz="950" spc="-20" dirty="0">
                <a:latin typeface="Gadugi" panose="020B0502040204020203"/>
                <a:cs typeface="Gadugi" panose="020B0502040204020203"/>
              </a:rPr>
              <a:t>JPA</a:t>
            </a:r>
            <a:r>
              <a:rPr sz="9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is</a:t>
            </a:r>
            <a:r>
              <a:rPr sz="95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a</a:t>
            </a:r>
            <a:r>
              <a:rPr sz="95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acronym of</a:t>
            </a:r>
            <a:r>
              <a:rPr sz="95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50" b="1" spc="-25" dirty="0">
                <a:latin typeface="Gadugi" panose="020B0502040204020203"/>
                <a:cs typeface="Gadugi" panose="020B0502040204020203"/>
              </a:rPr>
              <a:t>JAVA</a:t>
            </a:r>
            <a:r>
              <a:rPr sz="950" b="1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50" b="1" spc="-10" dirty="0">
                <a:latin typeface="Gadugi" panose="020B0502040204020203"/>
                <a:cs typeface="Gadugi" panose="020B0502040204020203"/>
              </a:rPr>
              <a:t>PERSISTENCE</a:t>
            </a:r>
            <a:r>
              <a:rPr sz="950" b="1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50" b="1" spc="-20" dirty="0">
                <a:latin typeface="Gadugi" panose="020B0502040204020203"/>
                <a:cs typeface="Gadugi" panose="020B0502040204020203"/>
              </a:rPr>
              <a:t>API</a:t>
            </a:r>
            <a:r>
              <a:rPr sz="950" spc="-20" dirty="0">
                <a:latin typeface="Gadugi" panose="020B0502040204020203"/>
                <a:cs typeface="Gadugi" panose="020B0502040204020203"/>
              </a:rPr>
              <a:t>.</a:t>
            </a:r>
            <a:endParaRPr sz="950">
              <a:latin typeface="Gadugi" panose="020B0502040204020203"/>
              <a:cs typeface="Gadugi" panose="020B0502040204020203"/>
            </a:endParaRPr>
          </a:p>
          <a:p>
            <a:pPr marL="400050" indent="-172085">
              <a:lnSpc>
                <a:spcPct val="100000"/>
              </a:lnSpc>
              <a:spcBef>
                <a:spcPts val="565"/>
              </a:spcBef>
              <a:buAutoNum type="arabicPeriod"/>
              <a:tabLst>
                <a:tab pos="400050" algn="l"/>
              </a:tabLst>
            </a:pPr>
            <a:r>
              <a:rPr sz="950" spc="-20" dirty="0">
                <a:latin typeface="Gadugi" panose="020B0502040204020203"/>
                <a:cs typeface="Gadugi" panose="020B0502040204020203"/>
              </a:rPr>
              <a:t>JPA</a:t>
            </a:r>
            <a:r>
              <a:rPr sz="95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is</a:t>
            </a:r>
            <a:r>
              <a:rPr sz="9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a</a:t>
            </a:r>
            <a:r>
              <a:rPr sz="95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specification,</a:t>
            </a:r>
            <a:r>
              <a:rPr sz="9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not</a:t>
            </a:r>
            <a:r>
              <a:rPr sz="9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an</a:t>
            </a:r>
            <a:r>
              <a:rPr sz="9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50" spc="-10" dirty="0">
                <a:latin typeface="Gadugi" panose="020B0502040204020203"/>
                <a:cs typeface="Gadugi" panose="020B0502040204020203"/>
              </a:rPr>
              <a:t>implementation.</a:t>
            </a:r>
            <a:endParaRPr sz="950">
              <a:latin typeface="Gadugi" panose="020B0502040204020203"/>
              <a:cs typeface="Gadugi" panose="020B0502040204020203"/>
            </a:endParaRPr>
          </a:p>
          <a:p>
            <a:pPr marL="400685" marR="367030" indent="-172720">
              <a:lnSpc>
                <a:spcPct val="150000"/>
              </a:lnSpc>
              <a:spcBef>
                <a:spcPts val="15"/>
              </a:spcBef>
              <a:buAutoNum type="arabicPeriod"/>
              <a:tabLst>
                <a:tab pos="400685" algn="l"/>
              </a:tabLst>
            </a:pPr>
            <a:r>
              <a:rPr sz="950" dirty="0">
                <a:latin typeface="Gadugi" panose="020B0502040204020203"/>
                <a:cs typeface="Gadugi" panose="020B0502040204020203"/>
              </a:rPr>
              <a:t>It</a:t>
            </a:r>
            <a:r>
              <a:rPr sz="9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is</a:t>
            </a:r>
            <a:r>
              <a:rPr sz="95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the</a:t>
            </a:r>
            <a:r>
              <a:rPr sz="9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standard</a:t>
            </a:r>
            <a:r>
              <a:rPr sz="9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application</a:t>
            </a:r>
            <a:r>
              <a:rPr sz="950" spc="10" dirty="0">
                <a:latin typeface="Gadugi" panose="020B0502040204020203"/>
                <a:cs typeface="Gadugi" panose="020B0502040204020203"/>
              </a:rPr>
              <a:t> </a:t>
            </a:r>
            <a:r>
              <a:rPr sz="950" spc="-10" dirty="0">
                <a:latin typeface="Gadugi" panose="020B0502040204020203"/>
                <a:cs typeface="Gadugi" panose="020B0502040204020203"/>
              </a:rPr>
              <a:t>programming</a:t>
            </a:r>
            <a:r>
              <a:rPr sz="950" spc="5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interface</a:t>
            </a:r>
            <a:r>
              <a:rPr sz="95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that</a:t>
            </a:r>
            <a:r>
              <a:rPr sz="95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makes</a:t>
            </a:r>
            <a:r>
              <a:rPr sz="95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50" spc="-10" dirty="0">
                <a:latin typeface="Gadugi" panose="020B0502040204020203"/>
                <a:cs typeface="Gadugi" panose="020B0502040204020203"/>
              </a:rPr>
              <a:t>database</a:t>
            </a:r>
            <a:r>
              <a:rPr sz="95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50" spc="-10" dirty="0">
                <a:latin typeface="Gadugi" panose="020B0502040204020203"/>
                <a:cs typeface="Gadugi" panose="020B0502040204020203"/>
              </a:rPr>
              <a:t>operations</a:t>
            </a:r>
            <a:r>
              <a:rPr sz="95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simple</a:t>
            </a:r>
            <a:r>
              <a:rPr sz="95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50" spc="-25" dirty="0">
                <a:latin typeface="Gadugi" panose="020B0502040204020203"/>
                <a:cs typeface="Gadugi" panose="020B0502040204020203"/>
              </a:rPr>
              <a:t>for </a:t>
            </a:r>
            <a:r>
              <a:rPr sz="950" dirty="0">
                <a:latin typeface="Gadugi" panose="020B0502040204020203"/>
                <a:cs typeface="Gadugi" panose="020B0502040204020203"/>
              </a:rPr>
              <a:t>developers</a:t>
            </a:r>
            <a:r>
              <a:rPr sz="9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to</a:t>
            </a:r>
            <a:r>
              <a:rPr sz="9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carry</a:t>
            </a:r>
            <a:r>
              <a:rPr sz="95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50" spc="-20" dirty="0">
                <a:latin typeface="Gadugi" panose="020B0502040204020203"/>
                <a:cs typeface="Gadugi" panose="020B0502040204020203"/>
              </a:rPr>
              <a:t>out.</a:t>
            </a:r>
            <a:endParaRPr sz="950">
              <a:latin typeface="Gadugi" panose="020B0502040204020203"/>
              <a:cs typeface="Gadugi" panose="020B0502040204020203"/>
            </a:endParaRPr>
          </a:p>
          <a:p>
            <a:pPr marL="400050" indent="-17208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00050" algn="l"/>
              </a:tabLst>
            </a:pPr>
            <a:r>
              <a:rPr sz="950" dirty="0">
                <a:latin typeface="Gadugi" panose="020B0502040204020203"/>
                <a:cs typeface="Gadugi" panose="020B0502040204020203"/>
              </a:rPr>
              <a:t>Hibernate</a:t>
            </a:r>
            <a:r>
              <a:rPr sz="95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is</a:t>
            </a:r>
            <a:r>
              <a:rPr sz="9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an</a:t>
            </a:r>
            <a:r>
              <a:rPr sz="9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50" spc="-10" dirty="0">
                <a:latin typeface="Gadugi" panose="020B0502040204020203"/>
                <a:cs typeface="Gadugi" panose="020B0502040204020203"/>
              </a:rPr>
              <a:t>implementation</a:t>
            </a:r>
            <a:r>
              <a:rPr sz="950" spc="5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of</a:t>
            </a:r>
            <a:r>
              <a:rPr sz="95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the</a:t>
            </a:r>
            <a:r>
              <a:rPr sz="95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Java</a:t>
            </a:r>
            <a:r>
              <a:rPr sz="9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50" spc="-10" dirty="0">
                <a:latin typeface="Gadugi" panose="020B0502040204020203"/>
                <a:cs typeface="Gadugi" panose="020B0502040204020203"/>
              </a:rPr>
              <a:t>Persistence</a:t>
            </a:r>
            <a:r>
              <a:rPr sz="9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latin typeface="Gadugi" panose="020B0502040204020203"/>
                <a:cs typeface="Gadugi" panose="020B0502040204020203"/>
              </a:rPr>
              <a:t>API</a:t>
            </a:r>
            <a:r>
              <a:rPr sz="9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50" spc="-10" dirty="0">
                <a:latin typeface="Gadugi" panose="020B0502040204020203"/>
                <a:cs typeface="Gadugi" panose="020B0502040204020203"/>
              </a:rPr>
              <a:t>(JPA).</a:t>
            </a:r>
            <a:endParaRPr sz="950">
              <a:latin typeface="Gadugi" panose="020B0502040204020203"/>
              <a:cs typeface="Gadugi" panose="020B0502040204020203"/>
            </a:endParaRPr>
          </a:p>
          <a:p>
            <a:pPr marL="400685" marR="300355" indent="-172720">
              <a:lnSpc>
                <a:spcPts val="1720"/>
              </a:lnSpc>
              <a:spcBef>
                <a:spcPts val="135"/>
              </a:spcBef>
              <a:buAutoNum type="arabicPeriod"/>
              <a:tabLst>
                <a:tab pos="400685" algn="l"/>
              </a:tabLst>
            </a:pP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A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JPA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(Java</a:t>
            </a:r>
            <a:r>
              <a:rPr sz="950" spc="-1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Persistence</a:t>
            </a:r>
            <a:r>
              <a:rPr sz="950" spc="-3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API)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is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a</a:t>
            </a:r>
            <a:r>
              <a:rPr sz="950" spc="-1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specification</a:t>
            </a:r>
            <a:r>
              <a:rPr sz="950" spc="-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of</a:t>
            </a:r>
            <a:r>
              <a:rPr sz="95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Java</a:t>
            </a:r>
            <a:r>
              <a:rPr sz="950" spc="-1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which</a:t>
            </a:r>
            <a:r>
              <a:rPr sz="95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is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used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to</a:t>
            </a:r>
            <a:r>
              <a:rPr sz="950" spc="-1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access,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manage,</a:t>
            </a:r>
            <a:r>
              <a:rPr sz="950" spc="-1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950" spc="-1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persist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data</a:t>
            </a:r>
            <a:r>
              <a:rPr sz="950" spc="-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between</a:t>
            </a:r>
            <a:r>
              <a:rPr sz="950" spc="-4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Java</a:t>
            </a:r>
            <a:r>
              <a:rPr sz="950" spc="-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object</a:t>
            </a:r>
            <a:r>
              <a:rPr sz="950" spc="-3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950" spc="-5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relational</a:t>
            </a:r>
            <a:r>
              <a:rPr sz="950" spc="-3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database.</a:t>
            </a:r>
            <a:endParaRPr sz="950">
              <a:latin typeface="Gadugi" panose="020B0502040204020203"/>
              <a:cs typeface="Gadugi" panose="020B0502040204020203"/>
            </a:endParaRPr>
          </a:p>
          <a:p>
            <a:pPr marL="400050" indent="-172085">
              <a:lnSpc>
                <a:spcPct val="100000"/>
              </a:lnSpc>
              <a:spcBef>
                <a:spcPts val="410"/>
              </a:spcBef>
              <a:buAutoNum type="arabicPeriod"/>
              <a:tabLst>
                <a:tab pos="400050" algn="l"/>
              </a:tabLst>
            </a:pP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As</a:t>
            </a:r>
            <a:r>
              <a:rPr sz="950" spc="-4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JPA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is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a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specification</a:t>
            </a:r>
            <a:r>
              <a:rPr sz="950" spc="-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it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does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not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perform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any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operations</a:t>
            </a:r>
            <a:r>
              <a:rPr sz="950" spc="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by</a:t>
            </a:r>
            <a:r>
              <a:rPr sz="950" spc="-3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itself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,thus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it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requires</a:t>
            </a:r>
            <a:endParaRPr sz="950">
              <a:latin typeface="Gadugi" panose="020B0502040204020203"/>
              <a:cs typeface="Gadugi" panose="020B0502040204020203"/>
            </a:endParaRPr>
          </a:p>
          <a:p>
            <a:pPr marL="400685" marR="779780">
              <a:lnSpc>
                <a:spcPct val="150000"/>
              </a:lnSpc>
              <a:spcBef>
                <a:spcPts val="10"/>
              </a:spcBef>
            </a:pPr>
            <a:r>
              <a:rPr sz="95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implementation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so</a:t>
            </a:r>
            <a:r>
              <a:rPr sz="950" spc="-3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ORM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tools</a:t>
            </a:r>
            <a:r>
              <a:rPr sz="950" spc="-3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like</a:t>
            </a:r>
            <a:r>
              <a:rPr sz="950" spc="-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Hibernate,</a:t>
            </a:r>
            <a:r>
              <a:rPr sz="95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ibatis,</a:t>
            </a:r>
            <a:r>
              <a:rPr sz="950" spc="-3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Toplink,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EclipseLink</a:t>
            </a:r>
            <a:r>
              <a:rPr sz="950" spc="-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implements</a:t>
            </a:r>
            <a:r>
              <a:rPr sz="950" spc="-3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JPA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specification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for</a:t>
            </a:r>
            <a:r>
              <a:rPr sz="950" spc="-3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data</a:t>
            </a:r>
            <a:r>
              <a:rPr sz="950" spc="-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persistence.</a:t>
            </a:r>
            <a:endParaRPr sz="950">
              <a:latin typeface="Gadugi" panose="020B0502040204020203"/>
              <a:cs typeface="Gadugi" panose="020B0502040204020203"/>
            </a:endParaRPr>
          </a:p>
          <a:p>
            <a:pPr marL="400685" marR="226695" indent="-172720">
              <a:lnSpc>
                <a:spcPct val="150000"/>
              </a:lnSpc>
              <a:spcBef>
                <a:spcPts val="10"/>
              </a:spcBef>
              <a:buAutoNum type="arabicPeriod" startAt="7"/>
              <a:tabLst>
                <a:tab pos="400685" algn="l"/>
              </a:tabLst>
            </a:pP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JPA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specification</a:t>
            </a:r>
            <a:r>
              <a:rPr sz="950" spc="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is</a:t>
            </a:r>
            <a:r>
              <a:rPr sz="950" spc="-3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same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for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all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the</a:t>
            </a:r>
            <a:r>
              <a:rPr sz="950" spc="-4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ORM</a:t>
            </a:r>
            <a:r>
              <a:rPr sz="950" spc="-3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tools</a:t>
            </a:r>
            <a:r>
              <a:rPr sz="950" spc="-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it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follows same</a:t>
            </a:r>
            <a:r>
              <a:rPr sz="950" spc="-3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standards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,so</a:t>
            </a:r>
            <a:r>
              <a:rPr sz="950" spc="-3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in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the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future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if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we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want</a:t>
            </a:r>
            <a:r>
              <a:rPr sz="950" spc="-3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to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switch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our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application</a:t>
            </a:r>
            <a:r>
              <a:rPr sz="95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from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one</a:t>
            </a:r>
            <a:r>
              <a:rPr sz="950" spc="-3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ORM</a:t>
            </a:r>
            <a:r>
              <a:rPr sz="950" spc="-3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tool</a:t>
            </a:r>
            <a:r>
              <a:rPr sz="95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to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another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then</a:t>
            </a:r>
            <a:r>
              <a:rPr sz="950" spc="-3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we</a:t>
            </a:r>
            <a:r>
              <a:rPr sz="950" spc="-3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can</a:t>
            </a:r>
            <a:r>
              <a:rPr sz="950" spc="-1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do</a:t>
            </a:r>
            <a:r>
              <a:rPr sz="950" spc="-2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it</a:t>
            </a:r>
            <a:r>
              <a:rPr sz="950" spc="-3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easily.</a:t>
            </a:r>
            <a:endParaRPr sz="9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44295" y="550773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3"/>
                </a:lnTo>
                <a:lnTo>
                  <a:pt x="6082284" y="3415283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31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1540" y="25814"/>
            <a:ext cx="76771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0" dirty="0">
                <a:latin typeface="Calibri" panose="020F0502020204030204"/>
                <a:cs typeface="Calibri" panose="020F0502020204030204"/>
              </a:rPr>
              <a:t>3/30/2023</a:t>
            </a:r>
            <a:endParaRPr sz="12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66216" y="1260348"/>
            <a:ext cx="5842000" cy="3167380"/>
            <a:chOff x="966216" y="1260348"/>
            <a:chExt cx="5842000" cy="3167380"/>
          </a:xfrm>
        </p:grpSpPr>
        <p:sp>
          <p:nvSpPr>
            <p:cNvPr id="4" name="object 4"/>
            <p:cNvSpPr/>
            <p:nvPr/>
          </p:nvSpPr>
          <p:spPr>
            <a:xfrm>
              <a:off x="966216" y="1260348"/>
              <a:ext cx="5842000" cy="3167380"/>
            </a:xfrm>
            <a:custGeom>
              <a:avLst/>
              <a:gdLst/>
              <a:ahLst/>
              <a:cxnLst/>
              <a:rect l="l" t="t" r="r" b="b"/>
              <a:pathLst>
                <a:path w="5842000" h="3167379">
                  <a:moveTo>
                    <a:pt x="5841491" y="3166871"/>
                  </a:moveTo>
                  <a:lnTo>
                    <a:pt x="0" y="3166871"/>
                  </a:lnTo>
                  <a:lnTo>
                    <a:pt x="0" y="0"/>
                  </a:lnTo>
                  <a:lnTo>
                    <a:pt x="5841491" y="0"/>
                  </a:lnTo>
                  <a:lnTo>
                    <a:pt x="5841491" y="316687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41475" y="1726691"/>
              <a:ext cx="5491480" cy="0"/>
            </a:xfrm>
            <a:custGeom>
              <a:avLst/>
              <a:gdLst/>
              <a:ahLst/>
              <a:cxnLst/>
              <a:rect l="l" t="t" r="r" b="b"/>
              <a:pathLst>
                <a:path w="5491480">
                  <a:moveTo>
                    <a:pt x="0" y="0"/>
                  </a:moveTo>
                  <a:lnTo>
                    <a:pt x="5490972" y="0"/>
                  </a:lnTo>
                </a:path>
              </a:pathLst>
            </a:custGeom>
            <a:ln w="12192">
              <a:solidFill>
                <a:srgbClr val="D146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151584" y="1428997"/>
            <a:ext cx="42684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DIFFERENCE</a:t>
            </a:r>
            <a:r>
              <a:rPr sz="1600" b="1" spc="-55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1600" b="1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BETWEEN</a:t>
            </a:r>
            <a:r>
              <a:rPr sz="1600" b="1" spc="-6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1600" b="1" spc="-1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JPA</a:t>
            </a:r>
            <a:r>
              <a:rPr sz="1600" b="1" spc="-6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1600" b="1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1600" b="1" spc="-75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1600" b="1" spc="-1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HIBERNATE</a:t>
            </a:r>
            <a:endParaRPr sz="1600">
              <a:latin typeface="Gadugi" panose="020B0502040204020203"/>
              <a:cs typeface="Gadugi" panose="020B0502040204020203"/>
            </a:endParaRPr>
          </a:p>
        </p:txBody>
      </p:sp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50036" y="1844039"/>
            <a:ext cx="5673851" cy="2435351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46987" y="1840992"/>
          <a:ext cx="5756275" cy="2433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5910"/>
                <a:gridCol w="2837180"/>
              </a:tblGrid>
              <a:tr h="319405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cap="small" spc="-80" dirty="0">
                          <a:latin typeface="Gadugi" panose="020B0502040204020203"/>
                          <a:cs typeface="Gadugi" panose="020B0502040204020203"/>
                        </a:rPr>
                        <a:t>JPA(java</a:t>
                      </a:r>
                      <a:r>
                        <a:rPr sz="1800" b="1" cap="small" spc="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1800" b="1" cap="small" spc="-35" dirty="0">
                          <a:latin typeface="Gadugi" panose="020B0502040204020203"/>
                          <a:cs typeface="Gadugi" panose="020B0502040204020203"/>
                        </a:rPr>
                        <a:t>persistence</a:t>
                      </a:r>
                      <a:r>
                        <a:rPr sz="1800" b="1" cap="small" spc="-20" dirty="0">
                          <a:latin typeface="Gadugi" panose="020B0502040204020203"/>
                          <a:cs typeface="Gadugi" panose="020B0502040204020203"/>
                        </a:rPr>
                        <a:t> api)</a:t>
                      </a:r>
                      <a:endParaRPr sz="18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651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spc="-10" dirty="0">
                          <a:latin typeface="Gadugi" panose="020B0502040204020203"/>
                          <a:cs typeface="Gadugi" panose="020B0502040204020203"/>
                        </a:rPr>
                        <a:t>HIBERNATE</a:t>
                      </a:r>
                      <a:endParaRPr sz="18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651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43815" marR="55435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JPA</a:t>
                      </a:r>
                      <a:r>
                        <a:rPr sz="900" spc="-4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manages</a:t>
                      </a:r>
                      <a:r>
                        <a:rPr sz="900" spc="-5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the</a:t>
                      </a:r>
                      <a:r>
                        <a:rPr sz="900" spc="-4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relational</a:t>
                      </a:r>
                      <a:r>
                        <a:rPr sz="900" spc="-3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databases</a:t>
                      </a:r>
                      <a:r>
                        <a:rPr sz="900" spc="-3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in</a:t>
                      </a:r>
                      <a:r>
                        <a:rPr sz="900" spc="-5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java 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applications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marR="22923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Hibernate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is</a:t>
                      </a:r>
                      <a:r>
                        <a:rPr sz="900" spc="-3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an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ORM</a:t>
                      </a:r>
                      <a:r>
                        <a:rPr sz="900" spc="-3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tool</a:t>
                      </a:r>
                      <a:r>
                        <a:rPr sz="900" spc="-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which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is</a:t>
                      </a:r>
                      <a:r>
                        <a:rPr sz="900" spc="-3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used</a:t>
                      </a:r>
                      <a:r>
                        <a:rPr sz="900" spc="-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to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save</a:t>
                      </a:r>
                      <a:r>
                        <a:rPr sz="900" spc="-3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the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state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of</a:t>
                      </a:r>
                      <a:r>
                        <a:rPr sz="900" spc="-3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the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object</a:t>
                      </a:r>
                      <a:r>
                        <a:rPr sz="900" spc="-3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into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the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database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43815" marR="374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JPA</a:t>
                      </a:r>
                      <a:r>
                        <a:rPr sz="900" spc="6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is</a:t>
                      </a:r>
                      <a:r>
                        <a:rPr sz="900" spc="5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a</a:t>
                      </a:r>
                      <a:r>
                        <a:rPr sz="900" spc="5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specification</a:t>
                      </a:r>
                      <a:r>
                        <a:rPr sz="900" spc="5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various</a:t>
                      </a:r>
                      <a:r>
                        <a:rPr sz="900" spc="5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ORM</a:t>
                      </a:r>
                      <a:r>
                        <a:rPr sz="900" spc="6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tools</a:t>
                      </a:r>
                      <a:r>
                        <a:rPr sz="900" spc="5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implement</a:t>
                      </a:r>
                      <a:r>
                        <a:rPr sz="900" spc="6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it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for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data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persistence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marR="44005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Hibernate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is</a:t>
                      </a:r>
                      <a:r>
                        <a:rPr sz="900" spc="-4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an</a:t>
                      </a:r>
                      <a:r>
                        <a:rPr sz="900" spc="-3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implementation</a:t>
                      </a:r>
                      <a:r>
                        <a:rPr sz="900" spc="-3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and</a:t>
                      </a:r>
                      <a:r>
                        <a:rPr sz="900" spc="-4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it’s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a</a:t>
                      </a:r>
                      <a:r>
                        <a:rPr sz="900" spc="-3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most 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frequently</a:t>
                      </a:r>
                      <a:r>
                        <a:rPr sz="900" spc="1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used</a:t>
                      </a:r>
                      <a:r>
                        <a:rPr sz="900" spc="-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ORM</a:t>
                      </a:r>
                      <a:r>
                        <a:rPr sz="900" spc="-3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tool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It</a:t>
                      </a:r>
                      <a:r>
                        <a:rPr sz="900" spc="-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is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defined</a:t>
                      </a:r>
                      <a:r>
                        <a:rPr sz="900" spc="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in 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javax.persistence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package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It</a:t>
                      </a:r>
                      <a:r>
                        <a:rPr sz="900" spc="-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is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defined</a:t>
                      </a:r>
                      <a:r>
                        <a:rPr sz="900" spc="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in</a:t>
                      </a:r>
                      <a:r>
                        <a:rPr sz="900" spc="-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org.hibernate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package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43815" marR="22034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It</a:t>
                      </a:r>
                      <a:r>
                        <a:rPr sz="900" spc="-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uses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JPQL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(Java</a:t>
                      </a:r>
                      <a:r>
                        <a:rPr sz="900" spc="-3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persistence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query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 language)as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a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 object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oriented</a:t>
                      </a:r>
                      <a:r>
                        <a:rPr sz="900" spc="-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programming</a:t>
                      </a:r>
                      <a:r>
                        <a:rPr sz="900" spc="-3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language</a:t>
                      </a:r>
                      <a:r>
                        <a:rPr sz="900" spc="-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to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 perform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database</a:t>
                      </a:r>
                      <a:r>
                        <a:rPr sz="900" spc="-6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operations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marR="25336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It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uses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Hibernate query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 language(HQL)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 to</a:t>
                      </a:r>
                      <a:r>
                        <a:rPr sz="900" spc="-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perform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database</a:t>
                      </a:r>
                      <a:r>
                        <a:rPr sz="900" spc="-6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operations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43815" marR="6096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50" spc="-50" dirty="0">
                          <a:latin typeface="Gadugi" panose="020B0502040204020203"/>
                          <a:cs typeface="Gadugi" panose="020B0502040204020203"/>
                        </a:rPr>
                        <a:t>To</a:t>
                      </a:r>
                      <a:r>
                        <a:rPr sz="850" spc="-1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850" dirty="0">
                          <a:latin typeface="Gadugi" panose="020B0502040204020203"/>
                          <a:cs typeface="Gadugi" panose="020B0502040204020203"/>
                        </a:rPr>
                        <a:t>interconnect</a:t>
                      </a:r>
                      <a:r>
                        <a:rPr sz="850" spc="-3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850" dirty="0">
                          <a:latin typeface="Gadugi" panose="020B0502040204020203"/>
                          <a:cs typeface="Gadugi" panose="020B0502040204020203"/>
                        </a:rPr>
                        <a:t>with</a:t>
                      </a:r>
                      <a:r>
                        <a:rPr sz="85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850" dirty="0">
                          <a:latin typeface="Gadugi" panose="020B0502040204020203"/>
                          <a:cs typeface="Gadugi" panose="020B0502040204020203"/>
                        </a:rPr>
                        <a:t>the</a:t>
                      </a:r>
                      <a:r>
                        <a:rPr sz="850" spc="-2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850" dirty="0">
                          <a:latin typeface="Gadugi" panose="020B0502040204020203"/>
                          <a:cs typeface="Gadugi" panose="020B0502040204020203"/>
                        </a:rPr>
                        <a:t>entity</a:t>
                      </a:r>
                      <a:r>
                        <a:rPr sz="850" spc="-1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850" dirty="0">
                          <a:latin typeface="Gadugi" panose="020B0502040204020203"/>
                          <a:cs typeface="Gadugi" panose="020B0502040204020203"/>
                        </a:rPr>
                        <a:t>manager</a:t>
                      </a:r>
                      <a:r>
                        <a:rPr sz="85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850" dirty="0">
                          <a:latin typeface="Gadugi" panose="020B0502040204020203"/>
                          <a:cs typeface="Gadugi" panose="020B0502040204020203"/>
                        </a:rPr>
                        <a:t>factory</a:t>
                      </a:r>
                      <a:r>
                        <a:rPr sz="85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850" dirty="0">
                          <a:latin typeface="Gadugi" panose="020B0502040204020203"/>
                          <a:cs typeface="Gadugi" panose="020B0502040204020203"/>
                        </a:rPr>
                        <a:t>for</a:t>
                      </a:r>
                      <a:r>
                        <a:rPr sz="85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850" spc="-25" dirty="0">
                          <a:latin typeface="Gadugi" panose="020B0502040204020203"/>
                          <a:cs typeface="Gadugi" panose="020B0502040204020203"/>
                        </a:rPr>
                        <a:t>the </a:t>
                      </a:r>
                      <a:r>
                        <a:rPr sz="850" dirty="0">
                          <a:latin typeface="Gadugi" panose="020B0502040204020203"/>
                          <a:cs typeface="Gadugi" panose="020B0502040204020203"/>
                        </a:rPr>
                        <a:t>persistence</a:t>
                      </a:r>
                      <a:r>
                        <a:rPr sz="850" spc="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850" dirty="0">
                          <a:latin typeface="Gadugi" panose="020B0502040204020203"/>
                          <a:cs typeface="Gadugi" panose="020B0502040204020203"/>
                        </a:rPr>
                        <a:t>unit,</a:t>
                      </a:r>
                      <a:r>
                        <a:rPr sz="850" spc="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850" dirty="0">
                          <a:latin typeface="Gadugi" panose="020B0502040204020203"/>
                          <a:cs typeface="Gadugi" panose="020B0502040204020203"/>
                        </a:rPr>
                        <a:t>it</a:t>
                      </a:r>
                      <a:r>
                        <a:rPr sz="850" spc="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850" dirty="0">
                          <a:latin typeface="Gadugi" panose="020B0502040204020203"/>
                          <a:cs typeface="Gadugi" panose="020B0502040204020203"/>
                        </a:rPr>
                        <a:t>uses</a:t>
                      </a:r>
                      <a:r>
                        <a:rPr sz="850" spc="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850" b="1" spc="-10" dirty="0">
                          <a:latin typeface="Gadugi" panose="020B0502040204020203"/>
                          <a:cs typeface="Gadugi" panose="020B0502040204020203"/>
                        </a:rPr>
                        <a:t>EntityManagerFactory</a:t>
                      </a:r>
                      <a:r>
                        <a:rPr sz="850" b="1" spc="-2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850" spc="-10" dirty="0">
                          <a:latin typeface="Gadugi" panose="020B0502040204020203"/>
                          <a:cs typeface="Gadugi" panose="020B0502040204020203"/>
                        </a:rPr>
                        <a:t>interface. </a:t>
                      </a:r>
                      <a:r>
                        <a:rPr sz="850" dirty="0">
                          <a:latin typeface="Gadugi" panose="020B0502040204020203"/>
                          <a:cs typeface="Gadugi" panose="020B0502040204020203"/>
                        </a:rPr>
                        <a:t>Thus,</a:t>
                      </a:r>
                      <a:r>
                        <a:rPr sz="850" spc="-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850" dirty="0">
                          <a:latin typeface="Gadugi" panose="020B0502040204020203"/>
                          <a:cs typeface="Gadugi" panose="020B0502040204020203"/>
                        </a:rPr>
                        <a:t>it</a:t>
                      </a:r>
                      <a:r>
                        <a:rPr sz="850" spc="-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850" dirty="0">
                          <a:latin typeface="Gadugi" panose="020B0502040204020203"/>
                          <a:cs typeface="Gadugi" panose="020B0502040204020203"/>
                        </a:rPr>
                        <a:t>gives</a:t>
                      </a:r>
                      <a:r>
                        <a:rPr sz="85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850" dirty="0">
                          <a:latin typeface="Gadugi" panose="020B0502040204020203"/>
                          <a:cs typeface="Gadugi" panose="020B0502040204020203"/>
                        </a:rPr>
                        <a:t>an</a:t>
                      </a:r>
                      <a:r>
                        <a:rPr sz="85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850" dirty="0">
                          <a:latin typeface="Gadugi" panose="020B0502040204020203"/>
                          <a:cs typeface="Gadugi" panose="020B0502040204020203"/>
                        </a:rPr>
                        <a:t>entity</a:t>
                      </a:r>
                      <a:r>
                        <a:rPr sz="850" spc="-10" dirty="0">
                          <a:latin typeface="Gadugi" panose="020B0502040204020203"/>
                          <a:cs typeface="Gadugi" panose="020B0502040204020203"/>
                        </a:rPr>
                        <a:t> manager</a:t>
                      </a:r>
                      <a:endParaRPr sz="85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marR="127190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To</a:t>
                      </a:r>
                      <a:r>
                        <a:rPr sz="900" spc="-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create</a:t>
                      </a:r>
                      <a:r>
                        <a:rPr sz="900" spc="-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Session</a:t>
                      </a:r>
                      <a:r>
                        <a:rPr sz="900" spc="-3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instances,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 it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uses</a:t>
                      </a:r>
                      <a:r>
                        <a:rPr sz="900" spc="1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b="1" spc="-10" dirty="0">
                          <a:latin typeface="Gadugi" panose="020B0502040204020203"/>
                          <a:cs typeface="Gadugi" panose="020B0502040204020203"/>
                        </a:rPr>
                        <a:t>SessionFactory</a:t>
                      </a:r>
                      <a:r>
                        <a:rPr sz="900" b="1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interface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43815" marR="10096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It</a:t>
                      </a:r>
                      <a:r>
                        <a:rPr sz="900" spc="-4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uses</a:t>
                      </a:r>
                      <a:r>
                        <a:rPr sz="900" spc="-4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EntityManager</a:t>
                      </a:r>
                      <a:r>
                        <a:rPr sz="900" spc="-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to</a:t>
                      </a:r>
                      <a:r>
                        <a:rPr sz="900" spc="-3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perform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crud</a:t>
                      </a:r>
                      <a:r>
                        <a:rPr sz="900" spc="-4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operations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like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create,</a:t>
                      </a:r>
                      <a:r>
                        <a:rPr sz="900" spc="-5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update,</a:t>
                      </a:r>
                      <a:r>
                        <a:rPr sz="900" spc="-4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delete,</a:t>
                      </a:r>
                      <a:r>
                        <a:rPr sz="900" spc="-5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read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It</a:t>
                      </a:r>
                      <a:r>
                        <a:rPr sz="900" spc="-3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uses</a:t>
                      </a:r>
                      <a:r>
                        <a:rPr sz="900" spc="-3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Session</a:t>
                      </a:r>
                      <a:r>
                        <a:rPr sz="900" spc="-3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interface</a:t>
                      </a:r>
                      <a:r>
                        <a:rPr sz="900" spc="-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to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perform</a:t>
                      </a:r>
                      <a:r>
                        <a:rPr sz="900" spc="-3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crud</a:t>
                      </a:r>
                      <a:r>
                        <a:rPr sz="900" spc="-3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operations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844295" y="113385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4"/>
                </a:lnTo>
                <a:lnTo>
                  <a:pt x="6082284" y="3415284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966216" y="5634228"/>
            <a:ext cx="5842000" cy="3167380"/>
            <a:chOff x="966216" y="5634228"/>
            <a:chExt cx="5842000" cy="3167380"/>
          </a:xfrm>
        </p:grpSpPr>
        <p:sp>
          <p:nvSpPr>
            <p:cNvPr id="11" name="object 11"/>
            <p:cNvSpPr/>
            <p:nvPr/>
          </p:nvSpPr>
          <p:spPr>
            <a:xfrm>
              <a:off x="966216" y="5634228"/>
              <a:ext cx="5842000" cy="3167380"/>
            </a:xfrm>
            <a:custGeom>
              <a:avLst/>
              <a:gdLst/>
              <a:ahLst/>
              <a:cxnLst/>
              <a:rect l="l" t="t" r="r" b="b"/>
              <a:pathLst>
                <a:path w="5842000" h="3167379">
                  <a:moveTo>
                    <a:pt x="5841491" y="3166871"/>
                  </a:moveTo>
                  <a:lnTo>
                    <a:pt x="0" y="3166871"/>
                  </a:lnTo>
                  <a:lnTo>
                    <a:pt x="0" y="0"/>
                  </a:lnTo>
                  <a:lnTo>
                    <a:pt x="5841491" y="0"/>
                  </a:lnTo>
                  <a:lnTo>
                    <a:pt x="5841491" y="316687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141475" y="6100571"/>
              <a:ext cx="5491480" cy="0"/>
            </a:xfrm>
            <a:custGeom>
              <a:avLst/>
              <a:gdLst/>
              <a:ahLst/>
              <a:cxnLst/>
              <a:rect l="l" t="t" r="r" b="b"/>
              <a:pathLst>
                <a:path w="5491480">
                  <a:moveTo>
                    <a:pt x="0" y="0"/>
                  </a:moveTo>
                  <a:lnTo>
                    <a:pt x="5490972" y="0"/>
                  </a:lnTo>
                </a:path>
              </a:pathLst>
            </a:custGeom>
            <a:ln w="12192">
              <a:solidFill>
                <a:srgbClr val="D146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83564" y="7726692"/>
              <a:ext cx="3988435" cy="844550"/>
            </a:xfrm>
            <a:custGeom>
              <a:avLst/>
              <a:gdLst/>
              <a:ahLst/>
              <a:cxnLst/>
              <a:rect l="l" t="t" r="r" b="b"/>
              <a:pathLst>
                <a:path w="3988435" h="844550">
                  <a:moveTo>
                    <a:pt x="1597152" y="446532"/>
                  </a:moveTo>
                  <a:lnTo>
                    <a:pt x="371856" y="446532"/>
                  </a:lnTo>
                  <a:lnTo>
                    <a:pt x="371856" y="615696"/>
                  </a:lnTo>
                  <a:lnTo>
                    <a:pt x="1597152" y="615696"/>
                  </a:lnTo>
                  <a:lnTo>
                    <a:pt x="1597152" y="446532"/>
                  </a:lnTo>
                  <a:close/>
                </a:path>
                <a:path w="3988435" h="844550">
                  <a:moveTo>
                    <a:pt x="1612392" y="217932"/>
                  </a:moveTo>
                  <a:lnTo>
                    <a:pt x="172199" y="217932"/>
                  </a:lnTo>
                  <a:lnTo>
                    <a:pt x="172199" y="387096"/>
                  </a:lnTo>
                  <a:lnTo>
                    <a:pt x="1612392" y="387096"/>
                  </a:lnTo>
                  <a:lnTo>
                    <a:pt x="1612392" y="217932"/>
                  </a:lnTo>
                  <a:close/>
                </a:path>
                <a:path w="3988435" h="844550">
                  <a:moveTo>
                    <a:pt x="2139696" y="675132"/>
                  </a:moveTo>
                  <a:lnTo>
                    <a:pt x="371856" y="675132"/>
                  </a:lnTo>
                  <a:lnTo>
                    <a:pt x="371856" y="844296"/>
                  </a:lnTo>
                  <a:lnTo>
                    <a:pt x="2139696" y="844296"/>
                  </a:lnTo>
                  <a:lnTo>
                    <a:pt x="2139696" y="675132"/>
                  </a:lnTo>
                  <a:close/>
                </a:path>
                <a:path w="3988435" h="844550">
                  <a:moveTo>
                    <a:pt x="3988295" y="0"/>
                  </a:moveTo>
                  <a:lnTo>
                    <a:pt x="0" y="0"/>
                  </a:lnTo>
                  <a:lnTo>
                    <a:pt x="0" y="167627"/>
                  </a:lnTo>
                  <a:lnTo>
                    <a:pt x="3988295" y="167627"/>
                  </a:lnTo>
                  <a:lnTo>
                    <a:pt x="3988295" y="0"/>
                  </a:lnTo>
                  <a:close/>
                </a:path>
              </a:pathLst>
            </a:custGeom>
            <a:solidFill>
              <a:srgbClr val="E8F2F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66216" y="5634228"/>
            <a:ext cx="5842000" cy="3167380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255"/>
              </a:spcBef>
            </a:pPr>
            <a:r>
              <a:rPr sz="1600" b="1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CLASSES</a:t>
            </a:r>
            <a:r>
              <a:rPr sz="1600" b="1" spc="-2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1600" b="1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1600" b="1" spc="-1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1600" b="1" spc="-2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INTERFACES </a:t>
            </a:r>
            <a:r>
              <a:rPr sz="1600" b="1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OF</a:t>
            </a:r>
            <a:r>
              <a:rPr sz="1600" b="1" spc="-1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1600" b="1" spc="-25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JPA</a:t>
            </a:r>
            <a:endParaRPr sz="1600">
              <a:latin typeface="Gadugi" panose="020B0502040204020203"/>
              <a:cs typeface="Gadugi" panose="020B0502040204020203"/>
            </a:endParaRPr>
          </a:p>
          <a:p>
            <a:pPr marL="116840">
              <a:lnSpc>
                <a:spcPct val="100000"/>
              </a:lnSpc>
              <a:spcBef>
                <a:spcPts val="935"/>
              </a:spcBef>
            </a:pPr>
            <a:r>
              <a:rPr sz="1000" b="1" u="sng" spc="-10" dirty="0">
                <a:uFill>
                  <a:solidFill>
                    <a:srgbClr val="000000"/>
                  </a:solidFill>
                </a:uFill>
                <a:latin typeface="Gadugi" panose="020B0502040204020203"/>
                <a:cs typeface="Gadugi" panose="020B0502040204020203"/>
              </a:rPr>
              <a:t>ENTITYMANAGERFACTORY: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346075" indent="-229235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346075" algn="l"/>
              </a:tabLst>
            </a:pPr>
            <a:r>
              <a:rPr sz="1000" dirty="0">
                <a:latin typeface="Gadugi" panose="020B0502040204020203"/>
                <a:cs typeface="Gadugi" panose="020B0502040204020203"/>
              </a:rPr>
              <a:t>It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is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an interface</a:t>
            </a:r>
            <a:r>
              <a:rPr sz="1000" spc="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present</a:t>
            </a:r>
            <a:r>
              <a:rPr sz="1000" spc="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in 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javax.persistence</a:t>
            </a:r>
            <a:r>
              <a:rPr sz="1000" spc="30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package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346075" indent="-22923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46075" algn="l"/>
              </a:tabLst>
            </a:pPr>
            <a:r>
              <a:rPr sz="1000" dirty="0">
                <a:latin typeface="Gadugi" panose="020B0502040204020203"/>
                <a:cs typeface="Gadugi" panose="020B0502040204020203"/>
              </a:rPr>
              <a:t>It</a:t>
            </a:r>
            <a:r>
              <a:rPr sz="10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provides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EntityManager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346075" indent="-22923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46075" algn="l"/>
              </a:tabLst>
            </a:pPr>
            <a:r>
              <a:rPr sz="1000" dirty="0">
                <a:latin typeface="Gadugi" panose="020B0502040204020203"/>
                <a:cs typeface="Gadugi" panose="020B0502040204020203"/>
              </a:rPr>
              <a:t>It</a:t>
            </a:r>
            <a:r>
              <a:rPr sz="10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provides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an</a:t>
            </a:r>
            <a:r>
              <a:rPr sz="10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efficient way</a:t>
            </a:r>
            <a:r>
              <a:rPr sz="10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to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construct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multiple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entitymanager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instances.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345440" marR="549275" indent="-228600">
              <a:lnSpc>
                <a:spcPct val="150000"/>
              </a:lnSpc>
              <a:buAutoNum type="arabicPeriod"/>
              <a:tabLst>
                <a:tab pos="345440" algn="l"/>
              </a:tabLst>
            </a:pPr>
            <a:r>
              <a:rPr sz="1000" dirty="0">
                <a:latin typeface="Gadugi" panose="020B0502040204020203"/>
                <a:cs typeface="Gadugi" panose="020B0502040204020203"/>
              </a:rPr>
              <a:t>With</a:t>
            </a:r>
            <a:r>
              <a:rPr sz="10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the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help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of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an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helper class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called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Persistence</a:t>
            </a:r>
            <a:r>
              <a:rPr sz="1000" spc="3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which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has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</a:t>
            </a:r>
            <a:r>
              <a:rPr sz="10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static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method 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called createEntityManagerFactory(String</a:t>
            </a:r>
            <a:r>
              <a:rPr sz="1000" spc="4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persistenceUnitName)</a:t>
            </a:r>
            <a:r>
              <a:rPr sz="1000" spc="5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which</a:t>
            </a:r>
            <a:r>
              <a:rPr sz="1000" spc="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accepts</a:t>
            </a:r>
            <a:r>
              <a:rPr sz="1000" spc="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persistence</a:t>
            </a:r>
            <a:r>
              <a:rPr sz="1000" spc="40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unit </a:t>
            </a:r>
            <a:r>
              <a:rPr sz="1000" dirty="0">
                <a:latin typeface="Gadugi" panose="020B0502040204020203"/>
                <a:cs typeface="Gadugi" panose="020B0502040204020203"/>
              </a:rPr>
              <a:t>name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present in</a:t>
            </a:r>
            <a:r>
              <a:rPr sz="10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persistence.xml</a:t>
            </a:r>
            <a:r>
              <a:rPr sz="1000" spc="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file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,</a:t>
            </a:r>
            <a:r>
              <a:rPr sz="10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it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returns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an</a:t>
            </a:r>
            <a:r>
              <a:rPr sz="10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instance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of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EntityManagerFactory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345440">
              <a:lnSpc>
                <a:spcPct val="100000"/>
              </a:lnSpc>
              <a:spcBef>
                <a:spcPts val="675"/>
              </a:spcBef>
            </a:pPr>
            <a:r>
              <a:rPr sz="900" spc="-10" dirty="0">
                <a:latin typeface="Gadugi" panose="020B0502040204020203"/>
                <a:cs typeface="Gadugi" panose="020B0502040204020203"/>
              </a:rPr>
              <a:t>EntityManagerFactory</a:t>
            </a:r>
            <a:r>
              <a:rPr sz="900" spc="10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solidFill>
                  <a:srgbClr val="693D3D"/>
                </a:solidFill>
                <a:latin typeface="Gadugi" panose="020B0502040204020203"/>
                <a:cs typeface="Gadugi" panose="020B0502040204020203"/>
              </a:rPr>
              <a:t>emf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=Persistence.createEntityManagerFactory(</a:t>
            </a:r>
            <a:r>
              <a:rPr sz="900" spc="-10" dirty="0">
                <a:solidFill>
                  <a:srgbClr val="2A00FF"/>
                </a:solidFill>
                <a:latin typeface="Gadugi" panose="020B0502040204020203"/>
                <a:cs typeface="Gadugi" panose="020B0502040204020203"/>
              </a:rPr>
              <a:t>“pun”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);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288290" indent="-171450">
              <a:lnSpc>
                <a:spcPct val="100000"/>
              </a:lnSpc>
              <a:spcBef>
                <a:spcPts val="645"/>
              </a:spcBef>
              <a:buAutoNum type="arabicPeriod" startAt="5"/>
              <a:tabLst>
                <a:tab pos="288290" algn="l"/>
              </a:tabLst>
            </a:pPr>
            <a:r>
              <a:rPr sz="1000" dirty="0">
                <a:latin typeface="Gadugi" panose="020B0502040204020203"/>
                <a:cs typeface="Gadugi" panose="020B0502040204020203"/>
              </a:rPr>
              <a:t>It</a:t>
            </a:r>
            <a:r>
              <a:rPr sz="10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provides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methods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like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487045" lvl="1" indent="-14160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487045" algn="l"/>
              </a:tabLst>
            </a:pPr>
            <a:r>
              <a:rPr sz="1000" spc="-10" dirty="0">
                <a:latin typeface="Gadugi" panose="020B0502040204020203"/>
                <a:cs typeface="Gadugi" panose="020B0502040204020203"/>
              </a:rPr>
              <a:t>createEntityManager()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487045" lvl="1" indent="-14160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487045" algn="l"/>
              </a:tabLst>
            </a:pPr>
            <a:r>
              <a:rPr sz="1000" spc="-10" dirty="0">
                <a:latin typeface="Gadugi" panose="020B0502040204020203"/>
                <a:cs typeface="Gadugi" panose="020B0502040204020203"/>
              </a:rPr>
              <a:t>createEntityManager(Map</a:t>
            </a:r>
            <a:r>
              <a:rPr sz="1000" spc="9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map)</a:t>
            </a:r>
            <a:endParaRPr sz="10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44295" y="550773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3"/>
                </a:lnTo>
                <a:lnTo>
                  <a:pt x="6082284" y="3415283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31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1540" y="25814"/>
            <a:ext cx="76771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0" dirty="0">
                <a:latin typeface="Calibri" panose="020F0502020204030204"/>
                <a:cs typeface="Calibri" panose="020F0502020204030204"/>
              </a:rPr>
              <a:t>3/30/2023</a:t>
            </a:r>
            <a:endParaRPr sz="12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66216" y="1260348"/>
            <a:ext cx="5842000" cy="3167380"/>
            <a:chOff x="966216" y="1260348"/>
            <a:chExt cx="5842000" cy="3167380"/>
          </a:xfrm>
        </p:grpSpPr>
        <p:sp>
          <p:nvSpPr>
            <p:cNvPr id="4" name="object 4"/>
            <p:cNvSpPr/>
            <p:nvPr/>
          </p:nvSpPr>
          <p:spPr>
            <a:xfrm>
              <a:off x="966216" y="1260348"/>
              <a:ext cx="5842000" cy="3167380"/>
            </a:xfrm>
            <a:custGeom>
              <a:avLst/>
              <a:gdLst/>
              <a:ahLst/>
              <a:cxnLst/>
              <a:rect l="l" t="t" r="r" b="b"/>
              <a:pathLst>
                <a:path w="5842000" h="3167379">
                  <a:moveTo>
                    <a:pt x="5841491" y="3166871"/>
                  </a:moveTo>
                  <a:lnTo>
                    <a:pt x="0" y="3166871"/>
                  </a:lnTo>
                  <a:lnTo>
                    <a:pt x="0" y="0"/>
                  </a:lnTo>
                  <a:lnTo>
                    <a:pt x="5841491" y="0"/>
                  </a:lnTo>
                  <a:lnTo>
                    <a:pt x="5841491" y="316687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41475" y="1726691"/>
              <a:ext cx="5491480" cy="0"/>
            </a:xfrm>
            <a:custGeom>
              <a:avLst/>
              <a:gdLst/>
              <a:ahLst/>
              <a:cxnLst/>
              <a:rect l="l" t="t" r="r" b="b"/>
              <a:pathLst>
                <a:path w="5491480">
                  <a:moveTo>
                    <a:pt x="0" y="0"/>
                  </a:moveTo>
                  <a:lnTo>
                    <a:pt x="5490972" y="0"/>
                  </a:lnTo>
                </a:path>
              </a:pathLst>
            </a:custGeom>
            <a:ln w="12192">
              <a:solidFill>
                <a:srgbClr val="D146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66216" y="1260348"/>
            <a:ext cx="5842000" cy="3167380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345"/>
              </a:spcBef>
            </a:pPr>
            <a:r>
              <a:rPr sz="1400" b="1" spc="-1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ENTITYMANAGER</a:t>
            </a:r>
            <a:endParaRPr sz="1400">
              <a:latin typeface="Gadugi" panose="020B0502040204020203"/>
              <a:cs typeface="Gadugi" panose="020B0502040204020203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400">
              <a:latin typeface="Gadugi" panose="020B0502040204020203"/>
              <a:cs typeface="Gadugi" panose="020B0502040204020203"/>
            </a:endParaRPr>
          </a:p>
          <a:p>
            <a:pPr marL="262890" indent="-90805">
              <a:lnSpc>
                <a:spcPct val="100000"/>
              </a:lnSpc>
              <a:buSzPct val="89000"/>
              <a:buAutoNum type="arabicPeriod"/>
              <a:tabLst>
                <a:tab pos="262890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It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is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interface</a:t>
            </a:r>
            <a:r>
              <a:rPr sz="900" spc="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present in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javax.persistence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package.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262890" indent="-90805">
              <a:lnSpc>
                <a:spcPct val="100000"/>
              </a:lnSpc>
              <a:spcBef>
                <a:spcPts val="540"/>
              </a:spcBef>
              <a:buSzPct val="89000"/>
              <a:buAutoNum type="arabicPeriod"/>
              <a:tabLst>
                <a:tab pos="262890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It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manages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lifecycle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of</a:t>
            </a:r>
            <a:r>
              <a:rPr sz="900" spc="-5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entity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instance.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262890" indent="-90805">
              <a:lnSpc>
                <a:spcPct val="100000"/>
              </a:lnSpc>
              <a:spcBef>
                <a:spcPts val="540"/>
              </a:spcBef>
              <a:buSzPct val="89000"/>
              <a:buAutoNum type="arabicPeriod"/>
              <a:tabLst>
                <a:tab pos="262890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It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performs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some</a:t>
            </a:r>
            <a:r>
              <a:rPr sz="9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of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operations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and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it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has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methods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like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to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insert,update,delete</a:t>
            </a:r>
            <a:r>
              <a:rPr sz="900" spc="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and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fetch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data.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262890" indent="-90805">
              <a:lnSpc>
                <a:spcPct val="100000"/>
              </a:lnSpc>
              <a:spcBef>
                <a:spcPts val="540"/>
              </a:spcBef>
              <a:buSzPct val="89000"/>
              <a:buAutoNum type="arabicPeriod"/>
              <a:tabLst>
                <a:tab pos="262890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It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provides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different</a:t>
            </a:r>
            <a:r>
              <a:rPr sz="900" dirty="0">
                <a:latin typeface="Gadugi" panose="020B0502040204020203"/>
                <a:cs typeface="Gadugi" panose="020B0502040204020203"/>
              </a:rPr>
              <a:t> methods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which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Implicitly call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sql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queries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549275" lvl="1" indent="-142875">
              <a:lnSpc>
                <a:spcPct val="100000"/>
              </a:lnSpc>
              <a:spcBef>
                <a:spcPts val="945"/>
              </a:spcBef>
              <a:buFont typeface="Arial" panose="020B0604020202020204"/>
              <a:buChar char="•"/>
              <a:tabLst>
                <a:tab pos="549275" algn="l"/>
              </a:tabLst>
            </a:pPr>
            <a:r>
              <a:rPr sz="900" b="1" spc="-10" dirty="0">
                <a:latin typeface="Gadugi" panose="020B0502040204020203"/>
                <a:cs typeface="Gadugi" panose="020B0502040204020203"/>
              </a:rPr>
              <a:t>persist(Object</a:t>
            </a:r>
            <a:r>
              <a:rPr sz="900" b="1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entity):</a:t>
            </a:r>
            <a:r>
              <a:rPr sz="900" b="1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It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used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to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insert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data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into database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(acts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as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insert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query)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0" marR="663575" lvl="1" indent="142875">
              <a:lnSpc>
                <a:spcPct val="200000"/>
              </a:lnSpc>
              <a:buFont typeface="Arial" panose="020B0604020202020204"/>
              <a:buChar char="•"/>
              <a:tabLst>
                <a:tab pos="549275" algn="l"/>
              </a:tabLst>
            </a:pPr>
            <a:r>
              <a:rPr sz="900" b="1" spc="-10" dirty="0">
                <a:latin typeface="Gadugi" panose="020B0502040204020203"/>
                <a:cs typeface="Gadugi" panose="020B0502040204020203"/>
              </a:rPr>
              <a:t>merge(Object</a:t>
            </a:r>
            <a:r>
              <a:rPr sz="900" b="1" spc="-5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entity):</a:t>
            </a:r>
            <a:r>
              <a:rPr sz="900" b="1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it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used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to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update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data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into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database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based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on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primary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key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(</a:t>
            </a:r>
            <a:r>
              <a:rPr sz="900" u="sng" spc="-10" dirty="0">
                <a:uFill>
                  <a:solidFill>
                    <a:srgbClr val="000000"/>
                  </a:solidFill>
                </a:uFill>
                <a:latin typeface="Gadugi" panose="020B0502040204020203"/>
                <a:cs typeface="Gadugi" panose="020B0502040204020203"/>
              </a:rPr>
              <a:t>NOTE</a:t>
            </a:r>
            <a:r>
              <a:rPr sz="900" u="none" spc="-10" dirty="0">
                <a:latin typeface="Gadugi" panose="020B0502040204020203"/>
                <a:cs typeface="Gadugi" panose="020B0502040204020203"/>
              </a:rPr>
              <a:t>:</a:t>
            </a:r>
            <a:r>
              <a:rPr sz="900" u="none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if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the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PK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is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available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in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the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database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it</a:t>
            </a:r>
            <a:r>
              <a:rPr sz="900" u="none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acts</a:t>
            </a:r>
            <a:r>
              <a:rPr sz="900" u="none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as</a:t>
            </a:r>
            <a:r>
              <a:rPr sz="900" u="none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update</a:t>
            </a:r>
            <a:r>
              <a:rPr sz="900" u="none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query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,else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It</a:t>
            </a:r>
            <a:r>
              <a:rPr sz="900" u="none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acts</a:t>
            </a:r>
            <a:r>
              <a:rPr sz="900" u="none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as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insert</a:t>
            </a:r>
            <a:r>
              <a:rPr sz="900" u="none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spc="-10" dirty="0">
                <a:latin typeface="Gadugi" panose="020B0502040204020203"/>
                <a:cs typeface="Gadugi" panose="020B0502040204020203"/>
              </a:rPr>
              <a:t>query)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549275" lvl="1" indent="-142875">
              <a:lnSpc>
                <a:spcPct val="100000"/>
              </a:lnSpc>
              <a:spcBef>
                <a:spcPts val="1080"/>
              </a:spcBef>
              <a:buFont typeface="Arial" panose="020B0604020202020204"/>
              <a:buChar char="•"/>
              <a:tabLst>
                <a:tab pos="549275" algn="l"/>
              </a:tabLst>
            </a:pPr>
            <a:r>
              <a:rPr sz="900" b="1" spc="-10" dirty="0">
                <a:latin typeface="Gadugi" panose="020B0502040204020203"/>
                <a:cs typeface="Gadugi" panose="020B0502040204020203"/>
              </a:rPr>
              <a:t>remove(Object</a:t>
            </a:r>
            <a:r>
              <a:rPr sz="900" b="1" spc="-5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entity):</a:t>
            </a:r>
            <a:r>
              <a:rPr sz="900" b="1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It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is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used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to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delete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data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from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database.(acts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as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delete</a:t>
            </a:r>
            <a:r>
              <a:rPr sz="900" spc="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query)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549910" marR="198755" lvl="1" indent="-143510">
              <a:lnSpc>
                <a:spcPct val="200000"/>
              </a:lnSpc>
              <a:buFont typeface="Arial" panose="020B0604020202020204"/>
              <a:buChar char="•"/>
              <a:tabLst>
                <a:tab pos="549910" algn="l"/>
              </a:tabLst>
            </a:pPr>
            <a:r>
              <a:rPr sz="900" b="1" spc="-10" dirty="0">
                <a:latin typeface="Gadugi" panose="020B0502040204020203"/>
                <a:cs typeface="Gadugi" panose="020B0502040204020203"/>
              </a:rPr>
              <a:t>find(Class&lt;T&gt;</a:t>
            </a:r>
            <a:r>
              <a:rPr sz="900" b="1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entityClass,</a:t>
            </a:r>
            <a:r>
              <a:rPr sz="900" b="1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Object</a:t>
            </a:r>
            <a:r>
              <a:rPr sz="900" b="1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latin typeface="Gadugi" panose="020B0502040204020203"/>
                <a:cs typeface="Gadugi" panose="020B0502040204020203"/>
              </a:rPr>
              <a:t>primaryKey):</a:t>
            </a:r>
            <a:r>
              <a:rPr sz="900" b="1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It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is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used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to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fetch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single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data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based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on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primary </a:t>
            </a:r>
            <a:r>
              <a:rPr sz="900" dirty="0">
                <a:latin typeface="Gadugi" panose="020B0502040204020203"/>
                <a:cs typeface="Gadugi" panose="020B0502040204020203"/>
              </a:rPr>
              <a:t>key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from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database(it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acts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as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select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query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with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where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condition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as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PK)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44295" y="113385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4"/>
                </a:lnTo>
                <a:lnTo>
                  <a:pt x="6082284" y="3415284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966216" y="5634228"/>
            <a:ext cx="5842000" cy="3167380"/>
            <a:chOff x="966216" y="5634228"/>
            <a:chExt cx="5842000" cy="3167380"/>
          </a:xfrm>
        </p:grpSpPr>
        <p:sp>
          <p:nvSpPr>
            <p:cNvPr id="9" name="object 9"/>
            <p:cNvSpPr/>
            <p:nvPr/>
          </p:nvSpPr>
          <p:spPr>
            <a:xfrm>
              <a:off x="966216" y="5634228"/>
              <a:ext cx="5842000" cy="3167380"/>
            </a:xfrm>
            <a:custGeom>
              <a:avLst/>
              <a:gdLst/>
              <a:ahLst/>
              <a:cxnLst/>
              <a:rect l="l" t="t" r="r" b="b"/>
              <a:pathLst>
                <a:path w="5842000" h="3167379">
                  <a:moveTo>
                    <a:pt x="5841491" y="3166871"/>
                  </a:moveTo>
                  <a:lnTo>
                    <a:pt x="0" y="3166871"/>
                  </a:lnTo>
                  <a:lnTo>
                    <a:pt x="0" y="0"/>
                  </a:lnTo>
                  <a:lnTo>
                    <a:pt x="5841491" y="0"/>
                  </a:lnTo>
                  <a:lnTo>
                    <a:pt x="5841491" y="316687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41475" y="6100571"/>
              <a:ext cx="5491480" cy="0"/>
            </a:xfrm>
            <a:custGeom>
              <a:avLst/>
              <a:gdLst/>
              <a:ahLst/>
              <a:cxnLst/>
              <a:rect l="l" t="t" r="r" b="b"/>
              <a:pathLst>
                <a:path w="5491480">
                  <a:moveTo>
                    <a:pt x="0" y="0"/>
                  </a:moveTo>
                  <a:lnTo>
                    <a:pt x="5490972" y="0"/>
                  </a:lnTo>
                </a:path>
              </a:pathLst>
            </a:custGeom>
            <a:ln w="12192">
              <a:solidFill>
                <a:srgbClr val="D146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66216" y="5634228"/>
            <a:ext cx="5842000" cy="3167380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345"/>
              </a:spcBef>
            </a:pPr>
            <a:r>
              <a:rPr sz="1400" b="1" spc="-1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ENTITYTRANSACTION</a:t>
            </a:r>
            <a:endParaRPr sz="1400">
              <a:latin typeface="Gadugi" panose="020B0502040204020203"/>
              <a:cs typeface="Gadugi" panose="020B0502040204020203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400">
              <a:latin typeface="Gadugi" panose="020B0502040204020203"/>
              <a:cs typeface="Gadugi" panose="020B0502040204020203"/>
            </a:endParaRPr>
          </a:p>
          <a:p>
            <a:pPr marL="320675" indent="-142875">
              <a:lnSpc>
                <a:spcPct val="100000"/>
              </a:lnSpc>
              <a:buFont typeface="Arial" panose="020B0604020202020204"/>
              <a:buChar char="•"/>
              <a:tabLst>
                <a:tab pos="320675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It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is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an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interface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which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provides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important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method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to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handle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transaction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JPA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application.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320675" indent="-142875">
              <a:lnSpc>
                <a:spcPct val="100000"/>
              </a:lnSpc>
              <a:spcBef>
                <a:spcPts val="540"/>
              </a:spcBef>
              <a:buFont typeface="Arial" panose="020B0604020202020204"/>
              <a:buChar char="•"/>
              <a:tabLst>
                <a:tab pos="320675" algn="l"/>
              </a:tabLst>
            </a:pPr>
            <a:r>
              <a:rPr sz="900" spc="-10" dirty="0">
                <a:latin typeface="Gadugi" panose="020B0502040204020203"/>
                <a:cs typeface="Gadugi" panose="020B0502040204020203"/>
              </a:rPr>
              <a:t>Transaction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is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set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of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operations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that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either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fail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or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succeed.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320675" indent="-142875">
              <a:lnSpc>
                <a:spcPct val="100000"/>
              </a:lnSpc>
              <a:spcBef>
                <a:spcPts val="540"/>
              </a:spcBef>
              <a:buFont typeface="Arial" panose="020B0604020202020204"/>
              <a:buChar char="•"/>
              <a:tabLst>
                <a:tab pos="320675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A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database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transaction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consist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of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set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of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sql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operations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that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are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committed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or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rollback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320675" indent="-142875">
              <a:lnSpc>
                <a:spcPct val="100000"/>
              </a:lnSpc>
              <a:spcBef>
                <a:spcPts val="540"/>
              </a:spcBef>
              <a:buFont typeface="Arial" panose="020B0604020202020204"/>
              <a:buChar char="•"/>
              <a:tabLst>
                <a:tab pos="320675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This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interface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is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used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to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control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transactions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on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resource-</a:t>
            </a:r>
            <a:r>
              <a:rPr sz="900" dirty="0">
                <a:latin typeface="Gadugi" panose="020B0502040204020203"/>
                <a:cs typeface="Gadugi" panose="020B0502040204020203"/>
              </a:rPr>
              <a:t>local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entity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managers.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321310" marR="551815" indent="-143510">
              <a:lnSpc>
                <a:spcPct val="150000"/>
              </a:lnSpc>
              <a:buFont typeface="Arial" panose="020B0604020202020204"/>
              <a:buChar char="•"/>
              <a:tabLst>
                <a:tab pos="321310" algn="l"/>
              </a:tabLst>
            </a:pPr>
            <a:r>
              <a:rPr sz="900" spc="-10" dirty="0">
                <a:latin typeface="Gadugi" panose="020B0502040204020203"/>
                <a:cs typeface="Gadugi" panose="020B0502040204020203"/>
              </a:rPr>
              <a:t>EntityTransaction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Interface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provides</a:t>
            </a:r>
            <a:r>
              <a:rPr sz="900" spc="-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important</a:t>
            </a:r>
            <a:r>
              <a:rPr sz="900" spc="-1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methods</a:t>
            </a:r>
            <a:r>
              <a:rPr sz="900" spc="-1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900" spc="-1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handle</a:t>
            </a:r>
            <a:r>
              <a:rPr sz="900" spc="1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Transactions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900" spc="-1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JPA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based</a:t>
            </a:r>
            <a:r>
              <a:rPr sz="900" spc="-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applications.</a:t>
            </a:r>
            <a:r>
              <a:rPr sz="900" spc="5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900" spc="-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below</a:t>
            </a:r>
            <a:r>
              <a:rPr sz="900" spc="-1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900" spc="-1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important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methods</a:t>
            </a:r>
            <a:r>
              <a:rPr sz="900" spc="-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900" spc="-1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EntityTransaction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Interface.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549275" lvl="1" indent="-142875">
              <a:lnSpc>
                <a:spcPct val="100000"/>
              </a:lnSpc>
              <a:spcBef>
                <a:spcPts val="950"/>
              </a:spcBef>
              <a:buFont typeface="Arial" panose="020B0604020202020204"/>
              <a:buChar char="•"/>
              <a:tabLst>
                <a:tab pos="549275" algn="l"/>
              </a:tabLst>
            </a:pPr>
            <a:r>
              <a:rPr sz="900" spc="-1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Void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900" spc="-20" dirty="0">
                <a:latin typeface="Consolas" panose="020B0609020204030204"/>
                <a:cs typeface="Consolas" panose="020B0609020204030204"/>
              </a:rPr>
              <a:t>egin()</a:t>
            </a:r>
            <a:r>
              <a:rPr sz="900" spc="-265" dirty="0">
                <a:latin typeface="Consolas" panose="020B0609020204030204"/>
                <a:cs typeface="Consolas" panose="020B0609020204030204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- Start</a:t>
            </a:r>
            <a:r>
              <a:rPr sz="900" spc="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900" spc="1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resource</a:t>
            </a:r>
            <a:r>
              <a:rPr sz="900" spc="1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transaction.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549910" marR="713740" lvl="1" indent="-143510">
              <a:lnSpc>
                <a:spcPct val="200000"/>
              </a:lnSpc>
              <a:buFont typeface="Arial" panose="020B0604020202020204"/>
              <a:buChar char="•"/>
              <a:tabLst>
                <a:tab pos="549910" algn="l"/>
              </a:tabLst>
            </a:pPr>
            <a:r>
              <a:rPr sz="900" dirty="0">
                <a:latin typeface="Consolas" panose="020B0609020204030204"/>
                <a:cs typeface="Consolas" panose="020B0609020204030204"/>
              </a:rPr>
              <a:t>void</a:t>
            </a:r>
            <a:r>
              <a:rPr sz="900" spc="-65" dirty="0">
                <a:latin typeface="Consolas" panose="020B0609020204030204"/>
                <a:cs typeface="Consolas" panose="020B0609020204030204"/>
              </a:rPr>
              <a:t> </a:t>
            </a:r>
            <a:r>
              <a:rPr sz="900" spc="-20" dirty="0">
                <a:latin typeface="Consolas" panose="020B0609020204030204"/>
                <a:cs typeface="Consolas" panose="020B0609020204030204"/>
              </a:rPr>
              <a:t>commit()</a:t>
            </a:r>
            <a:r>
              <a:rPr sz="900" spc="-280" dirty="0">
                <a:latin typeface="Consolas" panose="020B0609020204030204"/>
                <a:cs typeface="Consolas" panose="020B0609020204030204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900" spc="-2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Commit</a:t>
            </a:r>
            <a:r>
              <a:rPr sz="900" spc="-2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900" spc="-1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current</a:t>
            </a:r>
            <a:r>
              <a:rPr sz="900" spc="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resource</a:t>
            </a:r>
            <a:r>
              <a:rPr sz="900" spc="-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transaction,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writing</a:t>
            </a:r>
            <a:r>
              <a:rPr sz="900" spc="-2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any</a:t>
            </a:r>
            <a:r>
              <a:rPr sz="900" spc="-1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unflushed</a:t>
            </a:r>
            <a:r>
              <a:rPr sz="900" spc="1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changes to</a:t>
            </a:r>
            <a:r>
              <a:rPr sz="900" spc="-1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2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900" spc="5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database.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320675" indent="-142875">
              <a:lnSpc>
                <a:spcPct val="100000"/>
              </a:lnSpc>
              <a:spcBef>
                <a:spcPts val="670"/>
              </a:spcBef>
              <a:buFont typeface="Arial" panose="020B0604020202020204"/>
              <a:buChar char="•"/>
              <a:tabLst>
                <a:tab pos="320675" algn="l"/>
              </a:tabLst>
            </a:pP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900" spc="-2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EntityManager.getTransaction()</a:t>
            </a:r>
            <a:r>
              <a:rPr sz="900" spc="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method</a:t>
            </a:r>
            <a:r>
              <a:rPr sz="900" spc="-3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returns</a:t>
            </a:r>
            <a:r>
              <a:rPr sz="900" spc="-1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900" spc="-25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EntityTransaction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solidFill>
                  <a:srgbClr val="23282D"/>
                </a:solidFill>
                <a:latin typeface="Calibri" panose="020F0502020204030204"/>
                <a:cs typeface="Calibri" panose="020F0502020204030204"/>
              </a:rPr>
              <a:t>interface.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44295" y="550773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3"/>
                </a:lnTo>
                <a:lnTo>
                  <a:pt x="6082284" y="3415283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31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1540" y="25814"/>
            <a:ext cx="76771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0" dirty="0">
                <a:latin typeface="Calibri" panose="020F0502020204030204"/>
                <a:cs typeface="Calibri" panose="020F0502020204030204"/>
              </a:rPr>
              <a:t>3/30/2023</a:t>
            </a:r>
            <a:endParaRPr sz="12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66216" y="1260348"/>
            <a:ext cx="5842000" cy="3167380"/>
            <a:chOff x="966216" y="1260348"/>
            <a:chExt cx="5842000" cy="3167380"/>
          </a:xfrm>
        </p:grpSpPr>
        <p:sp>
          <p:nvSpPr>
            <p:cNvPr id="4" name="object 4"/>
            <p:cNvSpPr/>
            <p:nvPr/>
          </p:nvSpPr>
          <p:spPr>
            <a:xfrm>
              <a:off x="966216" y="1260348"/>
              <a:ext cx="5842000" cy="3167380"/>
            </a:xfrm>
            <a:custGeom>
              <a:avLst/>
              <a:gdLst/>
              <a:ahLst/>
              <a:cxnLst/>
              <a:rect l="l" t="t" r="r" b="b"/>
              <a:pathLst>
                <a:path w="5842000" h="3167379">
                  <a:moveTo>
                    <a:pt x="5841491" y="3166871"/>
                  </a:moveTo>
                  <a:lnTo>
                    <a:pt x="0" y="3166871"/>
                  </a:lnTo>
                  <a:lnTo>
                    <a:pt x="0" y="0"/>
                  </a:lnTo>
                  <a:lnTo>
                    <a:pt x="5841491" y="0"/>
                  </a:lnTo>
                  <a:lnTo>
                    <a:pt x="5841491" y="316687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41475" y="1726691"/>
              <a:ext cx="5491480" cy="0"/>
            </a:xfrm>
            <a:custGeom>
              <a:avLst/>
              <a:gdLst/>
              <a:ahLst/>
              <a:cxnLst/>
              <a:rect l="l" t="t" r="r" b="b"/>
              <a:pathLst>
                <a:path w="5491480">
                  <a:moveTo>
                    <a:pt x="0" y="0"/>
                  </a:moveTo>
                  <a:lnTo>
                    <a:pt x="5490972" y="0"/>
                  </a:lnTo>
                </a:path>
              </a:pathLst>
            </a:custGeom>
            <a:ln w="12192">
              <a:solidFill>
                <a:srgbClr val="D146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66216" y="1260348"/>
            <a:ext cx="5842000" cy="316738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100"/>
              </a:spcBef>
            </a:pPr>
            <a:r>
              <a:rPr sz="1600" b="1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persistence.xml</a:t>
            </a:r>
            <a:r>
              <a:rPr sz="1600" b="1" spc="-15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1600" b="1" spc="-2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File</a:t>
            </a:r>
            <a:endParaRPr sz="1600">
              <a:latin typeface="Gadugi" panose="020B0502040204020203"/>
              <a:cs typeface="Gadugi" panose="020B0502040204020203"/>
            </a:endParaRPr>
          </a:p>
          <a:p>
            <a:pPr marL="320675" indent="-142875">
              <a:lnSpc>
                <a:spcPct val="100000"/>
              </a:lnSpc>
              <a:spcBef>
                <a:spcPts val="1525"/>
              </a:spcBef>
              <a:buFont typeface="Arial" panose="020B0604020202020204"/>
              <a:buChar char="•"/>
              <a:tabLst>
                <a:tab pos="320675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persistence. </a:t>
            </a:r>
            <a:r>
              <a:rPr sz="900" dirty="0">
                <a:latin typeface="Gadugi" panose="020B0502040204020203"/>
                <a:cs typeface="Gadugi" panose="020B0502040204020203"/>
              </a:rPr>
              <a:t>xml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file</a:t>
            </a:r>
            <a:r>
              <a:rPr sz="900" spc="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is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standard</a:t>
            </a:r>
            <a:r>
              <a:rPr sz="900" spc="1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configuration</a:t>
            </a:r>
            <a:r>
              <a:rPr sz="900" dirty="0">
                <a:latin typeface="Gadugi" panose="020B0502040204020203"/>
                <a:cs typeface="Gadugi" panose="020B0502040204020203"/>
              </a:rPr>
              <a:t> file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JPA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320675" indent="-142875">
              <a:lnSpc>
                <a:spcPct val="100000"/>
              </a:lnSpc>
              <a:buFont typeface="Arial" panose="020B0604020202020204"/>
              <a:buChar char="•"/>
              <a:tabLst>
                <a:tab pos="320675" algn="l"/>
              </a:tabLst>
            </a:pPr>
            <a:r>
              <a:rPr sz="90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It</a:t>
            </a:r>
            <a:r>
              <a:rPr sz="90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has</a:t>
            </a:r>
            <a:r>
              <a:rPr sz="90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to</a:t>
            </a:r>
            <a:r>
              <a:rPr sz="900" spc="-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be</a:t>
            </a:r>
            <a:r>
              <a:rPr sz="90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included</a:t>
            </a:r>
            <a:r>
              <a:rPr sz="90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in</a:t>
            </a:r>
            <a:r>
              <a:rPr sz="90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the</a:t>
            </a:r>
            <a:r>
              <a:rPr sz="90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spc="-3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META-</a:t>
            </a:r>
            <a:r>
              <a:rPr sz="90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INF</a:t>
            </a:r>
            <a:r>
              <a:rPr sz="900" spc="-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directory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320675" indent="-142875">
              <a:lnSpc>
                <a:spcPct val="100000"/>
              </a:lnSpc>
              <a:buFont typeface="Arial" panose="020B0604020202020204"/>
              <a:buChar char="•"/>
              <a:tabLst>
                <a:tab pos="320675" algn="l"/>
              </a:tabLst>
            </a:pPr>
            <a:r>
              <a:rPr sz="90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The</a:t>
            </a:r>
            <a:r>
              <a:rPr sz="900" spc="-1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persistence.xml </a:t>
            </a:r>
            <a:r>
              <a:rPr sz="90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file</a:t>
            </a:r>
            <a:r>
              <a:rPr sz="90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must</a:t>
            </a:r>
            <a:r>
              <a:rPr sz="900" spc="-1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define</a:t>
            </a:r>
            <a:r>
              <a:rPr sz="90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a</a:t>
            </a:r>
            <a:r>
              <a:rPr sz="900" spc="-1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persistence-</a:t>
            </a:r>
            <a:r>
              <a:rPr sz="90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unit</a:t>
            </a:r>
            <a:r>
              <a:rPr sz="900" spc="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with</a:t>
            </a:r>
            <a:r>
              <a:rPr sz="900" spc="-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a</a:t>
            </a:r>
            <a:r>
              <a:rPr sz="900" spc="-15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unique</a:t>
            </a:r>
            <a:r>
              <a:rPr sz="900" spc="-1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spc="-20" dirty="0">
                <a:solidFill>
                  <a:srgbClr val="333333"/>
                </a:solidFill>
                <a:latin typeface="Gadugi" panose="020B0502040204020203"/>
                <a:cs typeface="Gadugi" panose="020B0502040204020203"/>
              </a:rPr>
              <a:t>name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321310" marR="303530" indent="-143510">
              <a:lnSpc>
                <a:spcPct val="100000"/>
              </a:lnSpc>
              <a:buFont typeface="Arial" panose="020B0604020202020204"/>
              <a:buChar char="•"/>
              <a:tabLst>
                <a:tab pos="321310" algn="l"/>
              </a:tabLst>
            </a:pPr>
            <a:r>
              <a:rPr sz="90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The</a:t>
            </a:r>
            <a:r>
              <a:rPr sz="900" spc="-2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persistence.xml</a:t>
            </a:r>
            <a:r>
              <a:rPr sz="900" spc="-2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file</a:t>
            </a:r>
            <a:r>
              <a:rPr sz="900" spc="-2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is</a:t>
            </a:r>
            <a:r>
              <a:rPr sz="900" spc="-15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used</a:t>
            </a:r>
            <a:r>
              <a:rPr sz="900" spc="-35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to</a:t>
            </a:r>
            <a:r>
              <a:rPr sz="900" spc="-15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configure</a:t>
            </a:r>
            <a:r>
              <a:rPr sz="900" spc="-5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Entity</a:t>
            </a:r>
            <a:r>
              <a:rPr sz="900" spc="-1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classes,</a:t>
            </a:r>
            <a:r>
              <a:rPr sz="900" spc="-3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provide</a:t>
            </a:r>
            <a:r>
              <a:rPr sz="900" spc="-2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database</a:t>
            </a:r>
            <a:r>
              <a:rPr sz="900" spc="-15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driver,</a:t>
            </a:r>
            <a:r>
              <a:rPr sz="900" spc="-25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database</a:t>
            </a:r>
            <a:r>
              <a:rPr sz="900" spc="-2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connection </a:t>
            </a:r>
            <a:r>
              <a:rPr sz="90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information</a:t>
            </a:r>
            <a:r>
              <a:rPr sz="900" spc="-4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900" spc="-35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other</a:t>
            </a:r>
            <a:r>
              <a:rPr sz="900" spc="-45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relational</a:t>
            </a:r>
            <a:r>
              <a:rPr sz="900" spc="-4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mapping</a:t>
            </a:r>
            <a:r>
              <a:rPr sz="900" spc="-25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details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320675" indent="-142875">
              <a:lnSpc>
                <a:spcPct val="100000"/>
              </a:lnSpc>
              <a:buFont typeface="Arial" panose="020B0604020202020204"/>
              <a:buChar char="•"/>
              <a:tabLst>
                <a:tab pos="320675" algn="l"/>
              </a:tabLst>
            </a:pPr>
            <a:r>
              <a:rPr sz="90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The</a:t>
            </a:r>
            <a:r>
              <a:rPr sz="900" spc="-1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persistence.xml </a:t>
            </a:r>
            <a:r>
              <a:rPr sz="90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file</a:t>
            </a:r>
            <a:r>
              <a:rPr sz="900" spc="-1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is</a:t>
            </a:r>
            <a:r>
              <a:rPr sz="900" spc="-5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created</a:t>
            </a:r>
            <a:r>
              <a:rPr sz="900" spc="-5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solidFill>
                  <a:srgbClr val="212428"/>
                </a:solidFill>
                <a:latin typeface="Gadugi" panose="020B0502040204020203"/>
                <a:cs typeface="Gadugi" panose="020B0502040204020203"/>
              </a:rPr>
              <a:t>inside: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38627" y="2849880"/>
            <a:ext cx="1610995" cy="190500"/>
          </a:xfrm>
          <a:prstGeom prst="rect">
            <a:avLst/>
          </a:prstGeom>
          <a:solidFill>
            <a:srgbClr val="5B9AD4"/>
          </a:solidFill>
          <a:ln w="6096">
            <a:solidFill>
              <a:srgbClr val="41709C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125"/>
              </a:spcBef>
            </a:pPr>
            <a:r>
              <a:rPr sz="1000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src/main/resources</a:t>
            </a:r>
            <a:endParaRPr sz="10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38627" y="3419855"/>
            <a:ext cx="1610995" cy="190500"/>
          </a:xfrm>
          <a:prstGeom prst="rect">
            <a:avLst/>
          </a:prstGeom>
          <a:solidFill>
            <a:srgbClr val="5B9AD4"/>
          </a:solidFill>
          <a:ln w="6096">
            <a:solidFill>
              <a:srgbClr val="41709C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80"/>
              </a:spcBef>
            </a:pPr>
            <a:r>
              <a:rPr sz="900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META-</a:t>
            </a:r>
            <a:r>
              <a:rPr sz="900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INF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(Folder)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38627" y="4008120"/>
            <a:ext cx="1610995" cy="190500"/>
          </a:xfrm>
          <a:prstGeom prst="rect">
            <a:avLst/>
          </a:prstGeom>
          <a:solidFill>
            <a:srgbClr val="5B9AD4"/>
          </a:solidFill>
          <a:ln w="6096">
            <a:solidFill>
              <a:srgbClr val="41709C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299720">
              <a:lnSpc>
                <a:spcPct val="100000"/>
              </a:lnSpc>
              <a:spcBef>
                <a:spcPts val="190"/>
              </a:spcBef>
            </a:pPr>
            <a:r>
              <a:rPr sz="900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persistence.xml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(File)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38200" y="1127760"/>
            <a:ext cx="6094730" cy="3427729"/>
            <a:chOff x="838200" y="1127760"/>
            <a:chExt cx="6094730" cy="3427729"/>
          </a:xfrm>
        </p:grpSpPr>
        <p:sp>
          <p:nvSpPr>
            <p:cNvPr id="11" name="object 11"/>
            <p:cNvSpPr/>
            <p:nvPr/>
          </p:nvSpPr>
          <p:spPr>
            <a:xfrm>
              <a:off x="3525012" y="3040392"/>
              <a:ext cx="38100" cy="967740"/>
            </a:xfrm>
            <a:custGeom>
              <a:avLst/>
              <a:gdLst/>
              <a:ahLst/>
              <a:cxnLst/>
              <a:rect l="l" t="t" r="r" b="b"/>
              <a:pathLst>
                <a:path w="38100" h="967739">
                  <a:moveTo>
                    <a:pt x="38100" y="929640"/>
                  </a:moveTo>
                  <a:lnTo>
                    <a:pt x="21336" y="929640"/>
                  </a:lnTo>
                  <a:lnTo>
                    <a:pt x="21336" y="569976"/>
                  </a:lnTo>
                  <a:lnTo>
                    <a:pt x="16764" y="569976"/>
                  </a:lnTo>
                  <a:lnTo>
                    <a:pt x="16764" y="929640"/>
                  </a:lnTo>
                  <a:lnTo>
                    <a:pt x="0" y="929640"/>
                  </a:lnTo>
                  <a:lnTo>
                    <a:pt x="18288" y="967740"/>
                  </a:lnTo>
                  <a:lnTo>
                    <a:pt x="34137" y="937260"/>
                  </a:lnTo>
                  <a:lnTo>
                    <a:pt x="38100" y="929640"/>
                  </a:lnTo>
                  <a:close/>
                </a:path>
                <a:path w="38100" h="967739">
                  <a:moveTo>
                    <a:pt x="38100" y="341376"/>
                  </a:moveTo>
                  <a:lnTo>
                    <a:pt x="21336" y="341376"/>
                  </a:lnTo>
                  <a:lnTo>
                    <a:pt x="21336" y="0"/>
                  </a:lnTo>
                  <a:lnTo>
                    <a:pt x="16764" y="0"/>
                  </a:lnTo>
                  <a:lnTo>
                    <a:pt x="16764" y="341376"/>
                  </a:lnTo>
                  <a:lnTo>
                    <a:pt x="0" y="341376"/>
                  </a:lnTo>
                  <a:lnTo>
                    <a:pt x="18288" y="379476"/>
                  </a:lnTo>
                  <a:lnTo>
                    <a:pt x="34925" y="347472"/>
                  </a:lnTo>
                  <a:lnTo>
                    <a:pt x="38100" y="3413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44295" y="1133856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4"/>
                  </a:lnTo>
                  <a:lnTo>
                    <a:pt x="6082284" y="3415284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966216" y="5634228"/>
            <a:ext cx="5842000" cy="3167380"/>
            <a:chOff x="966216" y="5634228"/>
            <a:chExt cx="5842000" cy="3167380"/>
          </a:xfrm>
        </p:grpSpPr>
        <p:sp>
          <p:nvSpPr>
            <p:cNvPr id="14" name="object 14"/>
            <p:cNvSpPr/>
            <p:nvPr/>
          </p:nvSpPr>
          <p:spPr>
            <a:xfrm>
              <a:off x="966216" y="5634228"/>
              <a:ext cx="5842000" cy="3167380"/>
            </a:xfrm>
            <a:custGeom>
              <a:avLst/>
              <a:gdLst/>
              <a:ahLst/>
              <a:cxnLst/>
              <a:rect l="l" t="t" r="r" b="b"/>
              <a:pathLst>
                <a:path w="5842000" h="3167379">
                  <a:moveTo>
                    <a:pt x="5841491" y="3166871"/>
                  </a:moveTo>
                  <a:lnTo>
                    <a:pt x="0" y="3166871"/>
                  </a:lnTo>
                  <a:lnTo>
                    <a:pt x="0" y="0"/>
                  </a:lnTo>
                  <a:lnTo>
                    <a:pt x="5841491" y="0"/>
                  </a:lnTo>
                  <a:lnTo>
                    <a:pt x="5841491" y="316687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41475" y="6100571"/>
              <a:ext cx="5491480" cy="0"/>
            </a:xfrm>
            <a:custGeom>
              <a:avLst/>
              <a:gdLst/>
              <a:ahLst/>
              <a:cxnLst/>
              <a:rect l="l" t="t" r="r" b="b"/>
              <a:pathLst>
                <a:path w="5491480">
                  <a:moveTo>
                    <a:pt x="0" y="0"/>
                  </a:moveTo>
                  <a:lnTo>
                    <a:pt x="5490972" y="0"/>
                  </a:lnTo>
                </a:path>
              </a:pathLst>
            </a:custGeom>
            <a:ln w="12192">
              <a:solidFill>
                <a:srgbClr val="D146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966216" y="5634228"/>
            <a:ext cx="5842000" cy="316738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895"/>
              </a:spcBef>
            </a:pPr>
            <a:r>
              <a:rPr sz="1600" b="1" spc="-1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Persistence</a:t>
            </a:r>
            <a:endParaRPr sz="1600">
              <a:latin typeface="Gadugi" panose="020B0502040204020203"/>
              <a:cs typeface="Gadugi" panose="020B0502040204020203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600">
              <a:latin typeface="Gadugi" panose="020B0502040204020203"/>
              <a:cs typeface="Gadugi" panose="020B0502040204020203"/>
            </a:endParaRPr>
          </a:p>
          <a:p>
            <a:pPr marL="358775" indent="-144145">
              <a:lnSpc>
                <a:spcPct val="100000"/>
              </a:lnSpc>
              <a:buFont typeface="Arial" panose="020B0604020202020204"/>
              <a:buChar char="•"/>
              <a:tabLst>
                <a:tab pos="358775" algn="l"/>
              </a:tabLst>
            </a:pPr>
            <a:r>
              <a:rPr sz="1200" spc="-10" dirty="0">
                <a:latin typeface="Gadugi" panose="020B0502040204020203"/>
                <a:cs typeface="Gadugi" panose="020B0502040204020203"/>
              </a:rPr>
              <a:t>Persistence</a:t>
            </a:r>
            <a:r>
              <a:rPr sz="1200" spc="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is</a:t>
            </a:r>
            <a:r>
              <a:rPr sz="12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a helper</a:t>
            </a:r>
            <a:r>
              <a:rPr sz="1200" spc="5" dirty="0">
                <a:latin typeface="Gadugi" panose="020B0502040204020203"/>
                <a:cs typeface="Gadugi" panose="020B0502040204020203"/>
              </a:rPr>
              <a:t> </a:t>
            </a:r>
            <a:r>
              <a:rPr sz="1200" spc="-20" dirty="0">
                <a:latin typeface="Gadugi" panose="020B0502040204020203"/>
                <a:cs typeface="Gadugi" panose="020B0502040204020203"/>
              </a:rPr>
              <a:t>class</a:t>
            </a:r>
            <a:endParaRPr sz="1200">
              <a:latin typeface="Gadugi" panose="020B0502040204020203"/>
              <a:cs typeface="Gadugi" panose="020B0502040204020203"/>
            </a:endParaRPr>
          </a:p>
          <a:p>
            <a:pPr marL="357505" marR="621030" indent="-143510">
              <a:lnSpc>
                <a:spcPct val="200000"/>
              </a:lnSpc>
              <a:buFont typeface="Arial" panose="020B0604020202020204"/>
              <a:buChar char="•"/>
              <a:tabLst>
                <a:tab pos="357505" algn="l"/>
              </a:tabLst>
            </a:pPr>
            <a:r>
              <a:rPr sz="1200" spc="-10" dirty="0">
                <a:latin typeface="Gadugi" panose="020B0502040204020203"/>
                <a:cs typeface="Gadugi" panose="020B0502040204020203"/>
              </a:rPr>
              <a:t>Persistence </a:t>
            </a:r>
            <a:r>
              <a:rPr sz="1200" dirty="0">
                <a:latin typeface="Gadugi" panose="020B0502040204020203"/>
                <a:cs typeface="Gadugi" panose="020B0502040204020203"/>
              </a:rPr>
              <a:t>class</a:t>
            </a:r>
            <a:r>
              <a:rPr sz="12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provides</a:t>
            </a:r>
            <a:r>
              <a:rPr sz="12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a</a:t>
            </a:r>
            <a:r>
              <a:rPr sz="12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method</a:t>
            </a:r>
            <a:r>
              <a:rPr sz="12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called</a:t>
            </a:r>
            <a:r>
              <a:rPr sz="12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200" spc="-10" dirty="0">
                <a:latin typeface="Gadugi" panose="020B0502040204020203"/>
                <a:cs typeface="Gadugi" panose="020B0502040204020203"/>
              </a:rPr>
              <a:t>createEntityManagerFactory() </a:t>
            </a:r>
            <a:r>
              <a:rPr sz="1200" dirty="0">
                <a:latin typeface="Gadugi" panose="020B0502040204020203"/>
                <a:cs typeface="Gadugi" panose="020B0502040204020203"/>
              </a:rPr>
              <a:t>which</a:t>
            </a:r>
            <a:r>
              <a:rPr sz="12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accepts</a:t>
            </a:r>
            <a:r>
              <a:rPr sz="12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the</a:t>
            </a:r>
            <a:r>
              <a:rPr sz="12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200" spc="-10" dirty="0">
                <a:latin typeface="Gadugi" panose="020B0502040204020203"/>
                <a:cs typeface="Gadugi" panose="020B0502040204020203"/>
              </a:rPr>
              <a:t>Persistence </a:t>
            </a:r>
            <a:r>
              <a:rPr sz="1200" dirty="0">
                <a:latin typeface="Gadugi" panose="020B0502040204020203"/>
                <a:cs typeface="Gadugi" panose="020B0502040204020203"/>
              </a:rPr>
              <a:t>unit</a:t>
            </a:r>
            <a:r>
              <a:rPr sz="12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name</a:t>
            </a:r>
            <a:r>
              <a:rPr sz="12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present</a:t>
            </a:r>
            <a:r>
              <a:rPr sz="12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in</a:t>
            </a:r>
            <a:r>
              <a:rPr sz="12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persistence.xml</a:t>
            </a:r>
            <a:r>
              <a:rPr sz="1200" spc="-20" dirty="0">
                <a:latin typeface="Gadugi" panose="020B0502040204020203"/>
                <a:cs typeface="Gadugi" panose="020B0502040204020203"/>
              </a:rPr>
              <a:t> file</a:t>
            </a:r>
            <a:endParaRPr sz="1200">
              <a:latin typeface="Gadugi" panose="020B0502040204020203"/>
              <a:cs typeface="Gadugi" panose="020B0502040204020203"/>
            </a:endParaRPr>
          </a:p>
          <a:p>
            <a:pPr marL="357505" marR="537845" indent="-143510">
              <a:lnSpc>
                <a:spcPct val="200000"/>
              </a:lnSpc>
              <a:buFont typeface="Arial" panose="020B0604020202020204"/>
              <a:buChar char="•"/>
              <a:tabLst>
                <a:tab pos="357505" algn="l"/>
              </a:tabLst>
            </a:pPr>
            <a:r>
              <a:rPr sz="1200" dirty="0">
                <a:latin typeface="Gadugi" panose="020B0502040204020203"/>
                <a:cs typeface="Gadugi" panose="020B0502040204020203"/>
              </a:rPr>
              <a:t>With</a:t>
            </a:r>
            <a:r>
              <a:rPr sz="12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the</a:t>
            </a:r>
            <a:r>
              <a:rPr sz="12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help</a:t>
            </a:r>
            <a:r>
              <a:rPr sz="12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of</a:t>
            </a:r>
            <a:r>
              <a:rPr sz="12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EntityManagerFactory</a:t>
            </a:r>
            <a:r>
              <a:rPr sz="12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we</a:t>
            </a:r>
            <a:r>
              <a:rPr sz="12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can</a:t>
            </a:r>
            <a:r>
              <a:rPr sz="12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access</a:t>
            </a:r>
            <a:r>
              <a:rPr sz="12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the</a:t>
            </a:r>
            <a:r>
              <a:rPr sz="12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1200" dirty="0">
                <a:latin typeface="Gadugi" panose="020B0502040204020203"/>
                <a:cs typeface="Gadugi" panose="020B0502040204020203"/>
              </a:rPr>
              <a:t>persistence</a:t>
            </a:r>
            <a:r>
              <a:rPr sz="12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200" spc="-20" dirty="0">
                <a:latin typeface="Gadugi" panose="020B0502040204020203"/>
                <a:cs typeface="Gadugi" panose="020B0502040204020203"/>
              </a:rPr>
              <a:t>unit </a:t>
            </a:r>
            <a:r>
              <a:rPr sz="1200" spc="-10" dirty="0">
                <a:latin typeface="Gadugi" panose="020B0502040204020203"/>
                <a:cs typeface="Gadugi" panose="020B0502040204020203"/>
              </a:rPr>
              <a:t>name.</a:t>
            </a:r>
            <a:endParaRPr sz="1200">
              <a:latin typeface="Gadugi" panose="020B0502040204020203"/>
              <a:cs typeface="Gadugi" panose="020B0502040204020203"/>
            </a:endParaRPr>
          </a:p>
          <a:p>
            <a:pPr marL="358775" indent="-144145">
              <a:lnSpc>
                <a:spcPct val="100000"/>
              </a:lnSpc>
              <a:spcBef>
                <a:spcPts val="1440"/>
              </a:spcBef>
              <a:buFont typeface="Arial" panose="020B0604020202020204"/>
              <a:buChar char="•"/>
              <a:tabLst>
                <a:tab pos="358775" algn="l"/>
              </a:tabLst>
            </a:pPr>
            <a:r>
              <a:rPr sz="1200" dirty="0">
                <a:latin typeface="Gadugi" panose="020B0502040204020203"/>
                <a:cs typeface="Gadugi" panose="020B0502040204020203"/>
              </a:rPr>
              <a:t>EntityManagerFactory</a:t>
            </a:r>
            <a:r>
              <a:rPr sz="1200" spc="-85" dirty="0">
                <a:latin typeface="Gadugi" panose="020B0502040204020203"/>
                <a:cs typeface="Gadugi" panose="020B0502040204020203"/>
              </a:rPr>
              <a:t> </a:t>
            </a:r>
            <a:r>
              <a:rPr sz="1200" spc="-10" dirty="0">
                <a:latin typeface="Gadugi" panose="020B0502040204020203"/>
                <a:cs typeface="Gadugi" panose="020B0502040204020203"/>
              </a:rPr>
              <a:t>emf=Persistence.createEntityManagerFactory(“pun”);</a:t>
            </a:r>
            <a:endParaRPr sz="12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44295" y="550773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3"/>
                </a:lnTo>
                <a:lnTo>
                  <a:pt x="6082284" y="3415283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31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1540" y="25814"/>
            <a:ext cx="76771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0" dirty="0">
                <a:latin typeface="Calibri" panose="020F0502020204030204"/>
                <a:cs typeface="Calibri" panose="020F0502020204030204"/>
              </a:rPr>
              <a:t>3/30/2023</a:t>
            </a:r>
            <a:endParaRPr sz="125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66216" y="1257300"/>
          <a:ext cx="5918200" cy="3158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2630"/>
                <a:gridCol w="1546859"/>
                <a:gridCol w="3572510"/>
              </a:tblGrid>
              <a:tr h="1750695">
                <a:tc gridSpan="3"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400" b="1" spc="-10" dirty="0">
                          <a:solidFill>
                            <a:srgbClr val="BF0000"/>
                          </a:solidFill>
                          <a:latin typeface="Gadugi" panose="020B0502040204020203"/>
                          <a:cs typeface="Gadugi" panose="020B0502040204020203"/>
                        </a:rPr>
                        <a:t>HAS-</a:t>
                      </a:r>
                      <a:r>
                        <a:rPr sz="1400" b="1" spc="-20" dirty="0">
                          <a:solidFill>
                            <a:srgbClr val="BF0000"/>
                          </a:solidFill>
                          <a:latin typeface="Gadugi" panose="020B0502040204020203"/>
                          <a:cs typeface="Gadugi" panose="020B0502040204020203"/>
                        </a:rPr>
                        <a:t>A-</a:t>
                      </a:r>
                      <a:r>
                        <a:rPr sz="1400" b="1" spc="-10" dirty="0">
                          <a:solidFill>
                            <a:srgbClr val="BF0000"/>
                          </a:solidFill>
                          <a:latin typeface="Gadugi" panose="020B0502040204020203"/>
                          <a:cs typeface="Gadugi" panose="020B0502040204020203"/>
                        </a:rPr>
                        <a:t>RELATIONSHIP</a:t>
                      </a:r>
                      <a:endParaRPr sz="1400">
                        <a:latin typeface="Gadugi" panose="020B0502040204020203"/>
                        <a:cs typeface="Gadug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20675" indent="-142875">
                        <a:lnSpc>
                          <a:spcPct val="100000"/>
                        </a:lnSpc>
                        <a:buFont typeface="Arial" panose="020B0604020202020204"/>
                        <a:buChar char="•"/>
                        <a:tabLst>
                          <a:tab pos="320675" algn="l"/>
                        </a:tabLst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To</a:t>
                      </a:r>
                      <a:r>
                        <a:rPr sz="900" spc="-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map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the</a:t>
                      </a:r>
                      <a:r>
                        <a:rPr sz="900" spc="-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java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objects to</a:t>
                      </a:r>
                      <a:r>
                        <a:rPr sz="900" spc="-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Relational</a:t>
                      </a:r>
                      <a:r>
                        <a:rPr sz="900" spc="-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table</a:t>
                      </a:r>
                      <a:r>
                        <a:rPr sz="900" spc="-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we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 make</a:t>
                      </a:r>
                      <a:r>
                        <a:rPr sz="900" spc="-3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use</a:t>
                      </a:r>
                      <a:r>
                        <a:rPr sz="900" spc="-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of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some</a:t>
                      </a:r>
                      <a:r>
                        <a:rPr sz="900" spc="-4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Annotations.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  <a:p>
                      <a:pPr marL="320675" indent="-142875">
                        <a:lnSpc>
                          <a:spcPct val="100000"/>
                        </a:lnSpc>
                        <a:buFont typeface="Arial" panose="020B0604020202020204"/>
                        <a:buChar char="•"/>
                        <a:tabLst>
                          <a:tab pos="320675" algn="l"/>
                        </a:tabLst>
                      </a:pP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In</a:t>
                      </a:r>
                      <a:r>
                        <a:rPr sz="900" spc="-4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JDBC</a:t>
                      </a:r>
                      <a:r>
                        <a:rPr sz="900" spc="-4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we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use</a:t>
                      </a:r>
                      <a:r>
                        <a:rPr sz="900" spc="-3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to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create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a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table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but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in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hibernate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creation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of</a:t>
                      </a:r>
                      <a:r>
                        <a:rPr sz="900" spc="-4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table</a:t>
                      </a:r>
                      <a:r>
                        <a:rPr sz="900" spc="-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is</a:t>
                      </a:r>
                      <a:r>
                        <a:rPr sz="900" spc="-3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done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by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using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a</a:t>
                      </a:r>
                      <a:r>
                        <a:rPr sz="900" spc="-4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annotation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 called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  <a:p>
                      <a:pPr marL="321310">
                        <a:lnSpc>
                          <a:spcPct val="100000"/>
                        </a:lnSpc>
                      </a:pPr>
                      <a:r>
                        <a:rPr sz="900" b="1" spc="-10" dirty="0">
                          <a:latin typeface="Gadugi" panose="020B0502040204020203"/>
                          <a:cs typeface="Gadugi" panose="020B0502040204020203"/>
                        </a:rPr>
                        <a:t>@Entity.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  <a:p>
                      <a:pPr marL="320675" indent="-142875">
                        <a:lnSpc>
                          <a:spcPct val="100000"/>
                        </a:lnSpc>
                        <a:buFont typeface="Arial" panose="020B0604020202020204"/>
                        <a:buChar char="•"/>
                        <a:tabLst>
                          <a:tab pos="320675" algn="l"/>
                        </a:tabLst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To</a:t>
                      </a:r>
                      <a:r>
                        <a:rPr sz="900" spc="-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make</a:t>
                      </a:r>
                      <a:r>
                        <a:rPr sz="900" spc="-4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any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attribute</a:t>
                      </a:r>
                      <a:r>
                        <a:rPr sz="900" spc="-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as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Primary</a:t>
                      </a:r>
                      <a:r>
                        <a:rPr sz="900" spc="-4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key</a:t>
                      </a:r>
                      <a:r>
                        <a:rPr sz="900" spc="-1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annotate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it</a:t>
                      </a:r>
                      <a:r>
                        <a:rPr sz="900" spc="-3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with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b="1" spc="-25" dirty="0">
                          <a:latin typeface="Gadugi" panose="020B0502040204020203"/>
                          <a:cs typeface="Gadugi" panose="020B0502040204020203"/>
                        </a:rPr>
                        <a:t>@Id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  <a:p>
                      <a:pPr marL="320675" indent="-142875">
                        <a:lnSpc>
                          <a:spcPct val="100000"/>
                        </a:lnSpc>
                        <a:buFont typeface="Arial" panose="020B0604020202020204"/>
                        <a:buChar char="•"/>
                        <a:tabLst>
                          <a:tab pos="320675" algn="l"/>
                        </a:tabLst>
                      </a:pPr>
                      <a:r>
                        <a:rPr sz="900" b="1" dirty="0">
                          <a:latin typeface="Gadugi" panose="020B0502040204020203"/>
                          <a:cs typeface="Gadugi" panose="020B0502040204020203"/>
                        </a:rPr>
                        <a:t>Entity:</a:t>
                      </a:r>
                      <a:r>
                        <a:rPr sz="900" b="1" spc="-3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Creation</a:t>
                      </a:r>
                      <a:r>
                        <a:rPr sz="900" spc="-3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of</a:t>
                      </a:r>
                      <a:r>
                        <a:rPr sz="900" spc="-5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table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  <a:p>
                      <a:pPr marL="177800" marR="3141980" indent="142875">
                        <a:lnSpc>
                          <a:spcPct val="100000"/>
                        </a:lnSpc>
                        <a:buFont typeface="Arial" panose="020B0604020202020204"/>
                        <a:buChar char="•"/>
                        <a:tabLst>
                          <a:tab pos="320675" algn="l"/>
                        </a:tabLst>
                      </a:pPr>
                      <a:r>
                        <a:rPr sz="900" b="1" dirty="0">
                          <a:latin typeface="Gadugi" panose="020B0502040204020203"/>
                          <a:cs typeface="Gadugi" panose="020B0502040204020203"/>
                        </a:rPr>
                        <a:t>Id:</a:t>
                      </a:r>
                      <a:r>
                        <a:rPr sz="900" b="1" spc="-3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To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make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the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given</a:t>
                      </a:r>
                      <a:r>
                        <a:rPr sz="900" spc="-3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attribute</a:t>
                      </a:r>
                      <a:r>
                        <a:rPr sz="900" spc="10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has</a:t>
                      </a:r>
                      <a:r>
                        <a:rPr sz="900" spc="-3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dirty="0">
                          <a:latin typeface="Gadugi" panose="020B0502040204020203"/>
                          <a:cs typeface="Gadugi" panose="020B0502040204020203"/>
                        </a:rPr>
                        <a:t>primary</a:t>
                      </a: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 key </a:t>
                      </a: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Example: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  <a:p>
                      <a:pPr marL="1092200">
                        <a:lnSpc>
                          <a:spcPct val="100000"/>
                        </a:lnSpc>
                      </a:pPr>
                      <a:r>
                        <a:rPr sz="900" b="1" dirty="0">
                          <a:latin typeface="Gadugi" panose="020B0502040204020203"/>
                          <a:cs typeface="Gadugi" panose="020B0502040204020203"/>
                        </a:rPr>
                        <a:t>Entity</a:t>
                      </a:r>
                      <a:r>
                        <a:rPr sz="900" b="1" spc="-25" dirty="0"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b="1" spc="-10" dirty="0">
                          <a:latin typeface="Gadugi" panose="020B0502040204020203"/>
                          <a:cs typeface="Gadugi" panose="020B0502040204020203"/>
                        </a:rPr>
                        <a:t>Class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45415" marB="0">
                    <a:solidFill>
                      <a:srgbClr val="F4F4F4"/>
                    </a:solidFill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407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41709C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3815" marR="17907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//create</a:t>
                      </a:r>
                      <a:r>
                        <a:rPr sz="1000" spc="-3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class</a:t>
                      </a:r>
                      <a:r>
                        <a:rPr sz="1000" spc="-3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Employee </a:t>
                      </a:r>
                      <a:r>
                        <a:rPr sz="1000" spc="-10" dirty="0">
                          <a:solidFill>
                            <a:srgbClr val="BF0000"/>
                          </a:solidFill>
                          <a:latin typeface="Gadugi" panose="020B0502040204020203"/>
                          <a:cs typeface="Gadugi" panose="020B0502040204020203"/>
                        </a:rPr>
                        <a:t>@Entity</a:t>
                      </a:r>
                      <a:endParaRPr sz="1000">
                        <a:latin typeface="Gadugi" panose="020B0502040204020203"/>
                        <a:cs typeface="Gadugi" panose="020B0502040204020203"/>
                      </a:endParaRPr>
                    </a:p>
                    <a:p>
                      <a:pPr marL="43815" marR="615315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class</a:t>
                      </a:r>
                      <a:r>
                        <a:rPr sz="1000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Employee{ </a:t>
                      </a:r>
                      <a:r>
                        <a:rPr sz="1000" spc="-25" dirty="0">
                          <a:solidFill>
                            <a:srgbClr val="BF0000"/>
                          </a:solidFill>
                          <a:latin typeface="Gadugi" panose="020B0502040204020203"/>
                          <a:cs typeface="Gadugi" panose="020B0502040204020203"/>
                        </a:rPr>
                        <a:t>@Id</a:t>
                      </a:r>
                      <a:endParaRPr sz="1000">
                        <a:latin typeface="Gadugi" panose="020B0502040204020203"/>
                        <a:cs typeface="Gadugi" panose="020B0502040204020203"/>
                      </a:endParaRPr>
                    </a:p>
                    <a:p>
                      <a:pPr marL="43815" marR="378460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private</a:t>
                      </a:r>
                      <a:r>
                        <a:rPr sz="1000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int</a:t>
                      </a:r>
                      <a:r>
                        <a:rPr sz="1000" spc="-3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1000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id;</a:t>
                      </a:r>
                      <a:r>
                        <a:rPr sz="1000" spc="50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private</a:t>
                      </a:r>
                      <a:r>
                        <a:rPr sz="1000" spc="-5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String</a:t>
                      </a:r>
                      <a:r>
                        <a:rPr sz="1000" spc="-4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1000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name;</a:t>
                      </a:r>
                      <a:endParaRPr sz="1000">
                        <a:latin typeface="Gadugi" panose="020B0502040204020203"/>
                        <a:cs typeface="Gadugi" panose="020B0502040204020203"/>
                      </a:endParaRPr>
                    </a:p>
                    <a:p>
                      <a:pPr marL="43815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private</a:t>
                      </a:r>
                      <a:r>
                        <a:rPr sz="1000" spc="-3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double</a:t>
                      </a:r>
                      <a:r>
                        <a:rPr sz="1000" spc="-3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salary;</a:t>
                      </a:r>
                      <a:endParaRPr sz="1000">
                        <a:latin typeface="Gadugi" panose="020B0502040204020203"/>
                        <a:cs typeface="Gadugi" panose="020B0502040204020203"/>
                      </a:endParaRPr>
                    </a:p>
                    <a:p>
                      <a:pPr marL="43815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//getters</a:t>
                      </a:r>
                      <a:r>
                        <a:rPr sz="1000" spc="-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and</a:t>
                      </a:r>
                      <a:r>
                        <a:rPr sz="1000" spc="-3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setters</a:t>
                      </a:r>
                      <a:endParaRPr sz="1000">
                        <a:latin typeface="Gadugi" panose="020B0502040204020203"/>
                        <a:cs typeface="Gadugi" panose="020B0502040204020203"/>
                      </a:endParaRPr>
                    </a:p>
                    <a:p>
                      <a:pPr marL="43815">
                        <a:lnSpc>
                          <a:spcPct val="100000"/>
                        </a:lnSpc>
                      </a:pPr>
                      <a:r>
                        <a:rPr sz="1000" spc="-5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}</a:t>
                      </a:r>
                      <a:endParaRPr sz="10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4604" marB="0">
                    <a:lnL w="6350">
                      <a:solidFill>
                        <a:srgbClr val="41709C"/>
                      </a:solidFill>
                      <a:prstDash val="solid"/>
                    </a:lnL>
                    <a:lnR w="6350">
                      <a:solidFill>
                        <a:srgbClr val="41709C"/>
                      </a:solidFill>
                      <a:prstDash val="solid"/>
                    </a:lnR>
                    <a:lnT w="6350">
                      <a:solidFill>
                        <a:srgbClr val="41709C"/>
                      </a:solidFill>
                      <a:prstDash val="solid"/>
                    </a:lnT>
                    <a:lnB w="6350">
                      <a:solidFill>
                        <a:srgbClr val="41709C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760095" algn="ctr">
                        <a:lnSpc>
                          <a:spcPct val="100000"/>
                        </a:lnSpc>
                      </a:pPr>
                      <a:r>
                        <a:rPr sz="900" b="1" spc="-10" dirty="0">
                          <a:latin typeface="Gadugi" panose="020B0502040204020203"/>
                          <a:cs typeface="Gadugi" panose="020B0502040204020203"/>
                        </a:rPr>
                        <a:t>Table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18110" marB="0">
                    <a:lnL w="6350">
                      <a:solidFill>
                        <a:srgbClr val="41709C"/>
                      </a:solidFill>
                      <a:prstDash val="solid"/>
                    </a:lnL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41475" y="1726692"/>
            <a:ext cx="5491480" cy="0"/>
          </a:xfrm>
          <a:custGeom>
            <a:avLst/>
            <a:gdLst/>
            <a:ahLst/>
            <a:cxnLst/>
            <a:rect l="l" t="t" r="r" b="b"/>
            <a:pathLst>
              <a:path w="5491480">
                <a:moveTo>
                  <a:pt x="0" y="0"/>
                </a:moveTo>
                <a:lnTo>
                  <a:pt x="5490972" y="0"/>
                </a:lnTo>
              </a:path>
            </a:pathLst>
          </a:custGeom>
          <a:ln w="12192">
            <a:solidFill>
              <a:srgbClr val="D14626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35423" y="3381755"/>
          <a:ext cx="1941830" cy="554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8490"/>
                <a:gridCol w="619760"/>
                <a:gridCol w="619760"/>
              </a:tblGrid>
              <a:tr h="1854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salary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Ram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10000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Arun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3000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235451" y="3697223"/>
            <a:ext cx="1303020" cy="38100"/>
          </a:xfrm>
          <a:custGeom>
            <a:avLst/>
            <a:gdLst/>
            <a:ahLst/>
            <a:cxnLst/>
            <a:rect l="l" t="t" r="r" b="b"/>
            <a:pathLst>
              <a:path w="1303020" h="38100">
                <a:moveTo>
                  <a:pt x="1264920" y="38100"/>
                </a:moveTo>
                <a:lnTo>
                  <a:pt x="1264920" y="0"/>
                </a:lnTo>
                <a:lnTo>
                  <a:pt x="1299845" y="16764"/>
                </a:lnTo>
                <a:lnTo>
                  <a:pt x="1271016" y="16764"/>
                </a:lnTo>
                <a:lnTo>
                  <a:pt x="1271016" y="19812"/>
                </a:lnTo>
                <a:lnTo>
                  <a:pt x="1300089" y="19812"/>
                </a:lnTo>
                <a:lnTo>
                  <a:pt x="1264920" y="38100"/>
                </a:lnTo>
                <a:close/>
              </a:path>
              <a:path w="1303020" h="38100">
                <a:moveTo>
                  <a:pt x="1264920" y="19812"/>
                </a:moveTo>
                <a:lnTo>
                  <a:pt x="0" y="19812"/>
                </a:lnTo>
                <a:lnTo>
                  <a:pt x="0" y="16764"/>
                </a:lnTo>
                <a:lnTo>
                  <a:pt x="1264920" y="16764"/>
                </a:lnTo>
                <a:lnTo>
                  <a:pt x="1264920" y="19812"/>
                </a:lnTo>
                <a:close/>
              </a:path>
              <a:path w="1303020" h="38100">
                <a:moveTo>
                  <a:pt x="1300089" y="19812"/>
                </a:moveTo>
                <a:lnTo>
                  <a:pt x="1271016" y="19812"/>
                </a:lnTo>
                <a:lnTo>
                  <a:pt x="1271016" y="16764"/>
                </a:lnTo>
                <a:lnTo>
                  <a:pt x="1299845" y="16764"/>
                </a:lnTo>
                <a:lnTo>
                  <a:pt x="1303020" y="18288"/>
                </a:lnTo>
                <a:lnTo>
                  <a:pt x="1300089" y="19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44295" y="113385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4"/>
                </a:lnTo>
                <a:lnTo>
                  <a:pt x="6082284" y="3415284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966216" y="5634228"/>
            <a:ext cx="5842000" cy="3167380"/>
            <a:chOff x="966216" y="5634228"/>
            <a:chExt cx="5842000" cy="3167380"/>
          </a:xfrm>
        </p:grpSpPr>
        <p:sp>
          <p:nvSpPr>
            <p:cNvPr id="9" name="object 9"/>
            <p:cNvSpPr/>
            <p:nvPr/>
          </p:nvSpPr>
          <p:spPr>
            <a:xfrm>
              <a:off x="966216" y="5634228"/>
              <a:ext cx="5842000" cy="3167380"/>
            </a:xfrm>
            <a:custGeom>
              <a:avLst/>
              <a:gdLst/>
              <a:ahLst/>
              <a:cxnLst/>
              <a:rect l="l" t="t" r="r" b="b"/>
              <a:pathLst>
                <a:path w="5842000" h="3167379">
                  <a:moveTo>
                    <a:pt x="5841491" y="3166871"/>
                  </a:moveTo>
                  <a:lnTo>
                    <a:pt x="0" y="3166871"/>
                  </a:lnTo>
                  <a:lnTo>
                    <a:pt x="0" y="0"/>
                  </a:lnTo>
                  <a:lnTo>
                    <a:pt x="5841491" y="0"/>
                  </a:lnTo>
                  <a:lnTo>
                    <a:pt x="5841491" y="316687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41475" y="6100571"/>
              <a:ext cx="5491480" cy="0"/>
            </a:xfrm>
            <a:custGeom>
              <a:avLst/>
              <a:gdLst/>
              <a:ahLst/>
              <a:cxnLst/>
              <a:rect l="l" t="t" r="r" b="b"/>
              <a:pathLst>
                <a:path w="5491480">
                  <a:moveTo>
                    <a:pt x="0" y="0"/>
                  </a:moveTo>
                  <a:lnTo>
                    <a:pt x="5490972" y="0"/>
                  </a:lnTo>
                </a:path>
              </a:pathLst>
            </a:custGeom>
            <a:ln w="12192">
              <a:solidFill>
                <a:srgbClr val="D146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66216" y="5634228"/>
            <a:ext cx="5842000" cy="316738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264795">
              <a:lnSpc>
                <a:spcPct val="100000"/>
              </a:lnSpc>
            </a:pPr>
            <a:r>
              <a:rPr sz="1400" b="1" spc="-10" dirty="0">
                <a:latin typeface="Gadugi" panose="020B0502040204020203"/>
                <a:cs typeface="Gadugi" panose="020B0502040204020203"/>
              </a:rPr>
              <a:t>MAPPING</a:t>
            </a:r>
            <a:endParaRPr sz="1400">
              <a:latin typeface="Gadugi" panose="020B0502040204020203"/>
              <a:cs typeface="Gadugi" panose="020B0502040204020203"/>
            </a:endParaRPr>
          </a:p>
          <a:p>
            <a:pPr marL="345440" indent="-142875">
              <a:lnSpc>
                <a:spcPct val="100000"/>
              </a:lnSpc>
              <a:spcBef>
                <a:spcPts val="1775"/>
              </a:spcBef>
              <a:buFont typeface="Arial" panose="020B0604020202020204"/>
              <a:buChar char="•"/>
              <a:tabLst>
                <a:tab pos="345440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Mapping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can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be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done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below: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9895" indent="-227330">
              <a:lnSpc>
                <a:spcPct val="100000"/>
              </a:lnSpc>
              <a:spcBef>
                <a:spcPts val="380"/>
              </a:spcBef>
              <a:buAutoNum type="arabicPeriod"/>
              <a:tabLst>
                <a:tab pos="429895" algn="l"/>
              </a:tabLst>
            </a:pPr>
            <a:r>
              <a:rPr sz="1000" b="1" u="sng" spc="-10" dirty="0">
                <a:uFill>
                  <a:solidFill>
                    <a:srgbClr val="000000"/>
                  </a:solidFill>
                </a:uFill>
                <a:latin typeface="Gadugi" panose="020B0502040204020203"/>
                <a:cs typeface="Gadugi" panose="020B0502040204020203"/>
              </a:rPr>
              <a:t>Uni-direction: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603250" lvl="1" indent="-17208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603250" algn="l"/>
              </a:tabLst>
            </a:pPr>
            <a:r>
              <a:rPr sz="1000" dirty="0">
                <a:latin typeface="Gadugi" panose="020B0502040204020203"/>
                <a:cs typeface="Gadugi" panose="020B0502040204020203"/>
              </a:rPr>
              <a:t>Onetoone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uni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603250" lvl="1" indent="-17208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603250" algn="l"/>
              </a:tabLst>
            </a:pPr>
            <a:r>
              <a:rPr sz="1000" dirty="0">
                <a:latin typeface="Gadugi" panose="020B0502040204020203"/>
                <a:cs typeface="Gadugi" panose="020B0502040204020203"/>
              </a:rPr>
              <a:t>Onetomany</a:t>
            </a:r>
            <a:r>
              <a:rPr sz="10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uni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603250" lvl="1" indent="-17208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603250" algn="l"/>
              </a:tabLst>
            </a:pPr>
            <a:r>
              <a:rPr sz="1000" dirty="0">
                <a:latin typeface="Gadugi" panose="020B0502040204020203"/>
                <a:cs typeface="Gadugi" panose="020B0502040204020203"/>
              </a:rPr>
              <a:t>Manytoone</a:t>
            </a:r>
            <a:r>
              <a:rPr sz="1000" spc="-5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uni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603250" lvl="1" indent="-17208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603250" algn="l"/>
              </a:tabLst>
            </a:pPr>
            <a:r>
              <a:rPr sz="1000" dirty="0">
                <a:latin typeface="Gadugi" panose="020B0502040204020203"/>
                <a:cs typeface="Gadugi" panose="020B0502040204020203"/>
              </a:rPr>
              <a:t>Manytomany</a:t>
            </a:r>
            <a:r>
              <a:rPr sz="1000" spc="-6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uni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373380" indent="-17081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73380" algn="l"/>
              </a:tabLst>
            </a:pPr>
            <a:r>
              <a:rPr sz="1000" b="1" u="sng" spc="-10" dirty="0">
                <a:uFill>
                  <a:solidFill>
                    <a:srgbClr val="000000"/>
                  </a:solidFill>
                </a:uFill>
                <a:latin typeface="Gadugi" panose="020B0502040204020203"/>
                <a:cs typeface="Gadugi" panose="020B0502040204020203"/>
              </a:rPr>
              <a:t>Bi-direction: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603250" lvl="1" indent="-17208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603250" algn="l"/>
              </a:tabLst>
            </a:pPr>
            <a:r>
              <a:rPr sz="1000" dirty="0">
                <a:latin typeface="Gadugi" panose="020B0502040204020203"/>
                <a:cs typeface="Gadugi" panose="020B0502040204020203"/>
              </a:rPr>
              <a:t>Onetoone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bi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603250" lvl="1" indent="-17208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603250" algn="l"/>
              </a:tabLst>
            </a:pPr>
            <a:r>
              <a:rPr sz="1000" dirty="0">
                <a:latin typeface="Gadugi" panose="020B0502040204020203"/>
                <a:cs typeface="Gadugi" panose="020B0502040204020203"/>
              </a:rPr>
              <a:t>Onetomany</a:t>
            </a:r>
            <a:r>
              <a:rPr sz="10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35" dirty="0">
                <a:latin typeface="Gadugi" panose="020B0502040204020203"/>
                <a:cs typeface="Gadugi" panose="020B0502040204020203"/>
              </a:rPr>
              <a:t>bi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603250" lvl="1" indent="-17208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603250" algn="l"/>
              </a:tabLst>
            </a:pPr>
            <a:r>
              <a:rPr sz="1000" dirty="0">
                <a:latin typeface="Gadugi" panose="020B0502040204020203"/>
                <a:cs typeface="Gadugi" panose="020B0502040204020203"/>
              </a:rPr>
              <a:t>Manytoone</a:t>
            </a:r>
            <a:r>
              <a:rPr sz="1000" spc="-5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bi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603250" lvl="1" indent="-17208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603250" algn="l"/>
              </a:tabLst>
            </a:pPr>
            <a:r>
              <a:rPr sz="1000" dirty="0">
                <a:latin typeface="Gadugi" panose="020B0502040204020203"/>
                <a:cs typeface="Gadugi" panose="020B0502040204020203"/>
              </a:rPr>
              <a:t>Manytomany</a:t>
            </a:r>
            <a:r>
              <a:rPr sz="1000" spc="-6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bi</a:t>
            </a:r>
            <a:endParaRPr sz="10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44295" y="550773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3"/>
                </a:lnTo>
                <a:lnTo>
                  <a:pt x="6082284" y="3415283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31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1540" y="25814"/>
            <a:ext cx="76771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0" dirty="0">
                <a:latin typeface="Calibri" panose="020F0502020204030204"/>
                <a:cs typeface="Calibri" panose="020F0502020204030204"/>
              </a:rPr>
              <a:t>3/30/2023</a:t>
            </a:r>
            <a:endParaRPr sz="12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66216" y="1260348"/>
            <a:ext cx="5842000" cy="3167380"/>
            <a:chOff x="966216" y="1260348"/>
            <a:chExt cx="5842000" cy="3167380"/>
          </a:xfrm>
        </p:grpSpPr>
        <p:sp>
          <p:nvSpPr>
            <p:cNvPr id="4" name="object 4"/>
            <p:cNvSpPr/>
            <p:nvPr/>
          </p:nvSpPr>
          <p:spPr>
            <a:xfrm>
              <a:off x="966216" y="1260348"/>
              <a:ext cx="5842000" cy="3167380"/>
            </a:xfrm>
            <a:custGeom>
              <a:avLst/>
              <a:gdLst/>
              <a:ahLst/>
              <a:cxnLst/>
              <a:rect l="l" t="t" r="r" b="b"/>
              <a:pathLst>
                <a:path w="5842000" h="3167379">
                  <a:moveTo>
                    <a:pt x="5841491" y="3166871"/>
                  </a:moveTo>
                  <a:lnTo>
                    <a:pt x="0" y="3166871"/>
                  </a:lnTo>
                  <a:lnTo>
                    <a:pt x="0" y="0"/>
                  </a:lnTo>
                  <a:lnTo>
                    <a:pt x="5841491" y="0"/>
                  </a:lnTo>
                  <a:lnTo>
                    <a:pt x="5841491" y="316687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41475" y="1726691"/>
              <a:ext cx="5491480" cy="0"/>
            </a:xfrm>
            <a:custGeom>
              <a:avLst/>
              <a:gdLst/>
              <a:ahLst/>
              <a:cxnLst/>
              <a:rect l="l" t="t" r="r" b="b"/>
              <a:pathLst>
                <a:path w="5491480">
                  <a:moveTo>
                    <a:pt x="0" y="0"/>
                  </a:moveTo>
                  <a:lnTo>
                    <a:pt x="5490972" y="0"/>
                  </a:lnTo>
                </a:path>
              </a:pathLst>
            </a:custGeom>
            <a:ln w="12192">
              <a:solidFill>
                <a:srgbClr val="D146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131851" y="1418381"/>
            <a:ext cx="20148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OneToOne-</a:t>
            </a:r>
            <a:r>
              <a:rPr sz="1400" b="1" spc="-1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Unidirection</a:t>
            </a:r>
            <a:endParaRPr sz="14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48385" y="1767713"/>
            <a:ext cx="1541145" cy="1461770"/>
            <a:chOff x="1048385" y="1767713"/>
            <a:chExt cx="1541145" cy="1461770"/>
          </a:xfrm>
        </p:grpSpPr>
        <p:sp>
          <p:nvSpPr>
            <p:cNvPr id="8" name="object 8"/>
            <p:cNvSpPr/>
            <p:nvPr/>
          </p:nvSpPr>
          <p:spPr>
            <a:xfrm>
              <a:off x="1054608" y="1773936"/>
              <a:ext cx="1529080" cy="1442085"/>
            </a:xfrm>
            <a:custGeom>
              <a:avLst/>
              <a:gdLst/>
              <a:ahLst/>
              <a:cxnLst/>
              <a:rect l="l" t="t" r="r" b="b"/>
              <a:pathLst>
                <a:path w="1529080" h="1442085">
                  <a:moveTo>
                    <a:pt x="1528572" y="1441704"/>
                  </a:moveTo>
                  <a:lnTo>
                    <a:pt x="0" y="1441704"/>
                  </a:lnTo>
                  <a:lnTo>
                    <a:pt x="0" y="0"/>
                  </a:lnTo>
                  <a:lnTo>
                    <a:pt x="1528572" y="0"/>
                  </a:lnTo>
                  <a:lnTo>
                    <a:pt x="1528572" y="1441704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51560" y="1770888"/>
              <a:ext cx="1534795" cy="1455420"/>
            </a:xfrm>
            <a:custGeom>
              <a:avLst/>
              <a:gdLst/>
              <a:ahLst/>
              <a:cxnLst/>
              <a:rect l="l" t="t" r="r" b="b"/>
              <a:pathLst>
                <a:path w="1534795" h="1455420">
                  <a:moveTo>
                    <a:pt x="3047" y="0"/>
                  </a:moveTo>
                  <a:lnTo>
                    <a:pt x="3047" y="1455420"/>
                  </a:lnTo>
                </a:path>
                <a:path w="1534795" h="1455420">
                  <a:moveTo>
                    <a:pt x="1531620" y="0"/>
                  </a:moveTo>
                  <a:lnTo>
                    <a:pt x="1531620" y="1455420"/>
                  </a:lnTo>
                </a:path>
                <a:path w="1534795" h="1455420">
                  <a:moveTo>
                    <a:pt x="0" y="3048"/>
                  </a:moveTo>
                  <a:lnTo>
                    <a:pt x="1534667" y="30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51560" y="3206496"/>
              <a:ext cx="1534795" cy="18415"/>
            </a:xfrm>
            <a:custGeom>
              <a:avLst/>
              <a:gdLst/>
              <a:ahLst/>
              <a:cxnLst/>
              <a:rect l="l" t="t" r="r" b="b"/>
              <a:pathLst>
                <a:path w="1534795" h="18414">
                  <a:moveTo>
                    <a:pt x="0" y="0"/>
                  </a:moveTo>
                  <a:lnTo>
                    <a:pt x="1534667" y="0"/>
                  </a:lnTo>
                  <a:lnTo>
                    <a:pt x="1534667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057655" y="1779533"/>
            <a:ext cx="1522730" cy="1367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545" marR="407670">
              <a:lnSpc>
                <a:spcPct val="100000"/>
              </a:lnSpc>
              <a:spcBef>
                <a:spcPts val="105"/>
              </a:spcBef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//create</a:t>
            </a:r>
            <a:r>
              <a:rPr sz="800" b="1" spc="-3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</a:t>
            </a:r>
            <a:r>
              <a:rPr sz="800" b="1" spc="-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800" b="1" spc="-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Person @Entity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 marR="833755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800" b="1" spc="19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Person{ </a:t>
            </a:r>
            <a:r>
              <a:rPr sz="8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@Id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 marR="502920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int</a:t>
            </a:r>
            <a:r>
              <a:rPr sz="8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id;</a:t>
            </a:r>
            <a:r>
              <a:rPr sz="8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8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name;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 marR="403860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8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address; @onetoone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3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Passport</a:t>
            </a:r>
            <a:r>
              <a:rPr sz="8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passport;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//getters</a:t>
            </a:r>
            <a:r>
              <a:rPr sz="8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8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setters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8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}</a:t>
            </a:r>
            <a:endParaRPr sz="8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96257" y="1914017"/>
            <a:ext cx="1475740" cy="1212215"/>
            <a:chOff x="4596257" y="1914017"/>
            <a:chExt cx="1475740" cy="1212215"/>
          </a:xfrm>
        </p:grpSpPr>
        <p:sp>
          <p:nvSpPr>
            <p:cNvPr id="13" name="object 13"/>
            <p:cNvSpPr/>
            <p:nvPr/>
          </p:nvSpPr>
          <p:spPr>
            <a:xfrm>
              <a:off x="4602480" y="1920240"/>
              <a:ext cx="1463040" cy="1193800"/>
            </a:xfrm>
            <a:custGeom>
              <a:avLst/>
              <a:gdLst/>
              <a:ahLst/>
              <a:cxnLst/>
              <a:rect l="l" t="t" r="r" b="b"/>
              <a:pathLst>
                <a:path w="1463039" h="1193800">
                  <a:moveTo>
                    <a:pt x="1463039" y="1193291"/>
                  </a:moveTo>
                  <a:lnTo>
                    <a:pt x="0" y="1193291"/>
                  </a:lnTo>
                  <a:lnTo>
                    <a:pt x="0" y="0"/>
                  </a:lnTo>
                  <a:lnTo>
                    <a:pt x="1463039" y="0"/>
                  </a:lnTo>
                  <a:lnTo>
                    <a:pt x="1463039" y="1193291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99432" y="1917192"/>
              <a:ext cx="1469390" cy="1205865"/>
            </a:xfrm>
            <a:custGeom>
              <a:avLst/>
              <a:gdLst/>
              <a:ahLst/>
              <a:cxnLst/>
              <a:rect l="l" t="t" r="r" b="b"/>
              <a:pathLst>
                <a:path w="1469389" h="1205864">
                  <a:moveTo>
                    <a:pt x="3048" y="0"/>
                  </a:moveTo>
                  <a:lnTo>
                    <a:pt x="3048" y="1205483"/>
                  </a:lnTo>
                </a:path>
                <a:path w="1469389" h="1205864">
                  <a:moveTo>
                    <a:pt x="1466087" y="0"/>
                  </a:moveTo>
                  <a:lnTo>
                    <a:pt x="1466087" y="1205483"/>
                  </a:lnTo>
                </a:path>
                <a:path w="1469389" h="1205864">
                  <a:moveTo>
                    <a:pt x="0" y="3048"/>
                  </a:moveTo>
                  <a:lnTo>
                    <a:pt x="1469135" y="30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99432" y="3104388"/>
              <a:ext cx="1469390" cy="18415"/>
            </a:xfrm>
            <a:custGeom>
              <a:avLst/>
              <a:gdLst/>
              <a:ahLst/>
              <a:cxnLst/>
              <a:rect l="l" t="t" r="r" b="b"/>
              <a:pathLst>
                <a:path w="1469389" h="18414">
                  <a:moveTo>
                    <a:pt x="0" y="0"/>
                  </a:moveTo>
                  <a:lnTo>
                    <a:pt x="1469135" y="0"/>
                  </a:lnTo>
                  <a:lnTo>
                    <a:pt x="1469135" y="18287"/>
                  </a:lnTo>
                  <a:lnTo>
                    <a:pt x="0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605528" y="1927325"/>
            <a:ext cx="14573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10795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//create</a:t>
            </a:r>
            <a:r>
              <a:rPr sz="900" b="1" spc="-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Passport @Entity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 marR="62484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PassPort{ </a:t>
            </a: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 marR="31496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int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pid;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name;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long</a:t>
            </a:r>
            <a:r>
              <a:rPr sz="900" b="1" spc="-3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phone;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//getters</a:t>
            </a:r>
            <a:r>
              <a:rPr sz="9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setters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54608" y="3372611"/>
            <a:ext cx="1984248" cy="556260"/>
          </a:xfrm>
          <a:prstGeom prst="rect">
            <a:avLst/>
          </a:prstGeom>
        </p:spPr>
      </p:pic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051560" y="3369563"/>
          <a:ext cx="2066925" cy="554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030"/>
                <a:gridCol w="458470"/>
                <a:gridCol w="762000"/>
                <a:gridCol w="396239"/>
              </a:tblGrid>
              <a:tr h="1854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address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ram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bangalore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vijay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mumbai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4538472" y="3738384"/>
            <a:ext cx="2181225" cy="186055"/>
          </a:xfrm>
          <a:custGeom>
            <a:avLst/>
            <a:gdLst/>
            <a:ahLst/>
            <a:cxnLst/>
            <a:rect l="l" t="t" r="r" b="b"/>
            <a:pathLst>
              <a:path w="2181225" h="186054">
                <a:moveTo>
                  <a:pt x="2180844" y="0"/>
                </a:moveTo>
                <a:lnTo>
                  <a:pt x="1313688" y="0"/>
                </a:lnTo>
                <a:lnTo>
                  <a:pt x="0" y="0"/>
                </a:lnTo>
                <a:lnTo>
                  <a:pt x="0" y="185915"/>
                </a:lnTo>
                <a:lnTo>
                  <a:pt x="1313688" y="185915"/>
                </a:lnTo>
                <a:lnTo>
                  <a:pt x="2180844" y="185915"/>
                </a:lnTo>
                <a:lnTo>
                  <a:pt x="2180844" y="0"/>
                </a:lnTo>
                <a:close/>
              </a:path>
            </a:pathLst>
          </a:custGeom>
          <a:solidFill>
            <a:srgbClr val="E9EF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4535423" y="3364991"/>
          <a:ext cx="2263140" cy="554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2610"/>
                <a:gridCol w="751840"/>
                <a:gridCol w="867410"/>
              </a:tblGrid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R="25654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phone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gagan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R="262890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987654234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ajay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2890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768945321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1815083" y="3980688"/>
            <a:ext cx="3522345" cy="4013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955" rIns="0" bIns="0" rtlCol="0">
            <a:spAutoFit/>
          </a:bodyPr>
          <a:lstStyle/>
          <a:p>
            <a:pPr marL="48260" marR="164465">
              <a:lnSpc>
                <a:spcPct val="100000"/>
              </a:lnSpc>
              <a:spcBef>
                <a:spcPts val="165"/>
              </a:spcBef>
            </a:pPr>
            <a:r>
              <a:rPr sz="900" b="1" spc="-10" dirty="0">
                <a:solidFill>
                  <a:srgbClr val="BF0000"/>
                </a:solidFill>
                <a:latin typeface="Gadugi" panose="020B0502040204020203"/>
                <a:cs typeface="Gadugi" panose="020B0502040204020203"/>
              </a:rPr>
              <a:t>@onetoone-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it</a:t>
            </a:r>
            <a:r>
              <a:rPr sz="900" b="1" spc="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is</a:t>
            </a:r>
            <a:r>
              <a:rPr sz="900" b="1" spc="10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a </a:t>
            </a:r>
            <a:r>
              <a:rPr sz="900" b="1" spc="-10" dirty="0">
                <a:latin typeface="Gadugi" panose="020B0502040204020203"/>
                <a:cs typeface="Gadugi" panose="020B0502040204020203"/>
              </a:rPr>
              <a:t>annotation</a:t>
            </a:r>
            <a:r>
              <a:rPr sz="900" b="1" spc="1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which</a:t>
            </a:r>
            <a:r>
              <a:rPr sz="900" b="1" spc="1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will</a:t>
            </a:r>
            <a:r>
              <a:rPr sz="900" b="1" spc="2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latin typeface="Gadugi" panose="020B0502040204020203"/>
                <a:cs typeface="Gadugi" panose="020B0502040204020203"/>
              </a:rPr>
              <a:t>create</a:t>
            </a:r>
            <a:r>
              <a:rPr sz="900" b="1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a</a:t>
            </a:r>
            <a:r>
              <a:rPr sz="900" b="1" spc="10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latin typeface="Gadugi" panose="020B0502040204020203"/>
                <a:cs typeface="Gadugi" panose="020B0502040204020203"/>
              </a:rPr>
              <a:t>relationship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b/w</a:t>
            </a:r>
            <a:r>
              <a:rPr sz="900" b="1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two</a:t>
            </a:r>
            <a:r>
              <a:rPr sz="900" b="1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classes</a:t>
            </a:r>
            <a:r>
              <a:rPr sz="900" b="1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in</a:t>
            </a:r>
            <a:r>
              <a:rPr sz="900" b="1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sql</a:t>
            </a:r>
            <a:r>
              <a:rPr sz="900" b="1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and</a:t>
            </a:r>
            <a:r>
              <a:rPr sz="900" b="1" spc="-10" dirty="0">
                <a:latin typeface="Gadugi" panose="020B0502040204020203"/>
                <a:cs typeface="Gadugi" panose="020B0502040204020203"/>
              </a:rPr>
              <a:t> generates</a:t>
            </a:r>
            <a:r>
              <a:rPr sz="900" b="1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foreign</a:t>
            </a:r>
            <a:r>
              <a:rPr sz="900" b="1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spc="-20" dirty="0">
                <a:latin typeface="Gadugi" panose="020B0502040204020203"/>
                <a:cs typeface="Gadugi" panose="020B0502040204020203"/>
              </a:rPr>
              <a:t>key.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14686" y="2140689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43481" y="2140689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38200" y="1127760"/>
            <a:ext cx="6094730" cy="3427729"/>
            <a:chOff x="838200" y="1127760"/>
            <a:chExt cx="6094730" cy="3427729"/>
          </a:xfrm>
        </p:grpSpPr>
        <p:sp>
          <p:nvSpPr>
            <p:cNvPr id="25" name="object 25"/>
            <p:cNvSpPr/>
            <p:nvPr/>
          </p:nvSpPr>
          <p:spPr>
            <a:xfrm>
              <a:off x="2583180" y="2537460"/>
              <a:ext cx="2019300" cy="38100"/>
            </a:xfrm>
            <a:custGeom>
              <a:avLst/>
              <a:gdLst/>
              <a:ahLst/>
              <a:cxnLst/>
              <a:rect l="l" t="t" r="r" b="b"/>
              <a:pathLst>
                <a:path w="2019300" h="38100">
                  <a:moveTo>
                    <a:pt x="38100" y="38100"/>
                  </a:moveTo>
                  <a:lnTo>
                    <a:pt x="0" y="18288"/>
                  </a:lnTo>
                  <a:lnTo>
                    <a:pt x="38100" y="0"/>
                  </a:lnTo>
                  <a:lnTo>
                    <a:pt x="38100" y="16764"/>
                  </a:lnTo>
                  <a:lnTo>
                    <a:pt x="32004" y="16764"/>
                  </a:lnTo>
                  <a:lnTo>
                    <a:pt x="32004" y="19812"/>
                  </a:lnTo>
                  <a:lnTo>
                    <a:pt x="38100" y="19812"/>
                  </a:lnTo>
                  <a:lnTo>
                    <a:pt x="38100" y="38100"/>
                  </a:lnTo>
                  <a:close/>
                </a:path>
                <a:path w="2019300" h="38100">
                  <a:moveTo>
                    <a:pt x="38100" y="19812"/>
                  </a:moveTo>
                  <a:lnTo>
                    <a:pt x="32004" y="19812"/>
                  </a:lnTo>
                  <a:lnTo>
                    <a:pt x="32004" y="16764"/>
                  </a:lnTo>
                  <a:lnTo>
                    <a:pt x="38100" y="16764"/>
                  </a:lnTo>
                  <a:lnTo>
                    <a:pt x="38100" y="19812"/>
                  </a:lnTo>
                  <a:close/>
                </a:path>
                <a:path w="2019300" h="38100">
                  <a:moveTo>
                    <a:pt x="2019300" y="19812"/>
                  </a:moveTo>
                  <a:lnTo>
                    <a:pt x="38100" y="19812"/>
                  </a:lnTo>
                  <a:lnTo>
                    <a:pt x="38100" y="16764"/>
                  </a:lnTo>
                  <a:lnTo>
                    <a:pt x="2019300" y="16764"/>
                  </a:lnTo>
                  <a:lnTo>
                    <a:pt x="2019300" y="198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44295" y="1133856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4"/>
                  </a:lnTo>
                  <a:lnTo>
                    <a:pt x="6082284" y="3415284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44401" y="5609344"/>
            <a:ext cx="21234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latin typeface="Gadugi" panose="020B0502040204020203"/>
                <a:cs typeface="Gadugi" panose="020B0502040204020203"/>
              </a:rPr>
              <a:t>OneToMany-</a:t>
            </a:r>
            <a:r>
              <a:rPr sz="1400" b="1" spc="-10" dirty="0">
                <a:latin typeface="Gadugi" panose="020B0502040204020203"/>
                <a:cs typeface="Gadugi" panose="020B0502040204020203"/>
              </a:rPr>
              <a:t>unidirection</a:t>
            </a:r>
            <a:endParaRPr sz="14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43229" y="5998336"/>
            <a:ext cx="1461770" cy="1548765"/>
            <a:chOff x="943229" y="5998336"/>
            <a:chExt cx="1461770" cy="1548765"/>
          </a:xfrm>
        </p:grpSpPr>
        <p:sp>
          <p:nvSpPr>
            <p:cNvPr id="29" name="object 29"/>
            <p:cNvSpPr/>
            <p:nvPr/>
          </p:nvSpPr>
          <p:spPr>
            <a:xfrm>
              <a:off x="949452" y="6004560"/>
              <a:ext cx="1449705" cy="1530350"/>
            </a:xfrm>
            <a:custGeom>
              <a:avLst/>
              <a:gdLst/>
              <a:ahLst/>
              <a:cxnLst/>
              <a:rect l="l" t="t" r="r" b="b"/>
              <a:pathLst>
                <a:path w="1449705" h="1530350">
                  <a:moveTo>
                    <a:pt x="1449323" y="1530095"/>
                  </a:moveTo>
                  <a:lnTo>
                    <a:pt x="0" y="1530095"/>
                  </a:lnTo>
                  <a:lnTo>
                    <a:pt x="0" y="0"/>
                  </a:lnTo>
                  <a:lnTo>
                    <a:pt x="1449323" y="0"/>
                  </a:lnTo>
                  <a:lnTo>
                    <a:pt x="1449323" y="1530095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946404" y="6001511"/>
              <a:ext cx="1455420" cy="1542415"/>
            </a:xfrm>
            <a:custGeom>
              <a:avLst/>
              <a:gdLst/>
              <a:ahLst/>
              <a:cxnLst/>
              <a:rect l="l" t="t" r="r" b="b"/>
              <a:pathLst>
                <a:path w="1455420" h="1542415">
                  <a:moveTo>
                    <a:pt x="3047" y="0"/>
                  </a:moveTo>
                  <a:lnTo>
                    <a:pt x="3047" y="1542287"/>
                  </a:lnTo>
                </a:path>
                <a:path w="1455420" h="1542415">
                  <a:moveTo>
                    <a:pt x="1452371" y="0"/>
                  </a:moveTo>
                  <a:lnTo>
                    <a:pt x="1452371" y="1542287"/>
                  </a:lnTo>
                </a:path>
                <a:path w="1455420" h="1542415">
                  <a:moveTo>
                    <a:pt x="0" y="3048"/>
                  </a:moveTo>
                  <a:lnTo>
                    <a:pt x="1455420" y="30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46404" y="7525511"/>
              <a:ext cx="1455420" cy="18415"/>
            </a:xfrm>
            <a:custGeom>
              <a:avLst/>
              <a:gdLst/>
              <a:ahLst/>
              <a:cxnLst/>
              <a:rect l="l" t="t" r="r" b="b"/>
              <a:pathLst>
                <a:path w="1455420" h="18415">
                  <a:moveTo>
                    <a:pt x="0" y="0"/>
                  </a:moveTo>
                  <a:lnTo>
                    <a:pt x="1455420" y="0"/>
                  </a:lnTo>
                  <a:lnTo>
                    <a:pt x="1455420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952500" y="6010121"/>
            <a:ext cx="144335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marR="144145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//create</a:t>
            </a: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Company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2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Company{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>
              <a:lnSpc>
                <a:spcPct val="100000"/>
              </a:lnSpc>
            </a:pP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 marR="30226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int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id;</a:t>
            </a:r>
            <a:r>
              <a:rPr sz="9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 marR="18923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address; @onetomany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 marR="11557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5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List&lt;Employee&gt; employee;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//getters</a:t>
            </a:r>
            <a:r>
              <a:rPr sz="9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setters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855336" y="5998336"/>
            <a:ext cx="1463675" cy="1285240"/>
            <a:chOff x="4855336" y="5998336"/>
            <a:chExt cx="1463675" cy="1285240"/>
          </a:xfrm>
        </p:grpSpPr>
        <p:sp>
          <p:nvSpPr>
            <p:cNvPr id="34" name="object 34"/>
            <p:cNvSpPr/>
            <p:nvPr/>
          </p:nvSpPr>
          <p:spPr>
            <a:xfrm>
              <a:off x="4861560" y="6004560"/>
              <a:ext cx="1449705" cy="1264920"/>
            </a:xfrm>
            <a:custGeom>
              <a:avLst/>
              <a:gdLst/>
              <a:ahLst/>
              <a:cxnLst/>
              <a:rect l="l" t="t" r="r" b="b"/>
              <a:pathLst>
                <a:path w="1449704" h="1264920">
                  <a:moveTo>
                    <a:pt x="1449324" y="1264919"/>
                  </a:moveTo>
                  <a:lnTo>
                    <a:pt x="0" y="1264919"/>
                  </a:lnTo>
                  <a:lnTo>
                    <a:pt x="0" y="0"/>
                  </a:lnTo>
                  <a:lnTo>
                    <a:pt x="1449324" y="0"/>
                  </a:lnTo>
                  <a:lnTo>
                    <a:pt x="1449324" y="1264919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858511" y="6001511"/>
              <a:ext cx="1457325" cy="1278890"/>
            </a:xfrm>
            <a:custGeom>
              <a:avLst/>
              <a:gdLst/>
              <a:ahLst/>
              <a:cxnLst/>
              <a:rect l="l" t="t" r="r" b="b"/>
              <a:pathLst>
                <a:path w="1457325" h="1278890">
                  <a:moveTo>
                    <a:pt x="3048" y="0"/>
                  </a:moveTo>
                  <a:lnTo>
                    <a:pt x="3048" y="1278635"/>
                  </a:lnTo>
                </a:path>
                <a:path w="1457325" h="1278890">
                  <a:moveTo>
                    <a:pt x="1452372" y="0"/>
                  </a:moveTo>
                  <a:lnTo>
                    <a:pt x="1452372" y="1278635"/>
                  </a:lnTo>
                </a:path>
                <a:path w="1457325" h="1278890">
                  <a:moveTo>
                    <a:pt x="0" y="3048"/>
                  </a:moveTo>
                  <a:lnTo>
                    <a:pt x="1456943" y="30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858511" y="7260335"/>
              <a:ext cx="1457325" cy="18415"/>
            </a:xfrm>
            <a:custGeom>
              <a:avLst/>
              <a:gdLst/>
              <a:ahLst/>
              <a:cxnLst/>
              <a:rect l="l" t="t" r="r" b="b"/>
              <a:pathLst>
                <a:path w="1457325" h="18415">
                  <a:moveTo>
                    <a:pt x="0" y="0"/>
                  </a:moveTo>
                  <a:lnTo>
                    <a:pt x="1456943" y="0"/>
                  </a:lnTo>
                  <a:lnTo>
                    <a:pt x="1456943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4864608" y="6010121"/>
            <a:ext cx="14433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1270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//create</a:t>
            </a: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Employee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Employee{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 marR="30099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int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id;</a:t>
            </a:r>
            <a:r>
              <a:rPr sz="9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name;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email;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password;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//getters</a:t>
            </a:r>
            <a:r>
              <a:rPr sz="9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setters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398775" y="6637019"/>
            <a:ext cx="2463165" cy="38100"/>
          </a:xfrm>
          <a:custGeom>
            <a:avLst/>
            <a:gdLst/>
            <a:ahLst/>
            <a:cxnLst/>
            <a:rect l="l" t="t" r="r" b="b"/>
            <a:pathLst>
              <a:path w="2463165" h="38100">
                <a:moveTo>
                  <a:pt x="38100" y="38100"/>
                </a:moveTo>
                <a:lnTo>
                  <a:pt x="0" y="18288"/>
                </a:lnTo>
                <a:lnTo>
                  <a:pt x="38100" y="0"/>
                </a:lnTo>
                <a:lnTo>
                  <a:pt x="38100" y="16764"/>
                </a:lnTo>
                <a:lnTo>
                  <a:pt x="32004" y="16764"/>
                </a:lnTo>
                <a:lnTo>
                  <a:pt x="32004" y="19812"/>
                </a:lnTo>
                <a:lnTo>
                  <a:pt x="38100" y="19812"/>
                </a:lnTo>
                <a:lnTo>
                  <a:pt x="38100" y="38100"/>
                </a:lnTo>
                <a:close/>
              </a:path>
              <a:path w="2463165" h="38100">
                <a:moveTo>
                  <a:pt x="38100" y="19812"/>
                </a:moveTo>
                <a:lnTo>
                  <a:pt x="32004" y="19812"/>
                </a:lnTo>
                <a:lnTo>
                  <a:pt x="32004" y="16764"/>
                </a:lnTo>
                <a:lnTo>
                  <a:pt x="38100" y="16764"/>
                </a:lnTo>
                <a:lnTo>
                  <a:pt x="38100" y="19812"/>
                </a:lnTo>
                <a:close/>
              </a:path>
              <a:path w="2463165" h="38100">
                <a:moveTo>
                  <a:pt x="2462784" y="19812"/>
                </a:moveTo>
                <a:lnTo>
                  <a:pt x="38100" y="19812"/>
                </a:lnTo>
                <a:lnTo>
                  <a:pt x="38100" y="16764"/>
                </a:lnTo>
                <a:lnTo>
                  <a:pt x="2462784" y="16764"/>
                </a:lnTo>
                <a:lnTo>
                  <a:pt x="2462784" y="19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430288" y="6510043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716283" y="6510043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n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1059180" y="7670291"/>
          <a:ext cx="1304925" cy="554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115"/>
                <a:gridCol w="410209"/>
                <a:gridCol w="527685"/>
              </a:tblGrid>
              <a:tr h="18542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address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ram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Blr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raj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chn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</a:tr>
            </a:tbl>
          </a:graphicData>
        </a:graphic>
      </p:graphicFrame>
      <p:grpSp>
        <p:nvGrpSpPr>
          <p:cNvPr id="42" name="object 42"/>
          <p:cNvGrpSpPr/>
          <p:nvPr/>
        </p:nvGrpSpPr>
        <p:grpSpPr>
          <a:xfrm>
            <a:off x="4623752" y="7667117"/>
            <a:ext cx="2257425" cy="568960"/>
            <a:chOff x="4623752" y="7667117"/>
            <a:chExt cx="2257425" cy="568960"/>
          </a:xfrm>
        </p:grpSpPr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6007" y="7673339"/>
              <a:ext cx="2232659" cy="55626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966715" y="7670292"/>
              <a:ext cx="1290955" cy="562610"/>
            </a:xfrm>
            <a:custGeom>
              <a:avLst/>
              <a:gdLst/>
              <a:ahLst/>
              <a:cxnLst/>
              <a:rect l="l" t="t" r="r" b="b"/>
              <a:pathLst>
                <a:path w="1290954" h="562609">
                  <a:moveTo>
                    <a:pt x="0" y="0"/>
                  </a:moveTo>
                  <a:lnTo>
                    <a:pt x="0" y="562355"/>
                  </a:lnTo>
                </a:path>
                <a:path w="1290954" h="562609">
                  <a:moveTo>
                    <a:pt x="473964" y="0"/>
                  </a:moveTo>
                  <a:lnTo>
                    <a:pt x="473964" y="562355"/>
                  </a:lnTo>
                </a:path>
                <a:path w="1290954" h="562609">
                  <a:moveTo>
                    <a:pt x="1290828" y="0"/>
                  </a:moveTo>
                  <a:lnTo>
                    <a:pt x="1290828" y="562355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632959" y="7859267"/>
              <a:ext cx="2239010" cy="0"/>
            </a:xfrm>
            <a:custGeom>
              <a:avLst/>
              <a:gdLst/>
              <a:ahLst/>
              <a:cxnLst/>
              <a:rect l="l" t="t" r="r" b="b"/>
              <a:pathLst>
                <a:path w="2239009">
                  <a:moveTo>
                    <a:pt x="0" y="0"/>
                  </a:moveTo>
                  <a:lnTo>
                    <a:pt x="2238756" y="0"/>
                  </a:lnTo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632959" y="7670292"/>
              <a:ext cx="2239010" cy="562610"/>
            </a:xfrm>
            <a:custGeom>
              <a:avLst/>
              <a:gdLst/>
              <a:ahLst/>
              <a:cxnLst/>
              <a:rect l="l" t="t" r="r" b="b"/>
              <a:pathLst>
                <a:path w="2239009" h="562609">
                  <a:moveTo>
                    <a:pt x="0" y="374903"/>
                  </a:moveTo>
                  <a:lnTo>
                    <a:pt x="2238756" y="374903"/>
                  </a:lnTo>
                </a:path>
                <a:path w="2239009" h="562609">
                  <a:moveTo>
                    <a:pt x="3048" y="0"/>
                  </a:moveTo>
                  <a:lnTo>
                    <a:pt x="3048" y="562355"/>
                  </a:lnTo>
                </a:path>
                <a:path w="2239009" h="562609">
                  <a:moveTo>
                    <a:pt x="2235708" y="0"/>
                  </a:moveTo>
                  <a:lnTo>
                    <a:pt x="2235708" y="562355"/>
                  </a:lnTo>
                </a:path>
                <a:path w="2239009" h="562609">
                  <a:moveTo>
                    <a:pt x="0" y="3047"/>
                  </a:moveTo>
                  <a:lnTo>
                    <a:pt x="2238756" y="3047"/>
                  </a:lnTo>
                </a:path>
                <a:path w="2239009" h="562609">
                  <a:moveTo>
                    <a:pt x="0" y="559307"/>
                  </a:moveTo>
                  <a:lnTo>
                    <a:pt x="2238756" y="559307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6290527" y="7631662"/>
            <a:ext cx="535305" cy="5822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password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900" spc="-25" dirty="0">
                <a:latin typeface="Gadugi" panose="020B0502040204020203"/>
                <a:cs typeface="Gadugi" panose="020B0502040204020203"/>
              </a:rPr>
              <a:t>123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900" spc="-25" dirty="0">
                <a:latin typeface="Gadugi" panose="020B0502040204020203"/>
                <a:cs typeface="Gadugi" panose="020B0502040204020203"/>
              </a:rPr>
              <a:t>234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473671" y="7631662"/>
            <a:ext cx="715010" cy="582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105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Email </a:t>
            </a:r>
            <a:r>
              <a:rPr sz="900" spc="-10" dirty="0">
                <a:latin typeface="Gadugi" panose="020B0502040204020203"/>
                <a:cs typeface="Gadugi" panose="020B0502040204020203"/>
                <a:hlinkClick r:id="rId3"/>
              </a:rPr>
              <a:t>a@gmail.com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Gadugi" panose="020B0502040204020203"/>
                <a:cs typeface="Gadugi" panose="020B0502040204020203"/>
                <a:hlinkClick r:id="rId4"/>
              </a:rPr>
              <a:t>r@gmail.com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667490" y="7631662"/>
            <a:ext cx="654050" cy="5822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344805" algn="l"/>
              </a:tabLst>
            </a:pP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	</a:t>
            </a: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344805" algn="l"/>
              </a:tabLst>
            </a:pPr>
            <a:r>
              <a:rPr sz="900" spc="-25" dirty="0">
                <a:latin typeface="Gadugi" panose="020B0502040204020203"/>
                <a:cs typeface="Gadugi" panose="020B0502040204020203"/>
              </a:rPr>
              <a:t>10</a:t>
            </a:r>
            <a:r>
              <a:rPr sz="900" dirty="0">
                <a:latin typeface="Gadugi" panose="020B0502040204020203"/>
                <a:cs typeface="Gadugi" panose="020B0502040204020203"/>
              </a:rPr>
              <a:t>	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arun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  <a:tabLst>
                <a:tab pos="344805" algn="l"/>
              </a:tabLst>
            </a:pPr>
            <a:r>
              <a:rPr sz="900" spc="-25" dirty="0">
                <a:latin typeface="Gadugi" panose="020B0502040204020203"/>
                <a:cs typeface="Gadugi" panose="020B0502040204020203"/>
              </a:rPr>
              <a:t>20</a:t>
            </a:r>
            <a:r>
              <a:rPr sz="900" dirty="0">
                <a:latin typeface="Gadugi" panose="020B0502040204020203"/>
                <a:cs typeface="Gadugi" panose="020B0502040204020203"/>
              </a:rPr>
              <a:t>	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rajath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726372" y="8165465"/>
            <a:ext cx="1117600" cy="568960"/>
            <a:chOff x="2726372" y="8165465"/>
            <a:chExt cx="1117600" cy="568960"/>
          </a:xfrm>
        </p:grpSpPr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38627" y="8171688"/>
              <a:ext cx="1092708" cy="55626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243072" y="8168640"/>
              <a:ext cx="0" cy="562610"/>
            </a:xfrm>
            <a:custGeom>
              <a:avLst/>
              <a:gdLst/>
              <a:ahLst/>
              <a:cxnLst/>
              <a:rect l="l" t="t" r="r" b="b"/>
              <a:pathLst>
                <a:path h="562609">
                  <a:moveTo>
                    <a:pt x="0" y="0"/>
                  </a:moveTo>
                  <a:lnTo>
                    <a:pt x="0" y="562356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735580" y="8357616"/>
              <a:ext cx="1099185" cy="0"/>
            </a:xfrm>
            <a:custGeom>
              <a:avLst/>
              <a:gdLst/>
              <a:ahLst/>
              <a:cxnLst/>
              <a:rect l="l" t="t" r="r" b="b"/>
              <a:pathLst>
                <a:path w="1099185">
                  <a:moveTo>
                    <a:pt x="0" y="0"/>
                  </a:moveTo>
                  <a:lnTo>
                    <a:pt x="1098803" y="0"/>
                  </a:lnTo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735580" y="8168640"/>
              <a:ext cx="1099185" cy="562610"/>
            </a:xfrm>
            <a:custGeom>
              <a:avLst/>
              <a:gdLst/>
              <a:ahLst/>
              <a:cxnLst/>
              <a:rect l="l" t="t" r="r" b="b"/>
              <a:pathLst>
                <a:path w="1099185" h="562609">
                  <a:moveTo>
                    <a:pt x="0" y="373380"/>
                  </a:moveTo>
                  <a:lnTo>
                    <a:pt x="1098803" y="373380"/>
                  </a:lnTo>
                </a:path>
                <a:path w="1099185" h="562609">
                  <a:moveTo>
                    <a:pt x="3047" y="0"/>
                  </a:moveTo>
                  <a:lnTo>
                    <a:pt x="3047" y="562356"/>
                  </a:lnTo>
                </a:path>
                <a:path w="1099185" h="562609">
                  <a:moveTo>
                    <a:pt x="1095755" y="0"/>
                  </a:moveTo>
                  <a:lnTo>
                    <a:pt x="1095755" y="562356"/>
                  </a:lnTo>
                </a:path>
                <a:path w="1099185" h="562609">
                  <a:moveTo>
                    <a:pt x="0" y="3048"/>
                  </a:moveTo>
                  <a:lnTo>
                    <a:pt x="1098803" y="3048"/>
                  </a:lnTo>
                </a:path>
                <a:path w="1099185" h="562609">
                  <a:moveTo>
                    <a:pt x="0" y="559308"/>
                  </a:moveTo>
                  <a:lnTo>
                    <a:pt x="1098803" y="55930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3276095" y="8131550"/>
            <a:ext cx="238125" cy="58039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e_id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900" spc="-25" dirty="0">
                <a:latin typeface="Gadugi" panose="020B0502040204020203"/>
                <a:cs typeface="Gadugi" panose="020B0502040204020203"/>
              </a:rPr>
              <a:t>10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900" spc="-25" dirty="0">
                <a:latin typeface="Gadugi" panose="020B0502040204020203"/>
                <a:cs typeface="Gadugi" panose="020B0502040204020203"/>
              </a:rPr>
              <a:t>20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771625" y="8131550"/>
            <a:ext cx="230504" cy="58039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c_id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2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724409" y="7957800"/>
            <a:ext cx="10287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Gadugi" panose="020B0502040204020203"/>
                <a:cs typeface="Gadugi" panose="020B0502040204020203"/>
              </a:rPr>
              <a:t>company_employee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844295" y="550773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3"/>
                </a:lnTo>
                <a:lnTo>
                  <a:pt x="6082284" y="3415283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31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1540" y="25814"/>
            <a:ext cx="76771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0" dirty="0">
                <a:latin typeface="Calibri" panose="020F0502020204030204"/>
                <a:cs typeface="Calibri" panose="020F0502020204030204"/>
              </a:rPr>
              <a:t>3/30/2023</a:t>
            </a:r>
            <a:endParaRPr sz="1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4401" y="1235458"/>
            <a:ext cx="21037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Gadugi" panose="020B0502040204020203"/>
                <a:cs typeface="Gadugi" panose="020B0502040204020203"/>
              </a:rPr>
              <a:t>ManytoOne-unidirection</a:t>
            </a:r>
            <a:endParaRPr sz="14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60036" y="1737232"/>
            <a:ext cx="1461770" cy="1128395"/>
            <a:chOff x="4360036" y="1737232"/>
            <a:chExt cx="1461770" cy="1128395"/>
          </a:xfrm>
        </p:grpSpPr>
        <p:sp>
          <p:nvSpPr>
            <p:cNvPr id="5" name="object 5"/>
            <p:cNvSpPr/>
            <p:nvPr/>
          </p:nvSpPr>
          <p:spPr>
            <a:xfrm>
              <a:off x="4366260" y="1743455"/>
              <a:ext cx="1449705" cy="1108075"/>
            </a:xfrm>
            <a:custGeom>
              <a:avLst/>
              <a:gdLst/>
              <a:ahLst/>
              <a:cxnLst/>
              <a:rect l="l" t="t" r="r" b="b"/>
              <a:pathLst>
                <a:path w="1449704" h="1108075">
                  <a:moveTo>
                    <a:pt x="1449324" y="1107947"/>
                  </a:moveTo>
                  <a:lnTo>
                    <a:pt x="0" y="1107947"/>
                  </a:lnTo>
                  <a:lnTo>
                    <a:pt x="0" y="0"/>
                  </a:lnTo>
                  <a:lnTo>
                    <a:pt x="1449324" y="0"/>
                  </a:lnTo>
                  <a:lnTo>
                    <a:pt x="1449324" y="1107947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363211" y="1740407"/>
              <a:ext cx="1455420" cy="1122045"/>
            </a:xfrm>
            <a:custGeom>
              <a:avLst/>
              <a:gdLst/>
              <a:ahLst/>
              <a:cxnLst/>
              <a:rect l="l" t="t" r="r" b="b"/>
              <a:pathLst>
                <a:path w="1455420" h="1122045">
                  <a:moveTo>
                    <a:pt x="3048" y="0"/>
                  </a:moveTo>
                  <a:lnTo>
                    <a:pt x="3048" y="1121664"/>
                  </a:lnTo>
                </a:path>
                <a:path w="1455420" h="1122045">
                  <a:moveTo>
                    <a:pt x="1452372" y="0"/>
                  </a:moveTo>
                  <a:lnTo>
                    <a:pt x="1452372" y="1121664"/>
                  </a:lnTo>
                </a:path>
                <a:path w="1455420" h="1122045">
                  <a:moveTo>
                    <a:pt x="0" y="3047"/>
                  </a:moveTo>
                  <a:lnTo>
                    <a:pt x="1455420" y="3047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363211" y="2842259"/>
              <a:ext cx="1455420" cy="18415"/>
            </a:xfrm>
            <a:custGeom>
              <a:avLst/>
              <a:gdLst/>
              <a:ahLst/>
              <a:cxnLst/>
              <a:rect l="l" t="t" r="r" b="b"/>
              <a:pathLst>
                <a:path w="1455420" h="18414">
                  <a:moveTo>
                    <a:pt x="0" y="0"/>
                  </a:moveTo>
                  <a:lnTo>
                    <a:pt x="1455420" y="0"/>
                  </a:lnTo>
                  <a:lnTo>
                    <a:pt x="1455420" y="18287"/>
                  </a:lnTo>
                  <a:lnTo>
                    <a:pt x="0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369308" y="1749067"/>
            <a:ext cx="144335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14224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//create</a:t>
            </a: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Company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2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Company{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 marR="30099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int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id;</a:t>
            </a:r>
            <a:r>
              <a:rPr sz="9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address;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//getters</a:t>
            </a:r>
            <a:r>
              <a:rPr sz="9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setters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26464" y="1674749"/>
            <a:ext cx="1687830" cy="1437640"/>
            <a:chOff x="926464" y="1674749"/>
            <a:chExt cx="1687830" cy="1437640"/>
          </a:xfrm>
        </p:grpSpPr>
        <p:sp>
          <p:nvSpPr>
            <p:cNvPr id="10" name="object 10"/>
            <p:cNvSpPr/>
            <p:nvPr/>
          </p:nvSpPr>
          <p:spPr>
            <a:xfrm>
              <a:off x="932687" y="1680972"/>
              <a:ext cx="1673860" cy="1417320"/>
            </a:xfrm>
            <a:custGeom>
              <a:avLst/>
              <a:gdLst/>
              <a:ahLst/>
              <a:cxnLst/>
              <a:rect l="l" t="t" r="r" b="b"/>
              <a:pathLst>
                <a:path w="1673860" h="1417320">
                  <a:moveTo>
                    <a:pt x="1673352" y="1417320"/>
                  </a:moveTo>
                  <a:lnTo>
                    <a:pt x="0" y="1417320"/>
                  </a:lnTo>
                  <a:lnTo>
                    <a:pt x="0" y="0"/>
                  </a:lnTo>
                  <a:lnTo>
                    <a:pt x="1673352" y="0"/>
                  </a:lnTo>
                  <a:lnTo>
                    <a:pt x="1673352" y="141732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29639" y="1677924"/>
              <a:ext cx="1681480" cy="1431290"/>
            </a:xfrm>
            <a:custGeom>
              <a:avLst/>
              <a:gdLst/>
              <a:ahLst/>
              <a:cxnLst/>
              <a:rect l="l" t="t" r="r" b="b"/>
              <a:pathLst>
                <a:path w="1681480" h="1431289">
                  <a:moveTo>
                    <a:pt x="3048" y="0"/>
                  </a:moveTo>
                  <a:lnTo>
                    <a:pt x="3048" y="1431035"/>
                  </a:lnTo>
                </a:path>
                <a:path w="1681480" h="1431289">
                  <a:moveTo>
                    <a:pt x="1676400" y="0"/>
                  </a:moveTo>
                  <a:lnTo>
                    <a:pt x="1676400" y="1431035"/>
                  </a:lnTo>
                </a:path>
                <a:path w="1681480" h="1431289">
                  <a:moveTo>
                    <a:pt x="0" y="3047"/>
                  </a:moveTo>
                  <a:lnTo>
                    <a:pt x="1680971" y="3047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29639" y="3089148"/>
              <a:ext cx="1681480" cy="18415"/>
            </a:xfrm>
            <a:custGeom>
              <a:avLst/>
              <a:gdLst/>
              <a:ahLst/>
              <a:cxnLst/>
              <a:rect l="l" t="t" r="r" b="b"/>
              <a:pathLst>
                <a:path w="1681480" h="18414">
                  <a:moveTo>
                    <a:pt x="0" y="0"/>
                  </a:moveTo>
                  <a:lnTo>
                    <a:pt x="1680971" y="0"/>
                  </a:lnTo>
                  <a:lnTo>
                    <a:pt x="1680971" y="18287"/>
                  </a:lnTo>
                  <a:lnTo>
                    <a:pt x="0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35736" y="1688066"/>
            <a:ext cx="166751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marR="352425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//create</a:t>
            </a: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Employee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Employee{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>
              <a:lnSpc>
                <a:spcPct val="100000"/>
              </a:lnSpc>
            </a:pP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 marR="52641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int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id;</a:t>
            </a:r>
            <a:r>
              <a:rPr sz="9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name;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email;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 marR="31496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password; @manytoone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Company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company;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//getters</a:t>
            </a:r>
            <a:r>
              <a:rPr sz="9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setters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48432" y="2078237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n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62830" y="2078237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4602479" y="3311652"/>
          <a:ext cx="1408430" cy="554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115"/>
                <a:gridCol w="446404"/>
                <a:gridCol w="594360"/>
              </a:tblGrid>
              <a:tr h="185420">
                <a:tc>
                  <a:txBody>
                    <a:bodyPr/>
                    <a:lstStyle/>
                    <a:p>
                      <a:pPr marR="82550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address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R="1238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R="6540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wipro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Blr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R="12382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infosys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chn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908303" y="3323844"/>
          <a:ext cx="2813685" cy="552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595"/>
                <a:gridCol w="520065"/>
                <a:gridCol w="844550"/>
                <a:gridCol w="661669"/>
                <a:gridCol w="390525"/>
              </a:tblGrid>
              <a:tr h="18288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Email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password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c_id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arun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  <a:hlinkClick r:id="rId1"/>
                        </a:rPr>
                        <a:t>a@gmail.com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123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rajath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u="sng" spc="-1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Gadugi" panose="020B0502040204020203"/>
                          <a:cs typeface="Gadugi" panose="020B0502040204020203"/>
                          <a:hlinkClick r:id="rId2"/>
                        </a:rPr>
                        <a:t>r@gmail.com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234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838200" y="1127760"/>
            <a:ext cx="6094730" cy="3427729"/>
            <a:chOff x="838200" y="1127760"/>
            <a:chExt cx="6094730" cy="3427729"/>
          </a:xfrm>
        </p:grpSpPr>
        <p:sp>
          <p:nvSpPr>
            <p:cNvPr id="19" name="object 19"/>
            <p:cNvSpPr/>
            <p:nvPr/>
          </p:nvSpPr>
          <p:spPr>
            <a:xfrm>
              <a:off x="5250180" y="1153668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38100" y="38100"/>
                  </a:moveTo>
                  <a:lnTo>
                    <a:pt x="0" y="38100"/>
                  </a:lnTo>
                  <a:lnTo>
                    <a:pt x="18287" y="0"/>
                  </a:lnTo>
                  <a:lnTo>
                    <a:pt x="38100" y="3810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606039" y="2237232"/>
              <a:ext cx="1760220" cy="38100"/>
            </a:xfrm>
            <a:custGeom>
              <a:avLst/>
              <a:gdLst/>
              <a:ahLst/>
              <a:cxnLst/>
              <a:rect l="l" t="t" r="r" b="b"/>
              <a:pathLst>
                <a:path w="1760220" h="38100">
                  <a:moveTo>
                    <a:pt x="38100" y="38100"/>
                  </a:moveTo>
                  <a:lnTo>
                    <a:pt x="0" y="18288"/>
                  </a:lnTo>
                  <a:lnTo>
                    <a:pt x="38100" y="0"/>
                  </a:lnTo>
                  <a:lnTo>
                    <a:pt x="38100" y="16764"/>
                  </a:lnTo>
                  <a:lnTo>
                    <a:pt x="32004" y="16764"/>
                  </a:lnTo>
                  <a:lnTo>
                    <a:pt x="32004" y="19812"/>
                  </a:lnTo>
                  <a:lnTo>
                    <a:pt x="38100" y="19812"/>
                  </a:lnTo>
                  <a:lnTo>
                    <a:pt x="38100" y="38100"/>
                  </a:lnTo>
                  <a:close/>
                </a:path>
                <a:path w="1760220" h="38100">
                  <a:moveTo>
                    <a:pt x="38100" y="19812"/>
                  </a:moveTo>
                  <a:lnTo>
                    <a:pt x="32004" y="19812"/>
                  </a:lnTo>
                  <a:lnTo>
                    <a:pt x="32004" y="16764"/>
                  </a:lnTo>
                  <a:lnTo>
                    <a:pt x="38100" y="16764"/>
                  </a:lnTo>
                  <a:lnTo>
                    <a:pt x="38100" y="19812"/>
                  </a:lnTo>
                  <a:close/>
                </a:path>
                <a:path w="1760220" h="38100">
                  <a:moveTo>
                    <a:pt x="1760220" y="19812"/>
                  </a:moveTo>
                  <a:lnTo>
                    <a:pt x="38100" y="19812"/>
                  </a:lnTo>
                  <a:lnTo>
                    <a:pt x="38100" y="16764"/>
                  </a:lnTo>
                  <a:lnTo>
                    <a:pt x="1760220" y="16764"/>
                  </a:lnTo>
                  <a:lnTo>
                    <a:pt x="1760220" y="198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44295" y="1133856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4"/>
                  </a:lnTo>
                  <a:lnTo>
                    <a:pt x="6082284" y="3415284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44401" y="5609344"/>
            <a:ext cx="22358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Gadugi" panose="020B0502040204020203"/>
                <a:cs typeface="Gadugi" panose="020B0502040204020203"/>
              </a:rPr>
              <a:t>ManytoMany-unidirection</a:t>
            </a:r>
            <a:endParaRPr sz="14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360036" y="6111113"/>
            <a:ext cx="1461770" cy="1128395"/>
            <a:chOff x="4360036" y="6111113"/>
            <a:chExt cx="1461770" cy="1128395"/>
          </a:xfrm>
        </p:grpSpPr>
        <p:sp>
          <p:nvSpPr>
            <p:cNvPr id="24" name="object 24"/>
            <p:cNvSpPr/>
            <p:nvPr/>
          </p:nvSpPr>
          <p:spPr>
            <a:xfrm>
              <a:off x="4366260" y="6117336"/>
              <a:ext cx="1449705" cy="1108075"/>
            </a:xfrm>
            <a:custGeom>
              <a:avLst/>
              <a:gdLst/>
              <a:ahLst/>
              <a:cxnLst/>
              <a:rect l="l" t="t" r="r" b="b"/>
              <a:pathLst>
                <a:path w="1449704" h="1108075">
                  <a:moveTo>
                    <a:pt x="1449324" y="1107948"/>
                  </a:moveTo>
                  <a:lnTo>
                    <a:pt x="0" y="1107948"/>
                  </a:lnTo>
                  <a:lnTo>
                    <a:pt x="0" y="0"/>
                  </a:lnTo>
                  <a:lnTo>
                    <a:pt x="1449324" y="0"/>
                  </a:lnTo>
                  <a:lnTo>
                    <a:pt x="1449324" y="1107948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363211" y="6114288"/>
              <a:ext cx="1455420" cy="1122045"/>
            </a:xfrm>
            <a:custGeom>
              <a:avLst/>
              <a:gdLst/>
              <a:ahLst/>
              <a:cxnLst/>
              <a:rect l="l" t="t" r="r" b="b"/>
              <a:pathLst>
                <a:path w="1455420" h="1122045">
                  <a:moveTo>
                    <a:pt x="3048" y="0"/>
                  </a:moveTo>
                  <a:lnTo>
                    <a:pt x="3048" y="1121664"/>
                  </a:lnTo>
                </a:path>
                <a:path w="1455420" h="1122045">
                  <a:moveTo>
                    <a:pt x="1452372" y="0"/>
                  </a:moveTo>
                  <a:lnTo>
                    <a:pt x="1452372" y="1121664"/>
                  </a:lnTo>
                </a:path>
                <a:path w="1455420" h="1122045">
                  <a:moveTo>
                    <a:pt x="0" y="3048"/>
                  </a:moveTo>
                  <a:lnTo>
                    <a:pt x="1455420" y="30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363211" y="7216140"/>
              <a:ext cx="1455420" cy="18415"/>
            </a:xfrm>
            <a:custGeom>
              <a:avLst/>
              <a:gdLst/>
              <a:ahLst/>
              <a:cxnLst/>
              <a:rect l="l" t="t" r="r" b="b"/>
              <a:pathLst>
                <a:path w="1455420" h="18415">
                  <a:moveTo>
                    <a:pt x="0" y="0"/>
                  </a:moveTo>
                  <a:lnTo>
                    <a:pt x="1455420" y="0"/>
                  </a:lnTo>
                  <a:lnTo>
                    <a:pt x="1455420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369308" y="6122928"/>
            <a:ext cx="144335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13208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//create</a:t>
            </a: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Language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2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Language{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 marR="27940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int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id;</a:t>
            </a:r>
            <a:r>
              <a:rPr sz="9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name;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origin;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//getters</a:t>
            </a:r>
            <a:r>
              <a:rPr sz="9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setters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26464" y="6048628"/>
            <a:ext cx="1687830" cy="1300480"/>
            <a:chOff x="926464" y="6048628"/>
            <a:chExt cx="1687830" cy="1300480"/>
          </a:xfrm>
        </p:grpSpPr>
        <p:sp>
          <p:nvSpPr>
            <p:cNvPr id="29" name="object 29"/>
            <p:cNvSpPr/>
            <p:nvPr/>
          </p:nvSpPr>
          <p:spPr>
            <a:xfrm>
              <a:off x="932687" y="6054851"/>
              <a:ext cx="1673860" cy="1280160"/>
            </a:xfrm>
            <a:custGeom>
              <a:avLst/>
              <a:gdLst/>
              <a:ahLst/>
              <a:cxnLst/>
              <a:rect l="l" t="t" r="r" b="b"/>
              <a:pathLst>
                <a:path w="1673860" h="1280159">
                  <a:moveTo>
                    <a:pt x="1673352" y="1280160"/>
                  </a:moveTo>
                  <a:lnTo>
                    <a:pt x="0" y="1280160"/>
                  </a:lnTo>
                  <a:lnTo>
                    <a:pt x="0" y="0"/>
                  </a:lnTo>
                  <a:lnTo>
                    <a:pt x="1673352" y="0"/>
                  </a:lnTo>
                  <a:lnTo>
                    <a:pt x="1673352" y="128016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929639" y="6051803"/>
              <a:ext cx="1681480" cy="1294130"/>
            </a:xfrm>
            <a:custGeom>
              <a:avLst/>
              <a:gdLst/>
              <a:ahLst/>
              <a:cxnLst/>
              <a:rect l="l" t="t" r="r" b="b"/>
              <a:pathLst>
                <a:path w="1681480" h="1294129">
                  <a:moveTo>
                    <a:pt x="3048" y="0"/>
                  </a:moveTo>
                  <a:lnTo>
                    <a:pt x="3048" y="1293876"/>
                  </a:lnTo>
                </a:path>
                <a:path w="1681480" h="1294129">
                  <a:moveTo>
                    <a:pt x="1676400" y="0"/>
                  </a:moveTo>
                  <a:lnTo>
                    <a:pt x="1676400" y="1293876"/>
                  </a:lnTo>
                </a:path>
                <a:path w="1681480" h="1294129">
                  <a:moveTo>
                    <a:pt x="0" y="3048"/>
                  </a:moveTo>
                  <a:lnTo>
                    <a:pt x="1680971" y="30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29639" y="7325868"/>
              <a:ext cx="1681480" cy="18415"/>
            </a:xfrm>
            <a:custGeom>
              <a:avLst/>
              <a:gdLst/>
              <a:ahLst/>
              <a:cxnLst/>
              <a:rect l="l" t="t" r="r" b="b"/>
              <a:pathLst>
                <a:path w="1681480" h="18415">
                  <a:moveTo>
                    <a:pt x="0" y="0"/>
                  </a:moveTo>
                  <a:lnTo>
                    <a:pt x="1680971" y="0"/>
                  </a:lnTo>
                  <a:lnTo>
                    <a:pt x="1680971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932687" y="6061920"/>
            <a:ext cx="1673860" cy="126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15" marR="51435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//create</a:t>
            </a: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Person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Person{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3815">
              <a:lnSpc>
                <a:spcPct val="100000"/>
              </a:lnSpc>
            </a:pP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3815" marR="52959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int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id;</a:t>
            </a:r>
            <a:r>
              <a:rPr sz="9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3815" marR="41656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address; @manytomany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381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5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Language</a:t>
            </a:r>
            <a:r>
              <a:rPr sz="900" b="1" spc="17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language;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381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//getters</a:t>
            </a:r>
            <a:r>
              <a:rPr sz="9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setters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48432" y="6452105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n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862830" y="6452105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4602479" y="7685532"/>
          <a:ext cx="1598930" cy="740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115"/>
                <a:gridCol w="530225"/>
                <a:gridCol w="701040"/>
              </a:tblGrid>
              <a:tr h="185420">
                <a:tc>
                  <a:txBody>
                    <a:bodyPr/>
                    <a:lstStyle/>
                    <a:p>
                      <a:pPr marR="82550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origin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R="1238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Kannada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Karnataka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R="12382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Telugu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Andhra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R="12382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3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Tamil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Tamilnadu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908303" y="7697723"/>
          <a:ext cx="1569720" cy="552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595"/>
                <a:gridCol w="520065"/>
                <a:gridCol w="652780"/>
              </a:tblGrid>
              <a:tr h="18288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Address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arun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Blr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rajath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chn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</a:tr>
            </a:tbl>
          </a:graphicData>
        </a:graphic>
      </p:graphicFrame>
      <p:grpSp>
        <p:nvGrpSpPr>
          <p:cNvPr id="37" name="object 37"/>
          <p:cNvGrpSpPr/>
          <p:nvPr/>
        </p:nvGrpSpPr>
        <p:grpSpPr>
          <a:xfrm>
            <a:off x="2606039" y="5527547"/>
            <a:ext cx="2682240" cy="3369945"/>
            <a:chOff x="2606039" y="5527547"/>
            <a:chExt cx="2682240" cy="3369945"/>
          </a:xfrm>
        </p:grpSpPr>
        <p:sp>
          <p:nvSpPr>
            <p:cNvPr id="38" name="object 38"/>
            <p:cNvSpPr/>
            <p:nvPr/>
          </p:nvSpPr>
          <p:spPr>
            <a:xfrm>
              <a:off x="5250180" y="5527547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38100" y="38100"/>
                  </a:moveTo>
                  <a:lnTo>
                    <a:pt x="0" y="38100"/>
                  </a:lnTo>
                  <a:lnTo>
                    <a:pt x="18287" y="0"/>
                  </a:lnTo>
                  <a:lnTo>
                    <a:pt x="38100" y="3810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606039" y="6611112"/>
              <a:ext cx="1760220" cy="38100"/>
            </a:xfrm>
            <a:custGeom>
              <a:avLst/>
              <a:gdLst/>
              <a:ahLst/>
              <a:cxnLst/>
              <a:rect l="l" t="t" r="r" b="b"/>
              <a:pathLst>
                <a:path w="1760220" h="38100">
                  <a:moveTo>
                    <a:pt x="38100" y="38100"/>
                  </a:moveTo>
                  <a:lnTo>
                    <a:pt x="0" y="18288"/>
                  </a:lnTo>
                  <a:lnTo>
                    <a:pt x="38100" y="0"/>
                  </a:lnTo>
                  <a:lnTo>
                    <a:pt x="38100" y="16764"/>
                  </a:lnTo>
                  <a:lnTo>
                    <a:pt x="32004" y="16764"/>
                  </a:lnTo>
                  <a:lnTo>
                    <a:pt x="32004" y="19812"/>
                  </a:lnTo>
                  <a:lnTo>
                    <a:pt x="38100" y="19812"/>
                  </a:lnTo>
                  <a:lnTo>
                    <a:pt x="38100" y="38100"/>
                  </a:lnTo>
                  <a:close/>
                </a:path>
                <a:path w="1760220" h="38100">
                  <a:moveTo>
                    <a:pt x="38100" y="19812"/>
                  </a:moveTo>
                  <a:lnTo>
                    <a:pt x="32004" y="19812"/>
                  </a:lnTo>
                  <a:lnTo>
                    <a:pt x="32004" y="16764"/>
                  </a:lnTo>
                  <a:lnTo>
                    <a:pt x="38100" y="16764"/>
                  </a:lnTo>
                  <a:lnTo>
                    <a:pt x="38100" y="19812"/>
                  </a:lnTo>
                  <a:close/>
                </a:path>
                <a:path w="1760220" h="38100">
                  <a:moveTo>
                    <a:pt x="1760220" y="19812"/>
                  </a:moveTo>
                  <a:lnTo>
                    <a:pt x="38100" y="19812"/>
                  </a:lnTo>
                  <a:lnTo>
                    <a:pt x="38100" y="16764"/>
                  </a:lnTo>
                  <a:lnTo>
                    <a:pt x="1760220" y="16764"/>
                  </a:lnTo>
                  <a:lnTo>
                    <a:pt x="1760220" y="198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1819" y="7776971"/>
              <a:ext cx="844296" cy="11125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581399" y="7773923"/>
              <a:ext cx="0" cy="1120140"/>
            </a:xfrm>
            <a:custGeom>
              <a:avLst/>
              <a:gdLst/>
              <a:ahLst/>
              <a:cxnLst/>
              <a:rect l="l" t="t" r="r" b="b"/>
              <a:pathLst>
                <a:path h="1120140">
                  <a:moveTo>
                    <a:pt x="0" y="0"/>
                  </a:moveTo>
                  <a:lnTo>
                    <a:pt x="0" y="1120140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128772" y="7962899"/>
              <a:ext cx="850900" cy="0"/>
            </a:xfrm>
            <a:custGeom>
              <a:avLst/>
              <a:gdLst/>
              <a:ahLst/>
              <a:cxnLst/>
              <a:rect l="l" t="t" r="r" b="b"/>
              <a:pathLst>
                <a:path w="850900">
                  <a:moveTo>
                    <a:pt x="0" y="0"/>
                  </a:moveTo>
                  <a:lnTo>
                    <a:pt x="850391" y="0"/>
                  </a:lnTo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128772" y="7773923"/>
              <a:ext cx="850900" cy="1120140"/>
            </a:xfrm>
            <a:custGeom>
              <a:avLst/>
              <a:gdLst/>
              <a:ahLst/>
              <a:cxnLst/>
              <a:rect l="l" t="t" r="r" b="b"/>
              <a:pathLst>
                <a:path w="850900" h="1120140">
                  <a:moveTo>
                    <a:pt x="0" y="374904"/>
                  </a:moveTo>
                  <a:lnTo>
                    <a:pt x="850391" y="374904"/>
                  </a:lnTo>
                </a:path>
                <a:path w="850900" h="1120140">
                  <a:moveTo>
                    <a:pt x="0" y="559308"/>
                  </a:moveTo>
                  <a:lnTo>
                    <a:pt x="850391" y="559308"/>
                  </a:lnTo>
                </a:path>
                <a:path w="850900" h="1120140">
                  <a:moveTo>
                    <a:pt x="0" y="745236"/>
                  </a:moveTo>
                  <a:lnTo>
                    <a:pt x="850391" y="745236"/>
                  </a:lnTo>
                </a:path>
                <a:path w="850900" h="1120140">
                  <a:moveTo>
                    <a:pt x="0" y="931164"/>
                  </a:moveTo>
                  <a:lnTo>
                    <a:pt x="850391" y="931164"/>
                  </a:lnTo>
                </a:path>
                <a:path w="850900" h="1120140">
                  <a:moveTo>
                    <a:pt x="3047" y="0"/>
                  </a:moveTo>
                  <a:lnTo>
                    <a:pt x="3047" y="1120140"/>
                  </a:lnTo>
                </a:path>
                <a:path w="850900" h="1120140">
                  <a:moveTo>
                    <a:pt x="847343" y="0"/>
                  </a:moveTo>
                  <a:lnTo>
                    <a:pt x="847343" y="1120140"/>
                  </a:lnTo>
                </a:path>
                <a:path w="850900" h="1120140">
                  <a:moveTo>
                    <a:pt x="0" y="3048"/>
                  </a:moveTo>
                  <a:lnTo>
                    <a:pt x="850391" y="3048"/>
                  </a:lnTo>
                </a:path>
                <a:path w="850900" h="1120140">
                  <a:moveTo>
                    <a:pt x="0" y="1115568"/>
                  </a:moveTo>
                  <a:lnTo>
                    <a:pt x="850391" y="111556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3145759" y="7787714"/>
          <a:ext cx="771525" cy="1076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665"/>
                <a:gridCol w="327660"/>
              </a:tblGrid>
              <a:tr h="1689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p_id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1136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l_id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8890" marB="0"/>
                </a:tc>
              </a:tr>
              <a:tr h="1847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11366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26034" marB="0"/>
                </a:tc>
              </a:tr>
              <a:tr h="1847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136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24765" marB="0"/>
                </a:tc>
              </a:tr>
              <a:tr h="1854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11366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26034" marB="0"/>
                </a:tc>
              </a:tr>
              <a:tr h="1847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11366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26034" marB="0"/>
                </a:tc>
              </a:tr>
              <a:tr h="167640">
                <a:tc>
                  <a:txBody>
                    <a:bodyPr/>
                    <a:lstStyle/>
                    <a:p>
                      <a:pPr marL="31750">
                        <a:lnSpc>
                          <a:spcPts val="1025"/>
                        </a:lnSpc>
                        <a:spcBef>
                          <a:spcPts val="19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13665">
                        <a:lnSpc>
                          <a:spcPts val="1025"/>
                        </a:lnSpc>
                        <a:spcBef>
                          <a:spcPts val="19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3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24765" marB="0"/>
                </a:tc>
              </a:tr>
            </a:tbl>
          </a:graphicData>
        </a:graphic>
      </p:graphicFrame>
      <p:sp>
        <p:nvSpPr>
          <p:cNvPr id="45" name="object 45"/>
          <p:cNvSpPr txBox="1"/>
          <p:nvPr/>
        </p:nvSpPr>
        <p:spPr>
          <a:xfrm>
            <a:off x="3117594" y="7588998"/>
            <a:ext cx="8858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Gadugi" panose="020B0502040204020203"/>
                <a:cs typeface="Gadugi" panose="020B0502040204020203"/>
              </a:rPr>
              <a:t>person_language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44295" y="550773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3"/>
                </a:lnTo>
                <a:lnTo>
                  <a:pt x="6082284" y="3415283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31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1540" y="25814"/>
            <a:ext cx="76771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0" dirty="0">
                <a:latin typeface="Calibri" panose="020F0502020204030204"/>
                <a:cs typeface="Calibri" panose="020F0502020204030204"/>
              </a:rPr>
              <a:t>3/30/2023</a:t>
            </a:r>
            <a:endParaRPr sz="12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66216" y="1260348"/>
            <a:ext cx="5842000" cy="3167380"/>
            <a:chOff x="966216" y="1260348"/>
            <a:chExt cx="5842000" cy="3167380"/>
          </a:xfrm>
        </p:grpSpPr>
        <p:sp>
          <p:nvSpPr>
            <p:cNvPr id="4" name="object 4"/>
            <p:cNvSpPr/>
            <p:nvPr/>
          </p:nvSpPr>
          <p:spPr>
            <a:xfrm>
              <a:off x="966216" y="1260348"/>
              <a:ext cx="5842000" cy="3167380"/>
            </a:xfrm>
            <a:custGeom>
              <a:avLst/>
              <a:gdLst/>
              <a:ahLst/>
              <a:cxnLst/>
              <a:rect l="l" t="t" r="r" b="b"/>
              <a:pathLst>
                <a:path w="5842000" h="3167379">
                  <a:moveTo>
                    <a:pt x="5841491" y="3166871"/>
                  </a:moveTo>
                  <a:lnTo>
                    <a:pt x="0" y="3166871"/>
                  </a:lnTo>
                  <a:lnTo>
                    <a:pt x="0" y="0"/>
                  </a:lnTo>
                  <a:lnTo>
                    <a:pt x="5841491" y="0"/>
                  </a:lnTo>
                  <a:lnTo>
                    <a:pt x="5841491" y="316687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41475" y="1726691"/>
              <a:ext cx="5491480" cy="0"/>
            </a:xfrm>
            <a:custGeom>
              <a:avLst/>
              <a:gdLst/>
              <a:ahLst/>
              <a:cxnLst/>
              <a:rect l="l" t="t" r="r" b="b"/>
              <a:pathLst>
                <a:path w="5491480">
                  <a:moveTo>
                    <a:pt x="0" y="0"/>
                  </a:moveTo>
                  <a:lnTo>
                    <a:pt x="5490972" y="0"/>
                  </a:lnTo>
                </a:path>
              </a:pathLst>
            </a:custGeom>
            <a:ln w="12192">
              <a:solidFill>
                <a:srgbClr val="D146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131851" y="1418381"/>
            <a:ext cx="18878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OneToOne-</a:t>
            </a:r>
            <a:r>
              <a:rPr sz="1400" b="1" spc="-1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bidirection</a:t>
            </a:r>
            <a:endParaRPr sz="14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48385" y="1767713"/>
            <a:ext cx="1541145" cy="1461770"/>
            <a:chOff x="1048385" y="1767713"/>
            <a:chExt cx="1541145" cy="1461770"/>
          </a:xfrm>
        </p:grpSpPr>
        <p:sp>
          <p:nvSpPr>
            <p:cNvPr id="8" name="object 8"/>
            <p:cNvSpPr/>
            <p:nvPr/>
          </p:nvSpPr>
          <p:spPr>
            <a:xfrm>
              <a:off x="1054608" y="1773936"/>
              <a:ext cx="1529080" cy="1442085"/>
            </a:xfrm>
            <a:custGeom>
              <a:avLst/>
              <a:gdLst/>
              <a:ahLst/>
              <a:cxnLst/>
              <a:rect l="l" t="t" r="r" b="b"/>
              <a:pathLst>
                <a:path w="1529080" h="1442085">
                  <a:moveTo>
                    <a:pt x="1528572" y="1441704"/>
                  </a:moveTo>
                  <a:lnTo>
                    <a:pt x="0" y="1441704"/>
                  </a:lnTo>
                  <a:lnTo>
                    <a:pt x="0" y="0"/>
                  </a:lnTo>
                  <a:lnTo>
                    <a:pt x="1528572" y="0"/>
                  </a:lnTo>
                  <a:lnTo>
                    <a:pt x="1528572" y="1441704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51560" y="1770888"/>
              <a:ext cx="1534795" cy="1455420"/>
            </a:xfrm>
            <a:custGeom>
              <a:avLst/>
              <a:gdLst/>
              <a:ahLst/>
              <a:cxnLst/>
              <a:rect l="l" t="t" r="r" b="b"/>
              <a:pathLst>
                <a:path w="1534795" h="1455420">
                  <a:moveTo>
                    <a:pt x="3047" y="0"/>
                  </a:moveTo>
                  <a:lnTo>
                    <a:pt x="3047" y="1455420"/>
                  </a:lnTo>
                </a:path>
                <a:path w="1534795" h="1455420">
                  <a:moveTo>
                    <a:pt x="1531620" y="0"/>
                  </a:moveTo>
                  <a:lnTo>
                    <a:pt x="1531620" y="1455420"/>
                  </a:lnTo>
                </a:path>
                <a:path w="1534795" h="1455420">
                  <a:moveTo>
                    <a:pt x="0" y="3048"/>
                  </a:moveTo>
                  <a:lnTo>
                    <a:pt x="1534667" y="30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51560" y="3206496"/>
              <a:ext cx="1534795" cy="18415"/>
            </a:xfrm>
            <a:custGeom>
              <a:avLst/>
              <a:gdLst/>
              <a:ahLst/>
              <a:cxnLst/>
              <a:rect l="l" t="t" r="r" b="b"/>
              <a:pathLst>
                <a:path w="1534795" h="18414">
                  <a:moveTo>
                    <a:pt x="0" y="0"/>
                  </a:moveTo>
                  <a:lnTo>
                    <a:pt x="1534667" y="0"/>
                  </a:lnTo>
                  <a:lnTo>
                    <a:pt x="1534667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057655" y="1779533"/>
            <a:ext cx="1522730" cy="1367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545" marR="407670">
              <a:lnSpc>
                <a:spcPct val="100000"/>
              </a:lnSpc>
              <a:spcBef>
                <a:spcPts val="105"/>
              </a:spcBef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//create</a:t>
            </a:r>
            <a:r>
              <a:rPr sz="800" b="1" spc="-3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</a:t>
            </a:r>
            <a:r>
              <a:rPr sz="800" b="1" spc="-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800" b="1" spc="-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Person @Entity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 marR="833755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800" b="1" spc="19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Person{ </a:t>
            </a:r>
            <a:r>
              <a:rPr sz="8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@Id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 marR="502920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int</a:t>
            </a:r>
            <a:r>
              <a:rPr sz="8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id;</a:t>
            </a:r>
            <a:r>
              <a:rPr sz="8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8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name;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 marR="403860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8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address; @onetoone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Aadhar</a:t>
            </a:r>
            <a:r>
              <a:rPr sz="8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aadhar;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//getters</a:t>
            </a:r>
            <a:r>
              <a:rPr sz="8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8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setters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8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}</a:t>
            </a:r>
            <a:endParaRPr sz="8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96257" y="1792097"/>
            <a:ext cx="2033270" cy="1285240"/>
            <a:chOff x="4596257" y="1792097"/>
            <a:chExt cx="2033270" cy="1285240"/>
          </a:xfrm>
        </p:grpSpPr>
        <p:sp>
          <p:nvSpPr>
            <p:cNvPr id="13" name="object 13"/>
            <p:cNvSpPr/>
            <p:nvPr/>
          </p:nvSpPr>
          <p:spPr>
            <a:xfrm>
              <a:off x="4602480" y="1798320"/>
              <a:ext cx="2019300" cy="1264920"/>
            </a:xfrm>
            <a:custGeom>
              <a:avLst/>
              <a:gdLst/>
              <a:ahLst/>
              <a:cxnLst/>
              <a:rect l="l" t="t" r="r" b="b"/>
              <a:pathLst>
                <a:path w="2019300" h="1264920">
                  <a:moveTo>
                    <a:pt x="2019299" y="1264920"/>
                  </a:moveTo>
                  <a:lnTo>
                    <a:pt x="0" y="1264920"/>
                  </a:lnTo>
                  <a:lnTo>
                    <a:pt x="0" y="0"/>
                  </a:lnTo>
                  <a:lnTo>
                    <a:pt x="2019299" y="0"/>
                  </a:lnTo>
                  <a:lnTo>
                    <a:pt x="2019299" y="126492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99432" y="1795272"/>
              <a:ext cx="2026920" cy="1278890"/>
            </a:xfrm>
            <a:custGeom>
              <a:avLst/>
              <a:gdLst/>
              <a:ahLst/>
              <a:cxnLst/>
              <a:rect l="l" t="t" r="r" b="b"/>
              <a:pathLst>
                <a:path w="2026920" h="1278889">
                  <a:moveTo>
                    <a:pt x="3048" y="0"/>
                  </a:moveTo>
                  <a:lnTo>
                    <a:pt x="3048" y="1278636"/>
                  </a:lnTo>
                </a:path>
                <a:path w="2026920" h="1278889">
                  <a:moveTo>
                    <a:pt x="2022348" y="0"/>
                  </a:moveTo>
                  <a:lnTo>
                    <a:pt x="2022348" y="1278636"/>
                  </a:lnTo>
                </a:path>
                <a:path w="2026920" h="1278889">
                  <a:moveTo>
                    <a:pt x="0" y="3048"/>
                  </a:moveTo>
                  <a:lnTo>
                    <a:pt x="2026919" y="30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99432" y="3054096"/>
              <a:ext cx="2026920" cy="18415"/>
            </a:xfrm>
            <a:custGeom>
              <a:avLst/>
              <a:gdLst/>
              <a:ahLst/>
              <a:cxnLst/>
              <a:rect l="l" t="t" r="r" b="b"/>
              <a:pathLst>
                <a:path w="2026920" h="18414">
                  <a:moveTo>
                    <a:pt x="0" y="0"/>
                  </a:moveTo>
                  <a:lnTo>
                    <a:pt x="2026919" y="0"/>
                  </a:lnTo>
                  <a:lnTo>
                    <a:pt x="2026919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605528" y="1805459"/>
            <a:ext cx="2013585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545" marR="876300">
              <a:lnSpc>
                <a:spcPct val="100000"/>
              </a:lnSpc>
              <a:spcBef>
                <a:spcPts val="105"/>
              </a:spcBef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//create</a:t>
            </a:r>
            <a:r>
              <a:rPr sz="8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</a:t>
            </a:r>
            <a:r>
              <a:rPr sz="800" b="1" spc="-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800" b="1" spc="-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Aadhar @Entity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 marR="1330325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8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Aadhar{ </a:t>
            </a:r>
            <a:r>
              <a:rPr sz="8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@Id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 marR="994410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int</a:t>
            </a:r>
            <a:r>
              <a:rPr sz="8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id;</a:t>
            </a:r>
            <a:r>
              <a:rPr sz="8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8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name;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long</a:t>
            </a:r>
            <a:r>
              <a:rPr sz="800" b="1" spc="-5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phone; @onetoone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5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Person</a:t>
            </a:r>
            <a:r>
              <a:rPr sz="8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person;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//getters</a:t>
            </a:r>
            <a:r>
              <a:rPr sz="8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8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setters</a:t>
            </a:r>
            <a:endParaRPr sz="800">
              <a:latin typeface="Gadugi" panose="020B0502040204020203"/>
              <a:cs typeface="Gadugi" panose="020B0502040204020203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54608" y="3325367"/>
            <a:ext cx="1984248" cy="556259"/>
          </a:xfrm>
          <a:prstGeom prst="rect">
            <a:avLst/>
          </a:prstGeom>
        </p:spPr>
      </p:pic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051560" y="3322320"/>
          <a:ext cx="2066925" cy="554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030"/>
                <a:gridCol w="458470"/>
                <a:gridCol w="762000"/>
                <a:gridCol w="396239"/>
              </a:tblGrid>
              <a:tr h="1854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address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a_id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ram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bangalore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vijay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mumbai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8472" y="3331464"/>
            <a:ext cx="1888235" cy="556259"/>
          </a:xfrm>
          <a:prstGeom prst="rect">
            <a:avLst/>
          </a:prstGeom>
        </p:spPr>
      </p:pic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4535423" y="3328416"/>
          <a:ext cx="1971039" cy="554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1630"/>
                <a:gridCol w="485139"/>
                <a:gridCol w="707390"/>
                <a:gridCol w="355600"/>
              </a:tblGrid>
              <a:tr h="18542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phone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p_id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gagan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987654234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ajay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768945321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2614686" y="2140689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43481" y="2140689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583180" y="2537460"/>
            <a:ext cx="2019300" cy="38100"/>
          </a:xfrm>
          <a:custGeom>
            <a:avLst/>
            <a:gdLst/>
            <a:ahLst/>
            <a:cxnLst/>
            <a:rect l="l" t="t" r="r" b="b"/>
            <a:pathLst>
              <a:path w="2019300" h="38100">
                <a:moveTo>
                  <a:pt x="38100" y="38100"/>
                </a:moveTo>
                <a:lnTo>
                  <a:pt x="0" y="18288"/>
                </a:lnTo>
                <a:lnTo>
                  <a:pt x="38100" y="0"/>
                </a:lnTo>
                <a:lnTo>
                  <a:pt x="38100" y="16764"/>
                </a:lnTo>
                <a:lnTo>
                  <a:pt x="32004" y="16764"/>
                </a:lnTo>
                <a:lnTo>
                  <a:pt x="32004" y="19812"/>
                </a:lnTo>
                <a:lnTo>
                  <a:pt x="38100" y="19812"/>
                </a:lnTo>
                <a:lnTo>
                  <a:pt x="38100" y="38100"/>
                </a:lnTo>
                <a:close/>
              </a:path>
              <a:path w="2019300" h="38100">
                <a:moveTo>
                  <a:pt x="38100" y="19812"/>
                </a:moveTo>
                <a:lnTo>
                  <a:pt x="32004" y="19812"/>
                </a:lnTo>
                <a:lnTo>
                  <a:pt x="32004" y="16764"/>
                </a:lnTo>
                <a:lnTo>
                  <a:pt x="38100" y="16764"/>
                </a:lnTo>
                <a:lnTo>
                  <a:pt x="38100" y="19812"/>
                </a:lnTo>
                <a:close/>
              </a:path>
              <a:path w="2019300" h="38100">
                <a:moveTo>
                  <a:pt x="2019300" y="19812"/>
                </a:moveTo>
                <a:lnTo>
                  <a:pt x="38100" y="19812"/>
                </a:lnTo>
                <a:lnTo>
                  <a:pt x="38100" y="16764"/>
                </a:lnTo>
                <a:lnTo>
                  <a:pt x="2019300" y="16764"/>
                </a:lnTo>
                <a:lnTo>
                  <a:pt x="2019300" y="19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061706" y="3888733"/>
            <a:ext cx="5609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marR="5080" indent="-143510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155575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Inside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Person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table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,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there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is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a_id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which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acts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foreign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key(FK)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same</a:t>
            </a:r>
            <a:r>
              <a:rPr sz="9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way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Inside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aadhar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table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there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is </a:t>
            </a:r>
            <a:r>
              <a:rPr sz="900" dirty="0">
                <a:latin typeface="Gadugi" panose="020B0502040204020203"/>
                <a:cs typeface="Gadugi" panose="020B0502040204020203"/>
              </a:rPr>
              <a:t>p_id</a:t>
            </a:r>
            <a:r>
              <a:rPr sz="9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which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acts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as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foreign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key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(because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both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are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owning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side).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50" dirty="0">
                <a:latin typeface="Gadugi" panose="020B0502040204020203"/>
                <a:cs typeface="Gadugi" panose="020B0502040204020203"/>
              </a:rPr>
              <a:t>To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make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any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one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as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owning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side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(to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avoid </a:t>
            </a:r>
            <a:r>
              <a:rPr sz="900" dirty="0">
                <a:latin typeface="Gadugi" panose="020B0502040204020203"/>
                <a:cs typeface="Gadugi" panose="020B0502040204020203"/>
              </a:rPr>
              <a:t>duplicate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data</a:t>
            </a:r>
            <a:r>
              <a:rPr sz="900" spc="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db)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will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make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use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of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@joincolumn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on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one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side(owning </a:t>
            </a:r>
            <a:r>
              <a:rPr sz="900" dirty="0">
                <a:latin typeface="Gadugi" panose="020B0502040204020203"/>
                <a:cs typeface="Gadugi" panose="020B0502040204020203"/>
              </a:rPr>
              <a:t>side)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mappedBy=“ref”(reference</a:t>
            </a:r>
            <a:r>
              <a:rPr sz="900" spc="1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of </a:t>
            </a:r>
            <a:r>
              <a:rPr sz="900" dirty="0">
                <a:latin typeface="Gadugi" panose="020B0502040204020203"/>
                <a:cs typeface="Gadugi" panose="020B0502040204020203"/>
              </a:rPr>
              <a:t>mapped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entity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present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owning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side)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on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other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side(non-</a:t>
            </a:r>
            <a:r>
              <a:rPr sz="900" dirty="0">
                <a:latin typeface="Gadugi" panose="020B0502040204020203"/>
                <a:cs typeface="Gadugi" panose="020B0502040204020203"/>
              </a:rPr>
              <a:t>owning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side)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44295" y="113385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4"/>
                </a:lnTo>
                <a:lnTo>
                  <a:pt x="6082284" y="3415284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6" name="object 26"/>
          <p:cNvGrpSpPr/>
          <p:nvPr/>
        </p:nvGrpSpPr>
        <p:grpSpPr>
          <a:xfrm>
            <a:off x="966216" y="5634228"/>
            <a:ext cx="5842000" cy="3167380"/>
            <a:chOff x="966216" y="5634228"/>
            <a:chExt cx="5842000" cy="3167380"/>
          </a:xfrm>
        </p:grpSpPr>
        <p:sp>
          <p:nvSpPr>
            <p:cNvPr id="27" name="object 27"/>
            <p:cNvSpPr/>
            <p:nvPr/>
          </p:nvSpPr>
          <p:spPr>
            <a:xfrm>
              <a:off x="966216" y="5634228"/>
              <a:ext cx="5842000" cy="3167380"/>
            </a:xfrm>
            <a:custGeom>
              <a:avLst/>
              <a:gdLst/>
              <a:ahLst/>
              <a:cxnLst/>
              <a:rect l="l" t="t" r="r" b="b"/>
              <a:pathLst>
                <a:path w="5842000" h="3167379">
                  <a:moveTo>
                    <a:pt x="5841491" y="3166871"/>
                  </a:moveTo>
                  <a:lnTo>
                    <a:pt x="0" y="3166871"/>
                  </a:lnTo>
                  <a:lnTo>
                    <a:pt x="0" y="0"/>
                  </a:lnTo>
                  <a:lnTo>
                    <a:pt x="5841491" y="0"/>
                  </a:lnTo>
                  <a:lnTo>
                    <a:pt x="5841491" y="316687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141475" y="6100571"/>
              <a:ext cx="5491480" cy="0"/>
            </a:xfrm>
            <a:custGeom>
              <a:avLst/>
              <a:gdLst/>
              <a:ahLst/>
              <a:cxnLst/>
              <a:rect l="l" t="t" r="r" b="b"/>
              <a:pathLst>
                <a:path w="5491480">
                  <a:moveTo>
                    <a:pt x="0" y="0"/>
                  </a:moveTo>
                  <a:lnTo>
                    <a:pt x="5490972" y="0"/>
                  </a:lnTo>
                </a:path>
              </a:pathLst>
            </a:custGeom>
            <a:ln w="12192">
              <a:solidFill>
                <a:srgbClr val="D146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131851" y="5792234"/>
            <a:ext cx="18878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OneToOne-</a:t>
            </a:r>
            <a:r>
              <a:rPr sz="1400" b="1" spc="-10" dirty="0">
                <a:solidFill>
                  <a:srgbClr val="3B3838"/>
                </a:solidFill>
                <a:latin typeface="Gadugi" panose="020B0502040204020203"/>
                <a:cs typeface="Gadugi" panose="020B0502040204020203"/>
              </a:rPr>
              <a:t>bidirection</a:t>
            </a:r>
            <a:endParaRPr sz="14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048385" y="6141592"/>
            <a:ext cx="1541145" cy="1649730"/>
            <a:chOff x="1048385" y="6141592"/>
            <a:chExt cx="1541145" cy="1649730"/>
          </a:xfrm>
        </p:grpSpPr>
        <p:sp>
          <p:nvSpPr>
            <p:cNvPr id="31" name="object 31"/>
            <p:cNvSpPr/>
            <p:nvPr/>
          </p:nvSpPr>
          <p:spPr>
            <a:xfrm>
              <a:off x="1054608" y="6147816"/>
              <a:ext cx="1529080" cy="1630680"/>
            </a:xfrm>
            <a:custGeom>
              <a:avLst/>
              <a:gdLst/>
              <a:ahLst/>
              <a:cxnLst/>
              <a:rect l="l" t="t" r="r" b="b"/>
              <a:pathLst>
                <a:path w="1529080" h="1630679">
                  <a:moveTo>
                    <a:pt x="1528572" y="1630680"/>
                  </a:moveTo>
                  <a:lnTo>
                    <a:pt x="0" y="1630680"/>
                  </a:lnTo>
                  <a:lnTo>
                    <a:pt x="0" y="0"/>
                  </a:lnTo>
                  <a:lnTo>
                    <a:pt x="1528572" y="0"/>
                  </a:lnTo>
                  <a:lnTo>
                    <a:pt x="1528572" y="163068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51560" y="6144767"/>
              <a:ext cx="1534795" cy="1643380"/>
            </a:xfrm>
            <a:custGeom>
              <a:avLst/>
              <a:gdLst/>
              <a:ahLst/>
              <a:cxnLst/>
              <a:rect l="l" t="t" r="r" b="b"/>
              <a:pathLst>
                <a:path w="1534795" h="1643379">
                  <a:moveTo>
                    <a:pt x="3047" y="0"/>
                  </a:moveTo>
                  <a:lnTo>
                    <a:pt x="3047" y="1642871"/>
                  </a:lnTo>
                </a:path>
                <a:path w="1534795" h="1643379">
                  <a:moveTo>
                    <a:pt x="1531620" y="0"/>
                  </a:moveTo>
                  <a:lnTo>
                    <a:pt x="1531620" y="1642871"/>
                  </a:lnTo>
                </a:path>
                <a:path w="1534795" h="1643379">
                  <a:moveTo>
                    <a:pt x="0" y="3048"/>
                  </a:moveTo>
                  <a:lnTo>
                    <a:pt x="1534667" y="30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051560" y="7769352"/>
              <a:ext cx="1534795" cy="18415"/>
            </a:xfrm>
            <a:custGeom>
              <a:avLst/>
              <a:gdLst/>
              <a:ahLst/>
              <a:cxnLst/>
              <a:rect l="l" t="t" r="r" b="b"/>
              <a:pathLst>
                <a:path w="1534795" h="18415">
                  <a:moveTo>
                    <a:pt x="0" y="0"/>
                  </a:moveTo>
                  <a:lnTo>
                    <a:pt x="1534667" y="0"/>
                  </a:lnTo>
                  <a:lnTo>
                    <a:pt x="1534667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057655" y="6153451"/>
            <a:ext cx="1522730" cy="1610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545" marR="407670">
              <a:lnSpc>
                <a:spcPct val="100000"/>
              </a:lnSpc>
              <a:spcBef>
                <a:spcPts val="105"/>
              </a:spcBef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//create</a:t>
            </a:r>
            <a:r>
              <a:rPr sz="800" b="1" spc="-3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</a:t>
            </a:r>
            <a:r>
              <a:rPr sz="800" b="1" spc="-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800" b="1" spc="-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Person @Entity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 marR="833755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800" b="1" spc="19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Person{ </a:t>
            </a:r>
            <a:r>
              <a:rPr sz="8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@Id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 marR="502920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int</a:t>
            </a:r>
            <a:r>
              <a:rPr sz="8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id;</a:t>
            </a:r>
            <a:r>
              <a:rPr sz="8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8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name;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 marR="52705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8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address; @onetoone(cascade=Cascade Type.</a:t>
            </a:r>
            <a:r>
              <a:rPr sz="800" spc="-10" dirty="0">
                <a:solidFill>
                  <a:srgbClr val="FFFFFF"/>
                </a:solidFill>
                <a:latin typeface="Segoe UI Symbol" panose="020B0502040204020203"/>
                <a:cs typeface="Segoe UI Symbol" panose="020B0502040204020203"/>
              </a:rPr>
              <a:t>ALL)</a:t>
            </a:r>
            <a:endParaRPr sz="800">
              <a:latin typeface="Segoe UI Symbol" panose="020B0502040204020203"/>
              <a:cs typeface="Segoe UI Symbol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@JoinColumn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Aadhar</a:t>
            </a:r>
            <a:r>
              <a:rPr sz="8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aadhar;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//getters</a:t>
            </a:r>
            <a:r>
              <a:rPr sz="8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8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setters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8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}</a:t>
            </a:r>
            <a:endParaRPr sz="8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596257" y="6165977"/>
            <a:ext cx="2033270" cy="1285240"/>
            <a:chOff x="4596257" y="6165977"/>
            <a:chExt cx="2033270" cy="1285240"/>
          </a:xfrm>
        </p:grpSpPr>
        <p:sp>
          <p:nvSpPr>
            <p:cNvPr id="36" name="object 36"/>
            <p:cNvSpPr/>
            <p:nvPr/>
          </p:nvSpPr>
          <p:spPr>
            <a:xfrm>
              <a:off x="4602480" y="6172200"/>
              <a:ext cx="2019300" cy="1264920"/>
            </a:xfrm>
            <a:custGeom>
              <a:avLst/>
              <a:gdLst/>
              <a:ahLst/>
              <a:cxnLst/>
              <a:rect l="l" t="t" r="r" b="b"/>
              <a:pathLst>
                <a:path w="2019300" h="1264920">
                  <a:moveTo>
                    <a:pt x="2019299" y="1264919"/>
                  </a:moveTo>
                  <a:lnTo>
                    <a:pt x="0" y="1264919"/>
                  </a:lnTo>
                  <a:lnTo>
                    <a:pt x="0" y="0"/>
                  </a:lnTo>
                  <a:lnTo>
                    <a:pt x="2019299" y="0"/>
                  </a:lnTo>
                  <a:lnTo>
                    <a:pt x="2019299" y="1264919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599432" y="6169152"/>
              <a:ext cx="2026920" cy="1278890"/>
            </a:xfrm>
            <a:custGeom>
              <a:avLst/>
              <a:gdLst/>
              <a:ahLst/>
              <a:cxnLst/>
              <a:rect l="l" t="t" r="r" b="b"/>
              <a:pathLst>
                <a:path w="2026920" h="1278890">
                  <a:moveTo>
                    <a:pt x="3048" y="0"/>
                  </a:moveTo>
                  <a:lnTo>
                    <a:pt x="3048" y="1278635"/>
                  </a:lnTo>
                </a:path>
                <a:path w="2026920" h="1278890">
                  <a:moveTo>
                    <a:pt x="2022348" y="0"/>
                  </a:moveTo>
                  <a:lnTo>
                    <a:pt x="2022348" y="1278635"/>
                  </a:lnTo>
                </a:path>
                <a:path w="2026920" h="1278890">
                  <a:moveTo>
                    <a:pt x="0" y="3048"/>
                  </a:moveTo>
                  <a:lnTo>
                    <a:pt x="2026919" y="30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599432" y="7427976"/>
              <a:ext cx="2026920" cy="18415"/>
            </a:xfrm>
            <a:custGeom>
              <a:avLst/>
              <a:gdLst/>
              <a:ahLst/>
              <a:cxnLst/>
              <a:rect l="l" t="t" r="r" b="b"/>
              <a:pathLst>
                <a:path w="2026920" h="18415">
                  <a:moveTo>
                    <a:pt x="0" y="0"/>
                  </a:moveTo>
                  <a:lnTo>
                    <a:pt x="2026919" y="0"/>
                  </a:lnTo>
                  <a:lnTo>
                    <a:pt x="2026919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4605528" y="6179315"/>
            <a:ext cx="201358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545" marR="876300">
              <a:lnSpc>
                <a:spcPct val="100000"/>
              </a:lnSpc>
              <a:spcBef>
                <a:spcPts val="105"/>
              </a:spcBef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//create</a:t>
            </a:r>
            <a:r>
              <a:rPr sz="8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</a:t>
            </a:r>
            <a:r>
              <a:rPr sz="800" b="1" spc="-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800" b="1" spc="-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Aadhar @Entity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 marR="1330325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8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Aadhar{ </a:t>
            </a:r>
            <a:r>
              <a:rPr sz="8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@Id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 marR="994410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int</a:t>
            </a:r>
            <a:r>
              <a:rPr sz="8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id;</a:t>
            </a:r>
            <a:r>
              <a:rPr sz="8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8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name;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long</a:t>
            </a:r>
            <a:r>
              <a:rPr sz="800" b="1" spc="-5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phone;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 marR="318770">
              <a:lnSpc>
                <a:spcPct val="100000"/>
              </a:lnSpc>
            </a:pP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@onetoone(mappedBy=“aadhar")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800" b="1" spc="-5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Person</a:t>
            </a:r>
            <a:r>
              <a:rPr sz="8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person;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//getters</a:t>
            </a:r>
            <a:r>
              <a:rPr sz="8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8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setters</a:t>
            </a:r>
            <a:endParaRPr sz="800">
              <a:latin typeface="Gadugi" panose="020B0502040204020203"/>
              <a:cs typeface="Gadugi" panose="020B0502040204020203"/>
            </a:endParaRPr>
          </a:p>
        </p:txBody>
      </p:sp>
      <p:pic>
        <p:nvPicPr>
          <p:cNvPr id="40" name="object 4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4608" y="7895844"/>
            <a:ext cx="1984248" cy="556259"/>
          </a:xfrm>
          <a:prstGeom prst="rect">
            <a:avLst/>
          </a:prstGeom>
        </p:spPr>
      </p:pic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1051560" y="7892796"/>
          <a:ext cx="2066925" cy="554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030"/>
                <a:gridCol w="458470"/>
                <a:gridCol w="762000"/>
                <a:gridCol w="396239"/>
              </a:tblGrid>
              <a:tr h="1854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address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a_id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ram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bangalore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vijay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mumbai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2" name="object 42"/>
          <p:cNvSpPr/>
          <p:nvPr/>
        </p:nvSpPr>
        <p:spPr>
          <a:xfrm>
            <a:off x="4538472" y="8234171"/>
            <a:ext cx="1918970" cy="186055"/>
          </a:xfrm>
          <a:custGeom>
            <a:avLst/>
            <a:gdLst/>
            <a:ahLst/>
            <a:cxnLst/>
            <a:rect l="l" t="t" r="r" b="b"/>
            <a:pathLst>
              <a:path w="1918970" h="186054">
                <a:moveTo>
                  <a:pt x="1918703" y="0"/>
                </a:moveTo>
                <a:lnTo>
                  <a:pt x="1106424" y="0"/>
                </a:lnTo>
                <a:lnTo>
                  <a:pt x="0" y="0"/>
                </a:lnTo>
                <a:lnTo>
                  <a:pt x="0" y="185928"/>
                </a:lnTo>
                <a:lnTo>
                  <a:pt x="1106424" y="185928"/>
                </a:lnTo>
                <a:lnTo>
                  <a:pt x="1918703" y="185928"/>
                </a:lnTo>
                <a:lnTo>
                  <a:pt x="1918703" y="0"/>
                </a:lnTo>
                <a:close/>
              </a:path>
            </a:pathLst>
          </a:custGeom>
          <a:solidFill>
            <a:srgbClr val="E9EF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4535423" y="7860791"/>
          <a:ext cx="2001520" cy="554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095"/>
                <a:gridCol w="600710"/>
                <a:gridCol w="812800"/>
              </a:tblGrid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R="229235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phone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gagan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R="209550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987654234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ajay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0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768945321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</a:tr>
            </a:tbl>
          </a:graphicData>
        </a:graphic>
      </p:graphicFrame>
      <p:sp>
        <p:nvSpPr>
          <p:cNvPr id="44" name="object 44"/>
          <p:cNvSpPr txBox="1"/>
          <p:nvPr/>
        </p:nvSpPr>
        <p:spPr>
          <a:xfrm>
            <a:off x="2614686" y="6514543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443481" y="6514543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38200" y="5501639"/>
            <a:ext cx="6094730" cy="3427729"/>
            <a:chOff x="838200" y="5501639"/>
            <a:chExt cx="6094730" cy="3427729"/>
          </a:xfrm>
        </p:grpSpPr>
        <p:sp>
          <p:nvSpPr>
            <p:cNvPr id="47" name="object 47"/>
            <p:cNvSpPr/>
            <p:nvPr/>
          </p:nvSpPr>
          <p:spPr>
            <a:xfrm>
              <a:off x="2583180" y="6911339"/>
              <a:ext cx="2019300" cy="38100"/>
            </a:xfrm>
            <a:custGeom>
              <a:avLst/>
              <a:gdLst/>
              <a:ahLst/>
              <a:cxnLst/>
              <a:rect l="l" t="t" r="r" b="b"/>
              <a:pathLst>
                <a:path w="2019300" h="38100">
                  <a:moveTo>
                    <a:pt x="38100" y="38100"/>
                  </a:moveTo>
                  <a:lnTo>
                    <a:pt x="0" y="18288"/>
                  </a:lnTo>
                  <a:lnTo>
                    <a:pt x="38100" y="0"/>
                  </a:lnTo>
                  <a:lnTo>
                    <a:pt x="38100" y="16764"/>
                  </a:lnTo>
                  <a:lnTo>
                    <a:pt x="32004" y="16764"/>
                  </a:lnTo>
                  <a:lnTo>
                    <a:pt x="32004" y="19812"/>
                  </a:lnTo>
                  <a:lnTo>
                    <a:pt x="38100" y="19812"/>
                  </a:lnTo>
                  <a:lnTo>
                    <a:pt x="38100" y="38100"/>
                  </a:lnTo>
                  <a:close/>
                </a:path>
                <a:path w="2019300" h="38100">
                  <a:moveTo>
                    <a:pt x="38100" y="19812"/>
                  </a:moveTo>
                  <a:lnTo>
                    <a:pt x="32004" y="19812"/>
                  </a:lnTo>
                  <a:lnTo>
                    <a:pt x="32004" y="16764"/>
                  </a:lnTo>
                  <a:lnTo>
                    <a:pt x="38100" y="16764"/>
                  </a:lnTo>
                  <a:lnTo>
                    <a:pt x="38100" y="19812"/>
                  </a:lnTo>
                  <a:close/>
                </a:path>
                <a:path w="2019300" h="38100">
                  <a:moveTo>
                    <a:pt x="2019300" y="19812"/>
                  </a:moveTo>
                  <a:lnTo>
                    <a:pt x="38100" y="19812"/>
                  </a:lnTo>
                  <a:lnTo>
                    <a:pt x="38100" y="16764"/>
                  </a:lnTo>
                  <a:lnTo>
                    <a:pt x="2019300" y="16764"/>
                  </a:lnTo>
                  <a:lnTo>
                    <a:pt x="2019300" y="198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44295" y="5507735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7494529" y="9544243"/>
            <a:ext cx="196215" cy="188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r>
              <a:rPr sz="1250" spc="-25" dirty="0">
                <a:latin typeface="Calibri" panose="020F0502020204030204"/>
                <a:cs typeface="Calibri" panose="020F0502020204030204"/>
              </a:rPr>
              <a:t>10</a:t>
            </a:r>
            <a:endParaRPr sz="125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1540" y="25814"/>
            <a:ext cx="76771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0" dirty="0">
                <a:latin typeface="Calibri" panose="020F0502020204030204"/>
                <a:cs typeface="Calibri" panose="020F0502020204030204"/>
              </a:rPr>
              <a:t>3/30/2023</a:t>
            </a:r>
            <a:endParaRPr sz="1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4401" y="1235458"/>
            <a:ext cx="4084954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latin typeface="Gadugi" panose="020B0502040204020203"/>
                <a:cs typeface="Gadugi" panose="020B0502040204020203"/>
              </a:rPr>
              <a:t>OneToMany-</a:t>
            </a:r>
            <a:r>
              <a:rPr sz="1400" b="1" spc="-20" dirty="0">
                <a:latin typeface="Gadugi" panose="020B0502040204020203"/>
                <a:cs typeface="Gadugi" panose="020B0502040204020203"/>
              </a:rPr>
              <a:t>bidirection/ManyToOne-</a:t>
            </a:r>
            <a:r>
              <a:rPr sz="1400" b="1" spc="-10" dirty="0">
                <a:latin typeface="Gadugi" panose="020B0502040204020203"/>
                <a:cs typeface="Gadugi" panose="020B0502040204020203"/>
              </a:rPr>
              <a:t>bidirection</a:t>
            </a:r>
            <a:endParaRPr sz="14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43229" y="1624457"/>
            <a:ext cx="1461770" cy="1548765"/>
            <a:chOff x="943229" y="1624457"/>
            <a:chExt cx="1461770" cy="1548765"/>
          </a:xfrm>
        </p:grpSpPr>
        <p:sp>
          <p:nvSpPr>
            <p:cNvPr id="5" name="object 5"/>
            <p:cNvSpPr/>
            <p:nvPr/>
          </p:nvSpPr>
          <p:spPr>
            <a:xfrm>
              <a:off x="949452" y="1630679"/>
              <a:ext cx="1449705" cy="1530350"/>
            </a:xfrm>
            <a:custGeom>
              <a:avLst/>
              <a:gdLst/>
              <a:ahLst/>
              <a:cxnLst/>
              <a:rect l="l" t="t" r="r" b="b"/>
              <a:pathLst>
                <a:path w="1449705" h="1530350">
                  <a:moveTo>
                    <a:pt x="1449323" y="1530095"/>
                  </a:moveTo>
                  <a:lnTo>
                    <a:pt x="0" y="1530095"/>
                  </a:lnTo>
                  <a:lnTo>
                    <a:pt x="0" y="0"/>
                  </a:lnTo>
                  <a:lnTo>
                    <a:pt x="1449323" y="0"/>
                  </a:lnTo>
                  <a:lnTo>
                    <a:pt x="1449323" y="1530095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46404" y="1627632"/>
              <a:ext cx="1455420" cy="1542415"/>
            </a:xfrm>
            <a:custGeom>
              <a:avLst/>
              <a:gdLst/>
              <a:ahLst/>
              <a:cxnLst/>
              <a:rect l="l" t="t" r="r" b="b"/>
              <a:pathLst>
                <a:path w="1455420" h="1542414">
                  <a:moveTo>
                    <a:pt x="3047" y="0"/>
                  </a:moveTo>
                  <a:lnTo>
                    <a:pt x="3047" y="1542287"/>
                  </a:lnTo>
                </a:path>
                <a:path w="1455420" h="1542414">
                  <a:moveTo>
                    <a:pt x="1452371" y="0"/>
                  </a:moveTo>
                  <a:lnTo>
                    <a:pt x="1452371" y="1542287"/>
                  </a:lnTo>
                </a:path>
                <a:path w="1455420" h="1542414">
                  <a:moveTo>
                    <a:pt x="0" y="3047"/>
                  </a:moveTo>
                  <a:lnTo>
                    <a:pt x="1455420" y="3047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46404" y="3151631"/>
              <a:ext cx="1455420" cy="18415"/>
            </a:xfrm>
            <a:custGeom>
              <a:avLst/>
              <a:gdLst/>
              <a:ahLst/>
              <a:cxnLst/>
              <a:rect l="l" t="t" r="r" b="b"/>
              <a:pathLst>
                <a:path w="1455420" h="18414">
                  <a:moveTo>
                    <a:pt x="0" y="0"/>
                  </a:moveTo>
                  <a:lnTo>
                    <a:pt x="1455420" y="0"/>
                  </a:lnTo>
                  <a:lnTo>
                    <a:pt x="1455420" y="18287"/>
                  </a:lnTo>
                  <a:lnTo>
                    <a:pt x="0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52500" y="1636274"/>
            <a:ext cx="144335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marR="144145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//create</a:t>
            </a: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Company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2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Company{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>
              <a:lnSpc>
                <a:spcPct val="100000"/>
              </a:lnSpc>
            </a:pP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 marR="30226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int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id;</a:t>
            </a:r>
            <a:r>
              <a:rPr sz="9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 marR="18923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address; @onetomany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 marR="11557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5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List&lt;Employee&gt; employee;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//getters</a:t>
            </a:r>
            <a:r>
              <a:rPr sz="9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setters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855336" y="1624457"/>
            <a:ext cx="1776095" cy="1299210"/>
            <a:chOff x="4855336" y="1624457"/>
            <a:chExt cx="1776095" cy="1299210"/>
          </a:xfrm>
        </p:grpSpPr>
        <p:sp>
          <p:nvSpPr>
            <p:cNvPr id="10" name="object 10"/>
            <p:cNvSpPr/>
            <p:nvPr/>
          </p:nvSpPr>
          <p:spPr>
            <a:xfrm>
              <a:off x="4861560" y="1630679"/>
              <a:ext cx="1763395" cy="1280160"/>
            </a:xfrm>
            <a:custGeom>
              <a:avLst/>
              <a:gdLst/>
              <a:ahLst/>
              <a:cxnLst/>
              <a:rect l="l" t="t" r="r" b="b"/>
              <a:pathLst>
                <a:path w="1763395" h="1280160">
                  <a:moveTo>
                    <a:pt x="1763268" y="1280160"/>
                  </a:moveTo>
                  <a:lnTo>
                    <a:pt x="0" y="1280160"/>
                  </a:lnTo>
                  <a:lnTo>
                    <a:pt x="0" y="0"/>
                  </a:lnTo>
                  <a:lnTo>
                    <a:pt x="1763268" y="0"/>
                  </a:lnTo>
                  <a:lnTo>
                    <a:pt x="1763268" y="128016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858511" y="1627632"/>
              <a:ext cx="1769745" cy="1292860"/>
            </a:xfrm>
            <a:custGeom>
              <a:avLst/>
              <a:gdLst/>
              <a:ahLst/>
              <a:cxnLst/>
              <a:rect l="l" t="t" r="r" b="b"/>
              <a:pathLst>
                <a:path w="1769745" h="1292860">
                  <a:moveTo>
                    <a:pt x="3048" y="0"/>
                  </a:moveTo>
                  <a:lnTo>
                    <a:pt x="3048" y="1292351"/>
                  </a:lnTo>
                </a:path>
                <a:path w="1769745" h="1292860">
                  <a:moveTo>
                    <a:pt x="1766316" y="0"/>
                  </a:moveTo>
                  <a:lnTo>
                    <a:pt x="1766316" y="1292351"/>
                  </a:lnTo>
                </a:path>
                <a:path w="1769745" h="1292860">
                  <a:moveTo>
                    <a:pt x="0" y="3047"/>
                  </a:moveTo>
                  <a:lnTo>
                    <a:pt x="1769364" y="3047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858511" y="2901696"/>
              <a:ext cx="1769745" cy="18415"/>
            </a:xfrm>
            <a:custGeom>
              <a:avLst/>
              <a:gdLst/>
              <a:ahLst/>
              <a:cxnLst/>
              <a:rect l="l" t="t" r="r" b="b"/>
              <a:pathLst>
                <a:path w="1769745" h="18414">
                  <a:moveTo>
                    <a:pt x="0" y="0"/>
                  </a:moveTo>
                  <a:lnTo>
                    <a:pt x="1769364" y="0"/>
                  </a:lnTo>
                  <a:lnTo>
                    <a:pt x="1769364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864608" y="1636274"/>
            <a:ext cx="1757680" cy="126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441325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//create</a:t>
            </a: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Employee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Employee{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 marR="61468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int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id;</a:t>
            </a:r>
            <a:r>
              <a:rPr sz="9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name;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long</a:t>
            </a:r>
            <a:r>
              <a:rPr sz="900" b="1" spc="-3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phone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@manytoone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Company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company;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//getters</a:t>
            </a:r>
            <a:r>
              <a:rPr sz="9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setters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98775" y="2263139"/>
            <a:ext cx="2463165" cy="38100"/>
          </a:xfrm>
          <a:custGeom>
            <a:avLst/>
            <a:gdLst/>
            <a:ahLst/>
            <a:cxnLst/>
            <a:rect l="l" t="t" r="r" b="b"/>
            <a:pathLst>
              <a:path w="2463165" h="38100">
                <a:moveTo>
                  <a:pt x="38100" y="38100"/>
                </a:moveTo>
                <a:lnTo>
                  <a:pt x="0" y="18288"/>
                </a:lnTo>
                <a:lnTo>
                  <a:pt x="38100" y="0"/>
                </a:lnTo>
                <a:lnTo>
                  <a:pt x="38100" y="16764"/>
                </a:lnTo>
                <a:lnTo>
                  <a:pt x="32004" y="16764"/>
                </a:lnTo>
                <a:lnTo>
                  <a:pt x="32004" y="19812"/>
                </a:lnTo>
                <a:lnTo>
                  <a:pt x="38100" y="19812"/>
                </a:lnTo>
                <a:lnTo>
                  <a:pt x="38100" y="38100"/>
                </a:lnTo>
                <a:close/>
              </a:path>
              <a:path w="2463165" h="38100">
                <a:moveTo>
                  <a:pt x="38100" y="19812"/>
                </a:moveTo>
                <a:lnTo>
                  <a:pt x="32004" y="19812"/>
                </a:lnTo>
                <a:lnTo>
                  <a:pt x="32004" y="16764"/>
                </a:lnTo>
                <a:lnTo>
                  <a:pt x="38100" y="16764"/>
                </a:lnTo>
                <a:lnTo>
                  <a:pt x="38100" y="19812"/>
                </a:lnTo>
                <a:close/>
              </a:path>
              <a:path w="2463165" h="38100">
                <a:moveTo>
                  <a:pt x="2462784" y="19812"/>
                </a:moveTo>
                <a:lnTo>
                  <a:pt x="38100" y="19812"/>
                </a:lnTo>
                <a:lnTo>
                  <a:pt x="38100" y="16764"/>
                </a:lnTo>
                <a:lnTo>
                  <a:pt x="2462784" y="16764"/>
                </a:lnTo>
                <a:lnTo>
                  <a:pt x="2462784" y="19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430288" y="2136112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16283" y="2136112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n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908303" y="3238500"/>
          <a:ext cx="1304925" cy="369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115"/>
                <a:gridCol w="410209"/>
                <a:gridCol w="527685"/>
              </a:tblGrid>
              <a:tr h="18542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address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wipro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Blr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218944" y="3238500"/>
          <a:ext cx="1270000" cy="554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910"/>
                <a:gridCol w="422275"/>
                <a:gridCol w="469265"/>
              </a:tblGrid>
              <a:tr h="18542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phone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arun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7868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rajath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876876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1293812" y="3927221"/>
            <a:ext cx="1117600" cy="568960"/>
            <a:chOff x="1293812" y="3927221"/>
            <a:chExt cx="1117600" cy="568960"/>
          </a:xfrm>
        </p:grpSpPr>
        <p:pic>
          <p:nvPicPr>
            <p:cNvPr id="20" name="object 2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306067" y="3933443"/>
              <a:ext cx="1092708" cy="55625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810511" y="3930396"/>
              <a:ext cx="0" cy="562610"/>
            </a:xfrm>
            <a:custGeom>
              <a:avLst/>
              <a:gdLst/>
              <a:ahLst/>
              <a:cxnLst/>
              <a:rect l="l" t="t" r="r" b="b"/>
              <a:pathLst>
                <a:path h="562610">
                  <a:moveTo>
                    <a:pt x="0" y="0"/>
                  </a:moveTo>
                  <a:lnTo>
                    <a:pt x="0" y="562355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303020" y="4117848"/>
              <a:ext cx="1099185" cy="0"/>
            </a:xfrm>
            <a:custGeom>
              <a:avLst/>
              <a:gdLst/>
              <a:ahLst/>
              <a:cxnLst/>
              <a:rect l="l" t="t" r="r" b="b"/>
              <a:pathLst>
                <a:path w="1099185">
                  <a:moveTo>
                    <a:pt x="0" y="0"/>
                  </a:moveTo>
                  <a:lnTo>
                    <a:pt x="1098804" y="0"/>
                  </a:lnTo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303020" y="3930396"/>
              <a:ext cx="1099185" cy="562610"/>
            </a:xfrm>
            <a:custGeom>
              <a:avLst/>
              <a:gdLst/>
              <a:ahLst/>
              <a:cxnLst/>
              <a:rect l="l" t="t" r="r" b="b"/>
              <a:pathLst>
                <a:path w="1099185" h="562610">
                  <a:moveTo>
                    <a:pt x="0" y="373379"/>
                  </a:moveTo>
                  <a:lnTo>
                    <a:pt x="1098804" y="373379"/>
                  </a:lnTo>
                </a:path>
                <a:path w="1099185" h="562610">
                  <a:moveTo>
                    <a:pt x="3047" y="0"/>
                  </a:moveTo>
                  <a:lnTo>
                    <a:pt x="3047" y="562355"/>
                  </a:lnTo>
                </a:path>
                <a:path w="1099185" h="562610">
                  <a:moveTo>
                    <a:pt x="1095755" y="0"/>
                  </a:moveTo>
                  <a:lnTo>
                    <a:pt x="1095755" y="562355"/>
                  </a:lnTo>
                </a:path>
                <a:path w="1099185" h="562610">
                  <a:moveTo>
                    <a:pt x="0" y="3047"/>
                  </a:moveTo>
                  <a:lnTo>
                    <a:pt x="1098804" y="3047"/>
                  </a:lnTo>
                </a:path>
                <a:path w="1099185" h="562610">
                  <a:moveTo>
                    <a:pt x="0" y="559307"/>
                  </a:moveTo>
                  <a:lnTo>
                    <a:pt x="1098804" y="559307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843554" y="3890168"/>
            <a:ext cx="238125" cy="5835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5"/>
              </a:spcBef>
            </a:pP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e_id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900" spc="-25" dirty="0">
                <a:latin typeface="Gadugi" panose="020B0502040204020203"/>
                <a:cs typeface="Gadugi" panose="020B0502040204020203"/>
              </a:rPr>
              <a:t>10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900" spc="-25" dirty="0">
                <a:latin typeface="Gadugi" panose="020B0502040204020203"/>
                <a:cs typeface="Gadugi" panose="020B0502040204020203"/>
              </a:rPr>
              <a:t>20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39083" y="3890168"/>
            <a:ext cx="230504" cy="5835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5"/>
              </a:spcBef>
            </a:pP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c_id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39083" y="3754613"/>
            <a:ext cx="10287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Gadugi" panose="020B0502040204020203"/>
                <a:cs typeface="Gadugi" panose="020B0502040204020203"/>
              </a:rPr>
              <a:t>company_employee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876992" y="3154552"/>
            <a:ext cx="1510665" cy="568960"/>
            <a:chOff x="3876992" y="3154552"/>
            <a:chExt cx="1510665" cy="568960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9247" y="3160775"/>
              <a:ext cx="1485900" cy="55625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187951" y="3157727"/>
              <a:ext cx="871855" cy="562610"/>
            </a:xfrm>
            <a:custGeom>
              <a:avLst/>
              <a:gdLst/>
              <a:ahLst/>
              <a:cxnLst/>
              <a:rect l="l" t="t" r="r" b="b"/>
              <a:pathLst>
                <a:path w="871854" h="562610">
                  <a:moveTo>
                    <a:pt x="0" y="0"/>
                  </a:moveTo>
                  <a:lnTo>
                    <a:pt x="0" y="562356"/>
                  </a:lnTo>
                </a:path>
                <a:path w="871854" h="562610">
                  <a:moveTo>
                    <a:pt x="405383" y="0"/>
                  </a:moveTo>
                  <a:lnTo>
                    <a:pt x="405383" y="562356"/>
                  </a:lnTo>
                </a:path>
                <a:path w="871854" h="562610">
                  <a:moveTo>
                    <a:pt x="871728" y="0"/>
                  </a:moveTo>
                  <a:lnTo>
                    <a:pt x="871728" y="562356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886199" y="3345180"/>
              <a:ext cx="1492250" cy="0"/>
            </a:xfrm>
            <a:custGeom>
              <a:avLst/>
              <a:gdLst/>
              <a:ahLst/>
              <a:cxnLst/>
              <a:rect l="l" t="t" r="r" b="b"/>
              <a:pathLst>
                <a:path w="1492250">
                  <a:moveTo>
                    <a:pt x="0" y="0"/>
                  </a:moveTo>
                  <a:lnTo>
                    <a:pt x="1491996" y="0"/>
                  </a:lnTo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886199" y="3157727"/>
              <a:ext cx="1492250" cy="562610"/>
            </a:xfrm>
            <a:custGeom>
              <a:avLst/>
              <a:gdLst/>
              <a:ahLst/>
              <a:cxnLst/>
              <a:rect l="l" t="t" r="r" b="b"/>
              <a:pathLst>
                <a:path w="1492250" h="562610">
                  <a:moveTo>
                    <a:pt x="0" y="373380"/>
                  </a:moveTo>
                  <a:lnTo>
                    <a:pt x="1491996" y="373380"/>
                  </a:lnTo>
                </a:path>
                <a:path w="1492250" h="562610">
                  <a:moveTo>
                    <a:pt x="3048" y="0"/>
                  </a:moveTo>
                  <a:lnTo>
                    <a:pt x="3048" y="562356"/>
                  </a:lnTo>
                </a:path>
                <a:path w="1492250" h="562610">
                  <a:moveTo>
                    <a:pt x="1488948" y="0"/>
                  </a:moveTo>
                  <a:lnTo>
                    <a:pt x="1488948" y="562356"/>
                  </a:lnTo>
                </a:path>
                <a:path w="1492250" h="562610">
                  <a:moveTo>
                    <a:pt x="0" y="3048"/>
                  </a:moveTo>
                  <a:lnTo>
                    <a:pt x="1491996" y="3048"/>
                  </a:lnTo>
                </a:path>
                <a:path w="1492250" h="562610">
                  <a:moveTo>
                    <a:pt x="0" y="559308"/>
                  </a:moveTo>
                  <a:lnTo>
                    <a:pt x="1491996" y="55930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624795" y="3117627"/>
            <a:ext cx="697865" cy="5835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479425" algn="l"/>
              </a:tabLst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phone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	</a:t>
            </a: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c_id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479425" algn="l"/>
              </a:tabLst>
            </a:pPr>
            <a:r>
              <a:rPr sz="900" spc="-20" dirty="0">
                <a:latin typeface="Gadugi" panose="020B0502040204020203"/>
                <a:cs typeface="Gadugi" panose="020B0502040204020203"/>
              </a:rPr>
              <a:t>7868</a:t>
            </a:r>
            <a:r>
              <a:rPr sz="900" dirty="0">
                <a:latin typeface="Gadugi" panose="020B0502040204020203"/>
                <a:cs typeface="Gadugi" panose="020B0502040204020203"/>
              </a:rPr>
              <a:t>	</a:t>
            </a: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900" dirty="0">
                <a:latin typeface="Gadugi" panose="020B0502040204020203"/>
                <a:cs typeface="Gadugi" panose="020B0502040204020203"/>
              </a:rPr>
              <a:t>876876</a:t>
            </a:r>
            <a:r>
              <a:rPr sz="900" spc="49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20747" y="3117627"/>
            <a:ext cx="622300" cy="5835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312420" algn="l"/>
              </a:tabLst>
            </a:pP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	</a:t>
            </a: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312420" algn="l"/>
              </a:tabLst>
            </a:pPr>
            <a:r>
              <a:rPr sz="900" spc="-25" dirty="0">
                <a:latin typeface="Gadugi" panose="020B0502040204020203"/>
                <a:cs typeface="Gadugi" panose="020B0502040204020203"/>
              </a:rPr>
              <a:t>10</a:t>
            </a:r>
            <a:r>
              <a:rPr sz="900" dirty="0">
                <a:latin typeface="Gadugi" panose="020B0502040204020203"/>
                <a:cs typeface="Gadugi" panose="020B0502040204020203"/>
              </a:rPr>
              <a:t>	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arun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312420" algn="l"/>
              </a:tabLst>
            </a:pPr>
            <a:r>
              <a:rPr sz="900" spc="-25" dirty="0">
                <a:latin typeface="Gadugi" panose="020B0502040204020203"/>
                <a:cs typeface="Gadugi" panose="020B0502040204020203"/>
              </a:rPr>
              <a:t>20</a:t>
            </a:r>
            <a:r>
              <a:rPr sz="900" dirty="0">
                <a:latin typeface="Gadugi" panose="020B0502040204020203"/>
                <a:cs typeface="Gadugi" panose="020B0502040204020203"/>
              </a:rPr>
              <a:t>	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rajath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5548884" y="3238500"/>
          <a:ext cx="1304925" cy="369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115"/>
                <a:gridCol w="408304"/>
                <a:gridCol w="528955"/>
              </a:tblGrid>
              <a:tr h="185420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address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wipro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Blr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</a:tbl>
          </a:graphicData>
        </a:graphic>
      </p:graphicFrame>
      <p:sp>
        <p:nvSpPr>
          <p:cNvPr id="35" name="object 35"/>
          <p:cNvSpPr/>
          <p:nvPr/>
        </p:nvSpPr>
        <p:spPr>
          <a:xfrm>
            <a:off x="844295" y="113385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4"/>
                </a:lnTo>
                <a:lnTo>
                  <a:pt x="6082284" y="3415284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920495" y="5654039"/>
            <a:ext cx="5897880" cy="3154680"/>
          </a:xfrm>
          <a:prstGeom prst="rect">
            <a:avLst/>
          </a:prstGeom>
          <a:ln w="13715">
            <a:solidFill>
              <a:srgbClr val="B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43815">
              <a:lnSpc>
                <a:spcPct val="100000"/>
              </a:lnSpc>
            </a:pPr>
            <a:r>
              <a:rPr sz="1000" dirty="0">
                <a:latin typeface="Gadugi" panose="020B0502040204020203"/>
                <a:cs typeface="Gadugi" panose="020B0502040204020203"/>
              </a:rPr>
              <a:t>In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the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previous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slide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50" dirty="0">
                <a:latin typeface="Gadugi" panose="020B0502040204020203"/>
                <a:cs typeface="Gadugi" panose="020B0502040204020203"/>
              </a:rPr>
              <a:t>,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185420" indent="-14160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85420" algn="l"/>
              </a:tabLst>
            </a:pPr>
            <a:r>
              <a:rPr sz="1000" dirty="0">
                <a:latin typeface="Gadugi" panose="020B0502040204020203"/>
                <a:cs typeface="Gadugi" panose="020B0502040204020203"/>
              </a:rPr>
              <a:t>when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hibernate looks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at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the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annotation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@OneToMany</a:t>
            </a:r>
            <a:r>
              <a:rPr sz="1000" dirty="0">
                <a:latin typeface="Gadugi" panose="020B0502040204020203"/>
                <a:cs typeface="Gadugi" panose="020B0502040204020203"/>
              </a:rPr>
              <a:t> ,it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will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create 3</a:t>
            </a:r>
            <a:r>
              <a:rPr sz="10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tables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one</a:t>
            </a:r>
            <a:r>
              <a:rPr sz="10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for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owning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side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187325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latin typeface="Gadugi" panose="020B0502040204020203"/>
                <a:cs typeface="Gadugi" panose="020B0502040204020203"/>
              </a:rPr>
              <a:t>,one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for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non-</a:t>
            </a:r>
            <a:r>
              <a:rPr sz="1000" dirty="0">
                <a:latin typeface="Gadugi" panose="020B0502040204020203"/>
                <a:cs typeface="Gadugi" panose="020B0502040204020203"/>
              </a:rPr>
              <a:t>owning</a:t>
            </a:r>
            <a:r>
              <a:rPr sz="1000" spc="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side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and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another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for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both</a:t>
            </a:r>
            <a:r>
              <a:rPr sz="10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FK’s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50" dirty="0">
                <a:latin typeface="Gadugi" panose="020B0502040204020203"/>
                <a:cs typeface="Gadugi" panose="020B0502040204020203"/>
              </a:rPr>
              <a:t>.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185420" marR="250825" indent="-141605">
              <a:lnSpc>
                <a:spcPct val="150000"/>
              </a:lnSpc>
              <a:buFont typeface="Arial" panose="020B0604020202020204"/>
              <a:buChar char="•"/>
              <a:tabLst>
                <a:tab pos="187325" algn="l"/>
              </a:tabLst>
            </a:pPr>
            <a:r>
              <a:rPr sz="1000" dirty="0">
                <a:latin typeface="Gadugi" panose="020B0502040204020203"/>
                <a:cs typeface="Gadugi" panose="020B0502040204020203"/>
              </a:rPr>
              <a:t>When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hibernate looks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at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the</a:t>
            </a:r>
            <a:r>
              <a:rPr sz="10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annotation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@ManyToOne</a:t>
            </a:r>
            <a:r>
              <a:rPr sz="1000" dirty="0">
                <a:latin typeface="Gadugi" panose="020B0502040204020203"/>
                <a:cs typeface="Gadugi" panose="020B0502040204020203"/>
              </a:rPr>
              <a:t> ,it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will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create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2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tables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one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for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owning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side, 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	</a:t>
            </a:r>
            <a:r>
              <a:rPr sz="1000" dirty="0">
                <a:latin typeface="Gadugi" panose="020B0502040204020203"/>
                <a:cs typeface="Gadugi" panose="020B0502040204020203"/>
              </a:rPr>
              <a:t>one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for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non-</a:t>
            </a:r>
            <a:r>
              <a:rPr sz="1000" dirty="0">
                <a:latin typeface="Gadugi" panose="020B0502040204020203"/>
                <a:cs typeface="Gadugi" panose="020B0502040204020203"/>
              </a:rPr>
              <a:t>owning</a:t>
            </a:r>
            <a:r>
              <a:rPr sz="1000" spc="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side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185420" marR="170180" indent="-141605">
              <a:lnSpc>
                <a:spcPts val="1800"/>
              </a:lnSpc>
              <a:spcBef>
                <a:spcPts val="160"/>
              </a:spcBef>
              <a:buFont typeface="Arial" panose="020B0604020202020204"/>
              <a:buChar char="•"/>
              <a:tabLst>
                <a:tab pos="187325" algn="l"/>
              </a:tabLst>
            </a:pPr>
            <a:r>
              <a:rPr sz="1000" dirty="0">
                <a:latin typeface="Gadugi" panose="020B0502040204020203"/>
                <a:cs typeface="Gadugi" panose="020B0502040204020203"/>
              </a:rPr>
              <a:t>Since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both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are</a:t>
            </a:r>
            <a:r>
              <a:rPr sz="10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owning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side</a:t>
            </a:r>
            <a:r>
              <a:rPr sz="10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3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tables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will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be</a:t>
            </a:r>
            <a:r>
              <a:rPr sz="10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created</a:t>
            </a:r>
            <a:r>
              <a:rPr sz="1000" spc="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,</a:t>
            </a:r>
            <a:r>
              <a:rPr sz="10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one</a:t>
            </a:r>
            <a:r>
              <a:rPr sz="10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for</a:t>
            </a:r>
            <a:r>
              <a:rPr sz="10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company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,one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for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employee(which</a:t>
            </a:r>
            <a:r>
              <a:rPr sz="1000" spc="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has 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	</a:t>
            </a:r>
            <a:r>
              <a:rPr sz="1000" dirty="0">
                <a:latin typeface="Gadugi" panose="020B0502040204020203"/>
                <a:cs typeface="Gadugi" panose="020B0502040204020203"/>
              </a:rPr>
              <a:t>c_id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as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FK),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another</a:t>
            </a:r>
            <a:r>
              <a:rPr sz="1000" spc="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one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for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both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the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FK’s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185420" marR="92710" indent="-141605">
              <a:lnSpc>
                <a:spcPts val="1800"/>
              </a:lnSpc>
              <a:buFont typeface="Arial" panose="020B0604020202020204"/>
              <a:buChar char="•"/>
              <a:tabLst>
                <a:tab pos="187325" algn="l"/>
              </a:tabLst>
            </a:pPr>
            <a:r>
              <a:rPr sz="1000" dirty="0">
                <a:latin typeface="Gadugi" panose="020B0502040204020203"/>
                <a:cs typeface="Gadugi" panose="020B0502040204020203"/>
              </a:rPr>
              <a:t>Since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@ManyToOne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will</a:t>
            </a:r>
            <a:r>
              <a:rPr sz="10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create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2</a:t>
            </a:r>
            <a:r>
              <a:rPr sz="10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tables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(to</a:t>
            </a:r>
            <a:r>
              <a:rPr sz="10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decrease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from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3),</a:t>
            </a:r>
            <a:r>
              <a:rPr sz="10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we</a:t>
            </a:r>
            <a:r>
              <a:rPr sz="10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will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make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employee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as</a:t>
            </a:r>
            <a:r>
              <a:rPr sz="10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owning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side. 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	</a:t>
            </a:r>
            <a:r>
              <a:rPr sz="1000" spc="-50" dirty="0">
                <a:latin typeface="Gadugi" panose="020B0502040204020203"/>
                <a:cs typeface="Gadugi" panose="020B0502040204020203"/>
              </a:rPr>
              <a:t>To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make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employee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as</a:t>
            </a:r>
            <a:r>
              <a:rPr sz="10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owning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side</a:t>
            </a:r>
            <a:r>
              <a:rPr sz="10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we</a:t>
            </a:r>
            <a:r>
              <a:rPr sz="10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should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annotate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it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with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@JoinColumn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and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company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as</a:t>
            </a:r>
            <a:r>
              <a:rPr sz="10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non-</a:t>
            </a:r>
            <a:r>
              <a:rPr sz="1000" spc="-20" dirty="0">
                <a:latin typeface="Gadugi" panose="020B0502040204020203"/>
                <a:cs typeface="Gadugi" panose="020B0502040204020203"/>
              </a:rPr>
              <a:t>	</a:t>
            </a:r>
            <a:r>
              <a:rPr sz="1000" dirty="0">
                <a:latin typeface="Gadugi" panose="020B0502040204020203"/>
                <a:cs typeface="Gadugi" panose="020B0502040204020203"/>
              </a:rPr>
              <a:t>owning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side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we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should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make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use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of</a:t>
            </a:r>
            <a:r>
              <a:rPr sz="10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mappedBy=“ref”(reference</a:t>
            </a:r>
            <a:r>
              <a:rPr sz="1000" spc="3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of</a:t>
            </a:r>
            <a:r>
              <a:rPr sz="10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mapped</a:t>
            </a:r>
            <a:r>
              <a:rPr sz="10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entity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1000" dirty="0">
                <a:latin typeface="Gadugi" panose="020B0502040204020203"/>
                <a:cs typeface="Gadugi" panose="020B0502040204020203"/>
              </a:rPr>
              <a:t>present</a:t>
            </a:r>
            <a:r>
              <a:rPr sz="1000" spc="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inside 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	</a:t>
            </a:r>
            <a:r>
              <a:rPr sz="1000" dirty="0">
                <a:latin typeface="Gadugi" panose="020B0502040204020203"/>
                <a:cs typeface="Gadugi" panose="020B0502040204020203"/>
              </a:rPr>
              <a:t>owning</a:t>
            </a:r>
            <a:r>
              <a:rPr sz="10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1000" spc="-10" dirty="0">
                <a:latin typeface="Gadugi" panose="020B0502040204020203"/>
                <a:cs typeface="Gadugi" panose="020B0502040204020203"/>
              </a:rPr>
              <a:t>side).</a:t>
            </a:r>
            <a:endParaRPr sz="10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44295" y="550773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3"/>
                </a:lnTo>
                <a:lnTo>
                  <a:pt x="6082284" y="3415283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r>
              <a:rPr spc="-25" dirty="0"/>
              <a:t>1</a:t>
            </a:r>
            <a:r>
              <a:rPr spc="-25" dirty="0"/>
              <a:t>1</a:t>
            </a:r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1540" y="25814"/>
            <a:ext cx="76771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0" dirty="0">
                <a:latin typeface="Calibri" panose="020F0502020204030204"/>
                <a:cs typeface="Calibri" panose="020F0502020204030204"/>
              </a:rPr>
              <a:t>3/30/2023</a:t>
            </a:r>
            <a:endParaRPr sz="1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4401" y="1235458"/>
            <a:ext cx="4084954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latin typeface="Gadugi" panose="020B0502040204020203"/>
                <a:cs typeface="Gadugi" panose="020B0502040204020203"/>
              </a:rPr>
              <a:t>OneToMany-</a:t>
            </a:r>
            <a:r>
              <a:rPr sz="1400" b="1" spc="-20" dirty="0">
                <a:latin typeface="Gadugi" panose="020B0502040204020203"/>
                <a:cs typeface="Gadugi" panose="020B0502040204020203"/>
              </a:rPr>
              <a:t>bidirection/ManyToOne-</a:t>
            </a:r>
            <a:r>
              <a:rPr sz="1400" b="1" spc="-10" dirty="0">
                <a:latin typeface="Gadugi" panose="020B0502040204020203"/>
                <a:cs typeface="Gadugi" panose="020B0502040204020203"/>
              </a:rPr>
              <a:t>bidirection</a:t>
            </a:r>
            <a:endParaRPr sz="14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60036" y="1737232"/>
            <a:ext cx="2099310" cy="1283970"/>
            <a:chOff x="4360036" y="1737232"/>
            <a:chExt cx="2099310" cy="1283970"/>
          </a:xfrm>
        </p:grpSpPr>
        <p:sp>
          <p:nvSpPr>
            <p:cNvPr id="5" name="object 5"/>
            <p:cNvSpPr/>
            <p:nvPr/>
          </p:nvSpPr>
          <p:spPr>
            <a:xfrm>
              <a:off x="4366260" y="1743455"/>
              <a:ext cx="2086610" cy="1264920"/>
            </a:xfrm>
            <a:custGeom>
              <a:avLst/>
              <a:gdLst/>
              <a:ahLst/>
              <a:cxnLst/>
              <a:rect l="l" t="t" r="r" b="b"/>
              <a:pathLst>
                <a:path w="2086610" h="1264920">
                  <a:moveTo>
                    <a:pt x="2086356" y="1264920"/>
                  </a:moveTo>
                  <a:lnTo>
                    <a:pt x="0" y="1264920"/>
                  </a:lnTo>
                  <a:lnTo>
                    <a:pt x="0" y="0"/>
                  </a:lnTo>
                  <a:lnTo>
                    <a:pt x="2086356" y="0"/>
                  </a:lnTo>
                  <a:lnTo>
                    <a:pt x="2086356" y="126492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363211" y="1740407"/>
              <a:ext cx="2092960" cy="1277620"/>
            </a:xfrm>
            <a:custGeom>
              <a:avLst/>
              <a:gdLst/>
              <a:ahLst/>
              <a:cxnLst/>
              <a:rect l="l" t="t" r="r" b="b"/>
              <a:pathLst>
                <a:path w="2092960" h="1277620">
                  <a:moveTo>
                    <a:pt x="3048" y="0"/>
                  </a:moveTo>
                  <a:lnTo>
                    <a:pt x="3048" y="1277111"/>
                  </a:lnTo>
                </a:path>
                <a:path w="2092960" h="1277620">
                  <a:moveTo>
                    <a:pt x="2089404" y="0"/>
                  </a:moveTo>
                  <a:lnTo>
                    <a:pt x="2089404" y="1277111"/>
                  </a:lnTo>
                </a:path>
                <a:path w="2092960" h="1277620">
                  <a:moveTo>
                    <a:pt x="0" y="3047"/>
                  </a:moveTo>
                  <a:lnTo>
                    <a:pt x="2092452" y="3047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363211" y="2999231"/>
              <a:ext cx="2092960" cy="18415"/>
            </a:xfrm>
            <a:custGeom>
              <a:avLst/>
              <a:gdLst/>
              <a:ahLst/>
              <a:cxnLst/>
              <a:rect l="l" t="t" r="r" b="b"/>
              <a:pathLst>
                <a:path w="2092960" h="18414">
                  <a:moveTo>
                    <a:pt x="0" y="0"/>
                  </a:moveTo>
                  <a:lnTo>
                    <a:pt x="2092452" y="0"/>
                  </a:lnTo>
                  <a:lnTo>
                    <a:pt x="2092452" y="18287"/>
                  </a:lnTo>
                  <a:lnTo>
                    <a:pt x="0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369308" y="1749067"/>
            <a:ext cx="208026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779145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//create</a:t>
            </a: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Company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2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Company{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 marR="93789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int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id;</a:t>
            </a:r>
            <a:r>
              <a:rPr sz="9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 marR="19177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address;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@onetomany(mappedBy="company")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5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List&lt;Employee&gt;employee;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//getters</a:t>
            </a:r>
            <a:r>
              <a:rPr sz="9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setters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26464" y="1674749"/>
            <a:ext cx="1687830" cy="1681480"/>
            <a:chOff x="926464" y="1674749"/>
            <a:chExt cx="1687830" cy="1681480"/>
          </a:xfrm>
        </p:grpSpPr>
        <p:sp>
          <p:nvSpPr>
            <p:cNvPr id="10" name="object 10"/>
            <p:cNvSpPr/>
            <p:nvPr/>
          </p:nvSpPr>
          <p:spPr>
            <a:xfrm>
              <a:off x="932687" y="1680972"/>
              <a:ext cx="1673860" cy="1661160"/>
            </a:xfrm>
            <a:custGeom>
              <a:avLst/>
              <a:gdLst/>
              <a:ahLst/>
              <a:cxnLst/>
              <a:rect l="l" t="t" r="r" b="b"/>
              <a:pathLst>
                <a:path w="1673860" h="1661160">
                  <a:moveTo>
                    <a:pt x="1673352" y="1661160"/>
                  </a:moveTo>
                  <a:lnTo>
                    <a:pt x="0" y="1661160"/>
                  </a:lnTo>
                  <a:lnTo>
                    <a:pt x="0" y="0"/>
                  </a:lnTo>
                  <a:lnTo>
                    <a:pt x="1673352" y="0"/>
                  </a:lnTo>
                  <a:lnTo>
                    <a:pt x="1673352" y="166116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29639" y="1677924"/>
              <a:ext cx="1681480" cy="1675130"/>
            </a:xfrm>
            <a:custGeom>
              <a:avLst/>
              <a:gdLst/>
              <a:ahLst/>
              <a:cxnLst/>
              <a:rect l="l" t="t" r="r" b="b"/>
              <a:pathLst>
                <a:path w="1681480" h="1675129">
                  <a:moveTo>
                    <a:pt x="3048" y="0"/>
                  </a:moveTo>
                  <a:lnTo>
                    <a:pt x="3048" y="1674875"/>
                  </a:lnTo>
                </a:path>
                <a:path w="1681480" h="1675129">
                  <a:moveTo>
                    <a:pt x="1676400" y="0"/>
                  </a:moveTo>
                  <a:lnTo>
                    <a:pt x="1676400" y="1674875"/>
                  </a:lnTo>
                </a:path>
                <a:path w="1681480" h="1675129">
                  <a:moveTo>
                    <a:pt x="0" y="3047"/>
                  </a:moveTo>
                  <a:lnTo>
                    <a:pt x="1680971" y="3047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29639" y="3332988"/>
              <a:ext cx="1681480" cy="18415"/>
            </a:xfrm>
            <a:custGeom>
              <a:avLst/>
              <a:gdLst/>
              <a:ahLst/>
              <a:cxnLst/>
              <a:rect l="l" t="t" r="r" b="b"/>
              <a:pathLst>
                <a:path w="1681480" h="18414">
                  <a:moveTo>
                    <a:pt x="0" y="0"/>
                  </a:moveTo>
                  <a:lnTo>
                    <a:pt x="1680971" y="0"/>
                  </a:lnTo>
                  <a:lnTo>
                    <a:pt x="1680971" y="18287"/>
                  </a:lnTo>
                  <a:lnTo>
                    <a:pt x="0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35736" y="1688066"/>
            <a:ext cx="1667510" cy="1641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marR="352425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//create</a:t>
            </a: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Employee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Employee{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>
              <a:lnSpc>
                <a:spcPct val="100000"/>
              </a:lnSpc>
            </a:pP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 marR="52641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int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id;</a:t>
            </a:r>
            <a:r>
              <a:rPr sz="9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name;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email;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 marR="8128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password;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@ManyToOne(cascade=Cascade Type.</a:t>
            </a:r>
            <a:r>
              <a:rPr sz="800" spc="-10" dirty="0">
                <a:solidFill>
                  <a:srgbClr val="FFFFFF"/>
                </a:solidFill>
                <a:latin typeface="Segoe UI Symbol" panose="020B0502040204020203"/>
                <a:cs typeface="Segoe UI Symbol" panose="020B0502040204020203"/>
              </a:rPr>
              <a:t>ALL)</a:t>
            </a:r>
            <a:endParaRPr sz="800">
              <a:latin typeface="Segoe UI Symbol" panose="020B0502040204020203"/>
              <a:cs typeface="Segoe UI Symbol" panose="020B0502040204020203"/>
            </a:endParaRPr>
          </a:p>
          <a:p>
            <a:pPr marL="40640">
              <a:lnSpc>
                <a:spcPct val="100000"/>
              </a:lnSpc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@JoinColumn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Company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company;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064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//getters</a:t>
            </a:r>
            <a:r>
              <a:rPr sz="9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setters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48432" y="2078237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n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62830" y="2078237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4602479" y="3311652"/>
          <a:ext cx="1408430" cy="554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115"/>
                <a:gridCol w="446404"/>
                <a:gridCol w="594360"/>
              </a:tblGrid>
              <a:tr h="185420">
                <a:tc>
                  <a:txBody>
                    <a:bodyPr/>
                    <a:lstStyle/>
                    <a:p>
                      <a:pPr marR="82550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address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R="1238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R="6540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wipro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Blr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R="12382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infosys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chn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908303" y="3526535"/>
          <a:ext cx="2813685" cy="552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595"/>
                <a:gridCol w="520065"/>
                <a:gridCol w="844550"/>
                <a:gridCol w="661669"/>
                <a:gridCol w="390525"/>
              </a:tblGrid>
              <a:tr h="18288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Email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password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c_id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arun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  <a:hlinkClick r:id="rId1"/>
                        </a:rPr>
                        <a:t>a@gmail.com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123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rajath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u="sng" spc="-1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Gadugi" panose="020B0502040204020203"/>
                          <a:cs typeface="Gadugi" panose="020B0502040204020203"/>
                          <a:hlinkClick r:id="rId2"/>
                        </a:rPr>
                        <a:t>r@gmail.com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234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838200" y="1127760"/>
            <a:ext cx="6094730" cy="3427729"/>
            <a:chOff x="838200" y="1127760"/>
            <a:chExt cx="6094730" cy="3427729"/>
          </a:xfrm>
        </p:grpSpPr>
        <p:sp>
          <p:nvSpPr>
            <p:cNvPr id="19" name="object 19"/>
            <p:cNvSpPr/>
            <p:nvPr/>
          </p:nvSpPr>
          <p:spPr>
            <a:xfrm>
              <a:off x="5250180" y="1153668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38100" y="38100"/>
                  </a:moveTo>
                  <a:lnTo>
                    <a:pt x="0" y="38100"/>
                  </a:lnTo>
                  <a:lnTo>
                    <a:pt x="18287" y="0"/>
                  </a:lnTo>
                  <a:lnTo>
                    <a:pt x="38100" y="3810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606039" y="2237232"/>
              <a:ext cx="1760220" cy="38100"/>
            </a:xfrm>
            <a:custGeom>
              <a:avLst/>
              <a:gdLst/>
              <a:ahLst/>
              <a:cxnLst/>
              <a:rect l="l" t="t" r="r" b="b"/>
              <a:pathLst>
                <a:path w="1760220" h="38100">
                  <a:moveTo>
                    <a:pt x="38100" y="38100"/>
                  </a:moveTo>
                  <a:lnTo>
                    <a:pt x="0" y="18288"/>
                  </a:lnTo>
                  <a:lnTo>
                    <a:pt x="38100" y="0"/>
                  </a:lnTo>
                  <a:lnTo>
                    <a:pt x="38100" y="16764"/>
                  </a:lnTo>
                  <a:lnTo>
                    <a:pt x="32004" y="16764"/>
                  </a:lnTo>
                  <a:lnTo>
                    <a:pt x="32004" y="19812"/>
                  </a:lnTo>
                  <a:lnTo>
                    <a:pt x="38100" y="19812"/>
                  </a:lnTo>
                  <a:lnTo>
                    <a:pt x="38100" y="38100"/>
                  </a:lnTo>
                  <a:close/>
                </a:path>
                <a:path w="1760220" h="38100">
                  <a:moveTo>
                    <a:pt x="38100" y="19812"/>
                  </a:moveTo>
                  <a:lnTo>
                    <a:pt x="32004" y="19812"/>
                  </a:lnTo>
                  <a:lnTo>
                    <a:pt x="32004" y="16764"/>
                  </a:lnTo>
                  <a:lnTo>
                    <a:pt x="38100" y="16764"/>
                  </a:lnTo>
                  <a:lnTo>
                    <a:pt x="38100" y="19812"/>
                  </a:lnTo>
                  <a:close/>
                </a:path>
                <a:path w="1760220" h="38100">
                  <a:moveTo>
                    <a:pt x="1760220" y="19812"/>
                  </a:moveTo>
                  <a:lnTo>
                    <a:pt x="38100" y="19812"/>
                  </a:lnTo>
                  <a:lnTo>
                    <a:pt x="38100" y="16764"/>
                  </a:lnTo>
                  <a:lnTo>
                    <a:pt x="1760220" y="16764"/>
                  </a:lnTo>
                  <a:lnTo>
                    <a:pt x="1760220" y="198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44295" y="1133856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4"/>
                  </a:lnTo>
                  <a:lnTo>
                    <a:pt x="6082284" y="3415284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44401" y="5609344"/>
            <a:ext cx="21304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Gadugi" panose="020B0502040204020203"/>
                <a:cs typeface="Gadugi" panose="020B0502040204020203"/>
              </a:rPr>
              <a:t>ManytoMany-bidirection</a:t>
            </a:r>
            <a:endParaRPr sz="14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26464" y="5856604"/>
            <a:ext cx="1687830" cy="1285240"/>
            <a:chOff x="926464" y="5856604"/>
            <a:chExt cx="1687830" cy="1285240"/>
          </a:xfrm>
        </p:grpSpPr>
        <p:sp>
          <p:nvSpPr>
            <p:cNvPr id="24" name="object 24"/>
            <p:cNvSpPr/>
            <p:nvPr/>
          </p:nvSpPr>
          <p:spPr>
            <a:xfrm>
              <a:off x="932687" y="5862827"/>
              <a:ext cx="1673860" cy="1264920"/>
            </a:xfrm>
            <a:custGeom>
              <a:avLst/>
              <a:gdLst/>
              <a:ahLst/>
              <a:cxnLst/>
              <a:rect l="l" t="t" r="r" b="b"/>
              <a:pathLst>
                <a:path w="1673860" h="1264920">
                  <a:moveTo>
                    <a:pt x="1673352" y="1264919"/>
                  </a:moveTo>
                  <a:lnTo>
                    <a:pt x="0" y="1264919"/>
                  </a:lnTo>
                  <a:lnTo>
                    <a:pt x="0" y="0"/>
                  </a:lnTo>
                  <a:lnTo>
                    <a:pt x="1673352" y="0"/>
                  </a:lnTo>
                  <a:lnTo>
                    <a:pt x="1673352" y="1264919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29639" y="5859779"/>
              <a:ext cx="1681480" cy="1278890"/>
            </a:xfrm>
            <a:custGeom>
              <a:avLst/>
              <a:gdLst/>
              <a:ahLst/>
              <a:cxnLst/>
              <a:rect l="l" t="t" r="r" b="b"/>
              <a:pathLst>
                <a:path w="1681480" h="1278890">
                  <a:moveTo>
                    <a:pt x="1676400" y="0"/>
                  </a:moveTo>
                  <a:lnTo>
                    <a:pt x="1676400" y="1278635"/>
                  </a:lnTo>
                </a:path>
                <a:path w="1681480" h="1278890">
                  <a:moveTo>
                    <a:pt x="0" y="3048"/>
                  </a:moveTo>
                  <a:lnTo>
                    <a:pt x="1680971" y="30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932687" y="5869933"/>
            <a:ext cx="167386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15" marR="51435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//create</a:t>
            </a: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Person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Person{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3815">
              <a:lnSpc>
                <a:spcPct val="100000"/>
              </a:lnSpc>
            </a:pP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3815" marR="52959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int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id;</a:t>
            </a:r>
            <a:r>
              <a:rPr sz="9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381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address;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3815">
              <a:lnSpc>
                <a:spcPts val="960"/>
              </a:lnSpc>
              <a:spcBef>
                <a:spcPts val="5"/>
              </a:spcBef>
            </a:pP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@ManyToMany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43815">
              <a:lnSpc>
                <a:spcPts val="108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5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Language</a:t>
            </a:r>
            <a:r>
              <a:rPr sz="900" b="1" spc="17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language;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381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//getters</a:t>
            </a:r>
            <a:r>
              <a:rPr sz="9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setters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48432" y="6452105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n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62830" y="6452105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2435351" y="7191755"/>
          <a:ext cx="1283335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045"/>
                <a:gridCol w="544195"/>
                <a:gridCol w="423545"/>
              </a:tblGrid>
              <a:tr h="182880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origin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Kannada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KAR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Telugu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AP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908303" y="7191755"/>
          <a:ext cx="1350645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970"/>
                <a:gridCol w="444500"/>
                <a:gridCol w="554355"/>
              </a:tblGrid>
              <a:tr h="182880">
                <a:tc>
                  <a:txBody>
                    <a:bodyPr/>
                    <a:lstStyle/>
                    <a:p>
                      <a:pPr marR="6604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address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arun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Blr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rajath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chn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</a:tr>
            </a:tbl>
          </a:graphicData>
        </a:graphic>
      </p:graphicFrame>
      <p:grpSp>
        <p:nvGrpSpPr>
          <p:cNvPr id="31" name="object 31"/>
          <p:cNvGrpSpPr/>
          <p:nvPr/>
        </p:nvGrpSpPr>
        <p:grpSpPr>
          <a:xfrm>
            <a:off x="1991804" y="5527547"/>
            <a:ext cx="3296920" cy="3175000"/>
            <a:chOff x="1991804" y="5527547"/>
            <a:chExt cx="3296920" cy="3175000"/>
          </a:xfrm>
        </p:grpSpPr>
        <p:sp>
          <p:nvSpPr>
            <p:cNvPr id="32" name="object 32"/>
            <p:cNvSpPr/>
            <p:nvPr/>
          </p:nvSpPr>
          <p:spPr>
            <a:xfrm>
              <a:off x="5250180" y="5527547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38100" y="38100"/>
                  </a:moveTo>
                  <a:lnTo>
                    <a:pt x="0" y="38100"/>
                  </a:lnTo>
                  <a:lnTo>
                    <a:pt x="18287" y="0"/>
                  </a:lnTo>
                  <a:lnTo>
                    <a:pt x="38100" y="3810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606039" y="6611112"/>
              <a:ext cx="1760220" cy="38100"/>
            </a:xfrm>
            <a:custGeom>
              <a:avLst/>
              <a:gdLst/>
              <a:ahLst/>
              <a:cxnLst/>
              <a:rect l="l" t="t" r="r" b="b"/>
              <a:pathLst>
                <a:path w="1760220" h="38100">
                  <a:moveTo>
                    <a:pt x="38100" y="38100"/>
                  </a:moveTo>
                  <a:lnTo>
                    <a:pt x="0" y="18288"/>
                  </a:lnTo>
                  <a:lnTo>
                    <a:pt x="38100" y="0"/>
                  </a:lnTo>
                  <a:lnTo>
                    <a:pt x="38100" y="16764"/>
                  </a:lnTo>
                  <a:lnTo>
                    <a:pt x="32004" y="16764"/>
                  </a:lnTo>
                  <a:lnTo>
                    <a:pt x="32004" y="19812"/>
                  </a:lnTo>
                  <a:lnTo>
                    <a:pt x="38100" y="19812"/>
                  </a:lnTo>
                  <a:lnTo>
                    <a:pt x="38100" y="38100"/>
                  </a:lnTo>
                  <a:close/>
                </a:path>
                <a:path w="1760220" h="38100">
                  <a:moveTo>
                    <a:pt x="38100" y="19812"/>
                  </a:moveTo>
                  <a:lnTo>
                    <a:pt x="32004" y="19812"/>
                  </a:lnTo>
                  <a:lnTo>
                    <a:pt x="32004" y="16764"/>
                  </a:lnTo>
                  <a:lnTo>
                    <a:pt x="38100" y="16764"/>
                  </a:lnTo>
                  <a:lnTo>
                    <a:pt x="38100" y="19812"/>
                  </a:lnTo>
                  <a:close/>
                </a:path>
                <a:path w="1760220" h="38100">
                  <a:moveTo>
                    <a:pt x="1760220" y="19812"/>
                  </a:moveTo>
                  <a:lnTo>
                    <a:pt x="38100" y="19812"/>
                  </a:lnTo>
                  <a:lnTo>
                    <a:pt x="38100" y="16764"/>
                  </a:lnTo>
                  <a:lnTo>
                    <a:pt x="1760220" y="16764"/>
                  </a:lnTo>
                  <a:lnTo>
                    <a:pt x="1760220" y="198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4060" y="7781544"/>
              <a:ext cx="682751" cy="91440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368296" y="7778495"/>
              <a:ext cx="0" cy="920750"/>
            </a:xfrm>
            <a:custGeom>
              <a:avLst/>
              <a:gdLst/>
              <a:ahLst/>
              <a:cxnLst/>
              <a:rect l="l" t="t" r="r" b="b"/>
              <a:pathLst>
                <a:path h="920750">
                  <a:moveTo>
                    <a:pt x="0" y="0"/>
                  </a:moveTo>
                  <a:lnTo>
                    <a:pt x="0" y="920496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001012" y="7964423"/>
              <a:ext cx="688975" cy="0"/>
            </a:xfrm>
            <a:custGeom>
              <a:avLst/>
              <a:gdLst/>
              <a:ahLst/>
              <a:cxnLst/>
              <a:rect l="l" t="t" r="r" b="b"/>
              <a:pathLst>
                <a:path w="688975">
                  <a:moveTo>
                    <a:pt x="0" y="0"/>
                  </a:moveTo>
                  <a:lnTo>
                    <a:pt x="688847" y="0"/>
                  </a:lnTo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001012" y="7778495"/>
              <a:ext cx="688975" cy="920750"/>
            </a:xfrm>
            <a:custGeom>
              <a:avLst/>
              <a:gdLst/>
              <a:ahLst/>
              <a:cxnLst/>
              <a:rect l="l" t="t" r="r" b="b"/>
              <a:pathLst>
                <a:path w="688975" h="920750">
                  <a:moveTo>
                    <a:pt x="0" y="368807"/>
                  </a:moveTo>
                  <a:lnTo>
                    <a:pt x="688847" y="368807"/>
                  </a:lnTo>
                </a:path>
                <a:path w="688975" h="920750">
                  <a:moveTo>
                    <a:pt x="0" y="551687"/>
                  </a:moveTo>
                  <a:lnTo>
                    <a:pt x="688847" y="551687"/>
                  </a:lnTo>
                </a:path>
                <a:path w="688975" h="920750">
                  <a:moveTo>
                    <a:pt x="0" y="734567"/>
                  </a:moveTo>
                  <a:lnTo>
                    <a:pt x="688847" y="734567"/>
                  </a:lnTo>
                </a:path>
                <a:path w="688975" h="920750">
                  <a:moveTo>
                    <a:pt x="3047" y="0"/>
                  </a:moveTo>
                  <a:lnTo>
                    <a:pt x="3047" y="920496"/>
                  </a:lnTo>
                </a:path>
                <a:path w="688975" h="920750">
                  <a:moveTo>
                    <a:pt x="685799" y="0"/>
                  </a:moveTo>
                  <a:lnTo>
                    <a:pt x="685799" y="920496"/>
                  </a:lnTo>
                </a:path>
                <a:path w="688975" h="920750">
                  <a:moveTo>
                    <a:pt x="0" y="3048"/>
                  </a:moveTo>
                  <a:lnTo>
                    <a:pt x="688847" y="3048"/>
                  </a:lnTo>
                </a:path>
                <a:path w="688975" h="920750">
                  <a:moveTo>
                    <a:pt x="0" y="917448"/>
                  </a:moveTo>
                  <a:lnTo>
                    <a:pt x="688847" y="9174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1912089" y="8684731"/>
            <a:ext cx="8858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Gadugi" panose="020B0502040204020203"/>
                <a:cs typeface="Gadugi" panose="020B0502040204020203"/>
              </a:rPr>
              <a:t>person_language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3954779" y="7202423"/>
          <a:ext cx="1283335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045"/>
                <a:gridCol w="544195"/>
                <a:gridCol w="423545"/>
              </a:tblGrid>
              <a:tr h="182880">
                <a:tc>
                  <a:txBody>
                    <a:bodyPr/>
                    <a:lstStyle/>
                    <a:p>
                      <a:pPr marR="3429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origin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R="7556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Kannada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KAR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R="7556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Telugu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AP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4346448" y="5907023"/>
          <a:ext cx="2336800" cy="1843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6155"/>
                <a:gridCol w="269875"/>
                <a:gridCol w="464819"/>
                <a:gridCol w="533400"/>
              </a:tblGrid>
              <a:tr h="1269365">
                <a:tc gridSpan="3">
                  <a:txBody>
                    <a:bodyPr/>
                    <a:lstStyle/>
                    <a:p>
                      <a:pPr marL="45085" marR="40640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//create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class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Language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class</a:t>
                      </a:r>
                      <a:r>
                        <a:rPr sz="900" b="1" spc="21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Language{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@Id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  <a:p>
                      <a:pPr marL="45085" marR="55372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private</a:t>
                      </a:r>
                      <a:r>
                        <a:rPr sz="900" b="1" spc="-4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int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id;</a:t>
                      </a:r>
                      <a:r>
                        <a:rPr sz="900" b="1" spc="50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private</a:t>
                      </a:r>
                      <a:r>
                        <a:rPr sz="900" b="1" spc="-6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String</a:t>
                      </a:r>
                      <a:r>
                        <a:rPr sz="900" b="1" spc="-4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name;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private</a:t>
                      </a:r>
                      <a:r>
                        <a:rPr sz="900" b="1" spc="-6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String</a:t>
                      </a:r>
                      <a:r>
                        <a:rPr sz="900" b="1" spc="-4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origin;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  <a:p>
                      <a:pPr marL="45085">
                        <a:lnSpc>
                          <a:spcPts val="835"/>
                        </a:lnSpc>
                        <a:spcBef>
                          <a:spcPts val="5"/>
                        </a:spcBef>
                      </a:pPr>
                      <a:r>
                        <a:rPr sz="7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@ManyToMany</a:t>
                      </a:r>
                      <a:endParaRPr sz="700">
                        <a:latin typeface="Gadugi" panose="020B0502040204020203"/>
                        <a:cs typeface="Gadugi" panose="020B0502040204020203"/>
                      </a:endParaRPr>
                    </a:p>
                    <a:p>
                      <a:pPr marL="45085">
                        <a:lnSpc>
                          <a:spcPts val="1075"/>
                        </a:lnSpc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private</a:t>
                      </a:r>
                      <a:r>
                        <a:rPr sz="900" b="1" spc="-5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List&lt;Person&gt;person;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//getters</a:t>
                      </a:r>
                      <a:r>
                        <a:rPr sz="900" b="1" spc="-5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and</a:t>
                      </a:r>
                      <a:r>
                        <a:rPr sz="900" b="1" spc="-4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setters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08279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731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438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438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address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438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</a:tr>
              <a:tr h="182880">
                <a:tc vMerge="1"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arun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Blr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  <a:tr h="182880">
                <a:tc vMerge="1"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rajath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chn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</a:tr>
            </a:tbl>
          </a:graphicData>
        </a:graphic>
      </p:graphicFrame>
      <p:grpSp>
        <p:nvGrpSpPr>
          <p:cNvPr id="41" name="object 41"/>
          <p:cNvGrpSpPr/>
          <p:nvPr/>
        </p:nvGrpSpPr>
        <p:grpSpPr>
          <a:xfrm>
            <a:off x="4914836" y="7793608"/>
            <a:ext cx="707390" cy="927100"/>
            <a:chOff x="4914836" y="7793608"/>
            <a:chExt cx="707390" cy="927100"/>
          </a:xfrm>
        </p:grpSpPr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7092" y="7799831"/>
              <a:ext cx="682751" cy="91440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291328" y="7796783"/>
              <a:ext cx="0" cy="920750"/>
            </a:xfrm>
            <a:custGeom>
              <a:avLst/>
              <a:gdLst/>
              <a:ahLst/>
              <a:cxnLst/>
              <a:rect l="l" t="t" r="r" b="b"/>
              <a:pathLst>
                <a:path h="920750">
                  <a:moveTo>
                    <a:pt x="0" y="0"/>
                  </a:moveTo>
                  <a:lnTo>
                    <a:pt x="0" y="920496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924044" y="7982711"/>
              <a:ext cx="688975" cy="0"/>
            </a:xfrm>
            <a:custGeom>
              <a:avLst/>
              <a:gdLst/>
              <a:ahLst/>
              <a:cxnLst/>
              <a:rect l="l" t="t" r="r" b="b"/>
              <a:pathLst>
                <a:path w="688975">
                  <a:moveTo>
                    <a:pt x="0" y="0"/>
                  </a:moveTo>
                  <a:lnTo>
                    <a:pt x="688848" y="0"/>
                  </a:lnTo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924044" y="7796783"/>
              <a:ext cx="688975" cy="920750"/>
            </a:xfrm>
            <a:custGeom>
              <a:avLst/>
              <a:gdLst/>
              <a:ahLst/>
              <a:cxnLst/>
              <a:rect l="l" t="t" r="r" b="b"/>
              <a:pathLst>
                <a:path w="688975" h="920750">
                  <a:moveTo>
                    <a:pt x="0" y="368808"/>
                  </a:moveTo>
                  <a:lnTo>
                    <a:pt x="688848" y="368808"/>
                  </a:lnTo>
                </a:path>
                <a:path w="688975" h="920750">
                  <a:moveTo>
                    <a:pt x="0" y="551687"/>
                  </a:moveTo>
                  <a:lnTo>
                    <a:pt x="688848" y="551687"/>
                  </a:lnTo>
                </a:path>
                <a:path w="688975" h="920750">
                  <a:moveTo>
                    <a:pt x="0" y="734567"/>
                  </a:moveTo>
                  <a:lnTo>
                    <a:pt x="688848" y="734567"/>
                  </a:lnTo>
                </a:path>
                <a:path w="688975" h="920750">
                  <a:moveTo>
                    <a:pt x="3048" y="0"/>
                  </a:moveTo>
                  <a:lnTo>
                    <a:pt x="3048" y="920496"/>
                  </a:lnTo>
                </a:path>
                <a:path w="688975" h="920750">
                  <a:moveTo>
                    <a:pt x="685800" y="0"/>
                  </a:moveTo>
                  <a:lnTo>
                    <a:pt x="685800" y="920496"/>
                  </a:lnTo>
                </a:path>
                <a:path w="688975" h="920750">
                  <a:moveTo>
                    <a:pt x="0" y="3048"/>
                  </a:moveTo>
                  <a:lnTo>
                    <a:pt x="688848" y="3048"/>
                  </a:lnTo>
                </a:path>
                <a:path w="688975" h="920750">
                  <a:moveTo>
                    <a:pt x="0" y="917448"/>
                  </a:moveTo>
                  <a:lnTo>
                    <a:pt x="688848" y="9174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2016491" y="7790783"/>
          <a:ext cx="3650615" cy="901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485"/>
                <a:gridCol w="1441450"/>
                <a:gridCol w="1462405"/>
                <a:gridCol w="345440"/>
              </a:tblGrid>
              <a:tr h="1765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p_id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l_id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1188085">
                        <a:lnSpc>
                          <a:spcPts val="1075"/>
                        </a:lnSpc>
                        <a:spcBef>
                          <a:spcPts val="21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l_id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075"/>
                        </a:lnSpc>
                        <a:spcBef>
                          <a:spcPts val="21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p_id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27305" marB="0"/>
                </a:tc>
              </a:tr>
              <a:tr h="1828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188085">
                        <a:lnSpc>
                          <a:spcPts val="1075"/>
                        </a:lnSpc>
                        <a:spcBef>
                          <a:spcPts val="26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075"/>
                        </a:lnSpc>
                        <a:spcBef>
                          <a:spcPts val="26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33655" marB="0"/>
                </a:tc>
              </a:tr>
              <a:tr h="1828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188085">
                        <a:lnSpc>
                          <a:spcPts val="1075"/>
                        </a:lnSpc>
                        <a:spcBef>
                          <a:spcPts val="26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075"/>
                        </a:lnSpc>
                        <a:spcBef>
                          <a:spcPts val="26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33655" marB="0"/>
                </a:tc>
              </a:tr>
              <a:tr h="1828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188085">
                        <a:lnSpc>
                          <a:spcPts val="1075"/>
                        </a:lnSpc>
                        <a:spcBef>
                          <a:spcPts val="26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075"/>
                        </a:lnSpc>
                        <a:spcBef>
                          <a:spcPts val="26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33655" marB="0"/>
                </a:tc>
              </a:tr>
              <a:tr h="1765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188085">
                        <a:lnSpc>
                          <a:spcPts val="1025"/>
                        </a:lnSpc>
                        <a:spcBef>
                          <a:spcPts val="26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025"/>
                        </a:lnSpc>
                        <a:spcBef>
                          <a:spcPts val="26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33655" marB="0"/>
                </a:tc>
              </a:tr>
            </a:tbl>
          </a:graphicData>
        </a:graphic>
      </p:graphicFrame>
      <p:sp>
        <p:nvSpPr>
          <p:cNvPr id="47" name="object 47"/>
          <p:cNvSpPr txBox="1"/>
          <p:nvPr/>
        </p:nvSpPr>
        <p:spPr>
          <a:xfrm>
            <a:off x="4850409" y="8719786"/>
            <a:ext cx="8858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Gadugi" panose="020B0502040204020203"/>
                <a:cs typeface="Gadugi" panose="020B0502040204020203"/>
              </a:rPr>
              <a:t>language_person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844295" y="550773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3"/>
                </a:lnTo>
                <a:lnTo>
                  <a:pt x="6082284" y="3415283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r>
              <a:rPr spc="-25" dirty="0"/>
              <a:t>1</a:t>
            </a:r>
            <a:r>
              <a:rPr spc="-25" dirty="0"/>
              <a:t>2</a:t>
            </a:r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1540" y="25814"/>
            <a:ext cx="76771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0" dirty="0">
                <a:latin typeface="Calibri" panose="020F0502020204030204"/>
                <a:cs typeface="Calibri" panose="020F0502020204030204"/>
              </a:rPr>
              <a:t>3/30/2023</a:t>
            </a:r>
            <a:endParaRPr sz="1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16508" y="3457968"/>
            <a:ext cx="4579620" cy="532130"/>
          </a:xfrm>
          <a:custGeom>
            <a:avLst/>
            <a:gdLst/>
            <a:ahLst/>
            <a:cxnLst/>
            <a:rect l="l" t="t" r="r" b="b"/>
            <a:pathLst>
              <a:path w="4579620" h="532129">
                <a:moveTo>
                  <a:pt x="2837688" y="379476"/>
                </a:moveTo>
                <a:lnTo>
                  <a:pt x="0" y="379476"/>
                </a:lnTo>
                <a:lnTo>
                  <a:pt x="0" y="531876"/>
                </a:lnTo>
                <a:lnTo>
                  <a:pt x="2837688" y="531876"/>
                </a:lnTo>
                <a:lnTo>
                  <a:pt x="2837688" y="379476"/>
                </a:lnTo>
                <a:close/>
              </a:path>
              <a:path w="4579620" h="532129">
                <a:moveTo>
                  <a:pt x="4375404" y="205740"/>
                </a:moveTo>
                <a:lnTo>
                  <a:pt x="143256" y="205740"/>
                </a:lnTo>
                <a:lnTo>
                  <a:pt x="143256" y="335280"/>
                </a:lnTo>
                <a:lnTo>
                  <a:pt x="4375404" y="335280"/>
                </a:lnTo>
                <a:lnTo>
                  <a:pt x="4375404" y="205740"/>
                </a:lnTo>
                <a:close/>
              </a:path>
              <a:path w="4579620" h="532129">
                <a:moveTo>
                  <a:pt x="4579620" y="0"/>
                </a:moveTo>
                <a:lnTo>
                  <a:pt x="143256" y="0"/>
                </a:lnTo>
                <a:lnTo>
                  <a:pt x="143256" y="129540"/>
                </a:lnTo>
                <a:lnTo>
                  <a:pt x="4579620" y="129540"/>
                </a:lnTo>
                <a:lnTo>
                  <a:pt x="4579620" y="0"/>
                </a:lnTo>
                <a:close/>
              </a:path>
            </a:pathLst>
          </a:custGeom>
          <a:solidFill>
            <a:srgbClr val="E8F2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70787" y="1280159"/>
            <a:ext cx="5817235" cy="3139440"/>
          </a:xfrm>
          <a:prstGeom prst="rect">
            <a:avLst/>
          </a:prstGeom>
          <a:ln w="13715">
            <a:solidFill>
              <a:srgbClr val="B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45720">
              <a:lnSpc>
                <a:spcPct val="100000"/>
              </a:lnSpc>
            </a:pPr>
            <a:r>
              <a:rPr sz="900" dirty="0">
                <a:latin typeface="Gadugi" panose="020B0502040204020203"/>
                <a:cs typeface="Gadugi" panose="020B0502040204020203"/>
              </a:rPr>
              <a:t>In</a:t>
            </a:r>
            <a:r>
              <a:rPr sz="900" spc="-5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previous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slide,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88595" marR="374015" indent="-143510">
              <a:lnSpc>
                <a:spcPct val="150000"/>
              </a:lnSpc>
              <a:buFont typeface="Arial" panose="020B0604020202020204"/>
              <a:buChar char="•"/>
              <a:tabLst>
                <a:tab pos="188595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When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hibernate</a:t>
            </a:r>
            <a:r>
              <a:rPr sz="900" dirty="0">
                <a:latin typeface="Gadugi" panose="020B0502040204020203"/>
                <a:cs typeface="Gadugi" panose="020B0502040204020203"/>
              </a:rPr>
              <a:t> looks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at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1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annotation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@ManyToMany</a:t>
            </a:r>
            <a:r>
              <a:rPr sz="900" dirty="0">
                <a:latin typeface="Gadugi" panose="020B0502040204020203"/>
                <a:cs typeface="Gadugi" panose="020B0502040204020203"/>
              </a:rPr>
              <a:t> in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Person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class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,it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will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create 3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tables one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for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Person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,one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for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Language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,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one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for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person_language (FK’s</a:t>
            </a:r>
            <a:r>
              <a:rPr sz="9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of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both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tables)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88595" marR="220980" indent="-143510">
              <a:lnSpc>
                <a:spcPct val="150000"/>
              </a:lnSpc>
              <a:buFont typeface="Arial" panose="020B0604020202020204"/>
              <a:buChar char="•"/>
              <a:tabLst>
                <a:tab pos="188595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When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hibernate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looks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at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annotation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@ManyToMany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Language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class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,it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will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create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3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tables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one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for </a:t>
            </a:r>
            <a:r>
              <a:rPr sz="900" dirty="0">
                <a:latin typeface="Gadugi" panose="020B0502040204020203"/>
                <a:cs typeface="Gadugi" panose="020B0502040204020203"/>
              </a:rPr>
              <a:t>language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,one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for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person</a:t>
            </a:r>
            <a:r>
              <a:rPr sz="9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,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one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for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language_person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(FK’s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of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both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tables)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88595" marR="60960" indent="-143510">
              <a:lnSpc>
                <a:spcPct val="150000"/>
              </a:lnSpc>
              <a:buFont typeface="Arial" panose="020B0604020202020204"/>
              <a:buChar char="•"/>
              <a:tabLst>
                <a:tab pos="188595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So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total 4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tables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will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be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created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one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for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Person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,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one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for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language,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one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for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person_language,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another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one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for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language_person.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88595" marR="189230" indent="-143510">
              <a:lnSpc>
                <a:spcPct val="150000"/>
              </a:lnSpc>
              <a:spcBef>
                <a:spcPts val="5"/>
              </a:spcBef>
              <a:buFont typeface="Arial" panose="020B0604020202020204"/>
              <a:buChar char="•"/>
              <a:tabLst>
                <a:tab pos="188595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Since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person_language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and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language_person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is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same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(duplicate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tables)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to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eliminate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any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one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of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table,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we </a:t>
            </a:r>
            <a:r>
              <a:rPr sz="900" dirty="0">
                <a:latin typeface="Gadugi" panose="020B0502040204020203"/>
                <a:cs typeface="Gadugi" panose="020B0502040204020203"/>
              </a:rPr>
              <a:t>should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make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one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as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owning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side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that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should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be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annotated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with </a:t>
            </a:r>
            <a:r>
              <a:rPr sz="900" b="1" spc="-10" dirty="0">
                <a:latin typeface="Courier New" panose="02070309020205020404"/>
                <a:cs typeface="Courier New" panose="02070309020205020404"/>
              </a:rPr>
              <a:t>@JoinTable(joinColumns={@JoinColumn(name=“ref</a:t>
            </a:r>
            <a:r>
              <a:rPr sz="900" b="1" spc="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900" b="1" dirty="0">
                <a:latin typeface="Courier New" panose="02070309020205020404"/>
                <a:cs typeface="Courier New" panose="02070309020205020404"/>
              </a:rPr>
              <a:t>of</a:t>
            </a:r>
            <a:r>
              <a:rPr sz="9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900" b="1" dirty="0">
                <a:latin typeface="Courier New" panose="02070309020205020404"/>
                <a:cs typeface="Courier New" panose="02070309020205020404"/>
              </a:rPr>
              <a:t>owning</a:t>
            </a:r>
            <a:r>
              <a:rPr sz="9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900" b="1" spc="-10" dirty="0">
                <a:latin typeface="Courier New" panose="02070309020205020404"/>
                <a:cs typeface="Courier New" panose="02070309020205020404"/>
              </a:rPr>
              <a:t>side")}, inverseJoinColumns=@JoinColumn(name=“ref</a:t>
            </a:r>
            <a:r>
              <a:rPr sz="900" b="1" spc="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900" b="1" dirty="0">
                <a:latin typeface="Courier New" panose="02070309020205020404"/>
                <a:cs typeface="Courier New" panose="02070309020205020404"/>
              </a:rPr>
              <a:t>of</a:t>
            </a:r>
            <a:r>
              <a:rPr sz="900" b="1" spc="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900" b="1" spc="-10" dirty="0">
                <a:latin typeface="Courier New" panose="02070309020205020404"/>
                <a:cs typeface="Courier New" panose="02070309020205020404"/>
              </a:rPr>
              <a:t>non-</a:t>
            </a:r>
            <a:r>
              <a:rPr sz="900" b="1" dirty="0">
                <a:latin typeface="Courier New" panose="02070309020205020404"/>
                <a:cs typeface="Courier New" panose="02070309020205020404"/>
              </a:rPr>
              <a:t>owning</a:t>
            </a:r>
            <a:r>
              <a:rPr sz="900" b="1" spc="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900" b="1" spc="-10" dirty="0">
                <a:latin typeface="Courier New" panose="02070309020205020404"/>
                <a:cs typeface="Courier New" panose="02070309020205020404"/>
              </a:rPr>
              <a:t>side"))</a:t>
            </a:r>
            <a:endParaRPr sz="900">
              <a:latin typeface="Courier New" panose="02070309020205020404"/>
              <a:cs typeface="Courier New" panose="02070309020205020404"/>
            </a:endParaRPr>
          </a:p>
          <a:p>
            <a:pPr marL="200660">
              <a:lnSpc>
                <a:spcPct val="100000"/>
              </a:lnSpc>
              <a:spcBef>
                <a:spcPts val="550"/>
              </a:spcBef>
            </a:pPr>
            <a:r>
              <a:rPr sz="900" dirty="0">
                <a:latin typeface="Gadugi" panose="020B0502040204020203"/>
                <a:cs typeface="Gadugi" panose="020B0502040204020203"/>
              </a:rPr>
              <a:t>and</a:t>
            </a:r>
            <a:r>
              <a:rPr sz="9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mappedBy=“ref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of</a:t>
            </a:r>
            <a:r>
              <a:rPr sz="9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owning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side”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at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other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side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44295" y="113385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4"/>
                </a:lnTo>
                <a:lnTo>
                  <a:pt x="6082284" y="3415284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44401" y="5609344"/>
            <a:ext cx="21304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Gadugi" panose="020B0502040204020203"/>
                <a:cs typeface="Gadugi" panose="020B0502040204020203"/>
              </a:rPr>
              <a:t>ManytoMany-bidirection</a:t>
            </a:r>
            <a:endParaRPr sz="14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360036" y="6111113"/>
            <a:ext cx="1733550" cy="1268730"/>
            <a:chOff x="4360036" y="6111113"/>
            <a:chExt cx="1733550" cy="1268730"/>
          </a:xfrm>
        </p:grpSpPr>
        <p:sp>
          <p:nvSpPr>
            <p:cNvPr id="8" name="object 8"/>
            <p:cNvSpPr/>
            <p:nvPr/>
          </p:nvSpPr>
          <p:spPr>
            <a:xfrm>
              <a:off x="4366260" y="6117336"/>
              <a:ext cx="1720850" cy="1249680"/>
            </a:xfrm>
            <a:custGeom>
              <a:avLst/>
              <a:gdLst/>
              <a:ahLst/>
              <a:cxnLst/>
              <a:rect l="l" t="t" r="r" b="b"/>
              <a:pathLst>
                <a:path w="1720850" h="1249679">
                  <a:moveTo>
                    <a:pt x="1720595" y="1249680"/>
                  </a:moveTo>
                  <a:lnTo>
                    <a:pt x="0" y="1249680"/>
                  </a:lnTo>
                  <a:lnTo>
                    <a:pt x="0" y="0"/>
                  </a:lnTo>
                  <a:lnTo>
                    <a:pt x="1720595" y="0"/>
                  </a:lnTo>
                  <a:lnTo>
                    <a:pt x="1720595" y="124968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363211" y="6114288"/>
              <a:ext cx="1727200" cy="1262380"/>
            </a:xfrm>
            <a:custGeom>
              <a:avLst/>
              <a:gdLst/>
              <a:ahLst/>
              <a:cxnLst/>
              <a:rect l="l" t="t" r="r" b="b"/>
              <a:pathLst>
                <a:path w="1727200" h="1262379">
                  <a:moveTo>
                    <a:pt x="3048" y="0"/>
                  </a:moveTo>
                  <a:lnTo>
                    <a:pt x="3048" y="1261872"/>
                  </a:lnTo>
                </a:path>
                <a:path w="1727200" h="1262379">
                  <a:moveTo>
                    <a:pt x="1723643" y="0"/>
                  </a:moveTo>
                  <a:lnTo>
                    <a:pt x="1723643" y="1261872"/>
                  </a:lnTo>
                </a:path>
                <a:path w="1727200" h="1262379">
                  <a:moveTo>
                    <a:pt x="0" y="3048"/>
                  </a:moveTo>
                  <a:lnTo>
                    <a:pt x="1726691" y="30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363211" y="7357872"/>
              <a:ext cx="1727200" cy="18415"/>
            </a:xfrm>
            <a:custGeom>
              <a:avLst/>
              <a:gdLst/>
              <a:ahLst/>
              <a:cxnLst/>
              <a:rect l="l" t="t" r="r" b="b"/>
              <a:pathLst>
                <a:path w="1727200" h="18415">
                  <a:moveTo>
                    <a:pt x="0" y="0"/>
                  </a:moveTo>
                  <a:lnTo>
                    <a:pt x="1726691" y="0"/>
                  </a:lnTo>
                  <a:lnTo>
                    <a:pt x="1726691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369308" y="6122928"/>
            <a:ext cx="1714500" cy="122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403225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//create</a:t>
            </a: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Language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21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Language{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 marR="55054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int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id;</a:t>
            </a:r>
            <a:r>
              <a:rPr sz="9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name;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origin;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ts val="835"/>
              </a:lnSpc>
              <a:spcBef>
                <a:spcPts val="5"/>
              </a:spcBef>
            </a:pPr>
            <a:r>
              <a:rPr sz="7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@ManyToMany(mappedBy="courses")</a:t>
            </a:r>
            <a:endParaRPr sz="7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ts val="1075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5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List&lt;Person&gt;person;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254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//getters</a:t>
            </a:r>
            <a:r>
              <a:rPr sz="9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setters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26464" y="6048628"/>
            <a:ext cx="1687830" cy="1605280"/>
            <a:chOff x="926464" y="6048628"/>
            <a:chExt cx="1687830" cy="1605280"/>
          </a:xfrm>
        </p:grpSpPr>
        <p:sp>
          <p:nvSpPr>
            <p:cNvPr id="13" name="object 13"/>
            <p:cNvSpPr/>
            <p:nvPr/>
          </p:nvSpPr>
          <p:spPr>
            <a:xfrm>
              <a:off x="932687" y="6054851"/>
              <a:ext cx="1673860" cy="1584960"/>
            </a:xfrm>
            <a:custGeom>
              <a:avLst/>
              <a:gdLst/>
              <a:ahLst/>
              <a:cxnLst/>
              <a:rect l="l" t="t" r="r" b="b"/>
              <a:pathLst>
                <a:path w="1673860" h="1584959">
                  <a:moveTo>
                    <a:pt x="1673352" y="1584960"/>
                  </a:moveTo>
                  <a:lnTo>
                    <a:pt x="0" y="1584960"/>
                  </a:lnTo>
                  <a:lnTo>
                    <a:pt x="0" y="0"/>
                  </a:lnTo>
                  <a:lnTo>
                    <a:pt x="1673352" y="0"/>
                  </a:lnTo>
                  <a:lnTo>
                    <a:pt x="1673352" y="158496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29639" y="6051803"/>
              <a:ext cx="1681480" cy="1598930"/>
            </a:xfrm>
            <a:custGeom>
              <a:avLst/>
              <a:gdLst/>
              <a:ahLst/>
              <a:cxnLst/>
              <a:rect l="l" t="t" r="r" b="b"/>
              <a:pathLst>
                <a:path w="1681480" h="1598929">
                  <a:moveTo>
                    <a:pt x="3048" y="0"/>
                  </a:moveTo>
                  <a:lnTo>
                    <a:pt x="3048" y="1598676"/>
                  </a:lnTo>
                </a:path>
                <a:path w="1681480" h="1598929">
                  <a:moveTo>
                    <a:pt x="1676400" y="0"/>
                  </a:moveTo>
                  <a:lnTo>
                    <a:pt x="1676400" y="1598676"/>
                  </a:lnTo>
                </a:path>
                <a:path w="1681480" h="1598929">
                  <a:moveTo>
                    <a:pt x="0" y="3048"/>
                  </a:moveTo>
                  <a:lnTo>
                    <a:pt x="1680971" y="30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29639" y="7630668"/>
              <a:ext cx="1681480" cy="18415"/>
            </a:xfrm>
            <a:custGeom>
              <a:avLst/>
              <a:gdLst/>
              <a:ahLst/>
              <a:cxnLst/>
              <a:rect l="l" t="t" r="r" b="b"/>
              <a:pathLst>
                <a:path w="1681480" h="18415">
                  <a:moveTo>
                    <a:pt x="0" y="0"/>
                  </a:moveTo>
                  <a:lnTo>
                    <a:pt x="1680971" y="0"/>
                  </a:lnTo>
                  <a:lnTo>
                    <a:pt x="1680971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932687" y="6061920"/>
            <a:ext cx="1673860" cy="156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15" marR="51435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//create</a:t>
            </a: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Person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class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Person{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3815">
              <a:lnSpc>
                <a:spcPct val="100000"/>
              </a:lnSpc>
            </a:pP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3815" marR="52959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int</a:t>
            </a:r>
            <a:r>
              <a:rPr sz="900" b="1" spc="-3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id;</a:t>
            </a:r>
            <a:r>
              <a:rPr sz="9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name;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3815" marR="5270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6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String</a:t>
            </a:r>
            <a:r>
              <a:rPr sz="900" b="1" spc="-4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address; </a:t>
            </a: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@ManyToMany </a:t>
            </a:r>
            <a:r>
              <a:rPr sz="7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@JoinTable(joinColumns={@JoinColu</a:t>
            </a:r>
            <a:r>
              <a:rPr sz="7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7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mn(name="id")},inverseJoinColumns</a:t>
            </a:r>
            <a:endParaRPr sz="700">
              <a:latin typeface="Gadugi" panose="020B0502040204020203"/>
              <a:cs typeface="Gadugi" panose="020B0502040204020203"/>
            </a:endParaRPr>
          </a:p>
          <a:p>
            <a:pPr marL="43815">
              <a:lnSpc>
                <a:spcPts val="835"/>
              </a:lnSpc>
              <a:spcBef>
                <a:spcPts val="5"/>
              </a:spcBef>
            </a:pPr>
            <a:r>
              <a:rPr sz="7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=@JoinColumn(name="cid"))</a:t>
            </a:r>
            <a:endParaRPr sz="700">
              <a:latin typeface="Gadugi" panose="020B0502040204020203"/>
              <a:cs typeface="Gadugi" panose="020B0502040204020203"/>
            </a:endParaRPr>
          </a:p>
          <a:p>
            <a:pPr marL="43815">
              <a:lnSpc>
                <a:spcPts val="1075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private</a:t>
            </a:r>
            <a:r>
              <a:rPr sz="900" b="1" spc="-5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Language</a:t>
            </a:r>
            <a:r>
              <a:rPr sz="900" b="1" spc="17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language;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4381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//getters</a:t>
            </a:r>
            <a:r>
              <a:rPr sz="9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and</a:t>
            </a:r>
            <a:r>
              <a:rPr sz="900" b="1" spc="-4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setters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48432" y="6452105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n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62830" y="6452105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602479" y="7685532"/>
          <a:ext cx="1598930" cy="554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115"/>
                <a:gridCol w="530225"/>
                <a:gridCol w="701040"/>
              </a:tblGrid>
              <a:tr h="185420">
                <a:tc>
                  <a:txBody>
                    <a:bodyPr/>
                    <a:lstStyle/>
                    <a:p>
                      <a:pPr marR="82550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origin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R="1238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1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Kannada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Karnataka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R="12382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50" dirty="0">
                          <a:latin typeface="Gadugi" panose="020B0502040204020203"/>
                          <a:cs typeface="Gadugi" panose="020B0502040204020203"/>
                        </a:rPr>
                        <a:t>2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Telugu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Andhra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022603" y="7780019"/>
          <a:ext cx="1569720" cy="552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595"/>
                <a:gridCol w="520065"/>
                <a:gridCol w="652780"/>
              </a:tblGrid>
              <a:tr h="18288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id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name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address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10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arun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Blr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84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DEF"/>
                    </a:solidFill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20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rajath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5" dirty="0">
                          <a:latin typeface="Gadugi" panose="020B0502040204020203"/>
                          <a:cs typeface="Gadugi" panose="020B0502040204020203"/>
                        </a:rPr>
                        <a:t>chn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</a:tr>
            </a:tbl>
          </a:graphicData>
        </a:graphic>
      </p:graphicFrame>
      <p:grpSp>
        <p:nvGrpSpPr>
          <p:cNvPr id="21" name="object 21"/>
          <p:cNvGrpSpPr/>
          <p:nvPr/>
        </p:nvGrpSpPr>
        <p:grpSpPr>
          <a:xfrm>
            <a:off x="2606039" y="5527547"/>
            <a:ext cx="2682240" cy="3325495"/>
            <a:chOff x="2606039" y="5527547"/>
            <a:chExt cx="2682240" cy="3325495"/>
          </a:xfrm>
        </p:grpSpPr>
        <p:sp>
          <p:nvSpPr>
            <p:cNvPr id="22" name="object 22"/>
            <p:cNvSpPr/>
            <p:nvPr/>
          </p:nvSpPr>
          <p:spPr>
            <a:xfrm>
              <a:off x="5250180" y="5527547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38100" y="38100"/>
                  </a:moveTo>
                  <a:lnTo>
                    <a:pt x="0" y="38100"/>
                  </a:lnTo>
                  <a:lnTo>
                    <a:pt x="18287" y="0"/>
                  </a:lnTo>
                  <a:lnTo>
                    <a:pt x="38100" y="3810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606039" y="6611112"/>
              <a:ext cx="1760220" cy="38100"/>
            </a:xfrm>
            <a:custGeom>
              <a:avLst/>
              <a:gdLst/>
              <a:ahLst/>
              <a:cxnLst/>
              <a:rect l="l" t="t" r="r" b="b"/>
              <a:pathLst>
                <a:path w="1760220" h="38100">
                  <a:moveTo>
                    <a:pt x="38100" y="38100"/>
                  </a:moveTo>
                  <a:lnTo>
                    <a:pt x="0" y="18288"/>
                  </a:lnTo>
                  <a:lnTo>
                    <a:pt x="38100" y="0"/>
                  </a:lnTo>
                  <a:lnTo>
                    <a:pt x="38100" y="16764"/>
                  </a:lnTo>
                  <a:lnTo>
                    <a:pt x="32004" y="16764"/>
                  </a:lnTo>
                  <a:lnTo>
                    <a:pt x="32004" y="19812"/>
                  </a:lnTo>
                  <a:lnTo>
                    <a:pt x="38100" y="19812"/>
                  </a:lnTo>
                  <a:lnTo>
                    <a:pt x="38100" y="38100"/>
                  </a:lnTo>
                  <a:close/>
                </a:path>
                <a:path w="1760220" h="38100">
                  <a:moveTo>
                    <a:pt x="38100" y="19812"/>
                  </a:moveTo>
                  <a:lnTo>
                    <a:pt x="32004" y="19812"/>
                  </a:lnTo>
                  <a:lnTo>
                    <a:pt x="32004" y="16764"/>
                  </a:lnTo>
                  <a:lnTo>
                    <a:pt x="38100" y="16764"/>
                  </a:lnTo>
                  <a:lnTo>
                    <a:pt x="38100" y="19812"/>
                  </a:lnTo>
                  <a:close/>
                </a:path>
                <a:path w="1760220" h="38100">
                  <a:moveTo>
                    <a:pt x="1760220" y="19812"/>
                  </a:moveTo>
                  <a:lnTo>
                    <a:pt x="38100" y="19812"/>
                  </a:lnTo>
                  <a:lnTo>
                    <a:pt x="38100" y="16764"/>
                  </a:lnTo>
                  <a:lnTo>
                    <a:pt x="1760220" y="16764"/>
                  </a:lnTo>
                  <a:lnTo>
                    <a:pt x="1760220" y="198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19627" y="7920227"/>
              <a:ext cx="842772" cy="92659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569207" y="7917179"/>
              <a:ext cx="0" cy="932815"/>
            </a:xfrm>
            <a:custGeom>
              <a:avLst/>
              <a:gdLst/>
              <a:ahLst/>
              <a:cxnLst/>
              <a:rect l="l" t="t" r="r" b="b"/>
              <a:pathLst>
                <a:path h="932815">
                  <a:moveTo>
                    <a:pt x="0" y="0"/>
                  </a:moveTo>
                  <a:lnTo>
                    <a:pt x="0" y="932687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116580" y="8104631"/>
              <a:ext cx="848994" cy="0"/>
            </a:xfrm>
            <a:custGeom>
              <a:avLst/>
              <a:gdLst/>
              <a:ahLst/>
              <a:cxnLst/>
              <a:rect l="l" t="t" r="r" b="b"/>
              <a:pathLst>
                <a:path w="848995">
                  <a:moveTo>
                    <a:pt x="0" y="0"/>
                  </a:moveTo>
                  <a:lnTo>
                    <a:pt x="848867" y="0"/>
                  </a:lnTo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116580" y="7917179"/>
              <a:ext cx="848994" cy="932815"/>
            </a:xfrm>
            <a:custGeom>
              <a:avLst/>
              <a:gdLst/>
              <a:ahLst/>
              <a:cxnLst/>
              <a:rect l="l" t="t" r="r" b="b"/>
              <a:pathLst>
                <a:path w="848995" h="932815">
                  <a:moveTo>
                    <a:pt x="0" y="373380"/>
                  </a:moveTo>
                  <a:lnTo>
                    <a:pt x="848867" y="373380"/>
                  </a:lnTo>
                </a:path>
                <a:path w="848995" h="932815">
                  <a:moveTo>
                    <a:pt x="0" y="559307"/>
                  </a:moveTo>
                  <a:lnTo>
                    <a:pt x="848867" y="559307"/>
                  </a:lnTo>
                </a:path>
                <a:path w="848995" h="932815">
                  <a:moveTo>
                    <a:pt x="0" y="743712"/>
                  </a:moveTo>
                  <a:lnTo>
                    <a:pt x="848867" y="743712"/>
                  </a:lnTo>
                </a:path>
                <a:path w="848995" h="932815">
                  <a:moveTo>
                    <a:pt x="3047" y="0"/>
                  </a:moveTo>
                  <a:lnTo>
                    <a:pt x="3047" y="932687"/>
                  </a:lnTo>
                </a:path>
                <a:path w="848995" h="932815">
                  <a:moveTo>
                    <a:pt x="845819" y="0"/>
                  </a:moveTo>
                  <a:lnTo>
                    <a:pt x="845819" y="932687"/>
                  </a:lnTo>
                </a:path>
                <a:path w="848995" h="932815">
                  <a:moveTo>
                    <a:pt x="0" y="3048"/>
                  </a:moveTo>
                  <a:lnTo>
                    <a:pt x="848867" y="3048"/>
                  </a:lnTo>
                </a:path>
                <a:path w="848995" h="932815">
                  <a:moveTo>
                    <a:pt x="0" y="929639"/>
                  </a:moveTo>
                  <a:lnTo>
                    <a:pt x="848867" y="929639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113017" y="7648476"/>
            <a:ext cx="885825" cy="118237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900" spc="-10" dirty="0">
                <a:latin typeface="Gadugi" panose="020B0502040204020203"/>
                <a:cs typeface="Gadugi" panose="020B0502040204020203"/>
              </a:rPr>
              <a:t>person_language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52070">
              <a:lnSpc>
                <a:spcPct val="100000"/>
              </a:lnSpc>
              <a:spcBef>
                <a:spcPts val="550"/>
              </a:spcBef>
              <a:tabLst>
                <a:tab pos="501650" algn="l"/>
              </a:tabLst>
            </a:pP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p_id</a:t>
            </a: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	</a:t>
            </a: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l_id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52070">
              <a:lnSpc>
                <a:spcPct val="100000"/>
              </a:lnSpc>
              <a:spcBef>
                <a:spcPts val="385"/>
              </a:spcBef>
              <a:tabLst>
                <a:tab pos="501650" algn="l"/>
              </a:tabLst>
            </a:pPr>
            <a:r>
              <a:rPr sz="900" spc="-25" dirty="0">
                <a:latin typeface="Gadugi" panose="020B0502040204020203"/>
                <a:cs typeface="Gadugi" panose="020B0502040204020203"/>
              </a:rPr>
              <a:t>10</a:t>
            </a:r>
            <a:r>
              <a:rPr sz="900" dirty="0">
                <a:latin typeface="Gadugi" panose="020B0502040204020203"/>
                <a:cs typeface="Gadugi" panose="020B0502040204020203"/>
              </a:rPr>
              <a:t>	</a:t>
            </a: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52070">
              <a:lnSpc>
                <a:spcPct val="100000"/>
              </a:lnSpc>
              <a:spcBef>
                <a:spcPts val="385"/>
              </a:spcBef>
              <a:tabLst>
                <a:tab pos="501650" algn="l"/>
              </a:tabLst>
            </a:pPr>
            <a:r>
              <a:rPr sz="900" spc="-25" dirty="0">
                <a:latin typeface="Gadugi" panose="020B0502040204020203"/>
                <a:cs typeface="Gadugi" panose="020B0502040204020203"/>
              </a:rPr>
              <a:t>10</a:t>
            </a:r>
            <a:r>
              <a:rPr sz="900" dirty="0">
                <a:latin typeface="Gadugi" panose="020B0502040204020203"/>
                <a:cs typeface="Gadugi" panose="020B0502040204020203"/>
              </a:rPr>
              <a:t>	</a:t>
            </a:r>
            <a:r>
              <a:rPr sz="900" spc="-50" dirty="0">
                <a:latin typeface="Gadugi" panose="020B0502040204020203"/>
                <a:cs typeface="Gadugi" panose="020B0502040204020203"/>
              </a:rPr>
              <a:t>2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52070">
              <a:lnSpc>
                <a:spcPct val="100000"/>
              </a:lnSpc>
              <a:spcBef>
                <a:spcPts val="370"/>
              </a:spcBef>
              <a:tabLst>
                <a:tab pos="501650" algn="l"/>
              </a:tabLst>
            </a:pPr>
            <a:r>
              <a:rPr sz="900" spc="-25" dirty="0">
                <a:latin typeface="Gadugi" panose="020B0502040204020203"/>
                <a:cs typeface="Gadugi" panose="020B0502040204020203"/>
              </a:rPr>
              <a:t>20</a:t>
            </a:r>
            <a:r>
              <a:rPr sz="900" dirty="0">
                <a:latin typeface="Gadugi" panose="020B0502040204020203"/>
                <a:cs typeface="Gadugi" panose="020B0502040204020203"/>
              </a:rPr>
              <a:t>	</a:t>
            </a:r>
            <a:r>
              <a:rPr sz="900" spc="-50" dirty="0">
                <a:latin typeface="Gadugi" panose="020B0502040204020203"/>
                <a:cs typeface="Gadugi" panose="020B0502040204020203"/>
              </a:rPr>
              <a:t>1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52070">
              <a:lnSpc>
                <a:spcPct val="100000"/>
              </a:lnSpc>
              <a:spcBef>
                <a:spcPts val="385"/>
              </a:spcBef>
              <a:tabLst>
                <a:tab pos="501650" algn="l"/>
              </a:tabLst>
            </a:pPr>
            <a:r>
              <a:rPr sz="900" spc="-25" dirty="0">
                <a:latin typeface="Gadugi" panose="020B0502040204020203"/>
                <a:cs typeface="Gadugi" panose="020B0502040204020203"/>
              </a:rPr>
              <a:t>20</a:t>
            </a:r>
            <a:r>
              <a:rPr sz="900" dirty="0">
                <a:latin typeface="Gadugi" panose="020B0502040204020203"/>
                <a:cs typeface="Gadugi" panose="020B0502040204020203"/>
              </a:rPr>
              <a:t>	</a:t>
            </a:r>
            <a:r>
              <a:rPr sz="900" spc="-50" dirty="0">
                <a:latin typeface="Gadugi" panose="020B0502040204020203"/>
                <a:cs typeface="Gadugi" panose="020B0502040204020203"/>
              </a:rPr>
              <a:t>2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44295" y="550773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3"/>
                </a:lnTo>
                <a:lnTo>
                  <a:pt x="6082284" y="3415283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r>
              <a:rPr spc="-25" dirty="0"/>
              <a:t>1</a:t>
            </a:r>
            <a:r>
              <a:rPr spc="-25" dirty="0"/>
              <a:t>3</a:t>
            </a:r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1540" y="25814"/>
            <a:ext cx="76771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0" dirty="0">
                <a:latin typeface="Calibri" panose="020F0502020204030204"/>
                <a:cs typeface="Calibri" panose="020F0502020204030204"/>
              </a:rPr>
              <a:t>3/30/2023</a:t>
            </a:r>
            <a:endParaRPr sz="12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66216" y="1260348"/>
            <a:ext cx="5842000" cy="3167380"/>
            <a:chOff x="966216" y="1260348"/>
            <a:chExt cx="5842000" cy="3167380"/>
          </a:xfrm>
        </p:grpSpPr>
        <p:sp>
          <p:nvSpPr>
            <p:cNvPr id="4" name="object 4"/>
            <p:cNvSpPr/>
            <p:nvPr/>
          </p:nvSpPr>
          <p:spPr>
            <a:xfrm>
              <a:off x="966216" y="1260348"/>
              <a:ext cx="5842000" cy="3167380"/>
            </a:xfrm>
            <a:custGeom>
              <a:avLst/>
              <a:gdLst/>
              <a:ahLst/>
              <a:cxnLst/>
              <a:rect l="l" t="t" r="r" b="b"/>
              <a:pathLst>
                <a:path w="5842000" h="3167379">
                  <a:moveTo>
                    <a:pt x="5841491" y="3166871"/>
                  </a:moveTo>
                  <a:lnTo>
                    <a:pt x="0" y="3166871"/>
                  </a:lnTo>
                  <a:lnTo>
                    <a:pt x="0" y="0"/>
                  </a:lnTo>
                  <a:lnTo>
                    <a:pt x="5841491" y="0"/>
                  </a:lnTo>
                  <a:lnTo>
                    <a:pt x="5841491" y="316687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41475" y="1726691"/>
              <a:ext cx="5491480" cy="0"/>
            </a:xfrm>
            <a:custGeom>
              <a:avLst/>
              <a:gdLst/>
              <a:ahLst/>
              <a:cxnLst/>
              <a:rect l="l" t="t" r="r" b="b"/>
              <a:pathLst>
                <a:path w="5491480">
                  <a:moveTo>
                    <a:pt x="0" y="0"/>
                  </a:moveTo>
                  <a:lnTo>
                    <a:pt x="5490972" y="0"/>
                  </a:lnTo>
                </a:path>
              </a:pathLst>
            </a:custGeom>
            <a:ln w="12192">
              <a:solidFill>
                <a:srgbClr val="D146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131851" y="1418381"/>
            <a:ext cx="11277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BF0000"/>
                </a:solidFill>
                <a:latin typeface="Gadugi" panose="020B0502040204020203"/>
                <a:cs typeface="Gadugi" panose="020B0502040204020203"/>
              </a:rPr>
              <a:t>FETCH</a:t>
            </a:r>
            <a:r>
              <a:rPr sz="1400" b="1" spc="-90" dirty="0">
                <a:solidFill>
                  <a:srgbClr val="BF0000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1400" b="1" spc="-10" dirty="0">
                <a:solidFill>
                  <a:srgbClr val="BF0000"/>
                </a:solidFill>
                <a:latin typeface="Gadugi" panose="020B0502040204020203"/>
                <a:cs typeface="Gadugi" panose="020B0502040204020203"/>
              </a:rPr>
              <a:t>TYPES</a:t>
            </a:r>
            <a:endParaRPr sz="14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1803" y="1835940"/>
            <a:ext cx="5422265" cy="14655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640"/>
              </a:spcBef>
              <a:buFont typeface="Arial" panose="020B0604020202020204"/>
              <a:buChar char="•"/>
              <a:tabLst>
                <a:tab pos="155575" algn="l"/>
              </a:tabLst>
            </a:pPr>
            <a:r>
              <a:rPr sz="900" spc="-10" dirty="0">
                <a:latin typeface="Gadugi" panose="020B0502040204020203"/>
                <a:cs typeface="Gadugi" panose="020B0502040204020203"/>
              </a:rPr>
              <a:t>FetchType.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general,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FetchMode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defines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how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Hibernate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will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fetch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data.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55575" indent="-142875">
              <a:lnSpc>
                <a:spcPct val="100000"/>
              </a:lnSpc>
              <a:spcBef>
                <a:spcPts val="540"/>
              </a:spcBef>
              <a:buFont typeface="Arial" panose="020B0604020202020204"/>
              <a:buChar char="•"/>
              <a:tabLst>
                <a:tab pos="155575" algn="l"/>
              </a:tabLst>
            </a:pPr>
            <a:r>
              <a:rPr sz="900" spc="-10" dirty="0">
                <a:latin typeface="Gadugi" panose="020B0502040204020203"/>
                <a:cs typeface="Gadugi" panose="020B0502040204020203"/>
              </a:rPr>
              <a:t>FetchType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defines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whether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Hibernate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will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load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data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eagerly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or</a:t>
            </a:r>
            <a:r>
              <a:rPr sz="9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lazily.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55575" indent="-142875">
              <a:lnSpc>
                <a:spcPct val="100000"/>
              </a:lnSpc>
              <a:spcBef>
                <a:spcPts val="540"/>
              </a:spcBef>
              <a:buFont typeface="Arial" panose="020B0604020202020204"/>
              <a:buChar char="•"/>
              <a:tabLst>
                <a:tab pos="155575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Fetch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type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supports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two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types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of</a:t>
            </a:r>
            <a:r>
              <a:rPr sz="9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loading: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Lazy</a:t>
            </a:r>
            <a:r>
              <a:rPr sz="900" b="1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and</a:t>
            </a:r>
            <a:r>
              <a:rPr sz="900" b="1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latin typeface="Gadugi" panose="020B0502040204020203"/>
                <a:cs typeface="Gadugi" panose="020B0502040204020203"/>
              </a:rPr>
              <a:t>Eager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55575" marR="60960" indent="-143510">
              <a:lnSpc>
                <a:spcPct val="150000"/>
              </a:lnSpc>
              <a:buFont typeface="Arial" panose="020B0604020202020204"/>
              <a:buChar char="•"/>
              <a:tabLst>
                <a:tab pos="155575" algn="l"/>
              </a:tabLst>
            </a:pPr>
            <a:r>
              <a:rPr sz="900" u="sng" spc="-10" dirty="0">
                <a:uFill>
                  <a:solidFill>
                    <a:srgbClr val="000000"/>
                  </a:solidFill>
                </a:uFill>
                <a:latin typeface="Gadugi" panose="020B0502040204020203"/>
                <a:cs typeface="Gadugi" panose="020B0502040204020203"/>
              </a:rPr>
              <a:t>FetchType.</a:t>
            </a:r>
            <a:r>
              <a:rPr sz="900" b="1" u="sng" spc="-10" dirty="0">
                <a:uFill>
                  <a:solidFill>
                    <a:srgbClr val="000000"/>
                  </a:solidFill>
                </a:uFill>
                <a:latin typeface="Gadugi" panose="020B0502040204020203"/>
                <a:cs typeface="Gadugi" panose="020B0502040204020203"/>
              </a:rPr>
              <a:t>EAGER</a:t>
            </a:r>
            <a:r>
              <a:rPr sz="900" u="none" spc="-10" dirty="0">
                <a:latin typeface="Gadugi" panose="020B0502040204020203"/>
                <a:cs typeface="Gadugi" panose="020B0502040204020203"/>
              </a:rPr>
              <a:t>:</a:t>
            </a:r>
            <a:r>
              <a:rPr sz="900" u="none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When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Hibernate</a:t>
            </a:r>
            <a:r>
              <a:rPr sz="900" u="none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fetch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the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data</a:t>
            </a:r>
            <a:r>
              <a:rPr sz="900" u="none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from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owning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side,</a:t>
            </a:r>
            <a:r>
              <a:rPr sz="900" u="none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both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owning</a:t>
            </a:r>
            <a:r>
              <a:rPr sz="900" u="none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side</a:t>
            </a:r>
            <a:r>
              <a:rPr sz="900" u="none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and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non-</a:t>
            </a:r>
            <a:r>
              <a:rPr sz="900" u="none" spc="-10" dirty="0">
                <a:latin typeface="Gadugi" panose="020B0502040204020203"/>
                <a:cs typeface="Gadugi" panose="020B0502040204020203"/>
              </a:rPr>
              <a:t>owning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side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data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will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get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fetched</a:t>
            </a:r>
            <a:r>
              <a:rPr sz="900" u="none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this</a:t>
            </a:r>
            <a:r>
              <a:rPr sz="900" u="none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type</a:t>
            </a:r>
            <a:r>
              <a:rPr sz="900" u="none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of</a:t>
            </a:r>
            <a:r>
              <a:rPr sz="900" u="none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Fetch</a:t>
            </a:r>
            <a:r>
              <a:rPr sz="900" u="none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Type</a:t>
            </a:r>
            <a:r>
              <a:rPr sz="900" u="none" spc="19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is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called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as</a:t>
            </a:r>
            <a:r>
              <a:rPr sz="900" u="none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u="none" spc="-10" dirty="0">
                <a:latin typeface="Gadugi" panose="020B0502040204020203"/>
                <a:cs typeface="Gadugi" panose="020B0502040204020203"/>
              </a:rPr>
              <a:t>FetchType.EAGER</a:t>
            </a:r>
            <a:r>
              <a:rPr sz="900" u="none" spc="-10" dirty="0">
                <a:latin typeface="Gadugi" panose="020B0502040204020203"/>
                <a:cs typeface="Gadugi" panose="020B0502040204020203"/>
              </a:rPr>
              <a:t>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55575" marR="5080" indent="-143510">
              <a:lnSpc>
                <a:spcPct val="150000"/>
              </a:lnSpc>
              <a:buFont typeface="Arial" panose="020B0604020202020204"/>
              <a:buChar char="•"/>
              <a:tabLst>
                <a:tab pos="155575" algn="l"/>
              </a:tabLst>
            </a:pPr>
            <a:r>
              <a:rPr sz="900" u="sng" spc="-10" dirty="0">
                <a:uFill>
                  <a:solidFill>
                    <a:srgbClr val="000000"/>
                  </a:solidFill>
                </a:uFill>
                <a:latin typeface="Gadugi" panose="020B0502040204020203"/>
                <a:cs typeface="Gadugi" panose="020B0502040204020203"/>
              </a:rPr>
              <a:t>FetchType.</a:t>
            </a:r>
            <a:r>
              <a:rPr sz="900" b="1" u="sng" spc="-10" dirty="0">
                <a:uFill>
                  <a:solidFill>
                    <a:srgbClr val="000000"/>
                  </a:solidFill>
                </a:uFill>
                <a:latin typeface="Gadugi" panose="020B0502040204020203"/>
                <a:cs typeface="Gadugi" panose="020B0502040204020203"/>
              </a:rPr>
              <a:t>LAZY</a:t>
            </a:r>
            <a:r>
              <a:rPr sz="900" b="1" u="none" spc="-10" dirty="0">
                <a:latin typeface="Gadugi" panose="020B0502040204020203"/>
                <a:cs typeface="Gadugi" panose="020B0502040204020203"/>
              </a:rPr>
              <a:t>:</a:t>
            </a:r>
            <a:r>
              <a:rPr sz="900" b="1" u="none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When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Hibernate</a:t>
            </a:r>
            <a:r>
              <a:rPr sz="900" u="none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fetch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the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data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from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owning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side,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only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owning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side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data</a:t>
            </a:r>
            <a:r>
              <a:rPr sz="900" u="none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will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be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spc="-10" dirty="0">
                <a:latin typeface="Gadugi" panose="020B0502040204020203"/>
                <a:cs typeface="Gadugi" panose="020B0502040204020203"/>
              </a:rPr>
              <a:t>fetched non-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owning</a:t>
            </a:r>
            <a:r>
              <a:rPr sz="900" u="none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side</a:t>
            </a:r>
            <a:r>
              <a:rPr sz="900" u="none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will</a:t>
            </a:r>
            <a:r>
              <a:rPr sz="900" u="none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be</a:t>
            </a:r>
            <a:r>
              <a:rPr sz="900" u="none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not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spc="-10" dirty="0">
                <a:latin typeface="Gadugi" panose="020B0502040204020203"/>
                <a:cs typeface="Gadugi" panose="020B0502040204020203"/>
              </a:rPr>
              <a:t>fetched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so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this</a:t>
            </a:r>
            <a:r>
              <a:rPr sz="900" u="none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type</a:t>
            </a:r>
            <a:r>
              <a:rPr sz="900" u="none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of</a:t>
            </a:r>
            <a:r>
              <a:rPr sz="900" u="none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spc="-10" dirty="0">
                <a:latin typeface="Gadugi" panose="020B0502040204020203"/>
                <a:cs typeface="Gadugi" panose="020B0502040204020203"/>
              </a:rPr>
              <a:t>FetchType</a:t>
            </a:r>
            <a:r>
              <a:rPr sz="900" u="none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is</a:t>
            </a:r>
            <a:r>
              <a:rPr sz="900" u="none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called</a:t>
            </a:r>
            <a:r>
              <a:rPr sz="900" u="none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as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u="none" spc="-10" dirty="0">
                <a:latin typeface="Gadugi" panose="020B0502040204020203"/>
                <a:cs typeface="Gadugi" panose="020B0502040204020203"/>
              </a:rPr>
              <a:t>FetchType.LAZY.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113788" y="3406140"/>
            <a:ext cx="3546347" cy="926591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110739" y="3403091"/>
          <a:ext cx="3629025" cy="92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2285"/>
                <a:gridCol w="1773555"/>
              </a:tblGrid>
              <a:tr h="1854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MAPPING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DEFAULT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FETCH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Gadugi" panose="020B0502040204020203"/>
                          <a:cs typeface="Gadugi" panose="020B0502040204020203"/>
                        </a:rPr>
                        <a:t> TYPE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OneToOne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EAGER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OneToMany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LAZY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ManyToOne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EAGER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10" dirty="0">
                          <a:latin typeface="Gadugi" panose="020B0502040204020203"/>
                          <a:cs typeface="Gadugi" panose="020B0502040204020203"/>
                        </a:rPr>
                        <a:t>ManyToMany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00" spc="-20" dirty="0">
                          <a:latin typeface="Gadugi" panose="020B0502040204020203"/>
                          <a:cs typeface="Gadugi" panose="020B0502040204020203"/>
                        </a:rPr>
                        <a:t>LAZY</a:t>
                      </a:r>
                      <a:endParaRPr sz="900">
                        <a:latin typeface="Gadugi" panose="020B0502040204020203"/>
                        <a:cs typeface="Gadugi" panose="020B0502040204020203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844295" y="113385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4"/>
                </a:lnTo>
                <a:lnTo>
                  <a:pt x="6082284" y="3415284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966216" y="5634228"/>
            <a:ext cx="5842000" cy="3167380"/>
            <a:chOff x="966216" y="5634228"/>
            <a:chExt cx="5842000" cy="3167380"/>
          </a:xfrm>
        </p:grpSpPr>
        <p:sp>
          <p:nvSpPr>
            <p:cNvPr id="12" name="object 12"/>
            <p:cNvSpPr/>
            <p:nvPr/>
          </p:nvSpPr>
          <p:spPr>
            <a:xfrm>
              <a:off x="966216" y="5634228"/>
              <a:ext cx="5842000" cy="3167380"/>
            </a:xfrm>
            <a:custGeom>
              <a:avLst/>
              <a:gdLst/>
              <a:ahLst/>
              <a:cxnLst/>
              <a:rect l="l" t="t" r="r" b="b"/>
              <a:pathLst>
                <a:path w="5842000" h="3167379">
                  <a:moveTo>
                    <a:pt x="5841491" y="3166871"/>
                  </a:moveTo>
                  <a:lnTo>
                    <a:pt x="0" y="3166871"/>
                  </a:lnTo>
                  <a:lnTo>
                    <a:pt x="0" y="0"/>
                  </a:lnTo>
                  <a:lnTo>
                    <a:pt x="5841491" y="0"/>
                  </a:lnTo>
                  <a:lnTo>
                    <a:pt x="5841491" y="316687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141475" y="6100571"/>
              <a:ext cx="5491480" cy="0"/>
            </a:xfrm>
            <a:custGeom>
              <a:avLst/>
              <a:gdLst/>
              <a:ahLst/>
              <a:cxnLst/>
              <a:rect l="l" t="t" r="r" b="b"/>
              <a:pathLst>
                <a:path w="5491480">
                  <a:moveTo>
                    <a:pt x="0" y="0"/>
                  </a:moveTo>
                  <a:lnTo>
                    <a:pt x="5490972" y="0"/>
                  </a:lnTo>
                </a:path>
              </a:pathLst>
            </a:custGeom>
            <a:ln w="12192">
              <a:solidFill>
                <a:srgbClr val="D146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66216" y="5634228"/>
            <a:ext cx="5842000" cy="316738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225"/>
              </a:spcBef>
            </a:pPr>
            <a:r>
              <a:rPr sz="1400" b="1" spc="-10" dirty="0">
                <a:solidFill>
                  <a:srgbClr val="BF0000"/>
                </a:solidFill>
                <a:latin typeface="Gadugi" panose="020B0502040204020203"/>
                <a:cs typeface="Gadugi" panose="020B0502040204020203"/>
              </a:rPr>
              <a:t>CASCADE</a:t>
            </a:r>
            <a:endParaRPr sz="1400">
              <a:latin typeface="Gadugi" panose="020B0502040204020203"/>
              <a:cs typeface="Gadugi" panose="020B0502040204020203"/>
            </a:endParaRPr>
          </a:p>
          <a:p>
            <a:pPr marL="318135" marR="719455" indent="-143510">
              <a:lnSpc>
                <a:spcPct val="150000"/>
              </a:lnSpc>
              <a:spcBef>
                <a:spcPts val="595"/>
              </a:spcBef>
              <a:buFont typeface="Arial" panose="020B0604020202020204"/>
              <a:buChar char="•"/>
              <a:tabLst>
                <a:tab pos="318135" algn="l"/>
              </a:tabLst>
            </a:pPr>
            <a:r>
              <a:rPr sz="900" b="1" dirty="0">
                <a:latin typeface="Gadugi" panose="020B0502040204020203"/>
                <a:cs typeface="Gadugi" panose="020B0502040204020203"/>
              </a:rPr>
              <a:t>CASCADE:</a:t>
            </a:r>
            <a:r>
              <a:rPr sz="900" b="1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It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is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feature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provided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by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hibernate </a:t>
            </a:r>
            <a:r>
              <a:rPr sz="900" dirty="0">
                <a:latin typeface="Gadugi" panose="020B0502040204020203"/>
                <a:cs typeface="Gadugi" panose="020B0502040204020203"/>
              </a:rPr>
              <a:t>to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automatically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manage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state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of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mapped entity(non-</a:t>
            </a:r>
            <a:r>
              <a:rPr sz="900" dirty="0">
                <a:latin typeface="Gadugi" panose="020B0502040204020203"/>
                <a:cs typeface="Gadugi" panose="020B0502040204020203"/>
              </a:rPr>
              <a:t>owning</a:t>
            </a:r>
            <a:r>
              <a:rPr sz="900" spc="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side)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,whenever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state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of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owner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entity(owning</a:t>
            </a:r>
            <a:r>
              <a:rPr sz="900" dirty="0">
                <a:latin typeface="Gadugi" panose="020B0502040204020203"/>
                <a:cs typeface="Gadugi" panose="020B0502040204020203"/>
              </a:rPr>
              <a:t> side)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is</a:t>
            </a:r>
            <a:r>
              <a:rPr sz="90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affected.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318135" marR="505460" indent="-143510">
              <a:lnSpc>
                <a:spcPct val="150000"/>
              </a:lnSpc>
              <a:buFont typeface="Arial" panose="020B0604020202020204"/>
              <a:buChar char="•"/>
              <a:tabLst>
                <a:tab pos="318135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In</a:t>
            </a:r>
            <a:r>
              <a:rPr sz="900" spc="-5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other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words,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whatever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modifications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like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persist,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merge,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delete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is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done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at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owning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side</a:t>
            </a:r>
            <a:r>
              <a:rPr sz="9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will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get </a:t>
            </a:r>
            <a:r>
              <a:rPr sz="900" dirty="0">
                <a:latin typeface="Gadugi" panose="020B0502040204020203"/>
                <a:cs typeface="Gadugi" panose="020B0502040204020203"/>
              </a:rPr>
              <a:t>affected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to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non-</a:t>
            </a:r>
            <a:r>
              <a:rPr sz="900" dirty="0">
                <a:latin typeface="Gadugi" panose="020B0502040204020203"/>
                <a:cs typeface="Gadugi" panose="020B0502040204020203"/>
              </a:rPr>
              <a:t>owning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side.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318135" indent="-142875">
              <a:lnSpc>
                <a:spcPct val="100000"/>
              </a:lnSpc>
              <a:spcBef>
                <a:spcPts val="545"/>
              </a:spcBef>
              <a:buFont typeface="Arial" panose="020B0604020202020204"/>
              <a:buChar char="•"/>
              <a:tabLst>
                <a:tab pos="318135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Cascading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is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done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only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at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owning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side.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318135" indent="-142875">
              <a:lnSpc>
                <a:spcPct val="100000"/>
              </a:lnSpc>
              <a:spcBef>
                <a:spcPts val="535"/>
              </a:spcBef>
              <a:buFont typeface="Arial" panose="020B0604020202020204"/>
              <a:buChar char="•"/>
              <a:tabLst>
                <a:tab pos="318135" algn="l"/>
              </a:tabLst>
            </a:pPr>
            <a:r>
              <a:rPr sz="900" spc="-50" dirty="0">
                <a:latin typeface="Gadugi" panose="020B0502040204020203"/>
                <a:cs typeface="Gadugi" panose="020B0502040204020203"/>
              </a:rPr>
              <a:t>To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achieve</a:t>
            </a:r>
            <a:r>
              <a:rPr sz="900" spc="-5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cascading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there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are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some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cascade</a:t>
            </a:r>
            <a:r>
              <a:rPr sz="9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types: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347345" marR="367665" indent="-172720">
              <a:lnSpc>
                <a:spcPct val="150000"/>
              </a:lnSpc>
              <a:spcBef>
                <a:spcPts val="5"/>
              </a:spcBef>
              <a:buAutoNum type="arabicPeriod"/>
              <a:tabLst>
                <a:tab pos="347345" algn="l"/>
              </a:tabLst>
            </a:pPr>
            <a:r>
              <a:rPr sz="900" b="1" spc="-10" dirty="0">
                <a:latin typeface="Gadugi" panose="020B0502040204020203"/>
                <a:cs typeface="Gadugi" panose="020B0502040204020203"/>
              </a:rPr>
              <a:t>CascadeType.PERSIST:</a:t>
            </a:r>
            <a:r>
              <a:rPr sz="900" b="1" spc="18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Whenever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programmer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saves</a:t>
            </a:r>
            <a:r>
              <a:rPr sz="9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owning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side,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automatically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non-owning </a:t>
            </a:r>
            <a:r>
              <a:rPr sz="900" dirty="0">
                <a:latin typeface="Gadugi" panose="020B0502040204020203"/>
                <a:cs typeface="Gadugi" panose="020B0502040204020203"/>
              </a:rPr>
              <a:t>side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will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also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be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saved.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347345" marR="222250" indent="-172720">
              <a:lnSpc>
                <a:spcPct val="150000"/>
              </a:lnSpc>
              <a:buAutoNum type="arabicPeriod"/>
              <a:tabLst>
                <a:tab pos="347345" algn="l"/>
              </a:tabLst>
            </a:pPr>
            <a:r>
              <a:rPr sz="900" b="1" spc="-10" dirty="0">
                <a:latin typeface="Gadugi" panose="020B0502040204020203"/>
                <a:cs typeface="Gadugi" panose="020B0502040204020203"/>
              </a:rPr>
              <a:t>CascadeType.MERGE:</a:t>
            </a:r>
            <a:r>
              <a:rPr sz="900" b="1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:</a:t>
            </a:r>
            <a:r>
              <a:rPr sz="900" b="1" spc="19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Whenever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programmer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updates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owning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side,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automatically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non-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owning </a:t>
            </a:r>
            <a:r>
              <a:rPr sz="900" dirty="0">
                <a:latin typeface="Gadugi" panose="020B0502040204020203"/>
                <a:cs typeface="Gadugi" panose="020B0502040204020203"/>
              </a:rPr>
              <a:t>side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will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also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be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updated.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347345" marR="277495" indent="-172720">
              <a:lnSpc>
                <a:spcPct val="150000"/>
              </a:lnSpc>
              <a:buAutoNum type="arabicPeriod"/>
              <a:tabLst>
                <a:tab pos="347345" algn="l"/>
              </a:tabLst>
            </a:pPr>
            <a:r>
              <a:rPr sz="900" b="1" spc="-10" dirty="0">
                <a:latin typeface="Gadugi" panose="020B0502040204020203"/>
                <a:cs typeface="Gadugi" panose="020B0502040204020203"/>
              </a:rPr>
              <a:t>CascadeType.REMOVE:</a:t>
            </a:r>
            <a:r>
              <a:rPr sz="900" b="1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Whenever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programmer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deletes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owning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side,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automatically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non-owning </a:t>
            </a:r>
            <a:r>
              <a:rPr sz="900" dirty="0">
                <a:latin typeface="Gadugi" panose="020B0502040204020203"/>
                <a:cs typeface="Gadugi" panose="020B0502040204020203"/>
              </a:rPr>
              <a:t>side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will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also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be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deleted.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347980" indent="-172720">
              <a:lnSpc>
                <a:spcPct val="100000"/>
              </a:lnSpc>
              <a:spcBef>
                <a:spcPts val="535"/>
              </a:spcBef>
              <a:buAutoNum type="arabicPeriod"/>
              <a:tabLst>
                <a:tab pos="347980" algn="l"/>
              </a:tabLst>
            </a:pPr>
            <a:r>
              <a:rPr sz="900" b="1" spc="-10" dirty="0">
                <a:latin typeface="Gadugi" panose="020B0502040204020203"/>
                <a:cs typeface="Gadugi" panose="020B0502040204020203"/>
              </a:rPr>
              <a:t>CascadeType.ALL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: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cascade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type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800" dirty="0">
                <a:latin typeface="Gadugi" panose="020B0502040204020203"/>
                <a:cs typeface="Gadugi" panose="020B0502040204020203"/>
              </a:rPr>
              <a:t>all</a:t>
            </a:r>
            <a:r>
              <a:rPr sz="8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is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shorthand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for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all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of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above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cascade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operations.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44295" y="550773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3"/>
                </a:lnTo>
                <a:lnTo>
                  <a:pt x="6082284" y="3415283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r>
              <a:rPr spc="-25" dirty="0"/>
              <a:t>1</a:t>
            </a:r>
            <a:r>
              <a:rPr spc="-25" dirty="0"/>
              <a:t>4</a:t>
            </a:r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1540" y="25814"/>
            <a:ext cx="76771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0" dirty="0">
                <a:latin typeface="Calibri" panose="020F0502020204030204"/>
                <a:cs typeface="Calibri" panose="020F0502020204030204"/>
              </a:rPr>
              <a:t>3/30/2023</a:t>
            </a:r>
            <a:endParaRPr sz="1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5736" y="1240536"/>
            <a:ext cx="5861685" cy="3169920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560"/>
              </a:spcBef>
            </a:pPr>
            <a:r>
              <a:rPr sz="1200" b="1" u="sng" spc="-10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Gadugi" panose="020B0502040204020203"/>
                <a:cs typeface="Gadugi" panose="020B0502040204020203"/>
              </a:rPr>
              <a:t>GENERATED</a:t>
            </a:r>
            <a:r>
              <a:rPr sz="1200" b="1" u="sng" spc="-40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Gadugi" panose="020B0502040204020203"/>
                <a:cs typeface="Gadugi" panose="020B0502040204020203"/>
              </a:rPr>
              <a:t> </a:t>
            </a:r>
            <a:r>
              <a:rPr sz="1200" b="1" u="sng" spc="-10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Gadugi" panose="020B0502040204020203"/>
                <a:cs typeface="Gadugi" panose="020B0502040204020203"/>
              </a:rPr>
              <a:t>VALUE:</a:t>
            </a:r>
            <a:endParaRPr sz="1200">
              <a:latin typeface="Gadugi" panose="020B0502040204020203"/>
              <a:cs typeface="Gadugi" panose="020B0502040204020203"/>
            </a:endParaRPr>
          </a:p>
          <a:p>
            <a:pPr marL="187325" indent="-143510">
              <a:lnSpc>
                <a:spcPct val="100000"/>
              </a:lnSpc>
              <a:spcBef>
                <a:spcPts val="605"/>
              </a:spcBef>
              <a:buFont typeface="Arial" panose="020B0604020202020204"/>
              <a:buChar char="•"/>
              <a:tabLst>
                <a:tab pos="187325" algn="l"/>
              </a:tabLst>
            </a:pPr>
            <a:r>
              <a:rPr sz="850" dirty="0">
                <a:latin typeface="Gadugi" panose="020B0502040204020203"/>
                <a:cs typeface="Gadugi" panose="020B0502040204020203"/>
              </a:rPr>
              <a:t>Hibernate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supports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some</a:t>
            </a:r>
            <a:r>
              <a:rPr sz="8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generation</a:t>
            </a:r>
            <a:r>
              <a:rPr sz="85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strategies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to 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generate</a:t>
            </a:r>
            <a:r>
              <a:rPr sz="85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a primary</a:t>
            </a:r>
            <a:r>
              <a:rPr sz="85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key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in the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database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table.</a:t>
            </a:r>
            <a:endParaRPr sz="850">
              <a:latin typeface="Gadugi" panose="020B0502040204020203"/>
              <a:cs typeface="Gadugi" panose="020B0502040204020203"/>
            </a:endParaRPr>
          </a:p>
          <a:p>
            <a:pPr marL="187325" marR="180975" indent="-143510">
              <a:lnSpc>
                <a:spcPts val="1540"/>
              </a:lnSpc>
              <a:spcBef>
                <a:spcPts val="120"/>
              </a:spcBef>
              <a:buFont typeface="Arial" panose="020B0604020202020204"/>
              <a:buChar char="•"/>
              <a:tabLst>
                <a:tab pos="187325" algn="l"/>
              </a:tabLst>
            </a:pPr>
            <a:r>
              <a:rPr sz="850" b="1" spc="-10" dirty="0">
                <a:latin typeface="Gadugi" panose="020B0502040204020203"/>
                <a:cs typeface="Gadugi" panose="020B0502040204020203"/>
              </a:rPr>
              <a:t>@GeneratedValue:</a:t>
            </a:r>
            <a:r>
              <a:rPr sz="850" b="1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dirty="0">
                <a:latin typeface="Gadugi" panose="020B0502040204020203"/>
                <a:cs typeface="Gadugi" panose="020B0502040204020203"/>
              </a:rPr>
              <a:t>This</a:t>
            </a:r>
            <a:r>
              <a:rPr sz="850" b="1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dirty="0">
                <a:latin typeface="Gadugi" panose="020B0502040204020203"/>
                <a:cs typeface="Gadugi" panose="020B0502040204020203"/>
              </a:rPr>
              <a:t>annotation</a:t>
            </a:r>
            <a:r>
              <a:rPr sz="850" b="1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dirty="0">
                <a:latin typeface="Gadugi" panose="020B0502040204020203"/>
                <a:cs typeface="Gadugi" panose="020B0502040204020203"/>
              </a:rPr>
              <a:t>is</a:t>
            </a:r>
            <a:r>
              <a:rPr sz="850" b="1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dirty="0">
                <a:latin typeface="Gadugi" panose="020B0502040204020203"/>
                <a:cs typeface="Gadugi" panose="020B0502040204020203"/>
              </a:rPr>
              <a:t>used to</a:t>
            </a:r>
            <a:r>
              <a:rPr sz="850" b="1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dirty="0">
                <a:latin typeface="Gadugi" panose="020B0502040204020203"/>
                <a:cs typeface="Gadugi" panose="020B0502040204020203"/>
              </a:rPr>
              <a:t>specify</a:t>
            </a:r>
            <a:r>
              <a:rPr sz="850" b="1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dirty="0">
                <a:latin typeface="Gadugi" panose="020B0502040204020203"/>
                <a:cs typeface="Gadugi" panose="020B0502040204020203"/>
              </a:rPr>
              <a:t>the</a:t>
            </a:r>
            <a:r>
              <a:rPr sz="850" b="1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dirty="0">
                <a:latin typeface="Gadugi" panose="020B0502040204020203"/>
                <a:cs typeface="Gadugi" panose="020B0502040204020203"/>
              </a:rPr>
              <a:t>primary</a:t>
            </a:r>
            <a:r>
              <a:rPr sz="850" b="1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dirty="0">
                <a:latin typeface="Gadugi" panose="020B0502040204020203"/>
                <a:cs typeface="Gadugi" panose="020B0502040204020203"/>
              </a:rPr>
              <a:t>key</a:t>
            </a:r>
            <a:r>
              <a:rPr sz="850" b="1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dirty="0">
                <a:latin typeface="Gadugi" panose="020B0502040204020203"/>
                <a:cs typeface="Gadugi" panose="020B0502040204020203"/>
              </a:rPr>
              <a:t>generation</a:t>
            </a:r>
            <a:r>
              <a:rPr sz="850" b="1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dirty="0">
                <a:latin typeface="Gadugi" panose="020B0502040204020203"/>
                <a:cs typeface="Gadugi" panose="020B0502040204020203"/>
              </a:rPr>
              <a:t>strategy</a:t>
            </a:r>
            <a:r>
              <a:rPr sz="850" b="1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dirty="0">
                <a:latin typeface="Gadugi" panose="020B0502040204020203"/>
                <a:cs typeface="Gadugi" panose="020B0502040204020203"/>
              </a:rPr>
              <a:t>to</a:t>
            </a:r>
            <a:r>
              <a:rPr sz="850" b="1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dirty="0">
                <a:latin typeface="Gadugi" panose="020B0502040204020203"/>
                <a:cs typeface="Gadugi" panose="020B0502040204020203"/>
              </a:rPr>
              <a:t>use</a:t>
            </a:r>
            <a:r>
              <a:rPr sz="850" dirty="0">
                <a:latin typeface="Gadugi" panose="020B0502040204020203"/>
                <a:cs typeface="Gadugi" panose="020B0502040204020203"/>
              </a:rPr>
              <a:t>.</a:t>
            </a:r>
            <a:r>
              <a:rPr sz="8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i.e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Instructs </a:t>
            </a:r>
            <a:r>
              <a:rPr sz="850" dirty="0">
                <a:latin typeface="Gadugi" panose="020B0502040204020203"/>
                <a:cs typeface="Gadugi" panose="020B0502040204020203"/>
              </a:rPr>
              <a:t>database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to</a:t>
            </a:r>
            <a:r>
              <a:rPr sz="8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generate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a</a:t>
            </a:r>
            <a:r>
              <a:rPr sz="8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value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for</a:t>
            </a:r>
            <a:r>
              <a:rPr sz="8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this field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automatically.</a:t>
            </a:r>
            <a:r>
              <a:rPr sz="8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If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the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 strategy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is not</a:t>
            </a:r>
            <a:r>
              <a:rPr sz="8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specified</a:t>
            </a:r>
            <a:r>
              <a:rPr sz="8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by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default</a:t>
            </a:r>
            <a:r>
              <a:rPr sz="85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AUTO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will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be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used</a:t>
            </a:r>
            <a:endParaRPr sz="850">
              <a:latin typeface="Gadugi" panose="020B0502040204020203"/>
              <a:cs typeface="Gadugi" panose="020B0502040204020203"/>
            </a:endParaRPr>
          </a:p>
          <a:p>
            <a:pPr marL="187325" indent="-143510">
              <a:lnSpc>
                <a:spcPct val="100000"/>
              </a:lnSpc>
              <a:spcBef>
                <a:spcPts val="365"/>
              </a:spcBef>
              <a:buFont typeface="Arial" panose="020B0604020202020204"/>
              <a:buChar char="•"/>
              <a:tabLst>
                <a:tab pos="187325" algn="l"/>
              </a:tabLst>
            </a:pPr>
            <a:r>
              <a:rPr sz="850" spc="-10" dirty="0">
                <a:latin typeface="Gadugi" panose="020B0502040204020203"/>
                <a:cs typeface="Gadugi" panose="020B0502040204020203"/>
              </a:rPr>
              <a:t>@GeneratedValue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annotation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takes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two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 parameters strategy </a:t>
            </a:r>
            <a:r>
              <a:rPr sz="850" dirty="0">
                <a:latin typeface="Gadugi" panose="020B0502040204020203"/>
                <a:cs typeface="Gadugi" panose="020B0502040204020203"/>
              </a:rPr>
              <a:t>and</a:t>
            </a:r>
            <a:r>
              <a:rPr sz="85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generator.</a:t>
            </a:r>
            <a:endParaRPr sz="850">
              <a:latin typeface="Gadugi" panose="020B0502040204020203"/>
              <a:cs typeface="Gadugi" panose="020B0502040204020203"/>
            </a:endParaRPr>
          </a:p>
          <a:p>
            <a:pPr marL="187325" marR="48895" indent="-143510">
              <a:lnSpc>
                <a:spcPct val="149000"/>
              </a:lnSpc>
              <a:spcBef>
                <a:spcPts val="10"/>
              </a:spcBef>
              <a:buFont typeface="Arial" panose="020B0604020202020204"/>
              <a:buChar char="•"/>
              <a:tabLst>
                <a:tab pos="187325" algn="l"/>
              </a:tabLst>
            </a:pPr>
            <a:r>
              <a:rPr sz="850" dirty="0">
                <a:latin typeface="Gadugi" panose="020B0502040204020203"/>
                <a:cs typeface="Gadugi" panose="020B0502040204020203"/>
              </a:rPr>
              <a:t>If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we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want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to</a:t>
            </a:r>
            <a:r>
              <a:rPr sz="8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automatically</a:t>
            </a:r>
            <a:r>
              <a:rPr sz="8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generate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the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primary</a:t>
            </a:r>
            <a:r>
              <a:rPr sz="85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key</a:t>
            </a:r>
            <a:r>
              <a:rPr sz="8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value,</a:t>
            </a:r>
            <a:r>
              <a:rPr sz="85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we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can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add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the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@GeneratedValue</a:t>
            </a:r>
            <a:r>
              <a:rPr sz="85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annotation.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This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can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use </a:t>
            </a:r>
            <a:r>
              <a:rPr sz="850" dirty="0">
                <a:latin typeface="Gadugi" panose="020B0502040204020203"/>
                <a:cs typeface="Gadugi" panose="020B0502040204020203"/>
              </a:rPr>
              <a:t>four</a:t>
            </a:r>
            <a:r>
              <a:rPr sz="85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generation</a:t>
            </a:r>
            <a:r>
              <a:rPr sz="85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types: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spc="-20" dirty="0">
                <a:latin typeface="Gadugi" panose="020B0502040204020203"/>
                <a:cs typeface="Gadugi" panose="020B0502040204020203"/>
              </a:rPr>
              <a:t>AUTO,</a:t>
            </a:r>
            <a:r>
              <a:rPr sz="850" b="1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spc="-10" dirty="0">
                <a:latin typeface="Gadugi" panose="020B0502040204020203"/>
                <a:cs typeface="Gadugi" panose="020B0502040204020203"/>
              </a:rPr>
              <a:t>IDENTITY,</a:t>
            </a:r>
            <a:r>
              <a:rPr sz="850" b="1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dirty="0">
                <a:latin typeface="Gadugi" panose="020B0502040204020203"/>
                <a:cs typeface="Gadugi" panose="020B0502040204020203"/>
              </a:rPr>
              <a:t>SEQUENCE</a:t>
            </a:r>
            <a:r>
              <a:rPr sz="850" b="1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dirty="0">
                <a:latin typeface="Gadugi" panose="020B0502040204020203"/>
                <a:cs typeface="Gadugi" panose="020B0502040204020203"/>
              </a:rPr>
              <a:t>and</a:t>
            </a:r>
            <a:r>
              <a:rPr sz="850" b="1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spc="-10" dirty="0">
                <a:latin typeface="Gadugi" panose="020B0502040204020203"/>
                <a:cs typeface="Gadugi" panose="020B0502040204020203"/>
              </a:rPr>
              <a:t>TABLE.</a:t>
            </a:r>
            <a:endParaRPr sz="850">
              <a:latin typeface="Gadugi" panose="020B0502040204020203"/>
              <a:cs typeface="Gadugi" panose="020B0502040204020203"/>
            </a:endParaRPr>
          </a:p>
          <a:p>
            <a:pPr marL="187325" marR="118110" indent="-143510">
              <a:lnSpc>
                <a:spcPct val="149000"/>
              </a:lnSpc>
              <a:spcBef>
                <a:spcPts val="15"/>
              </a:spcBef>
              <a:buFont typeface="Arial" panose="020B0604020202020204"/>
              <a:buChar char="•"/>
              <a:tabLst>
                <a:tab pos="187325" algn="l"/>
              </a:tabLst>
            </a:pPr>
            <a:r>
              <a:rPr sz="850" b="1" spc="-10" dirty="0">
                <a:latin typeface="Gadugi" panose="020B0502040204020203"/>
                <a:cs typeface="Gadugi" panose="020B0502040204020203"/>
              </a:rPr>
              <a:t>GenerationType.AUTO:</a:t>
            </a:r>
            <a:r>
              <a:rPr sz="850" b="1" spc="1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Indicates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that</a:t>
            </a:r>
            <a:r>
              <a:rPr sz="850" spc="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the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persistence 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provider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should</a:t>
            </a:r>
            <a:r>
              <a:rPr sz="85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pick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an 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appropriate</a:t>
            </a:r>
            <a:r>
              <a:rPr sz="85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strategy </a:t>
            </a:r>
            <a:r>
              <a:rPr sz="850" dirty="0">
                <a:latin typeface="Gadugi" panose="020B0502040204020203"/>
                <a:cs typeface="Gadugi" panose="020B0502040204020203"/>
              </a:rPr>
              <a:t>for</a:t>
            </a:r>
            <a:r>
              <a:rPr sz="85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the</a:t>
            </a:r>
            <a:r>
              <a:rPr sz="850" spc="10" dirty="0">
                <a:latin typeface="Gadugi" panose="020B0502040204020203"/>
                <a:cs typeface="Gadugi" panose="020B0502040204020203"/>
              </a:rPr>
              <a:t> 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particular database</a:t>
            </a:r>
            <a:endParaRPr sz="850">
              <a:latin typeface="Gadugi" panose="020B0502040204020203"/>
              <a:cs typeface="Gadugi" panose="020B0502040204020203"/>
            </a:endParaRPr>
          </a:p>
          <a:p>
            <a:pPr marL="187325" marR="197485" indent="-143510">
              <a:lnSpc>
                <a:spcPct val="149000"/>
              </a:lnSpc>
              <a:spcBef>
                <a:spcPts val="10"/>
              </a:spcBef>
              <a:buFont typeface="Arial" panose="020B0604020202020204"/>
              <a:buChar char="•"/>
              <a:tabLst>
                <a:tab pos="187325" algn="l"/>
              </a:tabLst>
            </a:pPr>
            <a:r>
              <a:rPr sz="850" b="1" spc="-10" dirty="0">
                <a:latin typeface="Gadugi" panose="020B0502040204020203"/>
                <a:cs typeface="Gadugi" panose="020B0502040204020203"/>
              </a:rPr>
              <a:t>GenerationType.</a:t>
            </a:r>
            <a:r>
              <a:rPr sz="850" b="1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spc="-10" dirty="0">
                <a:latin typeface="Gadugi" panose="020B0502040204020203"/>
                <a:cs typeface="Gadugi" panose="020B0502040204020203"/>
              </a:rPr>
              <a:t>IDENTITY:</a:t>
            </a:r>
            <a:r>
              <a:rPr sz="850" b="1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Indicates</a:t>
            </a:r>
            <a:r>
              <a:rPr sz="85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that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the</a:t>
            </a:r>
            <a:r>
              <a:rPr sz="8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persistence</a:t>
            </a:r>
            <a:r>
              <a:rPr sz="85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provider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must</a:t>
            </a:r>
            <a:r>
              <a:rPr sz="85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assign</a:t>
            </a:r>
            <a:r>
              <a:rPr sz="85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primary</a:t>
            </a:r>
            <a:r>
              <a:rPr sz="85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keys</a:t>
            </a:r>
            <a:r>
              <a:rPr sz="85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for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the</a:t>
            </a:r>
            <a:r>
              <a:rPr sz="8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entity</a:t>
            </a:r>
            <a:r>
              <a:rPr sz="85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using</a:t>
            </a:r>
            <a:r>
              <a:rPr sz="850" spc="5" dirty="0">
                <a:latin typeface="Gadugi" panose="020B0502040204020203"/>
                <a:cs typeface="Gadugi" panose="020B0502040204020203"/>
              </a:rPr>
              <a:t> </a:t>
            </a:r>
            <a:r>
              <a:rPr sz="850" spc="-50" dirty="0">
                <a:latin typeface="Gadugi" panose="020B0502040204020203"/>
                <a:cs typeface="Gadugi" panose="020B0502040204020203"/>
              </a:rPr>
              <a:t>a</a:t>
            </a:r>
            <a:r>
              <a:rPr sz="850" dirty="0">
                <a:latin typeface="Gadugi" panose="020B0502040204020203"/>
                <a:cs typeface="Gadugi" panose="020B0502040204020203"/>
              </a:rPr>
              <a:t> database</a:t>
            </a:r>
            <a:r>
              <a:rPr sz="85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identity</a:t>
            </a:r>
            <a:r>
              <a:rPr sz="85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column</a:t>
            </a:r>
            <a:endParaRPr sz="850">
              <a:latin typeface="Gadugi" panose="020B0502040204020203"/>
              <a:cs typeface="Gadugi" panose="020B0502040204020203"/>
            </a:endParaRPr>
          </a:p>
          <a:p>
            <a:pPr marL="187325" marR="112395" indent="-143510">
              <a:lnSpc>
                <a:spcPct val="149000"/>
              </a:lnSpc>
              <a:spcBef>
                <a:spcPts val="10"/>
              </a:spcBef>
              <a:buFont typeface="Arial" panose="020B0604020202020204"/>
              <a:buChar char="•"/>
              <a:tabLst>
                <a:tab pos="187325" algn="l"/>
              </a:tabLst>
            </a:pPr>
            <a:r>
              <a:rPr sz="850" b="1" spc="-10" dirty="0">
                <a:latin typeface="Gadugi" panose="020B0502040204020203"/>
                <a:cs typeface="Gadugi" panose="020B0502040204020203"/>
              </a:rPr>
              <a:t>GenerationType.</a:t>
            </a:r>
            <a:r>
              <a:rPr sz="850" b="1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dirty="0">
                <a:latin typeface="Gadugi" panose="020B0502040204020203"/>
                <a:cs typeface="Gadugi" panose="020B0502040204020203"/>
              </a:rPr>
              <a:t>SEQUENCE:</a:t>
            </a:r>
            <a:r>
              <a:rPr sz="850" b="1" spc="14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Indicates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that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the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persistence</a:t>
            </a:r>
            <a:r>
              <a:rPr sz="8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provider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must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assign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primary</a:t>
            </a:r>
            <a:r>
              <a:rPr sz="85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keys</a:t>
            </a:r>
            <a:r>
              <a:rPr sz="8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for</a:t>
            </a:r>
            <a:r>
              <a:rPr sz="85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the</a:t>
            </a:r>
            <a:r>
              <a:rPr sz="85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entity</a:t>
            </a:r>
            <a:r>
              <a:rPr sz="8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using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spc="-50" dirty="0">
                <a:latin typeface="Gadugi" panose="020B0502040204020203"/>
                <a:cs typeface="Gadugi" panose="020B0502040204020203"/>
              </a:rPr>
              <a:t>a</a:t>
            </a:r>
            <a:r>
              <a:rPr sz="850" dirty="0">
                <a:latin typeface="Gadugi" panose="020B0502040204020203"/>
                <a:cs typeface="Gadugi" panose="020B0502040204020203"/>
              </a:rPr>
              <a:t> database</a:t>
            </a:r>
            <a:r>
              <a:rPr sz="850" spc="-60" dirty="0">
                <a:latin typeface="Gadugi" panose="020B0502040204020203"/>
                <a:cs typeface="Gadugi" panose="020B0502040204020203"/>
              </a:rPr>
              <a:t> 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sequence</a:t>
            </a:r>
            <a:endParaRPr sz="850">
              <a:latin typeface="Gadugi" panose="020B0502040204020203"/>
              <a:cs typeface="Gadugi" panose="020B0502040204020203"/>
            </a:endParaRPr>
          </a:p>
          <a:p>
            <a:pPr marL="187325" marR="303530" indent="-143510">
              <a:lnSpc>
                <a:spcPct val="149000"/>
              </a:lnSpc>
              <a:spcBef>
                <a:spcPts val="15"/>
              </a:spcBef>
              <a:buFont typeface="Arial" panose="020B0604020202020204"/>
              <a:buChar char="•"/>
              <a:tabLst>
                <a:tab pos="187325" algn="l"/>
              </a:tabLst>
            </a:pPr>
            <a:r>
              <a:rPr sz="850" b="1" spc="-10" dirty="0">
                <a:latin typeface="Gadugi" panose="020B0502040204020203"/>
                <a:cs typeface="Gadugi" panose="020B0502040204020203"/>
              </a:rPr>
              <a:t>GenerationType.</a:t>
            </a:r>
            <a:r>
              <a:rPr sz="850" b="1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850" b="1" spc="-10" dirty="0">
                <a:latin typeface="Gadugi" panose="020B0502040204020203"/>
                <a:cs typeface="Gadugi" panose="020B0502040204020203"/>
              </a:rPr>
              <a:t>TABLE:</a:t>
            </a:r>
            <a:r>
              <a:rPr sz="850" b="1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Indicates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that</a:t>
            </a:r>
            <a:r>
              <a:rPr sz="8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the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persistence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 provider</a:t>
            </a:r>
            <a:r>
              <a:rPr sz="85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must</a:t>
            </a:r>
            <a:r>
              <a:rPr sz="850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assign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primary</a:t>
            </a:r>
            <a:r>
              <a:rPr sz="85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keys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for</a:t>
            </a:r>
            <a:r>
              <a:rPr sz="85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the</a:t>
            </a:r>
            <a:r>
              <a:rPr sz="85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entity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using</a:t>
            </a:r>
            <a:r>
              <a:rPr sz="850" spc="5" dirty="0">
                <a:latin typeface="Gadugi" panose="020B0502040204020203"/>
                <a:cs typeface="Gadugi" panose="020B0502040204020203"/>
              </a:rPr>
              <a:t> </a:t>
            </a:r>
            <a:r>
              <a:rPr sz="850" spc="-25" dirty="0">
                <a:latin typeface="Gadugi" panose="020B0502040204020203"/>
                <a:cs typeface="Gadugi" panose="020B0502040204020203"/>
              </a:rPr>
              <a:t>an </a:t>
            </a:r>
            <a:r>
              <a:rPr sz="850" dirty="0">
                <a:latin typeface="Gadugi" panose="020B0502040204020203"/>
                <a:cs typeface="Gadugi" panose="020B0502040204020203"/>
              </a:rPr>
              <a:t>underlying</a:t>
            </a:r>
            <a:r>
              <a:rPr sz="85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database</a:t>
            </a:r>
            <a:r>
              <a:rPr sz="85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table</a:t>
            </a:r>
            <a:r>
              <a:rPr sz="85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to</a:t>
            </a:r>
            <a:r>
              <a:rPr sz="85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850" dirty="0">
                <a:latin typeface="Gadugi" panose="020B0502040204020203"/>
                <a:cs typeface="Gadugi" panose="020B0502040204020203"/>
              </a:rPr>
              <a:t>ensure</a:t>
            </a:r>
            <a:r>
              <a:rPr sz="85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850" spc="-10" dirty="0">
                <a:latin typeface="Gadugi" panose="020B0502040204020203"/>
                <a:cs typeface="Gadugi" panose="020B0502040204020203"/>
              </a:rPr>
              <a:t>uniqueness</a:t>
            </a:r>
            <a:endParaRPr sz="8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44295" y="113385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4"/>
                </a:lnTo>
                <a:lnTo>
                  <a:pt x="6082284" y="3415284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966216" y="5634228"/>
            <a:ext cx="5842000" cy="3167380"/>
            <a:chOff x="966216" y="5634228"/>
            <a:chExt cx="5842000" cy="3167380"/>
          </a:xfrm>
        </p:grpSpPr>
        <p:sp>
          <p:nvSpPr>
            <p:cNvPr id="6" name="object 6"/>
            <p:cNvSpPr/>
            <p:nvPr/>
          </p:nvSpPr>
          <p:spPr>
            <a:xfrm>
              <a:off x="966216" y="5634228"/>
              <a:ext cx="5842000" cy="3167380"/>
            </a:xfrm>
            <a:custGeom>
              <a:avLst/>
              <a:gdLst/>
              <a:ahLst/>
              <a:cxnLst/>
              <a:rect l="l" t="t" r="r" b="b"/>
              <a:pathLst>
                <a:path w="5842000" h="3167379">
                  <a:moveTo>
                    <a:pt x="5841491" y="3166871"/>
                  </a:moveTo>
                  <a:lnTo>
                    <a:pt x="0" y="3166871"/>
                  </a:lnTo>
                  <a:lnTo>
                    <a:pt x="0" y="0"/>
                  </a:lnTo>
                  <a:lnTo>
                    <a:pt x="5841491" y="0"/>
                  </a:lnTo>
                  <a:lnTo>
                    <a:pt x="5841491" y="316687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41475" y="6100571"/>
              <a:ext cx="5491480" cy="0"/>
            </a:xfrm>
            <a:custGeom>
              <a:avLst/>
              <a:gdLst/>
              <a:ahLst/>
              <a:cxnLst/>
              <a:rect l="l" t="t" r="r" b="b"/>
              <a:pathLst>
                <a:path w="5491480">
                  <a:moveTo>
                    <a:pt x="0" y="0"/>
                  </a:moveTo>
                  <a:lnTo>
                    <a:pt x="5490972" y="0"/>
                  </a:lnTo>
                </a:path>
              </a:pathLst>
            </a:custGeom>
            <a:ln w="12192">
              <a:solidFill>
                <a:srgbClr val="D146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951988" y="7863839"/>
              <a:ext cx="889000" cy="786765"/>
            </a:xfrm>
            <a:custGeom>
              <a:avLst/>
              <a:gdLst/>
              <a:ahLst/>
              <a:cxnLst/>
              <a:rect l="l" t="t" r="r" b="b"/>
              <a:pathLst>
                <a:path w="889000" h="786765">
                  <a:moveTo>
                    <a:pt x="888491" y="786383"/>
                  </a:moveTo>
                  <a:lnTo>
                    <a:pt x="0" y="786383"/>
                  </a:lnTo>
                  <a:lnTo>
                    <a:pt x="0" y="0"/>
                  </a:lnTo>
                  <a:lnTo>
                    <a:pt x="888491" y="0"/>
                  </a:lnTo>
                  <a:lnTo>
                    <a:pt x="888491" y="786383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948940" y="7860792"/>
              <a:ext cx="894715" cy="798830"/>
            </a:xfrm>
            <a:custGeom>
              <a:avLst/>
              <a:gdLst/>
              <a:ahLst/>
              <a:cxnLst/>
              <a:rect l="l" t="t" r="r" b="b"/>
              <a:pathLst>
                <a:path w="894714" h="798829">
                  <a:moveTo>
                    <a:pt x="3048" y="0"/>
                  </a:moveTo>
                  <a:lnTo>
                    <a:pt x="3048" y="798575"/>
                  </a:lnTo>
                </a:path>
                <a:path w="894714" h="798829">
                  <a:moveTo>
                    <a:pt x="891540" y="0"/>
                  </a:moveTo>
                  <a:lnTo>
                    <a:pt x="891540" y="798575"/>
                  </a:lnTo>
                </a:path>
                <a:path w="894714" h="798829">
                  <a:moveTo>
                    <a:pt x="0" y="3047"/>
                  </a:moveTo>
                  <a:lnTo>
                    <a:pt x="894587" y="3047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948940" y="8641079"/>
              <a:ext cx="894715" cy="18415"/>
            </a:xfrm>
            <a:custGeom>
              <a:avLst/>
              <a:gdLst/>
              <a:ahLst/>
              <a:cxnLst/>
              <a:rect l="l" t="t" r="r" b="b"/>
              <a:pathLst>
                <a:path w="894714" h="18415">
                  <a:moveTo>
                    <a:pt x="0" y="0"/>
                  </a:moveTo>
                  <a:lnTo>
                    <a:pt x="894587" y="0"/>
                  </a:lnTo>
                  <a:lnTo>
                    <a:pt x="894587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955036" y="8143718"/>
            <a:ext cx="882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345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id=2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249423" y="7857616"/>
            <a:ext cx="2920365" cy="793115"/>
            <a:chOff x="2249423" y="7857616"/>
            <a:chExt cx="2920365" cy="793115"/>
          </a:xfrm>
        </p:grpSpPr>
        <p:sp>
          <p:nvSpPr>
            <p:cNvPr id="13" name="object 13"/>
            <p:cNvSpPr/>
            <p:nvPr/>
          </p:nvSpPr>
          <p:spPr>
            <a:xfrm>
              <a:off x="4538472" y="7940039"/>
              <a:ext cx="628015" cy="707390"/>
            </a:xfrm>
            <a:custGeom>
              <a:avLst/>
              <a:gdLst/>
              <a:ahLst/>
              <a:cxnLst/>
              <a:rect l="l" t="t" r="r" b="b"/>
              <a:pathLst>
                <a:path w="628014" h="707390">
                  <a:moveTo>
                    <a:pt x="313943" y="707135"/>
                  </a:moveTo>
                  <a:lnTo>
                    <a:pt x="241849" y="705065"/>
                  </a:lnTo>
                  <a:lnTo>
                    <a:pt x="175726" y="699156"/>
                  </a:lnTo>
                  <a:lnTo>
                    <a:pt x="117441" y="689861"/>
                  </a:lnTo>
                  <a:lnTo>
                    <a:pt x="68859" y="677633"/>
                  </a:lnTo>
                  <a:lnTo>
                    <a:pt x="31848" y="662926"/>
                  </a:lnTo>
                  <a:lnTo>
                    <a:pt x="0" y="627887"/>
                  </a:lnTo>
                  <a:lnTo>
                    <a:pt x="0" y="0"/>
                  </a:lnTo>
                  <a:lnTo>
                    <a:pt x="8273" y="17741"/>
                  </a:lnTo>
                  <a:lnTo>
                    <a:pt x="31848" y="34070"/>
                  </a:lnTo>
                  <a:lnTo>
                    <a:pt x="68859" y="48505"/>
                  </a:lnTo>
                  <a:lnTo>
                    <a:pt x="117441" y="60569"/>
                  </a:lnTo>
                  <a:lnTo>
                    <a:pt x="175726" y="69779"/>
                  </a:lnTo>
                  <a:lnTo>
                    <a:pt x="241849" y="75657"/>
                  </a:lnTo>
                  <a:lnTo>
                    <a:pt x="313943" y="77724"/>
                  </a:lnTo>
                  <a:lnTo>
                    <a:pt x="386038" y="75657"/>
                  </a:lnTo>
                  <a:lnTo>
                    <a:pt x="452161" y="69779"/>
                  </a:lnTo>
                  <a:lnTo>
                    <a:pt x="510446" y="60569"/>
                  </a:lnTo>
                  <a:lnTo>
                    <a:pt x="559028" y="48505"/>
                  </a:lnTo>
                  <a:lnTo>
                    <a:pt x="596039" y="34070"/>
                  </a:lnTo>
                  <a:lnTo>
                    <a:pt x="627887" y="0"/>
                  </a:lnTo>
                  <a:lnTo>
                    <a:pt x="627887" y="627887"/>
                  </a:lnTo>
                  <a:lnTo>
                    <a:pt x="596039" y="662926"/>
                  </a:lnTo>
                  <a:lnTo>
                    <a:pt x="559028" y="677633"/>
                  </a:lnTo>
                  <a:lnTo>
                    <a:pt x="510446" y="689861"/>
                  </a:lnTo>
                  <a:lnTo>
                    <a:pt x="452161" y="699156"/>
                  </a:lnTo>
                  <a:lnTo>
                    <a:pt x="386038" y="705065"/>
                  </a:lnTo>
                  <a:lnTo>
                    <a:pt x="313943" y="707135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38472" y="7860791"/>
              <a:ext cx="628015" cy="157480"/>
            </a:xfrm>
            <a:custGeom>
              <a:avLst/>
              <a:gdLst/>
              <a:ahLst/>
              <a:cxnLst/>
              <a:rect l="l" t="t" r="r" b="b"/>
              <a:pathLst>
                <a:path w="628014" h="157479">
                  <a:moveTo>
                    <a:pt x="313943" y="156972"/>
                  </a:moveTo>
                  <a:lnTo>
                    <a:pt x="241849" y="154905"/>
                  </a:lnTo>
                  <a:lnTo>
                    <a:pt x="175726" y="149027"/>
                  </a:lnTo>
                  <a:lnTo>
                    <a:pt x="117441" y="139817"/>
                  </a:lnTo>
                  <a:lnTo>
                    <a:pt x="68859" y="127753"/>
                  </a:lnTo>
                  <a:lnTo>
                    <a:pt x="31848" y="113318"/>
                  </a:lnTo>
                  <a:lnTo>
                    <a:pt x="0" y="79248"/>
                  </a:lnTo>
                  <a:lnTo>
                    <a:pt x="8273" y="60942"/>
                  </a:lnTo>
                  <a:lnTo>
                    <a:pt x="68859" y="29502"/>
                  </a:lnTo>
                  <a:lnTo>
                    <a:pt x="117441" y="17274"/>
                  </a:lnTo>
                  <a:lnTo>
                    <a:pt x="175726" y="7979"/>
                  </a:lnTo>
                  <a:lnTo>
                    <a:pt x="241849" y="2070"/>
                  </a:lnTo>
                  <a:lnTo>
                    <a:pt x="313943" y="0"/>
                  </a:lnTo>
                  <a:lnTo>
                    <a:pt x="386038" y="2070"/>
                  </a:lnTo>
                  <a:lnTo>
                    <a:pt x="452161" y="7979"/>
                  </a:lnTo>
                  <a:lnTo>
                    <a:pt x="510446" y="17274"/>
                  </a:lnTo>
                  <a:lnTo>
                    <a:pt x="559028" y="29502"/>
                  </a:lnTo>
                  <a:lnTo>
                    <a:pt x="596039" y="44209"/>
                  </a:lnTo>
                  <a:lnTo>
                    <a:pt x="627887" y="79248"/>
                  </a:lnTo>
                  <a:lnTo>
                    <a:pt x="619614" y="96989"/>
                  </a:lnTo>
                  <a:lnTo>
                    <a:pt x="559028" y="127753"/>
                  </a:lnTo>
                  <a:lnTo>
                    <a:pt x="510446" y="139817"/>
                  </a:lnTo>
                  <a:lnTo>
                    <a:pt x="452161" y="149027"/>
                  </a:lnTo>
                  <a:lnTo>
                    <a:pt x="386038" y="154905"/>
                  </a:lnTo>
                  <a:lnTo>
                    <a:pt x="313943" y="156972"/>
                  </a:lnTo>
                  <a:close/>
                </a:path>
              </a:pathLst>
            </a:custGeom>
            <a:solidFill>
              <a:srgbClr val="9CC3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38472" y="7860791"/>
              <a:ext cx="628015" cy="786765"/>
            </a:xfrm>
            <a:custGeom>
              <a:avLst/>
              <a:gdLst/>
              <a:ahLst/>
              <a:cxnLst/>
              <a:rect l="l" t="t" r="r" b="b"/>
              <a:pathLst>
                <a:path w="628014" h="786765">
                  <a:moveTo>
                    <a:pt x="627887" y="79248"/>
                  </a:moveTo>
                  <a:lnTo>
                    <a:pt x="596039" y="113318"/>
                  </a:lnTo>
                  <a:lnTo>
                    <a:pt x="559028" y="127753"/>
                  </a:lnTo>
                  <a:lnTo>
                    <a:pt x="510446" y="139817"/>
                  </a:lnTo>
                  <a:lnTo>
                    <a:pt x="452161" y="149027"/>
                  </a:lnTo>
                  <a:lnTo>
                    <a:pt x="386038" y="154905"/>
                  </a:lnTo>
                  <a:lnTo>
                    <a:pt x="313943" y="156972"/>
                  </a:lnTo>
                  <a:lnTo>
                    <a:pt x="241849" y="154905"/>
                  </a:lnTo>
                  <a:lnTo>
                    <a:pt x="175726" y="149027"/>
                  </a:lnTo>
                  <a:lnTo>
                    <a:pt x="117441" y="139817"/>
                  </a:lnTo>
                  <a:lnTo>
                    <a:pt x="68859" y="127753"/>
                  </a:lnTo>
                  <a:lnTo>
                    <a:pt x="31848" y="113318"/>
                  </a:lnTo>
                  <a:lnTo>
                    <a:pt x="0" y="79248"/>
                  </a:lnTo>
                  <a:lnTo>
                    <a:pt x="8273" y="60942"/>
                  </a:lnTo>
                  <a:lnTo>
                    <a:pt x="68859" y="29502"/>
                  </a:lnTo>
                  <a:lnTo>
                    <a:pt x="117441" y="17274"/>
                  </a:lnTo>
                  <a:lnTo>
                    <a:pt x="175726" y="7979"/>
                  </a:lnTo>
                  <a:lnTo>
                    <a:pt x="241849" y="2070"/>
                  </a:lnTo>
                  <a:lnTo>
                    <a:pt x="313943" y="0"/>
                  </a:lnTo>
                  <a:lnTo>
                    <a:pt x="386038" y="2070"/>
                  </a:lnTo>
                  <a:lnTo>
                    <a:pt x="452161" y="7979"/>
                  </a:lnTo>
                  <a:lnTo>
                    <a:pt x="510446" y="17274"/>
                  </a:lnTo>
                  <a:lnTo>
                    <a:pt x="559028" y="29502"/>
                  </a:lnTo>
                  <a:lnTo>
                    <a:pt x="596039" y="44209"/>
                  </a:lnTo>
                  <a:lnTo>
                    <a:pt x="627887" y="79248"/>
                  </a:lnTo>
                  <a:lnTo>
                    <a:pt x="627887" y="707135"/>
                  </a:lnTo>
                  <a:lnTo>
                    <a:pt x="596039" y="742174"/>
                  </a:lnTo>
                  <a:lnTo>
                    <a:pt x="559028" y="756881"/>
                  </a:lnTo>
                  <a:lnTo>
                    <a:pt x="510446" y="769109"/>
                  </a:lnTo>
                  <a:lnTo>
                    <a:pt x="452161" y="778404"/>
                  </a:lnTo>
                  <a:lnTo>
                    <a:pt x="386038" y="784313"/>
                  </a:lnTo>
                  <a:lnTo>
                    <a:pt x="313943" y="786383"/>
                  </a:lnTo>
                  <a:lnTo>
                    <a:pt x="241849" y="784313"/>
                  </a:lnTo>
                  <a:lnTo>
                    <a:pt x="175726" y="778404"/>
                  </a:lnTo>
                  <a:lnTo>
                    <a:pt x="117441" y="769109"/>
                  </a:lnTo>
                  <a:lnTo>
                    <a:pt x="68859" y="756881"/>
                  </a:lnTo>
                  <a:lnTo>
                    <a:pt x="31848" y="742174"/>
                  </a:lnTo>
                  <a:lnTo>
                    <a:pt x="0" y="707135"/>
                  </a:lnTo>
                  <a:lnTo>
                    <a:pt x="0" y="79248"/>
                  </a:lnTo>
                </a:path>
              </a:pathLst>
            </a:custGeom>
            <a:ln w="6096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249424" y="8037588"/>
              <a:ext cx="2296795" cy="483234"/>
            </a:xfrm>
            <a:custGeom>
              <a:avLst/>
              <a:gdLst/>
              <a:ahLst/>
              <a:cxnLst/>
              <a:rect l="l" t="t" r="r" b="b"/>
              <a:pathLst>
                <a:path w="2296795" h="483234">
                  <a:moveTo>
                    <a:pt x="697992" y="460235"/>
                  </a:moveTo>
                  <a:lnTo>
                    <a:pt x="73152" y="460235"/>
                  </a:lnTo>
                  <a:lnTo>
                    <a:pt x="73152" y="444995"/>
                  </a:lnTo>
                  <a:lnTo>
                    <a:pt x="35052" y="464807"/>
                  </a:lnTo>
                  <a:lnTo>
                    <a:pt x="73152" y="483095"/>
                  </a:lnTo>
                  <a:lnTo>
                    <a:pt x="73152" y="469379"/>
                  </a:lnTo>
                  <a:lnTo>
                    <a:pt x="697992" y="469379"/>
                  </a:lnTo>
                  <a:lnTo>
                    <a:pt x="697992" y="460235"/>
                  </a:lnTo>
                  <a:close/>
                </a:path>
                <a:path w="2296795" h="483234">
                  <a:moveTo>
                    <a:pt x="699516" y="184391"/>
                  </a:moveTo>
                  <a:lnTo>
                    <a:pt x="697992" y="175247"/>
                  </a:lnTo>
                  <a:lnTo>
                    <a:pt x="38100" y="176758"/>
                  </a:lnTo>
                  <a:lnTo>
                    <a:pt x="38100" y="161531"/>
                  </a:lnTo>
                  <a:lnTo>
                    <a:pt x="0" y="181343"/>
                  </a:lnTo>
                  <a:lnTo>
                    <a:pt x="38100" y="199631"/>
                  </a:lnTo>
                  <a:lnTo>
                    <a:pt x="38100" y="185902"/>
                  </a:lnTo>
                  <a:lnTo>
                    <a:pt x="699516" y="184391"/>
                  </a:lnTo>
                  <a:close/>
                </a:path>
                <a:path w="2296795" h="483234">
                  <a:moveTo>
                    <a:pt x="702564" y="18288"/>
                  </a:moveTo>
                  <a:lnTo>
                    <a:pt x="693039" y="13716"/>
                  </a:lnTo>
                  <a:lnTo>
                    <a:pt x="664464" y="0"/>
                  </a:lnTo>
                  <a:lnTo>
                    <a:pt x="664464" y="13716"/>
                  </a:lnTo>
                  <a:lnTo>
                    <a:pt x="4559" y="13716"/>
                  </a:lnTo>
                  <a:lnTo>
                    <a:pt x="4559" y="24384"/>
                  </a:lnTo>
                  <a:lnTo>
                    <a:pt x="664464" y="24384"/>
                  </a:lnTo>
                  <a:lnTo>
                    <a:pt x="664464" y="38100"/>
                  </a:lnTo>
                  <a:lnTo>
                    <a:pt x="690829" y="24384"/>
                  </a:lnTo>
                  <a:lnTo>
                    <a:pt x="702564" y="18288"/>
                  </a:lnTo>
                  <a:close/>
                </a:path>
                <a:path w="2296795" h="483234">
                  <a:moveTo>
                    <a:pt x="707123" y="288036"/>
                  </a:moveTo>
                  <a:lnTo>
                    <a:pt x="695401" y="281940"/>
                  </a:lnTo>
                  <a:lnTo>
                    <a:pt x="669023" y="268224"/>
                  </a:lnTo>
                  <a:lnTo>
                    <a:pt x="669023" y="281940"/>
                  </a:lnTo>
                  <a:lnTo>
                    <a:pt x="35039" y="281940"/>
                  </a:lnTo>
                  <a:lnTo>
                    <a:pt x="35039" y="292608"/>
                  </a:lnTo>
                  <a:lnTo>
                    <a:pt x="669023" y="292608"/>
                  </a:lnTo>
                  <a:lnTo>
                    <a:pt x="669023" y="306324"/>
                  </a:lnTo>
                  <a:lnTo>
                    <a:pt x="697598" y="292608"/>
                  </a:lnTo>
                  <a:lnTo>
                    <a:pt x="707123" y="288036"/>
                  </a:lnTo>
                  <a:close/>
                </a:path>
                <a:path w="2296795" h="483234">
                  <a:moveTo>
                    <a:pt x="2289048" y="179819"/>
                  </a:moveTo>
                  <a:lnTo>
                    <a:pt x="1629156" y="181330"/>
                  </a:lnTo>
                  <a:lnTo>
                    <a:pt x="1629156" y="166103"/>
                  </a:lnTo>
                  <a:lnTo>
                    <a:pt x="1591056" y="185915"/>
                  </a:lnTo>
                  <a:lnTo>
                    <a:pt x="1629156" y="204203"/>
                  </a:lnTo>
                  <a:lnTo>
                    <a:pt x="1629156" y="190474"/>
                  </a:lnTo>
                  <a:lnTo>
                    <a:pt x="2289048" y="188963"/>
                  </a:lnTo>
                  <a:lnTo>
                    <a:pt x="2289048" y="179819"/>
                  </a:lnTo>
                  <a:close/>
                </a:path>
                <a:path w="2296795" h="483234">
                  <a:moveTo>
                    <a:pt x="2296668" y="39624"/>
                  </a:moveTo>
                  <a:lnTo>
                    <a:pt x="2287143" y="35052"/>
                  </a:lnTo>
                  <a:lnTo>
                    <a:pt x="2258568" y="21336"/>
                  </a:lnTo>
                  <a:lnTo>
                    <a:pt x="2258568" y="35052"/>
                  </a:lnTo>
                  <a:lnTo>
                    <a:pt x="1598676" y="35052"/>
                  </a:lnTo>
                  <a:lnTo>
                    <a:pt x="1598676" y="45720"/>
                  </a:lnTo>
                  <a:lnTo>
                    <a:pt x="2258568" y="45720"/>
                  </a:lnTo>
                  <a:lnTo>
                    <a:pt x="2258568" y="59436"/>
                  </a:lnTo>
                  <a:lnTo>
                    <a:pt x="2284933" y="45720"/>
                  </a:lnTo>
                  <a:lnTo>
                    <a:pt x="2296668" y="396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66216" y="5634228"/>
            <a:ext cx="5842000" cy="316738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100"/>
              </a:spcBef>
            </a:pPr>
            <a:r>
              <a:rPr sz="1600" b="1" spc="-10" dirty="0">
                <a:solidFill>
                  <a:srgbClr val="BF0000"/>
                </a:solidFill>
                <a:latin typeface="Gadugi" panose="020B0502040204020203"/>
                <a:cs typeface="Gadugi" panose="020B0502040204020203"/>
              </a:rPr>
              <a:t>CACHING</a:t>
            </a:r>
            <a:endParaRPr sz="1600">
              <a:latin typeface="Gadugi" panose="020B0502040204020203"/>
              <a:cs typeface="Gadugi" panose="020B0502040204020203"/>
            </a:endParaRPr>
          </a:p>
          <a:p>
            <a:pPr marL="314960" marR="260985" indent="-143510">
              <a:lnSpc>
                <a:spcPct val="100000"/>
              </a:lnSpc>
              <a:spcBef>
                <a:spcPts val="1935"/>
              </a:spcBef>
              <a:buFont typeface="Arial" panose="020B0604020202020204"/>
              <a:buChar char="•"/>
              <a:tabLst>
                <a:tab pos="314960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Caching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is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mechanism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to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enhance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performance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of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system.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It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is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buffer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memory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that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lies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between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application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and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the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database.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Cache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memory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stores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recently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used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data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items</a:t>
            </a:r>
            <a:r>
              <a:rPr sz="900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in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order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to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reduce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the </a:t>
            </a:r>
            <a:r>
              <a:rPr sz="900" dirty="0">
                <a:latin typeface="Gadugi" panose="020B0502040204020203"/>
                <a:cs typeface="Gadugi" panose="020B0502040204020203"/>
              </a:rPr>
              <a:t>number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of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database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hits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as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much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as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spc="-10" dirty="0">
                <a:latin typeface="Gadugi" panose="020B0502040204020203"/>
                <a:cs typeface="Gadugi" panose="020B0502040204020203"/>
              </a:rPr>
              <a:t>possible.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314960" indent="-142875">
              <a:lnSpc>
                <a:spcPts val="1065"/>
              </a:lnSpc>
              <a:buFont typeface="Arial" panose="020B0604020202020204"/>
              <a:buChar char="•"/>
              <a:tabLst>
                <a:tab pos="314960" algn="l"/>
              </a:tabLst>
            </a:pPr>
            <a:r>
              <a:rPr sz="900" dirty="0">
                <a:latin typeface="Gadugi" panose="020B0502040204020203"/>
                <a:cs typeface="Gadugi" panose="020B0502040204020203"/>
              </a:rPr>
              <a:t>There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are</a:t>
            </a:r>
            <a:r>
              <a:rPr sz="900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mainly</a:t>
            </a:r>
            <a:r>
              <a:rPr sz="900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two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types</a:t>
            </a:r>
            <a:r>
              <a:rPr sz="900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of</a:t>
            </a:r>
            <a:r>
              <a:rPr sz="900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900" dirty="0">
                <a:latin typeface="Gadugi" panose="020B0502040204020203"/>
                <a:cs typeface="Gadugi" panose="020B0502040204020203"/>
              </a:rPr>
              <a:t>caching:</a:t>
            </a:r>
            <a:r>
              <a:rPr sz="900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First</a:t>
            </a:r>
            <a:r>
              <a:rPr sz="900" b="1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Level</a:t>
            </a:r>
            <a:r>
              <a:rPr sz="900" b="1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Cache,</a:t>
            </a:r>
            <a:r>
              <a:rPr sz="900" b="1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and</a:t>
            </a:r>
            <a:r>
              <a:rPr sz="900" dirty="0">
                <a:latin typeface="Gadugi" panose="020B0502040204020203"/>
                <a:cs typeface="Gadugi" panose="020B0502040204020203"/>
              </a:rPr>
              <a:t>.</a:t>
            </a:r>
            <a:r>
              <a:rPr sz="900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Second</a:t>
            </a:r>
            <a:r>
              <a:rPr sz="900" b="1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dirty="0">
                <a:latin typeface="Gadugi" panose="020B0502040204020203"/>
                <a:cs typeface="Gadugi" panose="020B0502040204020203"/>
              </a:rPr>
              <a:t>Level</a:t>
            </a:r>
            <a:r>
              <a:rPr sz="900" b="1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latin typeface="Gadugi" panose="020B0502040204020203"/>
                <a:cs typeface="Gadugi" panose="020B0502040204020203"/>
              </a:rPr>
              <a:t>Cache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313055" marR="256540" indent="-141605">
              <a:lnSpc>
                <a:spcPts val="1190"/>
              </a:lnSpc>
              <a:spcBef>
                <a:spcPts val="35"/>
              </a:spcBef>
              <a:buFont typeface="Arial" panose="020B0604020202020204"/>
              <a:buChar char="•"/>
              <a:tabLst>
                <a:tab pos="314960" algn="l"/>
              </a:tabLst>
            </a:pPr>
            <a:r>
              <a:rPr sz="1000" b="1" u="sng" dirty="0">
                <a:uFill>
                  <a:solidFill>
                    <a:srgbClr val="000000"/>
                  </a:solidFill>
                </a:uFill>
                <a:latin typeface="Gadugi" panose="020B0502040204020203"/>
                <a:cs typeface="Gadugi" panose="020B0502040204020203"/>
              </a:rPr>
              <a:t>First</a:t>
            </a:r>
            <a:r>
              <a:rPr sz="1000" b="1" u="sng" spc="-40" dirty="0">
                <a:uFill>
                  <a:solidFill>
                    <a:srgbClr val="000000"/>
                  </a:solidFill>
                </a:uFill>
                <a:latin typeface="Gadugi" panose="020B0502040204020203"/>
                <a:cs typeface="Gadugi" panose="020B0502040204020203"/>
              </a:rPr>
              <a:t> </a:t>
            </a:r>
            <a:r>
              <a:rPr sz="1000" b="1" u="sng" dirty="0">
                <a:uFill>
                  <a:solidFill>
                    <a:srgbClr val="000000"/>
                  </a:solidFill>
                </a:uFill>
                <a:latin typeface="Gadugi" panose="020B0502040204020203"/>
                <a:cs typeface="Gadugi" panose="020B0502040204020203"/>
              </a:rPr>
              <a:t>Level</a:t>
            </a:r>
            <a:r>
              <a:rPr sz="1000" b="1" u="sng" spc="-15" dirty="0">
                <a:uFill>
                  <a:solidFill>
                    <a:srgbClr val="000000"/>
                  </a:solidFill>
                </a:uFill>
                <a:latin typeface="Gadugi" panose="020B0502040204020203"/>
                <a:cs typeface="Gadugi" panose="020B0502040204020203"/>
              </a:rPr>
              <a:t> </a:t>
            </a:r>
            <a:r>
              <a:rPr sz="1000" b="1" u="sng" dirty="0">
                <a:uFill>
                  <a:solidFill>
                    <a:srgbClr val="000000"/>
                  </a:solidFill>
                </a:uFill>
                <a:latin typeface="Gadugi" panose="020B0502040204020203"/>
                <a:cs typeface="Gadugi" panose="020B0502040204020203"/>
              </a:rPr>
              <a:t>Cache</a:t>
            </a:r>
            <a:r>
              <a:rPr sz="1000" b="1" u="none" dirty="0">
                <a:latin typeface="Gadugi" panose="020B0502040204020203"/>
                <a:cs typeface="Gadugi" panose="020B0502040204020203"/>
              </a:rPr>
              <a:t>:</a:t>
            </a:r>
            <a:r>
              <a:rPr sz="1000" b="1" u="none" spc="-70" dirty="0">
                <a:latin typeface="Gadugi" panose="020B0502040204020203"/>
                <a:cs typeface="Gadugi" panose="020B0502040204020203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This</a:t>
            </a:r>
            <a:r>
              <a:rPr sz="1000" u="none" spc="-1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1000" u="none" spc="-2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000" u="none" spc="-2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mandatory</a:t>
            </a:r>
            <a:r>
              <a:rPr sz="1000" u="none" spc="-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cache</a:t>
            </a:r>
            <a:r>
              <a:rPr sz="1000" u="none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which</a:t>
            </a:r>
            <a:r>
              <a:rPr sz="1000" u="none" spc="-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1000" u="none" spc="-1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present</a:t>
            </a:r>
            <a:r>
              <a:rPr sz="1000" u="none" spc="-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1000" u="none" spc="-4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default in</a:t>
            </a:r>
            <a:r>
              <a:rPr sz="1000" u="none" spc="-3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hibernate.</a:t>
            </a:r>
            <a:r>
              <a:rPr sz="1000" u="none" spc="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All</a:t>
            </a:r>
            <a:r>
              <a:rPr sz="1000" u="none" spc="-2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000" u="none" spc="-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request </a:t>
            </a:r>
            <a:r>
              <a:rPr sz="1000" u="none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objects</a:t>
            </a:r>
            <a:r>
              <a:rPr sz="1000" u="none" spc="-1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passes </a:t>
            </a:r>
            <a:r>
              <a:rPr sz="1000" u="none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through</a:t>
            </a:r>
            <a:r>
              <a:rPr sz="1000" u="none" spc="-2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this</a:t>
            </a:r>
            <a:r>
              <a:rPr sz="1000" u="none" spc="-3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cache.</a:t>
            </a:r>
            <a:r>
              <a:rPr sz="1000" u="none" spc="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This</a:t>
            </a:r>
            <a:r>
              <a:rPr sz="1000" u="none" spc="-2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cache</a:t>
            </a:r>
            <a:r>
              <a:rPr sz="1000" u="none" spc="-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1000" u="none" spc="-1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1000" u="none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utilized</a:t>
            </a:r>
            <a:r>
              <a:rPr sz="1000" u="none" spc="-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1000" u="none" spc="-3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application</a:t>
            </a:r>
            <a:r>
              <a:rPr sz="1000" u="none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1000" u="none" spc="-4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sending</a:t>
            </a:r>
            <a:r>
              <a:rPr sz="1000" u="none" spc="-1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many</a:t>
            </a:r>
            <a:r>
              <a:rPr sz="1000" u="none" spc="-1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u="none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session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314960" marR="186055">
              <a:lnSpc>
                <a:spcPts val="1200"/>
              </a:lnSpc>
            </a:pP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objects.</a:t>
            </a:r>
            <a:r>
              <a:rPr sz="1000" spc="-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All</a:t>
            </a:r>
            <a:r>
              <a:rPr sz="1000" spc="-1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000" spc="-3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cache</a:t>
            </a:r>
            <a:r>
              <a:rPr sz="1000" spc="-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objects</a:t>
            </a:r>
            <a:r>
              <a:rPr sz="1000" spc="-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will</a:t>
            </a:r>
            <a:r>
              <a:rPr sz="1000" spc="-1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1000" spc="-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stored</a:t>
            </a:r>
            <a:r>
              <a:rPr sz="1000" spc="-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until</a:t>
            </a:r>
            <a:r>
              <a:rPr sz="1000" spc="-2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one</a:t>
            </a:r>
            <a:r>
              <a:rPr sz="1000" spc="-3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session</a:t>
            </a:r>
            <a:r>
              <a:rPr sz="1000" spc="-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1000" spc="-1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open.</a:t>
            </a:r>
            <a:r>
              <a:rPr sz="1000" spc="-1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Database</a:t>
            </a:r>
            <a:r>
              <a:rPr sz="1000" spc="-1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tries</a:t>
            </a:r>
            <a:r>
              <a:rPr sz="1000" spc="-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000" spc="-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minimize</a:t>
            </a:r>
            <a:r>
              <a:rPr sz="1000" spc="-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spc="-2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number</a:t>
            </a:r>
            <a:r>
              <a:rPr sz="1000" spc="-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000" spc="-3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hits</a:t>
            </a:r>
            <a:r>
              <a:rPr sz="1000" spc="-3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000" spc="-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database</a:t>
            </a:r>
            <a:r>
              <a:rPr sz="1000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1000" spc="-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case</a:t>
            </a:r>
            <a:r>
              <a:rPr sz="1000" spc="-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there</a:t>
            </a:r>
            <a:r>
              <a:rPr sz="1000" spc="-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1000" spc="-1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many</a:t>
            </a:r>
            <a:r>
              <a:rPr sz="1000" spc="-1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update</a:t>
            </a:r>
            <a:r>
              <a:rPr sz="1000" spc="-3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statements</a:t>
            </a:r>
            <a:r>
              <a:rPr sz="1000" spc="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commanded</a:t>
            </a:r>
            <a:r>
              <a:rPr sz="1000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using</a:t>
            </a:r>
            <a:r>
              <a:rPr sz="1000" spc="-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session</a:t>
            </a:r>
            <a:r>
              <a:rPr sz="1000" spc="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cache.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Once</a:t>
            </a:r>
            <a:r>
              <a:rPr sz="1000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000" spc="-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session</a:t>
            </a:r>
            <a:r>
              <a:rPr sz="1000" spc="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1000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ended</a:t>
            </a:r>
            <a:r>
              <a:rPr sz="1000" spc="-1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this</a:t>
            </a:r>
            <a:r>
              <a:rPr sz="1000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cache</a:t>
            </a:r>
            <a:r>
              <a:rPr sz="1000" spc="-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1000" spc="-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also</a:t>
            </a:r>
            <a:r>
              <a:rPr sz="1000" spc="-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cleared</a:t>
            </a:r>
            <a:r>
              <a:rPr sz="1000" spc="-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000" spc="-1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000" spc="-2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objects</a:t>
            </a:r>
            <a:r>
              <a:rPr sz="1000" spc="-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its</a:t>
            </a:r>
            <a:r>
              <a:rPr sz="1000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holding</a:t>
            </a:r>
            <a:r>
              <a:rPr sz="1000" spc="-3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1000" spc="-1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persisted,</a:t>
            </a:r>
            <a:r>
              <a:rPr sz="1000" spc="5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1000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committed</a:t>
            </a:r>
            <a:r>
              <a:rPr sz="1000" spc="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000" spc="-2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disappeared</a:t>
            </a:r>
            <a:r>
              <a:rPr sz="1000" spc="-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without</a:t>
            </a:r>
            <a:r>
              <a:rPr sz="1000" spc="-4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any</a:t>
            </a:r>
            <a:r>
              <a:rPr sz="1000" spc="-1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updating</a:t>
            </a:r>
            <a:r>
              <a:rPr sz="1000" spc="-3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depending</a:t>
            </a:r>
            <a:r>
              <a:rPr sz="1000" spc="-2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upon</a:t>
            </a:r>
            <a:r>
              <a:rPr sz="1000" spc="-4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000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time</a:t>
            </a:r>
            <a:r>
              <a:rPr sz="1000" spc="-2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000" spc="-3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session</a:t>
            </a:r>
            <a:r>
              <a:rPr sz="1000" spc="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closing.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313690" indent="-141605">
              <a:lnSpc>
                <a:spcPts val="1160"/>
              </a:lnSpc>
              <a:buFont typeface="Arial" panose="020B0604020202020204"/>
              <a:buChar char="•"/>
              <a:tabLst>
                <a:tab pos="313690" algn="l"/>
              </a:tabLst>
            </a:pP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1000" spc="-25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1000" spc="-2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temporary</a:t>
            </a:r>
            <a:r>
              <a:rPr sz="1000" spc="-10" dirty="0">
                <a:solidFill>
                  <a:srgbClr val="263138"/>
                </a:solidFill>
                <a:latin typeface="Calibri" panose="020F0502020204030204"/>
                <a:cs typeface="Calibri" panose="020F0502020204030204"/>
              </a:rPr>
              <a:t> memory.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3052445">
              <a:lnSpc>
                <a:spcPct val="100000"/>
              </a:lnSpc>
              <a:spcBef>
                <a:spcPts val="70"/>
              </a:spcBef>
            </a:pPr>
            <a:r>
              <a:rPr sz="1000" b="1" spc="-10" dirty="0">
                <a:latin typeface="Gadugi" panose="020B0502040204020203"/>
                <a:cs typeface="Gadugi" panose="020B0502040204020203"/>
              </a:rPr>
              <a:t>select</a:t>
            </a:r>
            <a:endParaRPr sz="1000">
              <a:latin typeface="Gadugi" panose="020B0502040204020203"/>
              <a:cs typeface="Gadugi" panose="020B0502040204020203"/>
            </a:endParaRPr>
          </a:p>
          <a:p>
            <a:pPr marL="233045">
              <a:lnSpc>
                <a:spcPct val="100000"/>
              </a:lnSpc>
              <a:spcBef>
                <a:spcPts val="160"/>
              </a:spcBef>
            </a:pPr>
            <a:r>
              <a:rPr sz="900" spc="-10" dirty="0">
                <a:latin typeface="Gadugi" panose="020B0502040204020203"/>
                <a:cs typeface="Gadugi" panose="020B0502040204020203"/>
              </a:rPr>
              <a:t>entitymanager.find(2);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3814445">
              <a:lnSpc>
                <a:spcPts val="970"/>
              </a:lnSpc>
              <a:spcBef>
                <a:spcPts val="215"/>
              </a:spcBef>
            </a:pPr>
            <a:r>
              <a:rPr sz="9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db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233045">
              <a:lnSpc>
                <a:spcPts val="970"/>
              </a:lnSpc>
            </a:pPr>
            <a:r>
              <a:rPr sz="900" spc="-10" dirty="0">
                <a:latin typeface="Gadugi" panose="020B0502040204020203"/>
                <a:cs typeface="Gadugi" panose="020B0502040204020203"/>
              </a:rPr>
              <a:t>entitymanager.find(2);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900">
              <a:latin typeface="Gadugi" panose="020B0502040204020203"/>
              <a:cs typeface="Gadugi" panose="020B0502040204020203"/>
            </a:endParaRPr>
          </a:p>
          <a:p>
            <a:pPr marR="983615" algn="ctr">
              <a:lnSpc>
                <a:spcPct val="100000"/>
              </a:lnSpc>
            </a:pPr>
            <a:r>
              <a:rPr sz="700" b="1" dirty="0">
                <a:latin typeface="Gadugi" panose="020B0502040204020203"/>
                <a:cs typeface="Gadugi" panose="020B0502040204020203"/>
              </a:rPr>
              <a:t>CACHE</a:t>
            </a:r>
            <a:r>
              <a:rPr sz="700" b="1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700" b="1" spc="-10" dirty="0">
                <a:latin typeface="Gadugi" panose="020B0502040204020203"/>
                <a:cs typeface="Gadugi" panose="020B0502040204020203"/>
              </a:rPr>
              <a:t>MEMORY</a:t>
            </a:r>
            <a:endParaRPr sz="7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44295" y="550773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3"/>
                </a:lnTo>
                <a:lnTo>
                  <a:pt x="6082284" y="3415283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r>
              <a:rPr spc="-25" dirty="0"/>
              <a:t>1</a:t>
            </a:r>
            <a:r>
              <a:rPr spc="-25" dirty="0"/>
              <a:t>5</a:t>
            </a:r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1540" y="25814"/>
            <a:ext cx="76771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0" dirty="0">
                <a:latin typeface="Calibri" panose="020F0502020204030204"/>
                <a:cs typeface="Calibri" panose="020F0502020204030204"/>
              </a:rPr>
              <a:t>3/30/2023</a:t>
            </a:r>
            <a:endParaRPr sz="1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9827" y="1237487"/>
            <a:ext cx="5954395" cy="3159760"/>
          </a:xfrm>
          <a:custGeom>
            <a:avLst/>
            <a:gdLst/>
            <a:ahLst/>
            <a:cxnLst/>
            <a:rect l="l" t="t" r="r" b="b"/>
            <a:pathLst>
              <a:path w="5954395" h="3159760">
                <a:moveTo>
                  <a:pt x="0" y="0"/>
                </a:moveTo>
                <a:lnTo>
                  <a:pt x="5954268" y="0"/>
                </a:lnTo>
                <a:lnTo>
                  <a:pt x="5954268" y="3159252"/>
                </a:lnTo>
                <a:lnTo>
                  <a:pt x="0" y="3159252"/>
                </a:lnTo>
                <a:lnTo>
                  <a:pt x="0" y="0"/>
                </a:lnTo>
                <a:close/>
              </a:path>
            </a:pathLst>
          </a:custGeom>
          <a:ln w="137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5529" y="3009377"/>
            <a:ext cx="11131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entitymanager2.find(2);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5529" y="3283686"/>
            <a:ext cx="5814060" cy="987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entitymanager.find(10);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142875" marR="5080" indent="-143510">
              <a:lnSpc>
                <a:spcPct val="100000"/>
              </a:lnSpc>
              <a:spcBef>
                <a:spcPts val="1075"/>
              </a:spcBef>
              <a:buFont typeface="Arial" panose="020B0604020202020204"/>
              <a:buChar char="•"/>
              <a:tabLst>
                <a:tab pos="142875" algn="l"/>
              </a:tabLst>
            </a:pP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When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hibernate</a:t>
            </a:r>
            <a:r>
              <a:rPr sz="900" spc="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session</a:t>
            </a:r>
            <a:r>
              <a:rPr sz="900" spc="-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try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load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entity,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will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first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find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into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first-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level</a:t>
            </a:r>
            <a:r>
              <a:rPr sz="900" spc="-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cache, if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does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not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found</a:t>
            </a:r>
            <a:r>
              <a:rPr sz="900" spc="-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then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900" spc="-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will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look</a:t>
            </a:r>
            <a:r>
              <a:rPr sz="900" spc="5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into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second-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level cache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return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response</a:t>
            </a:r>
            <a:r>
              <a:rPr sz="900" spc="-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(if</a:t>
            </a:r>
            <a:r>
              <a:rPr sz="900" spc="-3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available),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but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before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returning the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response</a:t>
            </a:r>
            <a:r>
              <a:rPr sz="900" spc="-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900" spc="-3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will</a:t>
            </a:r>
            <a:r>
              <a:rPr sz="900" spc="-3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store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900" spc="5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object/data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into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first-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level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also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so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next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time</a:t>
            </a:r>
            <a:r>
              <a:rPr sz="900" spc="-3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need</a:t>
            </a:r>
            <a:r>
              <a:rPr sz="900" spc="-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come</a:t>
            </a:r>
            <a:r>
              <a:rPr sz="900" spc="-3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at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session-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level.</a:t>
            </a:r>
            <a:r>
              <a:rPr sz="900" spc="-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When</a:t>
            </a:r>
            <a:r>
              <a:rPr sz="900" spc="-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not</a:t>
            </a:r>
            <a:r>
              <a:rPr sz="900" spc="-3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found</a:t>
            </a:r>
            <a:r>
              <a:rPr sz="900" spc="-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second</a:t>
            </a:r>
            <a:r>
              <a:rPr sz="900" spc="5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level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then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will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go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database</a:t>
            </a:r>
            <a:r>
              <a:rPr sz="900" spc="-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fetch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data.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Before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returning</a:t>
            </a:r>
            <a:r>
              <a:rPr sz="900" spc="-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response</a:t>
            </a:r>
            <a:r>
              <a:rPr sz="900" spc="-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user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will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store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object/data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into</a:t>
            </a:r>
            <a:r>
              <a:rPr sz="900" spc="5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both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levels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cache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so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next time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will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be 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available</a:t>
            </a:r>
            <a:r>
              <a:rPr sz="900" spc="-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at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cache</a:t>
            </a:r>
            <a:r>
              <a:rPr sz="900" spc="-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stages 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only.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25725" y="2173097"/>
            <a:ext cx="835660" cy="527685"/>
            <a:chOff x="2625725" y="2173097"/>
            <a:chExt cx="835660" cy="527685"/>
          </a:xfrm>
        </p:grpSpPr>
        <p:sp>
          <p:nvSpPr>
            <p:cNvPr id="7" name="object 7"/>
            <p:cNvSpPr/>
            <p:nvPr/>
          </p:nvSpPr>
          <p:spPr>
            <a:xfrm>
              <a:off x="2631948" y="2179320"/>
              <a:ext cx="822960" cy="509270"/>
            </a:xfrm>
            <a:custGeom>
              <a:avLst/>
              <a:gdLst/>
              <a:ahLst/>
              <a:cxnLst/>
              <a:rect l="l" t="t" r="r" b="b"/>
              <a:pathLst>
                <a:path w="822960" h="509269">
                  <a:moveTo>
                    <a:pt x="822959" y="509015"/>
                  </a:moveTo>
                  <a:lnTo>
                    <a:pt x="0" y="509015"/>
                  </a:lnTo>
                  <a:lnTo>
                    <a:pt x="0" y="0"/>
                  </a:lnTo>
                  <a:lnTo>
                    <a:pt x="822959" y="0"/>
                  </a:lnTo>
                  <a:lnTo>
                    <a:pt x="822959" y="509015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628900" y="2176272"/>
              <a:ext cx="829310" cy="521334"/>
            </a:xfrm>
            <a:custGeom>
              <a:avLst/>
              <a:gdLst/>
              <a:ahLst/>
              <a:cxnLst/>
              <a:rect l="l" t="t" r="r" b="b"/>
              <a:pathLst>
                <a:path w="829310" h="521335">
                  <a:moveTo>
                    <a:pt x="3048" y="0"/>
                  </a:moveTo>
                  <a:lnTo>
                    <a:pt x="3048" y="521208"/>
                  </a:lnTo>
                </a:path>
                <a:path w="829310" h="521335">
                  <a:moveTo>
                    <a:pt x="826008" y="0"/>
                  </a:moveTo>
                  <a:lnTo>
                    <a:pt x="826008" y="521208"/>
                  </a:lnTo>
                </a:path>
                <a:path w="829310" h="521335">
                  <a:moveTo>
                    <a:pt x="0" y="3048"/>
                  </a:moveTo>
                  <a:lnTo>
                    <a:pt x="829056" y="30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628900" y="2679191"/>
              <a:ext cx="829310" cy="18415"/>
            </a:xfrm>
            <a:custGeom>
              <a:avLst/>
              <a:gdLst/>
              <a:ahLst/>
              <a:cxnLst/>
              <a:rect l="l" t="t" r="r" b="b"/>
              <a:pathLst>
                <a:path w="829310" h="18414">
                  <a:moveTo>
                    <a:pt x="0" y="0"/>
                  </a:moveTo>
                  <a:lnTo>
                    <a:pt x="829056" y="0"/>
                  </a:lnTo>
                  <a:lnTo>
                    <a:pt x="829056" y="18287"/>
                  </a:lnTo>
                  <a:lnTo>
                    <a:pt x="0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634996" y="2322072"/>
            <a:ext cx="81724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Id=2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25725" y="2991485"/>
            <a:ext cx="835660" cy="613410"/>
            <a:chOff x="2625725" y="2991485"/>
            <a:chExt cx="835660" cy="613410"/>
          </a:xfrm>
        </p:grpSpPr>
        <p:sp>
          <p:nvSpPr>
            <p:cNvPr id="12" name="object 12"/>
            <p:cNvSpPr/>
            <p:nvPr/>
          </p:nvSpPr>
          <p:spPr>
            <a:xfrm>
              <a:off x="2631948" y="2997708"/>
              <a:ext cx="822960" cy="594360"/>
            </a:xfrm>
            <a:custGeom>
              <a:avLst/>
              <a:gdLst/>
              <a:ahLst/>
              <a:cxnLst/>
              <a:rect l="l" t="t" r="r" b="b"/>
              <a:pathLst>
                <a:path w="822960" h="594360">
                  <a:moveTo>
                    <a:pt x="822959" y="594359"/>
                  </a:moveTo>
                  <a:lnTo>
                    <a:pt x="0" y="594359"/>
                  </a:lnTo>
                  <a:lnTo>
                    <a:pt x="0" y="0"/>
                  </a:lnTo>
                  <a:lnTo>
                    <a:pt x="822959" y="0"/>
                  </a:lnTo>
                  <a:lnTo>
                    <a:pt x="822959" y="594359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628900" y="2994660"/>
              <a:ext cx="829310" cy="607060"/>
            </a:xfrm>
            <a:custGeom>
              <a:avLst/>
              <a:gdLst/>
              <a:ahLst/>
              <a:cxnLst/>
              <a:rect l="l" t="t" r="r" b="b"/>
              <a:pathLst>
                <a:path w="829310" h="607060">
                  <a:moveTo>
                    <a:pt x="3048" y="0"/>
                  </a:moveTo>
                  <a:lnTo>
                    <a:pt x="3048" y="606551"/>
                  </a:lnTo>
                </a:path>
                <a:path w="829310" h="607060">
                  <a:moveTo>
                    <a:pt x="826008" y="0"/>
                  </a:moveTo>
                  <a:lnTo>
                    <a:pt x="826008" y="606551"/>
                  </a:lnTo>
                </a:path>
                <a:path w="829310" h="607060">
                  <a:moveTo>
                    <a:pt x="0" y="3048"/>
                  </a:moveTo>
                  <a:lnTo>
                    <a:pt x="829056" y="30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628900" y="3582924"/>
              <a:ext cx="829310" cy="18415"/>
            </a:xfrm>
            <a:custGeom>
              <a:avLst/>
              <a:gdLst/>
              <a:ahLst/>
              <a:cxnLst/>
              <a:rect l="l" t="t" r="r" b="b"/>
              <a:pathLst>
                <a:path w="829310" h="18414">
                  <a:moveTo>
                    <a:pt x="0" y="0"/>
                  </a:moveTo>
                  <a:lnTo>
                    <a:pt x="829056" y="0"/>
                  </a:lnTo>
                  <a:lnTo>
                    <a:pt x="829056" y="18287"/>
                  </a:lnTo>
                  <a:lnTo>
                    <a:pt x="0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634996" y="3004801"/>
            <a:ext cx="81724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Id=2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Id=10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72584" y="2153285"/>
            <a:ext cx="1085850" cy="1334135"/>
            <a:chOff x="4172584" y="2153285"/>
            <a:chExt cx="1085850" cy="1334135"/>
          </a:xfrm>
        </p:grpSpPr>
        <p:sp>
          <p:nvSpPr>
            <p:cNvPr id="17" name="object 17"/>
            <p:cNvSpPr/>
            <p:nvPr/>
          </p:nvSpPr>
          <p:spPr>
            <a:xfrm>
              <a:off x="4178807" y="2159508"/>
              <a:ext cx="1071880" cy="1315720"/>
            </a:xfrm>
            <a:custGeom>
              <a:avLst/>
              <a:gdLst/>
              <a:ahLst/>
              <a:cxnLst/>
              <a:rect l="l" t="t" r="r" b="b"/>
              <a:pathLst>
                <a:path w="1071879" h="1315720">
                  <a:moveTo>
                    <a:pt x="1071372" y="1315211"/>
                  </a:moveTo>
                  <a:lnTo>
                    <a:pt x="0" y="1315211"/>
                  </a:lnTo>
                  <a:lnTo>
                    <a:pt x="0" y="0"/>
                  </a:lnTo>
                  <a:lnTo>
                    <a:pt x="1071372" y="0"/>
                  </a:lnTo>
                  <a:lnTo>
                    <a:pt x="1071372" y="1315211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175759" y="2156460"/>
              <a:ext cx="1079500" cy="1327785"/>
            </a:xfrm>
            <a:custGeom>
              <a:avLst/>
              <a:gdLst/>
              <a:ahLst/>
              <a:cxnLst/>
              <a:rect l="l" t="t" r="r" b="b"/>
              <a:pathLst>
                <a:path w="1079500" h="1327785">
                  <a:moveTo>
                    <a:pt x="3048" y="0"/>
                  </a:moveTo>
                  <a:lnTo>
                    <a:pt x="3048" y="1327404"/>
                  </a:lnTo>
                </a:path>
                <a:path w="1079500" h="1327785">
                  <a:moveTo>
                    <a:pt x="1074420" y="0"/>
                  </a:moveTo>
                  <a:lnTo>
                    <a:pt x="1074420" y="1327404"/>
                  </a:lnTo>
                </a:path>
                <a:path w="1079500" h="1327785">
                  <a:moveTo>
                    <a:pt x="0" y="3048"/>
                  </a:moveTo>
                  <a:lnTo>
                    <a:pt x="1078991" y="30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175759" y="3465575"/>
              <a:ext cx="1079500" cy="18415"/>
            </a:xfrm>
            <a:custGeom>
              <a:avLst/>
              <a:gdLst/>
              <a:ahLst/>
              <a:cxnLst/>
              <a:rect l="l" t="t" r="r" b="b"/>
              <a:pathLst>
                <a:path w="1079500" h="18414">
                  <a:moveTo>
                    <a:pt x="0" y="0"/>
                  </a:moveTo>
                  <a:lnTo>
                    <a:pt x="1078991" y="0"/>
                  </a:lnTo>
                  <a:lnTo>
                    <a:pt x="1078991" y="18287"/>
                  </a:lnTo>
                  <a:lnTo>
                    <a:pt x="0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181855" y="2166640"/>
            <a:ext cx="10655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Id=2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>
              <a:lnSpc>
                <a:spcPct val="100000"/>
              </a:lnSpc>
            </a:pPr>
            <a:endParaRPr sz="900">
              <a:latin typeface="Gadugi" panose="020B0502040204020203"/>
              <a:cs typeface="Gadugi" panose="020B0502040204020203"/>
            </a:endParaRPr>
          </a:p>
          <a:p>
            <a:pPr>
              <a:lnSpc>
                <a:spcPct val="100000"/>
              </a:lnSpc>
            </a:pPr>
            <a:endParaRPr sz="900">
              <a:latin typeface="Gadugi" panose="020B0502040204020203"/>
              <a:cs typeface="Gadugi" panose="020B0502040204020203"/>
            </a:endParaRPr>
          </a:p>
          <a:p>
            <a:pPr>
              <a:lnSpc>
                <a:spcPct val="100000"/>
              </a:lnSpc>
            </a:pPr>
            <a:endParaRPr sz="900">
              <a:latin typeface="Gadugi" panose="020B0502040204020203"/>
              <a:cs typeface="Gadugi" panose="020B0502040204020203"/>
            </a:endParaRPr>
          </a:p>
          <a:p>
            <a:pPr>
              <a:lnSpc>
                <a:spcPct val="100000"/>
              </a:lnSpc>
            </a:pPr>
            <a:endParaRPr sz="900">
              <a:latin typeface="Gadugi" panose="020B0502040204020203"/>
              <a:cs typeface="Gadugi" panose="020B0502040204020203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900">
              <a:latin typeface="Gadugi" panose="020B0502040204020203"/>
              <a:cs typeface="Gadugi" panose="020B0502040204020203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Id=10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57545" y="2386457"/>
            <a:ext cx="718185" cy="869315"/>
            <a:chOff x="5757545" y="2386457"/>
            <a:chExt cx="718185" cy="869315"/>
          </a:xfrm>
        </p:grpSpPr>
        <p:sp>
          <p:nvSpPr>
            <p:cNvPr id="22" name="object 22"/>
            <p:cNvSpPr/>
            <p:nvPr/>
          </p:nvSpPr>
          <p:spPr>
            <a:xfrm>
              <a:off x="5760719" y="2478024"/>
              <a:ext cx="711835" cy="774700"/>
            </a:xfrm>
            <a:custGeom>
              <a:avLst/>
              <a:gdLst/>
              <a:ahLst/>
              <a:cxnLst/>
              <a:rect l="l" t="t" r="r" b="b"/>
              <a:pathLst>
                <a:path w="711835" h="774700">
                  <a:moveTo>
                    <a:pt x="356615" y="774191"/>
                  </a:moveTo>
                  <a:lnTo>
                    <a:pt x="284848" y="772394"/>
                  </a:lnTo>
                  <a:lnTo>
                    <a:pt x="217955" y="767238"/>
                  </a:lnTo>
                  <a:lnTo>
                    <a:pt x="157385" y="759082"/>
                  </a:lnTo>
                  <a:lnTo>
                    <a:pt x="104584" y="748284"/>
                  </a:lnTo>
                  <a:lnTo>
                    <a:pt x="60998" y="735199"/>
                  </a:lnTo>
                  <a:lnTo>
                    <a:pt x="7259" y="703599"/>
                  </a:lnTo>
                  <a:lnTo>
                    <a:pt x="0" y="685800"/>
                  </a:lnTo>
                  <a:lnTo>
                    <a:pt x="0" y="0"/>
                  </a:lnTo>
                  <a:lnTo>
                    <a:pt x="7259" y="17799"/>
                  </a:lnTo>
                  <a:lnTo>
                    <a:pt x="28074" y="34385"/>
                  </a:lnTo>
                  <a:lnTo>
                    <a:pt x="104584" y="62484"/>
                  </a:lnTo>
                  <a:lnTo>
                    <a:pt x="157385" y="73282"/>
                  </a:lnTo>
                  <a:lnTo>
                    <a:pt x="217955" y="81438"/>
                  </a:lnTo>
                  <a:lnTo>
                    <a:pt x="284848" y="86594"/>
                  </a:lnTo>
                  <a:lnTo>
                    <a:pt x="356615" y="88391"/>
                  </a:lnTo>
                  <a:lnTo>
                    <a:pt x="428318" y="86594"/>
                  </a:lnTo>
                  <a:lnTo>
                    <a:pt x="495038" y="81438"/>
                  </a:lnTo>
                  <a:lnTo>
                    <a:pt x="555364" y="73282"/>
                  </a:lnTo>
                  <a:lnTo>
                    <a:pt x="607885" y="62484"/>
                  </a:lnTo>
                  <a:lnTo>
                    <a:pt x="651191" y="49399"/>
                  </a:lnTo>
                  <a:lnTo>
                    <a:pt x="704513" y="17799"/>
                  </a:lnTo>
                  <a:lnTo>
                    <a:pt x="711708" y="0"/>
                  </a:lnTo>
                  <a:lnTo>
                    <a:pt x="711708" y="685800"/>
                  </a:lnTo>
                  <a:lnTo>
                    <a:pt x="683871" y="720185"/>
                  </a:lnTo>
                  <a:lnTo>
                    <a:pt x="607885" y="748284"/>
                  </a:lnTo>
                  <a:lnTo>
                    <a:pt x="555364" y="759082"/>
                  </a:lnTo>
                  <a:lnTo>
                    <a:pt x="495038" y="767238"/>
                  </a:lnTo>
                  <a:lnTo>
                    <a:pt x="428318" y="772394"/>
                  </a:lnTo>
                  <a:lnTo>
                    <a:pt x="356615" y="774191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760719" y="2389632"/>
              <a:ext cx="711835" cy="177165"/>
            </a:xfrm>
            <a:custGeom>
              <a:avLst/>
              <a:gdLst/>
              <a:ahLst/>
              <a:cxnLst/>
              <a:rect l="l" t="t" r="r" b="b"/>
              <a:pathLst>
                <a:path w="711835" h="177164">
                  <a:moveTo>
                    <a:pt x="356615" y="176784"/>
                  </a:moveTo>
                  <a:lnTo>
                    <a:pt x="284848" y="174986"/>
                  </a:lnTo>
                  <a:lnTo>
                    <a:pt x="217955" y="169830"/>
                  </a:lnTo>
                  <a:lnTo>
                    <a:pt x="157385" y="161674"/>
                  </a:lnTo>
                  <a:lnTo>
                    <a:pt x="104584" y="150876"/>
                  </a:lnTo>
                  <a:lnTo>
                    <a:pt x="60998" y="137791"/>
                  </a:lnTo>
                  <a:lnTo>
                    <a:pt x="7259" y="106191"/>
                  </a:lnTo>
                  <a:lnTo>
                    <a:pt x="0" y="88392"/>
                  </a:lnTo>
                  <a:lnTo>
                    <a:pt x="7259" y="70592"/>
                  </a:lnTo>
                  <a:lnTo>
                    <a:pt x="60998" y="38992"/>
                  </a:lnTo>
                  <a:lnTo>
                    <a:pt x="104584" y="25908"/>
                  </a:lnTo>
                  <a:lnTo>
                    <a:pt x="157385" y="15109"/>
                  </a:lnTo>
                  <a:lnTo>
                    <a:pt x="217955" y="6953"/>
                  </a:lnTo>
                  <a:lnTo>
                    <a:pt x="284848" y="1797"/>
                  </a:lnTo>
                  <a:lnTo>
                    <a:pt x="356615" y="0"/>
                  </a:lnTo>
                  <a:lnTo>
                    <a:pt x="428318" y="1797"/>
                  </a:lnTo>
                  <a:lnTo>
                    <a:pt x="495038" y="6953"/>
                  </a:lnTo>
                  <a:lnTo>
                    <a:pt x="555364" y="15109"/>
                  </a:lnTo>
                  <a:lnTo>
                    <a:pt x="607885" y="25908"/>
                  </a:lnTo>
                  <a:lnTo>
                    <a:pt x="651191" y="38992"/>
                  </a:lnTo>
                  <a:lnTo>
                    <a:pt x="704513" y="70592"/>
                  </a:lnTo>
                  <a:lnTo>
                    <a:pt x="711708" y="88392"/>
                  </a:lnTo>
                  <a:lnTo>
                    <a:pt x="704513" y="106191"/>
                  </a:lnTo>
                  <a:lnTo>
                    <a:pt x="651191" y="137791"/>
                  </a:lnTo>
                  <a:lnTo>
                    <a:pt x="607885" y="150876"/>
                  </a:lnTo>
                  <a:lnTo>
                    <a:pt x="555364" y="161674"/>
                  </a:lnTo>
                  <a:lnTo>
                    <a:pt x="495038" y="169830"/>
                  </a:lnTo>
                  <a:lnTo>
                    <a:pt x="428318" y="174986"/>
                  </a:lnTo>
                  <a:lnTo>
                    <a:pt x="356615" y="176784"/>
                  </a:lnTo>
                  <a:close/>
                </a:path>
              </a:pathLst>
            </a:custGeom>
            <a:solidFill>
              <a:srgbClr val="9CC3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760720" y="2389632"/>
              <a:ext cx="711835" cy="862965"/>
            </a:xfrm>
            <a:custGeom>
              <a:avLst/>
              <a:gdLst/>
              <a:ahLst/>
              <a:cxnLst/>
              <a:rect l="l" t="t" r="r" b="b"/>
              <a:pathLst>
                <a:path w="711835" h="862964">
                  <a:moveTo>
                    <a:pt x="711708" y="88392"/>
                  </a:moveTo>
                  <a:lnTo>
                    <a:pt x="683871" y="122777"/>
                  </a:lnTo>
                  <a:lnTo>
                    <a:pt x="607885" y="150876"/>
                  </a:lnTo>
                  <a:lnTo>
                    <a:pt x="555364" y="161674"/>
                  </a:lnTo>
                  <a:lnTo>
                    <a:pt x="495038" y="169830"/>
                  </a:lnTo>
                  <a:lnTo>
                    <a:pt x="428318" y="174986"/>
                  </a:lnTo>
                  <a:lnTo>
                    <a:pt x="356616" y="176784"/>
                  </a:lnTo>
                  <a:lnTo>
                    <a:pt x="284848" y="174986"/>
                  </a:lnTo>
                  <a:lnTo>
                    <a:pt x="217955" y="169830"/>
                  </a:lnTo>
                  <a:lnTo>
                    <a:pt x="157385" y="161674"/>
                  </a:lnTo>
                  <a:lnTo>
                    <a:pt x="104584" y="150876"/>
                  </a:lnTo>
                  <a:lnTo>
                    <a:pt x="60998" y="137791"/>
                  </a:lnTo>
                  <a:lnTo>
                    <a:pt x="7259" y="106191"/>
                  </a:lnTo>
                  <a:lnTo>
                    <a:pt x="0" y="88392"/>
                  </a:lnTo>
                  <a:lnTo>
                    <a:pt x="7259" y="70592"/>
                  </a:lnTo>
                  <a:lnTo>
                    <a:pt x="60998" y="38992"/>
                  </a:lnTo>
                  <a:lnTo>
                    <a:pt x="104584" y="25908"/>
                  </a:lnTo>
                  <a:lnTo>
                    <a:pt x="157385" y="15109"/>
                  </a:lnTo>
                  <a:lnTo>
                    <a:pt x="217955" y="6953"/>
                  </a:lnTo>
                  <a:lnTo>
                    <a:pt x="284848" y="1797"/>
                  </a:lnTo>
                  <a:lnTo>
                    <a:pt x="356616" y="0"/>
                  </a:lnTo>
                  <a:lnTo>
                    <a:pt x="428318" y="1797"/>
                  </a:lnTo>
                  <a:lnTo>
                    <a:pt x="495038" y="6953"/>
                  </a:lnTo>
                  <a:lnTo>
                    <a:pt x="555364" y="15109"/>
                  </a:lnTo>
                  <a:lnTo>
                    <a:pt x="607885" y="25908"/>
                  </a:lnTo>
                  <a:lnTo>
                    <a:pt x="651191" y="38992"/>
                  </a:lnTo>
                  <a:lnTo>
                    <a:pt x="704513" y="70592"/>
                  </a:lnTo>
                  <a:lnTo>
                    <a:pt x="711708" y="88392"/>
                  </a:lnTo>
                  <a:lnTo>
                    <a:pt x="711708" y="774192"/>
                  </a:lnTo>
                  <a:lnTo>
                    <a:pt x="683871" y="808577"/>
                  </a:lnTo>
                  <a:lnTo>
                    <a:pt x="607885" y="836676"/>
                  </a:lnTo>
                  <a:lnTo>
                    <a:pt x="555364" y="847474"/>
                  </a:lnTo>
                  <a:lnTo>
                    <a:pt x="495038" y="855630"/>
                  </a:lnTo>
                  <a:lnTo>
                    <a:pt x="428318" y="860786"/>
                  </a:lnTo>
                  <a:lnTo>
                    <a:pt x="356616" y="862583"/>
                  </a:lnTo>
                  <a:lnTo>
                    <a:pt x="284848" y="860786"/>
                  </a:lnTo>
                  <a:lnTo>
                    <a:pt x="217955" y="855630"/>
                  </a:lnTo>
                  <a:lnTo>
                    <a:pt x="157385" y="847474"/>
                  </a:lnTo>
                  <a:lnTo>
                    <a:pt x="104584" y="836676"/>
                  </a:lnTo>
                  <a:lnTo>
                    <a:pt x="60998" y="823591"/>
                  </a:lnTo>
                  <a:lnTo>
                    <a:pt x="7259" y="791991"/>
                  </a:lnTo>
                  <a:lnTo>
                    <a:pt x="0" y="774192"/>
                  </a:lnTo>
                  <a:lnTo>
                    <a:pt x="0" y="88392"/>
                  </a:lnTo>
                </a:path>
              </a:pathLst>
            </a:custGeom>
            <a:ln w="6096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930129" y="1352821"/>
            <a:ext cx="5786755" cy="16281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30480">
              <a:lnSpc>
                <a:spcPct val="100000"/>
              </a:lnSpc>
              <a:spcBef>
                <a:spcPts val="95"/>
              </a:spcBef>
            </a:pPr>
            <a:r>
              <a:rPr sz="1000" b="1" u="sng" dirty="0">
                <a:uFill>
                  <a:solidFill>
                    <a:srgbClr val="000000"/>
                  </a:solidFill>
                </a:uFill>
                <a:latin typeface="Gadugi" panose="020B0502040204020203"/>
                <a:cs typeface="Gadugi" panose="020B0502040204020203"/>
              </a:rPr>
              <a:t>Second</a:t>
            </a:r>
            <a:r>
              <a:rPr sz="1000" b="1" u="sng" spc="-30" dirty="0">
                <a:uFill>
                  <a:solidFill>
                    <a:srgbClr val="000000"/>
                  </a:solidFill>
                </a:uFill>
                <a:latin typeface="Gadugi" panose="020B0502040204020203"/>
                <a:cs typeface="Gadugi" panose="020B0502040204020203"/>
              </a:rPr>
              <a:t> </a:t>
            </a:r>
            <a:r>
              <a:rPr sz="1000" b="1" u="sng" dirty="0">
                <a:uFill>
                  <a:solidFill>
                    <a:srgbClr val="000000"/>
                  </a:solidFill>
                </a:uFill>
                <a:latin typeface="Gadugi" panose="020B0502040204020203"/>
                <a:cs typeface="Gadugi" panose="020B0502040204020203"/>
              </a:rPr>
              <a:t>Level</a:t>
            </a:r>
            <a:r>
              <a:rPr sz="1000" b="1" u="sng" spc="-5" dirty="0">
                <a:uFill>
                  <a:solidFill>
                    <a:srgbClr val="000000"/>
                  </a:solidFill>
                </a:uFill>
                <a:latin typeface="Gadugi" panose="020B0502040204020203"/>
                <a:cs typeface="Gadugi" panose="020B0502040204020203"/>
              </a:rPr>
              <a:t> </a:t>
            </a:r>
            <a:r>
              <a:rPr sz="1000" b="1" u="sng" dirty="0">
                <a:uFill>
                  <a:solidFill>
                    <a:srgbClr val="000000"/>
                  </a:solidFill>
                </a:uFill>
                <a:latin typeface="Gadugi" panose="020B0502040204020203"/>
                <a:cs typeface="Gadugi" panose="020B0502040204020203"/>
              </a:rPr>
              <a:t>Cache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:First</a:t>
            </a:r>
            <a:r>
              <a:rPr sz="900" u="none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of</a:t>
            </a:r>
            <a:r>
              <a:rPr sz="900" u="none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all,</a:t>
            </a:r>
            <a:r>
              <a:rPr sz="900" u="none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u="none" dirty="0">
                <a:latin typeface="Gadugi" panose="020B0502040204020203"/>
                <a:cs typeface="Gadugi" panose="020B0502040204020203"/>
              </a:rPr>
              <a:t>second</a:t>
            </a:r>
            <a:r>
              <a:rPr sz="900" b="1" u="none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b="1" u="none" dirty="0">
                <a:latin typeface="Gadugi" panose="020B0502040204020203"/>
                <a:cs typeface="Gadugi" panose="020B0502040204020203"/>
              </a:rPr>
              <a:t>level</a:t>
            </a:r>
            <a:r>
              <a:rPr sz="900" b="1" u="none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cache</a:t>
            </a:r>
            <a:r>
              <a:rPr sz="900" u="none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is</a:t>
            </a:r>
            <a:r>
              <a:rPr sz="900" u="none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not</a:t>
            </a:r>
            <a:r>
              <a:rPr sz="900" u="none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enabled</a:t>
            </a:r>
            <a:r>
              <a:rPr sz="900" u="none" spc="-1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by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default</a:t>
            </a:r>
            <a:r>
              <a:rPr sz="900" u="none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in</a:t>
            </a:r>
            <a:r>
              <a:rPr sz="900" u="none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Hibernate</a:t>
            </a:r>
            <a:r>
              <a:rPr sz="900" u="none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you</a:t>
            </a:r>
            <a:r>
              <a:rPr sz="900" u="none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have</a:t>
            </a:r>
            <a:r>
              <a:rPr sz="900" u="none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to</a:t>
            </a:r>
            <a:r>
              <a:rPr sz="900" u="none" spc="-2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spc="-10" dirty="0">
                <a:latin typeface="Gadugi" panose="020B0502040204020203"/>
                <a:cs typeface="Gadugi" panose="020B0502040204020203"/>
              </a:rPr>
              <a:t>explicitly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enable</a:t>
            </a:r>
            <a:r>
              <a:rPr sz="900" u="none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it.</a:t>
            </a:r>
            <a:r>
              <a:rPr sz="900" u="none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spc="-50" dirty="0">
                <a:latin typeface="Gadugi" panose="020B0502040204020203"/>
                <a:cs typeface="Gadugi" panose="020B0502040204020203"/>
              </a:rPr>
              <a:t>To</a:t>
            </a:r>
            <a:r>
              <a:rPr sz="900" u="none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enable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second</a:t>
            </a:r>
            <a:r>
              <a:rPr sz="900" u="none" spc="-3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level</a:t>
            </a:r>
            <a:r>
              <a:rPr sz="900" u="none" spc="-2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cache</a:t>
            </a:r>
            <a:r>
              <a:rPr sz="900" u="none" spc="-4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add</a:t>
            </a:r>
            <a:r>
              <a:rPr sz="900" u="none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Ehcache</a:t>
            </a:r>
            <a:r>
              <a:rPr sz="900" u="none" spc="-4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dependency</a:t>
            </a:r>
            <a:r>
              <a:rPr sz="900" u="none" spc="-5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dirty="0">
                <a:latin typeface="Gadugi" panose="020B0502040204020203"/>
                <a:cs typeface="Gadugi" panose="020B0502040204020203"/>
              </a:rPr>
              <a:t>in</a:t>
            </a:r>
            <a:r>
              <a:rPr sz="900" u="none" spc="-30" dirty="0">
                <a:latin typeface="Gadugi" panose="020B0502040204020203"/>
                <a:cs typeface="Gadugi" panose="020B0502040204020203"/>
              </a:rPr>
              <a:t> </a:t>
            </a:r>
            <a:r>
              <a:rPr sz="900" u="none" spc="-10" dirty="0">
                <a:latin typeface="Gadugi" panose="020B0502040204020203"/>
                <a:cs typeface="Gadugi" panose="020B0502040204020203"/>
              </a:rPr>
              <a:t>pom.xml.</a:t>
            </a:r>
            <a:endParaRPr sz="900">
              <a:latin typeface="Gadugi" panose="020B0502040204020203"/>
              <a:cs typeface="Gadugi" panose="020B0502040204020203"/>
            </a:endParaRPr>
          </a:p>
          <a:p>
            <a:pPr marL="168275" marR="50800" indent="-143510">
              <a:lnSpc>
                <a:spcPts val="1080"/>
              </a:lnSpc>
              <a:spcBef>
                <a:spcPts val="5"/>
              </a:spcBef>
              <a:buFont typeface="Arial" panose="020B0604020202020204"/>
              <a:buChar char="•"/>
              <a:tabLst>
                <a:tab pos="168275" algn="l"/>
              </a:tabLst>
            </a:pP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second-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level</a:t>
            </a:r>
            <a:r>
              <a:rPr sz="900" spc="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cache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accessible by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900" spc="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entire</a:t>
            </a:r>
            <a:r>
              <a:rPr sz="900" spc="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application</a:t>
            </a:r>
            <a:r>
              <a:rPr sz="900" spc="-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means</a:t>
            </a:r>
            <a:r>
              <a:rPr sz="900" spc="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900" spc="-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hold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SessionFactory</a:t>
            </a:r>
            <a:r>
              <a:rPr sz="900" spc="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900" spc="-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accessible</a:t>
            </a:r>
            <a:r>
              <a:rPr sz="900" spc="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all</a:t>
            </a:r>
            <a:r>
              <a:rPr sz="900" spc="5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sessions.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once</a:t>
            </a:r>
            <a:r>
              <a:rPr sz="900" spc="-3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session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factory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closed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all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cache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associated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900" spc="-2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also</a:t>
            </a:r>
            <a:r>
              <a:rPr sz="900" spc="-2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removed</a:t>
            </a:r>
            <a:r>
              <a:rPr sz="900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900" spc="-3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900" spc="-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memory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110490" algn="ctr">
              <a:lnSpc>
                <a:spcPct val="100000"/>
              </a:lnSpc>
              <a:spcBef>
                <a:spcPts val="780"/>
              </a:spcBef>
              <a:tabLst>
                <a:tab pos="1755775" algn="l"/>
              </a:tabLst>
            </a:pPr>
            <a:r>
              <a:rPr sz="1200" b="1" baseline="-7000" dirty="0">
                <a:latin typeface="Gadugi" panose="020B0502040204020203"/>
                <a:cs typeface="Gadugi" panose="020B0502040204020203"/>
              </a:rPr>
              <a:t>1</a:t>
            </a:r>
            <a:r>
              <a:rPr sz="750" b="1" baseline="17000" dirty="0">
                <a:latin typeface="Gadugi" panose="020B0502040204020203"/>
                <a:cs typeface="Gadugi" panose="020B0502040204020203"/>
              </a:rPr>
              <a:t>st</a:t>
            </a:r>
            <a:r>
              <a:rPr sz="750" b="1" spc="89" baseline="17000" dirty="0">
                <a:latin typeface="Gadugi" panose="020B0502040204020203"/>
                <a:cs typeface="Gadugi" panose="020B0502040204020203"/>
              </a:rPr>
              <a:t> </a:t>
            </a:r>
            <a:r>
              <a:rPr sz="1200" b="1" baseline="-7000" dirty="0">
                <a:latin typeface="Gadugi" panose="020B0502040204020203"/>
                <a:cs typeface="Gadugi" panose="020B0502040204020203"/>
              </a:rPr>
              <a:t>level</a:t>
            </a:r>
            <a:r>
              <a:rPr sz="1200" b="1" spc="-52" baseline="-7000" dirty="0">
                <a:latin typeface="Gadugi" panose="020B0502040204020203"/>
                <a:cs typeface="Gadugi" panose="020B0502040204020203"/>
              </a:rPr>
              <a:t> </a:t>
            </a:r>
            <a:r>
              <a:rPr sz="1200" b="1" spc="-15" baseline="-7000" dirty="0">
                <a:latin typeface="Gadugi" panose="020B0502040204020203"/>
                <a:cs typeface="Gadugi" panose="020B0502040204020203"/>
              </a:rPr>
              <a:t>cache</a:t>
            </a:r>
            <a:r>
              <a:rPr sz="1200" b="1" baseline="-7000" dirty="0">
                <a:latin typeface="Gadugi" panose="020B0502040204020203"/>
                <a:cs typeface="Gadugi" panose="020B0502040204020203"/>
              </a:rPr>
              <a:t>	</a:t>
            </a:r>
            <a:r>
              <a:rPr sz="800" b="1" dirty="0">
                <a:latin typeface="Gadugi" panose="020B0502040204020203"/>
                <a:cs typeface="Gadugi" panose="020B0502040204020203"/>
              </a:rPr>
              <a:t>2</a:t>
            </a:r>
            <a:r>
              <a:rPr sz="750" b="1" baseline="28000" dirty="0">
                <a:latin typeface="Gadugi" panose="020B0502040204020203"/>
                <a:cs typeface="Gadugi" panose="020B0502040204020203"/>
              </a:rPr>
              <a:t>nd</a:t>
            </a:r>
            <a:r>
              <a:rPr sz="750" b="1" spc="97" baseline="28000" dirty="0">
                <a:latin typeface="Gadugi" panose="020B0502040204020203"/>
                <a:cs typeface="Gadugi" panose="020B0502040204020203"/>
              </a:rPr>
              <a:t> </a:t>
            </a:r>
            <a:r>
              <a:rPr sz="800" b="1" dirty="0">
                <a:latin typeface="Gadugi" panose="020B0502040204020203"/>
                <a:cs typeface="Gadugi" panose="020B0502040204020203"/>
              </a:rPr>
              <a:t>level</a:t>
            </a:r>
            <a:r>
              <a:rPr sz="800" b="1" spc="-15" dirty="0">
                <a:latin typeface="Gadugi" panose="020B0502040204020203"/>
                <a:cs typeface="Gadugi" panose="020B0502040204020203"/>
              </a:rPr>
              <a:t> </a:t>
            </a:r>
            <a:r>
              <a:rPr sz="800" b="1" spc="-20" dirty="0">
                <a:latin typeface="Gadugi" panose="020B0502040204020203"/>
                <a:cs typeface="Gadugi" panose="020B0502040204020203"/>
              </a:rPr>
              <a:t>cache</a:t>
            </a:r>
            <a:endParaRPr sz="800">
              <a:latin typeface="Gadugi" panose="020B0502040204020203"/>
              <a:cs typeface="Gadugi" panose="020B0502040204020203"/>
            </a:endParaRPr>
          </a:p>
          <a:p>
            <a:pPr marL="25400">
              <a:lnSpc>
                <a:spcPct val="100000"/>
              </a:lnSpc>
              <a:spcBef>
                <a:spcPts val="385"/>
              </a:spcBef>
            </a:pP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entitymanager.find(2);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25400">
              <a:lnSpc>
                <a:spcPct val="100000"/>
              </a:lnSpc>
              <a:spcBef>
                <a:spcPts val="1075"/>
              </a:spcBef>
            </a:pPr>
            <a:r>
              <a:rPr sz="900" spc="-1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entitymanager.find(2);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00">
              <a:latin typeface="Calibri" panose="020F0502020204030204"/>
              <a:cs typeface="Calibri" panose="020F0502020204030204"/>
            </a:endParaRPr>
          </a:p>
          <a:p>
            <a:pPr marR="483235" algn="r">
              <a:lnSpc>
                <a:spcPct val="100000"/>
              </a:lnSpc>
            </a:pPr>
            <a:r>
              <a:rPr sz="1400" b="1" spc="-25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db</a:t>
            </a:r>
            <a:endParaRPr sz="14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991855" y="2229624"/>
            <a:ext cx="3769360" cy="1245235"/>
          </a:xfrm>
          <a:custGeom>
            <a:avLst/>
            <a:gdLst/>
            <a:ahLst/>
            <a:cxnLst/>
            <a:rect l="l" t="t" r="r" b="b"/>
            <a:pathLst>
              <a:path w="3769360" h="1245235">
                <a:moveTo>
                  <a:pt x="640080" y="1114031"/>
                </a:moveTo>
                <a:lnTo>
                  <a:pt x="631291" y="1109459"/>
                </a:lnTo>
                <a:lnTo>
                  <a:pt x="601980" y="1094219"/>
                </a:lnTo>
                <a:lnTo>
                  <a:pt x="601980" y="1109459"/>
                </a:lnTo>
                <a:lnTo>
                  <a:pt x="56388" y="1109459"/>
                </a:lnTo>
                <a:lnTo>
                  <a:pt x="56388" y="1118603"/>
                </a:lnTo>
                <a:lnTo>
                  <a:pt x="601980" y="1118603"/>
                </a:lnTo>
                <a:lnTo>
                  <a:pt x="601980" y="1132319"/>
                </a:lnTo>
                <a:lnTo>
                  <a:pt x="630555" y="1118603"/>
                </a:lnTo>
                <a:lnTo>
                  <a:pt x="640080" y="1114031"/>
                </a:lnTo>
                <a:close/>
              </a:path>
              <a:path w="3769360" h="1245235">
                <a:moveTo>
                  <a:pt x="640080" y="859523"/>
                </a:moveTo>
                <a:lnTo>
                  <a:pt x="630555" y="854951"/>
                </a:lnTo>
                <a:lnTo>
                  <a:pt x="601980" y="841235"/>
                </a:lnTo>
                <a:lnTo>
                  <a:pt x="601980" y="854951"/>
                </a:lnTo>
                <a:lnTo>
                  <a:pt x="56388" y="854951"/>
                </a:lnTo>
                <a:lnTo>
                  <a:pt x="56388" y="864095"/>
                </a:lnTo>
                <a:lnTo>
                  <a:pt x="601980" y="864095"/>
                </a:lnTo>
                <a:lnTo>
                  <a:pt x="601980" y="879335"/>
                </a:lnTo>
                <a:lnTo>
                  <a:pt x="631291" y="864095"/>
                </a:lnTo>
                <a:lnTo>
                  <a:pt x="640080" y="859523"/>
                </a:lnTo>
                <a:close/>
              </a:path>
              <a:path w="3769360" h="1245235">
                <a:moveTo>
                  <a:pt x="640080" y="283451"/>
                </a:moveTo>
                <a:lnTo>
                  <a:pt x="631291" y="278879"/>
                </a:lnTo>
                <a:lnTo>
                  <a:pt x="601980" y="263639"/>
                </a:lnTo>
                <a:lnTo>
                  <a:pt x="601980" y="278879"/>
                </a:lnTo>
                <a:lnTo>
                  <a:pt x="0" y="278879"/>
                </a:lnTo>
                <a:lnTo>
                  <a:pt x="0" y="288023"/>
                </a:lnTo>
                <a:lnTo>
                  <a:pt x="601980" y="288023"/>
                </a:lnTo>
                <a:lnTo>
                  <a:pt x="601980" y="301739"/>
                </a:lnTo>
                <a:lnTo>
                  <a:pt x="630555" y="288023"/>
                </a:lnTo>
                <a:lnTo>
                  <a:pt x="640080" y="283451"/>
                </a:lnTo>
                <a:close/>
              </a:path>
              <a:path w="3769360" h="1245235">
                <a:moveTo>
                  <a:pt x="640080" y="51803"/>
                </a:moveTo>
                <a:lnTo>
                  <a:pt x="630555" y="47231"/>
                </a:lnTo>
                <a:lnTo>
                  <a:pt x="601980" y="33515"/>
                </a:lnTo>
                <a:lnTo>
                  <a:pt x="601980" y="47231"/>
                </a:lnTo>
                <a:lnTo>
                  <a:pt x="0" y="47231"/>
                </a:lnTo>
                <a:lnTo>
                  <a:pt x="0" y="56375"/>
                </a:lnTo>
                <a:lnTo>
                  <a:pt x="601980" y="56375"/>
                </a:lnTo>
                <a:lnTo>
                  <a:pt x="601980" y="71615"/>
                </a:lnTo>
                <a:lnTo>
                  <a:pt x="631291" y="56375"/>
                </a:lnTo>
                <a:lnTo>
                  <a:pt x="640080" y="51803"/>
                </a:lnTo>
                <a:close/>
              </a:path>
              <a:path w="3769360" h="1245235">
                <a:moveTo>
                  <a:pt x="640092" y="1222235"/>
                </a:moveTo>
                <a:lnTo>
                  <a:pt x="94500" y="1222235"/>
                </a:lnTo>
                <a:lnTo>
                  <a:pt x="94500" y="1206995"/>
                </a:lnTo>
                <a:lnTo>
                  <a:pt x="56400" y="1226807"/>
                </a:lnTo>
                <a:lnTo>
                  <a:pt x="94500" y="1245095"/>
                </a:lnTo>
                <a:lnTo>
                  <a:pt x="94500" y="1231379"/>
                </a:lnTo>
                <a:lnTo>
                  <a:pt x="640092" y="1231379"/>
                </a:lnTo>
                <a:lnTo>
                  <a:pt x="640092" y="1222235"/>
                </a:lnTo>
                <a:close/>
              </a:path>
              <a:path w="3769360" h="1245235">
                <a:moveTo>
                  <a:pt x="640092" y="958596"/>
                </a:moveTo>
                <a:lnTo>
                  <a:pt x="94500" y="958596"/>
                </a:lnTo>
                <a:lnTo>
                  <a:pt x="94500" y="943356"/>
                </a:lnTo>
                <a:lnTo>
                  <a:pt x="56400" y="963168"/>
                </a:lnTo>
                <a:lnTo>
                  <a:pt x="94500" y="981456"/>
                </a:lnTo>
                <a:lnTo>
                  <a:pt x="94500" y="967740"/>
                </a:lnTo>
                <a:lnTo>
                  <a:pt x="640092" y="967740"/>
                </a:lnTo>
                <a:lnTo>
                  <a:pt x="640092" y="958596"/>
                </a:lnTo>
                <a:close/>
              </a:path>
              <a:path w="3769360" h="1245235">
                <a:moveTo>
                  <a:pt x="640092" y="413004"/>
                </a:moveTo>
                <a:lnTo>
                  <a:pt x="38112" y="413004"/>
                </a:lnTo>
                <a:lnTo>
                  <a:pt x="38112" y="399288"/>
                </a:lnTo>
                <a:lnTo>
                  <a:pt x="12" y="419100"/>
                </a:lnTo>
                <a:lnTo>
                  <a:pt x="38112" y="437388"/>
                </a:lnTo>
                <a:lnTo>
                  <a:pt x="38112" y="423672"/>
                </a:lnTo>
                <a:lnTo>
                  <a:pt x="640092" y="423672"/>
                </a:lnTo>
                <a:lnTo>
                  <a:pt x="640092" y="413004"/>
                </a:lnTo>
                <a:close/>
              </a:path>
              <a:path w="3769360" h="1245235">
                <a:moveTo>
                  <a:pt x="640092" y="179832"/>
                </a:moveTo>
                <a:lnTo>
                  <a:pt x="38112" y="179832"/>
                </a:lnTo>
                <a:lnTo>
                  <a:pt x="38112" y="166116"/>
                </a:lnTo>
                <a:lnTo>
                  <a:pt x="12" y="184404"/>
                </a:lnTo>
                <a:lnTo>
                  <a:pt x="38112" y="204216"/>
                </a:lnTo>
                <a:lnTo>
                  <a:pt x="38112" y="188976"/>
                </a:lnTo>
                <a:lnTo>
                  <a:pt x="640092" y="188976"/>
                </a:lnTo>
                <a:lnTo>
                  <a:pt x="640092" y="179832"/>
                </a:lnTo>
                <a:close/>
              </a:path>
              <a:path w="3769360" h="1245235">
                <a:moveTo>
                  <a:pt x="2186952" y="1161275"/>
                </a:moveTo>
                <a:lnTo>
                  <a:pt x="1501140" y="1161275"/>
                </a:lnTo>
                <a:lnTo>
                  <a:pt x="1501140" y="1146035"/>
                </a:lnTo>
                <a:lnTo>
                  <a:pt x="1463040" y="1165860"/>
                </a:lnTo>
                <a:lnTo>
                  <a:pt x="1501140" y="1184148"/>
                </a:lnTo>
                <a:lnTo>
                  <a:pt x="1501140" y="1170432"/>
                </a:lnTo>
                <a:lnTo>
                  <a:pt x="2186952" y="1170432"/>
                </a:lnTo>
                <a:lnTo>
                  <a:pt x="2186952" y="1161275"/>
                </a:lnTo>
                <a:close/>
              </a:path>
              <a:path w="3769360" h="1245235">
                <a:moveTo>
                  <a:pt x="2186952" y="1053084"/>
                </a:moveTo>
                <a:lnTo>
                  <a:pt x="2177427" y="1048512"/>
                </a:lnTo>
                <a:lnTo>
                  <a:pt x="2148852" y="1034796"/>
                </a:lnTo>
                <a:lnTo>
                  <a:pt x="2148852" y="1048512"/>
                </a:lnTo>
                <a:lnTo>
                  <a:pt x="1463052" y="1048512"/>
                </a:lnTo>
                <a:lnTo>
                  <a:pt x="1463052" y="1057656"/>
                </a:lnTo>
                <a:lnTo>
                  <a:pt x="2148852" y="1057656"/>
                </a:lnTo>
                <a:lnTo>
                  <a:pt x="2148852" y="1072896"/>
                </a:lnTo>
                <a:lnTo>
                  <a:pt x="2178151" y="1057656"/>
                </a:lnTo>
                <a:lnTo>
                  <a:pt x="2186952" y="1053084"/>
                </a:lnTo>
                <a:close/>
              </a:path>
              <a:path w="3769360" h="1245235">
                <a:moveTo>
                  <a:pt x="2186952" y="958596"/>
                </a:moveTo>
                <a:lnTo>
                  <a:pt x="1501140" y="958596"/>
                </a:lnTo>
                <a:lnTo>
                  <a:pt x="1501140" y="943356"/>
                </a:lnTo>
                <a:lnTo>
                  <a:pt x="1463040" y="963168"/>
                </a:lnTo>
                <a:lnTo>
                  <a:pt x="1501140" y="981456"/>
                </a:lnTo>
                <a:lnTo>
                  <a:pt x="1501140" y="967740"/>
                </a:lnTo>
                <a:lnTo>
                  <a:pt x="2186952" y="967740"/>
                </a:lnTo>
                <a:lnTo>
                  <a:pt x="2186952" y="958596"/>
                </a:lnTo>
                <a:close/>
              </a:path>
              <a:path w="3769360" h="1245235">
                <a:moveTo>
                  <a:pt x="2186952" y="854951"/>
                </a:moveTo>
                <a:lnTo>
                  <a:pt x="2178151" y="850379"/>
                </a:lnTo>
                <a:lnTo>
                  <a:pt x="2148852" y="835139"/>
                </a:lnTo>
                <a:lnTo>
                  <a:pt x="2148852" y="850379"/>
                </a:lnTo>
                <a:lnTo>
                  <a:pt x="1463052" y="850379"/>
                </a:lnTo>
                <a:lnTo>
                  <a:pt x="1463052" y="859523"/>
                </a:lnTo>
                <a:lnTo>
                  <a:pt x="2148852" y="859523"/>
                </a:lnTo>
                <a:lnTo>
                  <a:pt x="2148852" y="873239"/>
                </a:lnTo>
                <a:lnTo>
                  <a:pt x="2177427" y="859523"/>
                </a:lnTo>
                <a:lnTo>
                  <a:pt x="2186952" y="854951"/>
                </a:lnTo>
                <a:close/>
              </a:path>
              <a:path w="3769360" h="1245235">
                <a:moveTo>
                  <a:pt x="2186952" y="156959"/>
                </a:moveTo>
                <a:lnTo>
                  <a:pt x="1501140" y="156959"/>
                </a:lnTo>
                <a:lnTo>
                  <a:pt x="1501140" y="143243"/>
                </a:lnTo>
                <a:lnTo>
                  <a:pt x="1463040" y="161531"/>
                </a:lnTo>
                <a:lnTo>
                  <a:pt x="1501140" y="181343"/>
                </a:lnTo>
                <a:lnTo>
                  <a:pt x="1501140" y="166103"/>
                </a:lnTo>
                <a:lnTo>
                  <a:pt x="2186952" y="166103"/>
                </a:lnTo>
                <a:lnTo>
                  <a:pt x="2186952" y="156959"/>
                </a:lnTo>
                <a:close/>
              </a:path>
              <a:path w="3769360" h="1245235">
                <a:moveTo>
                  <a:pt x="2186952" y="25908"/>
                </a:moveTo>
                <a:lnTo>
                  <a:pt x="2177427" y="21336"/>
                </a:lnTo>
                <a:lnTo>
                  <a:pt x="2148852" y="7620"/>
                </a:lnTo>
                <a:lnTo>
                  <a:pt x="2148852" y="21336"/>
                </a:lnTo>
                <a:lnTo>
                  <a:pt x="1463052" y="21336"/>
                </a:lnTo>
                <a:lnTo>
                  <a:pt x="1463052" y="32004"/>
                </a:lnTo>
                <a:lnTo>
                  <a:pt x="2148852" y="32004"/>
                </a:lnTo>
                <a:lnTo>
                  <a:pt x="2148852" y="45720"/>
                </a:lnTo>
                <a:lnTo>
                  <a:pt x="2175218" y="32004"/>
                </a:lnTo>
                <a:lnTo>
                  <a:pt x="2186952" y="25908"/>
                </a:lnTo>
                <a:close/>
              </a:path>
              <a:path w="3769360" h="1245235">
                <a:moveTo>
                  <a:pt x="3441204" y="10668"/>
                </a:moveTo>
                <a:lnTo>
                  <a:pt x="3439680" y="9144"/>
                </a:lnTo>
                <a:lnTo>
                  <a:pt x="3436620" y="7620"/>
                </a:lnTo>
                <a:lnTo>
                  <a:pt x="3435108" y="6096"/>
                </a:lnTo>
                <a:lnTo>
                  <a:pt x="3429012" y="3048"/>
                </a:lnTo>
                <a:lnTo>
                  <a:pt x="3425964" y="3048"/>
                </a:lnTo>
                <a:lnTo>
                  <a:pt x="3419856" y="0"/>
                </a:lnTo>
                <a:lnTo>
                  <a:pt x="3407676" y="0"/>
                </a:lnTo>
                <a:lnTo>
                  <a:pt x="3398520" y="4572"/>
                </a:lnTo>
                <a:lnTo>
                  <a:pt x="3397008" y="6096"/>
                </a:lnTo>
                <a:lnTo>
                  <a:pt x="3392436" y="15240"/>
                </a:lnTo>
                <a:lnTo>
                  <a:pt x="3392436" y="22860"/>
                </a:lnTo>
                <a:lnTo>
                  <a:pt x="3393960" y="24384"/>
                </a:lnTo>
                <a:lnTo>
                  <a:pt x="3393960" y="25908"/>
                </a:lnTo>
                <a:lnTo>
                  <a:pt x="3395472" y="27432"/>
                </a:lnTo>
                <a:lnTo>
                  <a:pt x="3397008" y="30480"/>
                </a:lnTo>
                <a:lnTo>
                  <a:pt x="3403104" y="36576"/>
                </a:lnTo>
                <a:lnTo>
                  <a:pt x="3404628" y="36576"/>
                </a:lnTo>
                <a:lnTo>
                  <a:pt x="3407676" y="39624"/>
                </a:lnTo>
                <a:lnTo>
                  <a:pt x="3409188" y="39624"/>
                </a:lnTo>
                <a:lnTo>
                  <a:pt x="3409188" y="41148"/>
                </a:lnTo>
                <a:lnTo>
                  <a:pt x="3412248" y="44196"/>
                </a:lnTo>
                <a:lnTo>
                  <a:pt x="3412248" y="50292"/>
                </a:lnTo>
                <a:lnTo>
                  <a:pt x="3407676" y="50292"/>
                </a:lnTo>
                <a:lnTo>
                  <a:pt x="3406140" y="51816"/>
                </a:lnTo>
                <a:lnTo>
                  <a:pt x="3400056" y="48768"/>
                </a:lnTo>
                <a:lnTo>
                  <a:pt x="3397008" y="48768"/>
                </a:lnTo>
                <a:lnTo>
                  <a:pt x="3393960" y="47244"/>
                </a:lnTo>
                <a:lnTo>
                  <a:pt x="3389388" y="42672"/>
                </a:lnTo>
                <a:lnTo>
                  <a:pt x="3386340" y="41148"/>
                </a:lnTo>
                <a:lnTo>
                  <a:pt x="3384804" y="38100"/>
                </a:lnTo>
                <a:lnTo>
                  <a:pt x="3378720" y="53340"/>
                </a:lnTo>
                <a:lnTo>
                  <a:pt x="3383292" y="56388"/>
                </a:lnTo>
                <a:lnTo>
                  <a:pt x="3395472" y="62484"/>
                </a:lnTo>
                <a:lnTo>
                  <a:pt x="3400056" y="64008"/>
                </a:lnTo>
                <a:lnTo>
                  <a:pt x="3403104" y="64008"/>
                </a:lnTo>
                <a:lnTo>
                  <a:pt x="3406140" y="65532"/>
                </a:lnTo>
                <a:lnTo>
                  <a:pt x="3413772" y="65532"/>
                </a:lnTo>
                <a:lnTo>
                  <a:pt x="3416820" y="64008"/>
                </a:lnTo>
                <a:lnTo>
                  <a:pt x="3419856" y="64008"/>
                </a:lnTo>
                <a:lnTo>
                  <a:pt x="3425964" y="60960"/>
                </a:lnTo>
                <a:lnTo>
                  <a:pt x="3427488" y="59436"/>
                </a:lnTo>
                <a:lnTo>
                  <a:pt x="3429012" y="56388"/>
                </a:lnTo>
                <a:lnTo>
                  <a:pt x="3430536" y="51816"/>
                </a:lnTo>
                <a:lnTo>
                  <a:pt x="3432060" y="50292"/>
                </a:lnTo>
                <a:lnTo>
                  <a:pt x="3432060" y="41148"/>
                </a:lnTo>
                <a:lnTo>
                  <a:pt x="3429012" y="38100"/>
                </a:lnTo>
                <a:lnTo>
                  <a:pt x="3429012" y="36576"/>
                </a:lnTo>
                <a:lnTo>
                  <a:pt x="3425964" y="35052"/>
                </a:lnTo>
                <a:lnTo>
                  <a:pt x="3424440" y="32004"/>
                </a:lnTo>
                <a:lnTo>
                  <a:pt x="3419856" y="27432"/>
                </a:lnTo>
                <a:lnTo>
                  <a:pt x="3418344" y="27432"/>
                </a:lnTo>
                <a:lnTo>
                  <a:pt x="3412248" y="21336"/>
                </a:lnTo>
                <a:lnTo>
                  <a:pt x="3412248" y="15240"/>
                </a:lnTo>
                <a:lnTo>
                  <a:pt x="3415296" y="15240"/>
                </a:lnTo>
                <a:lnTo>
                  <a:pt x="3416820" y="13716"/>
                </a:lnTo>
                <a:lnTo>
                  <a:pt x="3418344" y="13716"/>
                </a:lnTo>
                <a:lnTo>
                  <a:pt x="3419856" y="15240"/>
                </a:lnTo>
                <a:lnTo>
                  <a:pt x="3422904" y="15240"/>
                </a:lnTo>
                <a:lnTo>
                  <a:pt x="3425964" y="16764"/>
                </a:lnTo>
                <a:lnTo>
                  <a:pt x="3427488" y="18288"/>
                </a:lnTo>
                <a:lnTo>
                  <a:pt x="3430536" y="19812"/>
                </a:lnTo>
                <a:lnTo>
                  <a:pt x="3432060" y="21336"/>
                </a:lnTo>
                <a:lnTo>
                  <a:pt x="3435108" y="22860"/>
                </a:lnTo>
                <a:lnTo>
                  <a:pt x="3436620" y="24384"/>
                </a:lnTo>
                <a:lnTo>
                  <a:pt x="3440188" y="13716"/>
                </a:lnTo>
                <a:lnTo>
                  <a:pt x="3441204" y="10668"/>
                </a:lnTo>
                <a:close/>
              </a:path>
              <a:path w="3769360" h="1245235">
                <a:moveTo>
                  <a:pt x="3503688" y="45720"/>
                </a:moveTo>
                <a:lnTo>
                  <a:pt x="3500640" y="38100"/>
                </a:lnTo>
                <a:lnTo>
                  <a:pt x="3499116" y="35052"/>
                </a:lnTo>
                <a:lnTo>
                  <a:pt x="3497592" y="32004"/>
                </a:lnTo>
                <a:lnTo>
                  <a:pt x="3493020" y="25908"/>
                </a:lnTo>
                <a:lnTo>
                  <a:pt x="3488448" y="24384"/>
                </a:lnTo>
                <a:lnTo>
                  <a:pt x="3488448" y="44196"/>
                </a:lnTo>
                <a:lnTo>
                  <a:pt x="3485388" y="51816"/>
                </a:lnTo>
                <a:lnTo>
                  <a:pt x="3462540" y="44196"/>
                </a:lnTo>
                <a:lnTo>
                  <a:pt x="3464064" y="41148"/>
                </a:lnTo>
                <a:lnTo>
                  <a:pt x="3467112" y="38100"/>
                </a:lnTo>
                <a:lnTo>
                  <a:pt x="3473208" y="35052"/>
                </a:lnTo>
                <a:lnTo>
                  <a:pt x="3479304" y="35052"/>
                </a:lnTo>
                <a:lnTo>
                  <a:pt x="3485388" y="38100"/>
                </a:lnTo>
                <a:lnTo>
                  <a:pt x="3488448" y="44196"/>
                </a:lnTo>
                <a:lnTo>
                  <a:pt x="3488448" y="24384"/>
                </a:lnTo>
                <a:lnTo>
                  <a:pt x="3483876" y="22860"/>
                </a:lnTo>
                <a:lnTo>
                  <a:pt x="3477056" y="21336"/>
                </a:lnTo>
                <a:lnTo>
                  <a:pt x="3471113" y="21336"/>
                </a:lnTo>
                <a:lnTo>
                  <a:pt x="3440150" y="51663"/>
                </a:lnTo>
                <a:lnTo>
                  <a:pt x="3440138" y="51816"/>
                </a:lnTo>
                <a:lnTo>
                  <a:pt x="3439299" y="58293"/>
                </a:lnTo>
                <a:lnTo>
                  <a:pt x="3440150" y="64338"/>
                </a:lnTo>
                <a:lnTo>
                  <a:pt x="3442728" y="70104"/>
                </a:lnTo>
                <a:lnTo>
                  <a:pt x="3445776" y="77724"/>
                </a:lnTo>
                <a:lnTo>
                  <a:pt x="3451872" y="82296"/>
                </a:lnTo>
                <a:lnTo>
                  <a:pt x="3470160" y="88392"/>
                </a:lnTo>
                <a:lnTo>
                  <a:pt x="3477780" y="89916"/>
                </a:lnTo>
                <a:lnTo>
                  <a:pt x="3485388" y="89916"/>
                </a:lnTo>
                <a:lnTo>
                  <a:pt x="3489464" y="77724"/>
                </a:lnTo>
                <a:lnTo>
                  <a:pt x="3489972" y="76200"/>
                </a:lnTo>
                <a:lnTo>
                  <a:pt x="3483876" y="77724"/>
                </a:lnTo>
                <a:lnTo>
                  <a:pt x="3477780" y="76200"/>
                </a:lnTo>
                <a:lnTo>
                  <a:pt x="3470160" y="74676"/>
                </a:lnTo>
                <a:lnTo>
                  <a:pt x="3464204" y="70929"/>
                </a:lnTo>
                <a:lnTo>
                  <a:pt x="3460254" y="66484"/>
                </a:lnTo>
                <a:lnTo>
                  <a:pt x="3458578" y="61163"/>
                </a:lnTo>
                <a:lnTo>
                  <a:pt x="3458616" y="60960"/>
                </a:lnTo>
                <a:lnTo>
                  <a:pt x="3459492" y="54864"/>
                </a:lnTo>
                <a:lnTo>
                  <a:pt x="3497592" y="70104"/>
                </a:lnTo>
                <a:lnTo>
                  <a:pt x="3500640" y="62484"/>
                </a:lnTo>
                <a:lnTo>
                  <a:pt x="3503180" y="54864"/>
                </a:lnTo>
                <a:lnTo>
                  <a:pt x="3503688" y="53340"/>
                </a:lnTo>
                <a:lnTo>
                  <a:pt x="3503688" y="51816"/>
                </a:lnTo>
                <a:lnTo>
                  <a:pt x="3503688" y="45720"/>
                </a:lnTo>
                <a:close/>
              </a:path>
              <a:path w="3769360" h="1245235">
                <a:moveTo>
                  <a:pt x="3549408" y="16764"/>
                </a:moveTo>
                <a:lnTo>
                  <a:pt x="3531120" y="10668"/>
                </a:lnTo>
                <a:lnTo>
                  <a:pt x="3500640" y="97536"/>
                </a:lnTo>
                <a:lnTo>
                  <a:pt x="3518928" y="105156"/>
                </a:lnTo>
                <a:lnTo>
                  <a:pt x="3549408" y="16764"/>
                </a:lnTo>
                <a:close/>
              </a:path>
              <a:path w="3769360" h="1245235">
                <a:moveTo>
                  <a:pt x="3602748" y="80772"/>
                </a:moveTo>
                <a:lnTo>
                  <a:pt x="3599688" y="74676"/>
                </a:lnTo>
                <a:lnTo>
                  <a:pt x="3597859" y="70104"/>
                </a:lnTo>
                <a:lnTo>
                  <a:pt x="3596640" y="67056"/>
                </a:lnTo>
                <a:lnTo>
                  <a:pt x="3590556" y="62484"/>
                </a:lnTo>
                <a:lnTo>
                  <a:pt x="3587508" y="61264"/>
                </a:lnTo>
                <a:lnTo>
                  <a:pt x="3587508" y="79248"/>
                </a:lnTo>
                <a:lnTo>
                  <a:pt x="3584460" y="88392"/>
                </a:lnTo>
                <a:lnTo>
                  <a:pt x="3561588" y="79248"/>
                </a:lnTo>
                <a:lnTo>
                  <a:pt x="3563124" y="76200"/>
                </a:lnTo>
                <a:lnTo>
                  <a:pt x="3566172" y="74676"/>
                </a:lnTo>
                <a:lnTo>
                  <a:pt x="3569220" y="71628"/>
                </a:lnTo>
                <a:lnTo>
                  <a:pt x="3572256" y="70104"/>
                </a:lnTo>
                <a:lnTo>
                  <a:pt x="3575304" y="70104"/>
                </a:lnTo>
                <a:lnTo>
                  <a:pt x="3578364" y="71628"/>
                </a:lnTo>
                <a:lnTo>
                  <a:pt x="3584460" y="73152"/>
                </a:lnTo>
                <a:lnTo>
                  <a:pt x="3587508" y="79248"/>
                </a:lnTo>
                <a:lnTo>
                  <a:pt x="3587508" y="61264"/>
                </a:lnTo>
                <a:lnTo>
                  <a:pt x="3582936" y="59436"/>
                </a:lnTo>
                <a:lnTo>
                  <a:pt x="3573792" y="56388"/>
                </a:lnTo>
                <a:lnTo>
                  <a:pt x="3566172" y="56388"/>
                </a:lnTo>
                <a:lnTo>
                  <a:pt x="3539210" y="87579"/>
                </a:lnTo>
                <a:lnTo>
                  <a:pt x="3539109" y="88392"/>
                </a:lnTo>
                <a:lnTo>
                  <a:pt x="3538359" y="94107"/>
                </a:lnTo>
                <a:lnTo>
                  <a:pt x="3539210" y="100050"/>
                </a:lnTo>
                <a:lnTo>
                  <a:pt x="3541788" y="105156"/>
                </a:lnTo>
                <a:lnTo>
                  <a:pt x="3544836" y="112776"/>
                </a:lnTo>
                <a:lnTo>
                  <a:pt x="3550932" y="118872"/>
                </a:lnTo>
                <a:lnTo>
                  <a:pt x="3569220" y="124968"/>
                </a:lnTo>
                <a:lnTo>
                  <a:pt x="3576840" y="126492"/>
                </a:lnTo>
                <a:lnTo>
                  <a:pt x="3582936" y="124968"/>
                </a:lnTo>
                <a:lnTo>
                  <a:pt x="3588347" y="112776"/>
                </a:lnTo>
                <a:lnTo>
                  <a:pt x="3589032" y="111252"/>
                </a:lnTo>
                <a:lnTo>
                  <a:pt x="3582936" y="112776"/>
                </a:lnTo>
                <a:lnTo>
                  <a:pt x="3575304" y="112776"/>
                </a:lnTo>
                <a:lnTo>
                  <a:pt x="3569220" y="109728"/>
                </a:lnTo>
                <a:lnTo>
                  <a:pt x="3558540" y="106680"/>
                </a:lnTo>
                <a:lnTo>
                  <a:pt x="3555504" y="100584"/>
                </a:lnTo>
                <a:lnTo>
                  <a:pt x="3558540" y="91440"/>
                </a:lnTo>
                <a:lnTo>
                  <a:pt x="3596640" y="105156"/>
                </a:lnTo>
                <a:lnTo>
                  <a:pt x="3599688" y="97536"/>
                </a:lnTo>
                <a:lnTo>
                  <a:pt x="3601732" y="91440"/>
                </a:lnTo>
                <a:lnTo>
                  <a:pt x="3602748" y="88392"/>
                </a:lnTo>
                <a:lnTo>
                  <a:pt x="3602748" y="80772"/>
                </a:lnTo>
                <a:close/>
              </a:path>
              <a:path w="3769360" h="1245235">
                <a:moveTo>
                  <a:pt x="3665232" y="91440"/>
                </a:moveTo>
                <a:lnTo>
                  <a:pt x="3662172" y="88392"/>
                </a:lnTo>
                <a:lnTo>
                  <a:pt x="3657612" y="86868"/>
                </a:lnTo>
                <a:lnTo>
                  <a:pt x="3649992" y="83820"/>
                </a:lnTo>
                <a:lnTo>
                  <a:pt x="3643134" y="81241"/>
                </a:lnTo>
                <a:lnTo>
                  <a:pt x="3636276" y="80391"/>
                </a:lnTo>
                <a:lnTo>
                  <a:pt x="3629418" y="81241"/>
                </a:lnTo>
                <a:lnTo>
                  <a:pt x="3602748" y="112776"/>
                </a:lnTo>
                <a:lnTo>
                  <a:pt x="3602748" y="120396"/>
                </a:lnTo>
                <a:lnTo>
                  <a:pt x="3633228" y="147828"/>
                </a:lnTo>
                <a:lnTo>
                  <a:pt x="3639324" y="149352"/>
                </a:lnTo>
                <a:lnTo>
                  <a:pt x="3645420" y="147828"/>
                </a:lnTo>
                <a:lnTo>
                  <a:pt x="3649535" y="134112"/>
                </a:lnTo>
                <a:lnTo>
                  <a:pt x="3649992" y="132588"/>
                </a:lnTo>
                <a:lnTo>
                  <a:pt x="3643896" y="134112"/>
                </a:lnTo>
                <a:lnTo>
                  <a:pt x="3639324" y="134112"/>
                </a:lnTo>
                <a:lnTo>
                  <a:pt x="3630180" y="131064"/>
                </a:lnTo>
                <a:lnTo>
                  <a:pt x="3627132" y="128016"/>
                </a:lnTo>
                <a:lnTo>
                  <a:pt x="3624072" y="123444"/>
                </a:lnTo>
                <a:lnTo>
                  <a:pt x="3622560" y="120396"/>
                </a:lnTo>
                <a:lnTo>
                  <a:pt x="3622560" y="114300"/>
                </a:lnTo>
                <a:lnTo>
                  <a:pt x="3624072" y="109728"/>
                </a:lnTo>
                <a:lnTo>
                  <a:pt x="3627132" y="103632"/>
                </a:lnTo>
                <a:lnTo>
                  <a:pt x="3630180" y="100584"/>
                </a:lnTo>
                <a:lnTo>
                  <a:pt x="3633228" y="99060"/>
                </a:lnTo>
                <a:lnTo>
                  <a:pt x="3637788" y="96012"/>
                </a:lnTo>
                <a:lnTo>
                  <a:pt x="3642372" y="96012"/>
                </a:lnTo>
                <a:lnTo>
                  <a:pt x="3648456" y="99060"/>
                </a:lnTo>
                <a:lnTo>
                  <a:pt x="3653040" y="100584"/>
                </a:lnTo>
                <a:lnTo>
                  <a:pt x="3656088" y="103632"/>
                </a:lnTo>
                <a:lnTo>
                  <a:pt x="3659136" y="108204"/>
                </a:lnTo>
                <a:lnTo>
                  <a:pt x="3663569" y="96012"/>
                </a:lnTo>
                <a:lnTo>
                  <a:pt x="3665232" y="91440"/>
                </a:lnTo>
                <a:close/>
              </a:path>
              <a:path w="3769360" h="1245235">
                <a:moveTo>
                  <a:pt x="3713988" y="108204"/>
                </a:moveTo>
                <a:lnTo>
                  <a:pt x="3700272" y="103632"/>
                </a:lnTo>
                <a:lnTo>
                  <a:pt x="3702812" y="96012"/>
                </a:lnTo>
                <a:lnTo>
                  <a:pt x="3706380" y="85344"/>
                </a:lnTo>
                <a:lnTo>
                  <a:pt x="3686556" y="83820"/>
                </a:lnTo>
                <a:lnTo>
                  <a:pt x="3681996" y="96012"/>
                </a:lnTo>
                <a:lnTo>
                  <a:pt x="3672840" y="92964"/>
                </a:lnTo>
                <a:lnTo>
                  <a:pt x="3666756" y="106680"/>
                </a:lnTo>
                <a:lnTo>
                  <a:pt x="3677424" y="109728"/>
                </a:lnTo>
                <a:lnTo>
                  <a:pt x="3666756" y="137160"/>
                </a:lnTo>
                <a:lnTo>
                  <a:pt x="3665016" y="146583"/>
                </a:lnTo>
                <a:lnTo>
                  <a:pt x="3666566" y="154305"/>
                </a:lnTo>
                <a:lnTo>
                  <a:pt x="3671252" y="160299"/>
                </a:lnTo>
                <a:lnTo>
                  <a:pt x="3678948" y="164592"/>
                </a:lnTo>
                <a:lnTo>
                  <a:pt x="3685044" y="166116"/>
                </a:lnTo>
                <a:lnTo>
                  <a:pt x="3689604" y="167640"/>
                </a:lnTo>
                <a:lnTo>
                  <a:pt x="3692664" y="166116"/>
                </a:lnTo>
                <a:lnTo>
                  <a:pt x="3697236" y="153924"/>
                </a:lnTo>
                <a:lnTo>
                  <a:pt x="3692664" y="153924"/>
                </a:lnTo>
                <a:lnTo>
                  <a:pt x="3691140" y="152400"/>
                </a:lnTo>
                <a:lnTo>
                  <a:pt x="3686556" y="150876"/>
                </a:lnTo>
                <a:lnTo>
                  <a:pt x="3685044" y="146304"/>
                </a:lnTo>
                <a:lnTo>
                  <a:pt x="3686556" y="140208"/>
                </a:lnTo>
                <a:lnTo>
                  <a:pt x="3695712" y="117348"/>
                </a:lnTo>
                <a:lnTo>
                  <a:pt x="3709428" y="121920"/>
                </a:lnTo>
                <a:lnTo>
                  <a:pt x="3710952" y="117348"/>
                </a:lnTo>
                <a:lnTo>
                  <a:pt x="3713988" y="108204"/>
                </a:lnTo>
                <a:close/>
              </a:path>
              <a:path w="3769360" h="1245235">
                <a:moveTo>
                  <a:pt x="3747516" y="345935"/>
                </a:moveTo>
                <a:lnTo>
                  <a:pt x="3277984" y="192443"/>
                </a:lnTo>
                <a:lnTo>
                  <a:pt x="3278632" y="190487"/>
                </a:lnTo>
                <a:lnTo>
                  <a:pt x="3282696" y="178295"/>
                </a:lnTo>
                <a:lnTo>
                  <a:pt x="3240024" y="184391"/>
                </a:lnTo>
                <a:lnTo>
                  <a:pt x="3270504" y="214871"/>
                </a:lnTo>
                <a:lnTo>
                  <a:pt x="3274936" y="201587"/>
                </a:lnTo>
                <a:lnTo>
                  <a:pt x="3744468" y="355079"/>
                </a:lnTo>
                <a:lnTo>
                  <a:pt x="3747516" y="345935"/>
                </a:lnTo>
                <a:close/>
              </a:path>
              <a:path w="3769360" h="1245235">
                <a:moveTo>
                  <a:pt x="3768852" y="897636"/>
                </a:moveTo>
                <a:lnTo>
                  <a:pt x="3296412" y="897636"/>
                </a:lnTo>
                <a:lnTo>
                  <a:pt x="3296412" y="882396"/>
                </a:lnTo>
                <a:lnTo>
                  <a:pt x="3258312" y="902208"/>
                </a:lnTo>
                <a:lnTo>
                  <a:pt x="3296412" y="920496"/>
                </a:lnTo>
                <a:lnTo>
                  <a:pt x="3296412" y="906780"/>
                </a:lnTo>
                <a:lnTo>
                  <a:pt x="3768852" y="906780"/>
                </a:lnTo>
                <a:lnTo>
                  <a:pt x="3768852" y="897636"/>
                </a:lnTo>
                <a:close/>
              </a:path>
              <a:path w="3769360" h="1245235">
                <a:moveTo>
                  <a:pt x="3768852" y="228587"/>
                </a:moveTo>
                <a:lnTo>
                  <a:pt x="3764508" y="224015"/>
                </a:lnTo>
                <a:lnTo>
                  <a:pt x="3739896" y="198107"/>
                </a:lnTo>
                <a:lnTo>
                  <a:pt x="3735057" y="212661"/>
                </a:lnTo>
                <a:lnTo>
                  <a:pt x="3259836" y="47231"/>
                </a:lnTo>
                <a:lnTo>
                  <a:pt x="3256788" y="56375"/>
                </a:lnTo>
                <a:lnTo>
                  <a:pt x="3732009" y="221805"/>
                </a:lnTo>
                <a:lnTo>
                  <a:pt x="3727704" y="234683"/>
                </a:lnTo>
                <a:lnTo>
                  <a:pt x="3768852" y="228587"/>
                </a:lnTo>
                <a:close/>
              </a:path>
              <a:path w="3769360" h="1245235">
                <a:moveTo>
                  <a:pt x="3768864" y="778751"/>
                </a:moveTo>
                <a:lnTo>
                  <a:pt x="3760063" y="774179"/>
                </a:lnTo>
                <a:lnTo>
                  <a:pt x="3730764" y="758939"/>
                </a:lnTo>
                <a:lnTo>
                  <a:pt x="3730764" y="774179"/>
                </a:lnTo>
                <a:lnTo>
                  <a:pt x="3258324" y="774179"/>
                </a:lnTo>
                <a:lnTo>
                  <a:pt x="3258324" y="783323"/>
                </a:lnTo>
                <a:lnTo>
                  <a:pt x="3730764" y="783323"/>
                </a:lnTo>
                <a:lnTo>
                  <a:pt x="3730764" y="797039"/>
                </a:lnTo>
                <a:lnTo>
                  <a:pt x="3759339" y="783323"/>
                </a:lnTo>
                <a:lnTo>
                  <a:pt x="3768864" y="7787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378141" y="3111464"/>
            <a:ext cx="3530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Gadugi" panose="020B0502040204020203"/>
                <a:cs typeface="Gadugi" panose="020B0502040204020203"/>
              </a:rPr>
              <a:t>select</a:t>
            </a:r>
            <a:endParaRPr sz="10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44295" y="113385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4"/>
                </a:lnTo>
                <a:lnTo>
                  <a:pt x="6082284" y="3415284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9" name="object 29"/>
          <p:cNvGrpSpPr/>
          <p:nvPr/>
        </p:nvGrpSpPr>
        <p:grpSpPr>
          <a:xfrm>
            <a:off x="966216" y="5634228"/>
            <a:ext cx="5842000" cy="3167380"/>
            <a:chOff x="966216" y="5634228"/>
            <a:chExt cx="5842000" cy="3167380"/>
          </a:xfrm>
        </p:grpSpPr>
        <p:sp>
          <p:nvSpPr>
            <p:cNvPr id="30" name="object 30"/>
            <p:cNvSpPr/>
            <p:nvPr/>
          </p:nvSpPr>
          <p:spPr>
            <a:xfrm>
              <a:off x="966216" y="5634228"/>
              <a:ext cx="5842000" cy="3167380"/>
            </a:xfrm>
            <a:custGeom>
              <a:avLst/>
              <a:gdLst/>
              <a:ahLst/>
              <a:cxnLst/>
              <a:rect l="l" t="t" r="r" b="b"/>
              <a:pathLst>
                <a:path w="5842000" h="3167379">
                  <a:moveTo>
                    <a:pt x="5841491" y="3166871"/>
                  </a:moveTo>
                  <a:lnTo>
                    <a:pt x="0" y="3166871"/>
                  </a:lnTo>
                  <a:lnTo>
                    <a:pt x="0" y="0"/>
                  </a:lnTo>
                  <a:lnTo>
                    <a:pt x="5841491" y="0"/>
                  </a:lnTo>
                  <a:lnTo>
                    <a:pt x="5841491" y="316687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141475" y="6100571"/>
              <a:ext cx="5491480" cy="0"/>
            </a:xfrm>
            <a:custGeom>
              <a:avLst/>
              <a:gdLst/>
              <a:ahLst/>
              <a:cxnLst/>
              <a:rect l="l" t="t" r="r" b="b"/>
              <a:pathLst>
                <a:path w="5491480">
                  <a:moveTo>
                    <a:pt x="0" y="0"/>
                  </a:moveTo>
                  <a:lnTo>
                    <a:pt x="5490972" y="0"/>
                  </a:lnTo>
                </a:path>
              </a:pathLst>
            </a:custGeom>
            <a:ln w="12192">
              <a:solidFill>
                <a:srgbClr val="D146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144551" y="5792234"/>
            <a:ext cx="21551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BF0000"/>
                </a:solidFill>
                <a:latin typeface="Gadugi" panose="020B0502040204020203"/>
                <a:cs typeface="Gadugi" panose="020B0502040204020203"/>
              </a:rPr>
              <a:t>LIFECYCLE</a:t>
            </a:r>
            <a:r>
              <a:rPr sz="1400" b="1" spc="-55" dirty="0">
                <a:solidFill>
                  <a:srgbClr val="BF0000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1400" b="1" dirty="0">
                <a:solidFill>
                  <a:srgbClr val="BF0000"/>
                </a:solidFill>
                <a:latin typeface="Gadugi" panose="020B0502040204020203"/>
                <a:cs typeface="Gadugi" panose="020B0502040204020203"/>
              </a:rPr>
              <a:t>OF</a:t>
            </a:r>
            <a:r>
              <a:rPr sz="1400" b="1" spc="-60" dirty="0">
                <a:solidFill>
                  <a:srgbClr val="BF0000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1400" b="1" spc="-10" dirty="0">
                <a:solidFill>
                  <a:srgbClr val="BF0000"/>
                </a:solidFill>
                <a:latin typeface="Gadugi" panose="020B0502040204020203"/>
                <a:cs typeface="Gadugi" panose="020B0502040204020203"/>
              </a:rPr>
              <a:t>HIBERNATE</a:t>
            </a:r>
            <a:endParaRPr sz="14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442844" y="6287896"/>
            <a:ext cx="1501775" cy="471170"/>
            <a:chOff x="2442844" y="6287896"/>
            <a:chExt cx="1501775" cy="471170"/>
          </a:xfrm>
        </p:grpSpPr>
        <p:sp>
          <p:nvSpPr>
            <p:cNvPr id="34" name="object 34"/>
            <p:cNvSpPr/>
            <p:nvPr/>
          </p:nvSpPr>
          <p:spPr>
            <a:xfrm>
              <a:off x="2449067" y="6294119"/>
              <a:ext cx="1489075" cy="452755"/>
            </a:xfrm>
            <a:custGeom>
              <a:avLst/>
              <a:gdLst/>
              <a:ahLst/>
              <a:cxnLst/>
              <a:rect l="l" t="t" r="r" b="b"/>
              <a:pathLst>
                <a:path w="1489075" h="452754">
                  <a:moveTo>
                    <a:pt x="1488948" y="452628"/>
                  </a:moveTo>
                  <a:lnTo>
                    <a:pt x="0" y="452628"/>
                  </a:lnTo>
                  <a:lnTo>
                    <a:pt x="0" y="0"/>
                  </a:lnTo>
                  <a:lnTo>
                    <a:pt x="1488948" y="0"/>
                  </a:lnTo>
                  <a:lnTo>
                    <a:pt x="1488948" y="452628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446019" y="6291071"/>
              <a:ext cx="1495425" cy="464820"/>
            </a:xfrm>
            <a:custGeom>
              <a:avLst/>
              <a:gdLst/>
              <a:ahLst/>
              <a:cxnLst/>
              <a:rect l="l" t="t" r="r" b="b"/>
              <a:pathLst>
                <a:path w="1495425" h="464820">
                  <a:moveTo>
                    <a:pt x="3048" y="0"/>
                  </a:moveTo>
                  <a:lnTo>
                    <a:pt x="3048" y="464820"/>
                  </a:lnTo>
                </a:path>
                <a:path w="1495425" h="464820">
                  <a:moveTo>
                    <a:pt x="1491996" y="0"/>
                  </a:moveTo>
                  <a:lnTo>
                    <a:pt x="1491996" y="464820"/>
                  </a:lnTo>
                </a:path>
                <a:path w="1495425" h="464820">
                  <a:moveTo>
                    <a:pt x="0" y="3048"/>
                  </a:moveTo>
                  <a:lnTo>
                    <a:pt x="1495044" y="30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446019" y="6737604"/>
              <a:ext cx="1495425" cy="18415"/>
            </a:xfrm>
            <a:custGeom>
              <a:avLst/>
              <a:gdLst/>
              <a:ahLst/>
              <a:cxnLst/>
              <a:rect l="l" t="t" r="r" b="b"/>
              <a:pathLst>
                <a:path w="1495425" h="18415">
                  <a:moveTo>
                    <a:pt x="0" y="0"/>
                  </a:moveTo>
                  <a:lnTo>
                    <a:pt x="1495044" y="0"/>
                  </a:lnTo>
                  <a:lnTo>
                    <a:pt x="1495044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2452116" y="6436861"/>
            <a:ext cx="14833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Transient</a:t>
            </a:r>
            <a:r>
              <a:rPr sz="9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state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442844" y="7043801"/>
            <a:ext cx="1501775" cy="473075"/>
            <a:chOff x="2442844" y="7043801"/>
            <a:chExt cx="1501775" cy="473075"/>
          </a:xfrm>
        </p:grpSpPr>
        <p:sp>
          <p:nvSpPr>
            <p:cNvPr id="39" name="object 39"/>
            <p:cNvSpPr/>
            <p:nvPr/>
          </p:nvSpPr>
          <p:spPr>
            <a:xfrm>
              <a:off x="2449067" y="7051547"/>
              <a:ext cx="1489075" cy="452755"/>
            </a:xfrm>
            <a:custGeom>
              <a:avLst/>
              <a:gdLst/>
              <a:ahLst/>
              <a:cxnLst/>
              <a:rect l="l" t="t" r="r" b="b"/>
              <a:pathLst>
                <a:path w="1489075" h="452754">
                  <a:moveTo>
                    <a:pt x="1488948" y="452628"/>
                  </a:moveTo>
                  <a:lnTo>
                    <a:pt x="0" y="452628"/>
                  </a:lnTo>
                  <a:lnTo>
                    <a:pt x="0" y="0"/>
                  </a:lnTo>
                  <a:lnTo>
                    <a:pt x="1488948" y="0"/>
                  </a:lnTo>
                  <a:lnTo>
                    <a:pt x="1488948" y="452628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446019" y="7046976"/>
              <a:ext cx="1495425" cy="466725"/>
            </a:xfrm>
            <a:custGeom>
              <a:avLst/>
              <a:gdLst/>
              <a:ahLst/>
              <a:cxnLst/>
              <a:rect l="l" t="t" r="r" b="b"/>
              <a:pathLst>
                <a:path w="1495425" h="466725">
                  <a:moveTo>
                    <a:pt x="3048" y="0"/>
                  </a:moveTo>
                  <a:lnTo>
                    <a:pt x="3048" y="466343"/>
                  </a:lnTo>
                </a:path>
                <a:path w="1495425" h="466725">
                  <a:moveTo>
                    <a:pt x="1491996" y="0"/>
                  </a:moveTo>
                  <a:lnTo>
                    <a:pt x="1491996" y="466343"/>
                  </a:lnTo>
                </a:path>
                <a:path w="1495425" h="466725">
                  <a:moveTo>
                    <a:pt x="0" y="4571"/>
                  </a:moveTo>
                  <a:lnTo>
                    <a:pt x="1495044" y="4571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446019" y="7495032"/>
              <a:ext cx="1495425" cy="18415"/>
            </a:xfrm>
            <a:custGeom>
              <a:avLst/>
              <a:gdLst/>
              <a:ahLst/>
              <a:cxnLst/>
              <a:rect l="l" t="t" r="r" b="b"/>
              <a:pathLst>
                <a:path w="1495425" h="18415">
                  <a:moveTo>
                    <a:pt x="0" y="0"/>
                  </a:moveTo>
                  <a:lnTo>
                    <a:pt x="1495044" y="0"/>
                  </a:lnTo>
                  <a:lnTo>
                    <a:pt x="1495044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2452116" y="7194278"/>
            <a:ext cx="14833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Persistent</a:t>
            </a:r>
            <a:r>
              <a:rPr sz="900" b="1" spc="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state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442844" y="7833232"/>
            <a:ext cx="1501775" cy="471170"/>
            <a:chOff x="2442844" y="7833232"/>
            <a:chExt cx="1501775" cy="471170"/>
          </a:xfrm>
        </p:grpSpPr>
        <p:sp>
          <p:nvSpPr>
            <p:cNvPr id="44" name="object 44"/>
            <p:cNvSpPr/>
            <p:nvPr/>
          </p:nvSpPr>
          <p:spPr>
            <a:xfrm>
              <a:off x="2449067" y="7839455"/>
              <a:ext cx="1489075" cy="452755"/>
            </a:xfrm>
            <a:custGeom>
              <a:avLst/>
              <a:gdLst/>
              <a:ahLst/>
              <a:cxnLst/>
              <a:rect l="l" t="t" r="r" b="b"/>
              <a:pathLst>
                <a:path w="1489075" h="452754">
                  <a:moveTo>
                    <a:pt x="1488948" y="452628"/>
                  </a:moveTo>
                  <a:lnTo>
                    <a:pt x="0" y="452628"/>
                  </a:lnTo>
                  <a:lnTo>
                    <a:pt x="0" y="0"/>
                  </a:lnTo>
                  <a:lnTo>
                    <a:pt x="1488948" y="0"/>
                  </a:lnTo>
                  <a:lnTo>
                    <a:pt x="1488948" y="452628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446019" y="7836407"/>
              <a:ext cx="1495425" cy="464820"/>
            </a:xfrm>
            <a:custGeom>
              <a:avLst/>
              <a:gdLst/>
              <a:ahLst/>
              <a:cxnLst/>
              <a:rect l="l" t="t" r="r" b="b"/>
              <a:pathLst>
                <a:path w="1495425" h="464820">
                  <a:moveTo>
                    <a:pt x="3048" y="0"/>
                  </a:moveTo>
                  <a:lnTo>
                    <a:pt x="3048" y="464820"/>
                  </a:lnTo>
                </a:path>
                <a:path w="1495425" h="464820">
                  <a:moveTo>
                    <a:pt x="1491996" y="0"/>
                  </a:moveTo>
                  <a:lnTo>
                    <a:pt x="1491996" y="464820"/>
                  </a:lnTo>
                </a:path>
                <a:path w="1495425" h="464820">
                  <a:moveTo>
                    <a:pt x="0" y="3048"/>
                  </a:moveTo>
                  <a:lnTo>
                    <a:pt x="1495044" y="3048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446019" y="8282939"/>
              <a:ext cx="1495425" cy="18415"/>
            </a:xfrm>
            <a:custGeom>
              <a:avLst/>
              <a:gdLst/>
              <a:ahLst/>
              <a:cxnLst/>
              <a:rect l="l" t="t" r="r" b="b"/>
              <a:pathLst>
                <a:path w="1495425" h="18415">
                  <a:moveTo>
                    <a:pt x="0" y="0"/>
                  </a:moveTo>
                  <a:lnTo>
                    <a:pt x="1495044" y="0"/>
                  </a:lnTo>
                  <a:lnTo>
                    <a:pt x="1495044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2452116" y="7982182"/>
            <a:ext cx="14833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9725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Detached</a:t>
            </a:r>
            <a:r>
              <a:rPr sz="900" b="1" spc="-5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state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576445" y="7043801"/>
            <a:ext cx="892175" cy="473075"/>
            <a:chOff x="4576445" y="7043801"/>
            <a:chExt cx="892175" cy="473075"/>
          </a:xfrm>
        </p:grpSpPr>
        <p:sp>
          <p:nvSpPr>
            <p:cNvPr id="49" name="object 49"/>
            <p:cNvSpPr/>
            <p:nvPr/>
          </p:nvSpPr>
          <p:spPr>
            <a:xfrm>
              <a:off x="4582668" y="7051547"/>
              <a:ext cx="879475" cy="452755"/>
            </a:xfrm>
            <a:custGeom>
              <a:avLst/>
              <a:gdLst/>
              <a:ahLst/>
              <a:cxnLst/>
              <a:rect l="l" t="t" r="r" b="b"/>
              <a:pathLst>
                <a:path w="879475" h="452754">
                  <a:moveTo>
                    <a:pt x="879348" y="452628"/>
                  </a:moveTo>
                  <a:lnTo>
                    <a:pt x="0" y="452628"/>
                  </a:lnTo>
                  <a:lnTo>
                    <a:pt x="0" y="0"/>
                  </a:lnTo>
                  <a:lnTo>
                    <a:pt x="879348" y="0"/>
                  </a:lnTo>
                  <a:lnTo>
                    <a:pt x="879348" y="452628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579620" y="7046976"/>
              <a:ext cx="885825" cy="466725"/>
            </a:xfrm>
            <a:custGeom>
              <a:avLst/>
              <a:gdLst/>
              <a:ahLst/>
              <a:cxnLst/>
              <a:rect l="l" t="t" r="r" b="b"/>
              <a:pathLst>
                <a:path w="885825" h="466725">
                  <a:moveTo>
                    <a:pt x="3048" y="0"/>
                  </a:moveTo>
                  <a:lnTo>
                    <a:pt x="3048" y="466343"/>
                  </a:lnTo>
                </a:path>
                <a:path w="885825" h="466725">
                  <a:moveTo>
                    <a:pt x="882396" y="0"/>
                  </a:moveTo>
                  <a:lnTo>
                    <a:pt x="882396" y="466343"/>
                  </a:lnTo>
                </a:path>
                <a:path w="885825" h="466725">
                  <a:moveTo>
                    <a:pt x="0" y="4571"/>
                  </a:moveTo>
                  <a:lnTo>
                    <a:pt x="885444" y="4571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579620" y="7495032"/>
              <a:ext cx="885825" cy="18415"/>
            </a:xfrm>
            <a:custGeom>
              <a:avLst/>
              <a:gdLst/>
              <a:ahLst/>
              <a:cxnLst/>
              <a:rect l="l" t="t" r="r" b="b"/>
              <a:pathLst>
                <a:path w="885825" h="18415">
                  <a:moveTo>
                    <a:pt x="0" y="0"/>
                  </a:moveTo>
                  <a:lnTo>
                    <a:pt x="885444" y="0"/>
                  </a:lnTo>
                  <a:lnTo>
                    <a:pt x="885444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4786858" y="7057125"/>
            <a:ext cx="516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" marR="5080" indent="-10414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Removed state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5885560" y="7048372"/>
            <a:ext cx="625475" cy="459105"/>
            <a:chOff x="5885560" y="7048372"/>
            <a:chExt cx="625475" cy="459105"/>
          </a:xfrm>
        </p:grpSpPr>
        <p:sp>
          <p:nvSpPr>
            <p:cNvPr id="54" name="object 54"/>
            <p:cNvSpPr/>
            <p:nvPr/>
          </p:nvSpPr>
          <p:spPr>
            <a:xfrm>
              <a:off x="5888735" y="7051547"/>
              <a:ext cx="619125" cy="452755"/>
            </a:xfrm>
            <a:custGeom>
              <a:avLst/>
              <a:gdLst/>
              <a:ahLst/>
              <a:cxnLst/>
              <a:rect l="l" t="t" r="r" b="b"/>
              <a:pathLst>
                <a:path w="619125" h="452754">
                  <a:moveTo>
                    <a:pt x="309372" y="452627"/>
                  </a:moveTo>
                  <a:lnTo>
                    <a:pt x="253807" y="448954"/>
                  </a:lnTo>
                  <a:lnTo>
                    <a:pt x="201492" y="438370"/>
                  </a:lnTo>
                  <a:lnTo>
                    <a:pt x="153303" y="421527"/>
                  </a:lnTo>
                  <a:lnTo>
                    <a:pt x="110118" y="399076"/>
                  </a:lnTo>
                  <a:lnTo>
                    <a:pt x="72817" y="371672"/>
                  </a:lnTo>
                  <a:lnTo>
                    <a:pt x="42276" y="339964"/>
                  </a:lnTo>
                  <a:lnTo>
                    <a:pt x="19375" y="304607"/>
                  </a:lnTo>
                  <a:lnTo>
                    <a:pt x="4990" y="266252"/>
                  </a:lnTo>
                  <a:lnTo>
                    <a:pt x="0" y="225551"/>
                  </a:lnTo>
                  <a:lnTo>
                    <a:pt x="4990" y="184903"/>
                  </a:lnTo>
                  <a:lnTo>
                    <a:pt x="19375" y="146688"/>
                  </a:lnTo>
                  <a:lnTo>
                    <a:pt x="42276" y="111534"/>
                  </a:lnTo>
                  <a:lnTo>
                    <a:pt x="72817" y="80067"/>
                  </a:lnTo>
                  <a:lnTo>
                    <a:pt x="110118" y="52915"/>
                  </a:lnTo>
                  <a:lnTo>
                    <a:pt x="153303" y="30705"/>
                  </a:lnTo>
                  <a:lnTo>
                    <a:pt x="201492" y="14065"/>
                  </a:lnTo>
                  <a:lnTo>
                    <a:pt x="253807" y="3620"/>
                  </a:lnTo>
                  <a:lnTo>
                    <a:pt x="309372" y="0"/>
                  </a:lnTo>
                  <a:lnTo>
                    <a:pt x="364936" y="3620"/>
                  </a:lnTo>
                  <a:lnTo>
                    <a:pt x="417251" y="14065"/>
                  </a:lnTo>
                  <a:lnTo>
                    <a:pt x="465440" y="30705"/>
                  </a:lnTo>
                  <a:lnTo>
                    <a:pt x="508625" y="52915"/>
                  </a:lnTo>
                  <a:lnTo>
                    <a:pt x="545926" y="80067"/>
                  </a:lnTo>
                  <a:lnTo>
                    <a:pt x="576467" y="111534"/>
                  </a:lnTo>
                  <a:lnTo>
                    <a:pt x="599368" y="146688"/>
                  </a:lnTo>
                  <a:lnTo>
                    <a:pt x="613753" y="184903"/>
                  </a:lnTo>
                  <a:lnTo>
                    <a:pt x="618743" y="225551"/>
                  </a:lnTo>
                  <a:lnTo>
                    <a:pt x="613753" y="266252"/>
                  </a:lnTo>
                  <a:lnTo>
                    <a:pt x="599368" y="304607"/>
                  </a:lnTo>
                  <a:lnTo>
                    <a:pt x="576467" y="339964"/>
                  </a:lnTo>
                  <a:lnTo>
                    <a:pt x="545926" y="371672"/>
                  </a:lnTo>
                  <a:lnTo>
                    <a:pt x="508625" y="399076"/>
                  </a:lnTo>
                  <a:lnTo>
                    <a:pt x="465440" y="421527"/>
                  </a:lnTo>
                  <a:lnTo>
                    <a:pt x="417251" y="438370"/>
                  </a:lnTo>
                  <a:lnTo>
                    <a:pt x="364936" y="448954"/>
                  </a:lnTo>
                  <a:lnTo>
                    <a:pt x="309372" y="452627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888735" y="7051547"/>
              <a:ext cx="619125" cy="452755"/>
            </a:xfrm>
            <a:custGeom>
              <a:avLst/>
              <a:gdLst/>
              <a:ahLst/>
              <a:cxnLst/>
              <a:rect l="l" t="t" r="r" b="b"/>
              <a:pathLst>
                <a:path w="619125" h="452754">
                  <a:moveTo>
                    <a:pt x="0" y="225551"/>
                  </a:moveTo>
                  <a:lnTo>
                    <a:pt x="4990" y="184903"/>
                  </a:lnTo>
                  <a:lnTo>
                    <a:pt x="19375" y="146688"/>
                  </a:lnTo>
                  <a:lnTo>
                    <a:pt x="42276" y="111534"/>
                  </a:lnTo>
                  <a:lnTo>
                    <a:pt x="72817" y="80067"/>
                  </a:lnTo>
                  <a:lnTo>
                    <a:pt x="110118" y="52915"/>
                  </a:lnTo>
                  <a:lnTo>
                    <a:pt x="153303" y="30705"/>
                  </a:lnTo>
                  <a:lnTo>
                    <a:pt x="201492" y="14065"/>
                  </a:lnTo>
                  <a:lnTo>
                    <a:pt x="253807" y="3620"/>
                  </a:lnTo>
                  <a:lnTo>
                    <a:pt x="309372" y="0"/>
                  </a:lnTo>
                  <a:lnTo>
                    <a:pt x="364936" y="3620"/>
                  </a:lnTo>
                  <a:lnTo>
                    <a:pt x="417251" y="14065"/>
                  </a:lnTo>
                  <a:lnTo>
                    <a:pt x="465440" y="30705"/>
                  </a:lnTo>
                  <a:lnTo>
                    <a:pt x="508625" y="52915"/>
                  </a:lnTo>
                  <a:lnTo>
                    <a:pt x="545926" y="80067"/>
                  </a:lnTo>
                  <a:lnTo>
                    <a:pt x="576467" y="111534"/>
                  </a:lnTo>
                  <a:lnTo>
                    <a:pt x="599368" y="146688"/>
                  </a:lnTo>
                  <a:lnTo>
                    <a:pt x="613753" y="184903"/>
                  </a:lnTo>
                  <a:lnTo>
                    <a:pt x="618743" y="225551"/>
                  </a:lnTo>
                  <a:lnTo>
                    <a:pt x="613753" y="266252"/>
                  </a:lnTo>
                  <a:lnTo>
                    <a:pt x="599368" y="304607"/>
                  </a:lnTo>
                  <a:lnTo>
                    <a:pt x="576467" y="339964"/>
                  </a:lnTo>
                  <a:lnTo>
                    <a:pt x="545926" y="371672"/>
                  </a:lnTo>
                  <a:lnTo>
                    <a:pt x="508625" y="399076"/>
                  </a:lnTo>
                  <a:lnTo>
                    <a:pt x="465440" y="421527"/>
                  </a:lnTo>
                  <a:lnTo>
                    <a:pt x="417251" y="438370"/>
                  </a:lnTo>
                  <a:lnTo>
                    <a:pt x="364936" y="448954"/>
                  </a:lnTo>
                  <a:lnTo>
                    <a:pt x="309372" y="452627"/>
                  </a:lnTo>
                  <a:lnTo>
                    <a:pt x="253807" y="448954"/>
                  </a:lnTo>
                  <a:lnTo>
                    <a:pt x="201492" y="438370"/>
                  </a:lnTo>
                  <a:lnTo>
                    <a:pt x="153303" y="421527"/>
                  </a:lnTo>
                  <a:lnTo>
                    <a:pt x="110118" y="399076"/>
                  </a:lnTo>
                  <a:lnTo>
                    <a:pt x="72817" y="371672"/>
                  </a:lnTo>
                  <a:lnTo>
                    <a:pt x="42276" y="339964"/>
                  </a:lnTo>
                  <a:lnTo>
                    <a:pt x="19375" y="304607"/>
                  </a:lnTo>
                  <a:lnTo>
                    <a:pt x="4990" y="266252"/>
                  </a:lnTo>
                  <a:lnTo>
                    <a:pt x="0" y="225551"/>
                  </a:lnTo>
                </a:path>
              </a:pathLst>
            </a:custGeom>
            <a:ln w="6096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6041104" y="7171406"/>
            <a:ext cx="3238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4445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Garbage</a:t>
            </a:r>
            <a:r>
              <a:rPr sz="600" b="1" spc="50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collector</a:t>
            </a:r>
            <a:endParaRPr sz="6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180972" y="7048372"/>
            <a:ext cx="626745" cy="459105"/>
            <a:chOff x="1180972" y="7048372"/>
            <a:chExt cx="626745" cy="459105"/>
          </a:xfrm>
        </p:grpSpPr>
        <p:sp>
          <p:nvSpPr>
            <p:cNvPr id="58" name="object 58"/>
            <p:cNvSpPr/>
            <p:nvPr/>
          </p:nvSpPr>
          <p:spPr>
            <a:xfrm>
              <a:off x="1184147" y="7051547"/>
              <a:ext cx="620395" cy="452755"/>
            </a:xfrm>
            <a:custGeom>
              <a:avLst/>
              <a:gdLst/>
              <a:ahLst/>
              <a:cxnLst/>
              <a:rect l="l" t="t" r="r" b="b"/>
              <a:pathLst>
                <a:path w="620394" h="452754">
                  <a:moveTo>
                    <a:pt x="309372" y="452627"/>
                  </a:moveTo>
                  <a:lnTo>
                    <a:pt x="253807" y="448954"/>
                  </a:lnTo>
                  <a:lnTo>
                    <a:pt x="201492" y="438370"/>
                  </a:lnTo>
                  <a:lnTo>
                    <a:pt x="153303" y="421527"/>
                  </a:lnTo>
                  <a:lnTo>
                    <a:pt x="110118" y="399076"/>
                  </a:lnTo>
                  <a:lnTo>
                    <a:pt x="72817" y="371672"/>
                  </a:lnTo>
                  <a:lnTo>
                    <a:pt x="42276" y="339964"/>
                  </a:lnTo>
                  <a:lnTo>
                    <a:pt x="19375" y="304607"/>
                  </a:lnTo>
                  <a:lnTo>
                    <a:pt x="4990" y="266252"/>
                  </a:lnTo>
                  <a:lnTo>
                    <a:pt x="0" y="225551"/>
                  </a:lnTo>
                  <a:lnTo>
                    <a:pt x="4990" y="184903"/>
                  </a:lnTo>
                  <a:lnTo>
                    <a:pt x="19375" y="146688"/>
                  </a:lnTo>
                  <a:lnTo>
                    <a:pt x="42276" y="111534"/>
                  </a:lnTo>
                  <a:lnTo>
                    <a:pt x="72817" y="80067"/>
                  </a:lnTo>
                  <a:lnTo>
                    <a:pt x="110118" y="52915"/>
                  </a:lnTo>
                  <a:lnTo>
                    <a:pt x="153303" y="30705"/>
                  </a:lnTo>
                  <a:lnTo>
                    <a:pt x="201492" y="14065"/>
                  </a:lnTo>
                  <a:lnTo>
                    <a:pt x="253807" y="3620"/>
                  </a:lnTo>
                  <a:lnTo>
                    <a:pt x="309372" y="0"/>
                  </a:lnTo>
                  <a:lnTo>
                    <a:pt x="365389" y="3620"/>
                  </a:lnTo>
                  <a:lnTo>
                    <a:pt x="418058" y="14065"/>
                  </a:lnTo>
                  <a:lnTo>
                    <a:pt x="466513" y="30705"/>
                  </a:lnTo>
                  <a:lnTo>
                    <a:pt x="509887" y="52915"/>
                  </a:lnTo>
                  <a:lnTo>
                    <a:pt x="547316" y="80067"/>
                  </a:lnTo>
                  <a:lnTo>
                    <a:pt x="577934" y="111534"/>
                  </a:lnTo>
                  <a:lnTo>
                    <a:pt x="600876" y="146688"/>
                  </a:lnTo>
                  <a:lnTo>
                    <a:pt x="615275" y="184903"/>
                  </a:lnTo>
                  <a:lnTo>
                    <a:pt x="620268" y="225551"/>
                  </a:lnTo>
                  <a:lnTo>
                    <a:pt x="615275" y="266252"/>
                  </a:lnTo>
                  <a:lnTo>
                    <a:pt x="600876" y="304607"/>
                  </a:lnTo>
                  <a:lnTo>
                    <a:pt x="577934" y="339964"/>
                  </a:lnTo>
                  <a:lnTo>
                    <a:pt x="547316" y="371672"/>
                  </a:lnTo>
                  <a:lnTo>
                    <a:pt x="509887" y="399076"/>
                  </a:lnTo>
                  <a:lnTo>
                    <a:pt x="466513" y="421527"/>
                  </a:lnTo>
                  <a:lnTo>
                    <a:pt x="418058" y="438370"/>
                  </a:lnTo>
                  <a:lnTo>
                    <a:pt x="365389" y="448954"/>
                  </a:lnTo>
                  <a:lnTo>
                    <a:pt x="309372" y="452627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184147" y="7051547"/>
              <a:ext cx="620395" cy="452755"/>
            </a:xfrm>
            <a:custGeom>
              <a:avLst/>
              <a:gdLst/>
              <a:ahLst/>
              <a:cxnLst/>
              <a:rect l="l" t="t" r="r" b="b"/>
              <a:pathLst>
                <a:path w="620394" h="452754">
                  <a:moveTo>
                    <a:pt x="0" y="225551"/>
                  </a:moveTo>
                  <a:lnTo>
                    <a:pt x="4990" y="184903"/>
                  </a:lnTo>
                  <a:lnTo>
                    <a:pt x="19375" y="146688"/>
                  </a:lnTo>
                  <a:lnTo>
                    <a:pt x="42276" y="111534"/>
                  </a:lnTo>
                  <a:lnTo>
                    <a:pt x="72817" y="80067"/>
                  </a:lnTo>
                  <a:lnTo>
                    <a:pt x="110118" y="52915"/>
                  </a:lnTo>
                  <a:lnTo>
                    <a:pt x="153303" y="30705"/>
                  </a:lnTo>
                  <a:lnTo>
                    <a:pt x="201492" y="14065"/>
                  </a:lnTo>
                  <a:lnTo>
                    <a:pt x="253807" y="3620"/>
                  </a:lnTo>
                  <a:lnTo>
                    <a:pt x="309372" y="0"/>
                  </a:lnTo>
                  <a:lnTo>
                    <a:pt x="365389" y="3620"/>
                  </a:lnTo>
                  <a:lnTo>
                    <a:pt x="418058" y="14065"/>
                  </a:lnTo>
                  <a:lnTo>
                    <a:pt x="466513" y="30705"/>
                  </a:lnTo>
                  <a:lnTo>
                    <a:pt x="509887" y="52915"/>
                  </a:lnTo>
                  <a:lnTo>
                    <a:pt x="547316" y="80067"/>
                  </a:lnTo>
                  <a:lnTo>
                    <a:pt x="577934" y="111534"/>
                  </a:lnTo>
                  <a:lnTo>
                    <a:pt x="600876" y="146688"/>
                  </a:lnTo>
                  <a:lnTo>
                    <a:pt x="615275" y="184903"/>
                  </a:lnTo>
                  <a:lnTo>
                    <a:pt x="620268" y="225551"/>
                  </a:lnTo>
                  <a:lnTo>
                    <a:pt x="615275" y="266252"/>
                  </a:lnTo>
                  <a:lnTo>
                    <a:pt x="600876" y="304607"/>
                  </a:lnTo>
                  <a:lnTo>
                    <a:pt x="577934" y="339964"/>
                  </a:lnTo>
                  <a:lnTo>
                    <a:pt x="547316" y="371672"/>
                  </a:lnTo>
                  <a:lnTo>
                    <a:pt x="509887" y="399076"/>
                  </a:lnTo>
                  <a:lnTo>
                    <a:pt x="466513" y="421527"/>
                  </a:lnTo>
                  <a:lnTo>
                    <a:pt x="418058" y="438370"/>
                  </a:lnTo>
                  <a:lnTo>
                    <a:pt x="365389" y="448954"/>
                  </a:lnTo>
                  <a:lnTo>
                    <a:pt x="309372" y="452627"/>
                  </a:lnTo>
                  <a:lnTo>
                    <a:pt x="253807" y="448954"/>
                  </a:lnTo>
                  <a:lnTo>
                    <a:pt x="201492" y="438370"/>
                  </a:lnTo>
                  <a:lnTo>
                    <a:pt x="153303" y="421527"/>
                  </a:lnTo>
                  <a:lnTo>
                    <a:pt x="110118" y="399076"/>
                  </a:lnTo>
                  <a:lnTo>
                    <a:pt x="72817" y="371672"/>
                  </a:lnTo>
                  <a:lnTo>
                    <a:pt x="42276" y="339964"/>
                  </a:lnTo>
                  <a:lnTo>
                    <a:pt x="19375" y="304607"/>
                  </a:lnTo>
                  <a:lnTo>
                    <a:pt x="4990" y="266252"/>
                  </a:lnTo>
                  <a:lnTo>
                    <a:pt x="0" y="225551"/>
                  </a:lnTo>
                </a:path>
              </a:pathLst>
            </a:custGeom>
            <a:ln w="6095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1335038" y="7200400"/>
            <a:ext cx="32766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b="1" spc="-10" dirty="0">
                <a:solidFill>
                  <a:srgbClr val="FFFFFF"/>
                </a:solidFill>
                <a:latin typeface="Gadugi" panose="020B0502040204020203"/>
                <a:cs typeface="Gadugi" panose="020B0502040204020203"/>
              </a:rPr>
              <a:t>Object</a:t>
            </a:r>
            <a:endParaRPr sz="8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709927" y="6458724"/>
            <a:ext cx="4269105" cy="1637030"/>
          </a:xfrm>
          <a:custGeom>
            <a:avLst/>
            <a:gdLst/>
            <a:ahLst/>
            <a:cxnLst/>
            <a:rect l="l" t="t" r="r" b="b"/>
            <a:pathLst>
              <a:path w="4269105" h="1637029">
                <a:moveTo>
                  <a:pt x="739140" y="62471"/>
                </a:moveTo>
                <a:lnTo>
                  <a:pt x="697992" y="71615"/>
                </a:lnTo>
                <a:lnTo>
                  <a:pt x="706602" y="81851"/>
                </a:lnTo>
                <a:lnTo>
                  <a:pt x="0" y="655307"/>
                </a:lnTo>
                <a:lnTo>
                  <a:pt x="6096" y="662927"/>
                </a:lnTo>
                <a:lnTo>
                  <a:pt x="712889" y="89319"/>
                </a:lnTo>
                <a:lnTo>
                  <a:pt x="722376" y="100571"/>
                </a:lnTo>
                <a:lnTo>
                  <a:pt x="732434" y="77711"/>
                </a:lnTo>
                <a:lnTo>
                  <a:pt x="739140" y="62471"/>
                </a:lnTo>
                <a:close/>
              </a:path>
              <a:path w="4269105" h="1637029">
                <a:moveTo>
                  <a:pt x="1083551" y="1336548"/>
                </a:moveTo>
                <a:lnTo>
                  <a:pt x="1069835" y="1336548"/>
                </a:lnTo>
                <a:lnTo>
                  <a:pt x="1069835" y="1045464"/>
                </a:lnTo>
                <a:lnTo>
                  <a:pt x="1060691" y="1045464"/>
                </a:lnTo>
                <a:lnTo>
                  <a:pt x="1060691" y="1336548"/>
                </a:lnTo>
                <a:lnTo>
                  <a:pt x="1045451" y="1336548"/>
                </a:lnTo>
                <a:lnTo>
                  <a:pt x="1065263" y="1374648"/>
                </a:lnTo>
                <a:lnTo>
                  <a:pt x="1079893" y="1344168"/>
                </a:lnTo>
                <a:lnTo>
                  <a:pt x="1083551" y="1336548"/>
                </a:lnTo>
                <a:close/>
              </a:path>
              <a:path w="4269105" h="1637029">
                <a:moveTo>
                  <a:pt x="1455420" y="557784"/>
                </a:moveTo>
                <a:lnTo>
                  <a:pt x="1440180" y="557784"/>
                </a:lnTo>
                <a:lnTo>
                  <a:pt x="1440180" y="288036"/>
                </a:lnTo>
                <a:lnTo>
                  <a:pt x="1431036" y="288036"/>
                </a:lnTo>
                <a:lnTo>
                  <a:pt x="1431036" y="557784"/>
                </a:lnTo>
                <a:lnTo>
                  <a:pt x="1417320" y="557784"/>
                </a:lnTo>
                <a:lnTo>
                  <a:pt x="1435608" y="595884"/>
                </a:lnTo>
                <a:lnTo>
                  <a:pt x="1452245" y="563880"/>
                </a:lnTo>
                <a:lnTo>
                  <a:pt x="1455420" y="557784"/>
                </a:lnTo>
                <a:close/>
              </a:path>
              <a:path w="4269105" h="1637029">
                <a:moveTo>
                  <a:pt x="1714500" y="1083551"/>
                </a:moveTo>
                <a:lnTo>
                  <a:pt x="1711325" y="1077455"/>
                </a:lnTo>
                <a:lnTo>
                  <a:pt x="1694688" y="1045451"/>
                </a:lnTo>
                <a:lnTo>
                  <a:pt x="1676400" y="1083551"/>
                </a:lnTo>
                <a:lnTo>
                  <a:pt x="1690116" y="1083551"/>
                </a:lnTo>
                <a:lnTo>
                  <a:pt x="1690116" y="1380731"/>
                </a:lnTo>
                <a:lnTo>
                  <a:pt x="1699260" y="1380731"/>
                </a:lnTo>
                <a:lnTo>
                  <a:pt x="1699260" y="1083551"/>
                </a:lnTo>
                <a:lnTo>
                  <a:pt x="1714500" y="1083551"/>
                </a:lnTo>
                <a:close/>
              </a:path>
              <a:path w="4269105" h="1637029">
                <a:moveTo>
                  <a:pt x="2872740" y="818388"/>
                </a:moveTo>
                <a:lnTo>
                  <a:pt x="2863215" y="813816"/>
                </a:lnTo>
                <a:lnTo>
                  <a:pt x="2834640" y="800100"/>
                </a:lnTo>
                <a:lnTo>
                  <a:pt x="2834640" y="813816"/>
                </a:lnTo>
                <a:lnTo>
                  <a:pt x="2228088" y="813816"/>
                </a:lnTo>
                <a:lnTo>
                  <a:pt x="2228088" y="822960"/>
                </a:lnTo>
                <a:lnTo>
                  <a:pt x="2834640" y="822960"/>
                </a:lnTo>
                <a:lnTo>
                  <a:pt x="2834640" y="838200"/>
                </a:lnTo>
                <a:lnTo>
                  <a:pt x="2863939" y="822960"/>
                </a:lnTo>
                <a:lnTo>
                  <a:pt x="2872740" y="818388"/>
                </a:lnTo>
                <a:close/>
              </a:path>
              <a:path w="4269105" h="1637029">
                <a:moveTo>
                  <a:pt x="4178808" y="818388"/>
                </a:moveTo>
                <a:lnTo>
                  <a:pt x="4169283" y="813816"/>
                </a:lnTo>
                <a:lnTo>
                  <a:pt x="4140708" y="800100"/>
                </a:lnTo>
                <a:lnTo>
                  <a:pt x="4140708" y="813816"/>
                </a:lnTo>
                <a:lnTo>
                  <a:pt x="3752088" y="813816"/>
                </a:lnTo>
                <a:lnTo>
                  <a:pt x="3752088" y="822960"/>
                </a:lnTo>
                <a:lnTo>
                  <a:pt x="4140708" y="822960"/>
                </a:lnTo>
                <a:lnTo>
                  <a:pt x="4140708" y="838200"/>
                </a:lnTo>
                <a:lnTo>
                  <a:pt x="4170007" y="822960"/>
                </a:lnTo>
                <a:lnTo>
                  <a:pt x="4178808" y="818388"/>
                </a:lnTo>
                <a:close/>
              </a:path>
              <a:path w="4269105" h="1637029">
                <a:moveTo>
                  <a:pt x="4268724" y="978395"/>
                </a:moveTo>
                <a:lnTo>
                  <a:pt x="4227576" y="972299"/>
                </a:lnTo>
                <a:lnTo>
                  <a:pt x="4231729" y="986574"/>
                </a:lnTo>
                <a:lnTo>
                  <a:pt x="2225040" y="1627619"/>
                </a:lnTo>
                <a:lnTo>
                  <a:pt x="2228088" y="1636763"/>
                </a:lnTo>
                <a:lnTo>
                  <a:pt x="4234307" y="995387"/>
                </a:lnTo>
                <a:lnTo>
                  <a:pt x="4238244" y="1008875"/>
                </a:lnTo>
                <a:lnTo>
                  <a:pt x="4262628" y="984491"/>
                </a:lnTo>
                <a:lnTo>
                  <a:pt x="4268724" y="978395"/>
                </a:lnTo>
                <a:close/>
              </a:path>
              <a:path w="4269105" h="1637029">
                <a:moveTo>
                  <a:pt x="4268724" y="658368"/>
                </a:moveTo>
                <a:lnTo>
                  <a:pt x="4263910" y="653796"/>
                </a:lnTo>
                <a:lnTo>
                  <a:pt x="4238244" y="629412"/>
                </a:lnTo>
                <a:lnTo>
                  <a:pt x="4234142" y="642848"/>
                </a:lnTo>
                <a:lnTo>
                  <a:pt x="2228088" y="0"/>
                </a:lnTo>
                <a:lnTo>
                  <a:pt x="2225040" y="9144"/>
                </a:lnTo>
                <a:lnTo>
                  <a:pt x="4231475" y="651624"/>
                </a:lnTo>
                <a:lnTo>
                  <a:pt x="4227576" y="664464"/>
                </a:lnTo>
                <a:lnTo>
                  <a:pt x="4268724" y="6583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3212558" y="6752295"/>
            <a:ext cx="41338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Gadugi" panose="020B0502040204020203"/>
                <a:cs typeface="Gadugi" panose="020B0502040204020203"/>
              </a:rPr>
              <a:t>persist() merge()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465546" y="7491469"/>
            <a:ext cx="4133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Gadugi" panose="020B0502040204020203"/>
                <a:cs typeface="Gadugi" panose="020B0502040204020203"/>
              </a:rPr>
              <a:t>persist() merge()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302737" y="7541733"/>
            <a:ext cx="4222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Gadugi" panose="020B0502040204020203"/>
                <a:cs typeface="Gadugi" panose="020B0502040204020203"/>
              </a:rPr>
              <a:t>detach()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024872" y="7083041"/>
            <a:ext cx="4603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Gadugi" panose="020B0502040204020203"/>
                <a:cs typeface="Gadugi" panose="020B0502040204020203"/>
              </a:rPr>
              <a:t>remove()</a:t>
            </a:r>
            <a:endParaRPr sz="9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838200" y="5501639"/>
            <a:ext cx="6094730" cy="3427729"/>
            <a:chOff x="838200" y="5501639"/>
            <a:chExt cx="6094730" cy="3427729"/>
          </a:xfrm>
        </p:grpSpPr>
        <p:sp>
          <p:nvSpPr>
            <p:cNvPr id="67" name="object 67"/>
            <p:cNvSpPr/>
            <p:nvPr/>
          </p:nvSpPr>
          <p:spPr>
            <a:xfrm>
              <a:off x="1690116" y="6461772"/>
              <a:ext cx="3568065" cy="1522730"/>
            </a:xfrm>
            <a:custGeom>
              <a:avLst/>
              <a:gdLst/>
              <a:ahLst/>
              <a:cxnLst/>
              <a:rect l="l" t="t" r="r" b="b"/>
              <a:pathLst>
                <a:path w="3568065" h="1522729">
                  <a:moveTo>
                    <a:pt x="88392" y="534670"/>
                  </a:moveTo>
                  <a:lnTo>
                    <a:pt x="68961" y="511810"/>
                  </a:lnTo>
                  <a:lnTo>
                    <a:pt x="62484" y="504190"/>
                  </a:lnTo>
                  <a:lnTo>
                    <a:pt x="54483" y="496570"/>
                  </a:lnTo>
                  <a:lnTo>
                    <a:pt x="46482" y="492760"/>
                  </a:lnTo>
                  <a:lnTo>
                    <a:pt x="38481" y="492760"/>
                  </a:lnTo>
                  <a:lnTo>
                    <a:pt x="30480" y="497840"/>
                  </a:lnTo>
                  <a:lnTo>
                    <a:pt x="22860" y="504190"/>
                  </a:lnTo>
                  <a:lnTo>
                    <a:pt x="21323" y="511810"/>
                  </a:lnTo>
                  <a:lnTo>
                    <a:pt x="21323" y="520700"/>
                  </a:lnTo>
                  <a:lnTo>
                    <a:pt x="15227" y="513080"/>
                  </a:lnTo>
                  <a:lnTo>
                    <a:pt x="0" y="524510"/>
                  </a:lnTo>
                  <a:lnTo>
                    <a:pt x="41148" y="574040"/>
                  </a:lnTo>
                  <a:lnTo>
                    <a:pt x="56388" y="560070"/>
                  </a:lnTo>
                  <a:lnTo>
                    <a:pt x="33528" y="533400"/>
                  </a:lnTo>
                  <a:lnTo>
                    <a:pt x="30480" y="529590"/>
                  </a:lnTo>
                  <a:lnTo>
                    <a:pt x="28956" y="527050"/>
                  </a:lnTo>
                  <a:lnTo>
                    <a:pt x="28956" y="520700"/>
                  </a:lnTo>
                  <a:lnTo>
                    <a:pt x="30480" y="516890"/>
                  </a:lnTo>
                  <a:lnTo>
                    <a:pt x="33528" y="514350"/>
                  </a:lnTo>
                  <a:lnTo>
                    <a:pt x="38100" y="511810"/>
                  </a:lnTo>
                  <a:lnTo>
                    <a:pt x="44196" y="511810"/>
                  </a:lnTo>
                  <a:lnTo>
                    <a:pt x="50292" y="519430"/>
                  </a:lnTo>
                  <a:lnTo>
                    <a:pt x="73152" y="546100"/>
                  </a:lnTo>
                  <a:lnTo>
                    <a:pt x="88392" y="534670"/>
                  </a:lnTo>
                  <a:close/>
                </a:path>
                <a:path w="3568065" h="1522729">
                  <a:moveTo>
                    <a:pt x="137160" y="488950"/>
                  </a:moveTo>
                  <a:lnTo>
                    <a:pt x="128016" y="477520"/>
                  </a:lnTo>
                  <a:lnTo>
                    <a:pt x="124968" y="483870"/>
                  </a:lnTo>
                  <a:lnTo>
                    <a:pt x="121920" y="488950"/>
                  </a:lnTo>
                  <a:lnTo>
                    <a:pt x="117348" y="492760"/>
                  </a:lnTo>
                  <a:lnTo>
                    <a:pt x="110769" y="497840"/>
                  </a:lnTo>
                  <a:lnTo>
                    <a:pt x="104775" y="499110"/>
                  </a:lnTo>
                  <a:lnTo>
                    <a:pt x="99339" y="497840"/>
                  </a:lnTo>
                  <a:lnTo>
                    <a:pt x="94488" y="495300"/>
                  </a:lnTo>
                  <a:lnTo>
                    <a:pt x="106121" y="485140"/>
                  </a:lnTo>
                  <a:lnTo>
                    <a:pt x="126492" y="467360"/>
                  </a:lnTo>
                  <a:lnTo>
                    <a:pt x="121615" y="462280"/>
                  </a:lnTo>
                  <a:lnTo>
                    <a:pt x="120396" y="461010"/>
                  </a:lnTo>
                  <a:lnTo>
                    <a:pt x="114300" y="453390"/>
                  </a:lnTo>
                  <a:lnTo>
                    <a:pt x="108204" y="450850"/>
                  </a:lnTo>
                  <a:lnTo>
                    <a:pt x="105156" y="450088"/>
                  </a:lnTo>
                  <a:lnTo>
                    <a:pt x="105156" y="469900"/>
                  </a:lnTo>
                  <a:lnTo>
                    <a:pt x="86868" y="485140"/>
                  </a:lnTo>
                  <a:lnTo>
                    <a:pt x="83820" y="482600"/>
                  </a:lnTo>
                  <a:lnTo>
                    <a:pt x="83820" y="471170"/>
                  </a:lnTo>
                  <a:lnTo>
                    <a:pt x="85331" y="468630"/>
                  </a:lnTo>
                  <a:lnTo>
                    <a:pt x="92964" y="462280"/>
                  </a:lnTo>
                  <a:lnTo>
                    <a:pt x="99060" y="462280"/>
                  </a:lnTo>
                  <a:lnTo>
                    <a:pt x="105156" y="469900"/>
                  </a:lnTo>
                  <a:lnTo>
                    <a:pt x="105156" y="450088"/>
                  </a:lnTo>
                  <a:lnTo>
                    <a:pt x="92964" y="447040"/>
                  </a:lnTo>
                  <a:lnTo>
                    <a:pt x="85331" y="450850"/>
                  </a:lnTo>
                  <a:lnTo>
                    <a:pt x="79248" y="457200"/>
                  </a:lnTo>
                  <a:lnTo>
                    <a:pt x="71628" y="462280"/>
                  </a:lnTo>
                  <a:lnTo>
                    <a:pt x="68580" y="469900"/>
                  </a:lnTo>
                  <a:lnTo>
                    <a:pt x="67056" y="477520"/>
                  </a:lnTo>
                  <a:lnTo>
                    <a:pt x="67627" y="485140"/>
                  </a:lnTo>
                  <a:lnTo>
                    <a:pt x="92697" y="514350"/>
                  </a:lnTo>
                  <a:lnTo>
                    <a:pt x="99060" y="515620"/>
                  </a:lnTo>
                  <a:lnTo>
                    <a:pt x="106680" y="515620"/>
                  </a:lnTo>
                  <a:lnTo>
                    <a:pt x="114300" y="513080"/>
                  </a:lnTo>
                  <a:lnTo>
                    <a:pt x="129527" y="500380"/>
                  </a:lnTo>
                  <a:lnTo>
                    <a:pt x="130683" y="499110"/>
                  </a:lnTo>
                  <a:lnTo>
                    <a:pt x="134112" y="495300"/>
                  </a:lnTo>
                  <a:lnTo>
                    <a:pt x="137160" y="488950"/>
                  </a:lnTo>
                  <a:close/>
                </a:path>
                <a:path w="3568065" h="1522729">
                  <a:moveTo>
                    <a:pt x="207264" y="431800"/>
                  </a:moveTo>
                  <a:lnTo>
                    <a:pt x="205600" y="427990"/>
                  </a:lnTo>
                  <a:lnTo>
                    <a:pt x="181356" y="372110"/>
                  </a:lnTo>
                  <a:lnTo>
                    <a:pt x="167627" y="383540"/>
                  </a:lnTo>
                  <a:lnTo>
                    <a:pt x="187452" y="420370"/>
                  </a:lnTo>
                  <a:lnTo>
                    <a:pt x="188976" y="422910"/>
                  </a:lnTo>
                  <a:lnTo>
                    <a:pt x="190500" y="424180"/>
                  </a:lnTo>
                  <a:lnTo>
                    <a:pt x="190500" y="427990"/>
                  </a:lnTo>
                  <a:lnTo>
                    <a:pt x="188976" y="424180"/>
                  </a:lnTo>
                  <a:lnTo>
                    <a:pt x="185928" y="422910"/>
                  </a:lnTo>
                  <a:lnTo>
                    <a:pt x="185928" y="421640"/>
                  </a:lnTo>
                  <a:lnTo>
                    <a:pt x="182232" y="419100"/>
                  </a:lnTo>
                  <a:lnTo>
                    <a:pt x="150876" y="397510"/>
                  </a:lnTo>
                  <a:lnTo>
                    <a:pt x="137160" y="408940"/>
                  </a:lnTo>
                  <a:lnTo>
                    <a:pt x="155448" y="447040"/>
                  </a:lnTo>
                  <a:lnTo>
                    <a:pt x="156972" y="448310"/>
                  </a:lnTo>
                  <a:lnTo>
                    <a:pt x="156972" y="451688"/>
                  </a:lnTo>
                  <a:lnTo>
                    <a:pt x="153924" y="448310"/>
                  </a:lnTo>
                  <a:lnTo>
                    <a:pt x="120396" y="422910"/>
                  </a:lnTo>
                  <a:lnTo>
                    <a:pt x="105156" y="436880"/>
                  </a:lnTo>
                  <a:lnTo>
                    <a:pt x="160020" y="473710"/>
                  </a:lnTo>
                  <a:lnTo>
                    <a:pt x="175260" y="459740"/>
                  </a:lnTo>
                  <a:lnTo>
                    <a:pt x="172262" y="453390"/>
                  </a:lnTo>
                  <a:lnTo>
                    <a:pt x="160020" y="427418"/>
                  </a:lnTo>
                  <a:lnTo>
                    <a:pt x="160020" y="453390"/>
                  </a:lnTo>
                  <a:lnTo>
                    <a:pt x="158496" y="453390"/>
                  </a:lnTo>
                  <a:lnTo>
                    <a:pt x="157581" y="452374"/>
                  </a:lnTo>
                  <a:lnTo>
                    <a:pt x="160020" y="453390"/>
                  </a:lnTo>
                  <a:lnTo>
                    <a:pt x="160020" y="427418"/>
                  </a:lnTo>
                  <a:lnTo>
                    <a:pt x="158496" y="424180"/>
                  </a:lnTo>
                  <a:lnTo>
                    <a:pt x="158496" y="422910"/>
                  </a:lnTo>
                  <a:lnTo>
                    <a:pt x="156972" y="420370"/>
                  </a:lnTo>
                  <a:lnTo>
                    <a:pt x="158496" y="421640"/>
                  </a:lnTo>
                  <a:lnTo>
                    <a:pt x="161531" y="422910"/>
                  </a:lnTo>
                  <a:lnTo>
                    <a:pt x="192024" y="445770"/>
                  </a:lnTo>
                  <a:lnTo>
                    <a:pt x="207264" y="431800"/>
                  </a:lnTo>
                  <a:close/>
                </a:path>
                <a:path w="3568065" h="1522729">
                  <a:moveTo>
                    <a:pt x="304800" y="349250"/>
                  </a:moveTo>
                  <a:lnTo>
                    <a:pt x="265176" y="340360"/>
                  </a:lnTo>
                  <a:lnTo>
                    <a:pt x="265074" y="339090"/>
                  </a:lnTo>
                  <a:lnTo>
                    <a:pt x="264972" y="337820"/>
                  </a:lnTo>
                  <a:lnTo>
                    <a:pt x="264871" y="336550"/>
                  </a:lnTo>
                  <a:lnTo>
                    <a:pt x="262128" y="302260"/>
                  </a:lnTo>
                  <a:lnTo>
                    <a:pt x="245364" y="317500"/>
                  </a:lnTo>
                  <a:lnTo>
                    <a:pt x="249923" y="353060"/>
                  </a:lnTo>
                  <a:lnTo>
                    <a:pt x="210312" y="307340"/>
                  </a:lnTo>
                  <a:lnTo>
                    <a:pt x="196596" y="318770"/>
                  </a:lnTo>
                  <a:lnTo>
                    <a:pt x="256032" y="391160"/>
                  </a:lnTo>
                  <a:lnTo>
                    <a:pt x="271272" y="378460"/>
                  </a:lnTo>
                  <a:lnTo>
                    <a:pt x="251460" y="354330"/>
                  </a:lnTo>
                  <a:lnTo>
                    <a:pt x="286512" y="364490"/>
                  </a:lnTo>
                  <a:lnTo>
                    <a:pt x="298704" y="354330"/>
                  </a:lnTo>
                  <a:lnTo>
                    <a:pt x="300228" y="353060"/>
                  </a:lnTo>
                  <a:lnTo>
                    <a:pt x="304800" y="349250"/>
                  </a:lnTo>
                  <a:close/>
                </a:path>
                <a:path w="3568065" h="1522729">
                  <a:moveTo>
                    <a:pt x="345948" y="311150"/>
                  </a:moveTo>
                  <a:lnTo>
                    <a:pt x="336804" y="299720"/>
                  </a:lnTo>
                  <a:lnTo>
                    <a:pt x="335280" y="306070"/>
                  </a:lnTo>
                  <a:lnTo>
                    <a:pt x="326123" y="316230"/>
                  </a:lnTo>
                  <a:lnTo>
                    <a:pt x="319773" y="320040"/>
                  </a:lnTo>
                  <a:lnTo>
                    <a:pt x="314134" y="321310"/>
                  </a:lnTo>
                  <a:lnTo>
                    <a:pt x="308775" y="320040"/>
                  </a:lnTo>
                  <a:lnTo>
                    <a:pt x="303276" y="316230"/>
                  </a:lnTo>
                  <a:lnTo>
                    <a:pt x="314477" y="307340"/>
                  </a:lnTo>
                  <a:lnTo>
                    <a:pt x="335280" y="290830"/>
                  </a:lnTo>
                  <a:lnTo>
                    <a:pt x="329184" y="284480"/>
                  </a:lnTo>
                  <a:lnTo>
                    <a:pt x="323088" y="276860"/>
                  </a:lnTo>
                  <a:lnTo>
                    <a:pt x="316992" y="271780"/>
                  </a:lnTo>
                  <a:lnTo>
                    <a:pt x="313944" y="271780"/>
                  </a:lnTo>
                  <a:lnTo>
                    <a:pt x="313944" y="292100"/>
                  </a:lnTo>
                  <a:lnTo>
                    <a:pt x="295656" y="307340"/>
                  </a:lnTo>
                  <a:lnTo>
                    <a:pt x="292608" y="300990"/>
                  </a:lnTo>
                  <a:lnTo>
                    <a:pt x="292608" y="293370"/>
                  </a:lnTo>
                  <a:lnTo>
                    <a:pt x="301752" y="284480"/>
                  </a:lnTo>
                  <a:lnTo>
                    <a:pt x="307848" y="285750"/>
                  </a:lnTo>
                  <a:lnTo>
                    <a:pt x="313944" y="292100"/>
                  </a:lnTo>
                  <a:lnTo>
                    <a:pt x="313944" y="271780"/>
                  </a:lnTo>
                  <a:lnTo>
                    <a:pt x="309372" y="271780"/>
                  </a:lnTo>
                  <a:lnTo>
                    <a:pt x="301752" y="270510"/>
                  </a:lnTo>
                  <a:lnTo>
                    <a:pt x="295656" y="273050"/>
                  </a:lnTo>
                  <a:lnTo>
                    <a:pt x="281927" y="284480"/>
                  </a:lnTo>
                  <a:lnTo>
                    <a:pt x="277368" y="292100"/>
                  </a:lnTo>
                  <a:lnTo>
                    <a:pt x="277304" y="302260"/>
                  </a:lnTo>
                  <a:lnTo>
                    <a:pt x="277190" y="304800"/>
                  </a:lnTo>
                  <a:lnTo>
                    <a:pt x="277075" y="307340"/>
                  </a:lnTo>
                  <a:lnTo>
                    <a:pt x="278511" y="313690"/>
                  </a:lnTo>
                  <a:lnTo>
                    <a:pt x="281647" y="320040"/>
                  </a:lnTo>
                  <a:lnTo>
                    <a:pt x="286512" y="325120"/>
                  </a:lnTo>
                  <a:lnTo>
                    <a:pt x="292608" y="332740"/>
                  </a:lnTo>
                  <a:lnTo>
                    <a:pt x="300228" y="337820"/>
                  </a:lnTo>
                  <a:lnTo>
                    <a:pt x="307848" y="337820"/>
                  </a:lnTo>
                  <a:lnTo>
                    <a:pt x="315468" y="339090"/>
                  </a:lnTo>
                  <a:lnTo>
                    <a:pt x="323088" y="336550"/>
                  </a:lnTo>
                  <a:lnTo>
                    <a:pt x="338328" y="323850"/>
                  </a:lnTo>
                  <a:lnTo>
                    <a:pt x="340156" y="321310"/>
                  </a:lnTo>
                  <a:lnTo>
                    <a:pt x="342900" y="317500"/>
                  </a:lnTo>
                  <a:lnTo>
                    <a:pt x="345948" y="311150"/>
                  </a:lnTo>
                  <a:close/>
                </a:path>
                <a:path w="3568065" h="1522729">
                  <a:moveTo>
                    <a:pt x="393573" y="306070"/>
                  </a:moveTo>
                  <a:lnTo>
                    <a:pt x="393458" y="302260"/>
                  </a:lnTo>
                  <a:lnTo>
                    <a:pt x="393382" y="299720"/>
                  </a:lnTo>
                  <a:lnTo>
                    <a:pt x="393280" y="295910"/>
                  </a:lnTo>
                  <a:lnTo>
                    <a:pt x="390144" y="284480"/>
                  </a:lnTo>
                  <a:lnTo>
                    <a:pt x="385622" y="271780"/>
                  </a:lnTo>
                  <a:lnTo>
                    <a:pt x="365760" y="215900"/>
                  </a:lnTo>
                  <a:lnTo>
                    <a:pt x="352044" y="228600"/>
                  </a:lnTo>
                  <a:lnTo>
                    <a:pt x="367284" y="264160"/>
                  </a:lnTo>
                  <a:lnTo>
                    <a:pt x="370332" y="270510"/>
                  </a:lnTo>
                  <a:lnTo>
                    <a:pt x="370332" y="271780"/>
                  </a:lnTo>
                  <a:lnTo>
                    <a:pt x="368808" y="270510"/>
                  </a:lnTo>
                  <a:lnTo>
                    <a:pt x="365760" y="269240"/>
                  </a:lnTo>
                  <a:lnTo>
                    <a:pt x="364223" y="267970"/>
                  </a:lnTo>
                  <a:lnTo>
                    <a:pt x="330708" y="246380"/>
                  </a:lnTo>
                  <a:lnTo>
                    <a:pt x="313944" y="260350"/>
                  </a:lnTo>
                  <a:lnTo>
                    <a:pt x="373380" y="290830"/>
                  </a:lnTo>
                  <a:lnTo>
                    <a:pt x="377952" y="304800"/>
                  </a:lnTo>
                  <a:lnTo>
                    <a:pt x="376428" y="308610"/>
                  </a:lnTo>
                  <a:lnTo>
                    <a:pt x="368808" y="314960"/>
                  </a:lnTo>
                  <a:lnTo>
                    <a:pt x="365760" y="314960"/>
                  </a:lnTo>
                  <a:lnTo>
                    <a:pt x="374904" y="326390"/>
                  </a:lnTo>
                  <a:lnTo>
                    <a:pt x="381000" y="323850"/>
                  </a:lnTo>
                  <a:lnTo>
                    <a:pt x="385572" y="321310"/>
                  </a:lnTo>
                  <a:lnTo>
                    <a:pt x="390994" y="313690"/>
                  </a:lnTo>
                  <a:lnTo>
                    <a:pt x="393573" y="306070"/>
                  </a:lnTo>
                  <a:close/>
                </a:path>
                <a:path w="3568065" h="1522729">
                  <a:moveTo>
                    <a:pt x="469392" y="210820"/>
                  </a:moveTo>
                  <a:lnTo>
                    <a:pt x="466534" y="204470"/>
                  </a:lnTo>
                  <a:lnTo>
                    <a:pt x="441960" y="149860"/>
                  </a:lnTo>
                  <a:lnTo>
                    <a:pt x="428244" y="162560"/>
                  </a:lnTo>
                  <a:lnTo>
                    <a:pt x="449580" y="199390"/>
                  </a:lnTo>
                  <a:lnTo>
                    <a:pt x="449580" y="200660"/>
                  </a:lnTo>
                  <a:lnTo>
                    <a:pt x="451104" y="203200"/>
                  </a:lnTo>
                  <a:lnTo>
                    <a:pt x="448056" y="200660"/>
                  </a:lnTo>
                  <a:lnTo>
                    <a:pt x="446532" y="200660"/>
                  </a:lnTo>
                  <a:lnTo>
                    <a:pt x="440143" y="195580"/>
                  </a:lnTo>
                  <a:lnTo>
                    <a:pt x="413004" y="173990"/>
                  </a:lnTo>
                  <a:lnTo>
                    <a:pt x="399288" y="186690"/>
                  </a:lnTo>
                  <a:lnTo>
                    <a:pt x="417576" y="224790"/>
                  </a:lnTo>
                  <a:lnTo>
                    <a:pt x="417576" y="228600"/>
                  </a:lnTo>
                  <a:lnTo>
                    <a:pt x="416052" y="228600"/>
                  </a:lnTo>
                  <a:lnTo>
                    <a:pt x="382524" y="201930"/>
                  </a:lnTo>
                  <a:lnTo>
                    <a:pt x="367284" y="214630"/>
                  </a:lnTo>
                  <a:lnTo>
                    <a:pt x="422148" y="250190"/>
                  </a:lnTo>
                  <a:lnTo>
                    <a:pt x="437388" y="238760"/>
                  </a:lnTo>
                  <a:lnTo>
                    <a:pt x="434390" y="232410"/>
                  </a:lnTo>
                  <a:lnTo>
                    <a:pt x="420624" y="203200"/>
                  </a:lnTo>
                  <a:lnTo>
                    <a:pt x="419100" y="200660"/>
                  </a:lnTo>
                  <a:lnTo>
                    <a:pt x="417576" y="199390"/>
                  </a:lnTo>
                  <a:lnTo>
                    <a:pt x="416052" y="195580"/>
                  </a:lnTo>
                  <a:lnTo>
                    <a:pt x="419100" y="196850"/>
                  </a:lnTo>
                  <a:lnTo>
                    <a:pt x="420624" y="200660"/>
                  </a:lnTo>
                  <a:lnTo>
                    <a:pt x="422148" y="201930"/>
                  </a:lnTo>
                  <a:lnTo>
                    <a:pt x="454152" y="223520"/>
                  </a:lnTo>
                  <a:lnTo>
                    <a:pt x="469392" y="210820"/>
                  </a:lnTo>
                  <a:close/>
                </a:path>
                <a:path w="3568065" h="1522729">
                  <a:moveTo>
                    <a:pt x="527583" y="144780"/>
                  </a:moveTo>
                  <a:lnTo>
                    <a:pt x="509968" y="117411"/>
                  </a:lnTo>
                  <a:lnTo>
                    <a:pt x="509968" y="152400"/>
                  </a:lnTo>
                  <a:lnTo>
                    <a:pt x="508698" y="157480"/>
                  </a:lnTo>
                  <a:lnTo>
                    <a:pt x="504444" y="162560"/>
                  </a:lnTo>
                  <a:lnTo>
                    <a:pt x="498729" y="165100"/>
                  </a:lnTo>
                  <a:lnTo>
                    <a:pt x="493014" y="166370"/>
                  </a:lnTo>
                  <a:lnTo>
                    <a:pt x="487299" y="163830"/>
                  </a:lnTo>
                  <a:lnTo>
                    <a:pt x="481584" y="157480"/>
                  </a:lnTo>
                  <a:lnTo>
                    <a:pt x="475488" y="149860"/>
                  </a:lnTo>
                  <a:lnTo>
                    <a:pt x="475488" y="140970"/>
                  </a:lnTo>
                  <a:lnTo>
                    <a:pt x="477012" y="138430"/>
                  </a:lnTo>
                  <a:lnTo>
                    <a:pt x="481584" y="134620"/>
                  </a:lnTo>
                  <a:lnTo>
                    <a:pt x="486410" y="132080"/>
                  </a:lnTo>
                  <a:lnTo>
                    <a:pt x="491680" y="132080"/>
                  </a:lnTo>
                  <a:lnTo>
                    <a:pt x="497217" y="134620"/>
                  </a:lnTo>
                  <a:lnTo>
                    <a:pt x="502920" y="139700"/>
                  </a:lnTo>
                  <a:lnTo>
                    <a:pt x="508076" y="146050"/>
                  </a:lnTo>
                  <a:lnTo>
                    <a:pt x="509968" y="152400"/>
                  </a:lnTo>
                  <a:lnTo>
                    <a:pt x="509968" y="117411"/>
                  </a:lnTo>
                  <a:lnTo>
                    <a:pt x="504444" y="115570"/>
                  </a:lnTo>
                  <a:lnTo>
                    <a:pt x="496824" y="114300"/>
                  </a:lnTo>
                  <a:lnTo>
                    <a:pt x="490220" y="114300"/>
                  </a:lnTo>
                  <a:lnTo>
                    <a:pt x="459574" y="140970"/>
                  </a:lnTo>
                  <a:lnTo>
                    <a:pt x="458597" y="149860"/>
                  </a:lnTo>
                  <a:lnTo>
                    <a:pt x="458470" y="152400"/>
                  </a:lnTo>
                  <a:lnTo>
                    <a:pt x="483489" y="182880"/>
                  </a:lnTo>
                  <a:lnTo>
                    <a:pt x="489204" y="184150"/>
                  </a:lnTo>
                  <a:lnTo>
                    <a:pt x="495795" y="182880"/>
                  </a:lnTo>
                  <a:lnTo>
                    <a:pt x="501967" y="181610"/>
                  </a:lnTo>
                  <a:lnTo>
                    <a:pt x="507847" y="179070"/>
                  </a:lnTo>
                  <a:lnTo>
                    <a:pt x="513588" y="173990"/>
                  </a:lnTo>
                  <a:lnTo>
                    <a:pt x="519582" y="168910"/>
                  </a:lnTo>
                  <a:lnTo>
                    <a:pt x="521296" y="166370"/>
                  </a:lnTo>
                  <a:lnTo>
                    <a:pt x="523875" y="162560"/>
                  </a:lnTo>
                  <a:lnTo>
                    <a:pt x="526440" y="157480"/>
                  </a:lnTo>
                  <a:lnTo>
                    <a:pt x="527304" y="152400"/>
                  </a:lnTo>
                  <a:lnTo>
                    <a:pt x="527392" y="149860"/>
                  </a:lnTo>
                  <a:lnTo>
                    <a:pt x="527494" y="147320"/>
                  </a:lnTo>
                  <a:lnTo>
                    <a:pt x="527583" y="144780"/>
                  </a:lnTo>
                  <a:close/>
                </a:path>
                <a:path w="3568065" h="1522729">
                  <a:moveTo>
                    <a:pt x="563880" y="130810"/>
                  </a:moveTo>
                  <a:lnTo>
                    <a:pt x="544068" y="107950"/>
                  </a:lnTo>
                  <a:lnTo>
                    <a:pt x="541020" y="102870"/>
                  </a:lnTo>
                  <a:lnTo>
                    <a:pt x="539496" y="97790"/>
                  </a:lnTo>
                  <a:lnTo>
                    <a:pt x="539496" y="90170"/>
                  </a:lnTo>
                  <a:lnTo>
                    <a:pt x="541020" y="87630"/>
                  </a:lnTo>
                  <a:lnTo>
                    <a:pt x="545592" y="82550"/>
                  </a:lnTo>
                  <a:lnTo>
                    <a:pt x="548640" y="81280"/>
                  </a:lnTo>
                  <a:lnTo>
                    <a:pt x="551688" y="81280"/>
                  </a:lnTo>
                  <a:lnTo>
                    <a:pt x="539496" y="67310"/>
                  </a:lnTo>
                  <a:lnTo>
                    <a:pt x="536448" y="67310"/>
                  </a:lnTo>
                  <a:lnTo>
                    <a:pt x="528828" y="76200"/>
                  </a:lnTo>
                  <a:lnTo>
                    <a:pt x="527304" y="81280"/>
                  </a:lnTo>
                  <a:lnTo>
                    <a:pt x="530352" y="90170"/>
                  </a:lnTo>
                  <a:lnTo>
                    <a:pt x="522732" y="81280"/>
                  </a:lnTo>
                  <a:lnTo>
                    <a:pt x="509016" y="93980"/>
                  </a:lnTo>
                  <a:lnTo>
                    <a:pt x="548640" y="142240"/>
                  </a:lnTo>
                  <a:lnTo>
                    <a:pt x="563880" y="130810"/>
                  </a:lnTo>
                  <a:close/>
                </a:path>
                <a:path w="3568065" h="1522729">
                  <a:moveTo>
                    <a:pt x="635508" y="69850"/>
                  </a:moveTo>
                  <a:lnTo>
                    <a:pt x="617766" y="49530"/>
                  </a:lnTo>
                  <a:lnTo>
                    <a:pt x="610006" y="40640"/>
                  </a:lnTo>
                  <a:lnTo>
                    <a:pt x="606552" y="36690"/>
                  </a:lnTo>
                  <a:lnTo>
                    <a:pt x="606552" y="76200"/>
                  </a:lnTo>
                  <a:lnTo>
                    <a:pt x="605028" y="78740"/>
                  </a:lnTo>
                  <a:lnTo>
                    <a:pt x="601980" y="80010"/>
                  </a:lnTo>
                  <a:lnTo>
                    <a:pt x="598932" y="82550"/>
                  </a:lnTo>
                  <a:lnTo>
                    <a:pt x="594360" y="85090"/>
                  </a:lnTo>
                  <a:lnTo>
                    <a:pt x="591312" y="82550"/>
                  </a:lnTo>
                  <a:lnTo>
                    <a:pt x="586740" y="82550"/>
                  </a:lnTo>
                  <a:lnTo>
                    <a:pt x="583692" y="80010"/>
                  </a:lnTo>
                  <a:lnTo>
                    <a:pt x="580644" y="76200"/>
                  </a:lnTo>
                  <a:lnTo>
                    <a:pt x="576072" y="71120"/>
                  </a:lnTo>
                  <a:lnTo>
                    <a:pt x="573024" y="63500"/>
                  </a:lnTo>
                  <a:lnTo>
                    <a:pt x="573024" y="58420"/>
                  </a:lnTo>
                  <a:lnTo>
                    <a:pt x="574548" y="55880"/>
                  </a:lnTo>
                  <a:lnTo>
                    <a:pt x="580644" y="49530"/>
                  </a:lnTo>
                  <a:lnTo>
                    <a:pt x="591312" y="49530"/>
                  </a:lnTo>
                  <a:lnTo>
                    <a:pt x="600456" y="58420"/>
                  </a:lnTo>
                  <a:lnTo>
                    <a:pt x="605028" y="66040"/>
                  </a:lnTo>
                  <a:lnTo>
                    <a:pt x="605028" y="71120"/>
                  </a:lnTo>
                  <a:lnTo>
                    <a:pt x="606552" y="76200"/>
                  </a:lnTo>
                  <a:lnTo>
                    <a:pt x="606552" y="36690"/>
                  </a:lnTo>
                  <a:lnTo>
                    <a:pt x="574548" y="0"/>
                  </a:lnTo>
                  <a:lnTo>
                    <a:pt x="559308" y="11430"/>
                  </a:lnTo>
                  <a:lnTo>
                    <a:pt x="583692" y="40640"/>
                  </a:lnTo>
                  <a:lnTo>
                    <a:pt x="577596" y="38100"/>
                  </a:lnTo>
                  <a:lnTo>
                    <a:pt x="571500" y="39370"/>
                  </a:lnTo>
                  <a:lnTo>
                    <a:pt x="565404" y="44450"/>
                  </a:lnTo>
                  <a:lnTo>
                    <a:pt x="557784" y="49530"/>
                  </a:lnTo>
                  <a:lnTo>
                    <a:pt x="554736" y="57150"/>
                  </a:lnTo>
                  <a:lnTo>
                    <a:pt x="554850" y="66040"/>
                  </a:lnTo>
                  <a:lnTo>
                    <a:pt x="554964" y="67310"/>
                  </a:lnTo>
                  <a:lnTo>
                    <a:pt x="555320" y="71120"/>
                  </a:lnTo>
                  <a:lnTo>
                    <a:pt x="557212" y="77470"/>
                  </a:lnTo>
                  <a:lnTo>
                    <a:pt x="560514" y="83820"/>
                  </a:lnTo>
                  <a:lnTo>
                    <a:pt x="565404" y="88900"/>
                  </a:lnTo>
                  <a:lnTo>
                    <a:pt x="571500" y="96520"/>
                  </a:lnTo>
                  <a:lnTo>
                    <a:pt x="579120" y="101600"/>
                  </a:lnTo>
                  <a:lnTo>
                    <a:pt x="585216" y="102870"/>
                  </a:lnTo>
                  <a:lnTo>
                    <a:pt x="592836" y="102870"/>
                  </a:lnTo>
                  <a:lnTo>
                    <a:pt x="600456" y="101600"/>
                  </a:lnTo>
                  <a:lnTo>
                    <a:pt x="606552" y="96520"/>
                  </a:lnTo>
                  <a:lnTo>
                    <a:pt x="612648" y="90170"/>
                  </a:lnTo>
                  <a:lnTo>
                    <a:pt x="615696" y="85090"/>
                  </a:lnTo>
                  <a:lnTo>
                    <a:pt x="614172" y="76200"/>
                  </a:lnTo>
                  <a:lnTo>
                    <a:pt x="620268" y="82550"/>
                  </a:lnTo>
                  <a:lnTo>
                    <a:pt x="627888" y="76200"/>
                  </a:lnTo>
                  <a:lnTo>
                    <a:pt x="635508" y="69850"/>
                  </a:lnTo>
                  <a:close/>
                </a:path>
                <a:path w="3568065" h="1522729">
                  <a:moveTo>
                    <a:pt x="3075432" y="138684"/>
                  </a:moveTo>
                  <a:lnTo>
                    <a:pt x="3057144" y="132588"/>
                  </a:lnTo>
                  <a:lnTo>
                    <a:pt x="3054096" y="140208"/>
                  </a:lnTo>
                  <a:lnTo>
                    <a:pt x="3052572" y="134112"/>
                  </a:lnTo>
                  <a:lnTo>
                    <a:pt x="3049524" y="131064"/>
                  </a:lnTo>
                  <a:lnTo>
                    <a:pt x="3049524" y="152400"/>
                  </a:lnTo>
                  <a:lnTo>
                    <a:pt x="3049524" y="155435"/>
                  </a:lnTo>
                  <a:lnTo>
                    <a:pt x="3044952" y="169151"/>
                  </a:lnTo>
                  <a:lnTo>
                    <a:pt x="3041904" y="173736"/>
                  </a:lnTo>
                  <a:lnTo>
                    <a:pt x="3032760" y="178308"/>
                  </a:lnTo>
                  <a:lnTo>
                    <a:pt x="3028175" y="176784"/>
                  </a:lnTo>
                  <a:lnTo>
                    <a:pt x="3025140" y="175260"/>
                  </a:lnTo>
                  <a:lnTo>
                    <a:pt x="3022092" y="172212"/>
                  </a:lnTo>
                  <a:lnTo>
                    <a:pt x="3019044" y="166116"/>
                  </a:lnTo>
                  <a:lnTo>
                    <a:pt x="3019044" y="161544"/>
                  </a:lnTo>
                  <a:lnTo>
                    <a:pt x="3020568" y="156972"/>
                  </a:lnTo>
                  <a:lnTo>
                    <a:pt x="3023616" y="150876"/>
                  </a:lnTo>
                  <a:lnTo>
                    <a:pt x="3025140" y="146304"/>
                  </a:lnTo>
                  <a:lnTo>
                    <a:pt x="3029712" y="143256"/>
                  </a:lnTo>
                  <a:lnTo>
                    <a:pt x="3035808" y="140208"/>
                  </a:lnTo>
                  <a:lnTo>
                    <a:pt x="3040380" y="141732"/>
                  </a:lnTo>
                  <a:lnTo>
                    <a:pt x="3043428" y="143256"/>
                  </a:lnTo>
                  <a:lnTo>
                    <a:pt x="3046476" y="146304"/>
                  </a:lnTo>
                  <a:lnTo>
                    <a:pt x="3049524" y="152400"/>
                  </a:lnTo>
                  <a:lnTo>
                    <a:pt x="3049524" y="131064"/>
                  </a:lnTo>
                  <a:lnTo>
                    <a:pt x="3048000" y="129540"/>
                  </a:lnTo>
                  <a:lnTo>
                    <a:pt x="3032760" y="123444"/>
                  </a:lnTo>
                  <a:lnTo>
                    <a:pt x="3025140" y="124968"/>
                  </a:lnTo>
                  <a:lnTo>
                    <a:pt x="2999232" y="160020"/>
                  </a:lnTo>
                  <a:lnTo>
                    <a:pt x="2999232" y="167640"/>
                  </a:lnTo>
                  <a:lnTo>
                    <a:pt x="3002280" y="175260"/>
                  </a:lnTo>
                  <a:lnTo>
                    <a:pt x="3005328" y="181356"/>
                  </a:lnTo>
                  <a:lnTo>
                    <a:pt x="3009900" y="185928"/>
                  </a:lnTo>
                  <a:lnTo>
                    <a:pt x="3025140" y="192024"/>
                  </a:lnTo>
                  <a:lnTo>
                    <a:pt x="3032760" y="190500"/>
                  </a:lnTo>
                  <a:lnTo>
                    <a:pt x="3038856" y="184404"/>
                  </a:lnTo>
                  <a:lnTo>
                    <a:pt x="3040380" y="184404"/>
                  </a:lnTo>
                  <a:lnTo>
                    <a:pt x="3038856" y="188976"/>
                  </a:lnTo>
                  <a:lnTo>
                    <a:pt x="3035808" y="195072"/>
                  </a:lnTo>
                  <a:lnTo>
                    <a:pt x="3032760" y="199644"/>
                  </a:lnTo>
                  <a:lnTo>
                    <a:pt x="3028175" y="201168"/>
                  </a:lnTo>
                  <a:lnTo>
                    <a:pt x="3023616" y="204216"/>
                  </a:lnTo>
                  <a:lnTo>
                    <a:pt x="3019044" y="204216"/>
                  </a:lnTo>
                  <a:lnTo>
                    <a:pt x="3012948" y="201168"/>
                  </a:lnTo>
                  <a:lnTo>
                    <a:pt x="3006852" y="199644"/>
                  </a:lnTo>
                  <a:lnTo>
                    <a:pt x="3000756" y="195072"/>
                  </a:lnTo>
                  <a:lnTo>
                    <a:pt x="2996184" y="190500"/>
                  </a:lnTo>
                  <a:lnTo>
                    <a:pt x="2990075" y="205740"/>
                  </a:lnTo>
                  <a:lnTo>
                    <a:pt x="2994660" y="210312"/>
                  </a:lnTo>
                  <a:lnTo>
                    <a:pt x="3000756" y="213360"/>
                  </a:lnTo>
                  <a:lnTo>
                    <a:pt x="3008376" y="214884"/>
                  </a:lnTo>
                  <a:lnTo>
                    <a:pt x="3017228" y="217449"/>
                  </a:lnTo>
                  <a:lnTo>
                    <a:pt x="3025521" y="218313"/>
                  </a:lnTo>
                  <a:lnTo>
                    <a:pt x="3033230" y="217449"/>
                  </a:lnTo>
                  <a:lnTo>
                    <a:pt x="3040380" y="214884"/>
                  </a:lnTo>
                  <a:lnTo>
                    <a:pt x="3045777" y="211734"/>
                  </a:lnTo>
                  <a:lnTo>
                    <a:pt x="3050476" y="206883"/>
                  </a:lnTo>
                  <a:lnTo>
                    <a:pt x="3052026" y="204216"/>
                  </a:lnTo>
                  <a:lnTo>
                    <a:pt x="3054299" y="200304"/>
                  </a:lnTo>
                  <a:lnTo>
                    <a:pt x="3059747" y="184404"/>
                  </a:lnTo>
                  <a:lnTo>
                    <a:pt x="3061843" y="178308"/>
                  </a:lnTo>
                  <a:lnTo>
                    <a:pt x="3075432" y="138684"/>
                  </a:lnTo>
                  <a:close/>
                </a:path>
                <a:path w="3568065" h="1522729">
                  <a:moveTo>
                    <a:pt x="3134118" y="172948"/>
                  </a:moveTo>
                  <a:lnTo>
                    <a:pt x="3132010" y="163639"/>
                  </a:lnTo>
                  <a:lnTo>
                    <a:pt x="3128835" y="160020"/>
                  </a:lnTo>
                  <a:lnTo>
                    <a:pt x="3125597" y="156324"/>
                  </a:lnTo>
                  <a:lnTo>
                    <a:pt x="3115056" y="150876"/>
                  </a:lnTo>
                  <a:lnTo>
                    <a:pt x="3110484" y="149352"/>
                  </a:lnTo>
                  <a:lnTo>
                    <a:pt x="3107436" y="149352"/>
                  </a:lnTo>
                  <a:lnTo>
                    <a:pt x="3101340" y="147828"/>
                  </a:lnTo>
                  <a:lnTo>
                    <a:pt x="3090672" y="147828"/>
                  </a:lnTo>
                  <a:lnTo>
                    <a:pt x="3086100" y="161544"/>
                  </a:lnTo>
                  <a:lnTo>
                    <a:pt x="3093720" y="160020"/>
                  </a:lnTo>
                  <a:lnTo>
                    <a:pt x="3101340" y="160020"/>
                  </a:lnTo>
                  <a:lnTo>
                    <a:pt x="3108960" y="163068"/>
                  </a:lnTo>
                  <a:lnTo>
                    <a:pt x="3115056" y="164592"/>
                  </a:lnTo>
                  <a:lnTo>
                    <a:pt x="3118104" y="169151"/>
                  </a:lnTo>
                  <a:lnTo>
                    <a:pt x="3115056" y="175260"/>
                  </a:lnTo>
                  <a:lnTo>
                    <a:pt x="3112008" y="174713"/>
                  </a:lnTo>
                  <a:lnTo>
                    <a:pt x="3112008" y="185928"/>
                  </a:lnTo>
                  <a:lnTo>
                    <a:pt x="3110484" y="190500"/>
                  </a:lnTo>
                  <a:lnTo>
                    <a:pt x="3110484" y="193535"/>
                  </a:lnTo>
                  <a:lnTo>
                    <a:pt x="3107436" y="196583"/>
                  </a:lnTo>
                  <a:lnTo>
                    <a:pt x="3098292" y="201168"/>
                  </a:lnTo>
                  <a:lnTo>
                    <a:pt x="3092196" y="198120"/>
                  </a:lnTo>
                  <a:lnTo>
                    <a:pt x="3089148" y="195072"/>
                  </a:lnTo>
                  <a:lnTo>
                    <a:pt x="3089148" y="188976"/>
                  </a:lnTo>
                  <a:lnTo>
                    <a:pt x="3090672" y="184404"/>
                  </a:lnTo>
                  <a:lnTo>
                    <a:pt x="3095244" y="182867"/>
                  </a:lnTo>
                  <a:lnTo>
                    <a:pt x="3101340" y="184404"/>
                  </a:lnTo>
                  <a:lnTo>
                    <a:pt x="3112008" y="185928"/>
                  </a:lnTo>
                  <a:lnTo>
                    <a:pt x="3112008" y="174713"/>
                  </a:lnTo>
                  <a:lnTo>
                    <a:pt x="3098292" y="172212"/>
                  </a:lnTo>
                  <a:lnTo>
                    <a:pt x="3088856" y="172212"/>
                  </a:lnTo>
                  <a:lnTo>
                    <a:pt x="3081147" y="174498"/>
                  </a:lnTo>
                  <a:lnTo>
                    <a:pt x="3075140" y="179070"/>
                  </a:lnTo>
                  <a:lnTo>
                    <a:pt x="3070860" y="185928"/>
                  </a:lnTo>
                  <a:lnTo>
                    <a:pt x="3069336" y="192024"/>
                  </a:lnTo>
                  <a:lnTo>
                    <a:pt x="3069336" y="196583"/>
                  </a:lnTo>
                  <a:lnTo>
                    <a:pt x="3072384" y="201168"/>
                  </a:lnTo>
                  <a:lnTo>
                    <a:pt x="3073908" y="205740"/>
                  </a:lnTo>
                  <a:lnTo>
                    <a:pt x="3078480" y="208788"/>
                  </a:lnTo>
                  <a:lnTo>
                    <a:pt x="3084576" y="210312"/>
                  </a:lnTo>
                  <a:lnTo>
                    <a:pt x="3092196" y="213360"/>
                  </a:lnTo>
                  <a:lnTo>
                    <a:pt x="3100286" y="211734"/>
                  </a:lnTo>
                  <a:lnTo>
                    <a:pt x="3099905" y="211734"/>
                  </a:lnTo>
                  <a:lnTo>
                    <a:pt x="3105912" y="205740"/>
                  </a:lnTo>
                  <a:lnTo>
                    <a:pt x="3102864" y="214884"/>
                  </a:lnTo>
                  <a:lnTo>
                    <a:pt x="3121152" y="220967"/>
                  </a:lnTo>
                  <a:lnTo>
                    <a:pt x="3125597" y="205740"/>
                  </a:lnTo>
                  <a:lnTo>
                    <a:pt x="3126917" y="201168"/>
                  </a:lnTo>
                  <a:lnTo>
                    <a:pt x="3131820" y="184404"/>
                  </a:lnTo>
                  <a:lnTo>
                    <a:pt x="3132124" y="182867"/>
                  </a:lnTo>
                  <a:lnTo>
                    <a:pt x="3133661" y="175260"/>
                  </a:lnTo>
                  <a:lnTo>
                    <a:pt x="3134118" y="172948"/>
                  </a:lnTo>
                  <a:close/>
                </a:path>
                <a:path w="3568065" h="1522729">
                  <a:moveTo>
                    <a:pt x="3182442" y="1487424"/>
                  </a:moveTo>
                  <a:lnTo>
                    <a:pt x="3182366" y="1485900"/>
                  </a:lnTo>
                  <a:lnTo>
                    <a:pt x="3181629" y="1479270"/>
                  </a:lnTo>
                  <a:lnTo>
                    <a:pt x="3180423" y="1475232"/>
                  </a:lnTo>
                  <a:lnTo>
                    <a:pt x="3179064" y="1470660"/>
                  </a:lnTo>
                  <a:lnTo>
                    <a:pt x="3168294" y="1440180"/>
                  </a:lnTo>
                  <a:lnTo>
                    <a:pt x="3165068" y="1431036"/>
                  </a:lnTo>
                  <a:lnTo>
                    <a:pt x="3160776" y="1418844"/>
                  </a:lnTo>
                  <a:lnTo>
                    <a:pt x="3156204" y="1420368"/>
                  </a:lnTo>
                  <a:lnTo>
                    <a:pt x="3156204" y="1459992"/>
                  </a:lnTo>
                  <a:lnTo>
                    <a:pt x="3156204" y="1464551"/>
                  </a:lnTo>
                  <a:lnTo>
                    <a:pt x="3154680" y="1469136"/>
                  </a:lnTo>
                  <a:lnTo>
                    <a:pt x="3153156" y="1472184"/>
                  </a:lnTo>
                  <a:lnTo>
                    <a:pt x="3150108" y="1475232"/>
                  </a:lnTo>
                  <a:lnTo>
                    <a:pt x="3147060" y="1476756"/>
                  </a:lnTo>
                  <a:lnTo>
                    <a:pt x="3139440" y="1476756"/>
                  </a:lnTo>
                  <a:lnTo>
                    <a:pt x="3136392" y="1475232"/>
                  </a:lnTo>
                  <a:lnTo>
                    <a:pt x="3130296" y="1469136"/>
                  </a:lnTo>
                  <a:lnTo>
                    <a:pt x="3128772" y="1464551"/>
                  </a:lnTo>
                  <a:lnTo>
                    <a:pt x="3127248" y="1458468"/>
                  </a:lnTo>
                  <a:lnTo>
                    <a:pt x="3125724" y="1453896"/>
                  </a:lnTo>
                  <a:lnTo>
                    <a:pt x="3139440" y="1440180"/>
                  </a:lnTo>
                  <a:lnTo>
                    <a:pt x="3142488" y="1440180"/>
                  </a:lnTo>
                  <a:lnTo>
                    <a:pt x="3145536" y="1443228"/>
                  </a:lnTo>
                  <a:lnTo>
                    <a:pt x="3148584" y="1444752"/>
                  </a:lnTo>
                  <a:lnTo>
                    <a:pt x="3151632" y="1447800"/>
                  </a:lnTo>
                  <a:lnTo>
                    <a:pt x="3153092" y="1450721"/>
                  </a:lnTo>
                  <a:lnTo>
                    <a:pt x="3153664" y="1452372"/>
                  </a:lnTo>
                  <a:lnTo>
                    <a:pt x="3156204" y="1459992"/>
                  </a:lnTo>
                  <a:lnTo>
                    <a:pt x="3156204" y="1420368"/>
                  </a:lnTo>
                  <a:lnTo>
                    <a:pt x="3142488" y="1424940"/>
                  </a:lnTo>
                  <a:lnTo>
                    <a:pt x="3145536" y="1431036"/>
                  </a:lnTo>
                  <a:lnTo>
                    <a:pt x="3139440" y="1427988"/>
                  </a:lnTo>
                  <a:lnTo>
                    <a:pt x="3133344" y="1426451"/>
                  </a:lnTo>
                  <a:lnTo>
                    <a:pt x="3125724" y="1429512"/>
                  </a:lnTo>
                  <a:lnTo>
                    <a:pt x="3118104" y="1431036"/>
                  </a:lnTo>
                  <a:lnTo>
                    <a:pt x="3112008" y="1437132"/>
                  </a:lnTo>
                  <a:lnTo>
                    <a:pt x="3108960" y="1444752"/>
                  </a:lnTo>
                  <a:lnTo>
                    <a:pt x="3107474" y="1450721"/>
                  </a:lnTo>
                  <a:lnTo>
                    <a:pt x="3107436" y="1457134"/>
                  </a:lnTo>
                  <a:lnTo>
                    <a:pt x="3108528" y="1463814"/>
                  </a:lnTo>
                  <a:lnTo>
                    <a:pt x="3110484" y="1470660"/>
                  </a:lnTo>
                  <a:lnTo>
                    <a:pt x="3113532" y="1479804"/>
                  </a:lnTo>
                  <a:lnTo>
                    <a:pt x="3118104" y="1487424"/>
                  </a:lnTo>
                  <a:lnTo>
                    <a:pt x="3124200" y="1490472"/>
                  </a:lnTo>
                  <a:lnTo>
                    <a:pt x="3130296" y="1495044"/>
                  </a:lnTo>
                  <a:lnTo>
                    <a:pt x="3137916" y="1495044"/>
                  </a:lnTo>
                  <a:lnTo>
                    <a:pt x="3153156" y="1488935"/>
                  </a:lnTo>
                  <a:lnTo>
                    <a:pt x="3159252" y="1484376"/>
                  </a:lnTo>
                  <a:lnTo>
                    <a:pt x="3160776" y="1476756"/>
                  </a:lnTo>
                  <a:lnTo>
                    <a:pt x="3160776" y="1475232"/>
                  </a:lnTo>
                  <a:lnTo>
                    <a:pt x="3162300" y="1481328"/>
                  </a:lnTo>
                  <a:lnTo>
                    <a:pt x="3163824" y="1485900"/>
                  </a:lnTo>
                  <a:lnTo>
                    <a:pt x="3163824" y="1491996"/>
                  </a:lnTo>
                  <a:lnTo>
                    <a:pt x="3162300" y="1496568"/>
                  </a:lnTo>
                  <a:lnTo>
                    <a:pt x="3154680" y="1504188"/>
                  </a:lnTo>
                  <a:lnTo>
                    <a:pt x="3136392" y="1508760"/>
                  </a:lnTo>
                  <a:lnTo>
                    <a:pt x="3128772" y="1507236"/>
                  </a:lnTo>
                  <a:lnTo>
                    <a:pt x="3133344" y="1522476"/>
                  </a:lnTo>
                  <a:lnTo>
                    <a:pt x="3145536" y="1522476"/>
                  </a:lnTo>
                  <a:lnTo>
                    <a:pt x="3154680" y="1519428"/>
                  </a:lnTo>
                  <a:lnTo>
                    <a:pt x="3162985" y="1515706"/>
                  </a:lnTo>
                  <a:lnTo>
                    <a:pt x="3169729" y="1511427"/>
                  </a:lnTo>
                  <a:lnTo>
                    <a:pt x="3172637" y="1508760"/>
                  </a:lnTo>
                  <a:lnTo>
                    <a:pt x="3175038" y="1506562"/>
                  </a:lnTo>
                  <a:lnTo>
                    <a:pt x="3179064" y="1501140"/>
                  </a:lnTo>
                  <a:lnTo>
                    <a:pt x="3181629" y="1494231"/>
                  </a:lnTo>
                  <a:lnTo>
                    <a:pt x="3182442" y="1487424"/>
                  </a:lnTo>
                  <a:close/>
                </a:path>
                <a:path w="3568065" h="1522729">
                  <a:moveTo>
                    <a:pt x="3194304" y="176784"/>
                  </a:moveTo>
                  <a:lnTo>
                    <a:pt x="3192780" y="176784"/>
                  </a:lnTo>
                  <a:lnTo>
                    <a:pt x="3189732" y="175260"/>
                  </a:lnTo>
                  <a:lnTo>
                    <a:pt x="3182112" y="173736"/>
                  </a:lnTo>
                  <a:lnTo>
                    <a:pt x="3176016" y="175260"/>
                  </a:lnTo>
                  <a:lnTo>
                    <a:pt x="3169920" y="182867"/>
                  </a:lnTo>
                  <a:lnTo>
                    <a:pt x="3174492" y="172212"/>
                  </a:lnTo>
                  <a:lnTo>
                    <a:pt x="3154680" y="166116"/>
                  </a:lnTo>
                  <a:lnTo>
                    <a:pt x="3136392" y="225552"/>
                  </a:lnTo>
                  <a:lnTo>
                    <a:pt x="3154680" y="231635"/>
                  </a:lnTo>
                  <a:lnTo>
                    <a:pt x="3163824" y="202692"/>
                  </a:lnTo>
                  <a:lnTo>
                    <a:pt x="3165348" y="198120"/>
                  </a:lnTo>
                  <a:lnTo>
                    <a:pt x="3168396" y="193535"/>
                  </a:lnTo>
                  <a:lnTo>
                    <a:pt x="3177540" y="188976"/>
                  </a:lnTo>
                  <a:lnTo>
                    <a:pt x="3182112" y="190500"/>
                  </a:lnTo>
                  <a:lnTo>
                    <a:pt x="3185160" y="192024"/>
                  </a:lnTo>
                  <a:lnTo>
                    <a:pt x="3186684" y="193535"/>
                  </a:lnTo>
                  <a:lnTo>
                    <a:pt x="3189732" y="195072"/>
                  </a:lnTo>
                  <a:lnTo>
                    <a:pt x="3191383" y="188976"/>
                  </a:lnTo>
                  <a:lnTo>
                    <a:pt x="3193046" y="182867"/>
                  </a:lnTo>
                  <a:lnTo>
                    <a:pt x="3194304" y="178308"/>
                  </a:lnTo>
                  <a:lnTo>
                    <a:pt x="3194304" y="176784"/>
                  </a:lnTo>
                  <a:close/>
                </a:path>
                <a:path w="3568065" h="1522729">
                  <a:moveTo>
                    <a:pt x="3246120" y="1455420"/>
                  </a:moveTo>
                  <a:lnTo>
                    <a:pt x="3245586" y="1453896"/>
                  </a:lnTo>
                  <a:lnTo>
                    <a:pt x="3238690" y="1434084"/>
                  </a:lnTo>
                  <a:lnTo>
                    <a:pt x="3233928" y="1420368"/>
                  </a:lnTo>
                  <a:lnTo>
                    <a:pt x="3230765" y="1414272"/>
                  </a:lnTo>
                  <a:lnTo>
                    <a:pt x="3229191" y="1411224"/>
                  </a:lnTo>
                  <a:lnTo>
                    <a:pt x="3228327" y="1409700"/>
                  </a:lnTo>
                  <a:lnTo>
                    <a:pt x="3221736" y="1403921"/>
                  </a:lnTo>
                  <a:lnTo>
                    <a:pt x="3221736" y="1437132"/>
                  </a:lnTo>
                  <a:lnTo>
                    <a:pt x="3221736" y="1444752"/>
                  </a:lnTo>
                  <a:lnTo>
                    <a:pt x="3220212" y="1447800"/>
                  </a:lnTo>
                  <a:lnTo>
                    <a:pt x="3220212" y="1450721"/>
                  </a:lnTo>
                  <a:lnTo>
                    <a:pt x="3220440" y="1450721"/>
                  </a:lnTo>
                  <a:lnTo>
                    <a:pt x="3211068" y="1455420"/>
                  </a:lnTo>
                  <a:lnTo>
                    <a:pt x="3209544" y="1455420"/>
                  </a:lnTo>
                  <a:lnTo>
                    <a:pt x="3206496" y="1453896"/>
                  </a:lnTo>
                  <a:lnTo>
                    <a:pt x="3204959" y="1453896"/>
                  </a:lnTo>
                  <a:lnTo>
                    <a:pt x="3203448" y="1452372"/>
                  </a:lnTo>
                  <a:lnTo>
                    <a:pt x="3203448" y="1449324"/>
                  </a:lnTo>
                  <a:lnTo>
                    <a:pt x="3201911" y="1444752"/>
                  </a:lnTo>
                  <a:lnTo>
                    <a:pt x="3203448" y="1441704"/>
                  </a:lnTo>
                  <a:lnTo>
                    <a:pt x="3209544" y="1438656"/>
                  </a:lnTo>
                  <a:lnTo>
                    <a:pt x="3220212" y="1434084"/>
                  </a:lnTo>
                  <a:lnTo>
                    <a:pt x="3221736" y="1437132"/>
                  </a:lnTo>
                  <a:lnTo>
                    <a:pt x="3221736" y="1403921"/>
                  </a:lnTo>
                  <a:lnTo>
                    <a:pt x="3221164" y="1403413"/>
                  </a:lnTo>
                  <a:lnTo>
                    <a:pt x="3211842" y="1401292"/>
                  </a:lnTo>
                  <a:lnTo>
                    <a:pt x="3200400" y="1403604"/>
                  </a:lnTo>
                  <a:lnTo>
                    <a:pt x="3195828" y="1405128"/>
                  </a:lnTo>
                  <a:lnTo>
                    <a:pt x="3192780" y="1406652"/>
                  </a:lnTo>
                  <a:lnTo>
                    <a:pt x="3188195" y="1409700"/>
                  </a:lnTo>
                  <a:lnTo>
                    <a:pt x="3183636" y="1411224"/>
                  </a:lnTo>
                  <a:lnTo>
                    <a:pt x="3179064" y="1415796"/>
                  </a:lnTo>
                  <a:lnTo>
                    <a:pt x="3183636" y="1429512"/>
                  </a:lnTo>
                  <a:lnTo>
                    <a:pt x="3188195" y="1423416"/>
                  </a:lnTo>
                  <a:lnTo>
                    <a:pt x="3194304" y="1418844"/>
                  </a:lnTo>
                  <a:lnTo>
                    <a:pt x="3201911" y="1417320"/>
                  </a:lnTo>
                  <a:lnTo>
                    <a:pt x="3209544" y="1414272"/>
                  </a:lnTo>
                  <a:lnTo>
                    <a:pt x="3214116" y="1415796"/>
                  </a:lnTo>
                  <a:lnTo>
                    <a:pt x="3215627" y="1423416"/>
                  </a:lnTo>
                  <a:lnTo>
                    <a:pt x="3200400" y="1431036"/>
                  </a:lnTo>
                  <a:lnTo>
                    <a:pt x="3191827" y="1436179"/>
                  </a:lnTo>
                  <a:lnTo>
                    <a:pt x="3186684" y="1442466"/>
                  </a:lnTo>
                  <a:lnTo>
                    <a:pt x="3184969" y="1449895"/>
                  </a:lnTo>
                  <a:lnTo>
                    <a:pt x="3186684" y="1458468"/>
                  </a:lnTo>
                  <a:lnTo>
                    <a:pt x="3188195" y="1463040"/>
                  </a:lnTo>
                  <a:lnTo>
                    <a:pt x="3191243" y="1467612"/>
                  </a:lnTo>
                  <a:lnTo>
                    <a:pt x="3195828" y="1469136"/>
                  </a:lnTo>
                  <a:lnTo>
                    <a:pt x="3200400" y="1472184"/>
                  </a:lnTo>
                  <a:lnTo>
                    <a:pt x="3206496" y="1472184"/>
                  </a:lnTo>
                  <a:lnTo>
                    <a:pt x="3211068" y="1469136"/>
                  </a:lnTo>
                  <a:lnTo>
                    <a:pt x="3220212" y="1466088"/>
                  </a:lnTo>
                  <a:lnTo>
                    <a:pt x="3224784" y="1461516"/>
                  </a:lnTo>
                  <a:lnTo>
                    <a:pt x="3225990" y="1455420"/>
                  </a:lnTo>
                  <a:lnTo>
                    <a:pt x="3226295" y="1453896"/>
                  </a:lnTo>
                  <a:lnTo>
                    <a:pt x="3229343" y="1461516"/>
                  </a:lnTo>
                  <a:lnTo>
                    <a:pt x="3246120" y="1455420"/>
                  </a:lnTo>
                  <a:close/>
                </a:path>
                <a:path w="3568065" h="1522729">
                  <a:moveTo>
                    <a:pt x="3259836" y="211836"/>
                  </a:moveTo>
                  <a:lnTo>
                    <a:pt x="3256788" y="205740"/>
                  </a:lnTo>
                  <a:lnTo>
                    <a:pt x="3256026" y="202692"/>
                  </a:lnTo>
                  <a:lnTo>
                    <a:pt x="3255264" y="199644"/>
                  </a:lnTo>
                  <a:lnTo>
                    <a:pt x="3251187" y="196583"/>
                  </a:lnTo>
                  <a:lnTo>
                    <a:pt x="3249168" y="195072"/>
                  </a:lnTo>
                  <a:lnTo>
                    <a:pt x="3238500" y="190804"/>
                  </a:lnTo>
                  <a:lnTo>
                    <a:pt x="3238500" y="211836"/>
                  </a:lnTo>
                  <a:lnTo>
                    <a:pt x="3238500" y="219456"/>
                  </a:lnTo>
                  <a:lnTo>
                    <a:pt x="3236976" y="224028"/>
                  </a:lnTo>
                  <a:lnTo>
                    <a:pt x="3235452" y="230124"/>
                  </a:lnTo>
                  <a:lnTo>
                    <a:pt x="3232404" y="234683"/>
                  </a:lnTo>
                  <a:lnTo>
                    <a:pt x="3229343" y="236220"/>
                  </a:lnTo>
                  <a:lnTo>
                    <a:pt x="3226397" y="239166"/>
                  </a:lnTo>
                  <a:lnTo>
                    <a:pt x="3221444" y="239166"/>
                  </a:lnTo>
                  <a:lnTo>
                    <a:pt x="3217164" y="237744"/>
                  </a:lnTo>
                  <a:lnTo>
                    <a:pt x="3214116" y="237744"/>
                  </a:lnTo>
                  <a:lnTo>
                    <a:pt x="3209544" y="228600"/>
                  </a:lnTo>
                  <a:lnTo>
                    <a:pt x="3209544" y="220967"/>
                  </a:lnTo>
                  <a:lnTo>
                    <a:pt x="3212579" y="214884"/>
                  </a:lnTo>
                  <a:lnTo>
                    <a:pt x="3214116" y="210312"/>
                  </a:lnTo>
                  <a:lnTo>
                    <a:pt x="3215627" y="207251"/>
                  </a:lnTo>
                  <a:lnTo>
                    <a:pt x="3220212" y="205740"/>
                  </a:lnTo>
                  <a:lnTo>
                    <a:pt x="3223260" y="202692"/>
                  </a:lnTo>
                  <a:lnTo>
                    <a:pt x="3226295" y="202692"/>
                  </a:lnTo>
                  <a:lnTo>
                    <a:pt x="3229343" y="204216"/>
                  </a:lnTo>
                  <a:lnTo>
                    <a:pt x="3233928" y="205740"/>
                  </a:lnTo>
                  <a:lnTo>
                    <a:pt x="3236976" y="207251"/>
                  </a:lnTo>
                  <a:lnTo>
                    <a:pt x="3238500" y="211836"/>
                  </a:lnTo>
                  <a:lnTo>
                    <a:pt x="3238500" y="190804"/>
                  </a:lnTo>
                  <a:lnTo>
                    <a:pt x="3233928" y="188976"/>
                  </a:lnTo>
                  <a:lnTo>
                    <a:pt x="3226295" y="190500"/>
                  </a:lnTo>
                  <a:lnTo>
                    <a:pt x="3218688" y="196583"/>
                  </a:lnTo>
                  <a:lnTo>
                    <a:pt x="3230880" y="158483"/>
                  </a:lnTo>
                  <a:lnTo>
                    <a:pt x="3212579" y="152400"/>
                  </a:lnTo>
                  <a:lnTo>
                    <a:pt x="3183636" y="240792"/>
                  </a:lnTo>
                  <a:lnTo>
                    <a:pt x="3201911" y="246888"/>
                  </a:lnTo>
                  <a:lnTo>
                    <a:pt x="3204959" y="240792"/>
                  </a:lnTo>
                  <a:lnTo>
                    <a:pt x="3206496" y="246888"/>
                  </a:lnTo>
                  <a:lnTo>
                    <a:pt x="3211068" y="251460"/>
                  </a:lnTo>
                  <a:lnTo>
                    <a:pt x="3226295" y="257556"/>
                  </a:lnTo>
                  <a:lnTo>
                    <a:pt x="3233928" y="256032"/>
                  </a:lnTo>
                  <a:lnTo>
                    <a:pt x="3241548" y="251460"/>
                  </a:lnTo>
                  <a:lnTo>
                    <a:pt x="3246069" y="247472"/>
                  </a:lnTo>
                  <a:lnTo>
                    <a:pt x="3250311" y="242506"/>
                  </a:lnTo>
                  <a:lnTo>
                    <a:pt x="3251377" y="240792"/>
                  </a:lnTo>
                  <a:lnTo>
                    <a:pt x="3252406" y="239166"/>
                  </a:lnTo>
                  <a:lnTo>
                    <a:pt x="3253968" y="236664"/>
                  </a:lnTo>
                  <a:lnTo>
                    <a:pt x="3256788" y="230124"/>
                  </a:lnTo>
                  <a:lnTo>
                    <a:pt x="3259836" y="220967"/>
                  </a:lnTo>
                  <a:lnTo>
                    <a:pt x="3259836" y="211836"/>
                  </a:lnTo>
                  <a:close/>
                </a:path>
                <a:path w="3568065" h="1522729">
                  <a:moveTo>
                    <a:pt x="3285744" y="1394460"/>
                  </a:moveTo>
                  <a:lnTo>
                    <a:pt x="3285185" y="1392936"/>
                  </a:lnTo>
                  <a:lnTo>
                    <a:pt x="3279648" y="1377696"/>
                  </a:lnTo>
                  <a:lnTo>
                    <a:pt x="3275076" y="1377696"/>
                  </a:lnTo>
                  <a:lnTo>
                    <a:pt x="3267443" y="1380744"/>
                  </a:lnTo>
                  <a:lnTo>
                    <a:pt x="3264395" y="1386840"/>
                  </a:lnTo>
                  <a:lnTo>
                    <a:pt x="3264395" y="1395984"/>
                  </a:lnTo>
                  <a:lnTo>
                    <a:pt x="3262884" y="1395984"/>
                  </a:lnTo>
                  <a:lnTo>
                    <a:pt x="3262782" y="1395603"/>
                  </a:lnTo>
                  <a:lnTo>
                    <a:pt x="3259836" y="1383792"/>
                  </a:lnTo>
                  <a:lnTo>
                    <a:pt x="3241548" y="1391412"/>
                  </a:lnTo>
                  <a:lnTo>
                    <a:pt x="3261309" y="1450721"/>
                  </a:lnTo>
                  <a:lnTo>
                    <a:pt x="3261715" y="1450721"/>
                  </a:lnTo>
                  <a:lnTo>
                    <a:pt x="3279648" y="1444752"/>
                  </a:lnTo>
                  <a:lnTo>
                    <a:pt x="3270504" y="1415796"/>
                  </a:lnTo>
                  <a:lnTo>
                    <a:pt x="3268980" y="1411224"/>
                  </a:lnTo>
                  <a:lnTo>
                    <a:pt x="3268980" y="1402080"/>
                  </a:lnTo>
                  <a:lnTo>
                    <a:pt x="3270504" y="1399032"/>
                  </a:lnTo>
                  <a:lnTo>
                    <a:pt x="3273552" y="1395984"/>
                  </a:lnTo>
                  <a:lnTo>
                    <a:pt x="3278111" y="1394460"/>
                  </a:lnTo>
                  <a:lnTo>
                    <a:pt x="3281159" y="1394460"/>
                  </a:lnTo>
                  <a:lnTo>
                    <a:pt x="3282696" y="1392936"/>
                  </a:lnTo>
                  <a:lnTo>
                    <a:pt x="3285744" y="1394460"/>
                  </a:lnTo>
                  <a:close/>
                </a:path>
                <a:path w="3568065" h="1522729">
                  <a:moveTo>
                    <a:pt x="3320046" y="233667"/>
                  </a:moveTo>
                  <a:lnTo>
                    <a:pt x="3300984" y="210312"/>
                  </a:lnTo>
                  <a:lnTo>
                    <a:pt x="3296412" y="210312"/>
                  </a:lnTo>
                  <a:lnTo>
                    <a:pt x="3291827" y="208788"/>
                  </a:lnTo>
                  <a:lnTo>
                    <a:pt x="3275076" y="208788"/>
                  </a:lnTo>
                  <a:lnTo>
                    <a:pt x="3272028" y="222504"/>
                  </a:lnTo>
                  <a:lnTo>
                    <a:pt x="3279648" y="220967"/>
                  </a:lnTo>
                  <a:lnTo>
                    <a:pt x="3287268" y="220967"/>
                  </a:lnTo>
                  <a:lnTo>
                    <a:pt x="3293364" y="222504"/>
                  </a:lnTo>
                  <a:lnTo>
                    <a:pt x="3300984" y="225552"/>
                  </a:lnTo>
                  <a:lnTo>
                    <a:pt x="3304032" y="230124"/>
                  </a:lnTo>
                  <a:lnTo>
                    <a:pt x="3300984" y="236220"/>
                  </a:lnTo>
                  <a:lnTo>
                    <a:pt x="3297936" y="235673"/>
                  </a:lnTo>
                  <a:lnTo>
                    <a:pt x="3297936" y="246888"/>
                  </a:lnTo>
                  <a:lnTo>
                    <a:pt x="3296412" y="251460"/>
                  </a:lnTo>
                  <a:lnTo>
                    <a:pt x="3293364" y="257556"/>
                  </a:lnTo>
                  <a:lnTo>
                    <a:pt x="3287268" y="260604"/>
                  </a:lnTo>
                  <a:lnTo>
                    <a:pt x="3284220" y="260604"/>
                  </a:lnTo>
                  <a:lnTo>
                    <a:pt x="3281159" y="259067"/>
                  </a:lnTo>
                  <a:lnTo>
                    <a:pt x="3278111" y="259067"/>
                  </a:lnTo>
                  <a:lnTo>
                    <a:pt x="3273552" y="254508"/>
                  </a:lnTo>
                  <a:lnTo>
                    <a:pt x="3273552" y="251460"/>
                  </a:lnTo>
                  <a:lnTo>
                    <a:pt x="3275076" y="249936"/>
                  </a:lnTo>
                  <a:lnTo>
                    <a:pt x="3276600" y="245351"/>
                  </a:lnTo>
                  <a:lnTo>
                    <a:pt x="3279648" y="243840"/>
                  </a:lnTo>
                  <a:lnTo>
                    <a:pt x="3285744" y="245351"/>
                  </a:lnTo>
                  <a:lnTo>
                    <a:pt x="3297936" y="246888"/>
                  </a:lnTo>
                  <a:lnTo>
                    <a:pt x="3297936" y="235673"/>
                  </a:lnTo>
                  <a:lnTo>
                    <a:pt x="3284220" y="233172"/>
                  </a:lnTo>
                  <a:lnTo>
                    <a:pt x="3274784" y="232308"/>
                  </a:lnTo>
                  <a:lnTo>
                    <a:pt x="3267075" y="234315"/>
                  </a:lnTo>
                  <a:lnTo>
                    <a:pt x="3261068" y="239166"/>
                  </a:lnTo>
                  <a:lnTo>
                    <a:pt x="3256788" y="246888"/>
                  </a:lnTo>
                  <a:lnTo>
                    <a:pt x="3255264" y="251460"/>
                  </a:lnTo>
                  <a:lnTo>
                    <a:pt x="3255264" y="257556"/>
                  </a:lnTo>
                  <a:lnTo>
                    <a:pt x="3258312" y="262128"/>
                  </a:lnTo>
                  <a:lnTo>
                    <a:pt x="3259836" y="265176"/>
                  </a:lnTo>
                  <a:lnTo>
                    <a:pt x="3264395" y="269735"/>
                  </a:lnTo>
                  <a:lnTo>
                    <a:pt x="3270504" y="271272"/>
                  </a:lnTo>
                  <a:lnTo>
                    <a:pt x="3278111" y="272783"/>
                  </a:lnTo>
                  <a:lnTo>
                    <a:pt x="3284220" y="272783"/>
                  </a:lnTo>
                  <a:lnTo>
                    <a:pt x="3290316" y="266700"/>
                  </a:lnTo>
                  <a:lnTo>
                    <a:pt x="3291827" y="266700"/>
                  </a:lnTo>
                  <a:lnTo>
                    <a:pt x="3291776" y="266890"/>
                  </a:lnTo>
                  <a:lnTo>
                    <a:pt x="3288779" y="275844"/>
                  </a:lnTo>
                  <a:lnTo>
                    <a:pt x="3305543" y="280416"/>
                  </a:lnTo>
                  <a:lnTo>
                    <a:pt x="3310318" y="266700"/>
                  </a:lnTo>
                  <a:lnTo>
                    <a:pt x="3312439" y="260604"/>
                  </a:lnTo>
                  <a:lnTo>
                    <a:pt x="3317748" y="245351"/>
                  </a:lnTo>
                  <a:lnTo>
                    <a:pt x="3318040" y="243840"/>
                  </a:lnTo>
                  <a:lnTo>
                    <a:pt x="3318078" y="243649"/>
                  </a:lnTo>
                  <a:lnTo>
                    <a:pt x="3319551" y="236220"/>
                  </a:lnTo>
                  <a:lnTo>
                    <a:pt x="3320046" y="233667"/>
                  </a:lnTo>
                  <a:close/>
                </a:path>
                <a:path w="3568065" h="1522729">
                  <a:moveTo>
                    <a:pt x="3363468" y="1395603"/>
                  </a:moveTo>
                  <a:lnTo>
                    <a:pt x="3346704" y="1360932"/>
                  </a:lnTo>
                  <a:lnTo>
                    <a:pt x="3343643" y="1359408"/>
                  </a:lnTo>
                  <a:lnTo>
                    <a:pt x="3343643" y="1394460"/>
                  </a:lnTo>
                  <a:lnTo>
                    <a:pt x="3343643" y="1403604"/>
                  </a:lnTo>
                  <a:lnTo>
                    <a:pt x="3342132" y="1406652"/>
                  </a:lnTo>
                  <a:lnTo>
                    <a:pt x="3339084" y="1409700"/>
                  </a:lnTo>
                  <a:lnTo>
                    <a:pt x="3334512" y="1411224"/>
                  </a:lnTo>
                  <a:lnTo>
                    <a:pt x="3331464" y="1412735"/>
                  </a:lnTo>
                  <a:lnTo>
                    <a:pt x="3328416" y="1412735"/>
                  </a:lnTo>
                  <a:lnTo>
                    <a:pt x="3325368" y="1409700"/>
                  </a:lnTo>
                  <a:lnTo>
                    <a:pt x="3322320" y="1408176"/>
                  </a:lnTo>
                  <a:lnTo>
                    <a:pt x="3319259" y="1405128"/>
                  </a:lnTo>
                  <a:lnTo>
                    <a:pt x="3319259" y="1402080"/>
                  </a:lnTo>
                  <a:lnTo>
                    <a:pt x="3316211" y="1395984"/>
                  </a:lnTo>
                  <a:lnTo>
                    <a:pt x="3314700" y="1391412"/>
                  </a:lnTo>
                  <a:lnTo>
                    <a:pt x="3314700" y="1386840"/>
                  </a:lnTo>
                  <a:lnTo>
                    <a:pt x="3317748" y="1380744"/>
                  </a:lnTo>
                  <a:lnTo>
                    <a:pt x="3320796" y="1377696"/>
                  </a:lnTo>
                  <a:lnTo>
                    <a:pt x="3323844" y="1376172"/>
                  </a:lnTo>
                  <a:lnTo>
                    <a:pt x="3328416" y="1374635"/>
                  </a:lnTo>
                  <a:lnTo>
                    <a:pt x="3331464" y="1374635"/>
                  </a:lnTo>
                  <a:lnTo>
                    <a:pt x="3334512" y="1377696"/>
                  </a:lnTo>
                  <a:lnTo>
                    <a:pt x="3337560" y="1379220"/>
                  </a:lnTo>
                  <a:lnTo>
                    <a:pt x="3340595" y="1382268"/>
                  </a:lnTo>
                  <a:lnTo>
                    <a:pt x="3343643" y="1394460"/>
                  </a:lnTo>
                  <a:lnTo>
                    <a:pt x="3343643" y="1359408"/>
                  </a:lnTo>
                  <a:lnTo>
                    <a:pt x="3340595" y="1357884"/>
                  </a:lnTo>
                  <a:lnTo>
                    <a:pt x="3334512" y="1357884"/>
                  </a:lnTo>
                  <a:lnTo>
                    <a:pt x="3326879" y="1359408"/>
                  </a:lnTo>
                  <a:lnTo>
                    <a:pt x="3317748" y="1362456"/>
                  </a:lnTo>
                  <a:lnTo>
                    <a:pt x="3313176" y="1368552"/>
                  </a:lnTo>
                  <a:lnTo>
                    <a:pt x="3310128" y="1377696"/>
                  </a:lnTo>
                  <a:lnTo>
                    <a:pt x="3297936" y="1339596"/>
                  </a:lnTo>
                  <a:lnTo>
                    <a:pt x="3278111" y="1345692"/>
                  </a:lnTo>
                  <a:lnTo>
                    <a:pt x="3310128" y="1434084"/>
                  </a:lnTo>
                  <a:lnTo>
                    <a:pt x="3328416" y="1427988"/>
                  </a:lnTo>
                  <a:lnTo>
                    <a:pt x="3325368" y="1420368"/>
                  </a:lnTo>
                  <a:lnTo>
                    <a:pt x="3331464" y="1424940"/>
                  </a:lnTo>
                  <a:lnTo>
                    <a:pt x="3337560" y="1426451"/>
                  </a:lnTo>
                  <a:lnTo>
                    <a:pt x="3352800" y="1420368"/>
                  </a:lnTo>
                  <a:lnTo>
                    <a:pt x="3358896" y="1415796"/>
                  </a:lnTo>
                  <a:lnTo>
                    <a:pt x="3360115" y="1412735"/>
                  </a:lnTo>
                  <a:lnTo>
                    <a:pt x="3361944" y="1408176"/>
                  </a:lnTo>
                  <a:lnTo>
                    <a:pt x="3363112" y="1403413"/>
                  </a:lnTo>
                  <a:lnTo>
                    <a:pt x="3363417" y="1402080"/>
                  </a:lnTo>
                  <a:lnTo>
                    <a:pt x="3363468" y="1395603"/>
                  </a:lnTo>
                  <a:close/>
                </a:path>
                <a:path w="3568065" h="1522729">
                  <a:moveTo>
                    <a:pt x="3400044" y="245351"/>
                  </a:moveTo>
                  <a:lnTo>
                    <a:pt x="3381743" y="239268"/>
                  </a:lnTo>
                  <a:lnTo>
                    <a:pt x="3378695" y="245351"/>
                  </a:lnTo>
                  <a:lnTo>
                    <a:pt x="3377565" y="240792"/>
                  </a:lnTo>
                  <a:lnTo>
                    <a:pt x="3377082" y="239166"/>
                  </a:lnTo>
                  <a:lnTo>
                    <a:pt x="3374136" y="236220"/>
                  </a:lnTo>
                  <a:lnTo>
                    <a:pt x="3374136" y="257556"/>
                  </a:lnTo>
                  <a:lnTo>
                    <a:pt x="3374136" y="262128"/>
                  </a:lnTo>
                  <a:lnTo>
                    <a:pt x="3372612" y="265176"/>
                  </a:lnTo>
                  <a:lnTo>
                    <a:pt x="3371088" y="269735"/>
                  </a:lnTo>
                  <a:lnTo>
                    <a:pt x="3369564" y="275844"/>
                  </a:lnTo>
                  <a:lnTo>
                    <a:pt x="3366516" y="278892"/>
                  </a:lnTo>
                  <a:lnTo>
                    <a:pt x="3363468" y="280416"/>
                  </a:lnTo>
                  <a:lnTo>
                    <a:pt x="3360420" y="283451"/>
                  </a:lnTo>
                  <a:lnTo>
                    <a:pt x="3357359" y="283451"/>
                  </a:lnTo>
                  <a:lnTo>
                    <a:pt x="3352800" y="281940"/>
                  </a:lnTo>
                  <a:lnTo>
                    <a:pt x="3346704" y="278892"/>
                  </a:lnTo>
                  <a:lnTo>
                    <a:pt x="3345180" y="274320"/>
                  </a:lnTo>
                  <a:lnTo>
                    <a:pt x="3343643" y="271272"/>
                  </a:lnTo>
                  <a:lnTo>
                    <a:pt x="3343643" y="266700"/>
                  </a:lnTo>
                  <a:lnTo>
                    <a:pt x="3345180" y="262128"/>
                  </a:lnTo>
                  <a:lnTo>
                    <a:pt x="3348228" y="256032"/>
                  </a:lnTo>
                  <a:lnTo>
                    <a:pt x="3348278" y="255854"/>
                  </a:lnTo>
                  <a:lnTo>
                    <a:pt x="3349752" y="251460"/>
                  </a:lnTo>
                  <a:lnTo>
                    <a:pt x="3354311" y="249936"/>
                  </a:lnTo>
                  <a:lnTo>
                    <a:pt x="3357359" y="246888"/>
                  </a:lnTo>
                  <a:lnTo>
                    <a:pt x="3360420" y="246888"/>
                  </a:lnTo>
                  <a:lnTo>
                    <a:pt x="3364979" y="248412"/>
                  </a:lnTo>
                  <a:lnTo>
                    <a:pt x="3368027" y="248412"/>
                  </a:lnTo>
                  <a:lnTo>
                    <a:pt x="3371088" y="251460"/>
                  </a:lnTo>
                  <a:lnTo>
                    <a:pt x="3374136" y="257556"/>
                  </a:lnTo>
                  <a:lnTo>
                    <a:pt x="3374136" y="236220"/>
                  </a:lnTo>
                  <a:lnTo>
                    <a:pt x="3372612" y="234683"/>
                  </a:lnTo>
                  <a:lnTo>
                    <a:pt x="3364979" y="231635"/>
                  </a:lnTo>
                  <a:lnTo>
                    <a:pt x="3357359" y="230124"/>
                  </a:lnTo>
                  <a:lnTo>
                    <a:pt x="3349752" y="230124"/>
                  </a:lnTo>
                  <a:lnTo>
                    <a:pt x="3323844" y="265176"/>
                  </a:lnTo>
                  <a:lnTo>
                    <a:pt x="3323920" y="272999"/>
                  </a:lnTo>
                  <a:lnTo>
                    <a:pt x="3326879" y="280416"/>
                  </a:lnTo>
                  <a:lnTo>
                    <a:pt x="3329927" y="286512"/>
                  </a:lnTo>
                  <a:lnTo>
                    <a:pt x="3334512" y="292608"/>
                  </a:lnTo>
                  <a:lnTo>
                    <a:pt x="3342132" y="294132"/>
                  </a:lnTo>
                  <a:lnTo>
                    <a:pt x="3349752" y="297167"/>
                  </a:lnTo>
                  <a:lnTo>
                    <a:pt x="3357359" y="295656"/>
                  </a:lnTo>
                  <a:lnTo>
                    <a:pt x="3363468" y="291084"/>
                  </a:lnTo>
                  <a:lnTo>
                    <a:pt x="3364979" y="291084"/>
                  </a:lnTo>
                  <a:lnTo>
                    <a:pt x="3363468" y="295656"/>
                  </a:lnTo>
                  <a:lnTo>
                    <a:pt x="3357359" y="304800"/>
                  </a:lnTo>
                  <a:lnTo>
                    <a:pt x="3352800" y="306324"/>
                  </a:lnTo>
                  <a:lnTo>
                    <a:pt x="3348228" y="309372"/>
                  </a:lnTo>
                  <a:lnTo>
                    <a:pt x="3343643" y="309372"/>
                  </a:lnTo>
                  <a:lnTo>
                    <a:pt x="3337560" y="307835"/>
                  </a:lnTo>
                  <a:lnTo>
                    <a:pt x="3325368" y="301752"/>
                  </a:lnTo>
                  <a:lnTo>
                    <a:pt x="3320796" y="295656"/>
                  </a:lnTo>
                  <a:lnTo>
                    <a:pt x="3320719" y="295846"/>
                  </a:lnTo>
                  <a:lnTo>
                    <a:pt x="3314700" y="310883"/>
                  </a:lnTo>
                  <a:lnTo>
                    <a:pt x="3319259" y="315468"/>
                  </a:lnTo>
                  <a:lnTo>
                    <a:pt x="3325368" y="318516"/>
                  </a:lnTo>
                  <a:lnTo>
                    <a:pt x="3332988" y="321551"/>
                  </a:lnTo>
                  <a:lnTo>
                    <a:pt x="3341840" y="323265"/>
                  </a:lnTo>
                  <a:lnTo>
                    <a:pt x="3350133" y="323837"/>
                  </a:lnTo>
                  <a:lnTo>
                    <a:pt x="3357842" y="323265"/>
                  </a:lnTo>
                  <a:lnTo>
                    <a:pt x="3384359" y="291084"/>
                  </a:lnTo>
                  <a:lnTo>
                    <a:pt x="3386975" y="283451"/>
                  </a:lnTo>
                  <a:lnTo>
                    <a:pt x="3399510" y="246888"/>
                  </a:lnTo>
                  <a:lnTo>
                    <a:pt x="3400044" y="245351"/>
                  </a:lnTo>
                  <a:close/>
                </a:path>
                <a:path w="3568065" h="1522729">
                  <a:moveTo>
                    <a:pt x="3430511" y="1392936"/>
                  </a:moveTo>
                  <a:lnTo>
                    <a:pt x="3422904" y="1370076"/>
                  </a:lnTo>
                  <a:lnTo>
                    <a:pt x="3418332" y="1356360"/>
                  </a:lnTo>
                  <a:lnTo>
                    <a:pt x="3415169" y="1350251"/>
                  </a:lnTo>
                  <a:lnTo>
                    <a:pt x="3412871" y="1345806"/>
                  </a:lnTo>
                  <a:lnTo>
                    <a:pt x="3406127" y="1339900"/>
                  </a:lnTo>
                  <a:lnTo>
                    <a:pt x="3406127" y="1373124"/>
                  </a:lnTo>
                  <a:lnTo>
                    <a:pt x="3406127" y="1380744"/>
                  </a:lnTo>
                  <a:lnTo>
                    <a:pt x="3404616" y="1383792"/>
                  </a:lnTo>
                  <a:lnTo>
                    <a:pt x="3404616" y="1386840"/>
                  </a:lnTo>
                  <a:lnTo>
                    <a:pt x="3401568" y="1389888"/>
                  </a:lnTo>
                  <a:lnTo>
                    <a:pt x="3398520" y="1389888"/>
                  </a:lnTo>
                  <a:lnTo>
                    <a:pt x="3395459" y="1391412"/>
                  </a:lnTo>
                  <a:lnTo>
                    <a:pt x="3393948" y="1391412"/>
                  </a:lnTo>
                  <a:lnTo>
                    <a:pt x="3390900" y="1389888"/>
                  </a:lnTo>
                  <a:lnTo>
                    <a:pt x="3389376" y="1389888"/>
                  </a:lnTo>
                  <a:lnTo>
                    <a:pt x="3387852" y="1388351"/>
                  </a:lnTo>
                  <a:lnTo>
                    <a:pt x="3387852" y="1386840"/>
                  </a:lnTo>
                  <a:lnTo>
                    <a:pt x="3386328" y="1382268"/>
                  </a:lnTo>
                  <a:lnTo>
                    <a:pt x="3387852" y="1377696"/>
                  </a:lnTo>
                  <a:lnTo>
                    <a:pt x="3393948" y="1374635"/>
                  </a:lnTo>
                  <a:lnTo>
                    <a:pt x="3404616" y="1370076"/>
                  </a:lnTo>
                  <a:lnTo>
                    <a:pt x="3406127" y="1373124"/>
                  </a:lnTo>
                  <a:lnTo>
                    <a:pt x="3406127" y="1339900"/>
                  </a:lnTo>
                  <a:lnTo>
                    <a:pt x="3405568" y="1339405"/>
                  </a:lnTo>
                  <a:lnTo>
                    <a:pt x="3396246" y="1337284"/>
                  </a:lnTo>
                  <a:lnTo>
                    <a:pt x="3385743" y="1339405"/>
                  </a:lnTo>
                  <a:lnTo>
                    <a:pt x="3385362" y="1339405"/>
                  </a:lnTo>
                  <a:lnTo>
                    <a:pt x="3380232" y="1341120"/>
                  </a:lnTo>
                  <a:lnTo>
                    <a:pt x="3377184" y="1342644"/>
                  </a:lnTo>
                  <a:lnTo>
                    <a:pt x="3368027" y="1348740"/>
                  </a:lnTo>
                  <a:lnTo>
                    <a:pt x="3364979" y="1350251"/>
                  </a:lnTo>
                  <a:lnTo>
                    <a:pt x="3363468" y="1353312"/>
                  </a:lnTo>
                  <a:lnTo>
                    <a:pt x="3368027" y="1367028"/>
                  </a:lnTo>
                  <a:lnTo>
                    <a:pt x="3372612" y="1359408"/>
                  </a:lnTo>
                  <a:lnTo>
                    <a:pt x="3378695" y="1356360"/>
                  </a:lnTo>
                  <a:lnTo>
                    <a:pt x="3393948" y="1350251"/>
                  </a:lnTo>
                  <a:lnTo>
                    <a:pt x="3398520" y="1353312"/>
                  </a:lnTo>
                  <a:lnTo>
                    <a:pt x="3400044" y="1359408"/>
                  </a:lnTo>
                  <a:lnTo>
                    <a:pt x="3384804" y="1367028"/>
                  </a:lnTo>
                  <a:lnTo>
                    <a:pt x="3376231" y="1372171"/>
                  </a:lnTo>
                  <a:lnTo>
                    <a:pt x="3371088" y="1378458"/>
                  </a:lnTo>
                  <a:lnTo>
                    <a:pt x="3369373" y="1385887"/>
                  </a:lnTo>
                  <a:lnTo>
                    <a:pt x="3371088" y="1394460"/>
                  </a:lnTo>
                  <a:lnTo>
                    <a:pt x="3371151" y="1394663"/>
                  </a:lnTo>
                  <a:lnTo>
                    <a:pt x="3372612" y="1399032"/>
                  </a:lnTo>
                  <a:lnTo>
                    <a:pt x="3375660" y="1403604"/>
                  </a:lnTo>
                  <a:lnTo>
                    <a:pt x="3380232" y="1405128"/>
                  </a:lnTo>
                  <a:lnTo>
                    <a:pt x="3384804" y="1408176"/>
                  </a:lnTo>
                  <a:lnTo>
                    <a:pt x="3390900" y="1408176"/>
                  </a:lnTo>
                  <a:lnTo>
                    <a:pt x="3404616" y="1403604"/>
                  </a:lnTo>
                  <a:lnTo>
                    <a:pt x="3409188" y="1397508"/>
                  </a:lnTo>
                  <a:lnTo>
                    <a:pt x="3410407" y="1391412"/>
                  </a:lnTo>
                  <a:lnTo>
                    <a:pt x="3410712" y="1389888"/>
                  </a:lnTo>
                  <a:lnTo>
                    <a:pt x="3413760" y="1397508"/>
                  </a:lnTo>
                  <a:lnTo>
                    <a:pt x="3430511" y="1392936"/>
                  </a:lnTo>
                  <a:close/>
                </a:path>
                <a:path w="3568065" h="1522729">
                  <a:moveTo>
                    <a:pt x="3462528" y="278892"/>
                  </a:moveTo>
                  <a:lnTo>
                    <a:pt x="3459480" y="271272"/>
                  </a:lnTo>
                  <a:lnTo>
                    <a:pt x="3457956" y="268224"/>
                  </a:lnTo>
                  <a:lnTo>
                    <a:pt x="3456432" y="265176"/>
                  </a:lnTo>
                  <a:lnTo>
                    <a:pt x="3450336" y="260604"/>
                  </a:lnTo>
                  <a:lnTo>
                    <a:pt x="3445764" y="259092"/>
                  </a:lnTo>
                  <a:lnTo>
                    <a:pt x="3445764" y="277368"/>
                  </a:lnTo>
                  <a:lnTo>
                    <a:pt x="3444227" y="286512"/>
                  </a:lnTo>
                  <a:lnTo>
                    <a:pt x="3421380" y="278892"/>
                  </a:lnTo>
                  <a:lnTo>
                    <a:pt x="3422904" y="275844"/>
                  </a:lnTo>
                  <a:lnTo>
                    <a:pt x="3425952" y="272783"/>
                  </a:lnTo>
                  <a:lnTo>
                    <a:pt x="3429000" y="271272"/>
                  </a:lnTo>
                  <a:lnTo>
                    <a:pt x="3432048" y="268224"/>
                  </a:lnTo>
                  <a:lnTo>
                    <a:pt x="3435096" y="268224"/>
                  </a:lnTo>
                  <a:lnTo>
                    <a:pt x="3438144" y="269735"/>
                  </a:lnTo>
                  <a:lnTo>
                    <a:pt x="3444227" y="271272"/>
                  </a:lnTo>
                  <a:lnTo>
                    <a:pt x="3429000" y="255460"/>
                  </a:lnTo>
                  <a:lnTo>
                    <a:pt x="3422751" y="256476"/>
                  </a:lnTo>
                  <a:lnTo>
                    <a:pt x="3398520" y="289560"/>
                  </a:lnTo>
                  <a:lnTo>
                    <a:pt x="3398520" y="297167"/>
                  </a:lnTo>
                  <a:lnTo>
                    <a:pt x="3404616" y="312420"/>
                  </a:lnTo>
                  <a:lnTo>
                    <a:pt x="3412236" y="316992"/>
                  </a:lnTo>
                  <a:lnTo>
                    <a:pt x="3430511" y="323088"/>
                  </a:lnTo>
                  <a:lnTo>
                    <a:pt x="3438144" y="324612"/>
                  </a:lnTo>
                  <a:lnTo>
                    <a:pt x="3444227" y="323088"/>
                  </a:lnTo>
                  <a:lnTo>
                    <a:pt x="3448304" y="310883"/>
                  </a:lnTo>
                  <a:lnTo>
                    <a:pt x="3448812" y="309372"/>
                  </a:lnTo>
                  <a:lnTo>
                    <a:pt x="3442716" y="310883"/>
                  </a:lnTo>
                  <a:lnTo>
                    <a:pt x="3436620" y="310883"/>
                  </a:lnTo>
                  <a:lnTo>
                    <a:pt x="3430511" y="307835"/>
                  </a:lnTo>
                  <a:lnTo>
                    <a:pt x="3423678" y="304990"/>
                  </a:lnTo>
                  <a:lnTo>
                    <a:pt x="3419284" y="300990"/>
                  </a:lnTo>
                  <a:lnTo>
                    <a:pt x="3417443" y="295846"/>
                  </a:lnTo>
                  <a:lnTo>
                    <a:pt x="3417468" y="295656"/>
                  </a:lnTo>
                  <a:lnTo>
                    <a:pt x="3418332" y="289560"/>
                  </a:lnTo>
                  <a:lnTo>
                    <a:pt x="3456432" y="303276"/>
                  </a:lnTo>
                  <a:lnTo>
                    <a:pt x="3459480" y="295656"/>
                  </a:lnTo>
                  <a:lnTo>
                    <a:pt x="3461512" y="289560"/>
                  </a:lnTo>
                  <a:lnTo>
                    <a:pt x="3462528" y="286512"/>
                  </a:lnTo>
                  <a:lnTo>
                    <a:pt x="3462528" y="278892"/>
                  </a:lnTo>
                  <a:close/>
                </a:path>
                <a:path w="3568065" h="1522729">
                  <a:moveTo>
                    <a:pt x="3505504" y="1376172"/>
                  </a:moveTo>
                  <a:lnTo>
                    <a:pt x="3505466" y="1374635"/>
                  </a:lnTo>
                  <a:lnTo>
                    <a:pt x="3504717" y="1367993"/>
                  </a:lnTo>
                  <a:lnTo>
                    <a:pt x="3503511" y="1363980"/>
                  </a:lnTo>
                  <a:lnTo>
                    <a:pt x="3502152" y="1359408"/>
                  </a:lnTo>
                  <a:lnTo>
                    <a:pt x="3491382" y="1328928"/>
                  </a:lnTo>
                  <a:lnTo>
                    <a:pt x="3488156" y="1319784"/>
                  </a:lnTo>
                  <a:lnTo>
                    <a:pt x="3483864" y="1307592"/>
                  </a:lnTo>
                  <a:lnTo>
                    <a:pt x="3479279" y="1309128"/>
                  </a:lnTo>
                  <a:lnTo>
                    <a:pt x="3479279" y="1353312"/>
                  </a:lnTo>
                  <a:lnTo>
                    <a:pt x="3477768" y="1357884"/>
                  </a:lnTo>
                  <a:lnTo>
                    <a:pt x="3476244" y="1360932"/>
                  </a:lnTo>
                  <a:lnTo>
                    <a:pt x="3473196" y="1363980"/>
                  </a:lnTo>
                  <a:lnTo>
                    <a:pt x="3470148" y="1365504"/>
                  </a:lnTo>
                  <a:lnTo>
                    <a:pt x="3462528" y="1365504"/>
                  </a:lnTo>
                  <a:lnTo>
                    <a:pt x="3459480" y="1363980"/>
                  </a:lnTo>
                  <a:lnTo>
                    <a:pt x="3454895" y="1360932"/>
                  </a:lnTo>
                  <a:lnTo>
                    <a:pt x="3453384" y="1357884"/>
                  </a:lnTo>
                  <a:lnTo>
                    <a:pt x="3451860" y="1353312"/>
                  </a:lnTo>
                  <a:lnTo>
                    <a:pt x="3448812" y="1347216"/>
                  </a:lnTo>
                  <a:lnTo>
                    <a:pt x="3448812" y="1342644"/>
                  </a:lnTo>
                  <a:lnTo>
                    <a:pt x="3451860" y="1333500"/>
                  </a:lnTo>
                  <a:lnTo>
                    <a:pt x="3457943" y="1330452"/>
                  </a:lnTo>
                  <a:lnTo>
                    <a:pt x="3462528" y="1328928"/>
                  </a:lnTo>
                  <a:lnTo>
                    <a:pt x="3465576" y="1328928"/>
                  </a:lnTo>
                  <a:lnTo>
                    <a:pt x="3479279" y="1353312"/>
                  </a:lnTo>
                  <a:lnTo>
                    <a:pt x="3479279" y="1309128"/>
                  </a:lnTo>
                  <a:lnTo>
                    <a:pt x="3465931" y="1313561"/>
                  </a:lnTo>
                  <a:lnTo>
                    <a:pt x="3465512" y="1313561"/>
                  </a:lnTo>
                  <a:lnTo>
                    <a:pt x="3468611" y="1319784"/>
                  </a:lnTo>
                  <a:lnTo>
                    <a:pt x="3462528" y="1316736"/>
                  </a:lnTo>
                  <a:lnTo>
                    <a:pt x="3456432" y="1315212"/>
                  </a:lnTo>
                  <a:lnTo>
                    <a:pt x="3448812" y="1318260"/>
                  </a:lnTo>
                  <a:lnTo>
                    <a:pt x="3441179" y="1319784"/>
                  </a:lnTo>
                  <a:lnTo>
                    <a:pt x="3430155" y="1347216"/>
                  </a:lnTo>
                  <a:lnTo>
                    <a:pt x="3430968" y="1352562"/>
                  </a:lnTo>
                  <a:lnTo>
                    <a:pt x="3433559" y="1359408"/>
                  </a:lnTo>
                  <a:lnTo>
                    <a:pt x="3436620" y="1368552"/>
                  </a:lnTo>
                  <a:lnTo>
                    <a:pt x="3441179" y="1376172"/>
                  </a:lnTo>
                  <a:lnTo>
                    <a:pt x="3447288" y="1379220"/>
                  </a:lnTo>
                  <a:lnTo>
                    <a:pt x="3453384" y="1383792"/>
                  </a:lnTo>
                  <a:lnTo>
                    <a:pt x="3461004" y="1383792"/>
                  </a:lnTo>
                  <a:lnTo>
                    <a:pt x="3476244" y="1377696"/>
                  </a:lnTo>
                  <a:lnTo>
                    <a:pt x="3480816" y="1373124"/>
                  </a:lnTo>
                  <a:lnTo>
                    <a:pt x="3483356" y="1365504"/>
                  </a:lnTo>
                  <a:lnTo>
                    <a:pt x="3483864" y="1363980"/>
                  </a:lnTo>
                  <a:lnTo>
                    <a:pt x="3485388" y="1368552"/>
                  </a:lnTo>
                  <a:lnTo>
                    <a:pt x="3486912" y="1374635"/>
                  </a:lnTo>
                  <a:lnTo>
                    <a:pt x="3486912" y="1379220"/>
                  </a:lnTo>
                  <a:lnTo>
                    <a:pt x="3483864" y="1383792"/>
                  </a:lnTo>
                  <a:lnTo>
                    <a:pt x="3482327" y="1388351"/>
                  </a:lnTo>
                  <a:lnTo>
                    <a:pt x="3477768" y="1392936"/>
                  </a:lnTo>
                  <a:lnTo>
                    <a:pt x="3465576" y="1395984"/>
                  </a:lnTo>
                  <a:lnTo>
                    <a:pt x="3457943" y="1397508"/>
                  </a:lnTo>
                  <a:lnTo>
                    <a:pt x="3451860" y="1395984"/>
                  </a:lnTo>
                  <a:lnTo>
                    <a:pt x="3456432" y="1411224"/>
                  </a:lnTo>
                  <a:lnTo>
                    <a:pt x="3468611" y="1411224"/>
                  </a:lnTo>
                  <a:lnTo>
                    <a:pt x="3476244" y="1408176"/>
                  </a:lnTo>
                  <a:lnTo>
                    <a:pt x="3504730" y="1382268"/>
                  </a:lnTo>
                  <a:lnTo>
                    <a:pt x="3505504" y="1376172"/>
                  </a:lnTo>
                  <a:close/>
                </a:path>
                <a:path w="3568065" h="1522729">
                  <a:moveTo>
                    <a:pt x="3567684" y="1342644"/>
                  </a:moveTo>
                  <a:lnTo>
                    <a:pt x="3563112" y="1328928"/>
                  </a:lnTo>
                  <a:lnTo>
                    <a:pt x="3558527" y="1333500"/>
                  </a:lnTo>
                  <a:lnTo>
                    <a:pt x="3553968" y="1336535"/>
                  </a:lnTo>
                  <a:lnTo>
                    <a:pt x="3546818" y="1339405"/>
                  </a:lnTo>
                  <a:lnTo>
                    <a:pt x="3537204" y="1342644"/>
                  </a:lnTo>
                  <a:lnTo>
                    <a:pt x="3529584" y="1341120"/>
                  </a:lnTo>
                  <a:lnTo>
                    <a:pt x="3526536" y="1331976"/>
                  </a:lnTo>
                  <a:lnTo>
                    <a:pt x="3556165" y="1321308"/>
                  </a:lnTo>
                  <a:lnTo>
                    <a:pt x="3564636" y="1318260"/>
                  </a:lnTo>
                  <a:lnTo>
                    <a:pt x="3561588" y="1310640"/>
                  </a:lnTo>
                  <a:lnTo>
                    <a:pt x="3558527" y="1301496"/>
                  </a:lnTo>
                  <a:lnTo>
                    <a:pt x="3553968" y="1295400"/>
                  </a:lnTo>
                  <a:lnTo>
                    <a:pt x="3547859" y="1292352"/>
                  </a:lnTo>
                  <a:lnTo>
                    <a:pt x="3543630" y="1289177"/>
                  </a:lnTo>
                  <a:lnTo>
                    <a:pt x="3543630" y="1313561"/>
                  </a:lnTo>
                  <a:lnTo>
                    <a:pt x="3521964" y="1321308"/>
                  </a:lnTo>
                  <a:lnTo>
                    <a:pt x="3520427" y="1316736"/>
                  </a:lnTo>
                  <a:lnTo>
                    <a:pt x="3521202" y="1315212"/>
                  </a:lnTo>
                  <a:lnTo>
                    <a:pt x="3521964" y="1313561"/>
                  </a:lnTo>
                  <a:lnTo>
                    <a:pt x="3521964" y="1310640"/>
                  </a:lnTo>
                  <a:lnTo>
                    <a:pt x="3523488" y="1307592"/>
                  </a:lnTo>
                  <a:lnTo>
                    <a:pt x="3526536" y="1304544"/>
                  </a:lnTo>
                  <a:lnTo>
                    <a:pt x="3529584" y="1303020"/>
                  </a:lnTo>
                  <a:lnTo>
                    <a:pt x="3535680" y="1301496"/>
                  </a:lnTo>
                  <a:lnTo>
                    <a:pt x="3540252" y="1304544"/>
                  </a:lnTo>
                  <a:lnTo>
                    <a:pt x="3543249" y="1313561"/>
                  </a:lnTo>
                  <a:lnTo>
                    <a:pt x="3543630" y="1313561"/>
                  </a:lnTo>
                  <a:lnTo>
                    <a:pt x="3543630" y="1289177"/>
                  </a:lnTo>
                  <a:lnTo>
                    <a:pt x="3541776" y="1287780"/>
                  </a:lnTo>
                  <a:lnTo>
                    <a:pt x="3534143" y="1287780"/>
                  </a:lnTo>
                  <a:lnTo>
                    <a:pt x="3515868" y="1293876"/>
                  </a:lnTo>
                  <a:lnTo>
                    <a:pt x="3509759" y="1299972"/>
                  </a:lnTo>
                  <a:lnTo>
                    <a:pt x="3506711" y="1307592"/>
                  </a:lnTo>
                  <a:lnTo>
                    <a:pt x="3504146" y="1313561"/>
                  </a:lnTo>
                  <a:lnTo>
                    <a:pt x="3503295" y="1319974"/>
                  </a:lnTo>
                  <a:lnTo>
                    <a:pt x="3504146" y="1326654"/>
                  </a:lnTo>
                  <a:lnTo>
                    <a:pt x="3506711" y="1333500"/>
                  </a:lnTo>
                  <a:lnTo>
                    <a:pt x="3509759" y="1344168"/>
                  </a:lnTo>
                  <a:lnTo>
                    <a:pt x="3514344" y="1350251"/>
                  </a:lnTo>
                  <a:lnTo>
                    <a:pt x="3521964" y="1353312"/>
                  </a:lnTo>
                  <a:lnTo>
                    <a:pt x="3527717" y="1355026"/>
                  </a:lnTo>
                  <a:lnTo>
                    <a:pt x="3533775" y="1355598"/>
                  </a:lnTo>
                  <a:lnTo>
                    <a:pt x="3540391" y="1355026"/>
                  </a:lnTo>
                  <a:lnTo>
                    <a:pt x="3547859" y="1353312"/>
                  </a:lnTo>
                  <a:lnTo>
                    <a:pt x="3563112" y="1347216"/>
                  </a:lnTo>
                  <a:lnTo>
                    <a:pt x="3567684" y="13426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844295" y="5507735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r>
              <a:rPr spc="-25" dirty="0"/>
              <a:t>1</a:t>
            </a:r>
            <a:r>
              <a:rPr spc="-25" dirty="0"/>
              <a:t>6</a:t>
            </a:r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20241</Words>
  <Application>WPS Presentation</Application>
  <PresentationFormat>On-screen Show (4:3)</PresentationFormat>
  <Paragraphs>1164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Gadugi</vt:lpstr>
      <vt:lpstr>Calibri</vt:lpstr>
      <vt:lpstr>Times New Roman</vt:lpstr>
      <vt:lpstr>Arial</vt:lpstr>
      <vt:lpstr>Tahoma</vt:lpstr>
      <vt:lpstr>Consolas</vt:lpstr>
      <vt:lpstr>Segoe UI Symbol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HIBERNATE</dc:title>
  <dc:creator>pb nanditha</dc:creator>
  <cp:lastModifiedBy>Nishank Amte</cp:lastModifiedBy>
  <cp:revision>6</cp:revision>
  <dcterms:created xsi:type="dcterms:W3CDTF">2025-11-21T14:09:00Z</dcterms:created>
  <dcterms:modified xsi:type="dcterms:W3CDTF">2025-12-04T09:31:21Z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2023-03-30T11:00:00Z</vt:filetime>
  </property>
  <property fmtid="{D5CDD505-2E9C-101B-9397-08002B2CF9AE}" pid="3" name="LastSaved">
    <vt:filetime>2025-11-21T11:00:00Z</vt:filetime>
  </property>
  <property fmtid="{D5CDD505-2E9C-101B-9397-08002B2CF9AE}" pid="4" name="Producer">
    <vt:lpwstr>Microsoft: Print To PDF</vt:lpwstr>
  </property>
  <property fmtid="{D5CDD505-2E9C-101B-9397-08002B2CF9AE}" pid="5" name="ICV">
    <vt:lpwstr>3DF32A747DAF4DF9B19684CAAD61954E_12</vt:lpwstr>
  </property>
  <property fmtid="{D5CDD505-2E9C-101B-9397-08002B2CF9AE}" pid="6" name="KSOProductBuildVer">
    <vt:lpwstr>1033-12.2.0.23155</vt:lpwstr>
  </property>
</Properties>
</file>