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5"/>
  </p:notesMasterIdLst>
  <p:sldIdLst>
    <p:sldId id="270" r:id="rId3"/>
    <p:sldId id="334" r:id="rId4"/>
    <p:sldId id="335" r:id="rId5"/>
    <p:sldId id="336" r:id="rId6"/>
    <p:sldId id="337" r:id="rId7"/>
    <p:sldId id="338" r:id="rId8"/>
    <p:sldId id="339" r:id="rId9"/>
    <p:sldId id="340" r:id="rId10"/>
    <p:sldId id="341" r:id="rId11"/>
    <p:sldId id="342" r:id="rId12"/>
    <p:sldId id="343" r:id="rId13"/>
    <p:sldId id="344" r:id="rId14"/>
    <p:sldId id="345" r:id="rId15"/>
    <p:sldId id="346" r:id="rId16"/>
    <p:sldId id="347" r:id="rId17"/>
    <p:sldId id="348" r:id="rId18"/>
    <p:sldId id="349" r:id="rId19"/>
    <p:sldId id="350" r:id="rId20"/>
    <p:sldId id="351" r:id="rId21"/>
    <p:sldId id="352" r:id="rId22"/>
    <p:sldId id="353" r:id="rId23"/>
    <p:sldId id="354" r:id="rId24"/>
    <p:sldId id="355" r:id="rId25"/>
    <p:sldId id="356" r:id="rId26"/>
    <p:sldId id="357" r:id="rId27"/>
    <p:sldId id="358" r:id="rId28"/>
    <p:sldId id="359" r:id="rId29"/>
    <p:sldId id="360" r:id="rId30"/>
    <p:sldId id="361" r:id="rId31"/>
    <p:sldId id="362" r:id="rId32"/>
    <p:sldId id="267" r:id="rId33"/>
    <p:sldId id="266" r:id="rId34"/>
    <p:sldId id="268" r:id="rId35"/>
    <p:sldId id="259" r:id="rId36"/>
    <p:sldId id="269" r:id="rId37"/>
    <p:sldId id="256" r:id="rId38"/>
    <p:sldId id="265" r:id="rId39"/>
    <p:sldId id="257" r:id="rId40"/>
    <p:sldId id="262" r:id="rId41"/>
    <p:sldId id="263" r:id="rId42"/>
    <p:sldId id="275" r:id="rId43"/>
    <p:sldId id="276" r:id="rId44"/>
    <p:sldId id="271" r:id="rId45"/>
    <p:sldId id="272" r:id="rId46"/>
    <p:sldId id="273" r:id="rId47"/>
    <p:sldId id="274" r:id="rId48"/>
    <p:sldId id="320" r:id="rId49"/>
    <p:sldId id="321" r:id="rId50"/>
    <p:sldId id="322" r:id="rId51"/>
    <p:sldId id="323" r:id="rId52"/>
    <p:sldId id="324" r:id="rId53"/>
    <p:sldId id="325" r:id="rId54"/>
    <p:sldId id="326" r:id="rId55"/>
    <p:sldId id="327" r:id="rId56"/>
    <p:sldId id="328" r:id="rId57"/>
    <p:sldId id="329" r:id="rId58"/>
    <p:sldId id="330" r:id="rId59"/>
    <p:sldId id="331" r:id="rId60"/>
    <p:sldId id="332" r:id="rId61"/>
    <p:sldId id="333" r:id="rId62"/>
    <p:sldId id="278" r:id="rId63"/>
    <p:sldId id="279" r:id="rId64"/>
    <p:sldId id="280" r:id="rId65"/>
    <p:sldId id="282" r:id="rId66"/>
    <p:sldId id="285" r:id="rId67"/>
    <p:sldId id="281" r:id="rId68"/>
    <p:sldId id="286" r:id="rId69"/>
    <p:sldId id="287" r:id="rId70"/>
    <p:sldId id="288" r:id="rId71"/>
    <p:sldId id="289" r:id="rId72"/>
    <p:sldId id="290" r:id="rId73"/>
    <p:sldId id="291" r:id="rId74"/>
    <p:sldId id="283" r:id="rId75"/>
    <p:sldId id="292" r:id="rId76"/>
    <p:sldId id="293" r:id="rId77"/>
    <p:sldId id="294" r:id="rId78"/>
    <p:sldId id="295" r:id="rId79"/>
    <p:sldId id="284" r:id="rId80"/>
    <p:sldId id="296" r:id="rId81"/>
    <p:sldId id="297" r:id="rId82"/>
    <p:sldId id="298" r:id="rId83"/>
    <p:sldId id="300" r:id="rId84"/>
    <p:sldId id="299" r:id="rId85"/>
    <p:sldId id="308" r:id="rId86"/>
    <p:sldId id="301" r:id="rId87"/>
    <p:sldId id="306" r:id="rId88"/>
    <p:sldId id="315" r:id="rId89"/>
    <p:sldId id="316" r:id="rId90"/>
    <p:sldId id="317" r:id="rId91"/>
    <p:sldId id="311" r:id="rId92"/>
    <p:sldId id="303" r:id="rId93"/>
    <p:sldId id="309" r:id="rId94"/>
    <p:sldId id="310" r:id="rId95"/>
    <p:sldId id="314" r:id="rId96"/>
    <p:sldId id="305" r:id="rId97"/>
    <p:sldId id="302" r:id="rId98"/>
    <p:sldId id="312" r:id="rId99"/>
    <p:sldId id="304" r:id="rId100"/>
    <p:sldId id="307" r:id="rId101"/>
    <p:sldId id="313" r:id="rId102"/>
    <p:sldId id="318" r:id="rId103"/>
    <p:sldId id="319" r:id="rId10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8" Type="http://schemas.openxmlformats.org/officeDocument/2006/relationships/tableStyles" Target="tableStyles.xml"/><Relationship Id="rId107" Type="http://schemas.openxmlformats.org/officeDocument/2006/relationships/viewProps" Target="viewProps.xml"/><Relationship Id="rId106" Type="http://schemas.openxmlformats.org/officeDocument/2006/relationships/presProps" Target="presProps.xml"/><Relationship Id="rId105" Type="http://schemas.openxmlformats.org/officeDocument/2006/relationships/notesMaster" Target="notesMasters/notesMaster1.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0.xml"/><Relationship Id="rId1" Type="http://schemas.openxmlformats.org/officeDocument/2006/relationships/tags" Target="../tags/tag19.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xml"/><Relationship Id="rId1" Type="http://schemas.openxmlformats.org/officeDocument/2006/relationships/tags" Target="../tags/tag2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2970530"/>
            <a:ext cx="12192635" cy="681355"/>
          </a:xfrm>
        </p:spPr>
        <p:txBody>
          <a:bodyPr>
            <a:noAutofit/>
          </a:bodyPr>
          <a:p>
            <a:pPr algn="ctr"/>
            <a:r>
              <a:rPr lang="en-US" sz="6000" b="1">
                <a:solidFill>
                  <a:srgbClr val="FF0000"/>
                </a:solidFill>
              </a:rPr>
              <a:t>JAVA OOPS</a:t>
            </a:r>
            <a:endParaRPr lang="en-US" sz="6000" b="1">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5410" y="0"/>
            <a:ext cx="10515600" cy="506095"/>
          </a:xfrm>
        </p:spPr>
        <p:txBody>
          <a:bodyPr/>
          <a:p>
            <a:r>
              <a:rPr lang="en-US" sz="2400" b="1">
                <a:solidFill>
                  <a:srgbClr val="FF0000"/>
                </a:solidFill>
              </a:rPr>
              <a:t>java size and Byte method</a:t>
            </a:r>
            <a:endParaRPr lang="en-US" sz="2400" b="1">
              <a:solidFill>
                <a:srgbClr val="FF0000"/>
              </a:solidFill>
            </a:endParaRPr>
          </a:p>
        </p:txBody>
      </p:sp>
      <p:sp>
        <p:nvSpPr>
          <p:cNvPr id="3" name="Content Placeholder 2"/>
          <p:cNvSpPr>
            <a:spLocks noGrp="1"/>
          </p:cNvSpPr>
          <p:nvPr>
            <p:ph idx="1"/>
          </p:nvPr>
        </p:nvSpPr>
        <p:spPr>
          <a:xfrm>
            <a:off x="105410" y="506095"/>
            <a:ext cx="11893550" cy="6265545"/>
          </a:xfrm>
        </p:spPr>
        <p:txBody>
          <a:bodyPr/>
          <a:p>
            <a:r>
              <a:rPr lang="en-US" sz="2000"/>
              <a:t>size method show the datatype size of the datatypes in bits</a:t>
            </a:r>
            <a:endParaRPr lang="en-US" sz="2000"/>
          </a:p>
          <a:p>
            <a:r>
              <a:rPr lang="en-US" sz="2000"/>
              <a:t>byte method show the datatye size in the bit .</a:t>
            </a:r>
            <a:endParaRPr lang="en-US" sz="2000"/>
          </a:p>
        </p:txBody>
      </p:sp>
      <p:graphicFrame>
        <p:nvGraphicFramePr>
          <p:cNvPr id="4" name="Table 3"/>
          <p:cNvGraphicFramePr/>
          <p:nvPr>
            <p:custDataLst>
              <p:tags r:id="rId1"/>
            </p:custDataLst>
          </p:nvPr>
        </p:nvGraphicFramePr>
        <p:xfrm>
          <a:off x="105410" y="1812290"/>
          <a:ext cx="11894820" cy="4966335"/>
        </p:xfrm>
        <a:graphic>
          <a:graphicData uri="http://schemas.openxmlformats.org/drawingml/2006/table">
            <a:tbl>
              <a:tblPr/>
              <a:tblGrid>
                <a:gridCol w="3964940"/>
                <a:gridCol w="3964940"/>
                <a:gridCol w="3964940"/>
              </a:tblGrid>
              <a:tr h="451485">
                <a:tc>
                  <a:txBody>
                    <a:bodyPr/>
                    <a:p>
                      <a:pPr algn="ctr"/>
                      <a:r>
                        <a:rPr sz="1800" b="1">
                          <a:latin typeface="Cambria" panose="02040503050406030204" charset="0"/>
                          <a:cs typeface="Cambria" panose="02040503050406030204" charset="0"/>
                        </a:rPr>
                        <a:t>Unit</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800" b="1">
                          <a:latin typeface="Cambria" panose="02040503050406030204" charset="0"/>
                          <a:cs typeface="Cambria" panose="02040503050406030204" charset="0"/>
                        </a:rPr>
                        <a:t>Abbreviation</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800" b="1">
                          <a:latin typeface="Cambria" panose="02040503050406030204" charset="0"/>
                          <a:cs typeface="Cambria" panose="02040503050406030204" charset="0"/>
                        </a:rPr>
                        <a:t>Description</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1485">
                <a:tc>
                  <a:txBody>
                    <a:bodyPr/>
                    <a:p>
                      <a:pPr algn="ctr"/>
                      <a:r>
                        <a:rPr sz="1600" b="0">
                          <a:latin typeface="Cambria" panose="02040503050406030204" charset="0"/>
                          <a:cs typeface="Cambria" panose="02040503050406030204" charset="0"/>
                        </a:rPr>
                        <a:t>Bit</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bit</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Smallest unit of digital data</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1485">
                <a:tc>
                  <a:txBody>
                    <a:bodyPr/>
                    <a:p>
                      <a:pPr algn="ctr"/>
                      <a:r>
                        <a:rPr sz="1600" b="0">
                          <a:latin typeface="Cambria" panose="02040503050406030204" charset="0"/>
                          <a:cs typeface="Cambria" panose="02040503050406030204" charset="0"/>
                        </a:rPr>
                        <a:t>Byte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B</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1 Byte = 8 Bits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1485">
                <a:tc>
                  <a:txBody>
                    <a:bodyPr/>
                    <a:p>
                      <a:pPr algn="ctr"/>
                      <a:r>
                        <a:rPr sz="1600" b="0">
                          <a:latin typeface="Cambria" panose="02040503050406030204" charset="0"/>
                          <a:cs typeface="Cambria" panose="02040503050406030204" charset="0"/>
                        </a:rPr>
                        <a:t>Kilobyte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KB</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1 KB = 1,024 Bytes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1485">
                <a:tc>
                  <a:txBody>
                    <a:bodyPr/>
                    <a:p>
                      <a:pPr algn="ctr"/>
                      <a:r>
                        <a:rPr sz="1600" b="0">
                          <a:latin typeface="Cambria" panose="02040503050406030204" charset="0"/>
                          <a:cs typeface="Cambria" panose="02040503050406030204" charset="0"/>
                        </a:rPr>
                        <a:t>Megabyte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MB</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1 MB = 1,024 KB</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1485">
                <a:tc>
                  <a:txBody>
                    <a:bodyPr/>
                    <a:p>
                      <a:pPr algn="ctr"/>
                      <a:r>
                        <a:rPr sz="1600" b="0">
                          <a:latin typeface="Cambria" panose="02040503050406030204" charset="0"/>
                          <a:cs typeface="Cambria" panose="02040503050406030204" charset="0"/>
                        </a:rPr>
                        <a:t>Gigabyte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GB</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1 GB = 1,024 MB</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1485">
                <a:tc>
                  <a:txBody>
                    <a:bodyPr/>
                    <a:p>
                      <a:pPr algn="ctr"/>
                      <a:r>
                        <a:rPr sz="1600" b="0">
                          <a:latin typeface="Cambria" panose="02040503050406030204" charset="0"/>
                          <a:cs typeface="Cambria" panose="02040503050406030204" charset="0"/>
                        </a:rPr>
                        <a:t>Terabyte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TB</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1 TB = 1,024 GB</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1485">
                <a:tc>
                  <a:txBody>
                    <a:bodyPr/>
                    <a:p>
                      <a:pPr algn="ctr"/>
                      <a:r>
                        <a:rPr sz="1600" b="0">
                          <a:latin typeface="Cambria" panose="02040503050406030204" charset="0"/>
                          <a:cs typeface="Cambria" panose="02040503050406030204" charset="0"/>
                        </a:rPr>
                        <a:t>Petabyte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PB</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1 PB = 1,024 TB</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1485">
                <a:tc>
                  <a:txBody>
                    <a:bodyPr/>
                    <a:p>
                      <a:pPr algn="ctr"/>
                      <a:r>
                        <a:rPr sz="1600" b="0">
                          <a:latin typeface="Cambria" panose="02040503050406030204" charset="0"/>
                          <a:cs typeface="Cambria" panose="02040503050406030204" charset="0"/>
                        </a:rPr>
                        <a:t>Exabyte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EB</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1 EB = 1,024 PB</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1485">
                <a:tc>
                  <a:txBody>
                    <a:bodyPr/>
                    <a:p>
                      <a:pPr algn="ctr"/>
                      <a:r>
                        <a:rPr sz="1600" b="0">
                          <a:latin typeface="Cambria" panose="02040503050406030204" charset="0"/>
                          <a:cs typeface="Cambria" panose="02040503050406030204" charset="0"/>
                        </a:rPr>
                        <a:t>Zettabyte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ZB</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1 ZB = 1,024 EB</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1485">
                <a:tc>
                  <a:txBody>
                    <a:bodyPr/>
                    <a:p>
                      <a:pPr algn="ctr"/>
                      <a:r>
                        <a:rPr sz="1600" b="0">
                          <a:latin typeface="Cambria" panose="02040503050406030204" charset="0"/>
                          <a:cs typeface="Cambria" panose="02040503050406030204" charset="0"/>
                        </a:rPr>
                        <a:t>Yottabyte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YB</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1 YB = 1,024 ZB</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101600"/>
            <a:ext cx="12097385" cy="316865"/>
          </a:xfrm>
        </p:spPr>
        <p:txBody>
          <a:bodyPr>
            <a:noAutofit/>
          </a:bodyPr>
          <a:p>
            <a:r>
              <a:rPr lang="en-US" altLang="en-US" sz="2000" b="1">
                <a:solidFill>
                  <a:srgbClr val="FF0000"/>
                </a:solidFill>
                <a:sym typeface="+mn-ea"/>
              </a:rPr>
              <a:t>ASCII stands for American Standard Code for Information Interchange.</a:t>
            </a:r>
            <a:endParaRPr lang="en-US" altLang="en-US" sz="2000" b="1">
              <a:solidFill>
                <a:srgbClr val="FF0000"/>
              </a:solidFill>
              <a:sym typeface="+mn-ea"/>
            </a:endParaRPr>
          </a:p>
        </p:txBody>
      </p:sp>
      <p:sp>
        <p:nvSpPr>
          <p:cNvPr id="3" name="Content Placeholder 2"/>
          <p:cNvSpPr>
            <a:spLocks noGrp="1"/>
          </p:cNvSpPr>
          <p:nvPr>
            <p:ph idx="1"/>
          </p:nvPr>
        </p:nvSpPr>
        <p:spPr>
          <a:xfrm>
            <a:off x="90805" y="580390"/>
            <a:ext cx="12005945" cy="6036310"/>
          </a:xfrm>
        </p:spPr>
        <p:txBody>
          <a:bodyPr>
            <a:normAutofit fontScale="90000"/>
          </a:bodyPr>
          <a:p>
            <a:r>
              <a:rPr lang="en-US" altLang="en-US" sz="2000">
                <a:latin typeface="Cambria" panose="02040503050406030204" charset="0"/>
                <a:cs typeface="Cambria" panose="02040503050406030204" charset="0"/>
              </a:rPr>
              <a:t>ASCII was developed by a committee of the American National Standards Institute (ANSI), specifically under the guidance of the American Standards Association (ASA), which later became ANSI.</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It’s a character encoding standard used to represent text in computers and other devices that work with text. ASCII assigns a unique number (from 0 to 127) to letters, digits, punctuation marks, and control characters. For example:</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The letter A is represented by the number 65.</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The digit 0 is represented by the number 48.</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The space character is 32.</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ASCII was one of the first widely used standards for text representation in computers, making it easier for different systems to exchange information.</a:t>
            </a:r>
            <a:endParaRPr lang="en-US" altLang="en-US" sz="2000">
              <a:latin typeface="Cambria" panose="02040503050406030204" charset="0"/>
              <a:cs typeface="Cambria" panose="02040503050406030204" charset="0"/>
            </a:endParaRPr>
          </a:p>
          <a:p>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ASCII codes are numbers assigned to characters (like 'A' = 65).</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Computers only understand binary (0s and 1s).</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So, each ASCII code number is stored and processed in binary form inside a computer.</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For example:</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The letter A has ASCII code 65.</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The decimal number 65 is represented in binary as 01000001 (8 bits).</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So, when you type or store "A", the computer actually works with the binary number 01000001.</a:t>
            </a:r>
            <a:endParaRPr lang="en-US" altLang="en-US" sz="2000">
              <a:latin typeface="Cambria" panose="02040503050406030204" charset="0"/>
              <a:cs typeface="Cambria" panose="02040503050406030204" charset="0"/>
            </a:endParaRPr>
          </a:p>
          <a:p>
            <a:endParaRPr lang="en-US" altLang="en-US" sz="2000">
              <a:latin typeface="Cambria" panose="02040503050406030204" charset="0"/>
              <a:cs typeface="Cambria" panose="02040503050406030204" charset="0"/>
            </a:endParaRPr>
          </a:p>
          <a:p>
            <a:endParaRPr lang="en-US" altLang="en-US" sz="2000">
              <a:latin typeface="Cambria" panose="02040503050406030204" charset="0"/>
              <a:cs typeface="Cambria" panose="0204050305040603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52400" y="104140"/>
            <a:ext cx="10515600" cy="412750"/>
          </a:xfrm>
        </p:spPr>
        <p:txBody>
          <a:bodyPr>
            <a:normAutofit fontScale="90000"/>
          </a:bodyPr>
          <a:p>
            <a:r>
              <a:rPr lang="en-US" sz="3200" b="1">
                <a:solidFill>
                  <a:srgbClr val="FF0000"/>
                </a:solidFill>
                <a:latin typeface="Cambria" panose="02040503050406030204" charset="0"/>
                <a:cs typeface="Cambria" panose="02040503050406030204" charset="0"/>
              </a:rPr>
              <a:t>Java Token</a:t>
            </a:r>
            <a:endParaRPr lang="en-US" sz="3200" b="1">
              <a:solidFill>
                <a:srgbClr val="FF0000"/>
              </a:solidFill>
              <a:latin typeface="Cambria" panose="02040503050406030204" charset="0"/>
              <a:cs typeface="Cambria" panose="02040503050406030204" charset="0"/>
            </a:endParaRPr>
          </a:p>
        </p:txBody>
      </p:sp>
      <p:sp>
        <p:nvSpPr>
          <p:cNvPr id="3" name="Content Placeholder 2"/>
          <p:cNvSpPr>
            <a:spLocks noGrp="1"/>
          </p:cNvSpPr>
          <p:nvPr>
            <p:ph idx="1"/>
          </p:nvPr>
        </p:nvSpPr>
        <p:spPr>
          <a:xfrm>
            <a:off x="152400" y="695960"/>
            <a:ext cx="11706860" cy="5902325"/>
          </a:xfrm>
        </p:spPr>
        <p:txBody>
          <a:bodyPr>
            <a:noAutofit/>
          </a:bodyPr>
          <a:p>
            <a:r>
              <a:rPr lang="en-US" altLang="en-US" sz="2000"/>
              <a:t>In Java, a token is the smallest unit in a program that is meaningful to the compiler. During the compilation process, the source code is broken down into these tokens to understand its structure and meaning.</a:t>
            </a:r>
            <a:endParaRPr lang="en-US" altLang="en-US" sz="2000"/>
          </a:p>
          <a:p>
            <a:endParaRPr lang="en-US" altLang="en-US" sz="2000"/>
          </a:p>
          <a:p>
            <a:r>
              <a:rPr lang="zh-CN" altLang="en-US" sz="2000"/>
              <a:t>🔹</a:t>
            </a:r>
            <a:r>
              <a:rPr lang="en-US" altLang="en-US" sz="2000"/>
              <a:t> Types of Tokens in Java</a:t>
            </a:r>
            <a:endParaRPr lang="en-US" altLang="en-US" sz="2000"/>
          </a:p>
          <a:p>
            <a:r>
              <a:rPr lang="en-US" altLang="en-US" sz="2000"/>
              <a:t>Here are the main types of tokens in Java:</a:t>
            </a:r>
            <a:endParaRPr lang="en-US" altLang="en-US" sz="2000"/>
          </a:p>
          <a:p>
            <a:r>
              <a:rPr lang="en-US" altLang="en-US" sz="2000"/>
              <a:t>Keywords</a:t>
            </a:r>
            <a:endParaRPr lang="en-US" altLang="en-US" sz="2000"/>
          </a:p>
          <a:p>
            <a:r>
              <a:rPr lang="en-US" altLang="en-US" sz="2000"/>
              <a:t>Identifiers</a:t>
            </a:r>
            <a:endParaRPr lang="en-US" altLang="en-US" sz="2000"/>
          </a:p>
          <a:p>
            <a:r>
              <a:rPr lang="en-US" altLang="en-US" sz="2000"/>
              <a:t>Literals</a:t>
            </a:r>
            <a:endParaRPr lang="en-US" altLang="en-US" sz="2000"/>
          </a:p>
          <a:p>
            <a:r>
              <a:rPr lang="en-US" altLang="en-US" sz="2000"/>
              <a:t>Operators</a:t>
            </a:r>
            <a:endParaRPr lang="en-US" altLang="en-US" sz="2000"/>
          </a:p>
          <a:p>
            <a:r>
              <a:rPr lang="en-US" altLang="en-US" sz="2000"/>
              <a:t>Separators / Delimiters</a:t>
            </a:r>
            <a:endParaRPr lang="en-US" altLang="en-US" sz="2000"/>
          </a:p>
          <a:p>
            <a:r>
              <a:rPr lang="en-US" altLang="en-US" sz="2000"/>
              <a:t>Comments (not tokens in compilation, but part of lexical analysis)</a:t>
            </a:r>
            <a:endParaRPr lang="en-US" altLang="en-US" sz="2000"/>
          </a:p>
          <a:p>
            <a:endParaRPr lang="en-US" altLang="en-US" sz="2000"/>
          </a:p>
          <a:p>
            <a:endParaRPr lang="en-US" alt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09855"/>
            <a:ext cx="9144000" cy="461010"/>
          </a:xfrm>
        </p:spPr>
        <p:txBody>
          <a:bodyPr>
            <a:noAutofit/>
          </a:bodyPr>
          <a:lstStyle/>
          <a:p>
            <a:r>
              <a:rPr lang="en-US" sz="2800" b="1" dirty="0">
                <a:solidFill>
                  <a:srgbClr val="FF0000"/>
                </a:solidFill>
                <a:latin typeface="Cambria" panose="02040503050406030204" charset="0"/>
                <a:cs typeface="Cambria" panose="02040503050406030204" charset="0"/>
              </a:rPr>
              <a:t>Java Keywords</a:t>
            </a:r>
            <a:endParaRPr lang="en-US" sz="2800" b="1" dirty="0">
              <a:solidFill>
                <a:srgbClr val="FF0000"/>
              </a:solidFill>
              <a:latin typeface="Cambria" panose="02040503050406030204" charset="0"/>
              <a:cs typeface="Cambria" panose="02040503050406030204" charset="0"/>
            </a:endParaRPr>
          </a:p>
        </p:txBody>
      </p:sp>
      <p:graphicFrame>
        <p:nvGraphicFramePr>
          <p:cNvPr id="5" name="Table 4"/>
          <p:cNvGraphicFramePr/>
          <p:nvPr>
            <p:custDataLst>
              <p:tags r:id="rId1"/>
            </p:custDataLst>
          </p:nvPr>
        </p:nvGraphicFramePr>
        <p:xfrm>
          <a:off x="119380" y="1351915"/>
          <a:ext cx="11972925" cy="5372100"/>
        </p:xfrm>
        <a:graphic>
          <a:graphicData uri="http://schemas.openxmlformats.org/drawingml/2006/table">
            <a:tbl>
              <a:tblPr/>
              <a:tblGrid>
                <a:gridCol w="2394585"/>
                <a:gridCol w="2394585"/>
                <a:gridCol w="2394585"/>
                <a:gridCol w="2394585"/>
                <a:gridCol w="2394585"/>
              </a:tblGrid>
              <a:tr h="537210">
                <a:tc>
                  <a:txBody>
                    <a:bodyPr/>
                    <a:p>
                      <a:pPr algn="l"/>
                      <a:r>
                        <a:rPr sz="1800" b="0" i="0">
                          <a:solidFill>
                            <a:srgbClr val="000000"/>
                          </a:solidFill>
                          <a:latin typeface="Cambria" panose="02040503050406030204" charset="0"/>
                          <a:ea typeface="Monaco"/>
                          <a:cs typeface="Cambria" panose="02040503050406030204" charset="0"/>
                        </a:rPr>
                        <a:t>abstract</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continue</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for</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new</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switch</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r>
              <a:tr h="537210">
                <a:tc>
                  <a:txBody>
                    <a:bodyPr/>
                    <a:p>
                      <a:r>
                        <a:rPr sz="1800" b="0" i="0">
                          <a:solidFill>
                            <a:srgbClr val="000000"/>
                          </a:solidFill>
                          <a:latin typeface="Cambria" panose="02040503050406030204" charset="0"/>
                          <a:ea typeface="Monaco"/>
                          <a:cs typeface="Cambria" panose="02040503050406030204" charset="0"/>
                        </a:rPr>
                        <a:t>assert</a:t>
                      </a:r>
                      <a:r>
                        <a:rPr sz="1800" b="0" i="0" baseline="30000">
                          <a:solidFill>
                            <a:srgbClr val="000000"/>
                          </a:solidFill>
                          <a:latin typeface="Cambria" panose="02040503050406030204" charset="0"/>
                          <a:ea typeface="Arial" panose="020B0604020202020204"/>
                          <a:cs typeface="Cambria" panose="02040503050406030204" charset="0"/>
                        </a:rPr>
                        <a:t>***</a:t>
                      </a:r>
                      <a:endParaRPr sz="1800" b="0" i="0" baseline="30000">
                        <a:solidFill>
                          <a:srgbClr val="000000"/>
                        </a:solidFill>
                        <a:latin typeface="Cambria" panose="02040503050406030204" charset="0"/>
                        <a:ea typeface="Arial" panose="020B0604020202020204"/>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default</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goto</a:t>
                      </a:r>
                      <a:r>
                        <a:rPr sz="1800" b="0" i="0" baseline="30000">
                          <a:solidFill>
                            <a:srgbClr val="000000"/>
                          </a:solidFill>
                          <a:latin typeface="Cambria" panose="02040503050406030204" charset="0"/>
                          <a:ea typeface="Arial" panose="020B0604020202020204"/>
                          <a:cs typeface="Cambria" panose="02040503050406030204" charset="0"/>
                        </a:rPr>
                        <a:t>*</a:t>
                      </a:r>
                      <a:endParaRPr sz="1800" b="0" i="0" baseline="30000">
                        <a:solidFill>
                          <a:srgbClr val="000000"/>
                        </a:solidFill>
                        <a:latin typeface="Cambria" panose="02040503050406030204" charset="0"/>
                        <a:ea typeface="Arial" panose="020B0604020202020204"/>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package</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synchronized</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r>
              <a:tr h="537210">
                <a:tc>
                  <a:txBody>
                    <a:bodyPr/>
                    <a:p>
                      <a:pPr algn="l"/>
                      <a:r>
                        <a:rPr sz="1800" b="0" i="0">
                          <a:solidFill>
                            <a:srgbClr val="000000"/>
                          </a:solidFill>
                          <a:latin typeface="Cambria" panose="02040503050406030204" charset="0"/>
                          <a:ea typeface="Monaco"/>
                          <a:cs typeface="Cambria" panose="02040503050406030204" charset="0"/>
                        </a:rPr>
                        <a:t>boolean</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do</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if</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private</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this</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r>
              <a:tr h="537210">
                <a:tc>
                  <a:txBody>
                    <a:bodyPr/>
                    <a:p>
                      <a:pPr algn="l"/>
                      <a:r>
                        <a:rPr sz="1800" b="0" i="0">
                          <a:solidFill>
                            <a:srgbClr val="000000"/>
                          </a:solidFill>
                          <a:latin typeface="Cambria" panose="02040503050406030204" charset="0"/>
                          <a:ea typeface="Monaco"/>
                          <a:cs typeface="Cambria" panose="02040503050406030204" charset="0"/>
                        </a:rPr>
                        <a:t>break</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double</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implements</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protected</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throw</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r>
              <a:tr h="537210">
                <a:tc>
                  <a:txBody>
                    <a:bodyPr/>
                    <a:p>
                      <a:pPr algn="l"/>
                      <a:r>
                        <a:rPr sz="1800" b="0" i="0">
                          <a:solidFill>
                            <a:srgbClr val="000000"/>
                          </a:solidFill>
                          <a:latin typeface="Cambria" panose="02040503050406030204" charset="0"/>
                          <a:ea typeface="Monaco"/>
                          <a:cs typeface="Cambria" panose="02040503050406030204" charset="0"/>
                        </a:rPr>
                        <a:t>byte</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else</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import</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public</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throws</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r>
              <a:tr h="537210">
                <a:tc>
                  <a:txBody>
                    <a:bodyPr/>
                    <a:p>
                      <a:pPr algn="l"/>
                      <a:r>
                        <a:rPr sz="1800" b="0" i="0">
                          <a:solidFill>
                            <a:srgbClr val="000000"/>
                          </a:solidFill>
                          <a:latin typeface="Cambria" panose="02040503050406030204" charset="0"/>
                          <a:ea typeface="Monaco"/>
                          <a:cs typeface="Cambria" panose="02040503050406030204" charset="0"/>
                        </a:rPr>
                        <a:t>case</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enum</a:t>
                      </a:r>
                      <a:r>
                        <a:rPr sz="1800" b="0" i="0" baseline="30000">
                          <a:solidFill>
                            <a:srgbClr val="000000"/>
                          </a:solidFill>
                          <a:latin typeface="Cambria" panose="02040503050406030204" charset="0"/>
                          <a:ea typeface="Arial" panose="020B0604020202020204"/>
                          <a:cs typeface="Cambria" panose="02040503050406030204" charset="0"/>
                        </a:rPr>
                        <a:t>****</a:t>
                      </a:r>
                      <a:endParaRPr sz="1800" b="0" i="0" baseline="30000">
                        <a:solidFill>
                          <a:srgbClr val="000000"/>
                        </a:solidFill>
                        <a:latin typeface="Cambria" panose="02040503050406030204" charset="0"/>
                        <a:ea typeface="Arial" panose="020B0604020202020204"/>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instanceof</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return</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transient</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r>
              <a:tr h="537210">
                <a:tc>
                  <a:txBody>
                    <a:bodyPr/>
                    <a:p>
                      <a:pPr algn="l"/>
                      <a:r>
                        <a:rPr sz="1800" b="0" i="0">
                          <a:solidFill>
                            <a:srgbClr val="000000"/>
                          </a:solidFill>
                          <a:latin typeface="Cambria" panose="02040503050406030204" charset="0"/>
                          <a:ea typeface="Monaco"/>
                          <a:cs typeface="Cambria" panose="02040503050406030204" charset="0"/>
                        </a:rPr>
                        <a:t>catch</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extends</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int</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short</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try</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r>
              <a:tr h="537210">
                <a:tc>
                  <a:txBody>
                    <a:bodyPr/>
                    <a:p>
                      <a:pPr algn="l"/>
                      <a:r>
                        <a:rPr sz="1800" b="0" i="0">
                          <a:solidFill>
                            <a:srgbClr val="000000"/>
                          </a:solidFill>
                          <a:latin typeface="Cambria" panose="02040503050406030204" charset="0"/>
                          <a:ea typeface="Monaco"/>
                          <a:cs typeface="Cambria" panose="02040503050406030204" charset="0"/>
                        </a:rPr>
                        <a:t>char</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final</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interface</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static</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void</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r>
              <a:tr h="537210">
                <a:tc>
                  <a:txBody>
                    <a:bodyPr/>
                    <a:p>
                      <a:pPr algn="l"/>
                      <a:r>
                        <a:rPr sz="1800" b="0" i="0">
                          <a:solidFill>
                            <a:srgbClr val="000000"/>
                          </a:solidFill>
                          <a:latin typeface="Cambria" panose="02040503050406030204" charset="0"/>
                          <a:ea typeface="Monaco"/>
                          <a:cs typeface="Cambria" panose="02040503050406030204" charset="0"/>
                        </a:rPr>
                        <a:t>class</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finally</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long</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strictfp</a:t>
                      </a:r>
                      <a:r>
                        <a:rPr sz="1800" b="0" i="0" baseline="30000">
                          <a:solidFill>
                            <a:srgbClr val="000000"/>
                          </a:solidFill>
                          <a:latin typeface="Cambria" panose="02040503050406030204" charset="0"/>
                          <a:ea typeface="Arial" panose="020B0604020202020204"/>
                          <a:cs typeface="Cambria" panose="02040503050406030204" charset="0"/>
                        </a:rPr>
                        <a:t>**</a:t>
                      </a:r>
                      <a:endParaRPr sz="1800" b="0" i="0" baseline="30000">
                        <a:solidFill>
                          <a:srgbClr val="000000"/>
                        </a:solidFill>
                        <a:latin typeface="Cambria" panose="02040503050406030204" charset="0"/>
                        <a:ea typeface="Arial" panose="020B0604020202020204"/>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volatile</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r>
              <a:tr h="537210">
                <a:tc>
                  <a:txBody>
                    <a:bodyPr/>
                    <a:p>
                      <a:pPr algn="l"/>
                      <a:r>
                        <a:rPr sz="1800" b="0" i="0">
                          <a:solidFill>
                            <a:srgbClr val="000000"/>
                          </a:solidFill>
                          <a:latin typeface="Cambria" panose="02040503050406030204" charset="0"/>
                          <a:ea typeface="Monaco"/>
                          <a:cs typeface="Cambria" panose="02040503050406030204" charset="0"/>
                        </a:rPr>
                        <a:t>const</a:t>
                      </a:r>
                      <a:r>
                        <a:rPr sz="1800" b="0" i="0" baseline="30000">
                          <a:solidFill>
                            <a:srgbClr val="000000"/>
                          </a:solidFill>
                          <a:latin typeface="Cambria" panose="02040503050406030204" charset="0"/>
                          <a:ea typeface="Arial" panose="020B0604020202020204"/>
                          <a:cs typeface="Cambria" panose="02040503050406030204" charset="0"/>
                        </a:rPr>
                        <a:t>*</a:t>
                      </a:r>
                      <a:endParaRPr sz="1800" b="0" i="0" baseline="30000">
                        <a:solidFill>
                          <a:srgbClr val="000000"/>
                        </a:solidFill>
                        <a:latin typeface="Cambria" panose="02040503050406030204" charset="0"/>
                        <a:ea typeface="Arial" panose="020B0604020202020204"/>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float</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native</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super</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c>
                  <a:txBody>
                    <a:bodyPr/>
                    <a:p>
                      <a:pPr algn="l"/>
                      <a:r>
                        <a:rPr sz="1800" b="0" i="0">
                          <a:solidFill>
                            <a:srgbClr val="000000"/>
                          </a:solidFill>
                          <a:latin typeface="Cambria" panose="02040503050406030204" charset="0"/>
                          <a:ea typeface="Monaco"/>
                          <a:cs typeface="Cambria" panose="02040503050406030204" charset="0"/>
                        </a:rPr>
                        <a:t>while</a:t>
                      </a:r>
                      <a:endParaRPr sz="1800" b="0" i="0">
                        <a:solidFill>
                          <a:srgbClr val="000000"/>
                        </a:solidFill>
                        <a:latin typeface="Cambria" panose="02040503050406030204" charset="0"/>
                        <a:ea typeface="Monaco"/>
                        <a:cs typeface="Cambria" panose="02040503050406030204" charset="0"/>
                      </a:endParaRPr>
                    </a:p>
                  </a:txBody>
                  <a:tcPr marL="0" marR="0" marT="0" marB="0" anchor="ctr" anchorCtr="0">
                    <a:lnL>
                      <a:noFill/>
                    </a:lnL>
                    <a:lnR>
                      <a:noFill/>
                    </a:lnR>
                    <a:lnT>
                      <a:noFill/>
                    </a:lnT>
                    <a:lnB>
                      <a:noFill/>
                    </a:lnB>
                    <a:noFill/>
                  </a:tcPr>
                </a:tc>
              </a:tr>
            </a:tbl>
          </a:graphicData>
        </a:graphic>
      </p:graphicFrame>
      <p:sp>
        <p:nvSpPr>
          <p:cNvPr id="7" name="Text Box 6"/>
          <p:cNvSpPr txBox="1"/>
          <p:nvPr/>
        </p:nvSpPr>
        <p:spPr>
          <a:xfrm>
            <a:off x="118745" y="570865"/>
            <a:ext cx="11757025" cy="631190"/>
          </a:xfrm>
          <a:prstGeom prst="rect">
            <a:avLst/>
          </a:prstGeom>
        </p:spPr>
        <p:txBody>
          <a:bodyPr wrap="square">
            <a:noAutofit/>
          </a:bodyPr>
          <a:p>
            <a:r>
              <a:rPr>
                <a:latin typeface="Cambria" panose="02040503050406030204" charset="0"/>
                <a:cs typeface="Cambria" panose="02040503050406030204" charset="0"/>
              </a:rPr>
              <a:t>In Java, a keyword is a reserved word that has a predefined meaning in the language. These words are part of the syntax rules of Java, and you cannot use them as names for variables, classes, methods, or any identifiers.</a:t>
            </a:r>
            <a:r>
              <a:rPr lang="en-US">
                <a:latin typeface="Cambria" panose="02040503050406030204" charset="0"/>
                <a:cs typeface="Cambria" panose="02040503050406030204" charset="0"/>
              </a:rPr>
              <a:t> 50+</a:t>
            </a:r>
            <a:endParaRPr lang="en-US">
              <a:latin typeface="Cambria" panose="02040503050406030204" charset="0"/>
              <a:cs typeface="Cambria" panose="02040503050406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19380" y="120015"/>
            <a:ext cx="10515600" cy="575310"/>
          </a:xfrm>
        </p:spPr>
        <p:txBody>
          <a:bodyPr/>
          <a:p>
            <a:r>
              <a:rPr lang="en-US" altLang="en-US" sz="2800" b="1">
                <a:solidFill>
                  <a:srgbClr val="FF0000"/>
                </a:solidFill>
                <a:latin typeface="Cambria" panose="02040503050406030204" charset="0"/>
                <a:cs typeface="Cambria" panose="02040503050406030204" charset="0"/>
                <a:sym typeface="+mn-ea"/>
              </a:rPr>
              <a:t>2. Java Identifiers And Java Literals</a:t>
            </a:r>
            <a:endParaRPr lang="en-US" altLang="en-US" sz="2800" b="1">
              <a:solidFill>
                <a:srgbClr val="FF0000"/>
              </a:solidFill>
              <a:latin typeface="Cambria" panose="02040503050406030204" charset="0"/>
              <a:cs typeface="Cambria" panose="02040503050406030204" charset="0"/>
              <a:sym typeface="+mn-ea"/>
            </a:endParaRPr>
          </a:p>
        </p:txBody>
      </p:sp>
      <p:sp>
        <p:nvSpPr>
          <p:cNvPr id="3" name="Content Placeholder 2"/>
          <p:cNvSpPr>
            <a:spLocks noGrp="1"/>
          </p:cNvSpPr>
          <p:nvPr>
            <p:ph idx="1"/>
          </p:nvPr>
        </p:nvSpPr>
        <p:spPr>
          <a:xfrm>
            <a:off x="119380" y="695325"/>
            <a:ext cx="11903710" cy="5836920"/>
          </a:xfrm>
        </p:spPr>
        <p:txBody>
          <a:bodyPr>
            <a:normAutofit lnSpcReduction="20000"/>
          </a:bodyPr>
          <a:p>
            <a:pPr marL="0" indent="0">
              <a:buNone/>
            </a:pPr>
            <a:endParaRPr lang="en-US" altLang="en-US" sz="2000">
              <a:latin typeface="Cambria" panose="02040503050406030204" charset="0"/>
              <a:cs typeface="Cambria" panose="02040503050406030204" charset="0"/>
            </a:endParaRPr>
          </a:p>
          <a:p>
            <a:pPr marL="0" indent="0">
              <a:buNone/>
            </a:pPr>
            <a:r>
              <a:rPr lang="en-US" altLang="en-US" sz="2000">
                <a:latin typeface="Cambria" panose="02040503050406030204" charset="0"/>
                <a:cs typeface="Cambria" panose="02040503050406030204" charset="0"/>
              </a:rPr>
              <a:t>These are names given by the programmer, like:</a:t>
            </a:r>
            <a:endParaRPr lang="en-US" altLang="en-US" sz="2000">
              <a:latin typeface="Cambria" panose="02040503050406030204" charset="0"/>
              <a:cs typeface="Cambria" panose="02040503050406030204" charset="0"/>
            </a:endParaRPr>
          </a:p>
          <a:p>
            <a:pPr marL="0" indent="0">
              <a:buNone/>
            </a:pPr>
            <a:r>
              <a:rPr lang="en-US" altLang="en-US" sz="2000">
                <a:latin typeface="Cambria" panose="02040503050406030204" charset="0"/>
                <a:cs typeface="Cambria" panose="02040503050406030204" charset="0"/>
              </a:rPr>
              <a:t>Variable names (myNumber)</a:t>
            </a:r>
            <a:endParaRPr lang="en-US" altLang="en-US" sz="2000">
              <a:latin typeface="Cambria" panose="02040503050406030204" charset="0"/>
              <a:cs typeface="Cambria" panose="02040503050406030204" charset="0"/>
            </a:endParaRPr>
          </a:p>
          <a:p>
            <a:pPr marL="0" indent="0">
              <a:buNone/>
            </a:pPr>
            <a:r>
              <a:rPr lang="en-US" altLang="en-US" sz="2000">
                <a:latin typeface="Cambria" panose="02040503050406030204" charset="0"/>
                <a:cs typeface="Cambria" panose="02040503050406030204" charset="0"/>
              </a:rPr>
              <a:t>Method names (calculateSum)</a:t>
            </a:r>
            <a:endParaRPr lang="en-US" altLang="en-US" sz="2000">
              <a:latin typeface="Cambria" panose="02040503050406030204" charset="0"/>
              <a:cs typeface="Cambria" panose="02040503050406030204" charset="0"/>
            </a:endParaRPr>
          </a:p>
          <a:p>
            <a:pPr marL="0" indent="0">
              <a:buNone/>
            </a:pPr>
            <a:r>
              <a:rPr lang="en-US" altLang="en-US" sz="2000">
                <a:latin typeface="Cambria" panose="02040503050406030204" charset="0"/>
                <a:cs typeface="Cambria" panose="02040503050406030204" charset="0"/>
              </a:rPr>
              <a:t>Class names (Student)</a:t>
            </a:r>
            <a:endParaRPr lang="en-US" altLang="en-US" sz="2000">
              <a:latin typeface="Cambria" panose="02040503050406030204" charset="0"/>
              <a:cs typeface="Cambria" panose="02040503050406030204" charset="0"/>
            </a:endParaRPr>
          </a:p>
          <a:p>
            <a:pPr marL="0" indent="0">
              <a:buNone/>
            </a:pPr>
            <a:r>
              <a:rPr lang="en-US" altLang="en-US" sz="2000">
                <a:latin typeface="Cambria" panose="02040503050406030204" charset="0"/>
                <a:cs typeface="Cambria" panose="02040503050406030204" charset="0"/>
              </a:rPr>
              <a:t>Example:</a:t>
            </a:r>
            <a:endParaRPr lang="en-US" altLang="en-US" sz="2000">
              <a:latin typeface="Cambria" panose="02040503050406030204" charset="0"/>
              <a:cs typeface="Cambria" panose="02040503050406030204" charset="0"/>
            </a:endParaRPr>
          </a:p>
          <a:p>
            <a:pPr marL="0" indent="0">
              <a:buNone/>
            </a:pPr>
            <a:r>
              <a:rPr lang="en-US" altLang="en-US" sz="2000">
                <a:latin typeface="Cambria" panose="02040503050406030204" charset="0"/>
                <a:cs typeface="Cambria" panose="02040503050406030204" charset="0"/>
              </a:rPr>
              <a:t>int total = 100; // "total" is an identifier</a:t>
            </a:r>
            <a:endParaRPr lang="en-US" altLang="en-US" sz="2000">
              <a:latin typeface="Cambria" panose="02040503050406030204" charset="0"/>
              <a:cs typeface="Cambria" panose="02040503050406030204" charset="0"/>
            </a:endParaRPr>
          </a:p>
          <a:p>
            <a:pPr marL="0" indent="0">
              <a:buNone/>
            </a:pPr>
            <a:endParaRPr lang="en-US" altLang="en-US" sz="2000">
              <a:latin typeface="Cambria" panose="02040503050406030204" charset="0"/>
              <a:cs typeface="Cambria" panose="02040503050406030204" charset="0"/>
            </a:endParaRPr>
          </a:p>
          <a:p>
            <a:pPr marL="0" indent="0">
              <a:buNone/>
            </a:pPr>
            <a:endParaRPr lang="en-US" altLang="en-US" sz="2000">
              <a:latin typeface="Cambria" panose="02040503050406030204" charset="0"/>
              <a:cs typeface="Cambria" panose="02040503050406030204" charset="0"/>
            </a:endParaRPr>
          </a:p>
          <a:p>
            <a:pPr marL="0" indent="0">
              <a:buNone/>
            </a:pPr>
            <a:r>
              <a:rPr lang="en-US" altLang="en-US" b="1">
                <a:solidFill>
                  <a:srgbClr val="FF0000"/>
                </a:solidFill>
                <a:latin typeface="Cambria" panose="02040503050406030204" charset="0"/>
                <a:cs typeface="Cambria" panose="02040503050406030204" charset="0"/>
              </a:rPr>
              <a:t>Java Literals</a:t>
            </a:r>
            <a:endParaRPr lang="en-US" altLang="en-US" b="1">
              <a:solidFill>
                <a:srgbClr val="FF0000"/>
              </a:solidFill>
              <a:latin typeface="Cambria" panose="02040503050406030204" charset="0"/>
              <a:cs typeface="Cambria" panose="02040503050406030204" charset="0"/>
            </a:endParaRPr>
          </a:p>
          <a:p>
            <a:pPr marL="0" indent="0">
              <a:buNone/>
            </a:pPr>
            <a:r>
              <a:rPr lang="en-US" altLang="en-US" sz="2000">
                <a:latin typeface="Cambria" panose="02040503050406030204" charset="0"/>
                <a:cs typeface="Cambria" panose="02040503050406030204" charset="0"/>
              </a:rPr>
              <a:t>These are constant values used directly in the code.</a:t>
            </a:r>
            <a:endParaRPr lang="en-US" altLang="en-US" sz="2000">
              <a:latin typeface="Cambria" panose="02040503050406030204" charset="0"/>
              <a:cs typeface="Cambria" panose="02040503050406030204" charset="0"/>
            </a:endParaRPr>
          </a:p>
          <a:p>
            <a:pPr marL="0" indent="0">
              <a:buNone/>
            </a:pPr>
            <a:r>
              <a:rPr lang="en-US" altLang="en-US" sz="2000">
                <a:latin typeface="Cambria" panose="02040503050406030204" charset="0"/>
                <a:cs typeface="Cambria" panose="02040503050406030204" charset="0"/>
              </a:rPr>
              <a:t>Integer: 10, -20</a:t>
            </a:r>
            <a:endParaRPr lang="en-US" altLang="en-US" sz="2000">
              <a:latin typeface="Cambria" panose="02040503050406030204" charset="0"/>
              <a:cs typeface="Cambria" panose="02040503050406030204" charset="0"/>
            </a:endParaRPr>
          </a:p>
          <a:p>
            <a:pPr marL="0" indent="0">
              <a:buNone/>
            </a:pPr>
            <a:r>
              <a:rPr lang="en-US" altLang="en-US" sz="2000">
                <a:latin typeface="Cambria" panose="02040503050406030204" charset="0"/>
                <a:cs typeface="Cambria" panose="02040503050406030204" charset="0"/>
              </a:rPr>
              <a:t>Float: 3.14f</a:t>
            </a:r>
            <a:endParaRPr lang="en-US" altLang="en-US" sz="2000">
              <a:latin typeface="Cambria" panose="02040503050406030204" charset="0"/>
              <a:cs typeface="Cambria" panose="02040503050406030204" charset="0"/>
            </a:endParaRPr>
          </a:p>
          <a:p>
            <a:pPr marL="0" indent="0">
              <a:buNone/>
            </a:pPr>
            <a:r>
              <a:rPr lang="en-US" altLang="en-US" sz="2000">
                <a:latin typeface="Cambria" panose="02040503050406030204" charset="0"/>
                <a:cs typeface="Cambria" panose="02040503050406030204" charset="0"/>
              </a:rPr>
              <a:t>Character: 'A'</a:t>
            </a:r>
            <a:endParaRPr lang="en-US" altLang="en-US" sz="2000">
              <a:latin typeface="Cambria" panose="02040503050406030204" charset="0"/>
              <a:cs typeface="Cambria" panose="02040503050406030204" charset="0"/>
            </a:endParaRPr>
          </a:p>
          <a:p>
            <a:pPr marL="0" indent="0">
              <a:buNone/>
            </a:pPr>
            <a:r>
              <a:rPr lang="en-US" altLang="en-US" sz="2000">
                <a:latin typeface="Cambria" panose="02040503050406030204" charset="0"/>
                <a:cs typeface="Cambria" panose="02040503050406030204" charset="0"/>
              </a:rPr>
              <a:t>String: "Hello"</a:t>
            </a:r>
            <a:endParaRPr lang="en-US" altLang="en-US" sz="2000">
              <a:latin typeface="Cambria" panose="02040503050406030204" charset="0"/>
              <a:cs typeface="Cambria" panose="02040503050406030204" charset="0"/>
            </a:endParaRPr>
          </a:p>
          <a:p>
            <a:pPr marL="0" indent="0">
              <a:buNone/>
            </a:pPr>
            <a:r>
              <a:rPr lang="en-US" altLang="en-US" sz="2000">
                <a:latin typeface="Cambria" panose="02040503050406030204" charset="0"/>
                <a:cs typeface="Cambria" panose="02040503050406030204" charset="0"/>
              </a:rPr>
              <a:t>Boolean: true, false</a:t>
            </a:r>
            <a:endParaRPr lang="en-US" altLang="en-US" sz="2000">
              <a:latin typeface="Cambria" panose="02040503050406030204" charset="0"/>
              <a:cs typeface="Cambria" panose="0204050305040603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17805" y="153035"/>
            <a:ext cx="10515600" cy="380365"/>
          </a:xfrm>
        </p:spPr>
        <p:txBody>
          <a:bodyPr>
            <a:normAutofit fontScale="90000"/>
          </a:bodyPr>
          <a:p>
            <a:r>
              <a:rPr lang="en-US" altLang="en-US" sz="2800" b="1">
                <a:solidFill>
                  <a:srgbClr val="FF0000"/>
                </a:solidFill>
                <a:latin typeface="Cambria" panose="02040503050406030204" charset="0"/>
                <a:cs typeface="Cambria" panose="02040503050406030204" charset="0"/>
                <a:sym typeface="+mn-ea"/>
              </a:rPr>
              <a:t>4.  Separators / Delimiters and Java comments</a:t>
            </a:r>
            <a:endParaRPr lang="en-US" altLang="en-US" sz="2800" b="1">
              <a:solidFill>
                <a:srgbClr val="FF0000"/>
              </a:solidFill>
              <a:latin typeface="Cambria" panose="02040503050406030204" charset="0"/>
              <a:cs typeface="Cambria" panose="02040503050406030204" charset="0"/>
              <a:sym typeface="+mn-ea"/>
            </a:endParaRPr>
          </a:p>
        </p:txBody>
      </p:sp>
      <p:sp>
        <p:nvSpPr>
          <p:cNvPr id="3" name="Content Placeholder 2"/>
          <p:cNvSpPr>
            <a:spLocks noGrp="1"/>
          </p:cNvSpPr>
          <p:nvPr>
            <p:ph idx="1"/>
          </p:nvPr>
        </p:nvSpPr>
        <p:spPr>
          <a:xfrm>
            <a:off x="217805" y="732155"/>
            <a:ext cx="11707495" cy="5885815"/>
          </a:xfrm>
        </p:spPr>
        <p:txBody>
          <a:bodyPr>
            <a:noAutofit/>
          </a:bodyPr>
          <a:p>
            <a:pPr marL="0" indent="0">
              <a:buNone/>
            </a:pPr>
            <a:r>
              <a:rPr lang="en-US" altLang="en-US" sz="1900"/>
              <a:t>Used to define boundaries in Java syntax.</a:t>
            </a:r>
            <a:endParaRPr lang="en-US" altLang="en-US" sz="1900"/>
          </a:p>
          <a:p>
            <a:pPr marL="0" indent="0">
              <a:buNone/>
            </a:pPr>
            <a:r>
              <a:rPr lang="en-US" altLang="en-US" sz="1900"/>
              <a:t>Separator	Meaning</a:t>
            </a:r>
            <a:endParaRPr lang="en-US" altLang="en-US" sz="1900"/>
          </a:p>
          <a:p>
            <a:pPr marL="0" indent="0">
              <a:buNone/>
            </a:pPr>
            <a:r>
              <a:rPr lang="en-US" altLang="en-US" sz="1900"/>
              <a:t>( )		Parentheses (used in method calls, conditions)</a:t>
            </a:r>
            <a:endParaRPr lang="en-US" altLang="en-US" sz="1900"/>
          </a:p>
          <a:p>
            <a:pPr marL="0" indent="0">
              <a:buNone/>
            </a:pPr>
            <a:r>
              <a:rPr lang="en-US" altLang="en-US" sz="1900"/>
              <a:t>{ }		Braces (define blocks)</a:t>
            </a:r>
            <a:endParaRPr lang="en-US" altLang="en-US" sz="1900"/>
          </a:p>
          <a:p>
            <a:pPr marL="0" indent="0">
              <a:buNone/>
            </a:pPr>
            <a:r>
              <a:rPr lang="en-US" altLang="en-US" sz="1900"/>
              <a:t>[ ]		Brackets (arrays)</a:t>
            </a:r>
            <a:endParaRPr lang="en-US" altLang="en-US" sz="1900"/>
          </a:p>
          <a:p>
            <a:pPr marL="0" indent="0">
              <a:buNone/>
            </a:pPr>
            <a:r>
              <a:rPr lang="en-US" altLang="en-US" sz="1900"/>
              <a:t>;		Semicolon (statement terminator)</a:t>
            </a:r>
            <a:endParaRPr lang="en-US" altLang="en-US" sz="1900"/>
          </a:p>
          <a:p>
            <a:pPr marL="0" indent="0">
              <a:buNone/>
            </a:pPr>
            <a:r>
              <a:rPr lang="en-US" altLang="en-US" sz="1900"/>
              <a:t>,		Comma (separate items)</a:t>
            </a:r>
            <a:endParaRPr lang="en-US" altLang="en-US" sz="1900"/>
          </a:p>
          <a:p>
            <a:pPr marL="0" indent="0">
              <a:buNone/>
            </a:pPr>
            <a:r>
              <a:rPr lang="en-US" altLang="en-US" sz="1900"/>
              <a:t>.		Dot (access class members) and methods</a:t>
            </a:r>
            <a:endParaRPr lang="en-US" altLang="en-US" sz="1900"/>
          </a:p>
          <a:p>
            <a:pPr marL="0" indent="0">
              <a:buNone/>
            </a:pPr>
            <a:endParaRPr lang="en-US" altLang="en-US" sz="2000" b="1">
              <a:solidFill>
                <a:srgbClr val="FF0000"/>
              </a:solidFill>
              <a:latin typeface="Cambria" panose="02040503050406030204" charset="0"/>
              <a:cs typeface="Cambria" panose="02040503050406030204" charset="0"/>
            </a:endParaRPr>
          </a:p>
          <a:p>
            <a:pPr marL="0" indent="0">
              <a:buNone/>
            </a:pPr>
            <a:r>
              <a:rPr lang="en-US" altLang="en-US" sz="2000" b="1">
                <a:solidFill>
                  <a:srgbClr val="FF0000"/>
                </a:solidFill>
                <a:latin typeface="Cambria" panose="02040503050406030204" charset="0"/>
                <a:cs typeface="Cambria" panose="02040503050406030204" charset="0"/>
              </a:rPr>
              <a:t>Comments</a:t>
            </a:r>
            <a:endParaRPr lang="en-US" altLang="en-US" sz="2000"/>
          </a:p>
          <a:p>
            <a:pPr marL="0" indent="0">
              <a:buNone/>
            </a:pPr>
            <a:r>
              <a:rPr lang="en-US" altLang="en-US" sz="1900"/>
              <a:t>Ignored by the compiler, used for code explanation.</a:t>
            </a:r>
            <a:endParaRPr lang="en-US" altLang="en-US" sz="1900"/>
          </a:p>
          <a:p>
            <a:pPr marL="0" indent="0">
              <a:buNone/>
            </a:pPr>
            <a:r>
              <a:rPr lang="en-US" altLang="en-US" sz="1900"/>
              <a:t>// Single-line comment</a:t>
            </a:r>
            <a:endParaRPr lang="en-US" altLang="en-US" sz="1900"/>
          </a:p>
          <a:p>
            <a:pPr marL="0" indent="0">
              <a:buNone/>
            </a:pPr>
            <a:r>
              <a:rPr lang="en-US" altLang="en-US" sz="1900"/>
              <a:t>/* Multi-line </a:t>
            </a:r>
            <a:endParaRPr lang="en-US" altLang="en-US" sz="1900"/>
          </a:p>
          <a:p>
            <a:pPr marL="0" indent="0">
              <a:buNone/>
            </a:pPr>
            <a:endParaRPr lang="en-US" altLang="en-US" sz="1900"/>
          </a:p>
          <a:p>
            <a:pPr marL="0" indent="0">
              <a:buNone/>
            </a:pPr>
            <a:r>
              <a:rPr lang="en-US" altLang="en-US" sz="1900"/>
              <a:t>   comment */</a:t>
            </a:r>
            <a:endParaRPr lang="en-US" altLang="en-US" sz="1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68910" y="120015"/>
            <a:ext cx="11184890" cy="526415"/>
          </a:xfrm>
        </p:spPr>
        <p:txBody>
          <a:bodyPr>
            <a:normAutofit/>
          </a:bodyPr>
          <a:p>
            <a:r>
              <a:rPr lang="en-US" sz="2665" b="1">
                <a:solidFill>
                  <a:srgbClr val="FF0000"/>
                </a:solidFill>
                <a:latin typeface="Cambria" panose="02040503050406030204" charset="0"/>
                <a:cs typeface="Cambria" panose="02040503050406030204" charset="0"/>
              </a:rPr>
              <a:t>6.Java Operators</a:t>
            </a:r>
            <a:endParaRPr lang="en-US" sz="2665" b="1">
              <a:solidFill>
                <a:srgbClr val="FF0000"/>
              </a:solidFill>
              <a:latin typeface="Cambria" panose="02040503050406030204" charset="0"/>
              <a:cs typeface="Cambria" panose="02040503050406030204" charset="0"/>
            </a:endParaRPr>
          </a:p>
        </p:txBody>
      </p:sp>
      <p:graphicFrame>
        <p:nvGraphicFramePr>
          <p:cNvPr id="4" name="Table 3"/>
          <p:cNvGraphicFramePr/>
          <p:nvPr>
            <p:custDataLst>
              <p:tags r:id="rId1"/>
            </p:custDataLst>
          </p:nvPr>
        </p:nvGraphicFramePr>
        <p:xfrm>
          <a:off x="168910" y="1397635"/>
          <a:ext cx="11793220" cy="1664970"/>
        </p:xfrm>
        <a:graphic>
          <a:graphicData uri="http://schemas.openxmlformats.org/drawingml/2006/table">
            <a:tbl>
              <a:tblPr/>
              <a:tblGrid>
                <a:gridCol w="2948305"/>
                <a:gridCol w="2948305"/>
                <a:gridCol w="2948305"/>
                <a:gridCol w="2948305"/>
              </a:tblGrid>
              <a:tr h="277495">
                <a:tc>
                  <a:txBody>
                    <a:bodyPr/>
                    <a:p>
                      <a:pPr algn="ctr"/>
                      <a:r>
                        <a:rPr sz="1600" b="1">
                          <a:latin typeface="Cambria" panose="02040503050406030204" charset="0"/>
                          <a:cs typeface="Cambria" panose="02040503050406030204" charset="0"/>
                        </a:rPr>
                        <a:t>Operator</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Description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Example</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Result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77495">
                <a:tc>
                  <a:txBody>
                    <a:bodyPr/>
                    <a:p>
                      <a:pPr algn="ctr"/>
                      <a:r>
                        <a:rPr sz="1600" b="1">
                          <a:latin typeface="Cambria" panose="02040503050406030204" charset="0"/>
                          <a:cs typeface="Cambria" panose="02040503050406030204" charset="0"/>
                        </a:rPr>
                        <a: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Addition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10 + 5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15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77495">
                <a:tc>
                  <a:txBody>
                    <a:bodyPr/>
                    <a:p>
                      <a:pPr algn="ctr"/>
                      <a:r>
                        <a:rPr sz="1600" b="1">
                          <a:latin typeface="Cambria" panose="02040503050406030204" charset="0"/>
                          <a:cs typeface="Cambria" panose="02040503050406030204" charset="0"/>
                        </a:rPr>
                        <a: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Subtraction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10 - 5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77495">
                <a:tc>
                  <a:txBody>
                    <a:bodyPr/>
                    <a:p>
                      <a:pPr algn="ctr"/>
                      <a:r>
                        <a:rPr sz="1600" b="1">
                          <a:latin typeface="Cambria" panose="02040503050406030204" charset="0"/>
                          <a:cs typeface="Cambria" panose="02040503050406030204" charset="0"/>
                        </a:rPr>
                        <a: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Multiplication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10 * 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50</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77495">
                <a:tc>
                  <a:txBody>
                    <a:bodyPr/>
                    <a:p>
                      <a:pPr algn="ctr"/>
                      <a:r>
                        <a:rPr sz="1600" b="1">
                          <a:latin typeface="Cambria" panose="02040503050406030204" charset="0"/>
                          <a:cs typeface="Cambria" panose="02040503050406030204" charset="0"/>
                        </a:rPr>
                        <a: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Division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10 / 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2</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77495">
                <a:tc>
                  <a:txBody>
                    <a:bodyPr/>
                    <a:p>
                      <a:pPr algn="ctr"/>
                      <a:r>
                        <a:rPr sz="1600" b="1">
                          <a:latin typeface="Cambria" panose="02040503050406030204" charset="0"/>
                          <a:cs typeface="Cambria" panose="02040503050406030204" charset="0"/>
                        </a:rPr>
                        <a: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Modulus (remainder)</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10 % 3</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1</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graphicFrame>
        <p:nvGraphicFramePr>
          <p:cNvPr id="5" name="Table 4"/>
          <p:cNvGraphicFramePr/>
          <p:nvPr>
            <p:custDataLst>
              <p:tags r:id="rId2"/>
            </p:custDataLst>
          </p:nvPr>
        </p:nvGraphicFramePr>
        <p:xfrm>
          <a:off x="168910" y="4166870"/>
          <a:ext cx="11615420" cy="2164715"/>
        </p:xfrm>
        <a:graphic>
          <a:graphicData uri="http://schemas.openxmlformats.org/drawingml/2006/table">
            <a:tbl>
              <a:tblPr/>
              <a:tblGrid>
                <a:gridCol w="2903855"/>
                <a:gridCol w="2903855"/>
                <a:gridCol w="2903855"/>
                <a:gridCol w="2903855"/>
              </a:tblGrid>
              <a:tr h="309245">
                <a:tc>
                  <a:txBody>
                    <a:bodyPr/>
                    <a:p>
                      <a:pPr algn="ctr"/>
                      <a:r>
                        <a:rPr sz="1600" b="1">
                          <a:latin typeface="Cambria" panose="02040503050406030204" charset="0"/>
                          <a:cs typeface="Cambria" panose="02040503050406030204" charset="0"/>
                        </a:rPr>
                        <a:t>Operator</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Description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Example</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Result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9245">
                <a:tc>
                  <a:txBody>
                    <a:bodyPr/>
                    <a:p>
                      <a:pPr algn="ctr"/>
                      <a:r>
                        <a:rPr sz="1600" b="1">
                          <a:latin typeface="Cambria" panose="02040503050406030204" charset="0"/>
                          <a:cs typeface="Cambria" panose="02040503050406030204" charset="0"/>
                        </a:rPr>
                        <a: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Equal to</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10 == 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false</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9245">
                <a:tc>
                  <a:txBody>
                    <a:bodyPr/>
                    <a:p>
                      <a:pPr algn="ctr"/>
                      <a:r>
                        <a:rPr sz="1600" b="1">
                          <a:latin typeface="Cambria" panose="02040503050406030204" charset="0"/>
                          <a:cs typeface="Cambria" panose="02040503050406030204" charset="0"/>
                        </a:rPr>
                        <a: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Not equal to</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10 != 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true</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9245">
                <a:tc>
                  <a:txBody>
                    <a:bodyPr/>
                    <a:p>
                      <a:pPr algn="ctr"/>
                      <a:r>
                        <a:rPr sz="1600" b="1">
                          <a:latin typeface="Cambria" panose="02040503050406030204" charset="0"/>
                          <a:cs typeface="Cambria" panose="02040503050406030204" charset="0"/>
                        </a:rPr>
                        <a:t>&gt;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Greater than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10 &gt; 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true</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9245">
                <a:tc>
                  <a:txBody>
                    <a:bodyPr/>
                    <a:p>
                      <a:pPr algn="ctr"/>
                      <a:r>
                        <a:rPr sz="1600" b="1">
                          <a:latin typeface="Cambria" panose="02040503050406030204" charset="0"/>
                          <a:cs typeface="Cambria" panose="02040503050406030204" charset="0"/>
                        </a:rPr>
                        <a:t>&lt;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Less than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10 &lt; 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false</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9245">
                <a:tc>
                  <a:txBody>
                    <a:bodyPr/>
                    <a:p>
                      <a:pPr algn="ctr"/>
                      <a:r>
                        <a:rPr sz="1600" b="1">
                          <a:latin typeface="Cambria" panose="02040503050406030204" charset="0"/>
                          <a:cs typeface="Cambria" panose="02040503050406030204" charset="0"/>
                        </a:rPr>
                        <a:t>&gt;=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Greater than or equal to</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10 &gt;= 10</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true</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9245">
                <a:tc>
                  <a:txBody>
                    <a:bodyPr/>
                    <a:p>
                      <a:pPr algn="ctr"/>
                      <a:r>
                        <a:rPr sz="1600" b="1">
                          <a:latin typeface="Cambria" panose="02040503050406030204" charset="0"/>
                          <a:cs typeface="Cambria" panose="02040503050406030204" charset="0"/>
                        </a:rPr>
                        <a:t>&lt;=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Less than or equal to</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10 &lt;= 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false</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sp>
        <p:nvSpPr>
          <p:cNvPr id="6" name="Text Box 5"/>
          <p:cNvSpPr txBox="1"/>
          <p:nvPr/>
        </p:nvSpPr>
        <p:spPr>
          <a:xfrm>
            <a:off x="168910" y="783590"/>
            <a:ext cx="6096000" cy="476885"/>
          </a:xfrm>
          <a:prstGeom prst="rect">
            <a:avLst/>
          </a:prstGeom>
          <a:noFill/>
        </p:spPr>
        <p:txBody>
          <a:bodyPr wrap="square" rtlCol="0" anchor="t">
            <a:noAutofit/>
          </a:bodyPr>
          <a:p>
            <a:r>
              <a:rPr lang="en-US" sz="2000" b="1">
                <a:solidFill>
                  <a:srgbClr val="FF0000"/>
                </a:solidFill>
                <a:latin typeface="Cambria" panose="02040503050406030204" charset="0"/>
                <a:cs typeface="Cambria" panose="02040503050406030204" charset="0"/>
                <a:sym typeface="+mn-ea"/>
              </a:rPr>
              <a:t>Arithmatic Operators</a:t>
            </a:r>
            <a:endParaRPr lang="en-US" sz="2000" b="1">
              <a:solidFill>
                <a:srgbClr val="FF0000"/>
              </a:solidFill>
              <a:latin typeface="Cambria" panose="02040503050406030204" charset="0"/>
              <a:cs typeface="Cambria" panose="02040503050406030204" charset="0"/>
              <a:sym typeface="+mn-ea"/>
            </a:endParaRPr>
          </a:p>
        </p:txBody>
      </p:sp>
      <p:sp>
        <p:nvSpPr>
          <p:cNvPr id="7" name="Text Box 6"/>
          <p:cNvSpPr txBox="1"/>
          <p:nvPr/>
        </p:nvSpPr>
        <p:spPr>
          <a:xfrm>
            <a:off x="168910" y="3565525"/>
            <a:ext cx="6096000" cy="398780"/>
          </a:xfrm>
          <a:prstGeom prst="rect">
            <a:avLst/>
          </a:prstGeom>
          <a:noFill/>
        </p:spPr>
        <p:txBody>
          <a:bodyPr wrap="square" rtlCol="0" anchor="t">
            <a:spAutoFit/>
          </a:bodyPr>
          <a:p>
            <a:r>
              <a:rPr lang="en-US" sz="2000" b="1">
                <a:solidFill>
                  <a:srgbClr val="FF0000"/>
                </a:solidFill>
                <a:latin typeface="Cambria" panose="02040503050406030204" charset="0"/>
                <a:cs typeface="Cambria" panose="02040503050406030204" charset="0"/>
                <a:sym typeface="+mn-ea"/>
              </a:rPr>
              <a:t>Relational Operators</a:t>
            </a:r>
            <a:endParaRPr lang="en-US" sz="2000" b="1">
              <a:solidFill>
                <a:srgbClr val="FF0000"/>
              </a:solidFill>
              <a:latin typeface="Cambria" panose="02040503050406030204" charset="0"/>
              <a:cs typeface="Cambria" panose="02040503050406030204"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4140" y="103505"/>
            <a:ext cx="11086465" cy="478155"/>
          </a:xfrm>
        </p:spPr>
        <p:txBody>
          <a:bodyPr/>
          <a:p>
            <a:r>
              <a:rPr lang="en-US" sz="2400" b="1">
                <a:solidFill>
                  <a:srgbClr val="FF0000"/>
                </a:solidFill>
                <a:latin typeface="Cambria" panose="02040503050406030204" charset="0"/>
                <a:cs typeface="Cambria" panose="02040503050406030204" charset="0"/>
              </a:rPr>
              <a:t>Java Operators</a:t>
            </a:r>
            <a:endParaRPr lang="en-US" sz="2400" b="1">
              <a:solidFill>
                <a:srgbClr val="FF0000"/>
              </a:solidFill>
              <a:latin typeface="Cambria" panose="02040503050406030204" charset="0"/>
              <a:cs typeface="Cambria" panose="02040503050406030204" charset="0"/>
            </a:endParaRPr>
          </a:p>
        </p:txBody>
      </p:sp>
      <p:graphicFrame>
        <p:nvGraphicFramePr>
          <p:cNvPr id="4" name="Table 3"/>
          <p:cNvGraphicFramePr/>
          <p:nvPr>
            <p:custDataLst>
              <p:tags r:id="rId1"/>
            </p:custDataLst>
          </p:nvPr>
        </p:nvGraphicFramePr>
        <p:xfrm>
          <a:off x="118745" y="908685"/>
          <a:ext cx="11841480" cy="1437640"/>
        </p:xfrm>
        <a:graphic>
          <a:graphicData uri="http://schemas.openxmlformats.org/drawingml/2006/table">
            <a:tbl>
              <a:tblPr/>
              <a:tblGrid>
                <a:gridCol w="2960370"/>
                <a:gridCol w="2960370"/>
                <a:gridCol w="2960370"/>
                <a:gridCol w="2960370"/>
              </a:tblGrid>
              <a:tr h="359410">
                <a:tc>
                  <a:txBody>
                    <a:bodyPr/>
                    <a:p>
                      <a:pPr algn="ctr"/>
                      <a:r>
                        <a:rPr sz="1600" b="1">
                          <a:latin typeface="Cambria" panose="02040503050406030204" charset="0"/>
                          <a:cs typeface="Cambria" panose="02040503050406030204" charset="0"/>
                        </a:rPr>
                        <a:t>Operator</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Description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Example</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Result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59410">
                <a:tc>
                  <a:txBody>
                    <a:bodyPr/>
                    <a:p>
                      <a:pPr algn="ctr"/>
                      <a:r>
                        <a:rPr sz="1600" b="1">
                          <a:latin typeface="Cambria" panose="02040503050406030204" charset="0"/>
                          <a:cs typeface="Cambria" panose="02040503050406030204" charset="0"/>
                        </a:rPr>
                        <a:t>&amp;&amp;</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Logical AND</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(a &gt; 5 &amp;&amp; a &lt; 10)</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true if both true</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59410">
                <a:tc>
                  <a:txBody>
                    <a:bodyPr/>
                    <a:p>
                      <a:pPr algn="ctr"/>
                      <a:r>
                        <a:rPr lang="en-US" sz="1600" b="1">
                          <a:latin typeface="Cambria" panose="02040503050406030204" charset="0"/>
                          <a:cs typeface="Cambria" panose="02040503050406030204" charset="0"/>
                        </a:rPr>
                        <a:t>||</a:t>
                      </a:r>
                      <a:endParaRPr lang="en-US"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sym typeface="+mn-ea"/>
                        </a:rPr>
                        <a:t>(a &gt; 5 </a:t>
                      </a:r>
                      <a:r>
                        <a:rPr lang="en-US" sz="1600" b="1">
                          <a:latin typeface="Cambria" panose="02040503050406030204" charset="0"/>
                          <a:cs typeface="Cambria" panose="02040503050406030204" charset="0"/>
                          <a:sym typeface="+mn-ea"/>
                        </a:rPr>
                        <a:t>||</a:t>
                      </a:r>
                      <a:r>
                        <a:rPr sz="1600" b="1">
                          <a:latin typeface="Cambria" panose="02040503050406030204" charset="0"/>
                          <a:cs typeface="Cambria" panose="02040503050406030204" charset="0"/>
                          <a:sym typeface="+mn-ea"/>
                        </a:rPr>
                        <a:t> a &lt; 10)</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Logical OR</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59410">
                <a:tc>
                  <a:txBody>
                    <a:bodyPr/>
                    <a:p>
                      <a:pPr algn="ctr"/>
                      <a:r>
                        <a:rPr sz="1600" b="1">
                          <a:latin typeface="Cambria" panose="02040503050406030204" charset="0"/>
                          <a:cs typeface="Cambria" panose="02040503050406030204" charset="0"/>
                        </a:rPr>
                        <a: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Logical NOT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!(a &gt; 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Inverts result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sp>
        <p:nvSpPr>
          <p:cNvPr id="5" name="Text Box 4"/>
          <p:cNvSpPr txBox="1"/>
          <p:nvPr/>
        </p:nvSpPr>
        <p:spPr>
          <a:xfrm>
            <a:off x="118745" y="581660"/>
            <a:ext cx="6096000" cy="368300"/>
          </a:xfrm>
          <a:prstGeom prst="rect">
            <a:avLst/>
          </a:prstGeom>
          <a:noFill/>
        </p:spPr>
        <p:txBody>
          <a:bodyPr wrap="square" rtlCol="0" anchor="t">
            <a:spAutoFit/>
          </a:bodyPr>
          <a:p>
            <a:r>
              <a:rPr lang="en-US" b="1">
                <a:solidFill>
                  <a:srgbClr val="FF0000"/>
                </a:solidFill>
                <a:latin typeface="Cambria" panose="02040503050406030204" charset="0"/>
                <a:cs typeface="Cambria" panose="02040503050406030204" charset="0"/>
                <a:sym typeface="+mn-ea"/>
              </a:rPr>
              <a:t>logical operators</a:t>
            </a:r>
            <a:endParaRPr lang="en-US" b="1">
              <a:solidFill>
                <a:srgbClr val="FF0000"/>
              </a:solidFill>
              <a:latin typeface="Cambria" panose="02040503050406030204" charset="0"/>
              <a:cs typeface="Cambria" panose="02040503050406030204" charset="0"/>
              <a:sym typeface="+mn-ea"/>
            </a:endParaRPr>
          </a:p>
        </p:txBody>
      </p:sp>
      <p:sp>
        <p:nvSpPr>
          <p:cNvPr id="6" name="Text Box 5"/>
          <p:cNvSpPr txBox="1"/>
          <p:nvPr/>
        </p:nvSpPr>
        <p:spPr>
          <a:xfrm>
            <a:off x="255905" y="2541905"/>
            <a:ext cx="6096000" cy="368300"/>
          </a:xfrm>
          <a:prstGeom prst="rect">
            <a:avLst/>
          </a:prstGeom>
          <a:noFill/>
        </p:spPr>
        <p:txBody>
          <a:bodyPr wrap="square" rtlCol="0" anchor="t">
            <a:spAutoFit/>
          </a:bodyPr>
          <a:p>
            <a:r>
              <a:rPr lang="en-US" b="1">
                <a:solidFill>
                  <a:srgbClr val="FF0000"/>
                </a:solidFill>
                <a:latin typeface="Cambria" panose="02040503050406030204" charset="0"/>
                <a:cs typeface="Cambria" panose="02040503050406030204" charset="0"/>
                <a:sym typeface="+mn-ea"/>
              </a:rPr>
              <a:t>Assignment Operators</a:t>
            </a:r>
            <a:endParaRPr lang="en-US" b="1">
              <a:solidFill>
                <a:srgbClr val="FF0000"/>
              </a:solidFill>
              <a:latin typeface="Cambria" panose="02040503050406030204" charset="0"/>
              <a:cs typeface="Cambria" panose="02040503050406030204" charset="0"/>
              <a:sym typeface="+mn-ea"/>
            </a:endParaRPr>
          </a:p>
        </p:txBody>
      </p:sp>
      <p:graphicFrame>
        <p:nvGraphicFramePr>
          <p:cNvPr id="7" name="Table 6"/>
          <p:cNvGraphicFramePr/>
          <p:nvPr>
            <p:custDataLst>
              <p:tags r:id="rId2"/>
            </p:custDataLst>
          </p:nvPr>
        </p:nvGraphicFramePr>
        <p:xfrm>
          <a:off x="255905" y="3105785"/>
          <a:ext cx="11557000" cy="2026920"/>
        </p:xfrm>
        <a:graphic>
          <a:graphicData uri="http://schemas.openxmlformats.org/drawingml/2006/table">
            <a:tbl>
              <a:tblPr/>
              <a:tblGrid>
                <a:gridCol w="2889250"/>
                <a:gridCol w="2889250"/>
                <a:gridCol w="2889250"/>
                <a:gridCol w="2889250"/>
              </a:tblGrid>
              <a:tr h="289560">
                <a:tc>
                  <a:txBody>
                    <a:bodyPr/>
                    <a:p>
                      <a:pPr algn="ctr"/>
                      <a:r>
                        <a:rPr sz="1600" b="1">
                          <a:latin typeface="Cambria" panose="02040503050406030204" charset="0"/>
                          <a:cs typeface="Cambria" panose="02040503050406030204" charset="0"/>
                        </a:rPr>
                        <a:t>Operator</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Description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Example</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Equivalent To</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89560">
                <a:tc>
                  <a:txBody>
                    <a:bodyPr/>
                    <a:p>
                      <a:pPr algn="ctr"/>
                      <a:r>
                        <a:rPr sz="1600" b="1">
                          <a:latin typeface="Cambria" panose="02040503050406030204" charset="0"/>
                          <a:cs typeface="Cambria" panose="02040503050406030204" charset="0"/>
                        </a:rPr>
                        <a: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Assign value</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a = 10</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89560">
                <a:tc>
                  <a:txBody>
                    <a:bodyPr/>
                    <a:p>
                      <a:pPr algn="ctr"/>
                      <a:r>
                        <a:rPr sz="1600" b="1">
                          <a:latin typeface="Cambria" panose="02040503050406030204" charset="0"/>
                          <a:cs typeface="Cambria" panose="02040503050406030204" charset="0"/>
                        </a:rPr>
                        <a: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Add and assign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a += 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a = a + 5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89560">
                <a:tc>
                  <a:txBody>
                    <a:bodyPr/>
                    <a:p>
                      <a:pPr algn="ctr"/>
                      <a:r>
                        <a:rPr sz="1600" b="1">
                          <a:latin typeface="Cambria" panose="02040503050406030204" charset="0"/>
                          <a:cs typeface="Cambria" panose="02040503050406030204" charset="0"/>
                        </a:rPr>
                        <a: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Subtract and assign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a -= 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a = a - 5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89560">
                <a:tc>
                  <a:txBody>
                    <a:bodyPr/>
                    <a:p>
                      <a:pPr algn="ctr"/>
                      <a:r>
                        <a:rPr sz="1600" b="1">
                          <a:latin typeface="Cambria" panose="02040503050406030204" charset="0"/>
                          <a:cs typeface="Cambria" panose="02040503050406030204" charset="0"/>
                        </a:rPr>
                        <a: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Multiply and assign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a *= 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a = a * 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89560">
                <a:tc>
                  <a:txBody>
                    <a:bodyPr/>
                    <a:p>
                      <a:pPr algn="ctr"/>
                      <a:r>
                        <a:rPr sz="1600" b="1">
                          <a:latin typeface="Cambria" panose="02040503050406030204" charset="0"/>
                          <a:cs typeface="Cambria" panose="02040503050406030204" charset="0"/>
                        </a:rPr>
                        <a: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Divide and assign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a /= 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a = a / 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89560">
                <a:tc>
                  <a:txBody>
                    <a:bodyPr/>
                    <a:p>
                      <a:pPr algn="ctr"/>
                      <a:r>
                        <a:rPr sz="1600" b="1">
                          <a:latin typeface="Cambria" panose="02040503050406030204" charset="0"/>
                          <a:cs typeface="Cambria" panose="02040503050406030204" charset="0"/>
                        </a:rPr>
                        <a: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Modulus and assign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a %= 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a = a % 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167640" y="363220"/>
          <a:ext cx="10485120" cy="744855"/>
        </p:xfrm>
        <a:graphic>
          <a:graphicData uri="http://schemas.openxmlformats.org/drawingml/2006/table">
            <a:tbl>
              <a:tblPr/>
              <a:tblGrid>
                <a:gridCol w="2621280"/>
                <a:gridCol w="2621280"/>
                <a:gridCol w="2621280"/>
                <a:gridCol w="2621280"/>
              </a:tblGrid>
              <a:tr h="248285">
                <a:tc>
                  <a:txBody>
                    <a:bodyPr/>
                    <a:p>
                      <a:pPr algn="ctr"/>
                      <a:r>
                        <a:rPr sz="1600" b="1">
                          <a:latin typeface="Cambria" panose="02040503050406030204" charset="0"/>
                          <a:cs typeface="Cambria" panose="02040503050406030204" charset="0"/>
                        </a:rPr>
                        <a:t>Operator</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Description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Example</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Result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48285">
                <a:tc>
                  <a:txBody>
                    <a:bodyPr/>
                    <a:p>
                      <a:pPr algn="ctr"/>
                      <a:r>
                        <a:rPr sz="1600" b="1">
                          <a:latin typeface="Cambria" panose="02040503050406030204" charset="0"/>
                          <a:cs typeface="Cambria" panose="02040503050406030204" charset="0"/>
                        </a:rPr>
                        <a: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Increment (prefix/postfix)</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++a or a++</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a = a + 1</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48285">
                <a:tc>
                  <a:txBody>
                    <a:bodyPr/>
                    <a:p>
                      <a:pPr algn="ctr"/>
                      <a:r>
                        <a:rPr sz="1600" b="1">
                          <a:latin typeface="Cambria" panose="02040503050406030204" charset="0"/>
                          <a:cs typeface="Cambria" panose="02040503050406030204" charset="0"/>
                        </a:rPr>
                        <a: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Decrement (prefix/postfix)</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--a or a--</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a = a - 1</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sp>
        <p:nvSpPr>
          <p:cNvPr id="7" name="Text Box 6"/>
          <p:cNvSpPr txBox="1"/>
          <p:nvPr/>
        </p:nvSpPr>
        <p:spPr>
          <a:xfrm>
            <a:off x="167640" y="0"/>
            <a:ext cx="6096000" cy="368300"/>
          </a:xfrm>
          <a:prstGeom prst="rect">
            <a:avLst/>
          </a:prstGeom>
          <a:noFill/>
        </p:spPr>
        <p:txBody>
          <a:bodyPr wrap="square" rtlCol="0" anchor="t">
            <a:spAutoFit/>
          </a:bodyPr>
          <a:p>
            <a:r>
              <a:rPr lang="en-US" b="1">
                <a:solidFill>
                  <a:srgbClr val="FF0000"/>
                </a:solidFill>
                <a:latin typeface="Cambria" panose="02040503050406030204" charset="0"/>
                <a:cs typeface="Cambria" panose="02040503050406030204" charset="0"/>
                <a:sym typeface="+mn-ea"/>
              </a:rPr>
              <a:t>Unary operators</a:t>
            </a:r>
            <a:endParaRPr lang="en-US" b="1">
              <a:solidFill>
                <a:srgbClr val="FF0000"/>
              </a:solidFill>
              <a:latin typeface="Cambria" panose="02040503050406030204" charset="0"/>
              <a:cs typeface="Cambria" panose="02040503050406030204" charset="0"/>
              <a:sym typeface="+mn-ea"/>
            </a:endParaRPr>
          </a:p>
        </p:txBody>
      </p:sp>
      <p:graphicFrame>
        <p:nvGraphicFramePr>
          <p:cNvPr id="8" name="Table 7"/>
          <p:cNvGraphicFramePr/>
          <p:nvPr/>
        </p:nvGraphicFramePr>
        <p:xfrm>
          <a:off x="167640" y="3673475"/>
          <a:ext cx="10485120" cy="0"/>
        </p:xfrm>
        <a:graphic>
          <a:graphicData uri="http://schemas.openxmlformats.org/drawingml/2006/table">
            <a:tbl>
              <a:tblPr/>
              <a:tblGrid>
                <a:gridCol w="2621280"/>
                <a:gridCol w="2621280"/>
                <a:gridCol w="2621280"/>
                <a:gridCol w="2621280"/>
              </a:tblGrid>
              <a:tr h="0">
                <a:tc>
                  <a:txBody>
                    <a:bodyPr/>
                    <a:p>
                      <a:pPr algn="ctr"/>
                      <a:r>
                        <a:rPr sz="1600" b="1">
                          <a:latin typeface="Cambria" panose="02040503050406030204" charset="0"/>
                          <a:cs typeface="Cambria" panose="02040503050406030204" charset="0"/>
                        </a:rPr>
                        <a:t>Operator</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Description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Example</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Result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0">
                <a:tc>
                  <a:txBody>
                    <a:bodyPr/>
                    <a:p>
                      <a:pPr algn="ctr"/>
                      <a:r>
                        <a:rPr sz="1600" b="1">
                          <a:latin typeface="Cambria" panose="02040503050406030204" charset="0"/>
                          <a:cs typeface="Cambria" panose="02040503050406030204" charset="0"/>
                        </a:rPr>
                        <a:t>? :</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Ternary (conditional) operator</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(a &gt; b) ? a : b</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Returns larger value</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sp>
        <p:nvSpPr>
          <p:cNvPr id="9" name="Text Box 8"/>
          <p:cNvSpPr txBox="1"/>
          <p:nvPr/>
        </p:nvSpPr>
        <p:spPr>
          <a:xfrm>
            <a:off x="167640" y="3230880"/>
            <a:ext cx="6096000" cy="368300"/>
          </a:xfrm>
          <a:prstGeom prst="rect">
            <a:avLst/>
          </a:prstGeom>
          <a:noFill/>
        </p:spPr>
        <p:txBody>
          <a:bodyPr wrap="square" rtlCol="0" anchor="t">
            <a:spAutoFit/>
          </a:bodyPr>
          <a:p>
            <a:r>
              <a:rPr lang="en-US" b="1">
                <a:solidFill>
                  <a:srgbClr val="FF0000"/>
                </a:solidFill>
                <a:latin typeface="Cambria" panose="02040503050406030204" charset="0"/>
                <a:cs typeface="Cambria" panose="02040503050406030204" charset="0"/>
                <a:sym typeface="+mn-ea"/>
              </a:rPr>
              <a:t>Ternary operators</a:t>
            </a:r>
            <a:endParaRPr lang="en-US" b="1">
              <a:solidFill>
                <a:srgbClr val="FF0000"/>
              </a:solidFill>
              <a:latin typeface="Cambria" panose="02040503050406030204" charset="0"/>
              <a:cs typeface="Cambria" panose="02040503050406030204" charset="0"/>
              <a:sym typeface="+mn-ea"/>
            </a:endParaRPr>
          </a:p>
        </p:txBody>
      </p:sp>
      <p:graphicFrame>
        <p:nvGraphicFramePr>
          <p:cNvPr id="2" name="Table 1"/>
          <p:cNvGraphicFramePr/>
          <p:nvPr>
            <p:custDataLst>
              <p:tags r:id="rId2"/>
            </p:custDataLst>
          </p:nvPr>
        </p:nvGraphicFramePr>
        <p:xfrm>
          <a:off x="0" y="5085080"/>
          <a:ext cx="11783695" cy="1725930"/>
        </p:xfrm>
        <a:graphic>
          <a:graphicData uri="http://schemas.openxmlformats.org/drawingml/2006/table">
            <a:tbl>
              <a:tblPr/>
              <a:tblGrid>
                <a:gridCol w="3249295"/>
                <a:gridCol w="3312160"/>
                <a:gridCol w="5222240"/>
              </a:tblGrid>
              <a:tr h="287655">
                <a:tc>
                  <a:txBody>
                    <a:bodyPr/>
                    <a:p>
                      <a:pPr algn="ctr"/>
                      <a:r>
                        <a:rPr sz="1800" b="1"/>
                        <a:t>Operator</a:t>
                      </a:r>
                      <a:endParaRPr sz="1800" b="1"/>
                    </a:p>
                  </a:txBody>
                  <a:tcPr marL="0" marR="0" marT="0" marB="0" anchor="ctr" anchorCtr="0">
                    <a:lnL>
                      <a:noFill/>
                    </a:lnL>
                    <a:lnR>
                      <a:noFill/>
                    </a:lnR>
                    <a:lnT>
                      <a:noFill/>
                    </a:lnT>
                    <a:lnB>
                      <a:noFill/>
                    </a:lnB>
                    <a:noFill/>
                  </a:tcPr>
                </a:tc>
                <a:tc>
                  <a:txBody>
                    <a:bodyPr/>
                    <a:p>
                      <a:pPr algn="ctr"/>
                      <a:r>
                        <a:rPr sz="1800" b="1"/>
                        <a:t>Name</a:t>
                      </a:r>
                      <a:endParaRPr sz="1800" b="1"/>
                    </a:p>
                  </a:txBody>
                  <a:tcPr marL="0" marR="0" marT="0" marB="0" anchor="ctr" anchorCtr="0">
                    <a:lnL>
                      <a:noFill/>
                    </a:lnL>
                    <a:lnR>
                      <a:noFill/>
                    </a:lnR>
                    <a:lnT>
                      <a:noFill/>
                    </a:lnT>
                    <a:lnB>
                      <a:noFill/>
                    </a:lnB>
                    <a:noFill/>
                  </a:tcPr>
                </a:tc>
                <a:tc>
                  <a:txBody>
                    <a:bodyPr/>
                    <a:p>
                      <a:pPr algn="ctr"/>
                      <a:r>
                        <a:rPr sz="1800" b="1"/>
                        <a:t>Description</a:t>
                      </a:r>
                      <a:endParaRPr sz="1800" b="1"/>
                    </a:p>
                  </a:txBody>
                  <a:tcPr marL="0" marR="0" marT="0" marB="0" anchor="ctr" anchorCtr="0">
                    <a:lnL>
                      <a:noFill/>
                    </a:lnL>
                    <a:lnR>
                      <a:noFill/>
                    </a:lnR>
                    <a:lnT>
                      <a:noFill/>
                    </a:lnT>
                    <a:lnB>
                      <a:noFill/>
                    </a:lnB>
                    <a:noFill/>
                  </a:tcPr>
                </a:tc>
              </a:tr>
              <a:tr h="287655">
                <a:tc>
                  <a:txBody>
                    <a:bodyPr/>
                    <a:p>
                      <a:pPr algn="ctr"/>
                      <a:r>
                        <a:rPr sz="1800" b="1"/>
                        <a:t>&amp;</a:t>
                      </a:r>
                      <a:endParaRPr sz="1800" b="1"/>
                    </a:p>
                  </a:txBody>
                  <a:tcPr marL="0" marR="0" marT="0" marB="0" anchor="ctr" anchorCtr="0">
                    <a:lnL>
                      <a:noFill/>
                    </a:lnL>
                    <a:lnR>
                      <a:noFill/>
                    </a:lnR>
                    <a:lnT>
                      <a:noFill/>
                    </a:lnT>
                    <a:lnB>
                      <a:noFill/>
                    </a:lnB>
                    <a:noFill/>
                  </a:tcPr>
                </a:tc>
                <a:tc>
                  <a:txBody>
                    <a:bodyPr/>
                    <a:p>
                      <a:pPr algn="ctr"/>
                      <a:r>
                        <a:rPr sz="1800" b="1"/>
                        <a:t>Bitwise AND</a:t>
                      </a:r>
                      <a:endParaRPr sz="1800" b="1"/>
                    </a:p>
                  </a:txBody>
                  <a:tcPr marL="0" marR="0" marT="0" marB="0" anchor="ctr" anchorCtr="0">
                    <a:lnL>
                      <a:noFill/>
                    </a:lnL>
                    <a:lnR>
                      <a:noFill/>
                    </a:lnR>
                    <a:lnT>
                      <a:noFill/>
                    </a:lnT>
                    <a:lnB>
                      <a:noFill/>
                    </a:lnB>
                    <a:noFill/>
                  </a:tcPr>
                </a:tc>
                <a:tc>
                  <a:txBody>
                    <a:bodyPr/>
                    <a:p>
                      <a:pPr algn="ctr"/>
                      <a:r>
                        <a:rPr sz="1800" b="1"/>
                        <a:t>Sets each bit to 1 if both bits are 1</a:t>
                      </a:r>
                      <a:endParaRPr sz="1800" b="1"/>
                    </a:p>
                  </a:txBody>
                  <a:tcPr marL="0" marR="0" marT="0" marB="0" anchor="ctr" anchorCtr="0">
                    <a:lnL>
                      <a:noFill/>
                    </a:lnL>
                    <a:lnR>
                      <a:noFill/>
                    </a:lnR>
                    <a:lnT>
                      <a:noFill/>
                    </a:lnT>
                    <a:lnB>
                      <a:noFill/>
                    </a:lnB>
                    <a:noFill/>
                  </a:tcPr>
                </a:tc>
              </a:tr>
              <a:tr h="287655">
                <a:tc>
                  <a:txBody>
                    <a:bodyPr/>
                    <a:p>
                      <a:pPr algn="ctr"/>
                      <a:r>
                        <a:rPr lang="en-US" sz="1800" b="1"/>
                        <a:t>|</a:t>
                      </a:r>
                      <a:endParaRPr lang="en-US" sz="1800" b="1"/>
                    </a:p>
                  </a:txBody>
                  <a:tcPr marL="0" marR="0" marT="0" marB="0" anchor="ctr" anchorCtr="0">
                    <a:lnL>
                      <a:noFill/>
                    </a:lnL>
                    <a:lnR>
                      <a:noFill/>
                    </a:lnR>
                    <a:lnT>
                      <a:noFill/>
                    </a:lnT>
                    <a:lnB>
                      <a:noFill/>
                    </a:lnB>
                    <a:noFill/>
                  </a:tcPr>
                </a:tc>
                <a:tc>
                  <a:txBody>
                    <a:bodyPr/>
                    <a:p>
                      <a:pPr algn="ctr"/>
                      <a:r>
                        <a:rPr lang="en-US" sz="1800" b="1"/>
                        <a:t>|</a:t>
                      </a:r>
                      <a:endParaRPr lang="en-US" sz="1800" b="1"/>
                    </a:p>
                  </a:txBody>
                  <a:tcPr marL="0" marR="0" marT="0" marB="0" anchor="ctr" anchorCtr="0">
                    <a:lnL>
                      <a:noFill/>
                    </a:lnL>
                    <a:lnR>
                      <a:noFill/>
                    </a:lnR>
                    <a:lnT>
                      <a:noFill/>
                    </a:lnT>
                    <a:lnB>
                      <a:noFill/>
                    </a:lnB>
                    <a:noFill/>
                  </a:tcPr>
                </a:tc>
                <a:tc>
                  <a:txBody>
                    <a:bodyPr/>
                    <a:p>
                      <a:pPr algn="ctr"/>
                      <a:r>
                        <a:rPr sz="1800" b="1"/>
                        <a:t>Bitwise OR</a:t>
                      </a:r>
                      <a:endParaRPr sz="1800" b="1"/>
                    </a:p>
                  </a:txBody>
                  <a:tcPr marL="0" marR="0" marT="0" marB="0" anchor="ctr" anchorCtr="0">
                    <a:lnL>
                      <a:noFill/>
                    </a:lnL>
                    <a:lnR>
                      <a:noFill/>
                    </a:lnR>
                    <a:lnT>
                      <a:noFill/>
                    </a:lnT>
                    <a:lnB>
                      <a:noFill/>
                    </a:lnB>
                    <a:noFill/>
                  </a:tcPr>
                </a:tc>
              </a:tr>
              <a:tr h="287655">
                <a:tc>
                  <a:txBody>
                    <a:bodyPr/>
                    <a:p>
                      <a:pPr algn="ctr"/>
                      <a:r>
                        <a:rPr sz="1800" b="1"/>
                        <a:t>^</a:t>
                      </a:r>
                      <a:endParaRPr sz="1800" b="1"/>
                    </a:p>
                  </a:txBody>
                  <a:tcPr marL="0" marR="0" marT="0" marB="0" anchor="ctr" anchorCtr="0">
                    <a:lnL>
                      <a:noFill/>
                    </a:lnL>
                    <a:lnR>
                      <a:noFill/>
                    </a:lnR>
                    <a:lnT>
                      <a:noFill/>
                    </a:lnT>
                    <a:lnB>
                      <a:noFill/>
                    </a:lnB>
                    <a:noFill/>
                  </a:tcPr>
                </a:tc>
                <a:tc>
                  <a:txBody>
                    <a:bodyPr/>
                    <a:p>
                      <a:pPr algn="ctr"/>
                      <a:r>
                        <a:rPr sz="1800" b="1"/>
                        <a:t>Bitwise XOR</a:t>
                      </a:r>
                      <a:endParaRPr sz="1800" b="1"/>
                    </a:p>
                  </a:txBody>
                  <a:tcPr marL="0" marR="0" marT="0" marB="0" anchor="ctr" anchorCtr="0">
                    <a:lnL>
                      <a:noFill/>
                    </a:lnL>
                    <a:lnR>
                      <a:noFill/>
                    </a:lnR>
                    <a:lnT>
                      <a:noFill/>
                    </a:lnT>
                    <a:lnB>
                      <a:noFill/>
                    </a:lnB>
                    <a:noFill/>
                  </a:tcPr>
                </a:tc>
                <a:tc>
                  <a:txBody>
                    <a:bodyPr/>
                    <a:p>
                      <a:pPr algn="ctr"/>
                      <a:r>
                        <a:rPr sz="1800" b="1"/>
                        <a:t>Sets each bit to 1 if only one bit is 1</a:t>
                      </a:r>
                      <a:endParaRPr sz="1800" b="1"/>
                    </a:p>
                  </a:txBody>
                  <a:tcPr marL="0" marR="0" marT="0" marB="0" anchor="ctr" anchorCtr="0">
                    <a:lnL>
                      <a:noFill/>
                    </a:lnL>
                    <a:lnR>
                      <a:noFill/>
                    </a:lnR>
                    <a:lnT>
                      <a:noFill/>
                    </a:lnT>
                    <a:lnB>
                      <a:noFill/>
                    </a:lnB>
                    <a:noFill/>
                  </a:tcPr>
                </a:tc>
              </a:tr>
              <a:tr h="287655">
                <a:tc>
                  <a:txBody>
                    <a:bodyPr/>
                    <a:p>
                      <a:pPr algn="ctr"/>
                      <a:r>
                        <a:rPr sz="1800" b="1"/>
                        <a:t>&lt;&lt;</a:t>
                      </a:r>
                      <a:endParaRPr sz="1800" b="1"/>
                    </a:p>
                  </a:txBody>
                  <a:tcPr marL="0" marR="0" marT="0" marB="0" anchor="ctr" anchorCtr="0">
                    <a:lnL>
                      <a:noFill/>
                    </a:lnL>
                    <a:lnR>
                      <a:noFill/>
                    </a:lnR>
                    <a:lnT>
                      <a:noFill/>
                    </a:lnT>
                    <a:lnB>
                      <a:noFill/>
                    </a:lnB>
                    <a:noFill/>
                  </a:tcPr>
                </a:tc>
                <a:tc>
                  <a:txBody>
                    <a:bodyPr/>
                    <a:p>
                      <a:pPr algn="ctr"/>
                      <a:r>
                        <a:rPr sz="1800" b="1"/>
                        <a:t>Left Shift</a:t>
                      </a:r>
                      <a:endParaRPr sz="1800" b="1"/>
                    </a:p>
                  </a:txBody>
                  <a:tcPr marL="0" marR="0" marT="0" marB="0" anchor="ctr" anchorCtr="0">
                    <a:lnL>
                      <a:noFill/>
                    </a:lnL>
                    <a:lnR>
                      <a:noFill/>
                    </a:lnR>
                    <a:lnT>
                      <a:noFill/>
                    </a:lnT>
                    <a:lnB>
                      <a:noFill/>
                    </a:lnB>
                    <a:noFill/>
                  </a:tcPr>
                </a:tc>
                <a:tc>
                  <a:txBody>
                    <a:bodyPr/>
                    <a:p>
                      <a:pPr algn="ctr"/>
                      <a:r>
                        <a:rPr sz="1800" b="1"/>
                        <a:t>Shifts bits to the left (multiplies by 2ⁿ)</a:t>
                      </a:r>
                      <a:endParaRPr sz="1800" b="1"/>
                    </a:p>
                  </a:txBody>
                  <a:tcPr marL="0" marR="0" marT="0" marB="0" anchor="ctr" anchorCtr="0">
                    <a:lnL>
                      <a:noFill/>
                    </a:lnL>
                    <a:lnR>
                      <a:noFill/>
                    </a:lnR>
                    <a:lnT>
                      <a:noFill/>
                    </a:lnT>
                    <a:lnB>
                      <a:noFill/>
                    </a:lnB>
                    <a:noFill/>
                  </a:tcPr>
                </a:tc>
              </a:tr>
              <a:tr h="287655">
                <a:tc>
                  <a:txBody>
                    <a:bodyPr/>
                    <a:p>
                      <a:pPr algn="ctr"/>
                      <a:r>
                        <a:rPr sz="1800" b="1"/>
                        <a:t>&gt;&gt;</a:t>
                      </a:r>
                      <a:endParaRPr sz="1800" b="1"/>
                    </a:p>
                  </a:txBody>
                  <a:tcPr marL="0" marR="0" marT="0" marB="0" anchor="ctr" anchorCtr="0">
                    <a:lnL>
                      <a:noFill/>
                    </a:lnL>
                    <a:lnR>
                      <a:noFill/>
                    </a:lnR>
                    <a:lnT>
                      <a:noFill/>
                    </a:lnT>
                    <a:lnB>
                      <a:noFill/>
                    </a:lnB>
                    <a:noFill/>
                  </a:tcPr>
                </a:tc>
                <a:tc>
                  <a:txBody>
                    <a:bodyPr/>
                    <a:p>
                      <a:pPr algn="ctr"/>
                      <a:r>
                        <a:rPr sz="1800" b="1"/>
                        <a:t>Right Shift</a:t>
                      </a:r>
                      <a:endParaRPr sz="1800" b="1"/>
                    </a:p>
                  </a:txBody>
                  <a:tcPr marL="0" marR="0" marT="0" marB="0" anchor="ctr" anchorCtr="0">
                    <a:lnL>
                      <a:noFill/>
                    </a:lnL>
                    <a:lnR>
                      <a:noFill/>
                    </a:lnR>
                    <a:lnT>
                      <a:noFill/>
                    </a:lnT>
                    <a:lnB>
                      <a:noFill/>
                    </a:lnB>
                    <a:noFill/>
                  </a:tcPr>
                </a:tc>
                <a:tc>
                  <a:txBody>
                    <a:bodyPr/>
                    <a:p>
                      <a:pPr algn="ctr"/>
                      <a:r>
                        <a:rPr sz="1800" b="1"/>
                        <a:t>Shifts bits to the right (preserves sign)</a:t>
                      </a:r>
                      <a:endParaRPr sz="1800" b="1"/>
                    </a:p>
                  </a:txBody>
                  <a:tcPr marL="0" marR="0" marT="0" marB="0" anchor="ctr" anchorCtr="0">
                    <a:lnL>
                      <a:noFill/>
                    </a:lnL>
                    <a:lnR>
                      <a:noFill/>
                    </a:lnR>
                    <a:lnT>
                      <a:noFill/>
                    </a:lnT>
                    <a:lnB>
                      <a:noFill/>
                    </a:lnB>
                    <a:noFill/>
                  </a:tcPr>
                </a:tc>
              </a:tr>
            </a:tbl>
          </a:graphicData>
        </a:graphic>
      </p:graphicFrame>
      <p:sp>
        <p:nvSpPr>
          <p:cNvPr id="3" name="Text Box 2"/>
          <p:cNvSpPr txBox="1"/>
          <p:nvPr/>
        </p:nvSpPr>
        <p:spPr>
          <a:xfrm>
            <a:off x="167640" y="4479290"/>
            <a:ext cx="6096000" cy="368300"/>
          </a:xfrm>
          <a:prstGeom prst="rect">
            <a:avLst/>
          </a:prstGeom>
          <a:noFill/>
        </p:spPr>
        <p:txBody>
          <a:bodyPr wrap="square" rtlCol="0" anchor="t">
            <a:spAutoFit/>
          </a:bodyPr>
          <a:p>
            <a:r>
              <a:rPr lang="en-US" b="1">
                <a:solidFill>
                  <a:srgbClr val="FF0000"/>
                </a:solidFill>
                <a:latin typeface="Cambria" panose="02040503050406030204" charset="0"/>
                <a:cs typeface="Cambria" panose="02040503050406030204" charset="0"/>
                <a:sym typeface="+mn-ea"/>
              </a:rPr>
              <a:t>Bitwise operators</a:t>
            </a:r>
            <a:endParaRPr lang="en-US" b="1">
              <a:solidFill>
                <a:srgbClr val="FF0000"/>
              </a:solidFill>
              <a:latin typeface="Cambria" panose="02040503050406030204" charset="0"/>
              <a:cs typeface="Cambria" panose="02040503050406030204" charset="0"/>
              <a:sym typeface="+mn-ea"/>
            </a:endParaRPr>
          </a:p>
        </p:txBody>
      </p:sp>
      <p:sp>
        <p:nvSpPr>
          <p:cNvPr id="5" name="Text Box 4"/>
          <p:cNvSpPr txBox="1"/>
          <p:nvPr/>
        </p:nvSpPr>
        <p:spPr>
          <a:xfrm>
            <a:off x="167640" y="1388745"/>
            <a:ext cx="3952240" cy="1562100"/>
          </a:xfrm>
          <a:prstGeom prst="rect">
            <a:avLst/>
          </a:prstGeom>
        </p:spPr>
        <p:txBody>
          <a:bodyPr>
            <a:noAutofit/>
          </a:bodyPr>
          <a:p>
            <a:pPr>
              <a:spcAft>
                <a:spcPct val="60000"/>
              </a:spcAft>
            </a:pPr>
            <a:r>
              <a:rPr b="1"/>
              <a:t>Pre-increment / Pre-decrement:</a:t>
            </a:r>
            <a:endParaRPr b="1"/>
          </a:p>
          <a:p>
            <a:pPr>
              <a:spcAft>
                <a:spcPct val="60000"/>
              </a:spcAft>
            </a:pPr>
            <a:r>
              <a:t>++x or --x</a:t>
            </a:r>
          </a:p>
          <a:p>
            <a:pPr>
              <a:buFont typeface="Arial" panose="020B0604020202020204"/>
              <a:buChar char="•"/>
            </a:pPr>
            <a:r>
              <a:t>The value is changed first, then used.</a:t>
            </a:r>
          </a:p>
        </p:txBody>
      </p:sp>
      <p:sp>
        <p:nvSpPr>
          <p:cNvPr id="6" name="Text Box 5"/>
          <p:cNvSpPr txBox="1"/>
          <p:nvPr/>
        </p:nvSpPr>
        <p:spPr>
          <a:xfrm>
            <a:off x="7409815" y="1388745"/>
            <a:ext cx="3937635" cy="1327150"/>
          </a:xfrm>
          <a:prstGeom prst="rect">
            <a:avLst/>
          </a:prstGeom>
        </p:spPr>
        <p:txBody>
          <a:bodyPr wrap="square">
            <a:spAutoFit/>
          </a:bodyPr>
          <a:p>
            <a:pPr>
              <a:spcAft>
                <a:spcPct val="60000"/>
              </a:spcAft>
            </a:pPr>
            <a:r>
              <a:rPr b="1"/>
              <a:t> Post-increment / Post-decrement:</a:t>
            </a:r>
            <a:endParaRPr b="1"/>
          </a:p>
          <a:p>
            <a:pPr>
              <a:spcAft>
                <a:spcPct val="60000"/>
              </a:spcAft>
            </a:pPr>
            <a:r>
              <a:t>x++ or x--</a:t>
            </a:r>
          </a:p>
          <a:p>
            <a:pPr>
              <a:buFont typeface="Arial" panose="020B0604020202020204"/>
              <a:buChar char="•"/>
            </a:pPr>
            <a:r>
              <a:t>The value is used first, then changed.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5255" y="0"/>
            <a:ext cx="10515600" cy="315595"/>
          </a:xfrm>
        </p:spPr>
        <p:txBody>
          <a:bodyPr>
            <a:normAutofit fontScale="90000"/>
          </a:bodyPr>
          <a:p>
            <a:r>
              <a:rPr lang="en-US" sz="2220" b="1">
                <a:solidFill>
                  <a:srgbClr val="FF0000"/>
                </a:solidFill>
                <a:latin typeface="Cambria" panose="02040503050406030204" charset="0"/>
                <a:cs typeface="Cambria" panose="02040503050406030204" charset="0"/>
              </a:rPr>
              <a:t>Bitwise Operators</a:t>
            </a:r>
            <a:endParaRPr lang="en-US" sz="2220" b="1">
              <a:solidFill>
                <a:srgbClr val="FF0000"/>
              </a:solidFill>
              <a:latin typeface="Cambria" panose="02040503050406030204" charset="0"/>
              <a:cs typeface="Cambria" panose="02040503050406030204" charset="0"/>
            </a:endParaRPr>
          </a:p>
        </p:txBody>
      </p:sp>
      <p:graphicFrame>
        <p:nvGraphicFramePr>
          <p:cNvPr id="4" name="Table 3"/>
          <p:cNvGraphicFramePr/>
          <p:nvPr>
            <p:custDataLst>
              <p:tags r:id="rId1"/>
            </p:custDataLst>
          </p:nvPr>
        </p:nvGraphicFramePr>
        <p:xfrm>
          <a:off x="0" y="828040"/>
          <a:ext cx="3384550" cy="2800985"/>
        </p:xfrm>
        <a:graphic>
          <a:graphicData uri="http://schemas.openxmlformats.org/drawingml/2006/table">
            <a:tbl>
              <a:tblPr/>
              <a:tblGrid>
                <a:gridCol w="1692275"/>
                <a:gridCol w="1692275"/>
              </a:tblGrid>
              <a:tr h="311785">
                <a:tc>
                  <a:txBody>
                    <a:bodyPr/>
                    <a:p>
                      <a:pPr algn="l"/>
                      <a:r>
                        <a:rPr sz="2000" b="1">
                          <a:solidFill>
                            <a:srgbClr val="FF0000"/>
                          </a:solidFill>
                          <a:latin typeface="Cambria" panose="02040503050406030204" charset="0"/>
                          <a:cs typeface="Cambria" panose="02040503050406030204" charset="0"/>
                        </a:rPr>
                        <a:t>Decimal</a:t>
                      </a:r>
                      <a:endParaRPr sz="2000" b="1">
                        <a:solidFill>
                          <a:srgbClr val="FF0000"/>
                        </a:solidFill>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2000" b="1">
                          <a:solidFill>
                            <a:srgbClr val="FF0000"/>
                          </a:solidFill>
                          <a:latin typeface="Cambria" panose="02040503050406030204" charset="0"/>
                          <a:cs typeface="Cambria" panose="02040503050406030204" charset="0"/>
                        </a:rPr>
                        <a:t>Binary (4-bit)</a:t>
                      </a:r>
                      <a:endParaRPr sz="2000" b="1">
                        <a:solidFill>
                          <a:srgbClr val="FF0000"/>
                        </a:solidFill>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48920">
                <a:tc>
                  <a:txBody>
                    <a:bodyPr/>
                    <a:p>
                      <a:pPr algn="l"/>
                      <a:r>
                        <a:rPr sz="1600" b="0">
                          <a:latin typeface="Cambria" panose="02040503050406030204" charset="0"/>
                          <a:cs typeface="Cambria" panose="02040503050406030204" charset="0"/>
                        </a:rPr>
                        <a:t>0</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0">
                          <a:latin typeface="Cambria" panose="02040503050406030204" charset="0"/>
                          <a:cs typeface="Cambria" panose="02040503050406030204" charset="0"/>
                        </a:rPr>
                        <a:t>0000</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48285">
                <a:tc>
                  <a:txBody>
                    <a:bodyPr/>
                    <a:p>
                      <a:pPr algn="l"/>
                      <a:r>
                        <a:rPr sz="1600" b="0">
                          <a:latin typeface="Cambria" panose="02040503050406030204" charset="0"/>
                          <a:cs typeface="Cambria" panose="02040503050406030204" charset="0"/>
                        </a:rPr>
                        <a:t>1</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0">
                          <a:latin typeface="Cambria" panose="02040503050406030204" charset="0"/>
                          <a:cs typeface="Cambria" panose="02040503050406030204" charset="0"/>
                        </a:rPr>
                        <a:t>0001</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49555">
                <a:tc>
                  <a:txBody>
                    <a:bodyPr/>
                    <a:p>
                      <a:pPr algn="l"/>
                      <a:r>
                        <a:rPr sz="1600" b="0">
                          <a:latin typeface="Cambria" panose="02040503050406030204" charset="0"/>
                          <a:cs typeface="Cambria" panose="02040503050406030204" charset="0"/>
                        </a:rPr>
                        <a:t>2</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0">
                          <a:latin typeface="Cambria" panose="02040503050406030204" charset="0"/>
                          <a:cs typeface="Cambria" panose="02040503050406030204" charset="0"/>
                        </a:rPr>
                        <a:t>0010</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48285">
                <a:tc>
                  <a:txBody>
                    <a:bodyPr/>
                    <a:p>
                      <a:pPr algn="l"/>
                      <a:r>
                        <a:rPr sz="1600" b="0">
                          <a:latin typeface="Cambria" panose="02040503050406030204" charset="0"/>
                          <a:cs typeface="Cambria" panose="02040503050406030204" charset="0"/>
                        </a:rPr>
                        <a:t>3</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0">
                          <a:latin typeface="Cambria" panose="02040503050406030204" charset="0"/>
                          <a:cs typeface="Cambria" panose="02040503050406030204" charset="0"/>
                        </a:rPr>
                        <a:t>0011</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49555">
                <a:tc>
                  <a:txBody>
                    <a:bodyPr/>
                    <a:p>
                      <a:pPr algn="l"/>
                      <a:r>
                        <a:rPr sz="1600" b="0">
                          <a:latin typeface="Cambria" panose="02040503050406030204" charset="0"/>
                          <a:cs typeface="Cambria" panose="02040503050406030204" charset="0"/>
                        </a:rPr>
                        <a:t>4</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0">
                          <a:latin typeface="Cambria" panose="02040503050406030204" charset="0"/>
                          <a:cs typeface="Cambria" panose="02040503050406030204" charset="0"/>
                        </a:rPr>
                        <a:t>0100</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48920">
                <a:tc>
                  <a:txBody>
                    <a:bodyPr/>
                    <a:p>
                      <a:pPr algn="l"/>
                      <a:r>
                        <a:rPr sz="1600" b="0">
                          <a:latin typeface="Cambria" panose="02040503050406030204" charset="0"/>
                          <a:cs typeface="Cambria" panose="02040503050406030204" charset="0"/>
                        </a:rPr>
                        <a:t>5</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0">
                          <a:latin typeface="Cambria" panose="02040503050406030204" charset="0"/>
                          <a:cs typeface="Cambria" panose="02040503050406030204" charset="0"/>
                        </a:rPr>
                        <a:t>0101</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48920">
                <a:tc>
                  <a:txBody>
                    <a:bodyPr/>
                    <a:p>
                      <a:pPr algn="l"/>
                      <a:r>
                        <a:rPr sz="1600" b="0">
                          <a:latin typeface="Cambria" panose="02040503050406030204" charset="0"/>
                          <a:cs typeface="Cambria" panose="02040503050406030204" charset="0"/>
                        </a:rPr>
                        <a:t>6</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0">
                          <a:latin typeface="Cambria" panose="02040503050406030204" charset="0"/>
                          <a:cs typeface="Cambria" panose="02040503050406030204" charset="0"/>
                        </a:rPr>
                        <a:t>0110</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48920">
                <a:tc>
                  <a:txBody>
                    <a:bodyPr/>
                    <a:p>
                      <a:pPr algn="l"/>
                      <a:r>
                        <a:rPr sz="1600" b="0">
                          <a:latin typeface="Cambria" panose="02040503050406030204" charset="0"/>
                          <a:cs typeface="Cambria" panose="02040503050406030204" charset="0"/>
                        </a:rPr>
                        <a:t>7</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0">
                          <a:latin typeface="Cambria" panose="02040503050406030204" charset="0"/>
                          <a:cs typeface="Cambria" panose="02040503050406030204" charset="0"/>
                        </a:rPr>
                        <a:t>0111</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48920">
                <a:tc>
                  <a:txBody>
                    <a:bodyPr/>
                    <a:p>
                      <a:pPr algn="l"/>
                      <a:r>
                        <a:rPr sz="1600" b="0">
                          <a:latin typeface="Cambria" panose="02040503050406030204" charset="0"/>
                          <a:cs typeface="Cambria" panose="02040503050406030204" charset="0"/>
                        </a:rPr>
                        <a:t>8</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0">
                          <a:latin typeface="Cambria" panose="02040503050406030204" charset="0"/>
                          <a:cs typeface="Cambria" panose="02040503050406030204" charset="0"/>
                        </a:rPr>
                        <a:t>1000</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48920">
                <a:tc>
                  <a:txBody>
                    <a:bodyPr/>
                    <a:p>
                      <a:pPr algn="l"/>
                      <a:r>
                        <a:rPr sz="1600" b="0">
                          <a:latin typeface="Cambria" panose="02040503050406030204" charset="0"/>
                          <a:cs typeface="Cambria" panose="02040503050406030204" charset="0"/>
                        </a:rPr>
                        <a:t>9</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0">
                          <a:latin typeface="Cambria" panose="02040503050406030204" charset="0"/>
                          <a:cs typeface="Cambria" panose="02040503050406030204" charset="0"/>
                        </a:rPr>
                        <a:t>1001</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graphicFrame>
        <p:nvGraphicFramePr>
          <p:cNvPr id="5" name="Table 4"/>
          <p:cNvGraphicFramePr/>
          <p:nvPr>
            <p:custDataLst>
              <p:tags r:id="rId2"/>
            </p:custDataLst>
          </p:nvPr>
        </p:nvGraphicFramePr>
        <p:xfrm>
          <a:off x="3569970" y="828040"/>
          <a:ext cx="3427095" cy="2092325"/>
        </p:xfrm>
        <a:graphic>
          <a:graphicData uri="http://schemas.openxmlformats.org/drawingml/2006/table">
            <a:tbl>
              <a:tblPr/>
              <a:tblGrid>
                <a:gridCol w="1142365"/>
                <a:gridCol w="1142365"/>
                <a:gridCol w="1142365"/>
              </a:tblGrid>
              <a:tr h="418465">
                <a:tc>
                  <a:txBody>
                    <a:bodyPr/>
                    <a:p>
                      <a:pPr algn="ctr"/>
                      <a:r>
                        <a:rPr sz="1600" b="1">
                          <a:solidFill>
                            <a:srgbClr val="FF0000"/>
                          </a:solidFill>
                          <a:latin typeface="Cambria" panose="02040503050406030204" charset="0"/>
                          <a:cs typeface="Cambria" panose="02040503050406030204" charset="0"/>
                        </a:rPr>
                        <a:t>A</a:t>
                      </a:r>
                      <a:endParaRPr sz="1600" b="1">
                        <a:solidFill>
                          <a:srgbClr val="FF0000"/>
                        </a:solidFill>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solidFill>
                            <a:srgbClr val="FF0000"/>
                          </a:solidFill>
                          <a:latin typeface="Cambria" panose="02040503050406030204" charset="0"/>
                          <a:cs typeface="Cambria" panose="02040503050406030204" charset="0"/>
                        </a:rPr>
                        <a:t>B</a:t>
                      </a:r>
                      <a:endParaRPr sz="1600" b="1">
                        <a:solidFill>
                          <a:srgbClr val="FF0000"/>
                        </a:solidFill>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solidFill>
                            <a:srgbClr val="FF0000"/>
                          </a:solidFill>
                          <a:latin typeface="Cambria" panose="02040503050406030204" charset="0"/>
                          <a:cs typeface="Cambria" panose="02040503050406030204" charset="0"/>
                        </a:rPr>
                        <a:t>A &amp; B</a:t>
                      </a:r>
                      <a:endParaRPr sz="1600" b="1">
                        <a:solidFill>
                          <a:srgbClr val="FF0000"/>
                        </a:solidFill>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18465">
                <a:tc>
                  <a:txBody>
                    <a:bodyPr/>
                    <a:p>
                      <a:pPr algn="ctr"/>
                      <a:r>
                        <a:rPr sz="1600" b="0">
                          <a:latin typeface="Cambria" panose="02040503050406030204" charset="0"/>
                          <a:cs typeface="Cambria" panose="02040503050406030204" charset="0"/>
                        </a:rPr>
                        <a:t>0</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0</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0</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18465">
                <a:tc>
                  <a:txBody>
                    <a:bodyPr/>
                    <a:p>
                      <a:pPr algn="ctr"/>
                      <a:r>
                        <a:rPr sz="1600" b="0">
                          <a:latin typeface="Cambria" panose="02040503050406030204" charset="0"/>
                          <a:cs typeface="Cambria" panose="02040503050406030204" charset="0"/>
                        </a:rPr>
                        <a:t>0</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1</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0</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18465">
                <a:tc>
                  <a:txBody>
                    <a:bodyPr/>
                    <a:p>
                      <a:pPr algn="ctr"/>
                      <a:r>
                        <a:rPr sz="1600" b="0">
                          <a:latin typeface="Cambria" panose="02040503050406030204" charset="0"/>
                          <a:cs typeface="Cambria" panose="02040503050406030204" charset="0"/>
                        </a:rPr>
                        <a:t>1</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0</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0</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18465">
                <a:tc>
                  <a:txBody>
                    <a:bodyPr/>
                    <a:p>
                      <a:pPr algn="ctr"/>
                      <a:r>
                        <a:rPr sz="1600" b="0">
                          <a:latin typeface="Cambria" panose="02040503050406030204" charset="0"/>
                          <a:cs typeface="Cambria" panose="02040503050406030204" charset="0"/>
                        </a:rPr>
                        <a:t>1</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1</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0">
                          <a:latin typeface="Cambria" panose="02040503050406030204" charset="0"/>
                          <a:cs typeface="Cambria" panose="02040503050406030204" charset="0"/>
                        </a:rPr>
                        <a:t>1 </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sp>
        <p:nvSpPr>
          <p:cNvPr id="6" name="Text Box 5"/>
          <p:cNvSpPr txBox="1"/>
          <p:nvPr/>
        </p:nvSpPr>
        <p:spPr>
          <a:xfrm>
            <a:off x="3819525" y="403225"/>
            <a:ext cx="3409315" cy="337185"/>
          </a:xfrm>
          <a:prstGeom prst="rect">
            <a:avLst/>
          </a:prstGeom>
        </p:spPr>
        <p:txBody>
          <a:bodyPr wrap="square">
            <a:spAutoFit/>
          </a:bodyPr>
          <a:p>
            <a:r>
              <a:rPr sz="1600" b="1">
                <a:latin typeface="Cambria" panose="02040503050406030204" charset="0"/>
                <a:cs typeface="Cambria" panose="02040503050406030204" charset="0"/>
              </a:rPr>
              <a:t>Truth Table for Bitwise AND (&amp;)</a:t>
            </a:r>
            <a:endParaRPr sz="1600" b="1">
              <a:latin typeface="Cambria" panose="02040503050406030204" charset="0"/>
              <a:cs typeface="Cambria" panose="02040503050406030204" charset="0"/>
            </a:endParaRPr>
          </a:p>
        </p:txBody>
      </p:sp>
      <p:sp>
        <p:nvSpPr>
          <p:cNvPr id="7" name="Text Box 6"/>
          <p:cNvSpPr txBox="1"/>
          <p:nvPr/>
        </p:nvSpPr>
        <p:spPr>
          <a:xfrm>
            <a:off x="135255" y="403225"/>
            <a:ext cx="3131185" cy="337185"/>
          </a:xfrm>
          <a:prstGeom prst="rect">
            <a:avLst/>
          </a:prstGeom>
        </p:spPr>
        <p:txBody>
          <a:bodyPr wrap="square">
            <a:spAutoFit/>
          </a:bodyPr>
          <a:p>
            <a:r>
              <a:rPr sz="1600" b="1">
                <a:latin typeface="Cambria" panose="02040503050406030204" charset="0"/>
                <a:cs typeface="Cambria" panose="02040503050406030204" charset="0"/>
              </a:rPr>
              <a:t> 1. Decimal to Binary (4-bit)</a:t>
            </a:r>
            <a:endParaRPr sz="1600" b="1">
              <a:latin typeface="Cambria" panose="02040503050406030204" charset="0"/>
              <a:cs typeface="Cambria" panose="02040503050406030204" charset="0"/>
            </a:endParaRPr>
          </a:p>
        </p:txBody>
      </p:sp>
      <p:graphicFrame>
        <p:nvGraphicFramePr>
          <p:cNvPr id="8" name="Table 7"/>
          <p:cNvGraphicFramePr/>
          <p:nvPr>
            <p:custDataLst>
              <p:tags r:id="rId3"/>
            </p:custDataLst>
          </p:nvPr>
        </p:nvGraphicFramePr>
        <p:xfrm>
          <a:off x="7431405" y="828040"/>
          <a:ext cx="4122420" cy="1841500"/>
        </p:xfrm>
        <a:graphic>
          <a:graphicData uri="http://schemas.openxmlformats.org/drawingml/2006/table">
            <a:tbl>
              <a:tblPr/>
              <a:tblGrid>
                <a:gridCol w="1374140"/>
                <a:gridCol w="1374140"/>
                <a:gridCol w="1374140"/>
              </a:tblGrid>
              <a:tr h="368300">
                <a:tc>
                  <a:txBody>
                    <a:bodyPr/>
                    <a:p>
                      <a:pPr algn="ctr"/>
                      <a:r>
                        <a:rPr sz="1600" b="1">
                          <a:solidFill>
                            <a:srgbClr val="FF0000"/>
                          </a:solidFill>
                          <a:latin typeface="Cambria" panose="02040503050406030204" charset="0"/>
                          <a:cs typeface="Cambria" panose="02040503050406030204" charset="0"/>
                        </a:rPr>
                        <a:t>A</a:t>
                      </a:r>
                      <a:endParaRPr sz="1600" b="1">
                        <a:solidFill>
                          <a:srgbClr val="FF0000"/>
                        </a:solidFill>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solidFill>
                            <a:srgbClr val="FF0000"/>
                          </a:solidFill>
                          <a:latin typeface="Cambria" panose="02040503050406030204" charset="0"/>
                          <a:cs typeface="Cambria" panose="02040503050406030204" charset="0"/>
                        </a:rPr>
                        <a:t>B</a:t>
                      </a:r>
                      <a:endParaRPr sz="1600" b="1">
                        <a:solidFill>
                          <a:srgbClr val="FF0000"/>
                        </a:solidFill>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solidFill>
                            <a:srgbClr val="FF0000"/>
                          </a:solidFill>
                          <a:latin typeface="Cambria" panose="02040503050406030204" charset="0"/>
                          <a:cs typeface="Cambria" panose="02040503050406030204" charset="0"/>
                        </a:rPr>
                        <a:t>A | B</a:t>
                      </a:r>
                      <a:endParaRPr sz="1600" b="1">
                        <a:solidFill>
                          <a:srgbClr val="FF0000"/>
                        </a:solidFill>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68300">
                <a:tc>
                  <a:txBody>
                    <a:bodyPr/>
                    <a:p>
                      <a:pPr algn="ctr"/>
                      <a:r>
                        <a:rPr sz="1600">
                          <a:latin typeface="Cambria" panose="02040503050406030204" charset="0"/>
                          <a:cs typeface="Cambria" panose="02040503050406030204" charset="0"/>
                        </a:rPr>
                        <a:t>0</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a:latin typeface="Cambria" panose="02040503050406030204" charset="0"/>
                          <a:cs typeface="Cambria" panose="02040503050406030204" charset="0"/>
                        </a:rPr>
                        <a:t>0</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a:latin typeface="Cambria" panose="02040503050406030204" charset="0"/>
                          <a:cs typeface="Cambria" panose="02040503050406030204" charset="0"/>
                        </a:rPr>
                        <a:t>0</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68300">
                <a:tc>
                  <a:txBody>
                    <a:bodyPr/>
                    <a:p>
                      <a:pPr algn="ctr"/>
                      <a:r>
                        <a:rPr sz="1600">
                          <a:latin typeface="Cambria" panose="02040503050406030204" charset="0"/>
                          <a:cs typeface="Cambria" panose="02040503050406030204" charset="0"/>
                        </a:rPr>
                        <a:t>0</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a:latin typeface="Cambria" panose="02040503050406030204" charset="0"/>
                          <a:cs typeface="Cambria" panose="02040503050406030204" charset="0"/>
                        </a:rPr>
                        <a:t>1</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a:latin typeface="Cambria" panose="02040503050406030204" charset="0"/>
                          <a:cs typeface="Cambria" panose="02040503050406030204" charset="0"/>
                        </a:rPr>
                        <a:t>1 </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68300">
                <a:tc>
                  <a:txBody>
                    <a:bodyPr/>
                    <a:p>
                      <a:pPr algn="ctr"/>
                      <a:r>
                        <a:rPr sz="1600">
                          <a:latin typeface="Cambria" panose="02040503050406030204" charset="0"/>
                          <a:cs typeface="Cambria" panose="02040503050406030204" charset="0"/>
                        </a:rPr>
                        <a:t>1</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a:latin typeface="Cambria" panose="02040503050406030204" charset="0"/>
                          <a:cs typeface="Cambria" panose="02040503050406030204" charset="0"/>
                        </a:rPr>
                        <a:t>0</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a:latin typeface="Cambria" panose="02040503050406030204" charset="0"/>
                          <a:cs typeface="Cambria" panose="02040503050406030204" charset="0"/>
                        </a:rPr>
                        <a:t>1 </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68300">
                <a:tc>
                  <a:txBody>
                    <a:bodyPr/>
                    <a:p>
                      <a:pPr algn="ctr"/>
                      <a:r>
                        <a:rPr sz="1600">
                          <a:latin typeface="Cambria" panose="02040503050406030204" charset="0"/>
                          <a:cs typeface="Cambria" panose="02040503050406030204" charset="0"/>
                        </a:rPr>
                        <a:t>1</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a:latin typeface="Cambria" panose="02040503050406030204" charset="0"/>
                          <a:cs typeface="Cambria" panose="02040503050406030204" charset="0"/>
                        </a:rPr>
                        <a:t>1</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a:latin typeface="Cambria" panose="02040503050406030204" charset="0"/>
                          <a:cs typeface="Cambria" panose="02040503050406030204" charset="0"/>
                        </a:rPr>
                        <a:t>1 </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sp>
        <p:nvSpPr>
          <p:cNvPr id="9" name="Text Box 8"/>
          <p:cNvSpPr txBox="1"/>
          <p:nvPr/>
        </p:nvSpPr>
        <p:spPr>
          <a:xfrm>
            <a:off x="8151495" y="403225"/>
            <a:ext cx="2682240" cy="337185"/>
          </a:xfrm>
          <a:prstGeom prst="rect">
            <a:avLst/>
          </a:prstGeom>
        </p:spPr>
        <p:txBody>
          <a:bodyPr wrap="square">
            <a:spAutoFit/>
          </a:bodyPr>
          <a:p>
            <a:r>
              <a:rPr sz="1600" b="1"/>
              <a:t>Truth Table for Bitwise OR (|)</a:t>
            </a:r>
            <a:endParaRPr sz="1600" b="1"/>
          </a:p>
        </p:txBody>
      </p:sp>
      <p:sp>
        <p:nvSpPr>
          <p:cNvPr id="10" name="Text Box 9"/>
          <p:cNvSpPr txBox="1"/>
          <p:nvPr/>
        </p:nvSpPr>
        <p:spPr>
          <a:xfrm>
            <a:off x="135255" y="4142105"/>
            <a:ext cx="3570605" cy="2621915"/>
          </a:xfrm>
          <a:prstGeom prst="rect">
            <a:avLst/>
          </a:prstGeom>
          <a:noFill/>
        </p:spPr>
        <p:txBody>
          <a:bodyPr wrap="square" rtlCol="0" anchor="t">
            <a:noAutofit/>
          </a:bodyPr>
          <a:p>
            <a:r>
              <a:rPr lang="en-US" altLang="en-US"/>
              <a:t>a = 5 → 0101</a:t>
            </a:r>
            <a:endParaRPr lang="en-US" altLang="en-US"/>
          </a:p>
          <a:p>
            <a:r>
              <a:rPr lang="en-US" altLang="en-US"/>
              <a:t>b = 3 → 0011</a:t>
            </a:r>
            <a:endParaRPr lang="en-US" altLang="en-US"/>
          </a:p>
          <a:p>
            <a:endParaRPr lang="en-US" altLang="en-US"/>
          </a:p>
          <a:p>
            <a:r>
              <a:rPr lang="en-US" altLang="en-US"/>
              <a:t>Bit-by-bit AND:</a:t>
            </a:r>
            <a:endParaRPr lang="en-US" altLang="en-US"/>
          </a:p>
          <a:p>
            <a:endParaRPr lang="en-US" altLang="en-US"/>
          </a:p>
          <a:p>
            <a:r>
              <a:rPr lang="en-US" altLang="en-US"/>
              <a:t>A  | 0 | 1 | 0 | 1 |</a:t>
            </a:r>
            <a:endParaRPr lang="en-US" altLang="en-US"/>
          </a:p>
          <a:p>
            <a:r>
              <a:rPr lang="en-US" altLang="en-US"/>
              <a:t>B  | 0 | 0 | 1 | 1 |</a:t>
            </a:r>
            <a:endParaRPr lang="en-US" altLang="en-US"/>
          </a:p>
          <a:p>
            <a:r>
              <a:rPr lang="en-US" altLang="en-US"/>
              <a:t>-------------------</a:t>
            </a:r>
            <a:endParaRPr lang="en-US" altLang="en-US"/>
          </a:p>
          <a:p>
            <a:r>
              <a:rPr lang="en-US" altLang="en-US"/>
              <a:t>&amp;  | 0 | 0 | 0 | 1 → 0001 = 1</a:t>
            </a:r>
            <a:endParaRPr lang="en-US" altLang="en-US"/>
          </a:p>
          <a:p>
            <a:endParaRPr lang="en-US"/>
          </a:p>
        </p:txBody>
      </p:sp>
      <p:sp>
        <p:nvSpPr>
          <p:cNvPr id="12" name="Text Box 11"/>
          <p:cNvSpPr txBox="1"/>
          <p:nvPr/>
        </p:nvSpPr>
        <p:spPr>
          <a:xfrm>
            <a:off x="3121025" y="4299585"/>
            <a:ext cx="2844165" cy="2306955"/>
          </a:xfrm>
          <a:prstGeom prst="rect">
            <a:avLst/>
          </a:prstGeom>
          <a:noFill/>
        </p:spPr>
        <p:txBody>
          <a:bodyPr wrap="square" rtlCol="0" anchor="t">
            <a:spAutoFit/>
          </a:bodyPr>
          <a:p>
            <a:r>
              <a:rPr lang="en-US" altLang="en-US"/>
              <a:t>a=5 --&gt;0101</a:t>
            </a:r>
            <a:endParaRPr lang="en-US" altLang="en-US"/>
          </a:p>
          <a:p>
            <a:r>
              <a:rPr lang="en-US" altLang="en-US"/>
              <a:t>b=3 --&gt;0011</a:t>
            </a:r>
            <a:endParaRPr lang="en-US" altLang="en-US"/>
          </a:p>
          <a:p>
            <a:r>
              <a:rPr lang="en-US" altLang="en-US"/>
              <a:t>Bit-by-bit OR:</a:t>
            </a:r>
            <a:endParaRPr lang="en-US" altLang="en-US"/>
          </a:p>
          <a:p>
            <a:endParaRPr lang="en-US" altLang="en-US"/>
          </a:p>
          <a:p>
            <a:r>
              <a:rPr lang="en-US" altLang="en-US"/>
              <a:t>A  | 0 | 1 | 0 | 1 |</a:t>
            </a:r>
            <a:endParaRPr lang="en-US" altLang="en-US"/>
          </a:p>
          <a:p>
            <a:r>
              <a:rPr lang="en-US" altLang="en-US"/>
              <a:t>B  | 0 | 0 | 1 | 1 |</a:t>
            </a:r>
            <a:endParaRPr lang="en-US" altLang="en-US"/>
          </a:p>
          <a:p>
            <a:r>
              <a:rPr lang="en-US" altLang="en-US"/>
              <a:t>-------------------</a:t>
            </a:r>
            <a:endParaRPr lang="en-US" altLang="en-US"/>
          </a:p>
          <a:p>
            <a:r>
              <a:rPr lang="en-US" altLang="en-US"/>
              <a:t>|  | 0 | 1 | 1 | 1 → 0111 = 7</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0805" y="0"/>
            <a:ext cx="10515600" cy="506730"/>
          </a:xfrm>
        </p:spPr>
        <p:txBody>
          <a:bodyPr>
            <a:noAutofit/>
          </a:bodyPr>
          <a:p>
            <a:r>
              <a:rPr lang="en-US" sz="2400" b="1">
                <a:solidFill>
                  <a:srgbClr val="FF0000"/>
                </a:solidFill>
                <a:latin typeface="Cambria" panose="02040503050406030204" charset="0"/>
                <a:cs typeface="Cambria" panose="02040503050406030204" charset="0"/>
              </a:rPr>
              <a:t>Bitwise XOR operator</a:t>
            </a:r>
            <a:endParaRPr lang="en-US" sz="2400" b="1">
              <a:solidFill>
                <a:srgbClr val="FF0000"/>
              </a:solidFill>
              <a:latin typeface="Cambria" panose="02040503050406030204" charset="0"/>
              <a:cs typeface="Cambria" panose="02040503050406030204" charset="0"/>
            </a:endParaRPr>
          </a:p>
        </p:txBody>
      </p:sp>
      <p:graphicFrame>
        <p:nvGraphicFramePr>
          <p:cNvPr id="4" name="Table 3"/>
          <p:cNvGraphicFramePr/>
          <p:nvPr>
            <p:custDataLst>
              <p:tags r:id="rId1"/>
            </p:custDataLst>
          </p:nvPr>
        </p:nvGraphicFramePr>
        <p:xfrm>
          <a:off x="106680" y="1622425"/>
          <a:ext cx="2983230" cy="1806575"/>
        </p:xfrm>
        <a:graphic>
          <a:graphicData uri="http://schemas.openxmlformats.org/drawingml/2006/table">
            <a:tbl>
              <a:tblPr/>
              <a:tblGrid>
                <a:gridCol w="994410"/>
                <a:gridCol w="994410"/>
                <a:gridCol w="994410"/>
              </a:tblGrid>
              <a:tr h="361315">
                <a:tc>
                  <a:txBody>
                    <a:bodyPr/>
                    <a:p>
                      <a:pPr algn="l"/>
                      <a:r>
                        <a:rPr sz="1800" b="1">
                          <a:latin typeface="Cambria" panose="02040503050406030204" charset="0"/>
                          <a:cs typeface="Cambria" panose="02040503050406030204" charset="0"/>
                        </a:rPr>
                        <a:t>A</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800" b="1">
                          <a:latin typeface="Cambria" panose="02040503050406030204" charset="0"/>
                          <a:cs typeface="Cambria" panose="02040503050406030204" charset="0"/>
                        </a:rPr>
                        <a:t>B</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800" b="1">
                          <a:latin typeface="Cambria" panose="02040503050406030204" charset="0"/>
                          <a:cs typeface="Cambria" panose="02040503050406030204" charset="0"/>
                        </a:rPr>
                        <a:t>A ^ B</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61315">
                <a:tc>
                  <a:txBody>
                    <a:bodyPr/>
                    <a:p>
                      <a:r>
                        <a:rPr sz="1800" b="0">
                          <a:latin typeface="Cambria" panose="02040503050406030204" charset="0"/>
                          <a:cs typeface="Cambria" panose="02040503050406030204" charset="0"/>
                        </a:rPr>
                        <a:t>0</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b="0">
                          <a:latin typeface="Cambria" panose="02040503050406030204" charset="0"/>
                          <a:cs typeface="Cambria" panose="02040503050406030204" charset="0"/>
                        </a:rPr>
                        <a:t>0</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b="0">
                          <a:latin typeface="Cambria" panose="02040503050406030204" charset="0"/>
                          <a:cs typeface="Cambria" panose="02040503050406030204" charset="0"/>
                        </a:rPr>
                        <a:t>0</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61315">
                <a:tc>
                  <a:txBody>
                    <a:bodyPr/>
                    <a:p>
                      <a:r>
                        <a:rPr sz="1800" b="0">
                          <a:latin typeface="Cambria" panose="02040503050406030204" charset="0"/>
                          <a:cs typeface="Cambria" panose="02040503050406030204" charset="0"/>
                        </a:rPr>
                        <a:t>0</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b="0">
                          <a:latin typeface="Cambria" panose="02040503050406030204" charset="0"/>
                          <a:cs typeface="Cambria" panose="02040503050406030204" charset="0"/>
                        </a:rPr>
                        <a:t>1</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b="0">
                          <a:latin typeface="Cambria" panose="02040503050406030204" charset="0"/>
                          <a:cs typeface="Cambria" panose="02040503050406030204" charset="0"/>
                        </a:rPr>
                        <a:t>1 </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61315">
                <a:tc>
                  <a:txBody>
                    <a:bodyPr/>
                    <a:p>
                      <a:r>
                        <a:rPr sz="1800" b="0">
                          <a:latin typeface="Cambria" panose="02040503050406030204" charset="0"/>
                          <a:cs typeface="Cambria" panose="02040503050406030204" charset="0"/>
                        </a:rPr>
                        <a:t>1</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b="0">
                          <a:latin typeface="Cambria" panose="02040503050406030204" charset="0"/>
                          <a:cs typeface="Cambria" panose="02040503050406030204" charset="0"/>
                        </a:rPr>
                        <a:t>0</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b="0">
                          <a:latin typeface="Cambria" panose="02040503050406030204" charset="0"/>
                          <a:cs typeface="Cambria" panose="02040503050406030204" charset="0"/>
                        </a:rPr>
                        <a:t>1 </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61315">
                <a:tc>
                  <a:txBody>
                    <a:bodyPr/>
                    <a:p>
                      <a:r>
                        <a:rPr sz="1800" b="0">
                          <a:latin typeface="Cambria" panose="02040503050406030204" charset="0"/>
                          <a:cs typeface="Cambria" panose="02040503050406030204" charset="0"/>
                        </a:rPr>
                        <a:t>1</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b="0">
                          <a:latin typeface="Cambria" panose="02040503050406030204" charset="0"/>
                          <a:cs typeface="Cambria" panose="02040503050406030204" charset="0"/>
                        </a:rPr>
                        <a:t>1</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b="0">
                          <a:latin typeface="Cambria" panose="02040503050406030204" charset="0"/>
                          <a:cs typeface="Cambria" panose="02040503050406030204" charset="0"/>
                        </a:rPr>
                        <a:t>0</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sp>
        <p:nvSpPr>
          <p:cNvPr id="5" name="Text Box 4"/>
          <p:cNvSpPr txBox="1"/>
          <p:nvPr/>
        </p:nvSpPr>
        <p:spPr>
          <a:xfrm>
            <a:off x="-13970" y="895985"/>
            <a:ext cx="3103880" cy="337185"/>
          </a:xfrm>
          <a:prstGeom prst="rect">
            <a:avLst/>
          </a:prstGeom>
        </p:spPr>
        <p:txBody>
          <a:bodyPr wrap="square">
            <a:spAutoFit/>
          </a:bodyPr>
          <a:p>
            <a:r>
              <a:rPr sz="1600" b="1"/>
              <a:t> Bitwise XOR (^) — Exclusive OR</a:t>
            </a:r>
            <a:endParaRPr sz="1600" b="1"/>
          </a:p>
        </p:txBody>
      </p:sp>
      <p:graphicFrame>
        <p:nvGraphicFramePr>
          <p:cNvPr id="6" name="Table 5"/>
          <p:cNvGraphicFramePr/>
          <p:nvPr>
            <p:custDataLst>
              <p:tags r:id="rId2"/>
            </p:custDataLst>
          </p:nvPr>
        </p:nvGraphicFramePr>
        <p:xfrm>
          <a:off x="2736850" y="1622425"/>
          <a:ext cx="4023360" cy="2099945"/>
        </p:xfrm>
        <a:graphic>
          <a:graphicData uri="http://schemas.openxmlformats.org/drawingml/2006/table">
            <a:tbl>
              <a:tblPr/>
              <a:tblGrid>
                <a:gridCol w="1005840"/>
                <a:gridCol w="1005840"/>
                <a:gridCol w="1005840"/>
                <a:gridCol w="1005840"/>
              </a:tblGrid>
              <a:tr h="581025">
                <a:tc>
                  <a:txBody>
                    <a:bodyPr/>
                    <a:p>
                      <a:pPr algn="ctr"/>
                      <a:r>
                        <a:rPr sz="1800" b="1"/>
                        <a:t>A (decimal)</a:t>
                      </a:r>
                      <a:endParaRPr sz="1800" b="1"/>
                    </a:p>
                  </a:txBody>
                  <a:tcPr marL="0" marR="0" marT="0" marB="0" anchor="ctr" anchorCtr="0">
                    <a:lnL>
                      <a:noFill/>
                    </a:lnL>
                    <a:lnR>
                      <a:noFill/>
                    </a:lnR>
                    <a:lnT>
                      <a:noFill/>
                    </a:lnT>
                    <a:lnB>
                      <a:noFill/>
                    </a:lnB>
                    <a:noFill/>
                  </a:tcPr>
                </a:tc>
                <a:tc>
                  <a:txBody>
                    <a:bodyPr/>
                    <a:p>
                      <a:pPr algn="ctr"/>
                      <a:r>
                        <a:rPr sz="1800" b="1"/>
                        <a:t>Binary</a:t>
                      </a:r>
                      <a:endParaRPr sz="1800" b="1"/>
                    </a:p>
                  </a:txBody>
                  <a:tcPr marL="0" marR="0" marT="0" marB="0" anchor="ctr" anchorCtr="0">
                    <a:lnL>
                      <a:noFill/>
                    </a:lnL>
                    <a:lnR>
                      <a:noFill/>
                    </a:lnR>
                    <a:lnT>
                      <a:noFill/>
                    </a:lnT>
                    <a:lnB>
                      <a:noFill/>
                    </a:lnB>
                    <a:noFill/>
                  </a:tcPr>
                </a:tc>
                <a:tc>
                  <a:txBody>
                    <a:bodyPr/>
                    <a:p>
                      <a:pPr algn="ctr"/>
                      <a:r>
                        <a:rPr sz="1800" b="1"/>
                        <a:t>A &lt;&lt; 1</a:t>
                      </a:r>
                      <a:endParaRPr sz="1800" b="1"/>
                    </a:p>
                  </a:txBody>
                  <a:tcPr marL="0" marR="0" marT="0" marB="0" anchor="ctr" anchorCtr="0">
                    <a:lnL>
                      <a:noFill/>
                    </a:lnL>
                    <a:lnR>
                      <a:noFill/>
                    </a:lnR>
                    <a:lnT>
                      <a:noFill/>
                    </a:lnT>
                    <a:lnB>
                      <a:noFill/>
                    </a:lnB>
                    <a:noFill/>
                  </a:tcPr>
                </a:tc>
                <a:tc>
                  <a:txBody>
                    <a:bodyPr/>
                    <a:p>
                      <a:pPr algn="ctr"/>
                      <a:r>
                        <a:rPr sz="1800" b="1"/>
                        <a:t>Result (Decimal)</a:t>
                      </a:r>
                      <a:endParaRPr sz="1800" b="1"/>
                    </a:p>
                  </a:txBody>
                  <a:tcPr marL="0" marR="0" marT="0" marB="0" anchor="ctr" anchorCtr="0">
                    <a:lnL>
                      <a:noFill/>
                    </a:lnL>
                    <a:lnR>
                      <a:noFill/>
                    </a:lnR>
                    <a:lnT>
                      <a:noFill/>
                    </a:lnT>
                    <a:lnB>
                      <a:noFill/>
                    </a:lnB>
                    <a:noFill/>
                  </a:tcPr>
                </a:tc>
              </a:tr>
              <a:tr h="379730">
                <a:tc>
                  <a:txBody>
                    <a:bodyPr/>
                    <a:p>
                      <a:pPr algn="ctr"/>
                      <a:r>
                        <a:rPr sz="1800" b="0"/>
                        <a:t>1</a:t>
                      </a:r>
                      <a:endParaRPr sz="1800" b="0"/>
                    </a:p>
                  </a:txBody>
                  <a:tcPr marL="0" marR="0" marT="0" marB="0" anchor="ctr" anchorCtr="0">
                    <a:lnL>
                      <a:noFill/>
                    </a:lnL>
                    <a:lnR>
                      <a:noFill/>
                    </a:lnR>
                    <a:lnT>
                      <a:noFill/>
                    </a:lnT>
                    <a:lnB>
                      <a:noFill/>
                    </a:lnB>
                    <a:noFill/>
                  </a:tcPr>
                </a:tc>
                <a:tc>
                  <a:txBody>
                    <a:bodyPr/>
                    <a:p>
                      <a:pPr algn="ctr"/>
                      <a:r>
                        <a:rPr sz="1800" b="0"/>
                        <a:t>0001</a:t>
                      </a:r>
                      <a:endParaRPr sz="1800" b="0"/>
                    </a:p>
                  </a:txBody>
                  <a:tcPr marL="0" marR="0" marT="0" marB="0" anchor="ctr" anchorCtr="0">
                    <a:lnL>
                      <a:noFill/>
                    </a:lnL>
                    <a:lnR>
                      <a:noFill/>
                    </a:lnR>
                    <a:lnT>
                      <a:noFill/>
                    </a:lnT>
                    <a:lnB>
                      <a:noFill/>
                    </a:lnB>
                    <a:noFill/>
                  </a:tcPr>
                </a:tc>
                <a:tc>
                  <a:txBody>
                    <a:bodyPr/>
                    <a:p>
                      <a:pPr algn="ctr"/>
                      <a:r>
                        <a:rPr sz="1800" b="0"/>
                        <a:t>0010</a:t>
                      </a:r>
                      <a:endParaRPr sz="1800" b="0"/>
                    </a:p>
                  </a:txBody>
                  <a:tcPr marL="0" marR="0" marT="0" marB="0" anchor="ctr" anchorCtr="0">
                    <a:lnL>
                      <a:noFill/>
                    </a:lnL>
                    <a:lnR>
                      <a:noFill/>
                    </a:lnR>
                    <a:lnT>
                      <a:noFill/>
                    </a:lnT>
                    <a:lnB>
                      <a:noFill/>
                    </a:lnB>
                    <a:noFill/>
                  </a:tcPr>
                </a:tc>
                <a:tc>
                  <a:txBody>
                    <a:bodyPr/>
                    <a:p>
                      <a:pPr algn="ctr"/>
                      <a:r>
                        <a:rPr sz="1800" b="0"/>
                        <a:t>2</a:t>
                      </a:r>
                      <a:endParaRPr sz="1800" b="0"/>
                    </a:p>
                  </a:txBody>
                  <a:tcPr marL="0" marR="0" marT="0" marB="0" anchor="ctr" anchorCtr="0">
                    <a:lnL>
                      <a:noFill/>
                    </a:lnL>
                    <a:lnR>
                      <a:noFill/>
                    </a:lnR>
                    <a:lnT>
                      <a:noFill/>
                    </a:lnT>
                    <a:lnB>
                      <a:noFill/>
                    </a:lnB>
                    <a:noFill/>
                  </a:tcPr>
                </a:tc>
              </a:tr>
              <a:tr h="379730">
                <a:tc>
                  <a:txBody>
                    <a:bodyPr/>
                    <a:p>
                      <a:pPr algn="ctr"/>
                      <a:r>
                        <a:rPr sz="1800" b="0"/>
                        <a:t>2</a:t>
                      </a:r>
                      <a:endParaRPr sz="1800" b="0"/>
                    </a:p>
                  </a:txBody>
                  <a:tcPr marL="0" marR="0" marT="0" marB="0" anchor="ctr" anchorCtr="0">
                    <a:lnL>
                      <a:noFill/>
                    </a:lnL>
                    <a:lnR>
                      <a:noFill/>
                    </a:lnR>
                    <a:lnT>
                      <a:noFill/>
                    </a:lnT>
                    <a:lnB>
                      <a:noFill/>
                    </a:lnB>
                    <a:noFill/>
                  </a:tcPr>
                </a:tc>
                <a:tc>
                  <a:txBody>
                    <a:bodyPr/>
                    <a:p>
                      <a:pPr algn="ctr"/>
                      <a:r>
                        <a:rPr sz="1800" b="0"/>
                        <a:t>0010</a:t>
                      </a:r>
                      <a:endParaRPr sz="1800" b="0"/>
                    </a:p>
                  </a:txBody>
                  <a:tcPr marL="0" marR="0" marT="0" marB="0" anchor="ctr" anchorCtr="0">
                    <a:lnL>
                      <a:noFill/>
                    </a:lnL>
                    <a:lnR>
                      <a:noFill/>
                    </a:lnR>
                    <a:lnT>
                      <a:noFill/>
                    </a:lnT>
                    <a:lnB>
                      <a:noFill/>
                    </a:lnB>
                    <a:noFill/>
                  </a:tcPr>
                </a:tc>
                <a:tc>
                  <a:txBody>
                    <a:bodyPr/>
                    <a:p>
                      <a:pPr algn="ctr"/>
                      <a:r>
                        <a:rPr sz="1800" b="0"/>
                        <a:t>0100</a:t>
                      </a:r>
                      <a:endParaRPr sz="1800" b="0"/>
                    </a:p>
                  </a:txBody>
                  <a:tcPr marL="0" marR="0" marT="0" marB="0" anchor="ctr" anchorCtr="0">
                    <a:lnL>
                      <a:noFill/>
                    </a:lnL>
                    <a:lnR>
                      <a:noFill/>
                    </a:lnR>
                    <a:lnT>
                      <a:noFill/>
                    </a:lnT>
                    <a:lnB>
                      <a:noFill/>
                    </a:lnB>
                    <a:noFill/>
                  </a:tcPr>
                </a:tc>
                <a:tc>
                  <a:txBody>
                    <a:bodyPr/>
                    <a:p>
                      <a:pPr algn="ctr"/>
                      <a:r>
                        <a:rPr sz="1800" b="0"/>
                        <a:t>4</a:t>
                      </a:r>
                      <a:endParaRPr sz="1800" b="0"/>
                    </a:p>
                  </a:txBody>
                  <a:tcPr marL="0" marR="0" marT="0" marB="0" anchor="ctr" anchorCtr="0">
                    <a:lnL>
                      <a:noFill/>
                    </a:lnL>
                    <a:lnR>
                      <a:noFill/>
                    </a:lnR>
                    <a:lnT>
                      <a:noFill/>
                    </a:lnT>
                    <a:lnB>
                      <a:noFill/>
                    </a:lnB>
                    <a:noFill/>
                  </a:tcPr>
                </a:tc>
              </a:tr>
              <a:tr h="379730">
                <a:tc>
                  <a:txBody>
                    <a:bodyPr/>
                    <a:p>
                      <a:pPr algn="ctr"/>
                      <a:r>
                        <a:rPr sz="1800" b="0"/>
                        <a:t>3</a:t>
                      </a:r>
                      <a:endParaRPr sz="1800" b="0"/>
                    </a:p>
                  </a:txBody>
                  <a:tcPr marL="0" marR="0" marT="0" marB="0" anchor="ctr" anchorCtr="0">
                    <a:lnL>
                      <a:noFill/>
                    </a:lnL>
                    <a:lnR>
                      <a:noFill/>
                    </a:lnR>
                    <a:lnT>
                      <a:noFill/>
                    </a:lnT>
                    <a:lnB>
                      <a:noFill/>
                    </a:lnB>
                    <a:noFill/>
                  </a:tcPr>
                </a:tc>
                <a:tc>
                  <a:txBody>
                    <a:bodyPr/>
                    <a:p>
                      <a:pPr algn="ctr"/>
                      <a:r>
                        <a:rPr sz="1800" b="0"/>
                        <a:t>0011</a:t>
                      </a:r>
                      <a:endParaRPr sz="1800" b="0"/>
                    </a:p>
                  </a:txBody>
                  <a:tcPr marL="0" marR="0" marT="0" marB="0" anchor="ctr" anchorCtr="0">
                    <a:lnL>
                      <a:noFill/>
                    </a:lnL>
                    <a:lnR>
                      <a:noFill/>
                    </a:lnR>
                    <a:lnT>
                      <a:noFill/>
                    </a:lnT>
                    <a:lnB>
                      <a:noFill/>
                    </a:lnB>
                    <a:noFill/>
                  </a:tcPr>
                </a:tc>
                <a:tc>
                  <a:txBody>
                    <a:bodyPr/>
                    <a:p>
                      <a:pPr algn="ctr"/>
                      <a:r>
                        <a:rPr sz="1800" b="0"/>
                        <a:t>0110</a:t>
                      </a:r>
                      <a:endParaRPr sz="1800" b="0"/>
                    </a:p>
                  </a:txBody>
                  <a:tcPr marL="0" marR="0" marT="0" marB="0" anchor="ctr" anchorCtr="0">
                    <a:lnL>
                      <a:noFill/>
                    </a:lnL>
                    <a:lnR>
                      <a:noFill/>
                    </a:lnR>
                    <a:lnT>
                      <a:noFill/>
                    </a:lnT>
                    <a:lnB>
                      <a:noFill/>
                    </a:lnB>
                    <a:noFill/>
                  </a:tcPr>
                </a:tc>
                <a:tc>
                  <a:txBody>
                    <a:bodyPr/>
                    <a:p>
                      <a:pPr algn="ctr"/>
                      <a:r>
                        <a:rPr sz="1800" b="0"/>
                        <a:t>6</a:t>
                      </a:r>
                      <a:endParaRPr sz="1800" b="0"/>
                    </a:p>
                  </a:txBody>
                  <a:tcPr marL="0" marR="0" marT="0" marB="0" anchor="ctr" anchorCtr="0">
                    <a:lnL>
                      <a:noFill/>
                    </a:lnL>
                    <a:lnR>
                      <a:noFill/>
                    </a:lnR>
                    <a:lnT>
                      <a:noFill/>
                    </a:lnT>
                    <a:lnB>
                      <a:noFill/>
                    </a:lnB>
                    <a:noFill/>
                  </a:tcPr>
                </a:tc>
              </a:tr>
              <a:tr h="379730">
                <a:tc>
                  <a:txBody>
                    <a:bodyPr/>
                    <a:p>
                      <a:pPr algn="ctr"/>
                      <a:r>
                        <a:rPr sz="1800" b="0"/>
                        <a:t>5</a:t>
                      </a:r>
                      <a:endParaRPr sz="1800" b="0"/>
                    </a:p>
                  </a:txBody>
                  <a:tcPr marL="0" marR="0" marT="0" marB="0" anchor="ctr" anchorCtr="0">
                    <a:lnL>
                      <a:noFill/>
                    </a:lnL>
                    <a:lnR>
                      <a:noFill/>
                    </a:lnR>
                    <a:lnT>
                      <a:noFill/>
                    </a:lnT>
                    <a:lnB>
                      <a:noFill/>
                    </a:lnB>
                    <a:noFill/>
                  </a:tcPr>
                </a:tc>
                <a:tc>
                  <a:txBody>
                    <a:bodyPr/>
                    <a:p>
                      <a:pPr algn="ctr"/>
                      <a:r>
                        <a:rPr sz="1800" b="0"/>
                        <a:t>0101</a:t>
                      </a:r>
                      <a:endParaRPr sz="1800" b="0"/>
                    </a:p>
                  </a:txBody>
                  <a:tcPr marL="0" marR="0" marT="0" marB="0" anchor="ctr" anchorCtr="0">
                    <a:lnL>
                      <a:noFill/>
                    </a:lnL>
                    <a:lnR>
                      <a:noFill/>
                    </a:lnR>
                    <a:lnT>
                      <a:noFill/>
                    </a:lnT>
                    <a:lnB>
                      <a:noFill/>
                    </a:lnB>
                    <a:noFill/>
                  </a:tcPr>
                </a:tc>
                <a:tc>
                  <a:txBody>
                    <a:bodyPr/>
                    <a:p>
                      <a:pPr algn="ctr"/>
                      <a:r>
                        <a:rPr sz="1800" b="0"/>
                        <a:t>1010</a:t>
                      </a:r>
                      <a:endParaRPr sz="1800" b="0"/>
                    </a:p>
                  </a:txBody>
                  <a:tcPr marL="0" marR="0" marT="0" marB="0" anchor="ctr" anchorCtr="0">
                    <a:lnL>
                      <a:noFill/>
                    </a:lnL>
                    <a:lnR>
                      <a:noFill/>
                    </a:lnR>
                    <a:lnT>
                      <a:noFill/>
                    </a:lnT>
                    <a:lnB>
                      <a:noFill/>
                    </a:lnB>
                    <a:noFill/>
                  </a:tcPr>
                </a:tc>
                <a:tc>
                  <a:txBody>
                    <a:bodyPr/>
                    <a:p>
                      <a:pPr algn="ctr"/>
                      <a:r>
                        <a:rPr sz="1800" b="0"/>
                        <a:t>10</a:t>
                      </a:r>
                      <a:endParaRPr sz="1800" b="0"/>
                    </a:p>
                  </a:txBody>
                  <a:tcPr marL="0" marR="0" marT="0" marB="0" anchor="ctr" anchorCtr="0">
                    <a:lnL>
                      <a:noFill/>
                    </a:lnL>
                    <a:lnR>
                      <a:noFill/>
                    </a:lnR>
                    <a:lnT>
                      <a:noFill/>
                    </a:lnT>
                    <a:lnB>
                      <a:noFill/>
                    </a:lnB>
                    <a:noFill/>
                  </a:tcPr>
                </a:tc>
              </a:tr>
            </a:tbl>
          </a:graphicData>
        </a:graphic>
      </p:graphicFrame>
      <p:sp>
        <p:nvSpPr>
          <p:cNvPr id="7" name="Text Box 6"/>
          <p:cNvSpPr txBox="1"/>
          <p:nvPr/>
        </p:nvSpPr>
        <p:spPr>
          <a:xfrm>
            <a:off x="2901315" y="420370"/>
            <a:ext cx="4289425" cy="1202055"/>
          </a:xfrm>
          <a:prstGeom prst="rect">
            <a:avLst/>
          </a:prstGeom>
        </p:spPr>
        <p:txBody>
          <a:bodyPr wrap="square">
            <a:noAutofit/>
          </a:bodyPr>
          <a:p>
            <a:r>
              <a:rPr lang="en-US" altLang="en-US" sz="1600" b="1">
                <a:latin typeface="Cambria" panose="02040503050406030204" charset="0"/>
                <a:cs typeface="Cambria" panose="02040503050406030204" charset="0"/>
              </a:rPr>
              <a:t>Left Shift (&lt;&lt;)</a:t>
            </a:r>
            <a:endParaRPr lang="en-US" altLang="en-US" sz="1600">
              <a:latin typeface="Cambria" panose="02040503050406030204" charset="0"/>
              <a:cs typeface="Cambria" panose="02040503050406030204" charset="0"/>
            </a:endParaRPr>
          </a:p>
          <a:p>
            <a:r>
              <a:rPr lang="en-US" altLang="en-US" sz="1600">
                <a:latin typeface="Cambria" panose="02040503050406030204" charset="0"/>
                <a:cs typeface="Cambria" panose="02040503050406030204" charset="0"/>
              </a:rPr>
              <a:t>Rule: Shifts bits to the left, filling with 0s on the right. Equivalent to multiplying by 2ⁿ.</a:t>
            </a:r>
            <a:endParaRPr lang="en-US" altLang="en-US" sz="1600">
              <a:latin typeface="Cambria" panose="02040503050406030204" charset="0"/>
              <a:cs typeface="Cambria" panose="02040503050406030204" charset="0"/>
            </a:endParaRPr>
          </a:p>
          <a:p>
            <a:endParaRPr lang="en-US" altLang="en-US" sz="1600">
              <a:latin typeface="Cambria" panose="02040503050406030204" charset="0"/>
              <a:cs typeface="Cambria" panose="02040503050406030204" charset="0"/>
            </a:endParaRPr>
          </a:p>
          <a:p>
            <a:endParaRPr lang="en-US" altLang="en-US" sz="1600">
              <a:latin typeface="Cambria" panose="02040503050406030204" charset="0"/>
              <a:cs typeface="Cambria" panose="02040503050406030204" charset="0"/>
            </a:endParaRPr>
          </a:p>
        </p:txBody>
      </p:sp>
      <p:sp>
        <p:nvSpPr>
          <p:cNvPr id="9" name="Text Box 8"/>
          <p:cNvSpPr txBox="1"/>
          <p:nvPr/>
        </p:nvSpPr>
        <p:spPr>
          <a:xfrm>
            <a:off x="7190105" y="626745"/>
            <a:ext cx="5001895" cy="934085"/>
          </a:xfrm>
          <a:prstGeom prst="rect">
            <a:avLst/>
          </a:prstGeom>
        </p:spPr>
        <p:txBody>
          <a:bodyPr>
            <a:noAutofit/>
          </a:bodyPr>
          <a:p>
            <a:pPr>
              <a:spcAft>
                <a:spcPct val="60000"/>
              </a:spcAft>
            </a:pPr>
            <a:r>
              <a:rPr sz="2000" b="1"/>
              <a:t> Right Shift (&gt;&gt;)</a:t>
            </a:r>
            <a:endParaRPr sz="2000" b="1"/>
          </a:p>
          <a:p>
            <a:r>
              <a:rPr sz="1400"/>
              <a:t>Rule: Shifts bits to the right, filling with 0s. No sign bit is preserved.</a:t>
            </a:r>
            <a:endParaRPr sz="1400"/>
          </a:p>
        </p:txBody>
      </p:sp>
      <p:sp>
        <p:nvSpPr>
          <p:cNvPr id="10" name="Text Box 9"/>
          <p:cNvSpPr txBox="1"/>
          <p:nvPr/>
        </p:nvSpPr>
        <p:spPr>
          <a:xfrm>
            <a:off x="90805" y="3818255"/>
            <a:ext cx="2810510" cy="2893060"/>
          </a:xfrm>
          <a:prstGeom prst="rect">
            <a:avLst/>
          </a:prstGeom>
          <a:noFill/>
        </p:spPr>
        <p:txBody>
          <a:bodyPr wrap="square" rtlCol="0" anchor="t">
            <a:noAutofit/>
          </a:bodyPr>
          <a:p>
            <a:r>
              <a:rPr lang="en-US" altLang="en-US"/>
              <a:t>int a = 5; // 0101</a:t>
            </a:r>
            <a:endParaRPr lang="en-US" altLang="en-US"/>
          </a:p>
          <a:p>
            <a:r>
              <a:rPr lang="en-US" altLang="en-US"/>
              <a:t>int b = 3; // 0011</a:t>
            </a:r>
            <a:endParaRPr lang="en-US" altLang="en-US"/>
          </a:p>
          <a:p>
            <a:r>
              <a:rPr lang="en-US" altLang="en-US"/>
              <a:t>System.out.println(a ^ b); // Output: 6</a:t>
            </a:r>
            <a:endParaRPr lang="en-US" altLang="en-US"/>
          </a:p>
          <a:p>
            <a:endParaRPr lang="en-US" altLang="en-US"/>
          </a:p>
          <a:p>
            <a:r>
              <a:rPr lang="en-US" altLang="en-US"/>
              <a:t>A  | 0 | 1 | 0 | 1 |</a:t>
            </a:r>
            <a:endParaRPr lang="en-US" altLang="en-US"/>
          </a:p>
          <a:p>
            <a:r>
              <a:rPr lang="en-US" altLang="en-US"/>
              <a:t>B  | 0 | 0 | 1 | 1 |</a:t>
            </a:r>
            <a:endParaRPr lang="en-US" altLang="en-US"/>
          </a:p>
          <a:p>
            <a:r>
              <a:rPr lang="en-US" altLang="en-US"/>
              <a:t>-------------------</a:t>
            </a:r>
            <a:endParaRPr lang="en-US" altLang="en-US"/>
          </a:p>
          <a:p>
            <a:r>
              <a:rPr lang="en-US" altLang="en-US"/>
              <a:t>^  | 0 | 1 | 1 | 0 → 0110 = 6</a:t>
            </a:r>
            <a:endParaRPr lang="en-US" altLang="en-US"/>
          </a:p>
          <a:p>
            <a:endParaRPr lang="en-US"/>
          </a:p>
        </p:txBody>
      </p:sp>
      <p:sp>
        <p:nvSpPr>
          <p:cNvPr id="11" name="Text Box 10"/>
          <p:cNvSpPr txBox="1"/>
          <p:nvPr/>
        </p:nvSpPr>
        <p:spPr>
          <a:xfrm>
            <a:off x="2901315" y="4399280"/>
            <a:ext cx="5099050" cy="2194560"/>
          </a:xfrm>
          <a:prstGeom prst="rect">
            <a:avLst/>
          </a:prstGeom>
          <a:noFill/>
        </p:spPr>
        <p:txBody>
          <a:bodyPr wrap="square" rtlCol="0" anchor="t">
            <a:noAutofit/>
          </a:bodyPr>
          <a:p>
            <a:endParaRPr lang="en-US" altLang="en-US"/>
          </a:p>
          <a:p>
            <a:r>
              <a:rPr lang="en-US" altLang="en-US"/>
              <a:t>int a = 5; // 0101</a:t>
            </a:r>
            <a:endParaRPr lang="en-US" altLang="en-US"/>
          </a:p>
          <a:p>
            <a:r>
              <a:rPr lang="en-US" altLang="en-US"/>
              <a:t>System.out.println(~a); // Output: -6</a:t>
            </a:r>
            <a:endParaRPr lang="en-US" altLang="en-US"/>
          </a:p>
          <a:p>
            <a:endParaRPr lang="en-US" altLang="en-US"/>
          </a:p>
          <a:p>
            <a:r>
              <a:rPr lang="en-US" altLang="en-US"/>
              <a:t>a        = 00000000 00000000 00000000 00000101</a:t>
            </a:r>
            <a:endParaRPr lang="en-US" altLang="en-US"/>
          </a:p>
          <a:p>
            <a:r>
              <a:rPr lang="en-US" altLang="en-US"/>
              <a:t>~a       = 11111111 11111111 11111111 11111010 → -6 (two's complement)</a:t>
            </a:r>
            <a:endParaRPr lang="en-US" altLang="en-US"/>
          </a:p>
          <a:p>
            <a:endParaRPr lang="en-US"/>
          </a:p>
        </p:txBody>
      </p:sp>
      <p:sp>
        <p:nvSpPr>
          <p:cNvPr id="12" name="Text Box 11"/>
          <p:cNvSpPr txBox="1"/>
          <p:nvPr/>
        </p:nvSpPr>
        <p:spPr>
          <a:xfrm>
            <a:off x="8000365" y="5177790"/>
            <a:ext cx="4089400" cy="1589405"/>
          </a:xfrm>
          <a:prstGeom prst="rect">
            <a:avLst/>
          </a:prstGeom>
          <a:noFill/>
        </p:spPr>
        <p:txBody>
          <a:bodyPr wrap="square" rtlCol="0" anchor="t">
            <a:noAutofit/>
          </a:bodyPr>
          <a:p>
            <a:r>
              <a:rPr lang="en-US" altLang="en-US"/>
              <a:t>int a = 5; // 0101</a:t>
            </a:r>
            <a:endParaRPr lang="en-US" altLang="en-US"/>
          </a:p>
          <a:p>
            <a:r>
              <a:rPr lang="en-US" altLang="en-US"/>
              <a:t>System.out.println(a &gt;&gt; 1); // Output: 2</a:t>
            </a:r>
            <a:endParaRPr lang="en-US" altLang="en-US"/>
          </a:p>
          <a:p>
            <a:endParaRPr lang="en-US" altLang="en-US"/>
          </a:p>
          <a:p>
            <a:r>
              <a:rPr lang="en-US" altLang="en-US"/>
              <a:t>a        = 0 | 1 | 0 | 1</a:t>
            </a:r>
            <a:endParaRPr lang="en-US" altLang="en-US"/>
          </a:p>
          <a:p>
            <a:r>
              <a:rPr lang="en-US" altLang="en-US"/>
              <a:t>a &gt;&gt; 1   = 0 | 0 | 1 | 0 → 0010 = 2</a:t>
            </a:r>
            <a:endParaRPr lang="en-US" altLang="en-US"/>
          </a:p>
          <a:p>
            <a:endParaRPr lang="en-US"/>
          </a:p>
        </p:txBody>
      </p:sp>
      <p:graphicFrame>
        <p:nvGraphicFramePr>
          <p:cNvPr id="13" name="Table 12"/>
          <p:cNvGraphicFramePr/>
          <p:nvPr>
            <p:custDataLst>
              <p:tags r:id="rId3"/>
            </p:custDataLst>
          </p:nvPr>
        </p:nvGraphicFramePr>
        <p:xfrm>
          <a:off x="6934200" y="1680845"/>
          <a:ext cx="5156200" cy="2104390"/>
        </p:xfrm>
        <a:graphic>
          <a:graphicData uri="http://schemas.openxmlformats.org/drawingml/2006/table">
            <a:tbl>
              <a:tblPr/>
              <a:tblGrid>
                <a:gridCol w="1289050"/>
                <a:gridCol w="1289050"/>
                <a:gridCol w="1289050"/>
                <a:gridCol w="1289050"/>
              </a:tblGrid>
              <a:tr h="508635">
                <a:tc>
                  <a:txBody>
                    <a:bodyPr/>
                    <a:p>
                      <a:pPr algn="ctr"/>
                      <a:r>
                        <a:rPr sz="1600" b="1"/>
                        <a:t>A (decimal)</a:t>
                      </a:r>
                      <a:endParaRPr sz="1600" b="1"/>
                    </a:p>
                  </a:txBody>
                  <a:tcPr marL="0" marR="0" marT="0" marB="0" anchor="ctr" anchorCtr="0">
                    <a:lnL>
                      <a:noFill/>
                    </a:lnL>
                    <a:lnR>
                      <a:noFill/>
                    </a:lnR>
                    <a:lnT>
                      <a:noFill/>
                    </a:lnT>
                    <a:lnB>
                      <a:noFill/>
                    </a:lnB>
                    <a:noFill/>
                  </a:tcPr>
                </a:tc>
                <a:tc>
                  <a:txBody>
                    <a:bodyPr/>
                    <a:p>
                      <a:pPr algn="ctr"/>
                      <a:r>
                        <a:rPr sz="1600" b="1"/>
                        <a:t>Binary</a:t>
                      </a:r>
                      <a:endParaRPr sz="1600" b="1"/>
                    </a:p>
                  </a:txBody>
                  <a:tcPr marL="0" marR="0" marT="0" marB="0" anchor="ctr" anchorCtr="0">
                    <a:lnL>
                      <a:noFill/>
                    </a:lnL>
                    <a:lnR>
                      <a:noFill/>
                    </a:lnR>
                    <a:lnT>
                      <a:noFill/>
                    </a:lnT>
                    <a:lnB>
                      <a:noFill/>
                    </a:lnB>
                    <a:noFill/>
                  </a:tcPr>
                </a:tc>
                <a:tc>
                  <a:txBody>
                    <a:bodyPr/>
                    <a:p>
                      <a:pPr algn="ctr"/>
                      <a:r>
                        <a:rPr sz="1600" b="1"/>
                        <a:t>A &gt;&gt; 1</a:t>
                      </a:r>
                      <a:endParaRPr sz="1600" b="1"/>
                    </a:p>
                  </a:txBody>
                  <a:tcPr marL="0" marR="0" marT="0" marB="0" anchor="ctr" anchorCtr="0">
                    <a:lnL>
                      <a:noFill/>
                    </a:lnL>
                    <a:lnR>
                      <a:noFill/>
                    </a:lnR>
                    <a:lnT>
                      <a:noFill/>
                    </a:lnT>
                    <a:lnB>
                      <a:noFill/>
                    </a:lnB>
                    <a:noFill/>
                  </a:tcPr>
                </a:tc>
                <a:tc>
                  <a:txBody>
                    <a:bodyPr/>
                    <a:p>
                      <a:pPr algn="ctr"/>
                      <a:r>
                        <a:rPr sz="1600" b="1"/>
                        <a:t>Result (Decimal)</a:t>
                      </a:r>
                      <a:endParaRPr sz="1600" b="1"/>
                    </a:p>
                  </a:txBody>
                  <a:tcPr marL="0" marR="0" marT="0" marB="0" anchor="ctr" anchorCtr="0">
                    <a:lnL>
                      <a:noFill/>
                    </a:lnL>
                    <a:lnR>
                      <a:noFill/>
                    </a:lnR>
                    <a:lnT>
                      <a:noFill/>
                    </a:lnT>
                    <a:lnB>
                      <a:noFill/>
                    </a:lnB>
                    <a:noFill/>
                  </a:tcPr>
                </a:tc>
              </a:tr>
              <a:tr h="399415">
                <a:tc>
                  <a:txBody>
                    <a:bodyPr/>
                    <a:p>
                      <a:pPr algn="ctr"/>
                      <a:r>
                        <a:rPr sz="1600" b="1"/>
                        <a:t>4</a:t>
                      </a:r>
                      <a:endParaRPr sz="1600" b="1"/>
                    </a:p>
                  </a:txBody>
                  <a:tcPr marL="0" marR="0" marT="0" marB="0" anchor="ctr" anchorCtr="0">
                    <a:lnL>
                      <a:noFill/>
                    </a:lnL>
                    <a:lnR>
                      <a:noFill/>
                    </a:lnR>
                    <a:lnT>
                      <a:noFill/>
                    </a:lnT>
                    <a:lnB>
                      <a:noFill/>
                    </a:lnB>
                    <a:noFill/>
                  </a:tcPr>
                </a:tc>
                <a:tc>
                  <a:txBody>
                    <a:bodyPr/>
                    <a:p>
                      <a:pPr algn="ctr"/>
                      <a:r>
                        <a:rPr sz="1600" b="1"/>
                        <a:t>0100</a:t>
                      </a:r>
                      <a:endParaRPr sz="1600" b="1"/>
                    </a:p>
                  </a:txBody>
                  <a:tcPr marL="0" marR="0" marT="0" marB="0" anchor="ctr" anchorCtr="0">
                    <a:lnL>
                      <a:noFill/>
                    </a:lnL>
                    <a:lnR>
                      <a:noFill/>
                    </a:lnR>
                    <a:lnT>
                      <a:noFill/>
                    </a:lnT>
                    <a:lnB>
                      <a:noFill/>
                    </a:lnB>
                    <a:noFill/>
                  </a:tcPr>
                </a:tc>
                <a:tc>
                  <a:txBody>
                    <a:bodyPr/>
                    <a:p>
                      <a:pPr algn="ctr"/>
                      <a:r>
                        <a:rPr sz="1600" b="1"/>
                        <a:t>0010</a:t>
                      </a:r>
                      <a:endParaRPr sz="1600" b="1"/>
                    </a:p>
                  </a:txBody>
                  <a:tcPr marL="0" marR="0" marT="0" marB="0" anchor="ctr" anchorCtr="0">
                    <a:lnL>
                      <a:noFill/>
                    </a:lnL>
                    <a:lnR>
                      <a:noFill/>
                    </a:lnR>
                    <a:lnT>
                      <a:noFill/>
                    </a:lnT>
                    <a:lnB>
                      <a:noFill/>
                    </a:lnB>
                    <a:noFill/>
                  </a:tcPr>
                </a:tc>
                <a:tc>
                  <a:txBody>
                    <a:bodyPr/>
                    <a:p>
                      <a:pPr algn="ctr"/>
                      <a:r>
                        <a:rPr sz="1600" b="1"/>
                        <a:t>2</a:t>
                      </a:r>
                      <a:endParaRPr sz="1600" b="1"/>
                    </a:p>
                  </a:txBody>
                  <a:tcPr marL="0" marR="0" marT="0" marB="0" anchor="ctr" anchorCtr="0">
                    <a:lnL>
                      <a:noFill/>
                    </a:lnL>
                    <a:lnR>
                      <a:noFill/>
                    </a:lnR>
                    <a:lnT>
                      <a:noFill/>
                    </a:lnT>
                    <a:lnB>
                      <a:noFill/>
                    </a:lnB>
                    <a:noFill/>
                  </a:tcPr>
                </a:tc>
              </a:tr>
              <a:tr h="398780">
                <a:tc>
                  <a:txBody>
                    <a:bodyPr/>
                    <a:p>
                      <a:pPr algn="ctr"/>
                      <a:r>
                        <a:rPr sz="1600" b="1"/>
                        <a:t>5</a:t>
                      </a:r>
                      <a:endParaRPr sz="1600" b="1"/>
                    </a:p>
                  </a:txBody>
                  <a:tcPr marL="0" marR="0" marT="0" marB="0" anchor="ctr" anchorCtr="0">
                    <a:lnL>
                      <a:noFill/>
                    </a:lnL>
                    <a:lnR>
                      <a:noFill/>
                    </a:lnR>
                    <a:lnT>
                      <a:noFill/>
                    </a:lnT>
                    <a:lnB>
                      <a:noFill/>
                    </a:lnB>
                    <a:noFill/>
                  </a:tcPr>
                </a:tc>
                <a:tc>
                  <a:txBody>
                    <a:bodyPr/>
                    <a:p>
                      <a:pPr algn="ctr"/>
                      <a:r>
                        <a:rPr sz="1600" b="1"/>
                        <a:t>0101</a:t>
                      </a:r>
                      <a:endParaRPr sz="1600" b="1"/>
                    </a:p>
                  </a:txBody>
                  <a:tcPr marL="0" marR="0" marT="0" marB="0" anchor="ctr" anchorCtr="0">
                    <a:lnL>
                      <a:noFill/>
                    </a:lnL>
                    <a:lnR>
                      <a:noFill/>
                    </a:lnR>
                    <a:lnT>
                      <a:noFill/>
                    </a:lnT>
                    <a:lnB>
                      <a:noFill/>
                    </a:lnB>
                    <a:noFill/>
                  </a:tcPr>
                </a:tc>
                <a:tc>
                  <a:txBody>
                    <a:bodyPr/>
                    <a:p>
                      <a:pPr algn="ctr"/>
                      <a:r>
                        <a:rPr sz="1600" b="1"/>
                        <a:t>0010</a:t>
                      </a:r>
                      <a:endParaRPr sz="1600" b="1"/>
                    </a:p>
                  </a:txBody>
                  <a:tcPr marL="0" marR="0" marT="0" marB="0" anchor="ctr" anchorCtr="0">
                    <a:lnL>
                      <a:noFill/>
                    </a:lnL>
                    <a:lnR>
                      <a:noFill/>
                    </a:lnR>
                    <a:lnT>
                      <a:noFill/>
                    </a:lnT>
                    <a:lnB>
                      <a:noFill/>
                    </a:lnB>
                    <a:noFill/>
                  </a:tcPr>
                </a:tc>
                <a:tc>
                  <a:txBody>
                    <a:bodyPr/>
                    <a:p>
                      <a:pPr algn="ctr"/>
                      <a:r>
                        <a:rPr sz="1600" b="1"/>
                        <a:t>2</a:t>
                      </a:r>
                      <a:endParaRPr sz="1600" b="1"/>
                    </a:p>
                  </a:txBody>
                  <a:tcPr marL="0" marR="0" marT="0" marB="0" anchor="ctr" anchorCtr="0">
                    <a:lnL>
                      <a:noFill/>
                    </a:lnL>
                    <a:lnR>
                      <a:noFill/>
                    </a:lnR>
                    <a:lnT>
                      <a:noFill/>
                    </a:lnT>
                    <a:lnB>
                      <a:noFill/>
                    </a:lnB>
                    <a:noFill/>
                  </a:tcPr>
                </a:tc>
              </a:tr>
              <a:tr h="398780">
                <a:tc>
                  <a:txBody>
                    <a:bodyPr/>
                    <a:p>
                      <a:pPr algn="ctr"/>
                      <a:r>
                        <a:rPr sz="1600" b="1"/>
                        <a:t>-4</a:t>
                      </a:r>
                      <a:endParaRPr sz="1600" b="1"/>
                    </a:p>
                  </a:txBody>
                  <a:tcPr marL="0" marR="0" marT="0" marB="0" anchor="ctr" anchorCtr="0">
                    <a:lnL>
                      <a:noFill/>
                    </a:lnL>
                    <a:lnR>
                      <a:noFill/>
                    </a:lnR>
                    <a:lnT>
                      <a:noFill/>
                    </a:lnT>
                    <a:lnB>
                      <a:noFill/>
                    </a:lnB>
                    <a:noFill/>
                  </a:tcPr>
                </a:tc>
                <a:tc>
                  <a:txBody>
                    <a:bodyPr/>
                    <a:p>
                      <a:pPr algn="ctr"/>
                      <a:r>
                        <a:rPr sz="1600" b="1"/>
                        <a:t>...11111100</a:t>
                      </a:r>
                      <a:endParaRPr sz="1600" b="1"/>
                    </a:p>
                  </a:txBody>
                  <a:tcPr marL="0" marR="0" marT="0" marB="0" anchor="ctr" anchorCtr="0">
                    <a:lnL>
                      <a:noFill/>
                    </a:lnL>
                    <a:lnR>
                      <a:noFill/>
                    </a:lnR>
                    <a:lnT>
                      <a:noFill/>
                    </a:lnT>
                    <a:lnB>
                      <a:noFill/>
                    </a:lnB>
                    <a:noFill/>
                  </a:tcPr>
                </a:tc>
                <a:tc>
                  <a:txBody>
                    <a:bodyPr/>
                    <a:p>
                      <a:pPr algn="ctr"/>
                      <a:r>
                        <a:rPr sz="1600" b="1"/>
                        <a:t>...11111110</a:t>
                      </a:r>
                      <a:endParaRPr sz="1600" b="1"/>
                    </a:p>
                  </a:txBody>
                  <a:tcPr marL="0" marR="0" marT="0" marB="0" anchor="ctr" anchorCtr="0">
                    <a:lnL>
                      <a:noFill/>
                    </a:lnL>
                    <a:lnR>
                      <a:noFill/>
                    </a:lnR>
                    <a:lnT>
                      <a:noFill/>
                    </a:lnT>
                    <a:lnB>
                      <a:noFill/>
                    </a:lnB>
                    <a:noFill/>
                  </a:tcPr>
                </a:tc>
                <a:tc>
                  <a:txBody>
                    <a:bodyPr/>
                    <a:p>
                      <a:pPr algn="ctr"/>
                      <a:r>
                        <a:rPr sz="1600" b="1"/>
                        <a:t>-2</a:t>
                      </a:r>
                      <a:endParaRPr sz="1600" b="1"/>
                    </a:p>
                  </a:txBody>
                  <a:tcPr marL="0" marR="0" marT="0" marB="0" anchor="ctr" anchorCtr="0">
                    <a:lnL>
                      <a:noFill/>
                    </a:lnL>
                    <a:lnR>
                      <a:noFill/>
                    </a:lnR>
                    <a:lnT>
                      <a:noFill/>
                    </a:lnT>
                    <a:lnB>
                      <a:noFill/>
                    </a:lnB>
                    <a:noFill/>
                  </a:tcPr>
                </a:tc>
              </a:tr>
              <a:tr h="398780">
                <a:tc>
                  <a:txBody>
                    <a:bodyPr/>
                    <a:p>
                      <a:pPr algn="ctr"/>
                      <a:r>
                        <a:rPr sz="1600" b="1"/>
                        <a:t>-5</a:t>
                      </a:r>
                      <a:endParaRPr sz="1600" b="1"/>
                    </a:p>
                  </a:txBody>
                  <a:tcPr marL="0" marR="0" marT="0" marB="0" anchor="ctr" anchorCtr="0">
                    <a:lnL>
                      <a:noFill/>
                    </a:lnL>
                    <a:lnR>
                      <a:noFill/>
                    </a:lnR>
                    <a:lnT>
                      <a:noFill/>
                    </a:lnT>
                    <a:lnB>
                      <a:noFill/>
                    </a:lnB>
                    <a:noFill/>
                  </a:tcPr>
                </a:tc>
                <a:tc>
                  <a:txBody>
                    <a:bodyPr/>
                    <a:p>
                      <a:pPr algn="ctr"/>
                      <a:r>
                        <a:rPr sz="1600" b="1"/>
                        <a:t>...11111011</a:t>
                      </a:r>
                      <a:endParaRPr sz="1600" b="1"/>
                    </a:p>
                  </a:txBody>
                  <a:tcPr marL="0" marR="0" marT="0" marB="0" anchor="ctr" anchorCtr="0">
                    <a:lnL>
                      <a:noFill/>
                    </a:lnL>
                    <a:lnR>
                      <a:noFill/>
                    </a:lnR>
                    <a:lnT>
                      <a:noFill/>
                    </a:lnT>
                    <a:lnB>
                      <a:noFill/>
                    </a:lnB>
                    <a:noFill/>
                  </a:tcPr>
                </a:tc>
                <a:tc>
                  <a:txBody>
                    <a:bodyPr/>
                    <a:p>
                      <a:pPr algn="ctr"/>
                      <a:r>
                        <a:rPr sz="1600" b="1"/>
                        <a:t>...11111101</a:t>
                      </a:r>
                      <a:endParaRPr sz="1600" b="1"/>
                    </a:p>
                  </a:txBody>
                  <a:tcPr marL="0" marR="0" marT="0" marB="0" anchor="ctr" anchorCtr="0">
                    <a:lnL>
                      <a:noFill/>
                    </a:lnL>
                    <a:lnR>
                      <a:noFill/>
                    </a:lnR>
                    <a:lnT>
                      <a:noFill/>
                    </a:lnT>
                    <a:lnB>
                      <a:noFill/>
                    </a:lnB>
                    <a:noFill/>
                  </a:tcPr>
                </a:tc>
                <a:tc>
                  <a:txBody>
                    <a:bodyPr/>
                    <a:p>
                      <a:pPr algn="ctr"/>
                      <a:r>
                        <a:rPr sz="1600" b="1"/>
                        <a:t>-3</a:t>
                      </a:r>
                      <a:endParaRPr sz="1600" b="1"/>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119380" y="1375410"/>
          <a:ext cx="11699240" cy="1369695"/>
        </p:xfrm>
        <a:graphic>
          <a:graphicData uri="http://schemas.openxmlformats.org/drawingml/2006/table">
            <a:tbl>
              <a:tblPr/>
              <a:tblGrid>
                <a:gridCol w="2924810"/>
                <a:gridCol w="2924810"/>
                <a:gridCol w="2924810"/>
                <a:gridCol w="2924810"/>
              </a:tblGrid>
              <a:tr h="456565">
                <a:tc>
                  <a:txBody>
                    <a:bodyPr/>
                    <a:p>
                      <a:pPr algn="ctr"/>
                      <a:r>
                        <a:rPr sz="1600" b="1">
                          <a:latin typeface="Cambria" panose="02040503050406030204" charset="0"/>
                          <a:cs typeface="Cambria" panose="02040503050406030204" charset="0"/>
                        </a:rPr>
                        <a:t>Operation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Effect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Example (x = 5)</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Result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6565">
                <a:tc>
                  <a:txBody>
                    <a:bodyPr/>
                    <a:p>
                      <a:pPr algn="ctr"/>
                      <a:r>
                        <a:rPr sz="1600" b="1">
                          <a:latin typeface="Cambria" panose="02040503050406030204" charset="0"/>
                          <a:cs typeface="Cambria" panose="02040503050406030204" charset="0"/>
                        </a:rPr>
                        <a:t>x &lt;&lt; 1</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Multiply by 2</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5 &lt;&lt; 1</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10</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56565">
                <a:tc>
                  <a:txBody>
                    <a:bodyPr/>
                    <a:p>
                      <a:pPr algn="ctr"/>
                      <a:r>
                        <a:rPr sz="1600" b="1">
                          <a:latin typeface="Cambria" panose="02040503050406030204" charset="0"/>
                          <a:cs typeface="Cambria" panose="02040503050406030204" charset="0"/>
                        </a:rPr>
                        <a:t>x &gt;&gt; 1</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Divide by 2</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5 &gt;&gt; 1</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600" b="1">
                          <a:latin typeface="Cambria" panose="02040503050406030204" charset="0"/>
                          <a:cs typeface="Cambria" panose="02040503050406030204" charset="0"/>
                        </a:rPr>
                        <a:t>2</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sp>
        <p:nvSpPr>
          <p:cNvPr id="5" name="Text Box 4"/>
          <p:cNvSpPr txBox="1"/>
          <p:nvPr/>
        </p:nvSpPr>
        <p:spPr>
          <a:xfrm>
            <a:off x="119380" y="3103245"/>
            <a:ext cx="11007725" cy="1169670"/>
          </a:xfrm>
          <a:prstGeom prst="rect">
            <a:avLst/>
          </a:prstGeom>
        </p:spPr>
        <p:txBody>
          <a:bodyPr wrap="square">
            <a:spAutoFit/>
          </a:bodyPr>
          <a:p>
            <a:pPr>
              <a:spcAft>
                <a:spcPct val="60000"/>
              </a:spcAft>
            </a:pPr>
            <a:r>
              <a:rPr sz="2200" b="1"/>
              <a:t> Where Are Bitwise Operators Used in Java?</a:t>
            </a:r>
            <a:endParaRPr sz="2200" b="1"/>
          </a:p>
          <a:p>
            <a:r>
              <a:rPr sz="1600"/>
              <a:t>Bitwise operators are used when you need to manipulate data at the bit level. They're common in low-level programming, optimization, system-level code, and certain algorithmic applications.</a:t>
            </a:r>
            <a:endParaRPr sz="1600"/>
          </a:p>
        </p:txBody>
      </p:sp>
      <p:sp>
        <p:nvSpPr>
          <p:cNvPr id="6" name="Text Box 5"/>
          <p:cNvSpPr txBox="1"/>
          <p:nvPr/>
        </p:nvSpPr>
        <p:spPr>
          <a:xfrm>
            <a:off x="119380" y="102870"/>
            <a:ext cx="5080000" cy="1014730"/>
          </a:xfrm>
          <a:prstGeom prst="rect">
            <a:avLst/>
          </a:prstGeom>
        </p:spPr>
        <p:txBody>
          <a:bodyPr>
            <a:spAutoFit/>
          </a:bodyPr>
          <a:p>
            <a:r>
              <a:rPr sz="2000"/>
              <a:t>XOR (exclusive OR) returns:</a:t>
            </a:r>
            <a:endParaRPr sz="2000"/>
          </a:p>
          <a:p>
            <a:r>
              <a:rPr sz="2000"/>
              <a:t>1 if the bits are different</a:t>
            </a:r>
            <a:endParaRPr sz="2000"/>
          </a:p>
          <a:p>
            <a:pPr>
              <a:buFont typeface="Arial" panose="020B0604020202020204"/>
              <a:buChar char="•"/>
            </a:pPr>
            <a:r>
              <a:rPr sz="2000"/>
              <a:t>0 if the bits are the same</a:t>
            </a: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5410" y="0"/>
            <a:ext cx="10515600" cy="462280"/>
          </a:xfrm>
        </p:spPr>
        <p:txBody>
          <a:bodyPr/>
          <a:p>
            <a:r>
              <a:rPr lang="en-US" sz="2000" b="1">
                <a:solidFill>
                  <a:srgbClr val="FF0000"/>
                </a:solidFill>
                <a:latin typeface="Cambria" panose="02040503050406030204" charset="0"/>
                <a:cs typeface="Cambria" panose="02040503050406030204" charset="0"/>
              </a:rPr>
              <a:t>Java Decision Making Statements</a:t>
            </a:r>
            <a:endParaRPr lang="en-US" sz="2000" b="1">
              <a:solidFill>
                <a:srgbClr val="FF0000"/>
              </a:solidFill>
              <a:latin typeface="Cambria" panose="02040503050406030204" charset="0"/>
              <a:cs typeface="Cambria" panose="02040503050406030204" charset="0"/>
            </a:endParaRPr>
          </a:p>
        </p:txBody>
      </p:sp>
      <p:sp>
        <p:nvSpPr>
          <p:cNvPr id="3" name="Content Placeholder 2"/>
          <p:cNvSpPr>
            <a:spLocks noGrp="1"/>
          </p:cNvSpPr>
          <p:nvPr>
            <p:ph idx="1"/>
          </p:nvPr>
        </p:nvSpPr>
        <p:spPr>
          <a:xfrm>
            <a:off x="105410" y="594360"/>
            <a:ext cx="11805285" cy="6153785"/>
          </a:xfrm>
        </p:spPr>
        <p:txBody>
          <a:bodyPr>
            <a:noAutofit/>
          </a:bodyPr>
          <a:p>
            <a:r>
              <a:rPr lang="en-US" altLang="en-US" sz="2000">
                <a:latin typeface="Cambria" panose="02040503050406030204" charset="0"/>
                <a:cs typeface="Cambria" panose="02040503050406030204" charset="0"/>
              </a:rPr>
              <a:t>Decision-making statements allow a program to choose different paths of execution based on certain conditions. These statements evaluate conditions (usually boolean expressions) and execute specific blocks of code depending on whether the condition is true or false.</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1. if Statement</a:t>
            </a:r>
            <a:endParaRPr lang="en-US" altLang="en-US" sz="2000">
              <a:latin typeface="Cambria" panose="02040503050406030204" charset="0"/>
              <a:cs typeface="Cambria" panose="02040503050406030204" charset="0"/>
            </a:endParaRPr>
          </a:p>
          <a:p>
            <a:r>
              <a:rPr lang="zh-CN" altLang="en-US" sz="2000">
                <a:latin typeface="Cambria" panose="02040503050406030204" charset="0"/>
                <a:cs typeface="Cambria" panose="02040503050406030204" charset="0"/>
              </a:rPr>
              <a:t>🔹</a:t>
            </a:r>
            <a:r>
              <a:rPr lang="en-US" altLang="en-US" sz="2000">
                <a:latin typeface="Cambria" panose="02040503050406030204" charset="0"/>
                <a:cs typeface="Cambria" panose="02040503050406030204" charset="0"/>
              </a:rPr>
              <a:t> Definition:</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Executes a block of code only if the condition is true.</a:t>
            </a:r>
            <a:endParaRPr lang="en-US" altLang="en-US" sz="2000">
              <a:latin typeface="Cambria" panose="02040503050406030204" charset="0"/>
              <a:cs typeface="Cambria" panose="02040503050406030204" charset="0"/>
            </a:endParaRPr>
          </a:p>
          <a:p>
            <a:r>
              <a:rPr lang="zh-CN" altLang="en-US" sz="2000">
                <a:latin typeface="Cambria" panose="02040503050406030204" charset="0"/>
                <a:cs typeface="Cambria" panose="02040503050406030204" charset="0"/>
              </a:rPr>
              <a:t>🔹</a:t>
            </a:r>
            <a:r>
              <a:rPr lang="en-US" altLang="en-US" sz="2000">
                <a:latin typeface="Cambria" panose="02040503050406030204" charset="0"/>
                <a:cs typeface="Cambria" panose="02040503050406030204" charset="0"/>
              </a:rPr>
              <a:t> Syntax:</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if (condition) {</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    // Code to execute if condition is true</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r>
              <a:rPr lang="zh-CN" altLang="en-US" sz="2000">
                <a:latin typeface="Cambria" panose="02040503050406030204" charset="0"/>
                <a:cs typeface="Cambria" panose="02040503050406030204" charset="0"/>
              </a:rPr>
              <a:t>🔹</a:t>
            </a:r>
            <a:r>
              <a:rPr lang="en-US" altLang="en-US" sz="2000">
                <a:latin typeface="Cambria" panose="02040503050406030204" charset="0"/>
                <a:cs typeface="Cambria" panose="02040503050406030204" charset="0"/>
              </a:rPr>
              <a:t> Example:</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if (marks &gt;= 40) {</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    System.out.println("Pass");</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endParaRPr lang="en-US" altLang="en-US" sz="2000">
              <a:latin typeface="Cambria" panose="02040503050406030204" charset="0"/>
              <a:cs typeface="Cambria" panose="020405030504060302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22885" y="101600"/>
            <a:ext cx="10515600" cy="387985"/>
          </a:xfrm>
        </p:spPr>
        <p:txBody>
          <a:bodyPr>
            <a:noAutofit/>
          </a:bodyPr>
          <a:p>
            <a:r>
              <a:rPr lang="en-US" sz="2400" b="1">
                <a:solidFill>
                  <a:srgbClr val="FF0000"/>
                </a:solidFill>
              </a:rPr>
              <a:t>if-else statements</a:t>
            </a:r>
            <a:endParaRPr lang="en-US" sz="2400" b="1">
              <a:solidFill>
                <a:srgbClr val="FF0000"/>
              </a:solidFill>
            </a:endParaRPr>
          </a:p>
        </p:txBody>
      </p:sp>
      <p:sp>
        <p:nvSpPr>
          <p:cNvPr id="3" name="Content Placeholder 2"/>
          <p:cNvSpPr>
            <a:spLocks noGrp="1"/>
          </p:cNvSpPr>
          <p:nvPr>
            <p:ph idx="1"/>
          </p:nvPr>
        </p:nvSpPr>
        <p:spPr>
          <a:xfrm>
            <a:off x="222885" y="579755"/>
            <a:ext cx="10515600" cy="6080760"/>
          </a:xfrm>
        </p:spPr>
        <p:txBody>
          <a:bodyPr>
            <a:noAutofit/>
          </a:bodyPr>
          <a:p>
            <a:r>
              <a:rPr lang="zh-CN" altLang="en-US" sz="1800">
                <a:latin typeface="Cambria" panose="02040503050406030204" charset="0"/>
                <a:cs typeface="Cambria" panose="02040503050406030204" charset="0"/>
                <a:sym typeface="+mn-ea"/>
              </a:rPr>
              <a:t>🔸</a:t>
            </a:r>
            <a:r>
              <a:rPr lang="en-US" altLang="en-US" sz="1800">
                <a:latin typeface="Cambria" panose="02040503050406030204" charset="0"/>
                <a:cs typeface="Cambria" panose="02040503050406030204" charset="0"/>
                <a:sym typeface="+mn-ea"/>
              </a:rPr>
              <a:t> 2. if-else Statement</a:t>
            </a:r>
            <a:endParaRPr lang="en-US" altLang="en-US" sz="1800">
              <a:latin typeface="Cambria" panose="02040503050406030204" charset="0"/>
              <a:cs typeface="Cambria" panose="02040503050406030204" charset="0"/>
            </a:endParaRPr>
          </a:p>
          <a:p>
            <a:r>
              <a:rPr lang="zh-CN" altLang="en-US" sz="1800">
                <a:latin typeface="Cambria" panose="02040503050406030204" charset="0"/>
                <a:cs typeface="Cambria" panose="02040503050406030204" charset="0"/>
                <a:sym typeface="+mn-ea"/>
              </a:rPr>
              <a:t>🔹</a:t>
            </a:r>
            <a:r>
              <a:rPr lang="en-US" altLang="en-US" sz="1800">
                <a:latin typeface="Cambria" panose="02040503050406030204" charset="0"/>
                <a:cs typeface="Cambria" panose="02040503050406030204" charset="0"/>
                <a:sym typeface="+mn-ea"/>
              </a:rPr>
              <a:t> Definition:</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sym typeface="+mn-ea"/>
              </a:rPr>
              <a:t>Executes one block if the condition is true, otherwise executes another block.</a:t>
            </a:r>
            <a:endParaRPr lang="en-US" altLang="en-US" sz="1800">
              <a:latin typeface="Cambria" panose="02040503050406030204" charset="0"/>
              <a:cs typeface="Cambria" panose="02040503050406030204" charset="0"/>
            </a:endParaRPr>
          </a:p>
          <a:p>
            <a:r>
              <a:rPr lang="zh-CN" altLang="en-US" sz="1800">
                <a:latin typeface="Cambria" panose="02040503050406030204" charset="0"/>
                <a:cs typeface="Cambria" panose="02040503050406030204" charset="0"/>
                <a:sym typeface="+mn-ea"/>
              </a:rPr>
              <a:t>🔹</a:t>
            </a:r>
            <a:r>
              <a:rPr lang="en-US" altLang="en-US" sz="1800">
                <a:latin typeface="Cambria" panose="02040503050406030204" charset="0"/>
                <a:cs typeface="Cambria" panose="02040503050406030204" charset="0"/>
                <a:sym typeface="+mn-ea"/>
              </a:rPr>
              <a:t> Syntax:</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sym typeface="+mn-ea"/>
              </a:rPr>
              <a:t>if (condition) {</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sym typeface="+mn-ea"/>
              </a:rPr>
              <a:t>    // Code if condition is true</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sym typeface="+mn-ea"/>
              </a:rPr>
              <a:t>} else {</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sym typeface="+mn-ea"/>
              </a:rPr>
              <a:t>    // Code if condition is false</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sym typeface="+mn-ea"/>
              </a:rPr>
              <a:t>}</a:t>
            </a:r>
            <a:endParaRPr lang="en-US" altLang="en-US" sz="1800">
              <a:latin typeface="Cambria" panose="02040503050406030204" charset="0"/>
              <a:cs typeface="Cambria" panose="02040503050406030204" charset="0"/>
            </a:endParaRPr>
          </a:p>
          <a:p>
            <a:r>
              <a:rPr lang="zh-CN" altLang="en-US" sz="1800">
                <a:latin typeface="Cambria" panose="02040503050406030204" charset="0"/>
                <a:cs typeface="Cambria" panose="02040503050406030204" charset="0"/>
                <a:sym typeface="+mn-ea"/>
              </a:rPr>
              <a:t>🔹</a:t>
            </a:r>
            <a:r>
              <a:rPr lang="en-US" altLang="en-US" sz="1800">
                <a:latin typeface="Cambria" panose="02040503050406030204" charset="0"/>
                <a:cs typeface="Cambria" panose="02040503050406030204" charset="0"/>
                <a:sym typeface="+mn-ea"/>
              </a:rPr>
              <a:t> Example:</a:t>
            </a:r>
            <a:endParaRPr lang="en-US" altLang="en-US" sz="1800">
              <a:latin typeface="Cambria" panose="02040503050406030204" charset="0"/>
              <a:cs typeface="Cambria" panose="02040503050406030204" charset="0"/>
            </a:endParaRPr>
          </a:p>
          <a:p>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sym typeface="+mn-ea"/>
              </a:rPr>
              <a:t>if (number % 2 == 0) {</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sym typeface="+mn-ea"/>
              </a:rPr>
              <a:t>    System.out.println("Even");</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sym typeface="+mn-ea"/>
              </a:rPr>
              <a:t>} else {</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sym typeface="+mn-ea"/>
              </a:rPr>
              <a:t>    System.out.println("Odd");</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sym typeface="+mn-ea"/>
              </a:rPr>
              <a:t>}</a:t>
            </a:r>
            <a:endParaRPr lang="en-US" altLang="en-US" sz="1800">
              <a:latin typeface="Cambria" panose="02040503050406030204" charset="0"/>
              <a:cs typeface="Cambria" panose="02040503050406030204" charset="0"/>
            </a:endParaRPr>
          </a:p>
          <a:p>
            <a:endParaRPr lang="en-US" altLang="en-US" sz="1800">
              <a:latin typeface="Cambria" panose="02040503050406030204" charset="0"/>
              <a:cs typeface="Cambria" panose="020405030504060302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234950"/>
          </a:xfrm>
        </p:spPr>
        <p:txBody>
          <a:bodyPr>
            <a:noAutofit/>
          </a:bodyPr>
          <a:p>
            <a:r>
              <a:rPr lang="en-US" sz="2000" b="1">
                <a:solidFill>
                  <a:srgbClr val="FF0000"/>
                </a:solidFill>
                <a:latin typeface="Cambria" panose="02040503050406030204" charset="0"/>
                <a:cs typeface="Cambria" panose="02040503050406030204" charset="0"/>
              </a:rPr>
              <a:t>Nesting if-else </a:t>
            </a:r>
            <a:endParaRPr lang="en-US" sz="2000" b="1">
              <a:solidFill>
                <a:srgbClr val="FF0000"/>
              </a:solidFill>
              <a:latin typeface="Cambria" panose="02040503050406030204" charset="0"/>
              <a:cs typeface="Cambria" panose="02040503050406030204" charset="0"/>
            </a:endParaRPr>
          </a:p>
        </p:txBody>
      </p:sp>
      <p:sp>
        <p:nvSpPr>
          <p:cNvPr id="3" name="Content Placeholder 2"/>
          <p:cNvSpPr>
            <a:spLocks noGrp="1"/>
          </p:cNvSpPr>
          <p:nvPr>
            <p:ph idx="1"/>
          </p:nvPr>
        </p:nvSpPr>
        <p:spPr>
          <a:xfrm>
            <a:off x="0" y="234950"/>
            <a:ext cx="11819255" cy="6510020"/>
          </a:xfrm>
        </p:spPr>
        <p:txBody>
          <a:bodyPr>
            <a:noAutofit/>
          </a:bodyPr>
          <a:p>
            <a:pPr marL="0" indent="0">
              <a:buNone/>
            </a:pPr>
            <a:r>
              <a:rPr lang="en-US" altLang="en-US" sz="1600"/>
              <a:t> 1. Nesting if-else</a:t>
            </a:r>
            <a:endParaRPr lang="en-US" altLang="en-US" sz="1600"/>
          </a:p>
          <a:p>
            <a:pPr marL="0" indent="0">
              <a:buNone/>
            </a:pPr>
            <a:r>
              <a:rPr lang="en-US" altLang="en-US" sz="1600"/>
              <a:t>Definition:  Nesting if-else means using one if or else statement inside another.  It allows checking a second condition only if the first condition is true.  This is useful for hierarchical or dependent decision-making.</a:t>
            </a:r>
            <a:endParaRPr lang="en-US" altLang="en-US" sz="1600"/>
          </a:p>
          <a:p>
            <a:pPr marL="0" indent="0">
              <a:buNone/>
            </a:pPr>
            <a:r>
              <a:rPr lang="en-US" altLang="en-US" sz="1600"/>
              <a:t>Syntax:   if (condition1) {</a:t>
            </a:r>
            <a:endParaRPr lang="en-US" altLang="en-US" sz="1600"/>
          </a:p>
          <a:p>
            <a:pPr marL="0" indent="0">
              <a:buNone/>
            </a:pPr>
            <a:r>
              <a:rPr lang="en-US" altLang="en-US" sz="1600"/>
              <a:t>    if (condition2) {        // code</a:t>
            </a:r>
            <a:endParaRPr lang="en-US" altLang="en-US" sz="1600"/>
          </a:p>
          <a:p>
            <a:pPr marL="0" indent="0">
              <a:buNone/>
            </a:pPr>
            <a:r>
              <a:rPr lang="en-US" altLang="en-US" sz="1600"/>
              <a:t>    } else {        // code</a:t>
            </a:r>
            <a:endParaRPr lang="en-US" altLang="en-US" sz="1600"/>
          </a:p>
          <a:p>
            <a:pPr marL="0" indent="0">
              <a:buNone/>
            </a:pPr>
            <a:r>
              <a:rPr lang="en-US" altLang="en-US" sz="1600"/>
              <a:t>    }</a:t>
            </a:r>
            <a:endParaRPr lang="en-US" altLang="en-US" sz="1600"/>
          </a:p>
          <a:p>
            <a:pPr marL="0" indent="0">
              <a:buNone/>
            </a:pPr>
            <a:r>
              <a:rPr lang="en-US" altLang="en-US" sz="1600"/>
              <a:t>} else {    // code</a:t>
            </a:r>
            <a:endParaRPr lang="en-US" altLang="en-US" sz="1600"/>
          </a:p>
          <a:p>
            <a:pPr marL="0" indent="0">
              <a:buNone/>
            </a:pPr>
            <a:r>
              <a:rPr lang="en-US" altLang="en-US" sz="1600"/>
              <a:t>}</a:t>
            </a:r>
            <a:endParaRPr lang="en-US" altLang="en-US" sz="1600"/>
          </a:p>
          <a:p>
            <a:pPr marL="0" indent="0">
              <a:buNone/>
            </a:pPr>
            <a:r>
              <a:rPr lang="en-US" altLang="en-US" sz="1600"/>
              <a:t>Example:</a:t>
            </a:r>
            <a:endParaRPr lang="en-US" altLang="en-US" sz="1600"/>
          </a:p>
          <a:p>
            <a:pPr marL="0" indent="0">
              <a:buNone/>
            </a:pPr>
            <a:r>
              <a:rPr lang="en-US" altLang="en-US" sz="1600"/>
              <a:t>if (age &gt;= 18) {</a:t>
            </a:r>
            <a:endParaRPr lang="en-US" altLang="en-US" sz="1600"/>
          </a:p>
          <a:p>
            <a:pPr marL="0" indent="0">
              <a:buNone/>
            </a:pPr>
            <a:r>
              <a:rPr lang="en-US" altLang="en-US" sz="1600"/>
              <a:t>    if (citizen == true) {</a:t>
            </a:r>
            <a:endParaRPr lang="en-US" altLang="en-US" sz="1600"/>
          </a:p>
          <a:p>
            <a:pPr marL="0" indent="0">
              <a:buNone/>
            </a:pPr>
            <a:r>
              <a:rPr lang="en-US" altLang="en-US" sz="1600"/>
              <a:t>        printf("Eligible to vote");</a:t>
            </a:r>
            <a:endParaRPr lang="en-US" altLang="en-US" sz="1600"/>
          </a:p>
          <a:p>
            <a:pPr marL="0" indent="0">
              <a:buNone/>
            </a:pPr>
            <a:r>
              <a:rPr lang="en-US" altLang="en-US" sz="1600"/>
              <a:t>    } else {</a:t>
            </a:r>
            <a:endParaRPr lang="en-US" altLang="en-US" sz="1600"/>
          </a:p>
          <a:p>
            <a:pPr marL="0" indent="0">
              <a:buNone/>
            </a:pPr>
            <a:r>
              <a:rPr lang="en-US" altLang="en-US" sz="1600"/>
              <a:t>        printf("Not a citizen");</a:t>
            </a:r>
            <a:endParaRPr lang="en-US" altLang="en-US" sz="1600"/>
          </a:p>
          <a:p>
            <a:pPr marL="0" indent="0">
              <a:buNone/>
            </a:pPr>
            <a:r>
              <a:rPr lang="en-US" altLang="en-US" sz="1600"/>
              <a:t>    }</a:t>
            </a:r>
            <a:endParaRPr lang="en-US" altLang="en-US" sz="1600"/>
          </a:p>
          <a:p>
            <a:pPr marL="0" indent="0">
              <a:buNone/>
            </a:pPr>
            <a:r>
              <a:rPr lang="en-US" altLang="en-US" sz="1600"/>
              <a:t>} else {</a:t>
            </a:r>
            <a:endParaRPr lang="en-US" altLang="en-US" sz="1600"/>
          </a:p>
          <a:p>
            <a:pPr marL="0" indent="0">
              <a:buNone/>
            </a:pPr>
            <a:r>
              <a:rPr lang="en-US" altLang="en-US" sz="1600"/>
              <a:t>    printf("Too young to vote");</a:t>
            </a:r>
            <a:endParaRPr lang="en-US" altLang="en-US" sz="1600"/>
          </a:p>
          <a:p>
            <a:pPr marL="0" indent="0">
              <a:buNone/>
            </a:pPr>
            <a:r>
              <a:rPr lang="en-US" altLang="en-US" sz="1600"/>
              <a:t>}</a:t>
            </a:r>
            <a:endParaRPr lang="en-US" altLang="en-US" sz="1600"/>
          </a:p>
          <a:p>
            <a:pPr marL="0" indent="0">
              <a:buNone/>
            </a:pPr>
            <a:endParaRPr lang="en-US" altLang="en-US" sz="16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315595"/>
          </a:xfrm>
        </p:spPr>
        <p:txBody>
          <a:bodyPr>
            <a:normAutofit fontScale="90000"/>
          </a:bodyPr>
          <a:p>
            <a:r>
              <a:rPr lang="en-US" sz="2800" b="1">
                <a:solidFill>
                  <a:srgbClr val="FF0000"/>
                </a:solidFill>
              </a:rPr>
              <a:t>ladder if-else statement</a:t>
            </a:r>
            <a:endParaRPr lang="en-US" sz="2800" b="1">
              <a:solidFill>
                <a:srgbClr val="FF0000"/>
              </a:solidFill>
            </a:endParaRPr>
          </a:p>
        </p:txBody>
      </p:sp>
      <p:sp>
        <p:nvSpPr>
          <p:cNvPr id="3" name="Content Placeholder 2"/>
          <p:cNvSpPr>
            <a:spLocks noGrp="1"/>
          </p:cNvSpPr>
          <p:nvPr>
            <p:ph idx="1"/>
          </p:nvPr>
        </p:nvSpPr>
        <p:spPr>
          <a:xfrm>
            <a:off x="0" y="315595"/>
            <a:ext cx="11687810" cy="6542405"/>
          </a:xfrm>
        </p:spPr>
        <p:txBody>
          <a:bodyPr>
            <a:noAutofit/>
          </a:bodyPr>
          <a:p>
            <a:r>
              <a:rPr lang="zh-CN" altLang="en-US" sz="1800">
                <a:sym typeface="+mn-ea"/>
              </a:rPr>
              <a:t>🔹</a:t>
            </a:r>
            <a:r>
              <a:rPr lang="en-US" altLang="en-US" sz="1800">
                <a:sym typeface="+mn-ea"/>
              </a:rPr>
              <a:t> 2. Ladder if-else</a:t>
            </a:r>
            <a:endParaRPr lang="en-US" altLang="en-US" sz="1800"/>
          </a:p>
          <a:p>
            <a:r>
              <a:rPr lang="en-US" altLang="en-US" sz="1800">
                <a:sym typeface="+mn-ea"/>
              </a:rPr>
              <a:t>Definition: Ladder if-else is a series of if...else if...else statements. It is used to test multiple conditions one by one. The first true condition's block gets executed.</a:t>
            </a:r>
            <a:endParaRPr lang="en-US" altLang="en-US" sz="1800"/>
          </a:p>
          <a:p>
            <a:r>
              <a:rPr lang="en-US" altLang="en-US" sz="1800">
                <a:sym typeface="+mn-ea"/>
              </a:rPr>
              <a:t>Syntax:       if (condition1) {</a:t>
            </a:r>
            <a:endParaRPr lang="en-US" altLang="en-US" sz="1800"/>
          </a:p>
          <a:p>
            <a:r>
              <a:rPr lang="en-US" altLang="en-US" sz="1800">
                <a:sym typeface="+mn-ea"/>
              </a:rPr>
              <a:t>    // code</a:t>
            </a:r>
            <a:endParaRPr lang="en-US" altLang="en-US" sz="1800"/>
          </a:p>
          <a:p>
            <a:r>
              <a:rPr lang="en-US" altLang="en-US" sz="1800">
                <a:sym typeface="+mn-ea"/>
              </a:rPr>
              <a:t>} else if (condition2) {</a:t>
            </a:r>
            <a:endParaRPr lang="en-US" altLang="en-US" sz="1800"/>
          </a:p>
          <a:p>
            <a:r>
              <a:rPr lang="en-US" altLang="en-US" sz="1800">
                <a:sym typeface="+mn-ea"/>
              </a:rPr>
              <a:t>    // code</a:t>
            </a:r>
            <a:endParaRPr lang="en-US" altLang="en-US" sz="1800"/>
          </a:p>
          <a:p>
            <a:r>
              <a:rPr lang="en-US" altLang="en-US" sz="1800">
                <a:sym typeface="+mn-ea"/>
              </a:rPr>
              <a:t>} else {</a:t>
            </a:r>
            <a:endParaRPr lang="en-US" altLang="en-US" sz="1800"/>
          </a:p>
          <a:p>
            <a:r>
              <a:rPr lang="en-US" altLang="en-US" sz="1800">
                <a:sym typeface="+mn-ea"/>
              </a:rPr>
              <a:t>    // code</a:t>
            </a:r>
            <a:endParaRPr lang="en-US" altLang="en-US" sz="1800"/>
          </a:p>
          <a:p>
            <a:r>
              <a:rPr lang="en-US" altLang="en-US" sz="1800">
                <a:sym typeface="+mn-ea"/>
              </a:rPr>
              <a:t>}   Example:</a:t>
            </a:r>
            <a:endParaRPr lang="en-US" altLang="en-US" sz="1800"/>
          </a:p>
          <a:p>
            <a:r>
              <a:rPr lang="en-US" altLang="en-US" sz="1800">
                <a:sym typeface="+mn-ea"/>
              </a:rPr>
              <a:t>if (marks &gt;= 90) {</a:t>
            </a:r>
            <a:endParaRPr lang="en-US" altLang="en-US" sz="1800"/>
          </a:p>
          <a:p>
            <a:r>
              <a:rPr lang="en-US" altLang="en-US" sz="1800">
                <a:sym typeface="+mn-ea"/>
              </a:rPr>
              <a:t>    printf("Grade A");</a:t>
            </a:r>
            <a:endParaRPr lang="en-US" altLang="en-US" sz="1800"/>
          </a:p>
          <a:p>
            <a:r>
              <a:rPr lang="en-US" altLang="en-US" sz="1800">
                <a:sym typeface="+mn-ea"/>
              </a:rPr>
              <a:t>} else if (marks &gt;= 80) {</a:t>
            </a:r>
            <a:endParaRPr lang="en-US" altLang="en-US" sz="1800"/>
          </a:p>
          <a:p>
            <a:r>
              <a:rPr lang="en-US" altLang="en-US" sz="1800">
                <a:sym typeface="+mn-ea"/>
              </a:rPr>
              <a:t>    printf("Grade B");</a:t>
            </a:r>
            <a:endParaRPr lang="en-US" altLang="en-US" sz="1800"/>
          </a:p>
          <a:p>
            <a:r>
              <a:rPr lang="en-US" altLang="en-US" sz="1800">
                <a:sym typeface="+mn-ea"/>
              </a:rPr>
              <a:t>} else if (marks &gt;= 70) {</a:t>
            </a:r>
            <a:endParaRPr lang="en-US" altLang="en-US" sz="1800"/>
          </a:p>
          <a:p>
            <a:r>
              <a:rPr lang="en-US" altLang="en-US" sz="1800">
                <a:sym typeface="+mn-ea"/>
              </a:rPr>
              <a:t>    printf("Grade C");</a:t>
            </a:r>
            <a:endParaRPr lang="en-US" altLang="en-US" sz="1800"/>
          </a:p>
          <a:p>
            <a:r>
              <a:rPr lang="en-US" altLang="en-US" sz="1800">
                <a:sym typeface="+mn-ea"/>
              </a:rPr>
              <a:t>} else {</a:t>
            </a:r>
            <a:endParaRPr lang="en-US" altLang="en-US" sz="1800"/>
          </a:p>
          <a:p>
            <a:r>
              <a:rPr lang="en-US" altLang="en-US" sz="1800">
                <a:sym typeface="+mn-ea"/>
              </a:rPr>
              <a:t>    printf("Fail");   }</a:t>
            </a:r>
            <a:endParaRPr lang="en-US" altLang="en-US" sz="1800"/>
          </a:p>
          <a:p>
            <a:endParaRPr lang="en-US" altLang="en-US" sz="1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273050"/>
          </a:xfrm>
        </p:spPr>
        <p:txBody>
          <a:bodyPr>
            <a:normAutofit fontScale="90000"/>
          </a:bodyPr>
          <a:p>
            <a:r>
              <a:rPr lang="en-US" sz="2400" b="1">
                <a:solidFill>
                  <a:srgbClr val="FF0000"/>
                </a:solidFill>
              </a:rPr>
              <a:t>Switch-case Statement</a:t>
            </a:r>
            <a:endParaRPr lang="en-US" sz="2400" b="1">
              <a:solidFill>
                <a:srgbClr val="FF0000"/>
              </a:solidFill>
            </a:endParaRPr>
          </a:p>
        </p:txBody>
      </p:sp>
      <p:sp>
        <p:nvSpPr>
          <p:cNvPr id="3" name="Content Placeholder 2"/>
          <p:cNvSpPr>
            <a:spLocks noGrp="1"/>
          </p:cNvSpPr>
          <p:nvPr>
            <p:ph idx="1"/>
          </p:nvPr>
        </p:nvSpPr>
        <p:spPr>
          <a:xfrm>
            <a:off x="113665" y="273050"/>
            <a:ext cx="11980545" cy="6584950"/>
          </a:xfrm>
        </p:spPr>
        <p:txBody>
          <a:bodyPr>
            <a:noAutofit/>
          </a:bodyPr>
          <a:p>
            <a:pPr marL="0" indent="0">
              <a:buNone/>
            </a:pPr>
            <a:r>
              <a:rPr lang="en-US" altLang="en-US" sz="1600">
                <a:latin typeface="Cambria" panose="02040503050406030204" charset="0"/>
                <a:cs typeface="Cambria" panose="02040503050406030204" charset="0"/>
              </a:rPr>
              <a:t>Definition:  A switch statement is used to select one of many blocks of code to be executed. It compares a variable to multiple case values.  When a match is found, that block runs until a break is hit. It’s an alternative to using many if-else statements.</a:t>
            </a:r>
            <a:endParaRPr lang="en-US" altLang="en-US" sz="1600">
              <a:latin typeface="Cambria" panose="02040503050406030204" charset="0"/>
              <a:cs typeface="Cambria" panose="02040503050406030204" charset="0"/>
            </a:endParaRPr>
          </a:p>
          <a:p>
            <a:pPr marL="0" indent="0">
              <a:buNone/>
            </a:pPr>
            <a:r>
              <a:rPr lang="en-US" altLang="en-US" sz="1600">
                <a:latin typeface="Cambria" panose="02040503050406030204" charset="0"/>
                <a:cs typeface="Cambria" panose="02040503050406030204" charset="0"/>
              </a:rPr>
              <a:t>switch (expression) {</a:t>
            </a:r>
            <a:endParaRPr lang="en-US" altLang="en-US" sz="1600">
              <a:latin typeface="Cambria" panose="02040503050406030204" charset="0"/>
              <a:cs typeface="Cambria" panose="02040503050406030204" charset="0"/>
            </a:endParaRPr>
          </a:p>
          <a:p>
            <a:pPr marL="0" indent="0">
              <a:buNone/>
            </a:pPr>
            <a:r>
              <a:rPr lang="en-US" altLang="en-US" sz="1600">
                <a:latin typeface="Cambria" panose="02040503050406030204" charset="0"/>
                <a:cs typeface="Cambria" panose="02040503050406030204" charset="0"/>
              </a:rPr>
              <a:t>    case value1:</a:t>
            </a:r>
            <a:endParaRPr lang="en-US" altLang="en-US" sz="1600">
              <a:latin typeface="Cambria" panose="02040503050406030204" charset="0"/>
              <a:cs typeface="Cambria" panose="02040503050406030204" charset="0"/>
            </a:endParaRPr>
          </a:p>
          <a:p>
            <a:pPr marL="0" indent="0">
              <a:buNone/>
            </a:pPr>
            <a:r>
              <a:rPr lang="en-US" altLang="en-US" sz="1600">
                <a:latin typeface="Cambria" panose="02040503050406030204" charset="0"/>
                <a:cs typeface="Cambria" panose="02040503050406030204" charset="0"/>
              </a:rPr>
              <a:t>        // code block 1            break;</a:t>
            </a:r>
            <a:endParaRPr lang="en-US" altLang="en-US" sz="1600">
              <a:latin typeface="Cambria" panose="02040503050406030204" charset="0"/>
              <a:cs typeface="Cambria" panose="02040503050406030204" charset="0"/>
            </a:endParaRPr>
          </a:p>
          <a:p>
            <a:pPr marL="0" indent="0">
              <a:buNone/>
            </a:pPr>
            <a:r>
              <a:rPr lang="en-US" altLang="en-US" sz="1600">
                <a:latin typeface="Cambria" panose="02040503050406030204" charset="0"/>
                <a:cs typeface="Cambria" panose="02040503050406030204" charset="0"/>
              </a:rPr>
              <a:t>    case value2:</a:t>
            </a:r>
            <a:endParaRPr lang="en-US" altLang="en-US" sz="1600">
              <a:latin typeface="Cambria" panose="02040503050406030204" charset="0"/>
              <a:cs typeface="Cambria" panose="02040503050406030204" charset="0"/>
            </a:endParaRPr>
          </a:p>
          <a:p>
            <a:pPr marL="0" indent="0">
              <a:buNone/>
            </a:pPr>
            <a:r>
              <a:rPr lang="en-US" altLang="en-US" sz="1600">
                <a:latin typeface="Cambria" panose="02040503050406030204" charset="0"/>
                <a:cs typeface="Cambria" panose="02040503050406030204" charset="0"/>
              </a:rPr>
              <a:t>        // code block 2          break;   ...</a:t>
            </a:r>
            <a:endParaRPr lang="en-US" altLang="en-US" sz="1600">
              <a:latin typeface="Cambria" panose="02040503050406030204" charset="0"/>
              <a:cs typeface="Cambria" panose="02040503050406030204" charset="0"/>
            </a:endParaRPr>
          </a:p>
          <a:p>
            <a:pPr marL="0" indent="0">
              <a:buNone/>
            </a:pPr>
            <a:r>
              <a:rPr lang="en-US" altLang="en-US" sz="1600">
                <a:latin typeface="Cambria" panose="02040503050406030204" charset="0"/>
                <a:cs typeface="Cambria" panose="02040503050406030204" charset="0"/>
              </a:rPr>
              <a:t>    default:</a:t>
            </a:r>
            <a:endParaRPr lang="en-US" altLang="en-US" sz="1600">
              <a:latin typeface="Cambria" panose="02040503050406030204" charset="0"/>
              <a:cs typeface="Cambria" panose="02040503050406030204" charset="0"/>
            </a:endParaRPr>
          </a:p>
          <a:p>
            <a:pPr marL="0" indent="0">
              <a:buNone/>
            </a:pPr>
            <a:r>
              <a:rPr lang="en-US" altLang="en-US" sz="1600">
                <a:latin typeface="Cambria" panose="02040503050406030204" charset="0"/>
                <a:cs typeface="Cambria" panose="02040503050406030204" charset="0"/>
              </a:rPr>
              <a:t>        // default code block</a:t>
            </a:r>
            <a:endParaRPr lang="en-US" altLang="en-US" sz="1600">
              <a:latin typeface="Cambria" panose="02040503050406030204" charset="0"/>
              <a:cs typeface="Cambria" panose="02040503050406030204" charset="0"/>
            </a:endParaRPr>
          </a:p>
          <a:p>
            <a:pPr marL="0" indent="0">
              <a:buNone/>
            </a:pPr>
            <a:r>
              <a:rPr lang="en-US" altLang="en-US" sz="1600">
                <a:latin typeface="Cambria" panose="02040503050406030204" charset="0"/>
                <a:cs typeface="Cambria" panose="02040503050406030204" charset="0"/>
              </a:rPr>
              <a:t>}</a:t>
            </a:r>
            <a:endParaRPr lang="en-US" altLang="en-US" sz="1600">
              <a:latin typeface="Cambria" panose="02040503050406030204" charset="0"/>
              <a:cs typeface="Cambria" panose="02040503050406030204" charset="0"/>
            </a:endParaRPr>
          </a:p>
          <a:p>
            <a:pPr marL="0" indent="0">
              <a:buNone/>
            </a:pPr>
            <a:r>
              <a:rPr lang="en-US" altLang="en-US" sz="1600">
                <a:latin typeface="Cambria" panose="02040503050406030204" charset="0"/>
                <a:cs typeface="Cambria" panose="02040503050406030204" charset="0"/>
              </a:rPr>
              <a:t>int day = 3;</a:t>
            </a:r>
            <a:endParaRPr lang="en-US" altLang="en-US" sz="1600">
              <a:latin typeface="Cambria" panose="02040503050406030204" charset="0"/>
              <a:cs typeface="Cambria" panose="02040503050406030204" charset="0"/>
            </a:endParaRPr>
          </a:p>
          <a:p>
            <a:pPr marL="0" indent="0">
              <a:buNone/>
            </a:pPr>
            <a:r>
              <a:rPr lang="en-US" altLang="en-US" sz="1600">
                <a:latin typeface="Cambria" panose="02040503050406030204" charset="0"/>
                <a:cs typeface="Cambria" panose="02040503050406030204" charset="0"/>
              </a:rPr>
              <a:t>switch (day) {</a:t>
            </a:r>
            <a:endParaRPr lang="en-US" altLang="en-US" sz="1600">
              <a:latin typeface="Cambria" panose="02040503050406030204" charset="0"/>
              <a:cs typeface="Cambria" panose="02040503050406030204" charset="0"/>
            </a:endParaRPr>
          </a:p>
          <a:p>
            <a:pPr marL="0" indent="0">
              <a:buNone/>
            </a:pPr>
            <a:r>
              <a:rPr lang="en-US" altLang="en-US" sz="1600">
                <a:latin typeface="Cambria" panose="02040503050406030204" charset="0"/>
                <a:cs typeface="Cambria" panose="02040503050406030204" charset="0"/>
              </a:rPr>
              <a:t>    case 1:         printf("Monday");</a:t>
            </a:r>
            <a:endParaRPr lang="en-US" altLang="en-US" sz="1600">
              <a:latin typeface="Cambria" panose="02040503050406030204" charset="0"/>
              <a:cs typeface="Cambria" panose="02040503050406030204" charset="0"/>
            </a:endParaRPr>
          </a:p>
          <a:p>
            <a:pPr marL="0" indent="0">
              <a:buNone/>
            </a:pPr>
            <a:r>
              <a:rPr lang="en-US" altLang="en-US" sz="1600">
                <a:latin typeface="Cambria" panose="02040503050406030204" charset="0"/>
                <a:cs typeface="Cambria" panose="02040503050406030204" charset="0"/>
              </a:rPr>
              <a:t>        break;</a:t>
            </a:r>
            <a:endParaRPr lang="en-US" altLang="en-US" sz="1600">
              <a:latin typeface="Cambria" panose="02040503050406030204" charset="0"/>
              <a:cs typeface="Cambria" panose="02040503050406030204" charset="0"/>
            </a:endParaRPr>
          </a:p>
          <a:p>
            <a:pPr marL="0" indent="0">
              <a:buNone/>
            </a:pPr>
            <a:r>
              <a:rPr lang="en-US" altLang="en-US" sz="1600">
                <a:latin typeface="Cambria" panose="02040503050406030204" charset="0"/>
                <a:cs typeface="Cambria" panose="02040503050406030204" charset="0"/>
              </a:rPr>
              <a:t>    case 2:         printf("Tuesday");</a:t>
            </a:r>
            <a:endParaRPr lang="en-US" altLang="en-US" sz="1600">
              <a:latin typeface="Cambria" panose="02040503050406030204" charset="0"/>
              <a:cs typeface="Cambria" panose="02040503050406030204" charset="0"/>
            </a:endParaRPr>
          </a:p>
          <a:p>
            <a:pPr marL="0" indent="0">
              <a:buNone/>
            </a:pPr>
            <a:r>
              <a:rPr lang="en-US" altLang="en-US" sz="1600">
                <a:latin typeface="Cambria" panose="02040503050406030204" charset="0"/>
                <a:cs typeface="Cambria" panose="02040503050406030204" charset="0"/>
              </a:rPr>
              <a:t>        break;</a:t>
            </a:r>
            <a:endParaRPr lang="en-US" altLang="en-US" sz="1600">
              <a:latin typeface="Cambria" panose="02040503050406030204" charset="0"/>
              <a:cs typeface="Cambria" panose="02040503050406030204" charset="0"/>
            </a:endParaRPr>
          </a:p>
          <a:p>
            <a:pPr marL="0" indent="0">
              <a:buNone/>
            </a:pPr>
            <a:r>
              <a:rPr lang="en-US" altLang="en-US" sz="1600">
                <a:latin typeface="Cambria" panose="02040503050406030204" charset="0"/>
                <a:cs typeface="Cambria" panose="02040503050406030204" charset="0"/>
              </a:rPr>
              <a:t>    case 3:         printf("Wednesday");</a:t>
            </a:r>
            <a:endParaRPr lang="en-US" altLang="en-US" sz="1600">
              <a:latin typeface="Cambria" panose="02040503050406030204" charset="0"/>
              <a:cs typeface="Cambria" panose="02040503050406030204" charset="0"/>
            </a:endParaRPr>
          </a:p>
          <a:p>
            <a:pPr marL="0" indent="0">
              <a:buNone/>
            </a:pPr>
            <a:r>
              <a:rPr lang="en-US" altLang="en-US" sz="1600">
                <a:latin typeface="Cambria" panose="02040503050406030204" charset="0"/>
                <a:cs typeface="Cambria" panose="02040503050406030204" charset="0"/>
              </a:rPr>
              <a:t>        break;</a:t>
            </a:r>
            <a:endParaRPr lang="en-US" altLang="en-US" sz="1600">
              <a:latin typeface="Cambria" panose="02040503050406030204" charset="0"/>
              <a:cs typeface="Cambria" panose="02040503050406030204" charset="0"/>
            </a:endParaRPr>
          </a:p>
          <a:p>
            <a:pPr marL="0" indent="0">
              <a:buNone/>
            </a:pPr>
            <a:r>
              <a:rPr lang="en-US" altLang="en-US" sz="1600">
                <a:latin typeface="Cambria" panose="02040503050406030204" charset="0"/>
                <a:cs typeface="Cambria" panose="02040503050406030204" charset="0"/>
              </a:rPr>
              <a:t>    default:         printf("Invalid day");</a:t>
            </a:r>
            <a:endParaRPr lang="en-US" altLang="en-US" sz="1600">
              <a:latin typeface="Cambria" panose="02040503050406030204" charset="0"/>
              <a:cs typeface="Cambria" panose="02040503050406030204" charset="0"/>
            </a:endParaRPr>
          </a:p>
          <a:p>
            <a:pPr marL="0" indent="0">
              <a:buNone/>
            </a:pPr>
            <a:r>
              <a:rPr lang="en-US" altLang="en-US" sz="1600">
                <a:latin typeface="Cambria" panose="02040503050406030204" charset="0"/>
                <a:cs typeface="Cambria" panose="02040503050406030204" charset="0"/>
              </a:rPr>
              <a:t>}</a:t>
            </a:r>
            <a:endParaRPr lang="en-US" altLang="en-US" sz="1600">
              <a:latin typeface="Cambria" panose="02040503050406030204" charset="0"/>
              <a:cs typeface="Cambria" panose="020405030504060302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520700"/>
          </a:xfrm>
        </p:spPr>
        <p:txBody>
          <a:bodyPr>
            <a:noAutofit/>
          </a:bodyPr>
          <a:p>
            <a:r>
              <a:rPr lang="en-US" sz="2000" b="1">
                <a:solidFill>
                  <a:srgbClr val="FF0000"/>
                </a:solidFill>
                <a:latin typeface="Cambria" panose="02040503050406030204" charset="0"/>
                <a:cs typeface="Cambria" panose="02040503050406030204" charset="0"/>
              </a:rPr>
              <a:t>looping statement</a:t>
            </a:r>
            <a:endParaRPr lang="en-US" sz="2000" b="1">
              <a:solidFill>
                <a:srgbClr val="FF0000"/>
              </a:solidFill>
              <a:latin typeface="Cambria" panose="02040503050406030204" charset="0"/>
              <a:cs typeface="Cambria" panose="02040503050406030204" charset="0"/>
            </a:endParaRPr>
          </a:p>
        </p:txBody>
      </p:sp>
      <p:sp>
        <p:nvSpPr>
          <p:cNvPr id="3" name="Content Placeholder 2"/>
          <p:cNvSpPr>
            <a:spLocks noGrp="1"/>
          </p:cNvSpPr>
          <p:nvPr>
            <p:ph idx="1"/>
          </p:nvPr>
        </p:nvSpPr>
        <p:spPr>
          <a:xfrm>
            <a:off x="0" y="403860"/>
            <a:ext cx="12192000" cy="6454140"/>
          </a:xfrm>
        </p:spPr>
        <p:txBody>
          <a:bodyPr>
            <a:normAutofit/>
          </a:bodyPr>
          <a:p>
            <a:pPr marL="0" indent="0">
              <a:buNone/>
            </a:pPr>
            <a:r>
              <a:rPr lang="en-US" altLang="en-US" sz="1800"/>
              <a:t>Looping Statement – Definition</a:t>
            </a:r>
            <a:endParaRPr lang="en-US" altLang="en-US" sz="1800"/>
          </a:p>
          <a:p>
            <a:pPr marL="0" indent="0">
              <a:buNone/>
            </a:pPr>
            <a:r>
              <a:rPr lang="en-US" altLang="en-US" sz="1800"/>
              <a:t>A looping statement is used to execute a block of code repeatedly as long as a specified condition is true.  It helps reduce code repetition and improves efficiency. There are mainly three types of loops: for, while, and do-while.</a:t>
            </a:r>
            <a:endParaRPr lang="en-US" altLang="en-US" sz="1800"/>
          </a:p>
          <a:p>
            <a:pPr marL="0" indent="0">
              <a:buNone/>
            </a:pPr>
            <a:r>
              <a:rPr lang="en-US" altLang="en-US" sz="1800"/>
              <a:t>Loops are widely used for tasks like traversing arrays, generating sequences, and automation.</a:t>
            </a:r>
            <a:endParaRPr lang="en-US" altLang="en-US" sz="1800"/>
          </a:p>
          <a:p>
            <a:pPr marL="0" indent="0">
              <a:buNone/>
            </a:pPr>
            <a:r>
              <a:rPr lang="en-US" altLang="en-US" sz="1800"/>
              <a:t>1. For Loop</a:t>
            </a:r>
            <a:endParaRPr lang="en-US" altLang="en-US" sz="1800"/>
          </a:p>
          <a:p>
            <a:pPr marL="0" indent="0">
              <a:buNone/>
            </a:pPr>
            <a:r>
              <a:rPr lang="en-US" altLang="en-US" sz="1800"/>
              <a:t>Definition: A for loop repeats a block of code a specific number of times. It includes initialization, condition, and update in one line.</a:t>
            </a:r>
            <a:endParaRPr lang="en-US" altLang="en-US" sz="1800"/>
          </a:p>
          <a:p>
            <a:pPr marL="0" indent="0">
              <a:buNone/>
            </a:pPr>
            <a:r>
              <a:rPr lang="en-US" altLang="en-US" sz="1800"/>
              <a:t>It’s mostly used when the number of iterations is known. </a:t>
            </a:r>
            <a:endParaRPr lang="en-US" altLang="en-US" sz="1800"/>
          </a:p>
          <a:p>
            <a:pPr marL="0" indent="0">
              <a:buNone/>
            </a:pPr>
            <a:r>
              <a:rPr lang="en-US" altLang="en-US" sz="1800"/>
              <a:t>Syntax:</a:t>
            </a:r>
            <a:endParaRPr lang="en-US" altLang="en-US" sz="1800"/>
          </a:p>
          <a:p>
            <a:pPr marL="0" indent="0">
              <a:buNone/>
            </a:pPr>
            <a:r>
              <a:rPr lang="en-US" altLang="en-US" sz="1800"/>
              <a:t>for (initialization; condition; update) {</a:t>
            </a:r>
            <a:endParaRPr lang="en-US" altLang="en-US" sz="1800"/>
          </a:p>
          <a:p>
            <a:pPr marL="0" indent="0">
              <a:buNone/>
            </a:pPr>
            <a:r>
              <a:rPr lang="en-US" altLang="en-US" sz="1800"/>
              <a:t>    // code block</a:t>
            </a:r>
            <a:endParaRPr lang="en-US" altLang="en-US" sz="1800"/>
          </a:p>
          <a:p>
            <a:pPr marL="0" indent="0">
              <a:buNone/>
            </a:pPr>
            <a:r>
              <a:rPr lang="en-US" altLang="en-US" sz="1800"/>
              <a:t>}</a:t>
            </a:r>
            <a:endParaRPr lang="en-US" altLang="en-US" sz="1800"/>
          </a:p>
          <a:p>
            <a:pPr marL="0" indent="0">
              <a:buNone/>
            </a:pPr>
            <a:r>
              <a:rPr lang="en-US" altLang="en-US" sz="1800"/>
              <a:t>Example:</a:t>
            </a:r>
            <a:endParaRPr lang="en-US" altLang="en-US" sz="1800"/>
          </a:p>
          <a:p>
            <a:pPr marL="0" indent="0">
              <a:buNone/>
            </a:pPr>
            <a:r>
              <a:rPr lang="en-US" altLang="en-US" sz="1800"/>
              <a:t>for (int i = 1; i &lt;= 5; i++) {</a:t>
            </a:r>
            <a:endParaRPr lang="en-US" altLang="en-US" sz="1800"/>
          </a:p>
          <a:p>
            <a:pPr marL="0" indent="0">
              <a:buNone/>
            </a:pPr>
            <a:r>
              <a:rPr lang="en-US" altLang="en-US" sz="1800"/>
              <a:t>    printf("%d\n", i);</a:t>
            </a:r>
            <a:endParaRPr lang="en-US" altLang="en-US" sz="1800"/>
          </a:p>
          <a:p>
            <a:pPr marL="0" indent="0">
              <a:buNone/>
            </a:pPr>
            <a:r>
              <a:rPr lang="en-US" altLang="en-US" sz="1800"/>
              <a:t>}</a:t>
            </a:r>
            <a:endParaRPr lang="en-US" altLang="en-US" sz="1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329565"/>
          </a:xfrm>
        </p:spPr>
        <p:txBody>
          <a:bodyPr>
            <a:normAutofit fontScale="90000"/>
          </a:bodyPr>
          <a:p>
            <a:r>
              <a:rPr lang="en-US" sz="2400" b="1">
                <a:solidFill>
                  <a:srgbClr val="FF0000"/>
                </a:solidFill>
              </a:rPr>
              <a:t>while and do-while loop</a:t>
            </a:r>
            <a:endParaRPr lang="en-US" sz="2400" b="1">
              <a:solidFill>
                <a:srgbClr val="FF0000"/>
              </a:solidFill>
            </a:endParaRPr>
          </a:p>
        </p:txBody>
      </p:sp>
      <p:sp>
        <p:nvSpPr>
          <p:cNvPr id="3" name="Content Placeholder 2"/>
          <p:cNvSpPr>
            <a:spLocks noGrp="1"/>
          </p:cNvSpPr>
          <p:nvPr>
            <p:ph idx="1"/>
          </p:nvPr>
        </p:nvSpPr>
        <p:spPr>
          <a:xfrm>
            <a:off x="-635" y="220345"/>
            <a:ext cx="12192635" cy="6637020"/>
          </a:xfrm>
        </p:spPr>
        <p:txBody>
          <a:bodyPr>
            <a:noAutofit/>
          </a:bodyPr>
          <a:p>
            <a:pPr marL="0" indent="0">
              <a:buNone/>
            </a:pPr>
            <a:r>
              <a:rPr lang="en-US" altLang="en-US" sz="1400"/>
              <a:t> 2. While Loop</a:t>
            </a:r>
            <a:endParaRPr lang="en-US" altLang="en-US" sz="1400"/>
          </a:p>
          <a:p>
            <a:pPr marL="0" indent="0">
              <a:buNone/>
            </a:pPr>
            <a:r>
              <a:rPr lang="en-US" altLang="en-US" sz="1400"/>
              <a:t>Definition:  A while loop executes a block of code as long as the condition is true.  It checks the condition before each iteration. It is useful when the number of repetitions is not known in advance.</a:t>
            </a:r>
            <a:endParaRPr lang="en-US" altLang="en-US" sz="1400"/>
          </a:p>
          <a:p>
            <a:pPr marL="0" indent="0">
              <a:buNone/>
            </a:pPr>
            <a:r>
              <a:rPr lang="en-US" altLang="en-US" sz="1400"/>
              <a:t>Syntax:  while (condition) {</a:t>
            </a:r>
            <a:endParaRPr lang="en-US" altLang="en-US" sz="1400"/>
          </a:p>
          <a:p>
            <a:pPr marL="0" indent="0">
              <a:buNone/>
            </a:pPr>
            <a:r>
              <a:rPr lang="en-US" altLang="en-US" sz="1400"/>
              <a:t>    // code block</a:t>
            </a:r>
            <a:endParaRPr lang="en-US" altLang="en-US" sz="1400"/>
          </a:p>
          <a:p>
            <a:pPr marL="0" indent="0">
              <a:buNone/>
            </a:pPr>
            <a:r>
              <a:rPr lang="en-US" altLang="en-US" sz="1400"/>
              <a:t>}</a:t>
            </a:r>
            <a:endParaRPr lang="en-US" altLang="en-US" sz="1400"/>
          </a:p>
          <a:p>
            <a:pPr marL="0" indent="0">
              <a:buNone/>
            </a:pPr>
            <a:r>
              <a:rPr lang="en-US" altLang="en-US" sz="1400"/>
              <a:t>Example:  int i = 1;</a:t>
            </a:r>
            <a:endParaRPr lang="en-US" altLang="en-US" sz="1400"/>
          </a:p>
          <a:p>
            <a:pPr marL="0" indent="0">
              <a:buNone/>
            </a:pPr>
            <a:r>
              <a:rPr lang="en-US" altLang="en-US" sz="1400"/>
              <a:t>while (i &lt;= 5) {</a:t>
            </a:r>
            <a:endParaRPr lang="en-US" altLang="en-US" sz="1400"/>
          </a:p>
          <a:p>
            <a:pPr marL="0" indent="0">
              <a:buNone/>
            </a:pPr>
            <a:r>
              <a:rPr lang="en-US" altLang="en-US" sz="1400"/>
              <a:t>    printf("%d\n", i);</a:t>
            </a:r>
            <a:endParaRPr lang="en-US" altLang="en-US" sz="1400"/>
          </a:p>
          <a:p>
            <a:pPr marL="0" indent="0">
              <a:buNone/>
            </a:pPr>
            <a:r>
              <a:rPr lang="en-US" altLang="en-US" sz="1400"/>
              <a:t>    i++;</a:t>
            </a:r>
            <a:endParaRPr lang="en-US" altLang="en-US" sz="1400"/>
          </a:p>
          <a:p>
            <a:pPr marL="0" indent="0">
              <a:buNone/>
            </a:pPr>
            <a:r>
              <a:rPr lang="en-US" altLang="en-US" sz="1400"/>
              <a:t>}</a:t>
            </a:r>
            <a:endParaRPr lang="en-US" altLang="en-US" sz="1400"/>
          </a:p>
          <a:p>
            <a:pPr marL="0" indent="0">
              <a:buNone/>
            </a:pPr>
            <a:r>
              <a:rPr lang="zh-CN" altLang="en-US" sz="1400"/>
              <a:t>🔹</a:t>
            </a:r>
            <a:r>
              <a:rPr lang="en-US" altLang="en-US" sz="1400"/>
              <a:t> 3. Do-While Loop</a:t>
            </a:r>
            <a:endParaRPr lang="en-US" altLang="en-US" sz="1400"/>
          </a:p>
          <a:p>
            <a:pPr marL="0" indent="0">
              <a:buNone/>
            </a:pPr>
            <a:r>
              <a:rPr lang="en-US" altLang="en-US" sz="1400"/>
              <a:t>Definition:  A do-while loop executes the code block at least once, then repeats as long as the condition is true.  It checks the condition after each iteration.</a:t>
            </a:r>
            <a:endParaRPr lang="en-US" altLang="en-US" sz="1400"/>
          </a:p>
          <a:p>
            <a:pPr marL="0" indent="0">
              <a:buNone/>
            </a:pPr>
            <a:r>
              <a:rPr lang="en-US" altLang="en-US" sz="1400"/>
              <a:t>Syntax:  do {    </a:t>
            </a:r>
            <a:endParaRPr lang="en-US" altLang="en-US" sz="1400"/>
          </a:p>
          <a:p>
            <a:pPr marL="0" indent="0">
              <a:buNone/>
            </a:pPr>
            <a:r>
              <a:rPr lang="en-US" altLang="en-US" sz="1400"/>
              <a:t>    // code block</a:t>
            </a:r>
            <a:endParaRPr lang="en-US" altLang="en-US" sz="1400"/>
          </a:p>
          <a:p>
            <a:pPr marL="0" indent="0">
              <a:buNone/>
            </a:pPr>
            <a:r>
              <a:rPr lang="en-US" altLang="en-US" sz="1400"/>
              <a:t>} while (condition);</a:t>
            </a:r>
            <a:endParaRPr lang="en-US" altLang="en-US" sz="1400"/>
          </a:p>
          <a:p>
            <a:pPr marL="0" indent="0">
              <a:buNone/>
            </a:pPr>
            <a:r>
              <a:rPr lang="en-US" altLang="en-US" sz="1400"/>
              <a:t>Example:  int i = 1;</a:t>
            </a:r>
            <a:endParaRPr lang="en-US" altLang="en-US" sz="1400"/>
          </a:p>
          <a:p>
            <a:pPr marL="0" indent="0">
              <a:buNone/>
            </a:pPr>
            <a:r>
              <a:rPr lang="en-US" altLang="en-US" sz="1400"/>
              <a:t>do {</a:t>
            </a:r>
            <a:endParaRPr lang="en-US" altLang="en-US" sz="1400"/>
          </a:p>
          <a:p>
            <a:pPr marL="0" indent="0">
              <a:buNone/>
            </a:pPr>
            <a:r>
              <a:rPr lang="en-US" altLang="en-US" sz="1400"/>
              <a:t>    printf("%d\n", i);</a:t>
            </a:r>
            <a:endParaRPr lang="en-US" altLang="en-US" sz="1400"/>
          </a:p>
          <a:p>
            <a:pPr marL="0" indent="0">
              <a:buNone/>
            </a:pPr>
            <a:r>
              <a:rPr lang="en-US" altLang="en-US" sz="1400"/>
              <a:t>    i++;</a:t>
            </a:r>
            <a:endParaRPr lang="en-US" altLang="en-US" sz="1400"/>
          </a:p>
          <a:p>
            <a:pPr marL="0" indent="0">
              <a:buNone/>
            </a:pPr>
            <a:r>
              <a:rPr lang="en-US" altLang="en-US" sz="1400"/>
              <a:t>} while (i &lt;= 5);</a:t>
            </a:r>
            <a:endParaRPr lang="en-US" altLang="en-US" sz="1400"/>
          </a:p>
          <a:p>
            <a:pPr marL="0" indent="0">
              <a:buNone/>
            </a:pPr>
            <a:endParaRPr lang="en-US" altLang="en-US" sz="1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65100" y="0"/>
            <a:ext cx="10515600" cy="373380"/>
          </a:xfrm>
        </p:spPr>
        <p:txBody>
          <a:bodyPr>
            <a:noAutofit/>
          </a:bodyPr>
          <a:p>
            <a:r>
              <a:rPr lang="en-US" sz="2400" b="1">
                <a:solidFill>
                  <a:srgbClr val="FF0000"/>
                </a:solidFill>
              </a:rPr>
              <a:t>Java Assignments</a:t>
            </a:r>
            <a:endParaRPr lang="en-US" sz="2400" b="1">
              <a:solidFill>
                <a:srgbClr val="FF0000"/>
              </a:solidFill>
            </a:endParaRPr>
          </a:p>
        </p:txBody>
      </p:sp>
      <p:sp>
        <p:nvSpPr>
          <p:cNvPr id="3" name="Content Placeholder 2"/>
          <p:cNvSpPr>
            <a:spLocks noGrp="1"/>
          </p:cNvSpPr>
          <p:nvPr>
            <p:ph idx="1"/>
          </p:nvPr>
        </p:nvSpPr>
        <p:spPr>
          <a:xfrm>
            <a:off x="635" y="373380"/>
            <a:ext cx="11880850" cy="6372860"/>
          </a:xfrm>
        </p:spPr>
        <p:txBody>
          <a:bodyPr>
            <a:normAutofit fontScale="65000"/>
          </a:bodyPr>
          <a:p>
            <a:pPr marL="0" indent="0">
              <a:buNone/>
            </a:pPr>
            <a:r>
              <a:rPr lang="en-US" altLang="en-US"/>
              <a:t> Decision-Making Statements (1–10)</a:t>
            </a:r>
            <a:endParaRPr lang="en-US" altLang="en-US"/>
          </a:p>
          <a:p>
            <a:pPr marL="342900" indent="-342900">
              <a:buFont typeface="+mj-lt"/>
              <a:buAutoNum type="arabicPeriod"/>
            </a:pPr>
            <a:r>
              <a:rPr lang="en-US" altLang="en-US"/>
              <a:t>Write a program to check if a number is positive, negative, or zero using if-else.</a:t>
            </a:r>
            <a:endParaRPr lang="en-US" altLang="en-US"/>
          </a:p>
          <a:p>
            <a:pPr marL="342900" indent="-342900">
              <a:buFont typeface="+mj-lt"/>
              <a:buAutoNum type="arabicPeriod"/>
            </a:pPr>
            <a:r>
              <a:rPr lang="en-US" altLang="en-US"/>
              <a:t>Take a number from the user and check if it is divisible by 5 and 10 or nto using an if-else statement</a:t>
            </a:r>
            <a:endParaRPr lang="en-US" altLang="en-US"/>
          </a:p>
          <a:p>
            <a:pPr marL="342900" indent="-342900">
              <a:buFont typeface="+mj-lt"/>
              <a:buAutoNum type="arabicPeriod"/>
            </a:pPr>
            <a:r>
              <a:rPr lang="en-US" altLang="en-US"/>
              <a:t>Accept three numbers and print the largest using an if-else ladder.</a:t>
            </a:r>
            <a:endParaRPr lang="en-US" altLang="en-US"/>
          </a:p>
          <a:p>
            <a:pPr marL="342900" indent="-342900">
              <a:buFont typeface="+mj-lt"/>
              <a:buAutoNum type="arabicPeriod"/>
            </a:pPr>
            <a:r>
              <a:rPr lang="en-US" altLang="en-US"/>
              <a:t>Check if a year is a leap year or not.</a:t>
            </a:r>
            <a:endParaRPr lang="en-US" altLang="en-US"/>
          </a:p>
          <a:p>
            <a:pPr marL="342900" indent="-342900">
              <a:buFont typeface="+mj-lt"/>
              <a:buAutoNum type="arabicPeriod"/>
            </a:pPr>
            <a:r>
              <a:rPr lang="en-US" altLang="en-US"/>
              <a:t>Take a character input and check if it is a vowel or consonant using switch-case.</a:t>
            </a:r>
            <a:endParaRPr lang="en-US" altLang="en-US"/>
          </a:p>
          <a:p>
            <a:pPr marL="342900" indent="-342900">
              <a:buFont typeface="+mj-lt"/>
              <a:buAutoNum type="arabicPeriod"/>
            </a:pPr>
            <a:r>
              <a:rPr lang="en-US" altLang="en-US"/>
              <a:t>Write a program to check whether a given number is check number is divisible by these two numbers 5 and 11.</a:t>
            </a:r>
            <a:endParaRPr lang="en-US" altLang="en-US"/>
          </a:p>
          <a:p>
            <a:pPr marL="342900" indent="-342900">
              <a:buFont typeface="+mj-lt"/>
              <a:buAutoNum type="arabicPeriod"/>
            </a:pPr>
            <a:r>
              <a:rPr lang="en-US" altLang="en-US"/>
              <a:t>Input marks of a student and display grade using else-if ladder:</a:t>
            </a:r>
            <a:endParaRPr lang="en-US" altLang="en-US"/>
          </a:p>
          <a:p>
            <a:pPr marL="0" indent="457200">
              <a:buFont typeface="+mj-lt"/>
              <a:buNone/>
            </a:pPr>
            <a:r>
              <a:rPr lang="en-US" altLang="en-US"/>
              <a:t>90–100: A</a:t>
            </a:r>
            <a:endParaRPr lang="en-US" altLang="en-US"/>
          </a:p>
          <a:p>
            <a:pPr marL="0" indent="457200">
              <a:buNone/>
            </a:pPr>
            <a:r>
              <a:rPr lang="en-US" altLang="en-US"/>
              <a:t>80–89: B</a:t>
            </a:r>
            <a:endParaRPr lang="en-US" altLang="en-US"/>
          </a:p>
          <a:p>
            <a:pPr marL="0" indent="457200">
              <a:buNone/>
            </a:pPr>
            <a:r>
              <a:rPr lang="en-US" altLang="en-US"/>
              <a:t>70–79: C</a:t>
            </a:r>
            <a:endParaRPr lang="en-US" altLang="en-US"/>
          </a:p>
          <a:p>
            <a:pPr marL="0" indent="457200">
              <a:buNone/>
            </a:pPr>
            <a:r>
              <a:rPr lang="en-US" altLang="en-US"/>
              <a:t>60–69: D</a:t>
            </a:r>
            <a:endParaRPr lang="en-US" altLang="en-US"/>
          </a:p>
          <a:p>
            <a:pPr marL="0" indent="457200">
              <a:buNone/>
            </a:pPr>
            <a:r>
              <a:rPr lang="en-US" altLang="en-US"/>
              <a:t>Below 60: F</a:t>
            </a:r>
            <a:endParaRPr lang="en-US" altLang="en-US"/>
          </a:p>
          <a:p>
            <a:pPr marL="0" indent="457200">
              <a:buNone/>
            </a:pPr>
            <a:endParaRPr lang="en-US" altLang="en-US"/>
          </a:p>
          <a:p>
            <a:pPr marL="342900" indent="-342900">
              <a:buAutoNum type="arabicPeriod"/>
            </a:pPr>
            <a:r>
              <a:rPr lang="en-US" altLang="en-US"/>
              <a:t>Take a day number (1 to 7) and print the day name using switch-case.</a:t>
            </a:r>
            <a:endParaRPr lang="en-US" altLang="en-US"/>
          </a:p>
          <a:p>
            <a:pPr marL="342900" indent="-342900">
              <a:buFont typeface="+mj-lt"/>
              <a:buAutoNum type="arabicPeriod"/>
            </a:pPr>
            <a:r>
              <a:rPr lang="en-US" altLang="en-US"/>
              <a:t>Accept the month number (1–12) and print the number of days in it using switch-case.</a:t>
            </a:r>
            <a:endParaRPr lang="en-US" altLang="en-US"/>
          </a:p>
          <a:p>
            <a:pPr marL="342900" indent="-342900">
              <a:buFont typeface="+mj-lt"/>
              <a:buAutoNum type="arabicPeriod"/>
            </a:pPr>
            <a:r>
              <a:rPr lang="en-US" altLang="en-US"/>
              <a:t>Input a character and check if it is an uppercase letter, lowercase letter, digit, or special character.</a:t>
            </a:r>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0015" y="102870"/>
            <a:ext cx="10515600" cy="623570"/>
          </a:xfrm>
        </p:spPr>
        <p:txBody>
          <a:bodyPr>
            <a:noAutofit/>
          </a:bodyPr>
          <a:p>
            <a:r>
              <a:rPr lang="en-US" sz="2000" b="1">
                <a:solidFill>
                  <a:srgbClr val="FF0000"/>
                </a:solidFill>
                <a:latin typeface="Cambria" panose="02040503050406030204" charset="0"/>
                <a:cs typeface="Cambria" panose="02040503050406030204" charset="0"/>
              </a:rPr>
              <a:t>Looping Statements Assignments</a:t>
            </a:r>
            <a:endParaRPr lang="en-US" sz="2000" b="1">
              <a:solidFill>
                <a:srgbClr val="FF0000"/>
              </a:solidFill>
              <a:latin typeface="Cambria" panose="02040503050406030204" charset="0"/>
              <a:cs typeface="Cambria" panose="02040503050406030204" charset="0"/>
            </a:endParaRPr>
          </a:p>
        </p:txBody>
      </p:sp>
      <p:sp>
        <p:nvSpPr>
          <p:cNvPr id="3" name="Content Placeholder 2"/>
          <p:cNvSpPr>
            <a:spLocks noGrp="1"/>
          </p:cNvSpPr>
          <p:nvPr>
            <p:ph idx="1"/>
          </p:nvPr>
        </p:nvSpPr>
        <p:spPr>
          <a:xfrm>
            <a:off x="222885" y="726440"/>
            <a:ext cx="11468100" cy="5977255"/>
          </a:xfrm>
        </p:spPr>
        <p:txBody>
          <a:bodyPr/>
          <a:p>
            <a:r>
              <a:rPr lang="zh-CN" altLang="en-US" sz="1800"/>
              <a:t>🔹</a:t>
            </a:r>
            <a:r>
              <a:rPr lang="en-US" altLang="en-US" sz="1800"/>
              <a:t> Looping Statements (11–20)</a:t>
            </a:r>
            <a:endParaRPr lang="en-US" altLang="en-US" sz="1800"/>
          </a:p>
          <a:p>
            <a:endParaRPr lang="en-US" altLang="en-US" sz="1800"/>
          </a:p>
          <a:p>
            <a:pPr marL="457200" indent="-457200">
              <a:buAutoNum type="arabicPeriod"/>
            </a:pPr>
            <a:r>
              <a:rPr lang="en-US" altLang="en-US" sz="1800"/>
              <a:t>Print numbers from 1 to 100 using a for loop.</a:t>
            </a:r>
            <a:endParaRPr lang="en-US" altLang="en-US" sz="1800"/>
          </a:p>
          <a:p>
            <a:pPr marL="457200" indent="-457200">
              <a:buAutoNum type="arabicPeriod"/>
            </a:pPr>
            <a:r>
              <a:rPr lang="en-US" altLang="en-US" sz="1800"/>
              <a:t>Print the table of a given number (e.g., 7 × 1 to 7 × 10) using a while loop.</a:t>
            </a:r>
            <a:endParaRPr lang="en-US" altLang="en-US" sz="1800"/>
          </a:p>
          <a:p>
            <a:pPr marL="457200" indent="-457200">
              <a:buAutoNum type="arabicPeriod"/>
            </a:pPr>
            <a:r>
              <a:rPr lang="en-US" altLang="en-US" sz="1800"/>
              <a:t>Print the sum of first N natural numbers using a for loop.</a:t>
            </a:r>
            <a:endParaRPr lang="en-US" altLang="en-US" sz="1800"/>
          </a:p>
          <a:p>
            <a:pPr marL="457200" indent="-457200">
              <a:buAutoNum type="arabicPeriod"/>
            </a:pPr>
            <a:r>
              <a:rPr lang="en-US" altLang="en-US" sz="1800"/>
              <a:t>Find the factorial of a given number using a while loop. -&gt;if input 5-&gt;then factorial is:1*2*3*4*5 =</a:t>
            </a:r>
            <a:endParaRPr lang="en-US" altLang="en-US" sz="1800"/>
          </a:p>
          <a:p>
            <a:pPr marL="457200" indent="-457200">
              <a:buAutoNum type="arabicPeriod"/>
            </a:pPr>
            <a:r>
              <a:rPr lang="en-US" altLang="en-US" sz="1800"/>
              <a:t>Check whether a number is prime or not using a for loop.</a:t>
            </a:r>
            <a:endParaRPr lang="en-US" altLang="en-US" sz="1800"/>
          </a:p>
          <a:p>
            <a:pPr marL="457200" indent="-457200">
              <a:buAutoNum type="arabicPeriod"/>
            </a:pPr>
            <a:r>
              <a:rPr lang="en-US" altLang="en-US" sz="1800"/>
              <a:t>Print all even numbers between 1 and 50 using a for loop.</a:t>
            </a:r>
            <a:endParaRPr lang="en-US" altLang="en-US" sz="1800"/>
          </a:p>
          <a:p>
            <a:pPr marL="457200" indent="-457200">
              <a:buAutoNum type="arabicPeriod"/>
            </a:pPr>
            <a:r>
              <a:rPr lang="en-US" altLang="en-US" sz="1800"/>
              <a:t>Use a do-while loop to ask the user to enter a number until they enter zero.</a:t>
            </a:r>
            <a:endParaRPr lang="en-US" altLang="en-US" sz="1800"/>
          </a:p>
          <a:p>
            <a:pPr marL="457200" indent="-457200">
              <a:buAutoNum type="arabicPeriod"/>
            </a:pPr>
            <a:endParaRPr lang="en-US" altLang="en-US" sz="3200"/>
          </a:p>
          <a:p>
            <a:endParaRPr lang="en-US" altLang="en-US" sz="3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346710"/>
          </a:xfrm>
        </p:spPr>
        <p:txBody>
          <a:bodyPr>
            <a:normAutofit fontScale="90000"/>
          </a:bodyPr>
          <a:p>
            <a:r>
              <a:rPr lang="en-US" sz="2400" b="1">
                <a:solidFill>
                  <a:srgbClr val="FF0000"/>
                </a:solidFill>
              </a:rPr>
              <a:t>Java Memory Management</a:t>
            </a:r>
            <a:endParaRPr lang="en-US" sz="2400" b="1">
              <a:solidFill>
                <a:srgbClr val="FF0000"/>
              </a:solidFill>
            </a:endParaRPr>
          </a:p>
        </p:txBody>
      </p:sp>
      <p:sp>
        <p:nvSpPr>
          <p:cNvPr id="3" name="Content Placeholder 2"/>
          <p:cNvSpPr>
            <a:spLocks noGrp="1"/>
          </p:cNvSpPr>
          <p:nvPr>
            <p:ph idx="1"/>
          </p:nvPr>
        </p:nvSpPr>
        <p:spPr>
          <a:xfrm>
            <a:off x="0" y="346710"/>
            <a:ext cx="12191365" cy="6376035"/>
          </a:xfrm>
        </p:spPr>
        <p:txBody>
          <a:bodyPr>
            <a:noAutofit/>
          </a:bodyPr>
          <a:p>
            <a:pPr marL="0" indent="0">
              <a:buNone/>
            </a:pPr>
            <a:r>
              <a:rPr lang="en-US" altLang="en-US" sz="1800"/>
              <a:t>1. Heap Memory</a:t>
            </a:r>
            <a:endParaRPr lang="en-US" altLang="en-US" sz="1800"/>
          </a:p>
          <a:p>
            <a:pPr marL="0" indent="0">
              <a:buNone/>
            </a:pPr>
            <a:r>
              <a:rPr lang="en-US" altLang="en-US" sz="1800"/>
              <a:t>Purpose: Stores objects and class instances.  Managed by: Garbage Collector.</a:t>
            </a:r>
            <a:endParaRPr lang="en-US" altLang="en-US" sz="1800"/>
          </a:p>
          <a:p>
            <a:pPr marL="0" indent="0">
              <a:buNone/>
            </a:pPr>
            <a:r>
              <a:rPr lang="en-US" altLang="en-US" sz="1800"/>
              <a:t>Divided into:  Young Generation (Young Gen): For short-lived objects.</a:t>
            </a:r>
            <a:endParaRPr lang="en-US" altLang="en-US" sz="1800"/>
          </a:p>
          <a:p>
            <a:pPr marL="0" indent="0">
              <a:buNone/>
            </a:pPr>
            <a:r>
              <a:rPr lang="en-US" altLang="en-US" sz="1800"/>
              <a:t>Default Size  Can vary by JVM implementation and system (32-bit vs 64-bit), typically:</a:t>
            </a:r>
            <a:endParaRPr lang="en-US" altLang="en-US" sz="1800"/>
          </a:p>
          <a:p>
            <a:pPr marL="0" indent="0">
              <a:buNone/>
            </a:pPr>
            <a:r>
              <a:rPr lang="en-US" altLang="en-US" sz="1800"/>
              <a:t>256 MB to several GB (tunable with -Xms, -Xmx)</a:t>
            </a:r>
            <a:endParaRPr lang="en-US" altLang="en-US" sz="1800"/>
          </a:p>
          <a:p>
            <a:pPr marL="0" indent="0">
              <a:buNone/>
            </a:pPr>
            <a:r>
              <a:rPr lang="en-US" altLang="en-US" sz="1800"/>
              <a:t>Example: Min 512MB, Max 2GB.</a:t>
            </a:r>
            <a:endParaRPr lang="en-US" altLang="en-US" sz="1800"/>
          </a:p>
          <a:p>
            <a:pPr marL="0" indent="0">
              <a:buNone/>
            </a:pPr>
            <a:endParaRPr lang="en-US" altLang="en-US" sz="1800"/>
          </a:p>
          <a:p>
            <a:pPr marL="0" indent="0">
              <a:buNone/>
            </a:pPr>
            <a:r>
              <a:rPr lang="en-US" altLang="en-US" sz="1800"/>
              <a:t>2. Stack Memory</a:t>
            </a:r>
            <a:endParaRPr lang="en-US" altLang="en-US" sz="1800"/>
          </a:p>
          <a:p>
            <a:pPr marL="0" indent="0">
              <a:buNone/>
            </a:pPr>
            <a:r>
              <a:rPr lang="en-US" altLang="en-US" sz="1800"/>
              <a:t>Purpose: Stores method call frames, local variables, and references.  Managed by: JVM for each thread (each thread gets its own stack).</a:t>
            </a:r>
            <a:endParaRPr lang="en-US" altLang="en-US" sz="1800"/>
          </a:p>
          <a:p>
            <a:pPr marL="0" indent="0">
              <a:buNone/>
            </a:pPr>
            <a:r>
              <a:rPr lang="en-US" altLang="en-US" sz="1800"/>
              <a:t>Size: Typically 512 KB to 1 MB per thread</a:t>
            </a:r>
            <a:endParaRPr lang="en-US" altLang="en-US" sz="1800"/>
          </a:p>
          <a:p>
            <a:pPr marL="0" indent="0">
              <a:buNone/>
            </a:pPr>
            <a:endParaRPr lang="en-US" altLang="en-US" sz="1800"/>
          </a:p>
          <a:p>
            <a:pPr marL="0" indent="0">
              <a:buNone/>
            </a:pPr>
            <a:r>
              <a:rPr lang="en-US" altLang="en-US" sz="1800"/>
              <a:t>3. Method Area (Metaspace in Java 8+)  Purpose: Stores class metadata, method definitions, static variables.</a:t>
            </a:r>
            <a:endParaRPr lang="en-US" altLang="en-US" sz="1800"/>
          </a:p>
          <a:p>
            <a:pPr marL="0" indent="0">
              <a:buNone/>
            </a:pPr>
            <a:r>
              <a:rPr lang="en-US" altLang="en-US" sz="1800"/>
              <a:t>Replaced: PermGen (pre-Java 8)</a:t>
            </a:r>
            <a:endParaRPr lang="en-US" altLang="en-US" sz="1800"/>
          </a:p>
          <a:p>
            <a:pPr marL="0" indent="0">
              <a:buNone/>
            </a:pPr>
            <a:r>
              <a:rPr lang="en-US" altLang="en-US" sz="1800"/>
              <a:t>Size:  Grows as needed (no default max size unless set)</a:t>
            </a:r>
            <a:endParaRPr lang="en-US" altLang="en-US" sz="1800"/>
          </a:p>
          <a:p>
            <a:pPr marL="0" indent="0">
              <a:buNone/>
            </a:pPr>
            <a:r>
              <a:rPr lang="en-US" altLang="en-US" sz="1800"/>
              <a:t>Can be controlled using:  </a:t>
            </a:r>
            <a:endParaRPr lang="en-US" altLang="en-US" sz="18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434340"/>
          </a:xfrm>
        </p:spPr>
        <p:txBody>
          <a:bodyPr>
            <a:normAutofit fontScale="90000"/>
          </a:bodyPr>
          <a:p>
            <a:r>
              <a:rPr lang="en-US" sz="2400" b="1">
                <a:solidFill>
                  <a:srgbClr val="FF0000"/>
                </a:solidFill>
                <a:latin typeface="Cambria" panose="02040503050406030204" charset="0"/>
                <a:cs typeface="Cambria" panose="02040503050406030204" charset="0"/>
              </a:rPr>
              <a:t>Java Memory Management</a:t>
            </a:r>
            <a:endParaRPr lang="en-US" sz="2400" b="1">
              <a:solidFill>
                <a:srgbClr val="FF0000"/>
              </a:solidFill>
              <a:latin typeface="Cambria" panose="02040503050406030204" charset="0"/>
              <a:cs typeface="Cambria" panose="02040503050406030204" charset="0"/>
            </a:endParaRPr>
          </a:p>
        </p:txBody>
      </p:sp>
      <p:sp>
        <p:nvSpPr>
          <p:cNvPr id="3" name="Content Placeholder 2"/>
          <p:cNvSpPr>
            <a:spLocks noGrp="1"/>
          </p:cNvSpPr>
          <p:nvPr>
            <p:ph idx="1"/>
          </p:nvPr>
        </p:nvSpPr>
        <p:spPr>
          <a:xfrm>
            <a:off x="160655" y="434340"/>
            <a:ext cx="12031345" cy="6299835"/>
          </a:xfrm>
        </p:spPr>
        <p:txBody>
          <a:bodyPr/>
          <a:p>
            <a:endParaRPr lang="en-US" altLang="en-US" sz="2400"/>
          </a:p>
          <a:p>
            <a:endParaRPr lang="en-US" altLang="en-US" sz="2400"/>
          </a:p>
          <a:p>
            <a:endParaRPr lang="en-US" altLang="en-US" sz="2400"/>
          </a:p>
          <a:p>
            <a:endParaRPr lang="en-US" altLang="en-US" sz="2400"/>
          </a:p>
          <a:p>
            <a:endParaRPr lang="en-US" altLang="en-US" sz="1800"/>
          </a:p>
          <a:p>
            <a:r>
              <a:rPr lang="en-US" altLang="en-US" sz="1800"/>
              <a:t>Heap is where almost all objects live → main GC target.</a:t>
            </a:r>
            <a:endParaRPr lang="en-US" altLang="en-US" sz="1800"/>
          </a:p>
          <a:p>
            <a:r>
              <a:rPr lang="en-US" altLang="en-US" sz="1800"/>
              <a:t>Stack is created per thread → small, fast, cleared when method exits.</a:t>
            </a:r>
            <a:endParaRPr lang="en-US" altLang="en-US" sz="1800"/>
          </a:p>
          <a:p>
            <a:r>
              <a:rPr lang="en-US" altLang="en-US" sz="1800"/>
              <a:t>Metaspace replaced PermGen in Java 8 → stores class structure, static methods.</a:t>
            </a:r>
            <a:endParaRPr lang="en-US" altLang="en-US" sz="1800"/>
          </a:p>
          <a:p>
            <a:endParaRPr lang="en-US" altLang="en-US" sz="2400"/>
          </a:p>
          <a:p>
            <a:endParaRPr lang="en-US" altLang="en-US" sz="2400"/>
          </a:p>
        </p:txBody>
      </p:sp>
      <p:graphicFrame>
        <p:nvGraphicFramePr>
          <p:cNvPr id="4" name="Table 3"/>
          <p:cNvGraphicFramePr/>
          <p:nvPr>
            <p:custDataLst>
              <p:tags r:id="rId1"/>
            </p:custDataLst>
          </p:nvPr>
        </p:nvGraphicFramePr>
        <p:xfrm>
          <a:off x="160655" y="548640"/>
          <a:ext cx="11800205" cy="1485900"/>
        </p:xfrm>
        <a:graphic>
          <a:graphicData uri="http://schemas.openxmlformats.org/drawingml/2006/table">
            <a:tbl>
              <a:tblPr/>
              <a:tblGrid>
                <a:gridCol w="1595120"/>
                <a:gridCol w="3325495"/>
                <a:gridCol w="3701415"/>
                <a:gridCol w="3178175"/>
              </a:tblGrid>
              <a:tr h="297180">
                <a:tc>
                  <a:txBody>
                    <a:bodyPr/>
                    <a:p>
                      <a:r>
                        <a:rPr sz="1800"/>
                        <a:t>Memory Area</a:t>
                      </a:r>
                      <a:endParaRPr sz="1800"/>
                    </a:p>
                  </a:txBody>
                  <a:tcPr marL="0" marR="0" marT="0" marB="0" anchor="ctr" anchorCtr="0">
                    <a:lnL>
                      <a:noFill/>
                    </a:lnL>
                    <a:lnR>
                      <a:noFill/>
                    </a:lnR>
                    <a:lnT>
                      <a:noFill/>
                    </a:lnT>
                    <a:lnB>
                      <a:noFill/>
                    </a:lnB>
                    <a:noFill/>
                  </a:tcPr>
                </a:tc>
                <a:tc>
                  <a:txBody>
                    <a:bodyPr/>
                    <a:p>
                      <a:r>
                        <a:rPr sz="1800"/>
                        <a:t>What It Does</a:t>
                      </a:r>
                      <a:endParaRPr sz="1800"/>
                    </a:p>
                  </a:txBody>
                  <a:tcPr marL="0" marR="0" marT="0" marB="0" anchor="ctr" anchorCtr="0">
                    <a:lnL>
                      <a:noFill/>
                    </a:lnL>
                    <a:lnR>
                      <a:noFill/>
                    </a:lnR>
                    <a:lnT>
                      <a:noFill/>
                    </a:lnT>
                    <a:lnB>
                      <a:noFill/>
                    </a:lnB>
                    <a:noFill/>
                  </a:tcPr>
                </a:tc>
                <a:tc>
                  <a:txBody>
                    <a:bodyPr/>
                    <a:p>
                      <a:r>
                        <a:rPr sz="1800"/>
                        <a:t>Importance</a:t>
                      </a:r>
                      <a:endParaRPr sz="1800"/>
                    </a:p>
                  </a:txBody>
                  <a:tcPr marL="0" marR="0" marT="0" marB="0" anchor="ctr" anchorCtr="0">
                    <a:lnL>
                      <a:noFill/>
                    </a:lnL>
                    <a:lnR>
                      <a:noFill/>
                    </a:lnR>
                    <a:lnT>
                      <a:noFill/>
                    </a:lnT>
                    <a:lnB>
                      <a:noFill/>
                    </a:lnB>
                    <a:noFill/>
                  </a:tcPr>
                </a:tc>
                <a:tc>
                  <a:txBody>
                    <a:bodyPr/>
                    <a:p>
                      <a:r>
                        <a:rPr sz="1800"/>
                        <a:t>Config Option</a:t>
                      </a:r>
                      <a:endParaRPr sz="1800"/>
                    </a:p>
                  </a:txBody>
                  <a:tcPr marL="0" marR="0" marT="0" marB="0" anchor="ctr" anchorCtr="0">
                    <a:lnL>
                      <a:noFill/>
                    </a:lnL>
                    <a:lnR>
                      <a:noFill/>
                    </a:lnR>
                    <a:lnT>
                      <a:noFill/>
                    </a:lnT>
                    <a:lnB>
                      <a:noFill/>
                    </a:lnB>
                    <a:noFill/>
                  </a:tcPr>
                </a:tc>
              </a:tr>
              <a:tr h="297180">
                <a:tc>
                  <a:txBody>
                    <a:bodyPr/>
                    <a:p>
                      <a:r>
                        <a:rPr sz="1800"/>
                        <a:t>Heap</a:t>
                      </a:r>
                      <a:endParaRPr sz="1800"/>
                    </a:p>
                  </a:txBody>
                  <a:tcPr marL="0" marR="0" marT="0" marB="0" anchor="ctr" anchorCtr="0">
                    <a:lnL>
                      <a:noFill/>
                    </a:lnL>
                    <a:lnR>
                      <a:noFill/>
                    </a:lnR>
                    <a:lnT>
                      <a:noFill/>
                    </a:lnT>
                    <a:lnB>
                      <a:noFill/>
                    </a:lnB>
                    <a:noFill/>
                  </a:tcPr>
                </a:tc>
                <a:tc>
                  <a:txBody>
                    <a:bodyPr/>
                    <a:p>
                      <a:r>
                        <a:rPr sz="1800"/>
                        <a:t>Stores objects (new keyword)</a:t>
                      </a:r>
                      <a:endParaRPr sz="1800"/>
                    </a:p>
                  </a:txBody>
                  <a:tcPr marL="0" marR="0" marT="0" marB="0" anchor="ctr" anchorCtr="0">
                    <a:lnL>
                      <a:noFill/>
                    </a:lnL>
                    <a:lnR>
                      <a:noFill/>
                    </a:lnR>
                    <a:lnT>
                      <a:noFill/>
                    </a:lnT>
                    <a:lnB>
                      <a:noFill/>
                    </a:lnB>
                    <a:noFill/>
                  </a:tcPr>
                </a:tc>
                <a:tc>
                  <a:txBody>
                    <a:bodyPr/>
                    <a:p>
                      <a:r>
                        <a:rPr sz="1800"/>
                        <a:t>Most important, managed by GC</a:t>
                      </a:r>
                      <a:endParaRPr sz="1800"/>
                    </a:p>
                  </a:txBody>
                  <a:tcPr marL="0" marR="0" marT="0" marB="0" anchor="ctr" anchorCtr="0">
                    <a:lnL>
                      <a:noFill/>
                    </a:lnL>
                    <a:lnR>
                      <a:noFill/>
                    </a:lnR>
                    <a:lnT>
                      <a:noFill/>
                    </a:lnT>
                    <a:lnB>
                      <a:noFill/>
                    </a:lnB>
                    <a:noFill/>
                  </a:tcPr>
                </a:tc>
                <a:tc>
                  <a:txBody>
                    <a:bodyPr/>
                    <a:p>
                      <a:r>
                        <a:rPr sz="1800"/>
                        <a:t>-Xms, -Xmx</a:t>
                      </a:r>
                      <a:endParaRPr sz="1800"/>
                    </a:p>
                  </a:txBody>
                  <a:tcPr marL="0" marR="0" marT="0" marB="0" anchor="ctr" anchorCtr="0">
                    <a:lnL>
                      <a:noFill/>
                    </a:lnL>
                    <a:lnR>
                      <a:noFill/>
                    </a:lnR>
                    <a:lnT>
                      <a:noFill/>
                    </a:lnT>
                    <a:lnB>
                      <a:noFill/>
                    </a:lnB>
                    <a:noFill/>
                  </a:tcPr>
                </a:tc>
              </a:tr>
              <a:tr h="297180">
                <a:tc>
                  <a:txBody>
                    <a:bodyPr/>
                    <a:p>
                      <a:r>
                        <a:rPr sz="1800"/>
                        <a:t>Stack</a:t>
                      </a:r>
                      <a:endParaRPr sz="1800"/>
                    </a:p>
                  </a:txBody>
                  <a:tcPr marL="0" marR="0" marT="0" marB="0" anchor="ctr" anchorCtr="0">
                    <a:lnL>
                      <a:noFill/>
                    </a:lnL>
                    <a:lnR>
                      <a:noFill/>
                    </a:lnR>
                    <a:lnT>
                      <a:noFill/>
                    </a:lnT>
                    <a:lnB>
                      <a:noFill/>
                    </a:lnB>
                    <a:noFill/>
                  </a:tcPr>
                </a:tc>
                <a:tc>
                  <a:txBody>
                    <a:bodyPr/>
                    <a:p>
                      <a:r>
                        <a:rPr sz="1800"/>
                        <a:t>Stores method calls, local vars</a:t>
                      </a:r>
                      <a:endParaRPr sz="1800"/>
                    </a:p>
                  </a:txBody>
                  <a:tcPr marL="0" marR="0" marT="0" marB="0" anchor="ctr" anchorCtr="0">
                    <a:lnL>
                      <a:noFill/>
                    </a:lnL>
                    <a:lnR>
                      <a:noFill/>
                    </a:lnR>
                    <a:lnT>
                      <a:noFill/>
                    </a:lnT>
                    <a:lnB>
                      <a:noFill/>
                    </a:lnB>
                    <a:noFill/>
                  </a:tcPr>
                </a:tc>
                <a:tc>
                  <a:txBody>
                    <a:bodyPr/>
                    <a:p>
                      <a:r>
                        <a:rPr sz="1800"/>
                        <a:t>Fast access, thread-specific</a:t>
                      </a:r>
                      <a:endParaRPr sz="1800"/>
                    </a:p>
                  </a:txBody>
                  <a:tcPr marL="0" marR="0" marT="0" marB="0" anchor="ctr" anchorCtr="0">
                    <a:lnL>
                      <a:noFill/>
                    </a:lnL>
                    <a:lnR>
                      <a:noFill/>
                    </a:lnR>
                    <a:lnT>
                      <a:noFill/>
                    </a:lnT>
                    <a:lnB>
                      <a:noFill/>
                    </a:lnB>
                    <a:noFill/>
                  </a:tcPr>
                </a:tc>
                <a:tc>
                  <a:txBody>
                    <a:bodyPr/>
                    <a:p>
                      <a:r>
                        <a:rPr sz="1800"/>
                        <a:t>-Xss</a:t>
                      </a:r>
                      <a:endParaRPr sz="1800"/>
                    </a:p>
                  </a:txBody>
                  <a:tcPr marL="0" marR="0" marT="0" marB="0" anchor="ctr" anchorCtr="0">
                    <a:lnL>
                      <a:noFill/>
                    </a:lnL>
                    <a:lnR>
                      <a:noFill/>
                    </a:lnR>
                    <a:lnT>
                      <a:noFill/>
                    </a:lnT>
                    <a:lnB>
                      <a:noFill/>
                    </a:lnB>
                    <a:noFill/>
                  </a:tcPr>
                </a:tc>
              </a:tr>
              <a:tr h="594360">
                <a:tc>
                  <a:txBody>
                    <a:bodyPr/>
                    <a:p>
                      <a:r>
                        <a:rPr sz="1800"/>
                        <a:t>Metaspace</a:t>
                      </a:r>
                      <a:endParaRPr sz="1800"/>
                    </a:p>
                  </a:txBody>
                  <a:tcPr marL="0" marR="0" marT="0" marB="0" anchor="ctr" anchorCtr="0">
                    <a:lnL>
                      <a:noFill/>
                    </a:lnL>
                    <a:lnR>
                      <a:noFill/>
                    </a:lnR>
                    <a:lnT>
                      <a:noFill/>
                    </a:lnT>
                    <a:lnB>
                      <a:noFill/>
                    </a:lnB>
                    <a:noFill/>
                  </a:tcPr>
                </a:tc>
                <a:tc>
                  <a:txBody>
                    <a:bodyPr/>
                    <a:p>
                      <a:r>
                        <a:rPr sz="1800"/>
                        <a:t>Stores class definitions, metadata</a:t>
                      </a:r>
                      <a:endParaRPr sz="1800"/>
                    </a:p>
                  </a:txBody>
                  <a:tcPr marL="0" marR="0" marT="0" marB="0" anchor="ctr" anchorCtr="0">
                    <a:lnL>
                      <a:noFill/>
                    </a:lnL>
                    <a:lnR>
                      <a:noFill/>
                    </a:lnR>
                    <a:lnT>
                      <a:noFill/>
                    </a:lnT>
                    <a:lnB>
                      <a:noFill/>
                    </a:lnB>
                    <a:noFill/>
                  </a:tcPr>
                </a:tc>
                <a:tc>
                  <a:txBody>
                    <a:bodyPr/>
                    <a:p>
                      <a:r>
                        <a:rPr sz="1800"/>
                        <a:t>Needed for class loading (post-Java 8)</a:t>
                      </a:r>
                      <a:endParaRPr sz="1800"/>
                    </a:p>
                  </a:txBody>
                  <a:tcPr marL="0" marR="0" marT="0" marB="0" anchor="ctr" anchorCtr="0">
                    <a:lnL>
                      <a:noFill/>
                    </a:lnL>
                    <a:lnR>
                      <a:noFill/>
                    </a:lnR>
                    <a:lnT>
                      <a:noFill/>
                    </a:lnT>
                    <a:lnB>
                      <a:noFill/>
                    </a:lnB>
                    <a:noFill/>
                  </a:tcPr>
                </a:tc>
                <a:tc>
                  <a:txBody>
                    <a:bodyPr/>
                    <a:p>
                      <a:r>
                        <a:rPr sz="1800"/>
                        <a:t>-XX:MetaspaceSize, -XX:MaxMetaspaceSize</a:t>
                      </a:r>
                      <a:endParaRPr sz="18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9225" y="0"/>
            <a:ext cx="10515600" cy="315595"/>
          </a:xfrm>
        </p:spPr>
        <p:txBody>
          <a:bodyPr>
            <a:normAutofit fontScale="90000"/>
          </a:bodyPr>
          <a:p>
            <a:r>
              <a:rPr lang="en-US" sz="2400" b="1">
                <a:solidFill>
                  <a:srgbClr val="FF0000"/>
                </a:solidFill>
              </a:rPr>
              <a:t>Java Methods</a:t>
            </a:r>
            <a:endParaRPr lang="en-US" sz="2400" b="1">
              <a:solidFill>
                <a:srgbClr val="FF0000"/>
              </a:solidFill>
            </a:endParaRPr>
          </a:p>
        </p:txBody>
      </p:sp>
      <p:sp>
        <p:nvSpPr>
          <p:cNvPr id="3" name="Content Placeholder 2"/>
          <p:cNvSpPr>
            <a:spLocks noGrp="1"/>
          </p:cNvSpPr>
          <p:nvPr>
            <p:ph idx="1"/>
          </p:nvPr>
        </p:nvSpPr>
        <p:spPr>
          <a:xfrm>
            <a:off x="149225" y="315595"/>
            <a:ext cx="11848465" cy="6066155"/>
          </a:xfrm>
        </p:spPr>
        <p:txBody>
          <a:bodyPr>
            <a:normAutofit lnSpcReduction="10000"/>
          </a:bodyPr>
          <a:p>
            <a:pPr marL="0" indent="0">
              <a:buNone/>
            </a:pPr>
            <a:r>
              <a:rPr lang="en-US" altLang="en-US" sz="1800"/>
              <a:t>What is a Method in Java?</a:t>
            </a:r>
            <a:endParaRPr lang="en-US" altLang="en-US" sz="1800"/>
          </a:p>
          <a:p>
            <a:pPr marL="0" indent="0">
              <a:buNone/>
            </a:pPr>
            <a:r>
              <a:rPr lang="en-US" altLang="en-US" sz="1800"/>
              <a:t>A method is a block of code that performs a specific task and can be reused. It runs only when called and may take inputs (parameters) and return a value.</a:t>
            </a:r>
            <a:endParaRPr lang="en-US" altLang="en-US" sz="1800"/>
          </a:p>
          <a:p>
            <a:pPr marL="0" indent="0">
              <a:buNone/>
            </a:pPr>
            <a:endParaRPr lang="en-US" altLang="en-US" sz="1800"/>
          </a:p>
          <a:p>
            <a:pPr marL="0" indent="0">
              <a:buNone/>
            </a:pPr>
            <a:r>
              <a:rPr lang="en-US" altLang="en-US" sz="1800" b="1"/>
              <a:t> Types of Methods in Java:</a:t>
            </a:r>
            <a:endParaRPr lang="en-US" altLang="en-US" sz="1800" b="1"/>
          </a:p>
          <a:p>
            <a:pPr marL="342900" indent="-342900">
              <a:buAutoNum type="arabicPeriod"/>
            </a:pPr>
            <a:r>
              <a:rPr lang="en-US" altLang="en-US" sz="1800"/>
              <a:t>Predefined Method</a:t>
            </a:r>
            <a:endParaRPr lang="en-US" altLang="en-US" sz="1800"/>
          </a:p>
          <a:p>
            <a:pPr marL="0" indent="0">
              <a:buNone/>
            </a:pPr>
            <a:r>
              <a:rPr lang="en-US" altLang="en-US" sz="1800"/>
              <a:t>Built-in methods provided by Java libraries (e.g., System.out.println(), Math.sqrt()).</a:t>
            </a:r>
            <a:endParaRPr lang="en-US" altLang="en-US" sz="1800"/>
          </a:p>
          <a:p>
            <a:pPr marL="0" indent="0">
              <a:buNone/>
            </a:pPr>
            <a:r>
              <a:rPr lang="en-US" altLang="en-US" sz="1800"/>
              <a:t>2 .User-defined Method</a:t>
            </a:r>
            <a:endParaRPr lang="en-US" altLang="en-US" sz="1800"/>
          </a:p>
          <a:p>
            <a:pPr marL="0" indent="0">
              <a:buNone/>
            </a:pPr>
            <a:r>
              <a:rPr lang="en-US" altLang="en-US" sz="1800"/>
              <a:t>Created by the programmer to perform specific custom tasks.</a:t>
            </a:r>
            <a:endParaRPr lang="en-US" altLang="en-US" sz="1800"/>
          </a:p>
          <a:p>
            <a:pPr marL="0" indent="0">
              <a:buNone/>
            </a:pPr>
            <a:r>
              <a:rPr lang="en-US" altLang="en-US" sz="1800"/>
              <a:t>3. Static Method</a:t>
            </a:r>
            <a:endParaRPr lang="en-US" altLang="en-US" sz="1800"/>
          </a:p>
          <a:p>
            <a:pPr marL="0" indent="0">
              <a:buNone/>
            </a:pPr>
            <a:r>
              <a:rPr lang="en-US" altLang="en-US" sz="1800"/>
              <a:t>Belongs to the class; can be called without creating an object.</a:t>
            </a:r>
            <a:endParaRPr lang="en-US" altLang="en-US" sz="1800"/>
          </a:p>
          <a:p>
            <a:pPr marL="0" indent="0">
              <a:buNone/>
            </a:pPr>
            <a:r>
              <a:rPr lang="en-US" altLang="en-US" sz="1800"/>
              <a:t>4. Non-static Method</a:t>
            </a:r>
            <a:endParaRPr lang="en-US" altLang="en-US" sz="1800"/>
          </a:p>
          <a:p>
            <a:pPr marL="0" indent="0">
              <a:buNone/>
            </a:pPr>
            <a:r>
              <a:rPr lang="en-US" altLang="en-US" sz="1800"/>
              <a:t>Belongs to an object; requires object creation to be called.</a:t>
            </a:r>
            <a:endParaRPr lang="en-US" altLang="en-US" sz="1800"/>
          </a:p>
          <a:p>
            <a:pPr marL="0" indent="0">
              <a:buNone/>
            </a:pPr>
            <a:r>
              <a:rPr lang="en-US" altLang="en-US" sz="1800"/>
              <a:t>5. Method with Parameters</a:t>
            </a:r>
            <a:endParaRPr lang="en-US" altLang="en-US" sz="1800"/>
          </a:p>
          <a:p>
            <a:pPr marL="0" indent="0">
              <a:buNone/>
            </a:pPr>
            <a:r>
              <a:rPr lang="en-US" altLang="en-US" sz="1800"/>
              <a:t>Takes input values when called to perform actions using them.</a:t>
            </a:r>
            <a:endParaRPr lang="en-US" altLang="en-US" sz="1800"/>
          </a:p>
          <a:p>
            <a:pPr marL="0" indent="0">
              <a:buNone/>
            </a:pPr>
            <a:r>
              <a:rPr lang="en-US" altLang="en-US" sz="1800"/>
              <a:t>6 .Method with Return Type</a:t>
            </a:r>
            <a:endParaRPr lang="en-US" altLang="en-US" sz="1800"/>
          </a:p>
          <a:p>
            <a:pPr marL="0" indent="0">
              <a:buNone/>
            </a:pPr>
            <a:r>
              <a:rPr lang="en-US" altLang="en-US" sz="1800"/>
              <a:t>Returns a result back to the caller (e.g., int sum() returns an integer).</a:t>
            </a:r>
            <a:endParaRPr lang="en-US" altLang="en-US" sz="1800"/>
          </a:p>
          <a:p>
            <a:pPr marL="0" indent="0">
              <a:buNone/>
            </a:pPr>
            <a:endParaRPr lang="en-US" altLang="en-US" sz="1800"/>
          </a:p>
          <a:p>
            <a:pPr marL="0" indent="0">
              <a:buNone/>
            </a:pPr>
            <a:endParaRPr lang="en-US" altLang="en-US" sz="1800"/>
          </a:p>
          <a:p>
            <a:pPr marL="0" indent="0">
              <a:buNone/>
            </a:pPr>
            <a:endParaRPr lang="en-US" altLang="en-US" sz="1800"/>
          </a:p>
          <a:p>
            <a:pPr marL="0" indent="0">
              <a:buNone/>
            </a:pPr>
            <a:endParaRPr lang="en-US" altLang="en-US" sz="1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344805"/>
          </a:xfrm>
        </p:spPr>
        <p:txBody>
          <a:bodyPr>
            <a:normAutofit fontScale="90000"/>
          </a:bodyPr>
          <a:p>
            <a:r>
              <a:rPr lang="en-US" sz="2000" b="1">
                <a:solidFill>
                  <a:srgbClr val="FF0000"/>
                </a:solidFill>
              </a:rPr>
              <a:t>Deifference Between Static And Non Static Method</a:t>
            </a:r>
            <a:endParaRPr lang="en-US" sz="2000" b="1">
              <a:solidFill>
                <a:srgbClr val="FF0000"/>
              </a:solidFill>
            </a:endParaRPr>
          </a:p>
        </p:txBody>
      </p:sp>
      <p:graphicFrame>
        <p:nvGraphicFramePr>
          <p:cNvPr id="4" name="Table 3"/>
          <p:cNvGraphicFramePr/>
          <p:nvPr>
            <p:custDataLst>
              <p:tags r:id="rId1"/>
            </p:custDataLst>
          </p:nvPr>
        </p:nvGraphicFramePr>
        <p:xfrm>
          <a:off x="30480" y="344805"/>
          <a:ext cx="11950065" cy="1032510"/>
        </p:xfrm>
        <a:graphic>
          <a:graphicData uri="http://schemas.openxmlformats.org/drawingml/2006/table">
            <a:tbl>
              <a:tblPr/>
              <a:tblGrid>
                <a:gridCol w="3298825"/>
                <a:gridCol w="4667885"/>
                <a:gridCol w="3983355"/>
              </a:tblGrid>
              <a:tr h="344170">
                <a:tc>
                  <a:txBody>
                    <a:bodyPr/>
                    <a:p>
                      <a:pPr algn="ctr"/>
                      <a:r>
                        <a:rPr sz="1800" b="1"/>
                        <a:t>Type</a:t>
                      </a:r>
                      <a:endParaRPr sz="1800" b="1"/>
                    </a:p>
                  </a:txBody>
                  <a:tcPr marL="0" marR="0" marT="0" marB="0" anchor="ctr" anchorCtr="0">
                    <a:lnL>
                      <a:noFill/>
                    </a:lnL>
                    <a:lnR>
                      <a:noFill/>
                    </a:lnR>
                    <a:lnT>
                      <a:noFill/>
                    </a:lnT>
                    <a:lnB>
                      <a:noFill/>
                    </a:lnB>
                    <a:noFill/>
                  </a:tcPr>
                </a:tc>
                <a:tc>
                  <a:txBody>
                    <a:bodyPr/>
                    <a:p>
                      <a:pPr algn="ctr"/>
                      <a:r>
                        <a:rPr sz="1800" b="1"/>
                        <a:t>Description</a:t>
                      </a:r>
                      <a:endParaRPr sz="1800" b="1"/>
                    </a:p>
                  </a:txBody>
                  <a:tcPr marL="0" marR="0" marT="0" marB="0" anchor="ctr" anchorCtr="0">
                    <a:lnL>
                      <a:noFill/>
                    </a:lnL>
                    <a:lnR>
                      <a:noFill/>
                    </a:lnR>
                    <a:lnT>
                      <a:noFill/>
                    </a:lnT>
                    <a:lnB>
                      <a:noFill/>
                    </a:lnB>
                    <a:noFill/>
                  </a:tcPr>
                </a:tc>
                <a:tc>
                  <a:txBody>
                    <a:bodyPr/>
                    <a:p>
                      <a:pPr algn="ctr"/>
                      <a:r>
                        <a:rPr sz="1800" b="1"/>
                        <a:t>Called Using</a:t>
                      </a:r>
                      <a:endParaRPr sz="1800" b="1"/>
                    </a:p>
                  </a:txBody>
                  <a:tcPr marL="0" marR="0" marT="0" marB="0" anchor="ctr" anchorCtr="0">
                    <a:lnL>
                      <a:noFill/>
                    </a:lnL>
                    <a:lnR>
                      <a:noFill/>
                    </a:lnR>
                    <a:lnT>
                      <a:noFill/>
                    </a:lnT>
                    <a:lnB>
                      <a:noFill/>
                    </a:lnB>
                    <a:noFill/>
                  </a:tcPr>
                </a:tc>
              </a:tr>
              <a:tr h="344170">
                <a:tc>
                  <a:txBody>
                    <a:bodyPr/>
                    <a:p>
                      <a:pPr algn="ctr"/>
                      <a:r>
                        <a:rPr sz="1800" b="0"/>
                        <a:t>Static</a:t>
                      </a:r>
                      <a:endParaRPr sz="1800" b="0"/>
                    </a:p>
                  </a:txBody>
                  <a:tcPr marL="0" marR="0" marT="0" marB="0" anchor="ctr" anchorCtr="0">
                    <a:lnL>
                      <a:noFill/>
                    </a:lnL>
                    <a:lnR>
                      <a:noFill/>
                    </a:lnR>
                    <a:lnT>
                      <a:noFill/>
                    </a:lnT>
                    <a:lnB>
                      <a:noFill/>
                    </a:lnB>
                    <a:noFill/>
                  </a:tcPr>
                </a:tc>
                <a:tc>
                  <a:txBody>
                    <a:bodyPr/>
                    <a:p>
                      <a:pPr algn="ctr"/>
                      <a:r>
                        <a:rPr sz="1800" b="0"/>
                        <a:t>Belongs to the class, no object needed</a:t>
                      </a:r>
                      <a:endParaRPr sz="1800" b="0"/>
                    </a:p>
                  </a:txBody>
                  <a:tcPr marL="0" marR="0" marT="0" marB="0" anchor="ctr" anchorCtr="0">
                    <a:lnL>
                      <a:noFill/>
                    </a:lnL>
                    <a:lnR>
                      <a:noFill/>
                    </a:lnR>
                    <a:lnT>
                      <a:noFill/>
                    </a:lnT>
                    <a:lnB>
                      <a:noFill/>
                    </a:lnB>
                    <a:noFill/>
                  </a:tcPr>
                </a:tc>
                <a:tc>
                  <a:txBody>
                    <a:bodyPr/>
                    <a:p>
                      <a:pPr algn="ctr"/>
                      <a:r>
                        <a:rPr sz="1800" b="0"/>
                        <a:t>ClassName.method()</a:t>
                      </a:r>
                      <a:endParaRPr sz="1800" b="0"/>
                    </a:p>
                  </a:txBody>
                  <a:tcPr marL="0" marR="0" marT="0" marB="0" anchor="ctr" anchorCtr="0">
                    <a:lnL>
                      <a:noFill/>
                    </a:lnL>
                    <a:lnR>
                      <a:noFill/>
                    </a:lnR>
                    <a:lnT>
                      <a:noFill/>
                    </a:lnT>
                    <a:lnB>
                      <a:noFill/>
                    </a:lnB>
                    <a:noFill/>
                  </a:tcPr>
                </a:tc>
              </a:tr>
              <a:tr h="344170">
                <a:tc>
                  <a:txBody>
                    <a:bodyPr/>
                    <a:p>
                      <a:pPr algn="ctr"/>
                      <a:r>
                        <a:rPr sz="1800" b="0"/>
                        <a:t>Non-Static</a:t>
                      </a:r>
                      <a:endParaRPr sz="1800" b="0"/>
                    </a:p>
                  </a:txBody>
                  <a:tcPr marL="0" marR="0" marT="0" marB="0" anchor="ctr" anchorCtr="0">
                    <a:lnL>
                      <a:noFill/>
                    </a:lnL>
                    <a:lnR>
                      <a:noFill/>
                    </a:lnR>
                    <a:lnT>
                      <a:noFill/>
                    </a:lnT>
                    <a:lnB>
                      <a:noFill/>
                    </a:lnB>
                    <a:noFill/>
                  </a:tcPr>
                </a:tc>
                <a:tc>
                  <a:txBody>
                    <a:bodyPr/>
                    <a:p>
                      <a:pPr algn="ctr"/>
                      <a:r>
                        <a:rPr sz="1800" b="0"/>
                        <a:t>Belongs to object</a:t>
                      </a:r>
                      <a:endParaRPr sz="1800" b="0"/>
                    </a:p>
                  </a:txBody>
                  <a:tcPr marL="0" marR="0" marT="0" marB="0" anchor="ctr" anchorCtr="0">
                    <a:lnL>
                      <a:noFill/>
                    </a:lnL>
                    <a:lnR>
                      <a:noFill/>
                    </a:lnR>
                    <a:lnT>
                      <a:noFill/>
                    </a:lnT>
                    <a:lnB>
                      <a:noFill/>
                    </a:lnB>
                    <a:noFill/>
                  </a:tcPr>
                </a:tc>
                <a:tc>
                  <a:txBody>
                    <a:bodyPr/>
                    <a:p>
                      <a:pPr algn="ctr"/>
                      <a:r>
                        <a:rPr sz="1800" b="0"/>
                        <a:t>object.method()</a:t>
                      </a:r>
                      <a:endParaRPr sz="1800" b="0"/>
                    </a:p>
                  </a:txBody>
                  <a:tcPr marL="0" marR="0" marT="0" marB="0" anchor="ctr" anchorCtr="0">
                    <a:lnL>
                      <a:noFill/>
                    </a:lnL>
                    <a:lnR>
                      <a:noFill/>
                    </a:lnR>
                    <a:lnT>
                      <a:noFill/>
                    </a:lnT>
                    <a:lnB>
                      <a:noFill/>
                    </a:lnB>
                    <a:noFill/>
                  </a:tcPr>
                </a:tc>
              </a:tr>
            </a:tbl>
          </a:graphicData>
        </a:graphic>
      </p:graphicFrame>
      <p:graphicFrame>
        <p:nvGraphicFramePr>
          <p:cNvPr id="5" name="Table 4"/>
          <p:cNvGraphicFramePr/>
          <p:nvPr>
            <p:custDataLst>
              <p:tags r:id="rId2"/>
            </p:custDataLst>
          </p:nvPr>
        </p:nvGraphicFramePr>
        <p:xfrm>
          <a:off x="30480" y="2277110"/>
          <a:ext cx="11759565" cy="2171700"/>
        </p:xfrm>
        <a:graphic>
          <a:graphicData uri="http://schemas.openxmlformats.org/drawingml/2006/table">
            <a:tbl>
              <a:tblPr/>
              <a:tblGrid>
                <a:gridCol w="3919855"/>
                <a:gridCol w="3919855"/>
                <a:gridCol w="3919855"/>
              </a:tblGrid>
              <a:tr h="434340">
                <a:tc>
                  <a:txBody>
                    <a:bodyPr/>
                    <a:p>
                      <a:pPr algn="ctr"/>
                      <a:r>
                        <a:rPr sz="2000" b="1"/>
                        <a:t>Type</a:t>
                      </a:r>
                      <a:endParaRPr sz="2000" b="1"/>
                    </a:p>
                  </a:txBody>
                  <a:tcPr marL="0" marR="0" marT="0" marB="0" anchor="ctr" anchorCtr="0">
                    <a:lnL>
                      <a:noFill/>
                    </a:lnL>
                    <a:lnR>
                      <a:noFill/>
                    </a:lnR>
                    <a:lnT>
                      <a:noFill/>
                    </a:lnT>
                    <a:lnB>
                      <a:noFill/>
                    </a:lnB>
                    <a:noFill/>
                  </a:tcPr>
                </a:tc>
                <a:tc>
                  <a:txBody>
                    <a:bodyPr/>
                    <a:p>
                      <a:pPr algn="ctr"/>
                      <a:r>
                        <a:rPr sz="2000" b="1"/>
                        <a:t>Description</a:t>
                      </a:r>
                      <a:endParaRPr sz="2000" b="1"/>
                    </a:p>
                  </a:txBody>
                  <a:tcPr marL="0" marR="0" marT="0" marB="0" anchor="ctr" anchorCtr="0">
                    <a:lnL>
                      <a:noFill/>
                    </a:lnL>
                    <a:lnR>
                      <a:noFill/>
                    </a:lnR>
                    <a:lnT>
                      <a:noFill/>
                    </a:lnT>
                    <a:lnB>
                      <a:noFill/>
                    </a:lnB>
                    <a:noFill/>
                  </a:tcPr>
                </a:tc>
                <a:tc>
                  <a:txBody>
                    <a:bodyPr/>
                    <a:p>
                      <a:pPr algn="ctr"/>
                      <a:r>
                        <a:rPr sz="2000" b="1"/>
                        <a:t>Example</a:t>
                      </a:r>
                      <a:endParaRPr sz="2000" b="1"/>
                    </a:p>
                  </a:txBody>
                  <a:tcPr marL="0" marR="0" marT="0" marB="0" anchor="ctr" anchorCtr="0">
                    <a:lnL>
                      <a:noFill/>
                    </a:lnL>
                    <a:lnR>
                      <a:noFill/>
                    </a:lnR>
                    <a:lnT>
                      <a:noFill/>
                    </a:lnT>
                    <a:lnB>
                      <a:noFill/>
                    </a:lnB>
                    <a:noFill/>
                  </a:tcPr>
                </a:tc>
              </a:tr>
              <a:tr h="434340">
                <a:tc>
                  <a:txBody>
                    <a:bodyPr/>
                    <a:p>
                      <a:pPr algn="l"/>
                      <a:r>
                        <a:rPr sz="1800" b="0"/>
                        <a:t>No return, no parameter</a:t>
                      </a:r>
                      <a:endParaRPr sz="1800" b="0"/>
                    </a:p>
                  </a:txBody>
                  <a:tcPr marL="0" marR="0" marT="0" marB="0" anchor="ctr" anchorCtr="0">
                    <a:lnL>
                      <a:noFill/>
                    </a:lnL>
                    <a:lnR>
                      <a:noFill/>
                    </a:lnR>
                    <a:lnT>
                      <a:noFill/>
                    </a:lnT>
                    <a:lnB>
                      <a:noFill/>
                    </a:lnB>
                    <a:noFill/>
                  </a:tcPr>
                </a:tc>
                <a:tc>
                  <a:txBody>
                    <a:bodyPr/>
                    <a:p>
                      <a:pPr algn="l"/>
                      <a:r>
                        <a:rPr sz="1800" b="0"/>
                        <a:t>Executes code, returns nothing</a:t>
                      </a:r>
                      <a:endParaRPr sz="1800" b="0"/>
                    </a:p>
                  </a:txBody>
                  <a:tcPr marL="0" marR="0" marT="0" marB="0" anchor="ctr" anchorCtr="0">
                    <a:lnL>
                      <a:noFill/>
                    </a:lnL>
                    <a:lnR>
                      <a:noFill/>
                    </a:lnR>
                    <a:lnT>
                      <a:noFill/>
                    </a:lnT>
                    <a:lnB>
                      <a:noFill/>
                    </a:lnB>
                    <a:noFill/>
                  </a:tcPr>
                </a:tc>
                <a:tc>
                  <a:txBody>
                    <a:bodyPr/>
                    <a:p>
                      <a:pPr algn="l"/>
                      <a:r>
                        <a:rPr sz="1800" b="0"/>
                        <a:t>void show()</a:t>
                      </a:r>
                      <a:endParaRPr sz="1800" b="0"/>
                    </a:p>
                  </a:txBody>
                  <a:tcPr marL="0" marR="0" marT="0" marB="0" anchor="ctr" anchorCtr="0">
                    <a:lnL>
                      <a:noFill/>
                    </a:lnL>
                    <a:lnR>
                      <a:noFill/>
                    </a:lnR>
                    <a:lnT>
                      <a:noFill/>
                    </a:lnT>
                    <a:lnB>
                      <a:noFill/>
                    </a:lnB>
                    <a:noFill/>
                  </a:tcPr>
                </a:tc>
              </a:tr>
              <a:tr h="434340">
                <a:tc>
                  <a:txBody>
                    <a:bodyPr/>
                    <a:p>
                      <a:pPr algn="l"/>
                      <a:r>
                        <a:rPr sz="1800" b="0"/>
                        <a:t>No return, with parameter</a:t>
                      </a:r>
                      <a:endParaRPr sz="1800" b="0"/>
                    </a:p>
                  </a:txBody>
                  <a:tcPr marL="0" marR="0" marT="0" marB="0" anchor="ctr" anchorCtr="0">
                    <a:lnL>
                      <a:noFill/>
                    </a:lnL>
                    <a:lnR>
                      <a:noFill/>
                    </a:lnR>
                    <a:lnT>
                      <a:noFill/>
                    </a:lnT>
                    <a:lnB>
                      <a:noFill/>
                    </a:lnB>
                    <a:noFill/>
                  </a:tcPr>
                </a:tc>
                <a:tc>
                  <a:txBody>
                    <a:bodyPr/>
                    <a:p>
                      <a:pPr algn="l"/>
                      <a:r>
                        <a:rPr sz="1800" b="0"/>
                        <a:t>Takes input, does something, no result</a:t>
                      </a:r>
                      <a:endParaRPr sz="1800" b="0"/>
                    </a:p>
                  </a:txBody>
                  <a:tcPr marL="0" marR="0" marT="0" marB="0" anchor="ctr" anchorCtr="0">
                    <a:lnL>
                      <a:noFill/>
                    </a:lnL>
                    <a:lnR>
                      <a:noFill/>
                    </a:lnR>
                    <a:lnT>
                      <a:noFill/>
                    </a:lnT>
                    <a:lnB>
                      <a:noFill/>
                    </a:lnB>
                    <a:noFill/>
                  </a:tcPr>
                </a:tc>
                <a:tc>
                  <a:txBody>
                    <a:bodyPr/>
                    <a:p>
                      <a:pPr algn="l"/>
                      <a:r>
                        <a:rPr sz="1800" b="0"/>
                        <a:t>void printName(String name)</a:t>
                      </a:r>
                      <a:endParaRPr sz="1800" b="0"/>
                    </a:p>
                  </a:txBody>
                  <a:tcPr marL="0" marR="0" marT="0" marB="0" anchor="ctr" anchorCtr="0">
                    <a:lnL>
                      <a:noFill/>
                    </a:lnL>
                    <a:lnR>
                      <a:noFill/>
                    </a:lnR>
                    <a:lnT>
                      <a:noFill/>
                    </a:lnT>
                    <a:lnB>
                      <a:noFill/>
                    </a:lnB>
                    <a:noFill/>
                  </a:tcPr>
                </a:tc>
              </a:tr>
              <a:tr h="434340">
                <a:tc>
                  <a:txBody>
                    <a:bodyPr/>
                    <a:p>
                      <a:pPr algn="l"/>
                      <a:r>
                        <a:rPr sz="1800" b="0"/>
                        <a:t>With return, no parameter</a:t>
                      </a:r>
                      <a:endParaRPr sz="1800" b="0"/>
                    </a:p>
                  </a:txBody>
                  <a:tcPr marL="0" marR="0" marT="0" marB="0" anchor="ctr" anchorCtr="0">
                    <a:lnL>
                      <a:noFill/>
                    </a:lnL>
                    <a:lnR>
                      <a:noFill/>
                    </a:lnR>
                    <a:lnT>
                      <a:noFill/>
                    </a:lnT>
                    <a:lnB>
                      <a:noFill/>
                    </a:lnB>
                    <a:noFill/>
                  </a:tcPr>
                </a:tc>
                <a:tc>
                  <a:txBody>
                    <a:bodyPr/>
                    <a:p>
                      <a:pPr algn="l"/>
                      <a:r>
                        <a:rPr sz="1800" b="0"/>
                        <a:t>Gives back result, no input</a:t>
                      </a:r>
                      <a:endParaRPr sz="1800" b="0"/>
                    </a:p>
                  </a:txBody>
                  <a:tcPr marL="0" marR="0" marT="0" marB="0" anchor="ctr" anchorCtr="0">
                    <a:lnL>
                      <a:noFill/>
                    </a:lnL>
                    <a:lnR>
                      <a:noFill/>
                    </a:lnR>
                    <a:lnT>
                      <a:noFill/>
                    </a:lnT>
                    <a:lnB>
                      <a:noFill/>
                    </a:lnB>
                    <a:noFill/>
                  </a:tcPr>
                </a:tc>
                <a:tc>
                  <a:txBody>
                    <a:bodyPr/>
                    <a:p>
                      <a:pPr algn="l"/>
                      <a:r>
                        <a:rPr sz="1800" b="0"/>
                        <a:t>int getValue()</a:t>
                      </a:r>
                      <a:endParaRPr sz="1800" b="0"/>
                    </a:p>
                  </a:txBody>
                  <a:tcPr marL="0" marR="0" marT="0" marB="0" anchor="ctr" anchorCtr="0">
                    <a:lnL>
                      <a:noFill/>
                    </a:lnL>
                    <a:lnR>
                      <a:noFill/>
                    </a:lnR>
                    <a:lnT>
                      <a:noFill/>
                    </a:lnT>
                    <a:lnB>
                      <a:noFill/>
                    </a:lnB>
                    <a:noFill/>
                  </a:tcPr>
                </a:tc>
              </a:tr>
              <a:tr h="434340">
                <a:tc>
                  <a:txBody>
                    <a:bodyPr/>
                    <a:p>
                      <a:pPr algn="l"/>
                      <a:r>
                        <a:rPr sz="1800" b="0"/>
                        <a:t>With return, with parameter</a:t>
                      </a:r>
                      <a:endParaRPr sz="1800" b="0"/>
                    </a:p>
                  </a:txBody>
                  <a:tcPr marL="0" marR="0" marT="0" marB="0" anchor="ctr" anchorCtr="0">
                    <a:lnL>
                      <a:noFill/>
                    </a:lnL>
                    <a:lnR>
                      <a:noFill/>
                    </a:lnR>
                    <a:lnT>
                      <a:noFill/>
                    </a:lnT>
                    <a:lnB>
                      <a:noFill/>
                    </a:lnB>
                    <a:noFill/>
                  </a:tcPr>
                </a:tc>
                <a:tc>
                  <a:txBody>
                    <a:bodyPr/>
                    <a:p>
                      <a:pPr algn="l"/>
                      <a:r>
                        <a:rPr sz="1800" b="0"/>
                        <a:t>Takes input and gives result</a:t>
                      </a:r>
                      <a:endParaRPr sz="1800" b="0"/>
                    </a:p>
                  </a:txBody>
                  <a:tcPr marL="0" marR="0" marT="0" marB="0" anchor="ctr" anchorCtr="0">
                    <a:lnL>
                      <a:noFill/>
                    </a:lnL>
                    <a:lnR>
                      <a:noFill/>
                    </a:lnR>
                    <a:lnT>
                      <a:noFill/>
                    </a:lnT>
                    <a:lnB>
                      <a:noFill/>
                    </a:lnB>
                    <a:noFill/>
                  </a:tcPr>
                </a:tc>
                <a:tc>
                  <a:txBody>
                    <a:bodyPr/>
                    <a:p>
                      <a:pPr algn="l"/>
                      <a:r>
                        <a:rPr sz="1800" b="0"/>
                        <a:t>int add(int a, int b)</a:t>
                      </a:r>
                      <a:endParaRPr sz="1800" b="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5410" y="0"/>
            <a:ext cx="10515600" cy="551180"/>
          </a:xfrm>
        </p:spPr>
        <p:txBody>
          <a:bodyPr>
            <a:noAutofit/>
          </a:bodyPr>
          <a:p>
            <a:r>
              <a:rPr lang="en-US" sz="2400" b="1">
                <a:solidFill>
                  <a:srgbClr val="FF0000"/>
                </a:solidFill>
                <a:latin typeface="Cambria" panose="02040503050406030204" charset="0"/>
                <a:cs typeface="Cambria" panose="02040503050406030204" charset="0"/>
              </a:rPr>
              <a:t>Problems on Decision making Statment</a:t>
            </a:r>
            <a:endParaRPr lang="en-US" sz="2400" b="1">
              <a:solidFill>
                <a:srgbClr val="FF0000"/>
              </a:solidFill>
              <a:latin typeface="Cambria" panose="02040503050406030204" charset="0"/>
              <a:cs typeface="Cambria" panose="02040503050406030204" charset="0"/>
            </a:endParaRPr>
          </a:p>
        </p:txBody>
      </p:sp>
      <p:sp>
        <p:nvSpPr>
          <p:cNvPr id="3" name="Content Placeholder 2"/>
          <p:cNvSpPr>
            <a:spLocks noGrp="1"/>
          </p:cNvSpPr>
          <p:nvPr>
            <p:ph idx="1"/>
          </p:nvPr>
        </p:nvSpPr>
        <p:spPr>
          <a:xfrm>
            <a:off x="105410" y="551180"/>
            <a:ext cx="11936730" cy="6306185"/>
          </a:xfrm>
        </p:spPr>
        <p:txBody>
          <a:bodyPr>
            <a:noAutofit/>
          </a:bodyPr>
          <a:p>
            <a:pPr marL="0" indent="0">
              <a:buNone/>
            </a:pPr>
            <a:r>
              <a:rPr lang="en-US" altLang="en-US" sz="1600" b="1"/>
              <a:t>1.Given an integer U denoting the amount of KWh units of electricity consumed, the task is to calculate the electricity bill with the help of the below charges: </a:t>
            </a:r>
            <a:endParaRPr lang="en-US" altLang="en-US" sz="1600" b="1"/>
          </a:p>
          <a:p>
            <a:pPr marL="0" indent="0">
              <a:buNone/>
            </a:pPr>
            <a:r>
              <a:rPr lang="en-US" altLang="en-US" sz="1400"/>
              <a:t>·      1 to 100 units – Rs. 10/unit</a:t>
            </a:r>
            <a:endParaRPr lang="en-US" altLang="en-US" sz="1400"/>
          </a:p>
          <a:p>
            <a:pPr marL="0" indent="0">
              <a:buNone/>
            </a:pPr>
            <a:r>
              <a:rPr lang="en-US" altLang="en-US" sz="1400"/>
              <a:t>·      100 to 200 units – Rs. 15/unit</a:t>
            </a:r>
            <a:endParaRPr lang="en-US" altLang="en-US" sz="1400"/>
          </a:p>
          <a:p>
            <a:pPr marL="0" indent="0">
              <a:buNone/>
            </a:pPr>
            <a:r>
              <a:rPr lang="en-US" altLang="en-US" sz="1400"/>
              <a:t>·      200 to 300 units – Rs. 20/unit</a:t>
            </a:r>
            <a:endParaRPr lang="en-US" altLang="en-US" sz="1400"/>
          </a:p>
          <a:p>
            <a:pPr marL="0" indent="0">
              <a:buNone/>
            </a:pPr>
            <a:r>
              <a:rPr lang="en-US" altLang="en-US" sz="1400"/>
              <a:t>·      above 300 units – Rs. 25/unit</a:t>
            </a:r>
            <a:endParaRPr lang="en-US" altLang="en-US" sz="1400"/>
          </a:p>
          <a:p>
            <a:pPr marL="0" indent="0">
              <a:buNone/>
            </a:pPr>
            <a:r>
              <a:rPr lang="en-US" altLang="en-US" sz="1400"/>
              <a:t>Input: U = 250     Output: 3500 </a:t>
            </a:r>
            <a:endParaRPr lang="en-US" altLang="en-US" sz="1400"/>
          </a:p>
          <a:p>
            <a:pPr marL="0" indent="0">
              <a:buNone/>
            </a:pPr>
            <a:r>
              <a:rPr lang="en-US" altLang="en-US" sz="1400"/>
              <a:t>(first Understand problem then solve)</a:t>
            </a:r>
            <a:endParaRPr lang="en-US" altLang="en-US" sz="1400"/>
          </a:p>
          <a:p>
            <a:pPr marL="0" indent="0">
              <a:buNone/>
            </a:pPr>
            <a:r>
              <a:rPr lang="en-US" altLang="en-US" sz="1400" b="1"/>
              <a:t>2.Write a program in Java to accept the name of an employee and his/her annual income. Pass the name and the annual income. Displays the name of the employee and the income tax as per the given tariff:</a:t>
            </a:r>
            <a:endParaRPr lang="en-US" altLang="en-US" sz="1400" b="1"/>
          </a:p>
          <a:p>
            <a:pPr marL="0" indent="0">
              <a:buNone/>
            </a:pPr>
            <a:r>
              <a:rPr lang="en-US" altLang="en-US" sz="1400"/>
              <a:t>Annual Income</a:t>
            </a:r>
            <a:endParaRPr lang="en-US" altLang="en-US" sz="1400"/>
          </a:p>
          <a:p>
            <a:pPr marL="0" indent="0">
              <a:buNone/>
            </a:pPr>
            <a:r>
              <a:rPr lang="en-US" altLang="en-US" sz="1400"/>
              <a:t>Income Tax</a:t>
            </a:r>
            <a:endParaRPr lang="en-US" altLang="en-US" sz="1400"/>
          </a:p>
          <a:p>
            <a:pPr marL="0" indent="0">
              <a:buNone/>
            </a:pPr>
            <a:r>
              <a:rPr lang="en-US" altLang="en-US" sz="1400"/>
              <a:t>Up to ₹2,50,000 </a:t>
            </a:r>
            <a:endParaRPr lang="en-US" altLang="en-US" sz="1400"/>
          </a:p>
          <a:p>
            <a:pPr marL="0" indent="0">
              <a:buNone/>
            </a:pPr>
            <a:r>
              <a:rPr lang="en-US" altLang="en-US" sz="1400"/>
              <a:t>                                No tax</a:t>
            </a:r>
            <a:endParaRPr lang="en-US" altLang="en-US" sz="1400"/>
          </a:p>
          <a:p>
            <a:pPr marL="0" indent="0">
              <a:buNone/>
            </a:pPr>
            <a:r>
              <a:rPr lang="en-US" altLang="en-US" sz="1400"/>
              <a:t>₹2,50,001 to ₹5,00,000</a:t>
            </a:r>
            <a:endParaRPr lang="en-US" altLang="en-US" sz="1400"/>
          </a:p>
          <a:p>
            <a:pPr marL="0" indent="0">
              <a:buNone/>
            </a:pPr>
            <a:r>
              <a:rPr lang="en-US" altLang="en-US" sz="1400"/>
              <a:t>                        10% of the income exceeding ₹2,50,000</a:t>
            </a:r>
            <a:endParaRPr lang="en-US" altLang="en-US" sz="1400"/>
          </a:p>
          <a:p>
            <a:pPr marL="0" indent="0">
              <a:buNone/>
            </a:pPr>
            <a:r>
              <a:rPr lang="en-US" altLang="en-US" sz="1400"/>
              <a:t>₹5,00,001 to ₹10,00,000</a:t>
            </a:r>
            <a:endParaRPr lang="en-US" altLang="en-US" sz="1400"/>
          </a:p>
          <a:p>
            <a:pPr marL="0" indent="0">
              <a:buNone/>
            </a:pPr>
            <a:r>
              <a:rPr lang="en-US" altLang="en-US" sz="1400"/>
              <a:t>                      ₹30,000 + 20% of the amount exceeding ₹5,00,000</a:t>
            </a:r>
            <a:endParaRPr lang="en-US" altLang="en-US" sz="1400"/>
          </a:p>
          <a:p>
            <a:pPr marL="0" indent="0">
              <a:buNone/>
            </a:pPr>
            <a:r>
              <a:rPr lang="en-US" altLang="en-US" sz="1400"/>
              <a:t>₹10,00,001 and above</a:t>
            </a:r>
            <a:endParaRPr lang="en-US" altLang="en-US" sz="1400"/>
          </a:p>
          <a:p>
            <a:pPr marL="0" indent="0">
              <a:buNone/>
            </a:pPr>
            <a:r>
              <a:rPr lang="en-US" altLang="en-US" sz="1400"/>
              <a:t>                     ₹50,000 + 30% of the amount exceeding ₹10,00,000</a:t>
            </a:r>
            <a:endParaRPr lang="en-US" altLang="en-US" sz="1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315595"/>
          </a:xfrm>
        </p:spPr>
        <p:txBody>
          <a:bodyPr>
            <a:normAutofit fontScale="90000"/>
          </a:bodyPr>
          <a:p>
            <a:r>
              <a:rPr lang="en-US" sz="2400" b="1">
                <a:solidFill>
                  <a:srgbClr val="FF0000"/>
                </a:solidFill>
              </a:rPr>
              <a:t>Methods Problems</a:t>
            </a:r>
            <a:endParaRPr lang="en-US" sz="2400" b="1">
              <a:solidFill>
                <a:srgbClr val="FF0000"/>
              </a:solidFill>
            </a:endParaRPr>
          </a:p>
        </p:txBody>
      </p:sp>
      <p:sp>
        <p:nvSpPr>
          <p:cNvPr id="3" name="Content Placeholder 2"/>
          <p:cNvSpPr>
            <a:spLocks noGrp="1"/>
          </p:cNvSpPr>
          <p:nvPr>
            <p:ph idx="1"/>
          </p:nvPr>
        </p:nvSpPr>
        <p:spPr>
          <a:xfrm>
            <a:off x="0" y="315595"/>
            <a:ext cx="12192000" cy="6542405"/>
          </a:xfrm>
        </p:spPr>
        <p:txBody>
          <a:bodyPr>
            <a:noAutofit/>
          </a:bodyPr>
          <a:p>
            <a:r>
              <a:rPr lang="en-US" altLang="en-US" sz="1800"/>
              <a:t>1)Create a method named Test that takes one integer parameter. Your method should:</a:t>
            </a:r>
            <a:endParaRPr lang="en-US" altLang="en-US" sz="1800"/>
          </a:p>
          <a:p>
            <a:r>
              <a:rPr lang="en-US" altLang="en-US" sz="1800"/>
              <a:t>Check if the number is greater than 0.    If it is, calculate the square of the number.</a:t>
            </a:r>
            <a:endParaRPr lang="en-US" altLang="en-US" sz="1800"/>
          </a:p>
          <a:p>
            <a:r>
              <a:rPr lang="en-US" altLang="en-US" sz="1800"/>
              <a:t>Reverse the digits of the square.   Check if the sum of the digits of the square is equal to the original number.</a:t>
            </a:r>
            <a:endParaRPr lang="en-US" altLang="en-US" sz="1800"/>
          </a:p>
          <a:p>
            <a:r>
              <a:rPr lang="en-US" altLang="en-US" sz="1800"/>
              <a:t>Print:  "Both numbers matched" if they are equal. or "Both numbers not matched" otherwise.</a:t>
            </a:r>
            <a:endParaRPr lang="en-US" altLang="en-US" sz="1800"/>
          </a:p>
          <a:p>
            <a:r>
              <a:rPr lang="en-US" altLang="en-US" sz="1800"/>
              <a:t>ex. Input:  Enter a number: 9      Output: Square of 9 is 81  </a:t>
            </a:r>
            <a:endParaRPr lang="en-US" altLang="en-US" sz="1800"/>
          </a:p>
          <a:p>
            <a:r>
              <a:rPr lang="en-US" altLang="en-US" sz="1800"/>
              <a:t>Sum of digits of square: 9     Both numbers matched</a:t>
            </a:r>
            <a:endParaRPr lang="en-US" altLang="en-US" sz="1800"/>
          </a:p>
          <a:p>
            <a:endParaRPr lang="en-US" altLang="en-US" sz="1800"/>
          </a:p>
          <a:p>
            <a:r>
              <a:rPr lang="en-US" altLang="en-US" sz="1800"/>
              <a:t>2)Create a method named CheckPalindrome that takes one integer parameter.</a:t>
            </a:r>
            <a:endParaRPr lang="en-US" altLang="en-US" sz="1800"/>
          </a:p>
          <a:p>
            <a:r>
              <a:rPr lang="en-US" altLang="en-US" sz="1800"/>
              <a:t>Your method should:    Check if the number is greater than 0.   Reverse the digits of the number.   Check if the reversed number is equal to the original number.</a:t>
            </a:r>
            <a:endParaRPr lang="en-US" altLang="en-US" sz="1800"/>
          </a:p>
          <a:p>
            <a:r>
              <a:rPr lang="en-US" altLang="en-US" sz="1800"/>
              <a:t>Print:  ✅ "Number is a palindrome" if it matches.</a:t>
            </a:r>
            <a:endParaRPr lang="en-US" altLang="en-US" sz="1800"/>
          </a:p>
          <a:p>
            <a:r>
              <a:rPr lang="en-US" altLang="en-US" sz="1800"/>
              <a:t> "Number is not a palindrome" otherwise.   Example: Input: 121  Output: Number is a palindrome</a:t>
            </a:r>
            <a:endParaRPr lang="en-US" altLang="en-US" sz="1800"/>
          </a:p>
          <a:p>
            <a:endParaRPr lang="en-US" altLang="en-US" sz="1800"/>
          </a:p>
          <a:p>
            <a:r>
              <a:rPr lang="en-US" altLang="en-US" sz="1800"/>
              <a:t>4 way/Types we can work with method parametera and return </a:t>
            </a:r>
            <a:endParaRPr lang="en-US" altLang="en-US" sz="1800"/>
          </a:p>
          <a:p>
            <a:r>
              <a:rPr lang="en-US" altLang="en-US" sz="1800"/>
              <a:t>1)Method with No Parameters no return value</a:t>
            </a:r>
            <a:endParaRPr lang="en-US" altLang="en-US" sz="1800"/>
          </a:p>
          <a:p>
            <a:r>
              <a:rPr lang="en-US" altLang="en-US" sz="1800"/>
              <a:t>2)Method with Parameters, no return value</a:t>
            </a:r>
            <a:endParaRPr lang="en-US" altLang="en-US" sz="1800"/>
          </a:p>
          <a:p>
            <a:r>
              <a:rPr lang="en-US" altLang="en-US" sz="1800"/>
              <a:t>3)Method with No Parameters return a value</a:t>
            </a:r>
            <a:endParaRPr lang="en-US" altLang="en-US" sz="1800"/>
          </a:p>
          <a:p>
            <a:r>
              <a:rPr lang="en-US" altLang="en-US" sz="1800"/>
              <a:t>4)Method with Parameters,return a value</a:t>
            </a:r>
            <a:endParaRPr lang="en-US" altLang="en-US" sz="18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417195"/>
          </a:xfrm>
        </p:spPr>
        <p:txBody>
          <a:bodyPr>
            <a:normAutofit fontScale="90000"/>
          </a:bodyPr>
          <a:p>
            <a:r>
              <a:rPr lang="en-US" altLang="en-US" sz="2400" b="1">
                <a:solidFill>
                  <a:srgbClr val="FF0000"/>
                </a:solidFill>
                <a:sym typeface="+mn-ea"/>
              </a:rPr>
              <a:t>Method with Return in Java</a:t>
            </a:r>
            <a:endParaRPr lang="en-US" altLang="en-US" sz="2400" b="1">
              <a:solidFill>
                <a:srgbClr val="FF0000"/>
              </a:solidFill>
              <a:sym typeface="+mn-ea"/>
            </a:endParaRPr>
          </a:p>
        </p:txBody>
      </p:sp>
      <p:sp>
        <p:nvSpPr>
          <p:cNvPr id="3" name="Content Placeholder 2"/>
          <p:cNvSpPr>
            <a:spLocks noGrp="1"/>
          </p:cNvSpPr>
          <p:nvPr>
            <p:ph idx="1"/>
          </p:nvPr>
        </p:nvSpPr>
        <p:spPr>
          <a:xfrm>
            <a:off x="105410" y="417195"/>
            <a:ext cx="12086590" cy="6241415"/>
          </a:xfrm>
        </p:spPr>
        <p:txBody>
          <a:bodyPr/>
          <a:p>
            <a:pPr marL="0" indent="0">
              <a:buNone/>
            </a:pPr>
            <a:r>
              <a:rPr lang="en-US" altLang="en-US" sz="1800">
                <a:latin typeface="Cambria" panose="02040503050406030204" charset="0"/>
                <a:cs typeface="Cambria" panose="02040503050406030204" charset="0"/>
              </a:rPr>
              <a:t> Definition: </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A method with return in Java is a method that returns a value to the place where it is called.</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The return type is declared in the method signature.  The method uses the return keyword to return a value.</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returnType methodName(parameters) {</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    // code</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    return value;</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a:t>
            </a:r>
            <a:endParaRPr lang="en-US" altLang="en-US" sz="1800">
              <a:latin typeface="Cambria" panose="02040503050406030204" charset="0"/>
              <a:cs typeface="Cambria" panose="02040503050406030204" charset="0"/>
            </a:endParaRPr>
          </a:p>
          <a:p>
            <a:pPr marL="0" indent="0">
              <a:buNone/>
            </a:pPr>
            <a:endParaRPr lang="en-US" altLang="en-US" sz="1800">
              <a:latin typeface="Cambria" panose="02040503050406030204" charset="0"/>
              <a:cs typeface="Cambria" panose="02040503050406030204" charset="0"/>
            </a:endParaRPr>
          </a:p>
        </p:txBody>
      </p:sp>
      <p:sp>
        <p:nvSpPr>
          <p:cNvPr id="4" name="Text Box 3"/>
          <p:cNvSpPr txBox="1"/>
          <p:nvPr/>
        </p:nvSpPr>
        <p:spPr>
          <a:xfrm>
            <a:off x="479425" y="2647950"/>
            <a:ext cx="11338560" cy="398780"/>
          </a:xfrm>
          <a:prstGeom prst="rect">
            <a:avLst/>
          </a:prstGeom>
          <a:noFill/>
        </p:spPr>
        <p:txBody>
          <a:bodyPr wrap="square" rtlCol="0" anchor="t">
            <a:spAutoFit/>
          </a:bodyPr>
          <a:p>
            <a:pPr algn="ctr"/>
            <a:r>
              <a:rPr lang="en-US" sz="2000" b="1">
                <a:solidFill>
                  <a:srgbClr val="FF0000"/>
                </a:solidFill>
                <a:sym typeface="+mn-ea"/>
              </a:rPr>
              <a:t>Method Recursion</a:t>
            </a:r>
            <a:endParaRPr lang="en-US" sz="2000" b="1">
              <a:solidFill>
                <a:srgbClr val="FF0000"/>
              </a:solidFill>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302260"/>
          </a:xfrm>
        </p:spPr>
        <p:txBody>
          <a:bodyPr>
            <a:normAutofit fontScale="90000"/>
          </a:bodyPr>
          <a:p>
            <a:endParaRPr lang="en-US" sz="2800" b="1">
              <a:solidFill>
                <a:srgbClr val="FF0000"/>
              </a:solidFill>
            </a:endParaRPr>
          </a:p>
        </p:txBody>
      </p:sp>
      <p:sp>
        <p:nvSpPr>
          <p:cNvPr id="3" name="Content Placeholder 2"/>
          <p:cNvSpPr>
            <a:spLocks noGrp="1"/>
          </p:cNvSpPr>
          <p:nvPr>
            <p:ph idx="1"/>
          </p:nvPr>
        </p:nvSpPr>
        <p:spPr>
          <a:xfrm>
            <a:off x="0" y="302260"/>
            <a:ext cx="12908280" cy="6555740"/>
          </a:xfrm>
        </p:spPr>
        <p:txBody>
          <a:bodyPr/>
          <a:p>
            <a:pPr marL="0" indent="0">
              <a:buNone/>
            </a:pPr>
            <a:r>
              <a:rPr lang="en-US" sz="1800"/>
              <a:t>Def:Method call  itself or another method  called as method recursion.</a:t>
            </a:r>
            <a:endParaRPr lang="en-US" sz="1800"/>
          </a:p>
          <a:p>
            <a:pPr marL="0" indent="0">
              <a:buNone/>
            </a:pPr>
            <a:r>
              <a:rPr lang="en-US" sz="1800">
                <a:sym typeface="+mn-ea"/>
              </a:rPr>
              <a:t>There are two types of Recursion in java.</a:t>
            </a:r>
            <a:endParaRPr lang="en-US" sz="1800">
              <a:sym typeface="+mn-ea"/>
            </a:endParaRPr>
          </a:p>
          <a:p>
            <a:pPr marL="0" indent="0">
              <a:buNone/>
            </a:pPr>
            <a:r>
              <a:rPr lang="en-US" sz="1800"/>
              <a:t> 1)direct Recrusion </a:t>
            </a:r>
            <a:endParaRPr lang="en-US" sz="1800"/>
          </a:p>
          <a:p>
            <a:pPr marL="0" indent="0">
              <a:buNone/>
            </a:pPr>
            <a:r>
              <a:rPr lang="en-US" sz="1800"/>
              <a:t>in this type method call itself .</a:t>
            </a:r>
            <a:endParaRPr lang="en-US" sz="1800"/>
          </a:p>
          <a:p>
            <a:pPr marL="0" indent="0">
              <a:buNone/>
            </a:pPr>
            <a:r>
              <a:rPr lang="en-US" sz="1800"/>
              <a:t>2)indirect Recursion</a:t>
            </a:r>
            <a:endParaRPr lang="en-US" sz="1800"/>
          </a:p>
          <a:p>
            <a:pPr marL="0" indent="0">
              <a:buNone/>
            </a:pPr>
            <a:r>
              <a:rPr lang="en-US" sz="1800"/>
              <a:t>indirect method recursion method calls another method called as indirect recursion</a:t>
            </a:r>
            <a:endParaRPr lang="en-US" sz="1800"/>
          </a:p>
          <a:p>
            <a:pPr marL="0" indent="0">
              <a:buNone/>
            </a:pPr>
            <a:endParaRPr lang="en-US" sz="18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95910" y="0"/>
            <a:ext cx="10515600" cy="258445"/>
          </a:xfrm>
        </p:spPr>
        <p:txBody>
          <a:bodyPr>
            <a:normAutofit fontScale="90000"/>
          </a:bodyPr>
          <a:p>
            <a:r>
              <a:rPr lang="en-US" sz="2800" b="1">
                <a:solidFill>
                  <a:srgbClr val="FF0000"/>
                </a:solidFill>
              </a:rPr>
              <a:t>Java OOps</a:t>
            </a:r>
            <a:endParaRPr lang="en-US" sz="2800" b="1">
              <a:solidFill>
                <a:srgbClr val="FF0000"/>
              </a:solidFill>
            </a:endParaRPr>
          </a:p>
        </p:txBody>
      </p:sp>
      <p:sp>
        <p:nvSpPr>
          <p:cNvPr id="3" name="Content Placeholder 2"/>
          <p:cNvSpPr>
            <a:spLocks noGrp="1"/>
          </p:cNvSpPr>
          <p:nvPr>
            <p:ph idx="1"/>
          </p:nvPr>
        </p:nvSpPr>
        <p:spPr>
          <a:xfrm>
            <a:off x="0" y="258445"/>
            <a:ext cx="12192635" cy="6599555"/>
          </a:xfrm>
        </p:spPr>
        <p:txBody>
          <a:bodyPr>
            <a:noAutofit/>
          </a:bodyPr>
          <a:p>
            <a:pPr marL="0" indent="0">
              <a:buNone/>
            </a:pP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 What is OOPs?</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OOPs (Object-Oriented Programming System) is a programming paradigm based on the concept of “objects”, which contain data (fields) and code (methods).  Java is a pure object-oriented language (except for primitive types).</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Why Use OOPs?</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To structure software in a modular, reusable, and scalable way .To model real-world problems as objects .To promote code organization, security, and maintainability</a:t>
            </a:r>
            <a:endParaRPr lang="en-US" altLang="en-US" sz="1800">
              <a:latin typeface="Cambria" panose="02040503050406030204" charset="0"/>
              <a:cs typeface="Cambria" panose="02040503050406030204" charset="0"/>
            </a:endParaRPr>
          </a:p>
          <a:p>
            <a:pPr marL="0" indent="0">
              <a:buNone/>
            </a:pPr>
            <a:endParaRPr lang="en-US" altLang="en-US" sz="2000" b="1">
              <a:solidFill>
                <a:srgbClr val="FF0000"/>
              </a:solidFill>
              <a:latin typeface="Cambria" panose="02040503050406030204" charset="0"/>
              <a:cs typeface="Cambria" panose="02040503050406030204" charset="0"/>
            </a:endParaRPr>
          </a:p>
          <a:p>
            <a:pPr marL="0" indent="0">
              <a:buNone/>
            </a:pPr>
            <a:r>
              <a:rPr lang="en-US" altLang="en-US" sz="2000" b="1">
                <a:solidFill>
                  <a:srgbClr val="FF0000"/>
                </a:solidFill>
                <a:sym typeface="+mn-ea"/>
              </a:rPr>
              <a:t>Why Use OOPs?</a:t>
            </a:r>
            <a:endParaRPr lang="en-US" altLang="en-US" sz="2000" b="1">
              <a:solidFill>
                <a:srgbClr val="FF0000"/>
              </a:solidFill>
            </a:endParaRPr>
          </a:p>
          <a:p>
            <a:pPr marL="0" indent="0">
              <a:buNone/>
            </a:pPr>
            <a:r>
              <a:rPr lang="en-US" altLang="en-US" sz="2000">
                <a:sym typeface="+mn-ea"/>
              </a:rPr>
              <a:t>To structure software in a modular, reusable way.</a:t>
            </a:r>
            <a:endParaRPr lang="en-US" altLang="en-US" sz="2000"/>
          </a:p>
          <a:p>
            <a:pPr marL="0" indent="0">
              <a:buNone/>
            </a:pPr>
            <a:r>
              <a:rPr lang="en-US" altLang="en-US" sz="2000">
                <a:sym typeface="+mn-ea"/>
              </a:rPr>
              <a:t>To model real-world problems as objects.</a:t>
            </a:r>
            <a:endParaRPr lang="en-US" altLang="en-US" sz="2000"/>
          </a:p>
          <a:p>
            <a:pPr marL="0" indent="0">
              <a:buNone/>
            </a:pPr>
            <a:r>
              <a:rPr lang="en-US" altLang="en-US" sz="2000">
                <a:sym typeface="+mn-ea"/>
              </a:rPr>
              <a:t>To promote code organization, security, and maintainability.</a:t>
            </a:r>
            <a:endParaRPr lang="en-US" altLang="en-US" sz="2000"/>
          </a:p>
          <a:p>
            <a:pPr marL="0" indent="0">
              <a:buNone/>
            </a:pPr>
            <a:endParaRPr lang="en-US" altLang="en-US" sz="2000" b="1">
              <a:solidFill>
                <a:srgbClr val="FF0000"/>
              </a:solidFill>
              <a:latin typeface="Cambria" panose="02040503050406030204" charset="0"/>
              <a:cs typeface="Cambria" panose="02040503050406030204" charset="0"/>
            </a:endParaRPr>
          </a:p>
          <a:p>
            <a:pPr marL="0" indent="0">
              <a:buNone/>
            </a:pPr>
            <a:endParaRPr lang="en-US" altLang="en-US" sz="2000" b="1">
              <a:solidFill>
                <a:srgbClr val="FF0000"/>
              </a:solidFill>
              <a:latin typeface="Cambria" panose="02040503050406030204" charset="0"/>
              <a:cs typeface="Cambria" panose="02040503050406030204" charset="0"/>
            </a:endParaRPr>
          </a:p>
          <a:p>
            <a:pPr marL="0" indent="0">
              <a:buNone/>
            </a:pPr>
            <a:endParaRPr lang="en-US" altLang="en-US" sz="1800">
              <a:latin typeface="Cambria" panose="02040503050406030204" charset="0"/>
              <a:cs typeface="Cambria" panose="0204050305040603020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93675" y="0"/>
            <a:ext cx="10515600" cy="299720"/>
          </a:xfrm>
        </p:spPr>
        <p:txBody>
          <a:bodyPr>
            <a:normAutofit fontScale="90000"/>
          </a:bodyPr>
          <a:p>
            <a:r>
              <a:rPr lang="en-US" sz="3600">
                <a:solidFill>
                  <a:srgbClr val="FF0000"/>
                </a:solidFill>
              </a:rPr>
              <a:t>JAVA OOPS</a:t>
            </a:r>
            <a:endParaRPr lang="en-US" sz="3600">
              <a:solidFill>
                <a:srgbClr val="FF0000"/>
              </a:solidFill>
            </a:endParaRPr>
          </a:p>
        </p:txBody>
      </p:sp>
      <p:sp>
        <p:nvSpPr>
          <p:cNvPr id="3" name="Content Placeholder 2"/>
          <p:cNvSpPr>
            <a:spLocks noGrp="1"/>
          </p:cNvSpPr>
          <p:nvPr>
            <p:ph idx="1"/>
          </p:nvPr>
        </p:nvSpPr>
        <p:spPr>
          <a:xfrm>
            <a:off x="106045" y="299720"/>
            <a:ext cx="11951335" cy="6558280"/>
          </a:xfrm>
        </p:spPr>
        <p:txBody>
          <a:bodyPr>
            <a:normAutofit fontScale="90000" lnSpcReduction="10000"/>
          </a:bodyPr>
          <a:p>
            <a:pPr marL="457200" indent="-457200">
              <a:buAutoNum type="arabicPeriod"/>
            </a:pPr>
            <a:r>
              <a:rPr lang="en-US" altLang="en-US" sz="2000">
                <a:solidFill>
                  <a:srgbClr val="FF0000"/>
                </a:solidFill>
              </a:rPr>
              <a:t>Class</a:t>
            </a:r>
            <a:endParaRPr lang="en-US" altLang="en-US" sz="2000">
              <a:solidFill>
                <a:srgbClr val="FF0000"/>
              </a:solidFill>
            </a:endParaRPr>
          </a:p>
          <a:p>
            <a:pPr marL="457200" indent="-457200">
              <a:buAutoNum type="arabicPeriod"/>
            </a:pPr>
            <a:r>
              <a:rPr lang="en-US" altLang="en-US" sz="2000">
                <a:solidFill>
                  <a:srgbClr val="FF0000"/>
                </a:solidFill>
              </a:rPr>
              <a:t>Object</a:t>
            </a:r>
            <a:endParaRPr lang="en-US" altLang="en-US" sz="2000">
              <a:solidFill>
                <a:srgbClr val="FF0000"/>
              </a:solidFill>
            </a:endParaRPr>
          </a:p>
          <a:p>
            <a:pPr marL="457200" indent="-457200">
              <a:buAutoNum type="arabicPeriod"/>
            </a:pPr>
            <a:r>
              <a:rPr lang="en-US" altLang="en-US" sz="2000">
                <a:sym typeface="+mn-ea"/>
              </a:rPr>
              <a:t>Access Specifiers</a:t>
            </a:r>
            <a:endParaRPr lang="en-US" altLang="en-US" sz="2000">
              <a:sym typeface="+mn-ea"/>
            </a:endParaRPr>
          </a:p>
          <a:p>
            <a:pPr marL="457200" indent="-457200">
              <a:buAutoNum type="arabicPeriod"/>
            </a:pPr>
            <a:r>
              <a:rPr lang="en-US" altLang="en-US" sz="2000">
                <a:solidFill>
                  <a:srgbClr val="FF0000"/>
                </a:solidFill>
                <a:sym typeface="+mn-ea"/>
              </a:rPr>
              <a:t>Getter and Setter Methods</a:t>
            </a:r>
            <a:endParaRPr lang="en-US" altLang="en-US" sz="2000">
              <a:solidFill>
                <a:srgbClr val="FF0000"/>
              </a:solidFill>
              <a:sym typeface="+mn-ea"/>
            </a:endParaRPr>
          </a:p>
          <a:p>
            <a:pPr marL="457200" indent="-457200">
              <a:buAutoNum type="arabicPeriod"/>
            </a:pPr>
            <a:r>
              <a:rPr lang="en-US" altLang="en-US" sz="2000">
                <a:solidFill>
                  <a:schemeClr val="accent2"/>
                </a:solidFill>
                <a:sym typeface="+mn-ea"/>
              </a:rPr>
              <a:t>Constructor</a:t>
            </a:r>
            <a:endParaRPr lang="en-US" altLang="en-US" sz="2000">
              <a:solidFill>
                <a:schemeClr val="accent2"/>
              </a:solidFill>
            </a:endParaRPr>
          </a:p>
          <a:p>
            <a:pPr marL="457200" indent="-457200">
              <a:buAutoNum type="arabicPeriod"/>
            </a:pPr>
            <a:r>
              <a:rPr lang="en-US" altLang="en-US" sz="2000"/>
              <a:t>Inheritance</a:t>
            </a:r>
            <a:endParaRPr lang="en-US" altLang="en-US" sz="2000"/>
          </a:p>
          <a:p>
            <a:pPr marL="457200" indent="-457200">
              <a:buAutoNum type="arabicPeriod"/>
            </a:pPr>
            <a:r>
              <a:rPr lang="en-US" altLang="en-US" sz="2000"/>
              <a:t>Polymorphism</a:t>
            </a:r>
            <a:endParaRPr lang="en-US" altLang="en-US" sz="2000"/>
          </a:p>
          <a:p>
            <a:pPr marL="457200" indent="-457200">
              <a:buAutoNum type="arabicPeriod"/>
            </a:pPr>
            <a:r>
              <a:rPr lang="en-US" altLang="en-US" sz="2000">
                <a:solidFill>
                  <a:srgbClr val="FF0000"/>
                </a:solidFill>
              </a:rPr>
              <a:t>Abstraction</a:t>
            </a:r>
            <a:endParaRPr lang="en-US" altLang="en-US" sz="2000">
              <a:solidFill>
                <a:srgbClr val="FF0000"/>
              </a:solidFill>
            </a:endParaRPr>
          </a:p>
          <a:p>
            <a:pPr marL="457200" indent="-457200">
              <a:buAutoNum type="arabicPeriod"/>
            </a:pPr>
            <a:r>
              <a:rPr lang="en-US" altLang="en-US" sz="2000">
                <a:solidFill>
                  <a:schemeClr val="accent2"/>
                </a:solidFill>
              </a:rPr>
              <a:t>Encapsulation</a:t>
            </a:r>
            <a:endParaRPr lang="en-US" altLang="en-US" sz="2000">
              <a:solidFill>
                <a:schemeClr val="accent2"/>
              </a:solidFill>
            </a:endParaRPr>
          </a:p>
          <a:p>
            <a:pPr marL="457200" indent="-457200">
              <a:buAutoNum type="arabicPeriod"/>
            </a:pPr>
            <a:r>
              <a:rPr lang="en-US" altLang="en-US" sz="2000"/>
              <a:t>Method Overloading</a:t>
            </a:r>
            <a:endParaRPr lang="en-US" altLang="en-US" sz="2000"/>
          </a:p>
          <a:p>
            <a:pPr marL="457200" indent="-457200">
              <a:buAutoNum type="arabicPeriod"/>
            </a:pPr>
            <a:r>
              <a:rPr lang="en-US" altLang="en-US" sz="2000"/>
              <a:t>Method Overriding</a:t>
            </a:r>
            <a:endParaRPr lang="en-US" altLang="en-US" sz="2000"/>
          </a:p>
          <a:p>
            <a:pPr marL="457200" indent="-457200">
              <a:buAutoNum type="arabicPeriod"/>
            </a:pPr>
            <a:r>
              <a:rPr lang="en-US" altLang="en-US" sz="2000"/>
              <a:t>Interface</a:t>
            </a:r>
            <a:endParaRPr lang="en-US" altLang="en-US" sz="2000"/>
          </a:p>
          <a:p>
            <a:pPr marL="457200" indent="-457200">
              <a:buAutoNum type="arabicPeriod"/>
            </a:pPr>
            <a:r>
              <a:rPr lang="en-US" altLang="en-US" sz="2000"/>
              <a:t>Abstract Class</a:t>
            </a:r>
            <a:endParaRPr lang="en-US" altLang="en-US" sz="2000"/>
          </a:p>
          <a:p>
            <a:pPr marL="457200" indent="-457200">
              <a:buAutoNum type="arabicPeriod"/>
            </a:pPr>
            <a:r>
              <a:rPr lang="en-US" altLang="en-US" sz="2000"/>
              <a:t>Static Keyword</a:t>
            </a:r>
            <a:endParaRPr lang="en-US" altLang="en-US" sz="2000"/>
          </a:p>
          <a:p>
            <a:pPr marL="457200" indent="-457200">
              <a:buAutoNum type="arabicPeriod"/>
            </a:pPr>
            <a:r>
              <a:rPr lang="en-US" altLang="en-US" sz="2000"/>
              <a:t>Final Keyword</a:t>
            </a:r>
            <a:endParaRPr lang="en-US" altLang="en-US" sz="2000"/>
          </a:p>
          <a:p>
            <a:pPr marL="342900" indent="-342900">
              <a:buAutoNum type="arabicPeriod"/>
            </a:pPr>
            <a:r>
              <a:rPr lang="en-US" altLang="en-US" sz="2000">
                <a:solidFill>
                  <a:schemeClr val="accent2"/>
                </a:solidFill>
                <a:sym typeface="+mn-ea"/>
              </a:rPr>
              <a:t>this Keyword</a:t>
            </a:r>
            <a:endParaRPr lang="en-US" altLang="en-US" sz="2000">
              <a:solidFill>
                <a:schemeClr val="accent2"/>
              </a:solidFill>
            </a:endParaRPr>
          </a:p>
          <a:p>
            <a:pPr marL="342900" indent="-342900">
              <a:buAutoNum type="arabicPeriod"/>
            </a:pPr>
            <a:r>
              <a:rPr lang="en-US" altLang="en-US" sz="2000">
                <a:sym typeface="+mn-ea"/>
              </a:rPr>
              <a:t>super Keyword</a:t>
            </a:r>
            <a:endParaRPr lang="en-US" altLang="en-US" sz="2000"/>
          </a:p>
          <a:p>
            <a:pPr marL="342900" indent="-342900">
              <a:buAutoNum type="arabicPeriod"/>
            </a:pPr>
            <a:r>
              <a:rPr lang="en-US" altLang="en-US" sz="2000">
                <a:sym typeface="+mn-ea"/>
              </a:rPr>
              <a:t>Inner Classes</a:t>
            </a:r>
            <a:endParaRPr lang="en-US" altLang="en-US" sz="2000"/>
          </a:p>
          <a:p>
            <a:pPr marL="457200" indent="-457200">
              <a:buAutoNum type="arabicPeriod"/>
            </a:pPr>
            <a:endParaRPr lang="en-US" altLang="en-US" sz="2000"/>
          </a:p>
          <a:p>
            <a:pPr marL="457200" indent="-457200">
              <a:buAutoNum type="arabicPeriod"/>
            </a:pPr>
            <a:endParaRPr lang="en-US" altLang="en-US" sz="2000"/>
          </a:p>
        </p:txBody>
      </p:sp>
      <p:sp>
        <p:nvSpPr>
          <p:cNvPr id="4" name="Text Box 3"/>
          <p:cNvSpPr txBox="1"/>
          <p:nvPr/>
        </p:nvSpPr>
        <p:spPr>
          <a:xfrm>
            <a:off x="6784340" y="636270"/>
            <a:ext cx="4777740" cy="4852035"/>
          </a:xfrm>
          <a:prstGeom prst="rect">
            <a:avLst/>
          </a:prstGeom>
          <a:noFill/>
        </p:spPr>
        <p:txBody>
          <a:bodyPr wrap="square" rtlCol="0" anchor="t">
            <a:noAutofit/>
          </a:bodyPr>
          <a:p>
            <a:pPr marL="342900" indent="-342900">
              <a:buAutoNum type="arabicPeriod"/>
            </a:pPr>
            <a:r>
              <a:rPr lang="en-US" altLang="en-US">
                <a:sym typeface="+mn-ea"/>
              </a:rPr>
              <a:t>Packages</a:t>
            </a:r>
            <a:endParaRPr lang="en-US" altLang="en-US"/>
          </a:p>
          <a:p>
            <a:pPr marL="342900" indent="-342900">
              <a:buAutoNum type="arabicPeriod"/>
            </a:pPr>
            <a:r>
              <a:rPr lang="en-US" altLang="en-US">
                <a:sym typeface="+mn-ea"/>
              </a:rPr>
              <a:t>Aggregation</a:t>
            </a:r>
            <a:endParaRPr lang="en-US" altLang="en-US"/>
          </a:p>
          <a:p>
            <a:pPr marL="342900" indent="-342900">
              <a:buAutoNum type="arabicPeriod"/>
            </a:pPr>
            <a:r>
              <a:rPr lang="en-US" altLang="en-US">
                <a:sym typeface="+mn-ea"/>
              </a:rPr>
              <a:t>Composition</a:t>
            </a:r>
            <a:endParaRPr lang="en-US" altLang="en-US"/>
          </a:p>
          <a:p>
            <a:pPr marL="342900" indent="-342900">
              <a:buAutoNum type="arabicPeriod"/>
            </a:pPr>
            <a:r>
              <a:rPr lang="en-US" altLang="en-US">
                <a:sym typeface="+mn-ea"/>
              </a:rPr>
              <a:t>instanceof Operator</a:t>
            </a:r>
            <a:endParaRPr lang="en-US" altLang="en-US"/>
          </a:p>
          <a:p>
            <a:pPr marL="342900" indent="-342900">
              <a:buAutoNum type="arabicPeriod"/>
            </a:pPr>
            <a:endParaRPr lang="en-US" altLang="en-US">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388620"/>
          </a:xfrm>
        </p:spPr>
        <p:txBody>
          <a:bodyPr>
            <a:noAutofit/>
          </a:bodyPr>
          <a:p>
            <a:r>
              <a:rPr lang="en-US" sz="2400" b="1">
                <a:solidFill>
                  <a:srgbClr val="FF0000"/>
                </a:solidFill>
              </a:rPr>
              <a:t>About OOps</a:t>
            </a:r>
            <a:endParaRPr lang="en-US" sz="2400" b="1">
              <a:solidFill>
                <a:srgbClr val="FF0000"/>
              </a:solidFill>
            </a:endParaRPr>
          </a:p>
        </p:txBody>
      </p:sp>
      <p:sp>
        <p:nvSpPr>
          <p:cNvPr id="3" name="Content Placeholder 2"/>
          <p:cNvSpPr>
            <a:spLocks noGrp="1"/>
          </p:cNvSpPr>
          <p:nvPr>
            <p:ph idx="1"/>
          </p:nvPr>
        </p:nvSpPr>
        <p:spPr>
          <a:xfrm>
            <a:off x="134620" y="388620"/>
            <a:ext cx="12056745" cy="6470015"/>
          </a:xfrm>
        </p:spPr>
        <p:txBody>
          <a:bodyPr>
            <a:normAutofit fontScale="50000"/>
          </a:bodyPr>
          <a:p>
            <a:pPr marL="0" indent="0">
              <a:buNone/>
            </a:pPr>
            <a:r>
              <a:rPr lang="en-US" altLang="en-US" sz="3200" b="1">
                <a:solidFill>
                  <a:srgbClr val="FF0000"/>
                </a:solidFill>
                <a:latin typeface="Cambria" panose="02040503050406030204" charset="0"/>
                <a:cs typeface="Cambria" panose="02040503050406030204" charset="0"/>
                <a:sym typeface="+mn-ea"/>
              </a:rPr>
              <a:t> Advantages of OOPs</a:t>
            </a:r>
            <a:endParaRPr lang="en-US" altLang="en-US" sz="3200" b="1">
              <a:solidFill>
                <a:srgbClr val="FF0000"/>
              </a:solidFill>
              <a:latin typeface="Cambria" panose="02040503050406030204" charset="0"/>
              <a:cs typeface="Cambria" panose="02040503050406030204" charset="0"/>
            </a:endParaRPr>
          </a:p>
          <a:p>
            <a:pPr marL="0" indent="0">
              <a:buNone/>
            </a:pPr>
            <a:r>
              <a:rPr lang="en-US" altLang="en-US" sz="3200">
                <a:latin typeface="Cambria" panose="02040503050406030204" charset="0"/>
                <a:cs typeface="Cambria" panose="02040503050406030204" charset="0"/>
                <a:sym typeface="+mn-ea"/>
              </a:rPr>
              <a:t>Modularity – Code is organized into classes and objects             </a:t>
            </a:r>
            <a:endParaRPr lang="en-US" altLang="en-US" sz="3200">
              <a:latin typeface="Cambria" panose="02040503050406030204" charset="0"/>
              <a:cs typeface="Cambria" panose="02040503050406030204" charset="0"/>
            </a:endParaRPr>
          </a:p>
          <a:p>
            <a:pPr marL="0" indent="0">
              <a:buNone/>
            </a:pPr>
            <a:r>
              <a:rPr lang="en-US" altLang="en-US" sz="3200">
                <a:latin typeface="Cambria" panose="02040503050406030204" charset="0"/>
                <a:cs typeface="Cambria" panose="02040503050406030204" charset="0"/>
                <a:sym typeface="+mn-ea"/>
              </a:rPr>
              <a:t>Reusability – Inheritance allows reusing existing code</a:t>
            </a:r>
            <a:endParaRPr lang="en-US" altLang="en-US" sz="3200">
              <a:latin typeface="Cambria" panose="02040503050406030204" charset="0"/>
              <a:cs typeface="Cambria" panose="02040503050406030204" charset="0"/>
            </a:endParaRPr>
          </a:p>
          <a:p>
            <a:pPr marL="0" indent="0">
              <a:buNone/>
            </a:pPr>
            <a:r>
              <a:rPr lang="en-US" altLang="en-US" sz="3200">
                <a:latin typeface="Cambria" panose="02040503050406030204" charset="0"/>
                <a:cs typeface="Cambria" panose="02040503050406030204" charset="0"/>
                <a:sym typeface="+mn-ea"/>
              </a:rPr>
              <a:t>Scalability &amp; Maintainability – Easier to manage and update</a:t>
            </a:r>
            <a:endParaRPr lang="en-US" altLang="en-US" sz="3200">
              <a:latin typeface="Cambria" panose="02040503050406030204" charset="0"/>
              <a:cs typeface="Cambria" panose="02040503050406030204" charset="0"/>
            </a:endParaRPr>
          </a:p>
          <a:p>
            <a:pPr marL="0" indent="0">
              <a:buNone/>
            </a:pPr>
            <a:r>
              <a:rPr lang="en-US" altLang="en-US" sz="3200">
                <a:latin typeface="Cambria" panose="02040503050406030204" charset="0"/>
                <a:cs typeface="Cambria" panose="02040503050406030204" charset="0"/>
                <a:sym typeface="+mn-ea"/>
              </a:rPr>
              <a:t>Encapsulation – Protects data with access control</a:t>
            </a:r>
            <a:endParaRPr lang="en-US" altLang="en-US" sz="3200">
              <a:latin typeface="Cambria" panose="02040503050406030204" charset="0"/>
              <a:cs typeface="Cambria" panose="02040503050406030204" charset="0"/>
            </a:endParaRPr>
          </a:p>
          <a:p>
            <a:pPr marL="0" indent="0">
              <a:buNone/>
            </a:pPr>
            <a:r>
              <a:rPr lang="en-US" altLang="en-US" sz="3200">
                <a:latin typeface="Cambria" panose="02040503050406030204" charset="0"/>
                <a:cs typeface="Cambria" panose="02040503050406030204" charset="0"/>
                <a:sym typeface="+mn-ea"/>
              </a:rPr>
              <a:t>Abstraction – Hides internal implementation details</a:t>
            </a:r>
            <a:endParaRPr lang="en-US" altLang="en-US" sz="3200">
              <a:latin typeface="Cambria" panose="02040503050406030204" charset="0"/>
              <a:cs typeface="Cambria" panose="02040503050406030204" charset="0"/>
            </a:endParaRPr>
          </a:p>
          <a:p>
            <a:pPr marL="0" indent="0">
              <a:buNone/>
            </a:pPr>
            <a:r>
              <a:rPr lang="en-US" altLang="en-US" sz="3200">
                <a:latin typeface="Cambria" panose="02040503050406030204" charset="0"/>
                <a:cs typeface="Cambria" panose="02040503050406030204" charset="0"/>
                <a:sym typeface="+mn-ea"/>
              </a:rPr>
              <a:t>Polymorphism – Same interface, different behaviors</a:t>
            </a:r>
            <a:endParaRPr lang="en-US" altLang="en-US" sz="3200">
              <a:latin typeface="Cambria" panose="02040503050406030204" charset="0"/>
              <a:cs typeface="Cambria" panose="02040503050406030204" charset="0"/>
            </a:endParaRPr>
          </a:p>
          <a:p>
            <a:pPr marL="0" indent="0">
              <a:buNone/>
            </a:pPr>
            <a:r>
              <a:rPr lang="en-US" altLang="en-US" sz="3200">
                <a:latin typeface="Cambria" panose="02040503050406030204" charset="0"/>
                <a:cs typeface="Cambria" panose="02040503050406030204" charset="0"/>
                <a:sym typeface="+mn-ea"/>
              </a:rPr>
              <a:t>Improved collaboration – Encourages team-based development</a:t>
            </a:r>
            <a:endParaRPr lang="en-US" altLang="en-US" sz="3200">
              <a:latin typeface="Cambria" panose="02040503050406030204" charset="0"/>
              <a:cs typeface="Cambria" panose="02040503050406030204" charset="0"/>
            </a:endParaRPr>
          </a:p>
          <a:p>
            <a:pPr marL="0" indent="0">
              <a:buNone/>
            </a:pPr>
            <a:endParaRPr lang="en-US" altLang="en-US" sz="3200">
              <a:latin typeface="Cambria" panose="02040503050406030204" charset="0"/>
              <a:cs typeface="Cambria" panose="02040503050406030204" charset="0"/>
            </a:endParaRPr>
          </a:p>
          <a:p>
            <a:pPr marL="0" indent="0">
              <a:buNone/>
            </a:pPr>
            <a:r>
              <a:rPr lang="en-US" altLang="en-US" sz="3600" b="1">
                <a:solidFill>
                  <a:srgbClr val="FF0000"/>
                </a:solidFill>
                <a:sym typeface="+mn-ea"/>
              </a:rPr>
              <a:t>Disadvantages of OOPs</a:t>
            </a:r>
            <a:endParaRPr lang="en-US" altLang="en-US" sz="3200">
              <a:solidFill>
                <a:srgbClr val="FF0000"/>
              </a:solidFill>
            </a:endParaRPr>
          </a:p>
          <a:p>
            <a:pPr marL="0" indent="0">
              <a:buNone/>
            </a:pPr>
            <a:r>
              <a:rPr lang="en-US" altLang="en-US" sz="3200">
                <a:sym typeface="+mn-ea"/>
              </a:rPr>
              <a:t>More complex – Designing classes and relationships can be harder</a:t>
            </a:r>
            <a:endParaRPr lang="en-US" altLang="en-US" sz="3200"/>
          </a:p>
          <a:p>
            <a:pPr marL="0" indent="0">
              <a:buNone/>
            </a:pPr>
            <a:r>
              <a:rPr lang="en-US" altLang="en-US" sz="3200">
                <a:sym typeface="+mn-ea"/>
              </a:rPr>
              <a:t>Slower performance – More memory and processing overhead than procedural programming</a:t>
            </a:r>
            <a:endParaRPr lang="en-US" altLang="en-US" sz="3200"/>
          </a:p>
          <a:p>
            <a:pPr marL="0" indent="0">
              <a:buNone/>
            </a:pPr>
            <a:r>
              <a:rPr lang="en-US" altLang="en-US" sz="3200">
                <a:sym typeface="+mn-ea"/>
              </a:rPr>
              <a:t>Steep learning curve – Requires understanding of multiple concepts</a:t>
            </a:r>
            <a:endParaRPr lang="en-US" altLang="en-US" sz="3200"/>
          </a:p>
          <a:p>
            <a:pPr marL="0" indent="0">
              <a:buNone/>
            </a:pPr>
            <a:r>
              <a:rPr lang="en-US" altLang="en-US" sz="3200">
                <a:sym typeface="+mn-ea"/>
              </a:rPr>
              <a:t>Overhead – More boilerplate code, especially for small tasks</a:t>
            </a:r>
            <a:endParaRPr lang="en-US" altLang="en-US" sz="3200"/>
          </a:p>
          <a:p>
            <a:pPr marL="0" indent="0">
              <a:buNone/>
            </a:pPr>
            <a:r>
              <a:rPr lang="en-US" altLang="en-US" sz="3200">
                <a:sym typeface="+mn-ea"/>
              </a:rPr>
              <a:t>Not ideal for small/simple programs.</a:t>
            </a:r>
            <a:endParaRPr lang="en-US" altLang="en-US" sz="3200">
              <a:sym typeface="+mn-ea"/>
            </a:endParaRPr>
          </a:p>
          <a:p>
            <a:pPr marL="0" indent="0">
              <a:buNone/>
            </a:pPr>
            <a:r>
              <a:rPr lang="en-US" altLang="en-US" sz="3200">
                <a:sym typeface="+mn-ea"/>
              </a:rPr>
              <a:t> What is OOPs?</a:t>
            </a:r>
            <a:endParaRPr lang="en-US" altLang="en-US" sz="3200"/>
          </a:p>
          <a:p>
            <a:pPr marL="0" indent="0">
              <a:buNone/>
            </a:pPr>
            <a:r>
              <a:rPr lang="en-US" altLang="en-US" sz="3200">
                <a:sym typeface="+mn-ea"/>
              </a:rPr>
              <a:t>OOPs (Object-Oriented Programming System) is a programming paradigm based on the concept of “objects”, which contain data (fields) and code (methods).</a:t>
            </a:r>
            <a:endParaRPr lang="en-US" altLang="en-US" sz="3200"/>
          </a:p>
          <a:p>
            <a:pPr marL="0" indent="0">
              <a:buNone/>
            </a:pPr>
            <a:r>
              <a:rPr lang="en-US" altLang="en-US" sz="3200">
                <a:sym typeface="+mn-ea"/>
              </a:rPr>
              <a:t>Java is a pure object-oriented language (except for primitive types).</a:t>
            </a:r>
            <a:endParaRPr lang="en-US" altLang="en-US" sz="3200"/>
          </a:p>
          <a:p>
            <a:pPr marL="0" indent="0">
              <a:buNone/>
            </a:pPr>
            <a:endParaRPr lang="en-US" altLang="en-US" sz="3200"/>
          </a:p>
          <a:p>
            <a:pPr marL="0" indent="0">
              <a:buNone/>
            </a:pPr>
            <a:endParaRPr lang="en-US" altLang="en-US" sz="3200"/>
          </a:p>
          <a:p>
            <a:pPr marL="0" indent="0">
              <a:buNone/>
            </a:pPr>
            <a:endParaRPr lang="en-US" sz="32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490220"/>
          </a:xfrm>
        </p:spPr>
        <p:txBody>
          <a:bodyPr>
            <a:noAutofit/>
          </a:bodyPr>
          <a:p>
            <a:r>
              <a:rPr lang="en-US" altLang="en-US" sz="2800" b="1">
                <a:solidFill>
                  <a:srgbClr val="FF0000"/>
                </a:solidFill>
                <a:sym typeface="+mn-ea"/>
              </a:rPr>
              <a:t> What is Encapsulation?</a:t>
            </a:r>
            <a:endParaRPr lang="en-US" altLang="en-US" sz="2800" b="1">
              <a:solidFill>
                <a:srgbClr val="FF0000"/>
              </a:solidFill>
              <a:sym typeface="+mn-ea"/>
            </a:endParaRPr>
          </a:p>
        </p:txBody>
      </p:sp>
      <p:sp>
        <p:nvSpPr>
          <p:cNvPr id="3" name="Content Placeholder 2"/>
          <p:cNvSpPr>
            <a:spLocks noGrp="1"/>
          </p:cNvSpPr>
          <p:nvPr>
            <p:ph idx="1"/>
          </p:nvPr>
        </p:nvSpPr>
        <p:spPr>
          <a:xfrm>
            <a:off x="91440" y="490220"/>
            <a:ext cx="11452225" cy="6367780"/>
          </a:xfrm>
        </p:spPr>
        <p:txBody>
          <a:bodyPr>
            <a:normAutofit/>
          </a:bodyPr>
          <a:p>
            <a:pPr marL="0" indent="0">
              <a:buNone/>
            </a:pPr>
            <a:r>
              <a:rPr lang="en-US" altLang="en-US" sz="1800"/>
              <a:t>Encapsulation is one of the core principles of Object-Oriented Programming (OOP).</a:t>
            </a:r>
            <a:endParaRPr lang="en-US" altLang="en-US" sz="1800"/>
          </a:p>
          <a:p>
            <a:pPr marL="0" indent="0">
              <a:buNone/>
            </a:pPr>
            <a:r>
              <a:rPr lang="en-US" altLang="en-US" sz="1800"/>
              <a:t> Definition:</a:t>
            </a:r>
            <a:endParaRPr lang="en-US" altLang="en-US" sz="1800"/>
          </a:p>
          <a:p>
            <a:pPr marL="0" indent="0">
              <a:buNone/>
            </a:pPr>
            <a:r>
              <a:rPr lang="en-US" altLang="en-US" sz="1800"/>
              <a:t>Encapsulation is the process of wrapping data (variables) and code (methods) together into a single unit — a class — and restricting direct access to some of the object's components.</a:t>
            </a:r>
            <a:endParaRPr lang="en-US" altLang="en-US" sz="1800"/>
          </a:p>
          <a:p>
            <a:pPr marL="0" indent="0">
              <a:buNone/>
            </a:pPr>
            <a:r>
              <a:rPr lang="en-US" altLang="en-US" sz="1800"/>
              <a:t> Real-World Analogy:</a:t>
            </a:r>
            <a:endParaRPr lang="en-US" altLang="en-US" sz="1800"/>
          </a:p>
          <a:p>
            <a:pPr marL="0" indent="0">
              <a:buNone/>
            </a:pPr>
            <a:r>
              <a:rPr lang="en-US" altLang="en-US" sz="1800"/>
              <a:t>Think of a capsule (medicine) — it contains different ingredients, but you don’t directly access each one. Instead, you take the capsule as a whole.</a:t>
            </a:r>
            <a:endParaRPr lang="en-US" altLang="en-US" sz="1800"/>
          </a:p>
          <a:p>
            <a:pPr marL="0" indent="0">
              <a:buNone/>
            </a:pPr>
            <a:r>
              <a:rPr lang="en-US" altLang="en-US" sz="1800">
                <a:sym typeface="+mn-ea"/>
              </a:rPr>
              <a:t>What Covers Encapsulation in Java?</a:t>
            </a:r>
            <a:endParaRPr lang="en-US" altLang="en-US" sz="1800"/>
          </a:p>
          <a:p>
            <a:pPr marL="0" indent="0">
              <a:buNone/>
            </a:pPr>
            <a:r>
              <a:rPr lang="en-US" altLang="en-US" sz="1800">
                <a:sym typeface="+mn-ea"/>
              </a:rPr>
              <a:t>Private Fields</a:t>
            </a:r>
            <a:endParaRPr lang="en-US" altLang="en-US" sz="1800"/>
          </a:p>
          <a:p>
            <a:pPr marL="0" indent="0">
              <a:buNone/>
            </a:pPr>
            <a:r>
              <a:rPr lang="en-US" altLang="en-US" sz="1800">
                <a:sym typeface="+mn-ea"/>
              </a:rPr>
              <a:t>You declare class variables as private to restrict direct access from outside the class.</a:t>
            </a:r>
            <a:endParaRPr lang="en-US" altLang="en-US" sz="1800"/>
          </a:p>
          <a:p>
            <a:pPr marL="0" indent="0">
              <a:buNone/>
            </a:pPr>
            <a:r>
              <a:rPr lang="en-US" altLang="en-US" sz="1800">
                <a:sym typeface="+mn-ea"/>
              </a:rPr>
              <a:t>Public Getter and Setter Methods</a:t>
            </a:r>
            <a:endParaRPr lang="en-US" altLang="en-US" sz="1800"/>
          </a:p>
          <a:p>
            <a:pPr marL="0" indent="0">
              <a:buNone/>
            </a:pPr>
            <a:r>
              <a:rPr lang="en-US" altLang="en-US" sz="1800">
                <a:sym typeface="+mn-ea"/>
              </a:rPr>
              <a:t>You create public methods to get and set the value of private fields.</a:t>
            </a:r>
            <a:endParaRPr lang="en-US" altLang="en-US" sz="1800"/>
          </a:p>
          <a:p>
            <a:pPr marL="0" indent="0">
              <a:buNone/>
            </a:pPr>
            <a:r>
              <a:rPr lang="en-US" altLang="en-US" sz="1800">
                <a:sym typeface="+mn-ea"/>
              </a:rPr>
              <a:t>Class Design     Java classes group data and methods together, forming a self-contained unit.</a:t>
            </a:r>
            <a:endParaRPr lang="en-US" altLang="en-US" sz="1800"/>
          </a:p>
          <a:p>
            <a:pPr marL="0" indent="0">
              <a:buNone/>
            </a:pPr>
            <a:endParaRPr lang="en-US" altLang="en-US" sz="1800"/>
          </a:p>
          <a:p>
            <a:pPr marL="0" indent="0">
              <a:buNone/>
            </a:pPr>
            <a:endParaRPr lang="en-US" altLang="en-US" sz="1800"/>
          </a:p>
          <a:p>
            <a:pPr marL="0" indent="0">
              <a:buNone/>
            </a:pPr>
            <a:endParaRPr lang="en-US" altLang="en-US" sz="1800"/>
          </a:p>
        </p:txBody>
      </p:sp>
      <p:sp>
        <p:nvSpPr>
          <p:cNvPr id="4" name="Text Box 3"/>
          <p:cNvSpPr txBox="1"/>
          <p:nvPr/>
        </p:nvSpPr>
        <p:spPr>
          <a:xfrm>
            <a:off x="91440" y="5038725"/>
            <a:ext cx="11986895" cy="1818640"/>
          </a:xfrm>
          <a:prstGeom prst="rect">
            <a:avLst/>
          </a:prstGeom>
          <a:noFill/>
        </p:spPr>
        <p:txBody>
          <a:bodyPr wrap="square" rtlCol="0" anchor="t">
            <a:noAutofit/>
          </a:bodyPr>
          <a:p>
            <a:r>
              <a:rPr lang="en-US" altLang="en-US">
                <a:sym typeface="+mn-ea"/>
              </a:rPr>
              <a:t>Why Use Encapsulation?</a:t>
            </a:r>
            <a:endParaRPr lang="en-US" altLang="en-US" sz="1800"/>
          </a:p>
          <a:p>
            <a:r>
              <a:rPr lang="en-US" altLang="en-US">
                <a:sym typeface="+mn-ea"/>
              </a:rPr>
              <a:t>✅ Security – Only allow controlled access.</a:t>
            </a:r>
            <a:endParaRPr lang="en-US" altLang="en-US" sz="1800"/>
          </a:p>
          <a:p>
            <a:r>
              <a:rPr lang="en-US" altLang="en-US">
                <a:sym typeface="+mn-ea"/>
              </a:rPr>
              <a:t>✅ Flexibility – Change internal implementation without affecting users.</a:t>
            </a:r>
            <a:endParaRPr lang="en-US" altLang="en-US" sz="1800"/>
          </a:p>
          <a:p>
            <a:r>
              <a:rPr lang="en-US" altLang="en-US">
                <a:sym typeface="+mn-ea"/>
              </a:rPr>
              <a:t>✅ Readability &amp; Maintainability – Clean and organized code.</a:t>
            </a:r>
            <a:endParaRPr lang="en-US" altLang="en-US" sz="1800"/>
          </a:p>
          <a:p>
            <a:r>
              <a:rPr lang="en-US" altLang="en-US">
                <a:sym typeface="+mn-ea"/>
              </a:rPr>
              <a:t>✅ Validation – Set rules before assigning values (e.g., no negative balance).</a:t>
            </a:r>
            <a:endParaRPr lang="en-US" altLang="en-US" sz="1800"/>
          </a:p>
          <a:p>
            <a:endParaRPr lang="en-US" altLang="en-US" sz="1800"/>
          </a:p>
          <a:p>
            <a:endParaRPr lang="en-US" altLang="en-US" sz="18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37490" y="0"/>
            <a:ext cx="11116310" cy="388620"/>
          </a:xfrm>
        </p:spPr>
        <p:txBody>
          <a:bodyPr>
            <a:noAutofit/>
          </a:bodyPr>
          <a:p>
            <a:r>
              <a:rPr lang="en-US" sz="2400" b="1">
                <a:solidFill>
                  <a:srgbClr val="FF0000"/>
                </a:solidFill>
              </a:rPr>
              <a:t>What is Class And Object</a:t>
            </a:r>
            <a:endParaRPr lang="en-US" sz="2400" b="1">
              <a:solidFill>
                <a:srgbClr val="FF0000"/>
              </a:solidFill>
            </a:endParaRPr>
          </a:p>
        </p:txBody>
      </p:sp>
      <p:sp>
        <p:nvSpPr>
          <p:cNvPr id="3" name="Content Placeholder 2"/>
          <p:cNvSpPr>
            <a:spLocks noGrp="1"/>
          </p:cNvSpPr>
          <p:nvPr>
            <p:ph idx="1"/>
          </p:nvPr>
        </p:nvSpPr>
        <p:spPr>
          <a:xfrm>
            <a:off x="237490" y="388620"/>
            <a:ext cx="10515600" cy="6153785"/>
          </a:xfrm>
        </p:spPr>
        <p:txBody>
          <a:bodyPr/>
          <a:p>
            <a:pPr marL="0" indent="0">
              <a:buNone/>
            </a:pPr>
            <a:r>
              <a:rPr lang="en-US" altLang="en-US" sz="1800"/>
              <a:t>Definition of Class in Java:</a:t>
            </a:r>
            <a:endParaRPr lang="en-US" altLang="en-US" sz="1800"/>
          </a:p>
          <a:p>
            <a:pPr marL="0" indent="0">
              <a:buNone/>
            </a:pPr>
            <a:r>
              <a:rPr lang="en-US" altLang="en-US" sz="1800"/>
              <a:t>A class in Java is a user-defined blueprint or template from which objects are created.</a:t>
            </a:r>
            <a:endParaRPr lang="en-US" altLang="en-US" sz="1800"/>
          </a:p>
          <a:p>
            <a:pPr marL="0" indent="0">
              <a:buNone/>
            </a:pPr>
            <a:r>
              <a:rPr lang="en-US" altLang="en-US" sz="1800"/>
              <a:t>It defines fields (also called attributes or variables) and methods (functions) to describe the state and behavior of an object.</a:t>
            </a:r>
            <a:endParaRPr lang="en-US" altLang="en-US" sz="1800"/>
          </a:p>
          <a:p>
            <a:pPr marL="0" indent="0">
              <a:buNone/>
            </a:pPr>
            <a:endParaRPr lang="en-US" altLang="en-US" sz="1800"/>
          </a:p>
          <a:p>
            <a:pPr marL="0" indent="0">
              <a:buNone/>
            </a:pPr>
            <a:r>
              <a:rPr lang="en-US" altLang="en-US" sz="1800"/>
              <a:t>In simple terms:</a:t>
            </a:r>
            <a:endParaRPr lang="en-US" altLang="en-US" sz="1800"/>
          </a:p>
          <a:p>
            <a:pPr marL="0" indent="0">
              <a:buNone/>
            </a:pPr>
            <a:r>
              <a:rPr lang="en-US" altLang="en-US" sz="1800"/>
              <a:t>A class defines what an object has (data) and what it can do (methods).</a:t>
            </a:r>
            <a:endParaRPr lang="en-US" altLang="en-US" sz="1800"/>
          </a:p>
          <a:p>
            <a:pPr marL="0" indent="0">
              <a:buNone/>
            </a:pPr>
            <a:endParaRPr lang="en-US" altLang="en-US" sz="1800"/>
          </a:p>
          <a:p>
            <a:pPr marL="0" indent="0">
              <a:buNone/>
            </a:pPr>
            <a:r>
              <a:rPr lang="en-US" altLang="en-US" sz="1800"/>
              <a:t> Definition of Object in Java:</a:t>
            </a:r>
            <a:endParaRPr lang="en-US" altLang="en-US" sz="1800"/>
          </a:p>
          <a:p>
            <a:pPr marL="0" indent="0">
              <a:buNone/>
            </a:pPr>
            <a:r>
              <a:rPr lang="en-US" altLang="en-US" sz="1800"/>
              <a:t>An object is an instance of a class.</a:t>
            </a:r>
            <a:endParaRPr lang="en-US" altLang="en-US" sz="1800"/>
          </a:p>
          <a:p>
            <a:pPr marL="0" indent="0">
              <a:buNone/>
            </a:pPr>
            <a:r>
              <a:rPr lang="en-US" altLang="en-US" sz="1800"/>
              <a:t>It is a real-world entity with a unique identity, actual data (state), and behavior defined by its class.</a:t>
            </a:r>
            <a:endParaRPr lang="en-US" altLang="en-US" sz="1800"/>
          </a:p>
          <a:p>
            <a:pPr marL="0" indent="0">
              <a:buNone/>
            </a:pPr>
            <a:endParaRPr lang="en-US" altLang="en-US" sz="1800"/>
          </a:p>
          <a:p>
            <a:pPr marL="0" indent="0">
              <a:buNone/>
            </a:pPr>
            <a:r>
              <a:rPr lang="en-US" altLang="en-US" sz="1800"/>
              <a:t>In simple terms:</a:t>
            </a:r>
            <a:endParaRPr lang="en-US" altLang="en-US" sz="1800"/>
          </a:p>
          <a:p>
            <a:pPr marL="0" indent="0">
              <a:buNone/>
            </a:pPr>
            <a:r>
              <a:rPr lang="en-US" altLang="en-US" sz="1800"/>
              <a:t>An object is a real, usable version of a class — it holds actual values and can perform actions.</a:t>
            </a:r>
            <a:endParaRPr lang="en-US" altLang="en-US" sz="18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112395" y="3036570"/>
          <a:ext cx="11976100" cy="2255520"/>
        </p:xfrm>
        <a:graphic>
          <a:graphicData uri="http://schemas.openxmlformats.org/drawingml/2006/table">
            <a:tbl>
              <a:tblPr/>
              <a:tblGrid>
                <a:gridCol w="5988050"/>
                <a:gridCol w="5988050"/>
              </a:tblGrid>
              <a:tr h="375920">
                <a:tc>
                  <a:txBody>
                    <a:bodyPr/>
                    <a:p>
                      <a:pPr algn="ctr"/>
                      <a:r>
                        <a:rPr sz="2400" b="1"/>
                        <a:t>Term</a:t>
                      </a:r>
                      <a:endParaRPr sz="2400" b="1"/>
                    </a:p>
                  </a:txBody>
                  <a:tcPr marL="0" marR="0" marT="0" marB="0" anchor="ctr" anchorCtr="0">
                    <a:lnL>
                      <a:noFill/>
                    </a:lnL>
                    <a:lnR>
                      <a:noFill/>
                    </a:lnR>
                    <a:lnT>
                      <a:noFill/>
                    </a:lnT>
                    <a:lnB>
                      <a:noFill/>
                    </a:lnB>
                    <a:noFill/>
                  </a:tcPr>
                </a:tc>
                <a:tc>
                  <a:txBody>
                    <a:bodyPr/>
                    <a:p>
                      <a:pPr algn="ctr"/>
                      <a:r>
                        <a:rPr sz="2400" b="1"/>
                        <a:t>Purpose</a:t>
                      </a:r>
                      <a:endParaRPr sz="2400" b="1"/>
                    </a:p>
                  </a:txBody>
                  <a:tcPr marL="0" marR="0" marT="0" marB="0" anchor="ctr" anchorCtr="0">
                    <a:lnL>
                      <a:noFill/>
                    </a:lnL>
                    <a:lnR>
                      <a:noFill/>
                    </a:lnR>
                    <a:lnT>
                      <a:noFill/>
                    </a:lnT>
                    <a:lnB>
                      <a:noFill/>
                    </a:lnB>
                    <a:noFill/>
                  </a:tcPr>
                </a:tc>
              </a:tr>
              <a:tr h="375920">
                <a:tc>
                  <a:txBody>
                    <a:bodyPr/>
                    <a:p>
                      <a:r>
                        <a:rPr sz="2000"/>
                        <a:t>private</a:t>
                      </a:r>
                      <a:endParaRPr sz="2000"/>
                    </a:p>
                  </a:txBody>
                  <a:tcPr marL="0" marR="0" marT="0" marB="0" anchor="ctr" anchorCtr="0">
                    <a:lnL>
                      <a:noFill/>
                    </a:lnL>
                    <a:lnR>
                      <a:noFill/>
                    </a:lnR>
                    <a:lnT>
                      <a:noFill/>
                    </a:lnT>
                    <a:lnB>
                      <a:noFill/>
                    </a:lnB>
                    <a:noFill/>
                  </a:tcPr>
                </a:tc>
                <a:tc>
                  <a:txBody>
                    <a:bodyPr/>
                    <a:p>
                      <a:r>
                        <a:rPr sz="2000"/>
                        <a:t>Hides variables</a:t>
                      </a:r>
                      <a:endParaRPr sz="2000"/>
                    </a:p>
                  </a:txBody>
                  <a:tcPr marL="0" marR="0" marT="0" marB="0" anchor="ctr" anchorCtr="0">
                    <a:lnL>
                      <a:noFill/>
                    </a:lnL>
                    <a:lnR>
                      <a:noFill/>
                    </a:lnR>
                    <a:lnT>
                      <a:noFill/>
                    </a:lnT>
                    <a:lnB>
                      <a:noFill/>
                    </a:lnB>
                    <a:noFill/>
                  </a:tcPr>
                </a:tc>
              </a:tr>
              <a:tr h="375920">
                <a:tc>
                  <a:txBody>
                    <a:bodyPr/>
                    <a:p>
                      <a:r>
                        <a:rPr sz="2000"/>
                        <a:t>public</a:t>
                      </a:r>
                      <a:endParaRPr sz="2000"/>
                    </a:p>
                  </a:txBody>
                  <a:tcPr marL="0" marR="0" marT="0" marB="0" anchor="ctr" anchorCtr="0">
                    <a:lnL>
                      <a:noFill/>
                    </a:lnL>
                    <a:lnR>
                      <a:noFill/>
                    </a:lnR>
                    <a:lnT>
                      <a:noFill/>
                    </a:lnT>
                    <a:lnB>
                      <a:noFill/>
                    </a:lnB>
                    <a:noFill/>
                  </a:tcPr>
                </a:tc>
                <a:tc>
                  <a:txBody>
                    <a:bodyPr/>
                    <a:p>
                      <a:r>
                        <a:rPr sz="2000"/>
                        <a:t>Exposes necessary methods</a:t>
                      </a:r>
                      <a:endParaRPr sz="2000"/>
                    </a:p>
                  </a:txBody>
                  <a:tcPr marL="0" marR="0" marT="0" marB="0" anchor="ctr" anchorCtr="0">
                    <a:lnL>
                      <a:noFill/>
                    </a:lnL>
                    <a:lnR>
                      <a:noFill/>
                    </a:lnR>
                    <a:lnT>
                      <a:noFill/>
                    </a:lnT>
                    <a:lnB>
                      <a:noFill/>
                    </a:lnB>
                    <a:noFill/>
                  </a:tcPr>
                </a:tc>
              </a:tr>
              <a:tr h="375920">
                <a:tc>
                  <a:txBody>
                    <a:bodyPr/>
                    <a:p>
                      <a:r>
                        <a:rPr sz="2000"/>
                        <a:t>get()</a:t>
                      </a:r>
                      <a:endParaRPr sz="2000"/>
                    </a:p>
                  </a:txBody>
                  <a:tcPr marL="0" marR="0" marT="0" marB="0" anchor="ctr" anchorCtr="0">
                    <a:lnL>
                      <a:noFill/>
                    </a:lnL>
                    <a:lnR>
                      <a:noFill/>
                    </a:lnR>
                    <a:lnT>
                      <a:noFill/>
                    </a:lnT>
                    <a:lnB>
                      <a:noFill/>
                    </a:lnB>
                    <a:noFill/>
                  </a:tcPr>
                </a:tc>
                <a:tc>
                  <a:txBody>
                    <a:bodyPr/>
                    <a:p>
                      <a:r>
                        <a:rPr sz="2000"/>
                        <a:t>Accesses private variable</a:t>
                      </a:r>
                      <a:endParaRPr sz="2000"/>
                    </a:p>
                  </a:txBody>
                  <a:tcPr marL="0" marR="0" marT="0" marB="0" anchor="ctr" anchorCtr="0">
                    <a:lnL>
                      <a:noFill/>
                    </a:lnL>
                    <a:lnR>
                      <a:noFill/>
                    </a:lnR>
                    <a:lnT>
                      <a:noFill/>
                    </a:lnT>
                    <a:lnB>
                      <a:noFill/>
                    </a:lnB>
                    <a:noFill/>
                  </a:tcPr>
                </a:tc>
              </a:tr>
              <a:tr h="375920">
                <a:tc>
                  <a:txBody>
                    <a:bodyPr/>
                    <a:p>
                      <a:r>
                        <a:rPr sz="2000"/>
                        <a:t>set()</a:t>
                      </a:r>
                      <a:endParaRPr sz="2000"/>
                    </a:p>
                  </a:txBody>
                  <a:tcPr marL="0" marR="0" marT="0" marB="0" anchor="ctr" anchorCtr="0">
                    <a:lnL>
                      <a:noFill/>
                    </a:lnL>
                    <a:lnR>
                      <a:noFill/>
                    </a:lnR>
                    <a:lnT>
                      <a:noFill/>
                    </a:lnT>
                    <a:lnB>
                      <a:noFill/>
                    </a:lnB>
                    <a:noFill/>
                  </a:tcPr>
                </a:tc>
                <a:tc>
                  <a:txBody>
                    <a:bodyPr/>
                    <a:p>
                      <a:r>
                        <a:rPr sz="2000"/>
                        <a:t>Updates private variable</a:t>
                      </a:r>
                      <a:endParaRPr sz="2000"/>
                    </a:p>
                  </a:txBody>
                  <a:tcPr marL="0" marR="0" marT="0" marB="0" anchor="ctr" anchorCtr="0">
                    <a:lnL>
                      <a:noFill/>
                    </a:lnL>
                    <a:lnR>
                      <a:noFill/>
                    </a:lnR>
                    <a:lnT>
                      <a:noFill/>
                    </a:lnT>
                    <a:lnB>
                      <a:noFill/>
                    </a:lnB>
                    <a:noFill/>
                  </a:tcPr>
                </a:tc>
              </a:tr>
              <a:tr h="375920">
                <a:tc>
                  <a:txBody>
                    <a:bodyPr/>
                    <a:p>
                      <a:r>
                        <a:rPr sz="2000"/>
                        <a:t>Class</a:t>
                      </a:r>
                      <a:endParaRPr sz="2000"/>
                    </a:p>
                  </a:txBody>
                  <a:tcPr marL="0" marR="0" marT="0" marB="0" anchor="ctr" anchorCtr="0">
                    <a:lnL>
                      <a:noFill/>
                    </a:lnL>
                    <a:lnR>
                      <a:noFill/>
                    </a:lnR>
                    <a:lnT>
                      <a:noFill/>
                    </a:lnT>
                    <a:lnB>
                      <a:noFill/>
                    </a:lnB>
                    <a:noFill/>
                  </a:tcPr>
                </a:tc>
                <a:tc>
                  <a:txBody>
                    <a:bodyPr/>
                    <a:p>
                      <a:r>
                        <a:rPr sz="2000"/>
                        <a:t>Wraps data + methods together</a:t>
                      </a:r>
                      <a:endParaRPr sz="2000"/>
                    </a:p>
                  </a:txBody>
                  <a:tcPr marL="0" marR="0" marT="0" marB="0" anchor="ctr" anchorCtr="0">
                    <a:lnL>
                      <a:noFill/>
                    </a:lnL>
                    <a:lnR>
                      <a:noFill/>
                    </a:lnR>
                    <a:lnT>
                      <a:noFill/>
                    </a:lnT>
                    <a:lnB>
                      <a:noFill/>
                    </a:lnB>
                    <a:noFill/>
                  </a:tcPr>
                </a:tc>
              </a:tr>
            </a:tbl>
          </a:graphicData>
        </a:graphic>
      </p:graphicFrame>
      <p:graphicFrame>
        <p:nvGraphicFramePr>
          <p:cNvPr id="5" name="Table 4"/>
          <p:cNvGraphicFramePr/>
          <p:nvPr>
            <p:custDataLst>
              <p:tags r:id="rId2"/>
            </p:custDataLst>
          </p:nvPr>
        </p:nvGraphicFramePr>
        <p:xfrm>
          <a:off x="182880" y="499745"/>
          <a:ext cx="11906250" cy="1496060"/>
        </p:xfrm>
        <a:graphic>
          <a:graphicData uri="http://schemas.openxmlformats.org/drawingml/2006/table">
            <a:tbl>
              <a:tblPr/>
              <a:tblGrid>
                <a:gridCol w="5953125"/>
                <a:gridCol w="5953125"/>
              </a:tblGrid>
              <a:tr h="374015">
                <a:tc>
                  <a:txBody>
                    <a:bodyPr/>
                    <a:p>
                      <a:pPr algn="ctr"/>
                      <a:r>
                        <a:rPr sz="2000" b="1"/>
                        <a:t>Feature</a:t>
                      </a:r>
                      <a:endParaRPr sz="2000" b="1"/>
                    </a:p>
                  </a:txBody>
                  <a:tcPr marL="0" marR="0" marT="0" marB="0" anchor="ctr" anchorCtr="0">
                    <a:lnL>
                      <a:noFill/>
                    </a:lnL>
                    <a:lnR>
                      <a:noFill/>
                    </a:lnR>
                    <a:lnT>
                      <a:noFill/>
                    </a:lnT>
                    <a:lnB>
                      <a:noFill/>
                    </a:lnB>
                    <a:noFill/>
                  </a:tcPr>
                </a:tc>
                <a:tc>
                  <a:txBody>
                    <a:bodyPr/>
                    <a:p>
                      <a:pPr algn="ctr"/>
                      <a:r>
                        <a:rPr sz="2000" b="1"/>
                        <a:t>Purpose</a:t>
                      </a:r>
                      <a:endParaRPr sz="2000" b="1"/>
                    </a:p>
                  </a:txBody>
                  <a:tcPr marL="0" marR="0" marT="0" marB="0" anchor="ctr" anchorCtr="0">
                    <a:lnL>
                      <a:noFill/>
                    </a:lnL>
                    <a:lnR>
                      <a:noFill/>
                    </a:lnR>
                    <a:lnT>
                      <a:noFill/>
                    </a:lnT>
                    <a:lnB>
                      <a:noFill/>
                    </a:lnB>
                    <a:noFill/>
                  </a:tcPr>
                </a:tc>
              </a:tr>
              <a:tr h="374015">
                <a:tc>
                  <a:txBody>
                    <a:bodyPr/>
                    <a:p>
                      <a:r>
                        <a:rPr sz="1800"/>
                        <a:t>private fields</a:t>
                      </a:r>
                      <a:endParaRPr sz="1800"/>
                    </a:p>
                  </a:txBody>
                  <a:tcPr marL="0" marR="0" marT="0" marB="0" anchor="ctr" anchorCtr="0">
                    <a:lnL>
                      <a:noFill/>
                    </a:lnL>
                    <a:lnR>
                      <a:noFill/>
                    </a:lnR>
                    <a:lnT>
                      <a:noFill/>
                    </a:lnT>
                    <a:lnB>
                      <a:noFill/>
                    </a:lnB>
                    <a:noFill/>
                  </a:tcPr>
                </a:tc>
                <a:tc>
                  <a:txBody>
                    <a:bodyPr/>
                    <a:p>
                      <a:r>
                        <a:rPr sz="1800"/>
                        <a:t>Hides data from outside classes (data hiding).</a:t>
                      </a:r>
                      <a:endParaRPr sz="1800"/>
                    </a:p>
                  </a:txBody>
                  <a:tcPr marL="0" marR="0" marT="0" marB="0" anchor="ctr" anchorCtr="0">
                    <a:lnL>
                      <a:noFill/>
                    </a:lnL>
                    <a:lnR>
                      <a:noFill/>
                    </a:lnR>
                    <a:lnT>
                      <a:noFill/>
                    </a:lnT>
                    <a:lnB>
                      <a:noFill/>
                    </a:lnB>
                    <a:noFill/>
                  </a:tcPr>
                </a:tc>
              </a:tr>
              <a:tr h="374015">
                <a:tc>
                  <a:txBody>
                    <a:bodyPr/>
                    <a:p>
                      <a:r>
                        <a:rPr sz="1800"/>
                        <a:t>Public getters/setters</a:t>
                      </a:r>
                      <a:endParaRPr sz="1800"/>
                    </a:p>
                  </a:txBody>
                  <a:tcPr marL="0" marR="0" marT="0" marB="0" anchor="ctr" anchorCtr="0">
                    <a:lnL>
                      <a:noFill/>
                    </a:lnL>
                    <a:lnR>
                      <a:noFill/>
                    </a:lnR>
                    <a:lnT>
                      <a:noFill/>
                    </a:lnT>
                    <a:lnB>
                      <a:noFill/>
                    </a:lnB>
                    <a:noFill/>
                  </a:tcPr>
                </a:tc>
                <a:tc>
                  <a:txBody>
                    <a:bodyPr/>
                    <a:p>
                      <a:r>
                        <a:rPr sz="1800"/>
                        <a:t>Provides controlled access to private fields.</a:t>
                      </a:r>
                      <a:endParaRPr sz="1800"/>
                    </a:p>
                  </a:txBody>
                  <a:tcPr marL="0" marR="0" marT="0" marB="0" anchor="ctr" anchorCtr="0">
                    <a:lnL>
                      <a:noFill/>
                    </a:lnL>
                    <a:lnR>
                      <a:noFill/>
                    </a:lnR>
                    <a:lnT>
                      <a:noFill/>
                    </a:lnT>
                    <a:lnB>
                      <a:noFill/>
                    </a:lnB>
                    <a:noFill/>
                  </a:tcPr>
                </a:tc>
              </a:tr>
              <a:tr h="374015">
                <a:tc>
                  <a:txBody>
                    <a:bodyPr/>
                    <a:p>
                      <a:r>
                        <a:rPr sz="1800"/>
                        <a:t>Class</a:t>
                      </a:r>
                      <a:endParaRPr sz="1800"/>
                    </a:p>
                  </a:txBody>
                  <a:tcPr marL="0" marR="0" marT="0" marB="0" anchor="ctr" anchorCtr="0">
                    <a:lnL>
                      <a:noFill/>
                    </a:lnL>
                    <a:lnR>
                      <a:noFill/>
                    </a:lnR>
                    <a:lnT>
                      <a:noFill/>
                    </a:lnT>
                    <a:lnB>
                      <a:noFill/>
                    </a:lnB>
                    <a:noFill/>
                  </a:tcPr>
                </a:tc>
                <a:tc>
                  <a:txBody>
                    <a:bodyPr/>
                    <a:p>
                      <a:r>
                        <a:rPr sz="1800"/>
                        <a:t>Combines variables and methods into a single unit.</a:t>
                      </a:r>
                      <a:endParaRPr sz="1800"/>
                    </a:p>
                  </a:txBody>
                  <a:tcPr marL="0" marR="0" marT="0" marB="0" anchor="ctr" anchorCtr="0">
                    <a:lnL>
                      <a:noFill/>
                    </a:lnL>
                    <a:lnR>
                      <a:noFill/>
                    </a:lnR>
                    <a:lnT>
                      <a:noFill/>
                    </a:lnT>
                    <a:lnB>
                      <a:noFill/>
                    </a:lnB>
                    <a:noFill/>
                  </a:tcPr>
                </a:tc>
              </a:tr>
            </a:tbl>
          </a:graphicData>
        </a:graphic>
      </p:graphicFrame>
      <p:sp>
        <p:nvSpPr>
          <p:cNvPr id="6" name="Text Box 5"/>
          <p:cNvSpPr txBox="1"/>
          <p:nvPr/>
        </p:nvSpPr>
        <p:spPr>
          <a:xfrm>
            <a:off x="112395" y="0"/>
            <a:ext cx="11977370" cy="340360"/>
          </a:xfrm>
          <a:prstGeom prst="rect">
            <a:avLst/>
          </a:prstGeom>
        </p:spPr>
        <p:txBody>
          <a:bodyPr wrap="square">
            <a:noAutofit/>
          </a:bodyPr>
          <a:p>
            <a:r>
              <a:rPr sz="2000" b="1"/>
              <a:t>Key Features of Encapsulation in Java:</a:t>
            </a:r>
            <a:endParaRPr sz="2000" b="1"/>
          </a:p>
        </p:txBody>
      </p:sp>
      <p:sp>
        <p:nvSpPr>
          <p:cNvPr id="9" name="Text Box 8"/>
          <p:cNvSpPr txBox="1"/>
          <p:nvPr/>
        </p:nvSpPr>
        <p:spPr>
          <a:xfrm>
            <a:off x="112395" y="2430780"/>
            <a:ext cx="6096000" cy="398780"/>
          </a:xfrm>
          <a:prstGeom prst="rect">
            <a:avLst/>
          </a:prstGeom>
          <a:noFill/>
        </p:spPr>
        <p:txBody>
          <a:bodyPr wrap="square" rtlCol="0" anchor="t">
            <a:spAutoFit/>
          </a:bodyPr>
          <a:p>
            <a:r>
              <a:rPr lang="en-US" altLang="en-US" sz="2000" b="1">
                <a:sym typeface="+mn-ea"/>
              </a:rPr>
              <a:t>Summary</a:t>
            </a:r>
            <a:endParaRPr lang="en-US" altLang="en-US" sz="2000" b="1">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22250" y="0"/>
            <a:ext cx="10515600" cy="461645"/>
          </a:xfrm>
        </p:spPr>
        <p:txBody>
          <a:bodyPr/>
          <a:p>
            <a:r>
              <a:rPr lang="en-US" sz="2400" b="1">
                <a:solidFill>
                  <a:srgbClr val="FF0000"/>
                </a:solidFill>
              </a:rPr>
              <a:t>Access Specifiers in java</a:t>
            </a:r>
            <a:endParaRPr lang="en-US" sz="2400" b="1">
              <a:solidFill>
                <a:srgbClr val="FF0000"/>
              </a:solidFill>
            </a:endParaRPr>
          </a:p>
        </p:txBody>
      </p:sp>
      <p:sp>
        <p:nvSpPr>
          <p:cNvPr id="3" name="Content Placeholder 2"/>
          <p:cNvSpPr>
            <a:spLocks noGrp="1"/>
          </p:cNvSpPr>
          <p:nvPr>
            <p:ph idx="1"/>
          </p:nvPr>
        </p:nvSpPr>
        <p:spPr>
          <a:xfrm>
            <a:off x="90805" y="461645"/>
            <a:ext cx="11906885" cy="6396990"/>
          </a:xfrm>
        </p:spPr>
        <p:txBody>
          <a:bodyPr/>
          <a:p>
            <a:r>
              <a:rPr lang="en-US" altLang="en-US" sz="2000"/>
              <a:t>In Java, access specifiers (also called access modifiers) define the visibility or access level of classes, variables, constructors, and methods. They control which parts of the program can access specific code elements.</a:t>
            </a:r>
            <a:endParaRPr lang="en-US" altLang="en-US" sz="2000"/>
          </a:p>
          <a:p>
            <a:endParaRPr lang="en-US" altLang="en-US" sz="2000"/>
          </a:p>
        </p:txBody>
      </p:sp>
      <p:graphicFrame>
        <p:nvGraphicFramePr>
          <p:cNvPr id="4" name="Table 3"/>
          <p:cNvGraphicFramePr/>
          <p:nvPr>
            <p:custDataLst>
              <p:tags r:id="rId1"/>
            </p:custDataLst>
          </p:nvPr>
        </p:nvGraphicFramePr>
        <p:xfrm>
          <a:off x="90805" y="1193165"/>
          <a:ext cx="11906250" cy="2400300"/>
        </p:xfrm>
        <a:graphic>
          <a:graphicData uri="http://schemas.openxmlformats.org/drawingml/2006/table">
            <a:tbl>
              <a:tblPr/>
              <a:tblGrid>
                <a:gridCol w="2381250"/>
                <a:gridCol w="2381250"/>
                <a:gridCol w="2381250"/>
                <a:gridCol w="2381250"/>
                <a:gridCol w="2381250"/>
              </a:tblGrid>
              <a:tr h="480060">
                <a:tc>
                  <a:txBody>
                    <a:bodyPr/>
                    <a:p>
                      <a:pPr algn="ctr"/>
                      <a:r>
                        <a:rPr sz="1600" b="1"/>
                        <a:t>Access Modifier</a:t>
                      </a:r>
                      <a:endParaRPr sz="16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b="1"/>
                        <a:t>Class</a:t>
                      </a:r>
                      <a:endParaRPr sz="16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b="1"/>
                        <a:t>Package</a:t>
                      </a:r>
                      <a:endParaRPr sz="16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b="1"/>
                        <a:t>Subclass</a:t>
                      </a:r>
                      <a:endParaRPr sz="16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b="1"/>
                        <a:t>Everywhere</a:t>
                      </a:r>
                      <a:endParaRPr sz="1600" b="1"/>
                    </a:p>
                  </a:txBody>
                  <a:tcPr marL="0" marR="0" marT="0" marB="0" anchor="ctr" anchorCtr="0">
                    <a:lnL>
                      <a:noFill/>
                    </a:lnL>
                    <a:lnR>
                      <a:noFill/>
                    </a:lnR>
                    <a:lnT>
                      <a:noFill/>
                    </a:lnT>
                    <a:lnB>
                      <a:noFill/>
                    </a:lnB>
                    <a:solidFill>
                      <a:schemeClr val="accent1">
                        <a:lumMod val="40000"/>
                        <a:lumOff val="60000"/>
                      </a:schemeClr>
                    </a:solidFill>
                  </a:tcPr>
                </a:tc>
              </a:tr>
              <a:tr h="480060">
                <a:tc>
                  <a:txBody>
                    <a:bodyPr/>
                    <a:p>
                      <a:pPr algn="ctr"/>
                      <a:r>
                        <a:rPr sz="1600" b="1"/>
                        <a:t>public</a:t>
                      </a:r>
                      <a:endParaRPr sz="16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b="1"/>
                        <a:t>✅</a:t>
                      </a:r>
                      <a:endParaRPr sz="16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b="1"/>
                        <a:t>✅</a:t>
                      </a:r>
                      <a:endParaRPr sz="16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b="1"/>
                        <a:t>✅</a:t>
                      </a:r>
                      <a:endParaRPr sz="16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b="1"/>
                        <a:t>✅</a:t>
                      </a:r>
                      <a:endParaRPr sz="1600" b="1"/>
                    </a:p>
                  </a:txBody>
                  <a:tcPr marL="0" marR="0" marT="0" marB="0" anchor="ctr" anchorCtr="0">
                    <a:lnL>
                      <a:noFill/>
                    </a:lnL>
                    <a:lnR>
                      <a:noFill/>
                    </a:lnR>
                    <a:lnT>
                      <a:noFill/>
                    </a:lnT>
                    <a:lnB>
                      <a:noFill/>
                    </a:lnB>
                    <a:solidFill>
                      <a:schemeClr val="accent1">
                        <a:lumMod val="40000"/>
                        <a:lumOff val="60000"/>
                      </a:schemeClr>
                    </a:solidFill>
                  </a:tcPr>
                </a:tc>
              </a:tr>
              <a:tr h="480060">
                <a:tc>
                  <a:txBody>
                    <a:bodyPr/>
                    <a:p>
                      <a:pPr algn="ctr"/>
                      <a:r>
                        <a:rPr sz="1600" b="1"/>
                        <a:t>protected</a:t>
                      </a:r>
                      <a:endParaRPr sz="16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b="1"/>
                        <a:t>✅</a:t>
                      </a:r>
                      <a:endParaRPr sz="16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b="1"/>
                        <a:t>✅</a:t>
                      </a:r>
                      <a:endParaRPr sz="16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b="1"/>
                        <a:t>✅</a:t>
                      </a:r>
                      <a:endParaRPr sz="16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b="1"/>
                        <a:t>❌</a:t>
                      </a:r>
                      <a:endParaRPr sz="1600" b="1"/>
                    </a:p>
                  </a:txBody>
                  <a:tcPr marL="0" marR="0" marT="0" marB="0" anchor="ctr" anchorCtr="0">
                    <a:lnL>
                      <a:noFill/>
                    </a:lnL>
                    <a:lnR>
                      <a:noFill/>
                    </a:lnR>
                    <a:lnT>
                      <a:noFill/>
                    </a:lnT>
                    <a:lnB>
                      <a:noFill/>
                    </a:lnB>
                    <a:solidFill>
                      <a:schemeClr val="accent1">
                        <a:lumMod val="40000"/>
                        <a:lumOff val="60000"/>
                      </a:schemeClr>
                    </a:solidFill>
                  </a:tcPr>
                </a:tc>
              </a:tr>
              <a:tr h="480060">
                <a:tc>
                  <a:txBody>
                    <a:bodyPr/>
                    <a:p>
                      <a:pPr algn="ctr"/>
                      <a:r>
                        <a:rPr sz="1600" b="1"/>
                        <a:t>default(no keyword)</a:t>
                      </a:r>
                      <a:endParaRPr sz="16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b="1"/>
                        <a:t>✅</a:t>
                      </a:r>
                      <a:endParaRPr sz="16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b="1"/>
                        <a:t>✅</a:t>
                      </a:r>
                      <a:endParaRPr sz="16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b="1"/>
                        <a:t>❌</a:t>
                      </a:r>
                      <a:endParaRPr sz="16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b="1"/>
                        <a:t>❌</a:t>
                      </a:r>
                      <a:endParaRPr sz="1600" b="1"/>
                    </a:p>
                  </a:txBody>
                  <a:tcPr marL="0" marR="0" marT="0" marB="0" anchor="ctr" anchorCtr="0">
                    <a:lnL>
                      <a:noFill/>
                    </a:lnL>
                    <a:lnR>
                      <a:noFill/>
                    </a:lnR>
                    <a:lnT>
                      <a:noFill/>
                    </a:lnT>
                    <a:lnB>
                      <a:noFill/>
                    </a:lnB>
                    <a:solidFill>
                      <a:schemeClr val="accent1">
                        <a:lumMod val="40000"/>
                        <a:lumOff val="60000"/>
                      </a:schemeClr>
                    </a:solidFill>
                  </a:tcPr>
                </a:tc>
              </a:tr>
              <a:tr h="480060">
                <a:tc>
                  <a:txBody>
                    <a:bodyPr/>
                    <a:p>
                      <a:pPr algn="ctr"/>
                      <a:r>
                        <a:rPr sz="1600" b="1"/>
                        <a:t>private</a:t>
                      </a:r>
                      <a:endParaRPr sz="16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b="1"/>
                        <a:t>✅</a:t>
                      </a:r>
                      <a:endParaRPr sz="16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b="1"/>
                        <a:t>❌</a:t>
                      </a:r>
                      <a:endParaRPr sz="16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b="1"/>
                        <a:t>❌</a:t>
                      </a:r>
                      <a:endParaRPr sz="16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b="1"/>
                        <a:t>❌</a:t>
                      </a:r>
                      <a:endParaRPr sz="1600" b="1"/>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sp>
        <p:nvSpPr>
          <p:cNvPr id="5" name="Text Box 4"/>
          <p:cNvSpPr txBox="1"/>
          <p:nvPr/>
        </p:nvSpPr>
        <p:spPr>
          <a:xfrm>
            <a:off x="91440" y="4049395"/>
            <a:ext cx="2707640" cy="2651125"/>
          </a:xfrm>
          <a:prstGeom prst="rect">
            <a:avLst/>
          </a:prstGeom>
        </p:spPr>
        <p:txBody>
          <a:bodyPr wrap="square">
            <a:noAutofit/>
          </a:bodyPr>
          <a:p>
            <a:pPr>
              <a:spcAft>
                <a:spcPct val="60000"/>
              </a:spcAft>
            </a:pPr>
            <a:r>
              <a:rPr sz="2200" b="1"/>
              <a:t>1. public</a:t>
            </a:r>
            <a:endParaRPr sz="2200" b="1"/>
          </a:p>
          <a:p>
            <a:pPr>
              <a:spcAft>
                <a:spcPct val="60000"/>
              </a:spcAft>
            </a:pPr>
            <a:r>
              <a:rPr sz="1600"/>
              <a:t>Accessible from everywhere</a:t>
            </a:r>
            <a:endParaRPr sz="1600"/>
          </a:p>
          <a:p>
            <a:pPr>
              <a:buFont typeface="Arial" panose="020B0604020202020204"/>
              <a:buChar char="•"/>
            </a:pPr>
            <a:r>
              <a:rPr sz="1600"/>
              <a:t>Use when the method/class/variable should be globally available</a:t>
            </a:r>
            <a:endParaRPr sz="1600"/>
          </a:p>
        </p:txBody>
      </p:sp>
      <p:sp>
        <p:nvSpPr>
          <p:cNvPr id="6" name="Text Box 5"/>
          <p:cNvSpPr txBox="1"/>
          <p:nvPr/>
        </p:nvSpPr>
        <p:spPr>
          <a:xfrm>
            <a:off x="2915285" y="4049395"/>
            <a:ext cx="2795270" cy="2088515"/>
          </a:xfrm>
          <a:prstGeom prst="rect">
            <a:avLst/>
          </a:prstGeom>
        </p:spPr>
        <p:txBody>
          <a:bodyPr wrap="square">
            <a:spAutoFit/>
          </a:bodyPr>
          <a:p>
            <a:pPr>
              <a:spcAft>
                <a:spcPct val="60000"/>
              </a:spcAft>
            </a:pPr>
            <a:r>
              <a:rPr sz="2200" b="1"/>
              <a:t>2. protected</a:t>
            </a:r>
            <a:endParaRPr sz="2200" b="1"/>
          </a:p>
          <a:p>
            <a:pPr>
              <a:spcAft>
                <a:spcPct val="60000"/>
              </a:spcAft>
            </a:pPr>
            <a:r>
              <a:rPr sz="1600"/>
              <a:t>Accessible within the same package and subclasses (even in different packages)</a:t>
            </a:r>
            <a:endParaRPr sz="1600"/>
          </a:p>
          <a:p>
            <a:pPr>
              <a:buFont typeface="Arial" panose="020B0604020202020204"/>
              <a:buChar char="•"/>
            </a:pPr>
            <a:endParaRPr sz="1600"/>
          </a:p>
          <a:p>
            <a:pPr>
              <a:buFont typeface="Arial" panose="020B0604020202020204"/>
              <a:buChar char="•"/>
            </a:pPr>
            <a:r>
              <a:rPr sz="1600"/>
              <a:t>Commonly used in inheritance</a:t>
            </a:r>
            <a:endParaRPr sz="1600"/>
          </a:p>
        </p:txBody>
      </p:sp>
      <p:sp>
        <p:nvSpPr>
          <p:cNvPr id="7" name="Text Box 6"/>
          <p:cNvSpPr txBox="1"/>
          <p:nvPr/>
        </p:nvSpPr>
        <p:spPr>
          <a:xfrm>
            <a:off x="5826760" y="4049395"/>
            <a:ext cx="2766060" cy="2384425"/>
          </a:xfrm>
          <a:prstGeom prst="rect">
            <a:avLst/>
          </a:prstGeom>
        </p:spPr>
        <p:txBody>
          <a:bodyPr wrap="square">
            <a:noAutofit/>
          </a:bodyPr>
          <a:p>
            <a:pPr>
              <a:spcAft>
                <a:spcPct val="60000"/>
              </a:spcAft>
            </a:pPr>
            <a:r>
              <a:rPr sz="2200" b="1"/>
              <a:t>3. Default (No Modifier)</a:t>
            </a:r>
            <a:endParaRPr sz="2200" b="1"/>
          </a:p>
          <a:p>
            <a:pPr>
              <a:spcAft>
                <a:spcPct val="60000"/>
              </a:spcAft>
            </a:pPr>
            <a:r>
              <a:rPr sz="1600"/>
              <a:t>If no access modifier is specified, it's package-private</a:t>
            </a:r>
            <a:endParaRPr sz="1600"/>
          </a:p>
          <a:p>
            <a:pPr>
              <a:buFont typeface="Arial" panose="020B0604020202020204"/>
              <a:buChar char="•"/>
            </a:pPr>
            <a:endParaRPr sz="1600"/>
          </a:p>
          <a:p>
            <a:pPr>
              <a:buFont typeface="Arial" panose="020B0604020202020204"/>
              <a:buChar char="•"/>
            </a:pPr>
            <a:r>
              <a:rPr sz="1600"/>
              <a:t>Accessible only within the same package</a:t>
            </a:r>
            <a:endParaRPr sz="1600"/>
          </a:p>
          <a:p>
            <a:endParaRPr sz="1600"/>
          </a:p>
        </p:txBody>
      </p:sp>
      <p:sp>
        <p:nvSpPr>
          <p:cNvPr id="8" name="Text Box 7"/>
          <p:cNvSpPr txBox="1"/>
          <p:nvPr/>
        </p:nvSpPr>
        <p:spPr>
          <a:xfrm>
            <a:off x="8709025" y="4098925"/>
            <a:ext cx="3287395" cy="2334895"/>
          </a:xfrm>
          <a:prstGeom prst="rect">
            <a:avLst/>
          </a:prstGeom>
        </p:spPr>
        <p:txBody>
          <a:bodyPr wrap="square">
            <a:spAutoFit/>
          </a:bodyPr>
          <a:p>
            <a:pPr>
              <a:spcAft>
                <a:spcPct val="60000"/>
              </a:spcAft>
            </a:pPr>
            <a:r>
              <a:rPr sz="2200" b="1"/>
              <a:t> 4. private</a:t>
            </a:r>
            <a:endParaRPr sz="2200" b="1"/>
          </a:p>
          <a:p>
            <a:pPr>
              <a:spcAft>
                <a:spcPct val="60000"/>
              </a:spcAft>
            </a:pPr>
            <a:r>
              <a:rPr sz="1600"/>
              <a:t>Accessible only within the same class</a:t>
            </a:r>
            <a:endParaRPr sz="1600"/>
          </a:p>
          <a:p>
            <a:pPr>
              <a:buFont typeface="Arial" panose="020B0604020202020204"/>
              <a:buChar char="•"/>
            </a:pPr>
            <a:endParaRPr sz="1600"/>
          </a:p>
          <a:p>
            <a:pPr>
              <a:buFont typeface="Arial" panose="020B0604020202020204"/>
              <a:buChar char="•"/>
            </a:pPr>
            <a:r>
              <a:rPr sz="1600"/>
              <a:t>Often used for encapsulation (e.g., private fields with public getters/setters)</a:t>
            </a:r>
            <a:endParaRPr sz="1600"/>
          </a:p>
          <a:p>
            <a:endParaRPr sz="16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52095" y="0"/>
            <a:ext cx="11101705" cy="329565"/>
          </a:xfrm>
        </p:spPr>
        <p:txBody>
          <a:bodyPr>
            <a:normAutofit fontScale="90000"/>
          </a:bodyPr>
          <a:p>
            <a:r>
              <a:rPr lang="en-US" altLang="en-US" sz="2800" b="1">
                <a:solidFill>
                  <a:srgbClr val="FF0000"/>
                </a:solidFill>
                <a:sym typeface="+mn-ea"/>
              </a:rPr>
              <a:t>Java Getters And Setters and toString() Method</a:t>
            </a:r>
            <a:endParaRPr lang="en-US" altLang="en-US" sz="2800" b="1">
              <a:solidFill>
                <a:srgbClr val="FF0000"/>
              </a:solidFill>
              <a:sym typeface="+mn-ea"/>
            </a:endParaRPr>
          </a:p>
        </p:txBody>
      </p:sp>
      <p:sp>
        <p:nvSpPr>
          <p:cNvPr id="3" name="Content Placeholder 2"/>
          <p:cNvSpPr>
            <a:spLocks noGrp="1"/>
          </p:cNvSpPr>
          <p:nvPr>
            <p:ph idx="1"/>
          </p:nvPr>
        </p:nvSpPr>
        <p:spPr>
          <a:xfrm>
            <a:off x="0" y="329565"/>
            <a:ext cx="12101195" cy="6269355"/>
          </a:xfrm>
        </p:spPr>
        <p:txBody>
          <a:bodyPr>
            <a:normAutofit lnSpcReduction="10000"/>
          </a:bodyPr>
          <a:p>
            <a:pPr marL="0" indent="0">
              <a:buNone/>
            </a:pPr>
            <a:r>
              <a:rPr lang="en-US" altLang="en-US" sz="1800"/>
              <a:t> What is it?</a:t>
            </a:r>
            <a:endParaRPr lang="en-US" altLang="en-US" sz="1800"/>
          </a:p>
          <a:p>
            <a:pPr marL="0" indent="0">
              <a:buNone/>
            </a:pPr>
            <a:r>
              <a:rPr lang="en-US" altLang="en-US" sz="1800"/>
              <a:t>toString() is a method from the Object class (which all classes inherit).</a:t>
            </a:r>
            <a:endParaRPr lang="en-US" altLang="en-US" sz="1800"/>
          </a:p>
          <a:p>
            <a:pPr marL="0" indent="0">
              <a:buNone/>
            </a:pPr>
            <a:r>
              <a:rPr lang="en-US" altLang="en-US" sz="1800"/>
              <a:t>It is used to return a string representation of an object.</a:t>
            </a:r>
            <a:endParaRPr lang="en-US" altLang="en-US" sz="1800"/>
          </a:p>
          <a:p>
            <a:pPr marL="0" indent="0">
              <a:buNone/>
            </a:pPr>
            <a:r>
              <a:rPr lang="en-US" altLang="en-US" sz="1800"/>
              <a:t> Why override it?</a:t>
            </a:r>
            <a:endParaRPr lang="en-US" altLang="en-US" sz="1800"/>
          </a:p>
          <a:p>
            <a:pPr marL="0" indent="0">
              <a:buNone/>
            </a:pPr>
            <a:r>
              <a:rPr lang="en-US" altLang="en-US" sz="1800"/>
              <a:t>By default, it returns something like ClassName@hashcode.</a:t>
            </a:r>
            <a:endParaRPr lang="en-US" altLang="en-US" sz="1800"/>
          </a:p>
          <a:p>
            <a:pPr marL="0" indent="0">
              <a:buNone/>
            </a:pPr>
            <a:r>
              <a:rPr lang="en-US" altLang="en-US" sz="1800"/>
              <a:t>You override it to provide a meaningful string output for your object.</a:t>
            </a:r>
            <a:endParaRPr lang="en-US" altLang="en-US" sz="1800"/>
          </a:p>
          <a:p>
            <a:pPr marL="0" indent="0">
              <a:buNone/>
            </a:pPr>
            <a:r>
              <a:rPr lang="en-US" altLang="en-US" sz="1800">
                <a:sym typeface="+mn-ea"/>
              </a:rPr>
              <a:t>1. Getter and Setter Methods</a:t>
            </a:r>
            <a:endParaRPr lang="en-US" altLang="en-US" sz="1800"/>
          </a:p>
          <a:p>
            <a:pPr marL="0" indent="0">
              <a:buNone/>
            </a:pPr>
            <a:r>
              <a:rPr lang="en-US" altLang="en-US" sz="1800">
                <a:sym typeface="+mn-ea"/>
              </a:rPr>
              <a:t> What are they?</a:t>
            </a:r>
            <a:endParaRPr lang="en-US" altLang="en-US" sz="1800"/>
          </a:p>
          <a:p>
            <a:pPr marL="0" indent="0">
              <a:buNone/>
            </a:pPr>
            <a:r>
              <a:rPr lang="en-US" altLang="en-US" sz="1800">
                <a:sym typeface="+mn-ea"/>
              </a:rPr>
              <a:t>Getters are methods used to retrieve the value of a private variable.</a:t>
            </a:r>
            <a:endParaRPr lang="en-US" altLang="en-US" sz="1800"/>
          </a:p>
          <a:p>
            <a:pPr marL="0" indent="0">
              <a:buNone/>
            </a:pPr>
            <a:r>
              <a:rPr lang="en-US" altLang="en-US" sz="1800">
                <a:sym typeface="+mn-ea"/>
              </a:rPr>
              <a:t>Setters are methods used to modify or set the value of a private variable.</a:t>
            </a:r>
            <a:endParaRPr lang="en-US" altLang="en-US" sz="1800"/>
          </a:p>
          <a:p>
            <a:pPr marL="0" indent="0">
              <a:buNone/>
            </a:pPr>
            <a:endParaRPr lang="en-US" altLang="en-US" sz="1800">
              <a:sym typeface="+mn-ea"/>
            </a:endParaRPr>
          </a:p>
          <a:p>
            <a:pPr marL="0" indent="0">
              <a:buNone/>
            </a:pPr>
            <a:r>
              <a:rPr lang="en-US" altLang="en-US" sz="1800">
                <a:sym typeface="+mn-ea"/>
              </a:rPr>
              <a:t> Why use them?</a:t>
            </a:r>
            <a:endParaRPr lang="en-US" altLang="en-US" sz="1800"/>
          </a:p>
          <a:p>
            <a:pPr marL="0" indent="0">
              <a:buNone/>
            </a:pPr>
            <a:r>
              <a:rPr lang="en-US" altLang="en-US" sz="1800">
                <a:sym typeface="+mn-ea"/>
              </a:rPr>
              <a:t>To follow the principle of encapsulation — keeping class fields private and accessing them via methods.</a:t>
            </a:r>
            <a:endParaRPr lang="en-US" altLang="en-US" sz="1800"/>
          </a:p>
          <a:p>
            <a:pPr marL="0" indent="0">
              <a:buNone/>
            </a:pPr>
            <a:r>
              <a:rPr lang="en-US" altLang="en-US" sz="1800">
                <a:sym typeface="+mn-ea"/>
              </a:rPr>
              <a:t>To control access to the fields — e.g., add validation inside the setter.</a:t>
            </a:r>
            <a:endParaRPr lang="en-US" altLang="en-US" sz="1800"/>
          </a:p>
          <a:p>
            <a:pPr marL="0" indent="0">
              <a:buNone/>
            </a:pPr>
            <a:endParaRPr lang="en-US" altLang="en-US" sz="1800"/>
          </a:p>
        </p:txBody>
      </p:sp>
      <p:graphicFrame>
        <p:nvGraphicFramePr>
          <p:cNvPr id="8" name="Table 7"/>
          <p:cNvGraphicFramePr/>
          <p:nvPr>
            <p:custDataLst>
              <p:tags r:id="rId1"/>
            </p:custDataLst>
          </p:nvPr>
        </p:nvGraphicFramePr>
        <p:xfrm>
          <a:off x="120650" y="5227320"/>
          <a:ext cx="11891010" cy="1506220"/>
        </p:xfrm>
        <a:graphic>
          <a:graphicData uri="http://schemas.openxmlformats.org/drawingml/2006/table">
            <a:tbl>
              <a:tblPr/>
              <a:tblGrid>
                <a:gridCol w="3963670"/>
                <a:gridCol w="3963670"/>
                <a:gridCol w="3963670"/>
              </a:tblGrid>
              <a:tr h="376555">
                <a:tc>
                  <a:txBody>
                    <a:bodyPr/>
                    <a:p>
                      <a:pPr algn="ctr"/>
                      <a:r>
                        <a:rPr sz="1800" b="1"/>
                        <a:t>Concept</a:t>
                      </a:r>
                      <a:endParaRPr sz="18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800" b="1"/>
                        <a:t>Purpose</a:t>
                      </a:r>
                      <a:endParaRPr sz="18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800" b="1"/>
                        <a:t>Example Call</a:t>
                      </a:r>
                      <a:endParaRPr sz="1800" b="1"/>
                    </a:p>
                  </a:txBody>
                  <a:tcPr marL="0" marR="0" marT="0" marB="0" anchor="ctr" anchorCtr="0">
                    <a:lnL>
                      <a:noFill/>
                    </a:lnL>
                    <a:lnR>
                      <a:noFill/>
                    </a:lnR>
                    <a:lnT>
                      <a:noFill/>
                    </a:lnT>
                    <a:lnB>
                      <a:noFill/>
                    </a:lnB>
                    <a:solidFill>
                      <a:schemeClr val="accent1">
                        <a:lumMod val="40000"/>
                        <a:lumOff val="60000"/>
                      </a:schemeClr>
                    </a:solidFill>
                  </a:tcPr>
                </a:tc>
              </a:tr>
              <a:tr h="376555">
                <a:tc>
                  <a:txBody>
                    <a:bodyPr/>
                    <a:p>
                      <a:pPr algn="ctr"/>
                      <a:r>
                        <a:rPr sz="1600"/>
                        <a:t>Getter</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a:t>Retrieve private field</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a:t>object.getName()</a:t>
                      </a:r>
                      <a:endParaRPr sz="1600"/>
                    </a:p>
                  </a:txBody>
                  <a:tcPr marL="0" marR="0" marT="0" marB="0" anchor="ctr" anchorCtr="0">
                    <a:lnL>
                      <a:noFill/>
                    </a:lnL>
                    <a:lnR>
                      <a:noFill/>
                    </a:lnR>
                    <a:lnT>
                      <a:noFill/>
                    </a:lnT>
                    <a:lnB>
                      <a:noFill/>
                    </a:lnB>
                    <a:solidFill>
                      <a:schemeClr val="accent1">
                        <a:lumMod val="40000"/>
                        <a:lumOff val="60000"/>
                      </a:schemeClr>
                    </a:solidFill>
                  </a:tcPr>
                </a:tc>
              </a:tr>
              <a:tr h="376555">
                <a:tc>
                  <a:txBody>
                    <a:bodyPr/>
                    <a:p>
                      <a:pPr algn="ctr"/>
                      <a:r>
                        <a:rPr sz="1600"/>
                        <a:t>Setter</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a:t>Set/update private field</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a:t>object.setName()</a:t>
                      </a:r>
                      <a:endParaRPr sz="1600"/>
                    </a:p>
                  </a:txBody>
                  <a:tcPr marL="0" marR="0" marT="0" marB="0" anchor="ctr" anchorCtr="0">
                    <a:lnL>
                      <a:noFill/>
                    </a:lnL>
                    <a:lnR>
                      <a:noFill/>
                    </a:lnR>
                    <a:lnT>
                      <a:noFill/>
                    </a:lnT>
                    <a:lnB>
                      <a:noFill/>
                    </a:lnB>
                    <a:solidFill>
                      <a:schemeClr val="accent1">
                        <a:lumMod val="40000"/>
                        <a:lumOff val="60000"/>
                      </a:schemeClr>
                    </a:solidFill>
                  </a:tcPr>
                </a:tc>
              </a:tr>
              <a:tr h="376555">
                <a:tc>
                  <a:txBody>
                    <a:bodyPr/>
                    <a:p>
                      <a:pPr algn="ctr"/>
                      <a:r>
                        <a:rPr sz="1600"/>
                        <a:t>toString()</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a:t>Show readable object info</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a:t>System.out.println(object)</a:t>
                      </a:r>
                      <a:endParaRPr sz="16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492125"/>
          </a:xfrm>
        </p:spPr>
        <p:txBody>
          <a:bodyPr/>
          <a:p>
            <a:r>
              <a:rPr lang="en-US" altLang="en-US" sz="2400" b="1">
                <a:solidFill>
                  <a:srgbClr val="FF0000"/>
                </a:solidFill>
                <a:sym typeface="+mn-ea"/>
              </a:rPr>
              <a:t> What is a Constructor in Java?</a:t>
            </a:r>
            <a:endParaRPr lang="en-US" altLang="en-US" sz="2400" b="1">
              <a:solidFill>
                <a:srgbClr val="FF0000"/>
              </a:solidFill>
              <a:sym typeface="+mn-ea"/>
            </a:endParaRPr>
          </a:p>
        </p:txBody>
      </p:sp>
      <p:sp>
        <p:nvSpPr>
          <p:cNvPr id="3" name="Content Placeholder 2"/>
          <p:cNvSpPr>
            <a:spLocks noGrp="1"/>
          </p:cNvSpPr>
          <p:nvPr>
            <p:ph idx="1"/>
          </p:nvPr>
        </p:nvSpPr>
        <p:spPr>
          <a:xfrm>
            <a:off x="120015" y="322580"/>
            <a:ext cx="11878310" cy="6535420"/>
          </a:xfrm>
        </p:spPr>
        <p:txBody>
          <a:bodyPr>
            <a:normAutofit lnSpcReduction="20000"/>
          </a:bodyPr>
          <a:p>
            <a:pPr marL="0" indent="0">
              <a:buNone/>
            </a:pPr>
            <a:r>
              <a:rPr lang="en-US" altLang="en-US" sz="2000"/>
              <a:t>➤ Definition:</a:t>
            </a:r>
            <a:endParaRPr lang="en-US" altLang="en-US" sz="2000"/>
          </a:p>
          <a:p>
            <a:pPr marL="0" indent="0">
              <a:buNone/>
            </a:pPr>
            <a:r>
              <a:rPr lang="en-US" altLang="en-US" sz="2000"/>
              <a:t>A constructor is a special method in a class that is automatically called when an object is created. It’s used to initialize the object (set initial values for fields).</a:t>
            </a:r>
            <a:endParaRPr lang="en-US" altLang="en-US" sz="2000"/>
          </a:p>
          <a:p>
            <a:pPr marL="0" indent="0">
              <a:buNone/>
            </a:pPr>
            <a:r>
              <a:rPr lang="en-US" altLang="en-US" sz="2000"/>
              <a:t>➤ Key Points:</a:t>
            </a:r>
            <a:endParaRPr lang="en-US" altLang="en-US" sz="2000"/>
          </a:p>
          <a:p>
            <a:pPr marL="0" indent="0">
              <a:buNone/>
            </a:pPr>
            <a:r>
              <a:rPr lang="en-US" altLang="en-US" sz="2000"/>
              <a:t>Constructor name must match the class name.</a:t>
            </a:r>
            <a:endParaRPr lang="en-US" altLang="en-US" sz="2000"/>
          </a:p>
          <a:p>
            <a:pPr marL="0" indent="0">
              <a:buNone/>
            </a:pPr>
            <a:r>
              <a:rPr lang="en-US" altLang="en-US" sz="2000"/>
              <a:t>It has no return type (not even void).</a:t>
            </a:r>
            <a:endParaRPr lang="en-US" altLang="en-US" sz="2000"/>
          </a:p>
          <a:p>
            <a:pPr marL="0" indent="0">
              <a:buNone/>
            </a:pPr>
            <a:r>
              <a:rPr lang="en-US" altLang="en-US" sz="2000"/>
              <a:t>Called automatically when you create an object using new.</a:t>
            </a:r>
            <a:endParaRPr lang="en-US" altLang="en-US" sz="2000"/>
          </a:p>
          <a:p>
            <a:pPr marL="0" indent="0">
              <a:buNone/>
            </a:pPr>
            <a:endParaRPr lang="en-US" altLang="en-US" sz="2000"/>
          </a:p>
          <a:p>
            <a:pPr marL="0" indent="0">
              <a:buNone/>
            </a:pPr>
            <a:r>
              <a:rPr lang="en-US" altLang="en-US" sz="2000">
                <a:sym typeface="+mn-ea"/>
              </a:rPr>
              <a:t>Types of Constructors in Java</a:t>
            </a:r>
            <a:endParaRPr lang="en-US" altLang="en-US" sz="2000"/>
          </a:p>
          <a:p>
            <a:pPr marL="0" indent="0">
              <a:buNone/>
            </a:pPr>
            <a:r>
              <a:rPr lang="en-US" altLang="en-US" sz="2000">
                <a:sym typeface="+mn-ea"/>
              </a:rPr>
              <a:t>Java supports three main types:</a:t>
            </a:r>
            <a:endParaRPr lang="en-US" altLang="en-US" sz="2000"/>
          </a:p>
          <a:p>
            <a:pPr marL="0" indent="0">
              <a:buNone/>
            </a:pPr>
            <a:r>
              <a:rPr lang="en-US" altLang="en-US" sz="2000">
                <a:sym typeface="+mn-ea"/>
              </a:rPr>
              <a:t>1. Default Constructor</a:t>
            </a:r>
            <a:endParaRPr lang="en-US" altLang="en-US" sz="2000"/>
          </a:p>
          <a:p>
            <a:pPr marL="0" indent="0">
              <a:buNone/>
            </a:pPr>
            <a:r>
              <a:rPr lang="en-US" altLang="en-US" sz="2000">
                <a:sym typeface="+mn-ea"/>
              </a:rPr>
              <a:t>A constructor with no parameters.</a:t>
            </a:r>
            <a:endParaRPr lang="en-US" altLang="en-US" sz="2000"/>
          </a:p>
          <a:p>
            <a:pPr marL="0" indent="0">
              <a:buNone/>
            </a:pPr>
            <a:r>
              <a:rPr lang="en-US" altLang="en-US" sz="2000">
                <a:sym typeface="+mn-ea"/>
              </a:rPr>
              <a:t>If you don’t write any constructor, Java automatically provides one.</a:t>
            </a:r>
            <a:endParaRPr lang="en-US" altLang="en-US" sz="2000"/>
          </a:p>
          <a:p>
            <a:pPr marL="0" indent="0">
              <a:buNone/>
            </a:pPr>
            <a:r>
              <a:rPr lang="en-US" altLang="en-US" sz="2000">
                <a:sym typeface="+mn-ea"/>
              </a:rPr>
              <a:t>2. Parameterized Constructor</a:t>
            </a:r>
            <a:endParaRPr lang="en-US" altLang="en-US" sz="2000"/>
          </a:p>
          <a:p>
            <a:pPr marL="0" indent="0">
              <a:buNone/>
            </a:pPr>
            <a:r>
              <a:rPr lang="en-US" altLang="en-US" sz="2000">
                <a:sym typeface="+mn-ea"/>
              </a:rPr>
              <a:t>A constructor that accepts parameters to initialize fields with specific values.</a:t>
            </a:r>
            <a:endParaRPr lang="en-US" altLang="en-US" sz="2000"/>
          </a:p>
          <a:p>
            <a:pPr marL="0" indent="0">
              <a:buNone/>
            </a:pPr>
            <a:r>
              <a:rPr lang="en-US" altLang="en-US" sz="2000">
                <a:sym typeface="+mn-ea"/>
              </a:rPr>
              <a:t>Copy Constructor</a:t>
            </a:r>
            <a:endParaRPr lang="en-US" altLang="en-US" sz="2000"/>
          </a:p>
          <a:p>
            <a:pPr marL="0" indent="0">
              <a:buNone/>
            </a:pPr>
            <a:r>
              <a:rPr lang="en-US" altLang="en-US" sz="2000">
                <a:sym typeface="+mn-ea"/>
              </a:rPr>
              <a:t>Used to create a copy of an existing object.</a:t>
            </a:r>
            <a:endParaRPr lang="en-US" altLang="en-US" sz="2000"/>
          </a:p>
          <a:p>
            <a:pPr marL="0" indent="0">
              <a:buNone/>
            </a:pPr>
            <a:r>
              <a:rPr lang="en-US" altLang="en-US" sz="2000">
                <a:sym typeface="+mn-ea"/>
              </a:rPr>
              <a:t>Java doesn’t create this automatically — you define it manually.</a:t>
            </a:r>
            <a:endParaRPr lang="en-US" altLang="en-US" sz="2000"/>
          </a:p>
          <a:p>
            <a:pPr marL="0" indent="0">
              <a:buNone/>
            </a:pPr>
            <a:endParaRPr lang="en-US" altLang="en-US" sz="2000"/>
          </a:p>
          <a:p>
            <a:pPr marL="0" indent="0">
              <a:buNone/>
            </a:pPr>
            <a:endParaRPr lang="en-US" altLang="en-US" sz="2000"/>
          </a:p>
          <a:p>
            <a:pPr marL="0" indent="0">
              <a:buNone/>
            </a:pPr>
            <a:endParaRPr lang="en-US" altLang="en-US" sz="2000"/>
          </a:p>
          <a:p>
            <a:pPr marL="0" indent="0">
              <a:buNone/>
            </a:pPr>
            <a:endParaRPr lang="en-US" altLang="en-US" sz="2000"/>
          </a:p>
          <a:p>
            <a:pPr marL="0" indent="0">
              <a:buNone/>
            </a:pPr>
            <a:endParaRPr lang="en-US" altLang="en-US" sz="2000"/>
          </a:p>
          <a:p>
            <a:pPr marL="0" indent="0">
              <a:buNone/>
            </a:pPr>
            <a:endParaRPr lang="en-US" altLang="en-US" sz="20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95275" y="0"/>
            <a:ext cx="10515600" cy="461645"/>
          </a:xfrm>
        </p:spPr>
        <p:txBody>
          <a:bodyPr>
            <a:normAutofit fontScale="90000"/>
          </a:bodyPr>
          <a:p>
            <a:r>
              <a:rPr lang="en-US" sz="2800" b="1">
                <a:solidFill>
                  <a:srgbClr val="FF0000"/>
                </a:solidFill>
              </a:rPr>
              <a:t>Uses Of Constructor</a:t>
            </a:r>
            <a:endParaRPr lang="en-US" sz="2800" b="1">
              <a:solidFill>
                <a:srgbClr val="FF0000"/>
              </a:solidFill>
            </a:endParaRPr>
          </a:p>
        </p:txBody>
      </p:sp>
      <p:graphicFrame>
        <p:nvGraphicFramePr>
          <p:cNvPr id="4" name="Table 3"/>
          <p:cNvGraphicFramePr/>
          <p:nvPr>
            <p:custDataLst>
              <p:tags r:id="rId1"/>
            </p:custDataLst>
          </p:nvPr>
        </p:nvGraphicFramePr>
        <p:xfrm>
          <a:off x="325755" y="840105"/>
          <a:ext cx="10485120" cy="1609090"/>
        </p:xfrm>
        <a:graphic>
          <a:graphicData uri="http://schemas.openxmlformats.org/drawingml/2006/table">
            <a:tbl>
              <a:tblPr/>
              <a:tblGrid>
                <a:gridCol w="5242560"/>
                <a:gridCol w="5242560"/>
              </a:tblGrid>
              <a:tr h="380365">
                <a:tc>
                  <a:txBody>
                    <a:bodyPr/>
                    <a:p>
                      <a:r>
                        <a:rPr sz="1800"/>
                        <a:t>Purpose</a:t>
                      </a:r>
                      <a:endParaRPr sz="1800"/>
                    </a:p>
                  </a:txBody>
                  <a:tcPr marL="0" marR="0" marT="0" marB="0" anchor="ctr" anchorCtr="0">
                    <a:lnL>
                      <a:noFill/>
                    </a:lnL>
                    <a:lnR>
                      <a:noFill/>
                    </a:lnR>
                    <a:lnT>
                      <a:noFill/>
                    </a:lnT>
                    <a:lnB>
                      <a:noFill/>
                    </a:lnB>
                    <a:noFill/>
                  </a:tcPr>
                </a:tc>
                <a:tc>
                  <a:txBody>
                    <a:bodyPr/>
                    <a:p>
                      <a:r>
                        <a:rPr sz="1800"/>
                        <a:t>Description</a:t>
                      </a:r>
                      <a:endParaRPr sz="1800"/>
                    </a:p>
                  </a:txBody>
                  <a:tcPr marL="0" marR="0" marT="0" marB="0" anchor="ctr" anchorCtr="0">
                    <a:lnL>
                      <a:noFill/>
                    </a:lnL>
                    <a:lnR>
                      <a:noFill/>
                    </a:lnR>
                    <a:lnT>
                      <a:noFill/>
                    </a:lnT>
                    <a:lnB>
                      <a:noFill/>
                    </a:lnB>
                    <a:noFill/>
                  </a:tcPr>
                </a:tc>
              </a:tr>
              <a:tr h="467995">
                <a:tc>
                  <a:txBody>
                    <a:bodyPr/>
                    <a:p>
                      <a:r>
                        <a:rPr sz="1800"/>
                        <a:t>Initialize object values</a:t>
                      </a:r>
                      <a:endParaRPr sz="1800"/>
                    </a:p>
                  </a:txBody>
                  <a:tcPr marL="0" marR="0" marT="0" marB="0" anchor="ctr" anchorCtr="0">
                    <a:lnL>
                      <a:noFill/>
                    </a:lnL>
                    <a:lnR>
                      <a:noFill/>
                    </a:lnR>
                    <a:lnT>
                      <a:noFill/>
                    </a:lnT>
                    <a:lnB>
                      <a:noFill/>
                    </a:lnB>
                    <a:noFill/>
                  </a:tcPr>
                </a:tc>
                <a:tc>
                  <a:txBody>
                    <a:bodyPr/>
                    <a:p>
                      <a:r>
                        <a:rPr sz="1800"/>
                        <a:t>Set fields when object is created.</a:t>
                      </a:r>
                      <a:endParaRPr sz="1800"/>
                    </a:p>
                  </a:txBody>
                  <a:tcPr marL="0" marR="0" marT="0" marB="0" anchor="ctr" anchorCtr="0">
                    <a:lnL>
                      <a:noFill/>
                    </a:lnL>
                    <a:lnR>
                      <a:noFill/>
                    </a:lnR>
                    <a:lnT>
                      <a:noFill/>
                    </a:lnT>
                    <a:lnB>
                      <a:noFill/>
                    </a:lnB>
                    <a:noFill/>
                  </a:tcPr>
                </a:tc>
              </a:tr>
              <a:tr h="380365">
                <a:tc>
                  <a:txBody>
                    <a:bodyPr/>
                    <a:p>
                      <a:r>
                        <a:rPr sz="1800"/>
                        <a:t>Create different types of objects</a:t>
                      </a:r>
                      <a:endParaRPr sz="1800"/>
                    </a:p>
                  </a:txBody>
                  <a:tcPr marL="0" marR="0" marT="0" marB="0" anchor="ctr" anchorCtr="0">
                    <a:lnL>
                      <a:noFill/>
                    </a:lnL>
                    <a:lnR>
                      <a:noFill/>
                    </a:lnR>
                    <a:lnT>
                      <a:noFill/>
                    </a:lnT>
                    <a:lnB>
                      <a:noFill/>
                    </a:lnB>
                    <a:noFill/>
                  </a:tcPr>
                </a:tc>
                <a:tc>
                  <a:txBody>
                    <a:bodyPr/>
                    <a:p>
                      <a:r>
                        <a:rPr sz="1800"/>
                        <a:t>Use different constructors for different inputs.</a:t>
                      </a:r>
                      <a:endParaRPr sz="1800"/>
                    </a:p>
                  </a:txBody>
                  <a:tcPr marL="0" marR="0" marT="0" marB="0" anchor="ctr" anchorCtr="0">
                    <a:lnL>
                      <a:noFill/>
                    </a:lnL>
                    <a:lnR>
                      <a:noFill/>
                    </a:lnR>
                    <a:lnT>
                      <a:noFill/>
                    </a:lnT>
                    <a:lnB>
                      <a:noFill/>
                    </a:lnB>
                    <a:noFill/>
                  </a:tcPr>
                </a:tc>
              </a:tr>
              <a:tr h="380365">
                <a:tc>
                  <a:txBody>
                    <a:bodyPr/>
                    <a:p>
                      <a:r>
                        <a:rPr sz="1800"/>
                        <a:t>Code reuse</a:t>
                      </a:r>
                      <a:endParaRPr sz="1800"/>
                    </a:p>
                  </a:txBody>
                  <a:tcPr marL="0" marR="0" marT="0" marB="0" anchor="ctr" anchorCtr="0">
                    <a:lnL>
                      <a:noFill/>
                    </a:lnL>
                    <a:lnR>
                      <a:noFill/>
                    </a:lnR>
                    <a:lnT>
                      <a:noFill/>
                    </a:lnT>
                    <a:lnB>
                      <a:noFill/>
                    </a:lnB>
                    <a:noFill/>
                  </a:tcPr>
                </a:tc>
                <a:tc>
                  <a:txBody>
                    <a:bodyPr/>
                    <a:p>
                      <a:r>
                        <a:rPr sz="1800"/>
                        <a:t>Avoid repeating initialization logic in multiple places.</a:t>
                      </a:r>
                      <a:endParaRPr sz="18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6700" y="0"/>
            <a:ext cx="10515600" cy="521335"/>
          </a:xfrm>
        </p:spPr>
        <p:txBody>
          <a:bodyPr/>
          <a:p>
            <a:pPr algn="ctr"/>
            <a:r>
              <a:rPr lang="en-US" altLang="en-US" sz="2400" b="1">
                <a:solidFill>
                  <a:srgbClr val="FF0000"/>
                </a:solidFill>
                <a:sym typeface="+mn-ea"/>
              </a:rPr>
              <a:t>What is a Copy Constructor?</a:t>
            </a:r>
            <a:endParaRPr lang="en-US" altLang="en-US" sz="2400" b="1">
              <a:solidFill>
                <a:srgbClr val="FF0000"/>
              </a:solidFill>
              <a:sym typeface="+mn-ea"/>
            </a:endParaRPr>
          </a:p>
        </p:txBody>
      </p:sp>
      <p:sp>
        <p:nvSpPr>
          <p:cNvPr id="3" name="Content Placeholder 2"/>
          <p:cNvSpPr>
            <a:spLocks noGrp="1"/>
          </p:cNvSpPr>
          <p:nvPr>
            <p:ph idx="1"/>
          </p:nvPr>
        </p:nvSpPr>
        <p:spPr>
          <a:xfrm>
            <a:off x="398145" y="521335"/>
            <a:ext cx="10515600" cy="4351338"/>
          </a:xfrm>
        </p:spPr>
        <p:txBody>
          <a:bodyPr/>
          <a:p>
            <a:r>
              <a:rPr lang="en-US" altLang="en-US" sz="2000"/>
              <a:t>A copy constructor is a special type of constructor that creates a new object by copying another object of the same class.</a:t>
            </a:r>
            <a:endParaRPr lang="en-US" altLang="en-US" sz="2000"/>
          </a:p>
          <a:p>
            <a:endParaRPr lang="en-US" altLang="en-US" sz="2000"/>
          </a:p>
          <a:p>
            <a:r>
              <a:rPr lang="en-US" altLang="en-US" sz="2000"/>
              <a:t> Java doesn't provide a built-in copy constructor (like C++), but you can define one manually.</a:t>
            </a:r>
            <a:endParaRPr lang="en-US" altLang="en-US" sz="20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6700" y="0"/>
            <a:ext cx="10515600" cy="266065"/>
          </a:xfrm>
        </p:spPr>
        <p:txBody>
          <a:bodyPr>
            <a:noAutofit/>
          </a:bodyPr>
          <a:p>
            <a:pPr algn="ctr"/>
            <a:r>
              <a:rPr lang="en-US" sz="2000" b="1">
                <a:solidFill>
                  <a:srgbClr val="FF0000"/>
                </a:solidFill>
              </a:rPr>
              <a:t>Copy Constructor</a:t>
            </a:r>
            <a:endParaRPr lang="en-US" sz="2000" b="1">
              <a:solidFill>
                <a:srgbClr val="FF0000"/>
              </a:solidFill>
            </a:endParaRPr>
          </a:p>
        </p:txBody>
      </p:sp>
      <p:sp>
        <p:nvSpPr>
          <p:cNvPr id="3" name="Content Placeholder 2"/>
          <p:cNvSpPr>
            <a:spLocks noGrp="1"/>
          </p:cNvSpPr>
          <p:nvPr>
            <p:ph idx="1"/>
          </p:nvPr>
        </p:nvSpPr>
        <p:spPr>
          <a:xfrm>
            <a:off x="0" y="266065"/>
            <a:ext cx="10782935" cy="6592570"/>
          </a:xfrm>
        </p:spPr>
        <p:txBody>
          <a:bodyPr>
            <a:noAutofit/>
          </a:bodyPr>
          <a:p>
            <a:pPr marL="0" indent="0">
              <a:buNone/>
            </a:pPr>
            <a:r>
              <a:rPr lang="en-US" altLang="en-US" sz="1000"/>
              <a:t>class Student {</a:t>
            </a:r>
            <a:endParaRPr lang="en-US" altLang="en-US" sz="1000"/>
          </a:p>
          <a:p>
            <a:pPr marL="0" indent="0">
              <a:buNone/>
            </a:pPr>
            <a:r>
              <a:rPr lang="en-US" altLang="en-US" sz="1000"/>
              <a:t>    int id;        String name;//instance variable</a:t>
            </a:r>
            <a:endParaRPr lang="en-US" altLang="en-US" sz="1000"/>
          </a:p>
          <a:p>
            <a:pPr marL="0" indent="0">
              <a:buNone/>
            </a:pPr>
            <a:r>
              <a:rPr lang="en-US" altLang="en-US" sz="1000"/>
              <a:t>    // Parameterized constructor</a:t>
            </a:r>
            <a:endParaRPr lang="en-US" altLang="en-US" sz="1000"/>
          </a:p>
          <a:p>
            <a:pPr marL="0" indent="0">
              <a:buNone/>
            </a:pPr>
            <a:r>
              <a:rPr lang="en-US" altLang="en-US" sz="1000"/>
              <a:t>    Student(int id, String name) {</a:t>
            </a:r>
            <a:endParaRPr lang="en-US" altLang="en-US" sz="1000"/>
          </a:p>
          <a:p>
            <a:pPr marL="0" indent="0">
              <a:buNone/>
            </a:pPr>
            <a:r>
              <a:rPr lang="en-US" altLang="en-US" sz="1000"/>
              <a:t>        this.id = id;</a:t>
            </a:r>
            <a:endParaRPr lang="en-US" altLang="en-US" sz="1000"/>
          </a:p>
          <a:p>
            <a:pPr marL="0" indent="0">
              <a:buNone/>
            </a:pPr>
            <a:r>
              <a:rPr lang="en-US" altLang="en-US" sz="1000"/>
              <a:t>        this.name = name;</a:t>
            </a:r>
            <a:endParaRPr lang="en-US" altLang="en-US" sz="1000"/>
          </a:p>
          <a:p>
            <a:pPr marL="0" indent="0">
              <a:buNone/>
            </a:pPr>
            <a:r>
              <a:rPr lang="en-US" altLang="en-US" sz="1000"/>
              <a:t>   }</a:t>
            </a:r>
            <a:endParaRPr lang="en-US" altLang="en-US" sz="1000"/>
          </a:p>
          <a:p>
            <a:pPr marL="0" indent="0">
              <a:buNone/>
            </a:pPr>
            <a:r>
              <a:rPr lang="en-US" altLang="en-US" sz="1000"/>
              <a:t>   // Copy constructor</a:t>
            </a:r>
            <a:endParaRPr lang="en-US" altLang="en-US" sz="1000"/>
          </a:p>
          <a:p>
            <a:pPr marL="0" indent="0">
              <a:buNone/>
            </a:pPr>
            <a:r>
              <a:rPr lang="en-US" altLang="en-US" sz="1000"/>
              <a:t>    Student(Student other) {</a:t>
            </a:r>
            <a:endParaRPr lang="en-US" altLang="en-US" sz="1000"/>
          </a:p>
          <a:p>
            <a:pPr marL="0" indent="0">
              <a:buNone/>
            </a:pPr>
            <a:r>
              <a:rPr lang="en-US" altLang="en-US" sz="1000"/>
              <a:t>        this.id = other.id;</a:t>
            </a:r>
            <a:endParaRPr lang="en-US" altLang="en-US" sz="1000"/>
          </a:p>
          <a:p>
            <a:pPr marL="0" indent="0">
              <a:buNone/>
            </a:pPr>
            <a:r>
              <a:rPr lang="en-US" altLang="en-US" sz="1000"/>
              <a:t>        this.name = other.name;</a:t>
            </a:r>
            <a:endParaRPr lang="en-US" altLang="en-US" sz="1000"/>
          </a:p>
          <a:p>
            <a:pPr marL="0" indent="0">
              <a:buNone/>
            </a:pPr>
            <a:r>
              <a:rPr lang="en-US" altLang="en-US" sz="1000"/>
              <a:t>    }</a:t>
            </a:r>
            <a:endParaRPr lang="en-US" altLang="en-US" sz="1000"/>
          </a:p>
          <a:p>
            <a:pPr marL="0" indent="0">
              <a:buNone/>
            </a:pPr>
            <a:r>
              <a:rPr lang="en-US" altLang="en-US" sz="1000"/>
              <a:t>    void display() {</a:t>
            </a:r>
            <a:endParaRPr lang="en-US" altLang="en-US" sz="1000"/>
          </a:p>
          <a:p>
            <a:pPr marL="0" indent="0">
              <a:buNone/>
            </a:pPr>
            <a:r>
              <a:rPr lang="en-US" altLang="en-US" sz="1000"/>
              <a:t>        System.out.println("ID: " + id + ", Name: " + name);</a:t>
            </a:r>
            <a:endParaRPr lang="en-US" altLang="en-US" sz="1000"/>
          </a:p>
          <a:p>
            <a:pPr marL="0" indent="0">
              <a:buNone/>
            </a:pPr>
            <a:r>
              <a:rPr lang="en-US" altLang="en-US" sz="1000"/>
              <a:t>    }</a:t>
            </a:r>
            <a:endParaRPr lang="en-US" altLang="en-US" sz="1000"/>
          </a:p>
          <a:p>
            <a:pPr marL="0" indent="0">
              <a:buNone/>
            </a:pPr>
            <a:r>
              <a:rPr lang="en-US" altLang="en-US" sz="1000"/>
              <a:t>}</a:t>
            </a:r>
            <a:endParaRPr lang="en-US" altLang="en-US" sz="1000"/>
          </a:p>
          <a:p>
            <a:pPr marL="0" indent="0">
              <a:buNone/>
            </a:pPr>
            <a:r>
              <a:rPr lang="en-US" altLang="en-US" sz="1000"/>
              <a:t>public class Main {</a:t>
            </a:r>
            <a:endParaRPr lang="en-US" altLang="en-US" sz="1000"/>
          </a:p>
          <a:p>
            <a:pPr marL="0" indent="0">
              <a:buNone/>
            </a:pPr>
            <a:r>
              <a:rPr lang="en-US" altLang="en-US" sz="1000"/>
              <a:t>    public static void main(String[] args) {</a:t>
            </a:r>
            <a:endParaRPr lang="en-US" altLang="en-US" sz="1000"/>
          </a:p>
          <a:p>
            <a:pPr marL="0" indent="0">
              <a:buNone/>
            </a:pPr>
            <a:r>
              <a:rPr lang="en-US" altLang="en-US" sz="1000"/>
              <a:t>        Student s1 = new Student(101, "Alice");     // original object</a:t>
            </a:r>
            <a:endParaRPr lang="en-US" altLang="en-US" sz="1000"/>
          </a:p>
          <a:p>
            <a:pPr marL="0" indent="0">
              <a:buNone/>
            </a:pPr>
            <a:r>
              <a:rPr lang="en-US" altLang="en-US" sz="1000"/>
              <a:t>        Student s2 = new Student(s1);               // copied object using copy constructor</a:t>
            </a:r>
            <a:endParaRPr lang="en-US" altLang="en-US" sz="1000"/>
          </a:p>
          <a:p>
            <a:pPr marL="0" indent="0">
              <a:buNone/>
            </a:pPr>
            <a:endParaRPr lang="en-US" altLang="en-US" sz="1000"/>
          </a:p>
          <a:p>
            <a:pPr marL="0" indent="0">
              <a:buNone/>
            </a:pPr>
            <a:r>
              <a:rPr lang="en-US" altLang="en-US" sz="1000"/>
              <a:t>        s1.display();  // Output: ID: 101, Name: Alice</a:t>
            </a:r>
            <a:endParaRPr lang="en-US" altLang="en-US" sz="1000"/>
          </a:p>
          <a:p>
            <a:pPr marL="0" indent="0">
              <a:buNone/>
            </a:pPr>
            <a:r>
              <a:rPr lang="en-US" altLang="en-US" sz="1000"/>
              <a:t>        s2.display();  // Output: ID: 101, Name: Alice</a:t>
            </a:r>
            <a:endParaRPr lang="en-US" altLang="en-US" sz="1000"/>
          </a:p>
          <a:p>
            <a:pPr marL="0" indent="0">
              <a:buNone/>
            </a:pPr>
            <a:r>
              <a:rPr lang="en-US" altLang="en-US" sz="1000"/>
              <a:t>    }</a:t>
            </a:r>
            <a:endParaRPr lang="en-US" altLang="en-US" sz="1000"/>
          </a:p>
          <a:p>
            <a:pPr marL="0" indent="0">
              <a:buNone/>
            </a:pPr>
            <a:r>
              <a:rPr lang="en-US" altLang="en-US" sz="1000"/>
              <a:t>}</a:t>
            </a:r>
            <a:endParaRPr lang="en-US" altLang="en-US" sz="1000"/>
          </a:p>
          <a:p>
            <a:pPr marL="0" indent="0">
              <a:buNone/>
            </a:pPr>
            <a:endParaRPr lang="en-US" altLang="en-US" sz="10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5895" y="292735"/>
            <a:ext cx="10515600" cy="417830"/>
          </a:xfrm>
        </p:spPr>
        <p:txBody>
          <a:bodyPr>
            <a:noAutofit/>
          </a:bodyPr>
          <a:p>
            <a:pPr algn="ctr"/>
            <a:r>
              <a:rPr lang="en-US" sz="2400" b="1">
                <a:solidFill>
                  <a:srgbClr val="FF0000"/>
                </a:solidFill>
              </a:rPr>
              <a:t>This Keyword in Java</a:t>
            </a:r>
            <a:endParaRPr lang="en-US" sz="2400" b="1">
              <a:solidFill>
                <a:srgbClr val="FF0000"/>
              </a:solidFill>
            </a:endParaRPr>
          </a:p>
        </p:txBody>
      </p:sp>
      <p:sp>
        <p:nvSpPr>
          <p:cNvPr id="3" name="Content Placeholder 2"/>
          <p:cNvSpPr>
            <a:spLocks noGrp="1"/>
          </p:cNvSpPr>
          <p:nvPr>
            <p:ph idx="1"/>
          </p:nvPr>
        </p:nvSpPr>
        <p:spPr>
          <a:xfrm>
            <a:off x="120015" y="417830"/>
            <a:ext cx="12072620" cy="6344285"/>
          </a:xfrm>
        </p:spPr>
        <p:txBody>
          <a:bodyPr>
            <a:normAutofit fontScale="70000"/>
          </a:bodyPr>
          <a:p>
            <a:pPr marL="0" indent="0">
              <a:buNone/>
            </a:pPr>
            <a:r>
              <a:rPr lang="en-US" altLang="en-US"/>
              <a:t>What is this Keyword in java ?</a:t>
            </a:r>
            <a:endParaRPr lang="en-US" altLang="en-US"/>
          </a:p>
          <a:p>
            <a:pPr marL="0" indent="0">
              <a:buNone/>
            </a:pPr>
            <a:r>
              <a:rPr lang="en-US" altLang="en-US"/>
              <a:t>In java, this is a reference variable (pointer), which refers to the current object. this key word to refer to Current object.</a:t>
            </a:r>
            <a:endParaRPr lang="en-US" altLang="en-US"/>
          </a:p>
          <a:p>
            <a:pPr marL="0" indent="0">
              <a:buNone/>
            </a:pPr>
            <a:r>
              <a:rPr lang="en-US" altLang="en-US"/>
              <a:t>When object is created, for each and every object this pointer generates and stores address of same object. Hence this pointer refer to the current object. this reference is also part of Object</a:t>
            </a:r>
            <a:endParaRPr lang="en-US" altLang="en-US"/>
          </a:p>
          <a:p>
            <a:pPr marL="0" indent="0">
              <a:buNone/>
            </a:pPr>
            <a:endParaRPr lang="en-US" altLang="en-US"/>
          </a:p>
          <a:p>
            <a:pPr marL="0" indent="0">
              <a:buNone/>
            </a:pPr>
            <a:r>
              <a:rPr lang="en-US" altLang="en-US"/>
              <a:t>Usage of java this keyword</a:t>
            </a:r>
            <a:endParaRPr lang="en-US" altLang="en-US"/>
          </a:p>
          <a:p>
            <a:pPr marL="0" indent="0">
              <a:buNone/>
            </a:pPr>
            <a:r>
              <a:rPr lang="en-US" altLang="en-US"/>
              <a:t>1) this keyword can be used to refer current instance variable.</a:t>
            </a:r>
            <a:endParaRPr lang="en-US" altLang="en-US"/>
          </a:p>
          <a:p>
            <a:pPr marL="0" indent="0">
              <a:buNone/>
            </a:pPr>
            <a:r>
              <a:rPr lang="en-US" altLang="en-US"/>
              <a:t>2) if instance variable name and method argument name are same , in that case , to access instance variable we can use  this keyword.</a:t>
            </a:r>
            <a:endParaRPr lang="en-US" altLang="en-US"/>
          </a:p>
          <a:p>
            <a:pPr marL="0" indent="0">
              <a:buNone/>
            </a:pPr>
            <a:r>
              <a:rPr lang="en-US" altLang="en-US"/>
              <a:t>3) if instance variable  name and local variable name is same ,in that case also, to access instance variable we can use  this keyword.</a:t>
            </a:r>
            <a:endParaRPr lang="en-US" altLang="en-US"/>
          </a:p>
          <a:p>
            <a:pPr marL="0" indent="0">
              <a:buNone/>
            </a:pPr>
            <a:r>
              <a:rPr lang="en-US" altLang="en-US"/>
              <a:t>4)    this keyword can also be used to return the current class instance.</a:t>
            </a:r>
            <a:endParaRPr lang="en-US" altLang="en-US"/>
          </a:p>
          <a:p>
            <a:pPr marL="0" indent="0">
              <a:buNone/>
            </a:pPr>
            <a:r>
              <a:rPr lang="en-US" altLang="en-US"/>
              <a:t>5)    this() can be used to invoke current class constructor.</a:t>
            </a:r>
            <a:endParaRPr lang="en-US" altLang="en-US"/>
          </a:p>
          <a:p>
            <a:pPr marL="0" indent="0">
              <a:buNone/>
            </a:pPr>
            <a:r>
              <a:rPr lang="en-US" altLang="en-US"/>
              <a:t>6)    this keyword can be used to invoke current class method (implicitly)</a:t>
            </a:r>
            <a:endParaRPr lang="en-US" altLang="en-US"/>
          </a:p>
          <a:p>
            <a:pPr marL="0" indent="0">
              <a:buNone/>
            </a:pPr>
            <a:r>
              <a:rPr lang="en-US" altLang="en-US"/>
              <a:t>7)    this can be passed as an argument in the method call.</a:t>
            </a:r>
            <a:endParaRPr lang="en-US" altLang="en-US"/>
          </a:p>
          <a:p>
            <a:pPr marL="0" indent="0">
              <a:buNone/>
            </a:pPr>
            <a:r>
              <a:rPr lang="en-US" altLang="en-US"/>
              <a:t>When object is created, for each and every object, this reference variable will be created.</a:t>
            </a:r>
            <a:endParaRPr lang="en-US"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592455"/>
          </a:xfrm>
        </p:spPr>
        <p:txBody>
          <a:bodyPr/>
          <a:p>
            <a:pPr algn="ctr"/>
            <a:r>
              <a:rPr lang="en-US" altLang="en-US" sz="2800" b="1">
                <a:solidFill>
                  <a:srgbClr val="FF0000"/>
                </a:solidFill>
                <a:sym typeface="+mn-ea"/>
              </a:rPr>
              <a:t>Definition of Inheritance</a:t>
            </a:r>
            <a:endParaRPr lang="en-US" altLang="en-US" sz="2800" b="1">
              <a:solidFill>
                <a:srgbClr val="FF0000"/>
              </a:solidFill>
              <a:sym typeface="+mn-ea"/>
            </a:endParaRPr>
          </a:p>
        </p:txBody>
      </p:sp>
      <p:sp>
        <p:nvSpPr>
          <p:cNvPr id="3" name="Content Placeholder 2"/>
          <p:cNvSpPr>
            <a:spLocks noGrp="1"/>
          </p:cNvSpPr>
          <p:nvPr>
            <p:ph idx="1"/>
          </p:nvPr>
        </p:nvSpPr>
        <p:spPr>
          <a:xfrm>
            <a:off x="121285" y="593725"/>
            <a:ext cx="11920855" cy="6015990"/>
          </a:xfrm>
        </p:spPr>
        <p:txBody>
          <a:bodyPr>
            <a:normAutofit lnSpcReduction="10000"/>
          </a:bodyPr>
          <a:p>
            <a:r>
              <a:rPr lang="en-US" altLang="en-US" sz="2000"/>
              <a:t>Inheritance is one of the core concepts of Object-Oriented Programming (OOP).</a:t>
            </a:r>
            <a:endParaRPr lang="en-US" altLang="en-US" sz="2000"/>
          </a:p>
          <a:p>
            <a:r>
              <a:rPr lang="en-US" altLang="en-US" sz="2000"/>
              <a:t>It is the mechanism by which one class (child or subclass) acquires the properties and behaviors (fields and methods) of another class (parent or superclass).</a:t>
            </a:r>
            <a:endParaRPr lang="en-US" altLang="en-US" sz="2000"/>
          </a:p>
          <a:p>
            <a:endParaRPr lang="en-US" altLang="en-US" sz="2000"/>
          </a:p>
          <a:p>
            <a:r>
              <a:rPr lang="en-US" altLang="en-US" sz="2400"/>
              <a:t>Types of Inheritance in java</a:t>
            </a:r>
            <a:endParaRPr lang="en-US" altLang="en-US" sz="2400"/>
          </a:p>
          <a:p>
            <a:pPr marL="457200" indent="-457200">
              <a:buAutoNum type="arabicPeriod"/>
            </a:pPr>
            <a:r>
              <a:rPr lang="en-US" altLang="en-US" sz="2000"/>
              <a:t>i)Single/Simple Inheritance</a:t>
            </a:r>
            <a:endParaRPr lang="en-US" altLang="en-US" sz="2000"/>
          </a:p>
          <a:p>
            <a:pPr marL="457200" indent="-457200">
              <a:buAutoNum type="arabicPeriod"/>
            </a:pPr>
            <a:r>
              <a:rPr lang="en-US" altLang="en-US" sz="2000"/>
              <a:t>ii)hierarchical Inheritance</a:t>
            </a:r>
            <a:endParaRPr lang="en-US" altLang="en-US" sz="2000"/>
          </a:p>
          <a:p>
            <a:pPr marL="457200" indent="-457200">
              <a:buAutoNum type="arabicPeriod"/>
            </a:pPr>
            <a:r>
              <a:rPr lang="en-US" altLang="en-US" sz="2000"/>
              <a:t>iii)Multilevel Inheritance</a:t>
            </a:r>
            <a:endParaRPr lang="en-US" altLang="en-US" sz="2000"/>
          </a:p>
          <a:p>
            <a:pPr marL="0" indent="0">
              <a:buNone/>
            </a:pPr>
            <a:r>
              <a:rPr lang="en-US" altLang="en-US" sz="2000"/>
              <a:t>----------------------------------------------</a:t>
            </a:r>
            <a:endParaRPr lang="en-US" altLang="en-US" sz="2000"/>
          </a:p>
          <a:p>
            <a:pPr marL="0" indent="0">
              <a:buNone/>
            </a:pPr>
            <a:r>
              <a:rPr lang="en-US" altLang="en-US" sz="2000"/>
              <a:t>(Using Interface)</a:t>
            </a:r>
            <a:endParaRPr lang="en-US" altLang="en-US" sz="2000"/>
          </a:p>
          <a:p>
            <a:pPr marL="0" indent="0">
              <a:buNone/>
            </a:pPr>
            <a:r>
              <a:rPr lang="en-US" altLang="en-US" sz="2000"/>
              <a:t>i) Hybrid </a:t>
            </a:r>
            <a:endParaRPr lang="en-US" altLang="en-US" sz="2000"/>
          </a:p>
          <a:p>
            <a:pPr marL="0" indent="0">
              <a:buNone/>
            </a:pPr>
            <a:r>
              <a:rPr lang="en-US" altLang="en-US" sz="2000"/>
              <a:t>ii)Multiple Inheritance</a:t>
            </a:r>
            <a:endParaRPr lang="en-US" altLang="en-US" sz="2000"/>
          </a:p>
          <a:p>
            <a:pPr marL="0" indent="0">
              <a:buNone/>
            </a:pPr>
            <a:r>
              <a:rPr lang="en-US" altLang="en-US" sz="2000"/>
              <a:t>---------------------------------------</a:t>
            </a:r>
            <a:endParaRPr lang="en-US" altLang="en-US" sz="2000"/>
          </a:p>
          <a:p>
            <a:pPr marL="0" indent="0">
              <a:buNone/>
            </a:pPr>
            <a:r>
              <a:rPr lang="en-US" altLang="en-US" sz="2000"/>
              <a:t>Cyclic </a:t>
            </a:r>
            <a:r>
              <a:rPr lang="en-US" altLang="en-US" sz="2000">
                <a:sym typeface="+mn-ea"/>
              </a:rPr>
              <a:t>Inheritance</a:t>
            </a:r>
            <a:endParaRPr lang="en-US" altLang="en-US" sz="2000"/>
          </a:p>
          <a:p>
            <a:pPr marL="0" indent="0">
              <a:buNone/>
            </a:pPr>
            <a:r>
              <a:rPr lang="en-US" altLang="en-US" sz="2000"/>
              <a:t>Multipath Inheritance</a:t>
            </a:r>
            <a:endParaRPr lang="en-US" altLang="en-US" sz="2000"/>
          </a:p>
          <a:p>
            <a:pPr marL="0" indent="0">
              <a:buNone/>
            </a:pPr>
            <a:endParaRPr lang="en-US" altLang="en-US" sz="20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84175" y="0"/>
            <a:ext cx="10515600" cy="755015"/>
          </a:xfrm>
        </p:spPr>
        <p:txBody>
          <a:bodyPr/>
          <a:p>
            <a:r>
              <a:rPr lang="en-US" altLang="en-US" sz="2800" b="1">
                <a:solidFill>
                  <a:srgbClr val="FF0000"/>
                </a:solidFill>
                <a:sym typeface="+mn-ea"/>
              </a:rPr>
              <a:t>Uses of Inheritance</a:t>
            </a:r>
            <a:endParaRPr lang="en-US" altLang="en-US" sz="2800" b="1">
              <a:solidFill>
                <a:srgbClr val="FF0000"/>
              </a:solidFill>
              <a:sym typeface="+mn-ea"/>
            </a:endParaRPr>
          </a:p>
        </p:txBody>
      </p:sp>
      <p:sp>
        <p:nvSpPr>
          <p:cNvPr id="3" name="Content Placeholder 2"/>
          <p:cNvSpPr>
            <a:spLocks noGrp="1"/>
          </p:cNvSpPr>
          <p:nvPr>
            <p:ph idx="1"/>
          </p:nvPr>
        </p:nvSpPr>
        <p:spPr>
          <a:xfrm>
            <a:off x="164465" y="850265"/>
            <a:ext cx="11687810" cy="5877560"/>
          </a:xfrm>
        </p:spPr>
        <p:txBody>
          <a:bodyPr/>
          <a:p>
            <a:pPr marL="0" indent="0">
              <a:buNone/>
            </a:pPr>
            <a:r>
              <a:rPr lang="en-US" altLang="en-US" sz="1800"/>
              <a:t>Code Reusability:</a:t>
            </a:r>
            <a:endParaRPr lang="en-US" altLang="en-US" sz="1800"/>
          </a:p>
          <a:p>
            <a:pPr marL="0" indent="0">
              <a:buNone/>
            </a:pPr>
            <a:r>
              <a:rPr lang="en-US" altLang="en-US" sz="1800"/>
              <a:t>Common code is written in the parent class and reused in child classes.</a:t>
            </a:r>
            <a:endParaRPr lang="en-US" altLang="en-US" sz="1800"/>
          </a:p>
          <a:p>
            <a:pPr marL="0" indent="0">
              <a:buNone/>
            </a:pPr>
            <a:endParaRPr lang="en-US" altLang="en-US" sz="1800"/>
          </a:p>
          <a:p>
            <a:pPr marL="0" indent="0">
              <a:buNone/>
            </a:pPr>
            <a:r>
              <a:rPr lang="en-US" altLang="en-US" sz="1800"/>
              <a:t>Extensibility:</a:t>
            </a:r>
            <a:endParaRPr lang="en-US" altLang="en-US" sz="1800"/>
          </a:p>
          <a:p>
            <a:pPr marL="0" indent="0">
              <a:buNone/>
            </a:pPr>
            <a:r>
              <a:rPr lang="en-US" altLang="en-US" sz="1800"/>
              <a:t>You can enhance or extend existing functionality without modifying the original class.</a:t>
            </a:r>
            <a:endParaRPr lang="en-US" altLang="en-US" sz="1800"/>
          </a:p>
          <a:p>
            <a:pPr marL="0" indent="0">
              <a:buNone/>
            </a:pPr>
            <a:endParaRPr lang="en-US" altLang="en-US" sz="1800"/>
          </a:p>
          <a:p>
            <a:pPr marL="0" indent="0">
              <a:buNone/>
            </a:pPr>
            <a:r>
              <a:rPr lang="en-US" altLang="en-US" sz="1800"/>
              <a:t>Method Overriding:</a:t>
            </a:r>
            <a:endParaRPr lang="en-US" altLang="en-US" sz="1800"/>
          </a:p>
          <a:p>
            <a:pPr marL="0" indent="0">
              <a:buNone/>
            </a:pPr>
            <a:r>
              <a:rPr lang="en-US" altLang="en-US" sz="1800"/>
              <a:t>Subclasses can override parent methods to provide specific behavior.</a:t>
            </a:r>
            <a:endParaRPr lang="en-US" altLang="en-US" sz="1800"/>
          </a:p>
          <a:p>
            <a:pPr marL="0" indent="0">
              <a:buNone/>
            </a:pPr>
            <a:endParaRPr lang="en-US" altLang="en-US" sz="1800"/>
          </a:p>
          <a:p>
            <a:pPr marL="0" indent="0">
              <a:buNone/>
            </a:pPr>
            <a:r>
              <a:rPr lang="en-US" altLang="en-US" sz="1800"/>
              <a:t>Polymorphism Support:</a:t>
            </a:r>
            <a:endParaRPr lang="en-US" altLang="en-US" sz="1800"/>
          </a:p>
          <a:p>
            <a:pPr marL="0" indent="0">
              <a:buNone/>
            </a:pPr>
            <a:r>
              <a:rPr lang="en-US" altLang="en-US" sz="1800"/>
              <a:t>Enables dynamic method dispatch (run-time polymorphism).</a:t>
            </a:r>
            <a:endParaRPr lang="en-US" altLang="en-US" sz="1800"/>
          </a:p>
          <a:p>
            <a:pPr marL="0" indent="0">
              <a:buNone/>
            </a:pPr>
            <a:endParaRPr lang="en-US" altLang="en-US" sz="1800"/>
          </a:p>
          <a:p>
            <a:pPr marL="0" indent="0">
              <a:buNone/>
            </a:pPr>
            <a:r>
              <a:rPr lang="en-US" altLang="en-US" sz="1800"/>
              <a:t>Hierarchy Representation:</a:t>
            </a:r>
            <a:endParaRPr lang="en-US" altLang="en-US" sz="1800"/>
          </a:p>
          <a:p>
            <a:pPr marL="0" indent="0">
              <a:buNone/>
            </a:pPr>
            <a:r>
              <a:rPr lang="en-US" altLang="en-US" sz="1800"/>
              <a:t>Represents "is-a" relationships between objects (e.g., Dog is-a Animal).</a:t>
            </a:r>
            <a:endParaRPr lang="en-US" altLang="en-US" sz="1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11810" y="0"/>
            <a:ext cx="10515600" cy="632460"/>
          </a:xfrm>
        </p:spPr>
        <p:txBody>
          <a:bodyPr>
            <a:noAutofit/>
          </a:bodyPr>
          <a:p>
            <a:r>
              <a:rPr lang="en-US" sz="2800" b="1">
                <a:solidFill>
                  <a:srgbClr val="FF0000"/>
                </a:solidFill>
              </a:rPr>
              <a:t>Disadvantages</a:t>
            </a:r>
            <a:endParaRPr lang="en-US" sz="2800" b="1">
              <a:solidFill>
                <a:srgbClr val="FF0000"/>
              </a:solidFill>
            </a:endParaRPr>
          </a:p>
        </p:txBody>
      </p:sp>
      <p:graphicFrame>
        <p:nvGraphicFramePr>
          <p:cNvPr id="4" name="Table 3"/>
          <p:cNvGraphicFramePr/>
          <p:nvPr>
            <p:custDataLst>
              <p:tags r:id="rId1"/>
            </p:custDataLst>
          </p:nvPr>
        </p:nvGraphicFramePr>
        <p:xfrm>
          <a:off x="128270" y="632460"/>
          <a:ext cx="11962130" cy="2796540"/>
        </p:xfrm>
        <a:graphic>
          <a:graphicData uri="http://schemas.openxmlformats.org/drawingml/2006/table">
            <a:tbl>
              <a:tblPr/>
              <a:tblGrid>
                <a:gridCol w="2846705"/>
                <a:gridCol w="9115425"/>
              </a:tblGrid>
              <a:tr h="786765">
                <a:tc>
                  <a:txBody>
                    <a:bodyPr/>
                    <a:p>
                      <a:pPr algn="ctr"/>
                      <a:r>
                        <a:rPr sz="2000" b="1"/>
                        <a:t>Disadvantage</a:t>
                      </a:r>
                      <a:endParaRPr sz="2000" b="1"/>
                    </a:p>
                  </a:txBody>
                  <a:tcPr marL="0" marR="0" marT="0" marB="0" anchor="ctr" anchorCtr="0">
                    <a:lnL>
                      <a:noFill/>
                    </a:lnL>
                    <a:lnR>
                      <a:noFill/>
                    </a:lnR>
                    <a:lnT>
                      <a:noFill/>
                    </a:lnT>
                    <a:lnB>
                      <a:noFill/>
                    </a:lnB>
                    <a:solidFill>
                      <a:schemeClr val="tx2">
                        <a:lumMod val="40000"/>
                        <a:lumOff val="60000"/>
                      </a:schemeClr>
                    </a:solidFill>
                  </a:tcPr>
                </a:tc>
                <a:tc>
                  <a:txBody>
                    <a:bodyPr/>
                    <a:p>
                      <a:pPr algn="ctr"/>
                      <a:r>
                        <a:rPr sz="2000" b="1"/>
                        <a:t>Description</a:t>
                      </a:r>
                      <a:endParaRPr sz="2000" b="1"/>
                    </a:p>
                  </a:txBody>
                  <a:tcPr marL="0" marR="0" marT="0" marB="0" anchor="ctr" anchorCtr="0">
                    <a:lnL>
                      <a:noFill/>
                    </a:lnL>
                    <a:lnR>
                      <a:noFill/>
                    </a:lnR>
                    <a:lnT>
                      <a:noFill/>
                    </a:lnT>
                    <a:lnB>
                      <a:noFill/>
                    </a:lnB>
                    <a:solidFill>
                      <a:schemeClr val="tx2">
                        <a:lumMod val="40000"/>
                        <a:lumOff val="60000"/>
                      </a:schemeClr>
                    </a:solidFill>
                  </a:tcPr>
                </a:tc>
              </a:tr>
              <a:tr h="401955">
                <a:tc>
                  <a:txBody>
                    <a:bodyPr/>
                    <a:p>
                      <a:r>
                        <a:rPr sz="1800"/>
                        <a:t>1. Tight Coupling</a:t>
                      </a:r>
                      <a:endParaRPr sz="1800"/>
                    </a:p>
                  </a:txBody>
                  <a:tcPr marL="0" marR="0" marT="0" marB="0" anchor="ctr" anchorCtr="0">
                    <a:lnL>
                      <a:noFill/>
                    </a:lnL>
                    <a:lnR>
                      <a:noFill/>
                    </a:lnR>
                    <a:lnT>
                      <a:noFill/>
                    </a:lnT>
                    <a:lnB>
                      <a:noFill/>
                    </a:lnB>
                    <a:solidFill>
                      <a:schemeClr val="tx2">
                        <a:lumMod val="40000"/>
                        <a:lumOff val="60000"/>
                      </a:schemeClr>
                    </a:solidFill>
                  </a:tcPr>
                </a:tc>
                <a:tc>
                  <a:txBody>
                    <a:bodyPr/>
                    <a:p>
                      <a:r>
                        <a:rPr sz="1800"/>
                        <a:t>Subclasses are tightly bound to the parent class, making code less flexible.</a:t>
                      </a:r>
                      <a:endParaRPr sz="1800"/>
                    </a:p>
                  </a:txBody>
                  <a:tcPr marL="0" marR="0" marT="0" marB="0" anchor="ctr" anchorCtr="0">
                    <a:lnL>
                      <a:noFill/>
                    </a:lnL>
                    <a:lnR>
                      <a:noFill/>
                    </a:lnR>
                    <a:lnT>
                      <a:noFill/>
                    </a:lnT>
                    <a:lnB>
                      <a:noFill/>
                    </a:lnB>
                    <a:solidFill>
                      <a:schemeClr val="tx2">
                        <a:lumMod val="40000"/>
                        <a:lumOff val="60000"/>
                      </a:schemeClr>
                    </a:solidFill>
                  </a:tcPr>
                </a:tc>
              </a:tr>
              <a:tr h="402590">
                <a:tc>
                  <a:txBody>
                    <a:bodyPr/>
                    <a:p>
                      <a:r>
                        <a:rPr sz="1800"/>
                        <a:t>2. Increases Complexity</a:t>
                      </a:r>
                      <a:endParaRPr sz="1800"/>
                    </a:p>
                  </a:txBody>
                  <a:tcPr marL="0" marR="0" marT="0" marB="0" anchor="ctr" anchorCtr="0">
                    <a:lnL>
                      <a:noFill/>
                    </a:lnL>
                    <a:lnR>
                      <a:noFill/>
                    </a:lnR>
                    <a:lnT>
                      <a:noFill/>
                    </a:lnT>
                    <a:lnB>
                      <a:noFill/>
                    </a:lnB>
                    <a:solidFill>
                      <a:schemeClr val="tx2">
                        <a:lumMod val="40000"/>
                        <a:lumOff val="60000"/>
                      </a:schemeClr>
                    </a:solidFill>
                  </a:tcPr>
                </a:tc>
                <a:tc>
                  <a:txBody>
                    <a:bodyPr/>
                    <a:p>
                      <a:r>
                        <a:rPr sz="1800"/>
                        <a:t>Deep inheritance chains can become difficult to manage and understand.</a:t>
                      </a:r>
                      <a:endParaRPr sz="1800"/>
                    </a:p>
                  </a:txBody>
                  <a:tcPr marL="0" marR="0" marT="0" marB="0" anchor="ctr" anchorCtr="0">
                    <a:lnL>
                      <a:noFill/>
                    </a:lnL>
                    <a:lnR>
                      <a:noFill/>
                    </a:lnR>
                    <a:lnT>
                      <a:noFill/>
                    </a:lnT>
                    <a:lnB>
                      <a:noFill/>
                    </a:lnB>
                    <a:solidFill>
                      <a:schemeClr val="tx2">
                        <a:lumMod val="40000"/>
                        <a:lumOff val="60000"/>
                      </a:schemeClr>
                    </a:solidFill>
                  </a:tcPr>
                </a:tc>
              </a:tr>
              <a:tr h="401955">
                <a:tc>
                  <a:txBody>
                    <a:bodyPr/>
                    <a:p>
                      <a:r>
                        <a:rPr sz="1800"/>
                        <a:t>3. Breaks Encapsulation</a:t>
                      </a:r>
                      <a:endParaRPr sz="1800"/>
                    </a:p>
                  </a:txBody>
                  <a:tcPr marL="0" marR="0" marT="0" marB="0" anchor="ctr" anchorCtr="0">
                    <a:lnL>
                      <a:noFill/>
                    </a:lnL>
                    <a:lnR>
                      <a:noFill/>
                    </a:lnR>
                    <a:lnT>
                      <a:noFill/>
                    </a:lnT>
                    <a:lnB>
                      <a:noFill/>
                    </a:lnB>
                    <a:solidFill>
                      <a:schemeClr val="tx2">
                        <a:lumMod val="40000"/>
                        <a:lumOff val="60000"/>
                      </a:schemeClr>
                    </a:solidFill>
                  </a:tcPr>
                </a:tc>
                <a:tc>
                  <a:txBody>
                    <a:bodyPr/>
                    <a:p>
                      <a:r>
                        <a:rPr sz="1800"/>
                        <a:t>Subclasses might access and depend on internal details of the parent class.</a:t>
                      </a:r>
                      <a:endParaRPr sz="1800"/>
                    </a:p>
                  </a:txBody>
                  <a:tcPr marL="0" marR="0" marT="0" marB="0" anchor="ctr" anchorCtr="0">
                    <a:lnL>
                      <a:noFill/>
                    </a:lnL>
                    <a:lnR>
                      <a:noFill/>
                    </a:lnR>
                    <a:lnT>
                      <a:noFill/>
                    </a:lnT>
                    <a:lnB>
                      <a:noFill/>
                    </a:lnB>
                    <a:solidFill>
                      <a:schemeClr val="tx2">
                        <a:lumMod val="40000"/>
                        <a:lumOff val="60000"/>
                      </a:schemeClr>
                    </a:solidFill>
                  </a:tcPr>
                </a:tc>
              </a:tr>
              <a:tr h="401320">
                <a:tc>
                  <a:txBody>
                    <a:bodyPr/>
                    <a:p>
                      <a:r>
                        <a:rPr sz="1800"/>
                        <a:t>4. Fragile Base Class Problem</a:t>
                      </a:r>
                      <a:endParaRPr sz="1800"/>
                    </a:p>
                  </a:txBody>
                  <a:tcPr marL="0" marR="0" marT="0" marB="0" anchor="ctr" anchorCtr="0">
                    <a:lnL>
                      <a:noFill/>
                    </a:lnL>
                    <a:lnR>
                      <a:noFill/>
                    </a:lnR>
                    <a:lnT>
                      <a:noFill/>
                    </a:lnT>
                    <a:lnB>
                      <a:noFill/>
                    </a:lnB>
                    <a:solidFill>
                      <a:schemeClr val="tx2">
                        <a:lumMod val="40000"/>
                        <a:lumOff val="60000"/>
                      </a:schemeClr>
                    </a:solidFill>
                  </a:tcPr>
                </a:tc>
                <a:tc>
                  <a:txBody>
                    <a:bodyPr/>
                    <a:p>
                      <a:r>
                        <a:rPr sz="1800"/>
                        <a:t>A change in the parent class may unintentionally affect all child classes.</a:t>
                      </a:r>
                      <a:endParaRPr sz="1800"/>
                    </a:p>
                  </a:txBody>
                  <a:tcPr marL="0" marR="0" marT="0" marB="0" anchor="ctr" anchorCtr="0">
                    <a:lnL>
                      <a:noFill/>
                    </a:lnL>
                    <a:lnR>
                      <a:noFill/>
                    </a:lnR>
                    <a:lnT>
                      <a:noFill/>
                    </a:lnT>
                    <a:lnB>
                      <a:noFill/>
                    </a:lnB>
                    <a:solidFill>
                      <a:schemeClr val="tx2">
                        <a:lumMod val="40000"/>
                        <a:lumOff val="60000"/>
                      </a:schemeClr>
                    </a:solidFill>
                  </a:tcPr>
                </a:tc>
              </a:tr>
              <a:tr h="401955">
                <a:tc>
                  <a:txBody>
                    <a:bodyPr/>
                    <a:p>
                      <a:r>
                        <a:rPr sz="1800"/>
                        <a:t>5. Misuse of Inheritance</a:t>
                      </a:r>
                      <a:endParaRPr sz="1800"/>
                    </a:p>
                  </a:txBody>
                  <a:tcPr marL="0" marR="0" marT="0" marB="0" anchor="ctr" anchorCtr="0">
                    <a:lnL>
                      <a:noFill/>
                    </a:lnL>
                    <a:lnR>
                      <a:noFill/>
                    </a:lnR>
                    <a:lnT>
                      <a:noFill/>
                    </a:lnT>
                    <a:lnB>
                      <a:noFill/>
                    </a:lnB>
                    <a:solidFill>
                      <a:schemeClr val="tx2">
                        <a:lumMod val="40000"/>
                        <a:lumOff val="60000"/>
                      </a:schemeClr>
                    </a:solidFill>
                  </a:tcPr>
                </a:tc>
                <a:tc>
                  <a:txBody>
                    <a:bodyPr/>
                    <a:p>
                      <a:r>
                        <a:rPr sz="1800"/>
                        <a:t>Inheritance used where composition would be better can lead to poor design.</a:t>
                      </a:r>
                      <a:endParaRPr sz="1800"/>
                    </a:p>
                  </a:txBody>
                  <a:tcPr marL="0" marR="0" marT="0" marB="0" anchor="ctr" anchorCtr="0">
                    <a:lnL>
                      <a:noFill/>
                    </a:lnL>
                    <a:lnR>
                      <a:noFill/>
                    </a:lnR>
                    <a:lnT>
                      <a:noFill/>
                    </a:lnT>
                    <a:lnB>
                      <a:noFill/>
                    </a:lnB>
                    <a:solidFill>
                      <a:schemeClr val="tx2">
                        <a:lumMod val="40000"/>
                        <a:lumOff val="60000"/>
                      </a:schemeClr>
                    </a:solid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99949" y="3056531"/>
            <a:ext cx="9792101" cy="591444"/>
          </a:xfrm>
        </p:spPr>
        <p:txBody>
          <a:bodyPr>
            <a:normAutofit/>
          </a:bodyPr>
          <a:lstStyle/>
          <a:p>
            <a:r>
              <a:rPr lang="en-US" sz="3600" b="1" dirty="0">
                <a:solidFill>
                  <a:srgbClr val="FF0000"/>
                </a:solidFill>
                <a:latin typeface="Cambria" panose="02040503050406030204" charset="0"/>
                <a:ea typeface="Cambria" panose="02040503050406030204" charset="0"/>
              </a:rPr>
              <a:t>Java Inheritance</a:t>
            </a:r>
            <a:endParaRPr lang="en-US" sz="3600" b="1" dirty="0">
              <a:solidFill>
                <a:srgbClr val="FF0000"/>
              </a:solidFill>
              <a:latin typeface="Cambria" panose="02040503050406030204" charset="0"/>
              <a:ea typeface="Cambria" panose="0204050305040603020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800" y="978602"/>
            <a:ext cx="11886399" cy="4351338"/>
          </a:xfrm>
        </p:spPr>
        <p:txBody>
          <a:bodyPr>
            <a:normAutofit/>
          </a:bodyPr>
          <a:lstStyle/>
          <a:p>
            <a:pPr marL="0" indent="0">
              <a:buNone/>
            </a:pPr>
            <a:r>
              <a:rPr lang="en-US" sz="1800" dirty="0">
                <a:latin typeface="Cambria" panose="02040503050406030204" charset="0"/>
                <a:ea typeface="Cambria" panose="02040503050406030204" charset="0"/>
              </a:rPr>
              <a:t> </a:t>
            </a:r>
            <a:endParaRPr lang="en-US" sz="1800" dirty="0">
              <a:latin typeface="Cambria" panose="02040503050406030204" charset="0"/>
              <a:ea typeface="Cambria" panose="02040503050406030204" charset="0"/>
            </a:endParaRPr>
          </a:p>
          <a:p>
            <a:pPr marL="0" indent="0">
              <a:buNone/>
            </a:pPr>
            <a:endParaRPr lang="en-US" sz="1800" dirty="0">
              <a:latin typeface="Cambria" panose="02040503050406030204" charset="0"/>
              <a:ea typeface="Cambria" panose="02040503050406030204" charset="0"/>
            </a:endParaRPr>
          </a:p>
          <a:p>
            <a:pPr marL="0" indent="0">
              <a:buNone/>
            </a:pPr>
            <a:r>
              <a:rPr lang="en-US" sz="1800" dirty="0">
                <a:latin typeface="Cambria" panose="02040503050406030204" charset="0"/>
                <a:ea typeface="Cambria" panose="02040503050406030204" charset="0"/>
              </a:rPr>
              <a:t>Java is pure object oriented programming language it supports to the following object oriented concepts such as</a:t>
            </a:r>
            <a:endParaRPr lang="en-US" sz="1800" dirty="0">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a:p>
            <a:pPr marL="0" indent="0">
              <a:buNone/>
            </a:pPr>
            <a:endParaRPr lang="en-US" sz="1800" dirty="0">
              <a:latin typeface="Cambria" panose="02040503050406030204" charset="0"/>
              <a:ea typeface="Cambria" panose="02040503050406030204" charset="0"/>
            </a:endParaRPr>
          </a:p>
          <a:p>
            <a:r>
              <a:rPr lang="en-US" sz="1800" dirty="0">
                <a:latin typeface="Cambria" panose="02040503050406030204" charset="0"/>
                <a:ea typeface="Cambria" panose="02040503050406030204" charset="0"/>
              </a:rPr>
              <a:t>Class and object</a:t>
            </a:r>
            <a:endParaRPr lang="en-US" sz="1800" dirty="0">
              <a:latin typeface="Cambria" panose="02040503050406030204" charset="0"/>
              <a:ea typeface="Cambria" panose="02040503050406030204" charset="0"/>
            </a:endParaRPr>
          </a:p>
          <a:p>
            <a:r>
              <a:rPr lang="en-US" sz="1800" dirty="0">
                <a:latin typeface="Cambria" panose="02040503050406030204" charset="0"/>
                <a:ea typeface="Cambria" panose="02040503050406030204" charset="0"/>
              </a:rPr>
              <a:t>Inheritance</a:t>
            </a:r>
            <a:endParaRPr lang="en-US" sz="1800" dirty="0">
              <a:latin typeface="Cambria" panose="02040503050406030204" charset="0"/>
              <a:ea typeface="Cambria" panose="02040503050406030204" charset="0"/>
            </a:endParaRPr>
          </a:p>
          <a:p>
            <a:r>
              <a:rPr lang="en-US" sz="1800" dirty="0">
                <a:latin typeface="Cambria" panose="02040503050406030204" charset="0"/>
                <a:ea typeface="Cambria" panose="02040503050406030204" charset="0"/>
              </a:rPr>
              <a:t>Polymorphism</a:t>
            </a:r>
            <a:endParaRPr lang="en-US" sz="1800" dirty="0">
              <a:latin typeface="Cambria" panose="02040503050406030204" charset="0"/>
              <a:ea typeface="Cambria" panose="02040503050406030204" charset="0"/>
            </a:endParaRPr>
          </a:p>
          <a:p>
            <a:r>
              <a:rPr lang="en-US" sz="1800" dirty="0">
                <a:latin typeface="Cambria" panose="02040503050406030204" charset="0"/>
                <a:ea typeface="Cambria" panose="02040503050406030204" charset="0"/>
              </a:rPr>
              <a:t>Encapsulation</a:t>
            </a:r>
            <a:endParaRPr lang="en-US" sz="1800" dirty="0">
              <a:latin typeface="Cambria" panose="02040503050406030204" charset="0"/>
              <a:ea typeface="Cambria" panose="02040503050406030204" charset="0"/>
            </a:endParaRPr>
          </a:p>
          <a:p>
            <a:r>
              <a:rPr lang="en-US" sz="1800" dirty="0">
                <a:latin typeface="Cambria" panose="02040503050406030204" charset="0"/>
                <a:ea typeface="Cambria" panose="02040503050406030204" charset="0"/>
              </a:rPr>
              <a:t>Data Abstraction</a:t>
            </a:r>
            <a:endParaRPr lang="en-US" sz="1800" dirty="0">
              <a:latin typeface="Cambria" panose="02040503050406030204" charset="0"/>
              <a:ea typeface="Cambria" panose="0204050305040603020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377" y="93261"/>
            <a:ext cx="11093918" cy="587776"/>
          </a:xfrm>
        </p:spPr>
        <p:txBody>
          <a:bodyPr>
            <a:noAutofit/>
          </a:bodyPr>
          <a:lstStyle/>
          <a:p>
            <a:r>
              <a:rPr lang="en-US" sz="2400" b="1" dirty="0">
                <a:solidFill>
                  <a:srgbClr val="FF0000"/>
                </a:solidFill>
                <a:latin typeface="Cambria" panose="02040503050406030204" charset="0"/>
                <a:ea typeface="Cambria" panose="02040503050406030204" charset="0"/>
              </a:rPr>
              <a:t>What is Inheritance in Java?</a:t>
            </a:r>
            <a:endParaRPr lang="en-US" sz="2400" b="1" dirty="0">
              <a:solidFill>
                <a:srgbClr val="FF0000"/>
              </a:solidFill>
              <a:latin typeface="Cambria" panose="02040503050406030204" charset="0"/>
              <a:ea typeface="Cambria" panose="02040503050406030204" charset="0"/>
            </a:endParaRPr>
          </a:p>
        </p:txBody>
      </p:sp>
      <p:sp>
        <p:nvSpPr>
          <p:cNvPr id="4" name="Rectangle 1"/>
          <p:cNvSpPr>
            <a:spLocks noGrp="1" noChangeArrowheads="1"/>
          </p:cNvSpPr>
          <p:nvPr>
            <p:ph idx="1"/>
          </p:nvPr>
        </p:nvSpPr>
        <p:spPr bwMode="auto">
          <a:xfrm>
            <a:off x="67377" y="716260"/>
            <a:ext cx="12057246" cy="5939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Cambria" panose="02040503050406030204" charset="0"/>
                <a:ea typeface="Cambria" panose="02040503050406030204" charset="0"/>
              </a:rPr>
              <a:t>Inheritance</a:t>
            </a: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 is a fundamental </a:t>
            </a:r>
            <a:r>
              <a:rPr kumimoji="0" lang="en-US" altLang="en-US" sz="1800" b="1" i="0" u="none" strike="noStrike" cap="none" normalizeH="0" baseline="0" dirty="0">
                <a:ln>
                  <a:noFill/>
                </a:ln>
                <a:solidFill>
                  <a:schemeClr val="tx1"/>
                </a:solidFill>
                <a:effectLst/>
                <a:latin typeface="Cambria" panose="02040503050406030204" charset="0"/>
                <a:ea typeface="Cambria" panose="02040503050406030204" charset="0"/>
              </a:rPr>
              <a:t>Object-Oriented Programming (OOP)</a:t>
            </a: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 concept in Java. It allows one class (</a:t>
            </a:r>
            <a:r>
              <a:rPr kumimoji="0" lang="en-US" altLang="en-US" sz="1800" b="1" i="0" u="none" strike="noStrike" cap="none" normalizeH="0" baseline="0" dirty="0">
                <a:ln>
                  <a:noFill/>
                </a:ln>
                <a:solidFill>
                  <a:schemeClr val="tx1"/>
                </a:solidFill>
                <a:effectLst/>
                <a:latin typeface="Cambria" panose="02040503050406030204" charset="0"/>
                <a:ea typeface="Cambria" panose="02040503050406030204" charset="0"/>
              </a:rPr>
              <a:t>child/subclass</a:t>
            </a: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 to </a:t>
            </a:r>
            <a:r>
              <a:rPr kumimoji="0" lang="en-US" altLang="en-US" sz="1800" b="1" i="0" u="none" strike="noStrike" cap="none" normalizeH="0" baseline="0" dirty="0">
                <a:ln>
                  <a:noFill/>
                </a:ln>
                <a:solidFill>
                  <a:schemeClr val="tx1"/>
                </a:solidFill>
                <a:effectLst/>
                <a:latin typeface="Cambria" panose="02040503050406030204" charset="0"/>
                <a:ea typeface="Cambria" panose="02040503050406030204" charset="0"/>
              </a:rPr>
              <a:t>inherit properties and behaviors</a:t>
            </a: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 (fields and methods) from another class (</a:t>
            </a:r>
            <a:r>
              <a:rPr kumimoji="0" lang="en-US" altLang="en-US" sz="1800" b="1" i="0" u="none" strike="noStrike" cap="none" normalizeH="0" baseline="0" dirty="0">
                <a:ln>
                  <a:noFill/>
                </a:ln>
                <a:solidFill>
                  <a:schemeClr val="tx1"/>
                </a:solidFill>
                <a:effectLst/>
                <a:latin typeface="Cambria" panose="02040503050406030204" charset="0"/>
                <a:ea typeface="Cambria" panose="02040503050406030204" charset="0"/>
              </a:rPr>
              <a:t>parent/superclass</a:t>
            </a: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a:t>
            </a: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1" i="0" u="none" strike="noStrike" cap="none" normalizeH="0" baseline="0" dirty="0">
                <a:ln>
                  <a:noFill/>
                </a:ln>
                <a:solidFill>
                  <a:schemeClr val="tx1"/>
                </a:solidFill>
                <a:effectLst/>
                <a:latin typeface="Cambria" panose="02040503050406030204" charset="0"/>
                <a:ea typeface="Cambria" panose="02040503050406030204" charset="0"/>
              </a:rPr>
              <a:t> Definition:</a:t>
            </a:r>
            <a:endParaRPr kumimoji="0" lang="en-US" altLang="en-US" sz="2000" b="1" i="0" u="none" strike="noStrike" cap="none" normalizeH="0" baseline="0" dirty="0">
              <a:ln>
                <a:noFill/>
              </a:ln>
              <a:solidFill>
                <a:schemeClr val="tx1"/>
              </a:solidFill>
              <a:effectLst/>
              <a:latin typeface="Cambria" panose="02040503050406030204" charset="0"/>
              <a:ea typeface="Cambria" panose="0204050305040603020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sz="1800" b="1" i="0" u="none" strike="noStrike" cap="none" normalizeH="0" baseline="0" dirty="0">
                <a:ln>
                  <a:noFill/>
                </a:ln>
                <a:solidFill>
                  <a:schemeClr val="tx1"/>
                </a:solidFill>
                <a:effectLst/>
                <a:latin typeface="Cambria" panose="02040503050406030204" charset="0"/>
                <a:ea typeface="Cambria" panose="02040503050406030204" charset="0"/>
              </a:rPr>
              <a:t>Inheritance</a:t>
            </a: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 is a mechanism in Java where one class acquires the properties (fields) and behaviors (methods) of another class.</a:t>
            </a: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pPr>
            <a:r>
              <a:rPr lang="en-US" sz="1800" dirty="0">
                <a:latin typeface="Cambria" panose="02040503050406030204" charset="0"/>
                <a:ea typeface="Cambria" panose="02040503050406030204" charset="0"/>
              </a:rPr>
              <a:t>The Process by which one class acquires the properties (data members) and data functionalities(Methods) of another class is called as </a:t>
            </a:r>
            <a:r>
              <a:rPr lang="en-US" sz="1800" b="1" dirty="0">
                <a:latin typeface="Cambria" panose="02040503050406030204" charset="0"/>
                <a:ea typeface="Cambria" panose="02040503050406030204" charset="0"/>
              </a:rPr>
              <a:t>inheritance</a:t>
            </a:r>
            <a:endParaRPr lang="en-US" sz="1800" b="1" dirty="0">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800" b="1" dirty="0">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800" b="1" dirty="0">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None/>
            </a:pPr>
            <a:r>
              <a:rPr lang="en-US" sz="1800" b="1" dirty="0">
                <a:latin typeface="Cambria" panose="02040503050406030204" charset="0"/>
                <a:ea typeface="Cambria" panose="02040503050406030204" charset="0"/>
              </a:rPr>
              <a:t>Parent class/Super class/Base Class</a:t>
            </a:r>
            <a:endParaRPr lang="en-US" sz="1800" b="1" dirty="0">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None/>
            </a:pPr>
            <a:r>
              <a:rPr lang="en-US" sz="1800" dirty="0">
                <a:latin typeface="Cambria" panose="02040503050406030204" charset="0"/>
                <a:ea typeface="Cambria" panose="02040503050406030204" charset="0"/>
              </a:rPr>
              <a:t>The Class whose properties and functionalities are used (inherited) by another class is known as Parent class, Super class or Base class</a:t>
            </a:r>
            <a:endParaRPr lang="en-US" sz="1800" dirty="0">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800" b="1" dirty="0">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None/>
            </a:pPr>
            <a:r>
              <a:rPr lang="en-US" sz="1800" b="1" dirty="0">
                <a:latin typeface="Cambria" panose="02040503050406030204" charset="0"/>
                <a:ea typeface="Cambria" panose="02040503050406030204" charset="0"/>
              </a:rPr>
              <a:t>Child class/Sub class/ Derived Class</a:t>
            </a:r>
            <a:endParaRPr lang="en-US" sz="1800" b="1" dirty="0">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None/>
            </a:pPr>
            <a:r>
              <a:rPr lang="en-US" sz="1800" dirty="0">
                <a:latin typeface="Cambria" panose="02040503050406030204" charset="0"/>
                <a:ea typeface="Cambria" panose="02040503050406030204" charset="0"/>
              </a:rPr>
              <a:t>The Class that Extends the Features of another class Is known as child class. /Sub class or Derived Class</a:t>
            </a:r>
            <a:endParaRPr lang="en-US" sz="1800" dirty="0">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None/>
            </a:pPr>
            <a:r>
              <a:rPr lang="en-US" sz="1800" b="1" dirty="0">
                <a:latin typeface="Cambria" panose="02040503050406030204" charset="0"/>
                <a:ea typeface="Cambria" panose="02040503050406030204" charset="0"/>
              </a:rPr>
              <a:t> </a:t>
            </a:r>
            <a:endParaRPr lang="en-US" sz="1800" b="1" dirty="0">
              <a:latin typeface="Cambria" panose="02040503050406030204" charset="0"/>
              <a:ea typeface="Cambria" panose="02040503050406030204" charset="0"/>
            </a:endParaRP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latin typeface="Cambria" panose="02040503050406030204" charset="0"/>
                <a:ea typeface="Cambria" panose="02040503050406030204" charset="0"/>
              </a:rPr>
              <a:t>Inheritance is one of the most important features of Java.,cpp/python/js,C#,php,Node,</a:t>
            </a:r>
            <a:endParaRPr kumimoji="0" lang="en-US" altLang="en-US" sz="1800" i="0" u="none" strike="noStrike" cap="none" normalizeH="0" baseline="0" dirty="0">
              <a:ln>
                <a:noFill/>
              </a:ln>
              <a:solidFill>
                <a:schemeClr val="tx1"/>
              </a:solidFill>
              <a:effectLst/>
              <a:latin typeface="Cambria" panose="02040503050406030204" charset="0"/>
              <a:ea typeface="Cambria" panose="02040503050406030204" charset="0"/>
            </a:endParaRPr>
          </a:p>
          <a:p>
            <a:pPr eaLnBrk="0" fontAlgn="base" hangingPunct="0">
              <a:lnSpc>
                <a:spcPct val="100000"/>
              </a:lnSpc>
              <a:spcBef>
                <a:spcPct val="0"/>
              </a:spcBef>
              <a:spcAft>
                <a:spcPct val="0"/>
              </a:spcAft>
            </a:pPr>
            <a:r>
              <a:rPr lang="en-US" sz="1800" dirty="0">
                <a:latin typeface="Cambria" panose="02040503050406030204" charset="0"/>
                <a:ea typeface="Cambria" panose="02040503050406030204" charset="0"/>
              </a:rPr>
              <a:t>Reusability is Characteristic of inheritance</a:t>
            </a:r>
            <a:endParaRPr lang="en-US" sz="1800" dirty="0">
              <a:latin typeface="Cambria" panose="02040503050406030204" charset="0"/>
              <a:ea typeface="Cambria" panose="02040503050406030204" charset="0"/>
            </a:endParaRPr>
          </a:p>
          <a:p>
            <a:pPr eaLnBrk="0" fontAlgn="base" hangingPunct="0">
              <a:lnSpc>
                <a:spcPct val="100000"/>
              </a:lnSpc>
              <a:spcBef>
                <a:spcPct val="0"/>
              </a:spcBef>
              <a:spcAft>
                <a:spcPct val="0"/>
              </a:spcAft>
            </a:pPr>
            <a:r>
              <a:rPr lang="en-US" sz="1800" dirty="0">
                <a:latin typeface="Cambria" panose="02040503050406030204" charset="0"/>
                <a:ea typeface="Cambria" panose="02040503050406030204" charset="0"/>
              </a:rPr>
              <a:t>perform inheritance you can use extend keyword in java.</a:t>
            </a:r>
            <a:endParaRPr lang="en-US" sz="1800" dirty="0">
              <a:latin typeface="Cambria" panose="02040503050406030204" charset="0"/>
              <a:ea typeface="Cambria" panose="0204050305040603020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054" y="3481863"/>
            <a:ext cx="10515601" cy="443397"/>
          </a:xfrm>
        </p:spPr>
        <p:txBody>
          <a:bodyPr>
            <a:noAutofit/>
          </a:bodyPr>
          <a:lstStyle/>
          <a:p>
            <a:r>
              <a:rPr lang="en-US" sz="2400" b="1" dirty="0">
                <a:solidFill>
                  <a:srgbClr val="FF0000"/>
                </a:solidFill>
                <a:latin typeface="Cambria" panose="02040503050406030204" charset="0"/>
                <a:ea typeface="Cambria" panose="02040503050406030204" charset="0"/>
              </a:rPr>
              <a:t>Use of Inheritance in Java</a:t>
            </a:r>
            <a:endParaRPr lang="en-US" sz="2400" b="1" dirty="0">
              <a:solidFill>
                <a:srgbClr val="FF0000"/>
              </a:solidFill>
              <a:latin typeface="Cambria" panose="02040503050406030204" charset="0"/>
              <a:ea typeface="Cambria" panose="02040503050406030204" charset="0"/>
            </a:endParaRPr>
          </a:p>
        </p:txBody>
      </p:sp>
      <p:sp>
        <p:nvSpPr>
          <p:cNvPr id="4" name="Rectangle 1"/>
          <p:cNvSpPr>
            <a:spLocks noGrp="1" noChangeArrowheads="1"/>
          </p:cNvSpPr>
          <p:nvPr>
            <p:ph idx="1"/>
          </p:nvPr>
        </p:nvSpPr>
        <p:spPr bwMode="auto">
          <a:xfrm>
            <a:off x="97054" y="4074510"/>
            <a:ext cx="855073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You have a </a:t>
            </a:r>
            <a:r>
              <a:rPr kumimoji="0" lang="en-US" altLang="en-US" sz="1800" b="1" i="0" u="none" strike="noStrike" cap="none" normalizeH="0" baseline="0" dirty="0">
                <a:ln>
                  <a:noFill/>
                </a:ln>
                <a:solidFill>
                  <a:schemeClr val="tx1"/>
                </a:solidFill>
                <a:effectLst/>
                <a:latin typeface="Cambria" panose="02040503050406030204" charset="0"/>
                <a:ea typeface="Cambria" panose="02040503050406030204" charset="0"/>
              </a:rPr>
              <a:t>common functionality</a:t>
            </a: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 across multiple classes.</a:t>
            </a: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You want to </a:t>
            </a:r>
            <a:r>
              <a:rPr kumimoji="0" lang="en-US" altLang="en-US" sz="1800" b="1" i="0" u="none" strike="noStrike" cap="none" normalizeH="0" baseline="0" dirty="0">
                <a:ln>
                  <a:noFill/>
                </a:ln>
                <a:solidFill>
                  <a:schemeClr val="tx1"/>
                </a:solidFill>
                <a:effectLst/>
                <a:latin typeface="Cambria" panose="02040503050406030204" charset="0"/>
                <a:ea typeface="Cambria" panose="02040503050406030204" charset="0"/>
              </a:rPr>
              <a:t>override behavior</a:t>
            </a: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 of a superclass method.</a:t>
            </a: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You want to follow </a:t>
            </a:r>
            <a:r>
              <a:rPr kumimoji="0" lang="en-US" altLang="en-US" sz="1800" b="1" i="0" u="none" strike="noStrike" cap="none" normalizeH="0" baseline="0" dirty="0">
                <a:ln>
                  <a:noFill/>
                </a:ln>
                <a:solidFill>
                  <a:schemeClr val="tx1"/>
                </a:solidFill>
                <a:effectLst/>
                <a:latin typeface="Cambria" panose="02040503050406030204" charset="0"/>
                <a:ea typeface="Cambria" panose="02040503050406030204" charset="0"/>
              </a:rPr>
              <a:t>DRY (Don't Repeat Yourself)</a:t>
            </a: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 principle.</a:t>
            </a: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You’re implementing </a:t>
            </a:r>
            <a:r>
              <a:rPr kumimoji="0" lang="en-US" altLang="en-US" sz="1800" b="1" i="0" u="none" strike="noStrike" cap="none" normalizeH="0" baseline="0" dirty="0">
                <a:ln>
                  <a:noFill/>
                </a:ln>
                <a:solidFill>
                  <a:schemeClr val="tx1"/>
                </a:solidFill>
                <a:effectLst/>
                <a:latin typeface="Cambria" panose="02040503050406030204" charset="0"/>
                <a:ea typeface="Cambria" panose="02040503050406030204" charset="0"/>
              </a:rPr>
              <a:t>polymorphism</a:t>
            </a: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 where a subclass can define its own behavior.</a:t>
            </a: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sz="1800" dirty="0">
                <a:latin typeface="Cambria" panose="02040503050406030204" charset="0"/>
                <a:ea typeface="Cambria" panose="02040503050406030204" charset="0"/>
              </a:rPr>
              <a:t>Inheritance is used to avoid space complexity and time complexity in java</a:t>
            </a: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p:txBody>
      </p:sp>
      <p:sp>
        <p:nvSpPr>
          <p:cNvPr id="5" name="Rectangle 1"/>
          <p:cNvSpPr txBox="1">
            <a:spLocks noChangeArrowheads="1"/>
          </p:cNvSpPr>
          <p:nvPr/>
        </p:nvSpPr>
        <p:spPr bwMode="auto">
          <a:xfrm>
            <a:off x="174057" y="867846"/>
            <a:ext cx="807381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Char char="•"/>
            </a:pPr>
            <a:r>
              <a:rPr lang="en-US" altLang="en-US" sz="1800" b="1" dirty="0">
                <a:latin typeface="Cambria" panose="02040503050406030204" charset="0"/>
                <a:ea typeface="Cambria" panose="02040503050406030204" charset="0"/>
              </a:rPr>
              <a:t>Code Reusability:</a:t>
            </a:r>
            <a:r>
              <a:rPr lang="en-US" altLang="en-US" sz="1800" dirty="0">
                <a:latin typeface="Cambria" panose="02040503050406030204" charset="0"/>
                <a:ea typeface="Cambria" panose="02040503050406030204" charset="0"/>
              </a:rPr>
              <a:t> Avoid rewriting common code.</a:t>
            </a:r>
            <a:endParaRPr lang="en-US" altLang="en-US" sz="1800" dirty="0">
              <a:latin typeface="Cambria" panose="02040503050406030204" charset="0"/>
              <a:ea typeface="Cambria" panose="02040503050406030204" charset="0"/>
            </a:endParaRPr>
          </a:p>
          <a:p>
            <a:pPr marL="0" indent="0" eaLnBrk="0" fontAlgn="base" hangingPunct="0">
              <a:lnSpc>
                <a:spcPct val="100000"/>
              </a:lnSpc>
              <a:spcBef>
                <a:spcPct val="0"/>
              </a:spcBef>
              <a:spcAft>
                <a:spcPct val="0"/>
              </a:spcAft>
              <a:buFontTx/>
              <a:buChar char="•"/>
            </a:pPr>
            <a:endParaRPr lang="en-US" altLang="en-US" sz="1800" dirty="0">
              <a:latin typeface="Cambria" panose="02040503050406030204" charset="0"/>
              <a:ea typeface="Cambria" panose="02040503050406030204" charset="0"/>
            </a:endParaRPr>
          </a:p>
          <a:p>
            <a:pPr marL="0" indent="0" eaLnBrk="0" fontAlgn="base" hangingPunct="0">
              <a:lnSpc>
                <a:spcPct val="100000"/>
              </a:lnSpc>
              <a:spcBef>
                <a:spcPct val="0"/>
              </a:spcBef>
              <a:spcAft>
                <a:spcPct val="0"/>
              </a:spcAft>
              <a:buFontTx/>
              <a:buChar char="•"/>
            </a:pPr>
            <a:r>
              <a:rPr lang="en-US" altLang="en-US" sz="1800" b="1" dirty="0">
                <a:latin typeface="Cambria" panose="02040503050406030204" charset="0"/>
                <a:ea typeface="Cambria" panose="02040503050406030204" charset="0"/>
              </a:rPr>
              <a:t>Improved Maintainability:</a:t>
            </a:r>
            <a:r>
              <a:rPr lang="en-US" altLang="en-US" sz="1800" dirty="0">
                <a:latin typeface="Cambria" panose="02040503050406030204" charset="0"/>
                <a:ea typeface="Cambria" panose="02040503050406030204" charset="0"/>
              </a:rPr>
              <a:t> Changes in the base class reflect across subclasses.</a:t>
            </a:r>
            <a:endParaRPr lang="en-US" altLang="en-US" sz="1800" dirty="0">
              <a:latin typeface="Cambria" panose="02040503050406030204" charset="0"/>
              <a:ea typeface="Cambria" panose="02040503050406030204" charset="0"/>
            </a:endParaRPr>
          </a:p>
          <a:p>
            <a:pPr marL="0" indent="0" eaLnBrk="0" fontAlgn="base" hangingPunct="0">
              <a:lnSpc>
                <a:spcPct val="100000"/>
              </a:lnSpc>
              <a:spcBef>
                <a:spcPct val="0"/>
              </a:spcBef>
              <a:spcAft>
                <a:spcPct val="0"/>
              </a:spcAft>
              <a:buFontTx/>
              <a:buChar char="•"/>
            </a:pPr>
            <a:endParaRPr lang="en-US" altLang="en-US" sz="1800" dirty="0">
              <a:latin typeface="Cambria" panose="02040503050406030204" charset="0"/>
              <a:ea typeface="Cambria" panose="02040503050406030204" charset="0"/>
            </a:endParaRPr>
          </a:p>
          <a:p>
            <a:pPr marL="0" indent="0" eaLnBrk="0" fontAlgn="base" hangingPunct="0">
              <a:lnSpc>
                <a:spcPct val="100000"/>
              </a:lnSpc>
              <a:spcBef>
                <a:spcPct val="0"/>
              </a:spcBef>
              <a:spcAft>
                <a:spcPct val="0"/>
              </a:spcAft>
              <a:buFontTx/>
              <a:buChar char="•"/>
            </a:pPr>
            <a:r>
              <a:rPr lang="en-US" altLang="en-US" sz="1800" b="1" dirty="0">
                <a:latin typeface="Cambria" panose="02040503050406030204" charset="0"/>
                <a:ea typeface="Cambria" panose="02040503050406030204" charset="0"/>
              </a:rPr>
              <a:t>Logical Hierarchy:</a:t>
            </a:r>
            <a:r>
              <a:rPr lang="en-US" altLang="en-US" sz="1800" dirty="0">
                <a:latin typeface="Cambria" panose="02040503050406030204" charset="0"/>
                <a:ea typeface="Cambria" panose="02040503050406030204" charset="0"/>
              </a:rPr>
              <a:t> Reflects real-world relationships (e.g., Car is a Vehicle).</a:t>
            </a:r>
            <a:endParaRPr lang="en-US" altLang="en-US" sz="1800" dirty="0">
              <a:latin typeface="Cambria" panose="02040503050406030204" charset="0"/>
              <a:ea typeface="Cambria" panose="02040503050406030204" charset="0"/>
            </a:endParaRPr>
          </a:p>
          <a:p>
            <a:pPr marL="0" indent="0" eaLnBrk="0" fontAlgn="base" hangingPunct="0">
              <a:lnSpc>
                <a:spcPct val="100000"/>
              </a:lnSpc>
              <a:spcBef>
                <a:spcPct val="0"/>
              </a:spcBef>
              <a:spcAft>
                <a:spcPct val="0"/>
              </a:spcAft>
              <a:buFontTx/>
              <a:buChar char="•"/>
            </a:pPr>
            <a:endParaRPr lang="en-US" altLang="en-US" sz="1800" dirty="0">
              <a:latin typeface="Cambria" panose="02040503050406030204" charset="0"/>
              <a:ea typeface="Cambria" panose="02040503050406030204" charset="0"/>
            </a:endParaRPr>
          </a:p>
          <a:p>
            <a:pPr marL="0" indent="0" eaLnBrk="0" fontAlgn="base" hangingPunct="0">
              <a:lnSpc>
                <a:spcPct val="100000"/>
              </a:lnSpc>
              <a:spcBef>
                <a:spcPct val="0"/>
              </a:spcBef>
              <a:spcAft>
                <a:spcPct val="0"/>
              </a:spcAft>
              <a:buFontTx/>
              <a:buChar char="•"/>
            </a:pPr>
            <a:r>
              <a:rPr lang="en-US" altLang="en-US" sz="1800" b="1" dirty="0">
                <a:latin typeface="Cambria" panose="02040503050406030204" charset="0"/>
                <a:ea typeface="Cambria" panose="02040503050406030204" charset="0"/>
              </a:rPr>
              <a:t>Extensibility:</a:t>
            </a:r>
            <a:r>
              <a:rPr lang="en-US" altLang="en-US" sz="1800" dirty="0">
                <a:latin typeface="Cambria" panose="02040503050406030204" charset="0"/>
                <a:ea typeface="Cambria" panose="02040503050406030204" charset="0"/>
              </a:rPr>
              <a:t> You can extend existing code without modifying it.</a:t>
            </a:r>
            <a:endParaRPr lang="en-US" altLang="en-US" sz="1800" dirty="0">
              <a:latin typeface="Cambria" panose="02040503050406030204" charset="0"/>
              <a:ea typeface="Cambria" panose="02040503050406030204" charset="0"/>
            </a:endParaRPr>
          </a:p>
          <a:p>
            <a:pPr marL="0" indent="0" eaLnBrk="0" fontAlgn="base" hangingPunct="0">
              <a:lnSpc>
                <a:spcPct val="100000"/>
              </a:lnSpc>
              <a:spcBef>
                <a:spcPct val="0"/>
              </a:spcBef>
              <a:spcAft>
                <a:spcPct val="0"/>
              </a:spcAft>
              <a:buFontTx/>
              <a:buChar char="•"/>
            </a:pPr>
            <a:endParaRPr lang="en-US" altLang="en-US" sz="1800" dirty="0">
              <a:latin typeface="Cambria" panose="02040503050406030204" charset="0"/>
              <a:ea typeface="Cambria" panose="02040503050406030204" charset="0"/>
            </a:endParaRPr>
          </a:p>
        </p:txBody>
      </p:sp>
      <p:sp>
        <p:nvSpPr>
          <p:cNvPr id="6" name="Title 1"/>
          <p:cNvSpPr txBox="1"/>
          <p:nvPr/>
        </p:nvSpPr>
        <p:spPr>
          <a:xfrm>
            <a:off x="97054" y="263545"/>
            <a:ext cx="10418545" cy="45302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rgbClr val="FF0000"/>
                </a:solidFill>
                <a:latin typeface="Cambria" panose="02040503050406030204" charset="0"/>
                <a:ea typeface="Cambria" panose="02040503050406030204" charset="0"/>
              </a:rPr>
              <a:t>Why Inheritance</a:t>
            </a:r>
            <a:endParaRPr lang="en-US" sz="2400" b="1" dirty="0">
              <a:solidFill>
                <a:srgbClr val="FF0000"/>
              </a:solidFill>
              <a:latin typeface="Cambria" panose="02040503050406030204" charset="0"/>
              <a:ea typeface="Cambria" panose="0204050305040603020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055" y="56086"/>
            <a:ext cx="10515600" cy="413886"/>
          </a:xfrm>
        </p:spPr>
        <p:txBody>
          <a:bodyPr>
            <a:noAutofit/>
          </a:bodyPr>
          <a:lstStyle/>
          <a:p>
            <a:r>
              <a:rPr lang="en-US" sz="2400" b="1" dirty="0">
                <a:solidFill>
                  <a:srgbClr val="FF0000"/>
                </a:solidFill>
                <a:latin typeface="Cambria" panose="02040503050406030204" charset="0"/>
                <a:ea typeface="Cambria" panose="02040503050406030204" charset="0"/>
              </a:rPr>
              <a:t>Advantages of Inheritance</a:t>
            </a:r>
            <a:endParaRPr lang="en-US" sz="2400" b="1" dirty="0">
              <a:solidFill>
                <a:srgbClr val="FF0000"/>
              </a:solidFill>
              <a:latin typeface="Cambria" panose="02040503050406030204" charset="0"/>
              <a:ea typeface="Cambria" panose="02040503050406030204" charset="0"/>
            </a:endParaRPr>
          </a:p>
        </p:txBody>
      </p:sp>
      <p:sp>
        <p:nvSpPr>
          <p:cNvPr id="4" name="Rectangle 1"/>
          <p:cNvSpPr>
            <a:spLocks noGrp="1" noChangeArrowheads="1"/>
          </p:cNvSpPr>
          <p:nvPr>
            <p:ph idx="1"/>
          </p:nvPr>
        </p:nvSpPr>
        <p:spPr bwMode="auto">
          <a:xfrm>
            <a:off x="97055" y="458681"/>
            <a:ext cx="889538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Cambria" panose="02040503050406030204" charset="0"/>
                <a:ea typeface="Cambria" panose="02040503050406030204" charset="0"/>
              </a:rPr>
              <a:t>Reusability:</a:t>
            </a: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 Use existing code with minimal changes.</a:t>
            </a: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Cambria" panose="02040503050406030204" charset="0"/>
                <a:ea typeface="Cambria" panose="02040503050406030204" charset="0"/>
              </a:rPr>
              <a:t>Extensibility:</a:t>
            </a: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 Easily add new features.</a:t>
            </a: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Cambria" panose="02040503050406030204" charset="0"/>
                <a:ea typeface="Cambria" panose="02040503050406030204" charset="0"/>
              </a:rPr>
              <a:t>Maintainability:</a:t>
            </a: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 Changes in base class automatically propagate.</a:t>
            </a: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Cambria" panose="02040503050406030204" charset="0"/>
                <a:ea typeface="Cambria" panose="02040503050406030204" charset="0"/>
              </a:rPr>
              <a:t>Polymorphism Support:</a:t>
            </a: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 Enables method overriding and dynamic method dispatch.</a:t>
            </a: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Cambria" panose="02040503050406030204" charset="0"/>
                <a:ea typeface="Cambria" panose="02040503050406030204" charset="0"/>
              </a:rPr>
              <a:t>Logical Structure:</a:t>
            </a: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 Models real-world hierarchies better.</a:t>
            </a: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p:txBody>
      </p:sp>
      <p:sp>
        <p:nvSpPr>
          <p:cNvPr id="7" name="TextBox 6"/>
          <p:cNvSpPr txBox="1"/>
          <p:nvPr/>
        </p:nvSpPr>
        <p:spPr>
          <a:xfrm>
            <a:off x="0" y="4000324"/>
            <a:ext cx="11963400" cy="258532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Cambria" panose="02040503050406030204" charset="0"/>
                <a:ea typeface="Cambria" panose="02040503050406030204" charset="0"/>
              </a:rPr>
              <a:t>Tight Coupling:</a:t>
            </a: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 Subclasses are tightly dependent on super classes.</a:t>
            </a: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Cambria" panose="02040503050406030204" charset="0"/>
                <a:ea typeface="Cambria" panose="02040503050406030204" charset="0"/>
              </a:rPr>
              <a:t>Less Flexibility:</a:t>
            </a: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 Changes in superclass can break subclass behavior.</a:t>
            </a: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Cambria" panose="02040503050406030204" charset="0"/>
                <a:ea typeface="Cambria" panose="02040503050406030204" charset="0"/>
              </a:rPr>
              <a:t>Complexity:</a:t>
            </a: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 Deep inheritance hierarchies become hard to manage.</a:t>
            </a: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Cambria" panose="02040503050406030204" charset="0"/>
                <a:ea typeface="Cambria" panose="02040503050406030204" charset="0"/>
              </a:rPr>
              <a:t>Overhead:</a:t>
            </a: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 Can lead to unnecessary code inclusion.</a:t>
            </a: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Cambria" panose="02040503050406030204" charset="0"/>
                <a:ea typeface="Cambria" panose="02040503050406030204" charset="0"/>
              </a:rPr>
              <a:t>Increased Testing Difficulty:</a:t>
            </a:r>
            <a:r>
              <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rPr>
              <a:t> More dependencies to test.</a:t>
            </a:r>
            <a:endParaRPr kumimoji="0" lang="en-US" altLang="en-US" sz="1800" b="0" i="0" u="none" strike="noStrike" cap="none" normalizeH="0" baseline="0" dirty="0">
              <a:ln>
                <a:noFill/>
              </a:ln>
              <a:solidFill>
                <a:schemeClr val="tx1"/>
              </a:solidFill>
              <a:effectLst/>
              <a:latin typeface="Cambria" panose="02040503050406030204" charset="0"/>
              <a:ea typeface="Cambria" panose="02040503050406030204" charset="0"/>
            </a:endParaRPr>
          </a:p>
        </p:txBody>
      </p:sp>
      <p:sp>
        <p:nvSpPr>
          <p:cNvPr id="9" name="TextBox 8"/>
          <p:cNvSpPr txBox="1"/>
          <p:nvPr/>
        </p:nvSpPr>
        <p:spPr>
          <a:xfrm>
            <a:off x="0" y="3538659"/>
            <a:ext cx="6116854" cy="461665"/>
          </a:xfrm>
          <a:prstGeom prst="rect">
            <a:avLst/>
          </a:prstGeom>
          <a:noFill/>
        </p:spPr>
        <p:txBody>
          <a:bodyPr wrap="square">
            <a:spAutoFit/>
          </a:bodyPr>
          <a:lstStyle/>
          <a:p>
            <a:r>
              <a:rPr lang="en-US" sz="2400" b="1" dirty="0">
                <a:solidFill>
                  <a:srgbClr val="FF0000"/>
                </a:solidFill>
                <a:latin typeface="Cambria" panose="02040503050406030204" charset="0"/>
                <a:ea typeface="Cambria" panose="02040503050406030204" charset="0"/>
              </a:rPr>
              <a:t>Disadvantages of Inheritance</a:t>
            </a:r>
            <a:endParaRPr lang="en-US" sz="2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305" y="134118"/>
            <a:ext cx="10515600" cy="530025"/>
          </a:xfrm>
        </p:spPr>
        <p:txBody>
          <a:bodyPr>
            <a:normAutofit/>
          </a:bodyPr>
          <a:lstStyle/>
          <a:p>
            <a:r>
              <a:rPr lang="en-US" sz="2400" b="1" dirty="0">
                <a:solidFill>
                  <a:srgbClr val="FF0000"/>
                </a:solidFill>
                <a:latin typeface="Cambria" panose="02040503050406030204" charset="0"/>
                <a:ea typeface="Cambria" panose="02040503050406030204" charset="0"/>
              </a:rPr>
              <a:t>Types of Inheritance</a:t>
            </a:r>
            <a:endParaRPr lang="en-US" sz="2400" b="1" dirty="0">
              <a:solidFill>
                <a:srgbClr val="FF0000"/>
              </a:solidFill>
              <a:latin typeface="Cambria" panose="02040503050406030204" charset="0"/>
              <a:ea typeface="Cambria" panose="02040503050406030204" charset="0"/>
            </a:endParaRPr>
          </a:p>
        </p:txBody>
      </p:sp>
      <p:graphicFrame>
        <p:nvGraphicFramePr>
          <p:cNvPr id="4" name="Content Placeholder 3"/>
          <p:cNvGraphicFramePr>
            <a:graphicFrameLocks noGrp="1"/>
          </p:cNvGraphicFramePr>
          <p:nvPr>
            <p:ph idx="1"/>
          </p:nvPr>
        </p:nvGraphicFramePr>
        <p:xfrm>
          <a:off x="58152" y="938103"/>
          <a:ext cx="12075695" cy="3210387"/>
        </p:xfrm>
        <a:graphic>
          <a:graphicData uri="http://schemas.openxmlformats.org/drawingml/2006/table">
            <a:tbl>
              <a:tblPr/>
              <a:tblGrid>
                <a:gridCol w="3301065"/>
                <a:gridCol w="4668252"/>
                <a:gridCol w="4106378"/>
              </a:tblGrid>
              <a:tr h="573283">
                <a:tc>
                  <a:txBody>
                    <a:bodyPr/>
                    <a:lstStyle/>
                    <a:p>
                      <a:pPr algn="ctr"/>
                      <a:r>
                        <a:rPr lang="en-US" sz="2000" b="1" dirty="0">
                          <a:solidFill>
                            <a:srgbClr val="FF0000"/>
                          </a:solidFill>
                          <a:latin typeface="Cambria" panose="02040503050406030204" charset="0"/>
                          <a:ea typeface="Cambria" panose="02040503050406030204" charset="0"/>
                        </a:rPr>
                        <a:t>Type</a:t>
                      </a:r>
                      <a:endParaRPr lang="en-US" sz="2000" b="1" dirty="0">
                        <a:solidFill>
                          <a:srgbClr val="FF0000"/>
                        </a:solidFill>
                        <a:latin typeface="Cambria" panose="02040503050406030204" charset="0"/>
                        <a:ea typeface="Cambria" panose="02040503050406030204" charset="0"/>
                      </a:endParaRPr>
                    </a:p>
                  </a:txBody>
                  <a:tcPr anchor="ctr">
                    <a:lnL>
                      <a:noFill/>
                    </a:lnL>
                    <a:lnR>
                      <a:noFill/>
                    </a:lnR>
                    <a:lnT>
                      <a:noFill/>
                    </a:lnT>
                    <a:lnB>
                      <a:noFill/>
                    </a:lnB>
                    <a:solidFill>
                      <a:schemeClr val="accent4">
                        <a:lumMod val="40000"/>
                        <a:lumOff val="60000"/>
                      </a:schemeClr>
                    </a:solidFill>
                  </a:tcPr>
                </a:tc>
                <a:tc>
                  <a:txBody>
                    <a:bodyPr/>
                    <a:lstStyle/>
                    <a:p>
                      <a:pPr algn="ctr"/>
                      <a:r>
                        <a:rPr lang="en-US" sz="2000" b="1" dirty="0">
                          <a:solidFill>
                            <a:srgbClr val="FF0000"/>
                          </a:solidFill>
                          <a:latin typeface="Cambria" panose="02040503050406030204" charset="0"/>
                          <a:ea typeface="Cambria" panose="02040503050406030204" charset="0"/>
                        </a:rPr>
                        <a:t>Description</a:t>
                      </a:r>
                      <a:endParaRPr lang="en-US" sz="2000" b="1" dirty="0">
                        <a:solidFill>
                          <a:srgbClr val="FF0000"/>
                        </a:solidFill>
                        <a:latin typeface="Cambria" panose="02040503050406030204" charset="0"/>
                        <a:ea typeface="Cambria" panose="02040503050406030204" charset="0"/>
                      </a:endParaRPr>
                    </a:p>
                  </a:txBody>
                  <a:tcPr anchor="ctr">
                    <a:lnL>
                      <a:noFill/>
                    </a:lnL>
                    <a:lnR>
                      <a:noFill/>
                    </a:lnR>
                    <a:lnT>
                      <a:noFill/>
                    </a:lnT>
                    <a:lnB>
                      <a:noFill/>
                    </a:lnB>
                    <a:solidFill>
                      <a:schemeClr val="accent4">
                        <a:lumMod val="40000"/>
                        <a:lumOff val="60000"/>
                      </a:schemeClr>
                    </a:solidFill>
                  </a:tcPr>
                </a:tc>
                <a:tc>
                  <a:txBody>
                    <a:bodyPr/>
                    <a:lstStyle/>
                    <a:p>
                      <a:pPr algn="ctr"/>
                      <a:r>
                        <a:rPr lang="en-US" sz="2000" b="1" dirty="0">
                          <a:solidFill>
                            <a:srgbClr val="FF0000"/>
                          </a:solidFill>
                          <a:latin typeface="Cambria" panose="02040503050406030204" charset="0"/>
                          <a:ea typeface="Cambria" panose="02040503050406030204" charset="0"/>
                        </a:rPr>
                        <a:t>Supported in Java?</a:t>
                      </a:r>
                      <a:endParaRPr lang="en-US" sz="2000" b="1" dirty="0">
                        <a:solidFill>
                          <a:srgbClr val="FF0000"/>
                        </a:solidFill>
                        <a:latin typeface="Cambria" panose="02040503050406030204" charset="0"/>
                        <a:ea typeface="Cambria" panose="02040503050406030204" charset="0"/>
                      </a:endParaRPr>
                    </a:p>
                  </a:txBody>
                  <a:tcPr anchor="ctr">
                    <a:lnL>
                      <a:noFill/>
                    </a:lnL>
                    <a:lnR>
                      <a:noFill/>
                    </a:lnR>
                    <a:lnT>
                      <a:noFill/>
                    </a:lnT>
                    <a:lnB>
                      <a:noFill/>
                    </a:lnB>
                    <a:solidFill>
                      <a:schemeClr val="accent4">
                        <a:lumMod val="40000"/>
                        <a:lumOff val="60000"/>
                      </a:schemeClr>
                    </a:solidFill>
                  </a:tcPr>
                </a:tc>
              </a:tr>
              <a:tr h="458627">
                <a:tc>
                  <a:txBody>
                    <a:bodyPr/>
                    <a:lstStyle/>
                    <a:p>
                      <a:r>
                        <a:rPr lang="en-US" sz="1800" b="1" dirty="0"/>
                        <a:t>Single Inheritance</a:t>
                      </a:r>
                      <a:endParaRPr lang="en-US" sz="1800" dirty="0"/>
                    </a:p>
                  </a:txBody>
                  <a:tcPr anchor="ctr">
                    <a:lnL>
                      <a:noFill/>
                    </a:lnL>
                    <a:lnR>
                      <a:noFill/>
                    </a:lnR>
                    <a:lnT>
                      <a:noFill/>
                    </a:lnT>
                    <a:lnB>
                      <a:noFill/>
                    </a:lnB>
                    <a:solidFill>
                      <a:schemeClr val="tx2">
                        <a:lumMod val="40000"/>
                        <a:lumOff val="60000"/>
                      </a:schemeClr>
                    </a:solidFill>
                  </a:tcPr>
                </a:tc>
                <a:tc>
                  <a:txBody>
                    <a:bodyPr/>
                    <a:lstStyle/>
                    <a:p>
                      <a:r>
                        <a:rPr lang="en-US" sz="1800" dirty="0"/>
                        <a:t>One subclass inherits one superclass.</a:t>
                      </a:r>
                      <a:endParaRPr lang="en-US" sz="1800" dirty="0"/>
                    </a:p>
                  </a:txBody>
                  <a:tcPr anchor="ctr">
                    <a:lnL>
                      <a:noFill/>
                    </a:lnL>
                    <a:lnR>
                      <a:noFill/>
                    </a:lnR>
                    <a:lnT>
                      <a:noFill/>
                    </a:lnT>
                    <a:lnB>
                      <a:noFill/>
                    </a:lnB>
                    <a:solidFill>
                      <a:schemeClr val="tx2">
                        <a:lumMod val="40000"/>
                        <a:lumOff val="60000"/>
                      </a:schemeClr>
                    </a:solidFill>
                  </a:tcPr>
                </a:tc>
                <a:tc>
                  <a:txBody>
                    <a:bodyPr/>
                    <a:lstStyle/>
                    <a:p>
                      <a:r>
                        <a:rPr lang="en-US" sz="1800" dirty="0"/>
                        <a:t>✅ Yes</a:t>
                      </a:r>
                      <a:endParaRPr lang="en-US" sz="1800" dirty="0"/>
                    </a:p>
                  </a:txBody>
                  <a:tcPr anchor="ctr">
                    <a:lnL>
                      <a:noFill/>
                    </a:lnL>
                    <a:lnR>
                      <a:noFill/>
                    </a:lnR>
                    <a:lnT>
                      <a:noFill/>
                    </a:lnT>
                    <a:lnB>
                      <a:noFill/>
                    </a:lnB>
                    <a:solidFill>
                      <a:schemeClr val="tx2">
                        <a:lumMod val="40000"/>
                        <a:lumOff val="60000"/>
                      </a:schemeClr>
                    </a:solidFill>
                  </a:tcPr>
                </a:tc>
              </a:tr>
              <a:tr h="458627">
                <a:tc>
                  <a:txBody>
                    <a:bodyPr/>
                    <a:lstStyle/>
                    <a:p>
                      <a:r>
                        <a:rPr lang="en-US" sz="1800" b="1" dirty="0"/>
                        <a:t>Multilevel Inheritance</a:t>
                      </a:r>
                      <a:endParaRPr lang="en-US" sz="1800" dirty="0"/>
                    </a:p>
                  </a:txBody>
                  <a:tcPr anchor="ctr">
                    <a:lnL>
                      <a:noFill/>
                    </a:lnL>
                    <a:lnR>
                      <a:noFill/>
                    </a:lnR>
                    <a:lnT>
                      <a:noFill/>
                    </a:lnT>
                    <a:lnB>
                      <a:noFill/>
                    </a:lnB>
                    <a:solidFill>
                      <a:schemeClr val="tx2">
                        <a:lumMod val="40000"/>
                        <a:lumOff val="60000"/>
                      </a:schemeClr>
                    </a:solidFill>
                  </a:tcPr>
                </a:tc>
                <a:tc>
                  <a:txBody>
                    <a:bodyPr/>
                    <a:lstStyle/>
                    <a:p>
                      <a:r>
                        <a:rPr lang="en-US" sz="1800"/>
                        <a:t>Class inherits from a derived class (chain).</a:t>
                      </a:r>
                      <a:endParaRPr lang="en-US" sz="1800"/>
                    </a:p>
                  </a:txBody>
                  <a:tcPr anchor="ctr">
                    <a:lnL>
                      <a:noFill/>
                    </a:lnL>
                    <a:lnR>
                      <a:noFill/>
                    </a:lnR>
                    <a:lnT>
                      <a:noFill/>
                    </a:lnT>
                    <a:lnB>
                      <a:noFill/>
                    </a:lnB>
                    <a:solidFill>
                      <a:schemeClr val="tx2">
                        <a:lumMod val="40000"/>
                        <a:lumOff val="60000"/>
                      </a:schemeClr>
                    </a:solidFill>
                  </a:tcPr>
                </a:tc>
                <a:tc>
                  <a:txBody>
                    <a:bodyPr/>
                    <a:lstStyle/>
                    <a:p>
                      <a:r>
                        <a:rPr lang="en-US" sz="1800"/>
                        <a:t>✅ Yes</a:t>
                      </a:r>
                      <a:endParaRPr lang="en-US" sz="1800"/>
                    </a:p>
                  </a:txBody>
                  <a:tcPr anchor="ctr">
                    <a:lnL>
                      <a:noFill/>
                    </a:lnL>
                    <a:lnR>
                      <a:noFill/>
                    </a:lnR>
                    <a:lnT>
                      <a:noFill/>
                    </a:lnT>
                    <a:lnB>
                      <a:noFill/>
                    </a:lnB>
                    <a:solidFill>
                      <a:schemeClr val="tx2">
                        <a:lumMod val="40000"/>
                        <a:lumOff val="60000"/>
                      </a:schemeClr>
                    </a:solidFill>
                  </a:tcPr>
                </a:tc>
              </a:tr>
              <a:tr h="458627">
                <a:tc>
                  <a:txBody>
                    <a:bodyPr/>
                    <a:lstStyle/>
                    <a:p>
                      <a:r>
                        <a:rPr lang="en-US" sz="1800" b="1" dirty="0"/>
                        <a:t>Hierarchical Inheritance</a:t>
                      </a:r>
                      <a:endParaRPr lang="en-US" sz="1800" dirty="0"/>
                    </a:p>
                  </a:txBody>
                  <a:tcPr anchor="ctr">
                    <a:lnL>
                      <a:noFill/>
                    </a:lnL>
                    <a:lnR>
                      <a:noFill/>
                    </a:lnR>
                    <a:lnT>
                      <a:noFill/>
                    </a:lnT>
                    <a:lnB>
                      <a:noFill/>
                    </a:lnB>
                    <a:solidFill>
                      <a:schemeClr val="tx2">
                        <a:lumMod val="40000"/>
                        <a:lumOff val="60000"/>
                      </a:schemeClr>
                    </a:solidFill>
                  </a:tcPr>
                </a:tc>
                <a:tc>
                  <a:txBody>
                    <a:bodyPr/>
                    <a:lstStyle/>
                    <a:p>
                      <a:r>
                        <a:rPr lang="en-US" sz="1800" dirty="0"/>
                        <a:t>Multiple subclasses inherit from one superclass.</a:t>
                      </a:r>
                      <a:endParaRPr lang="en-US" sz="1800" dirty="0"/>
                    </a:p>
                  </a:txBody>
                  <a:tcPr anchor="ctr">
                    <a:lnL>
                      <a:noFill/>
                    </a:lnL>
                    <a:lnR>
                      <a:noFill/>
                    </a:lnR>
                    <a:lnT>
                      <a:noFill/>
                    </a:lnT>
                    <a:lnB>
                      <a:noFill/>
                    </a:lnB>
                    <a:solidFill>
                      <a:schemeClr val="tx2">
                        <a:lumMod val="40000"/>
                        <a:lumOff val="60000"/>
                      </a:schemeClr>
                    </a:solidFill>
                  </a:tcPr>
                </a:tc>
                <a:tc>
                  <a:txBody>
                    <a:bodyPr/>
                    <a:lstStyle/>
                    <a:p>
                      <a:r>
                        <a:rPr lang="en-US" sz="1800"/>
                        <a:t>✅ Yes</a:t>
                      </a:r>
                      <a:endParaRPr lang="en-US" sz="1800"/>
                    </a:p>
                  </a:txBody>
                  <a:tcPr anchor="ctr">
                    <a:lnL>
                      <a:noFill/>
                    </a:lnL>
                    <a:lnR>
                      <a:noFill/>
                    </a:lnR>
                    <a:lnT>
                      <a:noFill/>
                    </a:lnT>
                    <a:lnB>
                      <a:noFill/>
                    </a:lnB>
                    <a:solidFill>
                      <a:schemeClr val="tx2">
                        <a:lumMod val="40000"/>
                        <a:lumOff val="60000"/>
                      </a:schemeClr>
                    </a:solidFill>
                  </a:tcPr>
                </a:tc>
              </a:tr>
              <a:tr h="802596">
                <a:tc>
                  <a:txBody>
                    <a:bodyPr/>
                    <a:lstStyle/>
                    <a:p>
                      <a:r>
                        <a:rPr lang="en-US" sz="1800" b="1" dirty="0"/>
                        <a:t>Multiple Inheritance</a:t>
                      </a:r>
                      <a:r>
                        <a:rPr lang="en-US" sz="1800" dirty="0"/>
                        <a:t> (via classes)</a:t>
                      </a:r>
                      <a:endParaRPr lang="en-US" sz="1800" dirty="0"/>
                    </a:p>
                  </a:txBody>
                  <a:tcPr anchor="ctr">
                    <a:lnL>
                      <a:noFill/>
                    </a:lnL>
                    <a:lnR>
                      <a:noFill/>
                    </a:lnR>
                    <a:lnT>
                      <a:noFill/>
                    </a:lnT>
                    <a:lnB>
                      <a:noFill/>
                    </a:lnB>
                    <a:solidFill>
                      <a:schemeClr val="tx2">
                        <a:lumMod val="40000"/>
                        <a:lumOff val="60000"/>
                      </a:schemeClr>
                    </a:solidFill>
                  </a:tcPr>
                </a:tc>
                <a:tc>
                  <a:txBody>
                    <a:bodyPr/>
                    <a:lstStyle/>
                    <a:p>
                      <a:r>
                        <a:rPr lang="en-US" sz="1800" dirty="0"/>
                        <a:t>One class inherits from more than one class.</a:t>
                      </a:r>
                      <a:endParaRPr lang="en-US" sz="1800" dirty="0"/>
                    </a:p>
                  </a:txBody>
                  <a:tcPr anchor="ctr">
                    <a:lnL>
                      <a:noFill/>
                    </a:lnL>
                    <a:lnR>
                      <a:noFill/>
                    </a:lnR>
                    <a:lnT>
                      <a:noFill/>
                    </a:lnT>
                    <a:lnB>
                      <a:noFill/>
                    </a:lnB>
                    <a:solidFill>
                      <a:schemeClr val="tx2">
                        <a:lumMod val="40000"/>
                        <a:lumOff val="60000"/>
                      </a:schemeClr>
                    </a:solidFill>
                  </a:tcPr>
                </a:tc>
                <a:tc>
                  <a:txBody>
                    <a:bodyPr/>
                    <a:lstStyle/>
                    <a:p>
                      <a:r>
                        <a:rPr lang="en-US" sz="1800" dirty="0"/>
                        <a:t>❌ No (Java avoids it due to ambiguity)</a:t>
                      </a:r>
                      <a:endParaRPr lang="en-US" sz="1800" dirty="0"/>
                    </a:p>
                  </a:txBody>
                  <a:tcPr anchor="ctr">
                    <a:lnL>
                      <a:noFill/>
                    </a:lnL>
                    <a:lnR>
                      <a:noFill/>
                    </a:lnR>
                    <a:lnT>
                      <a:noFill/>
                    </a:lnT>
                    <a:lnB>
                      <a:noFill/>
                    </a:lnB>
                    <a:solidFill>
                      <a:schemeClr val="tx2">
                        <a:lumMod val="40000"/>
                        <a:lumOff val="60000"/>
                      </a:schemeClr>
                    </a:solidFill>
                  </a:tcPr>
                </a:tc>
              </a:tr>
              <a:tr h="458627">
                <a:tc>
                  <a:txBody>
                    <a:bodyPr/>
                    <a:lstStyle/>
                    <a:p>
                      <a:r>
                        <a:rPr lang="en-US" sz="1800" b="1" dirty="0"/>
                        <a:t>Hybrid Inheritance</a:t>
                      </a:r>
                      <a:endParaRPr lang="en-US" sz="1800" dirty="0"/>
                    </a:p>
                  </a:txBody>
                  <a:tcPr anchor="ctr">
                    <a:lnL>
                      <a:noFill/>
                    </a:lnL>
                    <a:lnR>
                      <a:noFill/>
                    </a:lnR>
                    <a:lnT>
                      <a:noFill/>
                    </a:lnT>
                    <a:lnB>
                      <a:noFill/>
                    </a:lnB>
                    <a:solidFill>
                      <a:schemeClr val="tx2">
                        <a:lumMod val="40000"/>
                        <a:lumOff val="60000"/>
                      </a:schemeClr>
                    </a:solidFill>
                  </a:tcPr>
                </a:tc>
                <a:tc>
                  <a:txBody>
                    <a:bodyPr/>
                    <a:lstStyle/>
                    <a:p>
                      <a:r>
                        <a:rPr lang="en-US" sz="1800" dirty="0"/>
                        <a:t>Combination of above types.</a:t>
                      </a:r>
                      <a:endParaRPr lang="en-US" sz="1800" dirty="0"/>
                    </a:p>
                  </a:txBody>
                  <a:tcPr anchor="ctr">
                    <a:lnL>
                      <a:noFill/>
                    </a:lnL>
                    <a:lnR>
                      <a:noFill/>
                    </a:lnR>
                    <a:lnT>
                      <a:noFill/>
                    </a:lnT>
                    <a:lnB>
                      <a:noFill/>
                    </a:lnB>
                    <a:solidFill>
                      <a:schemeClr val="tx2">
                        <a:lumMod val="40000"/>
                        <a:lumOff val="60000"/>
                      </a:schemeClr>
                    </a:solidFill>
                  </a:tcPr>
                </a:tc>
                <a:tc>
                  <a:txBody>
                    <a:bodyPr/>
                    <a:lstStyle/>
                    <a:p>
                      <a:r>
                        <a:rPr lang="en-US" sz="1800" dirty="0"/>
                        <a:t>⚠️ Partially via interfaces</a:t>
                      </a:r>
                      <a:endParaRPr lang="en-US" sz="1800" dirty="0"/>
                    </a:p>
                  </a:txBody>
                  <a:tcPr anchor="ctr">
                    <a:lnL>
                      <a:noFill/>
                    </a:lnL>
                    <a:lnR>
                      <a:noFill/>
                    </a:lnR>
                    <a:lnT>
                      <a:noFill/>
                    </a:lnT>
                    <a:lnB>
                      <a:noFill/>
                    </a:lnB>
                    <a:solidFill>
                      <a:schemeClr val="tx2">
                        <a:lumMod val="40000"/>
                        <a:lumOff val="60000"/>
                      </a:schemeClr>
                    </a:solidFill>
                  </a:tcPr>
                </a:tc>
              </a:tr>
            </a:tbl>
          </a:graphicData>
        </a:graphic>
      </p:graphicFrame>
      <p:sp>
        <p:nvSpPr>
          <p:cNvPr id="6" name="TextBox 5"/>
          <p:cNvSpPr txBox="1"/>
          <p:nvPr/>
        </p:nvSpPr>
        <p:spPr>
          <a:xfrm>
            <a:off x="116305" y="4422450"/>
            <a:ext cx="7786838" cy="369332"/>
          </a:xfrm>
          <a:prstGeom prst="rect">
            <a:avLst/>
          </a:prstGeom>
          <a:noFill/>
        </p:spPr>
        <p:txBody>
          <a:bodyPr wrap="square">
            <a:spAutoFit/>
          </a:bodyPr>
          <a:lstStyle/>
          <a:p>
            <a:r>
              <a:rPr lang="en-US" b="1" dirty="0">
                <a:latin typeface="Cambria" panose="02040503050406030204" charset="0"/>
                <a:ea typeface="Cambria" panose="02040503050406030204" charset="0"/>
              </a:rPr>
              <a:t>Java supports multiple inheritance through interfaces</a:t>
            </a:r>
            <a:r>
              <a:rPr lang="en-US" dirty="0">
                <a:latin typeface="Cambria" panose="02040503050406030204" charset="0"/>
                <a:ea typeface="Cambria" panose="02040503050406030204" charset="0"/>
              </a:rPr>
              <a:t>, not classes.</a:t>
            </a:r>
            <a:endParaRPr lang="en-US" dirty="0">
              <a:latin typeface="Cambria" panose="02040503050406030204" charset="0"/>
              <a:ea typeface="Cambria" panose="0204050305040603020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305" y="153370"/>
            <a:ext cx="10515600" cy="433771"/>
          </a:xfrm>
        </p:spPr>
        <p:txBody>
          <a:bodyPr>
            <a:noAutofit/>
          </a:bodyPr>
          <a:lstStyle/>
          <a:p>
            <a:r>
              <a:rPr lang="en-US" sz="2400" b="1" dirty="0">
                <a:solidFill>
                  <a:srgbClr val="FF0000"/>
                </a:solidFill>
                <a:latin typeface="Cambria" panose="02040503050406030204" charset="0"/>
                <a:ea typeface="Cambria" panose="02040503050406030204" charset="0"/>
              </a:rPr>
              <a:t>Single level Inheritance</a:t>
            </a:r>
            <a:endParaRPr lang="en-US" sz="2400" b="1" dirty="0">
              <a:solidFill>
                <a:srgbClr val="FF0000"/>
              </a:solidFill>
              <a:latin typeface="Cambria" panose="02040503050406030204" charset="0"/>
              <a:ea typeface="Cambria" panose="02040503050406030204" charset="0"/>
            </a:endParaRPr>
          </a:p>
        </p:txBody>
      </p:sp>
      <p:sp>
        <p:nvSpPr>
          <p:cNvPr id="3" name="Content Placeholder 2"/>
          <p:cNvSpPr>
            <a:spLocks noGrp="1"/>
          </p:cNvSpPr>
          <p:nvPr>
            <p:ph idx="1"/>
          </p:nvPr>
        </p:nvSpPr>
        <p:spPr>
          <a:xfrm>
            <a:off x="116305" y="587140"/>
            <a:ext cx="10515600" cy="5661259"/>
          </a:xfrm>
        </p:spPr>
        <p:txBody>
          <a:bodyPr>
            <a:noAutofit/>
          </a:bodyPr>
          <a:lstStyle/>
          <a:p>
            <a:r>
              <a:rPr lang="en-US" sz="1800" dirty="0"/>
              <a:t>Single Level Inheritance is the simple inheritance ,when a class extends another class(Only one class)then we call it as</a:t>
            </a:r>
            <a:r>
              <a:rPr lang="en-US" sz="1800" b="1" dirty="0"/>
              <a:t> single level inheritance</a:t>
            </a:r>
            <a:endParaRPr lang="en-US" sz="1800" b="1" dirty="0"/>
          </a:p>
          <a:p>
            <a:r>
              <a:rPr lang="en-US" sz="1800" dirty="0">
                <a:latin typeface="Cambria" panose="02040503050406030204" charset="0"/>
                <a:ea typeface="Cambria" panose="02040503050406030204" charset="0"/>
              </a:rPr>
              <a:t>Single level Inheritance include only Two Classes. </a:t>
            </a:r>
            <a:endParaRPr lang="en-US" sz="1800" dirty="0">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a:p>
            <a:pPr marL="0" marR="0">
              <a:spcBef>
                <a:spcPts val="0"/>
              </a:spcBef>
              <a:spcAft>
                <a:spcPts val="0"/>
              </a:spcAft>
            </a:pPr>
            <a:endParaRPr lang="en-US" sz="1800" b="1" dirty="0">
              <a:solidFill>
                <a:srgbClr val="7F0055"/>
              </a:solidFill>
              <a:latin typeface="Courier New" panose="02070309020205020404" pitchFamily="49" charset="0"/>
            </a:endParaRPr>
          </a:p>
          <a:p>
            <a:pPr marL="0" marR="0">
              <a:spcBef>
                <a:spcPts val="0"/>
              </a:spcBef>
              <a:spcAft>
                <a:spcPts val="0"/>
              </a:spcAft>
            </a:pPr>
            <a:endParaRPr lang="en-US" sz="1800" b="1" dirty="0">
              <a:solidFill>
                <a:srgbClr val="7F0055"/>
              </a:solidFill>
              <a:effectLst/>
              <a:latin typeface="Courier New" panose="02070309020205020404" pitchFamily="49" charset="0"/>
            </a:endParaRPr>
          </a:p>
          <a:p>
            <a:pPr marL="0" marR="0">
              <a:spcBef>
                <a:spcPts val="0"/>
              </a:spcBef>
              <a:spcAft>
                <a:spcPts val="0"/>
              </a:spcAft>
            </a:pPr>
            <a:endParaRPr lang="en-US" sz="1800" b="1" dirty="0">
              <a:solidFill>
                <a:srgbClr val="7F0055"/>
              </a:solidFill>
              <a:latin typeface="Courier New" panose="02070309020205020404" pitchFamily="49" charset="0"/>
            </a:endParaRPr>
          </a:p>
          <a:p>
            <a:pPr marL="0" marR="0">
              <a:spcBef>
                <a:spcPts val="0"/>
              </a:spcBef>
              <a:spcAft>
                <a:spcPts val="0"/>
              </a:spcAft>
            </a:pPr>
            <a:endParaRPr lang="en-US" sz="1800" b="1" dirty="0">
              <a:solidFill>
                <a:srgbClr val="7F0055"/>
              </a:solidFill>
              <a:effectLst/>
              <a:latin typeface="Courier New" panose="02070309020205020404" pitchFamily="49" charset="0"/>
            </a:endParaRPr>
          </a:p>
          <a:p>
            <a:pPr marL="0" marR="0" indent="0">
              <a:spcBef>
                <a:spcPts val="0"/>
              </a:spcBef>
              <a:spcAft>
                <a:spcPts val="0"/>
              </a:spcAft>
              <a:buNone/>
            </a:pPr>
            <a:endParaRPr lang="en-US" sz="1800" b="1" dirty="0">
              <a:solidFill>
                <a:srgbClr val="7F0055"/>
              </a:solidFill>
              <a:effectLst/>
              <a:latin typeface="Courier New" panose="02070309020205020404" pitchFamily="49" charset="0"/>
            </a:endParaRPr>
          </a:p>
          <a:p>
            <a:pPr marL="0" marR="0" indent="0">
              <a:spcBef>
                <a:spcPts val="0"/>
              </a:spcBef>
              <a:spcAft>
                <a:spcPts val="0"/>
              </a:spcAft>
              <a:buNone/>
            </a:pPr>
            <a:r>
              <a:rPr lang="en-US" sz="1800" b="1" dirty="0">
                <a:solidFill>
                  <a:srgbClr val="7F0055"/>
                </a:solidFill>
                <a:effectLst/>
                <a:latin typeface="Courier New" panose="02070309020205020404" pitchFamily="49" charset="0"/>
              </a:rPr>
              <a:t>Syntax of Single Level Inheritance</a:t>
            </a:r>
            <a:endParaRPr lang="en-US" sz="1800" b="1" dirty="0">
              <a:solidFill>
                <a:srgbClr val="7F0055"/>
              </a:solidFill>
              <a:effectLst/>
              <a:latin typeface="Courier New" panose="02070309020205020404" pitchFamily="49" charset="0"/>
            </a:endParaRPr>
          </a:p>
          <a:p>
            <a:pPr marL="0" marR="0">
              <a:spcBef>
                <a:spcPts val="0"/>
              </a:spcBef>
              <a:spcAft>
                <a:spcPts val="0"/>
              </a:spcAft>
            </a:pPr>
            <a:endParaRPr lang="en-US" sz="1800" b="1" dirty="0">
              <a:solidFill>
                <a:srgbClr val="7F0055"/>
              </a:solidFill>
              <a:effectLst/>
              <a:latin typeface="Courier New" panose="02070309020205020404" pitchFamily="49" charset="0"/>
            </a:endParaRPr>
          </a:p>
          <a:p>
            <a:pPr marL="0" marR="0" indent="0">
              <a:spcBef>
                <a:spcPts val="0"/>
              </a:spcBef>
              <a:spcAft>
                <a:spcPts val="0"/>
              </a:spcAft>
              <a:buNone/>
            </a:pPr>
            <a:r>
              <a:rPr lang="en-US" sz="1800" b="1" dirty="0">
                <a:solidFill>
                  <a:srgbClr val="7F0055"/>
                </a:solidFill>
                <a:effectLst/>
                <a:latin typeface="Courier New" panose="02070309020205020404" pitchFamily="49" charset="0"/>
              </a:rPr>
              <a:t>class</a:t>
            </a:r>
            <a:r>
              <a:rPr lang="en-US" sz="1800" dirty="0">
                <a:solidFill>
                  <a:srgbClr val="000000"/>
                </a:solidFill>
                <a:effectLst/>
                <a:latin typeface="Courier New" panose="02070309020205020404" pitchFamily="49" charset="0"/>
              </a:rPr>
              <a:t> A{</a:t>
            </a:r>
            <a:endParaRPr lang="en-US" sz="1800" dirty="0">
              <a:solidFill>
                <a:srgbClr val="000000"/>
              </a:solidFill>
              <a:effectLst/>
              <a:latin typeface="Courier New" panose="02070309020205020404" pitchFamily="49" charset="0"/>
            </a:endParaRPr>
          </a:p>
          <a:p>
            <a:pPr marL="0" marR="0" indent="0">
              <a:spcBef>
                <a:spcPts val="0"/>
              </a:spcBef>
              <a:spcAft>
                <a:spcPts val="0"/>
              </a:spcAft>
              <a:buNone/>
            </a:pPr>
            <a:r>
              <a:rPr lang="en-US" sz="1800" dirty="0">
                <a:solidFill>
                  <a:srgbClr val="000000"/>
                </a:solidFill>
                <a:effectLst/>
                <a:latin typeface="Courier New" panose="02070309020205020404" pitchFamily="49" charset="0"/>
              </a:rPr>
              <a:t>}</a:t>
            </a:r>
            <a:endParaRPr lang="en-US" sz="1800" dirty="0">
              <a:solidFill>
                <a:srgbClr val="000000"/>
              </a:solidFill>
              <a:effectLst/>
              <a:latin typeface="Courier New" panose="02070309020205020404" pitchFamily="49" charset="0"/>
            </a:endParaRPr>
          </a:p>
          <a:p>
            <a:pPr marL="0" marR="0" indent="0">
              <a:spcBef>
                <a:spcPts val="0"/>
              </a:spcBef>
              <a:spcAft>
                <a:spcPts val="0"/>
              </a:spcAft>
              <a:buNone/>
            </a:pPr>
            <a:r>
              <a:rPr lang="en-US" sz="1800" b="1" dirty="0">
                <a:solidFill>
                  <a:srgbClr val="7F0055"/>
                </a:solidFill>
                <a:effectLst/>
                <a:latin typeface="Courier New" panose="02070309020205020404" pitchFamily="49" charset="0"/>
              </a:rPr>
              <a:t>class</a:t>
            </a:r>
            <a:r>
              <a:rPr lang="en-US" sz="1800" dirty="0">
                <a:solidFill>
                  <a:srgbClr val="000000"/>
                </a:solidFill>
                <a:effectLst/>
                <a:latin typeface="Courier New" panose="02070309020205020404" pitchFamily="49" charset="0"/>
              </a:rPr>
              <a:t> B </a:t>
            </a:r>
            <a:r>
              <a:rPr lang="en-US" sz="1800" b="1" dirty="0">
                <a:solidFill>
                  <a:srgbClr val="7F0055"/>
                </a:solidFill>
                <a:effectLst/>
                <a:latin typeface="Courier New" panose="02070309020205020404" pitchFamily="49" charset="0"/>
              </a:rPr>
              <a:t>extends</a:t>
            </a:r>
            <a:r>
              <a:rPr lang="en-US" sz="1800" dirty="0">
                <a:solidFill>
                  <a:srgbClr val="000000"/>
                </a:solidFill>
                <a:effectLst/>
                <a:latin typeface="Courier New" panose="02070309020205020404" pitchFamily="49" charset="0"/>
              </a:rPr>
              <a:t> A{</a:t>
            </a:r>
            <a:endParaRPr lang="en-US" sz="1800" dirty="0">
              <a:solidFill>
                <a:srgbClr val="000000"/>
              </a:solidFill>
              <a:effectLst/>
              <a:latin typeface="Courier New" panose="02070309020205020404" pitchFamily="49" charset="0"/>
            </a:endParaRPr>
          </a:p>
          <a:p>
            <a:pPr marL="0" marR="0" indent="0">
              <a:spcBef>
                <a:spcPts val="0"/>
              </a:spcBef>
              <a:spcAft>
                <a:spcPts val="0"/>
              </a:spcAft>
              <a:buNone/>
            </a:pPr>
            <a:r>
              <a:rPr lang="en-US" sz="1800" dirty="0">
                <a:solidFill>
                  <a:srgbClr val="000000"/>
                </a:solidFill>
                <a:effectLst/>
                <a:latin typeface="Courier New" panose="02070309020205020404" pitchFamily="49" charset="0"/>
              </a:rPr>
              <a:t>}</a:t>
            </a:r>
            <a:endParaRPr lang="en-US" sz="1800" dirty="0">
              <a:solidFill>
                <a:srgbClr val="000000"/>
              </a:solidFill>
              <a:effectLst/>
              <a:latin typeface="Courier New" panose="02070309020205020404" pitchFamily="49" charset="0"/>
            </a:endParaRPr>
          </a:p>
          <a:p>
            <a:endParaRPr lang="en-US" sz="1800" dirty="0">
              <a:latin typeface="Cambria" panose="02040503050406030204" charset="0"/>
              <a:ea typeface="Cambria" panose="02040503050406030204" charset="0"/>
            </a:endParaRPr>
          </a:p>
        </p:txBody>
      </p:sp>
      <p:sp>
        <p:nvSpPr>
          <p:cNvPr id="6" name="Rectangle: Rounded Corners 5"/>
          <p:cNvSpPr/>
          <p:nvPr/>
        </p:nvSpPr>
        <p:spPr>
          <a:xfrm>
            <a:off x="4263992" y="2277994"/>
            <a:ext cx="1832008" cy="74114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spc="50" dirty="0">
                <a:ln w="9525" cmpd="sng">
                  <a:solidFill>
                    <a:schemeClr val="accent1"/>
                  </a:solidFill>
                  <a:prstDash val="solid"/>
                </a:ln>
                <a:solidFill>
                  <a:srgbClr val="70AD47">
                    <a:tint val="1000"/>
                  </a:srgbClr>
                </a:solidFill>
                <a:effectLst>
                  <a:glow rad="38100">
                    <a:schemeClr val="accent1">
                      <a:alpha val="40000"/>
                    </a:schemeClr>
                  </a:glow>
                </a:effectLst>
              </a:rPr>
              <a:t>Class A(Parent class)</a:t>
            </a:r>
            <a:endParaRPr lang="en-US"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7" name="Rectangle: Rounded Corners 6"/>
          <p:cNvSpPr/>
          <p:nvPr/>
        </p:nvSpPr>
        <p:spPr>
          <a:xfrm>
            <a:off x="4324773" y="3587134"/>
            <a:ext cx="1832008" cy="74114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Class B (Child Class)</a:t>
            </a:r>
            <a:endParaRPr lang="en-US" dirty="0"/>
          </a:p>
        </p:txBody>
      </p:sp>
      <p:cxnSp>
        <p:nvCxnSpPr>
          <p:cNvPr id="9" name="Straight Arrow Connector 8"/>
          <p:cNvCxnSpPr>
            <a:stCxn id="6" idx="2"/>
          </p:cNvCxnSpPr>
          <p:nvPr/>
        </p:nvCxnSpPr>
        <p:spPr>
          <a:xfrm>
            <a:off x="5179996" y="3019139"/>
            <a:ext cx="0" cy="5582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29" y="94983"/>
            <a:ext cx="10515600" cy="414521"/>
          </a:xfrm>
        </p:spPr>
        <p:txBody>
          <a:bodyPr>
            <a:noAutofit/>
          </a:bodyPr>
          <a:lstStyle/>
          <a:p>
            <a:r>
              <a:rPr lang="en-US" sz="2400" b="1" dirty="0">
                <a:solidFill>
                  <a:srgbClr val="FF0000"/>
                </a:solidFill>
                <a:latin typeface="Cambria" panose="02040503050406030204" charset="0"/>
                <a:ea typeface="Cambria" panose="02040503050406030204" charset="0"/>
              </a:rPr>
              <a:t>Example of Single Inheritance</a:t>
            </a:r>
            <a:endParaRPr lang="en-US" sz="2400" b="1" dirty="0">
              <a:solidFill>
                <a:srgbClr val="FF0000"/>
              </a:solidFill>
              <a:latin typeface="Cambria" panose="02040503050406030204" charset="0"/>
              <a:ea typeface="Cambria" panose="02040503050406030204" charset="0"/>
            </a:endParaRPr>
          </a:p>
        </p:txBody>
      </p:sp>
      <p:sp>
        <p:nvSpPr>
          <p:cNvPr id="3" name="Content Placeholder 2"/>
          <p:cNvSpPr>
            <a:spLocks noGrp="1"/>
          </p:cNvSpPr>
          <p:nvPr>
            <p:ph idx="1"/>
          </p:nvPr>
        </p:nvSpPr>
        <p:spPr>
          <a:xfrm>
            <a:off x="87429" y="509504"/>
            <a:ext cx="11838272" cy="6253513"/>
          </a:xfrm>
        </p:spPr>
        <p:txBody>
          <a:bodyPr>
            <a:noAutofit/>
          </a:bodyPr>
          <a:lstStyle/>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import</a:t>
            </a:r>
            <a:r>
              <a:rPr lang="en-US" sz="1800" dirty="0">
                <a:solidFill>
                  <a:srgbClr val="000000"/>
                </a:solidFill>
                <a:effectLst/>
                <a:latin typeface="Cambria" panose="02040503050406030204" charset="0"/>
                <a:ea typeface="Cambria" panose="02040503050406030204" charset="0"/>
              </a:rPr>
              <a:t> </a:t>
            </a:r>
            <a:r>
              <a:rPr lang="en-US" sz="1800" dirty="0" err="1">
                <a:solidFill>
                  <a:srgbClr val="000000"/>
                </a:solidFill>
                <a:effectLst/>
                <a:latin typeface="Cambria" panose="02040503050406030204" charset="0"/>
                <a:ea typeface="Cambria" panose="02040503050406030204" charset="0"/>
              </a:rPr>
              <a:t>java.util.Scanner</a:t>
            </a: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3F7F5F"/>
                </a:solidFill>
                <a:effectLst/>
                <a:latin typeface="Cambria" panose="02040503050406030204" charset="0"/>
                <a:ea typeface="Cambria" panose="02040503050406030204" charset="0"/>
              </a:rPr>
              <a:t>//Parent class //Super class</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class</a:t>
            </a:r>
            <a:r>
              <a:rPr lang="en-US" sz="1800" dirty="0">
                <a:solidFill>
                  <a:srgbClr val="000000"/>
                </a:solidFill>
                <a:effectLst/>
                <a:latin typeface="Cambria" panose="02040503050406030204" charset="0"/>
                <a:ea typeface="Cambria" panose="02040503050406030204" charset="0"/>
              </a:rPr>
              <a:t> A</a:t>
            </a:r>
            <a:r>
              <a:rPr lang="en-US" sz="1800">
                <a:solidFill>
                  <a:srgbClr val="000000"/>
                </a:solidFill>
                <a:effectLst/>
                <a:latin typeface="Cambria" panose="02040503050406030204" charset="0"/>
                <a:ea typeface="Cambria" panose="02040503050406030204" charset="0"/>
              </a:rPr>
              <a:t>{ </a:t>
            </a:r>
            <a:endParaRPr lang="en-US" sz="180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int</a:t>
            </a:r>
            <a:r>
              <a:rPr lang="en-US" sz="1800" dirty="0">
                <a:solidFill>
                  <a:srgbClr val="000000"/>
                </a:solidFill>
                <a:effectLst/>
                <a:latin typeface="Cambria" panose="02040503050406030204" charset="0"/>
                <a:ea typeface="Cambria" panose="02040503050406030204" charset="0"/>
              </a:rPr>
              <a:t> </a:t>
            </a:r>
            <a:r>
              <a:rPr lang="en-US" sz="1800" dirty="0" err="1">
                <a:solidFill>
                  <a:srgbClr val="0000C0"/>
                </a:solidFill>
                <a:effectLst/>
                <a:latin typeface="Cambria" panose="02040503050406030204" charset="0"/>
                <a:ea typeface="Cambria" panose="02040503050406030204" charset="0"/>
              </a:rPr>
              <a:t>a</a:t>
            </a:r>
            <a:r>
              <a:rPr lang="en-US" sz="1800" dirty="0" err="1">
                <a:solidFill>
                  <a:srgbClr val="000000"/>
                </a:solidFill>
                <a:effectLst/>
                <a:latin typeface="Cambria" panose="02040503050406030204" charset="0"/>
                <a:ea typeface="Cambria" panose="02040503050406030204" charset="0"/>
              </a:rPr>
              <a:t>,</a:t>
            </a:r>
            <a:r>
              <a:rPr lang="en-US" sz="1800" dirty="0" err="1">
                <a:solidFill>
                  <a:srgbClr val="0000C0"/>
                </a:solidFill>
                <a:effectLst/>
                <a:latin typeface="Cambria" panose="02040503050406030204" charset="0"/>
                <a:ea typeface="Cambria" panose="02040503050406030204" charset="0"/>
              </a:rPr>
              <a:t>b</a:t>
            </a:r>
            <a:r>
              <a:rPr lang="en-US" sz="1800" dirty="0" err="1">
                <a:solidFill>
                  <a:srgbClr val="000000"/>
                </a:solidFill>
                <a:effectLst/>
                <a:latin typeface="Cambria" panose="02040503050406030204" charset="0"/>
                <a:ea typeface="Cambria" panose="02040503050406030204" charset="0"/>
              </a:rPr>
              <a:t>,</a:t>
            </a:r>
            <a:r>
              <a:rPr lang="en-US" sz="1800" dirty="0" err="1">
                <a:solidFill>
                  <a:srgbClr val="0000C0"/>
                </a:solidFill>
                <a:effectLst/>
                <a:latin typeface="Cambria" panose="02040503050406030204" charset="0"/>
                <a:ea typeface="Cambria" panose="02040503050406030204" charset="0"/>
              </a:rPr>
              <a:t>c</a:t>
            </a:r>
            <a:r>
              <a:rPr lang="en-US" sz="1800" dirty="0">
                <a:solidFill>
                  <a:srgbClr val="000000"/>
                </a:solidFill>
                <a:effectLst/>
                <a:latin typeface="Cambria" panose="02040503050406030204" charset="0"/>
                <a:ea typeface="Cambria" panose="02040503050406030204" charset="0"/>
              </a:rPr>
              <a:t>; </a:t>
            </a:r>
            <a:r>
              <a:rPr lang="en-US" sz="1800" dirty="0">
                <a:solidFill>
                  <a:srgbClr val="3F7F5F"/>
                </a:solidFill>
                <a:effectLst/>
                <a:latin typeface="Cambria" panose="02040503050406030204" charset="0"/>
                <a:ea typeface="Cambria" panose="02040503050406030204" charset="0"/>
              </a:rPr>
              <a:t>//data members of class A </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void</a:t>
            </a:r>
            <a:r>
              <a:rPr lang="en-US" sz="1800" dirty="0">
                <a:solidFill>
                  <a:srgbClr val="000000"/>
                </a:solidFill>
                <a:effectLst/>
                <a:latin typeface="Cambria" panose="02040503050406030204" charset="0"/>
                <a:ea typeface="Cambria" panose="02040503050406030204" charset="0"/>
              </a:rPr>
              <a:t> </a:t>
            </a:r>
            <a:r>
              <a:rPr lang="en-US" sz="1800" dirty="0" err="1">
                <a:solidFill>
                  <a:srgbClr val="000000"/>
                </a:solidFill>
                <a:effectLst/>
                <a:latin typeface="Cambria" panose="02040503050406030204" charset="0"/>
                <a:ea typeface="Cambria" panose="02040503050406030204" charset="0"/>
              </a:rPr>
              <a:t>getdata</a:t>
            </a:r>
            <a:r>
              <a:rPr lang="en-US" sz="1800" dirty="0">
                <a:solidFill>
                  <a:srgbClr val="000000"/>
                </a:solidFill>
                <a:effectLst/>
                <a:latin typeface="Cambria" panose="02040503050406030204" charset="0"/>
                <a:ea typeface="Cambria" panose="02040503050406030204" charset="0"/>
              </a:rPr>
              <a:t>() { </a:t>
            </a:r>
            <a:r>
              <a:rPr lang="en-US" sz="1800" dirty="0">
                <a:solidFill>
                  <a:srgbClr val="3F7F5F"/>
                </a:solidFill>
                <a:effectLst/>
                <a:latin typeface="Cambria" panose="02040503050406030204" charset="0"/>
                <a:ea typeface="Cambria" panose="02040503050406030204" charset="0"/>
              </a:rPr>
              <a:t>//data function/method of class a</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00"/>
                </a:solidFill>
                <a:effectLst/>
                <a:latin typeface="Cambria" panose="02040503050406030204" charset="0"/>
                <a:ea typeface="Cambria" panose="02040503050406030204" charset="0"/>
              </a:rPr>
              <a:t>Scanner </a:t>
            </a:r>
            <a:r>
              <a:rPr lang="en-US" sz="1800" u="sng" dirty="0" err="1">
                <a:solidFill>
                  <a:srgbClr val="6A3E3E"/>
                </a:solidFill>
                <a:effectLst/>
                <a:latin typeface="Cambria" panose="02040503050406030204" charset="0"/>
                <a:ea typeface="Cambria" panose="02040503050406030204" charset="0"/>
              </a:rPr>
              <a:t>sa</a:t>
            </a:r>
            <a:r>
              <a:rPr lang="en-US" sz="1800" dirty="0">
                <a:solidFill>
                  <a:srgbClr val="000000"/>
                </a:solidFill>
                <a:effectLst/>
                <a:latin typeface="Cambria" panose="02040503050406030204" charset="0"/>
                <a:ea typeface="Cambria" panose="02040503050406030204" charset="0"/>
              </a:rPr>
              <a:t>=</a:t>
            </a:r>
            <a:r>
              <a:rPr lang="en-US" sz="1800" b="1" dirty="0">
                <a:solidFill>
                  <a:srgbClr val="7F0055"/>
                </a:solidFill>
                <a:effectLst/>
                <a:latin typeface="Cambria" panose="02040503050406030204" charset="0"/>
                <a:ea typeface="Cambria" panose="02040503050406030204" charset="0"/>
              </a:rPr>
              <a:t>new</a:t>
            </a:r>
            <a:r>
              <a:rPr lang="en-US" sz="1800" dirty="0">
                <a:solidFill>
                  <a:srgbClr val="000000"/>
                </a:solidFill>
                <a:effectLst/>
                <a:latin typeface="Cambria" panose="02040503050406030204" charset="0"/>
                <a:ea typeface="Cambria" panose="02040503050406030204" charset="0"/>
              </a:rPr>
              <a:t> Scanner(System.</a:t>
            </a:r>
            <a:r>
              <a:rPr lang="en-US" sz="1800" b="1" i="1" dirty="0">
                <a:solidFill>
                  <a:srgbClr val="0000C0"/>
                </a:solidFill>
                <a:effectLst/>
                <a:latin typeface="Cambria" panose="02040503050406030204" charset="0"/>
                <a:ea typeface="Cambria" panose="02040503050406030204" charset="0"/>
              </a:rPr>
              <a:t>in</a:t>
            </a: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err="1">
                <a:solidFill>
                  <a:srgbClr val="000000"/>
                </a:solidFill>
                <a:effectLst/>
                <a:latin typeface="Cambria" panose="02040503050406030204" charset="0"/>
                <a:ea typeface="Cambria" panose="02040503050406030204" charset="0"/>
              </a:rPr>
              <a:t>System.</a:t>
            </a:r>
            <a:r>
              <a:rPr lang="en-US" sz="1800" b="1" i="1" dirty="0" err="1">
                <a:solidFill>
                  <a:srgbClr val="0000C0"/>
                </a:solidFill>
                <a:effectLst/>
                <a:latin typeface="Cambria" panose="02040503050406030204" charset="0"/>
                <a:ea typeface="Cambria" panose="02040503050406030204" charset="0"/>
              </a:rPr>
              <a:t>out</a:t>
            </a:r>
            <a:r>
              <a:rPr lang="en-US" sz="1800" dirty="0" err="1">
                <a:solidFill>
                  <a:srgbClr val="000000"/>
                </a:solidFill>
                <a:effectLst/>
                <a:latin typeface="Cambria" panose="02040503050406030204" charset="0"/>
                <a:ea typeface="Cambria" panose="02040503050406030204" charset="0"/>
              </a:rPr>
              <a:t>.println</a:t>
            </a:r>
            <a:r>
              <a:rPr lang="en-US" sz="1800" dirty="0">
                <a:solidFill>
                  <a:srgbClr val="000000"/>
                </a:solidFill>
                <a:effectLst/>
                <a:latin typeface="Cambria" panose="02040503050406030204" charset="0"/>
                <a:ea typeface="Cambria" panose="02040503050406030204" charset="0"/>
              </a:rPr>
              <a:t>(</a:t>
            </a:r>
            <a:r>
              <a:rPr lang="en-US" sz="1800" dirty="0">
                <a:solidFill>
                  <a:srgbClr val="2A00FF"/>
                </a:solidFill>
                <a:effectLst/>
                <a:latin typeface="Cambria" panose="02040503050406030204" charset="0"/>
                <a:ea typeface="Cambria" panose="02040503050406030204" charset="0"/>
              </a:rPr>
              <a:t>"Enter First No:"</a:t>
            </a: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C0"/>
                </a:solidFill>
                <a:effectLst/>
                <a:latin typeface="Cambria" panose="02040503050406030204" charset="0"/>
                <a:ea typeface="Cambria" panose="02040503050406030204" charset="0"/>
              </a:rPr>
              <a:t>a</a:t>
            </a:r>
            <a:r>
              <a:rPr lang="en-US" sz="1800" dirty="0">
                <a:solidFill>
                  <a:srgbClr val="000000"/>
                </a:solidFill>
                <a:effectLst/>
                <a:latin typeface="Cambria" panose="02040503050406030204" charset="0"/>
                <a:ea typeface="Cambria" panose="02040503050406030204" charset="0"/>
              </a:rPr>
              <a:t>=</a:t>
            </a:r>
            <a:r>
              <a:rPr lang="en-US" sz="1800" dirty="0" err="1">
                <a:solidFill>
                  <a:srgbClr val="6A3E3E"/>
                </a:solidFill>
                <a:effectLst/>
                <a:latin typeface="Cambria" panose="02040503050406030204" charset="0"/>
                <a:ea typeface="Cambria" panose="02040503050406030204" charset="0"/>
              </a:rPr>
              <a:t>sa</a:t>
            </a:r>
            <a:r>
              <a:rPr lang="en-US" sz="1800" dirty="0" err="1">
                <a:solidFill>
                  <a:srgbClr val="000000"/>
                </a:solidFill>
                <a:effectLst/>
                <a:latin typeface="Cambria" panose="02040503050406030204" charset="0"/>
                <a:ea typeface="Cambria" panose="02040503050406030204" charset="0"/>
              </a:rPr>
              <a:t>.nextInt</a:t>
            </a: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err="1">
                <a:solidFill>
                  <a:srgbClr val="000000"/>
                </a:solidFill>
                <a:effectLst/>
                <a:latin typeface="Cambria" panose="02040503050406030204" charset="0"/>
                <a:ea typeface="Cambria" panose="02040503050406030204" charset="0"/>
              </a:rPr>
              <a:t>System.</a:t>
            </a:r>
            <a:r>
              <a:rPr lang="en-US" sz="1800" b="1" i="1" dirty="0" err="1">
                <a:solidFill>
                  <a:srgbClr val="0000C0"/>
                </a:solidFill>
                <a:effectLst/>
                <a:latin typeface="Cambria" panose="02040503050406030204" charset="0"/>
                <a:ea typeface="Cambria" panose="02040503050406030204" charset="0"/>
              </a:rPr>
              <a:t>out</a:t>
            </a:r>
            <a:r>
              <a:rPr lang="en-US" sz="1800" dirty="0" err="1">
                <a:solidFill>
                  <a:srgbClr val="000000"/>
                </a:solidFill>
                <a:effectLst/>
                <a:latin typeface="Cambria" panose="02040503050406030204" charset="0"/>
                <a:ea typeface="Cambria" panose="02040503050406030204" charset="0"/>
              </a:rPr>
              <a:t>.println</a:t>
            </a:r>
            <a:r>
              <a:rPr lang="en-US" sz="1800" dirty="0">
                <a:solidFill>
                  <a:srgbClr val="000000"/>
                </a:solidFill>
                <a:effectLst/>
                <a:latin typeface="Cambria" panose="02040503050406030204" charset="0"/>
                <a:ea typeface="Cambria" panose="02040503050406030204" charset="0"/>
              </a:rPr>
              <a:t>(</a:t>
            </a:r>
            <a:r>
              <a:rPr lang="en-US" sz="1800" dirty="0">
                <a:solidFill>
                  <a:srgbClr val="2A00FF"/>
                </a:solidFill>
                <a:effectLst/>
                <a:latin typeface="Cambria" panose="02040503050406030204" charset="0"/>
                <a:ea typeface="Cambria" panose="02040503050406030204" charset="0"/>
              </a:rPr>
              <a:t>"Enter Second No:"</a:t>
            </a: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C0"/>
                </a:solidFill>
                <a:effectLst/>
                <a:latin typeface="Cambria" panose="02040503050406030204" charset="0"/>
                <a:ea typeface="Cambria" panose="02040503050406030204" charset="0"/>
              </a:rPr>
              <a:t>b</a:t>
            </a:r>
            <a:r>
              <a:rPr lang="en-US" sz="1800" dirty="0">
                <a:solidFill>
                  <a:srgbClr val="000000"/>
                </a:solidFill>
                <a:effectLst/>
                <a:latin typeface="Cambria" panose="02040503050406030204" charset="0"/>
                <a:ea typeface="Cambria" panose="02040503050406030204" charset="0"/>
              </a:rPr>
              <a:t>=</a:t>
            </a:r>
            <a:r>
              <a:rPr lang="en-US" sz="1800" dirty="0" err="1">
                <a:solidFill>
                  <a:srgbClr val="6A3E3E"/>
                </a:solidFill>
                <a:effectLst/>
                <a:latin typeface="Cambria" panose="02040503050406030204" charset="0"/>
                <a:ea typeface="Cambria" panose="02040503050406030204" charset="0"/>
              </a:rPr>
              <a:t>sa</a:t>
            </a:r>
            <a:r>
              <a:rPr lang="en-US" sz="1800" dirty="0" err="1">
                <a:solidFill>
                  <a:srgbClr val="000000"/>
                </a:solidFill>
                <a:effectLst/>
                <a:latin typeface="Cambria" panose="02040503050406030204" charset="0"/>
                <a:ea typeface="Cambria" panose="02040503050406030204" charset="0"/>
              </a:rPr>
              <a:t>.nextInt</a:t>
            </a: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class</a:t>
            </a:r>
            <a:r>
              <a:rPr lang="en-US" sz="1800" dirty="0">
                <a:solidFill>
                  <a:srgbClr val="000000"/>
                </a:solidFill>
                <a:effectLst/>
                <a:latin typeface="Cambria" panose="02040503050406030204" charset="0"/>
                <a:ea typeface="Cambria" panose="02040503050406030204" charset="0"/>
              </a:rPr>
              <a:t> Single1 </a:t>
            </a:r>
            <a:r>
              <a:rPr lang="en-US" sz="1800" b="1" dirty="0">
                <a:solidFill>
                  <a:srgbClr val="7F0055"/>
                </a:solidFill>
                <a:effectLst/>
                <a:latin typeface="Cambria" panose="02040503050406030204" charset="0"/>
                <a:ea typeface="Cambria" panose="02040503050406030204" charset="0"/>
              </a:rPr>
              <a:t>extends</a:t>
            </a:r>
            <a:r>
              <a:rPr lang="en-US" sz="1800" dirty="0">
                <a:solidFill>
                  <a:srgbClr val="000000"/>
                </a:solidFill>
                <a:effectLst/>
                <a:latin typeface="Cambria" panose="02040503050406030204" charset="0"/>
                <a:ea typeface="Cambria" panose="02040503050406030204" charset="0"/>
              </a:rPr>
              <a:t> A{</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void</a:t>
            </a:r>
            <a:r>
              <a:rPr lang="en-US" sz="1800" dirty="0">
                <a:solidFill>
                  <a:srgbClr val="000000"/>
                </a:solidFill>
                <a:effectLst/>
                <a:latin typeface="Cambria" panose="02040503050406030204" charset="0"/>
                <a:ea typeface="Cambria" panose="02040503050406030204" charset="0"/>
              </a:rPr>
              <a:t> </a:t>
            </a:r>
            <a:r>
              <a:rPr lang="en-US" sz="1800" dirty="0" err="1">
                <a:solidFill>
                  <a:srgbClr val="000000"/>
                </a:solidFill>
                <a:effectLst/>
                <a:latin typeface="Cambria" panose="02040503050406030204" charset="0"/>
                <a:ea typeface="Cambria" panose="02040503050406030204" charset="0"/>
              </a:rPr>
              <a:t>Calci</a:t>
            </a:r>
            <a:r>
              <a:rPr lang="en-US" sz="1800" dirty="0">
                <a:solidFill>
                  <a:srgbClr val="000000"/>
                </a:solidFill>
                <a:effectLst/>
                <a:latin typeface="Cambria" panose="02040503050406030204" charset="0"/>
                <a:ea typeface="Cambria" panose="02040503050406030204" charset="0"/>
              </a:rPr>
              <a:t>() {</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err="1">
                <a:solidFill>
                  <a:srgbClr val="000000"/>
                </a:solidFill>
                <a:effectLst/>
                <a:latin typeface="Cambria" panose="02040503050406030204" charset="0"/>
                <a:ea typeface="Cambria" panose="02040503050406030204" charset="0"/>
              </a:rPr>
              <a:t>getdata</a:t>
            </a: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C0"/>
                </a:solidFill>
                <a:effectLst/>
                <a:latin typeface="Cambria" panose="02040503050406030204" charset="0"/>
                <a:ea typeface="Cambria" panose="02040503050406030204" charset="0"/>
              </a:rPr>
              <a:t>c</a:t>
            </a:r>
            <a:r>
              <a:rPr lang="en-US" sz="1800" dirty="0">
                <a:solidFill>
                  <a:srgbClr val="000000"/>
                </a:solidFill>
                <a:effectLst/>
                <a:latin typeface="Cambria" panose="02040503050406030204" charset="0"/>
                <a:ea typeface="Cambria" panose="02040503050406030204" charset="0"/>
              </a:rPr>
              <a:t>=</a:t>
            </a:r>
            <a:r>
              <a:rPr lang="en-US" sz="1800" dirty="0">
                <a:solidFill>
                  <a:srgbClr val="0000C0"/>
                </a:solidFill>
                <a:effectLst/>
                <a:latin typeface="Cambria" panose="02040503050406030204" charset="0"/>
                <a:ea typeface="Cambria" panose="02040503050406030204" charset="0"/>
              </a:rPr>
              <a:t>a</a:t>
            </a:r>
            <a:r>
              <a:rPr lang="en-US" sz="1800" dirty="0">
                <a:solidFill>
                  <a:srgbClr val="000000"/>
                </a:solidFill>
                <a:effectLst/>
                <a:latin typeface="Cambria" panose="02040503050406030204" charset="0"/>
                <a:ea typeface="Cambria" panose="02040503050406030204" charset="0"/>
              </a:rPr>
              <a:t>*</a:t>
            </a:r>
            <a:r>
              <a:rPr lang="en-US" sz="1800" dirty="0">
                <a:solidFill>
                  <a:srgbClr val="0000C0"/>
                </a:solidFill>
                <a:effectLst/>
                <a:latin typeface="Cambria" panose="02040503050406030204" charset="0"/>
                <a:ea typeface="Cambria" panose="02040503050406030204" charset="0"/>
              </a:rPr>
              <a:t>b</a:t>
            </a: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err="1">
                <a:solidFill>
                  <a:srgbClr val="000000"/>
                </a:solidFill>
                <a:effectLst/>
                <a:latin typeface="Cambria" panose="02040503050406030204" charset="0"/>
                <a:ea typeface="Cambria" panose="02040503050406030204" charset="0"/>
              </a:rPr>
              <a:t>System.</a:t>
            </a:r>
            <a:r>
              <a:rPr lang="en-US" sz="1800" b="1" i="1" dirty="0" err="1">
                <a:solidFill>
                  <a:srgbClr val="0000C0"/>
                </a:solidFill>
                <a:effectLst/>
                <a:latin typeface="Cambria" panose="02040503050406030204" charset="0"/>
                <a:ea typeface="Cambria" panose="02040503050406030204" charset="0"/>
              </a:rPr>
              <a:t>out</a:t>
            </a:r>
            <a:r>
              <a:rPr lang="en-US" sz="1800" dirty="0" err="1">
                <a:solidFill>
                  <a:srgbClr val="000000"/>
                </a:solidFill>
                <a:effectLst/>
                <a:latin typeface="Cambria" panose="02040503050406030204" charset="0"/>
                <a:ea typeface="Cambria" panose="02040503050406030204" charset="0"/>
              </a:rPr>
              <a:t>.println</a:t>
            </a:r>
            <a:r>
              <a:rPr lang="en-US" sz="1800" dirty="0">
                <a:solidFill>
                  <a:srgbClr val="000000"/>
                </a:solidFill>
                <a:effectLst/>
                <a:latin typeface="Cambria" panose="02040503050406030204" charset="0"/>
                <a:ea typeface="Cambria" panose="02040503050406030204" charset="0"/>
              </a:rPr>
              <a:t>(</a:t>
            </a:r>
            <a:r>
              <a:rPr lang="en-US" sz="1800" dirty="0">
                <a:solidFill>
                  <a:srgbClr val="2A00FF"/>
                </a:solidFill>
                <a:effectLst/>
                <a:latin typeface="Cambria" panose="02040503050406030204" charset="0"/>
                <a:ea typeface="Cambria" panose="02040503050406030204" charset="0"/>
              </a:rPr>
              <a:t>"Total Multiplication is:"</a:t>
            </a:r>
            <a:r>
              <a:rPr lang="en-US" sz="1800" dirty="0">
                <a:solidFill>
                  <a:srgbClr val="000000"/>
                </a:solidFill>
                <a:effectLst/>
                <a:latin typeface="Cambria" panose="02040503050406030204" charset="0"/>
                <a:ea typeface="Cambria" panose="02040503050406030204" charset="0"/>
              </a:rPr>
              <a:t>+</a:t>
            </a:r>
            <a:r>
              <a:rPr lang="en-US" sz="1800" dirty="0">
                <a:solidFill>
                  <a:srgbClr val="0000C0"/>
                </a:solidFill>
                <a:effectLst/>
                <a:latin typeface="Cambria" panose="02040503050406030204" charset="0"/>
                <a:ea typeface="Cambria" panose="02040503050406030204" charset="0"/>
              </a:rPr>
              <a:t>c</a:t>
            </a: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public</a:t>
            </a:r>
            <a:r>
              <a:rPr lang="en-US" sz="1800" dirty="0">
                <a:solidFill>
                  <a:srgbClr val="000000"/>
                </a:solidFill>
                <a:effectLst/>
                <a:latin typeface="Cambria" panose="02040503050406030204" charset="0"/>
                <a:ea typeface="Cambria" panose="02040503050406030204" charset="0"/>
              </a:rPr>
              <a:t> </a:t>
            </a:r>
            <a:r>
              <a:rPr lang="en-US" sz="1800" b="1" dirty="0">
                <a:solidFill>
                  <a:srgbClr val="7F0055"/>
                </a:solidFill>
                <a:effectLst/>
                <a:latin typeface="Cambria" panose="02040503050406030204" charset="0"/>
                <a:ea typeface="Cambria" panose="02040503050406030204" charset="0"/>
              </a:rPr>
              <a:t>static</a:t>
            </a:r>
            <a:r>
              <a:rPr lang="en-US" sz="1800" dirty="0">
                <a:solidFill>
                  <a:srgbClr val="000000"/>
                </a:solidFill>
                <a:effectLst/>
                <a:latin typeface="Cambria" panose="02040503050406030204" charset="0"/>
                <a:ea typeface="Cambria" panose="02040503050406030204" charset="0"/>
              </a:rPr>
              <a:t> </a:t>
            </a:r>
            <a:r>
              <a:rPr lang="en-US" sz="1800" b="1" dirty="0">
                <a:solidFill>
                  <a:srgbClr val="7F0055"/>
                </a:solidFill>
                <a:effectLst/>
                <a:latin typeface="Cambria" panose="02040503050406030204" charset="0"/>
                <a:ea typeface="Cambria" panose="02040503050406030204" charset="0"/>
              </a:rPr>
              <a:t>void</a:t>
            </a:r>
            <a:r>
              <a:rPr lang="en-US" sz="1800" dirty="0">
                <a:solidFill>
                  <a:srgbClr val="000000"/>
                </a:solidFill>
                <a:effectLst/>
                <a:latin typeface="Cambria" panose="02040503050406030204" charset="0"/>
                <a:ea typeface="Cambria" panose="02040503050406030204" charset="0"/>
              </a:rPr>
              <a:t> main(String[] </a:t>
            </a:r>
            <a:r>
              <a:rPr lang="en-US" sz="1800" dirty="0">
                <a:solidFill>
                  <a:srgbClr val="6A3E3E"/>
                </a:solidFill>
                <a:effectLst/>
                <a:latin typeface="Cambria" panose="02040503050406030204" charset="0"/>
                <a:ea typeface="Cambria" panose="02040503050406030204" charset="0"/>
              </a:rPr>
              <a:t>args</a:t>
            </a:r>
            <a:r>
              <a:rPr lang="en-US" sz="1800" dirty="0">
                <a:solidFill>
                  <a:srgbClr val="000000"/>
                </a:solidFill>
                <a:effectLst/>
                <a:latin typeface="Cambria" panose="02040503050406030204" charset="0"/>
                <a:ea typeface="Cambria" panose="02040503050406030204" charset="0"/>
              </a:rPr>
              <a:t>) {</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00"/>
                </a:solidFill>
                <a:effectLst/>
                <a:latin typeface="Cambria" panose="02040503050406030204" charset="0"/>
                <a:ea typeface="Cambria" panose="02040503050406030204" charset="0"/>
              </a:rPr>
              <a:t>Single1 </a:t>
            </a:r>
            <a:r>
              <a:rPr lang="en-US" sz="1800" dirty="0">
                <a:solidFill>
                  <a:srgbClr val="6A3E3E"/>
                </a:solidFill>
                <a:effectLst/>
                <a:latin typeface="Cambria" panose="02040503050406030204" charset="0"/>
                <a:ea typeface="Cambria" panose="02040503050406030204" charset="0"/>
              </a:rPr>
              <a:t>s1</a:t>
            </a:r>
            <a:r>
              <a:rPr lang="en-US" sz="1800" dirty="0">
                <a:solidFill>
                  <a:srgbClr val="000000"/>
                </a:solidFill>
                <a:effectLst/>
                <a:latin typeface="Cambria" panose="02040503050406030204" charset="0"/>
                <a:ea typeface="Cambria" panose="02040503050406030204" charset="0"/>
              </a:rPr>
              <a:t>=</a:t>
            </a:r>
            <a:r>
              <a:rPr lang="en-US" sz="1800" b="1" dirty="0">
                <a:solidFill>
                  <a:srgbClr val="7F0055"/>
                </a:solidFill>
                <a:effectLst/>
                <a:latin typeface="Cambria" panose="02040503050406030204" charset="0"/>
                <a:ea typeface="Cambria" panose="02040503050406030204" charset="0"/>
              </a:rPr>
              <a:t>new</a:t>
            </a:r>
            <a:r>
              <a:rPr lang="en-US" sz="1800" dirty="0">
                <a:solidFill>
                  <a:srgbClr val="000000"/>
                </a:solidFill>
                <a:effectLst/>
                <a:latin typeface="Cambria" panose="02040503050406030204" charset="0"/>
                <a:ea typeface="Cambria" panose="02040503050406030204" charset="0"/>
              </a:rPr>
              <a:t> Single1();</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6A3E3E"/>
                </a:solidFill>
                <a:effectLst/>
                <a:latin typeface="Cambria" panose="02040503050406030204" charset="0"/>
                <a:ea typeface="Cambria" panose="02040503050406030204" charset="0"/>
              </a:rPr>
              <a:t>s1</a:t>
            </a:r>
            <a:r>
              <a:rPr lang="en-US" sz="1800" dirty="0">
                <a:solidFill>
                  <a:srgbClr val="000000"/>
                </a:solidFill>
                <a:effectLst/>
                <a:latin typeface="Cambria" panose="02040503050406030204" charset="0"/>
                <a:ea typeface="Cambria" panose="02040503050406030204" charset="0"/>
              </a:rPr>
              <a:t>.Calci();</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132" y="682625"/>
            <a:ext cx="11396133" cy="5785908"/>
          </a:xfrm>
        </p:spPr>
        <p:txBody>
          <a:bodyPr>
            <a:noAutofit/>
          </a:bodyPr>
          <a:lstStyle/>
          <a:p>
            <a:r>
              <a:rPr lang="en-US" sz="1800" dirty="0">
                <a:latin typeface="Cambria" panose="02040503050406030204" charset="0"/>
                <a:ea typeface="Cambria" panose="02040503050406030204" charset="0"/>
              </a:rPr>
              <a:t>In Hierarchical Inheritance, one parent class will be inherit by many sub classes . </a:t>
            </a:r>
            <a:endParaRPr lang="en-US" sz="1800" dirty="0">
              <a:latin typeface="Cambria" panose="02040503050406030204" charset="0"/>
              <a:ea typeface="Cambria" panose="02040503050406030204" charset="0"/>
            </a:endParaRPr>
          </a:p>
          <a:p>
            <a:r>
              <a:rPr lang="en-US" sz="1800" dirty="0">
                <a:latin typeface="Cambria" panose="02040503050406030204" charset="0"/>
                <a:ea typeface="Cambria" panose="02040503050406030204" charset="0"/>
              </a:rPr>
              <a:t>In This Type of Inheritance Parent class will be Inherit into the multiple sub classes/child classes.</a:t>
            </a:r>
            <a:endParaRPr lang="en-US" sz="1800" dirty="0">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latin typeface="Cambria" panose="02040503050406030204" charset="0"/>
                <a:ea typeface="Cambria" panose="02040503050406030204" charset="0"/>
              </a:rPr>
              <a:t>Syntax of Hierarchical Inheritance</a:t>
            </a:r>
            <a:endParaRPr lang="en-US" sz="1800" b="1" dirty="0">
              <a:solidFill>
                <a:srgbClr val="7F0055"/>
              </a:solidFill>
              <a:latin typeface="Cambria" panose="02040503050406030204" charset="0"/>
              <a:ea typeface="Cambria" panose="02040503050406030204" charset="0"/>
            </a:endParaRPr>
          </a:p>
          <a:p>
            <a:pPr marL="0" marR="0" indent="0">
              <a:spcBef>
                <a:spcPts val="0"/>
              </a:spcBef>
              <a:spcAft>
                <a:spcPts val="0"/>
              </a:spcAft>
              <a:buNone/>
            </a:pPr>
            <a:endParaRPr lang="en-US" sz="1800" b="1" dirty="0">
              <a:solidFill>
                <a:srgbClr val="7F0055"/>
              </a:solidFill>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class</a:t>
            </a:r>
            <a:r>
              <a:rPr lang="en-US" sz="1800" dirty="0">
                <a:solidFill>
                  <a:srgbClr val="000000"/>
                </a:solidFill>
                <a:effectLst/>
                <a:latin typeface="Cambria" panose="02040503050406030204" charset="0"/>
                <a:ea typeface="Cambria" panose="02040503050406030204" charset="0"/>
              </a:rPr>
              <a:t> A{</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class</a:t>
            </a:r>
            <a:r>
              <a:rPr lang="en-US" sz="1800" dirty="0">
                <a:solidFill>
                  <a:srgbClr val="000000"/>
                </a:solidFill>
                <a:effectLst/>
                <a:latin typeface="Cambria" panose="02040503050406030204" charset="0"/>
                <a:ea typeface="Cambria" panose="02040503050406030204" charset="0"/>
              </a:rPr>
              <a:t> B </a:t>
            </a:r>
            <a:r>
              <a:rPr lang="en-US" sz="1800" b="1" dirty="0">
                <a:solidFill>
                  <a:srgbClr val="7F0055"/>
                </a:solidFill>
                <a:effectLst/>
                <a:latin typeface="Cambria" panose="02040503050406030204" charset="0"/>
                <a:ea typeface="Cambria" panose="02040503050406030204" charset="0"/>
              </a:rPr>
              <a:t>extends</a:t>
            </a:r>
            <a:r>
              <a:rPr lang="en-US" sz="1800" dirty="0">
                <a:solidFill>
                  <a:srgbClr val="000000"/>
                </a:solidFill>
                <a:effectLst/>
                <a:latin typeface="Cambria" panose="02040503050406030204" charset="0"/>
                <a:ea typeface="Cambria" panose="02040503050406030204" charset="0"/>
              </a:rPr>
              <a:t> A{</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class</a:t>
            </a:r>
            <a:r>
              <a:rPr lang="en-US" sz="1800" dirty="0">
                <a:solidFill>
                  <a:srgbClr val="000000"/>
                </a:solidFill>
                <a:effectLst/>
                <a:latin typeface="Cambria" panose="02040503050406030204" charset="0"/>
                <a:ea typeface="Cambria" panose="02040503050406030204" charset="0"/>
              </a:rPr>
              <a:t> C </a:t>
            </a:r>
            <a:r>
              <a:rPr lang="en-US" sz="1800" b="1" dirty="0">
                <a:solidFill>
                  <a:srgbClr val="7F0055"/>
                </a:solidFill>
                <a:effectLst/>
                <a:latin typeface="Cambria" panose="02040503050406030204" charset="0"/>
                <a:ea typeface="Cambria" panose="02040503050406030204" charset="0"/>
              </a:rPr>
              <a:t>extends</a:t>
            </a:r>
            <a:r>
              <a:rPr lang="en-US" sz="1800" dirty="0">
                <a:solidFill>
                  <a:srgbClr val="000000"/>
                </a:solidFill>
                <a:effectLst/>
                <a:latin typeface="Cambria" panose="02040503050406030204" charset="0"/>
                <a:ea typeface="Cambria" panose="02040503050406030204" charset="0"/>
              </a:rPr>
              <a:t> A{</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class</a:t>
            </a:r>
            <a:r>
              <a:rPr lang="en-US" sz="1800" dirty="0">
                <a:solidFill>
                  <a:srgbClr val="000000"/>
                </a:solidFill>
                <a:effectLst/>
                <a:latin typeface="Cambria" panose="02040503050406030204" charset="0"/>
                <a:ea typeface="Cambria" panose="02040503050406030204" charset="0"/>
              </a:rPr>
              <a:t> D {</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p:txBody>
      </p:sp>
      <p:sp>
        <p:nvSpPr>
          <p:cNvPr id="4" name="Title 1"/>
          <p:cNvSpPr>
            <a:spLocks noGrp="1"/>
          </p:cNvSpPr>
          <p:nvPr>
            <p:ph type="title"/>
          </p:nvPr>
        </p:nvSpPr>
        <p:spPr>
          <a:xfrm>
            <a:off x="135556" y="114869"/>
            <a:ext cx="10515600" cy="462648"/>
          </a:xfrm>
        </p:spPr>
        <p:txBody>
          <a:bodyPr>
            <a:noAutofit/>
          </a:bodyPr>
          <a:lstStyle/>
          <a:p>
            <a:r>
              <a:rPr lang="en-US" sz="2400" b="1" dirty="0">
                <a:solidFill>
                  <a:srgbClr val="FF0000"/>
                </a:solidFill>
                <a:latin typeface="Cambria" panose="02040503050406030204" charset="0"/>
                <a:ea typeface="Cambria" panose="02040503050406030204" charset="0"/>
              </a:rPr>
              <a:t>Hierarchical level Inheritance</a:t>
            </a:r>
            <a:endParaRPr lang="en-US" sz="2400" b="1" dirty="0">
              <a:solidFill>
                <a:srgbClr val="FF0000"/>
              </a:solidFill>
              <a:latin typeface="Cambria" panose="02040503050406030204" charset="0"/>
              <a:ea typeface="Cambria" panose="02040503050406030204" charset="0"/>
            </a:endParaRPr>
          </a:p>
        </p:txBody>
      </p:sp>
      <p:sp>
        <p:nvSpPr>
          <p:cNvPr id="5" name="Rectangle: Rounded Corners 4"/>
          <p:cNvSpPr/>
          <p:nvPr/>
        </p:nvSpPr>
        <p:spPr>
          <a:xfrm>
            <a:off x="4263992" y="1239215"/>
            <a:ext cx="1832008" cy="6509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spc="50" dirty="0">
                <a:ln w="9525" cmpd="sng">
                  <a:solidFill>
                    <a:schemeClr val="accent1"/>
                  </a:solidFill>
                  <a:prstDash val="solid"/>
                </a:ln>
                <a:solidFill>
                  <a:srgbClr val="70AD47">
                    <a:tint val="1000"/>
                  </a:srgbClr>
                </a:solidFill>
                <a:effectLst>
                  <a:glow rad="38100">
                    <a:schemeClr val="accent1">
                      <a:alpha val="40000"/>
                    </a:schemeClr>
                  </a:glow>
                </a:effectLst>
              </a:rPr>
              <a:t>Class A(Parent class)</a:t>
            </a:r>
            <a:endParaRPr lang="en-US"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6" name="Rectangle: Rounded Corners 5"/>
          <p:cNvSpPr/>
          <p:nvPr/>
        </p:nvSpPr>
        <p:spPr>
          <a:xfrm>
            <a:off x="1747788" y="2346267"/>
            <a:ext cx="1767040" cy="6509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spc="50" dirty="0">
                <a:ln w="9525" cmpd="sng">
                  <a:solidFill>
                    <a:schemeClr val="accent1"/>
                  </a:solidFill>
                  <a:prstDash val="solid"/>
                </a:ln>
                <a:solidFill>
                  <a:srgbClr val="70AD47">
                    <a:tint val="1000"/>
                  </a:srgbClr>
                </a:solidFill>
                <a:effectLst>
                  <a:glow rad="38100">
                    <a:schemeClr val="accent1">
                      <a:alpha val="40000"/>
                    </a:schemeClr>
                  </a:glow>
                </a:effectLst>
              </a:rPr>
              <a:t>Class B(Parent class)</a:t>
            </a:r>
            <a:endParaRPr lang="en-US"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7" name="Rectangle: Rounded Corners 6"/>
          <p:cNvSpPr/>
          <p:nvPr/>
        </p:nvSpPr>
        <p:spPr>
          <a:xfrm>
            <a:off x="4319606" y="2346268"/>
            <a:ext cx="1832008" cy="6509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spc="50" dirty="0">
                <a:ln w="9525" cmpd="sng">
                  <a:solidFill>
                    <a:schemeClr val="accent1"/>
                  </a:solidFill>
                  <a:prstDash val="solid"/>
                </a:ln>
                <a:solidFill>
                  <a:srgbClr val="70AD47">
                    <a:tint val="1000"/>
                  </a:srgbClr>
                </a:solidFill>
                <a:effectLst>
                  <a:glow rad="38100">
                    <a:schemeClr val="accent1">
                      <a:alpha val="40000"/>
                    </a:schemeClr>
                  </a:glow>
                </a:effectLst>
              </a:rPr>
              <a:t>Class C(Parent class)</a:t>
            </a:r>
            <a:endParaRPr lang="en-US"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8" name="Rectangle: Rounded Corners 7"/>
          <p:cNvSpPr/>
          <p:nvPr/>
        </p:nvSpPr>
        <p:spPr>
          <a:xfrm>
            <a:off x="6956391" y="2329794"/>
            <a:ext cx="1832008" cy="6674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spc="50" dirty="0">
                <a:ln w="9525" cmpd="sng">
                  <a:solidFill>
                    <a:schemeClr val="accent1"/>
                  </a:solidFill>
                  <a:prstDash val="solid"/>
                </a:ln>
                <a:solidFill>
                  <a:srgbClr val="70AD47">
                    <a:tint val="1000"/>
                  </a:srgbClr>
                </a:solidFill>
                <a:effectLst>
                  <a:glow rad="38100">
                    <a:schemeClr val="accent1">
                      <a:alpha val="40000"/>
                    </a:schemeClr>
                  </a:glow>
                </a:effectLst>
              </a:rPr>
              <a:t>Class D(Parent class)</a:t>
            </a:r>
            <a:endParaRPr lang="en-US"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cxnSp>
        <p:nvCxnSpPr>
          <p:cNvPr id="12" name="Connector: Elbow 11"/>
          <p:cNvCxnSpPr/>
          <p:nvPr/>
        </p:nvCxnSpPr>
        <p:spPr>
          <a:xfrm>
            <a:off x="6096000" y="1634494"/>
            <a:ext cx="1720781" cy="72000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5124382" y="1890149"/>
            <a:ext cx="55614" cy="4561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2540000" y="1609786"/>
            <a:ext cx="172399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2540000" y="1609786"/>
            <a:ext cx="0" cy="7200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5583"/>
            <a:ext cx="10515600" cy="450849"/>
          </a:xfrm>
        </p:spPr>
        <p:txBody>
          <a:bodyPr>
            <a:normAutofit/>
          </a:bodyPr>
          <a:lstStyle/>
          <a:p>
            <a:r>
              <a:rPr lang="en-US" sz="2400" b="1" dirty="0">
                <a:solidFill>
                  <a:srgbClr val="FF0000"/>
                </a:solidFill>
                <a:latin typeface="Cambria" panose="02040503050406030204" charset="0"/>
                <a:ea typeface="Cambria" panose="02040503050406030204" charset="0"/>
              </a:rPr>
              <a:t>Example of Hierarchical Inheritance</a:t>
            </a:r>
            <a:endParaRPr lang="en-US" sz="2400" b="1" dirty="0">
              <a:solidFill>
                <a:srgbClr val="FF0000"/>
              </a:solidFill>
              <a:latin typeface="Cambria" panose="02040503050406030204" charset="0"/>
              <a:ea typeface="Cambria" panose="02040503050406030204" charset="0"/>
            </a:endParaRPr>
          </a:p>
        </p:txBody>
      </p:sp>
      <p:sp>
        <p:nvSpPr>
          <p:cNvPr id="3" name="Content Placeholder 2"/>
          <p:cNvSpPr>
            <a:spLocks noGrp="1"/>
          </p:cNvSpPr>
          <p:nvPr>
            <p:ph idx="1"/>
          </p:nvPr>
        </p:nvSpPr>
        <p:spPr>
          <a:xfrm>
            <a:off x="110066" y="404261"/>
            <a:ext cx="10515600" cy="6379655"/>
          </a:xfrm>
        </p:spPr>
        <p:txBody>
          <a:bodyPr>
            <a:noAutofit/>
          </a:bodyPr>
          <a:lstStyle/>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import</a:t>
            </a:r>
            <a:r>
              <a:rPr lang="en-US" sz="1800" dirty="0">
                <a:solidFill>
                  <a:srgbClr val="000000"/>
                </a:solidFill>
                <a:effectLst/>
                <a:latin typeface="Cambria" panose="02040503050406030204" charset="0"/>
                <a:ea typeface="Cambria" panose="02040503050406030204" charset="0"/>
              </a:rPr>
              <a:t> </a:t>
            </a:r>
            <a:r>
              <a:rPr lang="en-US" sz="1800" dirty="0" err="1">
                <a:solidFill>
                  <a:srgbClr val="000000"/>
                </a:solidFill>
                <a:effectLst/>
                <a:latin typeface="Cambria" panose="02040503050406030204" charset="0"/>
                <a:ea typeface="Cambria" panose="02040503050406030204" charset="0"/>
              </a:rPr>
              <a:t>java.util.Scanner</a:t>
            </a: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indent="0">
              <a:spcBef>
                <a:spcPts val="0"/>
              </a:spcBef>
              <a:buNone/>
            </a:pPr>
            <a:r>
              <a:rPr lang="en-US" sz="1800" b="1" dirty="0">
                <a:solidFill>
                  <a:srgbClr val="7F0055"/>
                </a:solidFill>
                <a:effectLst/>
                <a:latin typeface="Cambria" panose="02040503050406030204" charset="0"/>
                <a:ea typeface="Cambria" panose="02040503050406030204" charset="0"/>
              </a:rPr>
              <a:t>class</a:t>
            </a:r>
            <a:r>
              <a:rPr lang="en-US" sz="1800" dirty="0">
                <a:solidFill>
                  <a:srgbClr val="000000"/>
                </a:solidFill>
                <a:effectLst/>
                <a:latin typeface="Cambria" panose="02040503050406030204" charset="0"/>
                <a:ea typeface="Cambria" panose="02040503050406030204" charset="0"/>
              </a:rPr>
              <a:t> A{</a:t>
            </a:r>
            <a:r>
              <a:rPr lang="en-US" sz="1800" dirty="0">
                <a:solidFill>
                  <a:srgbClr val="3F7F5F"/>
                </a:solidFill>
                <a:effectLst/>
                <a:latin typeface="Cambria" panose="02040503050406030204" charset="0"/>
                <a:ea typeface="Cambria" panose="02040503050406030204" charset="0"/>
              </a:rPr>
              <a:t>//Parent class //Super class</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int</a:t>
            </a:r>
            <a:r>
              <a:rPr lang="en-US" sz="1800" dirty="0">
                <a:solidFill>
                  <a:srgbClr val="000000"/>
                </a:solidFill>
                <a:effectLst/>
                <a:latin typeface="Cambria" panose="02040503050406030204" charset="0"/>
                <a:ea typeface="Cambria" panose="02040503050406030204" charset="0"/>
              </a:rPr>
              <a:t> </a:t>
            </a:r>
            <a:r>
              <a:rPr lang="en-US" sz="1800" dirty="0">
                <a:solidFill>
                  <a:srgbClr val="0000C0"/>
                </a:solidFill>
                <a:effectLst/>
                <a:latin typeface="Cambria" panose="02040503050406030204" charset="0"/>
                <a:ea typeface="Cambria" panose="02040503050406030204" charset="0"/>
              </a:rPr>
              <a:t>no1</a:t>
            </a:r>
            <a:r>
              <a:rPr lang="en-US" sz="1800" dirty="0">
                <a:solidFill>
                  <a:srgbClr val="000000"/>
                </a:solidFill>
                <a:effectLst/>
                <a:latin typeface="Cambria" panose="02040503050406030204" charset="0"/>
                <a:ea typeface="Cambria" panose="02040503050406030204" charset="0"/>
              </a:rPr>
              <a:t>,</a:t>
            </a:r>
            <a:r>
              <a:rPr lang="en-US" sz="1800" dirty="0">
                <a:solidFill>
                  <a:srgbClr val="0000C0"/>
                </a:solidFill>
                <a:effectLst/>
                <a:latin typeface="Cambria" panose="02040503050406030204" charset="0"/>
                <a:ea typeface="Cambria" panose="02040503050406030204" charset="0"/>
              </a:rPr>
              <a:t>no2</a:t>
            </a:r>
            <a:r>
              <a:rPr lang="en-US" sz="1800" dirty="0">
                <a:solidFill>
                  <a:srgbClr val="000000"/>
                </a:solidFill>
                <a:effectLst/>
                <a:latin typeface="Cambria" panose="02040503050406030204" charset="0"/>
                <a:ea typeface="Cambria" panose="02040503050406030204" charset="0"/>
              </a:rPr>
              <a:t>; </a:t>
            </a:r>
            <a:r>
              <a:rPr lang="en-US" sz="1800" dirty="0">
                <a:solidFill>
                  <a:srgbClr val="3F7F5F"/>
                </a:solidFill>
                <a:effectLst/>
                <a:latin typeface="Cambria" panose="02040503050406030204" charset="0"/>
                <a:ea typeface="Cambria" panose="02040503050406030204" charset="0"/>
              </a:rPr>
              <a:t>//data members of class A </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void</a:t>
            </a:r>
            <a:r>
              <a:rPr lang="en-US" sz="1800" dirty="0">
                <a:solidFill>
                  <a:srgbClr val="000000"/>
                </a:solidFill>
                <a:effectLst/>
                <a:latin typeface="Cambria" panose="02040503050406030204" charset="0"/>
                <a:ea typeface="Cambria" panose="02040503050406030204" charset="0"/>
              </a:rPr>
              <a:t> </a:t>
            </a:r>
            <a:r>
              <a:rPr lang="en-US" sz="1800" dirty="0" err="1">
                <a:solidFill>
                  <a:srgbClr val="000000"/>
                </a:solidFill>
                <a:effectLst/>
                <a:latin typeface="Cambria" panose="02040503050406030204" charset="0"/>
                <a:ea typeface="Cambria" panose="02040503050406030204" charset="0"/>
              </a:rPr>
              <a:t>getdata</a:t>
            </a:r>
            <a:r>
              <a:rPr lang="en-US" sz="1800" dirty="0">
                <a:solidFill>
                  <a:srgbClr val="000000"/>
                </a:solidFill>
                <a:effectLst/>
                <a:latin typeface="Cambria" panose="02040503050406030204" charset="0"/>
                <a:ea typeface="Cambria" panose="02040503050406030204" charset="0"/>
              </a:rPr>
              <a:t>() { </a:t>
            </a:r>
            <a:r>
              <a:rPr lang="en-US" sz="1800" dirty="0">
                <a:solidFill>
                  <a:srgbClr val="3F7F5F"/>
                </a:solidFill>
                <a:effectLst/>
                <a:latin typeface="Cambria" panose="02040503050406030204" charset="0"/>
                <a:ea typeface="Cambria" panose="02040503050406030204" charset="0"/>
              </a:rPr>
              <a:t>//data function/method of class a</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00"/>
                </a:solidFill>
                <a:effectLst/>
                <a:latin typeface="Cambria" panose="02040503050406030204" charset="0"/>
                <a:ea typeface="Cambria" panose="02040503050406030204" charset="0"/>
              </a:rPr>
              <a:t>Scanner </a:t>
            </a:r>
            <a:r>
              <a:rPr lang="en-US" sz="1800" u="sng" dirty="0" err="1">
                <a:solidFill>
                  <a:srgbClr val="6A3E3E"/>
                </a:solidFill>
                <a:effectLst/>
                <a:latin typeface="Cambria" panose="02040503050406030204" charset="0"/>
                <a:ea typeface="Cambria" panose="02040503050406030204" charset="0"/>
              </a:rPr>
              <a:t>sa</a:t>
            </a:r>
            <a:r>
              <a:rPr lang="en-US" sz="1800" dirty="0">
                <a:solidFill>
                  <a:srgbClr val="000000"/>
                </a:solidFill>
                <a:effectLst/>
                <a:latin typeface="Cambria" panose="02040503050406030204" charset="0"/>
                <a:ea typeface="Cambria" panose="02040503050406030204" charset="0"/>
              </a:rPr>
              <a:t>=</a:t>
            </a:r>
            <a:r>
              <a:rPr lang="en-US" sz="1800" b="1" dirty="0">
                <a:solidFill>
                  <a:srgbClr val="7F0055"/>
                </a:solidFill>
                <a:effectLst/>
                <a:latin typeface="Cambria" panose="02040503050406030204" charset="0"/>
                <a:ea typeface="Cambria" panose="02040503050406030204" charset="0"/>
              </a:rPr>
              <a:t>new</a:t>
            </a:r>
            <a:r>
              <a:rPr lang="en-US" sz="1800" dirty="0">
                <a:solidFill>
                  <a:srgbClr val="000000"/>
                </a:solidFill>
                <a:effectLst/>
                <a:latin typeface="Cambria" panose="02040503050406030204" charset="0"/>
                <a:ea typeface="Cambria" panose="02040503050406030204" charset="0"/>
              </a:rPr>
              <a:t> Scanner(System.</a:t>
            </a:r>
            <a:r>
              <a:rPr lang="en-US" sz="1800" b="1" i="1" dirty="0">
                <a:solidFill>
                  <a:srgbClr val="0000C0"/>
                </a:solidFill>
                <a:effectLst/>
                <a:latin typeface="Cambria" panose="02040503050406030204" charset="0"/>
                <a:ea typeface="Cambria" panose="02040503050406030204" charset="0"/>
              </a:rPr>
              <a:t>in</a:t>
            </a: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err="1">
                <a:solidFill>
                  <a:srgbClr val="000000"/>
                </a:solidFill>
                <a:effectLst/>
                <a:latin typeface="Cambria" panose="02040503050406030204" charset="0"/>
                <a:ea typeface="Cambria" panose="02040503050406030204" charset="0"/>
              </a:rPr>
              <a:t>System.</a:t>
            </a:r>
            <a:r>
              <a:rPr lang="en-US" sz="1800" b="1" i="1" dirty="0" err="1">
                <a:solidFill>
                  <a:srgbClr val="0000C0"/>
                </a:solidFill>
                <a:effectLst/>
                <a:latin typeface="Cambria" panose="02040503050406030204" charset="0"/>
                <a:ea typeface="Cambria" panose="02040503050406030204" charset="0"/>
              </a:rPr>
              <a:t>out</a:t>
            </a:r>
            <a:r>
              <a:rPr lang="en-US" sz="1800" dirty="0" err="1">
                <a:solidFill>
                  <a:srgbClr val="000000"/>
                </a:solidFill>
                <a:effectLst/>
                <a:latin typeface="Cambria" panose="02040503050406030204" charset="0"/>
                <a:ea typeface="Cambria" panose="02040503050406030204" charset="0"/>
              </a:rPr>
              <a:t>.println</a:t>
            </a:r>
            <a:r>
              <a:rPr lang="en-US" sz="1800" dirty="0">
                <a:solidFill>
                  <a:srgbClr val="000000"/>
                </a:solidFill>
                <a:effectLst/>
                <a:latin typeface="Cambria" panose="02040503050406030204" charset="0"/>
                <a:ea typeface="Cambria" panose="02040503050406030204" charset="0"/>
              </a:rPr>
              <a:t>(</a:t>
            </a:r>
            <a:r>
              <a:rPr lang="en-US" sz="1800" dirty="0">
                <a:solidFill>
                  <a:srgbClr val="2A00FF"/>
                </a:solidFill>
                <a:effectLst/>
                <a:latin typeface="Cambria" panose="02040503050406030204" charset="0"/>
                <a:ea typeface="Cambria" panose="02040503050406030204" charset="0"/>
              </a:rPr>
              <a:t>"Enter First No:"</a:t>
            </a:r>
            <a:r>
              <a:rPr lang="en-US" sz="1800" dirty="0">
                <a:solidFill>
                  <a:srgbClr val="000000"/>
                </a:solidFill>
                <a:effectLst/>
                <a:latin typeface="Cambria" panose="02040503050406030204" charset="0"/>
                <a:ea typeface="Cambria" panose="02040503050406030204" charset="0"/>
              </a:rPr>
              <a:t>);   </a:t>
            </a:r>
            <a:r>
              <a:rPr lang="en-US" sz="1800" dirty="0">
                <a:solidFill>
                  <a:srgbClr val="0000C0"/>
                </a:solidFill>
                <a:effectLst/>
                <a:latin typeface="Cambria" panose="02040503050406030204" charset="0"/>
                <a:ea typeface="Cambria" panose="02040503050406030204" charset="0"/>
              </a:rPr>
              <a:t>no1</a:t>
            </a:r>
            <a:r>
              <a:rPr lang="en-US" sz="1800" dirty="0">
                <a:solidFill>
                  <a:srgbClr val="000000"/>
                </a:solidFill>
                <a:effectLst/>
                <a:latin typeface="Cambria" panose="02040503050406030204" charset="0"/>
                <a:ea typeface="Cambria" panose="02040503050406030204" charset="0"/>
              </a:rPr>
              <a:t>=</a:t>
            </a:r>
            <a:r>
              <a:rPr lang="en-US" sz="1800" dirty="0" err="1">
                <a:solidFill>
                  <a:srgbClr val="6A3E3E"/>
                </a:solidFill>
                <a:effectLst/>
                <a:latin typeface="Cambria" panose="02040503050406030204" charset="0"/>
                <a:ea typeface="Cambria" panose="02040503050406030204" charset="0"/>
              </a:rPr>
              <a:t>sa</a:t>
            </a:r>
            <a:r>
              <a:rPr lang="en-US" sz="1800" dirty="0" err="1">
                <a:solidFill>
                  <a:srgbClr val="000000"/>
                </a:solidFill>
                <a:effectLst/>
                <a:latin typeface="Cambria" panose="02040503050406030204" charset="0"/>
                <a:ea typeface="Cambria" panose="02040503050406030204" charset="0"/>
              </a:rPr>
              <a:t>.nextInt</a:t>
            </a: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err="1">
                <a:solidFill>
                  <a:srgbClr val="000000"/>
                </a:solidFill>
                <a:effectLst/>
                <a:latin typeface="Cambria" panose="02040503050406030204" charset="0"/>
                <a:ea typeface="Cambria" panose="02040503050406030204" charset="0"/>
              </a:rPr>
              <a:t>System.</a:t>
            </a:r>
            <a:r>
              <a:rPr lang="en-US" sz="1800" b="1" i="1" dirty="0" err="1">
                <a:solidFill>
                  <a:srgbClr val="0000C0"/>
                </a:solidFill>
                <a:effectLst/>
                <a:latin typeface="Cambria" panose="02040503050406030204" charset="0"/>
                <a:ea typeface="Cambria" panose="02040503050406030204" charset="0"/>
              </a:rPr>
              <a:t>out</a:t>
            </a:r>
            <a:r>
              <a:rPr lang="en-US" sz="1800" dirty="0" err="1">
                <a:solidFill>
                  <a:srgbClr val="000000"/>
                </a:solidFill>
                <a:effectLst/>
                <a:latin typeface="Cambria" panose="02040503050406030204" charset="0"/>
                <a:ea typeface="Cambria" panose="02040503050406030204" charset="0"/>
              </a:rPr>
              <a:t>.println</a:t>
            </a:r>
            <a:r>
              <a:rPr lang="en-US" sz="1800" dirty="0">
                <a:solidFill>
                  <a:srgbClr val="000000"/>
                </a:solidFill>
                <a:effectLst/>
                <a:latin typeface="Cambria" panose="02040503050406030204" charset="0"/>
                <a:ea typeface="Cambria" panose="02040503050406030204" charset="0"/>
              </a:rPr>
              <a:t>(</a:t>
            </a:r>
            <a:r>
              <a:rPr lang="en-US" sz="1800" dirty="0">
                <a:solidFill>
                  <a:srgbClr val="2A00FF"/>
                </a:solidFill>
                <a:effectLst/>
                <a:latin typeface="Cambria" panose="02040503050406030204" charset="0"/>
                <a:ea typeface="Cambria" panose="02040503050406030204" charset="0"/>
              </a:rPr>
              <a:t>"Enter Second No:"</a:t>
            </a:r>
            <a:r>
              <a:rPr lang="en-US" sz="1800" dirty="0">
                <a:solidFill>
                  <a:srgbClr val="000000"/>
                </a:solidFill>
                <a:effectLst/>
                <a:latin typeface="Cambria" panose="02040503050406030204" charset="0"/>
                <a:ea typeface="Cambria" panose="02040503050406030204" charset="0"/>
              </a:rPr>
              <a:t>); </a:t>
            </a:r>
            <a:r>
              <a:rPr lang="en-US" sz="1800" dirty="0">
                <a:solidFill>
                  <a:srgbClr val="0000C0"/>
                </a:solidFill>
                <a:effectLst/>
                <a:latin typeface="Cambria" panose="02040503050406030204" charset="0"/>
                <a:ea typeface="Cambria" panose="02040503050406030204" charset="0"/>
              </a:rPr>
              <a:t>no2</a:t>
            </a:r>
            <a:r>
              <a:rPr lang="en-US" sz="1800" dirty="0">
                <a:solidFill>
                  <a:srgbClr val="000000"/>
                </a:solidFill>
                <a:effectLst/>
                <a:latin typeface="Cambria" panose="02040503050406030204" charset="0"/>
                <a:ea typeface="Cambria" panose="02040503050406030204" charset="0"/>
              </a:rPr>
              <a:t>=</a:t>
            </a:r>
            <a:r>
              <a:rPr lang="en-US" sz="1800" dirty="0" err="1">
                <a:solidFill>
                  <a:srgbClr val="6A3E3E"/>
                </a:solidFill>
                <a:effectLst/>
                <a:latin typeface="Cambria" panose="02040503050406030204" charset="0"/>
                <a:ea typeface="Cambria" panose="02040503050406030204" charset="0"/>
              </a:rPr>
              <a:t>sa</a:t>
            </a:r>
            <a:r>
              <a:rPr lang="en-US" sz="1800" dirty="0" err="1">
                <a:solidFill>
                  <a:srgbClr val="000000"/>
                </a:solidFill>
                <a:effectLst/>
                <a:latin typeface="Cambria" panose="02040503050406030204" charset="0"/>
                <a:ea typeface="Cambria" panose="02040503050406030204" charset="0"/>
              </a:rPr>
              <a:t>.nextInt</a:t>
            </a: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00"/>
                </a:solidFill>
                <a:effectLst/>
                <a:latin typeface="Cambria" panose="02040503050406030204" charset="0"/>
                <a:ea typeface="Cambria" panose="02040503050406030204" charset="0"/>
              </a:rPr>
              <a:t>} }</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class</a:t>
            </a:r>
            <a:r>
              <a:rPr lang="en-US" sz="1800" dirty="0">
                <a:solidFill>
                  <a:srgbClr val="000000"/>
                </a:solidFill>
                <a:effectLst/>
                <a:latin typeface="Cambria" panose="02040503050406030204" charset="0"/>
                <a:ea typeface="Cambria" panose="02040503050406030204" charset="0"/>
              </a:rPr>
              <a:t> B </a:t>
            </a:r>
            <a:r>
              <a:rPr lang="en-US" sz="1800" b="1" dirty="0">
                <a:solidFill>
                  <a:srgbClr val="7F0055"/>
                </a:solidFill>
                <a:effectLst/>
                <a:latin typeface="Cambria" panose="02040503050406030204" charset="0"/>
                <a:ea typeface="Cambria" panose="02040503050406030204" charset="0"/>
              </a:rPr>
              <a:t>extends</a:t>
            </a:r>
            <a:r>
              <a:rPr lang="en-US" sz="1800" dirty="0">
                <a:solidFill>
                  <a:srgbClr val="000000"/>
                </a:solidFill>
                <a:effectLst/>
                <a:latin typeface="Cambria" panose="02040503050406030204" charset="0"/>
                <a:ea typeface="Cambria" panose="02040503050406030204" charset="0"/>
              </a:rPr>
              <a:t> A{</a:t>
            </a:r>
            <a:r>
              <a:rPr lang="en-US" sz="1800" dirty="0">
                <a:solidFill>
                  <a:srgbClr val="3F7F5F"/>
                </a:solidFill>
                <a:effectLst/>
                <a:latin typeface="Cambria" panose="02040503050406030204" charset="0"/>
                <a:ea typeface="Cambria" panose="02040503050406030204" charset="0"/>
              </a:rPr>
              <a:t>//child class/sub class</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void</a:t>
            </a:r>
            <a:r>
              <a:rPr lang="en-US" sz="1800" dirty="0">
                <a:solidFill>
                  <a:srgbClr val="000000"/>
                </a:solidFill>
                <a:effectLst/>
                <a:latin typeface="Cambria" panose="02040503050406030204" charset="0"/>
                <a:ea typeface="Cambria" panose="02040503050406030204" charset="0"/>
              </a:rPr>
              <a:t> </a:t>
            </a:r>
            <a:r>
              <a:rPr lang="en-US" sz="1800" dirty="0" err="1">
                <a:solidFill>
                  <a:srgbClr val="000000"/>
                </a:solidFill>
                <a:effectLst/>
                <a:latin typeface="Cambria" panose="02040503050406030204" charset="0"/>
                <a:ea typeface="Cambria" panose="02040503050406030204" charset="0"/>
              </a:rPr>
              <a:t>CalSum</a:t>
            </a:r>
            <a:r>
              <a:rPr lang="en-US" sz="1800" dirty="0">
                <a:solidFill>
                  <a:srgbClr val="000000"/>
                </a:solidFill>
                <a:effectLst/>
                <a:latin typeface="Cambria" panose="02040503050406030204" charset="0"/>
                <a:ea typeface="Cambria" panose="02040503050406030204" charset="0"/>
              </a:rPr>
              <a:t>() {</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int</a:t>
            </a:r>
            <a:r>
              <a:rPr lang="en-US" sz="1800" dirty="0">
                <a:solidFill>
                  <a:srgbClr val="000000"/>
                </a:solidFill>
                <a:effectLst/>
                <a:latin typeface="Cambria" panose="02040503050406030204" charset="0"/>
                <a:ea typeface="Cambria" panose="02040503050406030204" charset="0"/>
              </a:rPr>
              <a:t> </a:t>
            </a:r>
            <a:r>
              <a:rPr lang="en-US" sz="1800" dirty="0">
                <a:solidFill>
                  <a:srgbClr val="6A3E3E"/>
                </a:solidFill>
                <a:effectLst/>
                <a:latin typeface="Cambria" panose="02040503050406030204" charset="0"/>
                <a:ea typeface="Cambria" panose="02040503050406030204" charset="0"/>
              </a:rPr>
              <a:t>add</a:t>
            </a:r>
            <a:r>
              <a:rPr lang="en-US" sz="1800" dirty="0">
                <a:solidFill>
                  <a:srgbClr val="000000"/>
                </a:solidFill>
                <a:effectLst/>
                <a:latin typeface="Cambria" panose="02040503050406030204" charset="0"/>
                <a:ea typeface="Cambria" panose="02040503050406030204" charset="0"/>
              </a:rPr>
              <a:t>=</a:t>
            </a:r>
            <a:r>
              <a:rPr lang="en-US" sz="1800" dirty="0">
                <a:solidFill>
                  <a:srgbClr val="0000C0"/>
                </a:solidFill>
                <a:effectLst/>
                <a:latin typeface="Cambria" panose="02040503050406030204" charset="0"/>
                <a:ea typeface="Cambria" panose="02040503050406030204" charset="0"/>
              </a:rPr>
              <a:t>no1</a:t>
            </a:r>
            <a:r>
              <a:rPr lang="en-US" sz="1800" dirty="0">
                <a:solidFill>
                  <a:srgbClr val="000000"/>
                </a:solidFill>
                <a:effectLst/>
                <a:latin typeface="Cambria" panose="02040503050406030204" charset="0"/>
                <a:ea typeface="Cambria" panose="02040503050406030204" charset="0"/>
              </a:rPr>
              <a:t>+</a:t>
            </a:r>
            <a:r>
              <a:rPr lang="en-US" sz="1800" dirty="0">
                <a:solidFill>
                  <a:srgbClr val="0000C0"/>
                </a:solidFill>
                <a:effectLst/>
                <a:latin typeface="Cambria" panose="02040503050406030204" charset="0"/>
                <a:ea typeface="Cambria" panose="02040503050406030204" charset="0"/>
              </a:rPr>
              <a:t>no2</a:t>
            </a: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err="1">
                <a:solidFill>
                  <a:srgbClr val="000000"/>
                </a:solidFill>
                <a:effectLst/>
                <a:latin typeface="Cambria" panose="02040503050406030204" charset="0"/>
                <a:ea typeface="Cambria" panose="02040503050406030204" charset="0"/>
              </a:rPr>
              <a:t>System.</a:t>
            </a:r>
            <a:r>
              <a:rPr lang="en-US" sz="1800" b="1" i="1" dirty="0" err="1">
                <a:solidFill>
                  <a:srgbClr val="0000C0"/>
                </a:solidFill>
                <a:effectLst/>
                <a:latin typeface="Cambria" panose="02040503050406030204" charset="0"/>
                <a:ea typeface="Cambria" panose="02040503050406030204" charset="0"/>
              </a:rPr>
              <a:t>out</a:t>
            </a:r>
            <a:r>
              <a:rPr lang="en-US" sz="1800" dirty="0" err="1">
                <a:solidFill>
                  <a:srgbClr val="000000"/>
                </a:solidFill>
                <a:effectLst/>
                <a:latin typeface="Cambria" panose="02040503050406030204" charset="0"/>
                <a:ea typeface="Cambria" panose="02040503050406030204" charset="0"/>
              </a:rPr>
              <a:t>.println</a:t>
            </a:r>
            <a:r>
              <a:rPr lang="en-US" sz="1800" dirty="0">
                <a:solidFill>
                  <a:srgbClr val="000000"/>
                </a:solidFill>
                <a:effectLst/>
                <a:latin typeface="Cambria" panose="02040503050406030204" charset="0"/>
                <a:ea typeface="Cambria" panose="02040503050406030204" charset="0"/>
              </a:rPr>
              <a:t>(</a:t>
            </a:r>
            <a:r>
              <a:rPr lang="en-US" sz="1800" dirty="0">
                <a:solidFill>
                  <a:srgbClr val="6A3E3E"/>
                </a:solidFill>
                <a:effectLst/>
                <a:latin typeface="Cambria" panose="02040503050406030204" charset="0"/>
                <a:ea typeface="Cambria" panose="02040503050406030204" charset="0"/>
              </a:rPr>
              <a:t>add</a:t>
            </a: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00"/>
                </a:solidFill>
                <a:effectLst/>
                <a:latin typeface="Cambria" panose="02040503050406030204" charset="0"/>
                <a:ea typeface="Cambria" panose="02040503050406030204" charset="0"/>
              </a:rPr>
              <a:t>} }</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class</a:t>
            </a:r>
            <a:r>
              <a:rPr lang="en-US" sz="1800" dirty="0">
                <a:solidFill>
                  <a:srgbClr val="000000"/>
                </a:solidFill>
                <a:effectLst/>
                <a:latin typeface="Cambria" panose="02040503050406030204" charset="0"/>
                <a:ea typeface="Cambria" panose="02040503050406030204" charset="0"/>
              </a:rPr>
              <a:t> C </a:t>
            </a:r>
            <a:r>
              <a:rPr lang="en-US" sz="1800" b="1" dirty="0">
                <a:solidFill>
                  <a:srgbClr val="7F0055"/>
                </a:solidFill>
                <a:effectLst/>
                <a:latin typeface="Cambria" panose="02040503050406030204" charset="0"/>
                <a:ea typeface="Cambria" panose="02040503050406030204" charset="0"/>
              </a:rPr>
              <a:t>extends</a:t>
            </a:r>
            <a:r>
              <a:rPr lang="en-US" sz="1800" dirty="0">
                <a:solidFill>
                  <a:srgbClr val="000000"/>
                </a:solidFill>
                <a:effectLst/>
                <a:latin typeface="Cambria" panose="02040503050406030204" charset="0"/>
                <a:ea typeface="Cambria" panose="02040503050406030204" charset="0"/>
              </a:rPr>
              <a:t> A{</a:t>
            </a:r>
            <a:r>
              <a:rPr lang="en-US" sz="1800" dirty="0">
                <a:solidFill>
                  <a:srgbClr val="3F7F5F"/>
                </a:solidFill>
                <a:effectLst/>
                <a:latin typeface="Cambria" panose="02040503050406030204" charset="0"/>
                <a:ea typeface="Cambria" panose="02040503050406030204" charset="0"/>
              </a:rPr>
              <a:t>//child class/sub class</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void</a:t>
            </a:r>
            <a:r>
              <a:rPr lang="en-US" sz="1800" dirty="0">
                <a:solidFill>
                  <a:srgbClr val="000000"/>
                </a:solidFill>
                <a:effectLst/>
                <a:latin typeface="Cambria" panose="02040503050406030204" charset="0"/>
                <a:ea typeface="Cambria" panose="02040503050406030204" charset="0"/>
              </a:rPr>
              <a:t> </a:t>
            </a:r>
            <a:r>
              <a:rPr lang="en-US" sz="1800" dirty="0" err="1">
                <a:solidFill>
                  <a:srgbClr val="000000"/>
                </a:solidFill>
                <a:effectLst/>
                <a:latin typeface="Cambria" panose="02040503050406030204" charset="0"/>
                <a:ea typeface="Cambria" panose="02040503050406030204" charset="0"/>
              </a:rPr>
              <a:t>CalSub</a:t>
            </a:r>
            <a:r>
              <a:rPr lang="en-US" sz="1800" dirty="0">
                <a:solidFill>
                  <a:srgbClr val="000000"/>
                </a:solidFill>
                <a:effectLst/>
                <a:latin typeface="Cambria" panose="02040503050406030204" charset="0"/>
                <a:ea typeface="Cambria" panose="02040503050406030204" charset="0"/>
              </a:rPr>
              <a:t>() {</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err="1">
                <a:solidFill>
                  <a:srgbClr val="000000"/>
                </a:solidFill>
                <a:effectLst/>
                <a:latin typeface="Cambria" panose="02040503050406030204" charset="0"/>
                <a:ea typeface="Cambria" panose="02040503050406030204" charset="0"/>
              </a:rPr>
              <a:t>getdata</a:t>
            </a: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int</a:t>
            </a:r>
            <a:r>
              <a:rPr lang="en-US" sz="1800" dirty="0">
                <a:solidFill>
                  <a:srgbClr val="000000"/>
                </a:solidFill>
                <a:effectLst/>
                <a:latin typeface="Cambria" panose="02040503050406030204" charset="0"/>
                <a:ea typeface="Cambria" panose="02040503050406030204" charset="0"/>
              </a:rPr>
              <a:t> </a:t>
            </a:r>
            <a:r>
              <a:rPr lang="en-US" sz="1800" dirty="0">
                <a:solidFill>
                  <a:srgbClr val="6A3E3E"/>
                </a:solidFill>
                <a:effectLst/>
                <a:latin typeface="Cambria" panose="02040503050406030204" charset="0"/>
                <a:ea typeface="Cambria" panose="02040503050406030204" charset="0"/>
              </a:rPr>
              <a:t>Sub</a:t>
            </a:r>
            <a:r>
              <a:rPr lang="en-US" sz="1800" dirty="0">
                <a:solidFill>
                  <a:srgbClr val="000000"/>
                </a:solidFill>
                <a:effectLst/>
                <a:latin typeface="Cambria" panose="02040503050406030204" charset="0"/>
                <a:ea typeface="Cambria" panose="02040503050406030204" charset="0"/>
              </a:rPr>
              <a:t>=</a:t>
            </a:r>
            <a:r>
              <a:rPr lang="en-US" sz="1800" dirty="0">
                <a:solidFill>
                  <a:srgbClr val="0000C0"/>
                </a:solidFill>
                <a:effectLst/>
                <a:latin typeface="Cambria" panose="02040503050406030204" charset="0"/>
                <a:ea typeface="Cambria" panose="02040503050406030204" charset="0"/>
              </a:rPr>
              <a:t>no1</a:t>
            </a:r>
            <a:r>
              <a:rPr lang="en-US" sz="1800" dirty="0">
                <a:solidFill>
                  <a:srgbClr val="000000"/>
                </a:solidFill>
                <a:effectLst/>
                <a:latin typeface="Cambria" panose="02040503050406030204" charset="0"/>
                <a:ea typeface="Cambria" panose="02040503050406030204" charset="0"/>
              </a:rPr>
              <a:t>-</a:t>
            </a:r>
            <a:r>
              <a:rPr lang="en-US" sz="1800" dirty="0">
                <a:solidFill>
                  <a:srgbClr val="0000C0"/>
                </a:solidFill>
                <a:effectLst/>
                <a:latin typeface="Cambria" panose="02040503050406030204" charset="0"/>
                <a:ea typeface="Cambria" panose="02040503050406030204" charset="0"/>
              </a:rPr>
              <a:t>no2</a:t>
            </a: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err="1">
                <a:solidFill>
                  <a:srgbClr val="000000"/>
                </a:solidFill>
                <a:effectLst/>
                <a:latin typeface="Cambria" panose="02040503050406030204" charset="0"/>
                <a:ea typeface="Cambria" panose="02040503050406030204" charset="0"/>
              </a:rPr>
              <a:t>System.</a:t>
            </a:r>
            <a:r>
              <a:rPr lang="en-US" sz="1800" b="1" i="1" dirty="0" err="1">
                <a:solidFill>
                  <a:srgbClr val="0000C0"/>
                </a:solidFill>
                <a:effectLst/>
                <a:latin typeface="Cambria" panose="02040503050406030204" charset="0"/>
                <a:ea typeface="Cambria" panose="02040503050406030204" charset="0"/>
              </a:rPr>
              <a:t>out</a:t>
            </a:r>
            <a:r>
              <a:rPr lang="en-US" sz="1800" dirty="0" err="1">
                <a:solidFill>
                  <a:srgbClr val="000000"/>
                </a:solidFill>
                <a:effectLst/>
                <a:latin typeface="Cambria" panose="02040503050406030204" charset="0"/>
                <a:ea typeface="Cambria" panose="02040503050406030204" charset="0"/>
              </a:rPr>
              <a:t>.println</a:t>
            </a:r>
            <a:r>
              <a:rPr lang="en-US" sz="1800" dirty="0">
                <a:solidFill>
                  <a:srgbClr val="000000"/>
                </a:solidFill>
                <a:effectLst/>
                <a:latin typeface="Cambria" panose="02040503050406030204" charset="0"/>
                <a:ea typeface="Cambria" panose="02040503050406030204" charset="0"/>
              </a:rPr>
              <a:t>(</a:t>
            </a:r>
            <a:r>
              <a:rPr lang="en-US" sz="1800" dirty="0">
                <a:solidFill>
                  <a:srgbClr val="2A00FF"/>
                </a:solidFill>
                <a:effectLst/>
                <a:latin typeface="Cambria" panose="02040503050406030204" charset="0"/>
                <a:ea typeface="Cambria" panose="02040503050406030204" charset="0"/>
              </a:rPr>
              <a:t>"Toal Sub is:"</a:t>
            </a:r>
            <a:r>
              <a:rPr lang="en-US" sz="1800" dirty="0">
                <a:solidFill>
                  <a:srgbClr val="000000"/>
                </a:solidFill>
                <a:effectLst/>
                <a:latin typeface="Cambria" panose="02040503050406030204" charset="0"/>
                <a:ea typeface="Cambria" panose="02040503050406030204" charset="0"/>
              </a:rPr>
              <a:t>+</a:t>
            </a:r>
            <a:r>
              <a:rPr lang="en-US" sz="1800" dirty="0">
                <a:solidFill>
                  <a:srgbClr val="6A3E3E"/>
                </a:solidFill>
                <a:effectLst/>
                <a:latin typeface="Cambria" panose="02040503050406030204" charset="0"/>
                <a:ea typeface="Cambria" panose="02040503050406030204" charset="0"/>
              </a:rPr>
              <a:t>Sub</a:t>
            </a: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00"/>
                </a:solidFill>
                <a:effectLst/>
                <a:latin typeface="Cambria" panose="02040503050406030204" charset="0"/>
                <a:ea typeface="Cambria" panose="02040503050406030204" charset="0"/>
              </a:rPr>
              <a:t>} }</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class</a:t>
            </a:r>
            <a:r>
              <a:rPr lang="en-US" sz="1800" dirty="0">
                <a:solidFill>
                  <a:srgbClr val="000000"/>
                </a:solidFill>
                <a:effectLst/>
                <a:latin typeface="Cambria" panose="02040503050406030204" charset="0"/>
                <a:ea typeface="Cambria" panose="02040503050406030204" charset="0"/>
              </a:rPr>
              <a:t> Single1{</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public</a:t>
            </a:r>
            <a:r>
              <a:rPr lang="en-US" sz="1800" dirty="0">
                <a:solidFill>
                  <a:srgbClr val="000000"/>
                </a:solidFill>
                <a:effectLst/>
                <a:latin typeface="Cambria" panose="02040503050406030204" charset="0"/>
                <a:ea typeface="Cambria" panose="02040503050406030204" charset="0"/>
              </a:rPr>
              <a:t> </a:t>
            </a:r>
            <a:r>
              <a:rPr lang="en-US" sz="1800" b="1" dirty="0">
                <a:solidFill>
                  <a:srgbClr val="7F0055"/>
                </a:solidFill>
                <a:effectLst/>
                <a:latin typeface="Cambria" panose="02040503050406030204" charset="0"/>
                <a:ea typeface="Cambria" panose="02040503050406030204" charset="0"/>
              </a:rPr>
              <a:t>static</a:t>
            </a:r>
            <a:r>
              <a:rPr lang="en-US" sz="1800" dirty="0">
                <a:solidFill>
                  <a:srgbClr val="000000"/>
                </a:solidFill>
                <a:effectLst/>
                <a:latin typeface="Cambria" panose="02040503050406030204" charset="0"/>
                <a:ea typeface="Cambria" panose="02040503050406030204" charset="0"/>
              </a:rPr>
              <a:t> </a:t>
            </a:r>
            <a:r>
              <a:rPr lang="en-US" sz="1800" b="1" dirty="0">
                <a:solidFill>
                  <a:srgbClr val="7F0055"/>
                </a:solidFill>
                <a:effectLst/>
                <a:latin typeface="Cambria" panose="02040503050406030204" charset="0"/>
                <a:ea typeface="Cambria" panose="02040503050406030204" charset="0"/>
              </a:rPr>
              <a:t>void</a:t>
            </a:r>
            <a:r>
              <a:rPr lang="en-US" sz="1800" dirty="0">
                <a:solidFill>
                  <a:srgbClr val="000000"/>
                </a:solidFill>
                <a:effectLst/>
                <a:latin typeface="Cambria" panose="02040503050406030204" charset="0"/>
                <a:ea typeface="Cambria" panose="02040503050406030204" charset="0"/>
              </a:rPr>
              <a:t> main(String[] </a:t>
            </a:r>
            <a:r>
              <a:rPr lang="en-US" sz="1800" dirty="0">
                <a:solidFill>
                  <a:srgbClr val="6A3E3E"/>
                </a:solidFill>
                <a:effectLst/>
                <a:latin typeface="Cambria" panose="02040503050406030204" charset="0"/>
                <a:ea typeface="Cambria" panose="02040503050406030204" charset="0"/>
              </a:rPr>
              <a:t>args</a:t>
            </a:r>
            <a:r>
              <a:rPr lang="en-US" sz="1800" dirty="0">
                <a:solidFill>
                  <a:srgbClr val="000000"/>
                </a:solidFill>
                <a:effectLst/>
                <a:latin typeface="Cambria" panose="02040503050406030204" charset="0"/>
                <a:ea typeface="Cambria" panose="02040503050406030204" charset="0"/>
              </a:rPr>
              <a:t>) {</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00"/>
                </a:solidFill>
                <a:effectLst/>
                <a:latin typeface="Cambria" panose="02040503050406030204" charset="0"/>
                <a:ea typeface="Cambria" panose="02040503050406030204" charset="0"/>
              </a:rPr>
              <a:t>B </a:t>
            </a:r>
            <a:r>
              <a:rPr lang="en-US" sz="1800" dirty="0">
                <a:solidFill>
                  <a:srgbClr val="6A3E3E"/>
                </a:solidFill>
                <a:effectLst/>
                <a:latin typeface="Cambria" panose="02040503050406030204" charset="0"/>
                <a:ea typeface="Cambria" panose="02040503050406030204" charset="0"/>
              </a:rPr>
              <a:t>b1</a:t>
            </a:r>
            <a:r>
              <a:rPr lang="en-US" sz="1800" dirty="0">
                <a:solidFill>
                  <a:srgbClr val="000000"/>
                </a:solidFill>
                <a:effectLst/>
                <a:latin typeface="Cambria" panose="02040503050406030204" charset="0"/>
                <a:ea typeface="Cambria" panose="02040503050406030204" charset="0"/>
              </a:rPr>
              <a:t> =</a:t>
            </a:r>
            <a:r>
              <a:rPr lang="en-US" sz="1800" b="1" dirty="0">
                <a:solidFill>
                  <a:srgbClr val="7F0055"/>
                </a:solidFill>
                <a:effectLst/>
                <a:latin typeface="Cambria" panose="02040503050406030204" charset="0"/>
                <a:ea typeface="Cambria" panose="02040503050406030204" charset="0"/>
              </a:rPr>
              <a:t>new</a:t>
            </a:r>
            <a:r>
              <a:rPr lang="en-US" sz="1800" dirty="0">
                <a:solidFill>
                  <a:srgbClr val="000000"/>
                </a:solidFill>
                <a:effectLst/>
                <a:latin typeface="Cambria" panose="02040503050406030204" charset="0"/>
                <a:ea typeface="Cambria" panose="02040503050406030204" charset="0"/>
              </a:rPr>
              <a:t> B();</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6A3E3E"/>
                </a:solidFill>
                <a:effectLst/>
                <a:latin typeface="Cambria" panose="02040503050406030204" charset="0"/>
                <a:ea typeface="Cambria" panose="02040503050406030204" charset="0"/>
              </a:rPr>
              <a:t>b1</a:t>
            </a:r>
            <a:r>
              <a:rPr lang="en-US" sz="1800" dirty="0">
                <a:solidFill>
                  <a:srgbClr val="000000"/>
                </a:solidFill>
                <a:effectLst/>
                <a:latin typeface="Cambria" panose="02040503050406030204" charset="0"/>
                <a:ea typeface="Cambria" panose="02040503050406030204" charset="0"/>
              </a:rPr>
              <a:t>.getdata();  </a:t>
            </a:r>
            <a:r>
              <a:rPr lang="en-US" sz="1800" dirty="0">
                <a:solidFill>
                  <a:srgbClr val="6A3E3E"/>
                </a:solidFill>
                <a:effectLst/>
                <a:latin typeface="Cambria" panose="02040503050406030204" charset="0"/>
                <a:ea typeface="Cambria" panose="02040503050406030204" charset="0"/>
              </a:rPr>
              <a:t>b1</a:t>
            </a:r>
            <a:r>
              <a:rPr lang="en-US" sz="1800" dirty="0">
                <a:solidFill>
                  <a:srgbClr val="000000"/>
                </a:solidFill>
                <a:effectLst/>
                <a:latin typeface="Cambria" panose="02040503050406030204" charset="0"/>
                <a:ea typeface="Cambria" panose="02040503050406030204" charset="0"/>
              </a:rPr>
              <a:t>.CalSum();</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00"/>
                </a:solidFill>
                <a:effectLst/>
                <a:latin typeface="Cambria" panose="02040503050406030204" charset="0"/>
                <a:ea typeface="Cambria" panose="02040503050406030204" charset="0"/>
              </a:rPr>
              <a:t>C </a:t>
            </a:r>
            <a:r>
              <a:rPr lang="en-US" sz="1800" dirty="0">
                <a:solidFill>
                  <a:srgbClr val="6A3E3E"/>
                </a:solidFill>
                <a:effectLst/>
                <a:latin typeface="Cambria" panose="02040503050406030204" charset="0"/>
                <a:ea typeface="Cambria" panose="02040503050406030204" charset="0"/>
              </a:rPr>
              <a:t>c1</a:t>
            </a:r>
            <a:r>
              <a:rPr lang="en-US" sz="1800" dirty="0">
                <a:solidFill>
                  <a:srgbClr val="000000"/>
                </a:solidFill>
                <a:effectLst/>
                <a:latin typeface="Cambria" panose="02040503050406030204" charset="0"/>
                <a:ea typeface="Cambria" panose="02040503050406030204" charset="0"/>
              </a:rPr>
              <a:t> =</a:t>
            </a:r>
            <a:r>
              <a:rPr lang="en-US" sz="1800" b="1" dirty="0">
                <a:solidFill>
                  <a:srgbClr val="7F0055"/>
                </a:solidFill>
                <a:effectLst/>
                <a:latin typeface="Cambria" panose="02040503050406030204" charset="0"/>
                <a:ea typeface="Cambria" panose="02040503050406030204" charset="0"/>
              </a:rPr>
              <a:t>new</a:t>
            </a:r>
            <a:r>
              <a:rPr lang="en-US" sz="1800" dirty="0">
                <a:solidFill>
                  <a:srgbClr val="000000"/>
                </a:solidFill>
                <a:effectLst/>
                <a:latin typeface="Cambria" panose="02040503050406030204" charset="0"/>
                <a:ea typeface="Cambria" panose="02040503050406030204" charset="0"/>
              </a:rPr>
              <a:t> C(); </a:t>
            </a:r>
            <a:r>
              <a:rPr lang="en-US" sz="1800" dirty="0">
                <a:solidFill>
                  <a:srgbClr val="6A3E3E"/>
                </a:solidFill>
                <a:effectLst/>
                <a:latin typeface="Cambria" panose="02040503050406030204" charset="0"/>
                <a:ea typeface="Cambria" panose="02040503050406030204" charset="0"/>
              </a:rPr>
              <a:t>c1</a:t>
            </a:r>
            <a:r>
              <a:rPr lang="en-US" sz="1800" dirty="0">
                <a:solidFill>
                  <a:srgbClr val="000000"/>
                </a:solidFill>
                <a:effectLst/>
                <a:latin typeface="Cambria" panose="02040503050406030204" charset="0"/>
                <a:ea typeface="Cambria" panose="02040503050406030204" charset="0"/>
              </a:rPr>
              <a:t>.CalSub();</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00"/>
                </a:solidFill>
                <a:effectLst/>
                <a:latin typeface="Cambria" panose="02040503050406030204" charset="0"/>
                <a:ea typeface="Cambria" panose="02040503050406030204" charset="0"/>
              </a:rPr>
              <a:t>} }</a:t>
            </a:r>
            <a:endParaRPr lang="en-US" sz="1800" dirty="0">
              <a:solidFill>
                <a:srgbClr val="000000"/>
              </a:solidFill>
              <a:effectLst/>
              <a:latin typeface="Cambria" panose="02040503050406030204" charset="0"/>
              <a:ea typeface="Cambria" panose="02040503050406030204" charset="0"/>
            </a:endParaRPr>
          </a:p>
          <a:p>
            <a:pPr marL="0" indent="0">
              <a:buNone/>
            </a:pPr>
            <a:endParaRPr lang="en-US" sz="1800" dirty="0">
              <a:latin typeface="Cambria" panose="02040503050406030204" charset="0"/>
              <a:ea typeface="Cambria" panose="0204050305040603020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29" y="95619"/>
            <a:ext cx="10515600" cy="385646"/>
          </a:xfrm>
        </p:spPr>
        <p:txBody>
          <a:bodyPr>
            <a:normAutofit/>
          </a:bodyPr>
          <a:lstStyle/>
          <a:p>
            <a:r>
              <a:rPr lang="en-US" sz="2000" b="1" dirty="0">
                <a:solidFill>
                  <a:srgbClr val="FF0000"/>
                </a:solidFill>
                <a:latin typeface="Cambria" panose="02040503050406030204" charset="0"/>
                <a:ea typeface="Cambria" panose="02040503050406030204" charset="0"/>
              </a:rPr>
              <a:t>Multilevel Inheritance</a:t>
            </a:r>
            <a:endParaRPr lang="en-US" sz="2000" b="1" dirty="0">
              <a:solidFill>
                <a:srgbClr val="FF0000"/>
              </a:solidFill>
              <a:latin typeface="Cambria" panose="02040503050406030204" charset="0"/>
              <a:ea typeface="Cambria" panose="02040503050406030204" charset="0"/>
            </a:endParaRPr>
          </a:p>
        </p:txBody>
      </p:sp>
      <p:sp>
        <p:nvSpPr>
          <p:cNvPr id="3" name="Content Placeholder 2"/>
          <p:cNvSpPr>
            <a:spLocks noGrp="1"/>
          </p:cNvSpPr>
          <p:nvPr>
            <p:ph idx="1"/>
          </p:nvPr>
        </p:nvSpPr>
        <p:spPr>
          <a:xfrm>
            <a:off x="87429" y="481264"/>
            <a:ext cx="12017142" cy="6376735"/>
          </a:xfrm>
        </p:spPr>
        <p:txBody>
          <a:bodyPr>
            <a:normAutofit/>
          </a:bodyPr>
          <a:lstStyle/>
          <a:p>
            <a:pPr marL="0" indent="0">
              <a:buNone/>
            </a:pPr>
            <a:r>
              <a:rPr lang="en-US" sz="1800" dirty="0">
                <a:latin typeface="Cambria" panose="02040503050406030204" charset="0"/>
                <a:ea typeface="Cambria" panose="02040503050406030204" charset="0"/>
              </a:rPr>
              <a:t>	In Multilevel Inheritance a derived class will be inheriting a parent class and as well as derived class act as the parent class to other class.</a:t>
            </a:r>
            <a:endParaRPr lang="en-US" sz="1800" dirty="0">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a:p>
            <a:pPr marL="0" indent="0">
              <a:buNone/>
            </a:pPr>
            <a:endParaRPr lang="en-US" sz="1800" dirty="0">
              <a:latin typeface="Cambria" panose="02040503050406030204" charset="0"/>
              <a:ea typeface="Cambria" panose="02040503050406030204" charset="0"/>
            </a:endParaRPr>
          </a:p>
          <a:p>
            <a:pPr marL="0" marR="0" indent="0">
              <a:spcBef>
                <a:spcPts val="0"/>
              </a:spcBef>
              <a:spcAft>
                <a:spcPts val="0"/>
              </a:spcAft>
              <a:buNone/>
            </a:pPr>
            <a:endParaRPr lang="en-US" sz="1800" b="1" dirty="0">
              <a:solidFill>
                <a:srgbClr val="7F0055"/>
              </a:solidFill>
              <a:effectLst/>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latin typeface="Cambria" panose="02040503050406030204" charset="0"/>
                <a:ea typeface="Cambria" panose="02040503050406030204" charset="0"/>
              </a:rPr>
              <a:t>Syntax of Multilevel Inheritance</a:t>
            </a:r>
            <a:endParaRPr lang="en-US" sz="1800" b="1" dirty="0">
              <a:solidFill>
                <a:srgbClr val="7F0055"/>
              </a:solidFill>
              <a:latin typeface="Cambria" panose="02040503050406030204" charset="0"/>
              <a:ea typeface="Cambria" panose="02040503050406030204" charset="0"/>
            </a:endParaRPr>
          </a:p>
          <a:p>
            <a:pPr marL="0" marR="0" indent="0">
              <a:spcBef>
                <a:spcPts val="0"/>
              </a:spcBef>
              <a:spcAft>
                <a:spcPts val="0"/>
              </a:spcAft>
              <a:buNone/>
            </a:pPr>
            <a:endParaRPr lang="en-US" sz="1800" b="1" dirty="0">
              <a:solidFill>
                <a:srgbClr val="7F0055"/>
              </a:solidFill>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class</a:t>
            </a:r>
            <a:r>
              <a:rPr lang="en-US" sz="1800" dirty="0">
                <a:solidFill>
                  <a:srgbClr val="000000"/>
                </a:solidFill>
                <a:effectLst/>
                <a:latin typeface="Cambria" panose="02040503050406030204" charset="0"/>
                <a:ea typeface="Cambria" panose="02040503050406030204" charset="0"/>
              </a:rPr>
              <a:t> </a:t>
            </a:r>
            <a:r>
              <a:rPr lang="en-US" sz="1800" u="sng" dirty="0">
                <a:solidFill>
                  <a:srgbClr val="000000"/>
                </a:solidFill>
                <a:effectLst/>
                <a:latin typeface="Cambria" panose="02040503050406030204" charset="0"/>
                <a:ea typeface="Cambria" panose="02040503050406030204" charset="0"/>
              </a:rPr>
              <a:t>A</a:t>
            </a: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class</a:t>
            </a:r>
            <a:r>
              <a:rPr lang="en-US" sz="1800" dirty="0">
                <a:solidFill>
                  <a:srgbClr val="000000"/>
                </a:solidFill>
                <a:effectLst/>
                <a:latin typeface="Cambria" panose="02040503050406030204" charset="0"/>
                <a:ea typeface="Cambria" panose="02040503050406030204" charset="0"/>
              </a:rPr>
              <a:t> </a:t>
            </a:r>
            <a:r>
              <a:rPr lang="en-US" sz="1800" u="sng" dirty="0">
                <a:solidFill>
                  <a:srgbClr val="000000"/>
                </a:solidFill>
                <a:effectLst/>
                <a:latin typeface="Cambria" panose="02040503050406030204" charset="0"/>
                <a:ea typeface="Cambria" panose="02040503050406030204" charset="0"/>
              </a:rPr>
              <a:t>B</a:t>
            </a:r>
            <a:r>
              <a:rPr lang="en-US" sz="1800" dirty="0">
                <a:solidFill>
                  <a:srgbClr val="000000"/>
                </a:solidFill>
                <a:effectLst/>
                <a:latin typeface="Cambria" panose="02040503050406030204" charset="0"/>
                <a:ea typeface="Cambria" panose="02040503050406030204" charset="0"/>
              </a:rPr>
              <a:t> </a:t>
            </a:r>
            <a:r>
              <a:rPr lang="en-US" sz="1800" b="1" dirty="0">
                <a:solidFill>
                  <a:srgbClr val="7F0055"/>
                </a:solidFill>
                <a:effectLst/>
                <a:latin typeface="Cambria" panose="02040503050406030204" charset="0"/>
                <a:ea typeface="Cambria" panose="02040503050406030204" charset="0"/>
              </a:rPr>
              <a:t>extends</a:t>
            </a:r>
            <a:r>
              <a:rPr lang="en-US" sz="1800" dirty="0">
                <a:solidFill>
                  <a:srgbClr val="000000"/>
                </a:solidFill>
                <a:effectLst/>
                <a:latin typeface="Cambria" panose="02040503050406030204" charset="0"/>
                <a:ea typeface="Cambria" panose="02040503050406030204" charset="0"/>
              </a:rPr>
              <a:t> B{</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b="1" dirty="0">
                <a:solidFill>
                  <a:srgbClr val="7F0055"/>
                </a:solidFill>
                <a:effectLst/>
                <a:latin typeface="Cambria" panose="02040503050406030204" charset="0"/>
                <a:ea typeface="Cambria" panose="02040503050406030204" charset="0"/>
              </a:rPr>
              <a:t>class</a:t>
            </a:r>
            <a:r>
              <a:rPr lang="en-US" sz="1800" dirty="0">
                <a:solidFill>
                  <a:srgbClr val="000000"/>
                </a:solidFill>
                <a:effectLst/>
                <a:latin typeface="Cambria" panose="02040503050406030204" charset="0"/>
                <a:ea typeface="Cambria" panose="02040503050406030204" charset="0"/>
              </a:rPr>
              <a:t> </a:t>
            </a:r>
            <a:r>
              <a:rPr lang="en-US" sz="1800" u="sng" dirty="0">
                <a:solidFill>
                  <a:srgbClr val="000000"/>
                </a:solidFill>
                <a:effectLst/>
                <a:latin typeface="Cambria" panose="02040503050406030204" charset="0"/>
                <a:ea typeface="Cambria" panose="02040503050406030204" charset="0"/>
              </a:rPr>
              <a:t>C</a:t>
            </a:r>
            <a:r>
              <a:rPr lang="en-US" sz="1800" dirty="0">
                <a:solidFill>
                  <a:srgbClr val="000000"/>
                </a:solidFill>
                <a:effectLst/>
                <a:latin typeface="Cambria" panose="02040503050406030204" charset="0"/>
                <a:ea typeface="Cambria" panose="02040503050406030204" charset="0"/>
              </a:rPr>
              <a:t> </a:t>
            </a:r>
            <a:r>
              <a:rPr lang="en-US" sz="1800" b="1" dirty="0">
                <a:solidFill>
                  <a:srgbClr val="7F0055"/>
                </a:solidFill>
                <a:effectLst/>
                <a:latin typeface="Cambria" panose="02040503050406030204" charset="0"/>
                <a:ea typeface="Cambria" panose="02040503050406030204" charset="0"/>
              </a:rPr>
              <a:t>extends</a:t>
            </a:r>
            <a:r>
              <a:rPr lang="en-US" sz="1800" dirty="0">
                <a:solidFill>
                  <a:srgbClr val="000000"/>
                </a:solidFill>
                <a:effectLst/>
                <a:latin typeface="Cambria" panose="02040503050406030204" charset="0"/>
                <a:ea typeface="Cambria" panose="02040503050406030204" charset="0"/>
              </a:rPr>
              <a:t> C{</a:t>
            </a:r>
            <a:endParaRPr lang="en-US" sz="18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800" dirty="0">
                <a:solidFill>
                  <a:srgbClr val="000000"/>
                </a:solidFill>
                <a:effectLst/>
                <a:latin typeface="Cambria" panose="02040503050406030204" charset="0"/>
                <a:ea typeface="Cambria" panose="02040503050406030204" charset="0"/>
              </a:rPr>
              <a:t>}</a:t>
            </a:r>
            <a:endParaRPr lang="en-US" sz="1800" dirty="0">
              <a:solidFill>
                <a:srgbClr val="000000"/>
              </a:solidFill>
              <a:effectLst/>
              <a:latin typeface="Cambria" panose="02040503050406030204" charset="0"/>
              <a:ea typeface="Cambria" panose="02040503050406030204" charset="0"/>
            </a:endParaRPr>
          </a:p>
          <a:p>
            <a:endParaRPr lang="en-US" sz="1800" dirty="0">
              <a:latin typeface="Cambria" panose="02040503050406030204" charset="0"/>
              <a:ea typeface="Cambria" panose="02040503050406030204" charset="0"/>
            </a:endParaRPr>
          </a:p>
        </p:txBody>
      </p:sp>
      <p:sp>
        <p:nvSpPr>
          <p:cNvPr id="5" name="Rectangle: Rounded Corners 4"/>
          <p:cNvSpPr/>
          <p:nvPr/>
        </p:nvSpPr>
        <p:spPr>
          <a:xfrm>
            <a:off x="4678018" y="1192696"/>
            <a:ext cx="1789043" cy="6891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Class A</a:t>
            </a:r>
            <a:endParaRPr lang="en-US" dirty="0"/>
          </a:p>
        </p:txBody>
      </p:sp>
      <p:sp>
        <p:nvSpPr>
          <p:cNvPr id="6" name="Rectangle: Rounded Corners 5"/>
          <p:cNvSpPr/>
          <p:nvPr/>
        </p:nvSpPr>
        <p:spPr>
          <a:xfrm>
            <a:off x="4763041" y="2323536"/>
            <a:ext cx="1789043" cy="6891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Class B</a:t>
            </a:r>
            <a:endParaRPr lang="en-US" dirty="0"/>
          </a:p>
        </p:txBody>
      </p:sp>
      <p:sp>
        <p:nvSpPr>
          <p:cNvPr id="7" name="Rectangle: Rounded Corners 6"/>
          <p:cNvSpPr/>
          <p:nvPr/>
        </p:nvSpPr>
        <p:spPr>
          <a:xfrm>
            <a:off x="4763041" y="3398295"/>
            <a:ext cx="1789043" cy="6891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Class C</a:t>
            </a:r>
            <a:endParaRPr lang="en-US" dirty="0"/>
          </a:p>
        </p:txBody>
      </p:sp>
      <p:cxnSp>
        <p:nvCxnSpPr>
          <p:cNvPr id="8" name="Straight Arrow Connector 7"/>
          <p:cNvCxnSpPr/>
          <p:nvPr/>
        </p:nvCxnSpPr>
        <p:spPr>
          <a:xfrm>
            <a:off x="5544732" y="1867417"/>
            <a:ext cx="55614" cy="4561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5601948" y="2942176"/>
            <a:ext cx="55614" cy="4561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179" y="105244"/>
            <a:ext cx="10515600" cy="433772"/>
          </a:xfrm>
        </p:spPr>
        <p:txBody>
          <a:bodyPr>
            <a:normAutofit/>
          </a:bodyPr>
          <a:lstStyle/>
          <a:p>
            <a:r>
              <a:rPr lang="en-US" sz="2400" b="1" dirty="0">
                <a:solidFill>
                  <a:srgbClr val="FF0000"/>
                </a:solidFill>
                <a:latin typeface="Cambria" panose="02040503050406030204" charset="0"/>
                <a:ea typeface="Cambria" panose="02040503050406030204" charset="0"/>
              </a:rPr>
              <a:t>Multilevel Inheritance</a:t>
            </a:r>
            <a:endParaRPr lang="en-US" sz="2400" b="1" dirty="0">
              <a:solidFill>
                <a:srgbClr val="FF0000"/>
              </a:solidFill>
              <a:latin typeface="Cambria" panose="02040503050406030204" charset="0"/>
              <a:ea typeface="Cambria" panose="02040503050406030204" charset="0"/>
            </a:endParaRPr>
          </a:p>
        </p:txBody>
      </p:sp>
      <p:sp>
        <p:nvSpPr>
          <p:cNvPr id="3" name="Content Placeholder 2"/>
          <p:cNvSpPr>
            <a:spLocks noGrp="1"/>
          </p:cNvSpPr>
          <p:nvPr>
            <p:ph idx="1"/>
          </p:nvPr>
        </p:nvSpPr>
        <p:spPr>
          <a:xfrm>
            <a:off x="164432" y="612842"/>
            <a:ext cx="10515600" cy="6245158"/>
          </a:xfrm>
        </p:spPr>
        <p:txBody>
          <a:bodyPr>
            <a:noAutofit/>
          </a:bodyPr>
          <a:lstStyle/>
          <a:p>
            <a:pPr marL="0" marR="0" indent="0">
              <a:spcBef>
                <a:spcPts val="0"/>
              </a:spcBef>
              <a:spcAft>
                <a:spcPts val="0"/>
              </a:spcAft>
              <a:buNone/>
            </a:pPr>
            <a:r>
              <a:rPr lang="en-US" sz="1600" b="1" dirty="0">
                <a:solidFill>
                  <a:srgbClr val="7F0055"/>
                </a:solidFill>
                <a:effectLst/>
                <a:latin typeface="Cambria" panose="02040503050406030204" charset="0"/>
                <a:ea typeface="Cambria" panose="02040503050406030204" charset="0"/>
              </a:rPr>
              <a:t>import</a:t>
            </a:r>
            <a:r>
              <a:rPr lang="en-US" sz="1600" dirty="0">
                <a:solidFill>
                  <a:srgbClr val="000000"/>
                </a:solidFill>
                <a:effectLst/>
                <a:latin typeface="Cambria" panose="02040503050406030204" charset="0"/>
                <a:ea typeface="Cambria" panose="02040503050406030204" charset="0"/>
              </a:rPr>
              <a:t> </a:t>
            </a:r>
            <a:r>
              <a:rPr lang="en-US" sz="1600" dirty="0" err="1">
                <a:solidFill>
                  <a:srgbClr val="000000"/>
                </a:solidFill>
                <a:effectLst/>
                <a:latin typeface="Cambria" panose="02040503050406030204" charset="0"/>
                <a:ea typeface="Cambria" panose="02040503050406030204" charset="0"/>
              </a:rPr>
              <a:t>java.util.Scanner</a:t>
            </a:r>
            <a:r>
              <a:rPr lang="en-US" sz="1600" dirty="0">
                <a:solidFill>
                  <a:srgbClr val="000000"/>
                </a:solidFill>
                <a:effectLst/>
                <a:latin typeface="Cambria" panose="02040503050406030204" charset="0"/>
                <a:ea typeface="Cambria" panose="02040503050406030204" charset="0"/>
              </a:rPr>
              <a:t>;</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b="1" dirty="0">
                <a:solidFill>
                  <a:srgbClr val="7F0055"/>
                </a:solidFill>
                <a:effectLst/>
                <a:latin typeface="Cambria" panose="02040503050406030204" charset="0"/>
                <a:ea typeface="Cambria" panose="02040503050406030204" charset="0"/>
              </a:rPr>
              <a:t>class</a:t>
            </a:r>
            <a:r>
              <a:rPr lang="en-US" sz="1600" dirty="0">
                <a:solidFill>
                  <a:srgbClr val="000000"/>
                </a:solidFill>
                <a:effectLst/>
                <a:latin typeface="Cambria" panose="02040503050406030204" charset="0"/>
                <a:ea typeface="Cambria" panose="02040503050406030204" charset="0"/>
              </a:rPr>
              <a:t> ABC{</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b="1" dirty="0">
                <a:solidFill>
                  <a:srgbClr val="7F0055"/>
                </a:solidFill>
                <a:effectLst/>
                <a:latin typeface="Cambria" panose="02040503050406030204" charset="0"/>
                <a:ea typeface="Cambria" panose="02040503050406030204" charset="0"/>
              </a:rPr>
              <a:t>int</a:t>
            </a:r>
            <a:r>
              <a:rPr lang="en-US" sz="1600" dirty="0">
                <a:solidFill>
                  <a:srgbClr val="000000"/>
                </a:solidFill>
                <a:effectLst/>
                <a:latin typeface="Cambria" panose="02040503050406030204" charset="0"/>
                <a:ea typeface="Cambria" panose="02040503050406030204" charset="0"/>
              </a:rPr>
              <a:t> a;</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b="1" dirty="0">
                <a:solidFill>
                  <a:srgbClr val="7F0055"/>
                </a:solidFill>
                <a:effectLst/>
                <a:latin typeface="Cambria" panose="02040503050406030204" charset="0"/>
                <a:ea typeface="Cambria" panose="02040503050406030204" charset="0"/>
              </a:rPr>
              <a:t>void</a:t>
            </a:r>
            <a:r>
              <a:rPr lang="en-US" sz="1600" dirty="0">
                <a:solidFill>
                  <a:srgbClr val="000000"/>
                </a:solidFill>
                <a:effectLst/>
                <a:latin typeface="Cambria" panose="02040503050406030204" charset="0"/>
                <a:ea typeface="Cambria" panose="02040503050406030204" charset="0"/>
              </a:rPr>
              <a:t> </a:t>
            </a:r>
            <a:r>
              <a:rPr lang="en-US" sz="1600" dirty="0" err="1">
                <a:solidFill>
                  <a:srgbClr val="000000"/>
                </a:solidFill>
                <a:effectLst/>
                <a:latin typeface="Cambria" panose="02040503050406030204" charset="0"/>
                <a:ea typeface="Cambria" panose="02040503050406030204" charset="0"/>
              </a:rPr>
              <a:t>takedata</a:t>
            </a:r>
            <a:r>
              <a:rPr lang="en-US" sz="1600" dirty="0">
                <a:solidFill>
                  <a:srgbClr val="000000"/>
                </a:solidFill>
                <a:effectLst/>
                <a:latin typeface="Cambria" panose="02040503050406030204" charset="0"/>
                <a:ea typeface="Cambria" panose="02040503050406030204" charset="0"/>
              </a:rPr>
              <a:t>() {</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dirty="0">
                <a:solidFill>
                  <a:srgbClr val="000000"/>
                </a:solidFill>
                <a:effectLst/>
                <a:latin typeface="Cambria" panose="02040503050406030204" charset="0"/>
                <a:ea typeface="Cambria" panose="02040503050406030204" charset="0"/>
              </a:rPr>
              <a:t>Scanner </a:t>
            </a:r>
            <a:r>
              <a:rPr lang="en-US" sz="1600" dirty="0" err="1">
                <a:solidFill>
                  <a:srgbClr val="000000"/>
                </a:solidFill>
                <a:effectLst/>
                <a:latin typeface="Cambria" panose="02040503050406030204" charset="0"/>
                <a:ea typeface="Cambria" panose="02040503050406030204" charset="0"/>
              </a:rPr>
              <a:t>sa</a:t>
            </a:r>
            <a:r>
              <a:rPr lang="en-US" sz="1600" dirty="0">
                <a:solidFill>
                  <a:srgbClr val="000000"/>
                </a:solidFill>
                <a:effectLst/>
                <a:latin typeface="Cambria" panose="02040503050406030204" charset="0"/>
                <a:ea typeface="Cambria" panose="02040503050406030204" charset="0"/>
              </a:rPr>
              <a:t>=</a:t>
            </a:r>
            <a:r>
              <a:rPr lang="en-US" sz="1600" b="1" dirty="0">
                <a:solidFill>
                  <a:srgbClr val="7F0055"/>
                </a:solidFill>
                <a:effectLst/>
                <a:latin typeface="Cambria" panose="02040503050406030204" charset="0"/>
                <a:ea typeface="Cambria" panose="02040503050406030204" charset="0"/>
              </a:rPr>
              <a:t>new</a:t>
            </a:r>
            <a:r>
              <a:rPr lang="en-US" sz="1600" dirty="0">
                <a:solidFill>
                  <a:srgbClr val="000000"/>
                </a:solidFill>
                <a:effectLst/>
                <a:latin typeface="Cambria" panose="02040503050406030204" charset="0"/>
                <a:ea typeface="Cambria" panose="02040503050406030204" charset="0"/>
              </a:rPr>
              <a:t> Scanner(System.in);</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dirty="0">
                <a:solidFill>
                  <a:srgbClr val="000000"/>
                </a:solidFill>
                <a:effectLst/>
                <a:latin typeface="Cambria" panose="02040503050406030204" charset="0"/>
                <a:ea typeface="Cambria" panose="02040503050406030204" charset="0"/>
              </a:rPr>
              <a:t>a=</a:t>
            </a:r>
            <a:r>
              <a:rPr lang="en-US" sz="1600" dirty="0" err="1">
                <a:solidFill>
                  <a:srgbClr val="000000"/>
                </a:solidFill>
                <a:effectLst/>
                <a:latin typeface="Cambria" panose="02040503050406030204" charset="0"/>
                <a:ea typeface="Cambria" panose="02040503050406030204" charset="0"/>
              </a:rPr>
              <a:t>sa.nextInt</a:t>
            </a:r>
            <a:r>
              <a:rPr lang="en-US" sz="1600" dirty="0">
                <a:solidFill>
                  <a:srgbClr val="000000"/>
                </a:solidFill>
                <a:effectLst/>
                <a:latin typeface="Cambria" panose="02040503050406030204" charset="0"/>
                <a:ea typeface="Cambria" panose="02040503050406030204" charset="0"/>
              </a:rPr>
              <a:t>();</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dirty="0">
                <a:solidFill>
                  <a:srgbClr val="000000"/>
                </a:solidFill>
                <a:effectLst/>
                <a:latin typeface="Cambria" panose="02040503050406030204" charset="0"/>
                <a:ea typeface="Cambria" panose="02040503050406030204" charset="0"/>
              </a:rPr>
              <a:t>}  }</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b="1" dirty="0">
                <a:solidFill>
                  <a:srgbClr val="7F0055"/>
                </a:solidFill>
                <a:effectLst/>
                <a:latin typeface="Cambria" panose="02040503050406030204" charset="0"/>
                <a:ea typeface="Cambria" panose="02040503050406030204" charset="0"/>
              </a:rPr>
              <a:t>class</a:t>
            </a:r>
            <a:r>
              <a:rPr lang="en-US" sz="1600" dirty="0">
                <a:solidFill>
                  <a:srgbClr val="000000"/>
                </a:solidFill>
                <a:effectLst/>
                <a:latin typeface="Cambria" panose="02040503050406030204" charset="0"/>
                <a:ea typeface="Cambria" panose="02040503050406030204" charset="0"/>
              </a:rPr>
              <a:t> ABC1 </a:t>
            </a:r>
            <a:r>
              <a:rPr lang="en-US" sz="1600" b="1" dirty="0">
                <a:solidFill>
                  <a:srgbClr val="7F0055"/>
                </a:solidFill>
                <a:effectLst/>
                <a:latin typeface="Cambria" panose="02040503050406030204" charset="0"/>
                <a:ea typeface="Cambria" panose="02040503050406030204" charset="0"/>
              </a:rPr>
              <a:t>extends</a:t>
            </a:r>
            <a:r>
              <a:rPr lang="en-US" sz="1600" dirty="0">
                <a:solidFill>
                  <a:srgbClr val="000000"/>
                </a:solidFill>
                <a:effectLst/>
                <a:latin typeface="Cambria" panose="02040503050406030204" charset="0"/>
                <a:ea typeface="Cambria" panose="02040503050406030204" charset="0"/>
              </a:rPr>
              <a:t> ABC{</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b="1" dirty="0">
                <a:solidFill>
                  <a:srgbClr val="7F0055"/>
                </a:solidFill>
                <a:effectLst/>
                <a:latin typeface="Cambria" panose="02040503050406030204" charset="0"/>
                <a:ea typeface="Cambria" panose="02040503050406030204" charset="0"/>
              </a:rPr>
              <a:t>int</a:t>
            </a:r>
            <a:r>
              <a:rPr lang="en-US" sz="1600" dirty="0">
                <a:solidFill>
                  <a:srgbClr val="000000"/>
                </a:solidFill>
                <a:effectLst/>
                <a:latin typeface="Cambria" panose="02040503050406030204" charset="0"/>
                <a:ea typeface="Cambria" panose="02040503050406030204" charset="0"/>
              </a:rPr>
              <a:t> b;</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b="1" dirty="0">
                <a:solidFill>
                  <a:srgbClr val="7F0055"/>
                </a:solidFill>
                <a:effectLst/>
                <a:latin typeface="Cambria" panose="02040503050406030204" charset="0"/>
                <a:ea typeface="Cambria" panose="02040503050406030204" charset="0"/>
              </a:rPr>
              <a:t>void</a:t>
            </a:r>
            <a:r>
              <a:rPr lang="en-US" sz="1600" dirty="0">
                <a:solidFill>
                  <a:srgbClr val="000000"/>
                </a:solidFill>
                <a:effectLst/>
                <a:latin typeface="Cambria" panose="02040503050406030204" charset="0"/>
                <a:ea typeface="Cambria" panose="02040503050406030204" charset="0"/>
              </a:rPr>
              <a:t> square() {</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dirty="0" err="1">
                <a:solidFill>
                  <a:srgbClr val="000000"/>
                </a:solidFill>
                <a:effectLst/>
                <a:latin typeface="Cambria" panose="02040503050406030204" charset="0"/>
                <a:ea typeface="Cambria" panose="02040503050406030204" charset="0"/>
              </a:rPr>
              <a:t>System.out.println</a:t>
            </a:r>
            <a:r>
              <a:rPr lang="en-US" sz="1600" dirty="0">
                <a:solidFill>
                  <a:srgbClr val="000000"/>
                </a:solidFill>
                <a:effectLst/>
                <a:latin typeface="Cambria" panose="02040503050406030204" charset="0"/>
                <a:ea typeface="Cambria" panose="02040503050406030204" charset="0"/>
              </a:rPr>
              <a:t>(</a:t>
            </a:r>
            <a:r>
              <a:rPr lang="en-US" sz="1600" dirty="0">
                <a:solidFill>
                  <a:srgbClr val="2A00FF"/>
                </a:solidFill>
                <a:effectLst/>
                <a:latin typeface="Cambria" panose="02040503050406030204" charset="0"/>
                <a:ea typeface="Cambria" panose="02040503050406030204" charset="0"/>
              </a:rPr>
              <a:t>"The Square is "</a:t>
            </a:r>
            <a:r>
              <a:rPr lang="en-US" sz="1600" dirty="0">
                <a:solidFill>
                  <a:srgbClr val="000000"/>
                </a:solidFill>
                <a:effectLst/>
                <a:latin typeface="Cambria" panose="02040503050406030204" charset="0"/>
                <a:ea typeface="Cambria" panose="02040503050406030204" charset="0"/>
              </a:rPr>
              <a:t>+a*a);</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dirty="0">
                <a:solidFill>
                  <a:srgbClr val="000000"/>
                </a:solidFill>
                <a:effectLst/>
                <a:latin typeface="Cambria" panose="02040503050406030204" charset="0"/>
                <a:ea typeface="Cambria" panose="02040503050406030204" charset="0"/>
              </a:rPr>
              <a:t>} }</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b="1" dirty="0">
                <a:solidFill>
                  <a:srgbClr val="7F0055"/>
                </a:solidFill>
                <a:effectLst/>
                <a:latin typeface="Cambria" panose="02040503050406030204" charset="0"/>
                <a:ea typeface="Cambria" panose="02040503050406030204" charset="0"/>
              </a:rPr>
              <a:t>class</a:t>
            </a:r>
            <a:r>
              <a:rPr lang="en-US" sz="1600" dirty="0">
                <a:solidFill>
                  <a:srgbClr val="000000"/>
                </a:solidFill>
                <a:effectLst/>
                <a:latin typeface="Cambria" panose="02040503050406030204" charset="0"/>
                <a:ea typeface="Cambria" panose="02040503050406030204" charset="0"/>
              </a:rPr>
              <a:t> ABC2 </a:t>
            </a:r>
            <a:r>
              <a:rPr lang="en-US" sz="1600" b="1" dirty="0">
                <a:solidFill>
                  <a:srgbClr val="7F0055"/>
                </a:solidFill>
                <a:effectLst/>
                <a:latin typeface="Cambria" panose="02040503050406030204" charset="0"/>
                <a:ea typeface="Cambria" panose="02040503050406030204" charset="0"/>
              </a:rPr>
              <a:t>extends</a:t>
            </a:r>
            <a:r>
              <a:rPr lang="en-US" sz="1600" dirty="0">
                <a:solidFill>
                  <a:srgbClr val="000000"/>
                </a:solidFill>
                <a:effectLst/>
                <a:latin typeface="Cambria" panose="02040503050406030204" charset="0"/>
                <a:ea typeface="Cambria" panose="02040503050406030204" charset="0"/>
              </a:rPr>
              <a:t> ABC1{</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b="1" dirty="0">
                <a:solidFill>
                  <a:srgbClr val="7F0055"/>
                </a:solidFill>
                <a:effectLst/>
                <a:latin typeface="Cambria" panose="02040503050406030204" charset="0"/>
                <a:ea typeface="Cambria" panose="02040503050406030204" charset="0"/>
              </a:rPr>
              <a:t>void</a:t>
            </a:r>
            <a:r>
              <a:rPr lang="en-US" sz="1600" dirty="0">
                <a:solidFill>
                  <a:srgbClr val="000000"/>
                </a:solidFill>
                <a:effectLst/>
                <a:latin typeface="Cambria" panose="02040503050406030204" charset="0"/>
                <a:ea typeface="Cambria" panose="02040503050406030204" charset="0"/>
              </a:rPr>
              <a:t> cube() {</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dirty="0">
                <a:solidFill>
                  <a:srgbClr val="000000"/>
                </a:solidFill>
                <a:effectLst/>
                <a:latin typeface="Cambria" panose="02040503050406030204" charset="0"/>
                <a:ea typeface="Cambria" panose="02040503050406030204" charset="0"/>
              </a:rPr>
              <a:t>Scanner sb=</a:t>
            </a:r>
            <a:r>
              <a:rPr lang="en-US" sz="1600" b="1" dirty="0">
                <a:solidFill>
                  <a:srgbClr val="7F0055"/>
                </a:solidFill>
                <a:effectLst/>
                <a:latin typeface="Cambria" panose="02040503050406030204" charset="0"/>
                <a:ea typeface="Cambria" panose="02040503050406030204" charset="0"/>
              </a:rPr>
              <a:t>new</a:t>
            </a:r>
            <a:r>
              <a:rPr lang="en-US" sz="1600" dirty="0">
                <a:solidFill>
                  <a:srgbClr val="000000"/>
                </a:solidFill>
                <a:effectLst/>
                <a:latin typeface="Cambria" panose="02040503050406030204" charset="0"/>
                <a:ea typeface="Cambria" panose="02040503050406030204" charset="0"/>
              </a:rPr>
              <a:t> Scanner(System.in);</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dirty="0" err="1">
                <a:solidFill>
                  <a:srgbClr val="000000"/>
                </a:solidFill>
                <a:effectLst/>
                <a:latin typeface="Cambria" panose="02040503050406030204" charset="0"/>
                <a:ea typeface="Cambria" panose="02040503050406030204" charset="0"/>
              </a:rPr>
              <a:t>System.out.println</a:t>
            </a:r>
            <a:r>
              <a:rPr lang="en-US" sz="1600" dirty="0">
                <a:solidFill>
                  <a:srgbClr val="000000"/>
                </a:solidFill>
                <a:effectLst/>
                <a:latin typeface="Cambria" panose="02040503050406030204" charset="0"/>
                <a:ea typeface="Cambria" panose="02040503050406030204" charset="0"/>
              </a:rPr>
              <a:t>(</a:t>
            </a:r>
            <a:r>
              <a:rPr lang="en-US" sz="1600" dirty="0">
                <a:solidFill>
                  <a:srgbClr val="2A00FF"/>
                </a:solidFill>
                <a:effectLst/>
                <a:latin typeface="Cambria" panose="02040503050406030204" charset="0"/>
                <a:ea typeface="Cambria" panose="02040503050406030204" charset="0"/>
              </a:rPr>
              <a:t>"Enter any number:"</a:t>
            </a:r>
            <a:r>
              <a:rPr lang="en-US" sz="1600" dirty="0">
                <a:solidFill>
                  <a:srgbClr val="000000"/>
                </a:solidFill>
                <a:effectLst/>
                <a:latin typeface="Cambria" panose="02040503050406030204" charset="0"/>
                <a:ea typeface="Cambria" panose="02040503050406030204" charset="0"/>
              </a:rPr>
              <a:t>);</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dirty="0">
                <a:solidFill>
                  <a:srgbClr val="000000"/>
                </a:solidFill>
                <a:effectLst/>
                <a:latin typeface="Cambria" panose="02040503050406030204" charset="0"/>
                <a:ea typeface="Cambria" panose="02040503050406030204" charset="0"/>
              </a:rPr>
              <a:t>b=</a:t>
            </a:r>
            <a:r>
              <a:rPr lang="en-US" sz="1600" dirty="0" err="1">
                <a:solidFill>
                  <a:srgbClr val="000000"/>
                </a:solidFill>
                <a:effectLst/>
                <a:latin typeface="Cambria" panose="02040503050406030204" charset="0"/>
                <a:ea typeface="Cambria" panose="02040503050406030204" charset="0"/>
              </a:rPr>
              <a:t>sb.nextInt</a:t>
            </a:r>
            <a:r>
              <a:rPr lang="en-US" sz="1600" dirty="0">
                <a:solidFill>
                  <a:srgbClr val="000000"/>
                </a:solidFill>
                <a:effectLst/>
                <a:latin typeface="Cambria" panose="02040503050406030204" charset="0"/>
                <a:ea typeface="Cambria" panose="02040503050406030204" charset="0"/>
              </a:rPr>
              <a:t>();</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dirty="0" err="1">
                <a:solidFill>
                  <a:srgbClr val="000000"/>
                </a:solidFill>
                <a:effectLst/>
                <a:latin typeface="Cambria" panose="02040503050406030204" charset="0"/>
                <a:ea typeface="Cambria" panose="02040503050406030204" charset="0"/>
              </a:rPr>
              <a:t>System.out.println</a:t>
            </a:r>
            <a:r>
              <a:rPr lang="en-US" sz="1600" dirty="0">
                <a:solidFill>
                  <a:srgbClr val="000000"/>
                </a:solidFill>
                <a:effectLst/>
                <a:latin typeface="Cambria" panose="02040503050406030204" charset="0"/>
                <a:ea typeface="Cambria" panose="02040503050406030204" charset="0"/>
              </a:rPr>
              <a:t>(</a:t>
            </a:r>
            <a:r>
              <a:rPr lang="en-US" sz="1600" dirty="0">
                <a:solidFill>
                  <a:srgbClr val="2A00FF"/>
                </a:solidFill>
                <a:effectLst/>
                <a:latin typeface="Cambria" panose="02040503050406030204" charset="0"/>
                <a:ea typeface="Cambria" panose="02040503050406030204" charset="0"/>
              </a:rPr>
              <a:t>"Cube is:"</a:t>
            </a:r>
            <a:r>
              <a:rPr lang="en-US" sz="1600" dirty="0">
                <a:solidFill>
                  <a:srgbClr val="000000"/>
                </a:solidFill>
                <a:effectLst/>
                <a:latin typeface="Cambria" panose="02040503050406030204" charset="0"/>
                <a:ea typeface="Cambria" panose="02040503050406030204" charset="0"/>
              </a:rPr>
              <a:t>+b*b*b);</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dirty="0">
                <a:solidFill>
                  <a:srgbClr val="000000"/>
                </a:solidFill>
                <a:effectLst/>
                <a:latin typeface="Cambria" panose="02040503050406030204" charset="0"/>
                <a:ea typeface="Cambria" panose="02040503050406030204" charset="0"/>
              </a:rPr>
              <a:t>} }</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b="1" dirty="0">
                <a:solidFill>
                  <a:srgbClr val="7F0055"/>
                </a:solidFill>
                <a:effectLst/>
                <a:latin typeface="Cambria" panose="02040503050406030204" charset="0"/>
                <a:ea typeface="Cambria" panose="02040503050406030204" charset="0"/>
              </a:rPr>
              <a:t>class</a:t>
            </a:r>
            <a:r>
              <a:rPr lang="en-US" sz="1600" dirty="0">
                <a:solidFill>
                  <a:srgbClr val="000000"/>
                </a:solidFill>
                <a:effectLst/>
                <a:latin typeface="Cambria" panose="02040503050406030204" charset="0"/>
                <a:ea typeface="Cambria" panose="02040503050406030204" charset="0"/>
              </a:rPr>
              <a:t> Multilevel {</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b="1" dirty="0">
                <a:solidFill>
                  <a:srgbClr val="7F0055"/>
                </a:solidFill>
                <a:effectLst/>
                <a:latin typeface="Cambria" panose="02040503050406030204" charset="0"/>
                <a:ea typeface="Cambria" panose="02040503050406030204" charset="0"/>
              </a:rPr>
              <a:t>public</a:t>
            </a:r>
            <a:r>
              <a:rPr lang="en-US" sz="1600" dirty="0">
                <a:solidFill>
                  <a:srgbClr val="000000"/>
                </a:solidFill>
                <a:effectLst/>
                <a:latin typeface="Cambria" panose="02040503050406030204" charset="0"/>
                <a:ea typeface="Cambria" panose="02040503050406030204" charset="0"/>
              </a:rPr>
              <a:t> </a:t>
            </a:r>
            <a:r>
              <a:rPr lang="en-US" sz="1600" b="1" dirty="0">
                <a:solidFill>
                  <a:srgbClr val="7F0055"/>
                </a:solidFill>
                <a:effectLst/>
                <a:latin typeface="Cambria" panose="02040503050406030204" charset="0"/>
                <a:ea typeface="Cambria" panose="02040503050406030204" charset="0"/>
              </a:rPr>
              <a:t>static</a:t>
            </a:r>
            <a:r>
              <a:rPr lang="en-US" sz="1600" dirty="0">
                <a:solidFill>
                  <a:srgbClr val="000000"/>
                </a:solidFill>
                <a:effectLst/>
                <a:latin typeface="Cambria" panose="02040503050406030204" charset="0"/>
                <a:ea typeface="Cambria" panose="02040503050406030204" charset="0"/>
              </a:rPr>
              <a:t> </a:t>
            </a:r>
            <a:r>
              <a:rPr lang="en-US" sz="1600" b="1" dirty="0">
                <a:solidFill>
                  <a:srgbClr val="7F0055"/>
                </a:solidFill>
                <a:effectLst/>
                <a:latin typeface="Cambria" panose="02040503050406030204" charset="0"/>
                <a:ea typeface="Cambria" panose="02040503050406030204" charset="0"/>
              </a:rPr>
              <a:t>void</a:t>
            </a:r>
            <a:r>
              <a:rPr lang="en-US" sz="1600" dirty="0">
                <a:solidFill>
                  <a:srgbClr val="000000"/>
                </a:solidFill>
                <a:effectLst/>
                <a:latin typeface="Cambria" panose="02040503050406030204" charset="0"/>
                <a:ea typeface="Cambria" panose="02040503050406030204" charset="0"/>
              </a:rPr>
              <a:t> main(String[] args) {</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dirty="0">
                <a:solidFill>
                  <a:srgbClr val="000000"/>
                </a:solidFill>
                <a:effectLst/>
                <a:latin typeface="Cambria" panose="02040503050406030204" charset="0"/>
                <a:ea typeface="Cambria" panose="02040503050406030204" charset="0"/>
              </a:rPr>
              <a:t>ABC a=</a:t>
            </a:r>
            <a:r>
              <a:rPr lang="en-US" sz="1600" b="1" dirty="0">
                <a:solidFill>
                  <a:srgbClr val="7F0055"/>
                </a:solidFill>
                <a:effectLst/>
                <a:latin typeface="Cambria" panose="02040503050406030204" charset="0"/>
                <a:ea typeface="Cambria" panose="02040503050406030204" charset="0"/>
              </a:rPr>
              <a:t>new</a:t>
            </a:r>
            <a:r>
              <a:rPr lang="en-US" sz="1600" dirty="0">
                <a:solidFill>
                  <a:srgbClr val="000000"/>
                </a:solidFill>
                <a:effectLst/>
                <a:latin typeface="Cambria" panose="02040503050406030204" charset="0"/>
                <a:ea typeface="Cambria" panose="02040503050406030204" charset="0"/>
              </a:rPr>
              <a:t> ABC();</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dirty="0">
                <a:solidFill>
                  <a:srgbClr val="000000"/>
                </a:solidFill>
                <a:effectLst/>
                <a:latin typeface="Cambria" panose="02040503050406030204" charset="0"/>
                <a:ea typeface="Cambria" panose="02040503050406030204" charset="0"/>
              </a:rPr>
              <a:t>ABC1 b=</a:t>
            </a:r>
            <a:r>
              <a:rPr lang="en-US" sz="1600" b="1" dirty="0">
                <a:solidFill>
                  <a:srgbClr val="7F0055"/>
                </a:solidFill>
                <a:effectLst/>
                <a:latin typeface="Cambria" panose="02040503050406030204" charset="0"/>
                <a:ea typeface="Cambria" panose="02040503050406030204" charset="0"/>
              </a:rPr>
              <a:t>new</a:t>
            </a:r>
            <a:r>
              <a:rPr lang="en-US" sz="1600" dirty="0">
                <a:solidFill>
                  <a:srgbClr val="000000"/>
                </a:solidFill>
                <a:effectLst/>
                <a:latin typeface="Cambria" panose="02040503050406030204" charset="0"/>
                <a:ea typeface="Cambria" panose="02040503050406030204" charset="0"/>
              </a:rPr>
              <a:t> ABC1(); </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dirty="0">
                <a:solidFill>
                  <a:srgbClr val="000000"/>
                </a:solidFill>
                <a:effectLst/>
                <a:latin typeface="Cambria" panose="02040503050406030204" charset="0"/>
                <a:ea typeface="Cambria" panose="02040503050406030204" charset="0"/>
              </a:rPr>
              <a:t>ABC2 c=</a:t>
            </a:r>
            <a:r>
              <a:rPr lang="en-US" sz="1600" b="1" dirty="0">
                <a:solidFill>
                  <a:srgbClr val="7F0055"/>
                </a:solidFill>
                <a:effectLst/>
                <a:latin typeface="Cambria" panose="02040503050406030204" charset="0"/>
                <a:ea typeface="Cambria" panose="02040503050406030204" charset="0"/>
              </a:rPr>
              <a:t>new</a:t>
            </a:r>
            <a:r>
              <a:rPr lang="en-US" sz="1600" dirty="0">
                <a:solidFill>
                  <a:srgbClr val="000000"/>
                </a:solidFill>
                <a:effectLst/>
                <a:latin typeface="Cambria" panose="02040503050406030204" charset="0"/>
                <a:ea typeface="Cambria" panose="02040503050406030204" charset="0"/>
              </a:rPr>
              <a:t> ABC2();</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dirty="0" err="1">
                <a:solidFill>
                  <a:srgbClr val="000000"/>
                </a:solidFill>
                <a:effectLst/>
                <a:latin typeface="Cambria" panose="02040503050406030204" charset="0"/>
                <a:ea typeface="Cambria" panose="02040503050406030204" charset="0"/>
              </a:rPr>
              <a:t>a.takedata</a:t>
            </a:r>
            <a:r>
              <a:rPr lang="en-US" sz="1600" dirty="0">
                <a:solidFill>
                  <a:srgbClr val="000000"/>
                </a:solidFill>
                <a:effectLst/>
                <a:latin typeface="Cambria" panose="02040503050406030204" charset="0"/>
                <a:ea typeface="Cambria" panose="02040503050406030204" charset="0"/>
              </a:rPr>
              <a:t>();</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dirty="0" err="1">
                <a:solidFill>
                  <a:srgbClr val="000000"/>
                </a:solidFill>
                <a:effectLst/>
                <a:latin typeface="Cambria" panose="02040503050406030204" charset="0"/>
                <a:ea typeface="Cambria" panose="02040503050406030204" charset="0"/>
              </a:rPr>
              <a:t>b.square</a:t>
            </a:r>
            <a:r>
              <a:rPr lang="en-US" sz="1600" dirty="0">
                <a:solidFill>
                  <a:srgbClr val="000000"/>
                </a:solidFill>
                <a:effectLst/>
                <a:latin typeface="Cambria" panose="02040503050406030204" charset="0"/>
                <a:ea typeface="Cambria" panose="02040503050406030204" charset="0"/>
              </a:rPr>
              <a:t>();</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dirty="0" err="1">
                <a:solidFill>
                  <a:srgbClr val="000000"/>
                </a:solidFill>
                <a:effectLst/>
                <a:latin typeface="Cambria" panose="02040503050406030204" charset="0"/>
                <a:ea typeface="Cambria" panose="02040503050406030204" charset="0"/>
              </a:rPr>
              <a:t>c.cube</a:t>
            </a:r>
            <a:r>
              <a:rPr lang="en-US" sz="1600" dirty="0">
                <a:solidFill>
                  <a:srgbClr val="000000"/>
                </a:solidFill>
                <a:effectLst/>
                <a:latin typeface="Cambria" panose="02040503050406030204" charset="0"/>
                <a:ea typeface="Cambria" panose="02040503050406030204" charset="0"/>
              </a:rPr>
              <a:t>(); </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dirty="0">
                <a:solidFill>
                  <a:srgbClr val="000000"/>
                </a:solidFill>
                <a:effectLst/>
                <a:latin typeface="Cambria" panose="02040503050406030204" charset="0"/>
                <a:ea typeface="Cambria" panose="02040503050406030204" charset="0"/>
              </a:rPr>
              <a:t>}</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r>
              <a:rPr lang="en-US" sz="1600" dirty="0">
                <a:solidFill>
                  <a:srgbClr val="000000"/>
                </a:solidFill>
                <a:effectLst/>
                <a:latin typeface="Cambria" panose="02040503050406030204" charset="0"/>
                <a:ea typeface="Cambria" panose="02040503050406030204" charset="0"/>
              </a:rPr>
              <a:t>}</a:t>
            </a:r>
            <a:endParaRPr lang="en-US" sz="1600" dirty="0">
              <a:solidFill>
                <a:srgbClr val="000000"/>
              </a:solidFill>
              <a:effectLst/>
              <a:latin typeface="Cambria" panose="02040503050406030204" charset="0"/>
              <a:ea typeface="Cambria" panose="02040503050406030204" charset="0"/>
            </a:endParaRPr>
          </a:p>
          <a:p>
            <a:pPr marL="0" marR="0" indent="0">
              <a:spcBef>
                <a:spcPts val="0"/>
              </a:spcBef>
              <a:spcAft>
                <a:spcPts val="0"/>
              </a:spcAft>
              <a:buNone/>
            </a:pPr>
            <a:br>
              <a:rPr lang="en-US" sz="1600" dirty="0">
                <a:solidFill>
                  <a:srgbClr val="000000"/>
                </a:solidFill>
                <a:effectLst/>
                <a:latin typeface="Cambria" panose="02040503050406030204" charset="0"/>
                <a:ea typeface="Cambria" panose="02040503050406030204" charset="0"/>
              </a:rPr>
            </a:br>
            <a:endParaRPr lang="en-US" sz="1600" dirty="0">
              <a:solidFill>
                <a:srgbClr val="000000"/>
              </a:solidFill>
              <a:effectLst/>
              <a:latin typeface="Cambria" panose="02040503050406030204" charset="0"/>
              <a:ea typeface="Cambria" panose="02040503050406030204" charset="0"/>
            </a:endParaRPr>
          </a:p>
          <a:p>
            <a:pPr marL="0" indent="0">
              <a:buNone/>
            </a:pPr>
            <a:endParaRPr lang="en-US" sz="1600" dirty="0">
              <a:latin typeface="Cambria" panose="02040503050406030204" charset="0"/>
              <a:ea typeface="Cambria" panose="0204050305040603020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179" y="76367"/>
            <a:ext cx="10515600" cy="443397"/>
          </a:xfrm>
        </p:spPr>
        <p:txBody>
          <a:bodyPr>
            <a:normAutofit fontScale="90000"/>
          </a:bodyPr>
          <a:lstStyle/>
          <a:p>
            <a:r>
              <a:rPr lang="en-US" sz="2800" b="1" dirty="0">
                <a:solidFill>
                  <a:srgbClr val="FF0000"/>
                </a:solidFill>
                <a:latin typeface="Cambria" panose="02040503050406030204" charset="0"/>
                <a:ea typeface="Cambria" panose="02040503050406030204" charset="0"/>
              </a:rPr>
              <a:t>Why Java Does not Support Multiple Inheritance</a:t>
            </a:r>
            <a:endParaRPr lang="en-US" sz="2800" b="1" dirty="0">
              <a:solidFill>
                <a:srgbClr val="FF0000"/>
              </a:solidFill>
              <a:latin typeface="Cambria" panose="02040503050406030204" charset="0"/>
              <a:ea typeface="Cambria" panose="02040503050406030204" charset="0"/>
            </a:endParaRPr>
          </a:p>
        </p:txBody>
      </p:sp>
      <p:sp>
        <p:nvSpPr>
          <p:cNvPr id="3" name="Content Placeholder 2"/>
          <p:cNvSpPr>
            <a:spLocks noGrp="1"/>
          </p:cNvSpPr>
          <p:nvPr>
            <p:ph idx="1"/>
          </p:nvPr>
        </p:nvSpPr>
        <p:spPr>
          <a:xfrm>
            <a:off x="68179" y="660967"/>
            <a:ext cx="12123821" cy="3054385"/>
          </a:xfrm>
        </p:spPr>
        <p:txBody>
          <a:bodyPr>
            <a:noAutofit/>
          </a:bodyPr>
          <a:lstStyle/>
          <a:p>
            <a:r>
              <a:rPr lang="en-US" sz="1800" dirty="0">
                <a:latin typeface="Cambria" panose="02040503050406030204" charset="0"/>
                <a:ea typeface="Cambria" panose="02040503050406030204" charset="0"/>
              </a:rPr>
              <a:t>Ambiguity means uncertainty or confusion — in programming, it occurs when the compiler cannot decide which method or variable to use because multiple options exist with the same name or signature.</a:t>
            </a:r>
            <a:endParaRPr lang="en-US" sz="1800" dirty="0">
              <a:latin typeface="Cambria" panose="02040503050406030204" charset="0"/>
              <a:ea typeface="Cambria" panose="02040503050406030204" charset="0"/>
            </a:endParaRPr>
          </a:p>
          <a:p>
            <a:r>
              <a:rPr lang="en-US" sz="1800" b="1" dirty="0"/>
              <a:t>Ambiguity</a:t>
            </a:r>
            <a:endParaRPr lang="en-US" sz="1800" dirty="0"/>
          </a:p>
          <a:p>
            <a:r>
              <a:rPr lang="en-US" sz="1800" dirty="0"/>
              <a:t>When a class inherits the same method from multiple classes, the compiler can't decide which one to use</a:t>
            </a:r>
            <a:endParaRPr lang="en-US" sz="1800" dirty="0"/>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latin typeface="Cambria" panose="02040503050406030204" charset="0"/>
                <a:ea typeface="Cambria" panose="02040503050406030204" charset="0"/>
              </a:rPr>
              <a:t>Java avoids multiple inheritance to prevent ambiguity — specifically the "Diamond Problem".</a:t>
            </a:r>
            <a:endParaRPr kumimoji="0" lang="en-US" altLang="en-US" sz="1800" i="0" u="none" strike="noStrike" cap="none" normalizeH="0" baseline="0" dirty="0">
              <a:ln>
                <a:noFill/>
              </a:ln>
              <a:solidFill>
                <a:schemeClr val="tx1"/>
              </a:solidFill>
              <a:effectLst/>
              <a:latin typeface="Cambria" panose="02040503050406030204" charset="0"/>
              <a:ea typeface="Cambria" panose="02040503050406030204" charset="0"/>
            </a:endParaRP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latin typeface="Cambria" panose="02040503050406030204" charset="0"/>
                <a:ea typeface="Cambria" panose="02040503050406030204" charset="0"/>
              </a:rPr>
              <a:t>Multiple inheritance with classes is not allowed in Java because it can lead to confusion when two parent classes have the same method or variable name.</a:t>
            </a:r>
            <a:endParaRPr kumimoji="0" lang="en-US" altLang="en-US" sz="1800" i="0" u="none" strike="noStrike" cap="none" normalizeH="0" baseline="0" dirty="0">
              <a:ln>
                <a:noFill/>
              </a:ln>
              <a:solidFill>
                <a:schemeClr val="tx1"/>
              </a:solidFill>
              <a:effectLst/>
              <a:latin typeface="Cambria" panose="02040503050406030204" charset="0"/>
              <a:ea typeface="Cambria" panose="02040503050406030204" charset="0"/>
            </a:endParaRP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latin typeface="Cambria" panose="02040503050406030204" charset="0"/>
                <a:ea typeface="Cambria" panose="02040503050406030204" charset="0"/>
              </a:rPr>
              <a:t>Java instead supports multiple inheritance using interfaces only (which avoids this issue).</a:t>
            </a:r>
            <a:endParaRPr lang="en-US" sz="1800" dirty="0"/>
          </a:p>
          <a:p>
            <a:endParaRPr lang="en-US" sz="1800" dirty="0"/>
          </a:p>
        </p:txBody>
      </p:sp>
      <p:sp>
        <p:nvSpPr>
          <p:cNvPr id="6" name="TextBox 5"/>
          <p:cNvSpPr txBox="1"/>
          <p:nvPr/>
        </p:nvSpPr>
        <p:spPr>
          <a:xfrm>
            <a:off x="177891" y="3856555"/>
            <a:ext cx="6748914" cy="2585323"/>
          </a:xfrm>
          <a:prstGeom prst="rect">
            <a:avLst/>
          </a:prstGeom>
          <a:noFill/>
        </p:spPr>
        <p:txBody>
          <a:bodyPr wrap="square">
            <a:spAutoFit/>
          </a:bodyPr>
          <a:lstStyle/>
          <a:p>
            <a:r>
              <a:rPr lang="en-US" dirty="0">
                <a:latin typeface="Cambria" panose="02040503050406030204" charset="0"/>
                <a:ea typeface="Cambria" panose="02040503050406030204" charset="0"/>
              </a:rPr>
              <a:t>      A 	             	</a:t>
            </a:r>
            <a:endParaRPr lang="en-US" dirty="0">
              <a:latin typeface="Cambria" panose="02040503050406030204" charset="0"/>
              <a:ea typeface="Cambria" panose="02040503050406030204" charset="0"/>
            </a:endParaRPr>
          </a:p>
          <a:p>
            <a:r>
              <a:rPr lang="en-US" dirty="0">
                <a:latin typeface="Cambria" panose="02040503050406030204" charset="0"/>
                <a:ea typeface="Cambria" panose="02040503050406030204" charset="0"/>
              </a:rPr>
              <a:t>     / \</a:t>
            </a:r>
            <a:endParaRPr lang="en-US" dirty="0">
              <a:latin typeface="Cambria" panose="02040503050406030204" charset="0"/>
              <a:ea typeface="Cambria" panose="02040503050406030204" charset="0"/>
            </a:endParaRPr>
          </a:p>
          <a:p>
            <a:r>
              <a:rPr lang="en-US" dirty="0">
                <a:latin typeface="Cambria" panose="02040503050406030204" charset="0"/>
                <a:ea typeface="Cambria" panose="02040503050406030204" charset="0"/>
              </a:rPr>
              <a:t>    B   C</a:t>
            </a:r>
            <a:endParaRPr lang="en-US" dirty="0">
              <a:latin typeface="Cambria" panose="02040503050406030204" charset="0"/>
              <a:ea typeface="Cambria" panose="02040503050406030204" charset="0"/>
            </a:endParaRPr>
          </a:p>
          <a:p>
            <a:r>
              <a:rPr lang="en-US" dirty="0">
                <a:latin typeface="Cambria" panose="02040503050406030204" charset="0"/>
                <a:ea typeface="Cambria" panose="02040503050406030204" charset="0"/>
              </a:rPr>
              <a:t>     \ /</a:t>
            </a:r>
            <a:endParaRPr lang="en-US" dirty="0">
              <a:latin typeface="Cambria" panose="02040503050406030204" charset="0"/>
              <a:ea typeface="Cambria" panose="02040503050406030204" charset="0"/>
            </a:endParaRPr>
          </a:p>
          <a:p>
            <a:r>
              <a:rPr lang="en-US" dirty="0">
                <a:latin typeface="Cambria" panose="02040503050406030204" charset="0"/>
                <a:ea typeface="Cambria" panose="02040503050406030204" charset="0"/>
              </a:rPr>
              <a:t>      D</a:t>
            </a:r>
            <a:endParaRPr lang="en-US" dirty="0">
              <a:latin typeface="Cambria" panose="02040503050406030204" charset="0"/>
              <a:ea typeface="Cambria" panose="02040503050406030204" charset="0"/>
            </a:endParaRPr>
          </a:p>
          <a:p>
            <a:endParaRPr lang="en-US" dirty="0">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Cambria" panose="02040503050406030204" charset="0"/>
                <a:ea typeface="Cambria" panose="02040503050406030204" charset="0"/>
              </a:rPr>
              <a:t>Class B and C inherit from A.</a:t>
            </a:r>
            <a:endParaRPr kumimoji="0" lang="en-US" altLang="en-US"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Cambria" panose="02040503050406030204" charset="0"/>
                <a:ea typeface="Cambria" panose="02040503050406030204" charset="0"/>
              </a:rPr>
              <a:t>Class D inherits from both B and C.</a:t>
            </a:r>
            <a:endParaRPr kumimoji="0" lang="en-US" altLang="en-US" b="0" i="0" u="none" strike="noStrike" cap="none" normalizeH="0" baseline="0" dirty="0">
              <a:ln>
                <a:noFill/>
              </a:ln>
              <a:solidFill>
                <a:schemeClr val="tx1"/>
              </a:solidFill>
              <a:effectLst/>
              <a:latin typeface="Cambria" panose="02040503050406030204" charset="0"/>
              <a:ea typeface="Cambria"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Cambria" panose="02040503050406030204" charset="0"/>
                <a:ea typeface="Cambria" panose="02040503050406030204" charset="0"/>
              </a:rPr>
              <a:t>What if all have the same method? Which one should D use?</a:t>
            </a:r>
            <a:endParaRPr lang="en-US" dirty="0">
              <a:latin typeface="Cambria" panose="02040503050406030204" charset="0"/>
              <a:ea typeface="Cambria" panose="0204050305040603020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376019"/>
          </a:xfrm>
        </p:spPr>
        <p:txBody>
          <a:bodyPr>
            <a:normAutofit fontScale="90000"/>
          </a:bodyPr>
          <a:lstStyle/>
          <a:p>
            <a:r>
              <a:rPr lang="en-US" sz="2800" b="1" dirty="0">
                <a:solidFill>
                  <a:srgbClr val="FF0000"/>
                </a:solidFill>
                <a:latin typeface="Cambria" panose="02040503050406030204" charset="0"/>
                <a:ea typeface="Cambria" panose="02040503050406030204" charset="0"/>
              </a:rPr>
              <a:t>Problem with Classes (Hypothetical – Not Allowed in Java):</a:t>
            </a:r>
            <a:endParaRPr lang="en-US" sz="2800" b="1" dirty="0">
              <a:solidFill>
                <a:srgbClr val="FF0000"/>
              </a:solidFill>
              <a:latin typeface="Cambria" panose="02040503050406030204" charset="0"/>
              <a:ea typeface="Cambria" panose="02040503050406030204" charset="0"/>
            </a:endParaRPr>
          </a:p>
        </p:txBody>
      </p:sp>
      <p:sp>
        <p:nvSpPr>
          <p:cNvPr id="3" name="Content Placeholder 2"/>
          <p:cNvSpPr>
            <a:spLocks noGrp="1"/>
          </p:cNvSpPr>
          <p:nvPr>
            <p:ph idx="1"/>
          </p:nvPr>
        </p:nvSpPr>
        <p:spPr>
          <a:xfrm>
            <a:off x="0" y="376019"/>
            <a:ext cx="11819021" cy="6313539"/>
          </a:xfrm>
        </p:spPr>
        <p:txBody>
          <a:bodyPr>
            <a:noAutofit/>
          </a:bodyPr>
          <a:lstStyle/>
          <a:p>
            <a:pPr marL="0" indent="0">
              <a:buNone/>
            </a:pPr>
            <a:r>
              <a:rPr lang="en-US" sz="1600" dirty="0">
                <a:latin typeface="Cambria" panose="02040503050406030204" charset="0"/>
                <a:ea typeface="Cambria" panose="02040503050406030204" charset="0"/>
              </a:rPr>
              <a:t>class A {</a:t>
            </a:r>
            <a:endParaRPr lang="en-US" sz="1600" dirty="0">
              <a:latin typeface="Cambria" panose="02040503050406030204" charset="0"/>
              <a:ea typeface="Cambria" panose="02040503050406030204" charset="0"/>
            </a:endParaRPr>
          </a:p>
          <a:p>
            <a:pPr marL="0" indent="0">
              <a:buNone/>
            </a:pPr>
            <a:r>
              <a:rPr lang="en-US" sz="1600" dirty="0">
                <a:latin typeface="Cambria" panose="02040503050406030204" charset="0"/>
                <a:ea typeface="Cambria" panose="02040503050406030204" charset="0"/>
              </a:rPr>
              <a:t>    void show() {</a:t>
            </a:r>
            <a:endParaRPr lang="en-US" sz="1600" dirty="0">
              <a:latin typeface="Cambria" panose="02040503050406030204" charset="0"/>
              <a:ea typeface="Cambria" panose="02040503050406030204" charset="0"/>
            </a:endParaRPr>
          </a:p>
          <a:p>
            <a:pPr marL="0" indent="0">
              <a:buNone/>
            </a:pPr>
            <a:r>
              <a:rPr lang="en-US" sz="1600" dirty="0">
                <a:latin typeface="Cambria" panose="02040503050406030204" charset="0"/>
                <a:ea typeface="Cambria" panose="02040503050406030204" charset="0"/>
              </a:rPr>
              <a:t>        </a:t>
            </a:r>
            <a:r>
              <a:rPr lang="en-US" sz="1600" dirty="0" err="1">
                <a:latin typeface="Cambria" panose="02040503050406030204" charset="0"/>
                <a:ea typeface="Cambria" panose="02040503050406030204" charset="0"/>
              </a:rPr>
              <a:t>System.out.println</a:t>
            </a:r>
            <a:r>
              <a:rPr lang="en-US" sz="1600" dirty="0">
                <a:latin typeface="Cambria" panose="02040503050406030204" charset="0"/>
                <a:ea typeface="Cambria" panose="02040503050406030204" charset="0"/>
              </a:rPr>
              <a:t>("Class A");</a:t>
            </a:r>
            <a:endParaRPr lang="en-US" sz="1600" dirty="0">
              <a:latin typeface="Cambria" panose="02040503050406030204" charset="0"/>
              <a:ea typeface="Cambria" panose="02040503050406030204" charset="0"/>
            </a:endParaRPr>
          </a:p>
          <a:p>
            <a:pPr marL="0" indent="0">
              <a:buNone/>
            </a:pPr>
            <a:r>
              <a:rPr lang="en-US" sz="1600" dirty="0">
                <a:latin typeface="Cambria" panose="02040503050406030204" charset="0"/>
                <a:ea typeface="Cambria" panose="02040503050406030204" charset="0"/>
              </a:rPr>
              <a:t>    }   }</a:t>
            </a:r>
            <a:endParaRPr lang="en-US" sz="1600" dirty="0">
              <a:latin typeface="Cambria" panose="02040503050406030204" charset="0"/>
              <a:ea typeface="Cambria" panose="02040503050406030204" charset="0"/>
            </a:endParaRPr>
          </a:p>
          <a:p>
            <a:pPr marL="0" indent="0">
              <a:buNone/>
            </a:pPr>
            <a:r>
              <a:rPr lang="en-US" sz="1600" dirty="0">
                <a:latin typeface="Cambria" panose="02040503050406030204" charset="0"/>
                <a:ea typeface="Cambria" panose="02040503050406030204" charset="0"/>
              </a:rPr>
              <a:t>class B extends A {</a:t>
            </a:r>
            <a:endParaRPr lang="en-US" sz="1600" dirty="0">
              <a:latin typeface="Cambria" panose="02040503050406030204" charset="0"/>
              <a:ea typeface="Cambria" panose="02040503050406030204" charset="0"/>
            </a:endParaRPr>
          </a:p>
          <a:p>
            <a:pPr marL="0" indent="0">
              <a:buNone/>
            </a:pPr>
            <a:r>
              <a:rPr lang="en-US" sz="1600" dirty="0">
                <a:latin typeface="Cambria" panose="02040503050406030204" charset="0"/>
                <a:ea typeface="Cambria" panose="02040503050406030204" charset="0"/>
              </a:rPr>
              <a:t>    void show() {</a:t>
            </a:r>
            <a:endParaRPr lang="en-US" sz="1600" dirty="0">
              <a:latin typeface="Cambria" panose="02040503050406030204" charset="0"/>
              <a:ea typeface="Cambria" panose="02040503050406030204" charset="0"/>
            </a:endParaRPr>
          </a:p>
          <a:p>
            <a:pPr marL="0" indent="0">
              <a:buNone/>
            </a:pPr>
            <a:r>
              <a:rPr lang="en-US" sz="1600" dirty="0">
                <a:latin typeface="Cambria" panose="02040503050406030204" charset="0"/>
                <a:ea typeface="Cambria" panose="02040503050406030204" charset="0"/>
              </a:rPr>
              <a:t>        </a:t>
            </a:r>
            <a:r>
              <a:rPr lang="en-US" sz="1600" dirty="0" err="1">
                <a:latin typeface="Cambria" panose="02040503050406030204" charset="0"/>
                <a:ea typeface="Cambria" panose="02040503050406030204" charset="0"/>
              </a:rPr>
              <a:t>System.out.println</a:t>
            </a:r>
            <a:r>
              <a:rPr lang="en-US" sz="1600" dirty="0">
                <a:latin typeface="Cambria" panose="02040503050406030204" charset="0"/>
                <a:ea typeface="Cambria" panose="02040503050406030204" charset="0"/>
              </a:rPr>
              <a:t>("Class B");</a:t>
            </a:r>
            <a:endParaRPr lang="en-US" sz="1600" dirty="0">
              <a:latin typeface="Cambria" panose="02040503050406030204" charset="0"/>
              <a:ea typeface="Cambria" panose="02040503050406030204" charset="0"/>
            </a:endParaRPr>
          </a:p>
          <a:p>
            <a:pPr marL="0" indent="0">
              <a:buNone/>
            </a:pPr>
            <a:r>
              <a:rPr lang="en-US" sz="1600" dirty="0">
                <a:latin typeface="Cambria" panose="02040503050406030204" charset="0"/>
                <a:ea typeface="Cambria" panose="02040503050406030204" charset="0"/>
              </a:rPr>
              <a:t>    }  }</a:t>
            </a:r>
            <a:endParaRPr lang="en-US" sz="1600" dirty="0">
              <a:latin typeface="Cambria" panose="02040503050406030204" charset="0"/>
              <a:ea typeface="Cambria" panose="02040503050406030204" charset="0"/>
            </a:endParaRPr>
          </a:p>
          <a:p>
            <a:pPr marL="0" indent="0">
              <a:buNone/>
            </a:pPr>
            <a:r>
              <a:rPr lang="en-US" sz="1600" dirty="0">
                <a:latin typeface="Cambria" panose="02040503050406030204" charset="0"/>
                <a:ea typeface="Cambria" panose="02040503050406030204" charset="0"/>
              </a:rPr>
              <a:t>class C extends A {</a:t>
            </a:r>
            <a:endParaRPr lang="en-US" sz="1600" dirty="0">
              <a:latin typeface="Cambria" panose="02040503050406030204" charset="0"/>
              <a:ea typeface="Cambria" panose="02040503050406030204" charset="0"/>
            </a:endParaRPr>
          </a:p>
          <a:p>
            <a:pPr marL="0" indent="0">
              <a:buNone/>
            </a:pPr>
            <a:r>
              <a:rPr lang="en-US" sz="1600" dirty="0">
                <a:latin typeface="Cambria" panose="02040503050406030204" charset="0"/>
                <a:ea typeface="Cambria" panose="02040503050406030204" charset="0"/>
              </a:rPr>
              <a:t>    void show() {</a:t>
            </a:r>
            <a:endParaRPr lang="en-US" sz="1600" dirty="0">
              <a:latin typeface="Cambria" panose="02040503050406030204" charset="0"/>
              <a:ea typeface="Cambria" panose="02040503050406030204" charset="0"/>
            </a:endParaRPr>
          </a:p>
          <a:p>
            <a:pPr marL="0" indent="0">
              <a:buNone/>
            </a:pPr>
            <a:r>
              <a:rPr lang="en-US" sz="1600" dirty="0">
                <a:latin typeface="Cambria" panose="02040503050406030204" charset="0"/>
                <a:ea typeface="Cambria" panose="02040503050406030204" charset="0"/>
              </a:rPr>
              <a:t>        </a:t>
            </a:r>
            <a:r>
              <a:rPr lang="en-US" sz="1600" dirty="0" err="1">
                <a:latin typeface="Cambria" panose="02040503050406030204" charset="0"/>
                <a:ea typeface="Cambria" panose="02040503050406030204" charset="0"/>
              </a:rPr>
              <a:t>System.out.println</a:t>
            </a:r>
            <a:r>
              <a:rPr lang="en-US" sz="1600" dirty="0">
                <a:latin typeface="Cambria" panose="02040503050406030204" charset="0"/>
                <a:ea typeface="Cambria" panose="02040503050406030204" charset="0"/>
              </a:rPr>
              <a:t>("Class C");</a:t>
            </a:r>
            <a:endParaRPr lang="en-US" sz="1600" dirty="0">
              <a:latin typeface="Cambria" panose="02040503050406030204" charset="0"/>
              <a:ea typeface="Cambria" panose="02040503050406030204" charset="0"/>
            </a:endParaRPr>
          </a:p>
          <a:p>
            <a:pPr marL="0" indent="0">
              <a:buNone/>
            </a:pPr>
            <a:r>
              <a:rPr lang="en-US" sz="1600" dirty="0">
                <a:latin typeface="Cambria" panose="02040503050406030204" charset="0"/>
                <a:ea typeface="Cambria" panose="02040503050406030204" charset="0"/>
              </a:rPr>
              <a:t>    }   }</a:t>
            </a:r>
            <a:endParaRPr lang="en-US" sz="1600" dirty="0">
              <a:latin typeface="Cambria" panose="02040503050406030204" charset="0"/>
              <a:ea typeface="Cambria" panose="02040503050406030204" charset="0"/>
            </a:endParaRPr>
          </a:p>
          <a:p>
            <a:pPr marL="0" indent="0">
              <a:buNone/>
            </a:pPr>
            <a:r>
              <a:rPr lang="en-US" sz="1600" dirty="0">
                <a:latin typeface="Cambria" panose="02040503050406030204" charset="0"/>
                <a:ea typeface="Cambria" panose="02040503050406030204" charset="0"/>
              </a:rPr>
              <a:t>// Java doesn't allow this!</a:t>
            </a:r>
            <a:endParaRPr lang="en-US" sz="1600" dirty="0">
              <a:latin typeface="Cambria" panose="02040503050406030204" charset="0"/>
              <a:ea typeface="Cambria" panose="02040503050406030204" charset="0"/>
            </a:endParaRPr>
          </a:p>
          <a:p>
            <a:pPr marL="0" indent="0">
              <a:buNone/>
            </a:pPr>
            <a:r>
              <a:rPr lang="en-US" sz="1600" dirty="0">
                <a:latin typeface="Cambria" panose="02040503050406030204" charset="0"/>
                <a:ea typeface="Cambria" panose="02040503050406030204" charset="0"/>
              </a:rPr>
              <a:t>class D extends B, C {</a:t>
            </a:r>
            <a:endParaRPr lang="en-US" sz="1600" dirty="0">
              <a:latin typeface="Cambria" panose="02040503050406030204" charset="0"/>
              <a:ea typeface="Cambria" panose="02040503050406030204" charset="0"/>
            </a:endParaRPr>
          </a:p>
          <a:p>
            <a:pPr marL="0" indent="0">
              <a:buNone/>
            </a:pPr>
            <a:r>
              <a:rPr lang="en-US" sz="1600" dirty="0">
                <a:latin typeface="Cambria" panose="02040503050406030204" charset="0"/>
                <a:ea typeface="Cambria" panose="02040503050406030204" charset="0"/>
              </a:rPr>
              <a:t>    public static void main(String[] args) {</a:t>
            </a:r>
            <a:endParaRPr lang="en-US" sz="1600" dirty="0">
              <a:latin typeface="Cambria" panose="02040503050406030204" charset="0"/>
              <a:ea typeface="Cambria" panose="02040503050406030204" charset="0"/>
            </a:endParaRPr>
          </a:p>
          <a:p>
            <a:pPr marL="0" indent="0">
              <a:buNone/>
            </a:pPr>
            <a:r>
              <a:rPr lang="en-US" sz="1600" dirty="0">
                <a:latin typeface="Cambria" panose="02040503050406030204" charset="0"/>
                <a:ea typeface="Cambria" panose="02040503050406030204" charset="0"/>
              </a:rPr>
              <a:t>        D obj = new D();</a:t>
            </a:r>
            <a:endParaRPr lang="en-US" sz="1600" dirty="0">
              <a:latin typeface="Cambria" panose="02040503050406030204" charset="0"/>
              <a:ea typeface="Cambria" panose="02040503050406030204" charset="0"/>
            </a:endParaRPr>
          </a:p>
          <a:p>
            <a:pPr marL="0" indent="0">
              <a:buNone/>
            </a:pPr>
            <a:r>
              <a:rPr lang="en-US" sz="1600" dirty="0">
                <a:latin typeface="Cambria" panose="02040503050406030204" charset="0"/>
                <a:ea typeface="Cambria" panose="02040503050406030204" charset="0"/>
              </a:rPr>
              <a:t>        </a:t>
            </a:r>
            <a:r>
              <a:rPr lang="en-US" sz="1600" dirty="0" err="1">
                <a:latin typeface="Cambria" panose="02040503050406030204" charset="0"/>
                <a:ea typeface="Cambria" panose="02040503050406030204" charset="0"/>
              </a:rPr>
              <a:t>obj.show</a:t>
            </a:r>
            <a:r>
              <a:rPr lang="en-US" sz="1600" dirty="0">
                <a:latin typeface="Cambria" panose="02040503050406030204" charset="0"/>
                <a:ea typeface="Cambria" panose="02040503050406030204" charset="0"/>
              </a:rPr>
              <a:t>(); // ❓ Ambiguity! Which show()?</a:t>
            </a:r>
            <a:endParaRPr lang="en-US" sz="1600" dirty="0">
              <a:latin typeface="Cambria" panose="02040503050406030204" charset="0"/>
              <a:ea typeface="Cambria" panose="02040503050406030204" charset="0"/>
            </a:endParaRPr>
          </a:p>
          <a:p>
            <a:pPr marL="0" indent="0">
              <a:buNone/>
            </a:pPr>
            <a:r>
              <a:rPr lang="en-US" sz="1600" dirty="0">
                <a:latin typeface="Cambria" panose="02040503050406030204" charset="0"/>
                <a:ea typeface="Cambria" panose="02040503050406030204" charset="0"/>
              </a:rPr>
              <a:t>    }   }</a:t>
            </a:r>
            <a:endParaRPr lang="en-US" sz="1600" dirty="0">
              <a:latin typeface="Cambria" panose="02040503050406030204" charset="0"/>
              <a:ea typeface="Cambria" panose="0204050305040603020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227965"/>
          </a:xfrm>
        </p:spPr>
        <p:txBody>
          <a:bodyPr>
            <a:normAutofit fontScale="90000"/>
          </a:bodyPr>
          <a:p>
            <a:pPr algn="ctr"/>
            <a:r>
              <a:rPr lang="en-US" sz="2800" b="1">
                <a:solidFill>
                  <a:srgbClr val="FF0000"/>
                </a:solidFill>
              </a:rPr>
              <a:t>Java Polymorphism</a:t>
            </a:r>
            <a:endParaRPr lang="en-US" sz="2800" b="1">
              <a:solidFill>
                <a:srgbClr val="FF0000"/>
              </a:solidFill>
            </a:endParaRPr>
          </a:p>
        </p:txBody>
      </p:sp>
      <p:sp>
        <p:nvSpPr>
          <p:cNvPr id="3" name="Content Placeholder 2"/>
          <p:cNvSpPr>
            <a:spLocks noGrp="1"/>
          </p:cNvSpPr>
          <p:nvPr>
            <p:ph idx="1"/>
          </p:nvPr>
        </p:nvSpPr>
        <p:spPr>
          <a:xfrm>
            <a:off x="-635" y="227330"/>
            <a:ext cx="12192000" cy="6631305"/>
          </a:xfrm>
        </p:spPr>
        <p:txBody>
          <a:bodyPr>
            <a:noAutofit/>
          </a:bodyPr>
          <a:p>
            <a:r>
              <a:rPr lang="en-US" altLang="en-US" sz="1800"/>
              <a:t>Polymorphism in Java means the ability of one object to behave in different ways based on how it is used. It allows the same method name to perform different tasks depending on the object that calls it.</a:t>
            </a:r>
            <a:endParaRPr lang="en-US" altLang="en-US" sz="1800"/>
          </a:p>
          <a:p>
            <a:endParaRPr lang="en-US" altLang="en-US" sz="1800"/>
          </a:p>
          <a:p>
            <a:r>
              <a:rPr lang="en-US" altLang="en-US" sz="1800"/>
              <a:t>Polymorphism in Java is the ability of an object to take on many forms. It allows one interface to be used for a general class of actions, enabling a single method or object to behave differently based on the context. Polymorphism is achieved through method overloading (compile-time polymorphism) and method overriding (runtime polymorphism).</a:t>
            </a:r>
            <a:endParaRPr lang="en-US" altLang="en-US" sz="1800"/>
          </a:p>
          <a:p>
            <a:endParaRPr lang="en-US" altLang="en-US" sz="1800"/>
          </a:p>
          <a:p>
            <a:r>
              <a:rPr lang="en-US" altLang="en-US" sz="2000" b="1">
                <a:solidFill>
                  <a:srgbClr val="FF0000"/>
                </a:solidFill>
              </a:rPr>
              <a:t>Threre  are two types of polymorphism</a:t>
            </a:r>
            <a:endParaRPr lang="en-US" altLang="en-US" sz="1800"/>
          </a:p>
          <a:p>
            <a:pPr marL="0" indent="0">
              <a:buNone/>
            </a:pPr>
            <a:r>
              <a:rPr lang="en-US" altLang="en-US" sz="1800" b="1">
                <a:sym typeface="+mn-ea"/>
              </a:rPr>
              <a:t>1. Compile-Time Polymorphism (Static Polymorphism)</a:t>
            </a:r>
            <a:endParaRPr lang="en-US" altLang="en-US" sz="1800" b="1"/>
          </a:p>
          <a:p>
            <a:pPr marL="0" indent="0">
              <a:buNone/>
            </a:pPr>
            <a:r>
              <a:rPr lang="en-US" altLang="en-US" sz="1800">
                <a:sym typeface="+mn-ea"/>
              </a:rPr>
              <a:t> Occurs when multiple methods in the same class have the same name but different parameters </a:t>
            </a:r>
            <a:r>
              <a:rPr lang="en-US" altLang="en-US" sz="1800">
                <a:sym typeface="+mn-ea"/>
              </a:rPr>
              <a:t>Also called method overloading.</a:t>
            </a:r>
            <a:endParaRPr lang="en-US" altLang="en-US" sz="1800"/>
          </a:p>
          <a:p>
            <a:pPr marL="0" indent="0">
              <a:buNone/>
            </a:pPr>
            <a:r>
              <a:rPr lang="en-US" altLang="en-US" sz="1800">
                <a:sym typeface="+mn-ea"/>
              </a:rPr>
              <a:t>Decided by the compiler at compile time.</a:t>
            </a:r>
            <a:endParaRPr lang="en-US" altLang="en-US" sz="1800"/>
          </a:p>
          <a:p>
            <a:pPr marL="0" indent="0">
              <a:buNone/>
            </a:pPr>
            <a:endParaRPr lang="en-US" altLang="en-US" sz="1800"/>
          </a:p>
          <a:p>
            <a:pPr marL="0" indent="0">
              <a:buNone/>
            </a:pPr>
            <a:r>
              <a:rPr lang="en-US" altLang="en-US" sz="1800" b="1">
                <a:sym typeface="+mn-ea"/>
              </a:rPr>
              <a:t>2. Runtime Polymorphism (Dynamic Polymorphism)</a:t>
            </a:r>
            <a:endParaRPr lang="en-US" altLang="en-US" sz="1800" b="1"/>
          </a:p>
          <a:p>
            <a:pPr marL="0" indent="0">
              <a:buNone/>
            </a:pPr>
            <a:r>
              <a:rPr lang="en-US" altLang="en-US" sz="1800">
                <a:sym typeface="+mn-ea"/>
              </a:rPr>
              <a:t> Occurs when a subclass provides a specific implementation of a method that is already defined in its superclass.  </a:t>
            </a:r>
            <a:r>
              <a:rPr lang="en-US" altLang="en-US" sz="1800">
                <a:sym typeface="+mn-ea"/>
              </a:rPr>
              <a:t>Also called method overriding.  </a:t>
            </a:r>
            <a:r>
              <a:rPr lang="en-US" altLang="en-US" sz="1800">
                <a:sym typeface="+mn-ea"/>
              </a:rPr>
              <a:t> Decided by the Java Virtual Machine (JVM) at runtime</a:t>
            </a:r>
            <a:endParaRPr lang="en-US" altLang="en-US" sz="1800">
              <a:sym typeface="+mn-ea"/>
            </a:endParaRPr>
          </a:p>
          <a:p>
            <a:pPr marL="0" indent="0">
              <a:buNone/>
            </a:pPr>
            <a:r>
              <a:rPr lang="en-US" altLang="en-US" sz="1800"/>
              <a:t>.</a:t>
            </a:r>
            <a:endParaRPr lang="en-US" altLang="en-US" sz="1800"/>
          </a:p>
          <a:p>
            <a:pPr marL="0" indent="0">
              <a:buNone/>
            </a:pPr>
            <a:r>
              <a:rPr lang="en-US" altLang="en-US" sz="1800" b="1"/>
              <a:t>Why is Polymorphism Useful?</a:t>
            </a:r>
            <a:endParaRPr lang="en-US" altLang="en-US" sz="1800" b="1"/>
          </a:p>
          <a:p>
            <a:pPr marL="0" indent="0">
              <a:buNone/>
            </a:pPr>
            <a:r>
              <a:rPr lang="en-US" altLang="en-US" sz="1800"/>
              <a:t>Makes code more flexible and extensible   ,    Supports code reusability    Helps in implementing interfaces and abstract classes</a:t>
            </a:r>
            <a:endParaRPr lang="en-US" altLang="en-US" sz="1800"/>
          </a:p>
          <a:p>
            <a:pPr marL="0" indent="0">
              <a:buNone/>
            </a:pPr>
            <a:endParaRPr lang="en-US" altLang="en-US" sz="18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22885" y="0"/>
            <a:ext cx="11775440" cy="578485"/>
          </a:xfrm>
        </p:spPr>
        <p:txBody>
          <a:bodyPr/>
          <a:p>
            <a:pPr algn="ctr"/>
            <a:r>
              <a:rPr lang="en-US" sz="2000" b="1">
                <a:solidFill>
                  <a:srgbClr val="FF0000"/>
                </a:solidFill>
              </a:rPr>
              <a:t>Compile Time Polymorphism(Method Overloading)</a:t>
            </a:r>
            <a:endParaRPr lang="en-US" sz="2000" b="1">
              <a:solidFill>
                <a:srgbClr val="FF0000"/>
              </a:solidFill>
            </a:endParaRPr>
          </a:p>
        </p:txBody>
      </p:sp>
      <p:sp>
        <p:nvSpPr>
          <p:cNvPr id="3" name="Content Placeholder 2"/>
          <p:cNvSpPr>
            <a:spLocks noGrp="1"/>
          </p:cNvSpPr>
          <p:nvPr>
            <p:ph idx="1"/>
          </p:nvPr>
        </p:nvSpPr>
        <p:spPr>
          <a:xfrm>
            <a:off x="311785" y="579120"/>
            <a:ext cx="11789410" cy="5598160"/>
          </a:xfrm>
        </p:spPr>
        <p:txBody>
          <a:bodyPr/>
          <a:p>
            <a:r>
              <a:rPr lang="en-US" altLang="en-US" sz="2000"/>
              <a:t>class Calculator {</a:t>
            </a:r>
            <a:endParaRPr lang="en-US" altLang="en-US" sz="2000"/>
          </a:p>
          <a:p>
            <a:r>
              <a:rPr lang="en-US" altLang="en-US" sz="2000"/>
              <a:t>    int add(int a, int b) {</a:t>
            </a:r>
            <a:endParaRPr lang="en-US" altLang="en-US" sz="2000"/>
          </a:p>
          <a:p>
            <a:r>
              <a:rPr lang="en-US" altLang="en-US" sz="2000"/>
              <a:t>        return a + b;</a:t>
            </a:r>
            <a:endParaRPr lang="en-US" altLang="en-US" sz="2000"/>
          </a:p>
          <a:p>
            <a:r>
              <a:rPr lang="en-US" altLang="en-US" sz="2000"/>
              <a:t>    }</a:t>
            </a:r>
            <a:endParaRPr lang="en-US" altLang="en-US" sz="2000"/>
          </a:p>
          <a:p>
            <a:endParaRPr lang="en-US" altLang="en-US" sz="2000"/>
          </a:p>
          <a:p>
            <a:r>
              <a:rPr lang="en-US" altLang="en-US" sz="2000"/>
              <a:t>    double add(double a, double b) {</a:t>
            </a:r>
            <a:endParaRPr lang="en-US" altLang="en-US" sz="2000"/>
          </a:p>
          <a:p>
            <a:r>
              <a:rPr lang="en-US" altLang="en-US" sz="2000"/>
              <a:t>        return a + b;</a:t>
            </a:r>
            <a:endParaRPr lang="en-US" altLang="en-US" sz="2000"/>
          </a:p>
          <a:p>
            <a:r>
              <a:rPr lang="en-US" altLang="en-US" sz="2000"/>
              <a:t>    }</a:t>
            </a:r>
            <a:endParaRPr lang="en-US" altLang="en-US" sz="2000"/>
          </a:p>
          <a:p>
            <a:r>
              <a:rPr lang="en-US" altLang="en-US" sz="2000"/>
              <a:t>}</a:t>
            </a:r>
            <a:endParaRPr lang="en-US" altLang="en-US" sz="2000"/>
          </a:p>
          <a:p>
            <a:endParaRPr lang="en-US" altLang="en-US" sz="2000"/>
          </a:p>
        </p:txBody>
      </p:sp>
      <p:sp>
        <p:nvSpPr>
          <p:cNvPr id="4" name="Text Box 3"/>
          <p:cNvSpPr txBox="1"/>
          <p:nvPr/>
        </p:nvSpPr>
        <p:spPr>
          <a:xfrm>
            <a:off x="3843020" y="236855"/>
            <a:ext cx="7762240" cy="6466205"/>
          </a:xfrm>
          <a:prstGeom prst="rect">
            <a:avLst/>
          </a:prstGeom>
        </p:spPr>
        <p:txBody>
          <a:bodyPr wrap="square">
            <a:noAutofit/>
          </a:bodyPr>
          <a:p>
            <a:r>
              <a:rPr sz="1600">
                <a:solidFill>
                  <a:srgbClr val="808080"/>
                </a:solidFill>
                <a:latin typeface="Consolas" panose="020B0609020204030204"/>
                <a:ea typeface="Consolas" panose="020B0609020204030204"/>
              </a:rPr>
              <a:t>//method overloading</a:t>
            </a:r>
            <a:endParaRPr sz="1600">
              <a:solidFill>
                <a:srgbClr val="808080"/>
              </a:solidFill>
              <a:latin typeface="Consolas" panose="020B0609020204030204"/>
              <a:ea typeface="Consolas" panose="020B0609020204030204"/>
            </a:endParaRPr>
          </a:p>
          <a:p>
            <a:r>
              <a:rPr sz="1600">
                <a:solidFill>
                  <a:srgbClr val="CC6C1D"/>
                </a:solidFill>
                <a:latin typeface="Consolas" panose="020B0609020204030204"/>
                <a:ea typeface="Consolas" panose="020B0609020204030204"/>
              </a:rPr>
              <a:t>class</a:t>
            </a:r>
            <a:r>
              <a:rPr sz="1600">
                <a:solidFill>
                  <a:srgbClr val="1290C3"/>
                </a:solidFill>
                <a:latin typeface="Consolas" panose="020B0609020204030204"/>
                <a:ea typeface="Consolas" panose="020B0609020204030204"/>
              </a:rPr>
              <a:t>Parent</a:t>
            </a:r>
            <a:r>
              <a:rPr sz="1600">
                <a:solidFill>
                  <a:srgbClr val="F9FAF4"/>
                </a:solidFill>
                <a:latin typeface="Consolas" panose="020B0609020204030204"/>
                <a:ea typeface="Consolas" panose="020B0609020204030204"/>
              </a:rPr>
              <a:t>{</a:t>
            </a:r>
            <a:endParaRPr sz="1600">
              <a:solidFill>
                <a:srgbClr val="F9FAF4"/>
              </a:solidFill>
              <a:latin typeface="Consolas" panose="020B0609020204030204"/>
              <a:ea typeface="Consolas" panose="020B0609020204030204"/>
            </a:endParaRPr>
          </a:p>
          <a:p>
            <a:r>
              <a:rPr sz="1600">
                <a:solidFill>
                  <a:srgbClr val="CC6C1D"/>
                </a:solidFill>
                <a:latin typeface="Consolas" panose="020B0609020204030204"/>
                <a:ea typeface="Consolas" panose="020B0609020204030204"/>
              </a:rPr>
              <a:t>void</a:t>
            </a:r>
            <a:r>
              <a:rPr sz="1600">
                <a:solidFill>
                  <a:srgbClr val="1EB540"/>
                </a:solidFill>
                <a:latin typeface="Consolas" panose="020B0609020204030204"/>
                <a:ea typeface="Consolas" panose="020B0609020204030204"/>
              </a:rPr>
              <a:t>Sd</a:t>
            </a:r>
            <a:r>
              <a:rPr sz="1600">
                <a:solidFill>
                  <a:srgbClr val="F9FAF4"/>
                </a:solidFill>
                <a:latin typeface="Consolas" panose="020B0609020204030204"/>
                <a:ea typeface="Consolas" panose="020B0609020204030204"/>
              </a:rPr>
              <a:t>(){</a:t>
            </a:r>
            <a:endParaRPr sz="1600">
              <a:solidFill>
                <a:srgbClr val="F9FAF4"/>
              </a:solidFill>
              <a:latin typeface="Consolas" panose="020B0609020204030204"/>
              <a:ea typeface="Consolas" panose="020B0609020204030204"/>
            </a:endParaRPr>
          </a:p>
          <a:p>
            <a:r>
              <a:rPr sz="1600">
                <a:solidFill>
                  <a:srgbClr val="1290C3"/>
                </a:solidFill>
                <a:latin typeface="Consolas" panose="020B0609020204030204"/>
                <a:ea typeface="Consolas" panose="020B0609020204030204"/>
              </a:rPr>
              <a:t>System</a:t>
            </a:r>
            <a:r>
              <a:rPr sz="1600">
                <a:solidFill>
                  <a:srgbClr val="E6E6FA"/>
                </a:solidFill>
                <a:latin typeface="Consolas" panose="020B0609020204030204"/>
                <a:ea typeface="Consolas" panose="020B0609020204030204"/>
              </a:rPr>
              <a:t>.</a:t>
            </a:r>
            <a:r>
              <a:rPr sz="1600" b="1" i="1">
                <a:solidFill>
                  <a:srgbClr val="8DDAF8"/>
                </a:solidFill>
                <a:latin typeface="Consolas" panose="020B0609020204030204"/>
                <a:ea typeface="Consolas" panose="020B0609020204030204"/>
              </a:rPr>
              <a:t>out</a:t>
            </a:r>
            <a:r>
              <a:rPr sz="1600">
                <a:solidFill>
                  <a:srgbClr val="E6E6FA"/>
                </a:solidFill>
                <a:latin typeface="Consolas" panose="020B0609020204030204"/>
                <a:ea typeface="Consolas" panose="020B0609020204030204"/>
              </a:rPr>
              <a:t>.</a:t>
            </a:r>
            <a:r>
              <a:rPr sz="1600">
                <a:solidFill>
                  <a:srgbClr val="A7EC21"/>
                </a:solidFill>
                <a:latin typeface="Consolas" panose="020B0609020204030204"/>
                <a:ea typeface="Consolas" panose="020B0609020204030204"/>
              </a:rPr>
              <a:t>println</a:t>
            </a:r>
            <a:r>
              <a:rPr sz="1600">
                <a:solidFill>
                  <a:srgbClr val="F9FAF4"/>
                </a:solidFill>
                <a:latin typeface="Consolas" panose="020B0609020204030204"/>
                <a:ea typeface="Consolas" panose="020B0609020204030204"/>
              </a:rPr>
              <a:t>(</a:t>
            </a:r>
            <a:r>
              <a:rPr sz="1600">
                <a:solidFill>
                  <a:srgbClr val="17C6A3"/>
                </a:solidFill>
                <a:latin typeface="Consolas" panose="020B0609020204030204"/>
                <a:ea typeface="Consolas" panose="020B0609020204030204"/>
              </a:rPr>
              <a:t>"This is software Developemnt"</a:t>
            </a:r>
            <a:r>
              <a:rPr sz="1600">
                <a:solidFill>
                  <a:srgbClr val="F9FAF4"/>
                </a:solidFill>
                <a:latin typeface="Consolas" panose="020B0609020204030204"/>
                <a:ea typeface="Consolas" panose="020B0609020204030204"/>
              </a:rPr>
              <a:t>)</a:t>
            </a:r>
            <a:r>
              <a:rPr sz="1600">
                <a:solidFill>
                  <a:srgbClr val="E6E6FA"/>
                </a:solidFill>
                <a:latin typeface="Consolas" panose="020B0609020204030204"/>
                <a:ea typeface="Consolas" panose="020B0609020204030204"/>
              </a:rPr>
              <a:t>;</a:t>
            </a:r>
            <a:endParaRPr sz="1600">
              <a:solidFill>
                <a:srgbClr val="E6E6FA"/>
              </a:solidFill>
              <a:latin typeface="Consolas" panose="020B0609020204030204"/>
              <a:ea typeface="Consolas" panose="020B0609020204030204"/>
            </a:endParaRPr>
          </a:p>
          <a:p>
            <a:r>
              <a:rPr sz="1600">
                <a:solidFill>
                  <a:srgbClr val="F9FAF4"/>
                </a:solidFill>
                <a:latin typeface="Consolas" panose="020B0609020204030204"/>
                <a:ea typeface="Consolas" panose="020B0609020204030204"/>
              </a:rPr>
              <a:t>}</a:t>
            </a:r>
            <a:endParaRPr sz="1600">
              <a:solidFill>
                <a:srgbClr val="F9FAF4"/>
              </a:solidFill>
              <a:latin typeface="Consolas" panose="020B0609020204030204"/>
              <a:ea typeface="Consolas" panose="020B0609020204030204"/>
            </a:endParaRPr>
          </a:p>
          <a:p>
            <a:r>
              <a:rPr sz="1600">
                <a:solidFill>
                  <a:srgbClr val="CC6C1D"/>
                </a:solidFill>
                <a:latin typeface="Consolas" panose="020B0609020204030204"/>
                <a:ea typeface="Consolas" panose="020B0609020204030204"/>
              </a:rPr>
              <a:t>void</a:t>
            </a:r>
            <a:r>
              <a:rPr sz="1600">
                <a:solidFill>
                  <a:srgbClr val="1EB540"/>
                </a:solidFill>
                <a:latin typeface="Consolas" panose="020B0609020204030204"/>
                <a:ea typeface="Consolas" panose="020B0609020204030204"/>
              </a:rPr>
              <a:t>Sd</a:t>
            </a:r>
            <a:r>
              <a:rPr sz="1600">
                <a:solidFill>
                  <a:srgbClr val="F9FAF4"/>
                </a:solidFill>
                <a:latin typeface="Consolas" panose="020B0609020204030204"/>
                <a:ea typeface="Consolas" panose="020B0609020204030204"/>
              </a:rPr>
              <a:t>(</a:t>
            </a:r>
            <a:r>
              <a:rPr sz="1600">
                <a:solidFill>
                  <a:srgbClr val="CC6C1D"/>
                </a:solidFill>
                <a:latin typeface="Consolas" panose="020B0609020204030204"/>
                <a:ea typeface="Consolas" panose="020B0609020204030204"/>
              </a:rPr>
              <a:t>int</a:t>
            </a:r>
            <a:r>
              <a:rPr sz="1600">
                <a:solidFill>
                  <a:srgbClr val="79ABFF"/>
                </a:solidFill>
                <a:latin typeface="Consolas" panose="020B0609020204030204"/>
                <a:ea typeface="Consolas" panose="020B0609020204030204"/>
              </a:rPr>
              <a:t>a</a:t>
            </a:r>
            <a:r>
              <a:rPr sz="1600">
                <a:solidFill>
                  <a:srgbClr val="F9FAF4"/>
                </a:solidFill>
                <a:latin typeface="Consolas" panose="020B0609020204030204"/>
                <a:ea typeface="Consolas" panose="020B0609020204030204"/>
              </a:rPr>
              <a:t>){</a:t>
            </a:r>
            <a:endParaRPr sz="1600">
              <a:solidFill>
                <a:srgbClr val="F9FAF4"/>
              </a:solidFill>
              <a:latin typeface="Consolas" panose="020B0609020204030204"/>
              <a:ea typeface="Consolas" panose="020B0609020204030204"/>
            </a:endParaRPr>
          </a:p>
          <a:p>
            <a:r>
              <a:rPr sz="1600">
                <a:solidFill>
                  <a:srgbClr val="1290C3"/>
                </a:solidFill>
                <a:latin typeface="Consolas" panose="020B0609020204030204"/>
                <a:ea typeface="Consolas" panose="020B0609020204030204"/>
              </a:rPr>
              <a:t>System</a:t>
            </a:r>
            <a:r>
              <a:rPr sz="1600">
                <a:solidFill>
                  <a:srgbClr val="E6E6FA"/>
                </a:solidFill>
                <a:latin typeface="Consolas" panose="020B0609020204030204"/>
                <a:ea typeface="Consolas" panose="020B0609020204030204"/>
              </a:rPr>
              <a:t>.</a:t>
            </a:r>
            <a:r>
              <a:rPr sz="1600" b="1" i="1">
                <a:solidFill>
                  <a:srgbClr val="8DDAF8"/>
                </a:solidFill>
                <a:latin typeface="Consolas" panose="020B0609020204030204"/>
                <a:ea typeface="Consolas" panose="020B0609020204030204"/>
              </a:rPr>
              <a:t>out</a:t>
            </a:r>
            <a:r>
              <a:rPr sz="1600">
                <a:solidFill>
                  <a:srgbClr val="E6E6FA"/>
                </a:solidFill>
                <a:latin typeface="Consolas" panose="020B0609020204030204"/>
                <a:ea typeface="Consolas" panose="020B0609020204030204"/>
              </a:rPr>
              <a:t>.</a:t>
            </a:r>
            <a:r>
              <a:rPr sz="1600">
                <a:solidFill>
                  <a:srgbClr val="A7EC21"/>
                </a:solidFill>
                <a:latin typeface="Consolas" panose="020B0609020204030204"/>
                <a:ea typeface="Consolas" panose="020B0609020204030204"/>
              </a:rPr>
              <a:t>println</a:t>
            </a:r>
            <a:r>
              <a:rPr sz="1600">
                <a:solidFill>
                  <a:srgbClr val="F9FAF4"/>
                </a:solidFill>
                <a:latin typeface="Consolas" panose="020B0609020204030204"/>
                <a:ea typeface="Consolas" panose="020B0609020204030204"/>
              </a:rPr>
              <a:t>(</a:t>
            </a:r>
            <a:r>
              <a:rPr sz="1600">
                <a:solidFill>
                  <a:srgbClr val="79ABFF"/>
                </a:solidFill>
                <a:latin typeface="Consolas" panose="020B0609020204030204"/>
                <a:ea typeface="Consolas" panose="020B0609020204030204"/>
              </a:rPr>
              <a:t>a</a:t>
            </a:r>
            <a:r>
              <a:rPr sz="1600">
                <a:solidFill>
                  <a:srgbClr val="E6E6FA"/>
                </a:solidFill>
                <a:latin typeface="Consolas" panose="020B0609020204030204"/>
                <a:ea typeface="Consolas" panose="020B0609020204030204"/>
              </a:rPr>
              <a:t>*</a:t>
            </a:r>
            <a:r>
              <a:rPr sz="1600">
                <a:solidFill>
                  <a:srgbClr val="79ABFF"/>
                </a:solidFill>
                <a:latin typeface="Consolas" panose="020B0609020204030204"/>
                <a:ea typeface="Consolas" panose="020B0609020204030204"/>
              </a:rPr>
              <a:t>a</a:t>
            </a:r>
            <a:r>
              <a:rPr sz="1600">
                <a:solidFill>
                  <a:srgbClr val="F9FAF4"/>
                </a:solidFill>
                <a:latin typeface="Consolas" panose="020B0609020204030204"/>
                <a:ea typeface="Consolas" panose="020B0609020204030204"/>
              </a:rPr>
              <a:t>)</a:t>
            </a:r>
            <a:r>
              <a:rPr sz="1600">
                <a:solidFill>
                  <a:srgbClr val="E6E6FA"/>
                </a:solidFill>
                <a:latin typeface="Consolas" panose="020B0609020204030204"/>
                <a:ea typeface="Consolas" panose="020B0609020204030204"/>
              </a:rPr>
              <a:t>;</a:t>
            </a:r>
            <a:endParaRPr sz="1600">
              <a:solidFill>
                <a:srgbClr val="E6E6FA"/>
              </a:solidFill>
              <a:latin typeface="Consolas" panose="020B0609020204030204"/>
              <a:ea typeface="Consolas" panose="020B0609020204030204"/>
            </a:endParaRPr>
          </a:p>
          <a:p>
            <a:r>
              <a:rPr sz="1600">
                <a:solidFill>
                  <a:srgbClr val="F9FAF4"/>
                </a:solidFill>
                <a:latin typeface="Consolas" panose="020B0609020204030204"/>
                <a:ea typeface="Consolas" panose="020B0609020204030204"/>
              </a:rPr>
              <a:t>}</a:t>
            </a:r>
            <a:endParaRPr sz="1600">
              <a:solidFill>
                <a:srgbClr val="F9FAF4"/>
              </a:solidFill>
              <a:latin typeface="Consolas" panose="020B0609020204030204"/>
              <a:ea typeface="Consolas" panose="020B0609020204030204"/>
            </a:endParaRPr>
          </a:p>
          <a:p>
            <a:r>
              <a:rPr sz="1600">
                <a:solidFill>
                  <a:srgbClr val="CC6C1D"/>
                </a:solidFill>
                <a:latin typeface="Consolas" panose="020B0609020204030204"/>
                <a:ea typeface="Consolas" panose="020B0609020204030204"/>
              </a:rPr>
              <a:t>void</a:t>
            </a:r>
            <a:r>
              <a:rPr sz="1600">
                <a:solidFill>
                  <a:srgbClr val="1EB540"/>
                </a:solidFill>
                <a:latin typeface="Consolas" panose="020B0609020204030204"/>
                <a:ea typeface="Consolas" panose="020B0609020204030204"/>
              </a:rPr>
              <a:t>Sd</a:t>
            </a:r>
            <a:r>
              <a:rPr sz="1600">
                <a:solidFill>
                  <a:srgbClr val="F9FAF4"/>
                </a:solidFill>
                <a:latin typeface="Consolas" panose="020B0609020204030204"/>
                <a:ea typeface="Consolas" panose="020B0609020204030204"/>
              </a:rPr>
              <a:t>(</a:t>
            </a:r>
            <a:r>
              <a:rPr sz="1600">
                <a:solidFill>
                  <a:srgbClr val="CC6C1D"/>
                </a:solidFill>
                <a:latin typeface="Consolas" panose="020B0609020204030204"/>
                <a:ea typeface="Consolas" panose="020B0609020204030204"/>
              </a:rPr>
              <a:t>int</a:t>
            </a:r>
            <a:r>
              <a:rPr sz="1600">
                <a:solidFill>
                  <a:srgbClr val="79ABFF"/>
                </a:solidFill>
                <a:latin typeface="Consolas" panose="020B0609020204030204"/>
                <a:ea typeface="Consolas" panose="020B0609020204030204"/>
              </a:rPr>
              <a:t>s</a:t>
            </a:r>
            <a:r>
              <a:rPr sz="1600">
                <a:solidFill>
                  <a:srgbClr val="E6E6FA"/>
                </a:solidFill>
                <a:latin typeface="Consolas" panose="020B0609020204030204"/>
                <a:ea typeface="Consolas" panose="020B0609020204030204"/>
              </a:rPr>
              <a:t>,</a:t>
            </a:r>
            <a:r>
              <a:rPr sz="1600">
                <a:solidFill>
                  <a:srgbClr val="CC6C1D"/>
                </a:solidFill>
                <a:latin typeface="Consolas" panose="020B0609020204030204"/>
                <a:ea typeface="Consolas" panose="020B0609020204030204"/>
              </a:rPr>
              <a:t>int</a:t>
            </a:r>
            <a:r>
              <a:rPr sz="1600">
                <a:solidFill>
                  <a:srgbClr val="79ABFF"/>
                </a:solidFill>
                <a:latin typeface="Consolas" panose="020B0609020204030204"/>
                <a:ea typeface="Consolas" panose="020B0609020204030204"/>
              </a:rPr>
              <a:t>p</a:t>
            </a:r>
            <a:r>
              <a:rPr sz="1600">
                <a:solidFill>
                  <a:srgbClr val="F9FAF4"/>
                </a:solidFill>
                <a:latin typeface="Consolas" panose="020B0609020204030204"/>
                <a:ea typeface="Consolas" panose="020B0609020204030204"/>
              </a:rPr>
              <a:t>){</a:t>
            </a:r>
            <a:endParaRPr sz="1600">
              <a:solidFill>
                <a:srgbClr val="F9FAF4"/>
              </a:solidFill>
              <a:latin typeface="Consolas" panose="020B0609020204030204"/>
              <a:ea typeface="Consolas" panose="020B0609020204030204"/>
            </a:endParaRPr>
          </a:p>
          <a:p>
            <a:r>
              <a:rPr sz="1600">
                <a:solidFill>
                  <a:srgbClr val="1290C3"/>
                </a:solidFill>
                <a:latin typeface="Consolas" panose="020B0609020204030204"/>
                <a:ea typeface="Consolas" panose="020B0609020204030204"/>
              </a:rPr>
              <a:t>System</a:t>
            </a:r>
            <a:r>
              <a:rPr sz="1600">
                <a:solidFill>
                  <a:srgbClr val="E6E6FA"/>
                </a:solidFill>
                <a:latin typeface="Consolas" panose="020B0609020204030204"/>
                <a:ea typeface="Consolas" panose="020B0609020204030204"/>
              </a:rPr>
              <a:t>.</a:t>
            </a:r>
            <a:r>
              <a:rPr sz="1600" b="1" i="1">
                <a:solidFill>
                  <a:srgbClr val="8DDAF8"/>
                </a:solidFill>
                <a:latin typeface="Consolas" panose="020B0609020204030204"/>
                <a:ea typeface="Consolas" panose="020B0609020204030204"/>
              </a:rPr>
              <a:t>out</a:t>
            </a:r>
            <a:r>
              <a:rPr sz="1600">
                <a:solidFill>
                  <a:srgbClr val="E6E6FA"/>
                </a:solidFill>
                <a:latin typeface="Consolas" panose="020B0609020204030204"/>
                <a:ea typeface="Consolas" panose="020B0609020204030204"/>
              </a:rPr>
              <a:t>.</a:t>
            </a:r>
            <a:r>
              <a:rPr sz="1600">
                <a:solidFill>
                  <a:srgbClr val="A7EC21"/>
                </a:solidFill>
                <a:latin typeface="Consolas" panose="020B0609020204030204"/>
                <a:ea typeface="Consolas" panose="020B0609020204030204"/>
              </a:rPr>
              <a:t>println</a:t>
            </a:r>
            <a:r>
              <a:rPr sz="1600">
                <a:solidFill>
                  <a:srgbClr val="F9FAF4"/>
                </a:solidFill>
                <a:latin typeface="Consolas" panose="020B0609020204030204"/>
                <a:ea typeface="Consolas" panose="020B0609020204030204"/>
              </a:rPr>
              <a:t>(</a:t>
            </a:r>
            <a:r>
              <a:rPr sz="1600">
                <a:solidFill>
                  <a:srgbClr val="79ABFF"/>
                </a:solidFill>
                <a:latin typeface="Consolas" panose="020B0609020204030204"/>
                <a:ea typeface="Consolas" panose="020B0609020204030204"/>
              </a:rPr>
              <a:t>s</a:t>
            </a:r>
            <a:r>
              <a:rPr sz="1600">
                <a:solidFill>
                  <a:srgbClr val="E6E6FA"/>
                </a:solidFill>
                <a:latin typeface="Consolas" panose="020B0609020204030204"/>
                <a:ea typeface="Consolas" panose="020B0609020204030204"/>
              </a:rPr>
              <a:t>+</a:t>
            </a:r>
            <a:r>
              <a:rPr sz="1600">
                <a:solidFill>
                  <a:srgbClr val="79ABFF"/>
                </a:solidFill>
                <a:latin typeface="Consolas" panose="020B0609020204030204"/>
                <a:ea typeface="Consolas" panose="020B0609020204030204"/>
              </a:rPr>
              <a:t>p</a:t>
            </a:r>
            <a:r>
              <a:rPr sz="1600">
                <a:solidFill>
                  <a:srgbClr val="F9FAF4"/>
                </a:solidFill>
                <a:latin typeface="Consolas" panose="020B0609020204030204"/>
                <a:ea typeface="Consolas" panose="020B0609020204030204"/>
              </a:rPr>
              <a:t>)</a:t>
            </a:r>
            <a:r>
              <a:rPr sz="1600">
                <a:solidFill>
                  <a:srgbClr val="E6E6FA"/>
                </a:solidFill>
                <a:latin typeface="Consolas" panose="020B0609020204030204"/>
                <a:ea typeface="Consolas" panose="020B0609020204030204"/>
              </a:rPr>
              <a:t>;</a:t>
            </a:r>
            <a:endParaRPr sz="1600">
              <a:solidFill>
                <a:srgbClr val="E6E6FA"/>
              </a:solidFill>
              <a:latin typeface="Consolas" panose="020B0609020204030204"/>
              <a:ea typeface="Consolas" panose="020B0609020204030204"/>
            </a:endParaRPr>
          </a:p>
          <a:p>
            <a:r>
              <a:rPr sz="1600">
                <a:solidFill>
                  <a:srgbClr val="F9FAF4"/>
                </a:solidFill>
                <a:latin typeface="Consolas" panose="020B0609020204030204"/>
                <a:ea typeface="Consolas" panose="020B0609020204030204"/>
              </a:rPr>
              <a:t>}</a:t>
            </a:r>
            <a:endParaRPr sz="1600">
              <a:solidFill>
                <a:srgbClr val="F9FAF4"/>
              </a:solidFill>
              <a:latin typeface="Consolas" panose="020B0609020204030204"/>
              <a:ea typeface="Consolas" panose="020B0609020204030204"/>
            </a:endParaRPr>
          </a:p>
          <a:p>
            <a:r>
              <a:rPr sz="1600">
                <a:solidFill>
                  <a:srgbClr val="1290C3"/>
                </a:solidFill>
                <a:latin typeface="Consolas" panose="020B0609020204030204"/>
                <a:ea typeface="Consolas" panose="020B0609020204030204"/>
              </a:rPr>
              <a:t>String</a:t>
            </a:r>
            <a:r>
              <a:rPr sz="1600">
                <a:solidFill>
                  <a:srgbClr val="1EB540"/>
                </a:solidFill>
                <a:latin typeface="Consolas" panose="020B0609020204030204"/>
                <a:ea typeface="Consolas" panose="020B0609020204030204"/>
              </a:rPr>
              <a:t>Sd</a:t>
            </a:r>
            <a:r>
              <a:rPr sz="1600">
                <a:solidFill>
                  <a:srgbClr val="F9FAF4"/>
                </a:solidFill>
                <a:latin typeface="Consolas" panose="020B0609020204030204"/>
                <a:ea typeface="Consolas" panose="020B0609020204030204"/>
              </a:rPr>
              <a:t>(</a:t>
            </a:r>
            <a:r>
              <a:rPr sz="1600">
                <a:solidFill>
                  <a:srgbClr val="1290C3"/>
                </a:solidFill>
                <a:latin typeface="Consolas" panose="020B0609020204030204"/>
                <a:ea typeface="Consolas" panose="020B0609020204030204"/>
              </a:rPr>
              <a:t>String</a:t>
            </a:r>
            <a:r>
              <a:rPr sz="1600">
                <a:solidFill>
                  <a:srgbClr val="79ABFF"/>
                </a:solidFill>
                <a:latin typeface="Consolas" panose="020B0609020204030204"/>
                <a:ea typeface="Consolas" panose="020B0609020204030204"/>
              </a:rPr>
              <a:t>name</a:t>
            </a:r>
            <a:r>
              <a:rPr sz="1600">
                <a:solidFill>
                  <a:srgbClr val="F9FAF4"/>
                </a:solidFill>
                <a:latin typeface="Consolas" panose="020B0609020204030204"/>
                <a:ea typeface="Consolas" panose="020B0609020204030204"/>
              </a:rPr>
              <a:t>){</a:t>
            </a:r>
            <a:endParaRPr sz="1600">
              <a:solidFill>
                <a:srgbClr val="F9FAF4"/>
              </a:solidFill>
              <a:latin typeface="Consolas" panose="020B0609020204030204"/>
              <a:ea typeface="Consolas" panose="020B0609020204030204"/>
            </a:endParaRPr>
          </a:p>
          <a:p>
            <a:r>
              <a:rPr sz="1600">
                <a:solidFill>
                  <a:srgbClr val="CC6C1D"/>
                </a:solidFill>
                <a:latin typeface="Consolas" panose="020B0609020204030204"/>
                <a:ea typeface="Consolas" panose="020B0609020204030204"/>
              </a:rPr>
              <a:t>return</a:t>
            </a:r>
            <a:r>
              <a:rPr sz="1600">
                <a:solidFill>
                  <a:srgbClr val="79ABFF"/>
                </a:solidFill>
                <a:latin typeface="Consolas" panose="020B0609020204030204"/>
                <a:ea typeface="Consolas" panose="020B0609020204030204"/>
              </a:rPr>
              <a:t>name</a:t>
            </a:r>
            <a:r>
              <a:rPr sz="1600">
                <a:solidFill>
                  <a:srgbClr val="E6E6FA"/>
                </a:solidFill>
                <a:latin typeface="Consolas" panose="020B0609020204030204"/>
                <a:ea typeface="Consolas" panose="020B0609020204030204"/>
              </a:rPr>
              <a:t>;</a:t>
            </a:r>
            <a:endParaRPr sz="1600">
              <a:solidFill>
                <a:srgbClr val="E6E6FA"/>
              </a:solidFill>
              <a:latin typeface="Consolas" panose="020B0609020204030204"/>
              <a:ea typeface="Consolas" panose="020B0609020204030204"/>
            </a:endParaRPr>
          </a:p>
          <a:p>
            <a:r>
              <a:rPr sz="1600">
                <a:solidFill>
                  <a:srgbClr val="F9FAF4"/>
                </a:solidFill>
                <a:latin typeface="Consolas" panose="020B0609020204030204"/>
                <a:ea typeface="Consolas" panose="020B0609020204030204"/>
              </a:rPr>
              <a:t>}</a:t>
            </a:r>
            <a:endParaRPr sz="1600">
              <a:solidFill>
                <a:srgbClr val="F9FAF4"/>
              </a:solidFill>
              <a:latin typeface="Consolas" panose="020B0609020204030204"/>
              <a:ea typeface="Consolas" panose="020B0609020204030204"/>
            </a:endParaRPr>
          </a:p>
          <a:p>
            <a:r>
              <a:rPr sz="1600">
                <a:solidFill>
                  <a:srgbClr val="CC6C1D"/>
                </a:solidFill>
                <a:latin typeface="Consolas" panose="020B0609020204030204"/>
                <a:ea typeface="Consolas" panose="020B0609020204030204"/>
              </a:rPr>
              <a:t>void</a:t>
            </a:r>
            <a:r>
              <a:rPr sz="1600">
                <a:solidFill>
                  <a:srgbClr val="1EB540"/>
                </a:solidFill>
                <a:latin typeface="Consolas" panose="020B0609020204030204"/>
                <a:ea typeface="Consolas" panose="020B0609020204030204"/>
              </a:rPr>
              <a:t>Sd</a:t>
            </a:r>
            <a:r>
              <a:rPr sz="1600">
                <a:solidFill>
                  <a:srgbClr val="F9FAF4"/>
                </a:solidFill>
                <a:latin typeface="Consolas" panose="020B0609020204030204"/>
                <a:ea typeface="Consolas" panose="020B0609020204030204"/>
              </a:rPr>
              <a:t>(</a:t>
            </a:r>
            <a:r>
              <a:rPr sz="1600">
                <a:solidFill>
                  <a:srgbClr val="1290C3"/>
                </a:solidFill>
                <a:latin typeface="Consolas" panose="020B0609020204030204"/>
                <a:ea typeface="Consolas" panose="020B0609020204030204"/>
              </a:rPr>
              <a:t>String</a:t>
            </a:r>
            <a:r>
              <a:rPr sz="1600">
                <a:solidFill>
                  <a:srgbClr val="79ABFF"/>
                </a:solidFill>
                <a:latin typeface="Consolas" panose="020B0609020204030204"/>
                <a:ea typeface="Consolas" panose="020B0609020204030204"/>
              </a:rPr>
              <a:t>Surname</a:t>
            </a:r>
            <a:r>
              <a:rPr sz="1600">
                <a:solidFill>
                  <a:srgbClr val="E6E6FA"/>
                </a:solidFill>
                <a:latin typeface="Consolas" panose="020B0609020204030204"/>
                <a:ea typeface="Consolas" panose="020B0609020204030204"/>
              </a:rPr>
              <a:t>,</a:t>
            </a:r>
            <a:r>
              <a:rPr sz="1600">
                <a:solidFill>
                  <a:srgbClr val="1290C3"/>
                </a:solidFill>
                <a:latin typeface="Consolas" panose="020B0609020204030204"/>
                <a:ea typeface="Consolas" panose="020B0609020204030204"/>
              </a:rPr>
              <a:t>String</a:t>
            </a:r>
            <a:r>
              <a:rPr sz="1600">
                <a:solidFill>
                  <a:srgbClr val="79ABFF"/>
                </a:solidFill>
                <a:latin typeface="Consolas" panose="020B0609020204030204"/>
                <a:ea typeface="Consolas" panose="020B0609020204030204"/>
              </a:rPr>
              <a:t>parentname</a:t>
            </a:r>
            <a:r>
              <a:rPr sz="1600">
                <a:solidFill>
                  <a:srgbClr val="F9FAF4"/>
                </a:solidFill>
                <a:latin typeface="Consolas" panose="020B0609020204030204"/>
                <a:ea typeface="Consolas" panose="020B0609020204030204"/>
              </a:rPr>
              <a:t>){</a:t>
            </a:r>
            <a:endParaRPr sz="1600">
              <a:solidFill>
                <a:srgbClr val="F9FAF4"/>
              </a:solidFill>
              <a:latin typeface="Consolas" panose="020B0609020204030204"/>
              <a:ea typeface="Consolas" panose="020B0609020204030204"/>
            </a:endParaRPr>
          </a:p>
          <a:p>
            <a:r>
              <a:rPr sz="1600">
                <a:solidFill>
                  <a:srgbClr val="1290C3"/>
                </a:solidFill>
                <a:latin typeface="Consolas" panose="020B0609020204030204"/>
                <a:ea typeface="Consolas" panose="020B0609020204030204"/>
              </a:rPr>
              <a:t>System</a:t>
            </a:r>
            <a:r>
              <a:rPr sz="1600">
                <a:solidFill>
                  <a:srgbClr val="E6E6FA"/>
                </a:solidFill>
                <a:latin typeface="Consolas" panose="020B0609020204030204"/>
                <a:ea typeface="Consolas" panose="020B0609020204030204"/>
              </a:rPr>
              <a:t>.</a:t>
            </a:r>
            <a:r>
              <a:rPr sz="1600" b="1" i="1">
                <a:solidFill>
                  <a:srgbClr val="8DDAF8"/>
                </a:solidFill>
                <a:latin typeface="Consolas" panose="020B0609020204030204"/>
                <a:ea typeface="Consolas" panose="020B0609020204030204"/>
              </a:rPr>
              <a:t>out</a:t>
            </a:r>
            <a:r>
              <a:rPr sz="1600">
                <a:solidFill>
                  <a:srgbClr val="E6E6FA"/>
                </a:solidFill>
                <a:latin typeface="Consolas" panose="020B0609020204030204"/>
                <a:ea typeface="Consolas" panose="020B0609020204030204"/>
              </a:rPr>
              <a:t>.</a:t>
            </a:r>
            <a:r>
              <a:rPr sz="1600">
                <a:solidFill>
                  <a:srgbClr val="A7EC21"/>
                </a:solidFill>
                <a:latin typeface="Consolas" panose="020B0609020204030204"/>
                <a:ea typeface="Consolas" panose="020B0609020204030204"/>
              </a:rPr>
              <a:t>println</a:t>
            </a:r>
            <a:r>
              <a:rPr sz="1600">
                <a:solidFill>
                  <a:srgbClr val="F9FAF4"/>
                </a:solidFill>
                <a:latin typeface="Consolas" panose="020B0609020204030204"/>
                <a:ea typeface="Consolas" panose="020B0609020204030204"/>
              </a:rPr>
              <a:t>(</a:t>
            </a:r>
            <a:r>
              <a:rPr sz="1600">
                <a:solidFill>
                  <a:srgbClr val="79ABFF"/>
                </a:solidFill>
                <a:latin typeface="Consolas" panose="020B0609020204030204"/>
                <a:ea typeface="Consolas" panose="020B0609020204030204"/>
              </a:rPr>
              <a:t>Surname</a:t>
            </a:r>
            <a:r>
              <a:rPr sz="1600">
                <a:solidFill>
                  <a:srgbClr val="E6E6FA"/>
                </a:solidFill>
                <a:latin typeface="Consolas" panose="020B0609020204030204"/>
                <a:ea typeface="Consolas" panose="020B0609020204030204"/>
              </a:rPr>
              <a:t>+</a:t>
            </a:r>
            <a:r>
              <a:rPr sz="1600">
                <a:solidFill>
                  <a:srgbClr val="17C6A3"/>
                </a:solidFill>
                <a:latin typeface="Consolas" panose="020B0609020204030204"/>
                <a:ea typeface="Consolas" panose="020B0609020204030204"/>
              </a:rPr>
              <a:t>" "</a:t>
            </a:r>
            <a:r>
              <a:rPr sz="1600">
                <a:solidFill>
                  <a:srgbClr val="E6E6FA"/>
                </a:solidFill>
                <a:latin typeface="Consolas" panose="020B0609020204030204"/>
                <a:ea typeface="Consolas" panose="020B0609020204030204"/>
              </a:rPr>
              <a:t>+</a:t>
            </a:r>
            <a:r>
              <a:rPr sz="1600">
                <a:solidFill>
                  <a:srgbClr val="79ABFF"/>
                </a:solidFill>
                <a:latin typeface="Consolas" panose="020B0609020204030204"/>
                <a:ea typeface="Consolas" panose="020B0609020204030204"/>
              </a:rPr>
              <a:t>parentname</a:t>
            </a:r>
            <a:r>
              <a:rPr sz="1600">
                <a:solidFill>
                  <a:srgbClr val="F9FAF4"/>
                </a:solidFill>
                <a:latin typeface="Consolas" panose="020B0609020204030204"/>
                <a:ea typeface="Consolas" panose="020B0609020204030204"/>
              </a:rPr>
              <a:t>)</a:t>
            </a:r>
            <a:r>
              <a:rPr sz="1600">
                <a:solidFill>
                  <a:srgbClr val="E6E6FA"/>
                </a:solidFill>
                <a:latin typeface="Consolas" panose="020B0609020204030204"/>
                <a:ea typeface="Consolas" panose="020B0609020204030204"/>
              </a:rPr>
              <a:t>;</a:t>
            </a:r>
            <a:endParaRPr sz="1600">
              <a:solidFill>
                <a:srgbClr val="E6E6FA"/>
              </a:solidFill>
              <a:latin typeface="Consolas" panose="020B0609020204030204"/>
              <a:ea typeface="Consolas" panose="020B0609020204030204"/>
            </a:endParaRPr>
          </a:p>
          <a:p>
            <a:r>
              <a:rPr sz="1600">
                <a:solidFill>
                  <a:srgbClr val="F9FAF4"/>
                </a:solidFill>
                <a:latin typeface="Consolas" panose="020B0609020204030204"/>
                <a:ea typeface="Consolas" panose="020B0609020204030204"/>
              </a:rPr>
              <a:t>}</a:t>
            </a:r>
            <a:endParaRPr sz="1600">
              <a:solidFill>
                <a:srgbClr val="F9FAF4"/>
              </a:solidFill>
              <a:latin typeface="Consolas" panose="020B0609020204030204"/>
              <a:ea typeface="Consolas" panose="020B0609020204030204"/>
            </a:endParaRPr>
          </a:p>
          <a:p>
            <a:r>
              <a:rPr sz="1600">
                <a:solidFill>
                  <a:srgbClr val="F9FAF4"/>
                </a:solidFill>
                <a:latin typeface="Consolas" panose="020B0609020204030204"/>
                <a:ea typeface="Consolas" panose="020B0609020204030204"/>
              </a:rPr>
              <a:t>}</a:t>
            </a:r>
            <a:endParaRPr sz="1600">
              <a:solidFill>
                <a:srgbClr val="F9FAF4"/>
              </a:solidFill>
              <a:latin typeface="Consolas" panose="020B0609020204030204"/>
              <a:ea typeface="Consolas" panose="020B0609020204030204"/>
            </a:endParaRPr>
          </a:p>
          <a:p>
            <a:r>
              <a:rPr sz="1600">
                <a:solidFill>
                  <a:srgbClr val="CC6C1D"/>
                </a:solidFill>
                <a:latin typeface="Consolas" panose="020B0609020204030204"/>
                <a:ea typeface="Consolas" panose="020B0609020204030204"/>
              </a:rPr>
              <a:t>publicclass</a:t>
            </a:r>
            <a:r>
              <a:rPr sz="1600">
                <a:solidFill>
                  <a:srgbClr val="1290C3"/>
                </a:solidFill>
                <a:latin typeface="Consolas" panose="020B0609020204030204"/>
                <a:ea typeface="Consolas" panose="020B0609020204030204"/>
              </a:rPr>
              <a:t>Home</a:t>
            </a:r>
            <a:r>
              <a:rPr sz="1600">
                <a:solidFill>
                  <a:srgbClr val="F9FAF4"/>
                </a:solidFill>
                <a:latin typeface="Consolas" panose="020B0609020204030204"/>
                <a:ea typeface="Consolas" panose="020B0609020204030204"/>
              </a:rPr>
              <a:t>{</a:t>
            </a:r>
            <a:endParaRPr sz="1600">
              <a:solidFill>
                <a:srgbClr val="F9FAF4"/>
              </a:solidFill>
              <a:latin typeface="Consolas" panose="020B0609020204030204"/>
              <a:ea typeface="Consolas" panose="020B0609020204030204"/>
            </a:endParaRPr>
          </a:p>
          <a:p>
            <a:r>
              <a:rPr sz="1600">
                <a:solidFill>
                  <a:srgbClr val="CC6C1D"/>
                </a:solidFill>
                <a:latin typeface="Consolas" panose="020B0609020204030204"/>
                <a:ea typeface="Consolas" panose="020B0609020204030204"/>
              </a:rPr>
              <a:t>publicstaticvoid</a:t>
            </a:r>
            <a:r>
              <a:rPr sz="1600">
                <a:solidFill>
                  <a:srgbClr val="1EB540"/>
                </a:solidFill>
                <a:latin typeface="Consolas" panose="020B0609020204030204"/>
                <a:ea typeface="Consolas" panose="020B0609020204030204"/>
              </a:rPr>
              <a:t>main</a:t>
            </a:r>
            <a:r>
              <a:rPr sz="1600">
                <a:solidFill>
                  <a:srgbClr val="F9FAF4"/>
                </a:solidFill>
                <a:latin typeface="Consolas" panose="020B0609020204030204"/>
                <a:ea typeface="Consolas" panose="020B0609020204030204"/>
              </a:rPr>
              <a:t>(</a:t>
            </a:r>
            <a:r>
              <a:rPr sz="1600">
                <a:solidFill>
                  <a:srgbClr val="1290C3"/>
                </a:solidFill>
                <a:latin typeface="Consolas" panose="020B0609020204030204"/>
                <a:ea typeface="Consolas" panose="020B0609020204030204"/>
              </a:rPr>
              <a:t>String</a:t>
            </a:r>
            <a:r>
              <a:rPr sz="1600">
                <a:solidFill>
                  <a:srgbClr val="F9FAF4"/>
                </a:solidFill>
                <a:latin typeface="Consolas" panose="020B0609020204030204"/>
                <a:ea typeface="Consolas" panose="020B0609020204030204"/>
              </a:rPr>
              <a:t>[]</a:t>
            </a:r>
            <a:r>
              <a:rPr sz="1600">
                <a:solidFill>
                  <a:srgbClr val="79ABFF"/>
                </a:solidFill>
                <a:latin typeface="Consolas" panose="020B0609020204030204"/>
                <a:ea typeface="Consolas" panose="020B0609020204030204"/>
              </a:rPr>
              <a:t>args</a:t>
            </a:r>
            <a:r>
              <a:rPr sz="1600">
                <a:solidFill>
                  <a:srgbClr val="F9FAF4"/>
                </a:solidFill>
                <a:latin typeface="Consolas" panose="020B0609020204030204"/>
                <a:ea typeface="Consolas" panose="020B0609020204030204"/>
              </a:rPr>
              <a:t>){</a:t>
            </a:r>
            <a:endParaRPr sz="1600">
              <a:solidFill>
                <a:srgbClr val="F9FAF4"/>
              </a:solidFill>
              <a:latin typeface="Consolas" panose="020B0609020204030204"/>
              <a:ea typeface="Consolas" panose="020B0609020204030204"/>
            </a:endParaRPr>
          </a:p>
          <a:p>
            <a:r>
              <a:rPr sz="1600">
                <a:solidFill>
                  <a:srgbClr val="1290C3"/>
                </a:solidFill>
                <a:latin typeface="Consolas" panose="020B0609020204030204"/>
                <a:ea typeface="Consolas" panose="020B0609020204030204"/>
              </a:rPr>
              <a:t>Parent</a:t>
            </a:r>
            <a:r>
              <a:rPr sz="1600">
                <a:solidFill>
                  <a:srgbClr val="F2F200"/>
                </a:solidFill>
                <a:latin typeface="Consolas" panose="020B0609020204030204"/>
                <a:ea typeface="Consolas" panose="020B0609020204030204"/>
              </a:rPr>
              <a:t>p1</a:t>
            </a:r>
            <a:r>
              <a:rPr sz="1600">
                <a:solidFill>
                  <a:srgbClr val="E6E6FA"/>
                </a:solidFill>
                <a:latin typeface="Consolas" panose="020B0609020204030204"/>
                <a:ea typeface="Consolas" panose="020B0609020204030204"/>
              </a:rPr>
              <a:t>=</a:t>
            </a:r>
            <a:r>
              <a:rPr sz="1600">
                <a:solidFill>
                  <a:srgbClr val="CC6C1D"/>
                </a:solidFill>
                <a:latin typeface="Consolas" panose="020B0609020204030204"/>
                <a:ea typeface="Consolas" panose="020B0609020204030204"/>
              </a:rPr>
              <a:t>new</a:t>
            </a:r>
            <a:r>
              <a:rPr sz="1600">
                <a:solidFill>
                  <a:srgbClr val="A7EC21"/>
                </a:solidFill>
                <a:latin typeface="Consolas" panose="020B0609020204030204"/>
                <a:ea typeface="Consolas" panose="020B0609020204030204"/>
              </a:rPr>
              <a:t>Parent</a:t>
            </a:r>
            <a:r>
              <a:rPr sz="1600">
                <a:solidFill>
                  <a:srgbClr val="F9FAF4"/>
                </a:solidFill>
                <a:latin typeface="Consolas" panose="020B0609020204030204"/>
                <a:ea typeface="Consolas" panose="020B0609020204030204"/>
              </a:rPr>
              <a:t>()</a:t>
            </a:r>
            <a:r>
              <a:rPr sz="1600">
                <a:solidFill>
                  <a:srgbClr val="E6E6FA"/>
                </a:solidFill>
                <a:latin typeface="Consolas" panose="020B0609020204030204"/>
                <a:ea typeface="Consolas" panose="020B0609020204030204"/>
              </a:rPr>
              <a:t>;</a:t>
            </a:r>
            <a:endParaRPr sz="1600">
              <a:solidFill>
                <a:srgbClr val="E6E6FA"/>
              </a:solidFill>
              <a:latin typeface="Consolas" panose="020B0609020204030204"/>
              <a:ea typeface="Consolas" panose="020B0609020204030204"/>
            </a:endParaRPr>
          </a:p>
          <a:p>
            <a:r>
              <a:rPr sz="1600">
                <a:solidFill>
                  <a:srgbClr val="F3EC79"/>
                </a:solidFill>
                <a:latin typeface="Consolas" panose="020B0609020204030204"/>
                <a:ea typeface="Consolas" panose="020B0609020204030204"/>
              </a:rPr>
              <a:t>p1</a:t>
            </a:r>
            <a:r>
              <a:rPr sz="1600">
                <a:solidFill>
                  <a:srgbClr val="E6E6FA"/>
                </a:solidFill>
                <a:latin typeface="Consolas" panose="020B0609020204030204"/>
                <a:ea typeface="Consolas" panose="020B0609020204030204"/>
              </a:rPr>
              <a:t>.</a:t>
            </a:r>
            <a:r>
              <a:rPr sz="1600">
                <a:solidFill>
                  <a:srgbClr val="A7EC21"/>
                </a:solidFill>
                <a:latin typeface="Consolas" panose="020B0609020204030204"/>
                <a:ea typeface="Consolas" panose="020B0609020204030204"/>
              </a:rPr>
              <a:t>Sd</a:t>
            </a:r>
            <a:r>
              <a:rPr sz="1600">
                <a:solidFill>
                  <a:srgbClr val="F9FAF4"/>
                </a:solidFill>
                <a:latin typeface="Consolas" panose="020B0609020204030204"/>
                <a:ea typeface="Consolas" panose="020B0609020204030204"/>
              </a:rPr>
              <a:t>()</a:t>
            </a:r>
            <a:r>
              <a:rPr sz="1600">
                <a:solidFill>
                  <a:srgbClr val="E6E6FA"/>
                </a:solidFill>
                <a:latin typeface="Consolas" panose="020B0609020204030204"/>
                <a:ea typeface="Consolas" panose="020B0609020204030204"/>
              </a:rPr>
              <a:t>;</a:t>
            </a:r>
            <a:r>
              <a:rPr sz="1600">
                <a:solidFill>
                  <a:srgbClr val="808080"/>
                </a:solidFill>
                <a:latin typeface="Consolas" panose="020B0609020204030204"/>
                <a:ea typeface="Consolas" panose="020B0609020204030204"/>
              </a:rPr>
              <a:t>//method called</a:t>
            </a:r>
            <a:endParaRPr sz="1600">
              <a:solidFill>
                <a:srgbClr val="808080"/>
              </a:solidFill>
              <a:latin typeface="Consolas" panose="020B0609020204030204"/>
              <a:ea typeface="Consolas" panose="020B0609020204030204"/>
            </a:endParaRPr>
          </a:p>
          <a:p>
            <a:r>
              <a:rPr sz="1600">
                <a:solidFill>
                  <a:srgbClr val="F3EC79"/>
                </a:solidFill>
                <a:latin typeface="Consolas" panose="020B0609020204030204"/>
                <a:ea typeface="Consolas" panose="020B0609020204030204"/>
              </a:rPr>
              <a:t>p1</a:t>
            </a:r>
            <a:r>
              <a:rPr sz="1600">
                <a:solidFill>
                  <a:srgbClr val="E6E6FA"/>
                </a:solidFill>
                <a:latin typeface="Consolas" panose="020B0609020204030204"/>
                <a:ea typeface="Consolas" panose="020B0609020204030204"/>
              </a:rPr>
              <a:t>.</a:t>
            </a:r>
            <a:r>
              <a:rPr sz="1600">
                <a:solidFill>
                  <a:srgbClr val="A7EC21"/>
                </a:solidFill>
                <a:latin typeface="Consolas" panose="020B0609020204030204"/>
                <a:ea typeface="Consolas" panose="020B0609020204030204"/>
              </a:rPr>
              <a:t>Sd</a:t>
            </a:r>
            <a:r>
              <a:rPr sz="1600">
                <a:solidFill>
                  <a:srgbClr val="F9FAF4"/>
                </a:solidFill>
                <a:latin typeface="Consolas" panose="020B0609020204030204"/>
                <a:ea typeface="Consolas" panose="020B0609020204030204"/>
              </a:rPr>
              <a:t>(</a:t>
            </a:r>
            <a:r>
              <a:rPr sz="1600">
                <a:solidFill>
                  <a:srgbClr val="6897BB"/>
                </a:solidFill>
                <a:latin typeface="Consolas" panose="020B0609020204030204"/>
                <a:ea typeface="Consolas" panose="020B0609020204030204"/>
              </a:rPr>
              <a:t>5</a:t>
            </a:r>
            <a:r>
              <a:rPr sz="1600">
                <a:solidFill>
                  <a:srgbClr val="F9FAF4"/>
                </a:solidFill>
                <a:latin typeface="Consolas" panose="020B0609020204030204"/>
                <a:ea typeface="Consolas" panose="020B0609020204030204"/>
              </a:rPr>
              <a:t>)</a:t>
            </a:r>
            <a:r>
              <a:rPr sz="1600">
                <a:solidFill>
                  <a:srgbClr val="E6E6FA"/>
                </a:solidFill>
                <a:latin typeface="Consolas" panose="020B0609020204030204"/>
                <a:ea typeface="Consolas" panose="020B0609020204030204"/>
              </a:rPr>
              <a:t>;</a:t>
            </a:r>
            <a:endParaRPr sz="1600">
              <a:solidFill>
                <a:srgbClr val="E6E6FA"/>
              </a:solidFill>
              <a:latin typeface="Consolas" panose="020B0609020204030204"/>
              <a:ea typeface="Consolas" panose="020B0609020204030204"/>
            </a:endParaRPr>
          </a:p>
          <a:p>
            <a:r>
              <a:rPr sz="1600">
                <a:solidFill>
                  <a:srgbClr val="F3EC79"/>
                </a:solidFill>
                <a:latin typeface="Consolas" panose="020B0609020204030204"/>
                <a:ea typeface="Consolas" panose="020B0609020204030204"/>
              </a:rPr>
              <a:t>p1</a:t>
            </a:r>
            <a:r>
              <a:rPr sz="1600">
                <a:solidFill>
                  <a:srgbClr val="E6E6FA"/>
                </a:solidFill>
                <a:latin typeface="Consolas" panose="020B0609020204030204"/>
                <a:ea typeface="Consolas" panose="020B0609020204030204"/>
              </a:rPr>
              <a:t>.</a:t>
            </a:r>
            <a:r>
              <a:rPr sz="1600">
                <a:solidFill>
                  <a:srgbClr val="A7EC21"/>
                </a:solidFill>
                <a:latin typeface="Consolas" panose="020B0609020204030204"/>
                <a:ea typeface="Consolas" panose="020B0609020204030204"/>
              </a:rPr>
              <a:t>Sd</a:t>
            </a:r>
            <a:r>
              <a:rPr sz="1600">
                <a:solidFill>
                  <a:srgbClr val="F9FAF4"/>
                </a:solidFill>
                <a:latin typeface="Consolas" panose="020B0609020204030204"/>
                <a:ea typeface="Consolas" panose="020B0609020204030204"/>
              </a:rPr>
              <a:t>(</a:t>
            </a:r>
            <a:r>
              <a:rPr sz="1600">
                <a:solidFill>
                  <a:srgbClr val="6897BB"/>
                </a:solidFill>
                <a:latin typeface="Consolas" panose="020B0609020204030204"/>
                <a:ea typeface="Consolas" panose="020B0609020204030204"/>
              </a:rPr>
              <a:t>20</a:t>
            </a:r>
            <a:r>
              <a:rPr sz="1600">
                <a:solidFill>
                  <a:srgbClr val="E6E6FA"/>
                </a:solidFill>
                <a:latin typeface="Consolas" panose="020B0609020204030204"/>
                <a:ea typeface="Consolas" panose="020B0609020204030204"/>
              </a:rPr>
              <a:t>,</a:t>
            </a:r>
            <a:r>
              <a:rPr sz="1600">
                <a:solidFill>
                  <a:srgbClr val="6897BB"/>
                </a:solidFill>
                <a:latin typeface="Consolas" panose="020B0609020204030204"/>
                <a:ea typeface="Consolas" panose="020B0609020204030204"/>
              </a:rPr>
              <a:t>40</a:t>
            </a:r>
            <a:r>
              <a:rPr sz="1600">
                <a:solidFill>
                  <a:srgbClr val="F9FAF4"/>
                </a:solidFill>
                <a:latin typeface="Consolas" panose="020B0609020204030204"/>
                <a:ea typeface="Consolas" panose="020B0609020204030204"/>
              </a:rPr>
              <a:t>)</a:t>
            </a:r>
            <a:r>
              <a:rPr sz="1600">
                <a:solidFill>
                  <a:srgbClr val="E6E6FA"/>
                </a:solidFill>
                <a:latin typeface="Consolas" panose="020B0609020204030204"/>
                <a:ea typeface="Consolas" panose="020B0609020204030204"/>
              </a:rPr>
              <a:t>;</a:t>
            </a:r>
            <a:endParaRPr sz="1600">
              <a:solidFill>
                <a:srgbClr val="E6E6FA"/>
              </a:solidFill>
              <a:latin typeface="Consolas" panose="020B0609020204030204"/>
              <a:ea typeface="Consolas" panose="020B0609020204030204"/>
            </a:endParaRPr>
          </a:p>
          <a:p>
            <a:r>
              <a:rPr sz="1600">
                <a:solidFill>
                  <a:srgbClr val="1290C3"/>
                </a:solidFill>
                <a:latin typeface="Consolas" panose="020B0609020204030204"/>
                <a:ea typeface="Consolas" panose="020B0609020204030204"/>
              </a:rPr>
              <a:t>System</a:t>
            </a:r>
            <a:r>
              <a:rPr sz="1600">
                <a:solidFill>
                  <a:srgbClr val="E6E6FA"/>
                </a:solidFill>
                <a:latin typeface="Consolas" panose="020B0609020204030204"/>
                <a:ea typeface="Consolas" panose="020B0609020204030204"/>
              </a:rPr>
              <a:t>.</a:t>
            </a:r>
            <a:r>
              <a:rPr sz="1600" b="1" i="1">
                <a:solidFill>
                  <a:srgbClr val="8DDAF8"/>
                </a:solidFill>
                <a:latin typeface="Consolas" panose="020B0609020204030204"/>
                <a:ea typeface="Consolas" panose="020B0609020204030204"/>
              </a:rPr>
              <a:t>out</a:t>
            </a:r>
            <a:r>
              <a:rPr sz="1600">
                <a:solidFill>
                  <a:srgbClr val="E6E6FA"/>
                </a:solidFill>
                <a:latin typeface="Consolas" panose="020B0609020204030204"/>
                <a:ea typeface="Consolas" panose="020B0609020204030204"/>
              </a:rPr>
              <a:t>.</a:t>
            </a:r>
            <a:r>
              <a:rPr sz="1600">
                <a:solidFill>
                  <a:srgbClr val="A7EC21"/>
                </a:solidFill>
                <a:latin typeface="Consolas" panose="020B0609020204030204"/>
                <a:ea typeface="Consolas" panose="020B0609020204030204"/>
              </a:rPr>
              <a:t>println</a:t>
            </a:r>
            <a:r>
              <a:rPr sz="1600">
                <a:solidFill>
                  <a:srgbClr val="F9FAF4"/>
                </a:solidFill>
                <a:latin typeface="Consolas" panose="020B0609020204030204"/>
                <a:ea typeface="Consolas" panose="020B0609020204030204"/>
              </a:rPr>
              <a:t>(</a:t>
            </a:r>
            <a:r>
              <a:rPr sz="1600">
                <a:solidFill>
                  <a:srgbClr val="F3EC79"/>
                </a:solidFill>
                <a:latin typeface="Consolas" panose="020B0609020204030204"/>
                <a:ea typeface="Consolas" panose="020B0609020204030204"/>
              </a:rPr>
              <a:t>p1</a:t>
            </a:r>
            <a:r>
              <a:rPr sz="1600">
                <a:solidFill>
                  <a:srgbClr val="E6E6FA"/>
                </a:solidFill>
                <a:latin typeface="Consolas" panose="020B0609020204030204"/>
                <a:ea typeface="Consolas" panose="020B0609020204030204"/>
              </a:rPr>
              <a:t>.</a:t>
            </a:r>
            <a:r>
              <a:rPr sz="1600">
                <a:solidFill>
                  <a:srgbClr val="A7EC21"/>
                </a:solidFill>
                <a:latin typeface="Consolas" panose="020B0609020204030204"/>
                <a:ea typeface="Consolas" panose="020B0609020204030204"/>
              </a:rPr>
              <a:t>Sd</a:t>
            </a:r>
            <a:r>
              <a:rPr sz="1600">
                <a:solidFill>
                  <a:srgbClr val="F9FAF4"/>
                </a:solidFill>
                <a:latin typeface="Consolas" panose="020B0609020204030204"/>
                <a:ea typeface="Consolas" panose="020B0609020204030204"/>
              </a:rPr>
              <a:t>(</a:t>
            </a:r>
            <a:r>
              <a:rPr sz="1600">
                <a:solidFill>
                  <a:srgbClr val="17C6A3"/>
                </a:solidFill>
                <a:latin typeface="Consolas" panose="020B0609020204030204"/>
                <a:ea typeface="Consolas" panose="020B0609020204030204"/>
              </a:rPr>
              <a:t>"Ajinkya"</a:t>
            </a:r>
            <a:r>
              <a:rPr sz="1600">
                <a:solidFill>
                  <a:srgbClr val="F9FAF4"/>
                </a:solidFill>
                <a:latin typeface="Consolas" panose="020B0609020204030204"/>
                <a:ea typeface="Consolas" panose="020B0609020204030204"/>
              </a:rPr>
              <a:t>))</a:t>
            </a:r>
            <a:r>
              <a:rPr sz="1600">
                <a:solidFill>
                  <a:srgbClr val="E6E6FA"/>
                </a:solidFill>
                <a:latin typeface="Consolas" panose="020B0609020204030204"/>
                <a:ea typeface="Consolas" panose="020B0609020204030204"/>
              </a:rPr>
              <a:t>;</a:t>
            </a:r>
            <a:endParaRPr sz="1600">
              <a:solidFill>
                <a:srgbClr val="E6E6FA"/>
              </a:solidFill>
              <a:latin typeface="Consolas" panose="020B0609020204030204"/>
              <a:ea typeface="Consolas" panose="020B0609020204030204"/>
            </a:endParaRPr>
          </a:p>
          <a:p>
            <a:r>
              <a:rPr sz="1600">
                <a:solidFill>
                  <a:srgbClr val="F3EC79"/>
                </a:solidFill>
                <a:latin typeface="Consolas" panose="020B0609020204030204"/>
                <a:ea typeface="Consolas" panose="020B0609020204030204"/>
              </a:rPr>
              <a:t>p1</a:t>
            </a:r>
            <a:r>
              <a:rPr sz="1600">
                <a:solidFill>
                  <a:srgbClr val="E6E6FA"/>
                </a:solidFill>
                <a:latin typeface="Consolas" panose="020B0609020204030204"/>
                <a:ea typeface="Consolas" panose="020B0609020204030204"/>
              </a:rPr>
              <a:t>.</a:t>
            </a:r>
            <a:r>
              <a:rPr sz="1600">
                <a:solidFill>
                  <a:srgbClr val="A7EC21"/>
                </a:solidFill>
                <a:latin typeface="Consolas" panose="020B0609020204030204"/>
                <a:ea typeface="Consolas" panose="020B0609020204030204"/>
              </a:rPr>
              <a:t>Sd</a:t>
            </a:r>
            <a:r>
              <a:rPr sz="1600">
                <a:solidFill>
                  <a:srgbClr val="F9FAF4"/>
                </a:solidFill>
                <a:latin typeface="Consolas" panose="020B0609020204030204"/>
                <a:ea typeface="Consolas" panose="020B0609020204030204"/>
              </a:rPr>
              <a:t>(</a:t>
            </a:r>
            <a:r>
              <a:rPr sz="1600">
                <a:solidFill>
                  <a:srgbClr val="17C6A3"/>
                </a:solidFill>
                <a:latin typeface="Consolas" panose="020B0609020204030204"/>
                <a:ea typeface="Consolas" panose="020B0609020204030204"/>
              </a:rPr>
              <a:t>"Mane"</a:t>
            </a:r>
            <a:r>
              <a:rPr sz="1600">
                <a:solidFill>
                  <a:srgbClr val="E6E6FA"/>
                </a:solidFill>
                <a:latin typeface="Consolas" panose="020B0609020204030204"/>
                <a:ea typeface="Consolas" panose="020B0609020204030204"/>
              </a:rPr>
              <a:t>,</a:t>
            </a:r>
            <a:r>
              <a:rPr sz="1600">
                <a:solidFill>
                  <a:srgbClr val="17C6A3"/>
                </a:solidFill>
                <a:latin typeface="Consolas" panose="020B0609020204030204"/>
                <a:ea typeface="Consolas" panose="020B0609020204030204"/>
              </a:rPr>
              <a:t>"Dinesh"</a:t>
            </a:r>
            <a:r>
              <a:rPr sz="1600">
                <a:solidFill>
                  <a:srgbClr val="F9FAF4"/>
                </a:solidFill>
                <a:latin typeface="Consolas" panose="020B0609020204030204"/>
                <a:ea typeface="Consolas" panose="020B0609020204030204"/>
              </a:rPr>
              <a:t>)</a:t>
            </a:r>
            <a:r>
              <a:rPr sz="1600">
                <a:solidFill>
                  <a:srgbClr val="E6E6FA"/>
                </a:solidFill>
                <a:latin typeface="Consolas" panose="020B0609020204030204"/>
                <a:ea typeface="Consolas" panose="020B0609020204030204"/>
              </a:rPr>
              <a:t>;</a:t>
            </a:r>
            <a:endParaRPr sz="1600">
              <a:solidFill>
                <a:srgbClr val="E6E6FA"/>
              </a:solidFill>
              <a:latin typeface="Consolas" panose="020B0609020204030204"/>
              <a:ea typeface="Consolas" panose="020B0609020204030204"/>
            </a:endParaRPr>
          </a:p>
          <a:p>
            <a:endParaRPr sz="1600">
              <a:solidFill>
                <a:srgbClr val="E6E6FA"/>
              </a:solidFill>
              <a:latin typeface="Consolas" panose="020B0609020204030204"/>
              <a:ea typeface="Consolas" panose="020B0609020204030204"/>
            </a:endParaRPr>
          </a:p>
          <a:p>
            <a:r>
              <a:rPr sz="1600">
                <a:solidFill>
                  <a:srgbClr val="F9FAF4"/>
                </a:solidFill>
                <a:latin typeface="Consolas" panose="020B0609020204030204"/>
                <a:ea typeface="Consolas" panose="020B0609020204030204"/>
              </a:rPr>
              <a:t>}</a:t>
            </a:r>
            <a:endParaRPr sz="1600">
              <a:solidFill>
                <a:srgbClr val="F9FAF4"/>
              </a:solidFill>
              <a:latin typeface="Consolas" panose="020B0609020204030204"/>
              <a:ea typeface="Consolas" panose="020B0609020204030204"/>
            </a:endParaRPr>
          </a:p>
          <a:p>
            <a:r>
              <a:rPr sz="1600">
                <a:solidFill>
                  <a:srgbClr val="F9FAF4"/>
                </a:solidFill>
                <a:latin typeface="Consolas" panose="020B0609020204030204"/>
                <a:ea typeface="Consolas" panose="020B0609020204030204"/>
              </a:rPr>
              <a:t>}</a:t>
            </a:r>
            <a:endParaRPr sz="1600">
              <a:solidFill>
                <a:srgbClr val="F9FAF4"/>
              </a:solidFill>
              <a:latin typeface="Consolas" panose="020B0609020204030204"/>
              <a:ea typeface="Consolas" panose="020B0609020204030204"/>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401955"/>
          </a:xfrm>
        </p:spPr>
        <p:txBody>
          <a:bodyPr>
            <a:normAutofit fontScale="90000"/>
          </a:bodyPr>
          <a:p>
            <a:pPr algn="ctr"/>
            <a:r>
              <a:rPr lang="en-US" sz="2800" b="1">
                <a:solidFill>
                  <a:srgbClr val="FF0000"/>
                </a:solidFill>
                <a:sym typeface="+mn-ea"/>
              </a:rPr>
              <a:t>Run Time Polymorphism(Method Overriding)</a:t>
            </a:r>
            <a:endParaRPr lang="en-US" sz="2800" b="1">
              <a:solidFill>
                <a:srgbClr val="FF0000"/>
              </a:solidFill>
              <a:sym typeface="+mn-ea"/>
            </a:endParaRPr>
          </a:p>
        </p:txBody>
      </p:sp>
      <p:sp>
        <p:nvSpPr>
          <p:cNvPr id="3" name="Content Placeholder 2"/>
          <p:cNvSpPr>
            <a:spLocks noGrp="1"/>
          </p:cNvSpPr>
          <p:nvPr>
            <p:ph idx="1"/>
          </p:nvPr>
        </p:nvSpPr>
        <p:spPr>
          <a:xfrm>
            <a:off x="106045" y="508635"/>
            <a:ext cx="11964670" cy="6064250"/>
          </a:xfrm>
        </p:spPr>
        <p:txBody>
          <a:bodyPr/>
          <a:p>
            <a:pPr marL="0" indent="0">
              <a:buNone/>
            </a:pPr>
            <a:r>
              <a:rPr lang="en-US" altLang="en-US" sz="1800"/>
              <a:t>class ABC{</a:t>
            </a:r>
            <a:endParaRPr lang="en-US" altLang="en-US" sz="1800"/>
          </a:p>
          <a:p>
            <a:pPr marL="0" indent="0">
              <a:buNone/>
            </a:pPr>
            <a:r>
              <a:rPr lang="en-US" altLang="en-US" sz="1800"/>
              <a:t>    void MyAnimal() {</a:t>
            </a:r>
            <a:endParaRPr lang="en-US" altLang="en-US" sz="1800"/>
          </a:p>
          <a:p>
            <a:pPr marL="0" indent="0">
              <a:buNone/>
            </a:pPr>
            <a:r>
              <a:rPr lang="en-US" altLang="en-US" sz="1800"/>
              <a:t>        System.out.println("Dog ");</a:t>
            </a:r>
            <a:endParaRPr lang="en-US" altLang="en-US" sz="1800"/>
          </a:p>
          <a:p>
            <a:pPr marL="0" indent="0">
              <a:buNone/>
            </a:pPr>
            <a:r>
              <a:rPr lang="en-US" altLang="en-US" sz="1800"/>
              <a:t>    }</a:t>
            </a:r>
            <a:endParaRPr lang="en-US" altLang="en-US" sz="1800"/>
          </a:p>
          <a:p>
            <a:pPr marL="0" indent="0">
              <a:buNone/>
            </a:pPr>
            <a:r>
              <a:rPr lang="en-US" altLang="en-US" sz="1800"/>
              <a:t>}</a:t>
            </a:r>
            <a:endParaRPr lang="en-US" altLang="en-US" sz="1800"/>
          </a:p>
          <a:p>
            <a:pPr marL="0" indent="0">
              <a:buNone/>
            </a:pPr>
            <a:endParaRPr lang="en-US" altLang="en-US" sz="1800"/>
          </a:p>
          <a:p>
            <a:pPr marL="0" indent="0">
              <a:buNone/>
            </a:pPr>
            <a:r>
              <a:rPr lang="en-US" altLang="en-US" sz="1800"/>
              <a:t>class BCA extends ABC{</a:t>
            </a:r>
            <a:endParaRPr lang="en-US" altLang="en-US" sz="1800"/>
          </a:p>
          <a:p>
            <a:pPr marL="0" indent="0">
              <a:buNone/>
            </a:pPr>
            <a:r>
              <a:rPr lang="en-US" altLang="en-US" sz="1800"/>
              <a:t>    void </a:t>
            </a:r>
            <a:r>
              <a:rPr lang="en-US" altLang="en-US" sz="1800">
                <a:sym typeface="+mn-ea"/>
              </a:rPr>
              <a:t>MyAnimal</a:t>
            </a:r>
            <a:r>
              <a:rPr lang="en-US" altLang="en-US" sz="1800"/>
              <a:t>() {</a:t>
            </a:r>
            <a:endParaRPr lang="en-US" altLang="en-US" sz="1800"/>
          </a:p>
          <a:p>
            <a:pPr marL="0" indent="0">
              <a:buNone/>
            </a:pPr>
            <a:r>
              <a:rPr lang="en-US" altLang="en-US" sz="1800"/>
              <a:t>        System.out.println("Cat ");</a:t>
            </a:r>
            <a:endParaRPr lang="en-US" altLang="en-US" sz="1800"/>
          </a:p>
          <a:p>
            <a:pPr marL="0" indent="0">
              <a:buNone/>
            </a:pPr>
            <a:r>
              <a:rPr lang="en-US" altLang="en-US" sz="1800"/>
              <a:t>    }</a:t>
            </a:r>
            <a:endParaRPr lang="en-US" altLang="en-US" sz="1800"/>
          </a:p>
          <a:p>
            <a:pPr marL="0" indent="0">
              <a:buNone/>
            </a:pPr>
            <a:r>
              <a:rPr lang="en-US" altLang="en-US" sz="1800"/>
              <a:t>}</a:t>
            </a:r>
            <a:endParaRPr lang="en-US" altLang="en-US" sz="1800"/>
          </a:p>
          <a:p>
            <a:pPr marL="0" indent="0">
              <a:buNone/>
            </a:pPr>
            <a:endParaRPr lang="en-US" altLang="en-US" sz="1800"/>
          </a:p>
        </p:txBody>
      </p:sp>
      <p:graphicFrame>
        <p:nvGraphicFramePr>
          <p:cNvPr id="4" name="Table 3"/>
          <p:cNvGraphicFramePr/>
          <p:nvPr>
            <p:custDataLst>
              <p:tags r:id="rId1"/>
            </p:custDataLst>
          </p:nvPr>
        </p:nvGraphicFramePr>
        <p:xfrm>
          <a:off x="3331210" y="506730"/>
          <a:ext cx="8435340" cy="6070600"/>
        </p:xfrm>
        <a:graphic>
          <a:graphicData uri="http://schemas.openxmlformats.org/drawingml/2006/table">
            <a:tbl>
              <a:tblPr/>
              <a:tblGrid>
                <a:gridCol w="2113915"/>
                <a:gridCol w="3509645"/>
                <a:gridCol w="2811780"/>
              </a:tblGrid>
              <a:tr h="758825">
                <a:tc>
                  <a:txBody>
                    <a:bodyPr/>
                    <a:p>
                      <a:pPr algn="ctr"/>
                      <a:r>
                        <a:rPr sz="2000" b="1">
                          <a:solidFill>
                            <a:srgbClr val="FF0000"/>
                          </a:solidFill>
                        </a:rPr>
                        <a:t>Feature</a:t>
                      </a:r>
                      <a:endParaRPr sz="2000" b="1">
                        <a:solidFill>
                          <a:srgbClr val="FF0000"/>
                        </a:solidFill>
                      </a:endParaRPr>
                    </a:p>
                  </a:txBody>
                  <a:tcPr marL="0" marR="0" marT="0" marB="0" anchor="ctr" anchorCtr="0">
                    <a:lnL>
                      <a:noFill/>
                    </a:lnL>
                    <a:lnR>
                      <a:noFill/>
                    </a:lnR>
                    <a:lnT>
                      <a:noFill/>
                    </a:lnT>
                    <a:lnB>
                      <a:noFill/>
                    </a:lnB>
                    <a:noFill/>
                  </a:tcPr>
                </a:tc>
                <a:tc>
                  <a:txBody>
                    <a:bodyPr/>
                    <a:p>
                      <a:pPr algn="ctr"/>
                      <a:r>
                        <a:rPr sz="2000" b="1">
                          <a:solidFill>
                            <a:srgbClr val="FF0000"/>
                          </a:solidFill>
                        </a:rPr>
                        <a:t>Method Overloading</a:t>
                      </a:r>
                      <a:endParaRPr sz="2000" b="1">
                        <a:solidFill>
                          <a:srgbClr val="FF0000"/>
                        </a:solidFill>
                      </a:endParaRPr>
                    </a:p>
                  </a:txBody>
                  <a:tcPr marL="0" marR="0" marT="0" marB="0" anchor="ctr" anchorCtr="0">
                    <a:lnL>
                      <a:noFill/>
                    </a:lnL>
                    <a:lnR>
                      <a:noFill/>
                    </a:lnR>
                    <a:lnT>
                      <a:noFill/>
                    </a:lnT>
                    <a:lnB>
                      <a:noFill/>
                    </a:lnB>
                    <a:noFill/>
                  </a:tcPr>
                </a:tc>
                <a:tc>
                  <a:txBody>
                    <a:bodyPr/>
                    <a:p>
                      <a:pPr algn="ctr"/>
                      <a:r>
                        <a:rPr sz="2000" b="1">
                          <a:solidFill>
                            <a:srgbClr val="FF0000"/>
                          </a:solidFill>
                        </a:rPr>
                        <a:t>Method Overriding</a:t>
                      </a:r>
                      <a:endParaRPr sz="2000" b="1">
                        <a:solidFill>
                          <a:srgbClr val="FF0000"/>
                        </a:solidFill>
                      </a:endParaRPr>
                    </a:p>
                  </a:txBody>
                  <a:tcPr marL="0" marR="0" marT="0" marB="0" anchor="ctr" anchorCtr="0">
                    <a:lnL>
                      <a:noFill/>
                    </a:lnL>
                    <a:lnR>
                      <a:noFill/>
                    </a:lnR>
                    <a:lnT>
                      <a:noFill/>
                    </a:lnT>
                    <a:lnB>
                      <a:noFill/>
                    </a:lnB>
                    <a:noFill/>
                  </a:tcPr>
                </a:tc>
              </a:tr>
              <a:tr h="758825">
                <a:tc>
                  <a:txBody>
                    <a:bodyPr/>
                    <a:p>
                      <a:r>
                        <a:rPr sz="1600"/>
                        <a:t>Definition</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Same method name, different parameters</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Same method name, same parameters, but in subclass</a:t>
                      </a:r>
                      <a:endParaRPr sz="1600"/>
                    </a:p>
                  </a:txBody>
                  <a:tcPr marL="0" marR="0" marT="0" marB="0" anchor="ctr" anchorCtr="0">
                    <a:lnL>
                      <a:noFill/>
                    </a:lnL>
                    <a:lnR>
                      <a:noFill/>
                    </a:lnR>
                    <a:lnT>
                      <a:noFill/>
                    </a:lnT>
                    <a:lnB>
                      <a:noFill/>
                    </a:lnB>
                    <a:solidFill>
                      <a:schemeClr val="accent1">
                        <a:lumMod val="40000"/>
                        <a:lumOff val="60000"/>
                      </a:schemeClr>
                    </a:solidFill>
                  </a:tcPr>
                </a:tc>
              </a:tr>
              <a:tr h="758825">
                <a:tc>
                  <a:txBody>
                    <a:bodyPr/>
                    <a:p>
                      <a:r>
                        <a:rPr sz="1600"/>
                        <a:t>Where it occurs</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Within the same class</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Between superclass and subclass</a:t>
                      </a:r>
                      <a:endParaRPr sz="1600"/>
                    </a:p>
                  </a:txBody>
                  <a:tcPr marL="0" marR="0" marT="0" marB="0" anchor="ctr" anchorCtr="0">
                    <a:lnL>
                      <a:noFill/>
                    </a:lnL>
                    <a:lnR>
                      <a:noFill/>
                    </a:lnR>
                    <a:lnT>
                      <a:noFill/>
                    </a:lnT>
                    <a:lnB>
                      <a:noFill/>
                    </a:lnB>
                    <a:solidFill>
                      <a:schemeClr val="accent1">
                        <a:lumMod val="40000"/>
                        <a:lumOff val="60000"/>
                      </a:schemeClr>
                    </a:solidFill>
                  </a:tcPr>
                </a:tc>
              </a:tr>
              <a:tr h="758825">
                <a:tc>
                  <a:txBody>
                    <a:bodyPr/>
                    <a:p>
                      <a:r>
                        <a:rPr sz="1600"/>
                        <a:t>Inheritance required?</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No</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 Yes</a:t>
                      </a:r>
                      <a:r>
                        <a:rPr lang="en-US" sz="1600"/>
                        <a:t>(Single Level)</a:t>
                      </a:r>
                      <a:endParaRPr lang="en-US" sz="1600"/>
                    </a:p>
                  </a:txBody>
                  <a:tcPr marL="0" marR="0" marT="0" marB="0" anchor="ctr" anchorCtr="0">
                    <a:lnL>
                      <a:noFill/>
                    </a:lnL>
                    <a:lnR>
                      <a:noFill/>
                    </a:lnR>
                    <a:lnT>
                      <a:noFill/>
                    </a:lnT>
                    <a:lnB>
                      <a:noFill/>
                    </a:lnB>
                    <a:solidFill>
                      <a:schemeClr val="accent1">
                        <a:lumMod val="40000"/>
                        <a:lumOff val="60000"/>
                      </a:schemeClr>
                    </a:solidFill>
                  </a:tcPr>
                </a:tc>
              </a:tr>
              <a:tr h="758825">
                <a:tc>
                  <a:txBody>
                    <a:bodyPr/>
                    <a:p>
                      <a:r>
                        <a:rPr sz="1600"/>
                        <a:t>Return type</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Can be same or different</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Must be same or covariant</a:t>
                      </a:r>
                      <a:endParaRPr sz="1600"/>
                    </a:p>
                  </a:txBody>
                  <a:tcPr marL="0" marR="0" marT="0" marB="0" anchor="ctr" anchorCtr="0">
                    <a:lnL>
                      <a:noFill/>
                    </a:lnL>
                    <a:lnR>
                      <a:noFill/>
                    </a:lnR>
                    <a:lnT>
                      <a:noFill/>
                    </a:lnT>
                    <a:lnB>
                      <a:noFill/>
                    </a:lnB>
                    <a:solidFill>
                      <a:schemeClr val="accent1">
                        <a:lumMod val="40000"/>
                        <a:lumOff val="60000"/>
                      </a:schemeClr>
                    </a:solidFill>
                  </a:tcPr>
                </a:tc>
              </a:tr>
              <a:tr h="758825">
                <a:tc>
                  <a:txBody>
                    <a:bodyPr/>
                    <a:p>
                      <a:r>
                        <a:rPr sz="1600"/>
                        <a:t>Access Modifier</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No restriction</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Cannot reduce visibility</a:t>
                      </a:r>
                      <a:endParaRPr sz="1600"/>
                    </a:p>
                  </a:txBody>
                  <a:tcPr marL="0" marR="0" marT="0" marB="0" anchor="ctr" anchorCtr="0">
                    <a:lnL>
                      <a:noFill/>
                    </a:lnL>
                    <a:lnR>
                      <a:noFill/>
                    </a:lnR>
                    <a:lnT>
                      <a:noFill/>
                    </a:lnT>
                    <a:lnB>
                      <a:noFill/>
                    </a:lnB>
                    <a:solidFill>
                      <a:schemeClr val="accent1">
                        <a:lumMod val="40000"/>
                        <a:lumOff val="60000"/>
                      </a:schemeClr>
                    </a:solidFill>
                  </a:tcPr>
                </a:tc>
              </a:tr>
              <a:tr h="758825">
                <a:tc>
                  <a:txBody>
                    <a:bodyPr/>
                    <a:p>
                      <a:r>
                        <a:rPr sz="1600"/>
                        <a:t>Static/Private methods?</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 Can be overloaded</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 Cannot be overridden</a:t>
                      </a:r>
                      <a:endParaRPr sz="1600"/>
                    </a:p>
                  </a:txBody>
                  <a:tcPr marL="0" marR="0" marT="0" marB="0" anchor="ctr" anchorCtr="0">
                    <a:lnL>
                      <a:noFill/>
                    </a:lnL>
                    <a:lnR>
                      <a:noFill/>
                    </a:lnR>
                    <a:lnT>
                      <a:noFill/>
                    </a:lnT>
                    <a:lnB>
                      <a:noFill/>
                    </a:lnB>
                    <a:solidFill>
                      <a:schemeClr val="accent1">
                        <a:lumMod val="40000"/>
                        <a:lumOff val="60000"/>
                      </a:schemeClr>
                    </a:solidFill>
                  </a:tcPr>
                </a:tc>
              </a:tr>
              <a:tr h="758825">
                <a:tc>
                  <a:txBody>
                    <a:bodyPr/>
                    <a:p>
                      <a:r>
                        <a:rPr sz="1600"/>
                        <a:t>Binding time</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Compile time (static binding)</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Runtime (dynamic binding)</a:t>
                      </a:r>
                      <a:endParaRPr sz="16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1353800" cy="431800"/>
          </a:xfrm>
        </p:spPr>
        <p:txBody>
          <a:bodyPr>
            <a:normAutofit fontScale="90000"/>
          </a:bodyPr>
          <a:p>
            <a:pPr algn="ctr"/>
            <a:r>
              <a:rPr lang="en-US" sz="2400" b="1">
                <a:solidFill>
                  <a:srgbClr val="FF0000"/>
                </a:solidFill>
              </a:rPr>
              <a:t>Java Abstract Class And Abstract Method</a:t>
            </a:r>
            <a:endParaRPr lang="en-US" sz="2400" b="1">
              <a:solidFill>
                <a:srgbClr val="FF0000"/>
              </a:solidFill>
            </a:endParaRPr>
          </a:p>
        </p:txBody>
      </p:sp>
      <p:sp>
        <p:nvSpPr>
          <p:cNvPr id="3" name="Content Placeholder 2"/>
          <p:cNvSpPr>
            <a:spLocks noGrp="1"/>
          </p:cNvSpPr>
          <p:nvPr>
            <p:ph idx="1"/>
          </p:nvPr>
        </p:nvSpPr>
        <p:spPr>
          <a:xfrm>
            <a:off x="106680" y="431800"/>
            <a:ext cx="11979910" cy="6315710"/>
          </a:xfrm>
        </p:spPr>
        <p:txBody>
          <a:bodyPr>
            <a:normAutofit/>
          </a:bodyPr>
          <a:p>
            <a:pPr marL="0" indent="0">
              <a:buNone/>
            </a:pPr>
            <a:r>
              <a:rPr lang="en-US" altLang="en-US" sz="2000" b="1"/>
              <a:t>What is an Abstract Class in Java?</a:t>
            </a:r>
            <a:endParaRPr lang="en-US" altLang="en-US" sz="2000"/>
          </a:p>
          <a:p>
            <a:pPr marL="0" indent="0">
              <a:buNone/>
            </a:pPr>
            <a:r>
              <a:rPr lang="en-US" altLang="en-US" sz="2000"/>
              <a:t>An abstract class is a class that cannot be instantiated (you can't create objects from it) and may contain abstract methods (methods without a body).</a:t>
            </a:r>
            <a:endParaRPr lang="en-US" altLang="en-US" sz="2000"/>
          </a:p>
          <a:p>
            <a:pPr marL="0" indent="0">
              <a:buNone/>
            </a:pPr>
            <a:r>
              <a:rPr lang="en-US" altLang="en-US" sz="2000"/>
              <a:t>It is used as a base class that other classes can extend and implement the missing methods.</a:t>
            </a:r>
            <a:endParaRPr lang="en-US" altLang="en-US" sz="2000"/>
          </a:p>
          <a:p>
            <a:pPr marL="0" indent="0">
              <a:buNone/>
            </a:pPr>
            <a:endParaRPr lang="en-US" altLang="en-US" sz="2000"/>
          </a:p>
          <a:p>
            <a:pPr marL="457200" indent="-457200">
              <a:buFont typeface="+mj-lt"/>
              <a:buAutoNum type="arabicPeriod"/>
            </a:pPr>
            <a:r>
              <a:rPr lang="en-US" altLang="en-US" sz="2000"/>
              <a:t>Declared using the abstract keyword.</a:t>
            </a:r>
            <a:endParaRPr lang="en-US" altLang="en-US" sz="2000"/>
          </a:p>
          <a:p>
            <a:pPr marL="457200" indent="-457200">
              <a:buFont typeface="+mj-lt"/>
              <a:buAutoNum type="arabicPeriod"/>
            </a:pPr>
            <a:r>
              <a:rPr lang="en-US" altLang="en-US" sz="2000"/>
              <a:t>Can have both abstract methods and concrete methods (methods with body).</a:t>
            </a:r>
            <a:endParaRPr lang="en-US" altLang="en-US" sz="2000"/>
          </a:p>
          <a:p>
            <a:pPr marL="457200" indent="-457200">
              <a:buFont typeface="+mj-lt"/>
              <a:buAutoNum type="arabicPeriod"/>
            </a:pPr>
            <a:r>
              <a:rPr lang="en-US" altLang="en-US" sz="2000"/>
              <a:t>Used to provide partial implementation.</a:t>
            </a:r>
            <a:endParaRPr lang="en-US" altLang="en-US" sz="2000"/>
          </a:p>
          <a:p>
            <a:pPr marL="0" indent="0">
              <a:buNone/>
            </a:pPr>
            <a:endParaRPr lang="en-US" altLang="en-US" sz="2000"/>
          </a:p>
          <a:p>
            <a:pPr marL="0" indent="0">
              <a:buNone/>
            </a:pPr>
            <a:r>
              <a:rPr lang="en-US" altLang="en-US" sz="2000" b="1"/>
              <a:t>What is an Abstract Method in Java?</a:t>
            </a:r>
            <a:endParaRPr lang="en-US" altLang="en-US" sz="2000" b="1"/>
          </a:p>
          <a:p>
            <a:pPr marL="0" indent="0">
              <a:buNone/>
            </a:pPr>
            <a:r>
              <a:rPr lang="en-US" altLang="en-US" sz="2000"/>
              <a:t>An abstract method is a method that has no body – just a method signature. It must be</a:t>
            </a:r>
            <a:endParaRPr lang="en-US" altLang="en-US" sz="2000"/>
          </a:p>
          <a:p>
            <a:pPr marL="0" indent="0">
              <a:buNone/>
            </a:pPr>
            <a:r>
              <a:rPr lang="en-US" altLang="en-US" sz="2000"/>
              <a:t> implemented by subclasses of the abstract class.</a:t>
            </a:r>
            <a:endParaRPr lang="en-US" altLang="en-US" sz="2000"/>
          </a:p>
          <a:p>
            <a:pPr marL="0" indent="0">
              <a:buNone/>
            </a:pPr>
            <a:r>
              <a:rPr lang="en-US" altLang="en-US" sz="2000"/>
              <a:t> Key Points:</a:t>
            </a:r>
            <a:endParaRPr lang="en-US" altLang="en-US" sz="2000"/>
          </a:p>
          <a:p>
            <a:pPr marL="457200" indent="-457200">
              <a:buAutoNum type="arabicPeriod"/>
            </a:pPr>
            <a:r>
              <a:rPr lang="en-US" altLang="en-US" sz="2000"/>
              <a:t>Declared using the abstract keyword.</a:t>
            </a:r>
            <a:endParaRPr lang="en-US" altLang="en-US" sz="2000"/>
          </a:p>
          <a:p>
            <a:pPr marL="457200" indent="-457200">
              <a:buAutoNum type="arabicPeriod"/>
            </a:pPr>
            <a:r>
              <a:rPr lang="en-US" altLang="en-US" sz="2000"/>
              <a:t>Ends with a semicolon (;) instead of a body.</a:t>
            </a:r>
            <a:endParaRPr lang="en-US" altLang="en-US" sz="2000"/>
          </a:p>
          <a:p>
            <a:pPr marL="457200" indent="-457200">
              <a:buAutoNum type="arabicPeriod"/>
            </a:pPr>
            <a:r>
              <a:rPr lang="en-US" altLang="en-US" sz="2000"/>
              <a:t>Can only exist inside an abstract class.</a:t>
            </a:r>
            <a:endParaRPr lang="en-US" altLang="en-US" sz="20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16840"/>
            <a:ext cx="10515600" cy="490855"/>
          </a:xfrm>
        </p:spPr>
        <p:txBody>
          <a:bodyPr/>
          <a:p>
            <a:pPr algn="ctr"/>
            <a:r>
              <a:rPr lang="en-US" sz="2400" b="1">
                <a:solidFill>
                  <a:srgbClr val="FF0000"/>
                </a:solidFill>
              </a:rPr>
              <a:t>Java Abstract class Continued</a:t>
            </a:r>
            <a:endParaRPr lang="en-US" sz="2400" b="1">
              <a:solidFill>
                <a:srgbClr val="FF0000"/>
              </a:solidFill>
            </a:endParaRPr>
          </a:p>
        </p:txBody>
      </p:sp>
      <p:graphicFrame>
        <p:nvGraphicFramePr>
          <p:cNvPr id="4" name="Table 3"/>
          <p:cNvGraphicFramePr/>
          <p:nvPr>
            <p:custDataLst>
              <p:tags r:id="rId1"/>
            </p:custDataLst>
          </p:nvPr>
        </p:nvGraphicFramePr>
        <p:xfrm>
          <a:off x="91440" y="607695"/>
          <a:ext cx="11980545" cy="2461260"/>
        </p:xfrm>
        <a:graphic>
          <a:graphicData uri="http://schemas.openxmlformats.org/drawingml/2006/table">
            <a:tbl>
              <a:tblPr/>
              <a:tblGrid>
                <a:gridCol w="3993515"/>
                <a:gridCol w="3993515"/>
                <a:gridCol w="3993515"/>
              </a:tblGrid>
              <a:tr h="410210">
                <a:tc>
                  <a:txBody>
                    <a:bodyPr/>
                    <a:p>
                      <a:pPr algn="ctr"/>
                      <a:r>
                        <a:rPr sz="2000" b="1">
                          <a:solidFill>
                            <a:srgbClr val="FF0000"/>
                          </a:solidFill>
                        </a:rPr>
                        <a:t>Feature</a:t>
                      </a:r>
                      <a:endParaRPr sz="20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b="1">
                          <a:solidFill>
                            <a:srgbClr val="FF0000"/>
                          </a:solidFill>
                        </a:rPr>
                        <a:t>Abstract Class</a:t>
                      </a:r>
                      <a:endParaRPr sz="20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b="1">
                          <a:solidFill>
                            <a:srgbClr val="FF0000"/>
                          </a:solidFill>
                        </a:rPr>
                        <a:t>Abstract Method</a:t>
                      </a:r>
                      <a:endParaRPr sz="20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r>
              <a:tr h="410210">
                <a:tc>
                  <a:txBody>
                    <a:bodyPr/>
                    <a:p>
                      <a:r>
                        <a:rPr sz="1600"/>
                        <a:t>Purpose</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Base class</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To be implemented by subclasses</a:t>
                      </a:r>
                      <a:endParaRPr sz="1600"/>
                    </a:p>
                  </a:txBody>
                  <a:tcPr marL="0" marR="0" marT="0" marB="0" anchor="ctr" anchorCtr="0">
                    <a:lnL>
                      <a:noFill/>
                    </a:lnL>
                    <a:lnR>
                      <a:noFill/>
                    </a:lnR>
                    <a:lnT>
                      <a:noFill/>
                    </a:lnT>
                    <a:lnB>
                      <a:noFill/>
                    </a:lnB>
                    <a:solidFill>
                      <a:schemeClr val="accent1">
                        <a:lumMod val="40000"/>
                        <a:lumOff val="60000"/>
                      </a:schemeClr>
                    </a:solidFill>
                  </a:tcPr>
                </a:tc>
              </a:tr>
              <a:tr h="410210">
                <a:tc>
                  <a:txBody>
                    <a:bodyPr/>
                    <a:p>
                      <a:r>
                        <a:rPr sz="1600"/>
                        <a:t>Body</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May have body</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No body (ends with ;)</a:t>
                      </a:r>
                      <a:endParaRPr sz="1600"/>
                    </a:p>
                  </a:txBody>
                  <a:tcPr marL="0" marR="0" marT="0" marB="0" anchor="ctr" anchorCtr="0">
                    <a:lnL>
                      <a:noFill/>
                    </a:lnL>
                    <a:lnR>
                      <a:noFill/>
                    </a:lnR>
                    <a:lnT>
                      <a:noFill/>
                    </a:lnT>
                    <a:lnB>
                      <a:noFill/>
                    </a:lnB>
                    <a:solidFill>
                      <a:schemeClr val="accent1">
                        <a:lumMod val="40000"/>
                        <a:lumOff val="60000"/>
                      </a:schemeClr>
                    </a:solidFill>
                  </a:tcPr>
                </a:tc>
              </a:tr>
              <a:tr h="410210">
                <a:tc>
                  <a:txBody>
                    <a:bodyPr/>
                    <a:p>
                      <a:r>
                        <a:rPr sz="1600"/>
                        <a:t>Keyword</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abstract class</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abstract in method declaration</a:t>
                      </a:r>
                      <a:endParaRPr sz="1600"/>
                    </a:p>
                  </a:txBody>
                  <a:tcPr marL="0" marR="0" marT="0" marB="0" anchor="ctr" anchorCtr="0">
                    <a:lnL>
                      <a:noFill/>
                    </a:lnL>
                    <a:lnR>
                      <a:noFill/>
                    </a:lnR>
                    <a:lnT>
                      <a:noFill/>
                    </a:lnT>
                    <a:lnB>
                      <a:noFill/>
                    </a:lnB>
                    <a:solidFill>
                      <a:schemeClr val="accent1">
                        <a:lumMod val="40000"/>
                        <a:lumOff val="60000"/>
                      </a:schemeClr>
                    </a:solidFill>
                  </a:tcPr>
                </a:tc>
              </a:tr>
              <a:tr h="410210">
                <a:tc>
                  <a:txBody>
                    <a:bodyPr/>
                    <a:p>
                      <a:r>
                        <a:rPr sz="1600"/>
                        <a:t>Inheritance</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Must be extended</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Must be overridden in child class</a:t>
                      </a:r>
                      <a:endParaRPr sz="1600"/>
                    </a:p>
                  </a:txBody>
                  <a:tcPr marL="0" marR="0" marT="0" marB="0" anchor="ctr" anchorCtr="0">
                    <a:lnL>
                      <a:noFill/>
                    </a:lnL>
                    <a:lnR>
                      <a:noFill/>
                    </a:lnR>
                    <a:lnT>
                      <a:noFill/>
                    </a:lnT>
                    <a:lnB>
                      <a:noFill/>
                    </a:lnB>
                    <a:solidFill>
                      <a:schemeClr val="accent1">
                        <a:lumMod val="40000"/>
                        <a:lumOff val="60000"/>
                      </a:schemeClr>
                    </a:solidFill>
                  </a:tcPr>
                </a:tc>
              </a:tr>
              <a:tr h="410210">
                <a:tc>
                  <a:txBody>
                    <a:bodyPr/>
                    <a:p>
                      <a:r>
                        <a:rPr sz="1600"/>
                        <a:t>Instantiation</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Cannot be instantiated</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N/A (belongs to abstract class)</a:t>
                      </a:r>
                      <a:endParaRPr sz="16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sp>
        <p:nvSpPr>
          <p:cNvPr id="5" name="Text Box 4"/>
          <p:cNvSpPr txBox="1"/>
          <p:nvPr/>
        </p:nvSpPr>
        <p:spPr>
          <a:xfrm>
            <a:off x="91440" y="3214370"/>
            <a:ext cx="11979910" cy="3133090"/>
          </a:xfrm>
          <a:prstGeom prst="rect">
            <a:avLst/>
          </a:prstGeom>
        </p:spPr>
        <p:txBody>
          <a:bodyPr wrap="square">
            <a:noAutofit/>
          </a:bodyPr>
          <a:p>
            <a:pPr>
              <a:spcAft>
                <a:spcPct val="60000"/>
              </a:spcAft>
            </a:pPr>
            <a:r>
              <a:rPr sz="2200" b="1"/>
              <a:t>Why can't an abstract class be instantiated in Java?</a:t>
            </a:r>
            <a:endParaRPr sz="2200" b="1"/>
          </a:p>
          <a:p>
            <a:r>
              <a:rPr sz="1600"/>
              <a:t>An abstract class cannot be instantiated because it is incomplete. It may contain abstract methods, which have no implementation (no method body). Since Java can't create an object from a class that doesn't fully define how its methods work, it prevents instantiating abstract classes.</a:t>
            </a:r>
            <a:endParaRPr sz="1600"/>
          </a:p>
          <a:p>
            <a:endParaRPr sz="1600"/>
          </a:p>
          <a:p>
            <a:r>
              <a:rPr lang="en-US" altLang="en-US" sz="1600"/>
              <a:t>An abstract class cannot be instantiated because it may not have complete method definitions, and Java requires complete implementation to create an object.</a:t>
            </a:r>
            <a:endParaRPr lang="en-US" altLang="en-US" sz="1600"/>
          </a:p>
          <a:p>
            <a:endParaRPr lang="en-US" altLang="en-US" sz="1600"/>
          </a:p>
          <a:p>
            <a:r>
              <a:rPr lang="en-US" altLang="en-US" sz="1600"/>
              <a:t>interface -&gt;abstract class</a:t>
            </a:r>
            <a:endParaRPr lang="en-US" altLang="en-US" sz="16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1600"/>
            <a:ext cx="10515600" cy="344805"/>
          </a:xfrm>
        </p:spPr>
        <p:txBody>
          <a:bodyPr>
            <a:normAutofit fontScale="90000"/>
          </a:bodyPr>
          <a:p>
            <a:pPr algn="ctr"/>
            <a:r>
              <a:rPr lang="en-US" sz="2800" b="1">
                <a:solidFill>
                  <a:srgbClr val="FF0000"/>
                </a:solidFill>
              </a:rPr>
              <a:t>Java Packages And Interfaces</a:t>
            </a:r>
            <a:endParaRPr lang="en-US" sz="2800" b="1">
              <a:solidFill>
                <a:srgbClr val="FF0000"/>
              </a:solidFill>
            </a:endParaRPr>
          </a:p>
        </p:txBody>
      </p:sp>
      <p:sp>
        <p:nvSpPr>
          <p:cNvPr id="3" name="Content Placeholder 2"/>
          <p:cNvSpPr>
            <a:spLocks noGrp="1"/>
          </p:cNvSpPr>
          <p:nvPr>
            <p:ph idx="1"/>
          </p:nvPr>
        </p:nvSpPr>
        <p:spPr>
          <a:xfrm>
            <a:off x="135255" y="447040"/>
            <a:ext cx="11891645" cy="6228080"/>
          </a:xfrm>
        </p:spPr>
        <p:txBody>
          <a:bodyPr>
            <a:normAutofit/>
          </a:bodyPr>
          <a:p>
            <a:r>
              <a:rPr lang="en-US" altLang="en-US" sz="1800">
                <a:latin typeface="Cambria" panose="02040503050406030204" charset="0"/>
                <a:cs typeface="Cambria" panose="02040503050406030204" charset="0"/>
              </a:rPr>
              <a:t>In Java, an interface is a blueprint for a class. It is a reference type, similar to a class, but it only contains method declarations (by default) — no implementations (until Java 8+). It is used to achieve abstraction and multiple inheritance.</a:t>
            </a:r>
            <a:endParaRPr lang="en-US" altLang="en-US" sz="1800">
              <a:latin typeface="Cambria" panose="02040503050406030204" charset="0"/>
              <a:cs typeface="Cambria" panose="02040503050406030204" charset="0"/>
            </a:endParaRPr>
          </a:p>
          <a:p>
            <a:r>
              <a:rPr lang="en-US" altLang="en-US" sz="2400"/>
              <a:t> Key Points about Interfaces:</a:t>
            </a:r>
            <a:endParaRPr lang="en-US" altLang="en-US" sz="2400"/>
          </a:p>
          <a:p>
            <a:pPr marL="457200" indent="-457200">
              <a:buAutoNum type="arabicPeriod"/>
            </a:pPr>
            <a:r>
              <a:rPr lang="en-US" altLang="en-US" sz="2000"/>
              <a:t>Declared using the </a:t>
            </a:r>
            <a:r>
              <a:rPr lang="en-US" altLang="en-US" sz="2000" b="1"/>
              <a:t>interface </a:t>
            </a:r>
            <a:r>
              <a:rPr lang="en-US" altLang="en-US" sz="2000"/>
              <a:t>keyword.</a:t>
            </a:r>
            <a:endParaRPr lang="en-US" altLang="en-US" sz="2000"/>
          </a:p>
          <a:p>
            <a:pPr marL="457200" indent="-457200">
              <a:buAutoNum type="arabicPeriod"/>
            </a:pPr>
            <a:r>
              <a:rPr lang="en-US" altLang="en-US" sz="2000"/>
              <a:t>Cannot have constructors (you can’t create objects directly).</a:t>
            </a:r>
            <a:endParaRPr lang="en-US" altLang="en-US" sz="2000"/>
          </a:p>
          <a:p>
            <a:pPr marL="457200" indent="-457200">
              <a:buAutoNum type="arabicPeriod"/>
            </a:pPr>
            <a:r>
              <a:rPr lang="en-US" altLang="en-US" sz="2000"/>
              <a:t>All methods are abstract (no body) by default — until Java 8.</a:t>
            </a:r>
            <a:endParaRPr lang="en-US" altLang="en-US" sz="2000"/>
          </a:p>
          <a:p>
            <a:pPr marL="457200" indent="-457200">
              <a:buAutoNum type="arabicPeriod"/>
            </a:pPr>
            <a:r>
              <a:rPr lang="en-US" altLang="en-US" sz="2000"/>
              <a:t>All variables are public static final (constants).</a:t>
            </a:r>
            <a:endParaRPr lang="en-US" altLang="en-US" sz="2000"/>
          </a:p>
          <a:p>
            <a:pPr marL="457200" indent="-457200">
              <a:buAutoNum type="arabicPeriod"/>
            </a:pPr>
            <a:r>
              <a:rPr lang="en-US" altLang="en-US" sz="2000"/>
              <a:t>A class </a:t>
            </a:r>
            <a:r>
              <a:rPr lang="en-US" altLang="en-US" sz="2000" b="1"/>
              <a:t>implements </a:t>
            </a:r>
            <a:r>
              <a:rPr lang="en-US" altLang="en-US" sz="2000"/>
              <a:t>an interface (not extends).</a:t>
            </a:r>
            <a:endParaRPr lang="en-US" altLang="en-US" sz="2000"/>
          </a:p>
          <a:p>
            <a:pPr marL="457200" indent="-457200">
              <a:buAutoNum type="arabicPeriod"/>
            </a:pPr>
            <a:r>
              <a:rPr lang="en-US" altLang="en-US" sz="2000"/>
              <a:t>A class can implement multiple interfaces (Java supports multiple inheritance via interfaces).</a:t>
            </a:r>
            <a:endParaRPr lang="en-US" altLang="en-US" sz="2000"/>
          </a:p>
          <a:p>
            <a:pPr marL="457200" indent="-457200">
              <a:buAutoNum type="arabicPeriod"/>
            </a:pPr>
            <a:r>
              <a:rPr lang="en-US" altLang="en-US" sz="2000"/>
              <a:t>From Java 8 onwards, interfaces can have:</a:t>
            </a:r>
            <a:endParaRPr lang="en-US" altLang="en-US" sz="2000"/>
          </a:p>
          <a:p>
            <a:pPr marL="457200" indent="-457200">
              <a:buAutoNum type="arabicPeriod"/>
            </a:pPr>
            <a:r>
              <a:rPr lang="en-US" altLang="en-US" sz="2000" b="1"/>
              <a:t>default methods (with a body)</a:t>
            </a:r>
            <a:endParaRPr lang="en-US" altLang="en-US" sz="2000" b="1"/>
          </a:p>
          <a:p>
            <a:pPr marL="457200" indent="-457200">
              <a:buAutoNum type="arabicPeriod"/>
            </a:pPr>
            <a:r>
              <a:rPr lang="en-US" altLang="en-US" sz="2000" b="1"/>
              <a:t>static methods</a:t>
            </a:r>
            <a:endParaRPr lang="en-US" altLang="en-US" sz="2700"/>
          </a:p>
          <a:p>
            <a:pPr marL="457200" indent="-457200">
              <a:buAutoNum type="arabicPeriod"/>
            </a:pPr>
            <a:endParaRPr lang="en-US" altLang="en-US" sz="27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5219065" cy="520065"/>
          </a:xfrm>
        </p:spPr>
        <p:txBody>
          <a:bodyPr>
            <a:noAutofit/>
          </a:bodyPr>
          <a:p>
            <a:r>
              <a:rPr lang="en-US" sz="1800"/>
              <a:t>Difference Between Abstract Class and concrete class</a:t>
            </a:r>
            <a:endParaRPr lang="en-US" sz="1800"/>
          </a:p>
        </p:txBody>
      </p:sp>
      <p:graphicFrame>
        <p:nvGraphicFramePr>
          <p:cNvPr id="5" name="Table 4"/>
          <p:cNvGraphicFramePr/>
          <p:nvPr>
            <p:custDataLst>
              <p:tags r:id="rId1"/>
            </p:custDataLst>
          </p:nvPr>
        </p:nvGraphicFramePr>
        <p:xfrm>
          <a:off x="113665" y="520065"/>
          <a:ext cx="5105400" cy="3221355"/>
        </p:xfrm>
        <a:graphic>
          <a:graphicData uri="http://schemas.openxmlformats.org/drawingml/2006/table">
            <a:tbl>
              <a:tblPr/>
              <a:tblGrid>
                <a:gridCol w="1015365"/>
                <a:gridCol w="2388235"/>
                <a:gridCol w="1701800"/>
              </a:tblGrid>
              <a:tr h="440055">
                <a:tc>
                  <a:txBody>
                    <a:bodyPr/>
                    <a:p>
                      <a:pPr algn="ctr"/>
                      <a:r>
                        <a:rPr sz="1800" b="1">
                          <a:solidFill>
                            <a:srgbClr val="FF0000"/>
                          </a:solidFill>
                        </a:rPr>
                        <a:t>Feature</a:t>
                      </a:r>
                      <a:endParaRPr sz="18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800" b="1">
                          <a:solidFill>
                            <a:srgbClr val="FF0000"/>
                          </a:solidFill>
                        </a:rPr>
                        <a:t>Abstract Class</a:t>
                      </a:r>
                      <a:endParaRPr sz="18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800" b="1">
                          <a:solidFill>
                            <a:srgbClr val="FF0000"/>
                          </a:solidFill>
                        </a:rPr>
                        <a:t>Concrete Class</a:t>
                      </a:r>
                      <a:endParaRPr sz="18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r>
              <a:tr h="879475">
                <a:tc>
                  <a:txBody>
                    <a:bodyPr/>
                    <a:p>
                      <a:r>
                        <a:rPr sz="1400"/>
                        <a:t>Definition</a:t>
                      </a:r>
                      <a:endParaRPr sz="1400"/>
                    </a:p>
                  </a:txBody>
                  <a:tcPr marL="0" marR="0" marT="0" marB="0" anchor="ctr" anchorCtr="0">
                    <a:lnL>
                      <a:noFill/>
                    </a:lnL>
                    <a:lnR>
                      <a:noFill/>
                    </a:lnR>
                    <a:lnT>
                      <a:noFill/>
                    </a:lnT>
                    <a:lnB>
                      <a:noFill/>
                    </a:lnB>
                    <a:solidFill>
                      <a:schemeClr val="accent1">
                        <a:lumMod val="40000"/>
                        <a:lumOff val="60000"/>
                      </a:schemeClr>
                    </a:solidFill>
                  </a:tcPr>
                </a:tc>
                <a:tc>
                  <a:txBody>
                    <a:bodyPr/>
                    <a:p>
                      <a:r>
                        <a:rPr sz="1400"/>
                        <a:t>A class that cannot be instantiated and may have abstract methods.</a:t>
                      </a:r>
                      <a:endParaRPr sz="1400"/>
                    </a:p>
                  </a:txBody>
                  <a:tcPr marL="0" marR="0" marT="0" marB="0" anchor="ctr" anchorCtr="0">
                    <a:lnL>
                      <a:noFill/>
                    </a:lnL>
                    <a:lnR>
                      <a:noFill/>
                    </a:lnR>
                    <a:lnT>
                      <a:noFill/>
                    </a:lnT>
                    <a:lnB>
                      <a:noFill/>
                    </a:lnB>
                    <a:solidFill>
                      <a:schemeClr val="accent1">
                        <a:lumMod val="40000"/>
                        <a:lumOff val="60000"/>
                      </a:schemeClr>
                    </a:solidFill>
                  </a:tcPr>
                </a:tc>
                <a:tc>
                  <a:txBody>
                    <a:bodyPr/>
                    <a:p>
                      <a:r>
                        <a:rPr sz="1400"/>
                        <a:t>A fully defined class that can be instantiated.</a:t>
                      </a:r>
                      <a:endParaRPr sz="1400"/>
                    </a:p>
                  </a:txBody>
                  <a:tcPr marL="0" marR="0" marT="0" marB="0" anchor="ctr" anchorCtr="0">
                    <a:lnL>
                      <a:noFill/>
                    </a:lnL>
                    <a:lnR>
                      <a:noFill/>
                    </a:lnR>
                    <a:lnT>
                      <a:noFill/>
                    </a:lnT>
                    <a:lnB>
                      <a:noFill/>
                    </a:lnB>
                    <a:solidFill>
                      <a:schemeClr val="accent1">
                        <a:lumMod val="40000"/>
                        <a:lumOff val="60000"/>
                      </a:schemeClr>
                    </a:solidFill>
                  </a:tcPr>
                </a:tc>
              </a:tr>
              <a:tr h="511175">
                <a:tc>
                  <a:txBody>
                    <a:bodyPr/>
                    <a:p>
                      <a:r>
                        <a:rPr sz="1400"/>
                        <a:t>Purpose</a:t>
                      </a:r>
                      <a:endParaRPr sz="1400"/>
                    </a:p>
                  </a:txBody>
                  <a:tcPr marL="0" marR="0" marT="0" marB="0" anchor="ctr" anchorCtr="0">
                    <a:lnL>
                      <a:noFill/>
                    </a:lnL>
                    <a:lnR>
                      <a:noFill/>
                    </a:lnR>
                    <a:lnT>
                      <a:noFill/>
                    </a:lnT>
                    <a:lnB>
                      <a:noFill/>
                    </a:lnB>
                    <a:solidFill>
                      <a:schemeClr val="accent1">
                        <a:lumMod val="40000"/>
                        <a:lumOff val="60000"/>
                      </a:schemeClr>
                    </a:solidFill>
                  </a:tcPr>
                </a:tc>
                <a:tc>
                  <a:txBody>
                    <a:bodyPr/>
                    <a:p>
                      <a:r>
                        <a:rPr sz="1400"/>
                        <a:t>Used as a base class to be extended.</a:t>
                      </a:r>
                      <a:endParaRPr sz="1400"/>
                    </a:p>
                  </a:txBody>
                  <a:tcPr marL="0" marR="0" marT="0" marB="0" anchor="ctr" anchorCtr="0">
                    <a:lnL>
                      <a:noFill/>
                    </a:lnL>
                    <a:lnR>
                      <a:noFill/>
                    </a:lnR>
                    <a:lnT>
                      <a:noFill/>
                    </a:lnT>
                    <a:lnB>
                      <a:noFill/>
                    </a:lnB>
                    <a:solidFill>
                      <a:schemeClr val="accent1">
                        <a:lumMod val="40000"/>
                        <a:lumOff val="60000"/>
                      </a:schemeClr>
                    </a:solidFill>
                  </a:tcPr>
                </a:tc>
                <a:tc>
                  <a:txBody>
                    <a:bodyPr/>
                    <a:p>
                      <a:r>
                        <a:rPr sz="1400"/>
                        <a:t>Used to create actual objects.</a:t>
                      </a:r>
                      <a:endParaRPr sz="1400"/>
                    </a:p>
                  </a:txBody>
                  <a:tcPr marL="0" marR="0" marT="0" marB="0" anchor="ctr" anchorCtr="0">
                    <a:lnL>
                      <a:noFill/>
                    </a:lnL>
                    <a:lnR>
                      <a:noFill/>
                    </a:lnR>
                    <a:lnT>
                      <a:noFill/>
                    </a:lnT>
                    <a:lnB>
                      <a:noFill/>
                    </a:lnB>
                    <a:solidFill>
                      <a:schemeClr val="accent1">
                        <a:lumMod val="40000"/>
                        <a:lumOff val="60000"/>
                      </a:schemeClr>
                    </a:solidFill>
                  </a:tcPr>
                </a:tc>
              </a:tr>
              <a:tr h="511175">
                <a:tc>
                  <a:txBody>
                    <a:bodyPr/>
                    <a:p>
                      <a:r>
                        <a:rPr sz="1400"/>
                        <a:t>Contains</a:t>
                      </a:r>
                      <a:endParaRPr sz="1400"/>
                    </a:p>
                  </a:txBody>
                  <a:tcPr marL="0" marR="0" marT="0" marB="0" anchor="ctr" anchorCtr="0">
                    <a:lnL>
                      <a:noFill/>
                    </a:lnL>
                    <a:lnR>
                      <a:noFill/>
                    </a:lnR>
                    <a:lnT>
                      <a:noFill/>
                    </a:lnT>
                    <a:lnB>
                      <a:noFill/>
                    </a:lnB>
                    <a:solidFill>
                      <a:schemeClr val="accent1">
                        <a:lumMod val="40000"/>
                        <a:lumOff val="60000"/>
                      </a:schemeClr>
                    </a:solidFill>
                  </a:tcPr>
                </a:tc>
                <a:tc>
                  <a:txBody>
                    <a:bodyPr/>
                    <a:p>
                      <a:r>
                        <a:rPr sz="1400"/>
                        <a:t>Abstract + concrete methods</a:t>
                      </a:r>
                      <a:endParaRPr sz="1400"/>
                    </a:p>
                  </a:txBody>
                  <a:tcPr marL="0" marR="0" marT="0" marB="0" anchor="ctr" anchorCtr="0">
                    <a:lnL>
                      <a:noFill/>
                    </a:lnL>
                    <a:lnR>
                      <a:noFill/>
                    </a:lnR>
                    <a:lnT>
                      <a:noFill/>
                    </a:lnT>
                    <a:lnB>
                      <a:noFill/>
                    </a:lnB>
                    <a:solidFill>
                      <a:schemeClr val="accent1">
                        <a:lumMod val="40000"/>
                        <a:lumOff val="60000"/>
                      </a:schemeClr>
                    </a:solidFill>
                  </a:tcPr>
                </a:tc>
                <a:tc>
                  <a:txBody>
                    <a:bodyPr/>
                    <a:p>
                      <a:r>
                        <a:rPr sz="1400"/>
                        <a:t>Only concrete methods (with body).</a:t>
                      </a:r>
                      <a:endParaRPr sz="1400"/>
                    </a:p>
                  </a:txBody>
                  <a:tcPr marL="0" marR="0" marT="0" marB="0" anchor="ctr" anchorCtr="0">
                    <a:lnL>
                      <a:noFill/>
                    </a:lnL>
                    <a:lnR>
                      <a:noFill/>
                    </a:lnR>
                    <a:lnT>
                      <a:noFill/>
                    </a:lnT>
                    <a:lnB>
                      <a:noFill/>
                    </a:lnB>
                    <a:solidFill>
                      <a:schemeClr val="accent1">
                        <a:lumMod val="40000"/>
                        <a:lumOff val="60000"/>
                      </a:schemeClr>
                    </a:solidFill>
                  </a:tcPr>
                </a:tc>
              </a:tr>
              <a:tr h="439420">
                <a:tc>
                  <a:txBody>
                    <a:bodyPr/>
                    <a:p>
                      <a:r>
                        <a:rPr sz="1400"/>
                        <a:t>Instantiation</a:t>
                      </a:r>
                      <a:endParaRPr sz="1400"/>
                    </a:p>
                  </a:txBody>
                  <a:tcPr marL="0" marR="0" marT="0" marB="0" anchor="ctr" anchorCtr="0">
                    <a:lnL>
                      <a:noFill/>
                    </a:lnL>
                    <a:lnR>
                      <a:noFill/>
                    </a:lnR>
                    <a:lnT>
                      <a:noFill/>
                    </a:lnT>
                    <a:lnB>
                      <a:noFill/>
                    </a:lnB>
                    <a:solidFill>
                      <a:schemeClr val="accent1">
                        <a:lumMod val="40000"/>
                        <a:lumOff val="60000"/>
                      </a:schemeClr>
                    </a:solidFill>
                  </a:tcPr>
                </a:tc>
                <a:tc>
                  <a:txBody>
                    <a:bodyPr/>
                    <a:p>
                      <a:r>
                        <a:rPr sz="1400"/>
                        <a:t>❌ Cannot create objects</a:t>
                      </a:r>
                      <a:endParaRPr sz="1400"/>
                    </a:p>
                  </a:txBody>
                  <a:tcPr marL="0" marR="0" marT="0" marB="0" anchor="ctr" anchorCtr="0">
                    <a:lnL>
                      <a:noFill/>
                    </a:lnL>
                    <a:lnR>
                      <a:noFill/>
                    </a:lnR>
                    <a:lnT>
                      <a:noFill/>
                    </a:lnT>
                    <a:lnB>
                      <a:noFill/>
                    </a:lnB>
                    <a:solidFill>
                      <a:schemeClr val="accent1">
                        <a:lumMod val="40000"/>
                        <a:lumOff val="60000"/>
                      </a:schemeClr>
                    </a:solidFill>
                  </a:tcPr>
                </a:tc>
                <a:tc>
                  <a:txBody>
                    <a:bodyPr/>
                    <a:p>
                      <a:r>
                        <a:rPr sz="1400"/>
                        <a:t>✅ Can create objects</a:t>
                      </a:r>
                      <a:endParaRPr sz="1400"/>
                    </a:p>
                  </a:txBody>
                  <a:tcPr marL="0" marR="0" marT="0" marB="0" anchor="ctr" anchorCtr="0">
                    <a:lnL>
                      <a:noFill/>
                    </a:lnL>
                    <a:lnR>
                      <a:noFill/>
                    </a:lnR>
                    <a:lnT>
                      <a:noFill/>
                    </a:lnT>
                    <a:lnB>
                      <a:noFill/>
                    </a:lnB>
                    <a:solidFill>
                      <a:schemeClr val="accent1">
                        <a:lumMod val="40000"/>
                        <a:lumOff val="60000"/>
                      </a:schemeClr>
                    </a:solidFill>
                  </a:tcPr>
                </a:tc>
              </a:tr>
              <a:tr h="440055">
                <a:tc>
                  <a:txBody>
                    <a:bodyPr/>
                    <a:p>
                      <a:r>
                        <a:rPr sz="1400"/>
                        <a:t>Usage</a:t>
                      </a:r>
                      <a:endParaRPr sz="1400"/>
                    </a:p>
                  </a:txBody>
                  <a:tcPr marL="0" marR="0" marT="0" marB="0" anchor="ctr" anchorCtr="0">
                    <a:lnL>
                      <a:noFill/>
                    </a:lnL>
                    <a:lnR>
                      <a:noFill/>
                    </a:lnR>
                    <a:lnT>
                      <a:noFill/>
                    </a:lnT>
                    <a:lnB>
                      <a:noFill/>
                    </a:lnB>
                    <a:solidFill>
                      <a:schemeClr val="accent1">
                        <a:lumMod val="40000"/>
                        <a:lumOff val="60000"/>
                      </a:schemeClr>
                    </a:solidFill>
                  </a:tcPr>
                </a:tc>
                <a:tc>
                  <a:txBody>
                    <a:bodyPr/>
                    <a:p>
                      <a:r>
                        <a:rPr sz="1400"/>
                        <a:t>Must be extended by subclasses</a:t>
                      </a:r>
                      <a:endParaRPr sz="1400"/>
                    </a:p>
                  </a:txBody>
                  <a:tcPr marL="0" marR="0" marT="0" marB="0" anchor="ctr" anchorCtr="0">
                    <a:lnL>
                      <a:noFill/>
                    </a:lnL>
                    <a:lnR>
                      <a:noFill/>
                    </a:lnR>
                    <a:lnT>
                      <a:noFill/>
                    </a:lnT>
                    <a:lnB>
                      <a:noFill/>
                    </a:lnB>
                    <a:solidFill>
                      <a:schemeClr val="accent1">
                        <a:lumMod val="40000"/>
                        <a:lumOff val="60000"/>
                      </a:schemeClr>
                    </a:solidFill>
                  </a:tcPr>
                </a:tc>
                <a:tc>
                  <a:txBody>
                    <a:bodyPr/>
                    <a:p>
                      <a:r>
                        <a:rPr sz="1400"/>
                        <a:t>Can be used directly</a:t>
                      </a:r>
                      <a:endParaRPr sz="14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sp>
        <p:nvSpPr>
          <p:cNvPr id="6" name="Title 1"/>
          <p:cNvSpPr>
            <a:spLocks noGrp="1"/>
          </p:cNvSpPr>
          <p:nvPr/>
        </p:nvSpPr>
        <p:spPr>
          <a:xfrm>
            <a:off x="6239510" y="0"/>
            <a:ext cx="5301615" cy="3422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a:t>Difference Between Interface  Abstract Class </a:t>
            </a:r>
            <a:endParaRPr lang="en-US" sz="2000"/>
          </a:p>
        </p:txBody>
      </p:sp>
      <p:graphicFrame>
        <p:nvGraphicFramePr>
          <p:cNvPr id="7" name="Table 6"/>
          <p:cNvGraphicFramePr/>
          <p:nvPr>
            <p:custDataLst>
              <p:tags r:id="rId2"/>
            </p:custDataLst>
          </p:nvPr>
        </p:nvGraphicFramePr>
        <p:xfrm>
          <a:off x="5389880" y="342900"/>
          <a:ext cx="6680835" cy="3569335"/>
        </p:xfrm>
        <a:graphic>
          <a:graphicData uri="http://schemas.openxmlformats.org/drawingml/2006/table">
            <a:tbl>
              <a:tblPr/>
              <a:tblGrid>
                <a:gridCol w="1325880"/>
                <a:gridCol w="2611120"/>
                <a:gridCol w="2743835"/>
              </a:tblGrid>
              <a:tr h="413385">
                <a:tc>
                  <a:txBody>
                    <a:bodyPr/>
                    <a:p>
                      <a:pPr algn="ctr"/>
                      <a:r>
                        <a:rPr sz="1800" b="1">
                          <a:solidFill>
                            <a:srgbClr val="FF0000"/>
                          </a:solidFill>
                        </a:rPr>
                        <a:t>Feature</a:t>
                      </a:r>
                      <a:endParaRPr sz="18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800" b="1">
                          <a:solidFill>
                            <a:srgbClr val="FF0000"/>
                          </a:solidFill>
                        </a:rPr>
                        <a:t>Abstract Class</a:t>
                      </a:r>
                      <a:endParaRPr sz="18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800" b="1">
                          <a:solidFill>
                            <a:srgbClr val="FF0000"/>
                          </a:solidFill>
                        </a:rPr>
                        <a:t>Interface</a:t>
                      </a:r>
                      <a:endParaRPr sz="18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r>
              <a:tr h="412750">
                <a:tc>
                  <a:txBody>
                    <a:bodyPr/>
                    <a:p>
                      <a:r>
                        <a:rPr sz="1600"/>
                        <a:t>Keyword</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abstract class</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interface</a:t>
                      </a:r>
                      <a:endParaRPr sz="1600"/>
                    </a:p>
                  </a:txBody>
                  <a:tcPr marL="0" marR="0" marT="0" marB="0" anchor="ctr" anchorCtr="0">
                    <a:lnL>
                      <a:noFill/>
                    </a:lnL>
                    <a:lnR>
                      <a:noFill/>
                    </a:lnR>
                    <a:lnT>
                      <a:noFill/>
                    </a:lnT>
                    <a:lnB>
                      <a:noFill/>
                    </a:lnB>
                    <a:solidFill>
                      <a:schemeClr val="accent1">
                        <a:lumMod val="40000"/>
                        <a:lumOff val="60000"/>
                      </a:schemeClr>
                    </a:solidFill>
                  </a:tcPr>
                </a:tc>
              </a:tr>
              <a:tr h="412750">
                <a:tc>
                  <a:txBody>
                    <a:bodyPr/>
                    <a:p>
                      <a:r>
                        <a:rPr sz="1600"/>
                        <a:t>Inheritance</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Supports single inheritance</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Supports multiple inheritance</a:t>
                      </a:r>
                      <a:endParaRPr sz="1600"/>
                    </a:p>
                  </a:txBody>
                  <a:tcPr marL="0" marR="0" marT="0" marB="0" anchor="ctr" anchorCtr="0">
                    <a:lnL>
                      <a:noFill/>
                    </a:lnL>
                    <a:lnR>
                      <a:noFill/>
                    </a:lnR>
                    <a:lnT>
                      <a:noFill/>
                    </a:lnT>
                    <a:lnB>
                      <a:noFill/>
                    </a:lnB>
                    <a:solidFill>
                      <a:schemeClr val="accent1">
                        <a:lumMod val="40000"/>
                        <a:lumOff val="60000"/>
                      </a:schemeClr>
                    </a:solidFill>
                  </a:tcPr>
                </a:tc>
              </a:tr>
              <a:tr h="487680">
                <a:tc>
                  <a:txBody>
                    <a:bodyPr/>
                    <a:p>
                      <a:r>
                        <a:rPr sz="1600"/>
                        <a:t>Method Types</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Abstract and concrete</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Abstract (default &amp; static allowed from Java 8)</a:t>
                      </a:r>
                      <a:endParaRPr sz="1600"/>
                    </a:p>
                  </a:txBody>
                  <a:tcPr marL="0" marR="0" marT="0" marB="0" anchor="ctr" anchorCtr="0">
                    <a:lnL>
                      <a:noFill/>
                    </a:lnL>
                    <a:lnR>
                      <a:noFill/>
                    </a:lnR>
                    <a:lnT>
                      <a:noFill/>
                    </a:lnT>
                    <a:lnB>
                      <a:noFill/>
                    </a:lnB>
                    <a:solidFill>
                      <a:schemeClr val="accent1">
                        <a:lumMod val="40000"/>
                        <a:lumOff val="60000"/>
                      </a:schemeClr>
                    </a:solidFill>
                  </a:tcPr>
                </a:tc>
              </a:tr>
              <a:tr h="471170">
                <a:tc>
                  <a:txBody>
                    <a:bodyPr/>
                    <a:p>
                      <a:r>
                        <a:rPr sz="1600"/>
                        <a:t>Variable Types</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Any access modifier allowed</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All variables are public static final</a:t>
                      </a:r>
                      <a:endParaRPr sz="1600"/>
                    </a:p>
                  </a:txBody>
                  <a:tcPr marL="0" marR="0" marT="0" marB="0" anchor="ctr" anchorCtr="0">
                    <a:lnL>
                      <a:noFill/>
                    </a:lnL>
                    <a:lnR>
                      <a:noFill/>
                    </a:lnR>
                    <a:lnT>
                      <a:noFill/>
                    </a:lnT>
                    <a:lnB>
                      <a:noFill/>
                    </a:lnB>
                    <a:solidFill>
                      <a:schemeClr val="accent1">
                        <a:lumMod val="40000"/>
                        <a:lumOff val="60000"/>
                      </a:schemeClr>
                    </a:solidFill>
                  </a:tcPr>
                </a:tc>
              </a:tr>
              <a:tr h="413385">
                <a:tc>
                  <a:txBody>
                    <a:bodyPr/>
                    <a:p>
                      <a:r>
                        <a:rPr sz="1600"/>
                        <a:t>Constructor</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Can have constructors</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Cannot have constructors</a:t>
                      </a:r>
                      <a:endParaRPr sz="1600"/>
                    </a:p>
                  </a:txBody>
                  <a:tcPr marL="0" marR="0" marT="0" marB="0" anchor="ctr" anchorCtr="0">
                    <a:lnL>
                      <a:noFill/>
                    </a:lnL>
                    <a:lnR>
                      <a:noFill/>
                    </a:lnR>
                    <a:lnT>
                      <a:noFill/>
                    </a:lnT>
                    <a:lnB>
                      <a:noFill/>
                    </a:lnB>
                    <a:solidFill>
                      <a:schemeClr val="accent1">
                        <a:lumMod val="40000"/>
                        <a:lumOff val="60000"/>
                      </a:schemeClr>
                    </a:solidFill>
                  </a:tcPr>
                </a:tc>
              </a:tr>
              <a:tr h="470535">
                <a:tc>
                  <a:txBody>
                    <a:bodyPr/>
                    <a:p>
                      <a:r>
                        <a:rPr sz="1600"/>
                        <a:t>Implementation</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extends</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implements</a:t>
                      </a:r>
                      <a:endParaRPr sz="1600"/>
                    </a:p>
                  </a:txBody>
                  <a:tcPr marL="0" marR="0" marT="0" marB="0" anchor="ctr" anchorCtr="0">
                    <a:lnL>
                      <a:noFill/>
                    </a:lnL>
                    <a:lnR>
                      <a:noFill/>
                    </a:lnR>
                    <a:lnT>
                      <a:noFill/>
                    </a:lnT>
                    <a:lnB>
                      <a:noFill/>
                    </a:lnB>
                    <a:solidFill>
                      <a:schemeClr val="accent1">
                        <a:lumMod val="40000"/>
                        <a:lumOff val="60000"/>
                      </a:schemeClr>
                    </a:solidFill>
                  </a:tcPr>
                </a:tc>
              </a:tr>
              <a:tr h="487680">
                <a:tc>
                  <a:txBody>
                    <a:bodyPr/>
                    <a:p>
                      <a:r>
                        <a:rPr sz="1600"/>
                        <a:t>Best Use Case</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When you want partial implementation</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When you want to define a contract</a:t>
                      </a:r>
                      <a:endParaRPr sz="16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67005" y="0"/>
            <a:ext cx="12024995" cy="300355"/>
          </a:xfrm>
        </p:spPr>
        <p:txBody>
          <a:bodyPr>
            <a:normAutofit fontScale="90000"/>
          </a:bodyPr>
          <a:p>
            <a:r>
              <a:rPr lang="en-US" altLang="en-US" sz="2400" b="1">
                <a:solidFill>
                  <a:srgbClr val="FF0000"/>
                </a:solidFill>
                <a:sym typeface="+mn-ea"/>
              </a:rPr>
              <a:t>What is a Package in Java?</a:t>
            </a:r>
            <a:endParaRPr lang="en-US" altLang="en-US" sz="2400" b="1">
              <a:solidFill>
                <a:srgbClr val="FF0000"/>
              </a:solidFill>
              <a:sym typeface="+mn-ea"/>
            </a:endParaRPr>
          </a:p>
        </p:txBody>
      </p:sp>
      <p:sp>
        <p:nvSpPr>
          <p:cNvPr id="3" name="Content Placeholder 2"/>
          <p:cNvSpPr>
            <a:spLocks noGrp="1"/>
          </p:cNvSpPr>
          <p:nvPr>
            <p:ph idx="1"/>
          </p:nvPr>
        </p:nvSpPr>
        <p:spPr>
          <a:xfrm>
            <a:off x="167005" y="415290"/>
            <a:ext cx="11911330" cy="6322060"/>
          </a:xfrm>
        </p:spPr>
        <p:txBody>
          <a:bodyPr>
            <a:normAutofit/>
          </a:bodyPr>
          <a:p>
            <a:pPr marL="0" indent="0">
              <a:buNone/>
            </a:pPr>
            <a:r>
              <a:rPr lang="en-US" altLang="en-US" sz="1800"/>
              <a:t>In Java, a package is a namespace that organizes a set of related classes and interfaces. Think of it like a folder in your computer that contains related files.</a:t>
            </a:r>
            <a:endParaRPr lang="en-US" altLang="en-US" sz="1800"/>
          </a:p>
          <a:p>
            <a:pPr marL="0" indent="0">
              <a:buNone/>
            </a:pPr>
            <a:r>
              <a:rPr lang="en-US" altLang="en-US" sz="1800"/>
              <a:t>✅ Definition:</a:t>
            </a:r>
            <a:endParaRPr lang="en-US" altLang="en-US" sz="1800"/>
          </a:p>
          <a:p>
            <a:pPr marL="0" indent="0">
              <a:buNone/>
            </a:pPr>
            <a:r>
              <a:rPr lang="en-US" altLang="en-US" sz="1800"/>
              <a:t>A package in Java is a group of related classes, interfaces, and sub-packages. It helps avoid name conflicts and makes code easier to manage, locate, and reuse.</a:t>
            </a:r>
            <a:endParaRPr lang="en-US" altLang="en-US" sz="1800"/>
          </a:p>
          <a:p>
            <a:pPr marL="0" indent="0">
              <a:buNone/>
            </a:pPr>
            <a:endParaRPr lang="en-US" altLang="en-US" sz="1800"/>
          </a:p>
          <a:p>
            <a:pPr marL="0" indent="0">
              <a:buNone/>
            </a:pPr>
            <a:r>
              <a:rPr lang="zh-CN" altLang="en-US" sz="1800"/>
              <a:t>🔹</a:t>
            </a:r>
            <a:r>
              <a:rPr lang="en-US" altLang="en-US" sz="1800"/>
              <a:t> Types of Packages:</a:t>
            </a:r>
            <a:endParaRPr lang="en-US" altLang="en-US" sz="1800"/>
          </a:p>
          <a:p>
            <a:pPr marL="0" indent="0">
              <a:buNone/>
            </a:pPr>
            <a:r>
              <a:rPr lang="en-US" altLang="en-US" sz="1800"/>
              <a:t>Built-in Packages – Provided by Java.</a:t>
            </a:r>
            <a:endParaRPr lang="en-US" altLang="en-US" sz="1800"/>
          </a:p>
          <a:p>
            <a:pPr marL="0" indent="0">
              <a:buNone/>
            </a:pPr>
            <a:r>
              <a:rPr lang="en-US" altLang="en-US" sz="1800"/>
              <a:t>Examples: java.util, java.io, java.lang, java.sql, etc.</a:t>
            </a:r>
            <a:endParaRPr lang="en-US" altLang="en-US" sz="1800"/>
          </a:p>
          <a:p>
            <a:pPr marL="0" indent="0">
              <a:buNone/>
            </a:pPr>
            <a:r>
              <a:rPr lang="en-US" altLang="en-US" sz="1800"/>
              <a:t>User-defined Packages – Created by developers to organize their own classes.</a:t>
            </a:r>
            <a:endParaRPr lang="en-US" altLang="en-US" sz="18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90525"/>
          </a:xfrm>
        </p:spPr>
        <p:txBody>
          <a:bodyPr>
            <a:noAutofit/>
          </a:bodyPr>
          <a:p>
            <a:pPr algn="ctr"/>
            <a:r>
              <a:rPr lang="en-US" sz="2000" b="1">
                <a:solidFill>
                  <a:srgbClr val="FF0000"/>
                </a:solidFill>
              </a:rPr>
              <a:t>Java Static Class And Static Method</a:t>
            </a:r>
            <a:endParaRPr lang="en-US" sz="2000" b="1">
              <a:solidFill>
                <a:srgbClr val="FF0000"/>
              </a:solidFill>
            </a:endParaRPr>
          </a:p>
        </p:txBody>
      </p:sp>
      <p:sp>
        <p:nvSpPr>
          <p:cNvPr id="3" name="Content Placeholder 2"/>
          <p:cNvSpPr>
            <a:spLocks noGrp="1"/>
          </p:cNvSpPr>
          <p:nvPr>
            <p:ph idx="1"/>
          </p:nvPr>
        </p:nvSpPr>
        <p:spPr>
          <a:xfrm>
            <a:off x="167640" y="390525"/>
            <a:ext cx="12023725" cy="6281420"/>
          </a:xfrm>
        </p:spPr>
        <p:txBody>
          <a:bodyPr>
            <a:noAutofit/>
          </a:bodyPr>
          <a:p>
            <a:pPr marL="0" indent="0">
              <a:buNone/>
            </a:pPr>
            <a:r>
              <a:rPr lang="en-US" altLang="en-US" sz="1600" b="1"/>
              <a:t>Static Method:</a:t>
            </a:r>
            <a:endParaRPr lang="en-US" altLang="en-US" sz="1600" b="1"/>
          </a:p>
          <a:p>
            <a:pPr marL="0" indent="0">
              <a:buNone/>
            </a:pPr>
            <a:r>
              <a:rPr lang="en-US" altLang="en-US" sz="1600"/>
              <a:t>----------------------------------</a:t>
            </a:r>
            <a:endParaRPr lang="en-US" altLang="en-US" sz="1600"/>
          </a:p>
          <a:p>
            <a:pPr marL="0" indent="0">
              <a:buNone/>
            </a:pPr>
            <a:r>
              <a:rPr lang="en-US" altLang="en-US" sz="1600"/>
              <a:t>A static method belongs to the class, not to an instance (object). You can call it without creating an</a:t>
            </a:r>
            <a:endParaRPr lang="en-US" altLang="en-US" sz="1600"/>
          </a:p>
          <a:p>
            <a:pPr marL="0" indent="0">
              <a:buNone/>
            </a:pPr>
            <a:r>
              <a:rPr lang="en-US" altLang="en-US" sz="1600"/>
              <a:t>class Outer {</a:t>
            </a:r>
            <a:endParaRPr lang="en-US" altLang="en-US" sz="1600"/>
          </a:p>
          <a:p>
            <a:pPr marL="0" indent="0">
              <a:buNone/>
            </a:pPr>
            <a:r>
              <a:rPr lang="en-US" altLang="en-US" sz="1600"/>
              <a:t>    static class Inner {</a:t>
            </a:r>
            <a:endParaRPr lang="en-US" altLang="en-US" sz="1600"/>
          </a:p>
          <a:p>
            <a:pPr marL="0" indent="0">
              <a:buNone/>
            </a:pPr>
            <a:r>
              <a:rPr lang="en-US" altLang="en-US" sz="1600"/>
              <a:t>        void show() {</a:t>
            </a:r>
            <a:endParaRPr lang="en-US" altLang="en-US" sz="1600"/>
          </a:p>
          <a:p>
            <a:pPr marL="0" indent="0">
              <a:buNone/>
            </a:pPr>
            <a:r>
              <a:rPr lang="en-US" altLang="en-US" sz="1600"/>
              <a:t>            System.out.println("Inside static nested class");</a:t>
            </a:r>
            <a:endParaRPr lang="en-US" altLang="en-US" sz="1600"/>
          </a:p>
          <a:p>
            <a:pPr marL="0" indent="0">
              <a:buNone/>
            </a:pPr>
            <a:r>
              <a:rPr lang="en-US" altLang="en-US" sz="1600"/>
              <a:t>        }</a:t>
            </a:r>
            <a:endParaRPr lang="en-US" altLang="en-US" sz="1600"/>
          </a:p>
          <a:p>
            <a:pPr marL="0" indent="0">
              <a:buNone/>
            </a:pPr>
            <a:r>
              <a:rPr lang="en-US" altLang="en-US" sz="1600"/>
              <a:t>    }</a:t>
            </a:r>
            <a:endParaRPr lang="en-US" altLang="en-US" sz="1600"/>
          </a:p>
          <a:p>
            <a:pPr marL="0" indent="0">
              <a:buNone/>
            </a:pPr>
            <a:r>
              <a:rPr lang="en-US" altLang="en-US" sz="1600"/>
              <a:t>}</a:t>
            </a:r>
            <a:endParaRPr lang="en-US" altLang="en-US" sz="1600"/>
          </a:p>
          <a:p>
            <a:pPr marL="0" indent="0">
              <a:buNone/>
            </a:pPr>
            <a:r>
              <a:rPr lang="en-US" altLang="en-US" sz="1600"/>
              <a:t>public class StaticClassDemo {</a:t>
            </a:r>
            <a:endParaRPr lang="en-US" altLang="en-US" sz="1600"/>
          </a:p>
          <a:p>
            <a:pPr marL="0" indent="0">
              <a:buNone/>
            </a:pPr>
            <a:r>
              <a:rPr lang="en-US" altLang="en-US" sz="1600"/>
              <a:t>    public static void main(String[] args) {</a:t>
            </a:r>
            <a:endParaRPr lang="en-US" altLang="en-US" sz="1600"/>
          </a:p>
          <a:p>
            <a:pPr marL="0" indent="0">
              <a:buNone/>
            </a:pPr>
            <a:r>
              <a:rPr lang="en-US" altLang="en-US" sz="1600"/>
              <a:t>        Outer.Inner obj = new Outer.Inner();  // No need to create Outer object</a:t>
            </a:r>
            <a:endParaRPr lang="en-US" altLang="en-US" sz="1600"/>
          </a:p>
          <a:p>
            <a:pPr marL="0" indent="0">
              <a:buNone/>
            </a:pPr>
            <a:r>
              <a:rPr lang="en-US" altLang="en-US" sz="1600"/>
              <a:t>        obj.show();</a:t>
            </a:r>
            <a:endParaRPr lang="en-US" altLang="en-US" sz="1600"/>
          </a:p>
          <a:p>
            <a:pPr marL="0" indent="0">
              <a:buNone/>
            </a:pPr>
            <a:r>
              <a:rPr lang="en-US" altLang="en-US" sz="1600"/>
              <a:t>    }</a:t>
            </a:r>
            <a:endParaRPr lang="en-US" altLang="en-US" sz="1600"/>
          </a:p>
          <a:p>
            <a:pPr marL="0" indent="0">
              <a:buNone/>
            </a:pPr>
            <a:r>
              <a:rPr lang="en-US" altLang="en-US" sz="1600"/>
              <a:t>}</a:t>
            </a:r>
            <a:endParaRPr lang="en-US" altLang="en-US" sz="1600"/>
          </a:p>
          <a:p>
            <a:pPr marL="0" indent="0">
              <a:buNone/>
            </a:pPr>
            <a:r>
              <a:rPr lang="en-US" altLang="en-US" sz="1600"/>
              <a:t>Why/Where to use:</a:t>
            </a:r>
            <a:endParaRPr lang="en-US" altLang="en-US" sz="1600"/>
          </a:p>
          <a:p>
            <a:pPr marL="0" indent="0">
              <a:buNone/>
            </a:pPr>
            <a:r>
              <a:rPr lang="en-US" altLang="en-US" sz="1600"/>
              <a:t>When the method doesn’t rely on object state (i.e., doesn't use this).</a:t>
            </a:r>
            <a:endParaRPr lang="en-US" altLang="en-US" sz="1600"/>
          </a:p>
          <a:p>
            <a:pPr marL="0" indent="0">
              <a:buNone/>
            </a:pPr>
            <a:r>
              <a:rPr lang="en-US" altLang="en-US" sz="1600"/>
              <a:t>For utility/helper classes (like Math, Collections, etc.).</a:t>
            </a:r>
            <a:endParaRPr lang="en-US" altLang="en-US" sz="1600"/>
          </a:p>
          <a:p>
            <a:pPr marL="0" indent="0">
              <a:buNone/>
            </a:pPr>
            <a:endParaRPr lang="en-US" altLang="en-US" sz="16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59410" y="0"/>
            <a:ext cx="10994390" cy="364490"/>
          </a:xfrm>
        </p:spPr>
        <p:txBody>
          <a:bodyPr>
            <a:normAutofit fontScale="90000"/>
          </a:bodyPr>
          <a:p>
            <a:r>
              <a:rPr lang="en-US" altLang="en-US" sz="2000" b="1">
                <a:solidFill>
                  <a:srgbClr val="FF0000"/>
                </a:solidFill>
                <a:sym typeface="+mn-ea"/>
              </a:rPr>
              <a:t>Static Class (Nested Static Class Only):</a:t>
            </a:r>
            <a:endParaRPr lang="en-US" altLang="en-US" sz="2000" b="1">
              <a:solidFill>
                <a:srgbClr val="FF0000"/>
              </a:solidFill>
              <a:sym typeface="+mn-ea"/>
            </a:endParaRPr>
          </a:p>
        </p:txBody>
      </p:sp>
      <p:sp>
        <p:nvSpPr>
          <p:cNvPr id="3" name="Content Placeholder 2"/>
          <p:cNvSpPr>
            <a:spLocks noGrp="1"/>
          </p:cNvSpPr>
          <p:nvPr>
            <p:ph idx="1"/>
          </p:nvPr>
        </p:nvSpPr>
        <p:spPr>
          <a:xfrm>
            <a:off x="126365" y="364490"/>
            <a:ext cx="12065000" cy="6322060"/>
          </a:xfrm>
        </p:spPr>
        <p:txBody>
          <a:bodyPr>
            <a:noAutofit/>
          </a:bodyPr>
          <a:p>
            <a:pPr marL="0" indent="0">
              <a:buNone/>
            </a:pPr>
            <a:r>
              <a:rPr lang="en-US" altLang="en-US" sz="1800"/>
              <a:t>In Java, only inner classes can be static. A static nested class can be accessed without creating an object of the outer class.</a:t>
            </a:r>
            <a:endParaRPr lang="en-US" altLang="en-US" sz="1800"/>
          </a:p>
          <a:p>
            <a:pPr marL="0" indent="0">
              <a:buNone/>
            </a:pPr>
            <a:r>
              <a:rPr lang="en-US" altLang="en-US" sz="1800"/>
              <a:t>class Outer {</a:t>
            </a:r>
            <a:endParaRPr lang="en-US" altLang="en-US" sz="1800"/>
          </a:p>
          <a:p>
            <a:pPr marL="0" indent="0">
              <a:buNone/>
            </a:pPr>
            <a:r>
              <a:rPr lang="en-US" altLang="en-US" sz="1800"/>
              <a:t>    static class Inner {</a:t>
            </a:r>
            <a:endParaRPr lang="en-US" altLang="en-US" sz="1800"/>
          </a:p>
          <a:p>
            <a:pPr marL="0" indent="0">
              <a:buNone/>
            </a:pPr>
            <a:r>
              <a:rPr lang="en-US" altLang="en-US" sz="1800"/>
              <a:t>        void show() {</a:t>
            </a:r>
            <a:endParaRPr lang="en-US" altLang="en-US" sz="1800"/>
          </a:p>
          <a:p>
            <a:pPr marL="0" indent="0">
              <a:buNone/>
            </a:pPr>
            <a:r>
              <a:rPr lang="en-US" altLang="en-US" sz="1800"/>
              <a:t>            System.out.println("Inside static nested class");</a:t>
            </a:r>
            <a:endParaRPr lang="en-US" altLang="en-US" sz="1800"/>
          </a:p>
          <a:p>
            <a:pPr marL="0" indent="0">
              <a:buNone/>
            </a:pPr>
            <a:r>
              <a:rPr lang="en-US" altLang="en-US" sz="1800"/>
              <a:t>        }</a:t>
            </a:r>
            <a:endParaRPr lang="en-US" altLang="en-US" sz="1800"/>
          </a:p>
          <a:p>
            <a:pPr marL="0" indent="0">
              <a:buNone/>
            </a:pPr>
            <a:r>
              <a:rPr lang="en-US" altLang="en-US" sz="1800"/>
              <a:t>    }</a:t>
            </a:r>
            <a:endParaRPr lang="en-US" altLang="en-US" sz="1800"/>
          </a:p>
          <a:p>
            <a:pPr marL="0" indent="0">
              <a:buNone/>
            </a:pPr>
            <a:r>
              <a:rPr lang="en-US" altLang="en-US" sz="1800"/>
              <a:t>}</a:t>
            </a:r>
            <a:endParaRPr lang="en-US" altLang="en-US" sz="1800"/>
          </a:p>
          <a:p>
            <a:pPr marL="0" indent="0">
              <a:buNone/>
            </a:pPr>
            <a:r>
              <a:rPr lang="en-US" altLang="en-US" sz="1800"/>
              <a:t>public class StaticClassDemo {</a:t>
            </a:r>
            <a:endParaRPr lang="en-US" altLang="en-US" sz="1800"/>
          </a:p>
          <a:p>
            <a:pPr marL="0" indent="0">
              <a:buNone/>
            </a:pPr>
            <a:r>
              <a:rPr lang="en-US" altLang="en-US" sz="1800"/>
              <a:t>    public static void main(String[] args) {</a:t>
            </a:r>
            <a:endParaRPr lang="en-US" altLang="en-US" sz="1800"/>
          </a:p>
          <a:p>
            <a:pPr marL="0" indent="0">
              <a:buNone/>
            </a:pPr>
            <a:r>
              <a:rPr lang="en-US" altLang="en-US" sz="1800"/>
              <a:t>        Outer.Inner obj = new Outer.Inner();  // No need to create Outer object</a:t>
            </a:r>
            <a:endParaRPr lang="en-US" altLang="en-US" sz="1800"/>
          </a:p>
          <a:p>
            <a:pPr marL="0" indent="0">
              <a:buNone/>
            </a:pPr>
            <a:r>
              <a:rPr lang="en-US" altLang="en-US" sz="1800"/>
              <a:t>        obj.show();</a:t>
            </a:r>
            <a:endParaRPr lang="en-US" altLang="en-US" sz="1800"/>
          </a:p>
          <a:p>
            <a:pPr marL="0" indent="0">
              <a:buNone/>
            </a:pPr>
            <a:r>
              <a:rPr lang="en-US" altLang="en-US" sz="1800"/>
              <a:t>    }</a:t>
            </a:r>
            <a:endParaRPr lang="en-US" altLang="en-US" sz="1800"/>
          </a:p>
          <a:p>
            <a:pPr marL="0" indent="0">
              <a:buNone/>
            </a:pPr>
            <a:r>
              <a:rPr lang="en-US" altLang="en-US" sz="1800"/>
              <a:t>}</a:t>
            </a:r>
            <a:endParaRPr lang="en-US" altLang="en-US" sz="1800"/>
          </a:p>
          <a:p>
            <a:pPr marL="0" indent="0">
              <a:buNone/>
            </a:pPr>
            <a:r>
              <a:rPr lang="en-US" altLang="en-US" sz="1800"/>
              <a:t>Why/Where to use:</a:t>
            </a:r>
            <a:endParaRPr lang="en-US" altLang="en-US" sz="1800"/>
          </a:p>
          <a:p>
            <a:pPr marL="0" indent="0">
              <a:buNone/>
            </a:pPr>
            <a:r>
              <a:rPr lang="en-US" altLang="en-US" sz="1800"/>
              <a:t>When the nested class doesn't need access to the outer class’s instance members.</a:t>
            </a:r>
            <a:endParaRPr lang="en-US" altLang="en-US" sz="1800"/>
          </a:p>
          <a:p>
            <a:pPr marL="0" indent="0">
              <a:buNone/>
            </a:pPr>
            <a:r>
              <a:rPr lang="en-US" altLang="en-US" sz="1800"/>
              <a:t>For logically grouping classes together.</a:t>
            </a:r>
            <a:endParaRPr lang="en-US" altLang="en-US" sz="1800"/>
          </a:p>
          <a:p>
            <a:pPr marL="0" indent="0">
              <a:buNone/>
            </a:pPr>
            <a:endParaRPr lang="en-US" altLang="en-US" sz="180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325755"/>
          </a:xfrm>
        </p:spPr>
        <p:txBody>
          <a:bodyPr>
            <a:normAutofit fontScale="90000"/>
          </a:bodyPr>
          <a:p>
            <a:pPr algn="ctr"/>
            <a:r>
              <a:rPr lang="en-US" sz="2400" b="1">
                <a:solidFill>
                  <a:srgbClr val="FF0000"/>
                </a:solidFill>
              </a:rPr>
              <a:t>Java Final class And Final Method</a:t>
            </a:r>
            <a:endParaRPr lang="en-US" sz="2400" b="1">
              <a:solidFill>
                <a:srgbClr val="FF0000"/>
              </a:solidFill>
            </a:endParaRPr>
          </a:p>
        </p:txBody>
      </p:sp>
      <p:sp>
        <p:nvSpPr>
          <p:cNvPr id="3" name="Content Placeholder 2"/>
          <p:cNvSpPr>
            <a:spLocks noGrp="1"/>
          </p:cNvSpPr>
          <p:nvPr>
            <p:ph idx="1"/>
          </p:nvPr>
        </p:nvSpPr>
        <p:spPr>
          <a:xfrm>
            <a:off x="85725" y="325755"/>
            <a:ext cx="11952605" cy="6531610"/>
          </a:xfrm>
        </p:spPr>
        <p:txBody>
          <a:bodyPr/>
          <a:p>
            <a:pPr marL="0" indent="0">
              <a:buNone/>
            </a:pPr>
            <a:r>
              <a:rPr lang="en-US" altLang="en-US" sz="1800"/>
              <a:t>2. final class and final method</a:t>
            </a:r>
            <a:endParaRPr lang="en-US" altLang="en-US" sz="1800"/>
          </a:p>
          <a:p>
            <a:pPr marL="0" indent="0">
              <a:buNone/>
            </a:pPr>
            <a:r>
              <a:rPr lang="zh-CN" altLang="en-US" sz="1800"/>
              <a:t>🔹</a:t>
            </a:r>
            <a:r>
              <a:rPr lang="en-US" altLang="en-US" sz="1800"/>
              <a:t> Final Class:    A final class cannot be inherited. No class can extend it.</a:t>
            </a:r>
            <a:endParaRPr lang="en-US" altLang="en-US" sz="1800"/>
          </a:p>
          <a:p>
            <a:pPr marL="0" indent="0">
              <a:buNone/>
            </a:pPr>
            <a:r>
              <a:rPr lang="en-US" altLang="en-US" sz="1800"/>
              <a:t>Why/Where to use:</a:t>
            </a:r>
            <a:endParaRPr lang="en-US" altLang="en-US" sz="1800"/>
          </a:p>
          <a:p>
            <a:pPr marL="0" indent="0">
              <a:buNone/>
            </a:pPr>
            <a:r>
              <a:rPr lang="en-US" altLang="en-US" sz="1800"/>
              <a:t>To prevent inheritance for security or design reasons (e.g., String class in Java is final). Useful when creating immutable classes.</a:t>
            </a:r>
            <a:endParaRPr lang="en-US" altLang="en-US" sz="1800"/>
          </a:p>
          <a:p>
            <a:pPr marL="0" indent="0">
              <a:buNone/>
            </a:pPr>
            <a:endParaRPr lang="en-US" altLang="en-US" sz="1800"/>
          </a:p>
          <a:p>
            <a:pPr marL="0" indent="0">
              <a:buNone/>
            </a:pPr>
            <a:r>
              <a:rPr lang="en-US" altLang="en-US" sz="1800"/>
              <a:t>Final Method:  A final method cannot be overridden in a subclass.</a:t>
            </a:r>
            <a:endParaRPr lang="en-US" altLang="en-US" sz="1800"/>
          </a:p>
          <a:p>
            <a:pPr marL="0" indent="0">
              <a:buNone/>
            </a:pPr>
            <a:r>
              <a:rPr lang="en-US" altLang="en-US" sz="1800"/>
              <a:t>Why/Where to use:</a:t>
            </a:r>
            <a:endParaRPr lang="en-US" altLang="en-US" sz="1800"/>
          </a:p>
          <a:p>
            <a:pPr marL="0" indent="0">
              <a:buNone/>
            </a:pPr>
            <a:r>
              <a:rPr lang="en-US" altLang="en-US" sz="1800"/>
              <a:t>To prevent modification of important behavior in subclasses. When you want to lock a method's implementation for safety, consistency, or performance.</a:t>
            </a:r>
            <a:endParaRPr lang="en-US" altLang="en-US" sz="1800"/>
          </a:p>
          <a:p>
            <a:pPr marL="0" indent="0">
              <a:buNone/>
            </a:pPr>
            <a:endParaRPr lang="en-US" altLang="en-US" sz="1800"/>
          </a:p>
          <a:p>
            <a:pPr marL="0" indent="0">
              <a:buNone/>
            </a:pPr>
            <a:endParaRPr lang="en-US" altLang="en-US" sz="1800"/>
          </a:p>
        </p:txBody>
      </p:sp>
      <p:graphicFrame>
        <p:nvGraphicFramePr>
          <p:cNvPr id="4" name="Table 3"/>
          <p:cNvGraphicFramePr/>
          <p:nvPr>
            <p:custDataLst>
              <p:tags r:id="rId1"/>
            </p:custDataLst>
          </p:nvPr>
        </p:nvGraphicFramePr>
        <p:xfrm>
          <a:off x="85725" y="3638550"/>
          <a:ext cx="11953240" cy="3127375"/>
        </p:xfrm>
        <a:graphic>
          <a:graphicData uri="http://schemas.openxmlformats.org/drawingml/2006/table">
            <a:tbl>
              <a:tblPr/>
              <a:tblGrid>
                <a:gridCol w="1865630"/>
                <a:gridCol w="2933700"/>
                <a:gridCol w="2906395"/>
                <a:gridCol w="4247515"/>
              </a:tblGrid>
              <a:tr h="520700">
                <a:tc>
                  <a:txBody>
                    <a:bodyPr/>
                    <a:p>
                      <a:pPr algn="ctr"/>
                      <a:r>
                        <a:rPr sz="1800" b="1">
                          <a:solidFill>
                            <a:srgbClr val="FF0000"/>
                          </a:solidFill>
                        </a:rPr>
                        <a:t>Keyword</a:t>
                      </a:r>
                      <a:endParaRPr sz="18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800" b="1">
                          <a:solidFill>
                            <a:srgbClr val="FF0000"/>
                          </a:solidFill>
                        </a:rPr>
                        <a:t>Applied To</a:t>
                      </a:r>
                      <a:endParaRPr sz="18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800" b="1">
                          <a:solidFill>
                            <a:srgbClr val="FF0000"/>
                          </a:solidFill>
                        </a:rPr>
                        <a:t>Meaning</a:t>
                      </a:r>
                      <a:endParaRPr sz="18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800" b="1">
                          <a:solidFill>
                            <a:srgbClr val="FF0000"/>
                          </a:solidFill>
                        </a:rPr>
                        <a:t>When to Use</a:t>
                      </a:r>
                      <a:endParaRPr sz="18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r>
              <a:tr h="521970">
                <a:tc>
                  <a:txBody>
                    <a:bodyPr/>
                    <a:p>
                      <a:r>
                        <a:rPr sz="1800"/>
                        <a:t>static</a:t>
                      </a:r>
                      <a:endParaRPr sz="1800"/>
                    </a:p>
                  </a:txBody>
                  <a:tcPr marL="0" marR="0" marT="0" marB="0" anchor="ctr" anchorCtr="0">
                    <a:lnL>
                      <a:noFill/>
                    </a:lnL>
                    <a:lnR>
                      <a:noFill/>
                    </a:lnR>
                    <a:lnT>
                      <a:noFill/>
                    </a:lnT>
                    <a:lnB>
                      <a:noFill/>
                    </a:lnB>
                    <a:noFill/>
                  </a:tcPr>
                </a:tc>
                <a:tc>
                  <a:txBody>
                    <a:bodyPr/>
                    <a:p>
                      <a:r>
                        <a:rPr sz="1800"/>
                        <a:t>Method</a:t>
                      </a:r>
                      <a:endParaRPr sz="1800"/>
                    </a:p>
                  </a:txBody>
                  <a:tcPr marL="0" marR="0" marT="0" marB="0" anchor="ctr" anchorCtr="0">
                    <a:lnL>
                      <a:noFill/>
                    </a:lnL>
                    <a:lnR>
                      <a:noFill/>
                    </a:lnR>
                    <a:lnT>
                      <a:noFill/>
                    </a:lnT>
                    <a:lnB>
                      <a:noFill/>
                    </a:lnB>
                    <a:noFill/>
                  </a:tcPr>
                </a:tc>
                <a:tc>
                  <a:txBody>
                    <a:bodyPr/>
                    <a:p>
                      <a:r>
                        <a:rPr sz="1800"/>
                        <a:t>Belongs to class, not instance</a:t>
                      </a:r>
                      <a:endParaRPr sz="1800"/>
                    </a:p>
                  </a:txBody>
                  <a:tcPr marL="0" marR="0" marT="0" marB="0" anchor="ctr" anchorCtr="0">
                    <a:lnL>
                      <a:noFill/>
                    </a:lnL>
                    <a:lnR>
                      <a:noFill/>
                    </a:lnR>
                    <a:lnT>
                      <a:noFill/>
                    </a:lnT>
                    <a:lnB>
                      <a:noFill/>
                    </a:lnB>
                    <a:noFill/>
                  </a:tcPr>
                </a:tc>
                <a:tc>
                  <a:txBody>
                    <a:bodyPr/>
                    <a:p>
                      <a:r>
                        <a:rPr sz="1800"/>
                        <a:t>Utility/helper methods</a:t>
                      </a:r>
                      <a:endParaRPr sz="1800"/>
                    </a:p>
                  </a:txBody>
                  <a:tcPr marL="0" marR="0" marT="0" marB="0" anchor="ctr" anchorCtr="0">
                    <a:lnL>
                      <a:noFill/>
                    </a:lnL>
                    <a:lnR>
                      <a:noFill/>
                    </a:lnR>
                    <a:lnT>
                      <a:noFill/>
                    </a:lnT>
                    <a:lnB>
                      <a:noFill/>
                    </a:lnB>
                    <a:noFill/>
                  </a:tcPr>
                </a:tc>
              </a:tr>
              <a:tr h="1042035">
                <a:tc>
                  <a:txBody>
                    <a:bodyPr/>
                    <a:p>
                      <a:r>
                        <a:rPr sz="1800"/>
                        <a:t>static</a:t>
                      </a:r>
                      <a:endParaRPr sz="1800"/>
                    </a:p>
                  </a:txBody>
                  <a:tcPr marL="0" marR="0" marT="0" marB="0" anchor="ctr" anchorCtr="0">
                    <a:lnL>
                      <a:noFill/>
                    </a:lnL>
                    <a:lnR>
                      <a:noFill/>
                    </a:lnR>
                    <a:lnT>
                      <a:noFill/>
                    </a:lnT>
                    <a:lnB>
                      <a:noFill/>
                    </a:lnB>
                    <a:noFill/>
                  </a:tcPr>
                </a:tc>
                <a:tc>
                  <a:txBody>
                    <a:bodyPr/>
                    <a:p>
                      <a:r>
                        <a:rPr sz="1800"/>
                        <a:t>Nested Class</a:t>
                      </a:r>
                      <a:endParaRPr sz="1800"/>
                    </a:p>
                  </a:txBody>
                  <a:tcPr marL="0" marR="0" marT="0" marB="0" anchor="ctr" anchorCtr="0">
                    <a:lnL>
                      <a:noFill/>
                    </a:lnL>
                    <a:lnR>
                      <a:noFill/>
                    </a:lnR>
                    <a:lnT>
                      <a:noFill/>
                    </a:lnT>
                    <a:lnB>
                      <a:noFill/>
                    </a:lnB>
                    <a:noFill/>
                  </a:tcPr>
                </a:tc>
                <a:tc>
                  <a:txBody>
                    <a:bodyPr/>
                    <a:p>
                      <a:r>
                        <a:rPr sz="1800"/>
                        <a:t>Can be used without outer class object</a:t>
                      </a:r>
                      <a:endParaRPr sz="1800"/>
                    </a:p>
                  </a:txBody>
                  <a:tcPr marL="0" marR="0" marT="0" marB="0" anchor="ctr" anchorCtr="0">
                    <a:lnL>
                      <a:noFill/>
                    </a:lnL>
                    <a:lnR>
                      <a:noFill/>
                    </a:lnR>
                    <a:lnT>
                      <a:noFill/>
                    </a:lnT>
                    <a:lnB>
                      <a:noFill/>
                    </a:lnB>
                    <a:noFill/>
                  </a:tcPr>
                </a:tc>
                <a:tc>
                  <a:txBody>
                    <a:bodyPr/>
                    <a:p>
                      <a:r>
                        <a:rPr sz="1800"/>
                        <a:t>Inner classes that don’t access outer members</a:t>
                      </a:r>
                      <a:endParaRPr sz="1800"/>
                    </a:p>
                  </a:txBody>
                  <a:tcPr marL="0" marR="0" marT="0" marB="0" anchor="ctr" anchorCtr="0">
                    <a:lnL>
                      <a:noFill/>
                    </a:lnL>
                    <a:lnR>
                      <a:noFill/>
                    </a:lnR>
                    <a:lnT>
                      <a:noFill/>
                    </a:lnT>
                    <a:lnB>
                      <a:noFill/>
                    </a:lnB>
                    <a:noFill/>
                  </a:tcPr>
                </a:tc>
              </a:tr>
              <a:tr h="521970">
                <a:tc>
                  <a:txBody>
                    <a:bodyPr/>
                    <a:p>
                      <a:r>
                        <a:rPr sz="1800"/>
                        <a:t>final</a:t>
                      </a:r>
                      <a:endParaRPr sz="1800"/>
                    </a:p>
                  </a:txBody>
                  <a:tcPr marL="0" marR="0" marT="0" marB="0" anchor="ctr" anchorCtr="0">
                    <a:lnL>
                      <a:noFill/>
                    </a:lnL>
                    <a:lnR>
                      <a:noFill/>
                    </a:lnR>
                    <a:lnT>
                      <a:noFill/>
                    </a:lnT>
                    <a:lnB>
                      <a:noFill/>
                    </a:lnB>
                    <a:noFill/>
                  </a:tcPr>
                </a:tc>
                <a:tc>
                  <a:txBody>
                    <a:bodyPr/>
                    <a:p>
                      <a:r>
                        <a:rPr sz="1800"/>
                        <a:t>Class</a:t>
                      </a:r>
                      <a:endParaRPr sz="1800"/>
                    </a:p>
                  </a:txBody>
                  <a:tcPr marL="0" marR="0" marT="0" marB="0" anchor="ctr" anchorCtr="0">
                    <a:lnL>
                      <a:noFill/>
                    </a:lnL>
                    <a:lnR>
                      <a:noFill/>
                    </a:lnR>
                    <a:lnT>
                      <a:noFill/>
                    </a:lnT>
                    <a:lnB>
                      <a:noFill/>
                    </a:lnB>
                    <a:noFill/>
                  </a:tcPr>
                </a:tc>
                <a:tc>
                  <a:txBody>
                    <a:bodyPr/>
                    <a:p>
                      <a:r>
                        <a:rPr sz="1800"/>
                        <a:t>Cannot be extended</a:t>
                      </a:r>
                      <a:endParaRPr sz="1800"/>
                    </a:p>
                  </a:txBody>
                  <a:tcPr marL="0" marR="0" marT="0" marB="0" anchor="ctr" anchorCtr="0">
                    <a:lnL>
                      <a:noFill/>
                    </a:lnL>
                    <a:lnR>
                      <a:noFill/>
                    </a:lnR>
                    <a:lnT>
                      <a:noFill/>
                    </a:lnT>
                    <a:lnB>
                      <a:noFill/>
                    </a:lnB>
                    <a:noFill/>
                  </a:tcPr>
                </a:tc>
                <a:tc>
                  <a:txBody>
                    <a:bodyPr/>
                    <a:p>
                      <a:r>
                        <a:rPr sz="1800"/>
                        <a:t>Prevent inheritance</a:t>
                      </a:r>
                      <a:endParaRPr sz="1800"/>
                    </a:p>
                  </a:txBody>
                  <a:tcPr marL="0" marR="0" marT="0" marB="0" anchor="ctr" anchorCtr="0">
                    <a:lnL>
                      <a:noFill/>
                    </a:lnL>
                    <a:lnR>
                      <a:noFill/>
                    </a:lnR>
                    <a:lnT>
                      <a:noFill/>
                    </a:lnT>
                    <a:lnB>
                      <a:noFill/>
                    </a:lnB>
                    <a:noFill/>
                  </a:tcPr>
                </a:tc>
              </a:tr>
              <a:tr h="520700">
                <a:tc>
                  <a:txBody>
                    <a:bodyPr/>
                    <a:p>
                      <a:r>
                        <a:rPr sz="1800"/>
                        <a:t>final</a:t>
                      </a:r>
                      <a:endParaRPr sz="1800"/>
                    </a:p>
                  </a:txBody>
                  <a:tcPr marL="0" marR="0" marT="0" marB="0" anchor="ctr" anchorCtr="0">
                    <a:lnL>
                      <a:noFill/>
                    </a:lnL>
                    <a:lnR>
                      <a:noFill/>
                    </a:lnR>
                    <a:lnT>
                      <a:noFill/>
                    </a:lnT>
                    <a:lnB>
                      <a:noFill/>
                    </a:lnB>
                    <a:noFill/>
                  </a:tcPr>
                </a:tc>
                <a:tc>
                  <a:txBody>
                    <a:bodyPr/>
                    <a:p>
                      <a:r>
                        <a:rPr sz="1800"/>
                        <a:t>Method</a:t>
                      </a:r>
                      <a:endParaRPr sz="1800"/>
                    </a:p>
                  </a:txBody>
                  <a:tcPr marL="0" marR="0" marT="0" marB="0" anchor="ctr" anchorCtr="0">
                    <a:lnL>
                      <a:noFill/>
                    </a:lnL>
                    <a:lnR>
                      <a:noFill/>
                    </a:lnR>
                    <a:lnT>
                      <a:noFill/>
                    </a:lnT>
                    <a:lnB>
                      <a:noFill/>
                    </a:lnB>
                    <a:noFill/>
                  </a:tcPr>
                </a:tc>
                <a:tc>
                  <a:txBody>
                    <a:bodyPr/>
                    <a:p>
                      <a:r>
                        <a:rPr sz="1800"/>
                        <a:t>Cannot be overridden</a:t>
                      </a:r>
                      <a:endParaRPr sz="1800"/>
                    </a:p>
                  </a:txBody>
                  <a:tcPr marL="0" marR="0" marT="0" marB="0" anchor="ctr" anchorCtr="0">
                    <a:lnL>
                      <a:noFill/>
                    </a:lnL>
                    <a:lnR>
                      <a:noFill/>
                    </a:lnR>
                    <a:lnT>
                      <a:noFill/>
                    </a:lnT>
                    <a:lnB>
                      <a:noFill/>
                    </a:lnB>
                    <a:noFill/>
                  </a:tcPr>
                </a:tc>
                <a:tc>
                  <a:txBody>
                    <a:bodyPr/>
                    <a:p>
                      <a:r>
                        <a:rPr sz="1800"/>
                        <a:t>Lock implementation in subclass</a:t>
                      </a:r>
                      <a:endParaRPr sz="18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40000"/>
          </a:bodyPr>
          <a:p>
            <a:r>
              <a:rPr lang="en-US" altLang="en-US"/>
              <a:t>Static Class Static Method And Final Method</a:t>
            </a:r>
            <a:endParaRPr lang="en-US" altLang="en-US"/>
          </a:p>
          <a:p>
            <a:r>
              <a:rPr lang="en-US" altLang="en-US"/>
              <a:t>-------------------------------------------------</a:t>
            </a:r>
            <a:endParaRPr lang="en-US" altLang="en-US"/>
          </a:p>
          <a:p>
            <a:r>
              <a:rPr lang="en-US" altLang="en-US"/>
              <a:t>const -&gt;fixed const int a=20;</a:t>
            </a:r>
            <a:endParaRPr lang="en-US" altLang="en-US"/>
          </a:p>
          <a:p>
            <a:r>
              <a:rPr lang="en-US" altLang="en-US"/>
              <a:t>const void set();override</a:t>
            </a:r>
            <a:endParaRPr lang="en-US" altLang="en-US"/>
          </a:p>
          <a:p>
            <a:r>
              <a:rPr lang="en-US" altLang="en-US"/>
              <a:t>const class A{} //class cant inherit</a:t>
            </a:r>
            <a:endParaRPr lang="en-US" altLang="en-US"/>
          </a:p>
          <a:p>
            <a:r>
              <a:rPr lang="en-US" altLang="en-US"/>
              <a:t>-----------</a:t>
            </a:r>
            <a:endParaRPr lang="en-US" altLang="en-US"/>
          </a:p>
          <a:p>
            <a:r>
              <a:rPr lang="en-US" altLang="en-US"/>
              <a:t>final classs</a:t>
            </a:r>
            <a:endParaRPr lang="en-US" altLang="en-US"/>
          </a:p>
          <a:p>
            <a:r>
              <a:rPr lang="en-US" altLang="en-US"/>
              <a:t>-----------------------</a:t>
            </a:r>
            <a:endParaRPr lang="en-US" altLang="en-US"/>
          </a:p>
          <a:p>
            <a:r>
              <a:rPr lang="en-US" altLang="en-US"/>
              <a:t>i)cant inherit into sub class/child class</a:t>
            </a:r>
            <a:endParaRPr lang="en-US" altLang="en-US"/>
          </a:p>
          <a:p>
            <a:r>
              <a:rPr lang="en-US" altLang="en-US"/>
              <a:t>ii)we cant declare as final class with access modifers abstract or</a:t>
            </a:r>
            <a:endParaRPr lang="en-US" altLang="en-US"/>
          </a:p>
          <a:p>
            <a:r>
              <a:rPr lang="en-US" altLang="en-US"/>
              <a:t>and cant declare any abstract method in final class.</a:t>
            </a:r>
            <a:endParaRPr lang="en-US" altLang="en-US"/>
          </a:p>
          <a:p>
            <a:r>
              <a:rPr lang="en-US" altLang="en-US"/>
              <a:t>-----------------------------------------------------------</a:t>
            </a:r>
            <a:endParaRPr lang="en-US" altLang="en-US"/>
          </a:p>
          <a:p>
            <a:r>
              <a:rPr lang="en-US" altLang="en-US"/>
              <a:t>final method</a:t>
            </a:r>
            <a:endParaRPr lang="en-US" altLang="en-US"/>
          </a:p>
          <a:p>
            <a:r>
              <a:rPr lang="en-US" altLang="en-US"/>
              <a:t>i)we cant override this method</a:t>
            </a:r>
            <a:endParaRPr lang="en-US"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369570"/>
          </a:xfrm>
        </p:spPr>
        <p:txBody>
          <a:bodyPr>
            <a:normAutofit fontScale="90000"/>
          </a:bodyPr>
          <a:p>
            <a:pPr algn="ctr"/>
            <a:r>
              <a:rPr lang="en-US" sz="2800" b="1">
                <a:solidFill>
                  <a:srgbClr val="FF0000"/>
                </a:solidFill>
              </a:rPr>
              <a:t>Java Exception Handling</a:t>
            </a:r>
            <a:endParaRPr lang="en-US" sz="2800" b="1">
              <a:solidFill>
                <a:srgbClr val="FF0000"/>
              </a:solidFill>
            </a:endParaRPr>
          </a:p>
        </p:txBody>
      </p:sp>
      <p:sp>
        <p:nvSpPr>
          <p:cNvPr id="3" name="Content Placeholder 2"/>
          <p:cNvSpPr>
            <a:spLocks noGrp="1"/>
          </p:cNvSpPr>
          <p:nvPr>
            <p:ph idx="1"/>
          </p:nvPr>
        </p:nvSpPr>
        <p:spPr>
          <a:xfrm>
            <a:off x="99060" y="368935"/>
            <a:ext cx="11874500" cy="6202680"/>
          </a:xfrm>
        </p:spPr>
        <p:txBody>
          <a:bodyPr>
            <a:normAutofit lnSpcReduction="20000"/>
          </a:bodyPr>
          <a:p>
            <a:pPr marL="0" indent="0">
              <a:buNone/>
            </a:pPr>
            <a:r>
              <a:rPr lang="en-US" altLang="en-US" sz="1800" b="1"/>
              <a:t>Error </a:t>
            </a:r>
            <a:r>
              <a:rPr lang="en-US" altLang="en-US" sz="1800"/>
              <a:t>:  	It is a compile time one. Such as syntactical errors.</a:t>
            </a:r>
            <a:endParaRPr lang="en-US" altLang="en-US" sz="1800"/>
          </a:p>
          <a:p>
            <a:pPr marL="0" indent="0">
              <a:buNone/>
            </a:pPr>
            <a:r>
              <a:rPr lang="en-US" altLang="en-US" sz="1800" b="1"/>
              <a:t>Exception </a:t>
            </a:r>
            <a:r>
              <a:rPr lang="en-US" altLang="en-US" sz="1800"/>
              <a:t>:It is a runtime one, it is an unknown instruction to processor at run time. when exception raises application terminates abnormally. It can be handled by writing exception handling code.</a:t>
            </a:r>
            <a:endParaRPr lang="en-US" altLang="en-US" sz="1800"/>
          </a:p>
          <a:p>
            <a:pPr marL="0" indent="0">
              <a:buNone/>
            </a:pPr>
            <a:r>
              <a:rPr lang="en-US" altLang="en-US" sz="1800" b="1"/>
              <a:t>Bug </a:t>
            </a:r>
            <a:r>
              <a:rPr lang="en-US" altLang="en-US" sz="1800"/>
              <a:t>:It is an unexpected value at runtime. Even bug raises application never terminates  abnormally. It can  be fixed</a:t>
            </a:r>
            <a:endParaRPr lang="en-US" altLang="en-US" sz="1800"/>
          </a:p>
          <a:p>
            <a:pPr marL="0" indent="0">
              <a:buNone/>
            </a:pPr>
            <a:r>
              <a:rPr lang="en-US" altLang="en-US" sz="1800" b="1"/>
              <a:t>Defect </a:t>
            </a:r>
            <a:r>
              <a:rPr lang="en-US" altLang="en-US" sz="1800"/>
              <a:t>: It  can't be fixed. Some features may not be provided by the application software. It is manufacturing defect.</a:t>
            </a:r>
            <a:endParaRPr lang="en-US" altLang="en-US" sz="1800"/>
          </a:p>
          <a:p>
            <a:pPr marL="0" indent="0">
              <a:buNone/>
            </a:pPr>
            <a:r>
              <a:rPr lang="en-US" altLang="en-US" sz="1800"/>
              <a:t>The exception handling in java is one of the powerful mechanism to handle the runtime errors so that normal flow of the application can be maintained.</a:t>
            </a:r>
            <a:endParaRPr lang="en-US" altLang="en-US" sz="1800"/>
          </a:p>
          <a:p>
            <a:pPr marL="0" indent="0">
              <a:buNone/>
            </a:pPr>
            <a:endParaRPr lang="en-US" altLang="en-US" sz="1800"/>
          </a:p>
          <a:p>
            <a:pPr marL="0" indent="0">
              <a:buNone/>
            </a:pPr>
            <a:endParaRPr lang="en-US" altLang="en-US" sz="1800"/>
          </a:p>
          <a:p>
            <a:pPr marL="0" indent="0">
              <a:buNone/>
            </a:pPr>
            <a:r>
              <a:rPr lang="en-US" altLang="en-US" sz="1800" b="1"/>
              <a:t>What is an exception</a:t>
            </a:r>
            <a:endParaRPr lang="en-US" altLang="en-US" sz="1800" b="1"/>
          </a:p>
          <a:p>
            <a:pPr marL="0" indent="0">
              <a:buNone/>
            </a:pPr>
            <a:r>
              <a:rPr lang="en-US" altLang="en-US" sz="1800"/>
              <a:t>Dictionary Meaning: Exception is an abnormal condition.</a:t>
            </a:r>
            <a:endParaRPr lang="en-US" altLang="en-US" sz="1800"/>
          </a:p>
          <a:p>
            <a:pPr marL="0" indent="0">
              <a:buNone/>
            </a:pPr>
            <a:r>
              <a:rPr lang="en-US" altLang="en-US" sz="1800"/>
              <a:t>In java, exception is an event that disrupts the normal flow of the program. It is an object which is thrown at runtime.</a:t>
            </a:r>
            <a:endParaRPr lang="en-US" altLang="en-US" sz="1800"/>
          </a:p>
          <a:p>
            <a:pPr marL="0" indent="0">
              <a:buNone/>
            </a:pPr>
            <a:r>
              <a:rPr lang="en-US" altLang="en-US" sz="1800"/>
              <a:t>What is exception handling.</a:t>
            </a:r>
            <a:endParaRPr lang="en-US" altLang="en-US" sz="1800"/>
          </a:p>
          <a:p>
            <a:pPr marL="0" indent="0">
              <a:buNone/>
            </a:pPr>
            <a:r>
              <a:rPr lang="en-US" altLang="en-US" sz="1800"/>
              <a:t>Exception Handling is a mechanism to handle runtime errors such as ClassNotFound, IO, SQL, Remote etc.</a:t>
            </a:r>
            <a:endParaRPr lang="en-US" altLang="en-US" sz="1800"/>
          </a:p>
          <a:p>
            <a:pPr marL="0" indent="0">
              <a:buNone/>
            </a:pPr>
            <a:r>
              <a:rPr lang="en-US" altLang="en-US" sz="1800"/>
              <a:t>Advantage of Exception Handling</a:t>
            </a:r>
            <a:endParaRPr lang="en-US" altLang="en-US" sz="1800"/>
          </a:p>
          <a:p>
            <a:pPr marL="0" indent="0">
              <a:buNone/>
            </a:pPr>
            <a:r>
              <a:rPr lang="en-US" altLang="en-US" sz="1800"/>
              <a:t>The core advantage of exception handling is to maintain the normal flow of the application. Exception normally disrupts the normal flow of the application that is why we use exception handling. </a:t>
            </a:r>
            <a:endParaRPr lang="en-US" altLang="en-US" sz="180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9700" y="92075"/>
            <a:ext cx="11897995" cy="339725"/>
          </a:xfrm>
        </p:spPr>
        <p:txBody>
          <a:bodyPr>
            <a:normAutofit fontScale="90000"/>
          </a:bodyPr>
          <a:p>
            <a:r>
              <a:rPr lang="en-US" sz="2400" b="1">
                <a:solidFill>
                  <a:srgbClr val="FF0000"/>
                </a:solidFill>
              </a:rPr>
              <a:t>Exception Handling</a:t>
            </a:r>
            <a:endParaRPr lang="en-US" sz="2400" b="1">
              <a:solidFill>
                <a:srgbClr val="FF0000"/>
              </a:solidFill>
            </a:endParaRPr>
          </a:p>
        </p:txBody>
      </p:sp>
      <p:sp>
        <p:nvSpPr>
          <p:cNvPr id="3" name="Content Placeholder 2"/>
          <p:cNvSpPr>
            <a:spLocks noGrp="1"/>
          </p:cNvSpPr>
          <p:nvPr>
            <p:ph idx="1"/>
          </p:nvPr>
        </p:nvSpPr>
        <p:spPr>
          <a:xfrm>
            <a:off x="139700" y="431800"/>
            <a:ext cx="11898630" cy="6322060"/>
          </a:xfrm>
        </p:spPr>
        <p:txBody>
          <a:bodyPr>
            <a:normAutofit lnSpcReduction="10000"/>
          </a:bodyPr>
          <a:p>
            <a:r>
              <a:rPr lang="en-US" altLang="en-US" sz="2000"/>
              <a:t>There are 5 keywords used in java exception handling.</a:t>
            </a:r>
            <a:endParaRPr lang="en-US" altLang="en-US" sz="2000"/>
          </a:p>
          <a:p>
            <a:r>
              <a:rPr lang="en-US" altLang="en-US" sz="2000"/>
              <a:t>    try ,    catch,     finally,      throw and    throws</a:t>
            </a:r>
            <a:endParaRPr lang="en-US" altLang="en-US" sz="2000"/>
          </a:p>
          <a:p>
            <a:pPr marL="0" indent="0">
              <a:buNone/>
            </a:pPr>
            <a:endParaRPr lang="en-US" altLang="en-US" sz="2000"/>
          </a:p>
          <a:p>
            <a:pPr marL="0" indent="0">
              <a:buNone/>
            </a:pPr>
            <a:r>
              <a:rPr lang="en-US" altLang="en-US" sz="2000"/>
              <a:t>Java try-catch</a:t>
            </a:r>
            <a:endParaRPr lang="en-US" altLang="en-US" sz="2000"/>
          </a:p>
          <a:p>
            <a:pPr marL="0" indent="0">
              <a:buNone/>
            </a:pPr>
            <a:r>
              <a:rPr lang="en-US" altLang="en-US" sz="2000"/>
              <a:t>Java try block is used to enclose the code that might throw an exception. It must be used within the method.</a:t>
            </a:r>
            <a:endParaRPr lang="en-US" altLang="en-US" sz="2000"/>
          </a:p>
          <a:p>
            <a:pPr marL="0" indent="0">
              <a:buNone/>
            </a:pPr>
            <a:r>
              <a:rPr lang="en-US" altLang="en-US" sz="2000"/>
              <a:t>Java try block must be followed by either catch or finally block.</a:t>
            </a:r>
            <a:endParaRPr lang="en-US" altLang="en-US" sz="2000"/>
          </a:p>
          <a:p>
            <a:pPr marL="0" indent="0">
              <a:buNone/>
            </a:pPr>
            <a:r>
              <a:rPr lang="en-US" altLang="en-US" sz="2000"/>
              <a:t>Syntax of java try-catch</a:t>
            </a:r>
            <a:endParaRPr lang="en-US" altLang="en-US" sz="2000"/>
          </a:p>
          <a:p>
            <a:pPr marL="0" indent="0">
              <a:buNone/>
            </a:pPr>
            <a:r>
              <a:rPr lang="en-US" altLang="en-US" sz="2000"/>
              <a:t>    try  {</a:t>
            </a:r>
            <a:endParaRPr lang="en-US" altLang="en-US" sz="2000"/>
          </a:p>
          <a:p>
            <a:pPr marL="0" indent="0">
              <a:buNone/>
            </a:pPr>
            <a:r>
              <a:rPr lang="en-US" altLang="en-US" sz="2000"/>
              <a:t>  	-------------------------;</a:t>
            </a:r>
            <a:endParaRPr lang="en-US" altLang="en-US" sz="2000"/>
          </a:p>
          <a:p>
            <a:pPr marL="0" indent="0">
              <a:buNone/>
            </a:pPr>
            <a:r>
              <a:rPr lang="en-US" altLang="en-US" sz="2000"/>
              <a:t>  	-------------------------;  //code that may throw exception  </a:t>
            </a:r>
            <a:endParaRPr lang="en-US" altLang="en-US" sz="2000"/>
          </a:p>
          <a:p>
            <a:pPr marL="0" indent="0">
              <a:buNone/>
            </a:pPr>
            <a:r>
              <a:rPr lang="en-US" altLang="en-US" sz="2000"/>
              <a:t>    }</a:t>
            </a:r>
            <a:endParaRPr lang="en-US" altLang="en-US" sz="2000"/>
          </a:p>
          <a:p>
            <a:pPr marL="0" indent="0">
              <a:buNone/>
            </a:pPr>
            <a:r>
              <a:rPr lang="en-US" altLang="en-US" sz="2000"/>
              <a:t>    catch(Exception_Type    arg) {</a:t>
            </a:r>
            <a:endParaRPr lang="en-US" altLang="en-US" sz="2000"/>
          </a:p>
          <a:p>
            <a:pPr marL="0" indent="0">
              <a:buNone/>
            </a:pPr>
            <a:r>
              <a:rPr lang="en-US" altLang="en-US" sz="2000"/>
              <a:t>	---------------------;</a:t>
            </a:r>
            <a:endParaRPr lang="en-US" altLang="en-US" sz="2000"/>
          </a:p>
          <a:p>
            <a:pPr marL="0" indent="0">
              <a:buNone/>
            </a:pPr>
            <a:r>
              <a:rPr lang="en-US" altLang="en-US" sz="2000"/>
              <a:t>	---------------------;</a:t>
            </a:r>
            <a:endParaRPr lang="en-US" altLang="en-US" sz="2000"/>
          </a:p>
          <a:p>
            <a:pPr marL="0" indent="0">
              <a:buNone/>
            </a:pPr>
            <a:r>
              <a:rPr lang="en-US" altLang="en-US" sz="2000"/>
              <a:t>   }  </a:t>
            </a:r>
            <a:endParaRPr lang="en-US" altLang="en-US" sz="200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1353800" cy="281305"/>
          </a:xfrm>
        </p:spPr>
        <p:txBody>
          <a:bodyPr>
            <a:noAutofit/>
          </a:bodyPr>
          <a:p>
            <a:pPr algn="ctr"/>
            <a:r>
              <a:rPr lang="en-US" sz="2400" b="1">
                <a:solidFill>
                  <a:srgbClr val="FF0000"/>
                </a:solidFill>
              </a:rPr>
              <a:t>java throw keyword</a:t>
            </a:r>
            <a:endParaRPr lang="en-US" sz="2400" b="1">
              <a:solidFill>
                <a:srgbClr val="FF0000"/>
              </a:solidFill>
            </a:endParaRPr>
          </a:p>
        </p:txBody>
      </p:sp>
      <p:sp>
        <p:nvSpPr>
          <p:cNvPr id="3" name="Content Placeholder 2"/>
          <p:cNvSpPr>
            <a:spLocks noGrp="1"/>
          </p:cNvSpPr>
          <p:nvPr>
            <p:ph idx="1"/>
          </p:nvPr>
        </p:nvSpPr>
        <p:spPr>
          <a:xfrm>
            <a:off x="208915" y="281940"/>
            <a:ext cx="11815445" cy="6432550"/>
          </a:xfrm>
        </p:spPr>
        <p:txBody>
          <a:bodyPr>
            <a:normAutofit/>
          </a:bodyPr>
          <a:p>
            <a:r>
              <a:rPr lang="en-US" altLang="en-US" sz="1800"/>
              <a:t>Java throw keyword</a:t>
            </a:r>
            <a:endParaRPr lang="en-US" altLang="en-US" sz="1800"/>
          </a:p>
          <a:p>
            <a:r>
              <a:rPr lang="en-US" altLang="en-US" sz="1800"/>
              <a:t>The Java throw keyword is used to throw an exception explicitly.</a:t>
            </a:r>
            <a:endParaRPr lang="en-US" altLang="en-US" sz="1800"/>
          </a:p>
          <a:p>
            <a:r>
              <a:rPr lang="en-US" altLang="en-US" sz="1800"/>
              <a:t>We can throw either checked or uncheked exception in java by throw keyword. throw keyword is mainly used to throw custom exception.</a:t>
            </a:r>
            <a:endParaRPr lang="en-US" altLang="en-US" sz="1800"/>
          </a:p>
          <a:p>
            <a:r>
              <a:rPr lang="en-US" altLang="en-US" sz="1800"/>
              <a:t>The syntax of java throw keyword is given below.</a:t>
            </a:r>
            <a:endParaRPr lang="en-US" altLang="en-US" sz="1800"/>
          </a:p>
          <a:p>
            <a:r>
              <a:rPr lang="en-US" altLang="en-US" sz="1800"/>
              <a:t>    throw  new throwableInstance();</a:t>
            </a:r>
            <a:endParaRPr lang="en-US" altLang="en-US" sz="1800"/>
          </a:p>
          <a:p>
            <a:r>
              <a:rPr lang="en-US" altLang="en-US" sz="1800"/>
              <a:t>throwableInstance must be a child of Exception class.</a:t>
            </a:r>
            <a:endParaRPr lang="en-US" altLang="en-US" sz="1800"/>
          </a:p>
          <a:p>
            <a:endParaRPr lang="en-US" altLang="en-US" sz="1800"/>
          </a:p>
          <a:p>
            <a:r>
              <a:rPr lang="en-US" altLang="en-US" sz="1800"/>
              <a:t>In the above example getMessage() return value is null.</a:t>
            </a:r>
            <a:endParaRPr lang="en-US" altLang="en-US" sz="1800"/>
          </a:p>
          <a:p>
            <a:r>
              <a:rPr lang="en-US" altLang="en-US" sz="1800"/>
              <a:t>If exception instance created by JVM implicitly, then JVM will initialize instance with text message. Then getMessage() returns text message initialized  by the JVM.</a:t>
            </a:r>
            <a:endParaRPr lang="en-US" altLang="en-US" sz="180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65125"/>
          </a:xfrm>
        </p:spPr>
        <p:txBody>
          <a:bodyPr>
            <a:noAutofit/>
          </a:bodyPr>
          <a:p>
            <a:r>
              <a:rPr lang="en-US" sz="2400" b="1">
                <a:solidFill>
                  <a:srgbClr val="FF0000"/>
                </a:solidFill>
              </a:rPr>
              <a:t>java Custom Exception</a:t>
            </a:r>
            <a:endParaRPr lang="en-US" sz="2400" b="1">
              <a:solidFill>
                <a:srgbClr val="FF0000"/>
              </a:solidFill>
            </a:endParaRPr>
          </a:p>
        </p:txBody>
      </p:sp>
      <p:sp>
        <p:nvSpPr>
          <p:cNvPr id="3" name="Content Placeholder 2"/>
          <p:cNvSpPr>
            <a:spLocks noGrp="1"/>
          </p:cNvSpPr>
          <p:nvPr>
            <p:ph idx="1"/>
          </p:nvPr>
        </p:nvSpPr>
        <p:spPr>
          <a:xfrm>
            <a:off x="140335" y="365125"/>
            <a:ext cx="11938635" cy="6350000"/>
          </a:xfrm>
        </p:spPr>
        <p:txBody>
          <a:bodyPr>
            <a:normAutofit fontScale="45000"/>
          </a:bodyPr>
          <a:p>
            <a:pPr marL="0" indent="0">
              <a:buNone/>
            </a:pPr>
            <a:r>
              <a:rPr lang="en-US" altLang="en-US"/>
              <a:t>Rules to define Custom Exceptions</a:t>
            </a:r>
            <a:endParaRPr lang="en-US" altLang="en-US"/>
          </a:p>
          <a:p>
            <a:pPr marL="0" indent="0">
              <a:buNone/>
            </a:pPr>
            <a:r>
              <a:rPr lang="en-US" altLang="en-US"/>
              <a:t>1)Custom exception class should be a child of Exception class</a:t>
            </a:r>
            <a:endParaRPr lang="en-US" altLang="en-US"/>
          </a:p>
          <a:p>
            <a:pPr marL="0" indent="0">
              <a:buNone/>
            </a:pPr>
            <a:r>
              <a:rPr lang="en-US" altLang="en-US"/>
              <a:t>2)It should have one private message variable, to store customized message</a:t>
            </a:r>
            <a:endParaRPr lang="en-US" altLang="en-US"/>
          </a:p>
          <a:p>
            <a:pPr marL="0" indent="0">
              <a:buNone/>
            </a:pPr>
            <a:r>
              <a:rPr lang="en-US" altLang="en-US"/>
              <a:t>3)It should have default and parameterised constructors to initialize message variable</a:t>
            </a:r>
            <a:endParaRPr lang="en-US" altLang="en-US"/>
          </a:p>
          <a:p>
            <a:pPr marL="0" indent="0">
              <a:buNone/>
            </a:pPr>
            <a:r>
              <a:rPr lang="en-US" altLang="en-US"/>
              <a:t>4)Define,  overriding toString() , to override Throwable class toString()</a:t>
            </a:r>
            <a:endParaRPr lang="en-US" altLang="en-US"/>
          </a:p>
          <a:p>
            <a:pPr marL="0" indent="0">
              <a:buNone/>
            </a:pPr>
            <a:r>
              <a:rPr lang="en-US" altLang="en-US"/>
              <a:t>5)Define, overriding getMessage() , to override Throwable class getMessage ()</a:t>
            </a:r>
            <a:endParaRPr lang="en-US" altLang="en-US"/>
          </a:p>
          <a:p>
            <a:pPr marL="0" indent="0">
              <a:buNone/>
            </a:pPr>
            <a:r>
              <a:rPr lang="en-US" altLang="en-US"/>
              <a:t>6)Throwable instance must be child of Exception class.</a:t>
            </a:r>
            <a:endParaRPr lang="en-US" altLang="en-US"/>
          </a:p>
          <a:p>
            <a:pPr marL="0" indent="0">
              <a:buNone/>
            </a:pPr>
            <a:r>
              <a:rPr lang="en-US" altLang="en-US"/>
              <a:t>Purpose of user defined exceptions, is to generate customized message ( User own messages )</a:t>
            </a:r>
            <a:endParaRPr lang="en-US" altLang="en-US"/>
          </a:p>
          <a:p>
            <a:pPr marL="0" indent="0">
              <a:buNone/>
            </a:pPr>
            <a:r>
              <a:rPr lang="en-US" altLang="en-US"/>
              <a:t>Types of Exception</a:t>
            </a:r>
            <a:endParaRPr lang="en-US" altLang="en-US"/>
          </a:p>
          <a:p>
            <a:pPr marL="0" indent="0">
              <a:buNone/>
            </a:pPr>
            <a:endParaRPr lang="en-US" altLang="en-US"/>
          </a:p>
          <a:p>
            <a:pPr marL="0" indent="0">
              <a:buNone/>
            </a:pPr>
            <a:r>
              <a:rPr lang="en-US" altLang="en-US"/>
              <a:t>There are mainly two types of exceptions: checked and unchecked where error is considered as unchecked exception. The sun microsystem says there are three types of exceptions:</a:t>
            </a:r>
            <a:endParaRPr lang="en-US" altLang="en-US"/>
          </a:p>
          <a:p>
            <a:pPr marL="0" indent="0">
              <a:buNone/>
            </a:pPr>
            <a:r>
              <a:rPr lang="en-US" altLang="en-US"/>
              <a:t>1)Exception</a:t>
            </a:r>
            <a:endParaRPr lang="en-US" altLang="en-US"/>
          </a:p>
          <a:p>
            <a:pPr marL="0" indent="0">
              <a:buNone/>
            </a:pPr>
            <a:r>
              <a:rPr lang="en-US" altLang="en-US"/>
              <a:t>    	Checked Exception</a:t>
            </a:r>
            <a:endParaRPr lang="en-US" altLang="en-US"/>
          </a:p>
          <a:p>
            <a:pPr marL="0" indent="0">
              <a:buNone/>
            </a:pPr>
            <a:r>
              <a:rPr lang="en-US" altLang="en-US"/>
              <a:t>    	Unchecked Exception</a:t>
            </a:r>
            <a:endParaRPr lang="en-US" altLang="en-US"/>
          </a:p>
          <a:p>
            <a:pPr marL="0" indent="0">
              <a:buNone/>
            </a:pPr>
            <a:r>
              <a:rPr lang="en-US" altLang="en-US"/>
              <a:t>2) Error</a:t>
            </a:r>
            <a:endParaRPr lang="en-US" altLang="en-US"/>
          </a:p>
          <a:p>
            <a:pPr marL="0" indent="0">
              <a:buNone/>
            </a:pPr>
            <a:r>
              <a:rPr lang="en-US" altLang="en-US"/>
              <a:t>Difference between checked and unchecked exceptions</a:t>
            </a:r>
            <a:endParaRPr lang="en-US" altLang="en-US"/>
          </a:p>
          <a:p>
            <a:pPr marL="0" indent="0">
              <a:buNone/>
            </a:pPr>
            <a:r>
              <a:rPr lang="en-US" altLang="en-US"/>
              <a:t>1)Checked Exception</a:t>
            </a:r>
            <a:endParaRPr lang="en-US" altLang="en-US"/>
          </a:p>
          <a:p>
            <a:pPr marL="0" indent="0">
              <a:buNone/>
            </a:pPr>
            <a:r>
              <a:rPr lang="en-US" altLang="en-US"/>
              <a:t>Checked exceptions are checked at compile-time.</a:t>
            </a:r>
            <a:endParaRPr lang="en-US" altLang="en-US"/>
          </a:p>
          <a:p>
            <a:pPr marL="0" indent="0">
              <a:buNone/>
            </a:pPr>
            <a:r>
              <a:rPr lang="en-US" altLang="en-US"/>
              <a:t>The classes that extends of Throwable / Exception classes except RuntimeException and Error are known as checked exceptions  </a:t>
            </a:r>
            <a:endParaRPr lang="en-US" altLang="en-US"/>
          </a:p>
          <a:p>
            <a:pPr marL="0" indent="0">
              <a:buNone/>
            </a:pPr>
            <a:endParaRPr lang="en-US"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22580"/>
          </a:xfrm>
        </p:spPr>
        <p:txBody>
          <a:bodyPr>
            <a:normAutofit fontScale="90000"/>
          </a:bodyPr>
          <a:p>
            <a:r>
              <a:rPr lang="en-US" sz="2000" b="1">
                <a:solidFill>
                  <a:srgbClr val="FF0000"/>
                </a:solidFill>
                <a:sym typeface="+mn-ea"/>
              </a:rPr>
              <a:t>java Custom Exception</a:t>
            </a:r>
            <a:endParaRPr lang="en-US" sz="2000" b="1">
              <a:solidFill>
                <a:srgbClr val="FF0000"/>
              </a:solidFill>
              <a:sym typeface="+mn-ea"/>
            </a:endParaRPr>
          </a:p>
        </p:txBody>
      </p:sp>
      <p:sp>
        <p:nvSpPr>
          <p:cNvPr id="3" name="Content Placeholder 2"/>
          <p:cNvSpPr>
            <a:spLocks noGrp="1"/>
          </p:cNvSpPr>
          <p:nvPr>
            <p:ph idx="1"/>
          </p:nvPr>
        </p:nvSpPr>
        <p:spPr>
          <a:xfrm>
            <a:off x="0" y="322580"/>
            <a:ext cx="12192635" cy="6446520"/>
          </a:xfrm>
        </p:spPr>
        <p:txBody>
          <a:bodyPr>
            <a:noAutofit/>
          </a:bodyPr>
          <a:p>
            <a:pPr marL="0" indent="0">
              <a:buNone/>
            </a:pPr>
            <a:r>
              <a:rPr lang="en-US" altLang="en-US" sz="1600">
                <a:sym typeface="+mn-ea"/>
              </a:rPr>
              <a:t>e.g. IOException, SQLException, User defind Exception classes.    All Exception classes, from other than java.lang package are checked exceptions.</a:t>
            </a:r>
            <a:endParaRPr lang="en-US" altLang="en-US" sz="1600"/>
          </a:p>
          <a:p>
            <a:pPr marL="0" indent="0">
              <a:buNone/>
            </a:pPr>
            <a:r>
              <a:rPr lang="en-US" altLang="en-US" sz="1600">
                <a:sym typeface="+mn-ea"/>
              </a:rPr>
              <a:t>2) Unchecked Exception Unchecked exceptions are not checked at compile-time rather they are checked at runtime.</a:t>
            </a:r>
            <a:endParaRPr lang="en-US" altLang="en-US" sz="1600"/>
          </a:p>
          <a:p>
            <a:pPr marL="0" indent="0">
              <a:buNone/>
            </a:pPr>
            <a:r>
              <a:rPr lang="en-US" altLang="en-US" sz="1600">
                <a:sym typeface="+mn-ea"/>
              </a:rPr>
              <a:t>The classes, that extends RuntimeException e.g. ArithmeticException, NullPointerException, ArrayIndexOutOfBoundsException etc.  All the Exception classes from java.lang package are Unchecked Exceptions</a:t>
            </a:r>
            <a:endParaRPr lang="en-US" altLang="en-US" sz="1600"/>
          </a:p>
          <a:p>
            <a:pPr marL="0" indent="0">
              <a:buNone/>
            </a:pPr>
            <a:r>
              <a:rPr lang="en-US" altLang="en-US" sz="1600">
                <a:sym typeface="+mn-ea"/>
              </a:rPr>
              <a:t>Q. User defined Exceptions, should be difined under which exception </a:t>
            </a:r>
            <a:endParaRPr lang="en-US" altLang="en-US" sz="1600"/>
          </a:p>
          <a:p>
            <a:pPr marL="0" indent="0">
              <a:buNone/>
            </a:pPr>
            <a:r>
              <a:rPr lang="en-US" altLang="en-US" sz="1600">
                <a:sym typeface="+mn-ea"/>
              </a:rPr>
              <a:t>	checked / unchecked ?</a:t>
            </a:r>
            <a:endParaRPr lang="en-US" altLang="en-US" sz="1600"/>
          </a:p>
          <a:p>
            <a:pPr marL="0" indent="0">
              <a:buNone/>
            </a:pPr>
            <a:r>
              <a:rPr lang="en-US" altLang="en-US" sz="1600">
                <a:sym typeface="+mn-ea"/>
              </a:rPr>
              <a:t>	Ans:  Checked ,   reason it is not from java.lang package it is having it’s own package ( user defined package )</a:t>
            </a:r>
            <a:endParaRPr lang="en-US" altLang="en-US" sz="1600"/>
          </a:p>
          <a:p>
            <a:pPr marL="0" indent="0">
              <a:buNone/>
            </a:pPr>
            <a:r>
              <a:rPr lang="en-US" altLang="en-US" sz="1600">
                <a:sym typeface="+mn-ea"/>
              </a:rPr>
              <a:t>3) Error</a:t>
            </a:r>
            <a:endParaRPr lang="en-US" altLang="en-US" sz="1600"/>
          </a:p>
          <a:p>
            <a:pPr marL="0" indent="0">
              <a:buNone/>
            </a:pPr>
            <a:r>
              <a:rPr lang="en-US" altLang="en-US" sz="1600">
                <a:sym typeface="+mn-ea"/>
              </a:rPr>
              <a:t>Error is irrecoverable e.g. OutOfMemoryError, VirtualMachineError, AssertionError etc. Checked exceptions should handled at compile time. It can be handled by using try –catch or usng throws clause. try –catch is used to get exception message, where as throws clause is to suppress Exception at compile time.</a:t>
            </a:r>
            <a:endParaRPr lang="en-US" altLang="en-US" sz="1600"/>
          </a:p>
          <a:p>
            <a:pPr marL="0" indent="0">
              <a:buNone/>
            </a:pPr>
            <a:r>
              <a:rPr lang="en-US" altLang="en-US" sz="1600">
                <a:sym typeface="+mn-ea"/>
              </a:rPr>
              <a:t>Java throws keyword ( throws clause )</a:t>
            </a:r>
            <a:endParaRPr lang="en-US" altLang="en-US" sz="1600"/>
          </a:p>
          <a:p>
            <a:pPr marL="0" indent="0">
              <a:buNone/>
            </a:pPr>
            <a:r>
              <a:rPr lang="en-US" altLang="en-US" sz="1600">
                <a:sym typeface="+mn-ea"/>
              </a:rPr>
              <a:t>The Java throws keyword is used to declare an exception. It gives an information to the programmer that there may occur an exception so it is better for the programmer to provide the exception handling code so that normal flow can be maintained.</a:t>
            </a:r>
            <a:endParaRPr lang="en-US" altLang="en-US" sz="1600"/>
          </a:p>
          <a:p>
            <a:pPr marL="0" indent="0">
              <a:buNone/>
            </a:pPr>
            <a:r>
              <a:rPr lang="en-US" altLang="en-US" sz="1600">
                <a:sym typeface="+mn-ea"/>
              </a:rPr>
              <a:t>Exception Handling is mainly used to handle the checked exceptions. If there occurs any unchecked exception such as NullPointerException, it is programmers fault that he is not performing check up before the code being used.</a:t>
            </a:r>
            <a:endParaRPr lang="en-US" altLang="en-US" sz="1600"/>
          </a:p>
          <a:p>
            <a:pPr marL="0" indent="0">
              <a:buNone/>
            </a:pPr>
            <a:r>
              <a:rPr lang="en-US" altLang="en-US" sz="1600">
                <a:sym typeface="+mn-ea"/>
              </a:rPr>
              <a:t>Syntax of java throws</a:t>
            </a:r>
            <a:endParaRPr lang="en-US" altLang="en-US" sz="1600"/>
          </a:p>
          <a:p>
            <a:pPr marL="0" indent="0">
              <a:buNone/>
            </a:pPr>
            <a:r>
              <a:rPr lang="en-US" altLang="en-US" sz="1600">
                <a:sym typeface="+mn-ea"/>
              </a:rPr>
              <a:t>    return_type   method_name()   throws   exception_class_name    {  </a:t>
            </a:r>
            <a:endParaRPr lang="en-US" altLang="en-US" sz="1600">
              <a:sym typeface="+mn-ea"/>
            </a:endParaRPr>
          </a:p>
          <a:p>
            <a:pPr marL="0" indent="0">
              <a:buNone/>
            </a:pPr>
            <a:r>
              <a:rPr lang="en-US" altLang="en-US" sz="1600">
                <a:sym typeface="+mn-ea"/>
              </a:rPr>
              <a:t>   	//method code  </a:t>
            </a:r>
            <a:endParaRPr lang="en-US" altLang="en-US" sz="1600"/>
          </a:p>
          <a:p>
            <a:pPr marL="0" indent="0">
              <a:buNone/>
            </a:pPr>
            <a:r>
              <a:rPr lang="en-US" altLang="en-US" sz="1600">
                <a:sym typeface="+mn-ea"/>
              </a:rPr>
              <a:t>    }  checked exception, should be handled either using try-catch or using  throws declaration</a:t>
            </a:r>
            <a:endParaRPr lang="en-US" altLang="en-US" sz="1600"/>
          </a:p>
          <a:p>
            <a:pPr marL="0" indent="0">
              <a:buNone/>
            </a:pPr>
            <a:endParaRPr lang="en-US" altLang="en-US" sz="160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635"/>
            <a:ext cx="12192635" cy="294005"/>
          </a:xfrm>
        </p:spPr>
        <p:txBody>
          <a:bodyPr>
            <a:normAutofit fontScale="90000"/>
          </a:bodyPr>
          <a:p>
            <a:pPr algn="ctr"/>
            <a:r>
              <a:rPr lang="en-US" sz="2800" b="1">
                <a:solidFill>
                  <a:srgbClr val="FF0000"/>
                </a:solidFill>
              </a:rPr>
              <a:t>Java Collection Framework</a:t>
            </a:r>
            <a:endParaRPr lang="en-US" sz="2800" b="1">
              <a:solidFill>
                <a:srgbClr val="FF0000"/>
              </a:solidFill>
            </a:endParaRPr>
          </a:p>
        </p:txBody>
      </p:sp>
      <p:sp>
        <p:nvSpPr>
          <p:cNvPr id="3" name="Content Placeholder 2"/>
          <p:cNvSpPr>
            <a:spLocks noGrp="1"/>
          </p:cNvSpPr>
          <p:nvPr>
            <p:ph idx="1"/>
          </p:nvPr>
        </p:nvSpPr>
        <p:spPr>
          <a:xfrm>
            <a:off x="167005" y="293370"/>
            <a:ext cx="11924665" cy="6459220"/>
          </a:xfrm>
        </p:spPr>
        <p:txBody>
          <a:bodyPr/>
          <a:p>
            <a:pPr marL="342900" indent="-342900">
              <a:buAutoNum type="arabicPeriod"/>
            </a:pPr>
            <a:r>
              <a:rPr lang="en-US" altLang="en-US" sz="1600"/>
              <a:t>Collections in java is a framework that provides an architecture to store and manipulate the group of java objects. All the </a:t>
            </a:r>
            <a:endParaRPr lang="en-US" altLang="en-US" sz="1600"/>
          </a:p>
          <a:p>
            <a:pPr marL="342900" indent="-342900">
              <a:buAutoNum type="arabicPeriod"/>
            </a:pPr>
            <a:r>
              <a:rPr lang="en-US" altLang="en-US" sz="1600"/>
              <a:t>operations that you perform on a data such as searching, sorting, insertion, manipulation, deletion etc. can be performed by </a:t>
            </a:r>
            <a:endParaRPr lang="en-US" altLang="en-US" sz="1600"/>
          </a:p>
          <a:p>
            <a:pPr marL="342900" indent="-342900">
              <a:buAutoNum type="arabicPeriod"/>
            </a:pPr>
            <a:r>
              <a:rPr lang="en-US" altLang="en-US" sz="1600"/>
              <a:t>Java Collections.</a:t>
            </a:r>
            <a:endParaRPr lang="en-US" altLang="en-US" sz="1600"/>
          </a:p>
          <a:p>
            <a:pPr marL="342900" indent="-342900">
              <a:buAutoNum type="arabicPeriod"/>
            </a:pPr>
            <a:r>
              <a:rPr lang="en-US" altLang="en-US" sz="1600"/>
              <a:t>Java Collection simply means a single unit of objects. Java Collection framework provides many interfaces (Set, List, Queue, </a:t>
            </a:r>
            <a:endParaRPr lang="en-US" altLang="en-US" sz="1600"/>
          </a:p>
          <a:p>
            <a:pPr marL="342900" indent="-342900">
              <a:buAutoNum type="arabicPeriod"/>
            </a:pPr>
            <a:r>
              <a:rPr lang="en-US" altLang="en-US" sz="1600"/>
              <a:t>Deque etc.) and classes (Array-List, LinkedList, Vector, Priority-Queue, HashSet, Linked-HashSet, Tree-Set etc).</a:t>
            </a:r>
            <a:endParaRPr lang="en-US" altLang="en-US" sz="1600"/>
          </a:p>
          <a:p>
            <a:pPr marL="342900" indent="-342900">
              <a:buAutoNum type="arabicPeriod"/>
            </a:pPr>
            <a:r>
              <a:rPr lang="en-US" altLang="en-US" sz="1600"/>
              <a:t>What is Collection in java</a:t>
            </a:r>
            <a:endParaRPr lang="en-US" altLang="en-US" sz="1600"/>
          </a:p>
          <a:p>
            <a:pPr marL="342900" indent="-342900">
              <a:buAutoNum type="arabicPeriod"/>
            </a:pPr>
            <a:r>
              <a:rPr lang="en-US" altLang="en-US" sz="1600"/>
              <a:t>Collection represents a single unit of objects i.e. a group.</a:t>
            </a:r>
            <a:endParaRPr lang="en-US" altLang="en-US" sz="1600"/>
          </a:p>
          <a:p>
            <a:pPr marL="342900" indent="-342900">
              <a:buAutoNum type="arabicPeriod"/>
            </a:pPr>
            <a:r>
              <a:rPr lang="en-US" altLang="en-US" sz="1600"/>
              <a:t>What is framework in java</a:t>
            </a:r>
            <a:endParaRPr lang="en-US" altLang="en-US" sz="1600"/>
          </a:p>
          <a:p>
            <a:pPr marL="342900" indent="-342900">
              <a:buAutoNum type="arabicPeriod"/>
            </a:pPr>
            <a:r>
              <a:rPr lang="en-US" altLang="en-US" sz="1600"/>
              <a:t>provides readymade architecture. represents set of classes and interface.</a:t>
            </a:r>
            <a:endParaRPr lang="en-US" altLang="en-US" sz="1600"/>
          </a:p>
          <a:p>
            <a:pPr marL="342900" indent="-342900">
              <a:buAutoNum type="arabicPeriod"/>
            </a:pPr>
            <a:r>
              <a:rPr lang="en-US" altLang="en-US" sz="1600"/>
              <a:t>Hierarchy of Collection Framework </a:t>
            </a:r>
            <a:endParaRPr lang="en-US" altLang="en-US" sz="1600"/>
          </a:p>
          <a:p>
            <a:pPr marL="342900" indent="-342900">
              <a:buAutoNum type="arabicPeriod"/>
            </a:pPr>
            <a:r>
              <a:rPr lang="en-US" altLang="en-US" sz="1600"/>
              <a:t>Let us see the hierarchy of collection frame work. The java. util package contains all the classes and interfaces for Collection </a:t>
            </a:r>
            <a:endParaRPr lang="en-US" altLang="en-US" sz="1600"/>
          </a:p>
          <a:p>
            <a:pPr marL="342900" indent="-342900">
              <a:buAutoNum type="arabicPeriod"/>
            </a:pPr>
            <a:r>
              <a:rPr lang="en-US" altLang="en-US" sz="1600"/>
              <a:t>framework</a:t>
            </a:r>
            <a:endParaRPr lang="en-US" altLang="en-US" sz="16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429260"/>
          </a:xfrm>
        </p:spPr>
        <p:txBody>
          <a:bodyPr>
            <a:noAutofit/>
          </a:bodyPr>
          <a:p>
            <a:pPr algn="ctr"/>
            <a:r>
              <a:rPr lang="en-US" sz="2400">
                <a:solidFill>
                  <a:srgbClr val="FF0000"/>
                </a:solidFill>
              </a:rPr>
              <a:t>Hierarchi Of Java collections framework</a:t>
            </a:r>
            <a:endParaRPr lang="en-US" sz="2400">
              <a:solidFill>
                <a:srgbClr val="FF0000"/>
              </a:solidFill>
            </a:endParaRPr>
          </a:p>
        </p:txBody>
      </p:sp>
      <p:pic>
        <p:nvPicPr>
          <p:cNvPr id="4" name="Content Placeholder 3"/>
          <p:cNvPicPr>
            <a:picLocks noChangeAspect="1"/>
          </p:cNvPicPr>
          <p:nvPr>
            <p:ph idx="1"/>
          </p:nvPr>
        </p:nvPicPr>
        <p:blipFill>
          <a:blip r:embed="rId1"/>
          <a:stretch>
            <a:fillRect/>
          </a:stretch>
        </p:blipFill>
        <p:spPr>
          <a:xfrm>
            <a:off x="0" y="1045845"/>
            <a:ext cx="12043410" cy="5638165"/>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68630" y="0"/>
            <a:ext cx="10885170" cy="513715"/>
          </a:xfrm>
        </p:spPr>
        <p:txBody>
          <a:bodyPr>
            <a:normAutofit fontScale="90000"/>
          </a:bodyPr>
          <a:p>
            <a:r>
              <a:rPr lang="en-US" altLang="en-US" sz="2800" b="1">
                <a:solidFill>
                  <a:srgbClr val="FF0000"/>
                </a:solidFill>
                <a:sym typeface="+mn-ea"/>
              </a:rPr>
              <a:t>Iterator interface</a:t>
            </a:r>
            <a:endParaRPr lang="en-US" altLang="en-US" sz="2800" b="1">
              <a:solidFill>
                <a:srgbClr val="FF0000"/>
              </a:solidFill>
              <a:sym typeface="+mn-ea"/>
            </a:endParaRPr>
          </a:p>
        </p:txBody>
      </p:sp>
      <p:sp>
        <p:nvSpPr>
          <p:cNvPr id="3" name="Content Placeholder 2"/>
          <p:cNvSpPr>
            <a:spLocks noGrp="1"/>
          </p:cNvSpPr>
          <p:nvPr>
            <p:ph idx="1"/>
          </p:nvPr>
        </p:nvSpPr>
        <p:spPr>
          <a:xfrm>
            <a:off x="139700" y="513715"/>
            <a:ext cx="11911330" cy="6212840"/>
          </a:xfrm>
        </p:spPr>
        <p:txBody>
          <a:bodyPr/>
          <a:p>
            <a:pPr marL="342900" indent="-342900">
              <a:buAutoNum type="arabicPeriod"/>
            </a:pPr>
            <a:r>
              <a:rPr lang="en-US" altLang="en-US" sz="1800"/>
              <a:t>Iterator interface provides the facility of iterating the elements in forward direction only.</a:t>
            </a:r>
            <a:endParaRPr lang="en-US" altLang="en-US" sz="1800"/>
          </a:p>
          <a:p>
            <a:pPr marL="342900" indent="-342900">
              <a:buAutoNum type="arabicPeriod"/>
            </a:pPr>
            <a:r>
              <a:rPr lang="en-US" altLang="en-US" sz="1800"/>
              <a:t>Methods of Iterator interface</a:t>
            </a:r>
            <a:endParaRPr lang="en-US" altLang="en-US" sz="1800"/>
          </a:p>
          <a:p>
            <a:pPr marL="342900" indent="-342900">
              <a:buAutoNum type="arabicPeriod"/>
            </a:pPr>
            <a:r>
              <a:rPr lang="en-US" altLang="en-US" sz="1800"/>
              <a:t>There are only three methods in the Iterator interface. They are:</a:t>
            </a:r>
            <a:endParaRPr lang="en-US" altLang="en-US" sz="1800"/>
          </a:p>
          <a:p>
            <a:pPr marL="342900" indent="-342900">
              <a:buAutoNum type="arabicPeriod"/>
            </a:pPr>
            <a:r>
              <a:rPr lang="en-US" altLang="en-US" sz="1800"/>
              <a:t>public boolean hasNext() it returns true if iterator has more elements.</a:t>
            </a:r>
            <a:endParaRPr lang="en-US" altLang="en-US" sz="1800"/>
          </a:p>
          <a:p>
            <a:pPr marL="342900" indent="-342900">
              <a:buAutoNum type="arabicPeriod"/>
            </a:pPr>
            <a:r>
              <a:rPr lang="en-US" altLang="en-US" sz="1800"/>
              <a:t>public object next() it returns the element and moves the cursor pointer to the next element.</a:t>
            </a:r>
            <a:endParaRPr lang="en-US" altLang="en-US" sz="1800"/>
          </a:p>
          <a:p>
            <a:pPr marL="342900" indent="-342900">
              <a:buAutoNum type="arabicPeriod"/>
            </a:pPr>
            <a:r>
              <a:rPr lang="en-US" altLang="en-US" sz="1800"/>
              <a:t>public void remove() it removes the last elements returned by the iterator. It is rarely used.</a:t>
            </a:r>
            <a:endParaRPr lang="en-US" altLang="en-US" sz="1800"/>
          </a:p>
          <a:p>
            <a:pPr marL="342900" indent="-342900">
              <a:buAutoNum type="arabicPeriod"/>
            </a:pPr>
            <a:endParaRPr lang="en-US" altLang="en-US" sz="180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78460"/>
          </a:xfrm>
        </p:spPr>
        <p:txBody>
          <a:bodyPr>
            <a:normAutofit fontScale="90000"/>
          </a:bodyPr>
          <a:p>
            <a:r>
              <a:rPr lang="en-US" sz="2800" b="1">
                <a:solidFill>
                  <a:srgbClr val="FF0000"/>
                </a:solidFill>
              </a:rPr>
              <a:t>Java Arraylist</a:t>
            </a:r>
            <a:endParaRPr lang="en-US" sz="2800" b="1">
              <a:solidFill>
                <a:srgbClr val="FF0000"/>
              </a:solidFill>
            </a:endParaRPr>
          </a:p>
        </p:txBody>
      </p:sp>
      <p:sp>
        <p:nvSpPr>
          <p:cNvPr id="3" name="Content Placeholder 2"/>
          <p:cNvSpPr>
            <a:spLocks noGrp="1"/>
          </p:cNvSpPr>
          <p:nvPr>
            <p:ph idx="1"/>
          </p:nvPr>
        </p:nvSpPr>
        <p:spPr>
          <a:xfrm>
            <a:off x="635" y="378460"/>
            <a:ext cx="12300585" cy="6280785"/>
          </a:xfrm>
        </p:spPr>
        <p:txBody>
          <a:bodyPr>
            <a:noAutofit/>
          </a:bodyPr>
          <a:p>
            <a:pPr marL="342900" indent="-342900">
              <a:buAutoNum type="arabicPeriod"/>
            </a:pPr>
            <a:r>
              <a:rPr lang="en-US" altLang="en-US" sz="1800" b="1">
                <a:sym typeface="+mn-ea"/>
              </a:rPr>
              <a:t>Java Array List</a:t>
            </a:r>
            <a:endParaRPr lang="en-US" altLang="en-US" sz="1800" b="1"/>
          </a:p>
          <a:p>
            <a:pPr marL="342900" indent="-342900">
              <a:buAutoNum type="arabicPeriod"/>
            </a:pPr>
            <a:r>
              <a:rPr lang="en-US" altLang="en-US" sz="1800">
                <a:sym typeface="+mn-ea"/>
              </a:rPr>
              <a:t>Java Array List class uses a dynamic array for storing the elements. It extends </a:t>
            </a:r>
            <a:r>
              <a:rPr lang="en-US" altLang="en-US" sz="1800" b="1">
                <a:sym typeface="+mn-ea"/>
              </a:rPr>
              <a:t>Abstract List</a:t>
            </a:r>
            <a:r>
              <a:rPr lang="en-US" altLang="en-US" sz="1800">
                <a:sym typeface="+mn-ea"/>
              </a:rPr>
              <a:t> class and implements </a:t>
            </a:r>
            <a:r>
              <a:rPr lang="en-US" altLang="en-US" sz="1800" b="1">
                <a:sym typeface="+mn-ea"/>
              </a:rPr>
              <a:t>List </a:t>
            </a:r>
            <a:r>
              <a:rPr lang="en-US" altLang="en-US" sz="1800">
                <a:sym typeface="+mn-ea"/>
              </a:rPr>
              <a:t>interface. Java Array List class can contain duplicate elements .Java Array List class maintains insertion order. Java Array List class is non  synchronized.</a:t>
            </a:r>
            <a:endParaRPr lang="en-US" altLang="en-US" sz="1800"/>
          </a:p>
          <a:p>
            <a:pPr marL="342900" indent="-342900">
              <a:buAutoNum type="arabicPeriod"/>
            </a:pPr>
            <a:r>
              <a:rPr lang="en-US" altLang="en-US" sz="1800">
                <a:sym typeface="+mn-ea"/>
              </a:rPr>
              <a:t>Java Array List allows random access because array works at the index basis. In Java Array List class, manipulation is slow </a:t>
            </a:r>
            <a:endParaRPr lang="en-US" altLang="en-US" sz="1800"/>
          </a:p>
          <a:p>
            <a:pPr marL="342900" indent="-342900">
              <a:buAutoNum type="arabicPeriod"/>
            </a:pPr>
            <a:r>
              <a:rPr lang="en-US" altLang="en-US" sz="1800">
                <a:sym typeface="+mn-ea"/>
              </a:rPr>
              <a:t>because a lot of shifting needs to be occurred if any element is removed from the array list.</a:t>
            </a:r>
            <a:endParaRPr lang="en-US" altLang="en-US" sz="1800"/>
          </a:p>
          <a:p>
            <a:pPr marL="342900" indent="-342900">
              <a:buAutoNum type="arabicPeriod"/>
            </a:pPr>
            <a:r>
              <a:rPr lang="en-US" altLang="en-US" sz="1800" b="1">
                <a:sym typeface="+mn-ea"/>
              </a:rPr>
              <a:t>Java Non-generic Vs Generic Collection</a:t>
            </a:r>
            <a:endParaRPr lang="en-US" altLang="en-US" sz="1800" b="1"/>
          </a:p>
          <a:p>
            <a:pPr marL="342900" indent="-342900">
              <a:buAutoNum type="arabicPeriod"/>
            </a:pPr>
            <a:r>
              <a:rPr lang="en-US" altLang="en-US" sz="1800">
                <a:sym typeface="+mn-ea"/>
              </a:rPr>
              <a:t>Java collection framework was non-generic before JDK 1.5. Since 1.5, it is generic. Java new generic collection allows you to have </a:t>
            </a:r>
            <a:endParaRPr lang="en-US" altLang="en-US" sz="1800"/>
          </a:p>
          <a:p>
            <a:pPr marL="342900" indent="-342900">
              <a:buAutoNum type="arabicPeriod"/>
            </a:pPr>
            <a:r>
              <a:rPr lang="en-US" altLang="en-US" sz="1800">
                <a:sym typeface="+mn-ea"/>
              </a:rPr>
              <a:t>only one type of object in collection. Now it is type safe so typecasting is not required at run time.</a:t>
            </a:r>
            <a:endParaRPr lang="en-US" altLang="en-US" sz="1800"/>
          </a:p>
          <a:p>
            <a:pPr marL="342900" indent="-342900">
              <a:buAutoNum type="arabicPeriod"/>
            </a:pPr>
            <a:r>
              <a:rPr lang="en-US" altLang="en-US" sz="1800">
                <a:sym typeface="+mn-ea"/>
              </a:rPr>
              <a:t>Let's see the old non-generic example of creating java collection.    Array List al = new Array List();//creating old non-generic Array List </a:t>
            </a:r>
            <a:endParaRPr lang="en-US" altLang="en-US" sz="1800"/>
          </a:p>
          <a:p>
            <a:pPr marL="342900" indent="-342900">
              <a:buAutoNum type="arabicPeriod"/>
            </a:pPr>
            <a:r>
              <a:rPr lang="en-US" altLang="en-US" sz="1800">
                <a:sym typeface="+mn-ea"/>
              </a:rPr>
              <a:t>non-generic will take any object :</a:t>
            </a:r>
            <a:endParaRPr lang="en-US" altLang="en-US" sz="1800"/>
          </a:p>
          <a:p>
            <a:pPr marL="342900" indent="-342900">
              <a:buAutoNum type="arabicPeriod"/>
            </a:pPr>
            <a:r>
              <a:rPr lang="en-US" altLang="en-US" sz="1800">
                <a:sym typeface="+mn-ea"/>
              </a:rPr>
              <a:t>we can add any object to array list:</a:t>
            </a:r>
            <a:endParaRPr lang="en-US" altLang="en-US" sz="1800"/>
          </a:p>
          <a:p>
            <a:pPr marL="342900" indent="-342900">
              <a:buAutoNum type="arabicPeriod"/>
            </a:pPr>
            <a:r>
              <a:rPr lang="en-US" altLang="en-US" sz="1800">
                <a:sym typeface="+mn-ea"/>
              </a:rPr>
              <a:t>al.add(employee);  al.add(student);  al.add(customer);  Let's see the new generic example of creating java collection.</a:t>
            </a:r>
            <a:endParaRPr lang="en-US" altLang="en-US" sz="1800"/>
          </a:p>
          <a:p>
            <a:pPr marL="342900" indent="-342900">
              <a:buAutoNum type="arabicPeriod"/>
            </a:pPr>
            <a:r>
              <a:rPr lang="en-US" altLang="en-US" sz="1800">
                <a:sym typeface="+mn-ea"/>
              </a:rPr>
              <a:t>Array List &lt;String&gt; al = new Array List &lt;String&gt; ();//creating new generic array-list </a:t>
            </a:r>
            <a:endParaRPr lang="en-US" altLang="en-US" sz="1800"/>
          </a:p>
          <a:p>
            <a:pPr marL="342900" indent="-342900">
              <a:buAutoNum type="arabicPeriod"/>
            </a:pPr>
            <a:r>
              <a:rPr lang="en-US" altLang="en-US" sz="1800">
                <a:sym typeface="+mn-ea"/>
              </a:rPr>
              <a:t>In generic collection, we specify the type in angular braces. Now Array List is forced to have only specified type of objects in it. </a:t>
            </a:r>
            <a:endParaRPr lang="en-US" altLang="en-US" sz="1800"/>
          </a:p>
          <a:p>
            <a:pPr marL="342900" indent="-342900">
              <a:buAutoNum type="arabicPeriod"/>
            </a:pPr>
            <a:r>
              <a:rPr lang="en-US" altLang="en-US" sz="1800">
                <a:sym typeface="+mn-ea"/>
              </a:rPr>
              <a:t>If you try to add another type of object, it gives compile time error.</a:t>
            </a:r>
            <a:endParaRPr lang="en-US" altLang="en-US" sz="1800"/>
          </a:p>
          <a:p>
            <a:pPr marL="342900" indent="-342900">
              <a:buAutoNum type="arabicPeriod"/>
            </a:pPr>
            <a:endParaRPr lang="en-US" altLang="en-US" sz="180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149225" y="0"/>
          <a:ext cx="11831955" cy="6858000"/>
        </p:xfrm>
        <a:graphic>
          <a:graphicData uri="http://schemas.openxmlformats.org/drawingml/2006/table">
            <a:tbl>
              <a:tblPr/>
              <a:tblGrid>
                <a:gridCol w="3937635"/>
                <a:gridCol w="7894320"/>
              </a:tblGrid>
              <a:tr h="285750">
                <a:tc>
                  <a:txBody>
                    <a:bodyPr/>
                    <a:p>
                      <a:pPr algn="ctr"/>
                      <a:r>
                        <a:rPr sz="2400" b="1">
                          <a:solidFill>
                            <a:srgbClr val="FF0000"/>
                          </a:solidFill>
                        </a:rPr>
                        <a:t>Method</a:t>
                      </a:r>
                      <a:endParaRPr sz="2400" b="1">
                        <a:solidFill>
                          <a:srgbClr val="FF0000"/>
                        </a:solidFill>
                      </a:endParaRPr>
                    </a:p>
                  </a:txBody>
                  <a:tcPr marL="0" marR="0" marT="0" marB="0" anchor="ctr" anchorCtr="0">
                    <a:lnL>
                      <a:noFill/>
                    </a:lnL>
                    <a:lnR>
                      <a:noFill/>
                    </a:lnR>
                    <a:lnT>
                      <a:noFill/>
                    </a:lnT>
                    <a:lnB>
                      <a:noFill/>
                    </a:lnB>
                    <a:noFill/>
                  </a:tcPr>
                </a:tc>
                <a:tc>
                  <a:txBody>
                    <a:bodyPr/>
                    <a:p>
                      <a:pPr algn="ctr"/>
                      <a:r>
                        <a:rPr sz="2400" b="1">
                          <a:solidFill>
                            <a:srgbClr val="FF0000"/>
                          </a:solidFill>
                        </a:rPr>
                        <a:t>Description</a:t>
                      </a:r>
                      <a:endParaRPr sz="2400" b="1">
                        <a:solidFill>
                          <a:srgbClr val="FF0000"/>
                        </a:solidFill>
                      </a:endParaRPr>
                    </a:p>
                  </a:txBody>
                  <a:tcPr marL="0" marR="0" marT="0" marB="0" anchor="ctr" anchorCtr="0">
                    <a:lnL>
                      <a:noFill/>
                    </a:lnL>
                    <a:lnR>
                      <a:noFill/>
                    </a:lnR>
                    <a:lnT>
                      <a:noFill/>
                    </a:lnT>
                    <a:lnB>
                      <a:noFill/>
                    </a:lnB>
                    <a:noFill/>
                  </a:tcPr>
                </a:tc>
              </a:tr>
              <a:tr h="285750">
                <a:tc>
                  <a:txBody>
                    <a:bodyPr/>
                    <a:p>
                      <a:r>
                        <a:rPr sz="1800">
                          <a:solidFill>
                            <a:schemeClr val="tx1"/>
                          </a:solidFill>
                        </a:rPr>
                        <a:t>add(E e)</a:t>
                      </a:r>
                      <a:endParaRPr sz="1800">
                        <a:solidFill>
                          <a:schemeClr val="tx1"/>
                        </a:solidFill>
                      </a:endParaRPr>
                    </a:p>
                  </a:txBody>
                  <a:tcPr marL="0" marR="0" marT="0" marB="0" anchor="ctr" anchorCtr="0">
                    <a:lnL>
                      <a:noFill/>
                    </a:lnL>
                    <a:lnR>
                      <a:noFill/>
                    </a:lnR>
                    <a:lnT>
                      <a:noFill/>
                    </a:lnT>
                    <a:lnB>
                      <a:noFill/>
                    </a:lnB>
                    <a:noFill/>
                  </a:tcPr>
                </a:tc>
                <a:tc>
                  <a:txBody>
                    <a:bodyPr/>
                    <a:p>
                      <a:r>
                        <a:rPr sz="1800">
                          <a:solidFill>
                            <a:schemeClr val="tx1"/>
                          </a:solidFill>
                        </a:rPr>
                        <a:t>Adds element to the end of the list</a:t>
                      </a:r>
                      <a:endParaRPr sz="1800">
                        <a:solidFill>
                          <a:schemeClr val="tx1"/>
                        </a:solidFill>
                      </a:endParaRPr>
                    </a:p>
                  </a:txBody>
                  <a:tcPr marL="0" marR="0" marT="0" marB="0" anchor="ctr" anchorCtr="0">
                    <a:lnL>
                      <a:noFill/>
                    </a:lnL>
                    <a:lnR>
                      <a:noFill/>
                    </a:lnR>
                    <a:lnT>
                      <a:noFill/>
                    </a:lnT>
                    <a:lnB>
                      <a:noFill/>
                    </a:lnB>
                    <a:noFill/>
                  </a:tcPr>
                </a:tc>
              </a:tr>
              <a:tr h="285750">
                <a:tc>
                  <a:txBody>
                    <a:bodyPr/>
                    <a:p>
                      <a:r>
                        <a:rPr sz="1800"/>
                        <a:t>add(int index, E element)</a:t>
                      </a:r>
                      <a:endParaRPr sz="1800"/>
                    </a:p>
                  </a:txBody>
                  <a:tcPr marL="0" marR="0" marT="0" marB="0" anchor="ctr" anchorCtr="0">
                    <a:lnL>
                      <a:noFill/>
                    </a:lnL>
                    <a:lnR>
                      <a:noFill/>
                    </a:lnR>
                    <a:lnT>
                      <a:noFill/>
                    </a:lnT>
                    <a:lnB>
                      <a:noFill/>
                    </a:lnB>
                    <a:noFill/>
                  </a:tcPr>
                </a:tc>
                <a:tc>
                  <a:txBody>
                    <a:bodyPr/>
                    <a:p>
                      <a:r>
                        <a:rPr sz="1800"/>
                        <a:t>Inserts element at the specified position</a:t>
                      </a:r>
                      <a:endParaRPr sz="1800"/>
                    </a:p>
                  </a:txBody>
                  <a:tcPr marL="0" marR="0" marT="0" marB="0" anchor="ctr" anchorCtr="0">
                    <a:lnL>
                      <a:noFill/>
                    </a:lnL>
                    <a:lnR>
                      <a:noFill/>
                    </a:lnR>
                    <a:lnT>
                      <a:noFill/>
                    </a:lnT>
                    <a:lnB>
                      <a:noFill/>
                    </a:lnB>
                    <a:noFill/>
                  </a:tcPr>
                </a:tc>
              </a:tr>
              <a:tr h="285750">
                <a:tc>
                  <a:txBody>
                    <a:bodyPr/>
                    <a:p>
                      <a:r>
                        <a:rPr sz="1800"/>
                        <a:t>addAll(Collection&lt;? extends E&gt; c)</a:t>
                      </a:r>
                      <a:endParaRPr sz="1800"/>
                    </a:p>
                  </a:txBody>
                  <a:tcPr marL="0" marR="0" marT="0" marB="0" anchor="ctr" anchorCtr="0">
                    <a:lnL>
                      <a:noFill/>
                    </a:lnL>
                    <a:lnR>
                      <a:noFill/>
                    </a:lnR>
                    <a:lnT>
                      <a:noFill/>
                    </a:lnT>
                    <a:lnB>
                      <a:noFill/>
                    </a:lnB>
                    <a:noFill/>
                  </a:tcPr>
                </a:tc>
                <a:tc>
                  <a:txBody>
                    <a:bodyPr/>
                    <a:p>
                      <a:r>
                        <a:rPr sz="1800"/>
                        <a:t>Adds all elements from another collection</a:t>
                      </a:r>
                      <a:endParaRPr sz="1800"/>
                    </a:p>
                  </a:txBody>
                  <a:tcPr marL="0" marR="0" marT="0" marB="0" anchor="ctr" anchorCtr="0">
                    <a:lnL>
                      <a:noFill/>
                    </a:lnL>
                    <a:lnR>
                      <a:noFill/>
                    </a:lnR>
                    <a:lnT>
                      <a:noFill/>
                    </a:lnT>
                    <a:lnB>
                      <a:noFill/>
                    </a:lnB>
                    <a:noFill/>
                  </a:tcPr>
                </a:tc>
              </a:tr>
              <a:tr h="285750">
                <a:tc>
                  <a:txBody>
                    <a:bodyPr/>
                    <a:p>
                      <a:r>
                        <a:rPr sz="1800"/>
                        <a:t>clear()</a:t>
                      </a:r>
                      <a:endParaRPr sz="1800"/>
                    </a:p>
                  </a:txBody>
                  <a:tcPr marL="0" marR="0" marT="0" marB="0" anchor="ctr" anchorCtr="0">
                    <a:lnL>
                      <a:noFill/>
                    </a:lnL>
                    <a:lnR>
                      <a:noFill/>
                    </a:lnR>
                    <a:lnT>
                      <a:noFill/>
                    </a:lnT>
                    <a:lnB>
                      <a:noFill/>
                    </a:lnB>
                    <a:noFill/>
                  </a:tcPr>
                </a:tc>
                <a:tc>
                  <a:txBody>
                    <a:bodyPr/>
                    <a:p>
                      <a:r>
                        <a:rPr sz="1800"/>
                        <a:t>Removes all elements from the list</a:t>
                      </a:r>
                      <a:endParaRPr sz="1800"/>
                    </a:p>
                  </a:txBody>
                  <a:tcPr marL="0" marR="0" marT="0" marB="0" anchor="ctr" anchorCtr="0">
                    <a:lnL>
                      <a:noFill/>
                    </a:lnL>
                    <a:lnR>
                      <a:noFill/>
                    </a:lnR>
                    <a:lnT>
                      <a:noFill/>
                    </a:lnT>
                    <a:lnB>
                      <a:noFill/>
                    </a:lnB>
                    <a:noFill/>
                  </a:tcPr>
                </a:tc>
              </a:tr>
              <a:tr h="285750">
                <a:tc>
                  <a:txBody>
                    <a:bodyPr/>
                    <a:p>
                      <a:r>
                        <a:rPr sz="1800"/>
                        <a:t>contains(Object o)</a:t>
                      </a:r>
                      <a:endParaRPr sz="1800"/>
                    </a:p>
                  </a:txBody>
                  <a:tcPr marL="0" marR="0" marT="0" marB="0" anchor="ctr" anchorCtr="0">
                    <a:lnL>
                      <a:noFill/>
                    </a:lnL>
                    <a:lnR>
                      <a:noFill/>
                    </a:lnR>
                    <a:lnT>
                      <a:noFill/>
                    </a:lnT>
                    <a:lnB>
                      <a:noFill/>
                    </a:lnB>
                    <a:noFill/>
                  </a:tcPr>
                </a:tc>
                <a:tc>
                  <a:txBody>
                    <a:bodyPr/>
                    <a:p>
                      <a:r>
                        <a:rPr sz="1800"/>
                        <a:t>Returns true if the list contains the specified element</a:t>
                      </a:r>
                      <a:endParaRPr sz="1800"/>
                    </a:p>
                  </a:txBody>
                  <a:tcPr marL="0" marR="0" marT="0" marB="0" anchor="ctr" anchorCtr="0">
                    <a:lnL>
                      <a:noFill/>
                    </a:lnL>
                    <a:lnR>
                      <a:noFill/>
                    </a:lnR>
                    <a:lnT>
                      <a:noFill/>
                    </a:lnT>
                    <a:lnB>
                      <a:noFill/>
                    </a:lnB>
                    <a:noFill/>
                  </a:tcPr>
                </a:tc>
              </a:tr>
              <a:tr h="285750">
                <a:tc>
                  <a:txBody>
                    <a:bodyPr/>
                    <a:p>
                      <a:r>
                        <a:rPr sz="1800" b="0"/>
                        <a:t>containsAll(Collection&lt;?&gt; c)</a:t>
                      </a:r>
                      <a:endParaRPr sz="1800" b="0"/>
                    </a:p>
                  </a:txBody>
                  <a:tcPr marL="0" marR="0" marT="0" marB="0" anchor="ctr" anchorCtr="0">
                    <a:lnL>
                      <a:noFill/>
                    </a:lnL>
                    <a:lnR>
                      <a:noFill/>
                    </a:lnR>
                    <a:lnT>
                      <a:noFill/>
                    </a:lnT>
                    <a:lnB>
                      <a:noFill/>
                    </a:lnB>
                    <a:noFill/>
                  </a:tcPr>
                </a:tc>
                <a:tc>
                  <a:txBody>
                    <a:bodyPr/>
                    <a:p>
                      <a:r>
                        <a:rPr sz="1800" b="0"/>
                        <a:t>Returns true if the list contains all elements of the given collection</a:t>
                      </a:r>
                      <a:endParaRPr sz="1800" b="0"/>
                    </a:p>
                  </a:txBody>
                  <a:tcPr marL="0" marR="0" marT="0" marB="0" anchor="ctr" anchorCtr="0">
                    <a:lnL>
                      <a:noFill/>
                    </a:lnL>
                    <a:lnR>
                      <a:noFill/>
                    </a:lnR>
                    <a:lnT>
                      <a:noFill/>
                    </a:lnT>
                    <a:lnB>
                      <a:noFill/>
                    </a:lnB>
                    <a:noFill/>
                  </a:tcPr>
                </a:tc>
              </a:tr>
              <a:tr h="285750">
                <a:tc>
                  <a:txBody>
                    <a:bodyPr/>
                    <a:p>
                      <a:r>
                        <a:rPr sz="1800"/>
                        <a:t>equals(Object o)</a:t>
                      </a:r>
                      <a:endParaRPr sz="1800"/>
                    </a:p>
                  </a:txBody>
                  <a:tcPr marL="0" marR="0" marT="0" marB="0" anchor="ctr" anchorCtr="0">
                    <a:lnL>
                      <a:noFill/>
                    </a:lnL>
                    <a:lnR>
                      <a:noFill/>
                    </a:lnR>
                    <a:lnT>
                      <a:noFill/>
                    </a:lnT>
                    <a:lnB>
                      <a:noFill/>
                    </a:lnB>
                    <a:noFill/>
                  </a:tcPr>
                </a:tc>
                <a:tc>
                  <a:txBody>
                    <a:bodyPr/>
                    <a:p>
                      <a:r>
                        <a:rPr sz="1800"/>
                        <a:t>Compares the list with another object for equality</a:t>
                      </a:r>
                      <a:endParaRPr sz="1800"/>
                    </a:p>
                  </a:txBody>
                  <a:tcPr marL="0" marR="0" marT="0" marB="0" anchor="ctr" anchorCtr="0">
                    <a:lnL>
                      <a:noFill/>
                    </a:lnL>
                    <a:lnR>
                      <a:noFill/>
                    </a:lnR>
                    <a:lnT>
                      <a:noFill/>
                    </a:lnT>
                    <a:lnB>
                      <a:noFill/>
                    </a:lnB>
                    <a:noFill/>
                  </a:tcPr>
                </a:tc>
              </a:tr>
              <a:tr h="285750">
                <a:tc>
                  <a:txBody>
                    <a:bodyPr/>
                    <a:p>
                      <a:r>
                        <a:rPr sz="1800"/>
                        <a:t>get(int index)</a:t>
                      </a:r>
                      <a:endParaRPr sz="1800"/>
                    </a:p>
                  </a:txBody>
                  <a:tcPr marL="0" marR="0" marT="0" marB="0" anchor="ctr" anchorCtr="0">
                    <a:lnL>
                      <a:noFill/>
                    </a:lnL>
                    <a:lnR>
                      <a:noFill/>
                    </a:lnR>
                    <a:lnT>
                      <a:noFill/>
                    </a:lnT>
                    <a:lnB>
                      <a:noFill/>
                    </a:lnB>
                    <a:noFill/>
                  </a:tcPr>
                </a:tc>
                <a:tc>
                  <a:txBody>
                    <a:bodyPr/>
                    <a:p>
                      <a:r>
                        <a:rPr sz="1800"/>
                        <a:t>Returns the element at the specified position</a:t>
                      </a:r>
                      <a:endParaRPr sz="1800"/>
                    </a:p>
                  </a:txBody>
                  <a:tcPr marL="0" marR="0" marT="0" marB="0" anchor="ctr" anchorCtr="0">
                    <a:lnL>
                      <a:noFill/>
                    </a:lnL>
                    <a:lnR>
                      <a:noFill/>
                    </a:lnR>
                    <a:lnT>
                      <a:noFill/>
                    </a:lnT>
                    <a:lnB>
                      <a:noFill/>
                    </a:lnB>
                    <a:noFill/>
                  </a:tcPr>
                </a:tc>
              </a:tr>
              <a:tr h="285750">
                <a:tc>
                  <a:txBody>
                    <a:bodyPr/>
                    <a:p>
                      <a:r>
                        <a:rPr sz="1800"/>
                        <a:t>indexOf(Object o)</a:t>
                      </a:r>
                      <a:endParaRPr sz="1800"/>
                    </a:p>
                  </a:txBody>
                  <a:tcPr marL="0" marR="0" marT="0" marB="0" anchor="ctr" anchorCtr="0">
                    <a:lnL>
                      <a:noFill/>
                    </a:lnL>
                    <a:lnR>
                      <a:noFill/>
                    </a:lnR>
                    <a:lnT>
                      <a:noFill/>
                    </a:lnT>
                    <a:lnB>
                      <a:noFill/>
                    </a:lnB>
                    <a:noFill/>
                  </a:tcPr>
                </a:tc>
                <a:tc>
                  <a:txBody>
                    <a:bodyPr/>
                    <a:p>
                      <a:r>
                        <a:rPr sz="1800"/>
                        <a:t>Returns the first index of the specified element</a:t>
                      </a:r>
                      <a:endParaRPr sz="1800"/>
                    </a:p>
                  </a:txBody>
                  <a:tcPr marL="0" marR="0" marT="0" marB="0" anchor="ctr" anchorCtr="0">
                    <a:lnL>
                      <a:noFill/>
                    </a:lnL>
                    <a:lnR>
                      <a:noFill/>
                    </a:lnR>
                    <a:lnT>
                      <a:noFill/>
                    </a:lnT>
                    <a:lnB>
                      <a:noFill/>
                    </a:lnB>
                    <a:noFill/>
                  </a:tcPr>
                </a:tc>
              </a:tr>
              <a:tr h="285750">
                <a:tc>
                  <a:txBody>
                    <a:bodyPr/>
                    <a:p>
                      <a:r>
                        <a:rPr sz="1800"/>
                        <a:t>lastIndexOf(Object o)</a:t>
                      </a:r>
                      <a:endParaRPr sz="1800"/>
                    </a:p>
                  </a:txBody>
                  <a:tcPr marL="0" marR="0" marT="0" marB="0" anchor="ctr" anchorCtr="0">
                    <a:lnL>
                      <a:noFill/>
                    </a:lnL>
                    <a:lnR>
                      <a:noFill/>
                    </a:lnR>
                    <a:lnT>
                      <a:noFill/>
                    </a:lnT>
                    <a:lnB>
                      <a:noFill/>
                    </a:lnB>
                    <a:noFill/>
                  </a:tcPr>
                </a:tc>
                <a:tc>
                  <a:txBody>
                    <a:bodyPr/>
                    <a:p>
                      <a:r>
                        <a:rPr sz="1800"/>
                        <a:t>Returns the last index of the specified element</a:t>
                      </a:r>
                      <a:endParaRPr sz="1800"/>
                    </a:p>
                  </a:txBody>
                  <a:tcPr marL="0" marR="0" marT="0" marB="0" anchor="ctr" anchorCtr="0">
                    <a:lnL>
                      <a:noFill/>
                    </a:lnL>
                    <a:lnR>
                      <a:noFill/>
                    </a:lnR>
                    <a:lnT>
                      <a:noFill/>
                    </a:lnT>
                    <a:lnB>
                      <a:noFill/>
                    </a:lnB>
                    <a:noFill/>
                  </a:tcPr>
                </a:tc>
              </a:tr>
              <a:tr h="285750">
                <a:tc>
                  <a:txBody>
                    <a:bodyPr/>
                    <a:p>
                      <a:r>
                        <a:rPr sz="1800" b="0"/>
                        <a:t>isEmpty()</a:t>
                      </a:r>
                      <a:endParaRPr sz="1800" b="0"/>
                    </a:p>
                  </a:txBody>
                  <a:tcPr marL="0" marR="0" marT="0" marB="0" anchor="ctr" anchorCtr="0">
                    <a:lnL>
                      <a:noFill/>
                    </a:lnL>
                    <a:lnR>
                      <a:noFill/>
                    </a:lnR>
                    <a:lnT>
                      <a:noFill/>
                    </a:lnT>
                    <a:lnB>
                      <a:noFill/>
                    </a:lnB>
                    <a:noFill/>
                  </a:tcPr>
                </a:tc>
                <a:tc>
                  <a:txBody>
                    <a:bodyPr/>
                    <a:p>
                      <a:r>
                        <a:rPr sz="1800" b="0"/>
                        <a:t>Returns true if the list is empty</a:t>
                      </a:r>
                      <a:endParaRPr sz="1800" b="0"/>
                    </a:p>
                  </a:txBody>
                  <a:tcPr marL="0" marR="0" marT="0" marB="0" anchor="ctr" anchorCtr="0">
                    <a:lnL>
                      <a:noFill/>
                    </a:lnL>
                    <a:lnR>
                      <a:noFill/>
                    </a:lnR>
                    <a:lnT>
                      <a:noFill/>
                    </a:lnT>
                    <a:lnB>
                      <a:noFill/>
                    </a:lnB>
                    <a:noFill/>
                  </a:tcPr>
                </a:tc>
              </a:tr>
              <a:tr h="285750">
                <a:tc>
                  <a:txBody>
                    <a:bodyPr/>
                    <a:p>
                      <a:r>
                        <a:rPr sz="1800"/>
                        <a:t>iterator()</a:t>
                      </a:r>
                      <a:endParaRPr sz="1800"/>
                    </a:p>
                  </a:txBody>
                  <a:tcPr marL="0" marR="0" marT="0" marB="0" anchor="ctr" anchorCtr="0">
                    <a:lnL>
                      <a:noFill/>
                    </a:lnL>
                    <a:lnR>
                      <a:noFill/>
                    </a:lnR>
                    <a:lnT>
                      <a:noFill/>
                    </a:lnT>
                    <a:lnB>
                      <a:noFill/>
                    </a:lnB>
                    <a:noFill/>
                  </a:tcPr>
                </a:tc>
                <a:tc>
                  <a:txBody>
                    <a:bodyPr/>
                    <a:p>
                      <a:r>
                        <a:rPr sz="1800"/>
                        <a:t>Returns an iterator over the elements</a:t>
                      </a:r>
                      <a:endParaRPr sz="1800"/>
                    </a:p>
                  </a:txBody>
                  <a:tcPr marL="0" marR="0" marT="0" marB="0" anchor="ctr" anchorCtr="0">
                    <a:lnL>
                      <a:noFill/>
                    </a:lnL>
                    <a:lnR>
                      <a:noFill/>
                    </a:lnR>
                    <a:lnT>
                      <a:noFill/>
                    </a:lnT>
                    <a:lnB>
                      <a:noFill/>
                    </a:lnB>
                    <a:noFill/>
                  </a:tcPr>
                </a:tc>
              </a:tr>
              <a:tr h="285750">
                <a:tc>
                  <a:txBody>
                    <a:bodyPr/>
                    <a:p>
                      <a:r>
                        <a:rPr sz="1800"/>
                        <a:t>remove(int index)</a:t>
                      </a:r>
                      <a:endParaRPr sz="1800"/>
                    </a:p>
                  </a:txBody>
                  <a:tcPr marL="0" marR="0" marT="0" marB="0" anchor="ctr" anchorCtr="0">
                    <a:lnL>
                      <a:noFill/>
                    </a:lnL>
                    <a:lnR>
                      <a:noFill/>
                    </a:lnR>
                    <a:lnT>
                      <a:noFill/>
                    </a:lnT>
                    <a:lnB>
                      <a:noFill/>
                    </a:lnB>
                    <a:noFill/>
                  </a:tcPr>
                </a:tc>
                <a:tc>
                  <a:txBody>
                    <a:bodyPr/>
                    <a:p>
                      <a:r>
                        <a:rPr sz="1800"/>
                        <a:t>Removes the element at the specified position</a:t>
                      </a:r>
                      <a:endParaRPr sz="1800"/>
                    </a:p>
                  </a:txBody>
                  <a:tcPr marL="0" marR="0" marT="0" marB="0" anchor="ctr" anchorCtr="0">
                    <a:lnL>
                      <a:noFill/>
                    </a:lnL>
                    <a:lnR>
                      <a:noFill/>
                    </a:lnR>
                    <a:lnT>
                      <a:noFill/>
                    </a:lnT>
                    <a:lnB>
                      <a:noFill/>
                    </a:lnB>
                    <a:noFill/>
                  </a:tcPr>
                </a:tc>
              </a:tr>
              <a:tr h="285750">
                <a:tc>
                  <a:txBody>
                    <a:bodyPr/>
                    <a:p>
                      <a:r>
                        <a:rPr sz="1800"/>
                        <a:t>remove(Object o)</a:t>
                      </a:r>
                      <a:endParaRPr sz="1800"/>
                    </a:p>
                  </a:txBody>
                  <a:tcPr marL="0" marR="0" marT="0" marB="0" anchor="ctr" anchorCtr="0">
                    <a:lnL>
                      <a:noFill/>
                    </a:lnL>
                    <a:lnR>
                      <a:noFill/>
                    </a:lnR>
                    <a:lnT>
                      <a:noFill/>
                    </a:lnT>
                    <a:lnB>
                      <a:noFill/>
                    </a:lnB>
                    <a:noFill/>
                  </a:tcPr>
                </a:tc>
                <a:tc>
                  <a:txBody>
                    <a:bodyPr/>
                    <a:p>
                      <a:r>
                        <a:rPr sz="1800"/>
                        <a:t>Removes the first occurrence of the specified element</a:t>
                      </a:r>
                      <a:endParaRPr sz="1800"/>
                    </a:p>
                  </a:txBody>
                  <a:tcPr marL="0" marR="0" marT="0" marB="0" anchor="ctr" anchorCtr="0">
                    <a:lnL>
                      <a:noFill/>
                    </a:lnL>
                    <a:lnR>
                      <a:noFill/>
                    </a:lnR>
                    <a:lnT>
                      <a:noFill/>
                    </a:lnT>
                    <a:lnB>
                      <a:noFill/>
                    </a:lnB>
                    <a:noFill/>
                  </a:tcPr>
                </a:tc>
              </a:tr>
              <a:tr h="285750">
                <a:tc>
                  <a:txBody>
                    <a:bodyPr/>
                    <a:p>
                      <a:r>
                        <a:rPr sz="1800"/>
                        <a:t>removeAll(Collection&lt;?&gt; c)</a:t>
                      </a:r>
                      <a:endParaRPr sz="1800"/>
                    </a:p>
                  </a:txBody>
                  <a:tcPr marL="0" marR="0" marT="0" marB="0" anchor="ctr" anchorCtr="0">
                    <a:lnL>
                      <a:noFill/>
                    </a:lnL>
                    <a:lnR>
                      <a:noFill/>
                    </a:lnR>
                    <a:lnT>
                      <a:noFill/>
                    </a:lnT>
                    <a:lnB>
                      <a:noFill/>
                    </a:lnB>
                    <a:noFill/>
                  </a:tcPr>
                </a:tc>
                <a:tc>
                  <a:txBody>
                    <a:bodyPr/>
                    <a:p>
                      <a:r>
                        <a:rPr sz="1800"/>
                        <a:t>Removes all elements in the specified collection</a:t>
                      </a:r>
                      <a:endParaRPr sz="1800"/>
                    </a:p>
                  </a:txBody>
                  <a:tcPr marL="0" marR="0" marT="0" marB="0" anchor="ctr" anchorCtr="0">
                    <a:lnL>
                      <a:noFill/>
                    </a:lnL>
                    <a:lnR>
                      <a:noFill/>
                    </a:lnR>
                    <a:lnT>
                      <a:noFill/>
                    </a:lnT>
                    <a:lnB>
                      <a:noFill/>
                    </a:lnB>
                    <a:noFill/>
                  </a:tcPr>
                </a:tc>
              </a:tr>
              <a:tr h="285750">
                <a:tc>
                  <a:txBody>
                    <a:bodyPr/>
                    <a:p>
                      <a:r>
                        <a:rPr sz="1800"/>
                        <a:t>retainAll(Collection&lt;?&gt; c)</a:t>
                      </a:r>
                      <a:endParaRPr sz="1800"/>
                    </a:p>
                  </a:txBody>
                  <a:tcPr marL="0" marR="0" marT="0" marB="0" anchor="ctr" anchorCtr="0">
                    <a:lnL>
                      <a:noFill/>
                    </a:lnL>
                    <a:lnR>
                      <a:noFill/>
                    </a:lnR>
                    <a:lnT>
                      <a:noFill/>
                    </a:lnT>
                    <a:lnB>
                      <a:noFill/>
                    </a:lnB>
                    <a:noFill/>
                  </a:tcPr>
                </a:tc>
                <a:tc>
                  <a:txBody>
                    <a:bodyPr/>
                    <a:p>
                      <a:r>
                        <a:rPr sz="1800"/>
                        <a:t>Retains only elements present in the specified collection</a:t>
                      </a:r>
                      <a:endParaRPr sz="1800"/>
                    </a:p>
                  </a:txBody>
                  <a:tcPr marL="0" marR="0" marT="0" marB="0" anchor="ctr" anchorCtr="0">
                    <a:lnL>
                      <a:noFill/>
                    </a:lnL>
                    <a:lnR>
                      <a:noFill/>
                    </a:lnR>
                    <a:lnT>
                      <a:noFill/>
                    </a:lnT>
                    <a:lnB>
                      <a:noFill/>
                    </a:lnB>
                    <a:noFill/>
                  </a:tcPr>
                </a:tc>
              </a:tr>
              <a:tr h="285750">
                <a:tc>
                  <a:txBody>
                    <a:bodyPr/>
                    <a:p>
                      <a:r>
                        <a:rPr sz="1800"/>
                        <a:t>set(int index, E element)</a:t>
                      </a:r>
                      <a:endParaRPr sz="1800"/>
                    </a:p>
                  </a:txBody>
                  <a:tcPr marL="0" marR="0" marT="0" marB="0" anchor="ctr" anchorCtr="0">
                    <a:lnL>
                      <a:noFill/>
                    </a:lnL>
                    <a:lnR>
                      <a:noFill/>
                    </a:lnR>
                    <a:lnT>
                      <a:noFill/>
                    </a:lnT>
                    <a:lnB>
                      <a:noFill/>
                    </a:lnB>
                    <a:noFill/>
                  </a:tcPr>
                </a:tc>
                <a:tc>
                  <a:txBody>
                    <a:bodyPr/>
                    <a:p>
                      <a:r>
                        <a:rPr sz="1800"/>
                        <a:t>Replaces the element at the specified index</a:t>
                      </a:r>
                      <a:endParaRPr sz="1800"/>
                    </a:p>
                  </a:txBody>
                  <a:tcPr marL="0" marR="0" marT="0" marB="0" anchor="ctr" anchorCtr="0">
                    <a:lnL>
                      <a:noFill/>
                    </a:lnL>
                    <a:lnR>
                      <a:noFill/>
                    </a:lnR>
                    <a:lnT>
                      <a:noFill/>
                    </a:lnT>
                    <a:lnB>
                      <a:noFill/>
                    </a:lnB>
                    <a:noFill/>
                  </a:tcPr>
                </a:tc>
              </a:tr>
              <a:tr h="285750">
                <a:tc>
                  <a:txBody>
                    <a:bodyPr/>
                    <a:p>
                      <a:r>
                        <a:rPr sz="1800"/>
                        <a:t>size()</a:t>
                      </a:r>
                      <a:endParaRPr sz="1800"/>
                    </a:p>
                  </a:txBody>
                  <a:tcPr marL="0" marR="0" marT="0" marB="0" anchor="ctr" anchorCtr="0">
                    <a:lnL>
                      <a:noFill/>
                    </a:lnL>
                    <a:lnR>
                      <a:noFill/>
                    </a:lnR>
                    <a:lnT>
                      <a:noFill/>
                    </a:lnT>
                    <a:lnB>
                      <a:noFill/>
                    </a:lnB>
                    <a:noFill/>
                  </a:tcPr>
                </a:tc>
                <a:tc>
                  <a:txBody>
                    <a:bodyPr/>
                    <a:p>
                      <a:r>
                        <a:rPr sz="1800"/>
                        <a:t>Returns the number of elements in the list</a:t>
                      </a:r>
                      <a:endParaRPr sz="1800"/>
                    </a:p>
                  </a:txBody>
                  <a:tcPr marL="0" marR="0" marT="0" marB="0" anchor="ctr" anchorCtr="0">
                    <a:lnL>
                      <a:noFill/>
                    </a:lnL>
                    <a:lnR>
                      <a:noFill/>
                    </a:lnR>
                    <a:lnT>
                      <a:noFill/>
                    </a:lnT>
                    <a:lnB>
                      <a:noFill/>
                    </a:lnB>
                    <a:noFill/>
                  </a:tcPr>
                </a:tc>
              </a:tr>
              <a:tr h="285750">
                <a:tc>
                  <a:txBody>
                    <a:bodyPr/>
                    <a:p>
                      <a:r>
                        <a:rPr sz="1800"/>
                        <a:t>sort(Comparator&lt;? super E&gt; c)</a:t>
                      </a:r>
                      <a:endParaRPr sz="1800"/>
                    </a:p>
                  </a:txBody>
                  <a:tcPr marL="0" marR="0" marT="0" marB="0" anchor="ctr" anchorCtr="0">
                    <a:lnL>
                      <a:noFill/>
                    </a:lnL>
                    <a:lnR>
                      <a:noFill/>
                    </a:lnR>
                    <a:lnT>
                      <a:noFill/>
                    </a:lnT>
                    <a:lnB>
                      <a:noFill/>
                    </a:lnB>
                    <a:noFill/>
                  </a:tcPr>
                </a:tc>
                <a:tc>
                  <a:txBody>
                    <a:bodyPr/>
                    <a:p>
                      <a:r>
                        <a:rPr sz="1800"/>
                        <a:t>Sorts the list using the given comparator</a:t>
                      </a:r>
                      <a:endParaRPr sz="1800"/>
                    </a:p>
                  </a:txBody>
                  <a:tcPr marL="0" marR="0" marT="0" marB="0" anchor="ctr" anchorCtr="0">
                    <a:lnL>
                      <a:noFill/>
                    </a:lnL>
                    <a:lnR>
                      <a:noFill/>
                    </a:lnR>
                    <a:lnT>
                      <a:noFill/>
                    </a:lnT>
                    <a:lnB>
                      <a:noFill/>
                    </a:lnB>
                    <a:noFill/>
                  </a:tcPr>
                </a:tc>
              </a:tr>
              <a:tr h="285750">
                <a:tc>
                  <a:txBody>
                    <a:bodyPr/>
                    <a:p>
                      <a:r>
                        <a:rPr sz="1800"/>
                        <a:t>toArray(T[] a)</a:t>
                      </a:r>
                      <a:endParaRPr sz="1800"/>
                    </a:p>
                  </a:txBody>
                  <a:tcPr marL="0" marR="0" marT="0" marB="0" anchor="ctr" anchorCtr="0">
                    <a:lnL>
                      <a:noFill/>
                    </a:lnL>
                    <a:lnR>
                      <a:noFill/>
                    </a:lnR>
                    <a:lnT>
                      <a:noFill/>
                    </a:lnT>
                    <a:lnB>
                      <a:noFill/>
                    </a:lnB>
                    <a:noFill/>
                  </a:tcPr>
                </a:tc>
                <a:tc>
                  <a:txBody>
                    <a:bodyPr/>
                    <a:p>
                      <a:r>
                        <a:rPr sz="1800"/>
                        <a:t>Converts the list to a typed array</a:t>
                      </a:r>
                      <a:endParaRPr sz="1800"/>
                    </a:p>
                  </a:txBody>
                  <a:tcPr marL="0" marR="0" marT="0" marB="0" anchor="ctr" anchorCtr="0">
                    <a:lnL>
                      <a:noFill/>
                    </a:lnL>
                    <a:lnR>
                      <a:noFill/>
                    </a:lnR>
                    <a:lnT>
                      <a:noFill/>
                    </a:lnT>
                    <a:lnB>
                      <a:noFill/>
                    </a:lnB>
                    <a:noFill/>
                  </a:tcPr>
                </a:tc>
              </a:tr>
              <a:tr h="285750">
                <a:tc>
                  <a:txBody>
                    <a:bodyPr/>
                    <a:p>
                      <a:r>
                        <a:rPr sz="1800">
                          <a:solidFill>
                            <a:srgbClr val="FF0000"/>
                          </a:solidFill>
                        </a:rPr>
                        <a:t>stream()</a:t>
                      </a:r>
                      <a:endParaRPr sz="1800">
                        <a:solidFill>
                          <a:srgbClr val="FF0000"/>
                        </a:solidFill>
                      </a:endParaRPr>
                    </a:p>
                  </a:txBody>
                  <a:tcPr marL="0" marR="0" marT="0" marB="0" anchor="ctr" anchorCtr="0">
                    <a:lnL>
                      <a:noFill/>
                    </a:lnL>
                    <a:lnR>
                      <a:noFill/>
                    </a:lnR>
                    <a:lnT>
                      <a:noFill/>
                    </a:lnT>
                    <a:lnB>
                      <a:noFill/>
                    </a:lnB>
                    <a:noFill/>
                  </a:tcPr>
                </a:tc>
                <a:tc>
                  <a:txBody>
                    <a:bodyPr/>
                    <a:p>
                      <a:r>
                        <a:rPr sz="1800">
                          <a:solidFill>
                            <a:srgbClr val="FF0000"/>
                          </a:solidFill>
                        </a:rPr>
                        <a:t>Returns a sequential stream of the elements</a:t>
                      </a:r>
                      <a:endParaRPr sz="1800">
                        <a:solidFill>
                          <a:srgbClr val="FF0000"/>
                        </a:solidFill>
                      </a:endParaRPr>
                    </a:p>
                  </a:txBody>
                  <a:tcPr marL="0" marR="0" marT="0" marB="0" anchor="ctr" anchorCtr="0">
                    <a:lnL>
                      <a:noFill/>
                    </a:lnL>
                    <a:lnR>
                      <a:noFill/>
                    </a:lnR>
                    <a:lnT>
                      <a:noFill/>
                    </a:lnT>
                    <a:lnB>
                      <a:noFill/>
                    </a:lnB>
                    <a:noFill/>
                  </a:tcPr>
                </a:tc>
              </a:tr>
              <a:tr h="285750">
                <a:tc>
                  <a:txBody>
                    <a:bodyPr/>
                    <a:p>
                      <a:r>
                        <a:rPr sz="1800"/>
                        <a:t>forEach(Consumer&lt;? super E&gt; action)</a:t>
                      </a:r>
                      <a:endParaRPr sz="1800"/>
                    </a:p>
                  </a:txBody>
                  <a:tcPr marL="0" marR="0" marT="0" marB="0" anchor="ctr" anchorCtr="0">
                    <a:lnL>
                      <a:noFill/>
                    </a:lnL>
                    <a:lnR>
                      <a:noFill/>
                    </a:lnR>
                    <a:lnT>
                      <a:noFill/>
                    </a:lnT>
                    <a:lnB>
                      <a:noFill/>
                    </a:lnB>
                    <a:noFill/>
                  </a:tcPr>
                </a:tc>
                <a:tc>
                  <a:txBody>
                    <a:bodyPr/>
                    <a:p>
                      <a:r>
                        <a:rPr sz="1800"/>
                        <a:t>Performs the given action for each element</a:t>
                      </a:r>
                      <a:endParaRPr sz="18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254635"/>
          </a:xfrm>
        </p:spPr>
        <p:txBody>
          <a:bodyPr>
            <a:noAutofit/>
          </a:bodyPr>
          <a:p>
            <a:r>
              <a:rPr lang="en-US" altLang="en-US" sz="2000" b="1">
                <a:solidFill>
                  <a:srgbClr val="FF0000"/>
                </a:solidFill>
                <a:sym typeface="+mn-ea"/>
              </a:rPr>
              <a:t>Java LinkedList class</a:t>
            </a:r>
            <a:endParaRPr lang="en-US" altLang="en-US" sz="2000" b="1">
              <a:solidFill>
                <a:srgbClr val="FF0000"/>
              </a:solidFill>
              <a:sym typeface="+mn-ea"/>
            </a:endParaRPr>
          </a:p>
        </p:txBody>
      </p:sp>
      <p:sp>
        <p:nvSpPr>
          <p:cNvPr id="3" name="Content Placeholder 2"/>
          <p:cNvSpPr>
            <a:spLocks noGrp="1"/>
          </p:cNvSpPr>
          <p:nvPr>
            <p:ph idx="1"/>
          </p:nvPr>
        </p:nvSpPr>
        <p:spPr>
          <a:xfrm>
            <a:off x="0" y="254635"/>
            <a:ext cx="12078970" cy="6288405"/>
          </a:xfrm>
        </p:spPr>
        <p:txBody>
          <a:bodyPr/>
          <a:p>
            <a:r>
              <a:rPr lang="en-US" altLang="en-US" sz="1800"/>
              <a:t>Java LinkedList class uses doubly linked list to store the elements. It extends the Abstract List class and implements List and </a:t>
            </a:r>
            <a:endParaRPr lang="en-US" altLang="en-US" sz="1800"/>
          </a:p>
          <a:p>
            <a:r>
              <a:rPr lang="en-US" altLang="en-US" sz="1800"/>
              <a:t>Deque interfaces. Java LinkedList class can contain duplicate elements. Java LinkedList class maintains insertion order. Java </a:t>
            </a:r>
            <a:endParaRPr lang="en-US" altLang="en-US" sz="1800"/>
          </a:p>
          <a:p>
            <a:r>
              <a:rPr lang="en-US" altLang="en-US" sz="1800"/>
              <a:t>LinkedList class is non synchronized. In Java LinkedList class, manipulation is fast because no shifting needs to be occurred.</a:t>
            </a:r>
            <a:endParaRPr lang="en-US" altLang="en-US" sz="1800"/>
          </a:p>
          <a:p>
            <a:r>
              <a:rPr lang="en-US" altLang="en-US" sz="1800"/>
              <a:t>Java LinkedList class can be used as list, stack or queue.</a:t>
            </a:r>
            <a:endParaRPr lang="en-US" altLang="en-US" sz="1800"/>
          </a:p>
        </p:txBody>
      </p:sp>
      <p:sp>
        <p:nvSpPr>
          <p:cNvPr id="4" name="Text Box 3"/>
          <p:cNvSpPr txBox="1"/>
          <p:nvPr/>
        </p:nvSpPr>
        <p:spPr>
          <a:xfrm>
            <a:off x="0" y="1811655"/>
            <a:ext cx="11781790" cy="5046345"/>
          </a:xfrm>
          <a:prstGeom prst="rect">
            <a:avLst/>
          </a:prstGeom>
        </p:spPr>
        <p:txBody>
          <a:bodyPr>
            <a:noAutofit/>
          </a:bodyPr>
          <a:p>
            <a:r>
              <a:rPr b="1">
                <a:solidFill>
                  <a:srgbClr val="00000A"/>
                </a:solidFill>
                <a:latin typeface="Cambria" panose="02040503050406030204"/>
                <a:ea typeface="Cambria" panose="02040503050406030204"/>
              </a:rPr>
              <a:t>Difference between ArrayList and LinkedList </a:t>
            </a:r>
            <a:endParaRPr b="1">
              <a:solidFill>
                <a:srgbClr val="00000A"/>
              </a:solidFill>
              <a:latin typeface="Cambria" panose="02040503050406030204"/>
              <a:ea typeface="Cambria" panose="02040503050406030204"/>
            </a:endParaRPr>
          </a:p>
          <a:p>
            <a:endParaRPr b="1">
              <a:solidFill>
                <a:srgbClr val="00000A"/>
              </a:solidFill>
              <a:latin typeface="Cambria" panose="02040503050406030204"/>
              <a:ea typeface="Cambria" panose="02040503050406030204"/>
            </a:endParaRPr>
          </a:p>
          <a:p>
            <a:r>
              <a:rPr>
                <a:solidFill>
                  <a:srgbClr val="00000A"/>
                </a:solidFill>
                <a:latin typeface="Cambria" panose="02040503050406030204"/>
                <a:ea typeface="Cambria" panose="02040503050406030204"/>
              </a:rPr>
              <a:t>ArrayList and LinkedList both implements List interface and maintains insertion order. Both are non synchronized classes. </a:t>
            </a:r>
            <a:endParaRPr>
              <a:solidFill>
                <a:srgbClr val="00000A"/>
              </a:solidFill>
              <a:latin typeface="Cambria" panose="02040503050406030204"/>
              <a:ea typeface="Cambria" panose="02040503050406030204"/>
            </a:endParaRPr>
          </a:p>
          <a:p>
            <a:r>
              <a:rPr>
                <a:solidFill>
                  <a:srgbClr val="00000A"/>
                </a:solidFill>
                <a:latin typeface="Cambria" panose="02040503050406030204"/>
                <a:ea typeface="Cambria" panose="02040503050406030204"/>
              </a:rPr>
              <a:t>But there are many differences between Array-List and LinkedList classes that are given below. </a:t>
            </a:r>
            <a:endParaRPr>
              <a:solidFill>
                <a:srgbClr val="00000A"/>
              </a:solidFill>
              <a:latin typeface="Cambria" panose="02040503050406030204"/>
              <a:ea typeface="Cambria" panose="02040503050406030204"/>
            </a:endParaRPr>
          </a:p>
          <a:p>
            <a:endParaRPr>
              <a:solidFill>
                <a:srgbClr val="00000A"/>
              </a:solidFill>
              <a:latin typeface="Cambria" panose="02040503050406030204"/>
              <a:ea typeface="Cambria" panose="02040503050406030204"/>
            </a:endParaRPr>
          </a:p>
          <a:p>
            <a:r>
              <a:rPr b="1">
                <a:solidFill>
                  <a:srgbClr val="00000A"/>
                </a:solidFill>
                <a:latin typeface="Cambria" panose="02040503050406030204"/>
                <a:ea typeface="Cambria" panose="02040503050406030204"/>
              </a:rPr>
              <a:t>ArrayList </a:t>
            </a:r>
            <a:r>
              <a:rPr lang="en-US" b="1">
                <a:solidFill>
                  <a:srgbClr val="00000A"/>
                </a:solidFill>
                <a:latin typeface="Cambria" panose="02040503050406030204"/>
                <a:ea typeface="Cambria" panose="02040503050406030204"/>
              </a:rPr>
              <a:t>And </a:t>
            </a:r>
            <a:r>
              <a:rPr b="1">
                <a:solidFill>
                  <a:srgbClr val="00000A"/>
                </a:solidFill>
                <a:latin typeface="Cambria" panose="02040503050406030204"/>
                <a:ea typeface="Cambria" panose="02040503050406030204"/>
              </a:rPr>
              <a:t>LinkedList </a:t>
            </a:r>
            <a:endParaRPr b="1">
              <a:solidFill>
                <a:srgbClr val="00000A"/>
              </a:solidFill>
              <a:latin typeface="Cambria" panose="02040503050406030204"/>
              <a:ea typeface="Cambria" panose="02040503050406030204"/>
            </a:endParaRPr>
          </a:p>
          <a:p>
            <a:r>
              <a:rPr>
                <a:solidFill>
                  <a:srgbClr val="00000A"/>
                </a:solidFill>
                <a:latin typeface="Cambria" panose="02040503050406030204"/>
                <a:ea typeface="Cambria" panose="02040503050406030204"/>
              </a:rPr>
              <a:t>1) </a:t>
            </a:r>
            <a:r>
              <a:rPr b="1">
                <a:solidFill>
                  <a:srgbClr val="00000A"/>
                </a:solidFill>
                <a:latin typeface="Cambria" panose="02040503050406030204"/>
                <a:ea typeface="Cambria" panose="02040503050406030204"/>
              </a:rPr>
              <a:t>Array </a:t>
            </a:r>
            <a:r>
              <a:rPr>
                <a:solidFill>
                  <a:srgbClr val="00000A"/>
                </a:solidFill>
                <a:latin typeface="Cambria" panose="02040503050406030204"/>
                <a:ea typeface="Cambria" panose="02040503050406030204"/>
              </a:rPr>
              <a:t>List internally uses dynamic array to store </a:t>
            </a:r>
            <a:r>
              <a:rPr lang="en-US">
                <a:solidFill>
                  <a:srgbClr val="00000A"/>
                </a:solidFill>
                <a:latin typeface="Cambria" panose="02040503050406030204"/>
                <a:ea typeface="Cambria" panose="02040503050406030204"/>
              </a:rPr>
              <a:t> </a:t>
            </a:r>
            <a:r>
              <a:rPr>
                <a:solidFill>
                  <a:srgbClr val="00000A"/>
                </a:solidFill>
                <a:latin typeface="Cambria" panose="02040503050406030204"/>
                <a:ea typeface="Cambria" panose="02040503050406030204"/>
              </a:rPr>
              <a:t>the elements </a:t>
            </a:r>
            <a:endParaRPr>
              <a:solidFill>
                <a:srgbClr val="00000A"/>
              </a:solidFill>
              <a:latin typeface="Cambria" panose="02040503050406030204"/>
              <a:ea typeface="Cambria" panose="02040503050406030204"/>
            </a:endParaRPr>
          </a:p>
          <a:p>
            <a:r>
              <a:rPr b="1">
                <a:solidFill>
                  <a:srgbClr val="00000A"/>
                </a:solidFill>
                <a:latin typeface="Cambria" panose="02040503050406030204"/>
                <a:ea typeface="Cambria" panose="02040503050406030204"/>
              </a:rPr>
              <a:t>LinkedList </a:t>
            </a:r>
            <a:r>
              <a:rPr>
                <a:solidFill>
                  <a:srgbClr val="00000A"/>
                </a:solidFill>
                <a:latin typeface="Cambria" panose="02040503050406030204"/>
                <a:ea typeface="Cambria" panose="02040503050406030204"/>
              </a:rPr>
              <a:t>internally uses doubly linked list to store the elements. </a:t>
            </a:r>
            <a:endParaRPr>
              <a:solidFill>
                <a:srgbClr val="00000A"/>
              </a:solidFill>
              <a:latin typeface="Cambria" panose="02040503050406030204"/>
              <a:ea typeface="Cambria" panose="02040503050406030204"/>
            </a:endParaRPr>
          </a:p>
          <a:p>
            <a:r>
              <a:rPr>
                <a:solidFill>
                  <a:srgbClr val="00000A"/>
                </a:solidFill>
                <a:latin typeface="Cambria" panose="02040503050406030204"/>
                <a:ea typeface="Cambria" panose="02040503050406030204"/>
              </a:rPr>
              <a:t>2)</a:t>
            </a:r>
            <a:r>
              <a:rPr b="1">
                <a:solidFill>
                  <a:srgbClr val="00000A"/>
                </a:solidFill>
                <a:latin typeface="Cambria" panose="02040503050406030204"/>
                <a:ea typeface="Cambria" panose="02040503050406030204"/>
                <a:sym typeface="+mn-ea"/>
              </a:rPr>
              <a:t>ArrayList </a:t>
            </a:r>
            <a:r>
              <a:rPr lang="en-US">
                <a:solidFill>
                  <a:srgbClr val="00000A"/>
                </a:solidFill>
                <a:latin typeface="Cambria" panose="02040503050406030204"/>
                <a:ea typeface="Cambria" panose="02040503050406030204"/>
              </a:rPr>
              <a:t> </a:t>
            </a:r>
            <a:r>
              <a:rPr>
                <a:solidFill>
                  <a:srgbClr val="00000A"/>
                </a:solidFill>
                <a:latin typeface="Cambria" panose="02040503050406030204"/>
                <a:ea typeface="Cambria" panose="02040503050406030204"/>
              </a:rPr>
              <a:t> Manipulation with ArrayList is slow because it </a:t>
            </a:r>
            <a:r>
              <a:rPr lang="en-US">
                <a:solidFill>
                  <a:srgbClr val="00000A"/>
                </a:solidFill>
                <a:latin typeface="Cambria" panose="02040503050406030204"/>
                <a:ea typeface="Cambria" panose="02040503050406030204"/>
              </a:rPr>
              <a:t> </a:t>
            </a:r>
            <a:r>
              <a:rPr>
                <a:solidFill>
                  <a:srgbClr val="00000A"/>
                </a:solidFill>
                <a:latin typeface="Cambria" panose="02040503050406030204"/>
                <a:ea typeface="Cambria" panose="02040503050406030204"/>
              </a:rPr>
              <a:t>internally uses array. If any element is removed from </a:t>
            </a:r>
            <a:r>
              <a:rPr lang="en-US">
                <a:solidFill>
                  <a:srgbClr val="00000A"/>
                </a:solidFill>
                <a:latin typeface="Cambria" panose="02040503050406030204"/>
                <a:ea typeface="Cambria" panose="02040503050406030204"/>
              </a:rPr>
              <a:t> </a:t>
            </a:r>
            <a:r>
              <a:rPr>
                <a:solidFill>
                  <a:srgbClr val="00000A"/>
                </a:solidFill>
                <a:latin typeface="Cambria" panose="02040503050406030204"/>
                <a:ea typeface="Cambria" panose="02040503050406030204"/>
              </a:rPr>
              <a:t>the key array, all the bits are shifted in memory. </a:t>
            </a:r>
            <a:endParaRPr>
              <a:solidFill>
                <a:srgbClr val="00000A"/>
              </a:solidFill>
              <a:latin typeface="Cambria" panose="02040503050406030204"/>
              <a:ea typeface="Cambria" panose="02040503050406030204"/>
            </a:endParaRPr>
          </a:p>
          <a:p>
            <a:r>
              <a:rPr b="1">
                <a:solidFill>
                  <a:srgbClr val="00000A"/>
                </a:solidFill>
                <a:latin typeface="Cambria" panose="02040503050406030204"/>
                <a:ea typeface="Cambria" panose="02040503050406030204"/>
                <a:sym typeface="+mn-ea"/>
              </a:rPr>
              <a:t>LinkedList </a:t>
            </a:r>
            <a:r>
              <a:rPr lang="en-US" b="1">
                <a:solidFill>
                  <a:srgbClr val="00000A"/>
                </a:solidFill>
                <a:latin typeface="Cambria" panose="02040503050406030204"/>
                <a:ea typeface="Cambria" panose="02040503050406030204"/>
                <a:sym typeface="+mn-ea"/>
              </a:rPr>
              <a:t> </a:t>
            </a:r>
            <a:r>
              <a:rPr>
                <a:solidFill>
                  <a:srgbClr val="00000A"/>
                </a:solidFill>
                <a:latin typeface="Cambria" panose="02040503050406030204"/>
                <a:ea typeface="Cambria" panose="02040503050406030204"/>
              </a:rPr>
              <a:t>Manipulation with LinkedList is faster than ArrayList because </a:t>
            </a:r>
            <a:r>
              <a:rPr lang="en-US">
                <a:solidFill>
                  <a:srgbClr val="00000A"/>
                </a:solidFill>
                <a:latin typeface="Cambria" panose="02040503050406030204"/>
                <a:ea typeface="Cambria" panose="02040503050406030204"/>
              </a:rPr>
              <a:t> </a:t>
            </a:r>
            <a:r>
              <a:rPr>
                <a:solidFill>
                  <a:srgbClr val="00000A"/>
                </a:solidFill>
                <a:latin typeface="Cambria" panose="02040503050406030204"/>
                <a:ea typeface="Cambria" panose="02040503050406030204"/>
              </a:rPr>
              <a:t>it uses doubly linked list so no bit shifting is required in memory. </a:t>
            </a:r>
            <a:endParaRPr>
              <a:solidFill>
                <a:srgbClr val="00000A"/>
              </a:solidFill>
              <a:latin typeface="Cambria" panose="02040503050406030204"/>
              <a:ea typeface="Cambria" panose="02040503050406030204"/>
            </a:endParaRPr>
          </a:p>
          <a:p>
            <a:r>
              <a:rPr>
                <a:solidFill>
                  <a:srgbClr val="00000A"/>
                </a:solidFill>
                <a:latin typeface="Cambria" panose="02040503050406030204"/>
                <a:ea typeface="Cambria" panose="02040503050406030204"/>
              </a:rPr>
              <a:t>3) </a:t>
            </a:r>
            <a:r>
              <a:rPr b="1">
                <a:solidFill>
                  <a:srgbClr val="00000A"/>
                </a:solidFill>
                <a:latin typeface="Cambria" panose="02040503050406030204"/>
                <a:ea typeface="Cambria" panose="02040503050406030204"/>
              </a:rPr>
              <a:t>ArrayList </a:t>
            </a:r>
            <a:r>
              <a:rPr>
                <a:solidFill>
                  <a:srgbClr val="00000A"/>
                </a:solidFill>
                <a:latin typeface="Cambria" panose="02040503050406030204"/>
                <a:ea typeface="Cambria" panose="02040503050406030204"/>
              </a:rPr>
              <a:t>class can act as a list only because it implements List only. </a:t>
            </a:r>
            <a:endParaRPr>
              <a:solidFill>
                <a:srgbClr val="00000A"/>
              </a:solidFill>
              <a:latin typeface="Cambria" panose="02040503050406030204"/>
              <a:ea typeface="Cambria" panose="02040503050406030204"/>
            </a:endParaRPr>
          </a:p>
          <a:p>
            <a:r>
              <a:rPr b="1">
                <a:solidFill>
                  <a:srgbClr val="00000A"/>
                </a:solidFill>
                <a:latin typeface="Cambria" panose="02040503050406030204"/>
                <a:ea typeface="Cambria" panose="02040503050406030204"/>
              </a:rPr>
              <a:t>LinkedList </a:t>
            </a:r>
            <a:r>
              <a:rPr>
                <a:solidFill>
                  <a:srgbClr val="00000A"/>
                </a:solidFill>
                <a:latin typeface="Cambria" panose="02040503050406030204"/>
                <a:ea typeface="Cambria" panose="02040503050406030204"/>
              </a:rPr>
              <a:t>class can act as a list and queue both because it </a:t>
            </a:r>
            <a:r>
              <a:rPr lang="en-US">
                <a:solidFill>
                  <a:srgbClr val="00000A"/>
                </a:solidFill>
                <a:latin typeface="Cambria" panose="02040503050406030204"/>
                <a:ea typeface="Cambria" panose="02040503050406030204"/>
              </a:rPr>
              <a:t> </a:t>
            </a:r>
            <a:r>
              <a:rPr>
                <a:solidFill>
                  <a:srgbClr val="00000A"/>
                </a:solidFill>
                <a:latin typeface="Cambria" panose="02040503050406030204"/>
                <a:ea typeface="Cambria" panose="02040503050406030204"/>
              </a:rPr>
              <a:t>implements List and Deque interfaces. </a:t>
            </a:r>
            <a:endParaRPr>
              <a:solidFill>
                <a:srgbClr val="00000A"/>
              </a:solidFill>
              <a:latin typeface="Cambria" panose="02040503050406030204"/>
              <a:ea typeface="Cambria" panose="02040503050406030204"/>
            </a:endParaRPr>
          </a:p>
          <a:p>
            <a:r>
              <a:rPr>
                <a:solidFill>
                  <a:srgbClr val="00000A"/>
                </a:solidFill>
                <a:latin typeface="Cambria" panose="02040503050406030204"/>
                <a:ea typeface="Cambria" panose="02040503050406030204"/>
              </a:rPr>
              <a:t>4) </a:t>
            </a:r>
            <a:r>
              <a:rPr b="1">
                <a:solidFill>
                  <a:srgbClr val="00000A"/>
                </a:solidFill>
                <a:latin typeface="Cambria" panose="02040503050406030204"/>
                <a:ea typeface="Cambria" panose="02040503050406030204"/>
              </a:rPr>
              <a:t>ArrayList </a:t>
            </a:r>
            <a:r>
              <a:rPr>
                <a:solidFill>
                  <a:srgbClr val="00000A"/>
                </a:solidFill>
                <a:latin typeface="Cambria" panose="02040503050406030204"/>
                <a:ea typeface="Cambria" panose="02040503050406030204"/>
              </a:rPr>
              <a:t>is better for storing and accessing data.</a:t>
            </a:r>
            <a:endParaRPr>
              <a:solidFill>
                <a:srgbClr val="00000A"/>
              </a:solidFill>
              <a:latin typeface="Cambria" panose="02040503050406030204"/>
              <a:ea typeface="Cambria" panose="02040503050406030204"/>
            </a:endParaRPr>
          </a:p>
          <a:p>
            <a:r>
              <a:rPr>
                <a:solidFill>
                  <a:srgbClr val="00000A"/>
                </a:solidFill>
                <a:latin typeface="Cambria" panose="02040503050406030204"/>
                <a:ea typeface="Cambria" panose="02040503050406030204"/>
              </a:rPr>
              <a:t> </a:t>
            </a:r>
            <a:r>
              <a:rPr b="1">
                <a:solidFill>
                  <a:srgbClr val="00000A"/>
                </a:solidFill>
                <a:latin typeface="Cambria" panose="02040503050406030204"/>
                <a:ea typeface="Cambria" panose="02040503050406030204"/>
              </a:rPr>
              <a:t>LinkedList </a:t>
            </a:r>
            <a:r>
              <a:rPr>
                <a:solidFill>
                  <a:srgbClr val="00000A"/>
                </a:solidFill>
                <a:latin typeface="Cambria" panose="02040503050406030204"/>
                <a:ea typeface="Cambria" panose="02040503050406030204"/>
              </a:rPr>
              <a:t>is better for manipulating data.</a:t>
            </a:r>
            <a:endParaRPr>
              <a:solidFill>
                <a:srgbClr val="00000A"/>
              </a:solidFill>
              <a:latin typeface="Cambria" panose="02040503050406030204"/>
              <a:ea typeface="Cambria" panose="02040503050406030204"/>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Table 1"/>
          <p:cNvGraphicFramePr/>
          <p:nvPr>
            <p:custDataLst>
              <p:tags r:id="rId1"/>
            </p:custDataLst>
          </p:nvPr>
        </p:nvGraphicFramePr>
        <p:xfrm>
          <a:off x="273050" y="479425"/>
          <a:ext cx="11732260" cy="6123305"/>
        </p:xfrm>
        <a:graphic>
          <a:graphicData uri="http://schemas.openxmlformats.org/drawingml/2006/table">
            <a:tbl>
              <a:tblPr/>
              <a:tblGrid>
                <a:gridCol w="2370455"/>
                <a:gridCol w="5472430"/>
                <a:gridCol w="3889375"/>
              </a:tblGrid>
              <a:tr h="323850">
                <a:tc>
                  <a:txBody>
                    <a:bodyPr/>
                    <a:p>
                      <a:pPr algn="ctr"/>
                      <a:r>
                        <a:rPr sz="2000" b="1">
                          <a:solidFill>
                            <a:srgbClr val="FF0000"/>
                          </a:solidFill>
                        </a:rPr>
                        <a:t>Method</a:t>
                      </a:r>
                      <a:endParaRPr sz="20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b="1">
                          <a:solidFill>
                            <a:srgbClr val="FF0000"/>
                          </a:solidFill>
                        </a:rPr>
                        <a:t>Description</a:t>
                      </a:r>
                      <a:endParaRPr sz="20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b="1">
                          <a:solidFill>
                            <a:srgbClr val="FF0000"/>
                          </a:solidFill>
                        </a:rPr>
                        <a:t>Example</a:t>
                      </a:r>
                      <a:endParaRPr sz="20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r>
              <a:tr h="323215">
                <a:tc>
                  <a:txBody>
                    <a:bodyPr/>
                    <a:p>
                      <a:r>
                        <a:rPr sz="1800"/>
                        <a:t>add(E 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Adds element to the end</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list.add("A");</a:t>
                      </a:r>
                      <a:endParaRPr sz="1800"/>
                    </a:p>
                  </a:txBody>
                  <a:tcPr marL="0" marR="0" marT="0" marB="0" anchor="ctr" anchorCtr="0">
                    <a:lnL>
                      <a:noFill/>
                    </a:lnL>
                    <a:lnR>
                      <a:noFill/>
                    </a:lnR>
                    <a:lnT>
                      <a:noFill/>
                    </a:lnT>
                    <a:lnB>
                      <a:noFill/>
                    </a:lnB>
                    <a:solidFill>
                      <a:schemeClr val="accent1">
                        <a:lumMod val="40000"/>
                        <a:lumOff val="60000"/>
                      </a:schemeClr>
                    </a:solidFill>
                  </a:tcPr>
                </a:tc>
              </a:tr>
              <a:tr h="324485">
                <a:tc>
                  <a:txBody>
                    <a:bodyPr/>
                    <a:p>
                      <a:r>
                        <a:rPr sz="1800"/>
                        <a:t>add(int index, E 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Adds element at specified index</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list.add(1, "B");</a:t>
                      </a:r>
                      <a:endParaRPr sz="1800"/>
                    </a:p>
                  </a:txBody>
                  <a:tcPr marL="0" marR="0" marT="0" marB="0" anchor="ctr" anchorCtr="0">
                    <a:lnL>
                      <a:noFill/>
                    </a:lnL>
                    <a:lnR>
                      <a:noFill/>
                    </a:lnR>
                    <a:lnT>
                      <a:noFill/>
                    </a:lnT>
                    <a:lnB>
                      <a:noFill/>
                    </a:lnB>
                    <a:solidFill>
                      <a:schemeClr val="accent1">
                        <a:lumMod val="40000"/>
                        <a:lumOff val="60000"/>
                      </a:schemeClr>
                    </a:solidFill>
                  </a:tcPr>
                </a:tc>
              </a:tr>
              <a:tr h="323215">
                <a:tc>
                  <a:txBody>
                    <a:bodyPr/>
                    <a:p>
                      <a:r>
                        <a:rPr sz="1800"/>
                        <a:t>addFirst(E 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Adds element to the beginning</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list.addFirst("Start");</a:t>
                      </a:r>
                      <a:endParaRPr sz="1800"/>
                    </a:p>
                  </a:txBody>
                  <a:tcPr marL="0" marR="0" marT="0" marB="0" anchor="ctr" anchorCtr="0">
                    <a:lnL>
                      <a:noFill/>
                    </a:lnL>
                    <a:lnR>
                      <a:noFill/>
                    </a:lnR>
                    <a:lnT>
                      <a:noFill/>
                    </a:lnT>
                    <a:lnB>
                      <a:noFill/>
                    </a:lnB>
                    <a:solidFill>
                      <a:schemeClr val="accent1">
                        <a:lumMod val="40000"/>
                        <a:lumOff val="60000"/>
                      </a:schemeClr>
                    </a:solidFill>
                  </a:tcPr>
                </a:tc>
              </a:tr>
              <a:tr h="324485">
                <a:tc>
                  <a:txBody>
                    <a:bodyPr/>
                    <a:p>
                      <a:r>
                        <a:rPr sz="1800"/>
                        <a:t>addLast(E 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Adds element to the end</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list.addLast("End");</a:t>
                      </a:r>
                      <a:endParaRPr sz="1800"/>
                    </a:p>
                  </a:txBody>
                  <a:tcPr marL="0" marR="0" marT="0" marB="0" anchor="ctr" anchorCtr="0">
                    <a:lnL>
                      <a:noFill/>
                    </a:lnL>
                    <a:lnR>
                      <a:noFill/>
                    </a:lnR>
                    <a:lnT>
                      <a:noFill/>
                    </a:lnT>
                    <a:lnB>
                      <a:noFill/>
                    </a:lnB>
                    <a:solidFill>
                      <a:schemeClr val="accent1">
                        <a:lumMod val="40000"/>
                        <a:lumOff val="60000"/>
                      </a:schemeClr>
                    </a:solidFill>
                  </a:tcPr>
                </a:tc>
              </a:tr>
              <a:tr h="322580">
                <a:tc>
                  <a:txBody>
                    <a:bodyPr/>
                    <a:p>
                      <a:r>
                        <a:rPr sz="1800"/>
                        <a:t>get(int index)</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Gets element at specified index</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list.get(0);</a:t>
                      </a:r>
                      <a:endParaRPr sz="1800"/>
                    </a:p>
                  </a:txBody>
                  <a:tcPr marL="0" marR="0" marT="0" marB="0" anchor="ctr" anchorCtr="0">
                    <a:lnL>
                      <a:noFill/>
                    </a:lnL>
                    <a:lnR>
                      <a:noFill/>
                    </a:lnR>
                    <a:lnT>
                      <a:noFill/>
                    </a:lnT>
                    <a:lnB>
                      <a:noFill/>
                    </a:lnB>
                    <a:solidFill>
                      <a:schemeClr val="accent1">
                        <a:lumMod val="40000"/>
                        <a:lumOff val="60000"/>
                      </a:schemeClr>
                    </a:solidFill>
                  </a:tcPr>
                </a:tc>
              </a:tr>
              <a:tr h="323215">
                <a:tc>
                  <a:txBody>
                    <a:bodyPr/>
                    <a:p>
                      <a:r>
                        <a:rPr sz="1800"/>
                        <a:t>getFirst()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Gets the first element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list.getFirst();</a:t>
                      </a:r>
                      <a:endParaRPr sz="1800"/>
                    </a:p>
                  </a:txBody>
                  <a:tcPr marL="0" marR="0" marT="0" marB="0" anchor="ctr" anchorCtr="0">
                    <a:lnL>
                      <a:noFill/>
                    </a:lnL>
                    <a:lnR>
                      <a:noFill/>
                    </a:lnR>
                    <a:lnT>
                      <a:noFill/>
                    </a:lnT>
                    <a:lnB>
                      <a:noFill/>
                    </a:lnB>
                    <a:solidFill>
                      <a:schemeClr val="accent1">
                        <a:lumMod val="40000"/>
                        <a:lumOff val="60000"/>
                      </a:schemeClr>
                    </a:solidFill>
                  </a:tcPr>
                </a:tc>
              </a:tr>
              <a:tr h="323850">
                <a:tc>
                  <a:txBody>
                    <a:bodyPr/>
                    <a:p>
                      <a:r>
                        <a:rPr sz="1800"/>
                        <a:t>getLast()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Gets the last element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list.getLast();</a:t>
                      </a:r>
                      <a:endParaRPr sz="1800"/>
                    </a:p>
                  </a:txBody>
                  <a:tcPr marL="0" marR="0" marT="0" marB="0" anchor="ctr" anchorCtr="0">
                    <a:lnL>
                      <a:noFill/>
                    </a:lnL>
                    <a:lnR>
                      <a:noFill/>
                    </a:lnR>
                    <a:lnT>
                      <a:noFill/>
                    </a:lnT>
                    <a:lnB>
                      <a:noFill/>
                    </a:lnB>
                    <a:solidFill>
                      <a:schemeClr val="accent1">
                        <a:lumMod val="40000"/>
                        <a:lumOff val="60000"/>
                      </a:schemeClr>
                    </a:solidFill>
                  </a:tcPr>
                </a:tc>
              </a:tr>
              <a:tr h="532130">
                <a:tc>
                  <a:txBody>
                    <a:bodyPr/>
                    <a:p>
                      <a:r>
                        <a:rPr sz="1800"/>
                        <a:t>remove()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Removes and returns the first element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list.remove();</a:t>
                      </a:r>
                      <a:endParaRPr sz="1800"/>
                    </a:p>
                  </a:txBody>
                  <a:tcPr marL="0" marR="0" marT="0" marB="0" anchor="ctr" anchorCtr="0">
                    <a:lnL>
                      <a:noFill/>
                    </a:lnL>
                    <a:lnR>
                      <a:noFill/>
                    </a:lnR>
                    <a:lnT>
                      <a:noFill/>
                    </a:lnT>
                    <a:lnB>
                      <a:noFill/>
                    </a:lnB>
                    <a:solidFill>
                      <a:schemeClr val="accent1">
                        <a:lumMod val="40000"/>
                        <a:lumOff val="60000"/>
                      </a:schemeClr>
                    </a:solidFill>
                  </a:tcPr>
                </a:tc>
              </a:tr>
              <a:tr h="484505">
                <a:tc>
                  <a:txBody>
                    <a:bodyPr/>
                    <a:p>
                      <a:r>
                        <a:rPr sz="1800"/>
                        <a:t>remove(int index)</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Removes element at specified index</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list.remove(1);</a:t>
                      </a:r>
                      <a:endParaRPr sz="1800"/>
                    </a:p>
                  </a:txBody>
                  <a:tcPr marL="0" marR="0" marT="0" marB="0" anchor="ctr" anchorCtr="0">
                    <a:lnL>
                      <a:noFill/>
                    </a:lnL>
                    <a:lnR>
                      <a:noFill/>
                    </a:lnR>
                    <a:lnT>
                      <a:noFill/>
                    </a:lnT>
                    <a:lnB>
                      <a:noFill/>
                    </a:lnB>
                    <a:solidFill>
                      <a:schemeClr val="accent1">
                        <a:lumMod val="40000"/>
                        <a:lumOff val="60000"/>
                      </a:schemeClr>
                    </a:solidFill>
                  </a:tcPr>
                </a:tc>
              </a:tr>
              <a:tr h="323850">
                <a:tc>
                  <a:txBody>
                    <a:bodyPr/>
                    <a:p>
                      <a:r>
                        <a:rPr sz="1800"/>
                        <a:t>removeFirst()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Removes the first element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list.removeFirst();</a:t>
                      </a:r>
                      <a:endParaRPr sz="1800"/>
                    </a:p>
                  </a:txBody>
                  <a:tcPr marL="0" marR="0" marT="0" marB="0" anchor="ctr" anchorCtr="0">
                    <a:lnL>
                      <a:noFill/>
                    </a:lnL>
                    <a:lnR>
                      <a:noFill/>
                    </a:lnR>
                    <a:lnT>
                      <a:noFill/>
                    </a:lnT>
                    <a:lnB>
                      <a:noFill/>
                    </a:lnB>
                    <a:solidFill>
                      <a:schemeClr val="accent1">
                        <a:lumMod val="40000"/>
                        <a:lumOff val="60000"/>
                      </a:schemeClr>
                    </a:solidFill>
                  </a:tcPr>
                </a:tc>
              </a:tr>
              <a:tr h="324485">
                <a:tc>
                  <a:txBody>
                    <a:bodyPr/>
                    <a:p>
                      <a:r>
                        <a:rPr sz="1800"/>
                        <a:t>removeLast()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Removes the last element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list.removeLast();</a:t>
                      </a:r>
                      <a:endParaRPr sz="1800"/>
                    </a:p>
                  </a:txBody>
                  <a:tcPr marL="0" marR="0" marT="0" marB="0" anchor="ctr" anchorCtr="0">
                    <a:lnL>
                      <a:noFill/>
                    </a:lnL>
                    <a:lnR>
                      <a:noFill/>
                    </a:lnR>
                    <a:lnT>
                      <a:noFill/>
                    </a:lnT>
                    <a:lnB>
                      <a:noFill/>
                    </a:lnB>
                    <a:solidFill>
                      <a:schemeClr val="accent1">
                        <a:lumMod val="40000"/>
                        <a:lumOff val="60000"/>
                      </a:schemeClr>
                    </a:solidFill>
                  </a:tcPr>
                </a:tc>
              </a:tr>
              <a:tr h="530225">
                <a:tc>
                  <a:txBody>
                    <a:bodyPr/>
                    <a:p>
                      <a:r>
                        <a:rPr sz="1800"/>
                        <a:t>contains(Object o)</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Checks if the list contains the given element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list.contains("A");</a:t>
                      </a:r>
                      <a:endParaRPr sz="1800"/>
                    </a:p>
                  </a:txBody>
                  <a:tcPr marL="0" marR="0" marT="0" marB="0" anchor="ctr" anchorCtr="0">
                    <a:lnL>
                      <a:noFill/>
                    </a:lnL>
                    <a:lnR>
                      <a:noFill/>
                    </a:lnR>
                    <a:lnT>
                      <a:noFill/>
                    </a:lnT>
                    <a:lnB>
                      <a:noFill/>
                    </a:lnB>
                    <a:solidFill>
                      <a:schemeClr val="accent1">
                        <a:lumMod val="40000"/>
                        <a:lumOff val="60000"/>
                      </a:schemeClr>
                    </a:solidFill>
                  </a:tcPr>
                </a:tc>
              </a:tr>
              <a:tr h="531495">
                <a:tc>
                  <a:txBody>
                    <a:bodyPr/>
                    <a:p>
                      <a:r>
                        <a:rPr sz="1800"/>
                        <a:t>size()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Returns the number of elements in the list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list.size();</a:t>
                      </a:r>
                      <a:endParaRPr sz="1800"/>
                    </a:p>
                  </a:txBody>
                  <a:tcPr marL="0" marR="0" marT="0" marB="0" anchor="ctr" anchorCtr="0">
                    <a:lnL>
                      <a:noFill/>
                    </a:lnL>
                    <a:lnR>
                      <a:noFill/>
                    </a:lnR>
                    <a:lnT>
                      <a:noFill/>
                    </a:lnT>
                    <a:lnB>
                      <a:noFill/>
                    </a:lnB>
                    <a:solidFill>
                      <a:schemeClr val="accent1">
                        <a:lumMod val="40000"/>
                        <a:lumOff val="60000"/>
                      </a:schemeClr>
                    </a:solidFill>
                  </a:tcPr>
                </a:tc>
              </a:tr>
              <a:tr h="483870">
                <a:tc>
                  <a:txBody>
                    <a:bodyPr/>
                    <a:p>
                      <a:r>
                        <a:rPr sz="1800"/>
                        <a:t>clear()</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Removes all elements from the list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list.clear();</a:t>
                      </a:r>
                      <a:endParaRPr sz="1800"/>
                    </a:p>
                  </a:txBody>
                  <a:tcPr marL="0" marR="0" marT="0" marB="0" anchor="ctr" anchorCtr="0">
                    <a:lnL>
                      <a:noFill/>
                    </a:lnL>
                    <a:lnR>
                      <a:noFill/>
                    </a:lnR>
                    <a:lnT>
                      <a:noFill/>
                    </a:lnT>
                    <a:lnB>
                      <a:noFill/>
                    </a:lnB>
                    <a:solidFill>
                      <a:schemeClr val="accent1">
                        <a:lumMod val="40000"/>
                        <a:lumOff val="60000"/>
                      </a:schemeClr>
                    </a:solidFill>
                  </a:tcPr>
                </a:tc>
              </a:tr>
              <a:tr h="323850">
                <a:tc>
                  <a:txBody>
                    <a:bodyPr/>
                    <a:p>
                      <a:r>
                        <a:rPr sz="1800"/>
                        <a:t>isEmpty()</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Checks if the list is empty</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list.isEmpty();</a:t>
                      </a:r>
                      <a:endParaRPr sz="18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sp>
        <p:nvSpPr>
          <p:cNvPr id="3" name="Text Box 2"/>
          <p:cNvSpPr txBox="1"/>
          <p:nvPr/>
        </p:nvSpPr>
        <p:spPr>
          <a:xfrm>
            <a:off x="273050" y="-635"/>
            <a:ext cx="11732260" cy="370840"/>
          </a:xfrm>
          <a:prstGeom prst="rect">
            <a:avLst/>
          </a:prstGeom>
          <a:noFill/>
        </p:spPr>
        <p:txBody>
          <a:bodyPr wrap="square" rtlCol="0">
            <a:noAutofit/>
          </a:bodyPr>
          <a:p>
            <a:pPr algn="ctr"/>
            <a:r>
              <a:rPr lang="en-US" sz="2000" b="1">
                <a:solidFill>
                  <a:srgbClr val="FF0000"/>
                </a:solidFill>
              </a:rPr>
              <a:t>Java Linked List Method</a:t>
            </a:r>
            <a:endParaRPr lang="en-US" sz="2000" b="1">
              <a:solidFill>
                <a:srgbClr val="FF0000"/>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72745" y="635"/>
            <a:ext cx="11391900" cy="378460"/>
          </a:xfrm>
        </p:spPr>
        <p:txBody>
          <a:bodyPr>
            <a:noAutofit/>
          </a:bodyPr>
          <a:p>
            <a:pPr algn="ctr"/>
            <a:r>
              <a:rPr lang="en-US" sz="2400" b="1">
                <a:solidFill>
                  <a:srgbClr val="FF0000"/>
                </a:solidFill>
              </a:rPr>
              <a:t>Stack</a:t>
            </a:r>
            <a:endParaRPr lang="en-US" sz="2400" b="1">
              <a:solidFill>
                <a:srgbClr val="FF0000"/>
              </a:solidFill>
            </a:endParaRPr>
          </a:p>
        </p:txBody>
      </p:sp>
      <p:sp>
        <p:nvSpPr>
          <p:cNvPr id="3" name="Content Placeholder 2"/>
          <p:cNvSpPr>
            <a:spLocks noGrp="1"/>
          </p:cNvSpPr>
          <p:nvPr>
            <p:ph idx="1"/>
          </p:nvPr>
        </p:nvSpPr>
        <p:spPr>
          <a:xfrm>
            <a:off x="85725" y="378460"/>
            <a:ext cx="11992610" cy="6329045"/>
          </a:xfrm>
        </p:spPr>
        <p:txBody>
          <a:bodyPr>
            <a:normAutofit fontScale="65000"/>
          </a:bodyPr>
          <a:p>
            <a:pPr marL="342900" indent="-342900">
              <a:buAutoNum type="arabicPeriod"/>
            </a:pPr>
            <a:r>
              <a:rPr lang="en-US" altLang="en-US" b="1"/>
              <a:t>Stack </a:t>
            </a:r>
            <a:r>
              <a:rPr lang="en-US" altLang="en-US"/>
              <a:t>is a subclass of Vector that implements a standard last-in, first-out stack. Stack only defines the default constructor, which creates an empty stack. Stack includes all the methods defined by Vector, and adds several of its own.</a:t>
            </a:r>
            <a:endParaRPr lang="en-US" altLang="en-US"/>
          </a:p>
          <a:p>
            <a:pPr marL="0" indent="0">
              <a:buNone/>
            </a:pPr>
            <a:r>
              <a:rPr lang="en-US" altLang="en-US"/>
              <a:t>To put an object on the top of the stack, call </a:t>
            </a:r>
            <a:r>
              <a:rPr lang="en-US" altLang="en-US" b="1"/>
              <a:t>push</a:t>
            </a:r>
            <a:r>
              <a:rPr lang="en-US" altLang="en-US"/>
              <a:t>(). To remove and return the top element, call </a:t>
            </a:r>
            <a:r>
              <a:rPr lang="en-US" altLang="en-US" b="1"/>
              <a:t>pop</a:t>
            </a:r>
            <a:r>
              <a:rPr lang="en-US" altLang="en-US"/>
              <a:t>(). An EmptyStackException is thrown if you call </a:t>
            </a:r>
            <a:r>
              <a:rPr lang="en-US" altLang="en-US" b="1"/>
              <a:t>pop</a:t>
            </a:r>
            <a:r>
              <a:rPr lang="en-US" altLang="en-US"/>
              <a:t>( ) when the invoking stack is empty. You can use </a:t>
            </a:r>
            <a:r>
              <a:rPr lang="en-US" altLang="en-US" b="1"/>
              <a:t>peek</a:t>
            </a:r>
            <a:r>
              <a:rPr lang="en-US" altLang="en-US"/>
              <a:t>( ) to return, but not remove, the top object.</a:t>
            </a:r>
            <a:endParaRPr lang="en-US" altLang="en-US"/>
          </a:p>
          <a:p>
            <a:pPr marL="0" indent="0">
              <a:buNone/>
            </a:pPr>
            <a:r>
              <a:rPr lang="en-US" altLang="en-US"/>
              <a:t>The </a:t>
            </a:r>
            <a:r>
              <a:rPr lang="en-US" altLang="en-US" b="1"/>
              <a:t>empty</a:t>
            </a:r>
            <a:r>
              <a:rPr lang="en-US" altLang="en-US"/>
              <a:t>() method returns true if nothing is on the stack. The </a:t>
            </a:r>
            <a:r>
              <a:rPr lang="en-US" altLang="en-US" b="1"/>
              <a:t>search</a:t>
            </a:r>
            <a:r>
              <a:rPr lang="en-US" altLang="en-US"/>
              <a:t>() method determines whether an object exists on the stack, and returns the number of pops that are required to bring it to the top of the stack. Here is an example that creates a </a:t>
            </a:r>
            <a:endParaRPr lang="en-US" altLang="en-US"/>
          </a:p>
          <a:p>
            <a:pPr marL="0" indent="0">
              <a:buNone/>
            </a:pPr>
            <a:r>
              <a:rPr lang="en-US" altLang="en-US"/>
              <a:t>stack, pushes several Integer objects onto it, and then pops them off again:</a:t>
            </a:r>
            <a:endParaRPr lang="en-US" altLang="en-US"/>
          </a:p>
          <a:p>
            <a:pPr marL="0" indent="0">
              <a:buNone/>
            </a:pPr>
            <a:r>
              <a:rPr lang="en-US" altLang="en-US"/>
              <a:t>The java.util.Stack class represents a last-in-first-out (LIFO) stack of objects.</a:t>
            </a:r>
            <a:endParaRPr lang="en-US" altLang="en-US"/>
          </a:p>
          <a:p>
            <a:pPr marL="0" indent="0">
              <a:buNone/>
            </a:pPr>
            <a:r>
              <a:rPr lang="en-US" altLang="en-US"/>
              <a:t>● When a stack is first created, it contains no items.     ● In this class, the last element inserted is accessed first.</a:t>
            </a:r>
            <a:endParaRPr lang="en-US" altLang="en-US"/>
          </a:p>
          <a:p>
            <a:pPr marL="0" indent="0">
              <a:buNone/>
            </a:pPr>
            <a:r>
              <a:rPr lang="en-US" altLang="en-US"/>
              <a:t>Class declaration</a:t>
            </a:r>
            <a:endParaRPr lang="en-US" altLang="en-US"/>
          </a:p>
          <a:p>
            <a:pPr marL="0" indent="0">
              <a:buNone/>
            </a:pPr>
            <a:r>
              <a:rPr lang="en-US" altLang="en-US"/>
              <a:t>Following is the declaration for java.util.Stack class:</a:t>
            </a:r>
            <a:endParaRPr lang="en-US" altLang="en-US"/>
          </a:p>
          <a:p>
            <a:pPr marL="0" indent="0">
              <a:buNone/>
            </a:pPr>
            <a:r>
              <a:rPr lang="en-US" altLang="en-US"/>
              <a:t>public class</a:t>
            </a:r>
            <a:endParaRPr lang="en-US" altLang="en-US"/>
          </a:p>
          <a:p>
            <a:pPr marL="0" indent="0">
              <a:buNone/>
            </a:pPr>
            <a:r>
              <a:rPr lang="en-US" altLang="en-US"/>
              <a:t>Stack&lt;E&gt; extends Vector&lt;E&gt;</a:t>
            </a:r>
            <a:endParaRPr lang="en-US" altLang="en-US"/>
          </a:p>
          <a:p>
            <a:pPr marL="0" indent="0">
              <a:buNone/>
            </a:pPr>
            <a:r>
              <a:rPr lang="en-US" altLang="en-US"/>
              <a:t>Constructor &amp; Description</a:t>
            </a:r>
            <a:endParaRPr lang="en-US" altLang="en-US"/>
          </a:p>
          <a:p>
            <a:pPr marL="0" indent="0">
              <a:buNone/>
            </a:pPr>
            <a:r>
              <a:rPr lang="en-US" altLang="en-US"/>
              <a:t>Stack()</a:t>
            </a:r>
            <a:endParaRPr lang="en-US" altLang="en-US"/>
          </a:p>
          <a:p>
            <a:pPr marL="0" indent="0">
              <a:buNone/>
            </a:pPr>
            <a:r>
              <a:rPr lang="en-US" altLang="en-US"/>
              <a:t>Method &amp; description boolean empty()</a:t>
            </a:r>
            <a:endParaRPr lang="en-US" altLang="en-US"/>
          </a:p>
          <a:p>
            <a:pPr marL="0" indent="0">
              <a:buNone/>
            </a:pPr>
            <a:r>
              <a:rPr lang="en-US" altLang="en-US"/>
              <a:t>This method tests if this stack is empty.</a:t>
            </a:r>
            <a:endParaRPr lang="en-US" altLang="en-US"/>
          </a:p>
          <a:p>
            <a:pPr marL="0" indent="0">
              <a:buNone/>
            </a:pPr>
            <a:endParaRPr lang="en-US"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82245" y="101600"/>
            <a:ext cx="11882755" cy="6609080"/>
          </a:xfrm>
        </p:spPr>
        <p:txBody>
          <a:bodyPr/>
          <a:p>
            <a:pPr marL="0" indent="0">
              <a:buNone/>
            </a:pPr>
            <a:r>
              <a:rPr lang="en-US" altLang="en-US" sz="1800">
                <a:sym typeface="+mn-ea"/>
              </a:rPr>
              <a:t> </a:t>
            </a:r>
            <a:r>
              <a:rPr lang="en-US" altLang="en-US" sz="1800" b="1">
                <a:sym typeface="+mn-ea"/>
              </a:rPr>
              <a:t>peek</a:t>
            </a:r>
            <a:r>
              <a:rPr lang="en-US" altLang="en-US" sz="1800">
                <a:sym typeface="+mn-ea"/>
              </a:rPr>
              <a:t>()  This method looks at the object at the top of this stack without removing it from the stack.</a:t>
            </a:r>
            <a:endParaRPr lang="en-US" altLang="en-US" sz="1800"/>
          </a:p>
          <a:p>
            <a:pPr marL="0" indent="0">
              <a:buNone/>
            </a:pPr>
            <a:r>
              <a:rPr lang="en-US" altLang="en-US" sz="1800">
                <a:sym typeface="+mn-ea"/>
              </a:rPr>
              <a:t> </a:t>
            </a:r>
            <a:r>
              <a:rPr lang="en-US" altLang="en-US" sz="1800" b="1">
                <a:sym typeface="+mn-ea"/>
              </a:rPr>
              <a:t>pop</a:t>
            </a:r>
            <a:r>
              <a:rPr lang="en-US" altLang="en-US" sz="1800">
                <a:sym typeface="+mn-ea"/>
              </a:rPr>
              <a:t>()  This method removes the object at the top of this stack and returns that object as the value of </a:t>
            </a:r>
            <a:endParaRPr lang="en-US" altLang="en-US" sz="1800"/>
          </a:p>
          <a:p>
            <a:pPr marL="0" indent="0">
              <a:buNone/>
            </a:pPr>
            <a:r>
              <a:rPr lang="en-US" altLang="en-US" sz="1800">
                <a:sym typeface="+mn-ea"/>
              </a:rPr>
              <a:t>this function. It stack is empty it throws “EmptyStackException”</a:t>
            </a:r>
            <a:endParaRPr lang="en-US" altLang="en-US" sz="1800"/>
          </a:p>
          <a:p>
            <a:pPr marL="0" indent="0">
              <a:buNone/>
            </a:pPr>
            <a:r>
              <a:rPr lang="en-US" altLang="en-US" sz="1800">
                <a:sym typeface="+mn-ea"/>
              </a:rPr>
              <a:t> </a:t>
            </a:r>
            <a:r>
              <a:rPr lang="en-US" altLang="en-US" sz="1800" b="1">
                <a:sym typeface="+mn-ea"/>
              </a:rPr>
              <a:t>push</a:t>
            </a:r>
            <a:r>
              <a:rPr lang="en-US" altLang="en-US" sz="1800">
                <a:sym typeface="+mn-ea"/>
              </a:rPr>
              <a:t>(E item)  This method pushes an item onto the top of this stack.</a:t>
            </a:r>
            <a:endParaRPr lang="en-US" altLang="en-US" sz="1800"/>
          </a:p>
          <a:p>
            <a:pPr marL="0" indent="0">
              <a:buNone/>
            </a:pPr>
            <a:r>
              <a:rPr lang="en-US" altLang="en-US" sz="1800">
                <a:sym typeface="+mn-ea"/>
              </a:rPr>
              <a:t>int </a:t>
            </a:r>
            <a:r>
              <a:rPr lang="en-US" altLang="en-US" sz="1800" b="1">
                <a:sym typeface="+mn-ea"/>
              </a:rPr>
              <a:t>search</a:t>
            </a:r>
            <a:r>
              <a:rPr lang="en-US" altLang="en-US" sz="1800">
                <a:sym typeface="+mn-ea"/>
              </a:rPr>
              <a:t>(Object o)   This method returns the 1-based position where an object is on this stack.</a:t>
            </a:r>
            <a:endParaRPr lang="en-US" altLang="en-US" sz="1800">
              <a:sym typeface="+mn-ea"/>
            </a:endParaRPr>
          </a:p>
          <a:p>
            <a:pPr marL="0" indent="0">
              <a:buNone/>
            </a:pPr>
            <a:endParaRPr lang="en-US" altLang="en-US" sz="1800">
              <a:sym typeface="+mn-ea"/>
            </a:endParaRPr>
          </a:p>
          <a:p>
            <a:pPr marL="0" indent="0">
              <a:buNone/>
            </a:pPr>
            <a:endParaRPr lang="en-US" altLang="en-US" sz="1800"/>
          </a:p>
          <a:p>
            <a:pPr marL="0" indent="0">
              <a:buNone/>
            </a:pPr>
            <a:endParaRPr lang="en-US" altLang="en-US" sz="1800"/>
          </a:p>
        </p:txBody>
      </p:sp>
      <p:graphicFrame>
        <p:nvGraphicFramePr>
          <p:cNvPr id="2" name="Table 1"/>
          <p:cNvGraphicFramePr/>
          <p:nvPr>
            <p:custDataLst>
              <p:tags r:id="rId1"/>
            </p:custDataLst>
          </p:nvPr>
        </p:nvGraphicFramePr>
        <p:xfrm>
          <a:off x="182245" y="2136775"/>
          <a:ext cx="11763375" cy="1879600"/>
        </p:xfrm>
        <a:graphic>
          <a:graphicData uri="http://schemas.openxmlformats.org/drawingml/2006/table">
            <a:tbl>
              <a:tblPr/>
              <a:tblGrid>
                <a:gridCol w="4278630"/>
                <a:gridCol w="7484745"/>
              </a:tblGrid>
              <a:tr h="339090">
                <a:tc>
                  <a:txBody>
                    <a:bodyPr/>
                    <a:p>
                      <a:pPr algn="ctr"/>
                      <a:r>
                        <a:rPr sz="2000" b="1">
                          <a:solidFill>
                            <a:srgbClr val="FF0000"/>
                          </a:solidFill>
                        </a:rPr>
                        <a:t>Method</a:t>
                      </a:r>
                      <a:endParaRPr sz="20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b="1">
                          <a:solidFill>
                            <a:srgbClr val="FF0000"/>
                          </a:solidFill>
                        </a:rPr>
                        <a:t>Description</a:t>
                      </a:r>
                      <a:endParaRPr sz="20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r>
              <a:tr h="307975">
                <a:tc>
                  <a:txBody>
                    <a:bodyPr/>
                    <a:p>
                      <a:r>
                        <a:rPr sz="1800"/>
                        <a:t>push(E item)</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Adds an item to the top of the stack</a:t>
                      </a:r>
                      <a:endParaRPr sz="1800"/>
                    </a:p>
                  </a:txBody>
                  <a:tcPr marL="0" marR="0" marT="0" marB="0" anchor="ctr" anchorCtr="0">
                    <a:lnL>
                      <a:noFill/>
                    </a:lnL>
                    <a:lnR>
                      <a:noFill/>
                    </a:lnR>
                    <a:lnT>
                      <a:noFill/>
                    </a:lnT>
                    <a:lnB>
                      <a:noFill/>
                    </a:lnB>
                    <a:solidFill>
                      <a:schemeClr val="accent1">
                        <a:lumMod val="40000"/>
                        <a:lumOff val="60000"/>
                      </a:schemeClr>
                    </a:solidFill>
                  </a:tcPr>
                </a:tc>
              </a:tr>
              <a:tr h="307975">
                <a:tc>
                  <a:txBody>
                    <a:bodyPr/>
                    <a:p>
                      <a:r>
                        <a:rPr sz="1800"/>
                        <a:t>pop()</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Removes and returns the top element</a:t>
                      </a:r>
                      <a:endParaRPr sz="1800"/>
                    </a:p>
                  </a:txBody>
                  <a:tcPr marL="0" marR="0" marT="0" marB="0" anchor="ctr" anchorCtr="0">
                    <a:lnL>
                      <a:noFill/>
                    </a:lnL>
                    <a:lnR>
                      <a:noFill/>
                    </a:lnR>
                    <a:lnT>
                      <a:noFill/>
                    </a:lnT>
                    <a:lnB>
                      <a:noFill/>
                    </a:lnB>
                    <a:solidFill>
                      <a:schemeClr val="accent1">
                        <a:lumMod val="40000"/>
                        <a:lumOff val="60000"/>
                      </a:schemeClr>
                    </a:solidFill>
                  </a:tcPr>
                </a:tc>
              </a:tr>
              <a:tr h="308610">
                <a:tc>
                  <a:txBody>
                    <a:bodyPr/>
                    <a:p>
                      <a:r>
                        <a:rPr sz="1800"/>
                        <a:t>peek()</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Returns the top element without removing</a:t>
                      </a:r>
                      <a:endParaRPr sz="1800"/>
                    </a:p>
                  </a:txBody>
                  <a:tcPr marL="0" marR="0" marT="0" marB="0" anchor="ctr" anchorCtr="0">
                    <a:lnL>
                      <a:noFill/>
                    </a:lnL>
                    <a:lnR>
                      <a:noFill/>
                    </a:lnR>
                    <a:lnT>
                      <a:noFill/>
                    </a:lnT>
                    <a:lnB>
                      <a:noFill/>
                    </a:lnB>
                    <a:solidFill>
                      <a:schemeClr val="accent1">
                        <a:lumMod val="40000"/>
                        <a:lumOff val="60000"/>
                      </a:schemeClr>
                    </a:solidFill>
                  </a:tcPr>
                </a:tc>
              </a:tr>
              <a:tr h="307975">
                <a:tc>
                  <a:txBody>
                    <a:bodyPr/>
                    <a:p>
                      <a:r>
                        <a:rPr sz="1800"/>
                        <a:t>empty()</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Checks if the stack is empty</a:t>
                      </a:r>
                      <a:endParaRPr sz="1800"/>
                    </a:p>
                  </a:txBody>
                  <a:tcPr marL="0" marR="0" marT="0" marB="0" anchor="ctr" anchorCtr="0">
                    <a:lnL>
                      <a:noFill/>
                    </a:lnL>
                    <a:lnR>
                      <a:noFill/>
                    </a:lnR>
                    <a:lnT>
                      <a:noFill/>
                    </a:lnT>
                    <a:lnB>
                      <a:noFill/>
                    </a:lnB>
                    <a:solidFill>
                      <a:schemeClr val="accent1">
                        <a:lumMod val="40000"/>
                        <a:lumOff val="60000"/>
                      </a:schemeClr>
                    </a:solidFill>
                  </a:tcPr>
                </a:tc>
              </a:tr>
              <a:tr h="307975">
                <a:tc>
                  <a:txBody>
                    <a:bodyPr/>
                    <a:p>
                      <a:r>
                        <a:rPr sz="1800"/>
                        <a:t>search(Object o)</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Returns 1-based position from the top</a:t>
                      </a:r>
                      <a:endParaRPr sz="18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5410"/>
            <a:ext cx="10515600" cy="410210"/>
          </a:xfrm>
        </p:spPr>
        <p:txBody>
          <a:bodyPr>
            <a:noAutofit/>
          </a:bodyPr>
          <a:p>
            <a:r>
              <a:rPr lang="en-US" sz="2400" b="1">
                <a:solidFill>
                  <a:srgbClr val="FF0000"/>
                </a:solidFill>
              </a:rPr>
              <a:t>Java Legacy Classes</a:t>
            </a:r>
            <a:endParaRPr lang="en-US" sz="2400" b="1">
              <a:solidFill>
                <a:srgbClr val="FF0000"/>
              </a:solidFill>
            </a:endParaRPr>
          </a:p>
        </p:txBody>
      </p:sp>
      <p:sp>
        <p:nvSpPr>
          <p:cNvPr id="3" name="Content Placeholder 2"/>
          <p:cNvSpPr>
            <a:spLocks noGrp="1"/>
          </p:cNvSpPr>
          <p:nvPr>
            <p:ph idx="1"/>
          </p:nvPr>
        </p:nvSpPr>
        <p:spPr>
          <a:xfrm>
            <a:off x="180975" y="515620"/>
            <a:ext cx="11897360" cy="6198870"/>
          </a:xfrm>
        </p:spPr>
        <p:txBody>
          <a:bodyPr/>
          <a:p>
            <a:r>
              <a:rPr lang="en-US" altLang="en-US" sz="1800"/>
              <a:t>What is a Legacy Class in Java?</a:t>
            </a:r>
            <a:endParaRPr lang="en-US" altLang="en-US" sz="1800"/>
          </a:p>
          <a:p>
            <a:r>
              <a:rPr lang="en-US" altLang="en-US" sz="1800"/>
              <a:t>A class that was part of the earlier versions of Java (before Java 2 / Java Collections Framework), and is now considered outdated or replaced by newer alternatives.</a:t>
            </a:r>
            <a:endParaRPr lang="en-US" altLang="en-US" sz="1800"/>
          </a:p>
          <a:p>
            <a:r>
              <a:rPr lang="en-US" altLang="en-US" sz="1800"/>
              <a:t> Key Points about Legacy Classes</a:t>
            </a:r>
            <a:endParaRPr lang="en-US" altLang="en-US" sz="1800"/>
          </a:p>
          <a:p>
            <a:r>
              <a:rPr lang="en-US" altLang="en-US" sz="1800"/>
              <a:t>Introduced before Java Collections Framework (JCF) in Java 1.2 . These classes are in the java.util package They have been retained for backward compatibility ,Not type-safe (don’t support generics like &lt;String&gt;, &lt;Integer&gt;, etc.)</a:t>
            </a:r>
            <a:endParaRPr lang="en-US" altLang="en-US" sz="1800"/>
          </a:p>
          <a:p>
            <a:r>
              <a:rPr lang="en-US" altLang="en-US" sz="1800"/>
              <a:t>Slower and less flexible than newer classes Often synchronized by default (thread-safe)</a:t>
            </a:r>
            <a:endParaRPr lang="en-US" altLang="en-US" sz="1800"/>
          </a:p>
          <a:p>
            <a:endParaRPr lang="en-US" altLang="en-US" sz="1800"/>
          </a:p>
        </p:txBody>
      </p:sp>
      <p:graphicFrame>
        <p:nvGraphicFramePr>
          <p:cNvPr id="4" name="Table 3"/>
          <p:cNvGraphicFramePr/>
          <p:nvPr>
            <p:custDataLst>
              <p:tags r:id="rId1"/>
            </p:custDataLst>
          </p:nvPr>
        </p:nvGraphicFramePr>
        <p:xfrm>
          <a:off x="180340" y="2926080"/>
          <a:ext cx="11897360" cy="1337310"/>
        </p:xfrm>
        <a:graphic>
          <a:graphicData uri="http://schemas.openxmlformats.org/drawingml/2006/table">
            <a:tbl>
              <a:tblPr/>
              <a:tblGrid>
                <a:gridCol w="4305935"/>
                <a:gridCol w="7591425"/>
              </a:tblGrid>
              <a:tr h="222885">
                <a:tc>
                  <a:txBody>
                    <a:bodyPr/>
                    <a:p>
                      <a:pPr algn="ctr"/>
                      <a:r>
                        <a:rPr sz="2000" b="1">
                          <a:solidFill>
                            <a:srgbClr val="FF0000"/>
                          </a:solidFill>
                        </a:rPr>
                        <a:t>Legacy Class</a:t>
                      </a:r>
                      <a:endParaRPr sz="20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b="1">
                          <a:solidFill>
                            <a:srgbClr val="FF0000"/>
                          </a:solidFill>
                        </a:rPr>
                        <a:t>Description</a:t>
                      </a:r>
                      <a:endParaRPr sz="20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r>
              <a:tr h="222885">
                <a:tc>
                  <a:txBody>
                    <a:bodyPr/>
                    <a:p>
                      <a:r>
                        <a:rPr sz="1800"/>
                        <a:t>Vector</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Like ArrayList, but synchronized</a:t>
                      </a:r>
                      <a:endParaRPr sz="1800"/>
                    </a:p>
                  </a:txBody>
                  <a:tcPr marL="0" marR="0" marT="0" marB="0" anchor="ctr" anchorCtr="0">
                    <a:lnL>
                      <a:noFill/>
                    </a:lnL>
                    <a:lnR>
                      <a:noFill/>
                    </a:lnR>
                    <a:lnT>
                      <a:noFill/>
                    </a:lnT>
                    <a:lnB>
                      <a:noFill/>
                    </a:lnB>
                    <a:solidFill>
                      <a:schemeClr val="accent1">
                        <a:lumMod val="40000"/>
                        <a:lumOff val="60000"/>
                      </a:schemeClr>
                    </a:solidFill>
                  </a:tcPr>
                </a:tc>
              </a:tr>
              <a:tr h="222885">
                <a:tc>
                  <a:txBody>
                    <a:bodyPr/>
                    <a:p>
                      <a:r>
                        <a:rPr sz="1800"/>
                        <a:t>Hashtable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Like HashMap, but synchronized</a:t>
                      </a:r>
                      <a:endParaRPr sz="1800"/>
                    </a:p>
                  </a:txBody>
                  <a:tcPr marL="0" marR="0" marT="0" marB="0" anchor="ctr" anchorCtr="0">
                    <a:lnL>
                      <a:noFill/>
                    </a:lnL>
                    <a:lnR>
                      <a:noFill/>
                    </a:lnR>
                    <a:lnT>
                      <a:noFill/>
                    </a:lnT>
                    <a:lnB>
                      <a:noFill/>
                    </a:lnB>
                    <a:solidFill>
                      <a:schemeClr val="accent1">
                        <a:lumMod val="40000"/>
                        <a:lumOff val="60000"/>
                      </a:schemeClr>
                    </a:solidFill>
                  </a:tcPr>
                </a:tc>
              </a:tr>
              <a:tr h="222885">
                <a:tc>
                  <a:txBody>
                    <a:bodyPr/>
                    <a:p>
                      <a:r>
                        <a:rPr sz="1800"/>
                        <a:t>Stack</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A subclass of Vector (LIFO structure)</a:t>
                      </a:r>
                      <a:endParaRPr sz="1800"/>
                    </a:p>
                  </a:txBody>
                  <a:tcPr marL="0" marR="0" marT="0" marB="0" anchor="ctr" anchorCtr="0">
                    <a:lnL>
                      <a:noFill/>
                    </a:lnL>
                    <a:lnR>
                      <a:noFill/>
                    </a:lnR>
                    <a:lnT>
                      <a:noFill/>
                    </a:lnT>
                    <a:lnB>
                      <a:noFill/>
                    </a:lnB>
                    <a:solidFill>
                      <a:schemeClr val="accent1">
                        <a:lumMod val="40000"/>
                        <a:lumOff val="60000"/>
                      </a:schemeClr>
                    </a:solidFill>
                  </a:tcPr>
                </a:tc>
              </a:tr>
              <a:tr h="222885">
                <a:tc>
                  <a:txBody>
                    <a:bodyPr/>
                    <a:p>
                      <a:r>
                        <a:rPr sz="1800"/>
                        <a:t>Enumeration</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Old way to iterate collections (replaced by Iterator)</a:t>
                      </a:r>
                      <a:endParaRPr sz="1800"/>
                    </a:p>
                  </a:txBody>
                  <a:tcPr marL="0" marR="0" marT="0" marB="0" anchor="ctr" anchorCtr="0">
                    <a:lnL>
                      <a:noFill/>
                    </a:lnL>
                    <a:lnR>
                      <a:noFill/>
                    </a:lnR>
                    <a:lnT>
                      <a:noFill/>
                    </a:lnT>
                    <a:lnB>
                      <a:noFill/>
                    </a:lnB>
                    <a:solidFill>
                      <a:schemeClr val="accent1">
                        <a:lumMod val="40000"/>
                        <a:lumOff val="60000"/>
                      </a:schemeClr>
                    </a:solidFill>
                  </a:tcPr>
                </a:tc>
              </a:tr>
              <a:tr h="222885">
                <a:tc>
                  <a:txBody>
                    <a:bodyPr/>
                    <a:p>
                      <a:r>
                        <a:rPr sz="1800"/>
                        <a:t>Dictionary</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Abstract class, replaced by Map interface</a:t>
                      </a:r>
                      <a:endParaRPr sz="18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sp>
        <p:nvSpPr>
          <p:cNvPr id="5" name="Text Box 4"/>
          <p:cNvSpPr txBox="1"/>
          <p:nvPr/>
        </p:nvSpPr>
        <p:spPr>
          <a:xfrm>
            <a:off x="180340" y="4960620"/>
            <a:ext cx="11704320" cy="1071245"/>
          </a:xfrm>
          <a:prstGeom prst="rect">
            <a:avLst/>
          </a:prstGeom>
        </p:spPr>
        <p:txBody>
          <a:bodyPr wrap="square">
            <a:noAutofit/>
          </a:bodyPr>
          <a:p>
            <a:pPr>
              <a:spcAft>
                <a:spcPct val="60000"/>
              </a:spcAft>
            </a:pPr>
            <a:r>
              <a:rPr b="1"/>
              <a:t>Should You Use Legacy Classes Today?</a:t>
            </a:r>
            <a:endParaRPr b="1"/>
          </a:p>
          <a:p>
            <a:pPr>
              <a:spcAft>
                <a:spcPct val="60000"/>
              </a:spcAft>
            </a:pPr>
            <a:r>
              <a:rPr sz="1600"/>
              <a:t>No, unless maintaining old code</a:t>
            </a:r>
            <a:r>
              <a:rPr lang="en-US" sz="1600"/>
              <a:t>    </a:t>
            </a:r>
            <a:r>
              <a:rPr sz="1600"/>
              <a:t>Use modern Java Collections like ArrayList, HashMap, Deque, etc.</a:t>
            </a:r>
            <a:r>
              <a:rPr lang="en-US" sz="1600"/>
              <a:t> </a:t>
            </a:r>
            <a:r>
              <a:rPr sz="1600"/>
              <a:t>Legacy classes are kept for backward compatibility</a:t>
            </a:r>
            <a:endParaRPr sz="160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7000" y="118745"/>
            <a:ext cx="11226800" cy="382270"/>
          </a:xfrm>
        </p:spPr>
        <p:txBody>
          <a:bodyPr>
            <a:normAutofit fontScale="90000"/>
          </a:bodyPr>
          <a:p>
            <a:r>
              <a:rPr lang="en-US" sz="2400" b="1">
                <a:solidFill>
                  <a:srgbClr val="FF0000"/>
                </a:solidFill>
              </a:rPr>
              <a:t>Java Thread-safe And Java Non Thread-safe</a:t>
            </a:r>
            <a:endParaRPr lang="en-US" sz="2400" b="1">
              <a:solidFill>
                <a:srgbClr val="FF0000"/>
              </a:solidFill>
            </a:endParaRPr>
          </a:p>
        </p:txBody>
      </p:sp>
      <p:sp>
        <p:nvSpPr>
          <p:cNvPr id="3" name="Content Placeholder 2"/>
          <p:cNvSpPr>
            <a:spLocks noGrp="1"/>
          </p:cNvSpPr>
          <p:nvPr>
            <p:ph idx="1"/>
          </p:nvPr>
        </p:nvSpPr>
        <p:spPr>
          <a:xfrm>
            <a:off x="127000" y="501015"/>
            <a:ext cx="11809095" cy="6089015"/>
          </a:xfrm>
        </p:spPr>
        <p:txBody>
          <a:bodyPr>
            <a:normAutofit/>
          </a:bodyPr>
          <a:p>
            <a:pPr marL="0" indent="0">
              <a:buNone/>
            </a:pPr>
            <a:r>
              <a:rPr lang="en-US" altLang="en-US" sz="1600"/>
              <a:t>What is a Thread?</a:t>
            </a:r>
            <a:endParaRPr lang="en-US" altLang="en-US" sz="1600"/>
          </a:p>
          <a:p>
            <a:pPr marL="0" indent="0">
              <a:buNone/>
            </a:pPr>
            <a:r>
              <a:rPr lang="en-US" altLang="en-US" sz="1600"/>
              <a:t>A thread is like a small task or process that runs inside a program. Java supports multi-threading, meaning multiple threads can run at the same time (in parallel).</a:t>
            </a:r>
            <a:endParaRPr lang="en-US" altLang="en-US" sz="1600"/>
          </a:p>
          <a:p>
            <a:pPr marL="0" indent="0">
              <a:buNone/>
            </a:pPr>
            <a:r>
              <a:rPr lang="en-US" altLang="en-US" sz="1600" b="1"/>
              <a:t> What is Thread-Safe?</a:t>
            </a:r>
            <a:endParaRPr lang="en-US" altLang="en-US" sz="1600" b="1"/>
          </a:p>
          <a:p>
            <a:pPr marL="0" indent="0">
              <a:buNone/>
            </a:pPr>
            <a:r>
              <a:rPr lang="en-US" altLang="en-US" sz="1600"/>
              <a:t>Thread-safe code means it works correctly when accessed by multiple threads at the same time.   It uses synchronization or other mechanisms to avoid data corruption.  No matter how many threads run, data remains consistent.</a:t>
            </a:r>
            <a:endParaRPr lang="en-US" altLang="en-US" sz="1600"/>
          </a:p>
          <a:p>
            <a:pPr marL="0" indent="0">
              <a:buNone/>
            </a:pPr>
            <a:r>
              <a:rPr lang="en-US" altLang="en-US" sz="1600"/>
              <a:t>Examples: Vector, Hashtable, StringBuffer</a:t>
            </a:r>
            <a:endParaRPr lang="en-US" altLang="en-US" sz="1600"/>
          </a:p>
          <a:p>
            <a:pPr marL="0" indent="0">
              <a:buNone/>
            </a:pPr>
            <a:r>
              <a:rPr lang="en-US" altLang="en-US" sz="1600" b="1"/>
              <a:t>What is Not Thread-Safe?</a:t>
            </a:r>
            <a:endParaRPr lang="en-US" altLang="en-US" sz="1600" b="1"/>
          </a:p>
          <a:p>
            <a:pPr marL="0" indent="0">
              <a:buNone/>
            </a:pPr>
            <a:r>
              <a:rPr lang="en-US" altLang="en-US" sz="1600"/>
              <a:t>Not thread-safe code can produce wrong or unpredictable results if used by multiple threads at the same time. No built-in protection against race conditions. May work fine in single-threaded programs but fail in multi-threaded ones.</a:t>
            </a:r>
            <a:endParaRPr lang="en-US" altLang="en-US" sz="1600"/>
          </a:p>
          <a:p>
            <a:pPr marL="0" indent="0">
              <a:buNone/>
            </a:pPr>
            <a:r>
              <a:rPr lang="en-US" altLang="en-US" sz="1600"/>
              <a:t>Examples: ArrayList, HashMap, StringBuilder</a:t>
            </a:r>
            <a:endParaRPr lang="en-US" altLang="en-US" sz="1600"/>
          </a:p>
        </p:txBody>
      </p:sp>
      <p:sp>
        <p:nvSpPr>
          <p:cNvPr id="4" name="Text Box 3"/>
          <p:cNvSpPr txBox="1"/>
          <p:nvPr/>
        </p:nvSpPr>
        <p:spPr>
          <a:xfrm>
            <a:off x="127000" y="3885565"/>
            <a:ext cx="4932045" cy="2844800"/>
          </a:xfrm>
          <a:prstGeom prst="rect">
            <a:avLst/>
          </a:prstGeom>
          <a:noFill/>
          <a:ln>
            <a:solidFill>
              <a:schemeClr val="accent1">
                <a:lumMod val="40000"/>
                <a:lumOff val="60000"/>
              </a:schemeClr>
            </a:solidFill>
          </a:ln>
        </p:spPr>
        <p:txBody>
          <a:bodyPr wrap="square" rtlCol="0" anchor="t">
            <a:noAutofit/>
          </a:bodyPr>
          <a:p>
            <a:r>
              <a:rPr lang="en-US" altLang="en-US">
                <a:highlight>
                  <a:srgbClr val="00FFFF"/>
                </a:highlight>
              </a:rPr>
              <a:t>public class Counter {</a:t>
            </a:r>
            <a:endParaRPr lang="en-US" altLang="en-US">
              <a:highlight>
                <a:srgbClr val="00FFFF"/>
              </a:highlight>
            </a:endParaRPr>
          </a:p>
          <a:p>
            <a:r>
              <a:rPr lang="en-US" altLang="en-US">
                <a:highlight>
                  <a:srgbClr val="00FFFF"/>
                </a:highlight>
              </a:rPr>
              <a:t>    private int count = 0;</a:t>
            </a:r>
            <a:endParaRPr lang="en-US" altLang="en-US">
              <a:highlight>
                <a:srgbClr val="00FFFF"/>
              </a:highlight>
            </a:endParaRPr>
          </a:p>
          <a:p>
            <a:r>
              <a:rPr lang="en-US" altLang="en-US">
                <a:highlight>
                  <a:srgbClr val="00FFFF"/>
                </a:highlight>
              </a:rPr>
              <a:t>    public synchronized void increment() {</a:t>
            </a:r>
            <a:endParaRPr lang="en-US" altLang="en-US">
              <a:highlight>
                <a:srgbClr val="00FFFF"/>
              </a:highlight>
            </a:endParaRPr>
          </a:p>
          <a:p>
            <a:r>
              <a:rPr lang="en-US" altLang="en-US">
                <a:highlight>
                  <a:srgbClr val="00FFFF"/>
                </a:highlight>
              </a:rPr>
              <a:t>        count++;</a:t>
            </a:r>
            <a:endParaRPr lang="en-US" altLang="en-US">
              <a:highlight>
                <a:srgbClr val="00FFFF"/>
              </a:highlight>
            </a:endParaRPr>
          </a:p>
          <a:p>
            <a:r>
              <a:rPr lang="en-US" altLang="en-US">
                <a:highlight>
                  <a:srgbClr val="00FFFF"/>
                </a:highlight>
              </a:rPr>
              <a:t>    }</a:t>
            </a:r>
            <a:endParaRPr lang="en-US" altLang="en-US">
              <a:highlight>
                <a:srgbClr val="00FFFF"/>
              </a:highlight>
            </a:endParaRPr>
          </a:p>
          <a:p>
            <a:r>
              <a:rPr lang="en-US" altLang="en-US">
                <a:highlight>
                  <a:srgbClr val="00FFFF"/>
                </a:highlight>
              </a:rPr>
              <a:t>    public int getCount() {</a:t>
            </a:r>
            <a:endParaRPr lang="en-US" altLang="en-US">
              <a:highlight>
                <a:srgbClr val="00FFFF"/>
              </a:highlight>
            </a:endParaRPr>
          </a:p>
          <a:p>
            <a:r>
              <a:rPr lang="en-US" altLang="en-US">
                <a:highlight>
                  <a:srgbClr val="00FFFF"/>
                </a:highlight>
              </a:rPr>
              <a:t>        return count;</a:t>
            </a:r>
            <a:endParaRPr lang="en-US" altLang="en-US">
              <a:highlight>
                <a:srgbClr val="00FFFF"/>
              </a:highlight>
            </a:endParaRPr>
          </a:p>
          <a:p>
            <a:r>
              <a:rPr lang="en-US" altLang="en-US">
                <a:highlight>
                  <a:srgbClr val="00FFFF"/>
                </a:highlight>
              </a:rPr>
              <a:t>    }</a:t>
            </a:r>
            <a:endParaRPr lang="en-US" altLang="en-US">
              <a:highlight>
                <a:srgbClr val="00FFFF"/>
              </a:highlight>
            </a:endParaRPr>
          </a:p>
          <a:p>
            <a:r>
              <a:rPr lang="en-US" altLang="en-US">
                <a:highlight>
                  <a:srgbClr val="00FFFF"/>
                </a:highlight>
              </a:rPr>
              <a:t>}</a:t>
            </a:r>
            <a:endParaRPr lang="en-US" altLang="en-US">
              <a:highlight>
                <a:srgbClr val="00FFFF"/>
              </a:highlight>
            </a:endParaRPr>
          </a:p>
        </p:txBody>
      </p:sp>
      <p:sp>
        <p:nvSpPr>
          <p:cNvPr id="5" name="Text Box 4"/>
          <p:cNvSpPr txBox="1"/>
          <p:nvPr/>
        </p:nvSpPr>
        <p:spPr>
          <a:xfrm>
            <a:off x="6684645" y="3885565"/>
            <a:ext cx="5028565" cy="2844165"/>
          </a:xfrm>
          <a:prstGeom prst="rect">
            <a:avLst/>
          </a:prstGeom>
          <a:noFill/>
          <a:ln>
            <a:solidFill>
              <a:schemeClr val="accent2">
                <a:lumMod val="75000"/>
              </a:schemeClr>
            </a:solidFill>
          </a:ln>
        </p:spPr>
        <p:txBody>
          <a:bodyPr wrap="square" rtlCol="0" anchor="t">
            <a:noAutofit/>
          </a:bodyPr>
          <a:p>
            <a:r>
              <a:rPr lang="en-US" altLang="en-US">
                <a:highlight>
                  <a:srgbClr val="00FFFF"/>
                </a:highlight>
              </a:rPr>
              <a:t>public class Counter {</a:t>
            </a:r>
            <a:endParaRPr lang="en-US" altLang="en-US">
              <a:highlight>
                <a:srgbClr val="00FFFF"/>
              </a:highlight>
            </a:endParaRPr>
          </a:p>
          <a:p>
            <a:r>
              <a:rPr lang="en-US" altLang="en-US">
                <a:highlight>
                  <a:srgbClr val="00FFFF"/>
                </a:highlight>
              </a:rPr>
              <a:t>    private int count = 0;</a:t>
            </a:r>
            <a:endParaRPr lang="en-US" altLang="en-US">
              <a:highlight>
                <a:srgbClr val="00FFFF"/>
              </a:highlight>
            </a:endParaRPr>
          </a:p>
          <a:p>
            <a:r>
              <a:rPr lang="en-US" altLang="en-US">
                <a:highlight>
                  <a:srgbClr val="00FFFF"/>
                </a:highlight>
              </a:rPr>
              <a:t>    public void increment() {</a:t>
            </a:r>
            <a:endParaRPr lang="en-US" altLang="en-US">
              <a:highlight>
                <a:srgbClr val="00FFFF"/>
              </a:highlight>
            </a:endParaRPr>
          </a:p>
          <a:p>
            <a:r>
              <a:rPr lang="en-US" altLang="en-US">
                <a:highlight>
                  <a:srgbClr val="00FFFF"/>
                </a:highlight>
              </a:rPr>
              <a:t>        count++;</a:t>
            </a:r>
            <a:endParaRPr lang="en-US" altLang="en-US">
              <a:highlight>
                <a:srgbClr val="00FFFF"/>
              </a:highlight>
            </a:endParaRPr>
          </a:p>
          <a:p>
            <a:r>
              <a:rPr lang="en-US" altLang="en-US">
                <a:highlight>
                  <a:srgbClr val="00FFFF"/>
                </a:highlight>
              </a:rPr>
              <a:t>    }</a:t>
            </a:r>
            <a:endParaRPr lang="en-US" altLang="en-US">
              <a:highlight>
                <a:srgbClr val="00FFFF"/>
              </a:highlight>
            </a:endParaRPr>
          </a:p>
          <a:p>
            <a:r>
              <a:rPr lang="en-US" altLang="en-US">
                <a:highlight>
                  <a:srgbClr val="00FFFF"/>
                </a:highlight>
              </a:rPr>
              <a:t>    public int getCount() {</a:t>
            </a:r>
            <a:endParaRPr lang="en-US" altLang="en-US">
              <a:highlight>
                <a:srgbClr val="00FFFF"/>
              </a:highlight>
            </a:endParaRPr>
          </a:p>
          <a:p>
            <a:r>
              <a:rPr lang="en-US" altLang="en-US">
                <a:highlight>
                  <a:srgbClr val="00FFFF"/>
                </a:highlight>
              </a:rPr>
              <a:t>        return count;</a:t>
            </a:r>
            <a:endParaRPr lang="en-US" altLang="en-US">
              <a:highlight>
                <a:srgbClr val="00FFFF"/>
              </a:highlight>
            </a:endParaRPr>
          </a:p>
          <a:p>
            <a:r>
              <a:rPr lang="en-US" altLang="en-US">
                <a:highlight>
                  <a:srgbClr val="00FFFF"/>
                </a:highlight>
              </a:rPr>
              <a:t>    }</a:t>
            </a:r>
            <a:endParaRPr lang="en-US" altLang="en-US">
              <a:highlight>
                <a:srgbClr val="00FFFF"/>
              </a:highlight>
            </a:endParaRPr>
          </a:p>
          <a:p>
            <a:r>
              <a:rPr lang="en-US" altLang="en-US">
                <a:highlight>
                  <a:srgbClr val="00FFFF"/>
                </a:highlight>
              </a:rPr>
              <a:t>}</a:t>
            </a:r>
            <a:endParaRPr lang="en-US" altLang="en-US">
              <a:highlight>
                <a:srgbClr val="00FFFF"/>
              </a:highlight>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86080" y="0"/>
            <a:ext cx="10515600" cy="588010"/>
          </a:xfrm>
        </p:spPr>
        <p:txBody>
          <a:bodyPr/>
          <a:p>
            <a:r>
              <a:rPr lang="en-US" sz="2800" b="1">
                <a:solidFill>
                  <a:srgbClr val="FF0000"/>
                </a:solidFill>
              </a:rPr>
              <a:t>Java Vector</a:t>
            </a:r>
            <a:endParaRPr lang="en-US" sz="2800" b="1">
              <a:solidFill>
                <a:srgbClr val="FF0000"/>
              </a:solidFill>
            </a:endParaRPr>
          </a:p>
        </p:txBody>
      </p:sp>
      <p:sp>
        <p:nvSpPr>
          <p:cNvPr id="3" name="Content Placeholder 2"/>
          <p:cNvSpPr>
            <a:spLocks noGrp="1"/>
          </p:cNvSpPr>
          <p:nvPr>
            <p:ph idx="1"/>
          </p:nvPr>
        </p:nvSpPr>
        <p:spPr>
          <a:xfrm>
            <a:off x="113030" y="588010"/>
            <a:ext cx="11965940" cy="6090285"/>
          </a:xfrm>
        </p:spPr>
        <p:txBody>
          <a:bodyPr/>
          <a:p>
            <a:pPr marL="0" indent="0">
              <a:buNone/>
            </a:pPr>
            <a:r>
              <a:rPr lang="en-US" altLang="en-US" sz="2000"/>
              <a:t>Java Vector Class – Explained Simply</a:t>
            </a:r>
            <a:endParaRPr lang="en-US" altLang="en-US" sz="2000"/>
          </a:p>
          <a:p>
            <a:pPr marL="0" indent="0">
              <a:buNone/>
            </a:pPr>
            <a:r>
              <a:rPr lang="en-US" altLang="en-US" sz="2000"/>
              <a:t>The Vector class in Java is a legacy class that implements a growable array of objects. It's very similar to ArrayList, but the key difference is that Vector is synchronized (thread-safe).</a:t>
            </a:r>
            <a:endParaRPr lang="en-US" altLang="en-US" sz="2000"/>
          </a:p>
          <a:p>
            <a:pPr marL="0" indent="0">
              <a:buNone/>
            </a:pPr>
            <a:endParaRPr lang="en-US" altLang="en-US" sz="2000"/>
          </a:p>
          <a:p>
            <a:pPr marL="0" indent="0">
              <a:buNone/>
            </a:pPr>
            <a:r>
              <a:rPr lang="en-US" altLang="en-US" sz="2000"/>
              <a:t> </a:t>
            </a:r>
            <a:r>
              <a:rPr lang="en-US" altLang="en-US" sz="2000" b="1"/>
              <a:t>Key Points about Vector</a:t>
            </a:r>
            <a:endParaRPr lang="en-US" altLang="en-US" sz="2000"/>
          </a:p>
          <a:p>
            <a:pPr marL="0" indent="0">
              <a:buNone/>
            </a:pPr>
            <a:r>
              <a:rPr lang="en-US" altLang="en-US" sz="2000"/>
              <a:t>Part of java.util package</a:t>
            </a:r>
            <a:endParaRPr lang="en-US" altLang="en-US" sz="2000"/>
          </a:p>
          <a:p>
            <a:pPr marL="0" indent="0">
              <a:buNone/>
            </a:pPr>
            <a:r>
              <a:rPr lang="en-US" altLang="en-US" sz="2000"/>
              <a:t>Stores objects (not primitive types directly)</a:t>
            </a:r>
            <a:endParaRPr lang="en-US" altLang="en-US" sz="2000"/>
          </a:p>
          <a:p>
            <a:pPr marL="0" indent="0">
              <a:buNone/>
            </a:pPr>
            <a:r>
              <a:rPr lang="en-US" altLang="en-US" sz="2000"/>
              <a:t>Automatically resizes as elements are added</a:t>
            </a:r>
            <a:endParaRPr lang="en-US" altLang="en-US" sz="2000"/>
          </a:p>
          <a:p>
            <a:pPr marL="0" indent="0">
              <a:buNone/>
            </a:pPr>
            <a:r>
              <a:rPr lang="en-US" altLang="en-US" sz="2000"/>
              <a:t>Thread-safe (synchronized methods)</a:t>
            </a:r>
            <a:endParaRPr lang="en-US" altLang="en-US" sz="2000"/>
          </a:p>
          <a:p>
            <a:pPr marL="0" indent="0">
              <a:buNone/>
            </a:pPr>
            <a:r>
              <a:rPr lang="en-US" altLang="en-US" sz="2000"/>
              <a:t>Slower than ArrayList due to synchronization</a:t>
            </a:r>
            <a:endParaRPr lang="en-US" altLang="en-US" sz="2000"/>
          </a:p>
          <a:p>
            <a:pPr marL="0" indent="0">
              <a:buNone/>
            </a:pPr>
            <a:r>
              <a:rPr lang="en-US" altLang="en-US" sz="2000"/>
              <a:t>Legacy class (exists before Java Collections Framework)</a:t>
            </a:r>
            <a:endParaRPr lang="en-US" altLang="en-US" sz="200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264160"/>
          </a:xfrm>
        </p:spPr>
        <p:txBody>
          <a:bodyPr>
            <a:noAutofit/>
          </a:bodyPr>
          <a:p>
            <a:pPr algn="ctr"/>
            <a:r>
              <a:rPr lang="en-US" sz="2800" b="1">
                <a:solidFill>
                  <a:srgbClr val="FF0000"/>
                </a:solidFill>
              </a:rPr>
              <a:t>Vector</a:t>
            </a:r>
            <a:endParaRPr lang="en-US" sz="2800" b="1">
              <a:solidFill>
                <a:srgbClr val="FF0000"/>
              </a:solidFill>
            </a:endParaRPr>
          </a:p>
        </p:txBody>
      </p:sp>
      <p:graphicFrame>
        <p:nvGraphicFramePr>
          <p:cNvPr id="4" name="Table 3"/>
          <p:cNvGraphicFramePr/>
          <p:nvPr>
            <p:custDataLst>
              <p:tags r:id="rId1"/>
            </p:custDataLst>
          </p:nvPr>
        </p:nvGraphicFramePr>
        <p:xfrm>
          <a:off x="92710" y="257175"/>
          <a:ext cx="12099290" cy="6510655"/>
        </p:xfrm>
        <a:graphic>
          <a:graphicData uri="http://schemas.openxmlformats.org/drawingml/2006/table">
            <a:tbl>
              <a:tblPr/>
              <a:tblGrid>
                <a:gridCol w="565785"/>
                <a:gridCol w="3834765"/>
                <a:gridCol w="7698740"/>
              </a:tblGrid>
              <a:tr h="309880">
                <a:tc>
                  <a:txBody>
                    <a:bodyPr/>
                    <a:p>
                      <a:pPr algn="ctr"/>
                      <a:r>
                        <a:rPr sz="2000" b="1">
                          <a:solidFill>
                            <a:srgbClr val="FF0000"/>
                          </a:solidFill>
                        </a:rPr>
                        <a:t>No.</a:t>
                      </a:r>
                      <a:endParaRPr sz="2000" b="1">
                        <a:solidFill>
                          <a:srgbClr val="FF0000"/>
                        </a:solidFill>
                      </a:endParaRPr>
                    </a:p>
                  </a:txBody>
                  <a:tcPr marL="0" marR="0" marT="0" marB="0" anchor="ctr" anchorCtr="0">
                    <a:lnL>
                      <a:noFill/>
                    </a:lnL>
                    <a:lnR>
                      <a:noFill/>
                    </a:lnR>
                    <a:lnT>
                      <a:noFill/>
                    </a:lnT>
                    <a:lnB>
                      <a:noFill/>
                    </a:lnB>
                    <a:noFill/>
                  </a:tcPr>
                </a:tc>
                <a:tc>
                  <a:txBody>
                    <a:bodyPr/>
                    <a:p>
                      <a:pPr algn="ctr"/>
                      <a:r>
                        <a:rPr sz="2000" b="1">
                          <a:solidFill>
                            <a:srgbClr val="FF0000"/>
                          </a:solidFill>
                        </a:rPr>
                        <a:t>Method Signature</a:t>
                      </a:r>
                      <a:endParaRPr sz="2000" b="1">
                        <a:solidFill>
                          <a:srgbClr val="FF0000"/>
                        </a:solidFill>
                      </a:endParaRPr>
                    </a:p>
                  </a:txBody>
                  <a:tcPr marL="0" marR="0" marT="0" marB="0" anchor="ctr" anchorCtr="0">
                    <a:lnL>
                      <a:noFill/>
                    </a:lnL>
                    <a:lnR>
                      <a:noFill/>
                    </a:lnR>
                    <a:lnT>
                      <a:noFill/>
                    </a:lnT>
                    <a:lnB>
                      <a:noFill/>
                    </a:lnB>
                    <a:noFill/>
                  </a:tcPr>
                </a:tc>
                <a:tc>
                  <a:txBody>
                    <a:bodyPr/>
                    <a:p>
                      <a:pPr algn="ctr"/>
                      <a:r>
                        <a:rPr sz="2000" b="1">
                          <a:solidFill>
                            <a:srgbClr val="FF0000"/>
                          </a:solidFill>
                        </a:rPr>
                        <a:t>Description</a:t>
                      </a:r>
                      <a:endParaRPr sz="2000" b="1">
                        <a:solidFill>
                          <a:srgbClr val="FF0000"/>
                        </a:solidFill>
                      </a:endParaRPr>
                    </a:p>
                  </a:txBody>
                  <a:tcPr marL="0" marR="0" marT="0" marB="0" anchor="ctr" anchorCtr="0">
                    <a:lnL>
                      <a:noFill/>
                    </a:lnL>
                    <a:lnR>
                      <a:noFill/>
                    </a:lnR>
                    <a:lnT>
                      <a:noFill/>
                    </a:lnT>
                    <a:lnB>
                      <a:noFill/>
                    </a:lnB>
                    <a:noFill/>
                  </a:tcPr>
                </a:tc>
              </a:tr>
              <a:tr h="248285">
                <a:tc>
                  <a:txBody>
                    <a:bodyPr/>
                    <a:p>
                      <a:r>
                        <a:rPr sz="1600"/>
                        <a:t>1</a:t>
                      </a:r>
                      <a:endParaRPr sz="1600"/>
                    </a:p>
                  </a:txBody>
                  <a:tcPr marL="0" marR="0" marT="0" marB="0" anchor="ctr" anchorCtr="0">
                    <a:lnL>
                      <a:noFill/>
                    </a:lnL>
                    <a:lnR>
                      <a:noFill/>
                    </a:lnR>
                    <a:lnT>
                      <a:noFill/>
                    </a:lnT>
                    <a:lnB>
                      <a:noFill/>
                    </a:lnB>
                    <a:noFill/>
                  </a:tcPr>
                </a:tc>
                <a:tc>
                  <a:txBody>
                    <a:bodyPr/>
                    <a:p>
                      <a:r>
                        <a:rPr sz="1600">
                          <a:solidFill>
                            <a:srgbClr val="FF0000"/>
                          </a:solidFill>
                        </a:rPr>
                        <a:t>boolean add(E e)</a:t>
                      </a:r>
                      <a:endParaRPr sz="1600">
                        <a:solidFill>
                          <a:srgbClr val="FF0000"/>
                        </a:solidFill>
                      </a:endParaRPr>
                    </a:p>
                  </a:txBody>
                  <a:tcPr marL="0" marR="0" marT="0" marB="0" anchor="ctr" anchorCtr="0">
                    <a:lnL>
                      <a:noFill/>
                    </a:lnL>
                    <a:lnR>
                      <a:noFill/>
                    </a:lnR>
                    <a:lnT>
                      <a:noFill/>
                    </a:lnT>
                    <a:lnB>
                      <a:noFill/>
                    </a:lnB>
                    <a:noFill/>
                  </a:tcPr>
                </a:tc>
                <a:tc>
                  <a:txBody>
                    <a:bodyPr/>
                    <a:p>
                      <a:r>
                        <a:rPr sz="1600">
                          <a:solidFill>
                            <a:srgbClr val="FF0000"/>
                          </a:solidFill>
                        </a:rPr>
                        <a:t>Adds the specified element to the end of the vector.</a:t>
                      </a:r>
                      <a:endParaRPr sz="1600">
                        <a:solidFill>
                          <a:srgbClr val="FF0000"/>
                        </a:solidFill>
                      </a:endParaRPr>
                    </a:p>
                  </a:txBody>
                  <a:tcPr marL="0" marR="0" marT="0" marB="0" anchor="ctr" anchorCtr="0">
                    <a:lnL>
                      <a:noFill/>
                    </a:lnL>
                    <a:lnR>
                      <a:noFill/>
                    </a:lnR>
                    <a:lnT>
                      <a:noFill/>
                    </a:lnT>
                    <a:lnB>
                      <a:noFill/>
                    </a:lnB>
                    <a:noFill/>
                  </a:tcPr>
                </a:tc>
              </a:tr>
              <a:tr h="247650">
                <a:tc>
                  <a:txBody>
                    <a:bodyPr/>
                    <a:p>
                      <a:r>
                        <a:rPr sz="1600"/>
                        <a:t>2</a:t>
                      </a:r>
                      <a:endParaRPr sz="1600"/>
                    </a:p>
                  </a:txBody>
                  <a:tcPr marL="0" marR="0" marT="0" marB="0" anchor="ctr" anchorCtr="0">
                    <a:lnL>
                      <a:noFill/>
                    </a:lnL>
                    <a:lnR>
                      <a:noFill/>
                    </a:lnR>
                    <a:lnT>
                      <a:noFill/>
                    </a:lnT>
                    <a:lnB>
                      <a:noFill/>
                    </a:lnB>
                    <a:noFill/>
                  </a:tcPr>
                </a:tc>
                <a:tc>
                  <a:txBody>
                    <a:bodyPr/>
                    <a:p>
                      <a:r>
                        <a:rPr sz="1600">
                          <a:solidFill>
                            <a:srgbClr val="FF0000"/>
                          </a:solidFill>
                        </a:rPr>
                        <a:t>void add(int index, E element)</a:t>
                      </a:r>
                      <a:endParaRPr sz="1600">
                        <a:solidFill>
                          <a:srgbClr val="FF0000"/>
                        </a:solidFill>
                      </a:endParaRPr>
                    </a:p>
                  </a:txBody>
                  <a:tcPr marL="0" marR="0" marT="0" marB="0" anchor="ctr" anchorCtr="0">
                    <a:lnL>
                      <a:noFill/>
                    </a:lnL>
                    <a:lnR>
                      <a:noFill/>
                    </a:lnR>
                    <a:lnT>
                      <a:noFill/>
                    </a:lnT>
                    <a:lnB>
                      <a:noFill/>
                    </a:lnB>
                    <a:noFill/>
                  </a:tcPr>
                </a:tc>
                <a:tc>
                  <a:txBody>
                    <a:bodyPr/>
                    <a:p>
                      <a:r>
                        <a:rPr sz="1600">
                          <a:solidFill>
                            <a:srgbClr val="FF0000"/>
                          </a:solidFill>
                        </a:rPr>
                        <a:t>Inserts the element at the specified index.</a:t>
                      </a:r>
                      <a:endParaRPr sz="1600">
                        <a:solidFill>
                          <a:srgbClr val="FF0000"/>
                        </a:solidFill>
                      </a:endParaRPr>
                    </a:p>
                  </a:txBody>
                  <a:tcPr marL="0" marR="0" marT="0" marB="0" anchor="ctr" anchorCtr="0">
                    <a:lnL>
                      <a:noFill/>
                    </a:lnL>
                    <a:lnR>
                      <a:noFill/>
                    </a:lnR>
                    <a:lnT>
                      <a:noFill/>
                    </a:lnT>
                    <a:lnB>
                      <a:noFill/>
                    </a:lnB>
                    <a:noFill/>
                  </a:tcPr>
                </a:tc>
              </a:tr>
              <a:tr h="248285">
                <a:tc>
                  <a:txBody>
                    <a:bodyPr/>
                    <a:p>
                      <a:r>
                        <a:rPr sz="1600"/>
                        <a:t>3</a:t>
                      </a:r>
                      <a:endParaRPr sz="1600"/>
                    </a:p>
                  </a:txBody>
                  <a:tcPr marL="0" marR="0" marT="0" marB="0" anchor="ctr" anchorCtr="0">
                    <a:lnL>
                      <a:noFill/>
                    </a:lnL>
                    <a:lnR>
                      <a:noFill/>
                    </a:lnR>
                    <a:lnT>
                      <a:noFill/>
                    </a:lnT>
                    <a:lnB>
                      <a:noFill/>
                    </a:lnB>
                    <a:noFill/>
                  </a:tcPr>
                </a:tc>
                <a:tc>
                  <a:txBody>
                    <a:bodyPr/>
                    <a:p>
                      <a:r>
                        <a:rPr sz="1600">
                          <a:solidFill>
                            <a:srgbClr val="FF0000"/>
                          </a:solidFill>
                        </a:rPr>
                        <a:t>boolean addAll(Collection&lt;? extends E&gt; c)</a:t>
                      </a:r>
                      <a:endParaRPr sz="1600">
                        <a:solidFill>
                          <a:srgbClr val="FF0000"/>
                        </a:solidFill>
                      </a:endParaRPr>
                    </a:p>
                  </a:txBody>
                  <a:tcPr marL="0" marR="0" marT="0" marB="0" anchor="ctr" anchorCtr="0">
                    <a:lnL>
                      <a:noFill/>
                    </a:lnL>
                    <a:lnR>
                      <a:noFill/>
                    </a:lnR>
                    <a:lnT>
                      <a:noFill/>
                    </a:lnT>
                    <a:lnB>
                      <a:noFill/>
                    </a:lnB>
                    <a:noFill/>
                  </a:tcPr>
                </a:tc>
                <a:tc>
                  <a:txBody>
                    <a:bodyPr/>
                    <a:p>
                      <a:r>
                        <a:rPr sz="1600">
                          <a:solidFill>
                            <a:srgbClr val="FF0000"/>
                          </a:solidFill>
                        </a:rPr>
                        <a:t>Appends all elements from a collection.</a:t>
                      </a:r>
                      <a:endParaRPr sz="1600">
                        <a:solidFill>
                          <a:srgbClr val="FF0000"/>
                        </a:solidFill>
                      </a:endParaRPr>
                    </a:p>
                  </a:txBody>
                  <a:tcPr marL="0" marR="0" marT="0" marB="0" anchor="ctr" anchorCtr="0">
                    <a:lnL>
                      <a:noFill/>
                    </a:lnL>
                    <a:lnR>
                      <a:noFill/>
                    </a:lnR>
                    <a:lnT>
                      <a:noFill/>
                    </a:lnT>
                    <a:lnB>
                      <a:noFill/>
                    </a:lnB>
                    <a:noFill/>
                  </a:tcPr>
                </a:tc>
              </a:tr>
              <a:tr h="248285">
                <a:tc>
                  <a:txBody>
                    <a:bodyPr/>
                    <a:p>
                      <a:r>
                        <a:rPr sz="1600"/>
                        <a:t>4</a:t>
                      </a:r>
                      <a:endParaRPr sz="1600"/>
                    </a:p>
                  </a:txBody>
                  <a:tcPr marL="0" marR="0" marT="0" marB="0" anchor="ctr" anchorCtr="0">
                    <a:lnL>
                      <a:noFill/>
                    </a:lnL>
                    <a:lnR>
                      <a:noFill/>
                    </a:lnR>
                    <a:lnT>
                      <a:noFill/>
                    </a:lnT>
                    <a:lnB>
                      <a:noFill/>
                    </a:lnB>
                    <a:noFill/>
                  </a:tcPr>
                </a:tc>
                <a:tc>
                  <a:txBody>
                    <a:bodyPr/>
                    <a:p>
                      <a:r>
                        <a:rPr sz="1600">
                          <a:solidFill>
                            <a:srgbClr val="FF0000"/>
                          </a:solidFill>
                        </a:rPr>
                        <a:t>E get(int index)</a:t>
                      </a:r>
                      <a:endParaRPr sz="1600">
                        <a:solidFill>
                          <a:srgbClr val="FF0000"/>
                        </a:solidFill>
                      </a:endParaRPr>
                    </a:p>
                  </a:txBody>
                  <a:tcPr marL="0" marR="0" marT="0" marB="0" anchor="ctr" anchorCtr="0">
                    <a:lnL>
                      <a:noFill/>
                    </a:lnL>
                    <a:lnR>
                      <a:noFill/>
                    </a:lnR>
                    <a:lnT>
                      <a:noFill/>
                    </a:lnT>
                    <a:lnB>
                      <a:noFill/>
                    </a:lnB>
                    <a:noFill/>
                  </a:tcPr>
                </a:tc>
                <a:tc>
                  <a:txBody>
                    <a:bodyPr/>
                    <a:p>
                      <a:r>
                        <a:rPr sz="1600">
                          <a:solidFill>
                            <a:srgbClr val="FF0000"/>
                          </a:solidFill>
                        </a:rPr>
                        <a:t>Retrieves the element at the specified position.</a:t>
                      </a:r>
                      <a:endParaRPr sz="1600">
                        <a:solidFill>
                          <a:srgbClr val="FF0000"/>
                        </a:solidFill>
                      </a:endParaRPr>
                    </a:p>
                  </a:txBody>
                  <a:tcPr marL="0" marR="0" marT="0" marB="0" anchor="ctr" anchorCtr="0">
                    <a:lnL>
                      <a:noFill/>
                    </a:lnL>
                    <a:lnR>
                      <a:noFill/>
                    </a:lnR>
                    <a:lnT>
                      <a:noFill/>
                    </a:lnT>
                    <a:lnB>
                      <a:noFill/>
                    </a:lnB>
                    <a:noFill/>
                  </a:tcPr>
                </a:tc>
              </a:tr>
              <a:tr h="247650">
                <a:tc>
                  <a:txBody>
                    <a:bodyPr/>
                    <a:p>
                      <a:r>
                        <a:rPr sz="1600"/>
                        <a:t>5</a:t>
                      </a:r>
                      <a:endParaRPr sz="1600"/>
                    </a:p>
                  </a:txBody>
                  <a:tcPr marL="0" marR="0" marT="0" marB="0" anchor="ctr" anchorCtr="0">
                    <a:lnL>
                      <a:noFill/>
                    </a:lnL>
                    <a:lnR>
                      <a:noFill/>
                    </a:lnR>
                    <a:lnT>
                      <a:noFill/>
                    </a:lnT>
                    <a:lnB>
                      <a:noFill/>
                    </a:lnB>
                    <a:noFill/>
                  </a:tcPr>
                </a:tc>
                <a:tc>
                  <a:txBody>
                    <a:bodyPr/>
                    <a:p>
                      <a:r>
                        <a:rPr sz="1600">
                          <a:solidFill>
                            <a:srgbClr val="FF0000"/>
                          </a:solidFill>
                        </a:rPr>
                        <a:t>E set(int index, E element)</a:t>
                      </a:r>
                      <a:endParaRPr sz="1600">
                        <a:solidFill>
                          <a:srgbClr val="FF0000"/>
                        </a:solidFill>
                      </a:endParaRPr>
                    </a:p>
                  </a:txBody>
                  <a:tcPr marL="0" marR="0" marT="0" marB="0" anchor="ctr" anchorCtr="0">
                    <a:lnL>
                      <a:noFill/>
                    </a:lnL>
                    <a:lnR>
                      <a:noFill/>
                    </a:lnR>
                    <a:lnT>
                      <a:noFill/>
                    </a:lnT>
                    <a:lnB>
                      <a:noFill/>
                    </a:lnB>
                    <a:noFill/>
                  </a:tcPr>
                </a:tc>
                <a:tc>
                  <a:txBody>
                    <a:bodyPr/>
                    <a:p>
                      <a:r>
                        <a:rPr sz="1600">
                          <a:solidFill>
                            <a:srgbClr val="FF0000"/>
                          </a:solidFill>
                        </a:rPr>
                        <a:t>Replaces the element at the specified position.</a:t>
                      </a:r>
                      <a:endParaRPr sz="1600">
                        <a:solidFill>
                          <a:srgbClr val="FF0000"/>
                        </a:solidFill>
                      </a:endParaRPr>
                    </a:p>
                  </a:txBody>
                  <a:tcPr marL="0" marR="0" marT="0" marB="0" anchor="ctr" anchorCtr="0">
                    <a:lnL>
                      <a:noFill/>
                    </a:lnL>
                    <a:lnR>
                      <a:noFill/>
                    </a:lnR>
                    <a:lnT>
                      <a:noFill/>
                    </a:lnT>
                    <a:lnB>
                      <a:noFill/>
                    </a:lnB>
                    <a:noFill/>
                  </a:tcPr>
                </a:tc>
              </a:tr>
              <a:tr h="248285">
                <a:tc>
                  <a:txBody>
                    <a:bodyPr/>
                    <a:p>
                      <a:r>
                        <a:rPr sz="1600"/>
                        <a:t>6</a:t>
                      </a:r>
                      <a:endParaRPr sz="1600"/>
                    </a:p>
                  </a:txBody>
                  <a:tcPr marL="0" marR="0" marT="0" marB="0" anchor="ctr" anchorCtr="0">
                    <a:lnL>
                      <a:noFill/>
                    </a:lnL>
                    <a:lnR>
                      <a:noFill/>
                    </a:lnR>
                    <a:lnT>
                      <a:noFill/>
                    </a:lnT>
                    <a:lnB>
                      <a:noFill/>
                    </a:lnB>
                    <a:noFill/>
                  </a:tcPr>
                </a:tc>
                <a:tc>
                  <a:txBody>
                    <a:bodyPr/>
                    <a:p>
                      <a:r>
                        <a:rPr sz="1600">
                          <a:solidFill>
                            <a:srgbClr val="FF0000"/>
                          </a:solidFill>
                        </a:rPr>
                        <a:t>E remove(int index)</a:t>
                      </a:r>
                      <a:endParaRPr sz="1600">
                        <a:solidFill>
                          <a:srgbClr val="FF0000"/>
                        </a:solidFill>
                      </a:endParaRPr>
                    </a:p>
                  </a:txBody>
                  <a:tcPr marL="0" marR="0" marT="0" marB="0" anchor="ctr" anchorCtr="0">
                    <a:lnL>
                      <a:noFill/>
                    </a:lnL>
                    <a:lnR>
                      <a:noFill/>
                    </a:lnR>
                    <a:lnT>
                      <a:noFill/>
                    </a:lnT>
                    <a:lnB>
                      <a:noFill/>
                    </a:lnB>
                    <a:noFill/>
                  </a:tcPr>
                </a:tc>
                <a:tc>
                  <a:txBody>
                    <a:bodyPr/>
                    <a:p>
                      <a:r>
                        <a:rPr sz="1600">
                          <a:solidFill>
                            <a:srgbClr val="FF0000"/>
                          </a:solidFill>
                        </a:rPr>
                        <a:t>Removes the element at the specified index.</a:t>
                      </a:r>
                      <a:endParaRPr sz="1600">
                        <a:solidFill>
                          <a:srgbClr val="FF0000"/>
                        </a:solidFill>
                      </a:endParaRPr>
                    </a:p>
                  </a:txBody>
                  <a:tcPr marL="0" marR="0" marT="0" marB="0" anchor="ctr" anchorCtr="0">
                    <a:lnL>
                      <a:noFill/>
                    </a:lnL>
                    <a:lnR>
                      <a:noFill/>
                    </a:lnR>
                    <a:lnT>
                      <a:noFill/>
                    </a:lnT>
                    <a:lnB>
                      <a:noFill/>
                    </a:lnB>
                    <a:noFill/>
                  </a:tcPr>
                </a:tc>
              </a:tr>
              <a:tr h="247650">
                <a:tc>
                  <a:txBody>
                    <a:bodyPr/>
                    <a:p>
                      <a:r>
                        <a:rPr sz="1600"/>
                        <a:t>7</a:t>
                      </a:r>
                      <a:endParaRPr sz="1600"/>
                    </a:p>
                  </a:txBody>
                  <a:tcPr marL="0" marR="0" marT="0" marB="0" anchor="ctr" anchorCtr="0">
                    <a:lnL>
                      <a:noFill/>
                    </a:lnL>
                    <a:lnR>
                      <a:noFill/>
                    </a:lnR>
                    <a:lnT>
                      <a:noFill/>
                    </a:lnT>
                    <a:lnB>
                      <a:noFill/>
                    </a:lnB>
                    <a:noFill/>
                  </a:tcPr>
                </a:tc>
                <a:tc>
                  <a:txBody>
                    <a:bodyPr/>
                    <a:p>
                      <a:r>
                        <a:rPr sz="1600">
                          <a:solidFill>
                            <a:srgbClr val="FF0000"/>
                          </a:solidFill>
                          <a:highlight>
                            <a:srgbClr val="000080"/>
                          </a:highlight>
                        </a:rPr>
                        <a:t>boolean remove(Object o)</a:t>
                      </a:r>
                      <a:endParaRPr sz="1600">
                        <a:solidFill>
                          <a:srgbClr val="FF0000"/>
                        </a:solidFill>
                        <a:highlight>
                          <a:srgbClr val="000080"/>
                        </a:highlight>
                      </a:endParaRPr>
                    </a:p>
                  </a:txBody>
                  <a:tcPr marL="0" marR="0" marT="0" marB="0" anchor="ctr" anchorCtr="0">
                    <a:lnL>
                      <a:noFill/>
                    </a:lnL>
                    <a:lnR>
                      <a:noFill/>
                    </a:lnR>
                    <a:lnT>
                      <a:noFill/>
                    </a:lnT>
                    <a:lnB>
                      <a:noFill/>
                    </a:lnB>
                    <a:noFill/>
                  </a:tcPr>
                </a:tc>
                <a:tc>
                  <a:txBody>
                    <a:bodyPr/>
                    <a:p>
                      <a:r>
                        <a:rPr sz="1600">
                          <a:solidFill>
                            <a:srgbClr val="FF0000"/>
                          </a:solidFill>
                          <a:highlight>
                            <a:srgbClr val="000080"/>
                          </a:highlight>
                        </a:rPr>
                        <a:t>Removes the first occurrence of the specified element.</a:t>
                      </a:r>
                      <a:endParaRPr sz="1600">
                        <a:solidFill>
                          <a:srgbClr val="FF0000"/>
                        </a:solidFill>
                        <a:highlight>
                          <a:srgbClr val="000080"/>
                        </a:highlight>
                      </a:endParaRPr>
                    </a:p>
                  </a:txBody>
                  <a:tcPr marL="0" marR="0" marT="0" marB="0" anchor="ctr" anchorCtr="0">
                    <a:lnL>
                      <a:noFill/>
                    </a:lnL>
                    <a:lnR>
                      <a:noFill/>
                    </a:lnR>
                    <a:lnT>
                      <a:noFill/>
                    </a:lnT>
                    <a:lnB>
                      <a:noFill/>
                    </a:lnB>
                    <a:noFill/>
                  </a:tcPr>
                </a:tc>
              </a:tr>
              <a:tr h="248285">
                <a:tc>
                  <a:txBody>
                    <a:bodyPr/>
                    <a:p>
                      <a:r>
                        <a:rPr sz="1600"/>
                        <a:t>8</a:t>
                      </a:r>
                      <a:endParaRPr sz="1600"/>
                    </a:p>
                  </a:txBody>
                  <a:tcPr marL="0" marR="0" marT="0" marB="0" anchor="ctr" anchorCtr="0">
                    <a:lnL>
                      <a:noFill/>
                    </a:lnL>
                    <a:lnR>
                      <a:noFill/>
                    </a:lnR>
                    <a:lnT>
                      <a:noFill/>
                    </a:lnT>
                    <a:lnB>
                      <a:noFill/>
                    </a:lnB>
                    <a:noFill/>
                  </a:tcPr>
                </a:tc>
                <a:tc>
                  <a:txBody>
                    <a:bodyPr/>
                    <a:p>
                      <a:r>
                        <a:rPr sz="1600">
                          <a:solidFill>
                            <a:srgbClr val="FF0000"/>
                          </a:solidFill>
                        </a:rPr>
                        <a:t>void clear()</a:t>
                      </a:r>
                      <a:endParaRPr sz="1600">
                        <a:solidFill>
                          <a:srgbClr val="FF0000"/>
                        </a:solidFill>
                      </a:endParaRPr>
                    </a:p>
                  </a:txBody>
                  <a:tcPr marL="0" marR="0" marT="0" marB="0" anchor="ctr" anchorCtr="0">
                    <a:lnL>
                      <a:noFill/>
                    </a:lnL>
                    <a:lnR>
                      <a:noFill/>
                    </a:lnR>
                    <a:lnT>
                      <a:noFill/>
                    </a:lnT>
                    <a:lnB>
                      <a:noFill/>
                    </a:lnB>
                    <a:noFill/>
                  </a:tcPr>
                </a:tc>
                <a:tc>
                  <a:txBody>
                    <a:bodyPr/>
                    <a:p>
                      <a:r>
                        <a:rPr sz="1600">
                          <a:solidFill>
                            <a:srgbClr val="FF0000"/>
                          </a:solidFill>
                        </a:rPr>
                        <a:t>Removes all elements from the vector.</a:t>
                      </a:r>
                      <a:endParaRPr sz="1600">
                        <a:solidFill>
                          <a:srgbClr val="FF0000"/>
                        </a:solidFill>
                      </a:endParaRPr>
                    </a:p>
                  </a:txBody>
                  <a:tcPr marL="0" marR="0" marT="0" marB="0" anchor="ctr" anchorCtr="0">
                    <a:lnL>
                      <a:noFill/>
                    </a:lnL>
                    <a:lnR>
                      <a:noFill/>
                    </a:lnR>
                    <a:lnT>
                      <a:noFill/>
                    </a:lnT>
                    <a:lnB>
                      <a:noFill/>
                    </a:lnB>
                    <a:noFill/>
                  </a:tcPr>
                </a:tc>
              </a:tr>
              <a:tr h="248285">
                <a:tc>
                  <a:txBody>
                    <a:bodyPr/>
                    <a:p>
                      <a:r>
                        <a:rPr sz="1600"/>
                        <a:t>9</a:t>
                      </a:r>
                      <a:endParaRPr sz="1600"/>
                    </a:p>
                  </a:txBody>
                  <a:tcPr marL="0" marR="0" marT="0" marB="0" anchor="ctr" anchorCtr="0">
                    <a:lnL>
                      <a:noFill/>
                    </a:lnL>
                    <a:lnR>
                      <a:noFill/>
                    </a:lnR>
                    <a:lnT>
                      <a:noFill/>
                    </a:lnT>
                    <a:lnB>
                      <a:noFill/>
                    </a:lnB>
                    <a:noFill/>
                  </a:tcPr>
                </a:tc>
                <a:tc>
                  <a:txBody>
                    <a:bodyPr/>
                    <a:p>
                      <a:r>
                        <a:rPr sz="1600">
                          <a:solidFill>
                            <a:srgbClr val="FF0000"/>
                          </a:solidFill>
                        </a:rPr>
                        <a:t>int size()</a:t>
                      </a:r>
                      <a:endParaRPr sz="1600">
                        <a:solidFill>
                          <a:srgbClr val="FF0000"/>
                        </a:solidFill>
                      </a:endParaRPr>
                    </a:p>
                  </a:txBody>
                  <a:tcPr marL="0" marR="0" marT="0" marB="0" anchor="ctr" anchorCtr="0">
                    <a:lnL>
                      <a:noFill/>
                    </a:lnL>
                    <a:lnR>
                      <a:noFill/>
                    </a:lnR>
                    <a:lnT>
                      <a:noFill/>
                    </a:lnT>
                    <a:lnB>
                      <a:noFill/>
                    </a:lnB>
                    <a:noFill/>
                  </a:tcPr>
                </a:tc>
                <a:tc>
                  <a:txBody>
                    <a:bodyPr/>
                    <a:p>
                      <a:r>
                        <a:rPr sz="1600">
                          <a:solidFill>
                            <a:srgbClr val="FF0000"/>
                          </a:solidFill>
                        </a:rPr>
                        <a:t>Returns the number of elements in the vector.</a:t>
                      </a:r>
                      <a:endParaRPr sz="1600">
                        <a:solidFill>
                          <a:srgbClr val="FF0000"/>
                        </a:solidFill>
                      </a:endParaRPr>
                    </a:p>
                  </a:txBody>
                  <a:tcPr marL="0" marR="0" marT="0" marB="0" anchor="ctr" anchorCtr="0">
                    <a:lnL>
                      <a:noFill/>
                    </a:lnL>
                    <a:lnR>
                      <a:noFill/>
                    </a:lnR>
                    <a:lnT>
                      <a:noFill/>
                    </a:lnT>
                    <a:lnB>
                      <a:noFill/>
                    </a:lnB>
                    <a:noFill/>
                  </a:tcPr>
                </a:tc>
              </a:tr>
              <a:tr h="247650">
                <a:tc>
                  <a:txBody>
                    <a:bodyPr/>
                    <a:p>
                      <a:r>
                        <a:rPr sz="1600"/>
                        <a:t>10</a:t>
                      </a:r>
                      <a:endParaRPr sz="1600"/>
                    </a:p>
                  </a:txBody>
                  <a:tcPr marL="0" marR="0" marT="0" marB="0" anchor="ctr" anchorCtr="0">
                    <a:lnL>
                      <a:noFill/>
                    </a:lnL>
                    <a:lnR>
                      <a:noFill/>
                    </a:lnR>
                    <a:lnT>
                      <a:noFill/>
                    </a:lnT>
                    <a:lnB>
                      <a:noFill/>
                    </a:lnB>
                    <a:noFill/>
                  </a:tcPr>
                </a:tc>
                <a:tc>
                  <a:txBody>
                    <a:bodyPr/>
                    <a:p>
                      <a:r>
                        <a:rPr sz="1600">
                          <a:solidFill>
                            <a:srgbClr val="FF0000"/>
                          </a:solidFill>
                        </a:rPr>
                        <a:t>boolean isEmpty()</a:t>
                      </a:r>
                      <a:endParaRPr sz="1600">
                        <a:solidFill>
                          <a:srgbClr val="FF0000"/>
                        </a:solidFill>
                      </a:endParaRPr>
                    </a:p>
                  </a:txBody>
                  <a:tcPr marL="0" marR="0" marT="0" marB="0" anchor="ctr" anchorCtr="0">
                    <a:lnL>
                      <a:noFill/>
                    </a:lnL>
                    <a:lnR>
                      <a:noFill/>
                    </a:lnR>
                    <a:lnT>
                      <a:noFill/>
                    </a:lnT>
                    <a:lnB>
                      <a:noFill/>
                    </a:lnB>
                    <a:noFill/>
                  </a:tcPr>
                </a:tc>
                <a:tc>
                  <a:txBody>
                    <a:bodyPr/>
                    <a:p>
                      <a:r>
                        <a:rPr sz="1600">
                          <a:solidFill>
                            <a:srgbClr val="FF0000"/>
                          </a:solidFill>
                        </a:rPr>
                        <a:t>Checks if the vector is empty.</a:t>
                      </a:r>
                      <a:endParaRPr sz="1600">
                        <a:solidFill>
                          <a:srgbClr val="FF0000"/>
                        </a:solidFill>
                      </a:endParaRPr>
                    </a:p>
                  </a:txBody>
                  <a:tcPr marL="0" marR="0" marT="0" marB="0" anchor="ctr" anchorCtr="0">
                    <a:lnL>
                      <a:noFill/>
                    </a:lnL>
                    <a:lnR>
                      <a:noFill/>
                    </a:lnR>
                    <a:lnT>
                      <a:noFill/>
                    </a:lnT>
                    <a:lnB>
                      <a:noFill/>
                    </a:lnB>
                    <a:noFill/>
                  </a:tcPr>
                </a:tc>
              </a:tr>
              <a:tr h="248285">
                <a:tc>
                  <a:txBody>
                    <a:bodyPr/>
                    <a:p>
                      <a:r>
                        <a:rPr sz="1600"/>
                        <a:t>11</a:t>
                      </a:r>
                      <a:endParaRPr sz="1600"/>
                    </a:p>
                  </a:txBody>
                  <a:tcPr marL="0" marR="0" marT="0" marB="0" anchor="ctr" anchorCtr="0">
                    <a:lnL>
                      <a:noFill/>
                    </a:lnL>
                    <a:lnR>
                      <a:noFill/>
                    </a:lnR>
                    <a:lnT>
                      <a:noFill/>
                    </a:lnT>
                    <a:lnB>
                      <a:noFill/>
                    </a:lnB>
                    <a:noFill/>
                  </a:tcPr>
                </a:tc>
                <a:tc>
                  <a:txBody>
                    <a:bodyPr/>
                    <a:p>
                      <a:r>
                        <a:rPr sz="1600">
                          <a:solidFill>
                            <a:srgbClr val="FF0000"/>
                          </a:solidFill>
                        </a:rPr>
                        <a:t>boolean contains(Object o)</a:t>
                      </a:r>
                      <a:endParaRPr sz="1600">
                        <a:solidFill>
                          <a:srgbClr val="FF0000"/>
                        </a:solidFill>
                      </a:endParaRPr>
                    </a:p>
                  </a:txBody>
                  <a:tcPr marL="0" marR="0" marT="0" marB="0" anchor="ctr" anchorCtr="0">
                    <a:lnL>
                      <a:noFill/>
                    </a:lnL>
                    <a:lnR>
                      <a:noFill/>
                    </a:lnR>
                    <a:lnT>
                      <a:noFill/>
                    </a:lnT>
                    <a:lnB>
                      <a:noFill/>
                    </a:lnB>
                    <a:noFill/>
                  </a:tcPr>
                </a:tc>
                <a:tc>
                  <a:txBody>
                    <a:bodyPr/>
                    <a:p>
                      <a:r>
                        <a:rPr sz="1600">
                          <a:solidFill>
                            <a:srgbClr val="FF0000"/>
                          </a:solidFill>
                        </a:rPr>
                        <a:t>Returns true if the vector contains the element.</a:t>
                      </a:r>
                      <a:endParaRPr sz="1600">
                        <a:solidFill>
                          <a:srgbClr val="FF0000"/>
                        </a:solidFill>
                      </a:endParaRPr>
                    </a:p>
                  </a:txBody>
                  <a:tcPr marL="0" marR="0" marT="0" marB="0" anchor="ctr" anchorCtr="0">
                    <a:lnL>
                      <a:noFill/>
                    </a:lnL>
                    <a:lnR>
                      <a:noFill/>
                    </a:lnR>
                    <a:lnT>
                      <a:noFill/>
                    </a:lnT>
                    <a:lnB>
                      <a:noFill/>
                    </a:lnB>
                    <a:noFill/>
                  </a:tcPr>
                </a:tc>
              </a:tr>
              <a:tr h="247650">
                <a:tc>
                  <a:txBody>
                    <a:bodyPr/>
                    <a:p>
                      <a:r>
                        <a:rPr sz="1600"/>
                        <a:t>12</a:t>
                      </a:r>
                      <a:endParaRPr sz="1600"/>
                    </a:p>
                  </a:txBody>
                  <a:tcPr marL="0" marR="0" marT="0" marB="0" anchor="ctr" anchorCtr="0">
                    <a:lnL>
                      <a:noFill/>
                    </a:lnL>
                    <a:lnR>
                      <a:noFill/>
                    </a:lnR>
                    <a:lnT>
                      <a:noFill/>
                    </a:lnT>
                    <a:lnB>
                      <a:noFill/>
                    </a:lnB>
                    <a:noFill/>
                  </a:tcPr>
                </a:tc>
                <a:tc>
                  <a:txBody>
                    <a:bodyPr/>
                    <a:p>
                      <a:r>
                        <a:rPr sz="1600">
                          <a:solidFill>
                            <a:srgbClr val="FF0000"/>
                          </a:solidFill>
                        </a:rPr>
                        <a:t>int indexOf(Object o)</a:t>
                      </a:r>
                      <a:endParaRPr sz="1600">
                        <a:solidFill>
                          <a:srgbClr val="FF0000"/>
                        </a:solidFill>
                      </a:endParaRPr>
                    </a:p>
                  </a:txBody>
                  <a:tcPr marL="0" marR="0" marT="0" marB="0" anchor="ctr" anchorCtr="0">
                    <a:lnL>
                      <a:noFill/>
                    </a:lnL>
                    <a:lnR>
                      <a:noFill/>
                    </a:lnR>
                    <a:lnT>
                      <a:noFill/>
                    </a:lnT>
                    <a:lnB>
                      <a:noFill/>
                    </a:lnB>
                    <a:noFill/>
                  </a:tcPr>
                </a:tc>
                <a:tc>
                  <a:txBody>
                    <a:bodyPr/>
                    <a:p>
                      <a:r>
                        <a:rPr sz="1600">
                          <a:solidFill>
                            <a:srgbClr val="FF0000"/>
                          </a:solidFill>
                        </a:rPr>
                        <a:t>Returns the index of the first occurrence of the element.</a:t>
                      </a:r>
                      <a:endParaRPr sz="1600">
                        <a:solidFill>
                          <a:srgbClr val="FF0000"/>
                        </a:solidFill>
                      </a:endParaRPr>
                    </a:p>
                  </a:txBody>
                  <a:tcPr marL="0" marR="0" marT="0" marB="0" anchor="ctr" anchorCtr="0">
                    <a:lnL>
                      <a:noFill/>
                    </a:lnL>
                    <a:lnR>
                      <a:noFill/>
                    </a:lnR>
                    <a:lnT>
                      <a:noFill/>
                    </a:lnT>
                    <a:lnB>
                      <a:noFill/>
                    </a:lnB>
                    <a:noFill/>
                  </a:tcPr>
                </a:tc>
              </a:tr>
              <a:tr h="248285">
                <a:tc>
                  <a:txBody>
                    <a:bodyPr/>
                    <a:p>
                      <a:r>
                        <a:rPr sz="1600"/>
                        <a:t>13</a:t>
                      </a:r>
                      <a:endParaRPr sz="1600"/>
                    </a:p>
                  </a:txBody>
                  <a:tcPr marL="0" marR="0" marT="0" marB="0" anchor="ctr" anchorCtr="0">
                    <a:lnL>
                      <a:noFill/>
                    </a:lnL>
                    <a:lnR>
                      <a:noFill/>
                    </a:lnR>
                    <a:lnT>
                      <a:noFill/>
                    </a:lnT>
                    <a:lnB>
                      <a:noFill/>
                    </a:lnB>
                    <a:noFill/>
                  </a:tcPr>
                </a:tc>
                <a:tc>
                  <a:txBody>
                    <a:bodyPr/>
                    <a:p>
                      <a:r>
                        <a:rPr sz="1600">
                          <a:solidFill>
                            <a:srgbClr val="FF0000"/>
                          </a:solidFill>
                        </a:rPr>
                        <a:t>int lastIndexOf(Object o)</a:t>
                      </a:r>
                      <a:endParaRPr sz="1600">
                        <a:solidFill>
                          <a:srgbClr val="FF0000"/>
                        </a:solidFill>
                      </a:endParaRPr>
                    </a:p>
                  </a:txBody>
                  <a:tcPr marL="0" marR="0" marT="0" marB="0" anchor="ctr" anchorCtr="0">
                    <a:lnL>
                      <a:noFill/>
                    </a:lnL>
                    <a:lnR>
                      <a:noFill/>
                    </a:lnR>
                    <a:lnT>
                      <a:noFill/>
                    </a:lnT>
                    <a:lnB>
                      <a:noFill/>
                    </a:lnB>
                    <a:noFill/>
                  </a:tcPr>
                </a:tc>
                <a:tc>
                  <a:txBody>
                    <a:bodyPr/>
                    <a:p>
                      <a:r>
                        <a:rPr sz="1600">
                          <a:solidFill>
                            <a:srgbClr val="FF0000"/>
                          </a:solidFill>
                        </a:rPr>
                        <a:t>Returns the index of the last occurrence of the element.</a:t>
                      </a:r>
                      <a:endParaRPr sz="1600">
                        <a:solidFill>
                          <a:srgbClr val="FF0000"/>
                        </a:solidFill>
                      </a:endParaRPr>
                    </a:p>
                  </a:txBody>
                  <a:tcPr marL="0" marR="0" marT="0" marB="0" anchor="ctr" anchorCtr="0">
                    <a:lnL>
                      <a:noFill/>
                    </a:lnL>
                    <a:lnR>
                      <a:noFill/>
                    </a:lnR>
                    <a:lnT>
                      <a:noFill/>
                    </a:lnT>
                    <a:lnB>
                      <a:noFill/>
                    </a:lnB>
                    <a:noFill/>
                  </a:tcPr>
                </a:tc>
              </a:tr>
              <a:tr h="248285">
                <a:tc>
                  <a:txBody>
                    <a:bodyPr/>
                    <a:p>
                      <a:r>
                        <a:rPr sz="1600"/>
                        <a:t>14</a:t>
                      </a:r>
                      <a:endParaRPr sz="1600"/>
                    </a:p>
                  </a:txBody>
                  <a:tcPr marL="0" marR="0" marT="0" marB="0" anchor="ctr" anchorCtr="0">
                    <a:lnL>
                      <a:noFill/>
                    </a:lnL>
                    <a:lnR>
                      <a:noFill/>
                    </a:lnR>
                    <a:lnT>
                      <a:noFill/>
                    </a:lnT>
                    <a:lnB>
                      <a:noFill/>
                    </a:lnB>
                    <a:noFill/>
                  </a:tcPr>
                </a:tc>
                <a:tc>
                  <a:txBody>
                    <a:bodyPr/>
                    <a:p>
                      <a:r>
                        <a:rPr sz="1600"/>
                        <a:t>Enumeration&lt;E&gt; elements()</a:t>
                      </a:r>
                      <a:endParaRPr sz="1600"/>
                    </a:p>
                  </a:txBody>
                  <a:tcPr marL="0" marR="0" marT="0" marB="0" anchor="ctr" anchorCtr="0">
                    <a:lnL>
                      <a:noFill/>
                    </a:lnL>
                    <a:lnR>
                      <a:noFill/>
                    </a:lnR>
                    <a:lnT>
                      <a:noFill/>
                    </a:lnT>
                    <a:lnB>
                      <a:noFill/>
                    </a:lnB>
                    <a:noFill/>
                  </a:tcPr>
                </a:tc>
                <a:tc>
                  <a:txBody>
                    <a:bodyPr/>
                    <a:p>
                      <a:r>
                        <a:rPr sz="1600"/>
                        <a:t>Returns an enumeration of the components.</a:t>
                      </a:r>
                      <a:endParaRPr sz="1600"/>
                    </a:p>
                  </a:txBody>
                  <a:tcPr marL="0" marR="0" marT="0" marB="0" anchor="ctr" anchorCtr="0">
                    <a:lnL>
                      <a:noFill/>
                    </a:lnL>
                    <a:lnR>
                      <a:noFill/>
                    </a:lnR>
                    <a:lnT>
                      <a:noFill/>
                    </a:lnT>
                    <a:lnB>
                      <a:noFill/>
                    </a:lnB>
                    <a:noFill/>
                  </a:tcPr>
                </a:tc>
              </a:tr>
              <a:tr h="247650">
                <a:tc>
                  <a:txBody>
                    <a:bodyPr/>
                    <a:p>
                      <a:r>
                        <a:rPr sz="1600"/>
                        <a:t>15</a:t>
                      </a:r>
                      <a:endParaRPr sz="1600"/>
                    </a:p>
                  </a:txBody>
                  <a:tcPr marL="0" marR="0" marT="0" marB="0" anchor="ctr" anchorCtr="0">
                    <a:lnL>
                      <a:noFill/>
                    </a:lnL>
                    <a:lnR>
                      <a:noFill/>
                    </a:lnR>
                    <a:lnT>
                      <a:noFill/>
                    </a:lnT>
                    <a:lnB>
                      <a:noFill/>
                    </a:lnB>
                    <a:noFill/>
                  </a:tcPr>
                </a:tc>
                <a:tc>
                  <a:txBody>
                    <a:bodyPr/>
                    <a:p>
                      <a:r>
                        <a:rPr sz="1600"/>
                        <a:t>Object[] toArray()</a:t>
                      </a:r>
                      <a:endParaRPr sz="1600"/>
                    </a:p>
                  </a:txBody>
                  <a:tcPr marL="0" marR="0" marT="0" marB="0" anchor="ctr" anchorCtr="0">
                    <a:lnL>
                      <a:noFill/>
                    </a:lnL>
                    <a:lnR>
                      <a:noFill/>
                    </a:lnR>
                    <a:lnT>
                      <a:noFill/>
                    </a:lnT>
                    <a:lnB>
                      <a:noFill/>
                    </a:lnB>
                    <a:noFill/>
                  </a:tcPr>
                </a:tc>
                <a:tc>
                  <a:txBody>
                    <a:bodyPr/>
                    <a:p>
                      <a:r>
                        <a:rPr sz="1600"/>
                        <a:t>Converts the vector into an array.</a:t>
                      </a:r>
                      <a:endParaRPr sz="1600"/>
                    </a:p>
                  </a:txBody>
                  <a:tcPr marL="0" marR="0" marT="0" marB="0" anchor="ctr" anchorCtr="0">
                    <a:lnL>
                      <a:noFill/>
                    </a:lnL>
                    <a:lnR>
                      <a:noFill/>
                    </a:lnR>
                    <a:lnT>
                      <a:noFill/>
                    </a:lnT>
                    <a:lnB>
                      <a:noFill/>
                    </a:lnB>
                    <a:noFill/>
                  </a:tcPr>
                </a:tc>
              </a:tr>
              <a:tr h="248285">
                <a:tc>
                  <a:txBody>
                    <a:bodyPr/>
                    <a:p>
                      <a:r>
                        <a:rPr sz="1600"/>
                        <a:t>16</a:t>
                      </a:r>
                      <a:endParaRPr sz="1600"/>
                    </a:p>
                  </a:txBody>
                  <a:tcPr marL="0" marR="0" marT="0" marB="0" anchor="ctr" anchorCtr="0">
                    <a:lnL>
                      <a:noFill/>
                    </a:lnL>
                    <a:lnR>
                      <a:noFill/>
                    </a:lnR>
                    <a:lnT>
                      <a:noFill/>
                    </a:lnT>
                    <a:lnB>
                      <a:noFill/>
                    </a:lnB>
                    <a:noFill/>
                  </a:tcPr>
                </a:tc>
                <a:tc>
                  <a:txBody>
                    <a:bodyPr/>
                    <a:p>
                      <a:r>
                        <a:rPr sz="1600"/>
                        <a:t>void addElement(E obj)</a:t>
                      </a:r>
                      <a:endParaRPr sz="1600"/>
                    </a:p>
                  </a:txBody>
                  <a:tcPr marL="0" marR="0" marT="0" marB="0" anchor="ctr" anchorCtr="0">
                    <a:lnL>
                      <a:noFill/>
                    </a:lnL>
                    <a:lnR>
                      <a:noFill/>
                    </a:lnR>
                    <a:lnT>
                      <a:noFill/>
                    </a:lnT>
                    <a:lnB>
                      <a:noFill/>
                    </a:lnB>
                    <a:noFill/>
                  </a:tcPr>
                </a:tc>
                <a:tc>
                  <a:txBody>
                    <a:bodyPr/>
                    <a:p>
                      <a:r>
                        <a:rPr sz="1600"/>
                        <a:t>Adds the specified element to the end (legacy method).</a:t>
                      </a:r>
                      <a:endParaRPr sz="1600"/>
                    </a:p>
                  </a:txBody>
                  <a:tcPr marL="0" marR="0" marT="0" marB="0" anchor="ctr" anchorCtr="0">
                    <a:lnL>
                      <a:noFill/>
                    </a:lnL>
                    <a:lnR>
                      <a:noFill/>
                    </a:lnR>
                    <a:lnT>
                      <a:noFill/>
                    </a:lnT>
                    <a:lnB>
                      <a:noFill/>
                    </a:lnB>
                    <a:noFill/>
                  </a:tcPr>
                </a:tc>
              </a:tr>
              <a:tr h="247650">
                <a:tc>
                  <a:txBody>
                    <a:bodyPr/>
                    <a:p>
                      <a:r>
                        <a:rPr sz="1600"/>
                        <a:t>17</a:t>
                      </a:r>
                      <a:endParaRPr sz="1600"/>
                    </a:p>
                  </a:txBody>
                  <a:tcPr marL="0" marR="0" marT="0" marB="0" anchor="ctr" anchorCtr="0">
                    <a:lnL>
                      <a:noFill/>
                    </a:lnL>
                    <a:lnR>
                      <a:noFill/>
                    </a:lnR>
                    <a:lnT>
                      <a:noFill/>
                    </a:lnT>
                    <a:lnB>
                      <a:noFill/>
                    </a:lnB>
                    <a:noFill/>
                  </a:tcPr>
                </a:tc>
                <a:tc>
                  <a:txBody>
                    <a:bodyPr/>
                    <a:p>
                      <a:r>
                        <a:rPr sz="1600"/>
                        <a:t>void removeAllElements()</a:t>
                      </a:r>
                      <a:endParaRPr sz="1600"/>
                    </a:p>
                  </a:txBody>
                  <a:tcPr marL="0" marR="0" marT="0" marB="0" anchor="ctr" anchorCtr="0">
                    <a:lnL>
                      <a:noFill/>
                    </a:lnL>
                    <a:lnR>
                      <a:noFill/>
                    </a:lnR>
                    <a:lnT>
                      <a:noFill/>
                    </a:lnT>
                    <a:lnB>
                      <a:noFill/>
                    </a:lnB>
                    <a:noFill/>
                  </a:tcPr>
                </a:tc>
                <a:tc>
                  <a:txBody>
                    <a:bodyPr/>
                    <a:p>
                      <a:r>
                        <a:rPr sz="1600"/>
                        <a:t>Removes all elements from the vector (legacy clear()).</a:t>
                      </a:r>
                      <a:endParaRPr sz="1600"/>
                    </a:p>
                  </a:txBody>
                  <a:tcPr marL="0" marR="0" marT="0" marB="0" anchor="ctr" anchorCtr="0">
                    <a:lnL>
                      <a:noFill/>
                    </a:lnL>
                    <a:lnR>
                      <a:noFill/>
                    </a:lnR>
                    <a:lnT>
                      <a:noFill/>
                    </a:lnT>
                    <a:lnB>
                      <a:noFill/>
                    </a:lnB>
                    <a:noFill/>
                  </a:tcPr>
                </a:tc>
              </a:tr>
              <a:tr h="248285">
                <a:tc>
                  <a:txBody>
                    <a:bodyPr/>
                    <a:p>
                      <a:r>
                        <a:rPr sz="1600"/>
                        <a:t>18</a:t>
                      </a:r>
                      <a:endParaRPr sz="1600"/>
                    </a:p>
                  </a:txBody>
                  <a:tcPr marL="0" marR="0" marT="0" marB="0" anchor="ctr" anchorCtr="0">
                    <a:lnL>
                      <a:noFill/>
                    </a:lnL>
                    <a:lnR>
                      <a:noFill/>
                    </a:lnR>
                    <a:lnT>
                      <a:noFill/>
                    </a:lnT>
                    <a:lnB>
                      <a:noFill/>
                    </a:lnB>
                    <a:noFill/>
                  </a:tcPr>
                </a:tc>
                <a:tc>
                  <a:txBody>
                    <a:bodyPr/>
                    <a:p>
                      <a:r>
                        <a:rPr sz="1600"/>
                        <a:t>E elementAt(int index)</a:t>
                      </a:r>
                      <a:endParaRPr sz="1600"/>
                    </a:p>
                  </a:txBody>
                  <a:tcPr marL="0" marR="0" marT="0" marB="0" anchor="ctr" anchorCtr="0">
                    <a:lnL>
                      <a:noFill/>
                    </a:lnL>
                    <a:lnR>
                      <a:noFill/>
                    </a:lnR>
                    <a:lnT>
                      <a:noFill/>
                    </a:lnT>
                    <a:lnB>
                      <a:noFill/>
                    </a:lnB>
                    <a:noFill/>
                  </a:tcPr>
                </a:tc>
                <a:tc>
                  <a:txBody>
                    <a:bodyPr/>
                    <a:p>
                      <a:r>
                        <a:rPr sz="1600"/>
                        <a:t>Returns the element at the specified index (legacy get()).</a:t>
                      </a:r>
                      <a:endParaRPr sz="1600"/>
                    </a:p>
                  </a:txBody>
                  <a:tcPr marL="0" marR="0" marT="0" marB="0" anchor="ctr" anchorCtr="0">
                    <a:lnL>
                      <a:noFill/>
                    </a:lnL>
                    <a:lnR>
                      <a:noFill/>
                    </a:lnR>
                    <a:lnT>
                      <a:noFill/>
                    </a:lnT>
                    <a:lnB>
                      <a:noFill/>
                    </a:lnB>
                    <a:noFill/>
                  </a:tcPr>
                </a:tc>
              </a:tr>
              <a:tr h="247650">
                <a:tc>
                  <a:txBody>
                    <a:bodyPr/>
                    <a:p>
                      <a:r>
                        <a:rPr sz="1600"/>
                        <a:t>19</a:t>
                      </a:r>
                      <a:endParaRPr sz="1600"/>
                    </a:p>
                  </a:txBody>
                  <a:tcPr marL="0" marR="0" marT="0" marB="0" anchor="ctr" anchorCtr="0">
                    <a:lnL>
                      <a:noFill/>
                    </a:lnL>
                    <a:lnR>
                      <a:noFill/>
                    </a:lnR>
                    <a:lnT>
                      <a:noFill/>
                    </a:lnT>
                    <a:lnB>
                      <a:noFill/>
                    </a:lnB>
                    <a:noFill/>
                  </a:tcPr>
                </a:tc>
                <a:tc>
                  <a:txBody>
                    <a:bodyPr/>
                    <a:p>
                      <a:r>
                        <a:rPr sz="1600"/>
                        <a:t>E firstElement()</a:t>
                      </a:r>
                      <a:endParaRPr sz="1600"/>
                    </a:p>
                  </a:txBody>
                  <a:tcPr marL="0" marR="0" marT="0" marB="0" anchor="ctr" anchorCtr="0">
                    <a:lnL>
                      <a:noFill/>
                    </a:lnL>
                    <a:lnR>
                      <a:noFill/>
                    </a:lnR>
                    <a:lnT>
                      <a:noFill/>
                    </a:lnT>
                    <a:lnB>
                      <a:noFill/>
                    </a:lnB>
                    <a:noFill/>
                  </a:tcPr>
                </a:tc>
                <a:tc>
                  <a:txBody>
                    <a:bodyPr/>
                    <a:p>
                      <a:r>
                        <a:rPr sz="1600"/>
                        <a:t>Returns the first element in the vector.</a:t>
                      </a:r>
                      <a:endParaRPr sz="1600"/>
                    </a:p>
                  </a:txBody>
                  <a:tcPr marL="0" marR="0" marT="0" marB="0" anchor="ctr" anchorCtr="0">
                    <a:lnL>
                      <a:noFill/>
                    </a:lnL>
                    <a:lnR>
                      <a:noFill/>
                    </a:lnR>
                    <a:lnT>
                      <a:noFill/>
                    </a:lnT>
                    <a:lnB>
                      <a:noFill/>
                    </a:lnB>
                    <a:noFill/>
                  </a:tcPr>
                </a:tc>
              </a:tr>
              <a:tr h="248285">
                <a:tc>
                  <a:txBody>
                    <a:bodyPr/>
                    <a:p>
                      <a:r>
                        <a:rPr sz="1600"/>
                        <a:t>20</a:t>
                      </a:r>
                      <a:endParaRPr sz="1600"/>
                    </a:p>
                  </a:txBody>
                  <a:tcPr marL="0" marR="0" marT="0" marB="0" anchor="ctr" anchorCtr="0">
                    <a:lnL>
                      <a:noFill/>
                    </a:lnL>
                    <a:lnR>
                      <a:noFill/>
                    </a:lnR>
                    <a:lnT>
                      <a:noFill/>
                    </a:lnT>
                    <a:lnB>
                      <a:noFill/>
                    </a:lnB>
                    <a:noFill/>
                  </a:tcPr>
                </a:tc>
                <a:tc>
                  <a:txBody>
                    <a:bodyPr/>
                    <a:p>
                      <a:r>
                        <a:rPr sz="1600"/>
                        <a:t>E lastElement()</a:t>
                      </a:r>
                      <a:endParaRPr sz="1600"/>
                    </a:p>
                  </a:txBody>
                  <a:tcPr marL="0" marR="0" marT="0" marB="0" anchor="ctr" anchorCtr="0">
                    <a:lnL>
                      <a:noFill/>
                    </a:lnL>
                    <a:lnR>
                      <a:noFill/>
                    </a:lnR>
                    <a:lnT>
                      <a:noFill/>
                    </a:lnT>
                    <a:lnB>
                      <a:noFill/>
                    </a:lnB>
                    <a:noFill/>
                  </a:tcPr>
                </a:tc>
                <a:tc>
                  <a:txBody>
                    <a:bodyPr/>
                    <a:p>
                      <a:r>
                        <a:rPr sz="1600"/>
                        <a:t>Returns the last element in the vector.</a:t>
                      </a:r>
                      <a:endParaRPr sz="1600"/>
                    </a:p>
                  </a:txBody>
                  <a:tcPr marL="0" marR="0" marT="0" marB="0" anchor="ctr" anchorCtr="0">
                    <a:lnL>
                      <a:noFill/>
                    </a:lnL>
                    <a:lnR>
                      <a:noFill/>
                    </a:lnR>
                    <a:lnT>
                      <a:noFill/>
                    </a:lnT>
                    <a:lnB>
                      <a:noFill/>
                    </a:lnB>
                    <a:noFill/>
                  </a:tcPr>
                </a:tc>
              </a:tr>
              <a:tr h="248285">
                <a:tc>
                  <a:txBody>
                    <a:bodyPr/>
                    <a:p>
                      <a:r>
                        <a:rPr sz="1600"/>
                        <a:t>21</a:t>
                      </a:r>
                      <a:endParaRPr sz="1600"/>
                    </a:p>
                  </a:txBody>
                  <a:tcPr marL="0" marR="0" marT="0" marB="0" anchor="ctr" anchorCtr="0">
                    <a:lnL>
                      <a:noFill/>
                    </a:lnL>
                    <a:lnR>
                      <a:noFill/>
                    </a:lnR>
                    <a:lnT>
                      <a:noFill/>
                    </a:lnT>
                    <a:lnB>
                      <a:noFill/>
                    </a:lnB>
                    <a:noFill/>
                  </a:tcPr>
                </a:tc>
                <a:tc>
                  <a:txBody>
                    <a:bodyPr/>
                    <a:p>
                      <a:r>
                        <a:rPr sz="1600"/>
                        <a:t>void insertElementAt(E obj, int index)</a:t>
                      </a:r>
                      <a:endParaRPr sz="1600"/>
                    </a:p>
                  </a:txBody>
                  <a:tcPr marL="0" marR="0" marT="0" marB="0" anchor="ctr" anchorCtr="0">
                    <a:lnL>
                      <a:noFill/>
                    </a:lnL>
                    <a:lnR>
                      <a:noFill/>
                    </a:lnR>
                    <a:lnT>
                      <a:noFill/>
                    </a:lnT>
                    <a:lnB>
                      <a:noFill/>
                    </a:lnB>
                    <a:noFill/>
                  </a:tcPr>
                </a:tc>
                <a:tc>
                  <a:txBody>
                    <a:bodyPr/>
                    <a:p>
                      <a:r>
                        <a:rPr sz="1600"/>
                        <a:t>Inserts an element at a specific position (legacy).</a:t>
                      </a:r>
                      <a:endParaRPr sz="1600"/>
                    </a:p>
                  </a:txBody>
                  <a:tcPr marL="0" marR="0" marT="0" marB="0" anchor="ctr" anchorCtr="0">
                    <a:lnL>
                      <a:noFill/>
                    </a:lnL>
                    <a:lnR>
                      <a:noFill/>
                    </a:lnR>
                    <a:lnT>
                      <a:noFill/>
                    </a:lnT>
                    <a:lnB>
                      <a:noFill/>
                    </a:lnB>
                    <a:noFill/>
                  </a:tcPr>
                </a:tc>
              </a:tr>
              <a:tr h="247650">
                <a:tc>
                  <a:txBody>
                    <a:bodyPr/>
                    <a:p>
                      <a:r>
                        <a:rPr sz="1600"/>
                        <a:t>22</a:t>
                      </a:r>
                      <a:endParaRPr sz="1600"/>
                    </a:p>
                  </a:txBody>
                  <a:tcPr marL="0" marR="0" marT="0" marB="0" anchor="ctr" anchorCtr="0">
                    <a:lnL>
                      <a:noFill/>
                    </a:lnL>
                    <a:lnR>
                      <a:noFill/>
                    </a:lnR>
                    <a:lnT>
                      <a:noFill/>
                    </a:lnT>
                    <a:lnB>
                      <a:noFill/>
                    </a:lnB>
                    <a:noFill/>
                  </a:tcPr>
                </a:tc>
                <a:tc>
                  <a:txBody>
                    <a:bodyPr/>
                    <a:p>
                      <a:r>
                        <a:rPr sz="1600"/>
                        <a:t>void setElementAt(E obj, int index)</a:t>
                      </a:r>
                      <a:endParaRPr sz="1600"/>
                    </a:p>
                  </a:txBody>
                  <a:tcPr marL="0" marR="0" marT="0" marB="0" anchor="ctr" anchorCtr="0">
                    <a:lnL>
                      <a:noFill/>
                    </a:lnL>
                    <a:lnR>
                      <a:noFill/>
                    </a:lnR>
                    <a:lnT>
                      <a:noFill/>
                    </a:lnT>
                    <a:lnB>
                      <a:noFill/>
                    </a:lnB>
                    <a:noFill/>
                  </a:tcPr>
                </a:tc>
                <a:tc>
                  <a:txBody>
                    <a:bodyPr/>
                    <a:p>
                      <a:r>
                        <a:rPr sz="1600"/>
                        <a:t>Sets an element at a specific index (legacy set()).</a:t>
                      </a:r>
                      <a:endParaRPr sz="1600"/>
                    </a:p>
                  </a:txBody>
                  <a:tcPr marL="0" marR="0" marT="0" marB="0" anchor="ctr" anchorCtr="0">
                    <a:lnL>
                      <a:noFill/>
                    </a:lnL>
                    <a:lnR>
                      <a:noFill/>
                    </a:lnR>
                    <a:lnT>
                      <a:noFill/>
                    </a:lnT>
                    <a:lnB>
                      <a:noFill/>
                    </a:lnB>
                    <a:noFill/>
                  </a:tcPr>
                </a:tc>
              </a:tr>
              <a:tr h="248285">
                <a:tc>
                  <a:txBody>
                    <a:bodyPr/>
                    <a:p>
                      <a:r>
                        <a:rPr sz="1600"/>
                        <a:t>23</a:t>
                      </a:r>
                      <a:endParaRPr sz="1600"/>
                    </a:p>
                  </a:txBody>
                  <a:tcPr marL="0" marR="0" marT="0" marB="0" anchor="ctr" anchorCtr="0">
                    <a:lnL>
                      <a:noFill/>
                    </a:lnL>
                    <a:lnR>
                      <a:noFill/>
                    </a:lnR>
                    <a:lnT>
                      <a:noFill/>
                    </a:lnT>
                    <a:lnB>
                      <a:noFill/>
                    </a:lnB>
                    <a:noFill/>
                  </a:tcPr>
                </a:tc>
                <a:tc>
                  <a:txBody>
                    <a:bodyPr/>
                    <a:p>
                      <a:r>
                        <a:rPr sz="1600"/>
                        <a:t>void removeElementAt(int index)</a:t>
                      </a:r>
                      <a:endParaRPr sz="1600"/>
                    </a:p>
                  </a:txBody>
                  <a:tcPr marL="0" marR="0" marT="0" marB="0" anchor="ctr" anchorCtr="0">
                    <a:lnL>
                      <a:noFill/>
                    </a:lnL>
                    <a:lnR>
                      <a:noFill/>
                    </a:lnR>
                    <a:lnT>
                      <a:noFill/>
                    </a:lnT>
                    <a:lnB>
                      <a:noFill/>
                    </a:lnB>
                    <a:noFill/>
                  </a:tcPr>
                </a:tc>
                <a:tc>
                  <a:txBody>
                    <a:bodyPr/>
                    <a:p>
                      <a:r>
                        <a:rPr sz="1600"/>
                        <a:t>Removes the element at a specific index (legacy remove()).</a:t>
                      </a:r>
                      <a:endParaRPr sz="1600"/>
                    </a:p>
                  </a:txBody>
                  <a:tcPr marL="0" marR="0" marT="0" marB="0" anchor="ctr" anchorCtr="0">
                    <a:lnL>
                      <a:noFill/>
                    </a:lnL>
                    <a:lnR>
                      <a:noFill/>
                    </a:lnR>
                    <a:lnT>
                      <a:noFill/>
                    </a:lnT>
                    <a:lnB>
                      <a:noFill/>
                    </a:lnB>
                    <a:noFill/>
                  </a:tcPr>
                </a:tc>
              </a:tr>
              <a:tr h="247650">
                <a:tc>
                  <a:txBody>
                    <a:bodyPr/>
                    <a:p>
                      <a:r>
                        <a:rPr sz="1600"/>
                        <a:t>24</a:t>
                      </a:r>
                      <a:endParaRPr sz="1600"/>
                    </a:p>
                  </a:txBody>
                  <a:tcPr marL="0" marR="0" marT="0" marB="0" anchor="ctr" anchorCtr="0">
                    <a:lnL>
                      <a:noFill/>
                    </a:lnL>
                    <a:lnR>
                      <a:noFill/>
                    </a:lnR>
                    <a:lnT>
                      <a:noFill/>
                    </a:lnT>
                    <a:lnB>
                      <a:noFill/>
                    </a:lnB>
                    <a:noFill/>
                  </a:tcPr>
                </a:tc>
                <a:tc>
                  <a:txBody>
                    <a:bodyPr/>
                    <a:p>
                      <a:r>
                        <a:rPr sz="1600"/>
                        <a:t>int capacity()</a:t>
                      </a:r>
                      <a:endParaRPr sz="1600"/>
                    </a:p>
                  </a:txBody>
                  <a:tcPr marL="0" marR="0" marT="0" marB="0" anchor="ctr" anchorCtr="0">
                    <a:lnL>
                      <a:noFill/>
                    </a:lnL>
                    <a:lnR>
                      <a:noFill/>
                    </a:lnR>
                    <a:lnT>
                      <a:noFill/>
                    </a:lnT>
                    <a:lnB>
                      <a:noFill/>
                    </a:lnB>
                    <a:noFill/>
                  </a:tcPr>
                </a:tc>
                <a:tc>
                  <a:txBody>
                    <a:bodyPr/>
                    <a:p>
                      <a:r>
                        <a:rPr sz="1600"/>
                        <a:t>Returns the current capacity of the vector.</a:t>
                      </a:r>
                      <a:endParaRPr sz="1600"/>
                    </a:p>
                  </a:txBody>
                  <a:tcPr marL="0" marR="0" marT="0" marB="0" anchor="ctr" anchorCtr="0">
                    <a:lnL>
                      <a:noFill/>
                    </a:lnL>
                    <a:lnR>
                      <a:noFill/>
                    </a:lnR>
                    <a:lnT>
                      <a:noFill/>
                    </a:lnT>
                    <a:lnB>
                      <a:noFill/>
                    </a:lnB>
                    <a:noFill/>
                  </a:tcPr>
                </a:tc>
              </a:tr>
              <a:tr h="248285">
                <a:tc>
                  <a:txBody>
                    <a:bodyPr/>
                    <a:p>
                      <a:r>
                        <a:rPr sz="1600"/>
                        <a:t>25</a:t>
                      </a:r>
                      <a:endParaRPr sz="1600"/>
                    </a:p>
                  </a:txBody>
                  <a:tcPr marL="0" marR="0" marT="0" marB="0" anchor="ctr" anchorCtr="0">
                    <a:lnL>
                      <a:noFill/>
                    </a:lnL>
                    <a:lnR>
                      <a:noFill/>
                    </a:lnR>
                    <a:lnT>
                      <a:noFill/>
                    </a:lnT>
                    <a:lnB>
                      <a:noFill/>
                    </a:lnB>
                    <a:noFill/>
                  </a:tcPr>
                </a:tc>
                <a:tc>
                  <a:txBody>
                    <a:bodyPr/>
                    <a:p>
                      <a:r>
                        <a:rPr sz="1600"/>
                        <a:t>void trimToSize()</a:t>
                      </a:r>
                      <a:endParaRPr sz="1600"/>
                    </a:p>
                  </a:txBody>
                  <a:tcPr marL="0" marR="0" marT="0" marB="0" anchor="ctr" anchorCtr="0">
                    <a:lnL>
                      <a:noFill/>
                    </a:lnL>
                    <a:lnR>
                      <a:noFill/>
                    </a:lnR>
                    <a:lnT>
                      <a:noFill/>
                    </a:lnT>
                    <a:lnB>
                      <a:noFill/>
                    </a:lnB>
                    <a:noFill/>
                  </a:tcPr>
                </a:tc>
                <a:tc>
                  <a:txBody>
                    <a:bodyPr/>
                    <a:p>
                      <a:r>
                        <a:rPr sz="1600"/>
                        <a:t>Trims the capacity of the vector to the current size.</a:t>
                      </a:r>
                      <a:r>
                        <a:rPr lang="en-US" sz="1600"/>
                        <a:t> </a:t>
                      </a:r>
                      <a:r>
                        <a:rPr lang="en-US" altLang="en-US" sz="1600"/>
                        <a:t>vector.trimToSize();</a:t>
                      </a:r>
                      <a:endParaRPr lang="en-US" altLang="en-US" sz="16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254635"/>
          </a:xfrm>
        </p:spPr>
        <p:txBody>
          <a:bodyPr>
            <a:normAutofit fontScale="90000"/>
          </a:bodyPr>
          <a:p>
            <a:pPr algn="ctr"/>
            <a:r>
              <a:rPr lang="en-US" sz="2400" b="1">
                <a:solidFill>
                  <a:srgbClr val="FF0000"/>
                </a:solidFill>
              </a:rPr>
              <a:t>HashMap And HashSet</a:t>
            </a:r>
            <a:endParaRPr lang="en-US" sz="2400" b="1">
              <a:solidFill>
                <a:srgbClr val="FF0000"/>
              </a:solidFill>
            </a:endParaRPr>
          </a:p>
        </p:txBody>
      </p:sp>
      <p:sp>
        <p:nvSpPr>
          <p:cNvPr id="3" name="Content Placeholder 2"/>
          <p:cNvSpPr>
            <a:spLocks noGrp="1"/>
          </p:cNvSpPr>
          <p:nvPr>
            <p:ph idx="1"/>
          </p:nvPr>
        </p:nvSpPr>
        <p:spPr>
          <a:xfrm>
            <a:off x="127000" y="362585"/>
            <a:ext cx="11938635" cy="6402070"/>
          </a:xfrm>
        </p:spPr>
        <p:txBody>
          <a:bodyPr>
            <a:normAutofit fontScale="90000" lnSpcReduction="20000"/>
          </a:bodyPr>
          <a:p>
            <a:pPr marL="0" indent="0">
              <a:buNone/>
            </a:pPr>
            <a:r>
              <a:rPr lang="en-US" altLang="en-US" sz="1800"/>
              <a:t>uses hash table to store the elements. It extends Abstract Set class and implements Set interface. contains unique elements only.</a:t>
            </a:r>
            <a:endParaRPr lang="en-US" altLang="en-US" sz="1800"/>
          </a:p>
          <a:p>
            <a:pPr marL="0" indent="0">
              <a:buNone/>
            </a:pPr>
            <a:r>
              <a:rPr lang="en-US" altLang="en-US" sz="1800"/>
              <a:t>Difference between List and Set:</a:t>
            </a:r>
            <a:endParaRPr lang="en-US" altLang="en-US" sz="1800"/>
          </a:p>
          <a:p>
            <a:pPr marL="0" indent="0">
              <a:buNone/>
            </a:pPr>
            <a:r>
              <a:rPr lang="en-US" altLang="en-US" sz="1800"/>
              <a:t>List can contain duplicate elements whereas Set contains unique elements only</a:t>
            </a:r>
            <a:endParaRPr lang="en-US" altLang="en-US" sz="1800"/>
          </a:p>
          <a:p>
            <a:pPr marL="0" indent="0">
              <a:buNone/>
            </a:pPr>
            <a:r>
              <a:rPr lang="en-US" altLang="en-US" sz="1800"/>
              <a:t>A map contains values based on the key i.e. key and value pair. Each pair is known as an entry. Map contains only unique </a:t>
            </a:r>
            <a:endParaRPr lang="en-US" altLang="en-US" sz="1800"/>
          </a:p>
          <a:p>
            <a:pPr marL="0" indent="0">
              <a:buNone/>
            </a:pPr>
            <a:r>
              <a:rPr lang="en-US" altLang="en-US" sz="1800"/>
              <a:t>elements.</a:t>
            </a:r>
            <a:endParaRPr lang="en-US" altLang="en-US" sz="1800"/>
          </a:p>
          <a:p>
            <a:pPr marL="0" indent="0">
              <a:buNone/>
            </a:pPr>
            <a:r>
              <a:rPr lang="en-US" altLang="en-US" sz="1800"/>
              <a:t>Commonly used methods of Map interface:</a:t>
            </a:r>
            <a:endParaRPr lang="en-US" altLang="en-US" sz="1800"/>
          </a:p>
          <a:p>
            <a:pPr marL="0" indent="0">
              <a:buNone/>
            </a:pPr>
            <a:r>
              <a:rPr lang="en-US" altLang="en-US" sz="1800"/>
              <a:t> public Object put(object key,Object value): is used to insert an entry in this map.</a:t>
            </a:r>
            <a:endParaRPr lang="en-US" altLang="en-US" sz="1800"/>
          </a:p>
          <a:p>
            <a:pPr marL="0" indent="0">
              <a:buNone/>
            </a:pPr>
            <a:r>
              <a:rPr lang="en-US" altLang="en-US" sz="1800"/>
              <a:t> public void putAll(Map map): is used to insert the specified map in this map.</a:t>
            </a:r>
            <a:endParaRPr lang="en-US" altLang="en-US" sz="1800"/>
          </a:p>
          <a:p>
            <a:pPr marL="0" indent="0">
              <a:buNone/>
            </a:pPr>
            <a:r>
              <a:rPr lang="en-US" altLang="en-US" sz="1800"/>
              <a:t> public Object remove(object key): is used to delete an entry for the specified key.</a:t>
            </a:r>
            <a:endParaRPr lang="en-US" altLang="en-US" sz="1800"/>
          </a:p>
          <a:p>
            <a:pPr marL="0" indent="0">
              <a:buNone/>
            </a:pPr>
            <a:r>
              <a:rPr lang="en-US" altLang="en-US" sz="1800"/>
              <a:t> public Object get(Object key): is used to return the value for the specified key.</a:t>
            </a:r>
            <a:endParaRPr lang="en-US" altLang="en-US" sz="1800"/>
          </a:p>
          <a:p>
            <a:pPr marL="0" indent="0">
              <a:buNone/>
            </a:pPr>
            <a:r>
              <a:rPr lang="en-US" altLang="en-US" sz="1800"/>
              <a:t> public boolean containsKey(Object key): is used to search the specified key from this map.</a:t>
            </a:r>
            <a:endParaRPr lang="en-US" altLang="en-US" sz="1800"/>
          </a:p>
          <a:p>
            <a:pPr marL="0" indent="0">
              <a:buNone/>
            </a:pPr>
            <a:r>
              <a:rPr lang="en-US" altLang="en-US" sz="1800"/>
              <a:t> public boolean containsValue(Object value): is used to search the specified value from this map.</a:t>
            </a:r>
            <a:endParaRPr lang="en-US" altLang="en-US" sz="1800"/>
          </a:p>
          <a:p>
            <a:pPr marL="0" indent="0">
              <a:buNone/>
            </a:pPr>
            <a:r>
              <a:rPr lang="en-US" altLang="en-US" sz="1800"/>
              <a:t> public Set keySet(): is returns the Set view containing all the keys.</a:t>
            </a:r>
            <a:endParaRPr lang="en-US" altLang="en-US" sz="1800"/>
          </a:p>
          <a:p>
            <a:pPr marL="0" indent="0">
              <a:buNone/>
            </a:pPr>
            <a:r>
              <a:rPr lang="en-US" altLang="en-US" sz="1800"/>
              <a:t> public Set entrySet(): is returns the Set view containing all the keys and values.</a:t>
            </a:r>
            <a:endParaRPr lang="en-US" altLang="en-US" sz="1800"/>
          </a:p>
          <a:p>
            <a:pPr marL="0" indent="0">
              <a:buNone/>
            </a:pPr>
            <a:endParaRPr lang="en-US" altLang="en-US" sz="1800"/>
          </a:p>
          <a:p>
            <a:pPr marL="0" indent="0">
              <a:buNone/>
            </a:pPr>
            <a:r>
              <a:rPr lang="en-US" altLang="en-US" sz="1800"/>
              <a:t> Java HashMap class</a:t>
            </a:r>
            <a:endParaRPr lang="en-US" altLang="en-US" sz="1800"/>
          </a:p>
          <a:p>
            <a:pPr marL="0" indent="0">
              <a:buNone/>
            </a:pPr>
            <a:r>
              <a:rPr lang="en-US" altLang="en-US" sz="1800"/>
              <a:t> A HashMap contains values based on the key. It implements the Map interface and extends AbstractMap class.</a:t>
            </a:r>
            <a:endParaRPr lang="en-US" altLang="en-US" sz="1800"/>
          </a:p>
          <a:p>
            <a:pPr marL="0" indent="0">
              <a:buNone/>
            </a:pPr>
            <a:r>
              <a:rPr lang="en-US" altLang="en-US" sz="1800"/>
              <a:t>It contains only unique elements. It may have one null key and multiple null values. It maintains no order.</a:t>
            </a:r>
            <a:endParaRPr lang="en-US" altLang="en-US" sz="1800"/>
          </a:p>
          <a:p>
            <a:pPr marL="0" indent="0">
              <a:buNone/>
            </a:pPr>
            <a:r>
              <a:rPr lang="en-US" altLang="en-US" sz="1800"/>
              <a:t>Difference between HashSet and HashMap</a:t>
            </a:r>
            <a:endParaRPr lang="en-US" altLang="en-US" sz="1800"/>
          </a:p>
          <a:p>
            <a:pPr marL="0" indent="0">
              <a:buNone/>
            </a:pPr>
            <a:r>
              <a:rPr lang="en-US" altLang="en-US" sz="1800"/>
              <a:t>HashSet contains only values whereas HashMap contains entry(key and value).</a:t>
            </a:r>
            <a:endParaRPr lang="en-US" altLang="en-US" sz="180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53365" y="0"/>
            <a:ext cx="10515600" cy="320040"/>
          </a:xfrm>
        </p:spPr>
        <p:txBody>
          <a:bodyPr>
            <a:noAutofit/>
          </a:bodyPr>
          <a:p>
            <a:pPr algn="ctr"/>
            <a:r>
              <a:rPr lang="en-US" sz="2400" b="1">
                <a:solidFill>
                  <a:srgbClr val="FF0000"/>
                </a:solidFill>
              </a:rPr>
              <a:t>Advanced Methods</a:t>
            </a:r>
            <a:endParaRPr lang="en-US" sz="2400" b="1">
              <a:solidFill>
                <a:srgbClr val="FF0000"/>
              </a:solidFill>
            </a:endParaRPr>
          </a:p>
        </p:txBody>
      </p:sp>
      <p:graphicFrame>
        <p:nvGraphicFramePr>
          <p:cNvPr id="4" name="Table 3"/>
          <p:cNvGraphicFramePr/>
          <p:nvPr>
            <p:custDataLst>
              <p:tags r:id="rId1"/>
            </p:custDataLst>
          </p:nvPr>
        </p:nvGraphicFramePr>
        <p:xfrm>
          <a:off x="104775" y="552450"/>
          <a:ext cx="11871960" cy="4583430"/>
        </p:xfrm>
        <a:graphic>
          <a:graphicData uri="http://schemas.openxmlformats.org/drawingml/2006/table">
            <a:tbl>
              <a:tblPr/>
              <a:tblGrid>
                <a:gridCol w="5269230"/>
                <a:gridCol w="6602730"/>
              </a:tblGrid>
              <a:tr h="254635">
                <a:tc>
                  <a:txBody>
                    <a:bodyPr/>
                    <a:p>
                      <a:pPr algn="ctr"/>
                      <a:r>
                        <a:rPr sz="2000" b="1">
                          <a:solidFill>
                            <a:srgbClr val="FF0000"/>
                          </a:solidFill>
                        </a:rPr>
                        <a:t>Method</a:t>
                      </a:r>
                      <a:endParaRPr sz="20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b="1">
                          <a:solidFill>
                            <a:srgbClr val="FF0000"/>
                          </a:solidFill>
                        </a:rPr>
                        <a:t>Description</a:t>
                      </a:r>
                      <a:endParaRPr sz="20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r>
              <a:tr h="254635">
                <a:tc>
                  <a:txBody>
                    <a:bodyPr/>
                    <a:p>
                      <a:r>
                        <a:rPr sz="1800"/>
                        <a:t>put(K key, V value)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Inserts or updates key-value pair</a:t>
                      </a:r>
                      <a:endParaRPr sz="1800"/>
                    </a:p>
                  </a:txBody>
                  <a:tcPr marL="0" marR="0" marT="0" marB="0" anchor="ctr" anchorCtr="0">
                    <a:lnL>
                      <a:noFill/>
                    </a:lnL>
                    <a:lnR>
                      <a:noFill/>
                    </a:lnR>
                    <a:lnT>
                      <a:noFill/>
                    </a:lnT>
                    <a:lnB>
                      <a:noFill/>
                    </a:lnB>
                    <a:solidFill>
                      <a:schemeClr val="accent1">
                        <a:lumMod val="40000"/>
                        <a:lumOff val="60000"/>
                      </a:schemeClr>
                    </a:solidFill>
                  </a:tcPr>
                </a:tc>
              </a:tr>
              <a:tr h="254635">
                <a:tc>
                  <a:txBody>
                    <a:bodyPr/>
                    <a:p>
                      <a:r>
                        <a:rPr sz="1800"/>
                        <a:t>putAll(Map&lt;? extends K,? extends V&gt; m)</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Copies all mappings from another map</a:t>
                      </a:r>
                      <a:endParaRPr sz="1800"/>
                    </a:p>
                  </a:txBody>
                  <a:tcPr marL="0" marR="0" marT="0" marB="0" anchor="ctr" anchorCtr="0">
                    <a:lnL>
                      <a:noFill/>
                    </a:lnL>
                    <a:lnR>
                      <a:noFill/>
                    </a:lnR>
                    <a:lnT>
                      <a:noFill/>
                    </a:lnT>
                    <a:lnB>
                      <a:noFill/>
                    </a:lnB>
                    <a:solidFill>
                      <a:schemeClr val="accent1">
                        <a:lumMod val="40000"/>
                        <a:lumOff val="60000"/>
                      </a:schemeClr>
                    </a:solidFill>
                  </a:tcPr>
                </a:tc>
              </a:tr>
              <a:tr h="254635">
                <a:tc>
                  <a:txBody>
                    <a:bodyPr/>
                    <a:p>
                      <a:r>
                        <a:rPr sz="1800"/>
                        <a:t>putIfAbsent(K key, V value)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Adds only if key is not present</a:t>
                      </a:r>
                      <a:endParaRPr sz="1800"/>
                    </a:p>
                  </a:txBody>
                  <a:tcPr marL="0" marR="0" marT="0" marB="0" anchor="ctr" anchorCtr="0">
                    <a:lnL>
                      <a:noFill/>
                    </a:lnL>
                    <a:lnR>
                      <a:noFill/>
                    </a:lnR>
                    <a:lnT>
                      <a:noFill/>
                    </a:lnT>
                    <a:lnB>
                      <a:noFill/>
                    </a:lnB>
                    <a:solidFill>
                      <a:schemeClr val="accent1">
                        <a:lumMod val="40000"/>
                        <a:lumOff val="60000"/>
                      </a:schemeClr>
                    </a:solidFill>
                  </a:tcPr>
                </a:tc>
              </a:tr>
              <a:tr h="254635">
                <a:tc>
                  <a:txBody>
                    <a:bodyPr/>
                    <a:p>
                      <a:r>
                        <a:rPr sz="1800"/>
                        <a:t>get(Object key)</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Returns value for the key</a:t>
                      </a:r>
                      <a:endParaRPr sz="1800"/>
                    </a:p>
                  </a:txBody>
                  <a:tcPr marL="0" marR="0" marT="0" marB="0" anchor="ctr" anchorCtr="0">
                    <a:lnL>
                      <a:noFill/>
                    </a:lnL>
                    <a:lnR>
                      <a:noFill/>
                    </a:lnR>
                    <a:lnT>
                      <a:noFill/>
                    </a:lnT>
                    <a:lnB>
                      <a:noFill/>
                    </a:lnB>
                    <a:solidFill>
                      <a:schemeClr val="accent1">
                        <a:lumMod val="40000"/>
                        <a:lumOff val="60000"/>
                      </a:schemeClr>
                    </a:solidFill>
                  </a:tcPr>
                </a:tc>
              </a:tr>
              <a:tr h="254635">
                <a:tc>
                  <a:txBody>
                    <a:bodyPr/>
                    <a:p>
                      <a:r>
                        <a:rPr sz="1800"/>
                        <a:t>getOrDefault(Object key, V defaultValue)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Returns value or default if not found</a:t>
                      </a:r>
                      <a:endParaRPr sz="1800"/>
                    </a:p>
                  </a:txBody>
                  <a:tcPr marL="0" marR="0" marT="0" marB="0" anchor="ctr" anchorCtr="0">
                    <a:lnL>
                      <a:noFill/>
                    </a:lnL>
                    <a:lnR>
                      <a:noFill/>
                    </a:lnR>
                    <a:lnT>
                      <a:noFill/>
                    </a:lnT>
                    <a:lnB>
                      <a:noFill/>
                    </a:lnB>
                    <a:solidFill>
                      <a:schemeClr val="accent1">
                        <a:lumMod val="40000"/>
                        <a:lumOff val="60000"/>
                      </a:schemeClr>
                    </a:solidFill>
                  </a:tcPr>
                </a:tc>
              </a:tr>
              <a:tr h="254635">
                <a:tc>
                  <a:txBody>
                    <a:bodyPr/>
                    <a:p>
                      <a:r>
                        <a:rPr sz="1800"/>
                        <a:t>remove(Object key)</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Removes mapping for key</a:t>
                      </a:r>
                      <a:endParaRPr sz="1800"/>
                    </a:p>
                  </a:txBody>
                  <a:tcPr marL="0" marR="0" marT="0" marB="0" anchor="ctr" anchorCtr="0">
                    <a:lnL>
                      <a:noFill/>
                    </a:lnL>
                    <a:lnR>
                      <a:noFill/>
                    </a:lnR>
                    <a:lnT>
                      <a:noFill/>
                    </a:lnT>
                    <a:lnB>
                      <a:noFill/>
                    </a:lnB>
                    <a:solidFill>
                      <a:schemeClr val="accent1">
                        <a:lumMod val="40000"/>
                        <a:lumOff val="60000"/>
                      </a:schemeClr>
                    </a:solidFill>
                  </a:tcPr>
                </a:tc>
              </a:tr>
              <a:tr h="254635">
                <a:tc>
                  <a:txBody>
                    <a:bodyPr/>
                    <a:p>
                      <a:r>
                        <a:rPr sz="1800"/>
                        <a:t>remove(Object key, Object value)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Removes if key-value pair matches</a:t>
                      </a:r>
                      <a:endParaRPr sz="1800"/>
                    </a:p>
                  </a:txBody>
                  <a:tcPr marL="0" marR="0" marT="0" marB="0" anchor="ctr" anchorCtr="0">
                    <a:lnL>
                      <a:noFill/>
                    </a:lnL>
                    <a:lnR>
                      <a:noFill/>
                    </a:lnR>
                    <a:lnT>
                      <a:noFill/>
                    </a:lnT>
                    <a:lnB>
                      <a:noFill/>
                    </a:lnB>
                    <a:solidFill>
                      <a:schemeClr val="accent1">
                        <a:lumMod val="40000"/>
                        <a:lumOff val="60000"/>
                      </a:schemeClr>
                    </a:solidFill>
                  </a:tcPr>
                </a:tc>
              </a:tr>
              <a:tr h="254635">
                <a:tc>
                  <a:txBody>
                    <a:bodyPr/>
                    <a:p>
                      <a:r>
                        <a:rPr sz="1800"/>
                        <a:t>replace(K key, V value)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Replaces value for key</a:t>
                      </a:r>
                      <a:endParaRPr sz="1800"/>
                    </a:p>
                  </a:txBody>
                  <a:tcPr marL="0" marR="0" marT="0" marB="0" anchor="ctr" anchorCtr="0">
                    <a:lnL>
                      <a:noFill/>
                    </a:lnL>
                    <a:lnR>
                      <a:noFill/>
                    </a:lnR>
                    <a:lnT>
                      <a:noFill/>
                    </a:lnT>
                    <a:lnB>
                      <a:noFill/>
                    </a:lnB>
                    <a:solidFill>
                      <a:schemeClr val="accent1">
                        <a:lumMod val="40000"/>
                        <a:lumOff val="60000"/>
                      </a:schemeClr>
                    </a:solidFill>
                  </a:tcPr>
                </a:tc>
              </a:tr>
              <a:tr h="254635">
                <a:tc>
                  <a:txBody>
                    <a:bodyPr/>
                    <a:p>
                      <a:r>
                        <a:rPr sz="1800"/>
                        <a:t>replace(K key, V oldVal, V newVal)</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Replaces only if oldVal matches</a:t>
                      </a:r>
                      <a:endParaRPr sz="1800"/>
                    </a:p>
                  </a:txBody>
                  <a:tcPr marL="0" marR="0" marT="0" marB="0" anchor="ctr" anchorCtr="0">
                    <a:lnL>
                      <a:noFill/>
                    </a:lnL>
                    <a:lnR>
                      <a:noFill/>
                    </a:lnR>
                    <a:lnT>
                      <a:noFill/>
                    </a:lnT>
                    <a:lnB>
                      <a:noFill/>
                    </a:lnB>
                    <a:solidFill>
                      <a:schemeClr val="accent1">
                        <a:lumMod val="40000"/>
                        <a:lumOff val="60000"/>
                      </a:schemeClr>
                    </a:solidFill>
                  </a:tcPr>
                </a:tc>
              </a:tr>
              <a:tr h="254635">
                <a:tc>
                  <a:txBody>
                    <a:bodyPr/>
                    <a:p>
                      <a:r>
                        <a:rPr sz="1800"/>
                        <a:t>containsKey(Object key)</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Checks if key exists</a:t>
                      </a:r>
                      <a:endParaRPr sz="1800"/>
                    </a:p>
                  </a:txBody>
                  <a:tcPr marL="0" marR="0" marT="0" marB="0" anchor="ctr" anchorCtr="0">
                    <a:lnL>
                      <a:noFill/>
                    </a:lnL>
                    <a:lnR>
                      <a:noFill/>
                    </a:lnR>
                    <a:lnT>
                      <a:noFill/>
                    </a:lnT>
                    <a:lnB>
                      <a:noFill/>
                    </a:lnB>
                    <a:solidFill>
                      <a:schemeClr val="accent1">
                        <a:lumMod val="40000"/>
                        <a:lumOff val="60000"/>
                      </a:schemeClr>
                    </a:solidFill>
                  </a:tcPr>
                </a:tc>
              </a:tr>
              <a:tr h="254635">
                <a:tc>
                  <a:txBody>
                    <a:bodyPr/>
                    <a:p>
                      <a:r>
                        <a:rPr sz="1800"/>
                        <a:t>containsValue(Object value)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Checks if value exists</a:t>
                      </a:r>
                      <a:endParaRPr sz="1800"/>
                    </a:p>
                  </a:txBody>
                  <a:tcPr marL="0" marR="0" marT="0" marB="0" anchor="ctr" anchorCtr="0">
                    <a:lnL>
                      <a:noFill/>
                    </a:lnL>
                    <a:lnR>
                      <a:noFill/>
                    </a:lnR>
                    <a:lnT>
                      <a:noFill/>
                    </a:lnT>
                    <a:lnB>
                      <a:noFill/>
                    </a:lnB>
                    <a:solidFill>
                      <a:schemeClr val="accent1">
                        <a:lumMod val="40000"/>
                        <a:lumOff val="60000"/>
                      </a:schemeClr>
                    </a:solidFill>
                  </a:tcPr>
                </a:tc>
              </a:tr>
              <a:tr h="254635">
                <a:tc>
                  <a:txBody>
                    <a:bodyPr/>
                    <a:p>
                      <a:r>
                        <a:rPr sz="1800"/>
                        <a:t>clear()</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Removes all mappings</a:t>
                      </a:r>
                      <a:endParaRPr sz="1800"/>
                    </a:p>
                  </a:txBody>
                  <a:tcPr marL="0" marR="0" marT="0" marB="0" anchor="ctr" anchorCtr="0">
                    <a:lnL>
                      <a:noFill/>
                    </a:lnL>
                    <a:lnR>
                      <a:noFill/>
                    </a:lnR>
                    <a:lnT>
                      <a:noFill/>
                    </a:lnT>
                    <a:lnB>
                      <a:noFill/>
                    </a:lnB>
                    <a:solidFill>
                      <a:schemeClr val="accent1">
                        <a:lumMod val="40000"/>
                        <a:lumOff val="60000"/>
                      </a:schemeClr>
                    </a:solidFill>
                  </a:tcPr>
                </a:tc>
              </a:tr>
              <a:tr h="254635">
                <a:tc>
                  <a:txBody>
                    <a:bodyPr/>
                    <a:p>
                      <a:r>
                        <a:rPr sz="1800"/>
                        <a:t>isEmpty()</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Checks if map is empty</a:t>
                      </a:r>
                      <a:endParaRPr sz="1800"/>
                    </a:p>
                  </a:txBody>
                  <a:tcPr marL="0" marR="0" marT="0" marB="0" anchor="ctr" anchorCtr="0">
                    <a:lnL>
                      <a:noFill/>
                    </a:lnL>
                    <a:lnR>
                      <a:noFill/>
                    </a:lnR>
                    <a:lnT>
                      <a:noFill/>
                    </a:lnT>
                    <a:lnB>
                      <a:noFill/>
                    </a:lnB>
                    <a:solidFill>
                      <a:schemeClr val="accent1">
                        <a:lumMod val="40000"/>
                        <a:lumOff val="60000"/>
                      </a:schemeClr>
                    </a:solidFill>
                  </a:tcPr>
                </a:tc>
              </a:tr>
              <a:tr h="254635">
                <a:tc>
                  <a:txBody>
                    <a:bodyPr/>
                    <a:p>
                      <a:r>
                        <a:rPr sz="1800"/>
                        <a:t>keySet()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Returns set of keys</a:t>
                      </a:r>
                      <a:endParaRPr sz="1800"/>
                    </a:p>
                  </a:txBody>
                  <a:tcPr marL="0" marR="0" marT="0" marB="0" anchor="ctr" anchorCtr="0">
                    <a:lnL>
                      <a:noFill/>
                    </a:lnL>
                    <a:lnR>
                      <a:noFill/>
                    </a:lnR>
                    <a:lnT>
                      <a:noFill/>
                    </a:lnT>
                    <a:lnB>
                      <a:noFill/>
                    </a:lnB>
                    <a:solidFill>
                      <a:schemeClr val="accent1">
                        <a:lumMod val="40000"/>
                        <a:lumOff val="60000"/>
                      </a:schemeClr>
                    </a:solidFill>
                  </a:tcPr>
                </a:tc>
              </a:tr>
              <a:tr h="254635">
                <a:tc>
                  <a:txBody>
                    <a:bodyPr/>
                    <a:p>
                      <a:r>
                        <a:rPr sz="1800"/>
                        <a:t>values()</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Returns collection of values</a:t>
                      </a:r>
                      <a:endParaRPr sz="1800"/>
                    </a:p>
                  </a:txBody>
                  <a:tcPr marL="0" marR="0" marT="0" marB="0" anchor="ctr" anchorCtr="0">
                    <a:lnL>
                      <a:noFill/>
                    </a:lnL>
                    <a:lnR>
                      <a:noFill/>
                    </a:lnR>
                    <a:lnT>
                      <a:noFill/>
                    </a:lnT>
                    <a:lnB>
                      <a:noFill/>
                    </a:lnB>
                    <a:solidFill>
                      <a:schemeClr val="accent1">
                        <a:lumMod val="40000"/>
                        <a:lumOff val="60000"/>
                      </a:schemeClr>
                    </a:solidFill>
                  </a:tcPr>
                </a:tc>
              </a:tr>
              <a:tr h="254635">
                <a:tc>
                  <a:txBody>
                    <a:bodyPr/>
                    <a:p>
                      <a:r>
                        <a:rPr sz="1800"/>
                        <a:t>entrySet()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Returns set of key-value pairs</a:t>
                      </a:r>
                      <a:endParaRPr sz="1800"/>
                    </a:p>
                  </a:txBody>
                  <a:tcPr marL="0" marR="0" marT="0" marB="0" anchor="ctr" anchorCtr="0">
                    <a:lnL>
                      <a:noFill/>
                    </a:lnL>
                    <a:lnR>
                      <a:noFill/>
                    </a:lnR>
                    <a:lnT>
                      <a:noFill/>
                    </a:lnT>
                    <a:lnB>
                      <a:noFill/>
                    </a:lnB>
                    <a:solidFill>
                      <a:schemeClr val="accent1">
                        <a:lumMod val="40000"/>
                        <a:lumOff val="60000"/>
                      </a:schemeClr>
                    </a:solidFill>
                  </a:tcPr>
                </a:tc>
              </a:tr>
              <a:tr h="254635">
                <a:tc>
                  <a:txBody>
                    <a:bodyPr/>
                    <a:p>
                      <a:r>
                        <a:rPr sz="1800"/>
                        <a:t>size()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Returns number of key-value pairs</a:t>
                      </a:r>
                      <a:endParaRPr sz="18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04800"/>
          </a:xfrm>
        </p:spPr>
        <p:txBody>
          <a:bodyPr>
            <a:normAutofit fontScale="90000"/>
          </a:bodyPr>
          <a:p>
            <a:pPr algn="ctr"/>
            <a:r>
              <a:rPr lang="en-US" sz="2400" b="1">
                <a:solidFill>
                  <a:srgbClr val="FF0000"/>
                </a:solidFill>
              </a:rPr>
              <a:t>HashSet</a:t>
            </a:r>
            <a:endParaRPr lang="en-US" sz="2400" b="1">
              <a:solidFill>
                <a:srgbClr val="FF0000"/>
              </a:solidFill>
            </a:endParaRPr>
          </a:p>
        </p:txBody>
      </p:sp>
      <p:sp>
        <p:nvSpPr>
          <p:cNvPr id="3" name="Text Box 2"/>
          <p:cNvSpPr txBox="1"/>
          <p:nvPr/>
        </p:nvSpPr>
        <p:spPr>
          <a:xfrm>
            <a:off x="122555" y="496570"/>
            <a:ext cx="11866245" cy="6094730"/>
          </a:xfrm>
          <a:prstGeom prst="rect">
            <a:avLst/>
          </a:prstGeom>
        </p:spPr>
        <p:txBody>
          <a:bodyPr wrap="square">
            <a:noAutofit/>
          </a:bodyPr>
          <a:p>
            <a:pPr>
              <a:spcAft>
                <a:spcPct val="60000"/>
              </a:spcAft>
            </a:pPr>
            <a:r>
              <a:rPr sz="2200" b="1"/>
              <a:t>Definition of HashSet in Java:</a:t>
            </a:r>
            <a:endParaRPr sz="2200" b="1"/>
          </a:p>
          <a:p>
            <a:r>
              <a:rPr sz="1600"/>
              <a:t>HashSet is a part of Java’s Collection Framework, used to store a collection of unique elements. It implements the Set interface and is backed internally by a HashMap. Elements are stored using their hash codes, which means the order of elements is not guaranteed.</a:t>
            </a:r>
            <a:endParaRPr sz="1600"/>
          </a:p>
          <a:p>
            <a:pPr>
              <a:spcAft>
                <a:spcPct val="60000"/>
              </a:spcAft>
            </a:pPr>
            <a:endParaRPr sz="2200" b="1"/>
          </a:p>
          <a:p>
            <a:pPr>
              <a:spcAft>
                <a:spcPct val="60000"/>
              </a:spcAft>
            </a:pPr>
            <a:r>
              <a:rPr sz="2200" b="1"/>
              <a:t> Key Features and Points about HashSet:</a:t>
            </a:r>
            <a:endParaRPr sz="2200" b="1"/>
          </a:p>
          <a:p>
            <a:pPr>
              <a:spcAft>
                <a:spcPct val="60000"/>
              </a:spcAft>
            </a:pPr>
            <a:r>
              <a:rPr sz="1600"/>
              <a:t>Stores only unique elements – duplicates are automatically ignored.</a:t>
            </a:r>
            <a:endParaRPr sz="1600"/>
          </a:p>
          <a:p>
            <a:pPr>
              <a:buAutoNum type="arabicPeriod"/>
            </a:pPr>
            <a:r>
              <a:t> No specific order – elements are unordered and may appear in any order when retrieved.</a:t>
            </a:r>
          </a:p>
          <a:p>
            <a:pPr>
              <a:buAutoNum type="arabicPeriod"/>
            </a:pPr>
            <a:r>
              <a:t> Backed by HashMap – uses the keys of a HashMap to store elements.</a:t>
            </a:r>
          </a:p>
          <a:p>
            <a:pPr>
              <a:buAutoNum type="arabicPeriod"/>
            </a:pPr>
            <a:r>
              <a:t> Fast performance – constant time (O(1)) for basic operations like add(), remove(), contains() in most cases.</a:t>
            </a:r>
          </a:p>
          <a:p>
            <a:pPr>
              <a:buAutoNum type="arabicPeriod"/>
            </a:pPr>
            <a:r>
              <a:t> Allows one null element – unlike Hashtable, which allows none.</a:t>
            </a:r>
          </a:p>
          <a:p>
            <a:pPr>
              <a:buAutoNum type="arabicPeriod"/>
            </a:pPr>
            <a:r>
              <a:t> Belongs to java.util package and implements Set, Collection, Iterable interfaces.</a:t>
            </a:r>
          </a:p>
          <a:p>
            <a:pPr>
              <a:buAutoNum type="arabicPeriod"/>
            </a:pPr>
            <a:r>
              <a:t> Not synchronized – if multiple threads access it concurrently, you must handle synchronization externally.</a:t>
            </a:r>
          </a:p>
          <a:p>
            <a:pPr>
              <a:buAutoNum type="arabicPeriod"/>
            </a:pPr>
            <a:r>
              <a:t> Doesn’t support accessing elements by index – unlike ArrayList, because it’s not ordered.</a:t>
            </a:r>
          </a:p>
          <a:p>
            <a:pPr>
              <a:buAutoNum type="arabicPeriod"/>
            </a:pPr>
            <a:r>
              <a:t> Useful when you need to filter duplicates from a collection or enforce uniqueness.</a:t>
            </a:r>
          </a:p>
          <a:p>
            <a:pPr>
              <a:buAutoNum type="arabicPeriod"/>
            </a:pPr>
            <a:r>
              <a:t> Can be iterated using enhanced for-loop or iterator.</a:t>
            </a:r>
          </a:p>
          <a:p>
            <a:pPr>
              <a:buAutoNum type="arabicPeriod"/>
            </a:pPr>
            <a:r>
              <a:t> Insertion order is not preserved – if you need order, use LinkedHashSet.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65760"/>
          </a:xfrm>
        </p:spPr>
        <p:txBody>
          <a:bodyPr>
            <a:normAutofit fontScale="90000"/>
          </a:bodyPr>
          <a:p>
            <a:pPr algn="ctr"/>
            <a:r>
              <a:rPr lang="en-US" sz="2400" b="1">
                <a:solidFill>
                  <a:srgbClr val="FF0000"/>
                </a:solidFill>
                <a:sym typeface="+mn-ea"/>
              </a:rPr>
              <a:t>HashSet Advanced Method</a:t>
            </a:r>
            <a:endParaRPr lang="en-US" sz="2400" b="1">
              <a:solidFill>
                <a:srgbClr val="FF0000"/>
              </a:solidFill>
              <a:sym typeface="+mn-ea"/>
            </a:endParaRPr>
          </a:p>
        </p:txBody>
      </p:sp>
      <p:graphicFrame>
        <p:nvGraphicFramePr>
          <p:cNvPr id="4" name="Content Placeholder 3"/>
          <p:cNvGraphicFramePr/>
          <p:nvPr>
            <p:ph idx="1"/>
            <p:custDataLst>
              <p:tags r:id="rId1"/>
            </p:custDataLst>
          </p:nvPr>
        </p:nvGraphicFramePr>
        <p:xfrm>
          <a:off x="332105" y="295910"/>
          <a:ext cx="11746230" cy="3596640"/>
        </p:xfrm>
        <a:graphic>
          <a:graphicData uri="http://schemas.openxmlformats.org/drawingml/2006/table">
            <a:tbl>
              <a:tblPr/>
              <a:tblGrid>
                <a:gridCol w="4133215"/>
                <a:gridCol w="7613015"/>
              </a:tblGrid>
              <a:tr h="304800">
                <a:tc>
                  <a:txBody>
                    <a:bodyPr/>
                    <a:p>
                      <a:pPr algn="ctr"/>
                      <a:r>
                        <a:rPr sz="2000" b="1">
                          <a:solidFill>
                            <a:srgbClr val="FF0000"/>
                          </a:solidFill>
                        </a:rPr>
                        <a:t>Method</a:t>
                      </a:r>
                      <a:endParaRPr sz="20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b="1">
                          <a:solidFill>
                            <a:srgbClr val="FF0000"/>
                          </a:solidFill>
                        </a:rPr>
                        <a:t>Description</a:t>
                      </a:r>
                      <a:endParaRPr sz="20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add(E 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Adds element if not already present</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addAll(Collection&lt;? extends E&gt; c)</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Adds all elements from another collection</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clear()</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Removes all elements</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contains(Object o)</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Checks if the set contains the element</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isEmpty()</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Checks if the set is empty</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iterator()</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Returns iterator for traversal</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remove(Object o)</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Removes a specific element</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removeAll(Collection&lt;?&gt; c)</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Removes all elements in the specified collection</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retainAll(Collection&lt;?&gt; c)</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Retains only common elements</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size()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Returns the number of elements</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toArray()</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Converts to an Object array</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toArray(T[] a)</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Converts to an array of type T</a:t>
                      </a:r>
                      <a:endParaRPr sz="18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sp>
        <p:nvSpPr>
          <p:cNvPr id="5" name="Text Box 4"/>
          <p:cNvSpPr txBox="1"/>
          <p:nvPr/>
        </p:nvSpPr>
        <p:spPr>
          <a:xfrm>
            <a:off x="2315845" y="3892550"/>
            <a:ext cx="6801485" cy="323850"/>
          </a:xfrm>
          <a:prstGeom prst="rect">
            <a:avLst/>
          </a:prstGeom>
          <a:noFill/>
        </p:spPr>
        <p:txBody>
          <a:bodyPr wrap="square" rtlCol="0">
            <a:noAutofit/>
          </a:bodyPr>
          <a:p>
            <a:pPr algn="ctr"/>
            <a:r>
              <a:rPr lang="en-US" sz="2400" b="1">
                <a:solidFill>
                  <a:srgbClr val="FF0000"/>
                </a:solidFill>
              </a:rPr>
              <a:t>HashTable</a:t>
            </a:r>
            <a:endParaRPr lang="en-US" sz="2400" b="1">
              <a:solidFill>
                <a:srgbClr val="FF0000"/>
              </a:solidFill>
            </a:endParaRPr>
          </a:p>
        </p:txBody>
      </p:sp>
      <p:sp>
        <p:nvSpPr>
          <p:cNvPr id="7" name="Text Box 6"/>
          <p:cNvSpPr txBox="1"/>
          <p:nvPr/>
        </p:nvSpPr>
        <p:spPr>
          <a:xfrm>
            <a:off x="140335" y="4244340"/>
            <a:ext cx="11938635" cy="2447925"/>
          </a:xfrm>
          <a:prstGeom prst="rect">
            <a:avLst/>
          </a:prstGeom>
        </p:spPr>
        <p:txBody>
          <a:bodyPr wrap="square">
            <a:noAutofit/>
          </a:bodyPr>
          <a:p>
            <a:pPr>
              <a:spcAft>
                <a:spcPct val="60000"/>
              </a:spcAft>
            </a:pPr>
            <a:r>
              <a:rPr sz="2000" b="1"/>
              <a:t>Definition of Hashtable in Java:</a:t>
            </a:r>
            <a:endParaRPr sz="2000" b="1"/>
          </a:p>
          <a:p>
            <a:pPr>
              <a:spcAft>
                <a:spcPct val="60000"/>
              </a:spcAft>
            </a:pPr>
            <a:r>
              <a:rPr sz="1600"/>
              <a:t>Hashtable is a legacy class in Java that implements the Map interface and stores key-value pairs using hashing. It is synchronized, making it thread-safe for use in concurrent environments.</a:t>
            </a:r>
            <a:endParaRPr sz="1600"/>
          </a:p>
          <a:p>
            <a:pPr>
              <a:spcAft>
                <a:spcPct val="60000"/>
              </a:spcAft>
            </a:pPr>
            <a:r>
              <a:rPr sz="1600"/>
              <a:t>Thread-safe – All methods are synchronized; suitable for multi-threaded applications.</a:t>
            </a:r>
            <a:endParaRPr sz="1600"/>
          </a:p>
          <a:p>
            <a:pPr>
              <a:buAutoNum type="arabicPeriod"/>
            </a:pPr>
            <a:r>
              <a:rPr sz="1600"/>
              <a:t> Does not allow null – Neither null keys nor null values are permitted.</a:t>
            </a:r>
            <a:endParaRPr sz="1600"/>
          </a:p>
          <a:p>
            <a:pPr>
              <a:buAutoNum type="arabicPeriod"/>
            </a:pPr>
            <a:r>
              <a:rPr sz="1600"/>
              <a:t> Legacy class – Part of Java since version 1.0, before the modern Collections Framework.</a:t>
            </a:r>
            <a:endParaRPr sz="1600"/>
          </a:p>
          <a:p>
            <a:pPr>
              <a:buAutoNum type="arabicPeriod"/>
            </a:pPr>
            <a:r>
              <a:rPr sz="1600"/>
              <a:t> Based on hashing – Uses keys’ hash codes to store and retrieve values efficiently.</a:t>
            </a:r>
            <a:endParaRPr sz="1600"/>
          </a:p>
          <a:p>
            <a:pPr indent="0">
              <a:buNone/>
            </a:pPr>
            <a:endParaRPr sz="160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50190" y="-635"/>
            <a:ext cx="11843385" cy="296545"/>
          </a:xfrm>
        </p:spPr>
        <p:txBody>
          <a:bodyPr>
            <a:normAutofit fontScale="90000"/>
          </a:bodyPr>
          <a:p>
            <a:pPr algn="ctr"/>
            <a:r>
              <a:rPr lang="en-US" sz="2800" b="1">
                <a:solidFill>
                  <a:srgbClr val="FF0000"/>
                </a:solidFill>
              </a:rPr>
              <a:t>HashTable</a:t>
            </a:r>
            <a:endParaRPr lang="en-US" sz="2800" b="1">
              <a:solidFill>
                <a:srgbClr val="FF0000"/>
              </a:solidFill>
            </a:endParaRPr>
          </a:p>
        </p:txBody>
      </p:sp>
      <p:graphicFrame>
        <p:nvGraphicFramePr>
          <p:cNvPr id="4" name="Table 3"/>
          <p:cNvGraphicFramePr/>
          <p:nvPr>
            <p:custDataLst>
              <p:tags r:id="rId1"/>
            </p:custDataLst>
          </p:nvPr>
        </p:nvGraphicFramePr>
        <p:xfrm>
          <a:off x="-635" y="664210"/>
          <a:ext cx="12094845" cy="6065520"/>
        </p:xfrm>
        <a:graphic>
          <a:graphicData uri="http://schemas.openxmlformats.org/drawingml/2006/table">
            <a:tbl>
              <a:tblPr/>
              <a:tblGrid>
                <a:gridCol w="7282815"/>
                <a:gridCol w="4812030"/>
              </a:tblGrid>
              <a:tr h="304800">
                <a:tc>
                  <a:txBody>
                    <a:bodyPr/>
                    <a:p>
                      <a:pPr algn="ctr"/>
                      <a:r>
                        <a:rPr sz="2000" b="1">
                          <a:solidFill>
                            <a:srgbClr val="FF0000"/>
                          </a:solidFill>
                        </a:rPr>
                        <a:t>Method</a:t>
                      </a:r>
                      <a:endParaRPr sz="20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b="1">
                          <a:solidFill>
                            <a:srgbClr val="FF0000"/>
                          </a:solidFill>
                        </a:rPr>
                        <a:t>Description</a:t>
                      </a:r>
                      <a:endParaRPr sz="20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put(K key, V value)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Inserts or replaces a value for a key</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putAll(Map&lt;? extends K,? extends V&gt; 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Adds all entries from another map</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putIfAbsent(K key, V value)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Adds entry only if key is not already present</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get(Object key)</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Gets value for a key</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getOrDefault(Object key, V defaultValue)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Returns value or default if key not found</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remove(Object key)</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Removes entry for the key</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remove(Object key, Object value)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Removes key only if it maps to given value</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replace(K key, V value)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Replaces value for a key</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replace(K key, V oldValue, V newValue)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Replaces value only if old matches</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containsKey(Object key)</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Checks if key exists</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containsValue(Object value)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Checks if value exists</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size()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Number of entries</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clear()</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Removes all entries</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isEmpty()</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Checks if empty</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keySet()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Returns set of keys</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values()</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Returns collection of values</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entrySet()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Returns set of key-value pairs</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elements()</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Returns Enumeration of values</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keys()</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Returns Enumeration of keys</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clone()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Creates a shallow copy</a:t>
                      </a:r>
                      <a:endParaRPr sz="1800"/>
                    </a:p>
                  </a:txBody>
                  <a:tcPr marL="0" marR="0" marT="0" marB="0" anchor="ctr" anchorCtr="0">
                    <a:lnL>
                      <a:noFill/>
                    </a:lnL>
                    <a:lnR>
                      <a:noFill/>
                    </a:lnR>
                    <a:lnT>
                      <a:noFill/>
                    </a:lnT>
                    <a:lnB>
                      <a:noFill/>
                    </a:lnB>
                    <a:solidFill>
                      <a:schemeClr val="accent1">
                        <a:lumMod val="40000"/>
                        <a:lumOff val="60000"/>
                      </a:schemeClr>
                    </a:solidFill>
                  </a:tcPr>
                </a:tc>
              </a:tr>
              <a:tr h="274320">
                <a:tc>
                  <a:txBody>
                    <a:bodyPr/>
                    <a:p>
                      <a:r>
                        <a:rPr sz="1800"/>
                        <a:t>equals(Object o)</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Compares two hashtables</a:t>
                      </a:r>
                      <a:endParaRPr sz="18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sp>
        <p:nvSpPr>
          <p:cNvPr id="3" name="Text Box 2"/>
          <p:cNvSpPr txBox="1"/>
          <p:nvPr/>
        </p:nvSpPr>
        <p:spPr>
          <a:xfrm>
            <a:off x="0" y="295910"/>
            <a:ext cx="11816715" cy="337185"/>
          </a:xfrm>
          <a:prstGeom prst="rect">
            <a:avLst/>
          </a:prstGeom>
          <a:noFill/>
        </p:spPr>
        <p:txBody>
          <a:bodyPr wrap="square" rtlCol="0" anchor="t">
            <a:spAutoFit/>
          </a:bodyPr>
          <a:p>
            <a:pPr>
              <a:buAutoNum type="arabicPeriod"/>
            </a:pPr>
            <a:r>
              <a:rPr sz="1600">
                <a:sym typeface="+mn-ea"/>
              </a:rPr>
              <a:t> Slower than HashMap – Due to built-in synchronization, performance is lower in single-threaded use.</a:t>
            </a:r>
            <a:endParaRPr lang="en-US" sz="1600">
              <a:sym typeface="+mn-ea"/>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9700" y="0"/>
            <a:ext cx="11925300" cy="188595"/>
          </a:xfrm>
        </p:spPr>
        <p:txBody>
          <a:bodyPr>
            <a:normAutofit fontScale="90000"/>
          </a:bodyPr>
          <a:p>
            <a:pPr algn="ctr"/>
            <a:r>
              <a:rPr lang="en-US" sz="2800" b="1">
                <a:solidFill>
                  <a:srgbClr val="FF0000"/>
                </a:solidFill>
              </a:rPr>
              <a:t>Treeset</a:t>
            </a:r>
            <a:endParaRPr lang="en-US" sz="2800" b="1">
              <a:solidFill>
                <a:srgbClr val="FF0000"/>
              </a:solidFill>
            </a:endParaRPr>
          </a:p>
        </p:txBody>
      </p:sp>
      <p:sp>
        <p:nvSpPr>
          <p:cNvPr id="3" name="Content Placeholder 2"/>
          <p:cNvSpPr>
            <a:spLocks noGrp="1"/>
          </p:cNvSpPr>
          <p:nvPr>
            <p:ph idx="1"/>
          </p:nvPr>
        </p:nvSpPr>
        <p:spPr>
          <a:xfrm>
            <a:off x="635" y="188595"/>
            <a:ext cx="12064365" cy="6572885"/>
          </a:xfrm>
        </p:spPr>
        <p:txBody>
          <a:bodyPr/>
          <a:p>
            <a:r>
              <a:rPr lang="en-US" altLang="en-US" sz="1600"/>
              <a:t>1. TreeSet – Definition &amp; Theory</a:t>
            </a:r>
            <a:endParaRPr lang="en-US" altLang="en-US" sz="1600"/>
          </a:p>
          <a:p>
            <a:r>
              <a:rPr lang="en-US" altLang="en-US" sz="1600"/>
              <a:t>✅ Definition:  TreeSet is a class in Java that implements the NavigableSet interface and stores unique elements in sorted (ascending) order.</a:t>
            </a:r>
            <a:endParaRPr lang="en-US" altLang="en-US" sz="1600"/>
          </a:p>
          <a:p>
            <a:r>
              <a:rPr lang="en-US" altLang="en-US" sz="1600"/>
              <a:t> Key Points:       </a:t>
            </a:r>
            <a:endParaRPr lang="en-US" altLang="en-US" sz="1600"/>
          </a:p>
          <a:p>
            <a:r>
              <a:rPr lang="en-US" altLang="en-US" sz="1600"/>
              <a:t>Uses a Red-Black Tree (a self-balancing binary search tree).  No duplicates allowed.   Sorted automatically using natural order or a custom comparator.   Null not allowed (throws NullPointerException for null elements if not handled)</a:t>
            </a:r>
            <a:endParaRPr lang="en-US" altLang="en-US" sz="1600"/>
          </a:p>
          <a:p>
            <a:endParaRPr lang="en-US" altLang="en-US" sz="1600"/>
          </a:p>
          <a:p>
            <a:endParaRPr lang="en-US" altLang="en-US" sz="1600"/>
          </a:p>
        </p:txBody>
      </p:sp>
      <p:graphicFrame>
        <p:nvGraphicFramePr>
          <p:cNvPr id="4" name="Table 3"/>
          <p:cNvGraphicFramePr/>
          <p:nvPr>
            <p:custDataLst>
              <p:tags r:id="rId1"/>
            </p:custDataLst>
          </p:nvPr>
        </p:nvGraphicFramePr>
        <p:xfrm>
          <a:off x="139700" y="1736090"/>
          <a:ext cx="11816715" cy="4953635"/>
        </p:xfrm>
        <a:graphic>
          <a:graphicData uri="http://schemas.openxmlformats.org/drawingml/2006/table">
            <a:tbl>
              <a:tblPr/>
              <a:tblGrid>
                <a:gridCol w="4209415"/>
                <a:gridCol w="7607300"/>
              </a:tblGrid>
              <a:tr h="321310">
                <a:tc>
                  <a:txBody>
                    <a:bodyPr/>
                    <a:p>
                      <a:pPr algn="ctr"/>
                      <a:r>
                        <a:rPr sz="2000" b="1">
                          <a:solidFill>
                            <a:srgbClr val="FF0000"/>
                          </a:solidFill>
                        </a:rPr>
                        <a:t>Method</a:t>
                      </a:r>
                      <a:endParaRPr sz="2000" b="1">
                        <a:solidFill>
                          <a:srgbClr val="FF0000"/>
                        </a:solidFill>
                      </a:endParaRPr>
                    </a:p>
                  </a:txBody>
                  <a:tcPr marL="0" marR="0" marT="0" marB="0" anchor="ctr" anchorCtr="0">
                    <a:lnL>
                      <a:noFill/>
                    </a:lnL>
                    <a:lnR>
                      <a:noFill/>
                    </a:lnR>
                    <a:lnT>
                      <a:noFill/>
                    </a:lnT>
                    <a:lnB>
                      <a:noFill/>
                    </a:lnB>
                    <a:noFill/>
                  </a:tcPr>
                </a:tc>
                <a:tc>
                  <a:txBody>
                    <a:bodyPr/>
                    <a:p>
                      <a:pPr algn="ctr"/>
                      <a:r>
                        <a:rPr sz="2000" b="1">
                          <a:solidFill>
                            <a:srgbClr val="FF0000"/>
                          </a:solidFill>
                        </a:rPr>
                        <a:t>Description</a:t>
                      </a:r>
                      <a:endParaRPr sz="2000" b="1">
                        <a:solidFill>
                          <a:srgbClr val="FF0000"/>
                        </a:solidFill>
                      </a:endParaRPr>
                    </a:p>
                  </a:txBody>
                  <a:tcPr marL="0" marR="0" marT="0" marB="0" anchor="ctr" anchorCtr="0">
                    <a:lnL>
                      <a:noFill/>
                    </a:lnL>
                    <a:lnR>
                      <a:noFill/>
                    </a:lnR>
                    <a:lnT>
                      <a:noFill/>
                    </a:lnT>
                    <a:lnB>
                      <a:noFill/>
                    </a:lnB>
                    <a:noFill/>
                  </a:tcPr>
                </a:tc>
              </a:tr>
              <a:tr h="289560">
                <a:tc>
                  <a:txBody>
                    <a:bodyPr/>
                    <a:p>
                      <a:r>
                        <a:rPr sz="1800"/>
                        <a:t>add(E e)</a:t>
                      </a:r>
                      <a:endParaRPr sz="1800"/>
                    </a:p>
                  </a:txBody>
                  <a:tcPr marL="0" marR="0" marT="0" marB="0" anchor="ctr" anchorCtr="0">
                    <a:lnL>
                      <a:noFill/>
                    </a:lnL>
                    <a:lnR>
                      <a:noFill/>
                    </a:lnR>
                    <a:lnT>
                      <a:noFill/>
                    </a:lnT>
                    <a:lnB>
                      <a:noFill/>
                    </a:lnB>
                    <a:noFill/>
                  </a:tcPr>
                </a:tc>
                <a:tc>
                  <a:txBody>
                    <a:bodyPr/>
                    <a:p>
                      <a:r>
                        <a:rPr sz="1800"/>
                        <a:t>Adds an element in sorted order</a:t>
                      </a:r>
                      <a:endParaRPr sz="1800"/>
                    </a:p>
                  </a:txBody>
                  <a:tcPr marL="0" marR="0" marT="0" marB="0" anchor="ctr" anchorCtr="0">
                    <a:lnL>
                      <a:noFill/>
                    </a:lnL>
                    <a:lnR>
                      <a:noFill/>
                    </a:lnR>
                    <a:lnT>
                      <a:noFill/>
                    </a:lnT>
                    <a:lnB>
                      <a:noFill/>
                    </a:lnB>
                    <a:noFill/>
                  </a:tcPr>
                </a:tc>
              </a:tr>
              <a:tr h="289560">
                <a:tc>
                  <a:txBody>
                    <a:bodyPr/>
                    <a:p>
                      <a:r>
                        <a:rPr sz="1800"/>
                        <a:t>remove(Object o)</a:t>
                      </a:r>
                      <a:endParaRPr sz="1800"/>
                    </a:p>
                  </a:txBody>
                  <a:tcPr marL="0" marR="0" marT="0" marB="0" anchor="ctr" anchorCtr="0">
                    <a:lnL>
                      <a:noFill/>
                    </a:lnL>
                    <a:lnR>
                      <a:noFill/>
                    </a:lnR>
                    <a:lnT>
                      <a:noFill/>
                    </a:lnT>
                    <a:lnB>
                      <a:noFill/>
                    </a:lnB>
                    <a:noFill/>
                  </a:tcPr>
                </a:tc>
                <a:tc>
                  <a:txBody>
                    <a:bodyPr/>
                    <a:p>
                      <a:r>
                        <a:rPr sz="1800"/>
                        <a:t>Removes a specific element</a:t>
                      </a:r>
                      <a:endParaRPr sz="1800"/>
                    </a:p>
                  </a:txBody>
                  <a:tcPr marL="0" marR="0" marT="0" marB="0" anchor="ctr" anchorCtr="0">
                    <a:lnL>
                      <a:noFill/>
                    </a:lnL>
                    <a:lnR>
                      <a:noFill/>
                    </a:lnR>
                    <a:lnT>
                      <a:noFill/>
                    </a:lnT>
                    <a:lnB>
                      <a:noFill/>
                    </a:lnB>
                    <a:noFill/>
                  </a:tcPr>
                </a:tc>
              </a:tr>
              <a:tr h="289560">
                <a:tc>
                  <a:txBody>
                    <a:bodyPr/>
                    <a:p>
                      <a:r>
                        <a:rPr sz="1800"/>
                        <a:t>contains(Object o)</a:t>
                      </a:r>
                      <a:endParaRPr sz="1800"/>
                    </a:p>
                  </a:txBody>
                  <a:tcPr marL="0" marR="0" marT="0" marB="0" anchor="ctr" anchorCtr="0">
                    <a:lnL>
                      <a:noFill/>
                    </a:lnL>
                    <a:lnR>
                      <a:noFill/>
                    </a:lnR>
                    <a:lnT>
                      <a:noFill/>
                    </a:lnT>
                    <a:lnB>
                      <a:noFill/>
                    </a:lnB>
                    <a:noFill/>
                  </a:tcPr>
                </a:tc>
                <a:tc>
                  <a:txBody>
                    <a:bodyPr/>
                    <a:p>
                      <a:r>
                        <a:rPr sz="1800"/>
                        <a:t>Checks if element exists</a:t>
                      </a:r>
                      <a:endParaRPr sz="1800"/>
                    </a:p>
                  </a:txBody>
                  <a:tcPr marL="0" marR="0" marT="0" marB="0" anchor="ctr" anchorCtr="0">
                    <a:lnL>
                      <a:noFill/>
                    </a:lnL>
                    <a:lnR>
                      <a:noFill/>
                    </a:lnR>
                    <a:lnT>
                      <a:noFill/>
                    </a:lnT>
                    <a:lnB>
                      <a:noFill/>
                    </a:lnB>
                    <a:noFill/>
                  </a:tcPr>
                </a:tc>
              </a:tr>
              <a:tr h="289560">
                <a:tc>
                  <a:txBody>
                    <a:bodyPr/>
                    <a:p>
                      <a:r>
                        <a:rPr sz="1800"/>
                        <a:t>first()</a:t>
                      </a:r>
                      <a:endParaRPr sz="1800"/>
                    </a:p>
                  </a:txBody>
                  <a:tcPr marL="0" marR="0" marT="0" marB="0" anchor="ctr" anchorCtr="0">
                    <a:lnL>
                      <a:noFill/>
                    </a:lnL>
                    <a:lnR>
                      <a:noFill/>
                    </a:lnR>
                    <a:lnT>
                      <a:noFill/>
                    </a:lnT>
                    <a:lnB>
                      <a:noFill/>
                    </a:lnB>
                    <a:noFill/>
                  </a:tcPr>
                </a:tc>
                <a:tc>
                  <a:txBody>
                    <a:bodyPr/>
                    <a:p>
                      <a:r>
                        <a:rPr sz="1800"/>
                        <a:t>Returns the lowest element</a:t>
                      </a:r>
                      <a:endParaRPr sz="1800"/>
                    </a:p>
                  </a:txBody>
                  <a:tcPr marL="0" marR="0" marT="0" marB="0" anchor="ctr" anchorCtr="0">
                    <a:lnL>
                      <a:noFill/>
                    </a:lnL>
                    <a:lnR>
                      <a:noFill/>
                    </a:lnR>
                    <a:lnT>
                      <a:noFill/>
                    </a:lnT>
                    <a:lnB>
                      <a:noFill/>
                    </a:lnB>
                    <a:noFill/>
                  </a:tcPr>
                </a:tc>
              </a:tr>
              <a:tr h="289560">
                <a:tc>
                  <a:txBody>
                    <a:bodyPr/>
                    <a:p>
                      <a:r>
                        <a:rPr sz="1800"/>
                        <a:t>last()</a:t>
                      </a:r>
                      <a:endParaRPr sz="1800"/>
                    </a:p>
                  </a:txBody>
                  <a:tcPr marL="0" marR="0" marT="0" marB="0" anchor="ctr" anchorCtr="0">
                    <a:lnL>
                      <a:noFill/>
                    </a:lnL>
                    <a:lnR>
                      <a:noFill/>
                    </a:lnR>
                    <a:lnT>
                      <a:noFill/>
                    </a:lnT>
                    <a:lnB>
                      <a:noFill/>
                    </a:lnB>
                    <a:noFill/>
                  </a:tcPr>
                </a:tc>
                <a:tc>
                  <a:txBody>
                    <a:bodyPr/>
                    <a:p>
                      <a:r>
                        <a:rPr sz="1800"/>
                        <a:t>Returns the highest element</a:t>
                      </a:r>
                      <a:endParaRPr sz="1800"/>
                    </a:p>
                  </a:txBody>
                  <a:tcPr marL="0" marR="0" marT="0" marB="0" anchor="ctr" anchorCtr="0">
                    <a:lnL>
                      <a:noFill/>
                    </a:lnL>
                    <a:lnR>
                      <a:noFill/>
                    </a:lnR>
                    <a:lnT>
                      <a:noFill/>
                    </a:lnT>
                    <a:lnB>
                      <a:noFill/>
                    </a:lnB>
                    <a:noFill/>
                  </a:tcPr>
                </a:tc>
              </a:tr>
              <a:tr h="289560">
                <a:tc>
                  <a:txBody>
                    <a:bodyPr/>
                    <a:p>
                      <a:r>
                        <a:rPr lang="en-US" altLang="en-US" sz="1800"/>
                        <a:t>ceiling</a:t>
                      </a:r>
                      <a:r>
                        <a:rPr sz="1800"/>
                        <a:t>(E e)</a:t>
                      </a:r>
                      <a:endParaRPr sz="1800"/>
                    </a:p>
                  </a:txBody>
                  <a:tcPr marL="0" marR="0" marT="0" marB="0" anchor="ctr" anchorCtr="0">
                    <a:lnL>
                      <a:noFill/>
                    </a:lnL>
                    <a:lnR>
                      <a:noFill/>
                    </a:lnR>
                    <a:lnT>
                      <a:noFill/>
                    </a:lnT>
                    <a:lnB>
                      <a:noFill/>
                    </a:lnB>
                    <a:noFill/>
                  </a:tcPr>
                </a:tc>
                <a:tc>
                  <a:txBody>
                    <a:bodyPr/>
                    <a:p>
                      <a:r>
                        <a:rPr sz="1800"/>
                        <a:t>Least element ≥ e</a:t>
                      </a:r>
                      <a:endParaRPr sz="1800"/>
                    </a:p>
                  </a:txBody>
                  <a:tcPr marL="0" marR="0" marT="0" marB="0" anchor="ctr" anchorCtr="0">
                    <a:lnL>
                      <a:noFill/>
                    </a:lnL>
                    <a:lnR>
                      <a:noFill/>
                    </a:lnR>
                    <a:lnT>
                      <a:noFill/>
                    </a:lnT>
                    <a:lnB>
                      <a:noFill/>
                    </a:lnB>
                    <a:noFill/>
                  </a:tcPr>
                </a:tc>
              </a:tr>
              <a:tr h="289560">
                <a:tc>
                  <a:txBody>
                    <a:bodyPr/>
                    <a:p>
                      <a:r>
                        <a:rPr lang="en-US" altLang="en-US" sz="1800"/>
                        <a:t>floor</a:t>
                      </a:r>
                      <a:r>
                        <a:rPr sz="1800"/>
                        <a:t>(E e)</a:t>
                      </a:r>
                      <a:endParaRPr sz="1800"/>
                    </a:p>
                  </a:txBody>
                  <a:tcPr marL="0" marR="0" marT="0" marB="0" anchor="ctr" anchorCtr="0">
                    <a:lnL>
                      <a:noFill/>
                    </a:lnL>
                    <a:lnR>
                      <a:noFill/>
                    </a:lnR>
                    <a:lnT>
                      <a:noFill/>
                    </a:lnT>
                    <a:lnB>
                      <a:noFill/>
                    </a:lnB>
                    <a:noFill/>
                  </a:tcPr>
                </a:tc>
                <a:tc>
                  <a:txBody>
                    <a:bodyPr/>
                    <a:p>
                      <a:r>
                        <a:rPr sz="1800"/>
                        <a:t>Greatest element ≤ e</a:t>
                      </a:r>
                      <a:endParaRPr sz="1800"/>
                    </a:p>
                  </a:txBody>
                  <a:tcPr marL="0" marR="0" marT="0" marB="0" anchor="ctr" anchorCtr="0">
                    <a:lnL>
                      <a:noFill/>
                    </a:lnL>
                    <a:lnR>
                      <a:noFill/>
                    </a:lnR>
                    <a:lnT>
                      <a:noFill/>
                    </a:lnT>
                    <a:lnB>
                      <a:noFill/>
                    </a:lnB>
                    <a:noFill/>
                  </a:tcPr>
                </a:tc>
              </a:tr>
              <a:tr h="289560">
                <a:tc>
                  <a:txBody>
                    <a:bodyPr/>
                    <a:p>
                      <a:r>
                        <a:rPr sz="1800"/>
                        <a:t>higher(E e)</a:t>
                      </a:r>
                      <a:endParaRPr sz="1800"/>
                    </a:p>
                  </a:txBody>
                  <a:tcPr marL="0" marR="0" marT="0" marB="0" anchor="ctr" anchorCtr="0">
                    <a:lnL>
                      <a:noFill/>
                    </a:lnL>
                    <a:lnR>
                      <a:noFill/>
                    </a:lnR>
                    <a:lnT>
                      <a:noFill/>
                    </a:lnT>
                    <a:lnB>
                      <a:noFill/>
                    </a:lnB>
                    <a:noFill/>
                  </a:tcPr>
                </a:tc>
                <a:tc>
                  <a:txBody>
                    <a:bodyPr/>
                    <a:p>
                      <a:r>
                        <a:rPr sz="1800"/>
                        <a:t>Least element &gt; e</a:t>
                      </a:r>
                      <a:endParaRPr sz="1800"/>
                    </a:p>
                  </a:txBody>
                  <a:tcPr marL="0" marR="0" marT="0" marB="0" anchor="ctr" anchorCtr="0">
                    <a:lnL>
                      <a:noFill/>
                    </a:lnL>
                    <a:lnR>
                      <a:noFill/>
                    </a:lnR>
                    <a:lnT>
                      <a:noFill/>
                    </a:lnT>
                    <a:lnB>
                      <a:noFill/>
                    </a:lnB>
                    <a:noFill/>
                  </a:tcPr>
                </a:tc>
              </a:tr>
              <a:tr h="289560">
                <a:tc>
                  <a:txBody>
                    <a:bodyPr/>
                    <a:p>
                      <a:r>
                        <a:rPr sz="1800"/>
                        <a:t>lower(E e)</a:t>
                      </a:r>
                      <a:endParaRPr sz="1800"/>
                    </a:p>
                  </a:txBody>
                  <a:tcPr marL="0" marR="0" marT="0" marB="0" anchor="ctr" anchorCtr="0">
                    <a:lnL>
                      <a:noFill/>
                    </a:lnL>
                    <a:lnR>
                      <a:noFill/>
                    </a:lnR>
                    <a:lnT>
                      <a:noFill/>
                    </a:lnT>
                    <a:lnB>
                      <a:noFill/>
                    </a:lnB>
                    <a:noFill/>
                  </a:tcPr>
                </a:tc>
                <a:tc>
                  <a:txBody>
                    <a:bodyPr/>
                    <a:p>
                      <a:r>
                        <a:rPr sz="1800"/>
                        <a:t>Greatest element &lt; e</a:t>
                      </a:r>
                      <a:endParaRPr sz="1800"/>
                    </a:p>
                  </a:txBody>
                  <a:tcPr marL="0" marR="0" marT="0" marB="0" anchor="ctr" anchorCtr="0">
                    <a:lnL>
                      <a:noFill/>
                    </a:lnL>
                    <a:lnR>
                      <a:noFill/>
                    </a:lnR>
                    <a:lnT>
                      <a:noFill/>
                    </a:lnT>
                    <a:lnB>
                      <a:noFill/>
                    </a:lnB>
                    <a:noFill/>
                  </a:tcPr>
                </a:tc>
              </a:tr>
              <a:tr h="288925">
                <a:tc>
                  <a:txBody>
                    <a:bodyPr/>
                    <a:p>
                      <a:r>
                        <a:rPr lang="en-US" altLang="en-US" sz="1800"/>
                        <a:t>pollFirst()</a:t>
                      </a:r>
                      <a:endParaRPr lang="en-US" altLang="en-US" sz="1800"/>
                    </a:p>
                  </a:txBody>
                  <a:tcPr marL="0" marR="0" marT="0" marB="0" anchor="ctr" anchorCtr="0">
                    <a:lnL>
                      <a:noFill/>
                    </a:lnL>
                    <a:lnR>
                      <a:noFill/>
                    </a:lnR>
                    <a:lnT>
                      <a:noFill/>
                    </a:lnT>
                    <a:lnB>
                      <a:noFill/>
                    </a:lnB>
                    <a:noFill/>
                  </a:tcPr>
                </a:tc>
                <a:tc>
                  <a:txBody>
                    <a:bodyPr/>
                    <a:p>
                      <a:r>
                        <a:rPr sz="1800"/>
                        <a:t>Removes and returns first (lowest) element</a:t>
                      </a:r>
                      <a:endParaRPr sz="1800"/>
                    </a:p>
                  </a:txBody>
                  <a:tcPr marL="0" marR="0" marT="0" marB="0" anchor="ctr" anchorCtr="0">
                    <a:lnL>
                      <a:noFill/>
                    </a:lnL>
                    <a:lnR>
                      <a:noFill/>
                    </a:lnR>
                    <a:lnT>
                      <a:noFill/>
                    </a:lnT>
                    <a:lnB>
                      <a:noFill/>
                    </a:lnB>
                    <a:noFill/>
                  </a:tcPr>
                </a:tc>
              </a:tr>
              <a:tr h="289560">
                <a:tc>
                  <a:txBody>
                    <a:bodyPr/>
                    <a:p>
                      <a:r>
                        <a:rPr lang="en-US" altLang="en-US" sz="1800"/>
                        <a:t>pollLast()</a:t>
                      </a:r>
                      <a:endParaRPr lang="en-US" altLang="en-US" sz="1800"/>
                    </a:p>
                  </a:txBody>
                  <a:tcPr marL="0" marR="0" marT="0" marB="0" anchor="ctr" anchorCtr="0">
                    <a:lnL>
                      <a:noFill/>
                    </a:lnL>
                    <a:lnR>
                      <a:noFill/>
                    </a:lnR>
                    <a:lnT>
                      <a:noFill/>
                    </a:lnT>
                    <a:lnB>
                      <a:noFill/>
                    </a:lnB>
                    <a:noFill/>
                  </a:tcPr>
                </a:tc>
                <a:tc>
                  <a:txBody>
                    <a:bodyPr/>
                    <a:p>
                      <a:r>
                        <a:rPr sz="1800"/>
                        <a:t>Removes and returns last (highest) element</a:t>
                      </a:r>
                      <a:endParaRPr sz="1800"/>
                    </a:p>
                  </a:txBody>
                  <a:tcPr marL="0" marR="0" marT="0" marB="0" anchor="ctr" anchorCtr="0">
                    <a:lnL>
                      <a:noFill/>
                    </a:lnL>
                    <a:lnR>
                      <a:noFill/>
                    </a:lnR>
                    <a:lnT>
                      <a:noFill/>
                    </a:lnT>
                    <a:lnB>
                      <a:noFill/>
                    </a:lnB>
                    <a:noFill/>
                  </a:tcPr>
                </a:tc>
              </a:tr>
              <a:tr h="289560">
                <a:tc>
                  <a:txBody>
                    <a:bodyPr/>
                    <a:p>
                      <a:r>
                        <a:rPr sz="1800"/>
                        <a:t>isEmpty()</a:t>
                      </a:r>
                      <a:endParaRPr sz="1800"/>
                    </a:p>
                  </a:txBody>
                  <a:tcPr marL="0" marR="0" marT="0" marB="0" anchor="ctr" anchorCtr="0">
                    <a:lnL>
                      <a:noFill/>
                    </a:lnL>
                    <a:lnR>
                      <a:noFill/>
                    </a:lnR>
                    <a:lnT>
                      <a:noFill/>
                    </a:lnT>
                    <a:lnB>
                      <a:noFill/>
                    </a:lnB>
                    <a:noFill/>
                  </a:tcPr>
                </a:tc>
                <a:tc>
                  <a:txBody>
                    <a:bodyPr/>
                    <a:p>
                      <a:r>
                        <a:rPr sz="1800"/>
                        <a:t>Checks if set is empty</a:t>
                      </a:r>
                      <a:endParaRPr sz="1800"/>
                    </a:p>
                  </a:txBody>
                  <a:tcPr marL="0" marR="0" marT="0" marB="0" anchor="ctr" anchorCtr="0">
                    <a:lnL>
                      <a:noFill/>
                    </a:lnL>
                    <a:lnR>
                      <a:noFill/>
                    </a:lnR>
                    <a:lnT>
                      <a:noFill/>
                    </a:lnT>
                    <a:lnB>
                      <a:noFill/>
                    </a:lnB>
                    <a:noFill/>
                  </a:tcPr>
                </a:tc>
              </a:tr>
              <a:tr h="289560">
                <a:tc>
                  <a:txBody>
                    <a:bodyPr/>
                    <a:p>
                      <a:r>
                        <a:rPr sz="1800"/>
                        <a:t>size()</a:t>
                      </a:r>
                      <a:endParaRPr sz="1800"/>
                    </a:p>
                  </a:txBody>
                  <a:tcPr marL="0" marR="0" marT="0" marB="0" anchor="ctr" anchorCtr="0">
                    <a:lnL>
                      <a:noFill/>
                    </a:lnL>
                    <a:lnR>
                      <a:noFill/>
                    </a:lnR>
                    <a:lnT>
                      <a:noFill/>
                    </a:lnT>
                    <a:lnB>
                      <a:noFill/>
                    </a:lnB>
                    <a:noFill/>
                  </a:tcPr>
                </a:tc>
                <a:tc>
                  <a:txBody>
                    <a:bodyPr/>
                    <a:p>
                      <a:r>
                        <a:rPr sz="1800"/>
                        <a:t>Returns size</a:t>
                      </a:r>
                      <a:endParaRPr sz="1800"/>
                    </a:p>
                  </a:txBody>
                  <a:tcPr marL="0" marR="0" marT="0" marB="0" anchor="ctr" anchorCtr="0">
                    <a:lnL>
                      <a:noFill/>
                    </a:lnL>
                    <a:lnR>
                      <a:noFill/>
                    </a:lnR>
                    <a:lnT>
                      <a:noFill/>
                    </a:lnT>
                    <a:lnB>
                      <a:noFill/>
                    </a:lnB>
                    <a:noFill/>
                  </a:tcPr>
                </a:tc>
              </a:tr>
              <a:tr h="289560">
                <a:tc>
                  <a:txBody>
                    <a:bodyPr/>
                    <a:p>
                      <a:r>
                        <a:rPr sz="1800"/>
                        <a:t>clear()</a:t>
                      </a:r>
                      <a:endParaRPr sz="1800"/>
                    </a:p>
                  </a:txBody>
                  <a:tcPr marL="0" marR="0" marT="0" marB="0" anchor="ctr" anchorCtr="0">
                    <a:lnL>
                      <a:noFill/>
                    </a:lnL>
                    <a:lnR>
                      <a:noFill/>
                    </a:lnR>
                    <a:lnT>
                      <a:noFill/>
                    </a:lnT>
                    <a:lnB>
                      <a:noFill/>
                    </a:lnB>
                    <a:noFill/>
                  </a:tcPr>
                </a:tc>
                <a:tc>
                  <a:txBody>
                    <a:bodyPr/>
                    <a:p>
                      <a:r>
                        <a:rPr sz="1800"/>
                        <a:t>Removes all elements</a:t>
                      </a:r>
                      <a:endParaRPr sz="1800"/>
                    </a:p>
                  </a:txBody>
                  <a:tcPr marL="0" marR="0" marT="0" marB="0" anchor="ctr" anchorCtr="0">
                    <a:lnL>
                      <a:noFill/>
                    </a:lnL>
                    <a:lnR>
                      <a:noFill/>
                    </a:lnR>
                    <a:lnT>
                      <a:noFill/>
                    </a:lnT>
                    <a:lnB>
                      <a:noFill/>
                    </a:lnB>
                    <a:noFill/>
                  </a:tcPr>
                </a:tc>
              </a:tr>
              <a:tr h="289560">
                <a:tc>
                  <a:txBody>
                    <a:bodyPr/>
                    <a:p>
                      <a:r>
                        <a:rPr sz="1800"/>
                        <a:t>iterator()</a:t>
                      </a:r>
                      <a:endParaRPr sz="1800"/>
                    </a:p>
                  </a:txBody>
                  <a:tcPr marL="0" marR="0" marT="0" marB="0" anchor="ctr" anchorCtr="0">
                    <a:lnL>
                      <a:noFill/>
                    </a:lnL>
                    <a:lnR>
                      <a:noFill/>
                    </a:lnR>
                    <a:lnT>
                      <a:noFill/>
                    </a:lnT>
                    <a:lnB>
                      <a:noFill/>
                    </a:lnB>
                    <a:noFill/>
                  </a:tcPr>
                </a:tc>
                <a:tc>
                  <a:txBody>
                    <a:bodyPr/>
                    <a:p>
                      <a:r>
                        <a:rPr sz="1800"/>
                        <a:t>Returns iterator in ascending order</a:t>
                      </a:r>
                      <a:endParaRPr sz="1800"/>
                    </a:p>
                  </a:txBody>
                  <a:tcPr marL="0" marR="0" marT="0" marB="0" anchor="ctr" anchorCtr="0">
                    <a:lnL>
                      <a:noFill/>
                    </a:lnL>
                    <a:lnR>
                      <a:noFill/>
                    </a:lnR>
                    <a:lnT>
                      <a:noFill/>
                    </a:lnT>
                    <a:lnB>
                      <a:noFill/>
                    </a:lnB>
                    <a:noFill/>
                  </a:tcPr>
                </a:tc>
              </a:tr>
              <a:tr h="289560">
                <a:tc>
                  <a:txBody>
                    <a:bodyPr/>
                    <a:p>
                      <a:r>
                        <a:rPr lang="en-US" altLang="en-US" sz="1800"/>
                        <a:t>descendingIterator()</a:t>
                      </a:r>
                      <a:endParaRPr lang="en-US" altLang="en-US" sz="1800"/>
                    </a:p>
                  </a:txBody>
                  <a:tcPr marL="0" marR="0" marT="0" marB="0" anchor="ctr" anchorCtr="0">
                    <a:lnL>
                      <a:noFill/>
                    </a:lnL>
                    <a:lnR>
                      <a:noFill/>
                    </a:lnR>
                    <a:lnT>
                      <a:noFill/>
                    </a:lnT>
                    <a:lnB>
                      <a:noFill/>
                    </a:lnB>
                    <a:noFill/>
                  </a:tcPr>
                </a:tc>
                <a:tc>
                  <a:txBody>
                    <a:bodyPr/>
                    <a:p>
                      <a:r>
                        <a:rPr sz="1800"/>
                        <a:t>Returns iterator in descending order</a:t>
                      </a:r>
                      <a:endParaRPr sz="18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48615" y="0"/>
            <a:ext cx="11508105" cy="291465"/>
          </a:xfrm>
        </p:spPr>
        <p:txBody>
          <a:bodyPr>
            <a:normAutofit fontScale="90000"/>
          </a:bodyPr>
          <a:p>
            <a:pPr algn="ctr"/>
            <a:r>
              <a:rPr lang="en-US" sz="2800" b="1">
                <a:solidFill>
                  <a:srgbClr val="FF0000"/>
                </a:solidFill>
              </a:rPr>
              <a:t>TreeMap</a:t>
            </a:r>
            <a:endParaRPr lang="en-US" sz="2800" b="1">
              <a:solidFill>
                <a:srgbClr val="FF0000"/>
              </a:solidFill>
            </a:endParaRPr>
          </a:p>
        </p:txBody>
      </p:sp>
      <p:sp>
        <p:nvSpPr>
          <p:cNvPr id="3" name="Content Placeholder 2"/>
          <p:cNvSpPr>
            <a:spLocks noGrp="1"/>
          </p:cNvSpPr>
          <p:nvPr>
            <p:ph idx="1"/>
          </p:nvPr>
        </p:nvSpPr>
        <p:spPr>
          <a:xfrm>
            <a:off x="130810" y="291465"/>
            <a:ext cx="11930380" cy="6419850"/>
          </a:xfrm>
        </p:spPr>
        <p:txBody>
          <a:bodyPr>
            <a:normAutofit/>
          </a:bodyPr>
          <a:p>
            <a:r>
              <a:rPr lang="en-US" altLang="en-US" sz="1600"/>
              <a:t>Definition:</a:t>
            </a:r>
            <a:endParaRPr lang="en-US" altLang="en-US" sz="1600"/>
          </a:p>
          <a:p>
            <a:r>
              <a:rPr lang="en-US" altLang="en-US" sz="1600"/>
              <a:t>TreeMap is a class in Java that implements the NavigableMap interface and stores key-value pairs in sorted order of keys.</a:t>
            </a:r>
            <a:endParaRPr lang="en-US" altLang="en-US" sz="1600"/>
          </a:p>
          <a:p>
            <a:r>
              <a:rPr lang="en-US" altLang="en-US" sz="1600"/>
              <a:t> Key Points:      Uses a Red-Black Tree internally.     Keys are sorted naturally or using a comparator.  Null keys not allowed, but null values are allowed.   Ideal when you want to maintain sorted mappings.</a:t>
            </a:r>
            <a:endParaRPr lang="en-US" altLang="en-US" sz="1600"/>
          </a:p>
          <a:p>
            <a:endParaRPr lang="en-US" altLang="en-US" sz="1600"/>
          </a:p>
          <a:p>
            <a:endParaRPr lang="en-US" altLang="en-US" sz="1600"/>
          </a:p>
        </p:txBody>
      </p:sp>
      <p:graphicFrame>
        <p:nvGraphicFramePr>
          <p:cNvPr id="4" name="Table 3"/>
          <p:cNvGraphicFramePr/>
          <p:nvPr>
            <p:custDataLst>
              <p:tags r:id="rId1"/>
            </p:custDataLst>
          </p:nvPr>
        </p:nvGraphicFramePr>
        <p:xfrm>
          <a:off x="130810" y="1503680"/>
          <a:ext cx="11930380" cy="5309870"/>
        </p:xfrm>
        <a:graphic>
          <a:graphicData uri="http://schemas.openxmlformats.org/drawingml/2006/table">
            <a:tbl>
              <a:tblPr/>
              <a:tblGrid>
                <a:gridCol w="4455795"/>
                <a:gridCol w="7474585"/>
              </a:tblGrid>
              <a:tr h="308610">
                <a:tc>
                  <a:txBody>
                    <a:bodyPr/>
                    <a:p>
                      <a:pPr algn="ctr"/>
                      <a:r>
                        <a:rPr sz="2000" b="1">
                          <a:solidFill>
                            <a:srgbClr val="FF0000"/>
                          </a:solidFill>
                        </a:rPr>
                        <a:t>Method</a:t>
                      </a:r>
                      <a:endParaRPr sz="2000" b="1">
                        <a:solidFill>
                          <a:srgbClr val="FF0000"/>
                        </a:solidFill>
                      </a:endParaRPr>
                    </a:p>
                  </a:txBody>
                  <a:tcPr marL="0" marR="0" marT="0" marB="0" anchor="ctr" anchorCtr="0">
                    <a:lnL>
                      <a:noFill/>
                    </a:lnL>
                    <a:lnR>
                      <a:noFill/>
                    </a:lnR>
                    <a:lnT>
                      <a:noFill/>
                    </a:lnT>
                    <a:lnB>
                      <a:noFill/>
                    </a:lnB>
                    <a:noFill/>
                  </a:tcPr>
                </a:tc>
                <a:tc>
                  <a:txBody>
                    <a:bodyPr/>
                    <a:p>
                      <a:pPr algn="ctr"/>
                      <a:r>
                        <a:rPr sz="2000" b="1">
                          <a:solidFill>
                            <a:srgbClr val="FF0000"/>
                          </a:solidFill>
                        </a:rPr>
                        <a:t>Description</a:t>
                      </a:r>
                      <a:endParaRPr sz="2000" b="1">
                        <a:solidFill>
                          <a:srgbClr val="FF0000"/>
                        </a:solidFill>
                      </a:endParaRPr>
                    </a:p>
                  </a:txBody>
                  <a:tcPr marL="0" marR="0" marT="0" marB="0" anchor="ctr" anchorCtr="0">
                    <a:lnL>
                      <a:noFill/>
                    </a:lnL>
                    <a:lnR>
                      <a:noFill/>
                    </a:lnR>
                    <a:lnT>
                      <a:noFill/>
                    </a:lnT>
                    <a:lnB>
                      <a:noFill/>
                    </a:lnB>
                    <a:noFill/>
                  </a:tcPr>
                </a:tc>
              </a:tr>
              <a:tr h="278130">
                <a:tc>
                  <a:txBody>
                    <a:bodyPr/>
                    <a:p>
                      <a:r>
                        <a:rPr sz="1800"/>
                        <a:t>put(K key, V value)</a:t>
                      </a:r>
                      <a:endParaRPr sz="1800"/>
                    </a:p>
                  </a:txBody>
                  <a:tcPr marL="0" marR="0" marT="0" marB="0" anchor="ctr" anchorCtr="0">
                    <a:lnL>
                      <a:noFill/>
                    </a:lnL>
                    <a:lnR>
                      <a:noFill/>
                    </a:lnR>
                    <a:lnT>
                      <a:noFill/>
                    </a:lnT>
                    <a:lnB>
                      <a:noFill/>
                    </a:lnB>
                    <a:noFill/>
                  </a:tcPr>
                </a:tc>
                <a:tc>
                  <a:txBody>
                    <a:bodyPr/>
                    <a:p>
                      <a:r>
                        <a:rPr sz="1800"/>
                        <a:t>Inserts or updates a key-value pair</a:t>
                      </a:r>
                      <a:endParaRPr sz="1800"/>
                    </a:p>
                  </a:txBody>
                  <a:tcPr marL="0" marR="0" marT="0" marB="0" anchor="ctr" anchorCtr="0">
                    <a:lnL>
                      <a:noFill/>
                    </a:lnL>
                    <a:lnR>
                      <a:noFill/>
                    </a:lnR>
                    <a:lnT>
                      <a:noFill/>
                    </a:lnT>
                    <a:lnB>
                      <a:noFill/>
                    </a:lnB>
                    <a:noFill/>
                  </a:tcPr>
                </a:tc>
              </a:tr>
              <a:tr h="277495">
                <a:tc>
                  <a:txBody>
                    <a:bodyPr/>
                    <a:p>
                      <a:r>
                        <a:rPr sz="1800"/>
                        <a:t>get(Object key)</a:t>
                      </a:r>
                      <a:endParaRPr sz="1800"/>
                    </a:p>
                  </a:txBody>
                  <a:tcPr marL="0" marR="0" marT="0" marB="0" anchor="ctr" anchorCtr="0">
                    <a:lnL>
                      <a:noFill/>
                    </a:lnL>
                    <a:lnR>
                      <a:noFill/>
                    </a:lnR>
                    <a:lnT>
                      <a:noFill/>
                    </a:lnT>
                    <a:lnB>
                      <a:noFill/>
                    </a:lnB>
                    <a:noFill/>
                  </a:tcPr>
                </a:tc>
                <a:tc>
                  <a:txBody>
                    <a:bodyPr/>
                    <a:p>
                      <a:r>
                        <a:rPr sz="1800"/>
                        <a:t>Returns value for the key</a:t>
                      </a:r>
                      <a:endParaRPr sz="1800"/>
                    </a:p>
                  </a:txBody>
                  <a:tcPr marL="0" marR="0" marT="0" marB="0" anchor="ctr" anchorCtr="0">
                    <a:lnL>
                      <a:noFill/>
                    </a:lnL>
                    <a:lnR>
                      <a:noFill/>
                    </a:lnR>
                    <a:lnT>
                      <a:noFill/>
                    </a:lnT>
                    <a:lnB>
                      <a:noFill/>
                    </a:lnB>
                    <a:noFill/>
                  </a:tcPr>
                </a:tc>
              </a:tr>
              <a:tr h="278130">
                <a:tc>
                  <a:txBody>
                    <a:bodyPr/>
                    <a:p>
                      <a:r>
                        <a:rPr sz="1800"/>
                        <a:t>remove(Object key)</a:t>
                      </a:r>
                      <a:endParaRPr sz="1800"/>
                    </a:p>
                  </a:txBody>
                  <a:tcPr marL="0" marR="0" marT="0" marB="0" anchor="ctr" anchorCtr="0">
                    <a:lnL>
                      <a:noFill/>
                    </a:lnL>
                    <a:lnR>
                      <a:noFill/>
                    </a:lnR>
                    <a:lnT>
                      <a:noFill/>
                    </a:lnT>
                    <a:lnB>
                      <a:noFill/>
                    </a:lnB>
                    <a:noFill/>
                  </a:tcPr>
                </a:tc>
                <a:tc>
                  <a:txBody>
                    <a:bodyPr/>
                    <a:p>
                      <a:r>
                        <a:rPr sz="1800"/>
                        <a:t>Removes mapping for a key</a:t>
                      </a:r>
                      <a:endParaRPr sz="1800"/>
                    </a:p>
                  </a:txBody>
                  <a:tcPr marL="0" marR="0" marT="0" marB="0" anchor="ctr" anchorCtr="0">
                    <a:lnL>
                      <a:noFill/>
                    </a:lnL>
                    <a:lnR>
                      <a:noFill/>
                    </a:lnR>
                    <a:lnT>
                      <a:noFill/>
                    </a:lnT>
                    <a:lnB>
                      <a:noFill/>
                    </a:lnB>
                    <a:noFill/>
                  </a:tcPr>
                </a:tc>
              </a:tr>
              <a:tr h="277495">
                <a:tc>
                  <a:txBody>
                    <a:bodyPr/>
                    <a:p>
                      <a:r>
                        <a:rPr sz="1800"/>
                        <a:t>containsKey(Object key)</a:t>
                      </a:r>
                      <a:endParaRPr sz="1800"/>
                    </a:p>
                  </a:txBody>
                  <a:tcPr marL="0" marR="0" marT="0" marB="0" anchor="ctr" anchorCtr="0">
                    <a:lnL>
                      <a:noFill/>
                    </a:lnL>
                    <a:lnR>
                      <a:noFill/>
                    </a:lnR>
                    <a:lnT>
                      <a:noFill/>
                    </a:lnT>
                    <a:lnB>
                      <a:noFill/>
                    </a:lnB>
                    <a:noFill/>
                  </a:tcPr>
                </a:tc>
                <a:tc>
                  <a:txBody>
                    <a:bodyPr/>
                    <a:p>
                      <a:r>
                        <a:rPr sz="1800"/>
                        <a:t>Checks if key exists</a:t>
                      </a:r>
                      <a:endParaRPr sz="1800"/>
                    </a:p>
                  </a:txBody>
                  <a:tcPr marL="0" marR="0" marT="0" marB="0" anchor="ctr" anchorCtr="0">
                    <a:lnL>
                      <a:noFill/>
                    </a:lnL>
                    <a:lnR>
                      <a:noFill/>
                    </a:lnR>
                    <a:lnT>
                      <a:noFill/>
                    </a:lnT>
                    <a:lnB>
                      <a:noFill/>
                    </a:lnB>
                    <a:noFill/>
                  </a:tcPr>
                </a:tc>
              </a:tr>
              <a:tr h="278130">
                <a:tc>
                  <a:txBody>
                    <a:bodyPr/>
                    <a:p>
                      <a:r>
                        <a:rPr sz="1800"/>
                        <a:t>containsValue(Object value)</a:t>
                      </a:r>
                      <a:endParaRPr sz="1800"/>
                    </a:p>
                  </a:txBody>
                  <a:tcPr marL="0" marR="0" marT="0" marB="0" anchor="ctr" anchorCtr="0">
                    <a:lnL>
                      <a:noFill/>
                    </a:lnL>
                    <a:lnR>
                      <a:noFill/>
                    </a:lnR>
                    <a:lnT>
                      <a:noFill/>
                    </a:lnT>
                    <a:lnB>
                      <a:noFill/>
                    </a:lnB>
                    <a:noFill/>
                  </a:tcPr>
                </a:tc>
                <a:tc>
                  <a:txBody>
                    <a:bodyPr/>
                    <a:p>
                      <a:r>
                        <a:rPr sz="1800"/>
                        <a:t>Checks if value exists</a:t>
                      </a:r>
                      <a:endParaRPr sz="1800"/>
                    </a:p>
                  </a:txBody>
                  <a:tcPr marL="0" marR="0" marT="0" marB="0" anchor="ctr" anchorCtr="0">
                    <a:lnL>
                      <a:noFill/>
                    </a:lnL>
                    <a:lnR>
                      <a:noFill/>
                    </a:lnR>
                    <a:lnT>
                      <a:noFill/>
                    </a:lnT>
                    <a:lnB>
                      <a:noFill/>
                    </a:lnB>
                    <a:noFill/>
                  </a:tcPr>
                </a:tc>
              </a:tr>
              <a:tr h="277495">
                <a:tc>
                  <a:txBody>
                    <a:bodyPr/>
                    <a:p>
                      <a:r>
                        <a:rPr sz="1800"/>
                        <a:t>firstKey()</a:t>
                      </a:r>
                      <a:endParaRPr sz="1800"/>
                    </a:p>
                  </a:txBody>
                  <a:tcPr marL="0" marR="0" marT="0" marB="0" anchor="ctr" anchorCtr="0">
                    <a:lnL>
                      <a:noFill/>
                    </a:lnL>
                    <a:lnR>
                      <a:noFill/>
                    </a:lnR>
                    <a:lnT>
                      <a:noFill/>
                    </a:lnT>
                    <a:lnB>
                      <a:noFill/>
                    </a:lnB>
                    <a:noFill/>
                  </a:tcPr>
                </a:tc>
                <a:tc>
                  <a:txBody>
                    <a:bodyPr/>
                    <a:p>
                      <a:r>
                        <a:rPr sz="1800"/>
                        <a:t>Returns the lowest key</a:t>
                      </a:r>
                      <a:endParaRPr sz="1800"/>
                    </a:p>
                  </a:txBody>
                  <a:tcPr marL="0" marR="0" marT="0" marB="0" anchor="ctr" anchorCtr="0">
                    <a:lnL>
                      <a:noFill/>
                    </a:lnL>
                    <a:lnR>
                      <a:noFill/>
                    </a:lnR>
                    <a:lnT>
                      <a:noFill/>
                    </a:lnT>
                    <a:lnB>
                      <a:noFill/>
                    </a:lnB>
                    <a:noFill/>
                  </a:tcPr>
                </a:tc>
              </a:tr>
              <a:tr h="278130">
                <a:tc>
                  <a:txBody>
                    <a:bodyPr/>
                    <a:p>
                      <a:r>
                        <a:rPr sz="1800"/>
                        <a:t>lastKey()</a:t>
                      </a:r>
                      <a:endParaRPr sz="1800"/>
                    </a:p>
                  </a:txBody>
                  <a:tcPr marL="0" marR="0" marT="0" marB="0" anchor="ctr" anchorCtr="0">
                    <a:lnL>
                      <a:noFill/>
                    </a:lnL>
                    <a:lnR>
                      <a:noFill/>
                    </a:lnR>
                    <a:lnT>
                      <a:noFill/>
                    </a:lnT>
                    <a:lnB>
                      <a:noFill/>
                    </a:lnB>
                    <a:noFill/>
                  </a:tcPr>
                </a:tc>
                <a:tc>
                  <a:txBody>
                    <a:bodyPr/>
                    <a:p>
                      <a:r>
                        <a:rPr sz="1800"/>
                        <a:t>Returns the highest key</a:t>
                      </a:r>
                      <a:endParaRPr sz="1800"/>
                    </a:p>
                  </a:txBody>
                  <a:tcPr marL="0" marR="0" marT="0" marB="0" anchor="ctr" anchorCtr="0">
                    <a:lnL>
                      <a:noFill/>
                    </a:lnL>
                    <a:lnR>
                      <a:noFill/>
                    </a:lnR>
                    <a:lnT>
                      <a:noFill/>
                    </a:lnT>
                    <a:lnB>
                      <a:noFill/>
                    </a:lnB>
                    <a:noFill/>
                  </a:tcPr>
                </a:tc>
              </a:tr>
              <a:tr h="278130">
                <a:tc>
                  <a:txBody>
                    <a:bodyPr/>
                    <a:p>
                      <a:r>
                        <a:rPr sz="1800"/>
                        <a:t>higherKey(K key)</a:t>
                      </a:r>
                      <a:endParaRPr sz="1800"/>
                    </a:p>
                  </a:txBody>
                  <a:tcPr marL="0" marR="0" marT="0" marB="0" anchor="ctr" anchorCtr="0">
                    <a:lnL>
                      <a:noFill/>
                    </a:lnL>
                    <a:lnR>
                      <a:noFill/>
                    </a:lnR>
                    <a:lnT>
                      <a:noFill/>
                    </a:lnT>
                    <a:lnB>
                      <a:noFill/>
                    </a:lnB>
                    <a:noFill/>
                  </a:tcPr>
                </a:tc>
                <a:tc>
                  <a:txBody>
                    <a:bodyPr/>
                    <a:p>
                      <a:r>
                        <a:rPr sz="1800"/>
                        <a:t>Least key &gt; given key</a:t>
                      </a:r>
                      <a:endParaRPr sz="1800"/>
                    </a:p>
                  </a:txBody>
                  <a:tcPr marL="0" marR="0" marT="0" marB="0" anchor="ctr" anchorCtr="0">
                    <a:lnL>
                      <a:noFill/>
                    </a:lnL>
                    <a:lnR>
                      <a:noFill/>
                    </a:lnR>
                    <a:lnT>
                      <a:noFill/>
                    </a:lnT>
                    <a:lnB>
                      <a:noFill/>
                    </a:lnB>
                    <a:noFill/>
                  </a:tcPr>
                </a:tc>
              </a:tr>
              <a:tr h="277495">
                <a:tc>
                  <a:txBody>
                    <a:bodyPr/>
                    <a:p>
                      <a:r>
                        <a:rPr sz="1800"/>
                        <a:t>lowerKey(K key)</a:t>
                      </a:r>
                      <a:endParaRPr sz="1800"/>
                    </a:p>
                  </a:txBody>
                  <a:tcPr marL="0" marR="0" marT="0" marB="0" anchor="ctr" anchorCtr="0">
                    <a:lnL>
                      <a:noFill/>
                    </a:lnL>
                    <a:lnR>
                      <a:noFill/>
                    </a:lnR>
                    <a:lnT>
                      <a:noFill/>
                    </a:lnT>
                    <a:lnB>
                      <a:noFill/>
                    </a:lnB>
                    <a:noFill/>
                  </a:tcPr>
                </a:tc>
                <a:tc>
                  <a:txBody>
                    <a:bodyPr/>
                    <a:p>
                      <a:r>
                        <a:rPr sz="1800"/>
                        <a:t>Greatest key &lt; given key</a:t>
                      </a:r>
                      <a:endParaRPr sz="1800"/>
                    </a:p>
                  </a:txBody>
                  <a:tcPr marL="0" marR="0" marT="0" marB="0" anchor="ctr" anchorCtr="0">
                    <a:lnL>
                      <a:noFill/>
                    </a:lnL>
                    <a:lnR>
                      <a:noFill/>
                    </a:lnR>
                    <a:lnT>
                      <a:noFill/>
                    </a:lnT>
                    <a:lnB>
                      <a:noFill/>
                    </a:lnB>
                    <a:noFill/>
                  </a:tcPr>
                </a:tc>
              </a:tr>
              <a:tr h="278130">
                <a:tc>
                  <a:txBody>
                    <a:bodyPr/>
                    <a:p>
                      <a:r>
                        <a:rPr sz="1800"/>
                        <a:t>ceilingKey(K key)</a:t>
                      </a:r>
                      <a:endParaRPr sz="1800"/>
                    </a:p>
                  </a:txBody>
                  <a:tcPr marL="0" marR="0" marT="0" marB="0" anchor="ctr" anchorCtr="0">
                    <a:lnL>
                      <a:noFill/>
                    </a:lnL>
                    <a:lnR>
                      <a:noFill/>
                    </a:lnR>
                    <a:lnT>
                      <a:noFill/>
                    </a:lnT>
                    <a:lnB>
                      <a:noFill/>
                    </a:lnB>
                    <a:noFill/>
                  </a:tcPr>
                </a:tc>
                <a:tc>
                  <a:txBody>
                    <a:bodyPr/>
                    <a:p>
                      <a:r>
                        <a:rPr sz="1800"/>
                        <a:t>Least key ≥ given key</a:t>
                      </a:r>
                      <a:endParaRPr sz="1800"/>
                    </a:p>
                  </a:txBody>
                  <a:tcPr marL="0" marR="0" marT="0" marB="0" anchor="ctr" anchorCtr="0">
                    <a:lnL>
                      <a:noFill/>
                    </a:lnL>
                    <a:lnR>
                      <a:noFill/>
                    </a:lnR>
                    <a:lnT>
                      <a:noFill/>
                    </a:lnT>
                    <a:lnB>
                      <a:noFill/>
                    </a:lnB>
                    <a:noFill/>
                  </a:tcPr>
                </a:tc>
              </a:tr>
              <a:tr h="277495">
                <a:tc>
                  <a:txBody>
                    <a:bodyPr/>
                    <a:p>
                      <a:r>
                        <a:rPr sz="1800"/>
                        <a:t>floorKey(K key)</a:t>
                      </a:r>
                      <a:endParaRPr sz="1800"/>
                    </a:p>
                  </a:txBody>
                  <a:tcPr marL="0" marR="0" marT="0" marB="0" anchor="ctr" anchorCtr="0">
                    <a:lnL>
                      <a:noFill/>
                    </a:lnL>
                    <a:lnR>
                      <a:noFill/>
                    </a:lnR>
                    <a:lnT>
                      <a:noFill/>
                    </a:lnT>
                    <a:lnB>
                      <a:noFill/>
                    </a:lnB>
                    <a:noFill/>
                  </a:tcPr>
                </a:tc>
                <a:tc>
                  <a:txBody>
                    <a:bodyPr/>
                    <a:p>
                      <a:r>
                        <a:rPr sz="1800"/>
                        <a:t>Greatest key ≤ given key</a:t>
                      </a:r>
                      <a:endParaRPr sz="1800"/>
                    </a:p>
                  </a:txBody>
                  <a:tcPr marL="0" marR="0" marT="0" marB="0" anchor="ctr" anchorCtr="0">
                    <a:lnL>
                      <a:noFill/>
                    </a:lnL>
                    <a:lnR>
                      <a:noFill/>
                    </a:lnR>
                    <a:lnT>
                      <a:noFill/>
                    </a:lnT>
                    <a:lnB>
                      <a:noFill/>
                    </a:lnB>
                    <a:noFill/>
                  </a:tcPr>
                </a:tc>
              </a:tr>
              <a:tr h="278130">
                <a:tc>
                  <a:txBody>
                    <a:bodyPr/>
                    <a:p>
                      <a:r>
                        <a:rPr sz="1800"/>
                        <a:t>pollFirstEntry()</a:t>
                      </a:r>
                      <a:endParaRPr sz="1800"/>
                    </a:p>
                  </a:txBody>
                  <a:tcPr marL="0" marR="0" marT="0" marB="0" anchor="ctr" anchorCtr="0">
                    <a:lnL>
                      <a:noFill/>
                    </a:lnL>
                    <a:lnR>
                      <a:noFill/>
                    </a:lnR>
                    <a:lnT>
                      <a:noFill/>
                    </a:lnT>
                    <a:lnB>
                      <a:noFill/>
                    </a:lnB>
                    <a:noFill/>
                  </a:tcPr>
                </a:tc>
                <a:tc>
                  <a:txBody>
                    <a:bodyPr/>
                    <a:p>
                      <a:r>
                        <a:rPr sz="1800"/>
                        <a:t>Removes and returns first key-value</a:t>
                      </a:r>
                      <a:endParaRPr sz="1800"/>
                    </a:p>
                  </a:txBody>
                  <a:tcPr marL="0" marR="0" marT="0" marB="0" anchor="ctr" anchorCtr="0">
                    <a:lnL>
                      <a:noFill/>
                    </a:lnL>
                    <a:lnR>
                      <a:noFill/>
                    </a:lnR>
                    <a:lnT>
                      <a:noFill/>
                    </a:lnT>
                    <a:lnB>
                      <a:noFill/>
                    </a:lnB>
                    <a:noFill/>
                  </a:tcPr>
                </a:tc>
              </a:tr>
              <a:tr h="277495">
                <a:tc>
                  <a:txBody>
                    <a:bodyPr/>
                    <a:p>
                      <a:r>
                        <a:rPr sz="1800"/>
                        <a:t>pollLastEntry()</a:t>
                      </a:r>
                      <a:endParaRPr sz="1800"/>
                    </a:p>
                  </a:txBody>
                  <a:tcPr marL="0" marR="0" marT="0" marB="0" anchor="ctr" anchorCtr="0">
                    <a:lnL>
                      <a:noFill/>
                    </a:lnL>
                    <a:lnR>
                      <a:noFill/>
                    </a:lnR>
                    <a:lnT>
                      <a:noFill/>
                    </a:lnT>
                    <a:lnB>
                      <a:noFill/>
                    </a:lnB>
                    <a:noFill/>
                  </a:tcPr>
                </a:tc>
                <a:tc>
                  <a:txBody>
                    <a:bodyPr/>
                    <a:p>
                      <a:r>
                        <a:rPr sz="1800"/>
                        <a:t>Removes and returns last key-value</a:t>
                      </a:r>
                      <a:endParaRPr sz="1800"/>
                    </a:p>
                  </a:txBody>
                  <a:tcPr marL="0" marR="0" marT="0" marB="0" anchor="ctr" anchorCtr="0">
                    <a:lnL>
                      <a:noFill/>
                    </a:lnL>
                    <a:lnR>
                      <a:noFill/>
                    </a:lnR>
                    <a:lnT>
                      <a:noFill/>
                    </a:lnT>
                    <a:lnB>
                      <a:noFill/>
                    </a:lnB>
                    <a:noFill/>
                  </a:tcPr>
                </a:tc>
              </a:tr>
              <a:tr h="278130">
                <a:tc>
                  <a:txBody>
                    <a:bodyPr/>
                    <a:p>
                      <a:r>
                        <a:rPr sz="1800"/>
                        <a:t>keySet()</a:t>
                      </a:r>
                      <a:endParaRPr sz="1800"/>
                    </a:p>
                  </a:txBody>
                  <a:tcPr marL="0" marR="0" marT="0" marB="0" anchor="ctr" anchorCtr="0">
                    <a:lnL>
                      <a:noFill/>
                    </a:lnL>
                    <a:lnR>
                      <a:noFill/>
                    </a:lnR>
                    <a:lnT>
                      <a:noFill/>
                    </a:lnT>
                    <a:lnB>
                      <a:noFill/>
                    </a:lnB>
                    <a:noFill/>
                  </a:tcPr>
                </a:tc>
                <a:tc>
                  <a:txBody>
                    <a:bodyPr/>
                    <a:p>
                      <a:r>
                        <a:rPr sz="1800"/>
                        <a:t>Returns keys in sorted order</a:t>
                      </a:r>
                      <a:endParaRPr sz="1800"/>
                    </a:p>
                  </a:txBody>
                  <a:tcPr marL="0" marR="0" marT="0" marB="0" anchor="ctr" anchorCtr="0">
                    <a:lnL>
                      <a:noFill/>
                    </a:lnL>
                    <a:lnR>
                      <a:noFill/>
                    </a:lnR>
                    <a:lnT>
                      <a:noFill/>
                    </a:lnT>
                    <a:lnB>
                      <a:noFill/>
                    </a:lnB>
                    <a:noFill/>
                  </a:tcPr>
                </a:tc>
              </a:tr>
              <a:tr h="277495">
                <a:tc>
                  <a:txBody>
                    <a:bodyPr/>
                    <a:p>
                      <a:r>
                        <a:rPr sz="1800"/>
                        <a:t>values()</a:t>
                      </a:r>
                      <a:endParaRPr sz="1800"/>
                    </a:p>
                  </a:txBody>
                  <a:tcPr marL="0" marR="0" marT="0" marB="0" anchor="ctr" anchorCtr="0">
                    <a:lnL>
                      <a:noFill/>
                    </a:lnL>
                    <a:lnR>
                      <a:noFill/>
                    </a:lnR>
                    <a:lnT>
                      <a:noFill/>
                    </a:lnT>
                    <a:lnB>
                      <a:noFill/>
                    </a:lnB>
                    <a:noFill/>
                  </a:tcPr>
                </a:tc>
                <a:tc>
                  <a:txBody>
                    <a:bodyPr/>
                    <a:p>
                      <a:r>
                        <a:rPr sz="1800"/>
                        <a:t>Returns collection of values</a:t>
                      </a:r>
                      <a:endParaRPr sz="1800"/>
                    </a:p>
                  </a:txBody>
                  <a:tcPr marL="0" marR="0" marT="0" marB="0" anchor="ctr" anchorCtr="0">
                    <a:lnL>
                      <a:noFill/>
                    </a:lnL>
                    <a:lnR>
                      <a:noFill/>
                    </a:lnR>
                    <a:lnT>
                      <a:noFill/>
                    </a:lnT>
                    <a:lnB>
                      <a:noFill/>
                    </a:lnB>
                    <a:noFill/>
                  </a:tcPr>
                </a:tc>
              </a:tr>
              <a:tr h="278130">
                <a:tc>
                  <a:txBody>
                    <a:bodyPr/>
                    <a:p>
                      <a:r>
                        <a:rPr sz="1800"/>
                        <a:t>entrySet()</a:t>
                      </a:r>
                      <a:endParaRPr sz="1800"/>
                    </a:p>
                  </a:txBody>
                  <a:tcPr marL="0" marR="0" marT="0" marB="0" anchor="ctr" anchorCtr="0">
                    <a:lnL>
                      <a:noFill/>
                    </a:lnL>
                    <a:lnR>
                      <a:noFill/>
                    </a:lnR>
                    <a:lnT>
                      <a:noFill/>
                    </a:lnT>
                    <a:lnB>
                      <a:noFill/>
                    </a:lnB>
                    <a:noFill/>
                  </a:tcPr>
                </a:tc>
                <a:tc>
                  <a:txBody>
                    <a:bodyPr/>
                    <a:p>
                      <a:r>
                        <a:rPr sz="1800"/>
                        <a:t>Returns set of key-value mappings</a:t>
                      </a:r>
                      <a:endParaRPr sz="1800"/>
                    </a:p>
                  </a:txBody>
                  <a:tcPr marL="0" marR="0" marT="0" marB="0" anchor="ctr" anchorCtr="0">
                    <a:lnL>
                      <a:noFill/>
                    </a:lnL>
                    <a:lnR>
                      <a:noFill/>
                    </a:lnR>
                    <a:lnT>
                      <a:noFill/>
                    </a:lnT>
                    <a:lnB>
                      <a:noFill/>
                    </a:lnB>
                    <a:noFill/>
                  </a:tcPr>
                </a:tc>
              </a:tr>
              <a:tr h="277495">
                <a:tc>
                  <a:txBody>
                    <a:bodyPr/>
                    <a:p>
                      <a:r>
                        <a:rPr sz="1800"/>
                        <a:t>clear()</a:t>
                      </a:r>
                      <a:endParaRPr sz="1800"/>
                    </a:p>
                  </a:txBody>
                  <a:tcPr marL="0" marR="0" marT="0" marB="0" anchor="ctr" anchorCtr="0">
                    <a:lnL>
                      <a:noFill/>
                    </a:lnL>
                    <a:lnR>
                      <a:noFill/>
                    </a:lnR>
                    <a:lnT>
                      <a:noFill/>
                    </a:lnT>
                    <a:lnB>
                      <a:noFill/>
                    </a:lnB>
                    <a:noFill/>
                  </a:tcPr>
                </a:tc>
                <a:tc>
                  <a:txBody>
                    <a:bodyPr/>
                    <a:p>
                      <a:r>
                        <a:rPr sz="1800"/>
                        <a:t>Clears all mappings</a:t>
                      </a:r>
                      <a:endParaRPr sz="1800"/>
                    </a:p>
                  </a:txBody>
                  <a:tcPr marL="0" marR="0" marT="0" marB="0" anchor="ctr" anchorCtr="0">
                    <a:lnL>
                      <a:noFill/>
                    </a:lnL>
                    <a:lnR>
                      <a:noFill/>
                    </a:lnR>
                    <a:lnT>
                      <a:noFill/>
                    </a:lnT>
                    <a:lnB>
                      <a:noFill/>
                    </a:lnB>
                    <a:noFill/>
                  </a:tcPr>
                </a:tc>
              </a:tr>
              <a:tr h="278130">
                <a:tc>
                  <a:txBody>
                    <a:bodyPr/>
                    <a:p>
                      <a:r>
                        <a:rPr sz="1800"/>
                        <a:t>size()</a:t>
                      </a:r>
                      <a:endParaRPr sz="1800"/>
                    </a:p>
                  </a:txBody>
                  <a:tcPr marL="0" marR="0" marT="0" marB="0" anchor="ctr" anchorCtr="0">
                    <a:lnL>
                      <a:noFill/>
                    </a:lnL>
                    <a:lnR>
                      <a:noFill/>
                    </a:lnR>
                    <a:lnT>
                      <a:noFill/>
                    </a:lnT>
                    <a:lnB>
                      <a:noFill/>
                    </a:lnB>
                    <a:noFill/>
                  </a:tcPr>
                </a:tc>
                <a:tc>
                  <a:txBody>
                    <a:bodyPr/>
                    <a:p>
                      <a:r>
                        <a:rPr sz="1800"/>
                        <a:t>Number of entries</a:t>
                      </a:r>
                      <a:endParaRPr sz="18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487680"/>
          </a:xfrm>
        </p:spPr>
        <p:txBody>
          <a:bodyPr>
            <a:normAutofit fontScale="90000"/>
          </a:bodyPr>
          <a:p>
            <a:pPr algn="ctr"/>
            <a:r>
              <a:rPr lang="en-US" sz="2800" b="1">
                <a:solidFill>
                  <a:srgbClr val="FF0000"/>
                </a:solidFill>
              </a:rPr>
              <a:t>List Collection</a:t>
            </a:r>
            <a:endParaRPr lang="en-US" sz="2800" b="1">
              <a:solidFill>
                <a:srgbClr val="FF0000"/>
              </a:solidFill>
            </a:endParaRPr>
          </a:p>
        </p:txBody>
      </p:sp>
      <p:sp>
        <p:nvSpPr>
          <p:cNvPr id="3" name="Content Placeholder 2"/>
          <p:cNvSpPr>
            <a:spLocks noGrp="1"/>
          </p:cNvSpPr>
          <p:nvPr>
            <p:ph idx="1"/>
          </p:nvPr>
        </p:nvSpPr>
        <p:spPr/>
        <p:txBody>
          <a:bodyPr/>
          <a:p>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51790"/>
          </a:xfrm>
        </p:spPr>
        <p:txBody>
          <a:bodyPr>
            <a:normAutofit fontScale="90000"/>
          </a:bodyPr>
          <a:p>
            <a:pPr algn="ctr"/>
            <a:r>
              <a:rPr lang="en-US" sz="2400" b="1">
                <a:solidFill>
                  <a:srgbClr val="FF0000"/>
                </a:solidFill>
              </a:rPr>
              <a:t>Collection Differences</a:t>
            </a:r>
            <a:endParaRPr lang="en-US" sz="2400" b="1">
              <a:solidFill>
                <a:srgbClr val="FF0000"/>
              </a:solidFill>
            </a:endParaRPr>
          </a:p>
        </p:txBody>
      </p:sp>
      <p:graphicFrame>
        <p:nvGraphicFramePr>
          <p:cNvPr id="4" name="Table 3"/>
          <p:cNvGraphicFramePr/>
          <p:nvPr>
            <p:custDataLst>
              <p:tags r:id="rId1"/>
            </p:custDataLst>
          </p:nvPr>
        </p:nvGraphicFramePr>
        <p:xfrm>
          <a:off x="224155" y="516890"/>
          <a:ext cx="5871210" cy="3371215"/>
        </p:xfrm>
        <a:graphic>
          <a:graphicData uri="http://schemas.openxmlformats.org/drawingml/2006/table">
            <a:tbl>
              <a:tblPr/>
              <a:tblGrid>
                <a:gridCol w="1614805"/>
                <a:gridCol w="1902460"/>
                <a:gridCol w="2353945"/>
              </a:tblGrid>
              <a:tr h="463550">
                <a:tc>
                  <a:txBody>
                    <a:bodyPr/>
                    <a:p>
                      <a:pPr algn="ctr"/>
                      <a:r>
                        <a:rPr sz="2000" b="1">
                          <a:solidFill>
                            <a:srgbClr val="FF0000"/>
                          </a:solidFill>
                        </a:rPr>
                        <a:t>Feature</a:t>
                      </a:r>
                      <a:endParaRPr sz="20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pPr algn="ctr"/>
                      <a:r>
                        <a:rPr sz="2000" b="1">
                          <a:solidFill>
                            <a:srgbClr val="FF0000"/>
                          </a:solidFill>
                        </a:rPr>
                        <a:t>ArrayList</a:t>
                      </a:r>
                      <a:endParaRPr sz="20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pPr algn="ctr"/>
                      <a:r>
                        <a:rPr sz="2000" b="1">
                          <a:solidFill>
                            <a:srgbClr val="FF0000"/>
                          </a:solidFill>
                        </a:rPr>
                        <a:t>LinkedList</a:t>
                      </a:r>
                      <a:endParaRPr sz="20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r>
              <a:tr h="464185">
                <a:tc>
                  <a:txBody>
                    <a:bodyPr/>
                    <a:p>
                      <a:r>
                        <a:rPr sz="1800"/>
                        <a:t>Data Structure</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Dynamic array</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Doubly linked list</a:t>
                      </a:r>
                      <a:endParaRPr sz="1800"/>
                    </a:p>
                  </a:txBody>
                  <a:tcPr marL="0" marR="0" marT="0" marB="0" anchor="ctr" anchorCtr="0">
                    <a:lnL>
                      <a:noFill/>
                    </a:lnL>
                    <a:lnR>
                      <a:noFill/>
                    </a:lnR>
                    <a:lnT>
                      <a:noFill/>
                    </a:lnT>
                    <a:lnB>
                      <a:noFill/>
                    </a:lnB>
                    <a:solidFill>
                      <a:schemeClr val="accent1">
                        <a:lumMod val="60000"/>
                        <a:lumOff val="40000"/>
                      </a:schemeClr>
                    </a:solidFill>
                  </a:tcPr>
                </a:tc>
              </a:tr>
              <a:tr h="594360">
                <a:tc>
                  <a:txBody>
                    <a:bodyPr/>
                    <a:p>
                      <a:r>
                        <a:rPr sz="1800"/>
                        <a:t>Access Time (get/set)</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Fast (O(1))</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Slow (O(n))</a:t>
                      </a:r>
                      <a:endParaRPr sz="1800"/>
                    </a:p>
                  </a:txBody>
                  <a:tcPr marL="0" marR="0" marT="0" marB="0" anchor="ctr" anchorCtr="0">
                    <a:lnL>
                      <a:noFill/>
                    </a:lnL>
                    <a:lnR>
                      <a:noFill/>
                    </a:lnR>
                    <a:lnT>
                      <a:noFill/>
                    </a:lnT>
                    <a:lnB>
                      <a:noFill/>
                    </a:lnB>
                    <a:solidFill>
                      <a:schemeClr val="accent1">
                        <a:lumMod val="60000"/>
                        <a:lumOff val="40000"/>
                      </a:schemeClr>
                    </a:solidFill>
                  </a:tcPr>
                </a:tc>
              </a:tr>
              <a:tr h="615950">
                <a:tc>
                  <a:txBody>
                    <a:bodyPr/>
                    <a:p>
                      <a:r>
                        <a:rPr sz="1800"/>
                        <a:t>Insert/Delete (middle/start)</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Slow (shifting needed)</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Fast</a:t>
                      </a:r>
                      <a:endParaRPr sz="1800"/>
                    </a:p>
                  </a:txBody>
                  <a:tcPr marL="0" marR="0" marT="0" marB="0" anchor="ctr" anchorCtr="0">
                    <a:lnL>
                      <a:noFill/>
                    </a:lnL>
                    <a:lnR>
                      <a:noFill/>
                    </a:lnR>
                    <a:lnT>
                      <a:noFill/>
                    </a:lnT>
                    <a:lnB>
                      <a:noFill/>
                    </a:lnB>
                    <a:solidFill>
                      <a:schemeClr val="accent1">
                        <a:lumMod val="60000"/>
                        <a:lumOff val="40000"/>
                      </a:schemeClr>
                    </a:solidFill>
                  </a:tcPr>
                </a:tc>
              </a:tr>
              <a:tr h="616585">
                <a:tc>
                  <a:txBody>
                    <a:bodyPr/>
                    <a:p>
                      <a:r>
                        <a:rPr sz="1800"/>
                        <a:t>Memory</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Less (no extra pointers)</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More (extra node pointers)</a:t>
                      </a:r>
                      <a:endParaRPr sz="1800"/>
                    </a:p>
                  </a:txBody>
                  <a:tcPr marL="0" marR="0" marT="0" marB="0" anchor="ctr" anchorCtr="0">
                    <a:lnL>
                      <a:noFill/>
                    </a:lnL>
                    <a:lnR>
                      <a:noFill/>
                    </a:lnR>
                    <a:lnT>
                      <a:noFill/>
                    </a:lnT>
                    <a:lnB>
                      <a:noFill/>
                    </a:lnB>
                    <a:solidFill>
                      <a:schemeClr val="accent1">
                        <a:lumMod val="60000"/>
                        <a:lumOff val="40000"/>
                      </a:schemeClr>
                    </a:solidFill>
                  </a:tcPr>
                </a:tc>
              </a:tr>
              <a:tr h="616585">
                <a:tc>
                  <a:txBody>
                    <a:bodyPr/>
                    <a:p>
                      <a:r>
                        <a:rPr sz="1800"/>
                        <a:t>Use Case</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Frequent access</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Frequent insertion/removal</a:t>
                      </a:r>
                      <a:endParaRPr sz="1800"/>
                    </a:p>
                  </a:txBody>
                  <a:tcPr marL="0" marR="0" marT="0" marB="0" anchor="ctr" anchorCtr="0">
                    <a:lnL>
                      <a:noFill/>
                    </a:lnL>
                    <a:lnR>
                      <a:noFill/>
                    </a:lnR>
                    <a:lnT>
                      <a:noFill/>
                    </a:lnT>
                    <a:lnB>
                      <a:noFill/>
                    </a:lnB>
                    <a:solidFill>
                      <a:schemeClr val="accent1">
                        <a:lumMod val="60000"/>
                        <a:lumOff val="40000"/>
                      </a:schemeClr>
                    </a:solidFill>
                  </a:tcPr>
                </a:tc>
              </a:tr>
            </a:tbl>
          </a:graphicData>
        </a:graphic>
      </p:graphicFrame>
      <p:graphicFrame>
        <p:nvGraphicFramePr>
          <p:cNvPr id="5" name="Table 4"/>
          <p:cNvGraphicFramePr/>
          <p:nvPr>
            <p:custDataLst>
              <p:tags r:id="rId2"/>
            </p:custDataLst>
          </p:nvPr>
        </p:nvGraphicFramePr>
        <p:xfrm>
          <a:off x="6219190" y="516890"/>
          <a:ext cx="5737860" cy="3158490"/>
        </p:xfrm>
        <a:graphic>
          <a:graphicData uri="http://schemas.openxmlformats.org/drawingml/2006/table">
            <a:tbl>
              <a:tblPr/>
              <a:tblGrid>
                <a:gridCol w="1912620"/>
                <a:gridCol w="1912620"/>
                <a:gridCol w="1912620"/>
              </a:tblGrid>
              <a:tr h="504190">
                <a:tc>
                  <a:txBody>
                    <a:bodyPr/>
                    <a:p>
                      <a:pPr algn="ctr"/>
                      <a:r>
                        <a:rPr sz="2000" b="1">
                          <a:solidFill>
                            <a:srgbClr val="FF0000"/>
                          </a:solidFill>
                        </a:rPr>
                        <a:t>Feature</a:t>
                      </a:r>
                      <a:endParaRPr sz="20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pPr algn="ctr"/>
                      <a:r>
                        <a:rPr sz="2000" b="1">
                          <a:solidFill>
                            <a:srgbClr val="FF0000"/>
                          </a:solidFill>
                        </a:rPr>
                        <a:t>HashMap</a:t>
                      </a:r>
                      <a:endParaRPr sz="20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pPr algn="ctr"/>
                      <a:r>
                        <a:rPr sz="2000" b="1">
                          <a:solidFill>
                            <a:srgbClr val="FF0000"/>
                          </a:solidFill>
                        </a:rPr>
                        <a:t>HashSet</a:t>
                      </a:r>
                      <a:endParaRPr sz="20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r>
              <a:tr h="504190">
                <a:tc>
                  <a:txBody>
                    <a:bodyPr/>
                    <a:p>
                      <a:r>
                        <a:rPr sz="1800"/>
                        <a:t>Stores</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Key-Value pairs</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Unique values only</a:t>
                      </a:r>
                      <a:endParaRPr sz="1800"/>
                    </a:p>
                  </a:txBody>
                  <a:tcPr marL="0" marR="0" marT="0" marB="0" anchor="ctr" anchorCtr="0">
                    <a:lnL>
                      <a:noFill/>
                    </a:lnL>
                    <a:lnR>
                      <a:noFill/>
                    </a:lnR>
                    <a:lnT>
                      <a:noFill/>
                    </a:lnT>
                    <a:lnB>
                      <a:noFill/>
                    </a:lnB>
                    <a:solidFill>
                      <a:schemeClr val="accent1">
                        <a:lumMod val="60000"/>
                        <a:lumOff val="40000"/>
                      </a:schemeClr>
                    </a:solidFill>
                  </a:tcPr>
                </a:tc>
              </a:tr>
              <a:tr h="548640">
                <a:tc>
                  <a:txBody>
                    <a:bodyPr/>
                    <a:p>
                      <a:r>
                        <a:rPr sz="1800"/>
                        <a:t>Duplicate Keys/Values</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No duplicate keys</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No duplicate elements</a:t>
                      </a:r>
                      <a:endParaRPr sz="1800"/>
                    </a:p>
                  </a:txBody>
                  <a:tcPr marL="0" marR="0" marT="0" marB="0" anchor="ctr" anchorCtr="0">
                    <a:lnL>
                      <a:noFill/>
                    </a:lnL>
                    <a:lnR>
                      <a:noFill/>
                    </a:lnR>
                    <a:lnT>
                      <a:noFill/>
                    </a:lnT>
                    <a:lnB>
                      <a:noFill/>
                    </a:lnB>
                    <a:solidFill>
                      <a:schemeClr val="accent1">
                        <a:lumMod val="60000"/>
                        <a:lumOff val="40000"/>
                      </a:schemeClr>
                    </a:solidFill>
                  </a:tcPr>
                </a:tc>
              </a:tr>
              <a:tr h="548640">
                <a:tc>
                  <a:txBody>
                    <a:bodyPr/>
                    <a:p>
                      <a:r>
                        <a:rPr sz="1800"/>
                        <a:t>Allows Null</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One null key, many null values</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One null element</a:t>
                      </a:r>
                      <a:endParaRPr sz="1800"/>
                    </a:p>
                  </a:txBody>
                  <a:tcPr marL="0" marR="0" marT="0" marB="0" anchor="ctr" anchorCtr="0">
                    <a:lnL>
                      <a:noFill/>
                    </a:lnL>
                    <a:lnR>
                      <a:noFill/>
                    </a:lnR>
                    <a:lnT>
                      <a:noFill/>
                    </a:lnT>
                    <a:lnB>
                      <a:noFill/>
                    </a:lnB>
                    <a:solidFill>
                      <a:schemeClr val="accent1">
                        <a:lumMod val="60000"/>
                        <a:lumOff val="40000"/>
                      </a:schemeClr>
                    </a:solidFill>
                  </a:tcPr>
                </a:tc>
              </a:tr>
              <a:tr h="504190">
                <a:tc>
                  <a:txBody>
                    <a:bodyPr/>
                    <a:p>
                      <a:r>
                        <a:rPr sz="1800"/>
                        <a:t>Access Time</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O(1) (on average)</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O(1) (on average)</a:t>
                      </a:r>
                      <a:endParaRPr sz="1800"/>
                    </a:p>
                  </a:txBody>
                  <a:tcPr marL="0" marR="0" marT="0" marB="0" anchor="ctr" anchorCtr="0">
                    <a:lnL>
                      <a:noFill/>
                    </a:lnL>
                    <a:lnR>
                      <a:noFill/>
                    </a:lnR>
                    <a:lnT>
                      <a:noFill/>
                    </a:lnT>
                    <a:lnB>
                      <a:noFill/>
                    </a:lnB>
                    <a:solidFill>
                      <a:schemeClr val="accent1">
                        <a:lumMod val="60000"/>
                        <a:lumOff val="40000"/>
                      </a:schemeClr>
                    </a:solidFill>
                  </a:tcPr>
                </a:tc>
              </a:tr>
              <a:tr h="548640">
                <a:tc>
                  <a:txBody>
                    <a:bodyPr/>
                    <a:p>
                      <a:r>
                        <a:rPr sz="1800"/>
                        <a:t>Based On</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Hashing</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HashMap (internally)</a:t>
                      </a:r>
                      <a:endParaRPr sz="1800"/>
                    </a:p>
                  </a:txBody>
                  <a:tcPr marL="0" marR="0" marT="0" marB="0" anchor="ctr" anchorCtr="0">
                    <a:lnL>
                      <a:noFill/>
                    </a:lnL>
                    <a:lnR>
                      <a:noFill/>
                    </a:lnR>
                    <a:lnT>
                      <a:noFill/>
                    </a:lnT>
                    <a:lnB>
                      <a:noFill/>
                    </a:lnB>
                    <a:solidFill>
                      <a:schemeClr val="accent1">
                        <a:lumMod val="60000"/>
                        <a:lumOff val="40000"/>
                      </a:schemeClr>
                    </a:solidFill>
                  </a:tcPr>
                </a:tc>
              </a:tr>
            </a:tbl>
          </a:graphicData>
        </a:graphic>
      </p:graphicFrame>
      <p:graphicFrame>
        <p:nvGraphicFramePr>
          <p:cNvPr id="6" name="Table 5"/>
          <p:cNvGraphicFramePr/>
          <p:nvPr>
            <p:custDataLst>
              <p:tags r:id="rId3"/>
            </p:custDataLst>
          </p:nvPr>
        </p:nvGraphicFramePr>
        <p:xfrm>
          <a:off x="224155" y="4138295"/>
          <a:ext cx="5871210" cy="2757805"/>
        </p:xfrm>
        <a:graphic>
          <a:graphicData uri="http://schemas.openxmlformats.org/drawingml/2006/table">
            <a:tbl>
              <a:tblPr/>
              <a:tblGrid>
                <a:gridCol w="1957070"/>
                <a:gridCol w="1957070"/>
                <a:gridCol w="1957070"/>
              </a:tblGrid>
              <a:tr h="415290">
                <a:tc>
                  <a:txBody>
                    <a:bodyPr/>
                    <a:p>
                      <a:pPr algn="ctr"/>
                      <a:r>
                        <a:rPr sz="2000" b="1">
                          <a:solidFill>
                            <a:srgbClr val="FF0000"/>
                          </a:solidFill>
                        </a:rPr>
                        <a:t>Feature</a:t>
                      </a:r>
                      <a:endParaRPr sz="20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pPr algn="ctr"/>
                      <a:r>
                        <a:rPr sz="2000" b="1">
                          <a:solidFill>
                            <a:srgbClr val="FF0000"/>
                          </a:solidFill>
                        </a:rPr>
                        <a:t>Stack</a:t>
                      </a:r>
                      <a:endParaRPr sz="20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pPr algn="ctr"/>
                      <a:r>
                        <a:rPr sz="2000" b="1">
                          <a:solidFill>
                            <a:srgbClr val="FF0000"/>
                          </a:solidFill>
                        </a:rPr>
                        <a:t>Vector</a:t>
                      </a:r>
                      <a:endParaRPr sz="20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r>
              <a:tr h="548640">
                <a:tc>
                  <a:txBody>
                    <a:bodyPr/>
                    <a:p>
                      <a:r>
                        <a:rPr sz="1800"/>
                        <a:t>Structure Type</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LIFO (Last-In-First-Out)</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Dynamic array</a:t>
                      </a:r>
                      <a:endParaRPr sz="1800"/>
                    </a:p>
                  </a:txBody>
                  <a:tcPr marL="0" marR="0" marT="0" marB="0" anchor="ctr" anchorCtr="0">
                    <a:lnL>
                      <a:noFill/>
                    </a:lnL>
                    <a:lnR>
                      <a:noFill/>
                    </a:lnR>
                    <a:lnT>
                      <a:noFill/>
                    </a:lnT>
                    <a:lnB>
                      <a:noFill/>
                    </a:lnB>
                    <a:solidFill>
                      <a:schemeClr val="accent1">
                        <a:lumMod val="60000"/>
                        <a:lumOff val="40000"/>
                      </a:schemeClr>
                    </a:solidFill>
                  </a:tcPr>
                </a:tc>
              </a:tr>
              <a:tr h="415290">
                <a:tc>
                  <a:txBody>
                    <a:bodyPr/>
                    <a:p>
                      <a:r>
                        <a:rPr sz="1800"/>
                        <a:t>Inheritance</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Extends Vector</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Base class</a:t>
                      </a:r>
                      <a:endParaRPr sz="1800"/>
                    </a:p>
                  </a:txBody>
                  <a:tcPr marL="0" marR="0" marT="0" marB="0" anchor="ctr" anchorCtr="0">
                    <a:lnL>
                      <a:noFill/>
                    </a:lnL>
                    <a:lnR>
                      <a:noFill/>
                    </a:lnR>
                    <a:lnT>
                      <a:noFill/>
                    </a:lnT>
                    <a:lnB>
                      <a:noFill/>
                    </a:lnB>
                    <a:solidFill>
                      <a:schemeClr val="accent1">
                        <a:lumMod val="60000"/>
                        <a:lumOff val="40000"/>
                      </a:schemeClr>
                    </a:solidFill>
                  </a:tcPr>
                </a:tc>
              </a:tr>
              <a:tr h="414655">
                <a:tc>
                  <a:txBody>
                    <a:bodyPr/>
                    <a:p>
                      <a:r>
                        <a:rPr sz="1800"/>
                        <a:t>Thread Safe</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Yes</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Yes</a:t>
                      </a:r>
                      <a:endParaRPr sz="1800"/>
                    </a:p>
                  </a:txBody>
                  <a:tcPr marL="0" marR="0" marT="0" marB="0" anchor="ctr" anchorCtr="0">
                    <a:lnL>
                      <a:noFill/>
                    </a:lnL>
                    <a:lnR>
                      <a:noFill/>
                    </a:lnR>
                    <a:lnT>
                      <a:noFill/>
                    </a:lnT>
                    <a:lnB>
                      <a:noFill/>
                    </a:lnB>
                    <a:solidFill>
                      <a:schemeClr val="accent1">
                        <a:lumMod val="60000"/>
                        <a:lumOff val="40000"/>
                      </a:schemeClr>
                    </a:solidFill>
                  </a:tcPr>
                </a:tc>
              </a:tr>
              <a:tr h="415290">
                <a:tc>
                  <a:txBody>
                    <a:bodyPr/>
                    <a:p>
                      <a:r>
                        <a:rPr sz="1800"/>
                        <a:t>Main Operations</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push(), pop(), peek()</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add(), remove(), etc.</a:t>
                      </a:r>
                      <a:endParaRPr sz="1800"/>
                    </a:p>
                  </a:txBody>
                  <a:tcPr marL="0" marR="0" marT="0" marB="0" anchor="ctr" anchorCtr="0">
                    <a:lnL>
                      <a:noFill/>
                    </a:lnL>
                    <a:lnR>
                      <a:noFill/>
                    </a:lnR>
                    <a:lnT>
                      <a:noFill/>
                    </a:lnT>
                    <a:lnB>
                      <a:noFill/>
                    </a:lnB>
                    <a:solidFill>
                      <a:schemeClr val="accent1">
                        <a:lumMod val="60000"/>
                        <a:lumOff val="40000"/>
                      </a:schemeClr>
                    </a:solidFill>
                  </a:tcPr>
                </a:tc>
              </a:tr>
              <a:tr h="548640">
                <a:tc>
                  <a:txBody>
                    <a:bodyPr/>
                    <a:p>
                      <a:r>
                        <a:rPr sz="1800"/>
                        <a:t>Preferred Use</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Stack-specific operations</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General dynamic array (legacy)</a:t>
                      </a:r>
                      <a:endParaRPr sz="1800"/>
                    </a:p>
                  </a:txBody>
                  <a:tcPr marL="0" marR="0" marT="0" marB="0" anchor="ctr" anchorCtr="0">
                    <a:lnL>
                      <a:noFill/>
                    </a:lnL>
                    <a:lnR>
                      <a:noFill/>
                    </a:lnR>
                    <a:lnT>
                      <a:noFill/>
                    </a:lnT>
                    <a:lnB>
                      <a:noFill/>
                    </a:lnB>
                    <a:solidFill>
                      <a:schemeClr val="accent1">
                        <a:lumMod val="60000"/>
                        <a:lumOff val="40000"/>
                      </a:schemeClr>
                    </a:solidFill>
                  </a:tcPr>
                </a:tc>
              </a:tr>
            </a:tbl>
          </a:graphicData>
        </a:graphic>
      </p:graphicFrame>
      <p:graphicFrame>
        <p:nvGraphicFramePr>
          <p:cNvPr id="7" name="Table 6"/>
          <p:cNvGraphicFramePr/>
          <p:nvPr>
            <p:custDataLst>
              <p:tags r:id="rId4"/>
            </p:custDataLst>
          </p:nvPr>
        </p:nvGraphicFramePr>
        <p:xfrm>
          <a:off x="6217920" y="3885565"/>
          <a:ext cx="5835015" cy="2852420"/>
        </p:xfrm>
        <a:graphic>
          <a:graphicData uri="http://schemas.openxmlformats.org/drawingml/2006/table">
            <a:tbl>
              <a:tblPr/>
              <a:tblGrid>
                <a:gridCol w="1520825"/>
                <a:gridCol w="1917065"/>
                <a:gridCol w="2397125"/>
              </a:tblGrid>
              <a:tr h="406400">
                <a:tc>
                  <a:txBody>
                    <a:bodyPr/>
                    <a:p>
                      <a:pPr algn="ctr"/>
                      <a:r>
                        <a:rPr sz="2000" b="1">
                          <a:solidFill>
                            <a:srgbClr val="FF0000"/>
                          </a:solidFill>
                        </a:rPr>
                        <a:t>Feature</a:t>
                      </a:r>
                      <a:endParaRPr sz="20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pPr algn="ctr"/>
                      <a:r>
                        <a:rPr sz="2000" b="1">
                          <a:solidFill>
                            <a:srgbClr val="FF0000"/>
                          </a:solidFill>
                        </a:rPr>
                        <a:t>HashMap</a:t>
                      </a:r>
                      <a:endParaRPr sz="20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pPr algn="ctr"/>
                      <a:r>
                        <a:rPr sz="2000" b="1">
                          <a:solidFill>
                            <a:srgbClr val="FF0000"/>
                          </a:solidFill>
                        </a:rPr>
                        <a:t>Hashtable</a:t>
                      </a:r>
                      <a:endParaRPr sz="20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r>
              <a:tr h="407035">
                <a:tc>
                  <a:txBody>
                    <a:bodyPr/>
                    <a:p>
                      <a:r>
                        <a:rPr sz="1800"/>
                        <a:t>Thread Safe</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No</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Yes</a:t>
                      </a:r>
                      <a:endParaRPr sz="1800"/>
                    </a:p>
                  </a:txBody>
                  <a:tcPr marL="0" marR="0" marT="0" marB="0" anchor="ctr" anchorCtr="0">
                    <a:lnL>
                      <a:noFill/>
                    </a:lnL>
                    <a:lnR>
                      <a:noFill/>
                    </a:lnR>
                    <a:lnT>
                      <a:noFill/>
                    </a:lnT>
                    <a:lnB>
                      <a:noFill/>
                    </a:lnB>
                    <a:solidFill>
                      <a:schemeClr val="accent1">
                        <a:lumMod val="60000"/>
                        <a:lumOff val="40000"/>
                      </a:schemeClr>
                    </a:solidFill>
                  </a:tcPr>
                </a:tc>
              </a:tr>
              <a:tr h="496570">
                <a:tc>
                  <a:txBody>
                    <a:bodyPr/>
                    <a:p>
                      <a:r>
                        <a:rPr sz="1800"/>
                        <a:t>Performance</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Faster (no sync)</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Slower (synchronized)</a:t>
                      </a:r>
                      <a:endParaRPr sz="1800"/>
                    </a:p>
                  </a:txBody>
                  <a:tcPr marL="0" marR="0" marT="0" marB="0" anchor="ctr" anchorCtr="0">
                    <a:lnL>
                      <a:noFill/>
                    </a:lnL>
                    <a:lnR>
                      <a:noFill/>
                    </a:lnR>
                    <a:lnT>
                      <a:noFill/>
                    </a:lnT>
                    <a:lnB>
                      <a:noFill/>
                    </a:lnB>
                    <a:solidFill>
                      <a:schemeClr val="accent1">
                        <a:lumMod val="60000"/>
                        <a:lumOff val="40000"/>
                      </a:schemeClr>
                    </a:solidFill>
                  </a:tcPr>
                </a:tc>
              </a:tr>
              <a:tr h="497205">
                <a:tc>
                  <a:txBody>
                    <a:bodyPr/>
                    <a:p>
                      <a:r>
                        <a:rPr sz="1800"/>
                        <a:t>Null Key</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Allows one null key</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No null keys or values</a:t>
                      </a:r>
                      <a:endParaRPr sz="1800"/>
                    </a:p>
                  </a:txBody>
                  <a:tcPr marL="0" marR="0" marT="0" marB="0" anchor="ctr" anchorCtr="0">
                    <a:lnL>
                      <a:noFill/>
                    </a:lnL>
                    <a:lnR>
                      <a:noFill/>
                    </a:lnR>
                    <a:lnT>
                      <a:noFill/>
                    </a:lnT>
                    <a:lnB>
                      <a:noFill/>
                    </a:lnB>
                    <a:solidFill>
                      <a:schemeClr val="accent1">
                        <a:lumMod val="60000"/>
                        <a:lumOff val="40000"/>
                      </a:schemeClr>
                    </a:solidFill>
                  </a:tcPr>
                </a:tc>
              </a:tr>
              <a:tr h="496570">
                <a:tc>
                  <a:txBody>
                    <a:bodyPr/>
                    <a:p>
                      <a:r>
                        <a:rPr sz="1800"/>
                        <a:t>Legacy</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Newer</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Legacy (before Java 2)</a:t>
                      </a:r>
                      <a:endParaRPr sz="1800"/>
                    </a:p>
                  </a:txBody>
                  <a:tcPr marL="0" marR="0" marT="0" marB="0" anchor="ctr" anchorCtr="0">
                    <a:lnL>
                      <a:noFill/>
                    </a:lnL>
                    <a:lnR>
                      <a:noFill/>
                    </a:lnR>
                    <a:lnT>
                      <a:noFill/>
                    </a:lnT>
                    <a:lnB>
                      <a:noFill/>
                    </a:lnB>
                    <a:solidFill>
                      <a:schemeClr val="accent1">
                        <a:lumMod val="60000"/>
                        <a:lumOff val="40000"/>
                      </a:schemeClr>
                    </a:solidFill>
                  </a:tcPr>
                </a:tc>
              </a:tr>
              <a:tr h="548640">
                <a:tc>
                  <a:txBody>
                    <a:bodyPr/>
                    <a:p>
                      <a:r>
                        <a:rPr sz="1800"/>
                        <a:t>Preferred</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Modern, for single-thread</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Use only if thread-safety needed</a:t>
                      </a:r>
                      <a:endParaRPr sz="1800"/>
                    </a:p>
                  </a:txBody>
                  <a:tcPr marL="0" marR="0" marT="0" marB="0" anchor="ctr" anchorCtr="0">
                    <a:lnL>
                      <a:noFill/>
                    </a:lnL>
                    <a:lnR>
                      <a:noFill/>
                    </a:lnR>
                    <a:lnT>
                      <a:noFill/>
                    </a:lnT>
                    <a:lnB>
                      <a:noFill/>
                    </a:lnB>
                    <a:solidFill>
                      <a:schemeClr val="accent1">
                        <a:lumMod val="60000"/>
                        <a:lumOff val="40000"/>
                      </a:schemeClr>
                    </a:solidFill>
                  </a:tcPr>
                </a:tc>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210185" y="297815"/>
          <a:ext cx="7680960" cy="2952750"/>
        </p:xfrm>
        <a:graphic>
          <a:graphicData uri="http://schemas.openxmlformats.org/drawingml/2006/table">
            <a:tbl>
              <a:tblPr/>
              <a:tblGrid>
                <a:gridCol w="2560320"/>
                <a:gridCol w="2560320"/>
                <a:gridCol w="2560320"/>
              </a:tblGrid>
              <a:tr h="492125">
                <a:tc>
                  <a:txBody>
                    <a:bodyPr/>
                    <a:p>
                      <a:pPr algn="ctr"/>
                      <a:r>
                        <a:rPr sz="2000" b="1">
                          <a:solidFill>
                            <a:srgbClr val="FF0000"/>
                          </a:solidFill>
                        </a:rPr>
                        <a:t>Feature</a:t>
                      </a:r>
                      <a:endParaRPr sz="20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pPr algn="ctr"/>
                      <a:r>
                        <a:rPr sz="2000" b="1">
                          <a:solidFill>
                            <a:srgbClr val="FF0000"/>
                          </a:solidFill>
                        </a:rPr>
                        <a:t>TreeMap</a:t>
                      </a:r>
                      <a:endParaRPr sz="20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pPr algn="ctr"/>
                      <a:r>
                        <a:rPr sz="2000" b="1">
                          <a:solidFill>
                            <a:srgbClr val="FF0000"/>
                          </a:solidFill>
                        </a:rPr>
                        <a:t>TreeSet</a:t>
                      </a:r>
                      <a:endParaRPr sz="20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r>
              <a:tr h="492125">
                <a:tc>
                  <a:txBody>
                    <a:bodyPr/>
                    <a:p>
                      <a:r>
                        <a:rPr sz="1800"/>
                        <a:t>Stores</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Key-Value pairs</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Unique sorted values</a:t>
                      </a:r>
                      <a:endParaRPr sz="1800"/>
                    </a:p>
                  </a:txBody>
                  <a:tcPr marL="0" marR="0" marT="0" marB="0" anchor="ctr" anchorCtr="0">
                    <a:lnL>
                      <a:noFill/>
                    </a:lnL>
                    <a:lnR>
                      <a:noFill/>
                    </a:lnR>
                    <a:lnT>
                      <a:noFill/>
                    </a:lnT>
                    <a:lnB>
                      <a:noFill/>
                    </a:lnB>
                    <a:solidFill>
                      <a:schemeClr val="accent1">
                        <a:lumMod val="60000"/>
                        <a:lumOff val="40000"/>
                      </a:schemeClr>
                    </a:solidFill>
                  </a:tcPr>
                </a:tc>
              </a:tr>
              <a:tr h="492125">
                <a:tc>
                  <a:txBody>
                    <a:bodyPr/>
                    <a:p>
                      <a:r>
                        <a:rPr sz="1800"/>
                        <a:t>Order</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Sorted by keys (ascending)</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Sorted elements</a:t>
                      </a:r>
                      <a:endParaRPr sz="1800"/>
                    </a:p>
                  </a:txBody>
                  <a:tcPr marL="0" marR="0" marT="0" marB="0" anchor="ctr" anchorCtr="0">
                    <a:lnL>
                      <a:noFill/>
                    </a:lnL>
                    <a:lnR>
                      <a:noFill/>
                    </a:lnR>
                    <a:lnT>
                      <a:noFill/>
                    </a:lnT>
                    <a:lnB>
                      <a:noFill/>
                    </a:lnB>
                    <a:solidFill>
                      <a:schemeClr val="accent1">
                        <a:lumMod val="60000"/>
                        <a:lumOff val="40000"/>
                      </a:schemeClr>
                    </a:solidFill>
                  </a:tcPr>
                </a:tc>
              </a:tr>
              <a:tr h="492125">
                <a:tc>
                  <a:txBody>
                    <a:bodyPr/>
                    <a:p>
                      <a:r>
                        <a:rPr sz="1800"/>
                        <a:t>Null Handling</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Allows null values (not keys)</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Does not allow null</a:t>
                      </a:r>
                      <a:endParaRPr sz="1800"/>
                    </a:p>
                  </a:txBody>
                  <a:tcPr marL="0" marR="0" marT="0" marB="0" anchor="ctr" anchorCtr="0">
                    <a:lnL>
                      <a:noFill/>
                    </a:lnL>
                    <a:lnR>
                      <a:noFill/>
                    </a:lnR>
                    <a:lnT>
                      <a:noFill/>
                    </a:lnT>
                    <a:lnB>
                      <a:noFill/>
                    </a:lnB>
                    <a:solidFill>
                      <a:schemeClr val="accent1">
                        <a:lumMod val="60000"/>
                        <a:lumOff val="40000"/>
                      </a:schemeClr>
                    </a:solidFill>
                  </a:tcPr>
                </a:tc>
              </a:tr>
              <a:tr h="492125">
                <a:tc>
                  <a:txBody>
                    <a:bodyPr/>
                    <a:p>
                      <a:r>
                        <a:rPr sz="1800"/>
                        <a:t>Based On</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Red-Black Tree</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TreeMap (internally)</a:t>
                      </a:r>
                      <a:endParaRPr sz="1800"/>
                    </a:p>
                  </a:txBody>
                  <a:tcPr marL="0" marR="0" marT="0" marB="0" anchor="ctr" anchorCtr="0">
                    <a:lnL>
                      <a:noFill/>
                    </a:lnL>
                    <a:lnR>
                      <a:noFill/>
                    </a:lnR>
                    <a:lnT>
                      <a:noFill/>
                    </a:lnT>
                    <a:lnB>
                      <a:noFill/>
                    </a:lnB>
                    <a:solidFill>
                      <a:schemeClr val="accent1">
                        <a:lumMod val="60000"/>
                        <a:lumOff val="40000"/>
                      </a:schemeClr>
                    </a:solidFill>
                  </a:tcPr>
                </a:tc>
              </a:tr>
              <a:tr h="492125">
                <a:tc>
                  <a:txBody>
                    <a:bodyPr/>
                    <a:p>
                      <a:r>
                        <a:rPr sz="1800"/>
                        <a:t>Access Time</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O(log n)</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O(log n)</a:t>
                      </a:r>
                      <a:endParaRPr sz="1800"/>
                    </a:p>
                  </a:txBody>
                  <a:tcPr marL="0" marR="0" marT="0" marB="0" anchor="ctr" anchorCtr="0">
                    <a:lnL>
                      <a:noFill/>
                    </a:lnL>
                    <a:lnR>
                      <a:noFill/>
                    </a:lnR>
                    <a:lnT>
                      <a:noFill/>
                    </a:lnT>
                    <a:lnB>
                      <a:noFill/>
                    </a:lnB>
                    <a:solidFill>
                      <a:schemeClr val="accent1">
                        <a:lumMod val="60000"/>
                        <a:lumOff val="40000"/>
                      </a:schemeClr>
                    </a:solidFill>
                  </a:tcPr>
                </a:tc>
              </a:tr>
            </a:tbl>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9700" y="0"/>
            <a:ext cx="10515600" cy="396240"/>
          </a:xfrm>
        </p:spPr>
        <p:txBody>
          <a:bodyPr>
            <a:normAutofit fontScale="90000"/>
          </a:bodyPr>
          <a:p>
            <a:pPr algn="ctr"/>
            <a:r>
              <a:rPr lang="en-US" sz="2800" b="1">
                <a:solidFill>
                  <a:srgbClr val="FF0000"/>
                </a:solidFill>
              </a:rPr>
              <a:t>Java Console Input</a:t>
            </a:r>
            <a:endParaRPr lang="en-US" sz="2800" b="1">
              <a:solidFill>
                <a:srgbClr val="FF0000"/>
              </a:solidFill>
            </a:endParaRPr>
          </a:p>
        </p:txBody>
      </p:sp>
      <p:sp>
        <p:nvSpPr>
          <p:cNvPr id="3" name="Content Placeholder 2"/>
          <p:cNvSpPr>
            <a:spLocks noGrp="1"/>
          </p:cNvSpPr>
          <p:nvPr>
            <p:ph idx="1"/>
          </p:nvPr>
        </p:nvSpPr>
        <p:spPr>
          <a:xfrm>
            <a:off x="139700" y="396240"/>
            <a:ext cx="11815445" cy="6363335"/>
          </a:xfrm>
        </p:spPr>
        <p:txBody>
          <a:bodyPr>
            <a:normAutofit/>
          </a:bodyPr>
          <a:p>
            <a:pPr marL="0" indent="0">
              <a:buNone/>
            </a:pPr>
            <a:r>
              <a:rPr lang="en-US" altLang="en-US" sz="2400"/>
              <a:t>What is the Console Class in Java?</a:t>
            </a:r>
            <a:endParaRPr lang="en-US" altLang="en-US" sz="2400"/>
          </a:p>
          <a:p>
            <a:pPr marL="0" indent="0">
              <a:buNone/>
            </a:pPr>
            <a:r>
              <a:rPr lang="en-US" altLang="en-US" sz="2400"/>
              <a:t>The Console class (in java.io) is used to read input from the console, especially when working with text-based applications.</a:t>
            </a:r>
            <a:endParaRPr lang="en-US" altLang="en-US" sz="2400"/>
          </a:p>
          <a:p>
            <a:pPr marL="0" indent="0">
              <a:buNone/>
            </a:pPr>
            <a:r>
              <a:rPr lang="en-US" altLang="en-US" sz="2400"/>
              <a:t>Part of java.io package.</a:t>
            </a:r>
            <a:endParaRPr lang="en-US" altLang="en-US" sz="2400"/>
          </a:p>
          <a:p>
            <a:pPr marL="0" indent="0">
              <a:buNone/>
            </a:pPr>
            <a:r>
              <a:rPr lang="en-US" altLang="en-US" sz="2400"/>
              <a:t>Useful for reading strings, passwords, etc.</a:t>
            </a:r>
            <a:endParaRPr lang="en-US" altLang="en-US" sz="2400"/>
          </a:p>
          <a:p>
            <a:pPr marL="0" indent="0">
              <a:buNone/>
            </a:pPr>
            <a:r>
              <a:rPr lang="en-US" altLang="en-US" sz="2400"/>
              <a:t>Provides methods like readLine() and readPassword().</a:t>
            </a:r>
            <a:endParaRPr lang="en-US" altLang="en-US" sz="2400"/>
          </a:p>
          <a:p>
            <a:pPr marL="0" indent="0">
              <a:buNone/>
            </a:pPr>
            <a:endParaRPr lang="en-US" altLang="en-US" sz="2400"/>
          </a:p>
        </p:txBody>
      </p:sp>
      <p:graphicFrame>
        <p:nvGraphicFramePr>
          <p:cNvPr id="4" name="Table 3"/>
          <p:cNvGraphicFramePr/>
          <p:nvPr>
            <p:custDataLst>
              <p:tags r:id="rId1"/>
            </p:custDataLst>
          </p:nvPr>
        </p:nvGraphicFramePr>
        <p:xfrm>
          <a:off x="55245" y="3835400"/>
          <a:ext cx="11899900" cy="2924810"/>
        </p:xfrm>
        <a:graphic>
          <a:graphicData uri="http://schemas.openxmlformats.org/drawingml/2006/table">
            <a:tbl>
              <a:tblPr/>
              <a:tblGrid>
                <a:gridCol w="5073650"/>
                <a:gridCol w="6826250"/>
              </a:tblGrid>
              <a:tr h="417830">
                <a:tc>
                  <a:txBody>
                    <a:bodyPr/>
                    <a:p>
                      <a:pPr algn="ctr"/>
                      <a:r>
                        <a:rPr sz="1800" b="1">
                          <a:solidFill>
                            <a:srgbClr val="FF0000"/>
                          </a:solidFill>
                        </a:rPr>
                        <a:t>Method</a:t>
                      </a:r>
                      <a:endParaRPr sz="18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800" b="1">
                          <a:solidFill>
                            <a:srgbClr val="FF0000"/>
                          </a:solidFill>
                        </a:rPr>
                        <a:t>Description</a:t>
                      </a:r>
                      <a:endParaRPr sz="18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r>
              <a:tr h="417830">
                <a:tc>
                  <a:txBody>
                    <a:bodyPr/>
                    <a:p>
                      <a:pPr algn="l"/>
                      <a:r>
                        <a:rPr sz="1600"/>
                        <a:t>readLine()</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pPr algn="l"/>
                      <a:r>
                        <a:rPr sz="1600"/>
                        <a:t>Reads a line of text from the console</a:t>
                      </a:r>
                      <a:endParaRPr sz="1600"/>
                    </a:p>
                  </a:txBody>
                  <a:tcPr marL="0" marR="0" marT="0" marB="0" anchor="ctr" anchorCtr="0">
                    <a:lnL>
                      <a:noFill/>
                    </a:lnL>
                    <a:lnR>
                      <a:noFill/>
                    </a:lnR>
                    <a:lnT>
                      <a:noFill/>
                    </a:lnT>
                    <a:lnB>
                      <a:noFill/>
                    </a:lnB>
                    <a:solidFill>
                      <a:schemeClr val="accent1">
                        <a:lumMod val="40000"/>
                        <a:lumOff val="60000"/>
                      </a:schemeClr>
                    </a:solidFill>
                  </a:tcPr>
                </a:tc>
              </a:tr>
              <a:tr h="417830">
                <a:tc>
                  <a:txBody>
                    <a:bodyPr/>
                    <a:p>
                      <a:pPr algn="l"/>
                      <a:r>
                        <a:rPr sz="1600"/>
                        <a:t>readLine(String fmt, ...)</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pPr algn="l"/>
                      <a:r>
                        <a:rPr sz="1600"/>
                        <a:t>Displays a formatted prompt before reading</a:t>
                      </a:r>
                      <a:endParaRPr sz="1600"/>
                    </a:p>
                  </a:txBody>
                  <a:tcPr marL="0" marR="0" marT="0" marB="0" anchor="ctr" anchorCtr="0">
                    <a:lnL>
                      <a:noFill/>
                    </a:lnL>
                    <a:lnR>
                      <a:noFill/>
                    </a:lnR>
                    <a:lnT>
                      <a:noFill/>
                    </a:lnT>
                    <a:lnB>
                      <a:noFill/>
                    </a:lnB>
                    <a:solidFill>
                      <a:schemeClr val="accent1">
                        <a:lumMod val="40000"/>
                        <a:lumOff val="60000"/>
                      </a:schemeClr>
                    </a:solidFill>
                  </a:tcPr>
                </a:tc>
              </a:tr>
              <a:tr h="417830">
                <a:tc>
                  <a:txBody>
                    <a:bodyPr/>
                    <a:p>
                      <a:pPr algn="l"/>
                      <a:r>
                        <a:rPr sz="1600"/>
                        <a:t>readPassword()</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pPr algn="l"/>
                      <a:r>
                        <a:rPr sz="1600"/>
                        <a:t>Reads password input without echoing</a:t>
                      </a:r>
                      <a:endParaRPr sz="1600"/>
                    </a:p>
                  </a:txBody>
                  <a:tcPr marL="0" marR="0" marT="0" marB="0" anchor="ctr" anchorCtr="0">
                    <a:lnL>
                      <a:noFill/>
                    </a:lnL>
                    <a:lnR>
                      <a:noFill/>
                    </a:lnR>
                    <a:lnT>
                      <a:noFill/>
                    </a:lnT>
                    <a:lnB>
                      <a:noFill/>
                    </a:lnB>
                    <a:solidFill>
                      <a:schemeClr val="accent1">
                        <a:lumMod val="40000"/>
                        <a:lumOff val="60000"/>
                      </a:schemeClr>
                    </a:solidFill>
                  </a:tcPr>
                </a:tc>
              </a:tr>
              <a:tr h="417830">
                <a:tc>
                  <a:txBody>
                    <a:bodyPr/>
                    <a:p>
                      <a:pPr algn="l"/>
                      <a:r>
                        <a:rPr sz="1600"/>
                        <a:t>readPassword(String fmt, ...)</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pPr algn="l"/>
                      <a:r>
                        <a:rPr sz="1600"/>
                        <a:t>Same with prompt</a:t>
                      </a:r>
                      <a:endParaRPr sz="1600"/>
                    </a:p>
                  </a:txBody>
                  <a:tcPr marL="0" marR="0" marT="0" marB="0" anchor="ctr" anchorCtr="0">
                    <a:lnL>
                      <a:noFill/>
                    </a:lnL>
                    <a:lnR>
                      <a:noFill/>
                    </a:lnR>
                    <a:lnT>
                      <a:noFill/>
                    </a:lnT>
                    <a:lnB>
                      <a:noFill/>
                    </a:lnB>
                    <a:solidFill>
                      <a:schemeClr val="accent1">
                        <a:lumMod val="40000"/>
                        <a:lumOff val="60000"/>
                      </a:schemeClr>
                    </a:solidFill>
                  </a:tcPr>
                </a:tc>
              </a:tr>
              <a:tr h="417830">
                <a:tc>
                  <a:txBody>
                    <a:bodyPr/>
                    <a:p>
                      <a:pPr algn="l"/>
                      <a:r>
                        <a:rPr sz="1600"/>
                        <a:t>writer()</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pPr algn="l"/>
                      <a:r>
                        <a:rPr sz="1600"/>
                        <a:t>Returns a PrintWriter to write to console</a:t>
                      </a:r>
                      <a:endParaRPr sz="1600"/>
                    </a:p>
                  </a:txBody>
                  <a:tcPr marL="0" marR="0" marT="0" marB="0" anchor="ctr" anchorCtr="0">
                    <a:lnL>
                      <a:noFill/>
                    </a:lnL>
                    <a:lnR>
                      <a:noFill/>
                    </a:lnR>
                    <a:lnT>
                      <a:noFill/>
                    </a:lnT>
                    <a:lnB>
                      <a:noFill/>
                    </a:lnB>
                    <a:solidFill>
                      <a:schemeClr val="accent1">
                        <a:lumMod val="40000"/>
                        <a:lumOff val="60000"/>
                      </a:schemeClr>
                    </a:solidFill>
                  </a:tcPr>
                </a:tc>
              </a:tr>
              <a:tr h="417830">
                <a:tc>
                  <a:txBody>
                    <a:bodyPr/>
                    <a:p>
                      <a:pPr algn="l"/>
                      <a:r>
                        <a:rPr sz="1600"/>
                        <a:t>reader()</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pPr algn="l"/>
                      <a:r>
                        <a:rPr sz="1600"/>
                        <a:t>Returns a Reader for reading input</a:t>
                      </a:r>
                      <a:endParaRPr sz="16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7950" y="136525"/>
            <a:ext cx="12000230" cy="6637020"/>
          </a:xfrm>
        </p:spPr>
        <p:txBody>
          <a:bodyPr>
            <a:noAutofit/>
          </a:bodyPr>
          <a:p>
            <a:pPr marL="0" indent="0">
              <a:buNone/>
            </a:pPr>
            <a:r>
              <a:rPr lang="en-US" altLang="en-US" sz="1800"/>
              <a:t>import java.io.Console;</a:t>
            </a:r>
            <a:endParaRPr lang="en-US" altLang="en-US" sz="1800"/>
          </a:p>
          <a:p>
            <a:pPr marL="0" indent="0">
              <a:buNone/>
            </a:pPr>
            <a:r>
              <a:rPr lang="en-US" altLang="en-US" sz="1800"/>
              <a:t>public class Main {</a:t>
            </a:r>
            <a:endParaRPr lang="en-US" altLang="en-US" sz="1800"/>
          </a:p>
          <a:p>
            <a:pPr marL="0" indent="0">
              <a:buNone/>
            </a:pPr>
            <a:r>
              <a:rPr lang="en-US" altLang="en-US" sz="1800"/>
              <a:t>    public static void main(String[] args) {</a:t>
            </a:r>
            <a:endParaRPr lang="en-US" altLang="en-US" sz="1800"/>
          </a:p>
          <a:p>
            <a:pPr marL="0" indent="0">
              <a:buNone/>
            </a:pPr>
            <a:r>
              <a:rPr lang="en-US" altLang="en-US" sz="1800"/>
              <a:t>        Console console = System.console();</a:t>
            </a:r>
            <a:endParaRPr lang="en-US" altLang="en-US" sz="1800"/>
          </a:p>
          <a:p>
            <a:pPr marL="0" indent="0">
              <a:buNone/>
            </a:pPr>
            <a:r>
              <a:rPr lang="en-US" altLang="en-US" sz="1800"/>
              <a:t>        if (console == null) {         </a:t>
            </a:r>
            <a:endParaRPr lang="en-US" altLang="en-US" sz="1800"/>
          </a:p>
          <a:p>
            <a:pPr marL="0" indent="0">
              <a:buNone/>
            </a:pPr>
            <a:r>
              <a:rPr lang="en-US" altLang="en-US" sz="1800"/>
              <a:t>     System.out.println("Console not available.");         </a:t>
            </a:r>
            <a:endParaRPr lang="en-US" altLang="en-US" sz="1800"/>
          </a:p>
          <a:p>
            <a:pPr marL="0" indent="0">
              <a:buNone/>
            </a:pPr>
            <a:r>
              <a:rPr lang="en-US" altLang="en-US" sz="1800"/>
              <a:t>    return;      </a:t>
            </a:r>
            <a:endParaRPr lang="en-US" altLang="en-US" sz="1800"/>
          </a:p>
          <a:p>
            <a:pPr marL="0" indent="0">
              <a:buNone/>
            </a:pPr>
            <a:r>
              <a:rPr lang="en-US" altLang="en-US" sz="1800"/>
              <a:t>    }</a:t>
            </a:r>
            <a:endParaRPr lang="en-US" altLang="en-US" sz="1800"/>
          </a:p>
          <a:p>
            <a:pPr marL="0" indent="0">
              <a:buNone/>
            </a:pPr>
            <a:r>
              <a:rPr lang="en-US" altLang="en-US" sz="1800"/>
              <a:t>        String name = console.readLine("Enter your name: ");</a:t>
            </a:r>
            <a:endParaRPr lang="en-US" altLang="en-US" sz="1800"/>
          </a:p>
          <a:p>
            <a:pPr marL="0" indent="0">
              <a:buNone/>
            </a:pPr>
            <a:r>
              <a:rPr lang="en-US" altLang="en-US" sz="1800"/>
              <a:t>        char[] password = console.readPassword("Enter your password: ");</a:t>
            </a:r>
            <a:endParaRPr lang="en-US" altLang="en-US" sz="1800"/>
          </a:p>
          <a:p>
            <a:pPr marL="0" indent="0">
              <a:buNone/>
            </a:pPr>
            <a:r>
              <a:rPr lang="en-US" altLang="en-US" sz="1800"/>
              <a:t>        System.out.println("Hello, " + name);</a:t>
            </a:r>
            <a:endParaRPr lang="en-US" altLang="en-US" sz="1800"/>
          </a:p>
          <a:p>
            <a:pPr marL="0" indent="0">
              <a:buNone/>
            </a:pPr>
            <a:r>
              <a:rPr lang="en-US" altLang="en-US" sz="1800"/>
              <a:t>        // For security reasons, we generally don't print the password</a:t>
            </a:r>
            <a:endParaRPr lang="en-US" altLang="en-US" sz="1800"/>
          </a:p>
          <a:p>
            <a:pPr marL="0" indent="0">
              <a:buNone/>
            </a:pPr>
            <a:r>
              <a:rPr lang="en-US" altLang="en-US" sz="1800"/>
              <a:t>    }       }</a:t>
            </a:r>
            <a:endParaRPr lang="en-US" altLang="en-US" sz="1800"/>
          </a:p>
          <a:p>
            <a:pPr marL="0" indent="0">
              <a:buNone/>
            </a:pPr>
            <a:r>
              <a:rPr lang="en-US" altLang="en-US" sz="1800"/>
              <a:t>System.console() may return null in IDEs (like Eclipse, IntelliJ) or when not run in a real terminal.    Best to run in a command-line terminal (e.g., CMD, Bash, or Terminal).</a:t>
            </a:r>
            <a:endParaRPr lang="en-US" altLang="en-US" sz="1800"/>
          </a:p>
          <a:p>
            <a:pPr marL="0" indent="0">
              <a:buNone/>
            </a:pPr>
            <a:r>
              <a:rPr lang="en-US" altLang="en-US" sz="1800"/>
              <a:t>Use Cases:</a:t>
            </a:r>
            <a:endParaRPr lang="en-US" altLang="en-US" sz="1800"/>
          </a:p>
          <a:p>
            <a:pPr marL="0" indent="0">
              <a:buNone/>
            </a:pPr>
            <a:r>
              <a:rPr lang="en-US" altLang="en-US" sz="1800"/>
              <a:t>Command-line tools</a:t>
            </a:r>
            <a:endParaRPr lang="en-US" altLang="en-US" sz="1800"/>
          </a:p>
          <a:p>
            <a:pPr marL="0" indent="0">
              <a:buNone/>
            </a:pPr>
            <a:r>
              <a:rPr lang="en-US" altLang="en-US" sz="1800"/>
              <a:t>Text-based interfaces</a:t>
            </a:r>
            <a:endParaRPr lang="en-US" altLang="en-US" sz="1800"/>
          </a:p>
        </p:txBody>
      </p:sp>
    </p:spTree>
  </p:cSld>
  <p:clrMapOvr>
    <a:masterClrMapping/>
  </p:clrMapOvr>
</p:sld>
</file>

<file path=ppt/tags/tag1.xml><?xml version="1.0" encoding="utf-8"?>
<p:tagLst xmlns:p="http://schemas.openxmlformats.org/presentationml/2006/main">
  <p:tag name="TABLE_ENDDRAG_ORIGIN_RECT" val="936*390"/>
  <p:tag name="TABLE_ENDDRAG_RECT" val="8*142*936*390"/>
</p:tagLst>
</file>

<file path=ppt/tags/tag2.xml><?xml version="1.0" encoding="utf-8"?>
<p:tagLst xmlns:p="http://schemas.openxmlformats.org/presentationml/2006/main">
  <p:tag name="TABLE_ENDDRAG_ORIGIN_RECT" val="942*422"/>
  <p:tag name="TABLE_ENDDRAG_RECT" val="9*106*942*422"/>
</p:tagLst>
</file>

<file path=ppt/tags/tag3.xml><?xml version="1.0" encoding="utf-8"?>
<p:tagLst xmlns:p="http://schemas.openxmlformats.org/presentationml/2006/main">
  <p:tag name="TABLE_ENDDRAG_ORIGIN_RECT" val="928*130"/>
  <p:tag name="TABLE_ENDDRAG_RECT" val="13*112*928*130"/>
</p:tagLst>
</file>

<file path=ppt/tags/tag4.xml><?xml version="1.0" encoding="utf-8"?>
<p:tagLst xmlns:p="http://schemas.openxmlformats.org/presentationml/2006/main">
  <p:tag name="TABLE_ENDDRAG_ORIGIN_RECT" val="914*170"/>
  <p:tag name="TABLE_ENDDRAG_RECT" val="27*320*914*170"/>
</p:tagLst>
</file>

<file path=ppt/tags/tag5.xml><?xml version="1.0" encoding="utf-8"?>
<p:tagLst xmlns:p="http://schemas.openxmlformats.org/presentationml/2006/main">
  <p:tag name="TABLE_ENDDRAG_ORIGIN_RECT" val="932*113"/>
  <p:tag name="TABLE_ENDDRAG_RECT" val="17*45*932*113"/>
</p:tagLst>
</file>

<file path=ppt/tags/tag6.xml><?xml version="1.0" encoding="utf-8"?>
<p:tagLst xmlns:p="http://schemas.openxmlformats.org/presentationml/2006/main">
  <p:tag name="TABLE_ENDDRAG_ORIGIN_RECT" val="910*159"/>
  <p:tag name="TABLE_ENDDRAG_RECT" val="31*244*910*159"/>
</p:tagLst>
</file>

<file path=ppt/tags/tag7.xml><?xml version="1.0" encoding="utf-8"?>
<p:tagLst xmlns:p="http://schemas.openxmlformats.org/presentationml/2006/main">
  <p:tag name="TABLE_ENDDRAG_ORIGIN_RECT" val="825*58"/>
  <p:tag name="TABLE_ENDDRAG_RECT" val="13*28*825*58"/>
</p:tagLst>
</file>

<file path=ppt/tags/tag8.xml><?xml version="1.0" encoding="utf-8"?>
<p:tagLst xmlns:p="http://schemas.openxmlformats.org/presentationml/2006/main">
  <p:tag name="TABLE_ENDDRAG_ORIGIN_RECT" val="927*135"/>
  <p:tag name="TABLE_ENDDRAG_RECT" val="0*400*927*135"/>
</p:tagLst>
</file>

<file path=ppt/tags/tag9.xml><?xml version="1.0" encoding="utf-8"?>
<p:tagLst xmlns:p="http://schemas.openxmlformats.org/presentationml/2006/main">
  <p:tag name="TABLE_ENDDRAG_ORIGIN_RECT" val="266*220"/>
  <p:tag name="TABLE_ENDDRAG_RECT" val="0*65*266*220"/>
</p:tagLst>
</file>

<file path=ppt/tags/tag10.xml><?xml version="1.0" encoding="utf-8"?>
<p:tagLst xmlns:p="http://schemas.openxmlformats.org/presentationml/2006/main">
  <p:tag name="TABLE_ENDDRAG_ORIGIN_RECT" val="269*164"/>
  <p:tag name="TABLE_ENDDRAG_RECT" val="281*65*269*164"/>
</p:tagLst>
</file>

<file path=ppt/tags/tag11.xml><?xml version="1.0" encoding="utf-8"?>
<p:tagLst xmlns:p="http://schemas.openxmlformats.org/presentationml/2006/main">
  <p:tag name="TABLE_ENDDRAG_ORIGIN_RECT" val="324*145"/>
  <p:tag name="TABLE_ENDDRAG_RECT" val="585*65*324*145"/>
</p:tagLst>
</file>

<file path=ppt/tags/tag12.xml><?xml version="1.0" encoding="utf-8"?>
<p:tagLst xmlns:p="http://schemas.openxmlformats.org/presentationml/2006/main">
  <p:tag name="TABLE_ENDDRAG_ORIGIN_RECT" val="234*142"/>
  <p:tag name="TABLE_ENDDRAG_RECT" val="9*74*234*142"/>
</p:tagLst>
</file>

<file path=ppt/tags/tag13.xml><?xml version="1.0" encoding="utf-8"?>
<p:tagLst xmlns:p="http://schemas.openxmlformats.org/presentationml/2006/main">
  <p:tag name="TABLE_ENDDRAG_ORIGIN_RECT" val="316*165"/>
  <p:tag name="TABLE_ENDDRAG_RECT" val="215*127*316*165"/>
</p:tagLst>
</file>

<file path=ppt/tags/tag14.xml><?xml version="1.0" encoding="utf-8"?>
<p:tagLst xmlns:p="http://schemas.openxmlformats.org/presentationml/2006/main">
  <p:tag name="TABLE_ENDDRAG_ORIGIN_RECT" val="405*165"/>
  <p:tag name="TABLE_ENDDRAG_RECT" val="546*132*405*165"/>
</p:tagLst>
</file>

<file path=ppt/tags/tag15.xml><?xml version="1.0" encoding="utf-8"?>
<p:tagLst xmlns:p="http://schemas.openxmlformats.org/presentationml/2006/main">
  <p:tag name="TABLE_ENDDRAG_ORIGIN_RECT" val="921*107"/>
  <p:tag name="TABLE_ENDDRAG_RECT" val="9*0*921*107"/>
</p:tagLst>
</file>

<file path=ppt/tags/tag16.xml><?xml version="1.0" encoding="utf-8"?>
<p:tagLst xmlns:p="http://schemas.openxmlformats.org/presentationml/2006/main">
  <p:tag name="TABLE_ENDDRAG_ORIGIN_RECT" val="929*116"/>
  <p:tag name="TABLE_ENDDRAG_RECT" val="12*43*929*117"/>
</p:tagLst>
</file>

<file path=ppt/tags/tag17.xml><?xml version="1.0" encoding="utf-8"?>
<p:tagLst xmlns:p="http://schemas.openxmlformats.org/presentationml/2006/main">
  <p:tag name="TABLE_ENDDRAG_ORIGIN_RECT" val="940*81"/>
  <p:tag name="TABLE_ENDDRAG_RECT" val="2*27*940*81"/>
</p:tagLst>
</file>

<file path=ppt/tags/tag18.xml><?xml version="1.0" encoding="utf-8"?>
<p:tagLst xmlns:p="http://schemas.openxmlformats.org/presentationml/2006/main">
  <p:tag name="TABLE_ENDDRAG_ORIGIN_RECT" val="925*170"/>
  <p:tag name="TABLE_ENDDRAG_RECT" val="2*179*925*170"/>
</p:tagLst>
</file>

<file path=ppt/tags/tag19.xml><?xml version="1.0" encoding="utf-8"?>
<p:tagLst xmlns:p="http://schemas.openxmlformats.org/presentationml/2006/main">
  <p:tag name="TABLE_ENDDRAG_ORIGIN_RECT" val="943*177"/>
  <p:tag name="TABLE_ENDDRAG_RECT" val="8*239*943*177"/>
</p:tagLst>
</file>

<file path=ppt/tags/tag20.xml><?xml version="1.0" encoding="utf-8"?>
<p:tagLst xmlns:p="http://schemas.openxmlformats.org/presentationml/2006/main">
  <p:tag name="TABLE_ENDDRAG_ORIGIN_RECT" val="937*117"/>
  <p:tag name="TABLE_ENDDRAG_RECT" val="14*39*937*117"/>
</p:tagLst>
</file>

<file path=ppt/tags/tag21.xml><?xml version="1.0" encoding="utf-8"?>
<p:tagLst xmlns:p="http://schemas.openxmlformats.org/presentationml/2006/main">
  <p:tag name="TABLE_ENDDRAG_ORIGIN_RECT" val="937*188"/>
  <p:tag name="TABLE_ENDDRAG_RECT" val="7*93*937*188"/>
</p:tagLst>
</file>

<file path=ppt/tags/tag22.xml><?xml version="1.0" encoding="utf-8"?>
<p:tagLst xmlns:p="http://schemas.openxmlformats.org/presentationml/2006/main">
  <p:tag name="TABLE_ENDDRAG_ORIGIN_RECT" val="936*118"/>
  <p:tag name="TABLE_ENDDRAG_RECT" val="9*411*936*118"/>
</p:tagLst>
</file>

<file path=ppt/tags/tag23.xml><?xml version="1.0" encoding="utf-8"?>
<p:tagLst xmlns:p="http://schemas.openxmlformats.org/presentationml/2006/main">
  <p:tag name="TABLE_ENDDRAG_ORIGIN_RECT" val="825*119"/>
  <p:tag name="TABLE_ENDDRAG_RECT" val="25*66*825*119"/>
</p:tagLst>
</file>

<file path=ppt/tags/tag24.xml><?xml version="1.0" encoding="utf-8"?>
<p:tagLst xmlns:p="http://schemas.openxmlformats.org/presentationml/2006/main">
  <p:tag name="TABLE_ENDDRAG_ORIGIN_RECT" val="941*220"/>
  <p:tag name="TABLE_ENDDRAG_RECT" val="10*49*941*220"/>
</p:tagLst>
</file>

<file path=ppt/tags/tag25.xml><?xml version="1.0" encoding="utf-8"?>
<p:tagLst xmlns:p="http://schemas.openxmlformats.org/presentationml/2006/main">
  <p:tag name="TABLE_ENDDRAG_ORIGIN_RECT" val="664*477"/>
  <p:tag name="TABLE_ENDDRAG_RECT" val="262*40*664*477"/>
</p:tagLst>
</file>

<file path=ppt/tags/tag26.xml><?xml version="1.0" encoding="utf-8"?>
<p:tagLst xmlns:p="http://schemas.openxmlformats.org/presentationml/2006/main">
  <p:tag name="TABLE_ENDDRAG_ORIGIN_RECT" val="943*193"/>
  <p:tag name="TABLE_ENDDRAG_RECT" val="7*47*943*193"/>
</p:tagLst>
</file>

<file path=ppt/tags/tag27.xml><?xml version="1.0" encoding="utf-8"?>
<p:tagLst xmlns:p="http://schemas.openxmlformats.org/presentationml/2006/main">
  <p:tag name="TABLE_ENDDRAG_ORIGIN_RECT" val="402*253"/>
  <p:tag name="TABLE_ENDDRAG_RECT" val="8*40*402*253"/>
</p:tagLst>
</file>

<file path=ppt/tags/tag28.xml><?xml version="1.0" encoding="utf-8"?>
<p:tagLst xmlns:p="http://schemas.openxmlformats.org/presentationml/2006/main">
  <p:tag name="TABLE_ENDDRAG_ORIGIN_RECT" val="526*278"/>
  <p:tag name="TABLE_ENDDRAG_RECT" val="424*27*526*278"/>
</p:tagLst>
</file>

<file path=ppt/tags/tag29.xml><?xml version="1.0" encoding="utf-8"?>
<p:tagLst xmlns:p="http://schemas.openxmlformats.org/presentationml/2006/main">
  <p:tag name="TABLE_ENDDRAG_ORIGIN_RECT" val="941*246"/>
  <p:tag name="TABLE_ENDDRAG_RECT" val="6*286*941*246"/>
</p:tagLst>
</file>

<file path=ppt/tags/tag30.xml><?xml version="1.0" encoding="utf-8"?>
<p:tagLst xmlns:p="http://schemas.openxmlformats.org/presentationml/2006/main">
  <p:tag name="TABLE_ENDDRAG_ORIGIN_RECT" val="931*540"/>
  <p:tag name="TABLE_ENDDRAG_RECT" val="11*0*931*540"/>
</p:tagLst>
</file>

<file path=ppt/tags/tag31.xml><?xml version="1.0" encoding="utf-8"?>
<p:tagLst xmlns:p="http://schemas.openxmlformats.org/presentationml/2006/main">
  <p:tag name="TABLE_ENDDRAG_ORIGIN_RECT" val="923*482"/>
  <p:tag name="TABLE_ENDDRAG_RECT" val="21*37*923*482"/>
</p:tagLst>
</file>

<file path=ppt/tags/tag32.xml><?xml version="1.0" encoding="utf-8"?>
<p:tagLst xmlns:p="http://schemas.openxmlformats.org/presentationml/2006/main">
  <p:tag name="TABLE_ENDDRAG_ORIGIN_RECT" val="926*148"/>
  <p:tag name="TABLE_ENDDRAG_RECT" val="14*168*926*148"/>
</p:tagLst>
</file>

<file path=ppt/tags/tag33.xml><?xml version="1.0" encoding="utf-8"?>
<p:tagLst xmlns:p="http://schemas.openxmlformats.org/presentationml/2006/main">
  <p:tag name="TABLE_ENDDRAG_ORIGIN_RECT" val="936*105"/>
  <p:tag name="TABLE_ENDDRAG_RECT" val="14*230*936*105"/>
</p:tagLst>
</file>

<file path=ppt/tags/tag34.xml><?xml version="1.0" encoding="utf-8"?>
<p:tagLst xmlns:p="http://schemas.openxmlformats.org/presentationml/2006/main">
  <p:tag name="TABLE_ENDDRAG_ORIGIN_RECT" val="952*512"/>
  <p:tag name="TABLE_ENDDRAG_RECT" val="7*20*952*512"/>
</p:tagLst>
</file>

<file path=ppt/tags/tag35.xml><?xml version="1.0" encoding="utf-8"?>
<p:tagLst xmlns:p="http://schemas.openxmlformats.org/presentationml/2006/main">
  <p:tag name="TABLE_ENDDRAG_ORIGIN_RECT" val="934*360"/>
  <p:tag name="TABLE_ENDDRAG_RECT" val="8*39*934*360"/>
</p:tagLst>
</file>

<file path=ppt/tags/tag36.xml><?xml version="1.0" encoding="utf-8"?>
<p:tagLst xmlns:p="http://schemas.openxmlformats.org/presentationml/2006/main">
  <p:tag name="TABLE_ENDDRAG_ORIGIN_RECT" val="924*237"/>
  <p:tag name="TABLE_ENDDRAG_RECT" val="26*23*924*237"/>
</p:tagLst>
</file>

<file path=ppt/tags/tag37.xml><?xml version="1.0" encoding="utf-8"?>
<p:tagLst xmlns:p="http://schemas.openxmlformats.org/presentationml/2006/main">
  <p:tag name="TABLE_ENDDRAG_ORIGIN_RECT" val="952*391"/>
  <p:tag name="TABLE_ENDDRAG_RECT" val="0*138*952*391"/>
</p:tagLst>
</file>

<file path=ppt/tags/tag38.xml><?xml version="1.0" encoding="utf-8"?>
<p:tagLst xmlns:p="http://schemas.openxmlformats.org/presentationml/2006/main">
  <p:tag name="TABLE_ENDDRAG_ORIGIN_RECT" val="930*390"/>
  <p:tag name="TABLE_ENDDRAG_RECT" val="11*136*930*390"/>
</p:tagLst>
</file>

<file path=ppt/tags/tag39.xml><?xml version="1.0" encoding="utf-8"?>
<p:tagLst xmlns:p="http://schemas.openxmlformats.org/presentationml/2006/main">
  <p:tag name="TABLE_ENDDRAG_ORIGIN_RECT" val="939*418"/>
  <p:tag name="TABLE_ENDDRAG_RECT" val="10*118*939*418"/>
</p:tagLst>
</file>

<file path=ppt/tags/tag40.xml><?xml version="1.0" encoding="utf-8"?>
<p:tagLst xmlns:p="http://schemas.openxmlformats.org/presentationml/2006/main">
  <p:tag name="TABLE_ENDDRAG_ORIGIN_RECT" val="462*265"/>
  <p:tag name="TABLE_ENDDRAG_RECT" val="17*40*462*265"/>
</p:tagLst>
</file>

<file path=ppt/tags/tag41.xml><?xml version="1.0" encoding="utf-8"?>
<p:tagLst xmlns:p="http://schemas.openxmlformats.org/presentationml/2006/main">
  <p:tag name="TABLE_ENDDRAG_ORIGIN_RECT" val="451*245"/>
  <p:tag name="TABLE_ENDDRAG_RECT" val="489*40*451*245"/>
</p:tagLst>
</file>

<file path=ppt/tags/tag42.xml><?xml version="1.0" encoding="utf-8"?>
<p:tagLst xmlns:p="http://schemas.openxmlformats.org/presentationml/2006/main">
  <p:tag name="TABLE_ENDDRAG_ORIGIN_RECT" val="462*207"/>
  <p:tag name="TABLE_ENDDRAG_RECT" val="17*335*462*207"/>
</p:tagLst>
</file>

<file path=ppt/tags/tag43.xml><?xml version="1.0" encoding="utf-8"?>
<p:tagLst xmlns:p="http://schemas.openxmlformats.org/presentationml/2006/main">
  <p:tag name="TABLE_ENDDRAG_ORIGIN_RECT" val="459*220"/>
  <p:tag name="TABLE_ENDDRAG_RECT" val="489*305*459*220"/>
</p:tagLst>
</file>

<file path=ppt/tags/tag44.xml><?xml version="1.0" encoding="utf-8"?>
<p:tagLst xmlns:p="http://schemas.openxmlformats.org/presentationml/2006/main">
  <p:tag name="TABLE_ENDDRAG_ORIGIN_RECT" val="604*232"/>
  <p:tag name="TABLE_ENDDRAG_RECT" val="16*23*604*232"/>
</p:tagLst>
</file>

<file path=ppt/tags/tag45.xml><?xml version="1.0" encoding="utf-8"?>
<p:tagLst xmlns:p="http://schemas.openxmlformats.org/presentationml/2006/main">
  <p:tag name="TABLE_ENDDRAG_ORIGIN_RECT" val="937*230"/>
  <p:tag name="TABLE_ENDDRAG_RECT" val="4*302*937*23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71925</Words>
  <Application>WPS Presentation</Application>
  <PresentationFormat>Widescreen</PresentationFormat>
  <Paragraphs>3703</Paragraphs>
  <Slides>102</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102</vt:i4>
      </vt:variant>
    </vt:vector>
  </HeadingPairs>
  <TitlesOfParts>
    <vt:vector size="117" baseType="lpstr">
      <vt:lpstr>Arial</vt:lpstr>
      <vt:lpstr>SimSun</vt:lpstr>
      <vt:lpstr>Wingdings</vt:lpstr>
      <vt:lpstr>Cambria</vt:lpstr>
      <vt:lpstr>Monaco</vt:lpstr>
      <vt:lpstr>Segoe Print</vt:lpstr>
      <vt:lpstr>Arial</vt:lpstr>
      <vt:lpstr>Calibri Light</vt:lpstr>
      <vt:lpstr>Microsoft YaHei</vt:lpstr>
      <vt:lpstr>Arial Unicode MS</vt:lpstr>
      <vt:lpstr>Calibri</vt:lpstr>
      <vt:lpstr>Courier New</vt:lpstr>
      <vt:lpstr>Consolas</vt:lpstr>
      <vt:lpstr>Cambria</vt:lpstr>
      <vt:lpstr>Office Theme</vt:lpstr>
      <vt:lpstr>JAVA OOPS</vt:lpstr>
      <vt:lpstr>java size and Byte method</vt:lpstr>
      <vt:lpstr>ASCII stands for American Standard Code for Information Interchange.</vt:lpstr>
      <vt:lpstr>Java Token</vt:lpstr>
      <vt:lpstr>Java Keywords</vt:lpstr>
      <vt:lpstr>2. Java Identifiers And Java Literals</vt:lpstr>
      <vt:lpstr>4.  Separators / Delimiters and Java comments</vt:lpstr>
      <vt:lpstr>6.Java Operators</vt:lpstr>
      <vt:lpstr>Java Operators</vt:lpstr>
      <vt:lpstr>PowerPoint 演示文稿</vt:lpstr>
      <vt:lpstr>Bitwise Operators</vt:lpstr>
      <vt:lpstr>Bitwise XOR operator</vt:lpstr>
      <vt:lpstr>PowerPoint 演示文稿</vt:lpstr>
      <vt:lpstr>Java Decision Making Statements</vt:lpstr>
      <vt:lpstr>if-else statements</vt:lpstr>
      <vt:lpstr>Nesting if-else </vt:lpstr>
      <vt:lpstr>ladder if-else statement</vt:lpstr>
      <vt:lpstr>Switch-case Statement</vt:lpstr>
      <vt:lpstr>looping statement</vt:lpstr>
      <vt:lpstr>while and do-while loop</vt:lpstr>
      <vt:lpstr>Java Assignments</vt:lpstr>
      <vt:lpstr>Looping Statements Assignments</vt:lpstr>
      <vt:lpstr>Java Memory Management</vt:lpstr>
      <vt:lpstr>Java Memory Management</vt:lpstr>
      <vt:lpstr>Java Methods</vt:lpstr>
      <vt:lpstr>Deifference Between Static And Non Static Method</vt:lpstr>
      <vt:lpstr>Problems on Decision making Statment</vt:lpstr>
      <vt:lpstr>Methods Problems</vt:lpstr>
      <vt:lpstr>Method with Return in Java</vt:lpstr>
      <vt:lpstr>PowerPoint 演示文稿</vt:lpstr>
      <vt:lpstr>Java OOps</vt:lpstr>
      <vt:lpstr>JAVA OOPS</vt:lpstr>
      <vt:lpstr>About OOps</vt:lpstr>
      <vt:lpstr> What is Encapsulation?</vt:lpstr>
      <vt:lpstr>What is Class And Object</vt:lpstr>
      <vt:lpstr>PowerPoint 演示文稿</vt:lpstr>
      <vt:lpstr>Access Specifiers in java</vt:lpstr>
      <vt:lpstr>Java Getters And Setters and toString() Method</vt:lpstr>
      <vt:lpstr> What is a Constructor in Java?</vt:lpstr>
      <vt:lpstr>Uses Of Constructor</vt:lpstr>
      <vt:lpstr>What is a Copy Constructor?</vt:lpstr>
      <vt:lpstr>Copy Constructor</vt:lpstr>
      <vt:lpstr>This Keyword in Java</vt:lpstr>
      <vt:lpstr>Definition of Inheritance</vt:lpstr>
      <vt:lpstr>Uses of Inheritance</vt:lpstr>
      <vt:lpstr>Disadvantages</vt:lpstr>
      <vt:lpstr>Java Inheritance</vt:lpstr>
      <vt:lpstr>PowerPoint 演示文稿</vt:lpstr>
      <vt:lpstr>What is Inheritance in Java?</vt:lpstr>
      <vt:lpstr>Use of Inheritance in Java</vt:lpstr>
      <vt:lpstr>Advantages of Inheritance</vt:lpstr>
      <vt:lpstr>Types of Inheritance</vt:lpstr>
      <vt:lpstr>Single level Inheritance</vt:lpstr>
      <vt:lpstr>Example of Single Inheritance</vt:lpstr>
      <vt:lpstr>Hierarchical level Inheritance</vt:lpstr>
      <vt:lpstr>Example of Hierarchical Inheritance</vt:lpstr>
      <vt:lpstr>Multilevel Inheritance</vt:lpstr>
      <vt:lpstr>Multilevel Inheritance</vt:lpstr>
      <vt:lpstr>Why Java Does not Support Multiple Inheritance</vt:lpstr>
      <vt:lpstr>Problem with Classes (Hypothetical – Not Allowed in Java):</vt:lpstr>
      <vt:lpstr>Java Polymorphism</vt:lpstr>
      <vt:lpstr>Compile Time Polymorphism(Method Overloading)</vt:lpstr>
      <vt:lpstr>Run Time Polymorphism(Method Overriding)</vt:lpstr>
      <vt:lpstr>Java Abstract Class And Abstract Method</vt:lpstr>
      <vt:lpstr>Java Abstract class Continued</vt:lpstr>
      <vt:lpstr>Java Packages And Interfaces</vt:lpstr>
      <vt:lpstr>Difference Between Abstract Class and concrete class</vt:lpstr>
      <vt:lpstr>What is a Package in Java?</vt:lpstr>
      <vt:lpstr>Java Static Class And Static Method</vt:lpstr>
      <vt:lpstr>Static Class (Nested Static Class Only):</vt:lpstr>
      <vt:lpstr>Java Final class And Final Method</vt:lpstr>
      <vt:lpstr>PowerPoint 演示文稿</vt:lpstr>
      <vt:lpstr>Java Exception Handling</vt:lpstr>
      <vt:lpstr>Exception Handling</vt:lpstr>
      <vt:lpstr>java throw keyword</vt:lpstr>
      <vt:lpstr>java Custom Exception</vt:lpstr>
      <vt:lpstr>java Custom Exception</vt:lpstr>
      <vt:lpstr>Java Collection Framework</vt:lpstr>
      <vt:lpstr>Hierarchi Of Java collections framework</vt:lpstr>
      <vt:lpstr>Iterator interface</vt:lpstr>
      <vt:lpstr>Java Arraylist</vt:lpstr>
      <vt:lpstr>PowerPoint 演示文稿</vt:lpstr>
      <vt:lpstr>Java LinkedList class</vt:lpstr>
      <vt:lpstr>PowerPoint 演示文稿</vt:lpstr>
      <vt:lpstr>Stack</vt:lpstr>
      <vt:lpstr>PowerPoint 演示文稿</vt:lpstr>
      <vt:lpstr>Java Legacy Classes</vt:lpstr>
      <vt:lpstr>Java Thread-safe And Java Non Thread-safe</vt:lpstr>
      <vt:lpstr>Java Vector</vt:lpstr>
      <vt:lpstr>Vector</vt:lpstr>
      <vt:lpstr>HashMap And HashSet</vt:lpstr>
      <vt:lpstr>Advanced Methods</vt:lpstr>
      <vt:lpstr>HashSet</vt:lpstr>
      <vt:lpstr>HashSet Advanced Method</vt:lpstr>
      <vt:lpstr>HashTable</vt:lpstr>
      <vt:lpstr>Treeset</vt:lpstr>
      <vt:lpstr>TreeMap</vt:lpstr>
      <vt:lpstr>List Collection</vt:lpstr>
      <vt:lpstr>Collection Differences</vt:lpstr>
      <vt:lpstr>PowerPoint 演示文稿</vt:lpstr>
      <vt:lpstr>Java Console Input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UV-user</dc:creator>
  <cp:lastModifiedBy>Nishank Amte</cp:lastModifiedBy>
  <cp:revision>424</cp:revision>
  <dcterms:created xsi:type="dcterms:W3CDTF">2025-08-10T13:25:00Z</dcterms:created>
  <dcterms:modified xsi:type="dcterms:W3CDTF">2026-02-01T11:43:14Z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D52B9D7F78F447C3A9F01578C3B420A9_11</vt:lpwstr>
  </property>
  <property fmtid="{D5CDD505-2E9C-101B-9397-08002B2CF9AE}" pid="3" name="KSOProductBuildVer">
    <vt:lpwstr>1033-12.2.0.23196</vt:lpwstr>
  </property>
</Properties>
</file>