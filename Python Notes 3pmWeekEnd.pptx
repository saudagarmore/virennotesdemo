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www.javatpoint.com/javatpoint.com/mobile-application-testing" TargetMode="External"/><Relationship Id="rId3" Type="http://schemas.openxmlformats.org/officeDocument/2006/relationships/hyperlink" Target="https://www.javatpoint.com/artificial-intelligence-tutorial" TargetMode="External"/><Relationship Id="rId2" Type="http://schemas.openxmlformats.org/officeDocument/2006/relationships/hyperlink" Target="https://www.javatpoint.com/machine-learning" TargetMode="External"/><Relationship Id="rId1" Type="http://schemas.openxmlformats.org/officeDocument/2006/relationships/hyperlink" Target="https://www.javatpoint.com/python-tutoria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python.org/" TargetMode="Externa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linkedin.com/" TargetMode="Externa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emf"/><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python.org/downloads/"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ww.geeksforgeeks.org/download-and-install-pip-latest-version/" TargetMode="External"/><Relationship Id="rId2" Type="http://schemas.openxmlformats.org/officeDocument/2006/relationships/hyperlink" Target="https://www.geeksforgeeks.org/python-programming-language-tutorial/" TargetMode="External"/><Relationship Id="rId1" Type="http://schemas.openxmlformats.org/officeDocument/2006/relationships/hyperlink" Target="https://www.geeksforgeeks.org/python-pi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7400" y="364067"/>
            <a:ext cx="9880600" cy="482600"/>
          </a:xfrm>
        </p:spPr>
        <p:txBody>
          <a:bodyPr>
            <a:normAutofit fontScale="90000"/>
          </a:bodyPr>
          <a:lstStyle/>
          <a:p>
            <a:r>
              <a:rPr lang="en-US" sz="2800" b="1" dirty="0">
                <a:solidFill>
                  <a:srgbClr val="C00000"/>
                </a:solidFill>
                <a:latin typeface="Cambria" panose="02040503050406030204" pitchFamily="18" charset="0"/>
                <a:ea typeface="Cambria" panose="02040503050406030204" pitchFamily="18" charset="0"/>
              </a:rPr>
              <a:t>Python Introduction</a:t>
            </a:r>
            <a:endParaRPr lang="en-US" sz="2800" b="1" dirty="0">
              <a:solidFill>
                <a:srgbClr val="C00000"/>
              </a:solidFill>
              <a:latin typeface="Cambria" panose="02040503050406030204" pitchFamily="18" charset="0"/>
              <a:ea typeface="Cambria" panose="02040503050406030204" pitchFamily="18" charset="0"/>
            </a:endParaRPr>
          </a:p>
        </p:txBody>
      </p:sp>
      <p:sp>
        <p:nvSpPr>
          <p:cNvPr id="3" name="Subtitle 2"/>
          <p:cNvSpPr>
            <a:spLocks noGrp="1"/>
          </p:cNvSpPr>
          <p:nvPr>
            <p:ph type="subTitle" idx="1"/>
          </p:nvPr>
        </p:nvSpPr>
        <p:spPr>
          <a:xfrm>
            <a:off x="365760" y="991402"/>
            <a:ext cx="11588817" cy="5409398"/>
          </a:xfrm>
        </p:spPr>
        <p:txBody>
          <a:bodyPr>
            <a:normAutofit/>
          </a:bodyPr>
          <a:lstStyle/>
          <a:p>
            <a:pPr marL="342900" indent="-342900" algn="l">
              <a:buFont typeface="Arial" panose="020B0604020202020204" pitchFamily="34" charset="0"/>
              <a:buChar char="•"/>
            </a:pPr>
            <a:r>
              <a:rPr lang="en-US" sz="2000" dirty="0">
                <a:latin typeface="Cambria" panose="02040503050406030204" pitchFamily="18" charset="0"/>
                <a:ea typeface="Cambria" panose="02040503050406030204" pitchFamily="18" charset="0"/>
              </a:rPr>
              <a:t>Python is a widely used general purpose, </a:t>
            </a:r>
            <a:r>
              <a:rPr lang="en-IN" sz="1800" dirty="0">
                <a:solidFill>
                  <a:srgbClr val="333333"/>
                </a:solidFill>
                <a:effectLst/>
                <a:latin typeface="Cambria" panose="02040503050406030204" pitchFamily="18" charset="0"/>
                <a:ea typeface="Cambria" panose="02040503050406030204" pitchFamily="18" charset="0"/>
              </a:rPr>
              <a:t>dynamic,</a:t>
            </a:r>
            <a:r>
              <a:rPr lang="en-US" sz="2000" dirty="0">
                <a:latin typeface="Cambria" panose="02040503050406030204" pitchFamily="18" charset="0"/>
                <a:ea typeface="Cambria" panose="02040503050406030204" pitchFamily="18" charset="0"/>
              </a:rPr>
              <a:t> interpreted, high level programming language developed  </a:t>
            </a:r>
            <a:r>
              <a:rPr lang="en-US" sz="2000" dirty="0">
                <a:highlight>
                  <a:srgbClr val="FFFF00"/>
                </a:highlight>
                <a:latin typeface="Cambria" panose="02040503050406030204" pitchFamily="18" charset="0"/>
                <a:ea typeface="Cambria" panose="02040503050406030204" pitchFamily="18" charset="0"/>
              </a:rPr>
              <a:t>by Guido van Rossum in </a:t>
            </a:r>
            <a:r>
              <a:rPr lang="en-US" sz="2000" dirty="0">
                <a:latin typeface="Cambria" panose="02040503050406030204" pitchFamily="18" charset="0"/>
                <a:ea typeface="Cambria" panose="02040503050406030204" pitchFamily="18" charset="0"/>
              </a:rPr>
              <a:t>1991at the national  Research institute of Mathematics and Computer Science Netherlands</a:t>
            </a:r>
            <a:endParaRPr lang="en-US" sz="2000" dirty="0">
              <a:latin typeface="Cambria" panose="02040503050406030204" pitchFamily="18" charset="0"/>
              <a:ea typeface="Cambria" panose="02040503050406030204" pitchFamily="18" charset="0"/>
            </a:endParaRPr>
          </a:p>
          <a:p>
            <a:pPr marL="342900" indent="-342900" algn="l">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It supports Object Oriented programming approach to develop applications. It is simple and easy to learn and provides lots of high-level data structures.</a:t>
            </a:r>
            <a:endPar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endParaRPr>
          </a:p>
          <a:p>
            <a:pPr marL="342900" indent="-342900" algn="l">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 is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easy to learn</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yet powerful and versatile(to be capable of doing many different things or being used for many different purposes) scripting language, which makes it attractive for Application Development.</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285750" marR="0" indent="-285750" algn="just">
              <a:lnSpc>
                <a:spcPct val="115000"/>
              </a:lnSpc>
              <a:spcBef>
                <a:spcPts val="0"/>
              </a:spcBef>
              <a:spcAft>
                <a:spcPts val="600"/>
              </a:spcAft>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Python's syntax and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dynamic typing</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with its interpreted nature make it an ideal language for scripting and rapid application development.</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285750" marR="0" indent="-285750" algn="just">
              <a:lnSpc>
                <a:spcPct val="115000"/>
              </a:lnSpc>
              <a:spcBef>
                <a:spcPts val="0"/>
              </a:spcBef>
              <a:spcAft>
                <a:spcPts val="600"/>
              </a:spcAft>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 supports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multiple programming pattern</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including object-oriented, imperative, and functional or procedural programming styles.</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342900" indent="-342900" algn="l">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l"/>
            <a:endParaRPr lang="en-US" dirty="0">
              <a:highlight>
                <a:srgbClr val="FFFF00"/>
              </a:highlight>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9134"/>
            <a:ext cx="10515600" cy="702643"/>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History Of Python</a:t>
            </a:r>
            <a:endParaRPr lang="en-US" sz="2800" dirty="0">
              <a:solidFill>
                <a:srgbClr val="C0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981777"/>
            <a:ext cx="10515600" cy="5195185"/>
          </a:xfrm>
        </p:spPr>
        <p:txBody>
          <a:bodyPr>
            <a:normAutofit/>
          </a:bodyPr>
          <a:lstStyle/>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In February 1991, </a:t>
            </a:r>
            <a:r>
              <a:rPr lang="en-IN" sz="1800" b="1" dirty="0">
                <a:solidFill>
                  <a:srgbClr val="000000"/>
                </a:solidFill>
                <a:effectLst/>
                <a:latin typeface="Cambria" panose="02040503050406030204" pitchFamily="18" charset="0"/>
                <a:ea typeface="Cambria" panose="02040503050406030204" pitchFamily="18" charset="0"/>
                <a:cs typeface="Mangal" panose="02040503050203030202" pitchFamily="18" charset="0"/>
              </a:rPr>
              <a:t>Guido Van Rossum</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published the code (</a:t>
            </a:r>
            <a:r>
              <a:rPr lang="en-IN" sz="1800" dirty="0" err="1">
                <a:solidFill>
                  <a:srgbClr val="000000"/>
                </a:solidFill>
                <a:effectLst/>
                <a:latin typeface="Cambria" panose="02040503050406030204" pitchFamily="18" charset="0"/>
                <a:ea typeface="Cambria" panose="02040503050406030204" pitchFamily="18" charset="0"/>
                <a:cs typeface="Mangal" panose="02040503050203030202" pitchFamily="18" charset="0"/>
              </a:rPr>
              <a:t>labeled</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version 0.9.0) to alt. sources.</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In 1994, Python 1.0 was released with new features like lambda, map, filter, and reduce.</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Python 2.0 added new features such as list comprehensions, garbage collection systems.</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On December 3, 2008, Python 3.0 (also called "Py3K") was released. It was designed to rectify the fundamental flow of the language.</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i="1" dirty="0">
                <a:solidFill>
                  <a:srgbClr val="000000"/>
                </a:solidFill>
                <a:effectLst/>
                <a:latin typeface="Cambria" panose="02040503050406030204" pitchFamily="18" charset="0"/>
                <a:ea typeface="Cambria" panose="02040503050406030204" pitchFamily="18" charset="0"/>
                <a:cs typeface="Mangal" panose="02040503050203030202" pitchFamily="18" charset="0"/>
              </a:rPr>
              <a:t>ABC programming language</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is said to be the predecessor of Python language, which was capable of Exception Handling and interfacing with the Amoeba Operating System.</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924026" y="1414915"/>
            <a:ext cx="10366408" cy="4496936"/>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27" y="624110"/>
            <a:ext cx="10542086" cy="810054"/>
          </a:xfrm>
        </p:spPr>
        <p:txBody>
          <a:bodyPr>
            <a:normAutofit fontScale="90000"/>
          </a:bodyPr>
          <a:lstStyle/>
          <a:p>
            <a:r>
              <a:rPr lang="en-IN" sz="3100" dirty="0">
                <a:solidFill>
                  <a:srgbClr val="C00000"/>
                </a:solidFill>
                <a:effectLst/>
                <a:latin typeface="Cambria" panose="02040503050406030204" pitchFamily="18" charset="0"/>
                <a:ea typeface="Cambria" panose="02040503050406030204" pitchFamily="18" charset="0"/>
                <a:cs typeface="Mangal" panose="02040503050203030202" pitchFamily="18" charset="0"/>
              </a:rPr>
              <a:t>Why the Name Python?</a:t>
            </a:r>
            <a:br>
              <a:rPr lang="en-US" sz="3600" dirty="0">
                <a:effectLst/>
                <a:latin typeface="Calibri" panose="020F0502020204030204" charset="0"/>
                <a:ea typeface="Times New Roman" panose="02020603050405020304" pitchFamily="18" charset="0"/>
                <a:cs typeface="Mangal" panose="02040503050203030202" pitchFamily="18" charset="0"/>
              </a:rPr>
            </a:br>
            <a:endParaRPr lang="en-US" dirty="0"/>
          </a:p>
        </p:txBody>
      </p:sp>
      <p:sp>
        <p:nvSpPr>
          <p:cNvPr id="3" name="Content Placeholder 2"/>
          <p:cNvSpPr>
            <a:spLocks noGrp="1"/>
          </p:cNvSpPr>
          <p:nvPr>
            <p:ph idx="1"/>
          </p:nvPr>
        </p:nvSpPr>
        <p:spPr>
          <a:xfrm>
            <a:off x="616017" y="1434164"/>
            <a:ext cx="10888595" cy="4799726"/>
          </a:xfrm>
        </p:spPr>
        <p:txBody>
          <a:bodyPr>
            <a:normAutofit/>
          </a:bodyPr>
          <a:lstStyle/>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There is a fact behind choosing the name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1"/>
              </a:rPr>
              <a:t>Python</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Guido van Rossum</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was reading the script of a popular BBC comedy series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Monty Python's Flying Circus</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endPar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It was late on-air 1970s.</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Van Rossum wanted to select a name which unique, sort, and little-bit mysterious. </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So he decided to select naming Python after the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"Monty Python's Flying Circus"</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for their newly created programming language.</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The comedy series was creative and well random.</a:t>
            </a:r>
            <a:endPar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It talks about everything. Thus it is slow and unpredictable, which made it very interesting.</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Python is also versatile and widely used in every technical field, such as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2"/>
              </a:rPr>
              <a:t>Machine Learning</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3"/>
              </a:rPr>
              <a:t>Artificial Intelligence</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Data Analytics, Web Development,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4"/>
              </a:rPr>
              <a:t>Mobile Application</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Desktop Application, Scientific Calculation, etc.</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4778"/>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Features of Python</a:t>
            </a:r>
            <a:endParaRPr lang="en-US" sz="2800" dirty="0">
              <a:solidFill>
                <a:srgbClr val="C0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41960" y="1029970"/>
            <a:ext cx="11377930" cy="5630545"/>
          </a:xfrm>
        </p:spPr>
        <p:txBody>
          <a:bodyPr>
            <a:normAutofit/>
          </a:bodyPr>
          <a:lstStyle/>
          <a:p>
            <a:pPr>
              <a:buFont typeface="Wingdings" panose="05000000000000000000" pitchFamily="2" charset="2"/>
              <a:buChar char="Ø"/>
            </a:pPr>
            <a:r>
              <a:rPr lang="en-US" sz="1800" dirty="0">
                <a:solidFill>
                  <a:srgbClr val="610B4B"/>
                </a:solidFill>
                <a:effectLst/>
                <a:latin typeface="Cambria" panose="02040503050406030204" pitchFamily="18" charset="0"/>
                <a:ea typeface="Cambria" panose="02040503050406030204" pitchFamily="18" charset="0"/>
              </a:rPr>
              <a:t>Simple and Easy To Learn</a:t>
            </a:r>
            <a:endParaRPr lang="en-US" sz="1800" dirty="0">
              <a:solidFill>
                <a:srgbClr val="610B4B"/>
              </a:solidFill>
              <a:effectLst/>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easy to learn as compared to other programming languages. Its syntax is straightforward and much the same as the English language. There is no use of the semicolon or curly-bracket, the indentation defines the code block.</a:t>
            </a:r>
            <a:endParaRPr lang="en-US" sz="1800" dirty="0">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effectLst/>
                <a:latin typeface="Cambria" panose="02040503050406030204" pitchFamily="18" charset="0"/>
                <a:ea typeface="Cambria" panose="02040503050406030204" pitchFamily="18" charset="0"/>
              </a:rPr>
              <a:t>Expressive Language</a:t>
            </a:r>
            <a:endParaRPr lang="en-IN" sz="1800" dirty="0">
              <a:solidFill>
                <a:srgbClr val="610B4B"/>
              </a:solidFill>
              <a:effectLst/>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can perform complex tasks using a few lines of code. A simple example, the hello world program you simply type </a:t>
            </a:r>
            <a:r>
              <a:rPr lang="en-IN" sz="1800" b="1" dirty="0">
                <a:solidFill>
                  <a:srgbClr val="333333"/>
                </a:solidFill>
                <a:effectLst/>
                <a:latin typeface="Cambria" panose="02040503050406030204" pitchFamily="18" charset="0"/>
                <a:ea typeface="Cambria" panose="02040503050406030204" pitchFamily="18" charset="0"/>
              </a:rPr>
              <a:t>print("Hello World")</a:t>
            </a:r>
            <a:r>
              <a:rPr lang="en-IN" sz="1800" dirty="0">
                <a:solidFill>
                  <a:srgbClr val="333333"/>
                </a:solidFill>
                <a:effectLst/>
                <a:latin typeface="Cambria" panose="02040503050406030204" pitchFamily="18" charset="0"/>
                <a:ea typeface="Cambria" panose="02040503050406030204" pitchFamily="18" charset="0"/>
              </a:rPr>
              <a:t>. It will take only one line to execute, while Java or C takes multiple lines.</a:t>
            </a:r>
            <a:endParaRPr lang="en-IN" sz="1800" dirty="0">
              <a:solidFill>
                <a:srgbClr val="610B4B"/>
              </a:solidFill>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latin typeface="Cambria" panose="02040503050406030204" pitchFamily="18" charset="0"/>
                <a:ea typeface="Cambria" panose="02040503050406030204" pitchFamily="18" charset="0"/>
              </a:rPr>
              <a:t>Interpreted language</a:t>
            </a:r>
            <a:endParaRPr lang="en-IN" sz="18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an interpreted language; it means the Python program is executed one line at a time. The advantage of being interpreted language, it makes debugging easy and portable.</a:t>
            </a:r>
            <a:endParaRPr lang="en-IN" sz="1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latin typeface="Cambria" panose="02040503050406030204" pitchFamily="18" charset="0"/>
                <a:ea typeface="Cambria" panose="02040503050406030204" pitchFamily="18" charset="0"/>
              </a:rPr>
              <a:t>Cross platform Language</a:t>
            </a:r>
            <a:endParaRPr lang="en-IN" sz="18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can run equally on different platforms such as Windows, Linux, UNIX, and Macintosh. So, we can say that Python is a portable language. It enables programmers to develop the software for several competing platforms by writing a program only once.</a:t>
            </a:r>
            <a:endParaRPr lang="en-IN" sz="1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endParaRPr lang="en-IN" sz="1800" dirty="0">
              <a:solidFill>
                <a:srgbClr val="610B4B"/>
              </a:solidFill>
              <a:latin typeface="Cambria" panose="02040503050406030204" pitchFamily="18" charset="0"/>
              <a:ea typeface="Cambria" panose="02040503050406030204" pitchFamily="18" charset="0"/>
            </a:endParaRPr>
          </a:p>
          <a:p>
            <a:pPr marL="0" indent="0">
              <a:buNone/>
            </a:pP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764" y="924025"/>
            <a:ext cx="10834036" cy="5467150"/>
          </a:xfrm>
        </p:spPr>
        <p:txBody>
          <a:bodyPr>
            <a:normAutofit/>
          </a:bodyPr>
          <a:lstStyle/>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Free and Open Source</a:t>
            </a:r>
            <a:endParaRPr lang="en-IN" sz="19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freely available for everyone. It is freely available on its official website </a:t>
            </a:r>
            <a:r>
              <a:rPr lang="en-IN" sz="1800" u="sng" dirty="0">
                <a:solidFill>
                  <a:srgbClr val="008000"/>
                </a:solidFill>
                <a:effectLst/>
                <a:latin typeface="Cambria" panose="02040503050406030204" pitchFamily="18" charset="0"/>
                <a:ea typeface="Cambria" panose="02040503050406030204" pitchFamily="18" charset="0"/>
                <a:hlinkClick r:id="rId1"/>
              </a:rPr>
              <a:t>www.python.org</a:t>
            </a:r>
            <a:r>
              <a:rPr lang="en-IN" sz="1800" dirty="0">
                <a:solidFill>
                  <a:srgbClr val="333333"/>
                </a:solidFill>
                <a:effectLst/>
                <a:latin typeface="Cambria" panose="02040503050406030204" pitchFamily="18" charset="0"/>
                <a:ea typeface="Cambria" panose="02040503050406030204" pitchFamily="18" charset="0"/>
              </a:rPr>
              <a:t>. It has a large community across the world that is dedicatedly working towards make new python modules and functions. Anyone can contribute to the Python community. The open-source means, "Anyone can download its source code without paying any penny."</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Object Oriented Programming Language</a:t>
            </a:r>
            <a:endParaRPr lang="en-IN" sz="19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supports object-oriented language and concepts of classes and objects come into existence. It supports inheritance, polymorphism, and encapsulation, etc. The object-oriented procedure helps to programmer to write reusable code and develop applications in less code.</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Large Standard </a:t>
            </a:r>
            <a:r>
              <a:rPr lang="en-IN" sz="1900" dirty="0">
                <a:solidFill>
                  <a:srgbClr val="610B4B"/>
                </a:solidFill>
                <a:effectLst/>
                <a:latin typeface="Cambria" panose="02040503050406030204" pitchFamily="18" charset="0"/>
                <a:ea typeface="Cambria" panose="02040503050406030204" pitchFamily="18" charset="0"/>
                <a:cs typeface="Times New Roman" panose="02020603050405020304" pitchFamily="18" charset="0"/>
              </a:rPr>
              <a:t>Library</a:t>
            </a:r>
            <a:endParaRPr lang="en-IN" sz="1900" dirty="0">
              <a:solidFill>
                <a:srgbClr val="610B4B"/>
              </a:solidFill>
              <a:effectLst/>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It provides a vast range of libraries for the various fields such as machine learning, web developer, and also for the scripting. There are various machine learning libraries, such as Tensor flow, Pandas, </a:t>
            </a:r>
            <a:r>
              <a:rPr lang="en-IN" sz="1800" dirty="0" err="1">
                <a:solidFill>
                  <a:srgbClr val="333333"/>
                </a:solidFill>
                <a:effectLst/>
                <a:latin typeface="Cambria" panose="02040503050406030204" pitchFamily="18" charset="0"/>
                <a:ea typeface="Cambria" panose="02040503050406030204" pitchFamily="18" charset="0"/>
              </a:rPr>
              <a:t>Numpy</a:t>
            </a:r>
            <a:r>
              <a:rPr lang="en-IN" sz="1800" dirty="0">
                <a:solidFill>
                  <a:srgbClr val="333333"/>
                </a:solidFill>
                <a:effectLst/>
                <a:latin typeface="Cambria" panose="02040503050406030204" pitchFamily="18" charset="0"/>
                <a:ea typeface="Cambria" panose="02040503050406030204" pitchFamily="18" charset="0"/>
              </a:rPr>
              <a:t>, </a:t>
            </a:r>
            <a:r>
              <a:rPr lang="en-IN" sz="1800" dirty="0" err="1">
                <a:solidFill>
                  <a:srgbClr val="333333"/>
                </a:solidFill>
                <a:effectLst/>
                <a:latin typeface="Cambria" panose="02040503050406030204" pitchFamily="18" charset="0"/>
                <a:ea typeface="Cambria" panose="02040503050406030204" pitchFamily="18" charset="0"/>
              </a:rPr>
              <a:t>Keras</a:t>
            </a:r>
            <a:r>
              <a:rPr lang="en-IN" sz="1800" dirty="0">
                <a:solidFill>
                  <a:srgbClr val="333333"/>
                </a:solidFill>
                <a:effectLst/>
                <a:latin typeface="Cambria" panose="02040503050406030204" pitchFamily="18" charset="0"/>
                <a:ea typeface="Cambria" panose="02040503050406030204" pitchFamily="18" charset="0"/>
              </a:rPr>
              <a:t>, and </a:t>
            </a:r>
            <a:r>
              <a:rPr lang="en-IN" sz="1800" dirty="0" err="1">
                <a:solidFill>
                  <a:srgbClr val="333333"/>
                </a:solidFill>
                <a:effectLst/>
                <a:latin typeface="Cambria" panose="02040503050406030204" pitchFamily="18" charset="0"/>
                <a:ea typeface="Cambria" panose="02040503050406030204" pitchFamily="18" charset="0"/>
              </a:rPr>
              <a:t>Pytorch</a:t>
            </a:r>
            <a:r>
              <a:rPr lang="en-IN" sz="1800" dirty="0">
                <a:solidFill>
                  <a:srgbClr val="333333"/>
                </a:solidFill>
                <a:effectLst/>
                <a:latin typeface="Cambria" panose="02040503050406030204" pitchFamily="18" charset="0"/>
                <a:ea typeface="Cambria" panose="02040503050406030204" pitchFamily="18" charset="0"/>
              </a:rPr>
              <a:t>, etc. Django, flask, pyramids are the popular framework for Python web development.</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Gui Programming Supports</a:t>
            </a:r>
            <a:endParaRPr lang="en-IN" sz="19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Graphical User Interface is used for the developing Desktop application. PyQT5, </a:t>
            </a:r>
            <a:r>
              <a:rPr lang="en-IN" sz="1800" dirty="0" err="1">
                <a:solidFill>
                  <a:srgbClr val="333333"/>
                </a:solidFill>
                <a:effectLst/>
                <a:latin typeface="Cambria" panose="02040503050406030204" pitchFamily="18" charset="0"/>
                <a:ea typeface="Cambria" panose="02040503050406030204" pitchFamily="18" charset="0"/>
              </a:rPr>
              <a:t>Tkinter</a:t>
            </a:r>
            <a:r>
              <a:rPr lang="en-IN" sz="1800" dirty="0">
                <a:solidFill>
                  <a:srgbClr val="333333"/>
                </a:solidFill>
                <a:effectLst/>
                <a:latin typeface="Cambria" panose="02040503050406030204" pitchFamily="18" charset="0"/>
                <a:ea typeface="Cambria" panose="02040503050406030204" pitchFamily="18" charset="0"/>
              </a:rPr>
              <a:t>, </a:t>
            </a:r>
            <a:r>
              <a:rPr lang="en-IN" sz="1800" dirty="0" err="1">
                <a:solidFill>
                  <a:srgbClr val="333333"/>
                </a:solidFill>
                <a:effectLst/>
                <a:latin typeface="Cambria" panose="02040503050406030204" pitchFamily="18" charset="0"/>
                <a:ea typeface="Cambria" panose="02040503050406030204" pitchFamily="18" charset="0"/>
              </a:rPr>
              <a:t>Kivy</a:t>
            </a:r>
            <a:r>
              <a:rPr lang="en-IN" sz="1800" dirty="0">
                <a:solidFill>
                  <a:srgbClr val="333333"/>
                </a:solidFill>
                <a:effectLst/>
                <a:latin typeface="Cambria" panose="02040503050406030204" pitchFamily="18" charset="0"/>
                <a:ea typeface="Cambria" panose="02040503050406030204" pitchFamily="18" charset="0"/>
              </a:rPr>
              <a:t> are the libraries which are used for developing the web application.</a:t>
            </a:r>
            <a:endParaRPr lang="en-US" sz="1800" dirty="0">
              <a:effectLst/>
              <a:latin typeface="Cambria" panose="02040503050406030204" pitchFamily="18" charset="0"/>
              <a:ea typeface="Cambria" panose="02040503050406030204" pitchFamily="18" charset="0"/>
            </a:endParaRPr>
          </a:p>
          <a:p>
            <a:pPr>
              <a:buFont typeface="Wingdings" panose="05000000000000000000" pitchFamily="2" charset="2"/>
              <a:buChar char="Ø"/>
            </a:pPr>
            <a:endParaRPr lang="en-IN" sz="2800" dirty="0">
              <a:solidFill>
                <a:srgbClr val="610B4B"/>
              </a:solidFill>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5475"/>
          </a:xfrm>
        </p:spPr>
        <p:txBody>
          <a:bodyPr>
            <a:normAutofit/>
          </a:bodyPr>
          <a:lstStyle/>
          <a:p>
            <a:r>
              <a:rPr lang="en-US" sz="2800" dirty="0">
                <a:solidFill>
                  <a:srgbClr val="FF0000"/>
                </a:solidFill>
                <a:latin typeface="Cambria" panose="02040503050406030204" pitchFamily="18" charset="0"/>
                <a:ea typeface="Cambria" panose="02040503050406030204" pitchFamily="18" charset="0"/>
              </a:rPr>
              <a:t>Python Applications</a:t>
            </a:r>
            <a:endParaRPr lang="en-US" sz="2800" dirty="0">
              <a:solidFill>
                <a:srgbClr val="FF0000"/>
              </a:solidFill>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106906" y="1361974"/>
            <a:ext cx="9673390" cy="49329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9272" y="711200"/>
            <a:ext cx="10715340" cy="5545221"/>
          </a:xfrm>
        </p:spPr>
        <p:txBody>
          <a:bodyPr>
            <a:normAutofit/>
          </a:bodyPr>
          <a:lstStyle/>
          <a:p>
            <a:pPr marL="342900" marR="0" lvl="0" indent="-342900" algn="just">
              <a:lnSpc>
                <a:spcPct val="115000"/>
              </a:lnSpc>
              <a:spcBef>
                <a:spcPts val="0"/>
              </a:spcBef>
              <a:spcAft>
                <a:spcPts val="0"/>
              </a:spcAft>
              <a:buFont typeface="+mj-lt"/>
              <a:buAutoNum type="arabicPeriod"/>
            </a:pP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pPr>
            <a:endPar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Web applications  :www.youtube.com , </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hlinkClick r:id="rId1"/>
              </a:rPr>
              <a:t>www.Linkedin.com</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Desktop Gui Application :- Notepad, word,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Pycharm</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Console application : only character based application</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Software Development : ERP Application, Billing application</a:t>
            </a: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Audio And Video Based Application: </a:t>
            </a:r>
            <a:r>
              <a:rPr lang="en-US" sz="2000" dirty="0" err="1">
                <a:solidFill>
                  <a:srgbClr val="333333"/>
                </a:solidFill>
                <a:latin typeface="Cambria" panose="02040503050406030204" pitchFamily="18" charset="0"/>
                <a:ea typeface="Cambria" panose="02040503050406030204" pitchFamily="18" charset="0"/>
                <a:cs typeface="Times New Roman" panose="02020603050405020304" pitchFamily="18" charset="0"/>
              </a:rPr>
              <a:t>Cliphamp</a:t>
            </a: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 iMovie, </a:t>
            </a:r>
            <a:r>
              <a:rPr lang="en-US" sz="2000" dirty="0" err="1">
                <a:solidFill>
                  <a:srgbClr val="333333"/>
                </a:solidFill>
                <a:latin typeface="Cambria" panose="02040503050406030204" pitchFamily="18" charset="0"/>
                <a:ea typeface="Cambria" panose="02040503050406030204" pitchFamily="18" charset="0"/>
                <a:cs typeface="Times New Roman" panose="02020603050405020304" pitchFamily="18" charset="0"/>
              </a:rPr>
              <a:t>DanVinci</a:t>
            </a: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 Resolve.</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Business Application :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flipkart</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amazon</a:t>
            </a: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Image Processing Application: X-rays and MRI Scanner.</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Scientific application: Brainly,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Rstudio</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Zotero,Wikipedia</a:t>
            </a: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latin typeface="Cambria" panose="02040503050406030204" pitchFamily="18" charset="0"/>
                <a:ea typeface="Cambria" panose="02040503050406030204" pitchFamily="18" charset="0"/>
                <a:cs typeface="Times New Roman" panose="02020603050405020304" pitchFamily="18" charset="0"/>
              </a:rPr>
              <a:t>Cad Application : Cad /Com Application</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Enterprise application :SAP/HANA Net Suite,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HubSpot,Salesforce</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517" y="516467"/>
            <a:ext cx="10927095" cy="604411"/>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Careers With Python</a:t>
            </a:r>
            <a:endParaRPr lang="en-US" sz="2800" dirty="0">
              <a:solidFill>
                <a:srgbClr val="C00000"/>
              </a:solidFill>
              <a:latin typeface="Cambria" panose="02040503050406030204" pitchFamily="18" charset="0"/>
              <a:ea typeface="Cambria" panose="02040503050406030204" pitchFamily="18" charset="0"/>
            </a:endParaRPr>
          </a:p>
        </p:txBody>
      </p:sp>
      <p:pic>
        <p:nvPicPr>
          <p:cNvPr id="5" name="Content Placeholder 4"/>
          <p:cNvPicPr>
            <a:picLocks noGrp="1" noChangeAspect="1"/>
          </p:cNvPicPr>
          <p:nvPr>
            <p:ph idx="1"/>
          </p:nvPr>
        </p:nvPicPr>
        <p:blipFill>
          <a:blip r:embed="rId1"/>
          <a:stretch>
            <a:fillRect/>
          </a:stretch>
        </p:blipFill>
        <p:spPr>
          <a:xfrm>
            <a:off x="577517" y="1806341"/>
            <a:ext cx="2945329" cy="3778250"/>
          </a:xfrm>
        </p:spPr>
      </p:pic>
      <p:pic>
        <p:nvPicPr>
          <p:cNvPr id="7" name="Picture 6"/>
          <p:cNvPicPr>
            <a:picLocks noChangeAspect="1"/>
          </p:cNvPicPr>
          <p:nvPr/>
        </p:nvPicPr>
        <p:blipFill>
          <a:blip r:embed="rId2"/>
          <a:stretch>
            <a:fillRect/>
          </a:stretch>
        </p:blipFill>
        <p:spPr>
          <a:xfrm>
            <a:off x="3313895" y="3695466"/>
            <a:ext cx="3734873" cy="2159540"/>
          </a:xfrm>
          <a:prstGeom prst="rect">
            <a:avLst/>
          </a:prstGeom>
        </p:spPr>
      </p:pic>
      <p:pic>
        <p:nvPicPr>
          <p:cNvPr id="9" name="Picture 8"/>
          <p:cNvPicPr>
            <a:picLocks noChangeAspect="1"/>
          </p:cNvPicPr>
          <p:nvPr/>
        </p:nvPicPr>
        <p:blipFill>
          <a:blip r:embed="rId3"/>
          <a:stretch>
            <a:fillRect/>
          </a:stretch>
        </p:blipFill>
        <p:spPr>
          <a:xfrm>
            <a:off x="4499020" y="2010318"/>
            <a:ext cx="1596980" cy="1601821"/>
          </a:xfrm>
          <a:prstGeom prst="rect">
            <a:avLst/>
          </a:prstGeom>
        </p:spPr>
      </p:pic>
      <p:pic>
        <p:nvPicPr>
          <p:cNvPr id="11" name="Picture 10"/>
          <p:cNvPicPr>
            <a:picLocks noChangeAspect="1"/>
          </p:cNvPicPr>
          <p:nvPr/>
        </p:nvPicPr>
        <p:blipFill>
          <a:blip r:embed="rId4"/>
          <a:stretch>
            <a:fillRect/>
          </a:stretch>
        </p:blipFill>
        <p:spPr>
          <a:xfrm>
            <a:off x="7847548" y="1120878"/>
            <a:ext cx="3503054" cy="47341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142" y="385011"/>
            <a:ext cx="10323897" cy="933651"/>
          </a:xfrm>
        </p:spPr>
        <p:txBody>
          <a:bodyPr>
            <a:normAutofit/>
          </a:bodyPr>
          <a:lstStyle/>
          <a:p>
            <a:r>
              <a:rPr lang="en-US" sz="2000" b="1" u="sng" spc="-10" dirty="0">
                <a:solidFill>
                  <a:srgbClr val="C00000"/>
                </a:solidFill>
                <a:effectLst/>
                <a:latin typeface="Cambria" panose="02040503050406030204" pitchFamily="18" charset="0"/>
                <a:ea typeface="Cambria" panose="02040503050406030204" pitchFamily="18" charset="0"/>
              </a:rPr>
              <a:t>Installation of Python</a:t>
            </a:r>
            <a:br>
              <a:rPr lang="en-US" sz="2000" dirty="0">
                <a:solidFill>
                  <a:srgbClr val="C00000"/>
                </a:solidFill>
                <a:effectLst/>
                <a:latin typeface="Cambria" panose="02040503050406030204" pitchFamily="18" charset="0"/>
                <a:ea typeface="Cambria" panose="02040503050406030204" pitchFamily="18" charset="0"/>
              </a:rPr>
            </a:br>
            <a:endParaRPr lang="en-US" sz="2000" dirty="0">
              <a:solidFill>
                <a:srgbClr val="C0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33450" y="1035050"/>
            <a:ext cx="10570845" cy="4876165"/>
          </a:xfrm>
        </p:spPr>
        <p:txBody>
          <a:bodyPr>
            <a:normAutofit/>
          </a:bodyPr>
          <a:lstStyle/>
          <a:p>
            <a:pPr marL="401955" marR="288290">
              <a:lnSpc>
                <a:spcPct val="115000"/>
              </a:lnSpc>
              <a:spcBef>
                <a:spcPts val="1200"/>
              </a:spcBef>
              <a:spcAft>
                <a:spcPts val="0"/>
              </a:spcAft>
            </a:pPr>
            <a:r>
              <a:rPr lang="en-US" sz="2000" dirty="0">
                <a:effectLst/>
                <a:latin typeface="Cambria" panose="02040503050406030204" pitchFamily="18" charset="0"/>
                <a:ea typeface="Cambria" panose="02040503050406030204" pitchFamily="18" charset="0"/>
              </a:rPr>
              <a:t>There are many interpreters available freely to run Python scripts like IDLE (Integrated Development</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Environment)</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which</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is</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installed</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when</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you</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the</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software</a:t>
            </a:r>
            <a:r>
              <a:rPr lang="en-US" sz="2000" spc="4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from</a:t>
            </a:r>
            <a:endParaRPr lang="en-US" sz="2000" dirty="0">
              <a:effectLst/>
              <a:latin typeface="Cambria" panose="02040503050406030204" pitchFamily="18" charset="0"/>
              <a:ea typeface="Cambria" panose="02040503050406030204" pitchFamily="18" charset="0"/>
            </a:endParaRPr>
          </a:p>
          <a:p>
            <a:pPr marL="401955" marR="288290">
              <a:lnSpc>
                <a:spcPct val="115000"/>
              </a:lnSpc>
              <a:spcBef>
                <a:spcPts val="1200"/>
              </a:spcBef>
              <a:spcAft>
                <a:spcPts val="0"/>
              </a:spcAft>
            </a:pPr>
            <a:r>
              <a:rPr lang="en-US" sz="2000" dirty="0">
                <a:latin typeface="Cambria" panose="02040503050406030204" pitchFamily="18" charset="0"/>
                <a:ea typeface="Cambria" panose="02040503050406030204" pitchFamily="18" charset="0"/>
              </a:rPr>
              <a:t>Link For Download Python in Your Pc/laptop:</a:t>
            </a:r>
            <a:r>
              <a:rPr lang="en-US" sz="2000" dirty="0">
                <a:effectLst/>
                <a:latin typeface="Cambria" panose="02040503050406030204" pitchFamily="18" charset="0"/>
                <a:ea typeface="Cambria" panose="02040503050406030204" pitchFamily="18" charset="0"/>
              </a:rPr>
              <a:t> </a:t>
            </a:r>
            <a:r>
              <a:rPr lang="en-US" sz="2000" u="sng" dirty="0">
                <a:solidFill>
                  <a:srgbClr val="0000FF"/>
                </a:solidFill>
                <a:effectLst/>
                <a:latin typeface="Cambria" panose="02040503050406030204" pitchFamily="18" charset="0"/>
                <a:ea typeface="Cambria" panose="02040503050406030204" pitchFamily="18" charset="0"/>
                <a:hlinkClick r:id="rId1"/>
              </a:rPr>
              <a:t>http://python.org/downloads/</a:t>
            </a:r>
            <a:endParaRPr lang="en-US" sz="2000" dirty="0">
              <a:effectLst/>
              <a:latin typeface="Cambria" panose="02040503050406030204" pitchFamily="18" charset="0"/>
              <a:ea typeface="Cambria" panose="02040503050406030204" pitchFamily="18" charset="0"/>
            </a:endParaRPr>
          </a:p>
          <a:p>
            <a:pPr marL="401955" marR="0" algn="just">
              <a:lnSpc>
                <a:spcPts val="1595"/>
              </a:lnSpc>
              <a:spcBef>
                <a:spcPts val="25"/>
              </a:spcBef>
              <a:spcAft>
                <a:spcPts val="0"/>
              </a:spcAft>
            </a:pPr>
            <a:r>
              <a:rPr lang="en-US" sz="2000" b="1" kern="0" dirty="0">
                <a:effectLst/>
                <a:latin typeface="Cambria" panose="02040503050406030204" pitchFamily="18" charset="0"/>
                <a:ea typeface="Cambria" panose="02040503050406030204" pitchFamily="18" charset="0"/>
              </a:rPr>
              <a:t>Steps</a:t>
            </a:r>
            <a:r>
              <a:rPr lang="en-US" sz="2000" b="1" kern="0" spc="-10"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to</a:t>
            </a:r>
            <a:r>
              <a:rPr lang="en-US" sz="2000" b="1" kern="0" spc="-15"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be</a:t>
            </a:r>
            <a:r>
              <a:rPr lang="en-US" sz="2000" b="1" kern="0" spc="-20"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followed</a:t>
            </a:r>
            <a:r>
              <a:rPr lang="en-US" sz="2000" b="1" kern="0" spc="-15"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and</a:t>
            </a:r>
            <a:r>
              <a:rPr lang="en-US" sz="2000" b="1" kern="0" spc="-10" dirty="0">
                <a:effectLst/>
                <a:latin typeface="Cambria" panose="02040503050406030204" pitchFamily="18" charset="0"/>
                <a:ea typeface="Cambria" panose="02040503050406030204" pitchFamily="18" charset="0"/>
              </a:rPr>
              <a:t> remembered:</a:t>
            </a:r>
            <a:endParaRPr lang="en-US" sz="2000" b="1" kern="0" dirty="0">
              <a:effectLst/>
              <a:latin typeface="Cambria" panose="02040503050406030204" pitchFamily="18" charset="0"/>
              <a:ea typeface="Cambria" panose="02040503050406030204" pitchFamily="18" charset="0"/>
            </a:endParaRP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Step 1: Select Version of Python to Install.</a:t>
            </a:r>
            <a:endParaRPr lang="en-US" sz="2000" dirty="0">
              <a:effectLst/>
              <a:latin typeface="Cambria" panose="02040503050406030204" pitchFamily="18" charset="0"/>
              <a:ea typeface="Cambria" panose="02040503050406030204" pitchFamily="18" charset="0"/>
            </a:endParaRP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 Step</a:t>
            </a:r>
            <a:r>
              <a:rPr lang="en-US" sz="2000" spc="-4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2:</a:t>
            </a:r>
            <a:r>
              <a:rPr lang="en-US" sz="2000" spc="-4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Download</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Executable</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Installer. </a:t>
            </a:r>
            <a:endParaRPr lang="en-US" sz="2000" dirty="0">
              <a:effectLst/>
              <a:latin typeface="Cambria" panose="02040503050406030204" pitchFamily="18" charset="0"/>
              <a:ea typeface="Cambria" panose="02040503050406030204" pitchFamily="18" charset="0"/>
            </a:endParaRP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Step 3: Run Executable Installer.</a:t>
            </a:r>
            <a:endParaRPr lang="en-US" sz="2000" dirty="0">
              <a:effectLst/>
              <a:latin typeface="Cambria" panose="02040503050406030204" pitchFamily="18" charset="0"/>
              <a:ea typeface="Cambria" panose="02040503050406030204" pitchFamily="18" charset="0"/>
            </a:endParaRPr>
          </a:p>
          <a:p>
            <a:pPr marL="859790" marR="0">
              <a:spcBef>
                <a:spcPts val="0"/>
              </a:spcBef>
              <a:spcAft>
                <a:spcPts val="0"/>
              </a:spcAft>
            </a:pPr>
            <a:r>
              <a:rPr lang="en-US" sz="2000" dirty="0">
                <a:effectLst/>
                <a:latin typeface="Cambria" panose="02040503050406030204" pitchFamily="18" charset="0"/>
                <a:ea typeface="Cambria" panose="02040503050406030204" pitchFamily="18" charset="0"/>
              </a:rPr>
              <a:t>Step</a:t>
            </a:r>
            <a:r>
              <a:rPr lang="en-US" sz="2000" spc="-2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4:</a:t>
            </a:r>
            <a:r>
              <a:rPr lang="en-US" sz="2000" spc="-1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Verify</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2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Was</a:t>
            </a:r>
            <a:r>
              <a:rPr lang="en-US" sz="2000" spc="-1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Installed</a:t>
            </a:r>
            <a:r>
              <a:rPr lang="en-US" sz="2000" spc="-1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On</a:t>
            </a:r>
            <a:r>
              <a:rPr lang="en-US" sz="2000" spc="-15" dirty="0">
                <a:effectLst/>
                <a:latin typeface="Cambria" panose="02040503050406030204" pitchFamily="18" charset="0"/>
                <a:ea typeface="Cambria" panose="02040503050406030204" pitchFamily="18" charset="0"/>
              </a:rPr>
              <a:t> </a:t>
            </a:r>
            <a:r>
              <a:rPr lang="en-US" sz="2000" spc="-10" dirty="0">
                <a:effectLst/>
                <a:latin typeface="Cambria" panose="02040503050406030204" pitchFamily="18" charset="0"/>
                <a:ea typeface="Cambria" panose="02040503050406030204" pitchFamily="18" charset="0"/>
              </a:rPr>
              <a:t>Windows.</a:t>
            </a:r>
            <a:endParaRPr lang="en-US" sz="2000" spc="-10" dirty="0">
              <a:effectLst/>
              <a:latin typeface="Cambria" panose="02040503050406030204" pitchFamily="18" charset="0"/>
              <a:ea typeface="Cambria" panose="02040503050406030204" pitchFamily="18" charset="0"/>
            </a:endParaRPr>
          </a:p>
          <a:p>
            <a:pPr lvl="1"/>
            <a:r>
              <a:rPr lang="en-US" sz="1800" b="0" i="0" u="none" strike="noStrike" baseline="0" dirty="0">
                <a:latin typeface="ArialMT"/>
              </a:rPr>
              <a:t>Open the command prompt and run the following command:</a:t>
            </a:r>
            <a:endParaRPr lang="en-US" sz="1800" b="0" i="0" u="none" strike="noStrike" baseline="0" dirty="0">
              <a:latin typeface="ArialMT"/>
            </a:endParaRPr>
          </a:p>
          <a:p>
            <a:pPr algn="l"/>
            <a:r>
              <a:rPr lang="en-US" sz="1800" b="1" i="0" u="none" strike="noStrike" baseline="0" dirty="0">
                <a:latin typeface="CascadiaCodeRoman-Bold"/>
              </a:rPr>
              <a:t>python --version</a:t>
            </a:r>
            <a:endParaRPr lang="en-US" sz="2000" dirty="0">
              <a:effectLst/>
              <a:latin typeface="Cambria" panose="02040503050406030204" pitchFamily="18" charset="0"/>
              <a:ea typeface="Cambria" panose="02040503050406030204" pitchFamily="18" charset="0"/>
            </a:endParaRPr>
          </a:p>
          <a:p>
            <a:pPr marL="0" indent="0">
              <a:buNone/>
            </a:pPr>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349" y="115503"/>
            <a:ext cx="11087264" cy="539015"/>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Execution Process of Python</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05878" y="654518"/>
            <a:ext cx="11993077" cy="5909911"/>
          </a:xfrm>
        </p:spPr>
        <p:txBody>
          <a:bodyPr/>
          <a:lstStyle/>
          <a:p>
            <a:pPr marL="401955" marR="5003800">
              <a:lnSpc>
                <a:spcPct val="176000"/>
              </a:lnSpc>
              <a:spcBef>
                <a:spcPts val="1300"/>
              </a:spcBef>
              <a:spcAft>
                <a:spcPts val="0"/>
              </a:spcAft>
            </a:pPr>
            <a:r>
              <a:rPr lang="en-US" sz="1800" b="1" kern="0" dirty="0">
                <a:effectLst/>
                <a:latin typeface="Times New Roman" panose="02020603050405020304" pitchFamily="18" charset="0"/>
                <a:ea typeface="Times New Roman" panose="02020603050405020304" pitchFamily="18" charset="0"/>
              </a:rPr>
              <a:t>Python</a:t>
            </a:r>
            <a:r>
              <a:rPr lang="en-US" sz="1800" b="1" kern="0" spc="-90"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Code</a:t>
            </a:r>
            <a:r>
              <a:rPr lang="en-US" sz="1800" b="1" kern="0" spc="-85"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Execution:</a:t>
            </a:r>
            <a:endParaRPr lang="en-US" sz="1800" b="1" kern="0" dirty="0">
              <a:effectLst/>
              <a:latin typeface="Times New Roman" panose="02020603050405020304" pitchFamily="18" charset="0"/>
              <a:ea typeface="Times New Roman" panose="02020603050405020304" pitchFamily="18" charset="0"/>
            </a:endParaRPr>
          </a:p>
          <a:p>
            <a:pPr marL="401955" marR="334010">
              <a:lnSpc>
                <a:spcPct val="115000"/>
              </a:lnSpc>
              <a:spcBef>
                <a:spcPts val="0"/>
              </a:spcBef>
              <a:spcAft>
                <a:spcPts val="0"/>
              </a:spcAft>
            </a:pPr>
            <a:r>
              <a:rPr lang="en-US" sz="1800" b="1" dirty="0">
                <a:effectLst/>
                <a:latin typeface="Times New Roman" panose="02020603050405020304" pitchFamily="18" charset="0"/>
                <a:ea typeface="Times New Roman" panose="02020603050405020304" pitchFamily="18" charset="0"/>
              </a:rPr>
              <a:t>Python’s</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traditional</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runtime</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execution</a:t>
            </a:r>
            <a:r>
              <a:rPr lang="en-US" sz="1800" b="1" spc="-3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model:</a:t>
            </a:r>
            <a:r>
              <a:rPr lang="en-US" sz="1800" b="1"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Source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code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you</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type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translated</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byte code, which is then run by the Python Virtual Machine (PVM). Your code is automatically compiled, but then it is interpreted.</a:t>
            </a:r>
            <a:endParaRPr lang="en-US" sz="1800" dirty="0">
              <a:effectLst/>
              <a:latin typeface="Times New Roman" panose="02020603050405020304" pitchFamily="18" charset="0"/>
              <a:ea typeface="Times New Roman" panose="02020603050405020304" pitchFamily="18" charset="0"/>
            </a:endParaRPr>
          </a:p>
          <a:p>
            <a:pPr lvl="6"/>
            <a:r>
              <a:rPr lang="en-US" dirty="0"/>
              <a:t>Source				Byte				Runtime</a:t>
            </a:r>
            <a:endParaRPr lang="en-US" dirty="0"/>
          </a:p>
          <a:p>
            <a:pPr lvl="6"/>
            <a:r>
              <a:rPr lang="en-US" dirty="0"/>
              <a:t>Code				Code</a:t>
            </a:r>
            <a:endParaRPr lang="en-US" dirty="0"/>
          </a:p>
          <a:p>
            <a:pPr lvl="6"/>
            <a:endParaRPr lang="en-US" dirty="0"/>
          </a:p>
          <a:p>
            <a:pPr lvl="6"/>
            <a:endParaRPr lang="en-US" dirty="0"/>
          </a:p>
          <a:p>
            <a:pPr lvl="6"/>
            <a:endParaRPr lang="en-US" dirty="0"/>
          </a:p>
          <a:p>
            <a:pPr marL="2743200" lvl="6" indent="0">
              <a:buNone/>
            </a:pPr>
            <a:endParaRPr lang="en-US" dirty="0"/>
          </a:p>
          <a:p>
            <a:pPr marL="2743200" lvl="6" indent="0">
              <a:buNone/>
            </a:pPr>
            <a:endParaRPr lang="en-US" dirty="0"/>
          </a:p>
          <a:p>
            <a:pPr marL="2743200" lvl="6" indent="0">
              <a:buNone/>
            </a:pPr>
            <a:r>
              <a:rPr lang="en-US" sz="1600" dirty="0"/>
              <a:t>What is Source Code</a:t>
            </a:r>
            <a:endParaRPr lang="en-US" sz="1600" dirty="0"/>
          </a:p>
          <a:p>
            <a:pPr marL="2743200" lvl="6" indent="0">
              <a:buNone/>
            </a:pPr>
            <a:r>
              <a:rPr lang="en-US" sz="1600" b="1" dirty="0"/>
              <a:t>Source Code is Code which is written by the programmer in human readable form with proper programming language.</a:t>
            </a:r>
            <a:endParaRPr lang="en-US" sz="1600" b="1" dirty="0"/>
          </a:p>
          <a:p>
            <a:pPr marL="2743200" lvl="6" indent="0">
              <a:buNone/>
            </a:pPr>
            <a:r>
              <a:rPr lang="en-US" sz="1600" dirty="0"/>
              <a:t>What is Byte Code</a:t>
            </a:r>
            <a:endParaRPr lang="en-US" sz="1600" dirty="0"/>
          </a:p>
          <a:p>
            <a:pPr marL="2743200" lvl="6" indent="0">
              <a:buNone/>
            </a:pPr>
            <a:r>
              <a:rPr lang="en-US" sz="1600" b="1" dirty="0" err="1"/>
              <a:t>ByteCode</a:t>
            </a:r>
            <a:r>
              <a:rPr lang="en-US" sz="1600" b="1" dirty="0"/>
              <a:t> is the intermediate code generated by the Python compiler . Bytecode is run by interpreter </a:t>
            </a:r>
            <a:r>
              <a:rPr lang="en-US" sz="1600" b="1" dirty="0" err="1"/>
              <a:t>pvm</a:t>
            </a:r>
            <a:r>
              <a:rPr lang="en-US" sz="1600" b="1" dirty="0"/>
              <a:t> instead of the original machine (Computer processor). This code is platform-independent</a:t>
            </a:r>
            <a:endParaRPr lang="en-US" sz="1600" b="1" dirty="0"/>
          </a:p>
        </p:txBody>
      </p:sp>
      <p:sp>
        <p:nvSpPr>
          <p:cNvPr id="18" name="Graphic 29"/>
          <p:cNvSpPr/>
          <p:nvPr/>
        </p:nvSpPr>
        <p:spPr>
          <a:xfrm>
            <a:off x="2015373" y="3208020"/>
            <a:ext cx="712470" cy="237490"/>
          </a:xfrm>
          <a:custGeom>
            <a:avLst/>
            <a:gdLst/>
            <a:ahLst/>
            <a:cxnLst/>
            <a:rect l="l" t="t" r="r" b="b"/>
            <a:pathLst>
              <a:path w="712470" h="237490">
                <a:moveTo>
                  <a:pt x="534288" y="0"/>
                </a:moveTo>
                <a:lnTo>
                  <a:pt x="534288" y="59309"/>
                </a:lnTo>
                <a:lnTo>
                  <a:pt x="0" y="59309"/>
                </a:lnTo>
                <a:lnTo>
                  <a:pt x="0" y="178054"/>
                </a:lnTo>
                <a:lnTo>
                  <a:pt x="534288" y="178054"/>
                </a:lnTo>
                <a:lnTo>
                  <a:pt x="534288" y="237490"/>
                </a:lnTo>
                <a:lnTo>
                  <a:pt x="712469" y="118745"/>
                </a:lnTo>
                <a:lnTo>
                  <a:pt x="534288" y="0"/>
                </a:lnTo>
                <a:close/>
              </a:path>
            </a:pathLst>
          </a:custGeom>
          <a:ln w="9525">
            <a:solidFill>
              <a:srgbClr val="000000"/>
            </a:solidFill>
            <a:prstDash val="solid"/>
          </a:ln>
        </p:spPr>
        <p:txBody>
          <a:bodyPr wrap="square" lIns="0" tIns="0" rIns="0" bIns="0" rtlCol="0">
            <a:noAutofit/>
          </a:bodyPr>
          <a:lstStyle/>
          <a:p>
            <a:endParaRPr lang="en-US" dirty="0"/>
          </a:p>
        </p:txBody>
      </p:sp>
      <p:grpSp>
        <p:nvGrpSpPr>
          <p:cNvPr id="19" name="Group 18"/>
          <p:cNvGrpSpPr/>
          <p:nvPr/>
        </p:nvGrpSpPr>
        <p:grpSpPr>
          <a:xfrm>
            <a:off x="3114140" y="2823210"/>
            <a:ext cx="852805" cy="1248276"/>
            <a:chOff x="0" y="0"/>
            <a:chExt cx="852805" cy="1248276"/>
          </a:xfrm>
        </p:grpSpPr>
        <p:pic>
          <p:nvPicPr>
            <p:cNvPr id="27" name="Image 31"/>
            <p:cNvPicPr/>
            <p:nvPr/>
          </p:nvPicPr>
          <p:blipFill>
            <a:blip r:embed="rId1" cstate="print"/>
            <a:stretch>
              <a:fillRect/>
            </a:stretch>
          </p:blipFill>
          <p:spPr>
            <a:xfrm>
              <a:off x="742632" y="4762"/>
              <a:ext cx="105410" cy="124713"/>
            </a:xfrm>
            <a:prstGeom prst="rect">
              <a:avLst/>
            </a:prstGeom>
          </p:spPr>
        </p:pic>
        <p:sp>
          <p:nvSpPr>
            <p:cNvPr id="28" name="Graphic 32"/>
            <p:cNvSpPr/>
            <p:nvPr/>
          </p:nvSpPr>
          <p:spPr>
            <a:xfrm>
              <a:off x="4762" y="4762"/>
              <a:ext cx="843280" cy="997585"/>
            </a:xfrm>
            <a:custGeom>
              <a:avLst/>
              <a:gdLst/>
              <a:ahLst/>
              <a:cxnLst/>
              <a:rect l="l" t="t" r="r" b="b"/>
              <a:pathLst>
                <a:path w="843280" h="997585">
                  <a:moveTo>
                    <a:pt x="0" y="997584"/>
                  </a:moveTo>
                  <a:lnTo>
                    <a:pt x="0" y="0"/>
                  </a:lnTo>
                  <a:lnTo>
                    <a:pt x="737869" y="0"/>
                  </a:lnTo>
                  <a:lnTo>
                    <a:pt x="843280" y="124713"/>
                  </a:lnTo>
                  <a:lnTo>
                    <a:pt x="843280" y="997584"/>
                  </a:lnTo>
                  <a:lnTo>
                    <a:pt x="0" y="997584"/>
                  </a:lnTo>
                  <a:close/>
                </a:path>
                <a:path w="843280" h="997585">
                  <a:moveTo>
                    <a:pt x="737869" y="0"/>
                  </a:moveTo>
                  <a:lnTo>
                    <a:pt x="765175" y="120395"/>
                  </a:lnTo>
                  <a:lnTo>
                    <a:pt x="776271" y="109747"/>
                  </a:lnTo>
                  <a:lnTo>
                    <a:pt x="793369" y="106648"/>
                  </a:lnTo>
                  <a:lnTo>
                    <a:pt x="815895" y="111502"/>
                  </a:lnTo>
                  <a:lnTo>
                    <a:pt x="843280" y="124713"/>
                  </a:lnTo>
                </a:path>
              </a:pathLst>
            </a:custGeom>
            <a:ln w="9525">
              <a:solidFill>
                <a:srgbClr val="000000"/>
              </a:solidFill>
              <a:prstDash val="solid"/>
            </a:ln>
          </p:spPr>
          <p:txBody>
            <a:bodyPr wrap="square" lIns="0" tIns="0" rIns="0" bIns="0" rtlCol="0">
              <a:noAutofit/>
            </a:bodyPr>
            <a:lstStyle/>
            <a:p>
              <a:endParaRPr lang="en-US"/>
            </a:p>
          </p:txBody>
        </p:sp>
        <p:sp>
          <p:nvSpPr>
            <p:cNvPr id="29" name="Textbox 33"/>
            <p:cNvSpPr txBox="1"/>
            <p:nvPr/>
          </p:nvSpPr>
          <p:spPr>
            <a:xfrm>
              <a:off x="0" y="0"/>
              <a:ext cx="852805" cy="1248276"/>
            </a:xfrm>
            <a:prstGeom prst="rect">
              <a:avLst/>
            </a:prstGeom>
          </p:spPr>
          <p:txBody>
            <a:bodyPr wrap="square" lIns="0" tIns="0" rIns="0" bIns="0" rtlCol="0">
              <a:noAutofit/>
            </a:bodyPr>
            <a:lstStyle/>
            <a:p>
              <a:pPr marL="0" marR="0">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spcBef>
                  <a:spcPts val="970"/>
                </a:spcBef>
                <a:spcAft>
                  <a:spcPts val="0"/>
                </a:spcAft>
              </a:pPr>
              <a:r>
                <a:rPr lang="en-US" sz="1600" dirty="0">
                  <a:effectLst/>
                  <a:latin typeface="Times New Roman" panose="02020603050405020304" pitchFamily="18" charset="0"/>
                  <a:ea typeface="Times New Roman" panose="02020603050405020304" pitchFamily="18" charset="0"/>
                </a:rPr>
                <a:t> </a:t>
              </a:r>
              <a:r>
                <a:rPr lang="en-US" sz="1600" b="1" spc="-20" dirty="0">
                  <a:effectLst/>
                  <a:latin typeface="Times New Roman" panose="02020603050405020304" pitchFamily="18" charset="0"/>
                  <a:ea typeface="Times New Roman" panose="02020603050405020304" pitchFamily="18" charset="0"/>
                </a:rPr>
                <a:t>m.py</a:t>
              </a:r>
              <a:endParaRPr lang="en-US" sz="1600" dirty="0">
                <a:effectLst/>
                <a:latin typeface="Times New Roman" panose="02020603050405020304" pitchFamily="18" charset="0"/>
                <a:ea typeface="Times New Roman" panose="02020603050405020304" pitchFamily="18" charset="0"/>
              </a:endParaRPr>
            </a:p>
          </p:txBody>
        </p:sp>
      </p:grpSp>
      <p:sp>
        <p:nvSpPr>
          <p:cNvPr id="20" name="Graphic 34"/>
          <p:cNvSpPr/>
          <p:nvPr/>
        </p:nvSpPr>
        <p:spPr>
          <a:xfrm>
            <a:off x="4170645" y="3304239"/>
            <a:ext cx="712470" cy="150495"/>
          </a:xfrm>
          <a:custGeom>
            <a:avLst/>
            <a:gdLst/>
            <a:ahLst/>
            <a:cxnLst/>
            <a:rect l="l" t="t" r="r" b="b"/>
            <a:pathLst>
              <a:path w="712470" h="150495">
                <a:moveTo>
                  <a:pt x="534288" y="0"/>
                </a:moveTo>
                <a:lnTo>
                  <a:pt x="534288" y="37592"/>
                </a:lnTo>
                <a:lnTo>
                  <a:pt x="0" y="37592"/>
                </a:lnTo>
                <a:lnTo>
                  <a:pt x="0" y="112903"/>
                </a:lnTo>
                <a:lnTo>
                  <a:pt x="534288" y="112903"/>
                </a:lnTo>
                <a:lnTo>
                  <a:pt x="534288" y="150495"/>
                </a:lnTo>
                <a:lnTo>
                  <a:pt x="712470" y="75184"/>
                </a:lnTo>
                <a:lnTo>
                  <a:pt x="534288" y="0"/>
                </a:lnTo>
                <a:close/>
              </a:path>
            </a:pathLst>
          </a:custGeom>
          <a:ln w="9525">
            <a:solidFill>
              <a:srgbClr val="000000"/>
            </a:solidFill>
            <a:prstDash val="solid"/>
          </a:ln>
        </p:spPr>
        <p:txBody>
          <a:bodyPr wrap="square" lIns="0" tIns="0" rIns="0" bIns="0" rtlCol="0">
            <a:noAutofit/>
          </a:bodyPr>
          <a:lstStyle/>
          <a:p>
            <a:endParaRPr lang="en-US"/>
          </a:p>
        </p:txBody>
      </p:sp>
      <p:grpSp>
        <p:nvGrpSpPr>
          <p:cNvPr id="21" name="Group 20"/>
          <p:cNvGrpSpPr/>
          <p:nvPr/>
        </p:nvGrpSpPr>
        <p:grpSpPr>
          <a:xfrm>
            <a:off x="5086450" y="2800684"/>
            <a:ext cx="852805" cy="1007110"/>
            <a:chOff x="0" y="0"/>
            <a:chExt cx="852805" cy="1007110"/>
          </a:xfrm>
        </p:grpSpPr>
        <p:pic>
          <p:nvPicPr>
            <p:cNvPr id="24" name="Image 36"/>
            <p:cNvPicPr/>
            <p:nvPr/>
          </p:nvPicPr>
          <p:blipFill>
            <a:blip r:embed="rId2" cstate="print"/>
            <a:stretch>
              <a:fillRect/>
            </a:stretch>
          </p:blipFill>
          <p:spPr>
            <a:xfrm>
              <a:off x="742632" y="4762"/>
              <a:ext cx="105410" cy="124713"/>
            </a:xfrm>
            <a:prstGeom prst="rect">
              <a:avLst/>
            </a:prstGeom>
          </p:spPr>
        </p:pic>
        <p:sp>
          <p:nvSpPr>
            <p:cNvPr id="25" name="Graphic 37"/>
            <p:cNvSpPr/>
            <p:nvPr/>
          </p:nvSpPr>
          <p:spPr>
            <a:xfrm>
              <a:off x="4762" y="4762"/>
              <a:ext cx="843280" cy="997585"/>
            </a:xfrm>
            <a:custGeom>
              <a:avLst/>
              <a:gdLst/>
              <a:ahLst/>
              <a:cxnLst/>
              <a:rect l="l" t="t" r="r" b="b"/>
              <a:pathLst>
                <a:path w="843280" h="997585">
                  <a:moveTo>
                    <a:pt x="0" y="997584"/>
                  </a:moveTo>
                  <a:lnTo>
                    <a:pt x="0" y="0"/>
                  </a:lnTo>
                  <a:lnTo>
                    <a:pt x="737870" y="0"/>
                  </a:lnTo>
                  <a:lnTo>
                    <a:pt x="843280" y="124713"/>
                  </a:lnTo>
                  <a:lnTo>
                    <a:pt x="843280" y="997584"/>
                  </a:lnTo>
                  <a:lnTo>
                    <a:pt x="0" y="997584"/>
                  </a:lnTo>
                  <a:close/>
                </a:path>
                <a:path w="843280" h="997585">
                  <a:moveTo>
                    <a:pt x="737870" y="0"/>
                  </a:moveTo>
                  <a:lnTo>
                    <a:pt x="765175" y="120395"/>
                  </a:lnTo>
                  <a:lnTo>
                    <a:pt x="776271" y="109747"/>
                  </a:lnTo>
                  <a:lnTo>
                    <a:pt x="793368" y="106648"/>
                  </a:lnTo>
                  <a:lnTo>
                    <a:pt x="815895" y="111502"/>
                  </a:lnTo>
                  <a:lnTo>
                    <a:pt x="843280" y="124713"/>
                  </a:lnTo>
                </a:path>
              </a:pathLst>
            </a:custGeom>
            <a:ln w="9525">
              <a:solidFill>
                <a:srgbClr val="000000"/>
              </a:solidFill>
              <a:prstDash val="solid"/>
            </a:ln>
          </p:spPr>
          <p:txBody>
            <a:bodyPr wrap="square" lIns="0" tIns="0" rIns="0" bIns="0" rtlCol="0">
              <a:noAutofit/>
            </a:bodyPr>
            <a:lstStyle/>
            <a:p>
              <a:endParaRPr lang="en-US"/>
            </a:p>
          </p:txBody>
        </p:sp>
        <p:sp>
          <p:nvSpPr>
            <p:cNvPr id="26" name="Textbox 38"/>
            <p:cNvSpPr txBox="1"/>
            <p:nvPr/>
          </p:nvSpPr>
          <p:spPr>
            <a:xfrm>
              <a:off x="0" y="0"/>
              <a:ext cx="852805" cy="1007110"/>
            </a:xfrm>
            <a:prstGeom prst="rect">
              <a:avLst/>
            </a:prstGeom>
          </p:spPr>
          <p:txBody>
            <a:bodyPr wrap="square" lIns="0" tIns="0" rIns="0" bIns="0" rtlCol="0">
              <a:noAutofit/>
            </a:bodyPr>
            <a:lstStyle/>
            <a:p>
              <a:pPr marL="0" marR="0">
                <a:spcBef>
                  <a:spcPts val="0"/>
                </a:spcBef>
                <a:spcAft>
                  <a:spcPts val="0"/>
                </a:spcAft>
              </a:pPr>
              <a:r>
                <a:rPr lang="en-US"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spcBef>
                  <a:spcPts val="995"/>
                </a:spcBef>
                <a:spcAft>
                  <a:spcPts val="0"/>
                </a:spcAft>
              </a:pPr>
              <a:r>
                <a:rPr lang="en-US" dirty="0">
                  <a:effectLst/>
                  <a:latin typeface="Times New Roman" panose="02020603050405020304" pitchFamily="18" charset="0"/>
                  <a:ea typeface="Times New Roman" panose="02020603050405020304" pitchFamily="18" charset="0"/>
                </a:rPr>
                <a:t> </a:t>
              </a:r>
              <a:r>
                <a:rPr lang="en-US" b="1" spc="-10" dirty="0" err="1">
                  <a:effectLst/>
                  <a:latin typeface="Times New Roman" panose="02020603050405020304" pitchFamily="18" charset="0"/>
                  <a:ea typeface="Times New Roman" panose="02020603050405020304" pitchFamily="18" charset="0"/>
                </a:rPr>
                <a:t>m.pyc</a:t>
              </a:r>
              <a:endParaRPr lang="en-US" sz="1600" dirty="0">
                <a:effectLst/>
                <a:latin typeface="Times New Roman" panose="02020603050405020304" pitchFamily="18" charset="0"/>
                <a:ea typeface="Times New Roman" panose="02020603050405020304" pitchFamily="18" charset="0"/>
              </a:endParaRPr>
            </a:p>
          </p:txBody>
        </p:sp>
      </p:grpSp>
      <p:sp>
        <p:nvSpPr>
          <p:cNvPr id="22" name="Graphic 39"/>
          <p:cNvSpPr/>
          <p:nvPr/>
        </p:nvSpPr>
        <p:spPr>
          <a:xfrm>
            <a:off x="6142590" y="3304239"/>
            <a:ext cx="712470" cy="150495"/>
          </a:xfrm>
          <a:custGeom>
            <a:avLst/>
            <a:gdLst/>
            <a:ahLst/>
            <a:cxnLst/>
            <a:rect l="l" t="t" r="r" b="b"/>
            <a:pathLst>
              <a:path w="712470" h="150495">
                <a:moveTo>
                  <a:pt x="534288" y="0"/>
                </a:moveTo>
                <a:lnTo>
                  <a:pt x="534288" y="37591"/>
                </a:lnTo>
                <a:lnTo>
                  <a:pt x="0" y="37591"/>
                </a:lnTo>
                <a:lnTo>
                  <a:pt x="0" y="112902"/>
                </a:lnTo>
                <a:lnTo>
                  <a:pt x="534288" y="112902"/>
                </a:lnTo>
                <a:lnTo>
                  <a:pt x="534288" y="150494"/>
                </a:lnTo>
                <a:lnTo>
                  <a:pt x="712470" y="75183"/>
                </a:lnTo>
                <a:lnTo>
                  <a:pt x="534288" y="0"/>
                </a:lnTo>
                <a:close/>
              </a:path>
            </a:pathLst>
          </a:custGeom>
          <a:ln w="9525">
            <a:solidFill>
              <a:srgbClr val="000000"/>
            </a:solidFill>
            <a:prstDash val="solid"/>
          </a:ln>
        </p:spPr>
        <p:txBody>
          <a:bodyPr wrap="square" lIns="0" tIns="0" rIns="0" bIns="0" rtlCol="0">
            <a:noAutofit/>
          </a:bodyPr>
          <a:lstStyle/>
          <a:p>
            <a:endParaRPr lang="en-US"/>
          </a:p>
        </p:txBody>
      </p:sp>
      <p:sp>
        <p:nvSpPr>
          <p:cNvPr id="23" name="Textbox 40"/>
          <p:cNvSpPr txBox="1"/>
          <p:nvPr/>
        </p:nvSpPr>
        <p:spPr>
          <a:xfrm>
            <a:off x="7073103" y="2800684"/>
            <a:ext cx="735965" cy="997585"/>
          </a:xfrm>
          <a:prstGeom prst="rect">
            <a:avLst/>
          </a:prstGeom>
          <a:ln w="9524">
            <a:solidFill>
              <a:srgbClr val="000000"/>
            </a:solidFill>
            <a:prstDash val="solid"/>
          </a:ln>
        </p:spPr>
        <p:txBody>
          <a:bodyPr wrap="square" lIns="0" tIns="0" rIns="0" bIns="0" rtlCol="0">
            <a:noAutofit/>
          </a:bodyPr>
          <a:lstStyle/>
          <a:p>
            <a:pPr marL="0" marR="0">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spcBef>
                <a:spcPts val="410"/>
              </a:spcBef>
              <a:spcAft>
                <a:spcPts val="0"/>
              </a:spcAft>
            </a:pPr>
            <a:r>
              <a:rPr lang="en-US"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221615" marR="0">
              <a:spcBef>
                <a:spcPts val="0"/>
              </a:spcBef>
              <a:spcAft>
                <a:spcPts val="0"/>
              </a:spcAft>
            </a:pPr>
            <a:r>
              <a:rPr lang="en-US" sz="1600" b="1" spc="-25" dirty="0">
                <a:effectLst/>
                <a:latin typeface="Calibri" panose="020F0502020204030204" charset="0"/>
                <a:ea typeface="Times New Roman" panose="02020603050405020304" pitchFamily="18" charset="0"/>
                <a:cs typeface="Times New Roman" panose="02020603050405020304" pitchFamily="18" charset="0"/>
              </a:rPr>
              <a:t>PVM</a:t>
            </a:r>
            <a:endParaRPr lang="en-US"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44378" y="490789"/>
            <a:ext cx="11771698" cy="2772075"/>
          </a:xfrm>
        </p:spPr>
      </p:pic>
      <p:sp>
        <p:nvSpPr>
          <p:cNvPr id="4" name="Title 1"/>
          <p:cNvSpPr>
            <a:spLocks noGrp="1"/>
          </p:cNvSpPr>
          <p:nvPr>
            <p:ph type="title"/>
          </p:nvPr>
        </p:nvSpPr>
        <p:spPr>
          <a:xfrm>
            <a:off x="-36076" y="48128"/>
            <a:ext cx="11369860" cy="433036"/>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	Execution Process of Python</a:t>
            </a:r>
            <a:endParaRPr lang="en-US" sz="2400" b="1" dirty="0">
              <a:solidFill>
                <a:srgbClr val="FF0000"/>
              </a:solidFill>
              <a:latin typeface="Cambria" panose="02040503050406030204" pitchFamily="18" charset="0"/>
              <a:ea typeface="Cambria" panose="02040503050406030204" pitchFamily="18"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78" y="3513221"/>
            <a:ext cx="11771698" cy="31474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139" y="231007"/>
            <a:ext cx="10994473" cy="558266"/>
          </a:xfrm>
        </p:spPr>
        <p:txBody>
          <a:bodyPr>
            <a:normAutofit/>
          </a:bodyPr>
          <a:lstStyle/>
          <a:p>
            <a:r>
              <a:rPr kumimoji="0" lang="en-US" altLang="en-US" sz="2800" b="1" i="0" u="none" strike="noStrike" cap="none" normalizeH="0" baseline="0" dirty="0">
                <a:ln>
                  <a:noFill/>
                </a:ln>
                <a:solidFill>
                  <a:srgbClr val="FF0000"/>
                </a:solidFill>
                <a:effectLst/>
                <a:latin typeface="Calibri" panose="020F0502020204030204" charset="0"/>
                <a:ea typeface="Cambria" panose="02040503050406030204" pitchFamily="18" charset="0"/>
                <a:cs typeface="Cambria" panose="02040503050406030204" pitchFamily="18" charset="0"/>
              </a:rPr>
              <a:t> Difference between compiler and interpreter</a:t>
            </a:r>
            <a:endParaRPr lang="en-US" sz="2800" dirty="0">
              <a:solidFill>
                <a:srgbClr val="FF0000"/>
              </a:solidFill>
            </a:endParaRPr>
          </a:p>
        </p:txBody>
      </p:sp>
      <p:graphicFrame>
        <p:nvGraphicFramePr>
          <p:cNvPr id="4" name="Content Placeholder 3"/>
          <p:cNvGraphicFramePr>
            <a:graphicFrameLocks noGrp="1"/>
          </p:cNvGraphicFramePr>
          <p:nvPr>
            <p:ph idx="1"/>
          </p:nvPr>
        </p:nvGraphicFramePr>
        <p:xfrm>
          <a:off x="510139" y="1164656"/>
          <a:ext cx="11136429" cy="5207265"/>
        </p:xfrm>
        <a:graphic>
          <a:graphicData uri="http://schemas.openxmlformats.org/drawingml/2006/table">
            <a:tbl>
              <a:tblPr firstRow="1" firstCol="1" bandRow="1">
                <a:tableStyleId>{5C22544A-7EE6-4342-B048-85BDC9FD1C3A}</a:tableStyleId>
              </a:tblPr>
              <a:tblGrid>
                <a:gridCol w="665982"/>
                <a:gridCol w="4653663"/>
                <a:gridCol w="5816784"/>
              </a:tblGrid>
              <a:tr h="340763">
                <a:tc>
                  <a:txBody>
                    <a:bodyPr/>
                    <a:lstStyle/>
                    <a:p>
                      <a:pPr marL="0" marR="0" algn="l">
                        <a:lnSpc>
                          <a:spcPct val="107000"/>
                        </a:lnSpc>
                        <a:spcBef>
                          <a:spcPts val="0"/>
                        </a:spcBef>
                        <a:spcAft>
                          <a:spcPts val="0"/>
                        </a:spcAft>
                        <a:tabLst>
                          <a:tab pos="114300" algn="l"/>
                        </a:tabLst>
                      </a:pPr>
                      <a:r>
                        <a:rPr lang="en-US" sz="1800" kern="100">
                          <a:effectLst/>
                        </a:rPr>
                        <a:t>S.No</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tabLst>
                          <a:tab pos="114300" algn="l"/>
                        </a:tabLst>
                      </a:pPr>
                      <a:r>
                        <a:rPr lang="en-US" sz="1800" kern="100">
                          <a:effectLst/>
                        </a:rPr>
                        <a:t>Interpreter</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tabLst>
                          <a:tab pos="114300" algn="l"/>
                        </a:tabLst>
                      </a:pPr>
                      <a:r>
                        <a:rPr lang="en-US" sz="1800" kern="100" dirty="0">
                          <a:effectLst/>
                        </a:rPr>
                        <a:t>Compiler</a:t>
                      </a:r>
                      <a:endParaRPr lang="en-US" sz="1800" kern="100" dirty="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tc>
              </a:tr>
              <a:tr h="341018">
                <a:tc>
                  <a:txBody>
                    <a:bodyPr/>
                    <a:lstStyle/>
                    <a:p>
                      <a:pPr marL="0" marR="0" algn="l">
                        <a:lnSpc>
                          <a:spcPct val="107000"/>
                        </a:lnSpc>
                        <a:spcBef>
                          <a:spcPts val="0"/>
                        </a:spcBef>
                        <a:spcAft>
                          <a:spcPts val="0"/>
                        </a:spcAft>
                        <a:tabLst>
                          <a:tab pos="114300" algn="l"/>
                        </a:tabLst>
                      </a:pPr>
                      <a:r>
                        <a:rPr lang="en-US" sz="1800" kern="100">
                          <a:effectLst/>
                        </a:rPr>
                        <a:t>1</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interprets line by line and executes</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Whole program at a time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r>
              <a:tr h="341018">
                <a:tc>
                  <a:txBody>
                    <a:bodyPr/>
                    <a:lstStyle/>
                    <a:p>
                      <a:pPr marL="0" marR="0" algn="l">
                        <a:lnSpc>
                          <a:spcPct val="107000"/>
                        </a:lnSpc>
                        <a:spcBef>
                          <a:spcPts val="0"/>
                        </a:spcBef>
                        <a:spcAft>
                          <a:spcPts val="0"/>
                        </a:spcAft>
                        <a:tabLst>
                          <a:tab pos="114300" algn="l"/>
                        </a:tabLst>
                      </a:pPr>
                      <a:r>
                        <a:rPr lang="en-US" sz="1800" kern="100">
                          <a:effectLst/>
                        </a:rPr>
                        <a:t>2</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gives the result line by line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gives whole output at a time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r>
              <a:tr h="700486">
                <a:tc>
                  <a:txBody>
                    <a:bodyPr/>
                    <a:lstStyle/>
                    <a:p>
                      <a:pPr marL="0" marR="0" algn="l">
                        <a:lnSpc>
                          <a:spcPct val="107000"/>
                        </a:lnSpc>
                        <a:spcBef>
                          <a:spcPts val="0"/>
                        </a:spcBef>
                        <a:spcAft>
                          <a:spcPts val="0"/>
                        </a:spcAft>
                        <a:tabLst>
                          <a:tab pos="114300" algn="l"/>
                        </a:tabLst>
                      </a:pPr>
                      <a:r>
                        <a:rPr lang="en-US" sz="1800" kern="100">
                          <a:effectLst/>
                        </a:rPr>
                        <a:t>3</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dirty="0">
                          <a:effectLst/>
                        </a:rPr>
                        <a:t>If any error occurs interpreter stops</a:t>
                      </a:r>
                      <a:endParaRPr lang="en-US" sz="1800" kern="100" dirty="0">
                        <a:effectLst/>
                      </a:endParaRPr>
                    </a:p>
                    <a:p>
                      <a:pPr marL="0" marR="0" algn="l">
                        <a:lnSpc>
                          <a:spcPct val="107000"/>
                        </a:lnSpc>
                        <a:spcBef>
                          <a:spcPts val="0"/>
                        </a:spcBef>
                        <a:spcAft>
                          <a:spcPts val="0"/>
                        </a:spcAft>
                        <a:tabLst>
                          <a:tab pos="114300" algn="l"/>
                        </a:tabLst>
                      </a:pPr>
                      <a:r>
                        <a:rPr lang="en-US" sz="1800" kern="100" dirty="0">
                          <a:effectLst/>
                        </a:rPr>
                        <a:t>Hence it shows only one error</a:t>
                      </a:r>
                      <a:endParaRPr lang="en-US" sz="1800" kern="100" dirty="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checks all statements in the program </a:t>
                      </a:r>
                      <a:endParaRPr lang="en-US" sz="1800" kern="100">
                        <a:effectLst/>
                      </a:endParaRPr>
                    </a:p>
                    <a:p>
                      <a:pPr marL="0" marR="0" algn="l">
                        <a:lnSpc>
                          <a:spcPct val="107000"/>
                        </a:lnSpc>
                        <a:spcBef>
                          <a:spcPts val="0"/>
                        </a:spcBef>
                        <a:spcAft>
                          <a:spcPts val="0"/>
                        </a:spcAft>
                        <a:tabLst>
                          <a:tab pos="114300" algn="l"/>
                        </a:tabLst>
                      </a:pPr>
                      <a:r>
                        <a:rPr lang="en-US" sz="1800" kern="100">
                          <a:effectLst/>
                        </a:rPr>
                        <a:t>and shows all the errors in the program.</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r>
              <a:tr h="700486">
                <a:tc>
                  <a:txBody>
                    <a:bodyPr/>
                    <a:lstStyle/>
                    <a:p>
                      <a:pPr marL="0" marR="0" algn="l">
                        <a:lnSpc>
                          <a:spcPct val="107000"/>
                        </a:lnSpc>
                        <a:spcBef>
                          <a:spcPts val="0"/>
                        </a:spcBef>
                        <a:spcAft>
                          <a:spcPts val="0"/>
                        </a:spcAft>
                        <a:tabLst>
                          <a:tab pos="114300" algn="l"/>
                        </a:tabLst>
                      </a:pPr>
                      <a:r>
                        <a:rPr lang="en-US" sz="1800" kern="100">
                          <a:effectLst/>
                        </a:rPr>
                        <a:t>4</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will not generate executable file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If no errors in the program, </a:t>
                      </a:r>
                      <a:endParaRPr lang="en-US" sz="1800" kern="100">
                        <a:effectLst/>
                      </a:endParaRPr>
                    </a:p>
                    <a:p>
                      <a:pPr marL="0" marR="0" algn="l">
                        <a:lnSpc>
                          <a:spcPct val="107000"/>
                        </a:lnSpc>
                        <a:spcBef>
                          <a:spcPts val="0"/>
                        </a:spcBef>
                        <a:spcAft>
                          <a:spcPts val="0"/>
                        </a:spcAft>
                        <a:tabLst>
                          <a:tab pos="114300" algn="l"/>
                        </a:tabLst>
                      </a:pPr>
                      <a:r>
                        <a:rPr lang="en-US" sz="1800" kern="100">
                          <a:effectLst/>
                        </a:rPr>
                        <a:t>then it generates executable file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r>
              <a:tr h="341018">
                <a:tc>
                  <a:txBody>
                    <a:bodyPr/>
                    <a:lstStyle/>
                    <a:p>
                      <a:pPr marL="0" marR="0" algn="l">
                        <a:lnSpc>
                          <a:spcPct val="107000"/>
                        </a:lnSpc>
                        <a:spcBef>
                          <a:spcPts val="0"/>
                        </a:spcBef>
                        <a:spcAft>
                          <a:spcPts val="0"/>
                        </a:spcAft>
                        <a:tabLst>
                          <a:tab pos="114300" algn="l"/>
                        </a:tabLst>
                      </a:pPr>
                      <a:r>
                        <a:rPr lang="en-US" sz="1800" kern="100">
                          <a:effectLst/>
                        </a:rPr>
                        <a:t>5</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always executes only source code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executes exe file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r>
              <a:tr h="341018">
                <a:tc>
                  <a:txBody>
                    <a:bodyPr/>
                    <a:lstStyle/>
                    <a:p>
                      <a:pPr marL="0" marR="0" algn="l">
                        <a:lnSpc>
                          <a:spcPct val="107000"/>
                        </a:lnSpc>
                        <a:spcBef>
                          <a:spcPts val="0"/>
                        </a:spcBef>
                        <a:spcAft>
                          <a:spcPts val="0"/>
                        </a:spcAft>
                        <a:tabLst>
                          <a:tab pos="114300" algn="l"/>
                        </a:tabLst>
                      </a:pPr>
                      <a:r>
                        <a:rPr lang="en-US" sz="1800" kern="100">
                          <a:effectLst/>
                        </a:rPr>
                        <a:t>6</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all scripting languages </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all programming language </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r>
              <a:tr h="700486">
                <a:tc>
                  <a:txBody>
                    <a:bodyPr/>
                    <a:lstStyle/>
                    <a:p>
                      <a:pPr marL="0" marR="0" algn="l">
                        <a:lnSpc>
                          <a:spcPct val="107000"/>
                        </a:lnSpc>
                        <a:spcBef>
                          <a:spcPts val="0"/>
                        </a:spcBef>
                        <a:spcAft>
                          <a:spcPts val="0"/>
                        </a:spcAft>
                        <a:tabLst>
                          <a:tab pos="114300" algn="l"/>
                        </a:tabLst>
                      </a:pPr>
                      <a:r>
                        <a:rPr lang="en-US" sz="1800" kern="100">
                          <a:effectLst/>
                        </a:rPr>
                        <a:t>7</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Eg:  HTML, PERL, Java Script, Python, Shell</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Eg;   C, C++ ,java  and  .Net C#</a:t>
                      </a:r>
                      <a:endParaRPr lang="en-US" sz="1800" kern="100">
                        <a:effectLst/>
                      </a:endParaRPr>
                    </a:p>
                    <a:p>
                      <a:pPr marL="0" marR="0" algn="l">
                        <a:lnSpc>
                          <a:spcPct val="107000"/>
                        </a:lnSpc>
                        <a:spcBef>
                          <a:spcPts val="0"/>
                        </a:spcBef>
                        <a:spcAft>
                          <a:spcPts val="0"/>
                        </a:spcAft>
                        <a:tabLst>
                          <a:tab pos="114300" algn="l"/>
                        </a:tabLst>
                      </a:pPr>
                      <a:r>
                        <a:rPr lang="en-US" sz="1800" kern="100">
                          <a:effectLst/>
                        </a:rPr>
                        <a:t> </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r>
              <a:tr h="700486">
                <a:tc>
                  <a:txBody>
                    <a:bodyPr/>
                    <a:lstStyle/>
                    <a:p>
                      <a:pPr marL="0" marR="0" algn="l">
                        <a:lnSpc>
                          <a:spcPct val="107000"/>
                        </a:lnSpc>
                        <a:spcBef>
                          <a:spcPts val="0"/>
                        </a:spcBef>
                        <a:spcAft>
                          <a:spcPts val="0"/>
                        </a:spcAft>
                        <a:tabLst>
                          <a:tab pos="114300" algn="l"/>
                        </a:tabLst>
                      </a:pPr>
                      <a:r>
                        <a:rPr lang="en-US" sz="1800" kern="100">
                          <a:effectLst/>
                        </a:rPr>
                        <a:t>8</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dirty="0">
                          <a:effectLst/>
                        </a:rPr>
                        <a:t>Interpreter based languages don’t have exe file concept</a:t>
                      </a:r>
                      <a:endParaRPr lang="en-US" sz="1800" kern="100" dirty="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tc>
                <a:tc>
                  <a:txBody>
                    <a:bodyPr/>
                    <a:lstStyle/>
                    <a:p>
                      <a:pPr marL="0" marR="0" algn="l">
                        <a:lnSpc>
                          <a:spcPct val="107000"/>
                        </a:lnSpc>
                        <a:spcBef>
                          <a:spcPts val="0"/>
                        </a:spcBef>
                        <a:spcAft>
                          <a:spcPts val="0"/>
                        </a:spcAft>
                        <a:tabLst>
                          <a:tab pos="114300" algn="l"/>
                        </a:tabLst>
                      </a:pPr>
                      <a:r>
                        <a:rPr lang="en-US" sz="1800" kern="100">
                          <a:effectLst/>
                        </a:rPr>
                        <a:t>Every program converts into exe file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tc>
              </a:tr>
              <a:tr h="700486">
                <a:tc>
                  <a:txBody>
                    <a:bodyPr/>
                    <a:lstStyle/>
                    <a:p>
                      <a:pPr marL="0" marR="0" algn="l">
                        <a:lnSpc>
                          <a:spcPct val="107000"/>
                        </a:lnSpc>
                        <a:spcBef>
                          <a:spcPts val="0"/>
                        </a:spcBef>
                        <a:spcAft>
                          <a:spcPts val="0"/>
                        </a:spcAft>
                        <a:tabLst>
                          <a:tab pos="114300" algn="l"/>
                        </a:tabLst>
                      </a:pPr>
                      <a:r>
                        <a:rPr lang="en-US" sz="1800" kern="100">
                          <a:effectLst/>
                        </a:rPr>
                        <a:t>9</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Open Source, it can be modified any time</a:t>
                      </a:r>
                      <a:endParaRPr lang="en-US" sz="1800" kern="10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tc>
                <a:tc>
                  <a:txBody>
                    <a:bodyPr/>
                    <a:lstStyle/>
                    <a:p>
                      <a:pPr marL="0" marR="0" algn="l">
                        <a:lnSpc>
                          <a:spcPct val="107000"/>
                        </a:lnSpc>
                        <a:spcBef>
                          <a:spcPts val="0"/>
                        </a:spcBef>
                        <a:spcAft>
                          <a:spcPts val="0"/>
                        </a:spcAft>
                        <a:tabLst>
                          <a:tab pos="114300" algn="l"/>
                        </a:tabLst>
                      </a:pPr>
                      <a:r>
                        <a:rPr lang="en-US" sz="1800" kern="100" dirty="0">
                          <a:effectLst/>
                        </a:rPr>
                        <a:t>It is not an open source , </a:t>
                      </a:r>
                      <a:endParaRPr lang="en-US" sz="1800" kern="100" dirty="0">
                        <a:effectLst/>
                      </a:endParaRPr>
                    </a:p>
                    <a:p>
                      <a:pPr marL="0" marR="0" algn="l">
                        <a:lnSpc>
                          <a:spcPct val="107000"/>
                        </a:lnSpc>
                        <a:spcBef>
                          <a:spcPts val="0"/>
                        </a:spcBef>
                        <a:spcAft>
                          <a:spcPts val="0"/>
                        </a:spcAft>
                        <a:tabLst>
                          <a:tab pos="114300" algn="l"/>
                        </a:tabLst>
                      </a:pPr>
                      <a:r>
                        <a:rPr lang="en-US" sz="1800" kern="100" dirty="0">
                          <a:effectLst/>
                        </a:rPr>
                        <a:t>it is exe based , it’s code can not be modified  </a:t>
                      </a:r>
                      <a:endParaRPr lang="en-US" sz="1800" kern="100" dirty="0">
                        <a:effectLst/>
                        <a:latin typeface="Calibri" panose="020F0502020204030204" charset="0"/>
                        <a:ea typeface="Times New Roman" panose="02020603050405020304" pitchFamily="18" charset="0"/>
                        <a:cs typeface="Mangal" panose="02040503050203030202" pitchFamily="18" charset="0"/>
                      </a:endParaRPr>
                    </a:p>
                  </a:txBody>
                  <a:tcPr marL="68580" marR="68580" marT="0" marB="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882" y="192505"/>
            <a:ext cx="11244731" cy="539015"/>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Automatic Compilation in Python</a:t>
            </a:r>
            <a:endParaRPr lang="en-US" sz="28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75385" y="731520"/>
            <a:ext cx="11675444" cy="5179702"/>
          </a:xfrm>
        </p:spPr>
        <p:txBody>
          <a:bodyPr>
            <a:normAutofit/>
          </a:bodyPr>
          <a:lstStyle/>
          <a:p>
            <a:r>
              <a:rPr lang="en-US" dirty="0">
                <a:latin typeface="Cambria" panose="02040503050406030204" pitchFamily="18" charset="0"/>
                <a:ea typeface="Cambria" panose="02040503050406030204" pitchFamily="18" charset="0"/>
              </a:rPr>
              <a:t>Python is an </a:t>
            </a:r>
            <a:r>
              <a:rPr lang="en-US" b="1" dirty="0">
                <a:latin typeface="Cambria" panose="02040503050406030204" pitchFamily="18" charset="0"/>
                <a:ea typeface="Cambria" panose="02040503050406030204" pitchFamily="18" charset="0"/>
              </a:rPr>
              <a:t>interpreted language</a:t>
            </a:r>
            <a:r>
              <a:rPr lang="en-US" dirty="0">
                <a:latin typeface="Cambria" panose="02040503050406030204" pitchFamily="18" charset="0"/>
                <a:ea typeface="Cambria" panose="02040503050406030204" pitchFamily="18" charset="0"/>
              </a:rPr>
              <a:t>, but it also goes through a </a:t>
            </a:r>
            <a:r>
              <a:rPr lang="en-US" b="1" dirty="0">
                <a:latin typeface="Cambria" panose="02040503050406030204" pitchFamily="18" charset="0"/>
                <a:ea typeface="Cambria" panose="02040503050406030204" pitchFamily="18" charset="0"/>
              </a:rPr>
              <a:t>compilation step automatically</a:t>
            </a:r>
            <a:endParaRPr lang="en-US" b="1" dirty="0">
              <a:latin typeface="Cambria" panose="02040503050406030204" pitchFamily="18" charset="0"/>
              <a:ea typeface="Cambria" panose="02040503050406030204" pitchFamily="18" charset="0"/>
            </a:endParaRPr>
          </a:p>
          <a:p>
            <a:endParaRPr lang="en-US" b="1" dirty="0">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Your .</a:t>
            </a:r>
            <a:r>
              <a:rPr kumimoji="0" lang="en-US" altLang="en-US"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py</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file (source 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first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compiled</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bytecode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bytecode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a lower-level, platform-independent representation of your code.</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This bytecode is then sent to 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interpreter (Python Virtual Machine - PVM)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which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executes it line by line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endParaRPr lang="en-US" b="1"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Why Is It Automatic?</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Python hides the compilation step from the user to simplify the development process.</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Unlike languages like C or Java (where you explicitly compile), Python handles it in the background.</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This improves developer productivity and allows for quicker testing and iteration.</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When you run a Python script, it may create a .</a:t>
            </a:r>
            <a:r>
              <a:rPr lang="en-US" dirty="0" err="1">
                <a:latin typeface="Cambria" panose="02040503050406030204" pitchFamily="18" charset="0"/>
                <a:ea typeface="Cambria" panose="02040503050406030204" pitchFamily="18" charset="0"/>
              </a:rPr>
              <a:t>pyc</a:t>
            </a:r>
            <a:r>
              <a:rPr lang="en-US" dirty="0">
                <a:latin typeface="Cambria" panose="02040503050406030204" pitchFamily="18" charset="0"/>
                <a:ea typeface="Cambria" panose="02040503050406030204" pitchFamily="18" charset="0"/>
              </a:rPr>
              <a:t> file inside the __</a:t>
            </a:r>
            <a:r>
              <a:rPr lang="en-US" dirty="0" err="1">
                <a:latin typeface="Cambria" panose="02040503050406030204" pitchFamily="18" charset="0"/>
                <a:ea typeface="Cambria" panose="02040503050406030204" pitchFamily="18" charset="0"/>
              </a:rPr>
              <a:t>pycache</a:t>
            </a:r>
            <a:r>
              <a:rPr lang="en-US" dirty="0">
                <a:latin typeface="Cambria" panose="02040503050406030204" pitchFamily="18" charset="0"/>
                <a:ea typeface="Cambria" panose="02040503050406030204" pitchFamily="18" charset="0"/>
              </a:rPr>
              <a:t>__ folder.</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This is the compiled bytecode version of your script, used to speed up future runs.</a:t>
            </a: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137" y="182880"/>
            <a:ext cx="11071475" cy="567891"/>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Install or download </a:t>
            </a:r>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endParaRPr lang="en-US" sz="28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88758" y="1135781"/>
            <a:ext cx="11215854" cy="4804317"/>
          </a:xfrm>
        </p:spPr>
        <p:txBody>
          <a:bodyPr/>
          <a:lstStyle/>
          <a:p>
            <a:r>
              <a:rPr lang="en-US" dirty="0"/>
              <a:t>&gt;pip --version</a:t>
            </a:r>
            <a:endParaRPr lang="en-US" dirty="0"/>
          </a:p>
        </p:txBody>
      </p:sp>
      <p:sp>
        <p:nvSpPr>
          <p:cNvPr id="5" name="Rectangle 2"/>
          <p:cNvSpPr>
            <a:spLocks noChangeArrowheads="1"/>
          </p:cNvSpPr>
          <p:nvPr/>
        </p:nvSpPr>
        <p:spPr bwMode="auto">
          <a:xfrm>
            <a:off x="325261" y="1791725"/>
            <a:ext cx="11287225" cy="107976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rgbClr val="273239"/>
                </a:solidFill>
                <a:effectLst/>
                <a:latin typeface="Nunito" panose="020F0502020204030204" pitchFamily="2" charset="0"/>
              </a:rPr>
              <a:t>Using</a:t>
            </a:r>
            <a:r>
              <a:rPr kumimoji="0" lang="en-US" altLang="en-US" sz="1600" b="1" i="0" u="none" strike="noStrike" cap="none" normalizeH="0" baseline="0" dirty="0">
                <a:ln>
                  <a:noFill/>
                </a:ln>
                <a:solidFill>
                  <a:srgbClr val="273239"/>
                </a:solidFill>
                <a:effectLst/>
                <a:latin typeface="Nunito" panose="020F0502020204030204" pitchFamily="2" charset="0"/>
              </a:rPr>
              <a:t> </a:t>
            </a:r>
            <a:r>
              <a:rPr kumimoji="0" lang="en-US" altLang="en-US" sz="1600" b="1" i="0" u="sng" strike="noStrike" cap="none" normalizeH="0" baseline="0" dirty="0">
                <a:ln>
                  <a:noFill/>
                </a:ln>
                <a:solidFill>
                  <a:srgbClr val="357960"/>
                </a:solidFill>
                <a:effectLst/>
                <a:latin typeface="Nunito" panose="020F0502020204030204" pitchFamily="2" charset="0"/>
                <a:hlinkClick r:id="rId1"/>
              </a:rPr>
              <a:t>PIP</a:t>
            </a:r>
            <a:r>
              <a:rPr kumimoji="0" lang="en-US" altLang="en-US" sz="1600" b="0" i="0" u="none" strike="noStrike" cap="none" normalizeH="0" baseline="0" dirty="0">
                <a:ln>
                  <a:noFill/>
                </a:ln>
                <a:solidFill>
                  <a:srgbClr val="273239"/>
                </a:solidFill>
                <a:effectLst/>
                <a:latin typeface="Nunito" panose="020F0502020204030204" pitchFamily="2" charset="0"/>
              </a:rPr>
              <a:t> with </a:t>
            </a:r>
            <a:r>
              <a:rPr kumimoji="0" lang="en-US" altLang="en-US" sz="1600" b="0" i="0" u="sng" strike="noStrike" cap="none" normalizeH="0" baseline="0" dirty="0">
                <a:ln>
                  <a:noFill/>
                </a:ln>
                <a:solidFill>
                  <a:srgbClr val="357960"/>
                </a:solidFill>
                <a:effectLst/>
                <a:latin typeface="Nunito" panose="020F0502020204030204" pitchFamily="2" charset="0"/>
                <a:hlinkClick r:id="rId2"/>
              </a:rPr>
              <a:t>Python </a:t>
            </a:r>
            <a:r>
              <a:rPr kumimoji="0" lang="en-US" altLang="en-US" sz="1600" b="0" i="0" u="none" strike="noStrike" cap="none" normalizeH="0" baseline="0" dirty="0">
                <a:ln>
                  <a:noFill/>
                </a:ln>
                <a:solidFill>
                  <a:srgbClr val="273239"/>
                </a:solidFill>
                <a:effectLst/>
                <a:latin typeface="Nunito" panose="020F0502020204030204" pitchFamily="2" charset="0"/>
              </a:rPr>
              <a:t>is one of the best method to install </a:t>
            </a:r>
            <a:r>
              <a:rPr kumimoji="0" lang="en-US" altLang="en-US" sz="1600" b="0" i="0" u="none" strike="noStrike" cap="none" normalizeH="0" baseline="0" dirty="0" err="1">
                <a:ln>
                  <a:noFill/>
                </a:ln>
                <a:solidFill>
                  <a:srgbClr val="273239"/>
                </a:solidFill>
                <a:effectLst/>
                <a:latin typeface="Nunito" panose="020F0502020204030204" pitchFamily="2" charset="0"/>
              </a:rPr>
              <a:t>Jupyter</a:t>
            </a:r>
            <a:r>
              <a:rPr kumimoji="0" lang="en-US" altLang="en-US" sz="1600" b="0" i="0" u="none" strike="noStrike" cap="none" normalizeH="0" baseline="0" dirty="0">
                <a:ln>
                  <a:noFill/>
                </a:ln>
                <a:solidFill>
                  <a:srgbClr val="273239"/>
                </a:solidFill>
                <a:effectLst/>
                <a:latin typeface="Nunito" panose="020F0502020204030204" pitchFamily="2" charset="0"/>
              </a:rPr>
              <a:t> Notebook in your Windows Operating System</a:t>
            </a:r>
            <a:endParaRPr kumimoji="0" lang="en-US" altLang="en-US" sz="1600" b="0" i="0" u="none" strike="noStrike" cap="none" normalizeH="0" baseline="0" dirty="0">
              <a:ln>
                <a:noFill/>
              </a:ln>
              <a:solidFill>
                <a:srgbClr val="273239"/>
              </a:solidFill>
              <a:effectLst/>
              <a:latin typeface="Nunito"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rgbClr val="273239"/>
                </a:solidFill>
                <a:effectLst/>
                <a:latin typeface="Nunito" panose="020F0502020204030204" pitchFamily="2" charset="0"/>
              </a:rPr>
              <a:t>Step 1: Check for any </a:t>
            </a:r>
            <a:r>
              <a:rPr kumimoji="0" lang="en-US" altLang="en-US" b="1" i="0" u="none" strike="noStrike" cap="none" normalizeH="0" baseline="0" dirty="0" err="1">
                <a:ln>
                  <a:noFill/>
                </a:ln>
                <a:solidFill>
                  <a:srgbClr val="273239"/>
                </a:solidFill>
                <a:effectLst/>
                <a:latin typeface="Nunito" panose="020F0502020204030204" pitchFamily="2" charset="0"/>
              </a:rPr>
              <a:t>Exisiting</a:t>
            </a:r>
            <a:r>
              <a:rPr kumimoji="0" lang="en-US" altLang="en-US" b="1" i="0" u="none" strike="noStrike" cap="none" normalizeH="0" baseline="0" dirty="0">
                <a:ln>
                  <a:noFill/>
                </a:ln>
                <a:solidFill>
                  <a:srgbClr val="273239"/>
                </a:solidFill>
                <a:effectLst/>
                <a:latin typeface="Nunito" panose="020F0502020204030204" pitchFamily="2" charset="0"/>
              </a:rPr>
              <a:t> Update</a:t>
            </a:r>
            <a:endParaRPr kumimoji="0" lang="en-US" altLang="en-US" b="1" i="0" u="none" strike="noStrike" cap="none" normalizeH="0" baseline="0" dirty="0">
              <a:ln>
                <a:noFill/>
              </a:ln>
              <a:solidFill>
                <a:srgbClr val="273239"/>
              </a:solidFill>
              <a:effectLst/>
              <a:latin typeface="Nunito"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rgbClr val="273239"/>
                </a:solidFill>
                <a:effectLst/>
                <a:latin typeface="Nunito" panose="020F0502020204030204" pitchFamily="2" charset="0"/>
              </a:rPr>
              <a:t>Use the following command to update pip (to verify if pip is updated):</a:t>
            </a:r>
            <a:endParaRPr kumimoji="0" lang="en-US" altLang="en-US" sz="1600"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onsolas" panose="020B0609020204030204" pitchFamily="49" charset="0"/>
              </a:rPr>
              <a:t>python -m pip install --upgrade pip</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324442" y="3256498"/>
            <a:ext cx="11215854" cy="895097"/>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rgbClr val="273239"/>
                </a:solidFill>
                <a:effectLst/>
                <a:latin typeface="Nunito" panose="020F0502020204030204" pitchFamily="2" charset="0"/>
              </a:rPr>
              <a:t>Step 2: Install </a:t>
            </a:r>
            <a:r>
              <a:rPr kumimoji="0" lang="en-US" altLang="en-US" b="1" i="0" u="none" strike="noStrike" cap="none" normalizeH="0" baseline="0" dirty="0" err="1">
                <a:ln>
                  <a:noFill/>
                </a:ln>
                <a:solidFill>
                  <a:srgbClr val="273239"/>
                </a:solidFill>
                <a:effectLst/>
                <a:latin typeface="Nunito" panose="020F0502020204030204" pitchFamily="2" charset="0"/>
              </a:rPr>
              <a:t>Jupyter</a:t>
            </a:r>
            <a:r>
              <a:rPr kumimoji="0" lang="en-US" altLang="en-US" b="1" i="0" u="none" strike="noStrike" cap="none" normalizeH="0" baseline="0" dirty="0">
                <a:ln>
                  <a:noFill/>
                </a:ln>
                <a:solidFill>
                  <a:srgbClr val="273239"/>
                </a:solidFill>
                <a:effectLst/>
                <a:latin typeface="Nunito" panose="020F0502020204030204" pitchFamily="2" charset="0"/>
              </a:rPr>
              <a:t> Notebook</a:t>
            </a:r>
            <a:endParaRPr kumimoji="0" lang="en-US" altLang="en-US" b="1" i="0" u="none" strike="noStrike" cap="none" normalizeH="0" baseline="0" dirty="0">
              <a:ln>
                <a:noFill/>
              </a:ln>
              <a:solidFill>
                <a:srgbClr val="273239"/>
              </a:solidFill>
              <a:effectLst/>
              <a:latin typeface="Nunito"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273239"/>
                </a:solidFill>
                <a:effectLst/>
                <a:latin typeface="Nunito" panose="020F0502020204030204" pitchFamily="2" charset="0"/>
              </a:rPr>
              <a:t>After updating the</a:t>
            </a:r>
            <a:r>
              <a:rPr kumimoji="0" lang="en-US" altLang="en-US" b="0" i="0" u="sng" strike="noStrike" cap="none" normalizeH="0" baseline="0" dirty="0">
                <a:ln>
                  <a:noFill/>
                </a:ln>
                <a:solidFill>
                  <a:srgbClr val="357960"/>
                </a:solidFill>
                <a:effectLst/>
                <a:latin typeface="Nunito" panose="020F0502020204030204" pitchFamily="2" charset="0"/>
                <a:hlinkClick r:id="rId3"/>
              </a:rPr>
              <a:t> pip version</a:t>
            </a:r>
            <a:r>
              <a:rPr kumimoji="0" lang="en-US" altLang="en-US" b="0" i="0" u="none" strike="noStrike" cap="none" normalizeH="0" baseline="0" dirty="0">
                <a:ln>
                  <a:noFill/>
                </a:ln>
                <a:solidFill>
                  <a:srgbClr val="273239"/>
                </a:solidFill>
                <a:effectLst/>
                <a:latin typeface="Nunito" panose="020F0502020204030204" pitchFamily="2" charset="0"/>
              </a:rPr>
              <a:t>, type the following command to install </a:t>
            </a:r>
            <a:r>
              <a:rPr kumimoji="0" lang="en-US" altLang="en-US" b="0" i="0" u="none" strike="noStrike" cap="none" normalizeH="0" baseline="0" dirty="0" err="1">
                <a:ln>
                  <a:noFill/>
                </a:ln>
                <a:solidFill>
                  <a:srgbClr val="273239"/>
                </a:solidFill>
                <a:effectLst/>
                <a:latin typeface="Nunito" panose="020F0502020204030204" pitchFamily="2" charset="0"/>
              </a:rPr>
              <a:t>Jupyter</a:t>
            </a:r>
            <a:r>
              <a:rPr kumimoji="0" lang="en-US" altLang="en-US" b="0" i="0" u="none" strike="noStrike" cap="none" normalizeH="0" baseline="0" dirty="0">
                <a:ln>
                  <a:noFill/>
                </a:ln>
                <a:solidFill>
                  <a:srgbClr val="273239"/>
                </a:solidFill>
                <a:effectLst/>
                <a:latin typeface="Nunito" panose="020F0502020204030204" pitchFamily="2" charset="0"/>
              </a:rPr>
              <a:t>:</a:t>
            </a:r>
            <a:endParaRPr kumimoji="0" lang="en-US" altLang="en-US"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Consolas" panose="020B0609020204030204" pitchFamily="49" charset="0"/>
              </a:rPr>
              <a:t>python -m pip install </a:t>
            </a:r>
            <a:r>
              <a:rPr kumimoji="0" lang="en-US" altLang="en-US" b="0" i="0" u="none" strike="noStrike" cap="none" normalizeH="0" baseline="0" dirty="0" err="1">
                <a:ln>
                  <a:noFill/>
                </a:ln>
                <a:solidFill>
                  <a:schemeClr val="tx1"/>
                </a:solidFill>
                <a:effectLst/>
                <a:latin typeface="Consolas" panose="020B0609020204030204" pitchFamily="49" charset="0"/>
              </a:rPr>
              <a:t>jupyter</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8" name="Rectangle 5"/>
          <p:cNvSpPr>
            <a:spLocks noChangeArrowheads="1"/>
          </p:cNvSpPr>
          <p:nvPr/>
        </p:nvSpPr>
        <p:spPr bwMode="auto">
          <a:xfrm>
            <a:off x="288757" y="4536605"/>
            <a:ext cx="11287225" cy="895097"/>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rgbClr val="273239"/>
                </a:solidFill>
                <a:effectLst/>
                <a:latin typeface="Nunito" panose="020F0502020204030204" pitchFamily="2" charset="0"/>
              </a:rPr>
              <a:t>Step 3: Launching </a:t>
            </a:r>
            <a:r>
              <a:rPr kumimoji="0" lang="en-US" altLang="en-US" b="1" i="0" u="none" strike="noStrike" cap="none" normalizeH="0" baseline="0" dirty="0" err="1">
                <a:ln>
                  <a:noFill/>
                </a:ln>
                <a:solidFill>
                  <a:srgbClr val="273239"/>
                </a:solidFill>
                <a:effectLst/>
                <a:latin typeface="Nunito" panose="020F0502020204030204" pitchFamily="2" charset="0"/>
              </a:rPr>
              <a:t>Jupyter</a:t>
            </a:r>
            <a:endParaRPr kumimoji="0" lang="en-US" altLang="en-US" b="1" i="0" u="none" strike="noStrike" cap="none" normalizeH="0" baseline="0" dirty="0">
              <a:ln>
                <a:noFill/>
              </a:ln>
              <a:solidFill>
                <a:srgbClr val="273239"/>
              </a:solidFill>
              <a:effectLst/>
              <a:latin typeface="Nunito"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273239"/>
                </a:solidFill>
                <a:effectLst/>
                <a:latin typeface="Nunito" panose="020F0502020204030204" pitchFamily="2" charset="0"/>
              </a:rPr>
              <a:t>Use the following command to launch </a:t>
            </a:r>
            <a:r>
              <a:rPr kumimoji="0" lang="en-US" altLang="en-US" b="0" i="0" u="none" strike="noStrike" cap="none" normalizeH="0" baseline="0" dirty="0" err="1">
                <a:ln>
                  <a:noFill/>
                </a:ln>
                <a:solidFill>
                  <a:srgbClr val="273239"/>
                </a:solidFill>
                <a:effectLst/>
                <a:latin typeface="Nunito" panose="020F0502020204030204" pitchFamily="2" charset="0"/>
              </a:rPr>
              <a:t>Jupyter</a:t>
            </a:r>
            <a:r>
              <a:rPr kumimoji="0" lang="en-US" altLang="en-US" b="0" i="0" u="none" strike="noStrike" cap="none" normalizeH="0" baseline="0" dirty="0">
                <a:ln>
                  <a:noFill/>
                </a:ln>
                <a:solidFill>
                  <a:srgbClr val="273239"/>
                </a:solidFill>
                <a:effectLst/>
                <a:latin typeface="Nunito" panose="020F0502020204030204" pitchFamily="2" charset="0"/>
              </a:rPr>
              <a:t> using:</a:t>
            </a:r>
            <a:endParaRPr kumimoji="0" lang="en-US" altLang="en-US"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err="1">
                <a:ln>
                  <a:noFill/>
                </a:ln>
                <a:solidFill>
                  <a:schemeClr val="tx1"/>
                </a:solidFill>
                <a:effectLst/>
                <a:latin typeface="Consolas" panose="020B0609020204030204" pitchFamily="49" charset="0"/>
              </a:rPr>
              <a:t>jupyter</a:t>
            </a:r>
            <a:r>
              <a:rPr kumimoji="0" lang="en-US" altLang="en-US" b="0" i="0" u="none" strike="noStrike" cap="none" normalizeH="0" baseline="0" dirty="0">
                <a:ln>
                  <a:noFill/>
                </a:ln>
                <a:solidFill>
                  <a:schemeClr val="tx1"/>
                </a:solidFill>
                <a:effectLst/>
                <a:latin typeface="Consolas" panose="020B0609020204030204" pitchFamily="49" charset="0"/>
              </a:rPr>
              <a:t> notebook</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3" y="288758"/>
            <a:ext cx="11225479" cy="471638"/>
          </a:xfrm>
        </p:spPr>
        <p:txBody>
          <a:bodyPr>
            <a:normAutofit fontScale="90000"/>
          </a:bodyPr>
          <a:lstStyle/>
          <a:p>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endParaRPr lang="en-US" sz="2800" b="1" dirty="0">
              <a:solidFill>
                <a:srgbClr val="FF0000"/>
              </a:solidFill>
              <a:latin typeface="Cambria" panose="02040503050406030204" pitchFamily="18" charset="0"/>
              <a:ea typeface="Cambria" panose="02040503050406030204" pitchFamily="18" charset="0"/>
            </a:endParaRPr>
          </a:p>
        </p:txBody>
      </p:sp>
      <p:sp>
        <p:nvSpPr>
          <p:cNvPr id="5" name="Rectangle 2"/>
          <p:cNvSpPr>
            <a:spLocks noGrp="1" noChangeArrowheads="1"/>
          </p:cNvSpPr>
          <p:nvPr>
            <p:ph idx="1"/>
          </p:nvPr>
        </p:nvSpPr>
        <p:spPr bwMode="auto">
          <a:xfrm>
            <a:off x="433137" y="1412179"/>
            <a:ext cx="1154550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Interactive Environment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 provides an interactive web-based environment where you can write and run code, visualize data, and document your work all in one place.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Supports Multiple Languages</a:t>
            </a:r>
            <a:r>
              <a:rPr kumimoji="0" lang="en-US" altLang="en-US" sz="1800" b="0" i="0" u="none" strike="noStrike" cap="none" normalizeH="0" baseline="0" dirty="0">
                <a:ln>
                  <a:noFill/>
                </a:ln>
                <a:solidFill>
                  <a:schemeClr val="tx1"/>
                </a:solidFill>
                <a:effectLst/>
                <a:latin typeface="Arial" panose="020B0604020202020204" pitchFamily="34" charset="0"/>
              </a:rPr>
              <a:t>: Although primarily used for Python,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also supports many other programming languages via kernels (e.g., R, Julia, Scala).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Code and Text in One Document</a:t>
            </a:r>
            <a:r>
              <a:rPr kumimoji="0" lang="en-US" altLang="en-US" sz="1800" b="0" i="0" u="none" strike="noStrike" cap="none" normalizeH="0" baseline="0" dirty="0">
                <a:ln>
                  <a:noFill/>
                </a:ln>
                <a:solidFill>
                  <a:schemeClr val="tx1"/>
                </a:solidFill>
                <a:effectLst/>
                <a:latin typeface="Arial" panose="020B0604020202020204" pitchFamily="34" charset="0"/>
              </a:rPr>
              <a:t>: You can combine executable code, rich text (using Markdown), equations (using LaTeX), and visualizations in a single document.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Open Source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 is open-source and freely available, making it accessible to anyone.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Widely Used in Data Science</a:t>
            </a:r>
            <a:r>
              <a:rPr kumimoji="0" lang="en-US" altLang="en-US" sz="1800" b="0" i="0" u="none" strike="noStrike" cap="none" normalizeH="0" baseline="0" dirty="0">
                <a:ln>
                  <a:noFill/>
                </a:ln>
                <a:solidFill>
                  <a:schemeClr val="tx1"/>
                </a:solidFill>
                <a:effectLst/>
                <a:latin typeface="Arial" panose="020B0604020202020204" pitchFamily="34" charset="0"/>
              </a:rPr>
              <a:t>: It's a popular tool among data scientists and researchers for data analysis, machine learning, and statistical modeling.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79" y="269507"/>
            <a:ext cx="11360234" cy="596767"/>
          </a:xfrm>
        </p:spPr>
        <p:txBody>
          <a:bodyPr>
            <a:normAutofit/>
          </a:bodyPr>
          <a:lstStyle/>
          <a:p>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endParaRPr lang="en-US" sz="2800" dirty="0"/>
          </a:p>
        </p:txBody>
      </p:sp>
      <p:sp>
        <p:nvSpPr>
          <p:cNvPr id="4" name="Rectangle 1"/>
          <p:cNvSpPr>
            <a:spLocks noGrp="1" noChangeArrowheads="1"/>
          </p:cNvSpPr>
          <p:nvPr>
            <p:ph idx="1"/>
          </p:nvPr>
        </p:nvSpPr>
        <p:spPr bwMode="auto">
          <a:xfrm>
            <a:off x="230927" y="1422359"/>
            <a:ext cx="1173014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Cell-Based Execution</a:t>
            </a:r>
            <a:r>
              <a:rPr kumimoji="0" lang="en-US" altLang="en-US" sz="1800" b="0" i="0" u="none" strike="noStrike" cap="none" normalizeH="0" baseline="0" dirty="0">
                <a:ln>
                  <a:noFill/>
                </a:ln>
                <a:solidFill>
                  <a:schemeClr val="tx1"/>
                </a:solidFill>
                <a:effectLst/>
                <a:latin typeface="Arial" panose="020B0604020202020204" pitchFamily="34" charset="0"/>
              </a:rPr>
              <a:t>: Notebooks are made up of cells that can be executed independently, allowing easy debugging and iterative development.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Integration with Other Tools</a:t>
            </a:r>
            <a:r>
              <a:rPr kumimoji="0" lang="en-US" altLang="en-US" sz="1800" b="0" i="0" u="none" strike="noStrike" cap="none" normalizeH="0" baseline="0" dirty="0">
                <a:ln>
                  <a:noFill/>
                </a:ln>
                <a:solidFill>
                  <a:schemeClr val="tx1"/>
                </a:solidFill>
                <a:effectLst/>
                <a:latin typeface="Arial" panose="020B0604020202020204" pitchFamily="34" charset="0"/>
              </a:rPr>
              <a:t>: Can be run on local machines or cloud platforms like Google </a:t>
            </a:r>
            <a:r>
              <a:rPr kumimoji="0" lang="en-US" altLang="en-US" sz="1800" b="0" i="0" u="none" strike="noStrike" cap="none" normalizeH="0" baseline="0" dirty="0" err="1">
                <a:ln>
                  <a:noFill/>
                </a:ln>
                <a:solidFill>
                  <a:schemeClr val="tx1"/>
                </a:solidFill>
                <a:effectLst/>
                <a:latin typeface="Arial" panose="020B0604020202020204" pitchFamily="34" charset="0"/>
              </a:rPr>
              <a:t>Colab</a:t>
            </a:r>
            <a:r>
              <a:rPr kumimoji="0" lang="en-US" altLang="en-US" sz="1800" b="0" i="0" u="none" strike="noStrike" cap="none" normalizeH="0" baseline="0" dirty="0">
                <a:ln>
                  <a:noFill/>
                </a:ln>
                <a:solidFill>
                  <a:schemeClr val="tx1"/>
                </a:solidFill>
                <a:effectLst/>
                <a:latin typeface="Arial" panose="020B0604020202020204" pitchFamily="34" charset="0"/>
              </a:rPr>
              <a:t>, Binder, or </a:t>
            </a:r>
            <a:r>
              <a:rPr kumimoji="0" lang="en-US" altLang="en-US" sz="1800" b="0" i="0" u="none" strike="noStrike" cap="none" normalizeH="0" baseline="0" dirty="0" err="1">
                <a:ln>
                  <a:noFill/>
                </a:ln>
                <a:solidFill>
                  <a:schemeClr val="tx1"/>
                </a:solidFill>
                <a:effectLst/>
                <a:latin typeface="Arial" panose="020B0604020202020204" pitchFamily="34" charset="0"/>
              </a:rPr>
              <a:t>JupyterHub</a:t>
            </a:r>
            <a:r>
              <a:rPr kumimoji="0" lang="en-US" altLang="en-US" sz="1800" b="0" i="0" u="none" strike="noStrike" cap="none" normalizeH="0" baseline="0" dirty="0">
                <a:ln>
                  <a:noFill/>
                </a:ln>
                <a:solidFill>
                  <a:schemeClr val="tx1"/>
                </a:solidFill>
                <a:effectLst/>
                <a:latin typeface="Arial" panose="020B0604020202020204" pitchFamily="34" charset="0"/>
              </a:rPr>
              <a:t> for collaborative work.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Extensions and Customization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supports a wide variety of extensions and themes that enhance functionality (e.g., spell checker, table of contents, code folding).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17" y="144379"/>
            <a:ext cx="11061850" cy="452387"/>
          </a:xfrm>
        </p:spPr>
        <p:txBody>
          <a:bodyPr>
            <a:normAutofit fontScale="90000"/>
          </a:bodyPr>
          <a:lstStyle/>
          <a:p>
            <a:r>
              <a:rPr lang="en-US" sz="2800" b="1" dirty="0">
                <a:solidFill>
                  <a:srgbClr val="FF0000"/>
                </a:solidFill>
              </a:rPr>
              <a:t>Python print() function</a:t>
            </a:r>
            <a:endParaRPr lang="en-US" sz="2800" b="1" dirty="0">
              <a:solidFill>
                <a:srgbClr val="FF0000"/>
              </a:solidFill>
            </a:endParaRPr>
          </a:p>
        </p:txBody>
      </p:sp>
      <p:sp>
        <p:nvSpPr>
          <p:cNvPr id="4" name="Rectangle 1"/>
          <p:cNvSpPr>
            <a:spLocks noGrp="1" noChangeArrowheads="1"/>
          </p:cNvSpPr>
          <p:nvPr>
            <p:ph idx="1"/>
          </p:nvPr>
        </p:nvSpPr>
        <p:spPr bwMode="auto">
          <a:xfrm>
            <a:off x="209517" y="1546696"/>
            <a:ext cx="1158142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b="0" i="0" u="none" strike="noStrike" cap="none" normalizeH="0" baseline="0" dirty="0">
                <a:ln>
                  <a:noFill/>
                </a:ln>
                <a:solidFill>
                  <a:schemeClr val="tx1"/>
                </a:solidFill>
                <a:effectLst/>
                <a:latin typeface="Arial Unicode MS"/>
              </a:rPr>
              <a:t>print()</a:t>
            </a:r>
            <a:r>
              <a:rPr kumimoji="0" lang="en-US" altLang="en-US" b="0" i="0" u="none" strike="noStrike" cap="none" normalizeH="0" baseline="0" dirty="0">
                <a:ln>
                  <a:noFill/>
                </a:ln>
                <a:solidFill>
                  <a:schemeClr val="tx1"/>
                </a:solidFill>
                <a:effectLst/>
              </a:rPr>
              <a:t> function in Python is a </a:t>
            </a:r>
            <a:r>
              <a:rPr kumimoji="0" lang="en-US" altLang="en-US" sz="1800" b="1" i="0" u="none" strike="noStrike" cap="none" normalizeH="0" baseline="0" dirty="0">
                <a:ln>
                  <a:noFill/>
                </a:ln>
                <a:solidFill>
                  <a:schemeClr val="tx1"/>
                </a:solidFill>
                <a:effectLst/>
                <a:latin typeface="Arial" panose="020B0604020202020204" pitchFamily="34" charset="0"/>
              </a:rPr>
              <a:t>built-in function</a:t>
            </a:r>
            <a:r>
              <a:rPr kumimoji="0" lang="en-US" altLang="en-US" sz="1800" b="0" i="0" u="none" strike="noStrike" cap="none" normalizeH="0" baseline="0" dirty="0">
                <a:ln>
                  <a:noFill/>
                </a:ln>
                <a:solidFill>
                  <a:schemeClr val="tx1"/>
                </a:solidFill>
                <a:effectLst/>
                <a:latin typeface="Arial" panose="020B0604020202020204" pitchFamily="34" charset="0"/>
              </a:rPr>
              <a:t> used to </a:t>
            </a:r>
            <a:r>
              <a:rPr kumimoji="0" lang="en-US" altLang="en-US" sz="1800" b="1" i="0" u="none" strike="noStrike" cap="none" normalizeH="0" baseline="0" dirty="0">
                <a:ln>
                  <a:noFill/>
                </a:ln>
                <a:solidFill>
                  <a:schemeClr val="tx1"/>
                </a:solidFill>
                <a:effectLst/>
                <a:latin typeface="Arial" panose="020B0604020202020204" pitchFamily="34" charset="0"/>
              </a:rPr>
              <a:t>display output</a:t>
            </a:r>
            <a:r>
              <a:rPr kumimoji="0" lang="en-US" altLang="en-US" sz="1800" b="0" i="0" u="none" strike="noStrike" cap="none" normalizeH="0" baseline="0" dirty="0">
                <a:ln>
                  <a:noFill/>
                </a:ln>
                <a:solidFill>
                  <a:schemeClr val="tx1"/>
                </a:solidFill>
                <a:effectLst/>
                <a:latin typeface="Arial" panose="020B0604020202020204" pitchFamily="34" charset="0"/>
              </a:rPr>
              <a:t> on the screen (console).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It sends the specified message, variable, or expression result to the </a:t>
            </a:r>
            <a:r>
              <a:rPr kumimoji="0" lang="en-US" altLang="en-US" sz="1800" b="1" i="0" u="none" strike="noStrike" cap="none" normalizeH="0" baseline="0" dirty="0">
                <a:ln>
                  <a:noFill/>
                </a:ln>
                <a:solidFill>
                  <a:schemeClr val="tx1"/>
                </a:solidFill>
                <a:effectLst/>
                <a:latin typeface="Arial" panose="020B0604020202020204" pitchFamily="34" charset="0"/>
              </a:rPr>
              <a:t>standard output (usually the terminal)</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Syntax of print() function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dirty="0">
                <a:solidFill>
                  <a:schemeClr val="tx1"/>
                </a:solidFill>
                <a:latin typeface="Arial" panose="020B0604020202020204" pitchFamily="34" charset="0"/>
              </a:rPr>
              <a:t>print(object1, object2, ..., </a:t>
            </a:r>
            <a:r>
              <a:rPr lang="en-US" altLang="en-US" dirty="0" err="1">
                <a:solidFill>
                  <a:schemeClr val="tx1"/>
                </a:solidFill>
                <a:latin typeface="Arial" panose="020B0604020202020204" pitchFamily="34" charset="0"/>
              </a:rPr>
              <a:t>sep</a:t>
            </a:r>
            <a:r>
              <a:rPr lang="en-US" altLang="en-US" dirty="0">
                <a:solidFill>
                  <a:schemeClr val="tx1"/>
                </a:solidFill>
                <a:latin typeface="Arial" panose="020B0604020202020204" pitchFamily="34" charset="0"/>
              </a:rPr>
              <a:t>=' ', end='\n')</a:t>
            </a: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p:cNvGraphicFramePr>
            <a:graphicFrameLocks noGrp="1"/>
          </p:cNvGraphicFramePr>
          <p:nvPr/>
        </p:nvGraphicFramePr>
        <p:xfrm>
          <a:off x="401055" y="3246336"/>
          <a:ext cx="11581428" cy="2547677"/>
        </p:xfrm>
        <a:graphic>
          <a:graphicData uri="http://schemas.openxmlformats.org/drawingml/2006/table">
            <a:tbl>
              <a:tblPr/>
              <a:tblGrid>
                <a:gridCol w="5790714"/>
                <a:gridCol w="5790714"/>
              </a:tblGrid>
              <a:tr h="627437">
                <a:tc>
                  <a:txBody>
                    <a:bodyPr/>
                    <a:lstStyle/>
                    <a:p>
                      <a:pPr algn="ctr"/>
                      <a:r>
                        <a:rPr lang="en-US" b="1">
                          <a:solidFill>
                            <a:srgbClr val="7030A0"/>
                          </a:solidFill>
                          <a:highlight>
                            <a:srgbClr val="FFFF00"/>
                          </a:highlight>
                        </a:rPr>
                        <a:t>Parameter</a:t>
                      </a:r>
                      <a:endParaRPr lang="en-US" b="1">
                        <a:solidFill>
                          <a:srgbClr val="7030A0"/>
                        </a:solidFill>
                        <a:highlight>
                          <a:srgbClr val="FFFF00"/>
                        </a:highlight>
                      </a:endParaRPr>
                    </a:p>
                  </a:txBody>
                  <a:tcPr anchor="ctr">
                    <a:lnL>
                      <a:noFill/>
                    </a:lnL>
                    <a:lnR>
                      <a:noFill/>
                    </a:lnR>
                    <a:lnT>
                      <a:noFill/>
                    </a:lnT>
                    <a:lnB>
                      <a:noFill/>
                    </a:lnB>
                    <a:noFill/>
                  </a:tcPr>
                </a:tc>
                <a:tc>
                  <a:txBody>
                    <a:bodyPr/>
                    <a:lstStyle/>
                    <a:p>
                      <a:pPr algn="ctr"/>
                      <a:r>
                        <a:rPr lang="en-US" b="1" dirty="0">
                          <a:solidFill>
                            <a:srgbClr val="7030A0"/>
                          </a:solidFill>
                          <a:highlight>
                            <a:srgbClr val="FFFF00"/>
                          </a:highlight>
                        </a:rPr>
                        <a:t>Description</a:t>
                      </a:r>
                      <a:endParaRPr lang="en-US" b="1" dirty="0">
                        <a:solidFill>
                          <a:srgbClr val="7030A0"/>
                        </a:solidFill>
                        <a:highlight>
                          <a:srgbClr val="FFFF00"/>
                        </a:highlight>
                      </a:endParaRPr>
                    </a:p>
                  </a:txBody>
                  <a:tcPr anchor="ctr">
                    <a:lnL>
                      <a:noFill/>
                    </a:lnL>
                    <a:lnR>
                      <a:noFill/>
                    </a:lnR>
                    <a:lnT>
                      <a:noFill/>
                    </a:lnT>
                    <a:lnB>
                      <a:noFill/>
                    </a:lnB>
                    <a:noFill/>
                  </a:tcPr>
                </a:tc>
              </a:tr>
              <a:tr h="552045">
                <a:tc>
                  <a:txBody>
                    <a:bodyPr/>
                    <a:lstStyle/>
                    <a:p>
                      <a:r>
                        <a:rPr lang="en-US" dirty="0"/>
                        <a:t>object(s)</a:t>
                      </a:r>
                      <a:endParaRPr lang="en-US" dirty="0"/>
                    </a:p>
                  </a:txBody>
                  <a:tcPr anchor="ctr">
                    <a:lnL>
                      <a:noFill/>
                    </a:lnL>
                    <a:lnR>
                      <a:noFill/>
                    </a:lnR>
                    <a:lnT>
                      <a:noFill/>
                    </a:lnT>
                    <a:lnB>
                      <a:noFill/>
                    </a:lnB>
                    <a:noFill/>
                  </a:tcPr>
                </a:tc>
                <a:tc>
                  <a:txBody>
                    <a:bodyPr/>
                    <a:lstStyle/>
                    <a:p>
                      <a:r>
                        <a:rPr lang="en-US"/>
                        <a:t>The values you want to print. Can be strings, numbers, variables, etc.</a:t>
                      </a:r>
                      <a:endParaRPr lang="en-US"/>
                    </a:p>
                  </a:txBody>
                  <a:tcPr anchor="ctr">
                    <a:lnL>
                      <a:noFill/>
                    </a:lnL>
                    <a:lnR>
                      <a:noFill/>
                    </a:lnR>
                    <a:lnT>
                      <a:noFill/>
                    </a:lnT>
                    <a:lnB>
                      <a:noFill/>
                    </a:lnB>
                    <a:noFill/>
                  </a:tcPr>
                </a:tc>
              </a:tr>
              <a:tr h="552045">
                <a:tc>
                  <a:txBody>
                    <a:bodyPr/>
                    <a:lstStyle/>
                    <a:p>
                      <a:r>
                        <a:rPr lang="en-US" dirty="0" err="1"/>
                        <a:t>sep</a:t>
                      </a:r>
                      <a:endParaRPr lang="en-US" dirty="0"/>
                    </a:p>
                  </a:txBody>
                  <a:tcPr anchor="ctr">
                    <a:lnL>
                      <a:noFill/>
                    </a:lnL>
                    <a:lnR>
                      <a:noFill/>
                    </a:lnR>
                    <a:lnT>
                      <a:noFill/>
                    </a:lnT>
                    <a:lnB>
                      <a:noFill/>
                    </a:lnB>
                    <a:noFill/>
                  </a:tcPr>
                </a:tc>
                <a:tc>
                  <a:txBody>
                    <a:bodyPr/>
                    <a:lstStyle/>
                    <a:p>
                      <a:r>
                        <a:rPr lang="en-US"/>
                        <a:t>(Optional) Separator between objects. Default is a space ' '.</a:t>
                      </a:r>
                      <a:endParaRPr lang="en-US"/>
                    </a:p>
                  </a:txBody>
                  <a:tcPr anchor="ctr">
                    <a:lnL>
                      <a:noFill/>
                    </a:lnL>
                    <a:lnR>
                      <a:noFill/>
                    </a:lnR>
                    <a:lnT>
                      <a:noFill/>
                    </a:lnT>
                    <a:lnB>
                      <a:noFill/>
                    </a:lnB>
                    <a:noFill/>
                  </a:tcPr>
                </a:tc>
              </a:tr>
              <a:tr h="552045">
                <a:tc>
                  <a:txBody>
                    <a:bodyPr/>
                    <a:lstStyle/>
                    <a:p>
                      <a:r>
                        <a:rPr lang="en-US" dirty="0"/>
                        <a:t>end</a:t>
                      </a:r>
                      <a:endParaRPr lang="en-US" dirty="0"/>
                    </a:p>
                  </a:txBody>
                  <a:tcPr anchor="ctr">
                    <a:lnL>
                      <a:noFill/>
                    </a:lnL>
                    <a:lnR>
                      <a:noFill/>
                    </a:lnR>
                    <a:lnT>
                      <a:noFill/>
                    </a:lnT>
                    <a:lnB>
                      <a:noFill/>
                    </a:lnB>
                    <a:noFill/>
                  </a:tcPr>
                </a:tc>
                <a:tc>
                  <a:txBody>
                    <a:bodyPr/>
                    <a:lstStyle/>
                    <a:p>
                      <a:r>
                        <a:rPr lang="en-US" dirty="0"/>
                        <a:t>(Optional) What to print at the end. Default is newline \n.</a:t>
                      </a:r>
                      <a:endParaRPr lang="en-US" dirty="0"/>
                    </a:p>
                  </a:txBody>
                  <a:tcPr anchor="ctr">
                    <a:lnL>
                      <a:noFill/>
                    </a:lnL>
                    <a:lnR>
                      <a:noFill/>
                    </a:lnR>
                    <a:lnT>
                      <a:noFill/>
                    </a:lnT>
                    <a:lnB>
                      <a:noFill/>
                    </a:lnB>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173256"/>
            <a:ext cx="11312107" cy="625642"/>
          </a:xfrm>
        </p:spPr>
        <p:txBody>
          <a:bodyPr>
            <a:normAutofit/>
          </a:bodyPr>
          <a:lstStyle/>
          <a:p>
            <a:r>
              <a:rPr lang="en-US" sz="2800" b="1" dirty="0">
                <a:solidFill>
                  <a:srgbClr val="FF0000"/>
                </a:solidFill>
              </a:rPr>
              <a:t>Python print() function</a:t>
            </a:r>
            <a:endParaRPr lang="en-US" sz="2800" dirty="0"/>
          </a:p>
        </p:txBody>
      </p:sp>
      <p:sp>
        <p:nvSpPr>
          <p:cNvPr id="3" name="Content Placeholder 2"/>
          <p:cNvSpPr>
            <a:spLocks noGrp="1"/>
          </p:cNvSpPr>
          <p:nvPr>
            <p:ph idx="1"/>
          </p:nvPr>
        </p:nvSpPr>
        <p:spPr>
          <a:xfrm>
            <a:off x="279133" y="885524"/>
            <a:ext cx="11463688" cy="5025698"/>
          </a:xfrm>
        </p:spPr>
        <p:txBody>
          <a:bodyPr/>
          <a:lstStyle/>
          <a:p>
            <a:endParaRPr lang="en-US" dirty="0"/>
          </a:p>
          <a:p>
            <a:endParaRPr lang="en-US" dirty="0"/>
          </a:p>
          <a:p>
            <a:r>
              <a:rPr lang="en-US" dirty="0"/>
              <a:t>print("Hello, World!")</a:t>
            </a:r>
            <a:endParaRPr lang="en-US" dirty="0"/>
          </a:p>
          <a:p>
            <a:r>
              <a:rPr lang="en-US" dirty="0"/>
              <a:t>print("Name:", "Alice", "Age:", 25) //Printing multiple items:</a:t>
            </a:r>
            <a:endParaRPr lang="en-US" dirty="0"/>
          </a:p>
          <a:p>
            <a:r>
              <a:rPr lang="en-US" dirty="0"/>
              <a:t>print("2025", "07", "02", </a:t>
            </a:r>
            <a:r>
              <a:rPr lang="en-US" dirty="0" err="1"/>
              <a:t>sep</a:t>
            </a:r>
            <a:r>
              <a:rPr lang="en-US" dirty="0"/>
              <a:t>="-")  # Output: 2025-07-02</a:t>
            </a:r>
            <a:endParaRPr lang="en-US" dirty="0"/>
          </a:p>
          <a:p>
            <a:r>
              <a:rPr lang="en-US" dirty="0"/>
              <a:t>print("Hello", end=" ")</a:t>
            </a:r>
            <a:endParaRPr lang="en-US" dirty="0"/>
          </a:p>
          <a:p>
            <a:r>
              <a:rPr lang="en-US" dirty="0"/>
              <a:t>print("World!")  # Output: Hello World!</a:t>
            </a:r>
            <a:endParaRPr lang="en-US" dirty="0"/>
          </a:p>
          <a:p>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7" y="77003"/>
            <a:ext cx="11417986" cy="413886"/>
          </a:xfrm>
        </p:spPr>
        <p:txBody>
          <a:bodyPr>
            <a:normAutofit fontScale="90000"/>
          </a:bodyPr>
          <a:lstStyle/>
          <a:p>
            <a:r>
              <a:rPr lang="en-US" sz="2800" b="1" dirty="0">
                <a:solidFill>
                  <a:srgbClr val="FF0000"/>
                </a:solidFill>
              </a:rPr>
              <a:t>Python Variables and There Rules</a:t>
            </a:r>
            <a:endParaRPr lang="en-US" sz="2800" b="1" dirty="0">
              <a:solidFill>
                <a:srgbClr val="FF0000"/>
              </a:solidFill>
            </a:endParaRPr>
          </a:p>
        </p:txBody>
      </p:sp>
      <p:sp>
        <p:nvSpPr>
          <p:cNvPr id="3" name="Content Placeholder 2"/>
          <p:cNvSpPr>
            <a:spLocks noGrp="1"/>
          </p:cNvSpPr>
          <p:nvPr>
            <p:ph idx="1"/>
          </p:nvPr>
        </p:nvSpPr>
        <p:spPr>
          <a:xfrm>
            <a:off x="154004" y="490889"/>
            <a:ext cx="12037995" cy="6150543"/>
          </a:xfrm>
        </p:spPr>
        <p:txBody>
          <a:bodyPr>
            <a:normAutofit fontScale="85000" lnSpcReduction="20000"/>
          </a:bodyPr>
          <a:lstStyle/>
          <a:p>
            <a:pPr>
              <a:buFont typeface="Wingdings" panose="05000000000000000000" pitchFamily="2" charset="2"/>
              <a:buChar char="q"/>
            </a:pPr>
            <a:r>
              <a:rPr lang="en-US" sz="1900" dirty="0"/>
              <a:t>A </a:t>
            </a:r>
            <a:r>
              <a:rPr lang="en-US" sz="1900" b="1" dirty="0"/>
              <a:t>variable</a:t>
            </a:r>
            <a:r>
              <a:rPr lang="en-US" sz="1900" dirty="0"/>
              <a:t> in Python is a </a:t>
            </a:r>
            <a:r>
              <a:rPr lang="en-US" sz="1900" b="1" dirty="0"/>
              <a:t>named location in memory</a:t>
            </a:r>
            <a:r>
              <a:rPr lang="en-US" sz="1900" dirty="0"/>
              <a:t> used to store data that can be changed during program execution.</a:t>
            </a:r>
            <a:br>
              <a:rPr lang="en-US" sz="1900" dirty="0"/>
            </a:br>
            <a:r>
              <a:rPr lang="en-US" sz="1900" dirty="0"/>
              <a:t>It acts as a </a:t>
            </a:r>
            <a:r>
              <a:rPr lang="en-US" sz="1900" b="1" dirty="0"/>
              <a:t>label</a:t>
            </a:r>
            <a:r>
              <a:rPr lang="en-US" sz="1900" dirty="0"/>
              <a:t> for a value, allowing you to reference and manipulate the value throughout your code.</a:t>
            </a:r>
            <a:endParaRPr lang="en-US" sz="1900" dirty="0"/>
          </a:p>
          <a:p>
            <a:pPr>
              <a:buFont typeface="Wingdings" panose="05000000000000000000" pitchFamily="2" charset="2"/>
              <a:buChar char="q"/>
            </a:pPr>
            <a:r>
              <a:rPr lang="en-US" sz="1900" dirty="0"/>
              <a:t>Rules of Declaring Variables in Python</a:t>
            </a:r>
            <a:endParaRPr lang="en-US" sz="1900" dirty="0"/>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Variable names must start with a letter (A–Z or a–z) or an underscore (_)</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60000"/>
              </a:lnSpc>
              <a:spcBef>
                <a:spcPct val="0"/>
              </a:spcBef>
              <a:spcAft>
                <a:spcPct val="0"/>
              </a:spcAft>
              <a:buClrTx/>
              <a:buSzTx/>
              <a:buNone/>
            </a:pPr>
            <a:r>
              <a:rPr kumimoji="0" lang="en-US" altLang="en-US" sz="1900" b="0" i="0" u="none" strike="noStrike" cap="none" normalizeH="0" baseline="0" dirty="0">
                <a:ln>
                  <a:noFill/>
                </a:ln>
                <a:solidFill>
                  <a:schemeClr val="tx1"/>
                </a:solidFill>
                <a:effectLst/>
                <a:latin typeface="Arial" panose="020B0604020202020204" pitchFamily="34" charset="0"/>
              </a:rPr>
              <a:t>		Example: </a:t>
            </a: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_value</a:t>
            </a:r>
            <a:endParaRPr kumimoji="0" lang="en-US" altLang="en-US" sz="1900" b="0" i="0" u="none" strike="noStrike" cap="none" normalizeH="0" baseline="0" dirty="0">
              <a:ln>
                <a:noFill/>
              </a:ln>
              <a:solidFill>
                <a:schemeClr val="tx1"/>
              </a:solidFill>
              <a:effectLst/>
              <a:latin typeface="Arial Unicode MS"/>
            </a:endParaRP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Cannot start with a number</a:t>
            </a:r>
            <a:endParaRPr kumimoji="0" lang="en-US" altLang="en-US" sz="1900" b="1"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 Invalid: </a:t>
            </a:r>
            <a:r>
              <a:rPr kumimoji="0" lang="en-US" altLang="en-US" sz="1900" b="0" i="0" u="none" strike="noStrike" cap="none" normalizeH="0" baseline="0" dirty="0">
                <a:ln>
                  <a:noFill/>
                </a:ln>
                <a:solidFill>
                  <a:schemeClr val="tx1"/>
                </a:solidFill>
                <a:effectLst/>
                <a:latin typeface="Arial Unicode MS"/>
              </a:rPr>
              <a:t>1name    </a:t>
            </a:r>
            <a:r>
              <a:rPr kumimoji="0" lang="en-US" altLang="en-US" sz="1900" b="0" i="0" u="none" strike="noStrike" cap="none" normalizeH="0" baseline="0" dirty="0">
                <a:ln>
                  <a:noFill/>
                </a:ln>
                <a:solidFill>
                  <a:schemeClr val="tx1"/>
                </a:solidFill>
                <a:effectLst/>
                <a:latin typeface="Arial" panose="020B0604020202020204" pitchFamily="34" charset="0"/>
              </a:rPr>
              <a:t>✅ Valid: </a:t>
            </a:r>
            <a:r>
              <a:rPr kumimoji="0" lang="en-US" altLang="en-US" sz="1900" b="0" i="0" u="none" strike="noStrike" cap="none" normalizeH="0" baseline="0" dirty="0">
                <a:ln>
                  <a:noFill/>
                </a:ln>
                <a:solidFill>
                  <a:schemeClr val="tx1"/>
                </a:solidFill>
                <a:effectLst/>
                <a:latin typeface="Arial Unicode MS"/>
              </a:rPr>
              <a:t>name1	</a:t>
            </a:r>
            <a:endParaRPr kumimoji="0" lang="en-US" altLang="en-US" sz="1900" b="0" i="0" u="none" strike="noStrike" cap="none" normalizeH="0" baseline="0" dirty="0">
              <a:ln>
                <a:noFill/>
              </a:ln>
              <a:solidFill>
                <a:schemeClr val="tx1"/>
              </a:solidFill>
              <a:effectLst/>
              <a:latin typeface="Arial Unicode MS"/>
            </a:endParaRPr>
          </a:p>
          <a:p>
            <a:pPr lvl="1" defTabSz="914400" eaLnBrk="0" fontAlgn="base" hangingPunct="0">
              <a:lnSpc>
                <a:spcPct val="160000"/>
              </a:lnSpc>
              <a:spcBef>
                <a:spcPct val="0"/>
              </a:spcBef>
              <a:spcAft>
                <a:spcPct val="0"/>
              </a:spcAft>
              <a:buClrTx/>
            </a:pPr>
            <a:r>
              <a:rPr lang="en-US" altLang="en-US" sz="1900" b="1" dirty="0">
                <a:solidFill>
                  <a:schemeClr val="tx1"/>
                </a:solidFill>
                <a:latin typeface="Arial" panose="020B0604020202020204" pitchFamily="34" charset="0"/>
              </a:rPr>
              <a:t> </a:t>
            </a:r>
            <a:r>
              <a:rPr kumimoji="0" lang="en-US" altLang="en-US" sz="1900" b="1" i="0" u="none" strike="noStrike" cap="none" normalizeH="0" baseline="0" dirty="0">
                <a:ln>
                  <a:noFill/>
                </a:ln>
                <a:solidFill>
                  <a:schemeClr val="tx1"/>
                </a:solidFill>
                <a:effectLst/>
                <a:latin typeface="Arial" panose="020B0604020202020204" pitchFamily="34" charset="0"/>
              </a:rPr>
              <a:t>Can include letters, numbers, and underscores</a:t>
            </a:r>
            <a:endParaRPr kumimoji="0" lang="en-US" altLang="en-US" sz="1900" b="1"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Example: </a:t>
            </a:r>
            <a:r>
              <a:rPr kumimoji="0" lang="en-US" altLang="en-US" sz="1900" b="0" i="0" u="none" strike="noStrike" cap="none" normalizeH="0" baseline="0" dirty="0">
                <a:ln>
                  <a:noFill/>
                </a:ln>
                <a:solidFill>
                  <a:schemeClr val="tx1"/>
                </a:solidFill>
                <a:effectLst/>
                <a:latin typeface="Arial Unicode MS"/>
              </a:rPr>
              <a:t>user_name1</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temp_123</a:t>
            </a:r>
            <a:endParaRPr kumimoji="0" lang="en-US" altLang="en-US" sz="1900" b="0" i="0" u="none" strike="noStrike" cap="none" normalizeH="0" baseline="0" dirty="0">
              <a:ln>
                <a:noFill/>
              </a:ln>
              <a:solidFill>
                <a:schemeClr val="tx1"/>
              </a:solidFill>
              <a:effectLst/>
              <a:latin typeface="Arial Unicode MS"/>
            </a:endParaRPr>
          </a:p>
          <a:p>
            <a:pPr marL="685800"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Cannot use special characters</a:t>
            </a:r>
            <a:r>
              <a:rPr kumimoji="0" lang="en-US" altLang="en-US" sz="1900" b="0" i="0" u="none" strike="noStrike" cap="none" normalizeH="0" baseline="0" dirty="0">
                <a:ln>
                  <a:noFill/>
                </a:ln>
                <a:solidFill>
                  <a:schemeClr val="tx1"/>
                </a:solidFill>
                <a:effectLst/>
                <a:latin typeface="Arial" panose="020B0604020202020204" pitchFamily="34" charset="0"/>
              </a:rPr>
              <a:t> like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etc.</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400050" lvl="1"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a:ln>
                  <a:noFill/>
                </a:ln>
                <a:solidFill>
                  <a:schemeClr val="tx1"/>
                </a:solidFill>
                <a:effectLst/>
                <a:latin typeface="Arial" panose="020B0604020202020204" pitchFamily="34" charset="0"/>
              </a:rPr>
              <a:t>Cannot use Python reserved keywords</a:t>
            </a:r>
            <a:r>
              <a:rPr kumimoji="0" lang="en-US" altLang="en-US" sz="1900" b="0" i="0" u="none" strike="noStrike" cap="none" normalizeH="0" baseline="0" dirty="0">
                <a:ln>
                  <a:noFill/>
                </a:ln>
                <a:solidFill>
                  <a:schemeClr val="tx1"/>
                </a:solidFill>
                <a:effectLst/>
                <a:latin typeface="Arial" panose="020B0604020202020204" pitchFamily="34" charset="0"/>
              </a:rPr>
              <a:t> (e.g., </a:t>
            </a:r>
            <a:r>
              <a:rPr kumimoji="0" lang="en-US" altLang="en-US" sz="1900" b="0" i="0" u="none" strike="noStrike" cap="none" normalizeH="0" baseline="0" dirty="0">
                <a:ln>
                  <a:noFill/>
                </a:ln>
                <a:solidFill>
                  <a:schemeClr val="tx1"/>
                </a:solidFill>
                <a:effectLst/>
                <a:latin typeface="Arial Unicode MS"/>
              </a:rPr>
              <a:t>if</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for</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while</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class</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def</a:t>
            </a:r>
            <a:r>
              <a:rPr kumimoji="0" lang="en-US" altLang="en-US" sz="1900" b="0" i="0" u="none" strike="noStrike" cap="none" normalizeH="0" baseline="0" dirty="0">
                <a:ln>
                  <a:noFill/>
                </a:ln>
                <a:solidFill>
                  <a:schemeClr val="tx1"/>
                </a:solidFill>
                <a:effectLst/>
              </a:rPr>
              <a:t>)</a:t>
            </a:r>
            <a:endParaRPr kumimoji="0" lang="en-US" altLang="en-US" sz="1900" b="0" i="0" u="none" strike="noStrike" cap="none" normalizeH="0" baseline="0" dirty="0">
              <a:ln>
                <a:noFill/>
              </a:ln>
              <a:solidFill>
                <a:schemeClr val="tx1"/>
              </a:solidFill>
              <a:effectLst/>
            </a:endParaRP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Case-sensitive</a:t>
            </a:r>
            <a:endParaRPr kumimoji="0" lang="en-US" altLang="en-US" sz="1900" b="1"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and </a:t>
            </a: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are two different variables.</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No need to declare type explicitly</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Python is </a:t>
            </a:r>
            <a:r>
              <a:rPr kumimoji="0" lang="en-US" altLang="en-US" sz="1900" b="1" i="0" u="none" strike="noStrike" cap="none" normalizeH="0" baseline="0" dirty="0">
                <a:ln>
                  <a:noFill/>
                </a:ln>
                <a:solidFill>
                  <a:schemeClr val="tx1"/>
                </a:solidFill>
                <a:effectLst/>
                <a:latin typeface="Arial" panose="020B0604020202020204" pitchFamily="34" charset="0"/>
              </a:rPr>
              <a:t>dynamically typed</a:t>
            </a:r>
            <a:r>
              <a:rPr kumimoji="0" lang="en-US" altLang="en-US" sz="1900" b="0" i="0" u="none" strike="noStrike" cap="none" normalizeH="0" baseline="0" dirty="0">
                <a:ln>
                  <a:noFill/>
                </a:ln>
                <a:solidFill>
                  <a:schemeClr val="tx1"/>
                </a:solidFill>
                <a:effectLst/>
                <a:latin typeface="Arial" panose="020B0604020202020204" pitchFamily="34" charset="0"/>
              </a:rPr>
              <a:t>, so the type is inferred from the value.</a:t>
            </a:r>
            <a:endParaRPr kumimoji="0" lang="en-US" altLang="en-US" sz="1900" b="0" i="0" u="none" strike="noStrike" cap="none" normalizeH="0" baseline="0" dirty="0">
              <a:ln>
                <a:noFill/>
              </a:ln>
              <a:solidFill>
                <a:schemeClr val="tx1"/>
              </a:solidFill>
              <a:effectLst/>
              <a:latin typeface="Arial Unicode MS"/>
            </a:endParaRPr>
          </a:p>
          <a:p>
            <a:pPr marL="0" marR="0" lvl="0" indent="0" defTabSz="914400" rtl="0" eaLnBrk="0" fontAlgn="base" latinLnBrk="0" hangingPunct="0">
              <a:lnSpc>
                <a:spcPct val="160000"/>
              </a:lnSpc>
              <a:spcBef>
                <a:spcPct val="0"/>
              </a:spcBef>
              <a:spcAft>
                <a:spcPct val="0"/>
              </a:spcAft>
              <a:buClrTx/>
              <a:buSzTx/>
              <a:buFontTx/>
              <a:buNone/>
            </a:pPr>
            <a:r>
              <a:rPr kumimoji="0" lang="en-US" altLang="en-US" sz="1900" b="0" i="0" u="none" strike="noStrike" cap="none" normalizeH="0" baseline="0" dirty="0">
                <a:ln>
                  <a:noFill/>
                </a:ln>
                <a:solidFill>
                  <a:schemeClr val="tx1"/>
                </a:solidFill>
                <a:effectLst/>
                <a:latin typeface="Arial Unicode MS"/>
              </a:rPr>
              <a:t>	python</a:t>
            </a:r>
            <a:endParaRPr kumimoji="0" lang="en-US" altLang="en-US" sz="1900" b="0" i="0" u="none" strike="noStrike" cap="none" normalizeH="0" baseline="0" dirty="0">
              <a:ln>
                <a:noFill/>
              </a:ln>
              <a:solidFill>
                <a:schemeClr val="tx1"/>
              </a:solidFill>
              <a:effectLst/>
              <a:latin typeface="Arial Unicode MS"/>
            </a:endParaRPr>
          </a:p>
          <a:p>
            <a:pPr marL="0" marR="0" lvl="0" indent="0" defTabSz="914400" rtl="0" eaLnBrk="0" fontAlgn="base" latinLnBrk="0" hangingPunct="0">
              <a:lnSpc>
                <a:spcPct val="160000"/>
              </a:lnSpc>
              <a:spcBef>
                <a:spcPct val="0"/>
              </a:spcBef>
              <a:spcAft>
                <a:spcPct val="0"/>
              </a:spcAft>
              <a:buClrTx/>
              <a:buSzTx/>
              <a:buFontTx/>
              <a:buNone/>
            </a:pPr>
            <a:r>
              <a:rPr kumimoji="0" lang="en-US" altLang="en-US" sz="1900" b="0" i="0" u="none" strike="noStrike" cap="none" normalizeH="0" baseline="0" dirty="0">
                <a:ln>
                  <a:noFill/>
                </a:ln>
                <a:solidFill>
                  <a:schemeClr val="tx1"/>
                </a:solidFill>
                <a:effectLst/>
                <a:latin typeface="Arial Unicode MS"/>
              </a:rPr>
              <a:t>	a = 5 # int b = "Hi" # str </a:t>
            </a:r>
            <a:endParaRPr kumimoji="0" lang="en-US" altLang="en-US" sz="19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marL="800100" lvl="2" indent="0" defTabSz="91440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Font typeface="Wingdings" panose="05000000000000000000" pitchFamily="2" charset="2"/>
              <a:buChar char="q"/>
            </a:pPr>
            <a:endParaRPr lang="en-US" dirty="0"/>
          </a:p>
          <a:p>
            <a:pPr marL="0" indent="0">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632" y="105879"/>
            <a:ext cx="10965598" cy="452386"/>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Datatypes</a:t>
            </a:r>
            <a:endParaRPr lang="en-US" sz="2800" b="1" dirty="0">
              <a:solidFill>
                <a:srgbClr val="FF0000"/>
              </a:solidFill>
              <a:latin typeface="Cambria" panose="02040503050406030204" pitchFamily="18" charset="0"/>
              <a:ea typeface="Cambria" panose="02040503050406030204" pitchFamily="18" charset="0"/>
            </a:endParaRPr>
          </a:p>
        </p:txBody>
      </p:sp>
      <p:graphicFrame>
        <p:nvGraphicFramePr>
          <p:cNvPr id="6" name="Content Placeholder 5"/>
          <p:cNvGraphicFramePr>
            <a:graphicFrameLocks noGrp="1"/>
          </p:cNvGraphicFramePr>
          <p:nvPr>
            <p:ph idx="1"/>
          </p:nvPr>
        </p:nvGraphicFramePr>
        <p:xfrm>
          <a:off x="240632" y="1068404"/>
          <a:ext cx="11309684" cy="5524901"/>
        </p:xfrm>
        <a:graphic>
          <a:graphicData uri="http://schemas.openxmlformats.org/presentationml/2006/ole">
            <mc:AlternateContent xmlns:mc="http://schemas.openxmlformats.org/markup-compatibility/2006">
              <mc:Choice xmlns:v="urn:schemas-microsoft-com:vml" Requires="v">
                <p:oleObj spid="_x0000_s3" name="Picture" r:id="rId1" imgW="4762500" imgH="3733800" progId="StaticMetafile">
                  <p:embed/>
                </p:oleObj>
              </mc:Choice>
              <mc:Fallback>
                <p:oleObj name="Picture" r:id="rId1" imgW="4762500" imgH="3733800" progId="StaticMetafile">
                  <p:embed/>
                  <p:pic>
                    <p:nvPicPr>
                      <p:cNvPr id="0" name="Content Placeholder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32" y="1068404"/>
                        <a:ext cx="11309684" cy="5524901"/>
                      </a:xfrm>
                      <a:prstGeom prst="rect">
                        <a:avLst/>
                      </a:prstGeom>
                      <a:solidFill>
                        <a:srgbClr val="FFFFFF"/>
                      </a:solidFill>
                      <a:ln>
                        <a:noFill/>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3" y="115503"/>
            <a:ext cx="11225480" cy="1617044"/>
          </a:xfrm>
        </p:spPr>
        <p:txBody>
          <a:bodyPr>
            <a:normAutofit fontScale="90000"/>
          </a:bodyPr>
          <a:lstStyle/>
          <a:p>
            <a:r>
              <a:rPr lang="en-US" sz="2800" b="1" dirty="0">
                <a:solidFill>
                  <a:srgbClr val="FF0000"/>
                </a:solidFill>
              </a:rPr>
              <a:t>Python Datatypes</a:t>
            </a:r>
            <a:br>
              <a:rPr lang="en-US" sz="2800" b="1" dirty="0">
                <a:solidFill>
                  <a:srgbClr val="FF0000"/>
                </a:solidFill>
              </a:rPr>
            </a:br>
            <a:br>
              <a:rPr lang="en-US" sz="2800" b="1" dirty="0">
                <a:solidFill>
                  <a:srgbClr val="FF0000"/>
                </a:solidFill>
              </a:rPr>
            </a:br>
            <a:r>
              <a:rPr lang="en-US" sz="2800" b="1" dirty="0">
                <a:solidFill>
                  <a:srgbClr val="FF0000"/>
                </a:solidFill>
              </a:rPr>
              <a:t>			</a:t>
            </a:r>
            <a:r>
              <a:rPr lang="en-US" sz="1800" dirty="0" err="1">
                <a:solidFill>
                  <a:schemeClr val="tx1"/>
                </a:solidFill>
              </a:rPr>
              <a:t>complex_number</a:t>
            </a:r>
            <a:r>
              <a:rPr lang="en-US" sz="1800" dirty="0">
                <a:solidFill>
                  <a:schemeClr val="tx1"/>
                </a:solidFill>
              </a:rPr>
              <a:t> = </a:t>
            </a:r>
            <a:r>
              <a:rPr lang="en-US" sz="1800" dirty="0" err="1">
                <a:solidFill>
                  <a:schemeClr val="tx1"/>
                </a:solidFill>
              </a:rPr>
              <a:t>real_part</a:t>
            </a:r>
            <a:r>
              <a:rPr lang="en-US" sz="1800" dirty="0">
                <a:solidFill>
                  <a:schemeClr val="tx1"/>
                </a:solidFill>
              </a:rPr>
              <a:t> + </a:t>
            </a:r>
            <a:r>
              <a:rPr lang="en-US" sz="1800" dirty="0" err="1">
                <a:solidFill>
                  <a:schemeClr val="tx1"/>
                </a:solidFill>
              </a:rPr>
              <a:t>imaginary_part</a:t>
            </a:r>
            <a:r>
              <a:rPr lang="en-US" sz="1800" dirty="0">
                <a:solidFill>
                  <a:schemeClr val="tx1"/>
                </a:solidFill>
              </a:rPr>
              <a:t> * j</a:t>
            </a:r>
            <a:br>
              <a:rPr lang="en-US" sz="1800" dirty="0">
                <a:solidFill>
                  <a:schemeClr val="tx1"/>
                </a:solidFill>
              </a:rPr>
            </a:br>
            <a:r>
              <a:rPr lang="en-US" sz="1800" dirty="0" err="1">
                <a:solidFill>
                  <a:schemeClr val="tx1"/>
                </a:solidFill>
              </a:rPr>
              <a:t>j</a:t>
            </a:r>
            <a:r>
              <a:rPr lang="en-US" sz="1800" dirty="0">
                <a:solidFill>
                  <a:schemeClr val="tx1"/>
                </a:solidFill>
              </a:rPr>
              <a:t> represents the imaginary unit (just like </a:t>
            </a:r>
            <a:r>
              <a:rPr lang="en-US" sz="1800" dirty="0" err="1">
                <a:solidFill>
                  <a:schemeClr val="tx1"/>
                </a:solidFill>
              </a:rPr>
              <a:t>i</a:t>
            </a:r>
            <a:r>
              <a:rPr lang="en-US" sz="1800" dirty="0">
                <a:solidFill>
                  <a:schemeClr val="tx1"/>
                </a:solidFill>
              </a:rPr>
              <a:t> in mathematics).</a:t>
            </a:r>
            <a:br>
              <a:rPr lang="en-US" sz="1800" dirty="0">
                <a:solidFill>
                  <a:schemeClr val="tx1"/>
                </a:solidFill>
              </a:rPr>
            </a:br>
            <a:r>
              <a:rPr lang="en-US" sz="1800" dirty="0">
                <a:solidFill>
                  <a:schemeClr val="tx1"/>
                </a:solidFill>
              </a:rPr>
              <a:t>Python uses j instead of </a:t>
            </a:r>
            <a:r>
              <a:rPr lang="en-US" sz="1800" dirty="0" err="1">
                <a:solidFill>
                  <a:schemeClr val="tx1"/>
                </a:solidFill>
              </a:rPr>
              <a:t>i</a:t>
            </a:r>
            <a:r>
              <a:rPr lang="en-US" sz="1800" dirty="0">
                <a:solidFill>
                  <a:schemeClr val="tx1"/>
                </a:solidFill>
              </a:rPr>
              <a:t> for complex numbers.</a:t>
            </a:r>
            <a:endParaRPr lang="en-US" sz="1800" dirty="0">
              <a:solidFill>
                <a:schemeClr val="tx1"/>
              </a:solidFill>
            </a:endParaRPr>
          </a:p>
        </p:txBody>
      </p:sp>
      <p:graphicFrame>
        <p:nvGraphicFramePr>
          <p:cNvPr id="4" name="Content Placeholder 3"/>
          <p:cNvGraphicFramePr>
            <a:graphicFrameLocks noGrp="1"/>
          </p:cNvGraphicFramePr>
          <p:nvPr>
            <p:ph idx="1"/>
          </p:nvPr>
        </p:nvGraphicFramePr>
        <p:xfrm>
          <a:off x="279134" y="1944303"/>
          <a:ext cx="11704320" cy="4702242"/>
        </p:xfrm>
        <a:graphic>
          <a:graphicData uri="http://schemas.openxmlformats.org/drawingml/2006/table">
            <a:tbl>
              <a:tblPr/>
              <a:tblGrid>
                <a:gridCol w="2340864"/>
                <a:gridCol w="2340864"/>
                <a:gridCol w="2340864"/>
                <a:gridCol w="2340864"/>
                <a:gridCol w="2340864"/>
              </a:tblGrid>
              <a:tr h="671994">
                <a:tc>
                  <a:txBody>
                    <a:bodyPr/>
                    <a:lstStyle/>
                    <a:p>
                      <a:pPr algn="ctr"/>
                      <a:r>
                        <a:rPr lang="en-US" sz="1600" b="1">
                          <a:solidFill>
                            <a:srgbClr val="C00000"/>
                          </a:solidFill>
                          <a:latin typeface="Cambria" panose="02040503050406030204" pitchFamily="18" charset="0"/>
                          <a:ea typeface="Cambria" panose="02040503050406030204" pitchFamily="18" charset="0"/>
                        </a:rPr>
                        <a:t>Feature</a:t>
                      </a:r>
                      <a:endParaRPr lang="en-US" sz="1600" b="1">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int (Integer)</a:t>
                      </a:r>
                      <a:endParaRPr lang="en-US" sz="1600" b="1">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float (Floating Point)</a:t>
                      </a:r>
                      <a:endParaRPr lang="en-US" sz="1600" b="1">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complex (Complex Number)</a:t>
                      </a:r>
                      <a:endParaRPr lang="en-US" sz="1600" b="1">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dirty="0">
                          <a:solidFill>
                            <a:srgbClr val="C00000"/>
                          </a:solidFill>
                          <a:latin typeface="Cambria" panose="02040503050406030204" pitchFamily="18" charset="0"/>
                          <a:ea typeface="Cambria" panose="02040503050406030204" pitchFamily="18" charset="0"/>
                        </a:rPr>
                        <a:t>str (String)</a:t>
                      </a:r>
                      <a:endParaRPr lang="en-US" sz="1600" b="1" dirty="0">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17465">
                <a:tc>
                  <a:txBody>
                    <a:bodyPr/>
                    <a:lstStyle/>
                    <a:p>
                      <a:pPr algn="l"/>
                      <a:r>
                        <a:rPr lang="en-US" sz="1400" b="1" dirty="0"/>
                        <a:t>Definition</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Whole numbers</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Numbers with decimals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Numbers with real &amp; imag parts</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Sequence of characters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Example Values</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5, -10, 0, 999</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3.14, -0.5, 2.0</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2+3j, -1-1j, 5j</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"hello", 'Python'</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71994">
                <a:tc>
                  <a:txBody>
                    <a:bodyPr/>
                    <a:lstStyle/>
                    <a:p>
                      <a:pPr algn="l"/>
                      <a:r>
                        <a:rPr lang="en-US" sz="1400" b="1" dirty="0"/>
                        <a:t>Decimal Support</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No</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 (real and imaginary)</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numeric</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Imaginary Part</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Not supported</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supported</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Yes (with j)</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applicable</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88809">
                <a:tc>
                  <a:txBody>
                    <a:bodyPr/>
                    <a:lstStyle/>
                    <a:p>
                      <a:pPr algn="l"/>
                      <a:r>
                        <a:rPr lang="en-US" sz="1400" b="1" dirty="0"/>
                        <a:t>Type Name</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int</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float</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complex</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str</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Conversion Example</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int(3.9) → 3</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float(5) → 5.0</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complex(2, 3) → 2+3j</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str(100) → "100"</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Supports Math Ops</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Yes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(only string operations)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Use Case</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Counting, indexing</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Measurements, averages</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Scientific/engineering</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Text processing</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883" y="182881"/>
            <a:ext cx="11244730" cy="404260"/>
          </a:xfrm>
        </p:spPr>
        <p:txBody>
          <a:bodyPr>
            <a:noAutofit/>
          </a:bodyPr>
          <a:lstStyle/>
          <a:p>
            <a:r>
              <a:rPr lang="en-US" sz="2800" b="1" dirty="0">
                <a:solidFill>
                  <a:srgbClr val="FF0000"/>
                </a:solidFill>
              </a:rPr>
              <a:t>Python Keywords</a:t>
            </a:r>
            <a:endParaRPr lang="en-US" sz="2800" b="1" dirty="0">
              <a:solidFill>
                <a:srgbClr val="FF0000"/>
              </a:solidFill>
            </a:endParaRPr>
          </a:p>
        </p:txBody>
      </p:sp>
      <p:sp>
        <p:nvSpPr>
          <p:cNvPr id="3" name="Content Placeholder 2"/>
          <p:cNvSpPr>
            <a:spLocks noGrp="1"/>
          </p:cNvSpPr>
          <p:nvPr>
            <p:ph idx="1"/>
          </p:nvPr>
        </p:nvSpPr>
        <p:spPr>
          <a:xfrm>
            <a:off x="606393" y="933651"/>
            <a:ext cx="10898220" cy="4977571"/>
          </a:xfrm>
        </p:spPr>
        <p:txBody>
          <a:bodyPr/>
          <a:lstStyle/>
          <a:p>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Python keywords are unique words reserved with defined meanings and functions that we can only apply for those functions. You'll never need to import any keyword into your program because they're permanently present. There Are 35+ Keywords in Python</a:t>
            </a:r>
            <a:endParaRPr lang="en-US" sz="1800" dirty="0">
              <a:effectLst/>
              <a:latin typeface="Georgia" panose="02040502050405020303" pitchFamily="18" charset="0"/>
              <a:ea typeface="Georgia" panose="02040502050405020303" pitchFamily="18" charset="0"/>
              <a:cs typeface="Arial" panose="020B0604020202020204" pitchFamily="34" charset="0"/>
            </a:endParaRPr>
          </a:p>
          <a:p>
            <a:endParaRPr lang="en-US" dirty="0"/>
          </a:p>
        </p:txBody>
      </p:sp>
      <p:graphicFrame>
        <p:nvGraphicFramePr>
          <p:cNvPr id="4" name="Table 3"/>
          <p:cNvGraphicFramePr>
            <a:graphicFrameLocks noGrp="1"/>
          </p:cNvGraphicFramePr>
          <p:nvPr/>
        </p:nvGraphicFramePr>
        <p:xfrm>
          <a:off x="259883" y="1905801"/>
          <a:ext cx="11848699" cy="4769315"/>
        </p:xfrm>
        <a:graphic>
          <a:graphicData uri="http://schemas.openxmlformats.org/drawingml/2006/table">
            <a:tbl>
              <a:tblPr firstRow="1" firstCol="1" bandRow="1">
                <a:tableStyleId>{5C22544A-7EE6-4342-B048-85BDC9FD1C3A}</a:tableStyleId>
              </a:tblPr>
              <a:tblGrid>
                <a:gridCol w="1953931"/>
                <a:gridCol w="2351949"/>
                <a:gridCol w="2559170"/>
                <a:gridCol w="2613909"/>
                <a:gridCol w="2369740"/>
              </a:tblGrid>
              <a:tr h="681125">
                <a:tc>
                  <a:txBody>
                    <a:bodyPr/>
                    <a:lstStyle/>
                    <a:p>
                      <a:pPr marL="0" marR="0" algn="ctr">
                        <a:lnSpc>
                          <a:spcPct val="125000"/>
                        </a:lnSpc>
                        <a:spcBef>
                          <a:spcPts val="0"/>
                        </a:spcBef>
                        <a:spcAft>
                          <a:spcPts val="0"/>
                        </a:spcAft>
                      </a:pPr>
                      <a:r>
                        <a:rPr lang="en-IN" sz="1600" b="1" dirty="0">
                          <a:effectLst/>
                        </a:rPr>
                        <a:t>False</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await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else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import</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pass</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a:effectLst/>
                        </a:rPr>
                        <a:t>None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break</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except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in</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raise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dirty="0">
                          <a:effectLst/>
                        </a:rPr>
                        <a:t>True</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class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finally</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return</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dirty="0">
                          <a:effectLst/>
                        </a:rPr>
                        <a:t>and</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continue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for</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lambda</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try</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a:effectLst/>
                        </a:rPr>
                        <a:t>as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def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from</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nonlocal</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while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a:effectLst/>
                        </a:rPr>
                        <a:t>assert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del</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global</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not</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with</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a:effectLst/>
                        </a:rPr>
                        <a:t>async</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elif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or</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yield</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885" y="105878"/>
            <a:ext cx="11167728" cy="433137"/>
          </a:xfrm>
        </p:spPr>
        <p:txBody>
          <a:bodyPr>
            <a:normAutofit fontScale="90000"/>
          </a:bodyPr>
          <a:lstStyle/>
          <a:p>
            <a:r>
              <a:rPr lang="en-US" sz="2800" b="1" dirty="0">
                <a:solidFill>
                  <a:srgbClr val="FF0000"/>
                </a:solidFill>
              </a:rPr>
              <a:t>Python Input() function</a:t>
            </a:r>
            <a:endParaRPr lang="en-US" sz="2800" b="1" dirty="0">
              <a:solidFill>
                <a:srgbClr val="FF0000"/>
              </a:solidFill>
            </a:endParaRPr>
          </a:p>
        </p:txBody>
      </p:sp>
      <p:sp>
        <p:nvSpPr>
          <p:cNvPr id="3" name="Content Placeholder 2"/>
          <p:cNvSpPr>
            <a:spLocks noGrp="1"/>
          </p:cNvSpPr>
          <p:nvPr>
            <p:ph idx="1"/>
          </p:nvPr>
        </p:nvSpPr>
        <p:spPr>
          <a:xfrm>
            <a:off x="289970" y="1212783"/>
            <a:ext cx="11261558" cy="5361272"/>
          </a:xfrm>
        </p:spPr>
        <p:txBody>
          <a:bodyPr>
            <a:normAutofit/>
          </a:bodyPr>
          <a:lstStyle/>
          <a:p>
            <a:r>
              <a:rPr lang="en-US" sz="2000" dirty="0">
                <a:latin typeface="Cambria" panose="02040503050406030204" pitchFamily="18" charset="0"/>
                <a:ea typeface="Cambria" panose="02040503050406030204" pitchFamily="18" charset="0"/>
              </a:rPr>
              <a:t>input() is a built-in function used to take input from the user via the keyboard.</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It returns the input as a string, regardless of what the user types.</a:t>
            </a:r>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name = input("Enter your name: ")</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age=int(input("Enter your age: "))</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print(name)  # Always a string</a:t>
            </a:r>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input() is different from </a:t>
            </a:r>
            <a:r>
              <a:rPr lang="en-US" sz="2000" dirty="0" err="1">
                <a:latin typeface="Cambria" panose="02040503050406030204" pitchFamily="18" charset="0"/>
                <a:ea typeface="Cambria" panose="02040503050406030204" pitchFamily="18" charset="0"/>
              </a:rPr>
              <a:t>raw_input</a:t>
            </a:r>
            <a:r>
              <a:rPr lang="en-US" sz="2000" dirty="0">
                <a:latin typeface="Cambria" panose="02040503050406030204" pitchFamily="18" charset="0"/>
                <a:ea typeface="Cambria" panose="02040503050406030204" pitchFamily="18" charset="0"/>
              </a:rPr>
              <a:t>() in Python 2. In Python 3, only input() exists and behaves like </a:t>
            </a:r>
            <a:r>
              <a:rPr lang="en-US" sz="2000" dirty="0" err="1">
                <a:latin typeface="Cambria" panose="02040503050406030204" pitchFamily="18" charset="0"/>
                <a:ea typeface="Cambria" panose="02040503050406030204" pitchFamily="18" charset="0"/>
              </a:rPr>
              <a:t>raw_input</a:t>
            </a:r>
            <a:r>
              <a:rPr lang="en-US" sz="2000" dirty="0">
                <a:latin typeface="Cambria" panose="02040503050406030204" pitchFamily="18" charset="0"/>
                <a:ea typeface="Cambria" panose="02040503050406030204" pitchFamily="18" charset="0"/>
              </a:rPr>
              <a:t>() did.</a:t>
            </a:r>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18030" y="-635"/>
            <a:ext cx="8911590" cy="365125"/>
          </a:xfrm>
        </p:spPr>
        <p:txBody>
          <a:bodyPr>
            <a:noAutofit/>
          </a:bodyPr>
          <a:p>
            <a:pPr algn="ctr"/>
            <a:r>
              <a:rPr lang="en-US" sz="2400" b="1">
                <a:solidFill>
                  <a:srgbClr val="FF0000"/>
                </a:solidFill>
              </a:rPr>
              <a:t>Boolean Input From user</a:t>
            </a:r>
            <a:endParaRPr lang="en-US" sz="2400" b="1">
              <a:solidFill>
                <a:srgbClr val="FF0000"/>
              </a:solidFill>
            </a:endParaRPr>
          </a:p>
        </p:txBody>
      </p:sp>
      <p:sp>
        <p:nvSpPr>
          <p:cNvPr id="3" name="Content Placeholder 2"/>
          <p:cNvSpPr>
            <a:spLocks noGrp="1"/>
          </p:cNvSpPr>
          <p:nvPr>
            <p:ph idx="1"/>
          </p:nvPr>
        </p:nvSpPr>
        <p:spPr>
          <a:xfrm>
            <a:off x="474345" y="581660"/>
            <a:ext cx="11584940" cy="5694045"/>
          </a:xfrm>
        </p:spPr>
        <p:txBody>
          <a:bodyPr>
            <a:normAutofit/>
          </a:bodyPr>
          <a:p>
            <a:pPr marL="0" indent="0">
              <a:buNone/>
            </a:pPr>
            <a:endParaRPr lang="en-US" altLang="en-US"/>
          </a:p>
          <a:p>
            <a:pPr marL="0" indent="0">
              <a:buNone/>
            </a:pPr>
            <a:r>
              <a:rPr lang="en-US" altLang="en-US"/>
              <a:t>user_input = input("Enter True or False: ")</a:t>
            </a:r>
            <a:endParaRPr lang="en-US" altLang="en-US"/>
          </a:p>
          <a:p>
            <a:pPr marL="0" indent="0">
              <a:buNone/>
            </a:pPr>
            <a:endParaRPr lang="en-US" altLang="en-US"/>
          </a:p>
          <a:p>
            <a:pPr marL="0" indent="0">
              <a:buNone/>
            </a:pPr>
            <a:r>
              <a:rPr lang="en-US" altLang="en-US"/>
              <a:t># Convert string to actual boolean</a:t>
            </a:r>
            <a:endParaRPr lang="en-US" altLang="en-US"/>
          </a:p>
          <a:p>
            <a:pPr marL="0" indent="0">
              <a:buNone/>
            </a:pPr>
            <a:r>
              <a:rPr lang="en-US" altLang="en-US"/>
              <a:t>if user_input == "True":</a:t>
            </a:r>
            <a:endParaRPr lang="en-US" altLang="en-US"/>
          </a:p>
          <a:p>
            <a:pPr marL="0" indent="0">
              <a:buNone/>
            </a:pPr>
            <a:r>
              <a:rPr lang="en-US" altLang="en-US"/>
              <a:t>    user_bool = True</a:t>
            </a:r>
            <a:endParaRPr lang="en-US" altLang="en-US"/>
          </a:p>
          <a:p>
            <a:pPr marL="0" indent="0">
              <a:buNone/>
            </a:pPr>
            <a:r>
              <a:rPr lang="en-US" altLang="en-US"/>
              <a:t>elif user_input == "False":</a:t>
            </a:r>
            <a:endParaRPr lang="en-US" altLang="en-US"/>
          </a:p>
          <a:p>
            <a:pPr marL="0" indent="0">
              <a:buNone/>
            </a:pPr>
            <a:r>
              <a:rPr lang="en-US" altLang="en-US"/>
              <a:t>    user_bool = False</a:t>
            </a:r>
            <a:endParaRPr lang="en-US" altLang="en-US"/>
          </a:p>
          <a:p>
            <a:pPr marL="0" indent="0">
              <a:buNone/>
            </a:pPr>
            <a:r>
              <a:rPr lang="en-US" altLang="en-US"/>
              <a:t>else:</a:t>
            </a:r>
            <a:endParaRPr lang="en-US" altLang="en-US"/>
          </a:p>
          <a:p>
            <a:pPr marL="0" indent="0">
              <a:buNone/>
            </a:pPr>
            <a:r>
              <a:rPr lang="en-US" altLang="en-US"/>
              <a:t>    print("Invalid input! Please enter True or False only.")</a:t>
            </a:r>
            <a:endParaRPr lang="en-US" altLang="en-US"/>
          </a:p>
          <a:p>
            <a:pPr marL="0" indent="0">
              <a:buNone/>
            </a:pPr>
            <a:r>
              <a:rPr lang="en-US" altLang="en-US"/>
              <a:t>    user_bool = None  </a:t>
            </a:r>
            <a:endParaRPr lang="en-US" altLang="en-US"/>
          </a:p>
          <a:p>
            <a:pPr marL="0" indent="0">
              <a:buNone/>
            </a:pPr>
            <a:r>
              <a:rPr lang="en-US" altLang="en-US"/>
              <a:t>print("You entered:", user_bool)</a:t>
            </a:r>
            <a:endParaRPr lang="en-US" altLang="en-US"/>
          </a:p>
          <a:p>
            <a:pPr marL="0" indent="0">
              <a:buNone/>
            </a:pP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30" y="-9625"/>
            <a:ext cx="11081100" cy="462012"/>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Indentation</a:t>
            </a:r>
            <a:endParaRPr lang="en-US" sz="28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59882" y="452387"/>
            <a:ext cx="11829449" cy="6275672"/>
          </a:xfrm>
        </p:spPr>
        <p:txBody>
          <a:bodyPr>
            <a:noAutofit/>
          </a:bodyPr>
          <a:lstStyle/>
          <a:p>
            <a:pPr marL="0" indent="0">
              <a:buNone/>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Python refers to 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spaces or tabs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added at the beginning of a line 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indicate a block of 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Unlike many other programming languages that use curly braces {} to group code blocks, Python uses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as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core part of its syntax</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None/>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 defines code blocks</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 Python, blocks of code for functions, loops, conditionals, and classes are defined by indentation — not by braces.               if x &gt; 0: print("Positive number") </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Improper indentation causes errors</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If indentation is missing or inconsistent, Python raises an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IndentationError</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misinterprets the code logic.</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None/>
            </a:pPr>
            <a:r>
              <a:rPr lang="en-US" altLang="en-US" dirty="0">
                <a:solidFill>
                  <a:schemeClr val="tx1"/>
                </a:solidFill>
                <a:latin typeface="Cambria" panose="02040503050406030204" pitchFamily="18" charset="0"/>
                <a:ea typeface="Cambria" panose="02040503050406030204" pitchFamily="18" charset="0"/>
              </a:rPr>
              <a:t> </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if x &gt; 0: print("Error!") # Incorrect indentation </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Standard indentation is 4 spaces</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Python's official style guide (PEP 8) recommends using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4 spaces per indentation level</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consistency and readability.</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4"/>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Do not mix tabs and spaces</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Mixing tabs and spaces in the same file or block can cause errors and unexpected behavior. Always use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only spaces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5"/>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Essential for readability and logic</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Proper indentation makes Python code clean, structured, and easy to understand. It's both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stylistic</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and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functional</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requirement.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77002"/>
            <a:ext cx="11312107" cy="433137"/>
          </a:xfrm>
        </p:spPr>
        <p:txBody>
          <a:bodyPr>
            <a:noAutofit/>
          </a:bodyPr>
          <a:lstStyle/>
          <a:p>
            <a:r>
              <a:rPr lang="en-US" sz="2800" b="1" dirty="0">
                <a:solidFill>
                  <a:srgbClr val="C00000"/>
                </a:solidFill>
                <a:latin typeface="Cambria" panose="02040503050406030204" pitchFamily="18" charset="0"/>
                <a:ea typeface="Cambria" panose="02040503050406030204" pitchFamily="18" charset="0"/>
              </a:rPr>
              <a:t>Python Operators</a:t>
            </a:r>
            <a:endParaRPr lang="en-US" sz="2800" b="1" dirty="0">
              <a:solidFill>
                <a:srgbClr val="C0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94637" y="1434164"/>
            <a:ext cx="11543112" cy="4302493"/>
          </a:xfrm>
        </p:spPr>
        <p:txBody>
          <a:bodyPr>
            <a:normAutofit/>
          </a:bodyPr>
          <a:lstStyle/>
          <a:p>
            <a:pPr marL="0" algn="just">
              <a:lnSpc>
                <a:spcPct val="125000"/>
              </a:lnSpc>
              <a:spcBef>
                <a:spcPts val="0"/>
              </a:spcBef>
              <a:spcAft>
                <a:spcPts val="800"/>
              </a:spcAft>
              <a:buFont typeface="Wingdings" panose="05000000000000000000" pitchFamily="2" charset="2"/>
              <a:buChar char="Ø"/>
            </a:pPr>
            <a:r>
              <a:rPr lang="en-IN" sz="1800" dirty="0">
                <a:solidFill>
                  <a:schemeClr val="tx1"/>
                </a:solidFill>
                <a:effectLst/>
                <a:latin typeface="Segoe UI" panose="020B0502040204020203" pitchFamily="34" charset="0"/>
                <a:ea typeface="Times New Roman" panose="02020603050405020304" pitchFamily="18" charset="0"/>
                <a:cs typeface="Arial" panose="020B0604020202020204" pitchFamily="34" charset="0"/>
              </a:rPr>
              <a:t>The operator is a symbol that performs a certain operation between two operands, according to one definition. In a particular programming language, operators serve as the foundation upon which logic is constructed in a programme. The different operators that Python offers are listed here.</a:t>
            </a:r>
            <a:endParaRPr lang="en-IN" sz="1800" dirty="0">
              <a:solidFill>
                <a:schemeClr val="tx1"/>
              </a:solidFill>
              <a:effectLst/>
              <a:latin typeface="Segoe UI" panose="020B0502040204020203" pitchFamily="34" charset="0"/>
              <a:ea typeface="Times New Roman" panose="02020603050405020304" pitchFamily="18" charset="0"/>
              <a:cs typeface="Arial" panose="020B0604020202020204" pitchFamily="34" charset="0"/>
            </a:endParaRPr>
          </a:p>
          <a:p>
            <a:pPr>
              <a:spcBef>
                <a:spcPts val="300"/>
              </a:spcBef>
              <a:spcAft>
                <a:spcPts val="800"/>
              </a:spcAft>
              <a:buSzPts val="1000"/>
              <a:buFont typeface="Wingdings" panose="05000000000000000000" pitchFamily="2" charset="2"/>
              <a:buChar char="v"/>
              <a:tabLst>
                <a:tab pos="457200" algn="l"/>
              </a:tabLst>
            </a:pPr>
            <a:endPar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Arithmetic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Comparison operators/Relational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Assignment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Logical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Membership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Identity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757" y="96254"/>
            <a:ext cx="11292856" cy="1963551"/>
          </a:xfrm>
        </p:spPr>
        <p:txBody>
          <a:bodyPr>
            <a:noAutofit/>
          </a:bodyPr>
          <a:lstStyle/>
          <a:p>
            <a:r>
              <a:rPr lang="en-IN" sz="28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t>Arithmetic operators</a:t>
            </a:r>
            <a:br>
              <a:rPr lang="en-IN" sz="28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br>
            <a:r>
              <a:rPr lang="en-IN" sz="28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Arithmetic operations between two operands are carried out using arithmetic operators. It includes the </a:t>
            </a: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exponent (**) operator as well as the + (addition), - (subtraction), * (multiplication), / (divide), % (reminder), and // (floor division) operators.</a:t>
            </a: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US" sz="1800" dirty="0">
                <a:latin typeface="Segoe UI" panose="020B0502040204020203" pitchFamily="34" charset="0"/>
                <a:cs typeface="Segoe UI" panose="020B0502040204020203" pitchFamily="34" charset="0"/>
              </a:rPr>
              <a:t>These operators are used to perform basic mathematical operations such as addition, subtraction, multiplication, division, and modulus.</a:t>
            </a:r>
            <a:br>
              <a:rPr lang="en-US" sz="3200" dirty="0">
                <a:effectLst/>
                <a:latin typeface="Segoe UI" panose="020B0502040204020203" pitchFamily="34" charset="0"/>
                <a:ea typeface="Georgia" panose="02040502050405020303" pitchFamily="18" charset="0"/>
                <a:cs typeface="Segoe UI" panose="020B0502040204020203" pitchFamily="34" charset="0"/>
              </a:rPr>
            </a:br>
            <a:br>
              <a:rPr lang="en-US" sz="2800" b="1" dirty="0">
                <a:solidFill>
                  <a:srgbClr val="FF0000"/>
                </a:solidFill>
                <a:effectLst/>
                <a:latin typeface="Georgia" panose="02040502050405020303" pitchFamily="18" charset="0"/>
                <a:ea typeface="Georgia" panose="02040502050405020303" pitchFamily="18" charset="0"/>
                <a:cs typeface="Times New Roman" panose="02020603050405020304" pitchFamily="18" charset="0"/>
              </a:rPr>
            </a:br>
            <a:endParaRPr lang="en-US" sz="2800" b="1" dirty="0">
              <a:solidFill>
                <a:srgbClr val="FF0000"/>
              </a:solidFill>
            </a:endParaRPr>
          </a:p>
        </p:txBody>
      </p:sp>
      <p:graphicFrame>
        <p:nvGraphicFramePr>
          <p:cNvPr id="6" name="Content Placeholder 5"/>
          <p:cNvGraphicFramePr>
            <a:graphicFrameLocks noGrp="1"/>
          </p:cNvGraphicFramePr>
          <p:nvPr>
            <p:ph idx="1"/>
          </p:nvPr>
        </p:nvGraphicFramePr>
        <p:xfrm>
          <a:off x="324050" y="2158742"/>
          <a:ext cx="11332143" cy="4603003"/>
        </p:xfrm>
        <a:graphic>
          <a:graphicData uri="http://schemas.openxmlformats.org/drawingml/2006/table">
            <a:tbl>
              <a:tblPr/>
              <a:tblGrid>
                <a:gridCol w="1416631"/>
                <a:gridCol w="3466119"/>
                <a:gridCol w="2276257"/>
                <a:gridCol w="4173136"/>
              </a:tblGrid>
              <a:tr h="665825">
                <a:tc>
                  <a:txBody>
                    <a:bodyPr/>
                    <a:lstStyle/>
                    <a:p>
                      <a:pPr algn="ctr"/>
                      <a:r>
                        <a:rPr lang="en-US" sz="1600" b="1" dirty="0"/>
                        <a:t>Operator</a:t>
                      </a:r>
                      <a:endParaRPr lang="en-US" sz="1600" b="1" dirty="0"/>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dirty="0"/>
                        <a:t>Description</a:t>
                      </a:r>
                      <a:endParaRPr lang="en-US" sz="1600" b="1" dirty="0"/>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a:t>Example</a:t>
                      </a:r>
                      <a:endParaRPr lang="en-US" sz="1600" b="1"/>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dirty="0"/>
                        <a:t>Use (Result)</a:t>
                      </a:r>
                      <a:endParaRPr lang="en-US" sz="1600" b="1" dirty="0"/>
                    </a:p>
                  </a:txBody>
                  <a:tcPr marL="71288" marR="71288" marT="35644" marB="35644" anchor="ctr">
                    <a:lnL>
                      <a:noFill/>
                    </a:lnL>
                    <a:lnR>
                      <a:noFill/>
                    </a:lnR>
                    <a:lnT>
                      <a:noFill/>
                    </a:lnT>
                    <a:lnB>
                      <a:noFill/>
                    </a:lnB>
                    <a:solidFill>
                      <a:schemeClr val="accent1">
                        <a:lumMod val="60000"/>
                        <a:lumOff val="4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Addition</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Adds values (Result: 8)</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Subtraction</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Subtracts values (2)</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Multiplication</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Multiplies values (15)</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Division</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6 / 3</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Divides values (2.0)</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Floor Division</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7 // 2</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Division, removes decimal (3)</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Modulus</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7 % 2</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Remainder of division (1)</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Exponentiation</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2 ** 3</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Raises to power (8)</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259" y="0"/>
            <a:ext cx="11177353" cy="1713297"/>
          </a:xfrm>
        </p:spPr>
        <p:txBody>
          <a:bodyPr>
            <a:normAutofit fontScale="90000"/>
          </a:bodyPr>
          <a:lstStyle/>
          <a:p>
            <a:pPr>
              <a:lnSpc>
                <a:spcPct val="125000"/>
              </a:lnSpc>
              <a:spcBef>
                <a:spcPts val="0"/>
              </a:spcBef>
              <a:spcAft>
                <a:spcPts val="800"/>
              </a:spcAft>
            </a:pPr>
            <a:r>
              <a:rPr lang="en-IN" sz="2800" b="1" dirty="0">
                <a:solidFill>
                  <a:srgbClr val="FF0000"/>
                </a:solidFill>
                <a:effectLst/>
                <a:latin typeface="Helvetica" panose="020B0604020202020204" pitchFamily="34" charset="0"/>
                <a:ea typeface="Times New Roman" panose="02020603050405020304" pitchFamily="18" charset="0"/>
                <a:cs typeface="Arial" panose="020B0604020202020204" pitchFamily="34" charset="0"/>
              </a:rPr>
              <a:t>Assignment Operators</a:t>
            </a:r>
            <a:br>
              <a:rPr lang="en-US" sz="1800" dirty="0">
                <a:effectLst/>
                <a:latin typeface="Georgia" panose="02040502050405020303" pitchFamily="18" charset="0"/>
                <a:ea typeface="Georgia" panose="02040502050405020303" pitchFamily="18" charset="0"/>
                <a:cs typeface="Arial" panose="020B0604020202020204" pitchFamily="34" charset="0"/>
              </a:rPr>
            </a:br>
            <a:r>
              <a:rPr lang="en-IN" sz="20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The right expression's value is assigned to the left operand using the assignment operators. The following table provides a description of the assignment operators.</a:t>
            </a:r>
            <a:br>
              <a:rPr lang="en-IN" sz="20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These are used to assign values to variables and can also perform operations while assigning (e.g., </a:t>
            </a:r>
            <a:r>
              <a:rPr kumimoji="0" lang="en-US" altLang="en-US" sz="105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a:t>
            </a:r>
            <a:r>
              <a:rPr kumimoji="0" lang="en-US" altLang="en-US" sz="105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a:t>
            </a:r>
            <a:br>
              <a:rPr kumimoji="0" lang="en-US" altLang="en-US" sz="2000" b="0" i="0" u="none" strike="noStrike" cap="none" normalizeH="0" baseline="0" dirty="0">
                <a:ln>
                  <a:noFill/>
                </a:ln>
                <a:solidFill>
                  <a:schemeClr val="tx1"/>
                </a:solidFill>
                <a:effectLst/>
                <a:latin typeface="Arial" panose="020B0604020202020204" pitchFamily="34" charset="0"/>
              </a:rPr>
            </a:br>
            <a:br>
              <a:rPr lang="en-IN" sz="20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br>
              <a:rPr lang="en-US" sz="1800" dirty="0">
                <a:effectLst/>
                <a:latin typeface="Georgia" panose="02040502050405020303" pitchFamily="18" charset="0"/>
                <a:ea typeface="Georgia" panose="02040502050405020303" pitchFamily="18" charset="0"/>
                <a:cs typeface="Arial" panose="020B0604020202020204" pitchFamily="34" charset="0"/>
              </a:rPr>
            </a:br>
            <a:endParaRPr lang="en-US" dirty="0"/>
          </a:p>
        </p:txBody>
      </p:sp>
      <p:graphicFrame>
        <p:nvGraphicFramePr>
          <p:cNvPr id="9" name="Content Placeholder 8"/>
          <p:cNvGraphicFramePr>
            <a:graphicFrameLocks noGrp="1"/>
          </p:cNvGraphicFramePr>
          <p:nvPr>
            <p:ph idx="1"/>
          </p:nvPr>
        </p:nvGraphicFramePr>
        <p:xfrm>
          <a:off x="296780" y="2048834"/>
          <a:ext cx="11598440" cy="4237810"/>
        </p:xfrm>
        <a:graphic>
          <a:graphicData uri="http://schemas.openxmlformats.org/drawingml/2006/table">
            <a:tbl>
              <a:tblPr/>
              <a:tblGrid>
                <a:gridCol w="2899610"/>
                <a:gridCol w="2899610"/>
                <a:gridCol w="2899610"/>
                <a:gridCol w="2899610"/>
              </a:tblGrid>
              <a:tr h="516794">
                <a:tc>
                  <a:txBody>
                    <a:bodyPr/>
                    <a:lstStyle/>
                    <a:p>
                      <a:pPr algn="ctr"/>
                      <a:r>
                        <a:rPr lang="en-US" sz="1800" b="1" dirty="0">
                          <a:latin typeface="Cambria" panose="02040503050406030204" pitchFamily="18" charset="0"/>
                          <a:ea typeface="Cambria" panose="02040503050406030204" pitchFamily="18" charset="0"/>
                        </a:rPr>
                        <a:t>Operator</a:t>
                      </a:r>
                      <a:endParaRPr lang="en-US" sz="1800" b="1"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Description</a:t>
                      </a:r>
                      <a:endParaRPr lang="en-US" sz="1800" b="1"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Example</a:t>
                      </a:r>
                      <a:endParaRPr lang="en-US" sz="1800" b="1"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Use (Final value of x)</a:t>
                      </a:r>
                      <a:endParaRPr lang="en-US" sz="1800" b="1"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1">
                        <a:lumMod val="60000"/>
                        <a:lumOff val="40000"/>
                      </a:schemeClr>
                    </a:solidFill>
                  </a:tcPr>
                </a:tc>
              </a:tr>
              <a:tr h="51679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Assign</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5</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Assigns value 5 to x</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295310">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 and assign</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 and assign</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Multiply and assign</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295310">
                <a:tc>
                  <a:txBody>
                    <a:bodyPr/>
                    <a:lstStyle/>
                    <a:p>
                      <a:pPr algn="ctr"/>
                      <a:r>
                        <a:rPr lang="en-US" sz="1600" b="0">
                          <a:latin typeface="Cambria" panose="02040503050406030204" pitchFamily="18" charset="0"/>
                          <a:ea typeface="Cambria" panose="02040503050406030204" pitchFamily="18" charset="0"/>
                        </a:rPr>
                        <a:t>/=</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Divide and assign</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a:latin typeface="Cambria" panose="02040503050406030204" pitchFamily="18" charset="0"/>
                          <a:ea typeface="Cambria" panose="02040503050406030204" pitchFamily="18" charset="0"/>
                        </a:rPr>
                        <a:t>//=</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Floor divide and assign</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a:latin typeface="Cambria" panose="02040503050406030204" pitchFamily="18" charset="0"/>
                          <a:ea typeface="Cambria" panose="02040503050406030204" pitchFamily="18" charset="0"/>
                        </a:rPr>
                        <a:t>%=</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Modulus and assign</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a:latin typeface="Cambria" panose="02040503050406030204" pitchFamily="18" charset="0"/>
                          <a:ea typeface="Cambria" panose="02040503050406030204" pitchFamily="18" charset="0"/>
                        </a:rPr>
                        <a:t>**=</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Exponent and assign</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678" y="298382"/>
            <a:ext cx="11389109" cy="1771049"/>
          </a:xfrm>
        </p:spPr>
        <p:txBody>
          <a:bodyPr>
            <a:normAutofit fontScale="90000"/>
          </a:bodyPr>
          <a:lstStyle/>
          <a:p>
            <a:r>
              <a:rPr lang="en-IN" sz="2200" b="1" dirty="0">
                <a:solidFill>
                  <a:srgbClr val="FF0000"/>
                </a:solidFill>
                <a:effectLst/>
                <a:latin typeface="Cambria" panose="02040503050406030204" pitchFamily="18" charset="0"/>
                <a:ea typeface="Cambria" panose="02040503050406030204" pitchFamily="18" charset="0"/>
                <a:cs typeface="Times New Roman" panose="02020603050405020304" pitchFamily="18" charset="0"/>
              </a:rPr>
              <a:t>Comparison operators/Relational Operators</a:t>
            </a:r>
            <a:br>
              <a:rPr lang="en-IN" sz="2200" dirty="0">
                <a:solidFill>
                  <a:srgbClr val="333333"/>
                </a:solidFill>
                <a:effectLst/>
                <a:latin typeface="Cambria" panose="02040503050406030204" pitchFamily="18" charset="0"/>
                <a:ea typeface="Cambria" panose="02040503050406030204" pitchFamily="18" charset="0"/>
                <a:cs typeface="Arial" panose="020B0604020202020204" pitchFamily="34" charset="0"/>
              </a:rPr>
            </a:br>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Comparison operators compare the values of the two operands and return a true or false Boolean value in accordance. The following table lists the comparison operators.</a:t>
            </a: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US" sz="1800" dirty="0">
                <a:latin typeface="Segoe UI" panose="020B0502040204020203" pitchFamily="34" charset="0"/>
                <a:cs typeface="Segoe UI" panose="020B0502040204020203" pitchFamily="34" charset="0"/>
              </a:rPr>
              <a:t>Also known as relational operators, these are used to compare two values and return a Boolean result (True or False) based on the comparison.</a:t>
            </a:r>
            <a:endParaRPr lang="en-US" sz="1800" dirty="0">
              <a:latin typeface="Segoe UI" panose="020B0502040204020203" pitchFamily="34" charset="0"/>
              <a:cs typeface="Segoe UI" panose="020B0502040204020203" pitchFamily="34" charset="0"/>
            </a:endParaRPr>
          </a:p>
        </p:txBody>
      </p:sp>
      <p:graphicFrame>
        <p:nvGraphicFramePr>
          <p:cNvPr id="9" name="Content Placeholder 5"/>
          <p:cNvGraphicFramePr>
            <a:graphicFrameLocks noGrp="1"/>
          </p:cNvGraphicFramePr>
          <p:nvPr>
            <p:ph idx="1"/>
          </p:nvPr>
        </p:nvGraphicFramePr>
        <p:xfrm>
          <a:off x="249455" y="2474310"/>
          <a:ext cx="11404332" cy="3916250"/>
        </p:xfrm>
        <a:graphic>
          <a:graphicData uri="http://schemas.openxmlformats.org/drawingml/2006/table">
            <a:tbl>
              <a:tblPr/>
              <a:tblGrid>
                <a:gridCol w="2691063"/>
                <a:gridCol w="2904423"/>
                <a:gridCol w="2904423"/>
                <a:gridCol w="2904423"/>
              </a:tblGrid>
              <a:tr h="360947">
                <a:tc>
                  <a:txBody>
                    <a:bodyPr/>
                    <a:lstStyle/>
                    <a:p>
                      <a:pPr algn="ctr"/>
                      <a:r>
                        <a:rPr lang="en-US" sz="1800" b="1" dirty="0"/>
                        <a:t>Operator</a:t>
                      </a:r>
                      <a:endParaRPr lang="en-US" sz="1800" b="1" dirty="0"/>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Description</a:t>
                      </a:r>
                      <a:endParaRPr lang="en-US" sz="1800" b="1" dirty="0"/>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Example</a:t>
                      </a:r>
                      <a:endParaRPr lang="en-US" sz="1800" b="1" dirty="0"/>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Use (Result)</a:t>
                      </a:r>
                      <a:endParaRPr lang="en-US" sz="1800" b="1" dirty="0"/>
                    </a:p>
                  </a:txBody>
                  <a:tcPr marL="87866" marR="87866" marT="43933" marB="43933" anchor="ctr">
                    <a:lnL>
                      <a:noFill/>
                    </a:lnL>
                    <a:lnR>
                      <a:noFill/>
                    </a:lnR>
                    <a:lnT>
                      <a:noFill/>
                    </a:lnT>
                    <a:lnB>
                      <a:noFill/>
                    </a:lnB>
                    <a:solidFill>
                      <a:schemeClr val="accent1">
                        <a:lumMod val="60000"/>
                        <a:lumOff val="40000"/>
                      </a:schemeClr>
                    </a:solidFill>
                  </a:tcPr>
                </a:tc>
              </a:tr>
              <a:tr h="453059">
                <a:tc>
                  <a:txBody>
                    <a:bodyPr/>
                    <a:lstStyle/>
                    <a:p>
                      <a:pPr algn="ct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Equal to</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 5</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equal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585230">
                <a:tc>
                  <a:txBody>
                    <a:bodyPr/>
                    <a:lstStyle/>
                    <a:p>
                      <a:pPr algn="ct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Not equal</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 3</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True if not equal (True)</a:t>
                      </a:r>
                      <a:endParaRPr lang="en-US" sz="160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620150">
                <a:tc>
                  <a:txBody>
                    <a:bodyPr/>
                    <a:lstStyle/>
                    <a:p>
                      <a:pPr algn="ctr"/>
                      <a:r>
                        <a:rPr lang="en-US" sz="1600" dirty="0">
                          <a:latin typeface="Cambria" panose="02040503050406030204" pitchFamily="18" charset="0"/>
                          <a:ea typeface="Cambria" panose="02040503050406030204" pitchFamily="18" charset="0"/>
                        </a:rPr>
                        <a:t>&gt;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Greater than</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&gt; 3</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&gt; right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438629">
                <a:tc>
                  <a:txBody>
                    <a:bodyPr/>
                    <a:lstStyle/>
                    <a:p>
                      <a:pPr algn="ctr"/>
                      <a:r>
                        <a:rPr lang="en-US" sz="1600" dirty="0">
                          <a:latin typeface="Cambria" panose="02040503050406030204" pitchFamily="18" charset="0"/>
                          <a:ea typeface="Cambria" panose="02040503050406030204" pitchFamily="18" charset="0"/>
                        </a:rPr>
                        <a:t>&lt;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Less than</a:t>
                      </a:r>
                      <a:endParaRPr lang="en-US" sz="160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3 &lt; 5</a:t>
                      </a:r>
                      <a:endParaRPr lang="en-US" sz="160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&lt; right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664143">
                <a:tc>
                  <a:txBody>
                    <a:bodyPr/>
                    <a:lstStyle/>
                    <a:p>
                      <a:pPr algn="ctr"/>
                      <a:r>
                        <a:rPr lang="en-US" sz="1600" dirty="0">
                          <a:latin typeface="Cambria" panose="02040503050406030204" pitchFamily="18" charset="0"/>
                          <a:ea typeface="Cambria" panose="02040503050406030204" pitchFamily="18" charset="0"/>
                        </a:rPr>
                        <a:t>&gt;=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Greater than or equal</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&gt;= 5</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 right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792853">
                <a:tc>
                  <a:txBody>
                    <a:bodyPr/>
                    <a:lstStyle/>
                    <a:p>
                      <a:pPr algn="ctr"/>
                      <a:r>
                        <a:rPr lang="en-US" sz="1600" dirty="0">
                          <a:latin typeface="Cambria" panose="02040503050406030204" pitchFamily="18" charset="0"/>
                          <a:ea typeface="Cambria" panose="02040503050406030204" pitchFamily="18" charset="0"/>
                        </a:rPr>
                        <a:t>&lt;=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Less than or equal</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3 &lt;= 5</a:t>
                      </a:r>
                      <a:endParaRPr lang="en-US" sz="160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 right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509" y="211755"/>
            <a:ext cx="11158103" cy="2002056"/>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Logical Operators</a:t>
            </a:r>
            <a:br>
              <a:rPr lang="en-US" sz="2400" b="1" dirty="0">
                <a:solidFill>
                  <a:srgbClr val="FF0000"/>
                </a:solidFill>
                <a:latin typeface="Cambria" panose="02040503050406030204" pitchFamily="18" charset="0"/>
                <a:ea typeface="Cambria" panose="02040503050406030204" pitchFamily="18" charset="0"/>
              </a:rPr>
            </a:br>
            <a:br>
              <a:rPr lang="en-US" sz="2400" b="1" dirty="0">
                <a:solidFill>
                  <a:srgbClr val="FF0000"/>
                </a:solidFill>
                <a:latin typeface="Cambria" panose="02040503050406030204" pitchFamily="18" charset="0"/>
                <a:ea typeface="Cambria" panose="02040503050406030204" pitchFamily="18" charset="0"/>
              </a:rPr>
            </a:br>
            <a:br>
              <a:rPr lang="en-US" sz="2400" b="1" dirty="0">
                <a:solidFill>
                  <a:srgbClr val="FF0000"/>
                </a:solidFill>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These are used to combine multiple conditional statements and return a Boolean value depending on the logic (e.g., AND, OR, NOT).</a:t>
            </a:r>
            <a:endParaRPr lang="en-US"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332070" y="2800953"/>
          <a:ext cx="11527859" cy="2954957"/>
        </p:xfrm>
        <a:graphic>
          <a:graphicData uri="http://schemas.openxmlformats.org/drawingml/2006/table">
            <a:tbl>
              <a:tblPr/>
              <a:tblGrid>
                <a:gridCol w="2837777"/>
                <a:gridCol w="2896694"/>
                <a:gridCol w="2896694"/>
                <a:gridCol w="2896694"/>
              </a:tblGrid>
              <a:tr h="472793">
                <a:tc>
                  <a:txBody>
                    <a:bodyPr/>
                    <a:lstStyle/>
                    <a:p>
                      <a:pPr algn="ctr"/>
                      <a:r>
                        <a:rPr lang="en-US" b="1" dirty="0"/>
                        <a:t>Operator</a:t>
                      </a:r>
                      <a:endParaRPr lang="en-US" b="1" dirty="0"/>
                    </a:p>
                  </a:txBody>
                  <a:tcPr anchor="ctr">
                    <a:lnL>
                      <a:noFill/>
                    </a:lnL>
                    <a:lnR>
                      <a:noFill/>
                    </a:lnR>
                    <a:lnT>
                      <a:noFill/>
                    </a:lnT>
                    <a:lnB>
                      <a:noFill/>
                    </a:lnB>
                    <a:solidFill>
                      <a:schemeClr val="accent2">
                        <a:lumMod val="20000"/>
                        <a:lumOff val="80000"/>
                      </a:schemeClr>
                    </a:solidFill>
                  </a:tcPr>
                </a:tc>
                <a:tc>
                  <a:txBody>
                    <a:bodyPr/>
                    <a:lstStyle/>
                    <a:p>
                      <a:pPr algn="ctr"/>
                      <a:r>
                        <a:rPr lang="en-US" b="1" dirty="0"/>
                        <a:t>Description</a:t>
                      </a:r>
                      <a:endParaRPr lang="en-US" b="1" dirty="0"/>
                    </a:p>
                  </a:txBody>
                  <a:tcPr anchor="ctr">
                    <a:lnL>
                      <a:noFill/>
                    </a:lnL>
                    <a:lnR>
                      <a:noFill/>
                    </a:lnR>
                    <a:lnT>
                      <a:noFill/>
                    </a:lnT>
                    <a:lnB>
                      <a:noFill/>
                    </a:lnB>
                    <a:solidFill>
                      <a:schemeClr val="accent2">
                        <a:lumMod val="20000"/>
                        <a:lumOff val="80000"/>
                      </a:schemeClr>
                    </a:solidFill>
                  </a:tcPr>
                </a:tc>
                <a:tc>
                  <a:txBody>
                    <a:bodyPr/>
                    <a:lstStyle/>
                    <a:p>
                      <a:pPr algn="ctr"/>
                      <a:r>
                        <a:rPr lang="en-US" b="1" dirty="0"/>
                        <a:t>Example</a:t>
                      </a:r>
                      <a:endParaRPr lang="en-US" b="1" dirty="0"/>
                    </a:p>
                  </a:txBody>
                  <a:tcPr anchor="ctr">
                    <a:lnL>
                      <a:noFill/>
                    </a:lnL>
                    <a:lnR>
                      <a:noFill/>
                    </a:lnR>
                    <a:lnT>
                      <a:noFill/>
                    </a:lnT>
                    <a:lnB>
                      <a:noFill/>
                    </a:lnB>
                    <a:solidFill>
                      <a:schemeClr val="accent2">
                        <a:lumMod val="20000"/>
                        <a:lumOff val="80000"/>
                      </a:schemeClr>
                    </a:solidFill>
                  </a:tcPr>
                </a:tc>
                <a:tc>
                  <a:txBody>
                    <a:bodyPr/>
                    <a:lstStyle/>
                    <a:p>
                      <a:pPr algn="ctr"/>
                      <a:r>
                        <a:rPr lang="en-US" b="1" dirty="0"/>
                        <a:t>Use (Result)</a:t>
                      </a:r>
                      <a:endParaRPr lang="en-US" b="1" dirty="0"/>
                    </a:p>
                  </a:txBody>
                  <a:tcPr anchor="ctr">
                    <a:lnL>
                      <a:noFill/>
                    </a:lnL>
                    <a:lnR>
                      <a:noFill/>
                    </a:lnR>
                    <a:lnT>
                      <a:noFill/>
                    </a:lnT>
                    <a:lnB>
                      <a:noFill/>
                    </a:lnB>
                    <a:solidFill>
                      <a:schemeClr val="accent2">
                        <a:lumMod val="20000"/>
                        <a:lumOff val="80000"/>
                      </a:schemeClr>
                    </a:solidFill>
                  </a:tcPr>
                </a:tc>
              </a:tr>
              <a:tr h="827388">
                <a:tc>
                  <a:txBody>
                    <a:bodyPr/>
                    <a:lstStyle/>
                    <a:p>
                      <a:pPr algn="ctr"/>
                      <a:r>
                        <a:rPr lang="en-US" sz="1600" dirty="0">
                          <a:latin typeface="Cambria" panose="02040503050406030204" pitchFamily="18" charset="0"/>
                          <a:ea typeface="Cambria" panose="02040503050406030204" pitchFamily="18" charset="0"/>
                        </a:rPr>
                        <a:t>And</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AND</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and False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if both are true (False)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r>
              <a:tr h="827388">
                <a:tc>
                  <a:txBody>
                    <a:bodyPr/>
                    <a:lstStyle/>
                    <a:p>
                      <a:pPr algn="ctr"/>
                      <a:r>
                        <a:rPr lang="en-US" sz="1600" dirty="0">
                          <a:latin typeface="Cambria" panose="02040503050406030204" pitchFamily="18" charset="0"/>
                          <a:ea typeface="Cambria" panose="02040503050406030204" pitchFamily="18" charset="0"/>
                        </a:rPr>
                        <a:t>or</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OR</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or False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if one is true (True)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r>
              <a:tr h="827388">
                <a:tc>
                  <a:txBody>
                    <a:bodyPr/>
                    <a:lstStyle/>
                    <a:p>
                      <a:pPr algn="ctr"/>
                      <a:r>
                        <a:rPr lang="en-US" sz="1600" dirty="0">
                          <a:latin typeface="Cambria" panose="02040503050406030204" pitchFamily="18" charset="0"/>
                          <a:ea typeface="Cambria" panose="02040503050406030204" pitchFamily="18" charset="0"/>
                        </a:rPr>
                        <a:t>not</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NOT</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not True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Reverses condition (False)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634" y="105878"/>
            <a:ext cx="11186979" cy="798897"/>
          </a:xfrm>
        </p:spPr>
        <p:txBody>
          <a:bodyPr>
            <a:normAutofit/>
          </a:bodyPr>
          <a:lstStyle/>
          <a:p>
            <a:r>
              <a:rPr lang="en-US" sz="2400" b="1" dirty="0">
                <a:solidFill>
                  <a:srgbClr val="FF0000"/>
                </a:solidFill>
              </a:rPr>
              <a:t>Python </a:t>
            </a:r>
            <a:r>
              <a:rPr lang="en-US" sz="2400" b="1" dirty="0" err="1">
                <a:solidFill>
                  <a:srgbClr val="FF0000"/>
                </a:solidFill>
              </a:rPr>
              <a:t>MemberShip</a:t>
            </a:r>
            <a:r>
              <a:rPr lang="en-US" sz="2400" b="1" dirty="0">
                <a:solidFill>
                  <a:srgbClr val="FF0000"/>
                </a:solidFill>
              </a:rPr>
              <a:t> Operators</a:t>
            </a:r>
            <a:br>
              <a:rPr lang="en-US" sz="2400" b="1" dirty="0">
                <a:solidFill>
                  <a:srgbClr val="FF0000"/>
                </a:solidFill>
              </a:rPr>
            </a:br>
            <a:r>
              <a:rPr lang="en-US" sz="1800" dirty="0">
                <a:latin typeface="Cambria" panose="02040503050406030204" pitchFamily="18" charset="0"/>
                <a:ea typeface="Cambria" panose="02040503050406030204" pitchFamily="18" charset="0"/>
              </a:rPr>
              <a:t>These test whether a value or variable is found within a sequence such as a list, tuple, or string.</a:t>
            </a:r>
            <a:endParaRPr lang="en-US"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269512" y="1337913"/>
          <a:ext cx="11235100" cy="1097280"/>
        </p:xfrm>
        <a:graphic>
          <a:graphicData uri="http://schemas.openxmlformats.org/drawingml/2006/table">
            <a:tbl>
              <a:tblPr/>
              <a:tblGrid>
                <a:gridCol w="2699671"/>
                <a:gridCol w="2845143"/>
                <a:gridCol w="2845143"/>
                <a:gridCol w="2845143"/>
              </a:tblGrid>
              <a:tr h="0">
                <a:tc>
                  <a:txBody>
                    <a:bodyPr/>
                    <a:lstStyle/>
                    <a:p>
                      <a:pPr algn="ctr"/>
                      <a:r>
                        <a:rPr lang="en-US" b="1" dirty="0">
                          <a:latin typeface="Cambria" panose="02040503050406030204" pitchFamily="18" charset="0"/>
                          <a:ea typeface="Cambria" panose="02040503050406030204" pitchFamily="18" charset="0"/>
                        </a:rPr>
                        <a:t>Operator</a:t>
                      </a:r>
                      <a:endParaRPr lang="en-US"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c>
                  <a:txBody>
                    <a:bodyPr/>
                    <a:lstStyle/>
                    <a:p>
                      <a:pPr algn="ctr"/>
                      <a:r>
                        <a:rPr lang="en-US" b="1" dirty="0">
                          <a:latin typeface="Cambria" panose="02040503050406030204" pitchFamily="18" charset="0"/>
                          <a:ea typeface="Cambria" panose="02040503050406030204" pitchFamily="18" charset="0"/>
                        </a:rPr>
                        <a:t>Description</a:t>
                      </a:r>
                      <a:endParaRPr lang="en-US"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c>
                  <a:txBody>
                    <a:bodyPr/>
                    <a:lstStyle/>
                    <a:p>
                      <a:pPr algn="ctr"/>
                      <a:r>
                        <a:rPr lang="en-US" b="1">
                          <a:latin typeface="Cambria" panose="02040503050406030204" pitchFamily="18" charset="0"/>
                          <a:ea typeface="Cambria" panose="02040503050406030204" pitchFamily="18" charset="0"/>
                        </a:rPr>
                        <a:t>Example</a:t>
                      </a:r>
                      <a:endParaRPr lang="en-US" b="1">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c>
                  <a:txBody>
                    <a:bodyPr/>
                    <a:lstStyle/>
                    <a:p>
                      <a:pPr algn="ctr"/>
                      <a:r>
                        <a:rPr lang="en-US" b="1" dirty="0">
                          <a:latin typeface="Cambria" panose="02040503050406030204" pitchFamily="18" charset="0"/>
                          <a:ea typeface="Cambria" panose="02040503050406030204" pitchFamily="18" charset="0"/>
                        </a:rPr>
                        <a:t>Use (Result)</a:t>
                      </a:r>
                      <a:endParaRPr lang="en-US"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r>
              <a:tr h="0">
                <a:tc>
                  <a:txBody>
                    <a:bodyPr/>
                    <a:lstStyle/>
                    <a:p>
                      <a:pPr algn="ctr"/>
                      <a:r>
                        <a:rPr lang="en-US" dirty="0">
                          <a:latin typeface="Cambria" panose="02040503050406030204" pitchFamily="18" charset="0"/>
                          <a:ea typeface="Cambria" panose="02040503050406030204" pitchFamily="18" charset="0"/>
                        </a:rPr>
                        <a:t>in</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Present in sequence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'a' in 'apple'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True if found (True)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r>
              <a:tr h="0">
                <a:tc>
                  <a:txBody>
                    <a:bodyPr/>
                    <a:lstStyle/>
                    <a:p>
                      <a:pPr algn="ctr"/>
                      <a:r>
                        <a:rPr lang="en-US" dirty="0">
                          <a:latin typeface="Cambria" panose="02040503050406030204" pitchFamily="18" charset="0"/>
                          <a:ea typeface="Cambria" panose="02040503050406030204" pitchFamily="18" charset="0"/>
                        </a:rPr>
                        <a:t>not in</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Not in sequence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'x' not in 'apple'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True if not found (True)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r>
            </a:tbl>
          </a:graphicData>
        </a:graphic>
      </p:graphicFrame>
      <p:graphicFrame>
        <p:nvGraphicFramePr>
          <p:cNvPr id="5" name="Table 4"/>
          <p:cNvGraphicFramePr>
            <a:graphicFrameLocks noGrp="1"/>
          </p:cNvGraphicFramePr>
          <p:nvPr/>
        </p:nvGraphicFramePr>
        <p:xfrm>
          <a:off x="269512" y="3619098"/>
          <a:ext cx="11331356" cy="1900988"/>
        </p:xfrm>
        <a:graphic>
          <a:graphicData uri="http://schemas.openxmlformats.org/drawingml/2006/table">
            <a:tbl>
              <a:tblPr/>
              <a:tblGrid>
                <a:gridCol w="2832839"/>
                <a:gridCol w="2832839"/>
                <a:gridCol w="2832839"/>
                <a:gridCol w="2832839"/>
              </a:tblGrid>
              <a:tr h="449324">
                <a:tc>
                  <a:txBody>
                    <a:bodyPr/>
                    <a:lstStyle/>
                    <a:p>
                      <a:pPr algn="ctr"/>
                      <a:r>
                        <a:rPr lang="en-US" sz="2000" b="1" dirty="0">
                          <a:latin typeface="Cambria" panose="02040503050406030204" pitchFamily="18" charset="0"/>
                          <a:ea typeface="Cambria" panose="02040503050406030204" pitchFamily="18" charset="0"/>
                        </a:rPr>
                        <a:t>Operator</a:t>
                      </a:r>
                      <a:endParaRPr lang="en-US" sz="20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c>
                  <a:txBody>
                    <a:bodyPr/>
                    <a:lstStyle/>
                    <a:p>
                      <a:pPr algn="ctr"/>
                      <a:r>
                        <a:rPr lang="en-US" sz="2000" b="1" dirty="0">
                          <a:latin typeface="Cambria" panose="02040503050406030204" pitchFamily="18" charset="0"/>
                          <a:ea typeface="Cambria" panose="02040503050406030204" pitchFamily="18" charset="0"/>
                        </a:rPr>
                        <a:t>Description</a:t>
                      </a:r>
                      <a:endParaRPr lang="en-US" sz="20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c>
                  <a:txBody>
                    <a:bodyPr/>
                    <a:lstStyle/>
                    <a:p>
                      <a:pPr algn="ctr"/>
                      <a:r>
                        <a:rPr lang="en-US" sz="2000" b="1" dirty="0">
                          <a:latin typeface="Cambria" panose="02040503050406030204" pitchFamily="18" charset="0"/>
                          <a:ea typeface="Cambria" panose="02040503050406030204" pitchFamily="18" charset="0"/>
                        </a:rPr>
                        <a:t>Example</a:t>
                      </a:r>
                      <a:endParaRPr lang="en-US" sz="20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c>
                  <a:txBody>
                    <a:bodyPr/>
                    <a:lstStyle/>
                    <a:p>
                      <a:pPr algn="ctr"/>
                      <a:r>
                        <a:rPr lang="en-US" sz="2000" b="1" dirty="0">
                          <a:latin typeface="Cambria" panose="02040503050406030204" pitchFamily="18" charset="0"/>
                          <a:ea typeface="Cambria" panose="02040503050406030204" pitchFamily="18" charset="0"/>
                        </a:rPr>
                        <a:t>Use (Result)</a:t>
                      </a:r>
                      <a:endParaRPr lang="en-US" sz="20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r>
              <a:tr h="725832">
                <a:tc>
                  <a:txBody>
                    <a:bodyPr/>
                    <a:lstStyle/>
                    <a:p>
                      <a:pPr algn="ctr"/>
                      <a:r>
                        <a:rPr lang="en-US" dirty="0"/>
                        <a:t>is</a:t>
                      </a:r>
                      <a:endParaRPr lang="en-US" dirty="0"/>
                    </a:p>
                  </a:txBody>
                  <a:tcPr anchor="ctr">
                    <a:lnL>
                      <a:noFill/>
                    </a:lnL>
                    <a:lnR>
                      <a:noFill/>
                    </a:lnR>
                    <a:lnT>
                      <a:noFill/>
                    </a:lnT>
                    <a:lnB>
                      <a:noFill/>
                    </a:lnB>
                    <a:solidFill>
                      <a:schemeClr val="accent3">
                        <a:lumMod val="20000"/>
                        <a:lumOff val="80000"/>
                      </a:schemeClr>
                    </a:solidFill>
                  </a:tcPr>
                </a:tc>
                <a:tc>
                  <a:txBody>
                    <a:bodyPr/>
                    <a:lstStyle/>
                    <a:p>
                      <a:pPr algn="ctr"/>
                      <a:r>
                        <a:rPr lang="en-US" dirty="0"/>
                        <a:t>Same object identity</a:t>
                      </a:r>
                      <a:endParaRPr lang="en-US" dirty="0"/>
                    </a:p>
                  </a:txBody>
                  <a:tcPr anchor="ctr">
                    <a:lnL>
                      <a:noFill/>
                    </a:lnL>
                    <a:lnR>
                      <a:noFill/>
                    </a:lnR>
                    <a:lnT>
                      <a:noFill/>
                    </a:lnT>
                    <a:lnB>
                      <a:noFill/>
                    </a:lnB>
                    <a:solidFill>
                      <a:schemeClr val="accent3">
                        <a:lumMod val="20000"/>
                        <a:lumOff val="80000"/>
                      </a:schemeClr>
                    </a:solidFill>
                  </a:tcPr>
                </a:tc>
                <a:tc>
                  <a:txBody>
                    <a:bodyPr/>
                    <a:lstStyle/>
                    <a:p>
                      <a:pPr algn="ctr"/>
                      <a:r>
                        <a:rPr lang="en-US" dirty="0"/>
                        <a:t>x is y</a:t>
                      </a:r>
                      <a:endParaRPr lang="en-US" dirty="0"/>
                    </a:p>
                  </a:txBody>
                  <a:tcPr anchor="ctr">
                    <a:lnL>
                      <a:noFill/>
                    </a:lnL>
                    <a:lnR>
                      <a:noFill/>
                    </a:lnR>
                    <a:lnT>
                      <a:noFill/>
                    </a:lnT>
                    <a:lnB>
                      <a:noFill/>
                    </a:lnB>
                    <a:solidFill>
                      <a:schemeClr val="accent3">
                        <a:lumMod val="20000"/>
                        <a:lumOff val="80000"/>
                      </a:schemeClr>
                    </a:solidFill>
                  </a:tcPr>
                </a:tc>
                <a:tc>
                  <a:txBody>
                    <a:bodyPr/>
                    <a:lstStyle/>
                    <a:p>
                      <a:pPr algn="ctr"/>
                      <a:r>
                        <a:rPr lang="en-US" dirty="0"/>
                        <a:t>True if same object in memory</a:t>
                      </a:r>
                      <a:endParaRPr lang="en-US" dirty="0"/>
                    </a:p>
                  </a:txBody>
                  <a:tcPr anchor="ctr">
                    <a:lnL>
                      <a:noFill/>
                    </a:lnL>
                    <a:lnR>
                      <a:noFill/>
                    </a:lnR>
                    <a:lnT>
                      <a:noFill/>
                    </a:lnT>
                    <a:lnB>
                      <a:noFill/>
                    </a:lnB>
                    <a:solidFill>
                      <a:schemeClr val="accent3">
                        <a:lumMod val="20000"/>
                        <a:lumOff val="80000"/>
                      </a:schemeClr>
                    </a:solidFill>
                  </a:tcPr>
                </a:tc>
              </a:tr>
              <a:tr h="725832">
                <a:tc>
                  <a:txBody>
                    <a:bodyPr/>
                    <a:lstStyle/>
                    <a:p>
                      <a:pPr algn="ctr"/>
                      <a:r>
                        <a:rPr lang="en-US" dirty="0"/>
                        <a:t>is not</a:t>
                      </a:r>
                      <a:endParaRPr lang="en-US" dirty="0"/>
                    </a:p>
                  </a:txBody>
                  <a:tcPr anchor="ctr">
                    <a:lnL>
                      <a:noFill/>
                    </a:lnL>
                    <a:lnR>
                      <a:noFill/>
                    </a:lnR>
                    <a:lnT>
                      <a:noFill/>
                    </a:lnT>
                    <a:lnB>
                      <a:noFill/>
                    </a:lnB>
                    <a:solidFill>
                      <a:schemeClr val="accent3">
                        <a:lumMod val="20000"/>
                        <a:lumOff val="80000"/>
                      </a:schemeClr>
                    </a:solidFill>
                  </a:tcPr>
                </a:tc>
                <a:tc>
                  <a:txBody>
                    <a:bodyPr/>
                    <a:lstStyle/>
                    <a:p>
                      <a:pPr algn="ctr"/>
                      <a:r>
                        <a:rPr lang="en-US" dirty="0"/>
                        <a:t>Not same object</a:t>
                      </a:r>
                      <a:endParaRPr lang="en-US" dirty="0"/>
                    </a:p>
                  </a:txBody>
                  <a:tcPr anchor="ctr">
                    <a:lnL>
                      <a:noFill/>
                    </a:lnL>
                    <a:lnR>
                      <a:noFill/>
                    </a:lnR>
                    <a:lnT>
                      <a:noFill/>
                    </a:lnT>
                    <a:lnB>
                      <a:noFill/>
                    </a:lnB>
                    <a:solidFill>
                      <a:schemeClr val="accent3">
                        <a:lumMod val="20000"/>
                        <a:lumOff val="80000"/>
                      </a:schemeClr>
                    </a:solidFill>
                  </a:tcPr>
                </a:tc>
                <a:tc>
                  <a:txBody>
                    <a:bodyPr/>
                    <a:lstStyle/>
                    <a:p>
                      <a:pPr algn="ctr"/>
                      <a:r>
                        <a:rPr lang="en-US" dirty="0"/>
                        <a:t>x is not y</a:t>
                      </a:r>
                      <a:endParaRPr lang="en-US" dirty="0"/>
                    </a:p>
                  </a:txBody>
                  <a:tcPr anchor="ctr">
                    <a:lnL>
                      <a:noFill/>
                    </a:lnL>
                    <a:lnR>
                      <a:noFill/>
                    </a:lnR>
                    <a:lnT>
                      <a:noFill/>
                    </a:lnT>
                    <a:lnB>
                      <a:noFill/>
                    </a:lnB>
                    <a:solidFill>
                      <a:schemeClr val="accent3">
                        <a:lumMod val="20000"/>
                        <a:lumOff val="80000"/>
                      </a:schemeClr>
                    </a:solidFill>
                  </a:tcPr>
                </a:tc>
                <a:tc>
                  <a:txBody>
                    <a:bodyPr/>
                    <a:lstStyle/>
                    <a:p>
                      <a:pPr algn="ctr"/>
                      <a:r>
                        <a:rPr lang="en-US" dirty="0"/>
                        <a:t>True if not same object in memory</a:t>
                      </a:r>
                      <a:endParaRPr lang="en-US" dirty="0"/>
                    </a:p>
                  </a:txBody>
                  <a:tcPr anchor="ctr">
                    <a:lnL>
                      <a:noFill/>
                    </a:lnL>
                    <a:lnR>
                      <a:noFill/>
                    </a:lnR>
                    <a:lnT>
                      <a:noFill/>
                    </a:lnT>
                    <a:lnB>
                      <a:noFill/>
                    </a:lnB>
                    <a:solidFill>
                      <a:schemeClr val="accent3">
                        <a:lumMod val="20000"/>
                        <a:lumOff val="80000"/>
                      </a:schemeClr>
                    </a:solidFill>
                  </a:tcPr>
                </a:tc>
              </a:tr>
            </a:tbl>
          </a:graphicData>
        </a:graphic>
      </p:graphicFrame>
      <p:sp>
        <p:nvSpPr>
          <p:cNvPr id="6" name="Title 1"/>
          <p:cNvSpPr txBox="1"/>
          <p:nvPr/>
        </p:nvSpPr>
        <p:spPr>
          <a:xfrm>
            <a:off x="291971" y="2627697"/>
            <a:ext cx="11729987" cy="798897"/>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solidFill>
                  <a:srgbClr val="FF0000"/>
                </a:solidFill>
              </a:rPr>
              <a:t>Python Identity Operators</a:t>
            </a:r>
            <a:endParaRPr lang="en-US" sz="2400" b="1" dirty="0">
              <a:solidFill>
                <a:srgbClr val="FF0000"/>
              </a:solidFill>
            </a:endParaRPr>
          </a:p>
          <a:p>
            <a:r>
              <a:rPr lang="en-US" sz="2100" dirty="0">
                <a:latin typeface="Cambria" panose="02040503050406030204" pitchFamily="18" charset="0"/>
                <a:ea typeface="Cambria" panose="02040503050406030204" pitchFamily="18" charset="0"/>
              </a:rPr>
              <a:t>These check whether two variables refer to the same object in memory (not just if their values are equal).</a:t>
            </a:r>
            <a:endParaRPr lang="en-US" sz="3700" b="1" dirty="0">
              <a:solidFill>
                <a:srgbClr val="FF0000"/>
              </a:solidFill>
              <a:latin typeface="Cambria" panose="02040503050406030204" pitchFamily="18" charset="0"/>
              <a:ea typeface="Cambria" panose="020405030504060302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141" y="86628"/>
            <a:ext cx="10917471" cy="606392"/>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Python Decision Making Statements</a:t>
            </a:r>
            <a:endParaRPr lang="en-US" sz="28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327025" y="693420"/>
            <a:ext cx="11732895" cy="5715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defTabSz="914400" eaLnBrk="0" fontAlgn="base" hangingPunct="0">
              <a:spcBef>
                <a:spcPct val="0"/>
              </a:spcBef>
              <a:spcAft>
                <a:spcPct val="0"/>
              </a:spcAft>
              <a:buClrTx/>
            </a:pPr>
            <a:r>
              <a:rPr lang="en-US" sz="1600" dirty="0">
                <a:latin typeface="Cambria" panose="02040503050406030204" pitchFamily="18" charset="0"/>
                <a:ea typeface="Cambria" panose="02040503050406030204" pitchFamily="18" charset="0"/>
              </a:rPr>
              <a:t>Python decision-making statements allow the program to execute certain blocks of code based on specific conditions. These statements evaluate expressions and control the flow of execution depending on whether a condition is </a:t>
            </a:r>
            <a:r>
              <a:rPr lang="en-US" sz="1600" b="1" dirty="0">
                <a:latin typeface="Cambria" panose="02040503050406030204" pitchFamily="18" charset="0"/>
                <a:ea typeface="Cambria" panose="02040503050406030204" pitchFamily="18" charset="0"/>
              </a:rPr>
              <a:t>True</a:t>
            </a:r>
            <a:r>
              <a:rPr lang="en-US" sz="1600" dirty="0">
                <a:latin typeface="Cambria" panose="02040503050406030204" pitchFamily="18" charset="0"/>
                <a:ea typeface="Cambria" panose="02040503050406030204" pitchFamily="18" charset="0"/>
              </a:rPr>
              <a:t> or </a:t>
            </a:r>
            <a:r>
              <a:rPr lang="en-US" sz="1600" b="1" dirty="0">
                <a:latin typeface="Cambria" panose="02040503050406030204" pitchFamily="18" charset="0"/>
                <a:ea typeface="Cambria" panose="02040503050406030204" pitchFamily="18" charset="0"/>
              </a:rPr>
              <a:t>False</a:t>
            </a: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pPr defTabSz="914400" eaLnBrk="0" fontAlgn="base" hangingPunct="0">
              <a:spcBef>
                <a:spcPct val="0"/>
              </a:spcBef>
              <a:spcAft>
                <a:spcPct val="0"/>
              </a:spcAft>
              <a:buClrTx/>
            </a:pPr>
            <a:endPar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defTabSz="914400" eaLnBrk="0" fontAlgn="base" hangingPunct="0">
              <a:spcBef>
                <a:spcPct val="0"/>
              </a:spcBef>
              <a:spcAft>
                <a:spcPct val="0"/>
              </a:spcAft>
              <a:buClrTx/>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decision-making statements</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are control flow constructs that allow a program to make choices and execute different blocks of code based on one or more conditions. These statements evaluate logical or relational expressions, and depending on whether the condition is </a:t>
            </a: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true</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a:t>
            </a: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false</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specific parts of the code are executed or skipped. This enables the program to react dynamically to different inputs or states during execution, making it capable of handling real-world decision processes.</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defTabSz="914400" eaLnBrk="0" fontAlgn="base" hangingPunct="0">
              <a:spcBef>
                <a:spcPct val="0"/>
              </a:spcBef>
              <a:spcAft>
                <a:spcPct val="0"/>
              </a:spcAft>
              <a:buClrTx/>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Key Keywords</a:t>
            </a:r>
            <a:r>
              <a:rPr kumimoji="0" lang="en-US" altLang="en-US" sz="2000" b="0" i="0" u="none" strike="noStrike" cap="none" normalizeH="0" baseline="0" dirty="0">
                <a:ln>
                  <a:noFill/>
                </a:ln>
                <a:solidFill>
                  <a:schemeClr val="tx1"/>
                </a:solidFill>
                <a:effectLst/>
                <a:latin typeface="Arial" panose="020B0604020202020204" pitchFamily="34" charset="0"/>
              </a:rPr>
              <a:t>: Python uses </a:t>
            </a:r>
            <a:r>
              <a:rPr kumimoji="0" lang="en-US" altLang="en-US" sz="2000" b="0" i="0" u="none" strike="noStrike" cap="none" normalizeH="0" baseline="0" dirty="0">
                <a:ln>
                  <a:noFill/>
                </a:ln>
                <a:solidFill>
                  <a:schemeClr val="tx1"/>
                </a:solidFill>
                <a:effectLst/>
                <a:latin typeface="Arial Unicode MS"/>
              </a:rPr>
              <a:t>if</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latin typeface="Arial Unicode MS"/>
              </a:rPr>
              <a:t>elif</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else</a:t>
            </a:r>
            <a:r>
              <a:rPr kumimoji="0" lang="en-US" altLang="en-US" sz="2000" b="0" i="0" u="none" strike="noStrike" cap="none" normalizeH="0" baseline="0" dirty="0">
                <a:ln>
                  <a:noFill/>
                </a:ln>
                <a:solidFill>
                  <a:schemeClr val="tx1"/>
                </a:solidFill>
                <a:effectLst/>
              </a:rPr>
              <a:t> for decision-making.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Boolean Logic</a:t>
            </a:r>
            <a:r>
              <a:rPr kumimoji="0" lang="en-US" altLang="en-US" sz="2000" b="0" i="0" u="none" strike="noStrike" cap="none" normalizeH="0" baseline="0" dirty="0">
                <a:ln>
                  <a:noFill/>
                </a:ln>
                <a:solidFill>
                  <a:schemeClr val="tx1"/>
                </a:solidFill>
                <a:effectLst/>
                <a:latin typeface="Arial" panose="020B0604020202020204" pitchFamily="34" charset="0"/>
              </a:rPr>
              <a:t>: Conditions are evaluated as Boolean expressions (True or False).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Indentation Matters</a:t>
            </a:r>
            <a:r>
              <a:rPr kumimoji="0" lang="en-US" altLang="en-US" sz="2000" b="0" i="0" u="none" strike="noStrike" cap="none" normalizeH="0" baseline="0" dirty="0">
                <a:ln>
                  <a:noFill/>
                </a:ln>
                <a:solidFill>
                  <a:schemeClr val="tx1"/>
                </a:solidFill>
                <a:effectLst/>
                <a:latin typeface="Arial" panose="020B0604020202020204" pitchFamily="34" charset="0"/>
              </a:rPr>
              <a:t>: Python uses indentation (typically 4 spaces) to define the block of code under each condition.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Nested Conditions</a:t>
            </a:r>
            <a:r>
              <a:rPr kumimoji="0" lang="en-US" altLang="en-US" sz="2000" b="0" i="0" u="none" strike="noStrike" cap="none" normalizeH="0" baseline="0" dirty="0">
                <a:ln>
                  <a:noFill/>
                </a:ln>
                <a:solidFill>
                  <a:schemeClr val="tx1"/>
                </a:solidFill>
                <a:effectLst/>
                <a:latin typeface="Arial" panose="020B0604020202020204" pitchFamily="34" charset="0"/>
              </a:rPr>
              <a:t>: You can nest </a:t>
            </a:r>
            <a:r>
              <a:rPr kumimoji="0" lang="en-US" altLang="en-US" sz="2000" b="0" i="0" u="none" strike="noStrike" cap="none" normalizeH="0" baseline="0" dirty="0">
                <a:ln>
                  <a:noFill/>
                </a:ln>
                <a:solidFill>
                  <a:schemeClr val="tx1"/>
                </a:solidFill>
                <a:effectLst/>
                <a:latin typeface="Arial Unicode MS"/>
              </a:rPr>
              <a:t>if</a:t>
            </a:r>
            <a:r>
              <a:rPr kumimoji="0" lang="en-US" altLang="en-US" sz="2000" b="0" i="0" u="none" strike="noStrike" cap="none" normalizeH="0" baseline="0" dirty="0">
                <a:ln>
                  <a:noFill/>
                </a:ln>
                <a:solidFill>
                  <a:schemeClr val="tx1"/>
                </a:solidFill>
                <a:effectLst/>
              </a:rPr>
              <a:t> statements inside one another for complex logic.</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Short-Circuit Evaluation</a:t>
            </a:r>
            <a:r>
              <a:rPr kumimoji="0" lang="en-US" altLang="en-US" sz="2000" b="0" i="0" u="none" strike="noStrike" cap="none" normalizeH="0" baseline="0" dirty="0">
                <a:ln>
                  <a:noFill/>
                </a:ln>
                <a:solidFill>
                  <a:schemeClr val="tx1"/>
                </a:solidFill>
                <a:effectLst/>
                <a:latin typeface="Arial" panose="020B0604020202020204" pitchFamily="34" charset="0"/>
              </a:rPr>
              <a:t>: Logical operators like </a:t>
            </a:r>
            <a:r>
              <a:rPr kumimoji="0" lang="en-US" altLang="en-US" sz="2000" b="0" i="0" u="none" strike="noStrike" cap="none" normalizeH="0" baseline="0" dirty="0">
                <a:ln>
                  <a:noFill/>
                </a:ln>
                <a:solidFill>
                  <a:schemeClr val="tx1"/>
                </a:solidFill>
                <a:effectLst/>
                <a:latin typeface="Arial Unicode MS"/>
              </a:rPr>
              <a:t>and</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and</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or</a:t>
            </a:r>
            <a:r>
              <a:rPr kumimoji="0" lang="en-US" altLang="en-US" sz="2000" b="0" i="0" u="none" strike="noStrike" cap="none" normalizeH="0" baseline="0" dirty="0">
                <a:ln>
                  <a:noFill/>
                </a:ln>
                <a:solidFill>
                  <a:schemeClr val="tx1"/>
                </a:solidFill>
                <a:effectLst/>
              </a:rPr>
              <a:t> stop evaluating as soon as the result is determined.</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4" y="248724"/>
            <a:ext cx="11177352" cy="559798"/>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Decision Making Statements</a:t>
            </a:r>
            <a:endParaRPr lang="en-US" sz="2400"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279134" y="991403"/>
          <a:ext cx="11752445" cy="5968746"/>
        </p:xfrm>
        <a:graphic>
          <a:graphicData uri="http://schemas.openxmlformats.org/drawingml/2006/table">
            <a:tbl>
              <a:tblPr/>
              <a:tblGrid>
                <a:gridCol w="1971781"/>
                <a:gridCol w="1915446"/>
                <a:gridCol w="2197128"/>
                <a:gridCol w="2253466"/>
                <a:gridCol w="3414624"/>
              </a:tblGrid>
              <a:tr h="341280">
                <a:tc>
                  <a:txBody>
                    <a:bodyPr/>
                    <a:lstStyle/>
                    <a:p>
                      <a:pPr algn="ctr"/>
                      <a:r>
                        <a:rPr lang="en-US" sz="1800" b="1" dirty="0">
                          <a:latin typeface="Cambria" panose="02040503050406030204" pitchFamily="18" charset="0"/>
                          <a:ea typeface="Cambria" panose="02040503050406030204" pitchFamily="18" charset="0"/>
                        </a:rPr>
                        <a:t>Statement Type</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Definition</a:t>
                      </a:r>
                      <a:endParaRPr lang="en-US" sz="1800" b="1">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Use</a:t>
                      </a:r>
                      <a:endParaRPr lang="en-US" sz="1800" b="1">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Syntax</a:t>
                      </a:r>
                      <a:endParaRPr lang="en-US" sz="1800" b="1">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Example Code</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r>
              <a:tr h="804039">
                <a:tc>
                  <a:txBody>
                    <a:bodyPr/>
                    <a:lstStyle/>
                    <a:p>
                      <a:pPr algn="ctr"/>
                      <a:r>
                        <a:rPr lang="en-US" sz="1800" b="1" dirty="0">
                          <a:latin typeface="Cambria" panose="02040503050406030204" pitchFamily="18" charset="0"/>
                          <a:ea typeface="Cambria" panose="02040503050406030204" pitchFamily="18" charset="0"/>
                        </a:rPr>
                        <a:t>if Statement</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Executes a block of code only if the condition is true.</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you want to check one condition.</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fr-FR" sz="1600" b="0" dirty="0">
                          <a:latin typeface="Cambria" panose="02040503050406030204" pitchFamily="18" charset="0"/>
                          <a:ea typeface="Cambria" panose="02040503050406030204" pitchFamily="18" charset="0"/>
                        </a:rPr>
                        <a:t>if condition: # </a:t>
                      </a:r>
                      <a:endParaRPr lang="fr-FR" sz="1600" b="0" dirty="0">
                        <a:latin typeface="Cambria" panose="02040503050406030204" pitchFamily="18" charset="0"/>
                        <a:ea typeface="Cambria" panose="02040503050406030204" pitchFamily="18" charset="0"/>
                      </a:endParaRPr>
                    </a:p>
                    <a:p>
                      <a:pPr algn="r"/>
                      <a:r>
                        <a:rPr lang="fr-FR" sz="1600" b="0" dirty="0">
                          <a:latin typeface="Cambria" panose="02040503050406030204" pitchFamily="18" charset="0"/>
                          <a:ea typeface="Cambria" panose="02040503050406030204" pitchFamily="18" charset="0"/>
                        </a:rPr>
                        <a:t>Code Block</a:t>
                      </a:r>
                      <a:endParaRPr lang="fr-FR"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bg2">
                        <a:lumMod val="75000"/>
                      </a:schemeClr>
                    </a:solidFill>
                  </a:tcPr>
                </a:tc>
                <a:tc>
                  <a:txBody>
                    <a:bodyPr/>
                    <a:lstStyle/>
                    <a:p>
                      <a:pPr algn="ctr"/>
                      <a:r>
                        <a:rPr lang="en-US" sz="1600" b="0" dirty="0">
                          <a:latin typeface="Cambria" panose="02040503050406030204" pitchFamily="18" charset="0"/>
                          <a:ea typeface="Cambria" panose="02040503050406030204" pitchFamily="18" charset="0"/>
                        </a:rPr>
                        <a:t>x = 10</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if x &gt; 5:</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print("x is greater than 5“)</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r>
              <a:tr h="1072592">
                <a:tc>
                  <a:txBody>
                    <a:bodyPr/>
                    <a:lstStyle/>
                    <a:p>
                      <a:pPr algn="ctr"/>
                      <a:r>
                        <a:rPr lang="en-US" sz="1800" b="1" dirty="0">
                          <a:latin typeface="Cambria" panose="02040503050406030204" pitchFamily="18" charset="0"/>
                          <a:ea typeface="Cambria" panose="02040503050406030204" pitchFamily="18" charset="0"/>
                        </a:rPr>
                        <a:t>if-else Statement</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Executes one block if condition is true, another if false.</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a:latin typeface="Cambria" panose="02040503050406030204" pitchFamily="18" charset="0"/>
                          <a:ea typeface="Cambria" panose="02040503050406030204" pitchFamily="18" charset="0"/>
                        </a:rPr>
                        <a:t>Use when you have two choices or outcomes.</a:t>
                      </a:r>
                      <a:endParaRPr lang="en-US" sz="1600" b="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if condition: # true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Block</a:t>
                      </a:r>
                      <a:endParaRPr lang="en-US" sz="1600" b="0" dirty="0">
                        <a:latin typeface="Cambria" panose="02040503050406030204" pitchFamily="18" charset="0"/>
                        <a:ea typeface="Cambria" panose="02040503050406030204" pitchFamily="18" charset="0"/>
                      </a:endParaRPr>
                    </a:p>
                    <a:p>
                      <a:pPr algn="l"/>
                      <a:r>
                        <a:rPr lang="en-US" sz="1600" b="0" dirty="0">
                          <a:latin typeface="Cambria" panose="02040503050406030204" pitchFamily="18" charset="0"/>
                          <a:ea typeface="Cambria" panose="02040503050406030204" pitchFamily="18" charset="0"/>
                        </a:rPr>
                        <a:t>       else:# false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Block</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600" b="0" dirty="0">
                          <a:latin typeface="Cambria" panose="02040503050406030204" pitchFamily="18" charset="0"/>
                          <a:ea typeface="Cambria" panose="02040503050406030204" pitchFamily="18" charset="0"/>
                        </a:rPr>
                        <a:t>x = 3</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if x &gt; 5:</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print("x is greater than 5")</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else: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print("x is 5 or less")</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r>
              <a:tr h="1571055">
                <a:tc>
                  <a:txBody>
                    <a:bodyPr/>
                    <a:lstStyle/>
                    <a:p>
                      <a:pPr algn="ctr"/>
                      <a:r>
                        <a:rPr lang="en-US" sz="1800" b="1" dirty="0">
                          <a:latin typeface="Cambria" panose="02040503050406030204" pitchFamily="18" charset="0"/>
                          <a:ea typeface="Cambria" panose="02040503050406030204" pitchFamily="18" charset="0"/>
                        </a:rPr>
                        <a:t>if-</a:t>
                      </a:r>
                      <a:r>
                        <a:rPr lang="en-US" sz="1800" b="1" dirty="0" err="1">
                          <a:latin typeface="Cambria" panose="02040503050406030204" pitchFamily="18" charset="0"/>
                          <a:ea typeface="Cambria" panose="02040503050406030204" pitchFamily="18" charset="0"/>
                        </a:rPr>
                        <a:t>elif</a:t>
                      </a:r>
                      <a:r>
                        <a:rPr lang="en-US" sz="1800" b="1" dirty="0">
                          <a:latin typeface="Cambria" panose="02040503050406030204" pitchFamily="18" charset="0"/>
                          <a:ea typeface="Cambria" panose="02040503050406030204" pitchFamily="18" charset="0"/>
                        </a:rPr>
                        <a:t>-else Statement</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Checks multiple conditions. First true one runs; else runs if none are true.</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checking three or more conditions.</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if condition1: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block1</a:t>
                      </a:r>
                      <a:endParaRPr lang="en-US" sz="1600" b="0" dirty="0">
                        <a:latin typeface="Cambria" panose="02040503050406030204" pitchFamily="18" charset="0"/>
                        <a:ea typeface="Cambria" panose="02040503050406030204" pitchFamily="18" charset="0"/>
                      </a:endParaRPr>
                    </a:p>
                    <a:p>
                      <a:pPr algn="ctr"/>
                      <a:r>
                        <a:rPr lang="en-US" sz="1600" b="0" dirty="0" err="1">
                          <a:latin typeface="Cambria" panose="02040503050406030204" pitchFamily="18" charset="0"/>
                          <a:ea typeface="Cambria" panose="02040503050406030204" pitchFamily="18" charset="0"/>
                        </a:rPr>
                        <a:t>elif</a:t>
                      </a:r>
                      <a:r>
                        <a:rPr lang="en-US" sz="1600" b="0" dirty="0">
                          <a:latin typeface="Cambria" panose="02040503050406030204" pitchFamily="18" charset="0"/>
                          <a:ea typeface="Cambria" panose="02040503050406030204" pitchFamily="18" charset="0"/>
                        </a:rPr>
                        <a:t> condition2: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block2</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else: #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block3</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4">
                        <a:lumMod val="60000"/>
                        <a:lumOff val="40000"/>
                      </a:schemeClr>
                    </a:solidFill>
                  </a:tcPr>
                </a:tc>
                <a:tc>
                  <a:txBody>
                    <a:bodyPr/>
                    <a:lstStyle/>
                    <a:p>
                      <a:pPr algn="ctr"/>
                      <a:r>
                        <a:rPr lang="pt-BR" sz="1600" b="0" dirty="0">
                          <a:latin typeface="Cambria" panose="02040503050406030204" pitchFamily="18" charset="0"/>
                          <a:ea typeface="Cambria" panose="02040503050406030204" pitchFamily="18" charset="0"/>
                        </a:rPr>
                        <a:t>x = 0</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if x &gt; 0:</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 print("Positive")</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elif x == 0:</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 print("Zero")</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else:</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 print("Negative")</a:t>
                      </a:r>
                      <a:endParaRPr lang="pt-BR"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r>
              <a:tr h="1826727">
                <a:tc>
                  <a:txBody>
                    <a:bodyPr/>
                    <a:lstStyle/>
                    <a:p>
                      <a:pPr algn="ctr"/>
                      <a:r>
                        <a:rPr lang="en-US" sz="1800" b="1" dirty="0">
                          <a:latin typeface="Cambria" panose="02040503050406030204" pitchFamily="18" charset="0"/>
                          <a:ea typeface="Cambria" panose="02040503050406030204" pitchFamily="18" charset="0"/>
                        </a:rPr>
                        <a:t>Nested if-else Statement</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One if or else contains another if-else inside.</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decisions depend on another condition.</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l"/>
                      <a:r>
                        <a:rPr lang="en-US" sz="1600" b="0" dirty="0">
                          <a:latin typeface="Cambria" panose="02040503050406030204" pitchFamily="18" charset="0"/>
                          <a:ea typeface="Cambria" panose="02040503050406030204" pitchFamily="18" charset="0"/>
                        </a:rPr>
                        <a:t>       if condition1:</a:t>
                      </a:r>
                      <a:endParaRPr lang="en-US" sz="1600" b="0" dirty="0">
                        <a:latin typeface="Cambria" panose="02040503050406030204" pitchFamily="18" charset="0"/>
                        <a:ea typeface="Cambria" panose="02040503050406030204" pitchFamily="18" charset="0"/>
                      </a:endParaRPr>
                    </a:p>
                    <a:p>
                      <a:pPr algn="l"/>
                      <a:r>
                        <a:rPr lang="en-US" sz="1600" b="0" dirty="0">
                          <a:latin typeface="Cambria" panose="02040503050406030204" pitchFamily="18" charset="0"/>
                          <a:ea typeface="Cambria" panose="02040503050406030204" pitchFamily="18" charset="0"/>
                        </a:rPr>
                        <a:t>       if condition2:</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block</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else: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 block</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else: </a:t>
                      </a:r>
                      <a:endParaRPr lang="en-US" sz="1600" b="0" dirty="0">
                        <a:latin typeface="Cambria" panose="02040503050406030204" pitchFamily="18" charset="0"/>
                        <a:ea typeface="Cambria" panose="02040503050406030204" pitchFamily="18" charset="0"/>
                      </a:endParaRPr>
                    </a:p>
                    <a:p>
                      <a:pPr algn="ctr"/>
                      <a:r>
                        <a:rPr lang="en-US" sz="1600" b="0">
                          <a:latin typeface="Cambria" panose="02040503050406030204" pitchFamily="18" charset="0"/>
                          <a:ea typeface="Cambria" panose="02040503050406030204" pitchFamily="18" charset="0"/>
                        </a:rPr>
                        <a:t># block</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x = 15</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if x &gt; 10:</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if x &lt; 20:</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print("x is between 10 and 20") else: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print("x is 20 or more")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else: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print("x is 10 or less")</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633" y="136838"/>
            <a:ext cx="11263980" cy="450303"/>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Assignment On Decision Making Statement</a:t>
            </a: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240633" y="804139"/>
            <a:ext cx="1184869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defTabSz="914400" rtl="0" eaLnBrk="0" fontAlgn="base" latinLnBrk="0" hangingPunct="0">
              <a:lnSpc>
                <a:spcPct val="100000"/>
              </a:lnSpc>
              <a:spcBef>
                <a:spcPct val="0"/>
              </a:spcBef>
              <a:spcAft>
                <a:spcPct val="0"/>
              </a:spcAft>
              <a:buClrTx/>
              <a:buSzTx/>
              <a:buFontTx/>
              <a:buAutoNum type="arabicPeriod"/>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Even or Odd Number</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Python program that takes a number as input and checks whether it is even or odd using an if statement.</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Find the Largest of Two Numbers</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to accept two numbers from the user and use an if-else statement to print the largest number.</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Eligibility to Vote</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that asks the user to enter their age and uses if-else to determine if they are eligible to vote (age ≥ 18).</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4"/>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Grade Calculation Based on Marks</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that takes marks (0 to 100) as input and uses if-</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elif</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-else to print the grade:</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90–100</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 75–89</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 60–74</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 40–59</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 below 40</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5"/>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if a Number is Positive, Negative, or Zero</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Python program that checks whether a given number is positive, negative, or zero using if-</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elif</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-else.</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8008" y="250257"/>
            <a:ext cx="11781323" cy="6535554"/>
          </a:xfrm>
        </p:spPr>
        <p:txBody>
          <a:bodyPr>
            <a:noAutofit/>
          </a:bodyPr>
          <a:lstStyle/>
          <a:p>
            <a:pPr marL="0" marR="0" lvl="0" indent="0" defTabSz="914400" rtl="0" eaLnBrk="0" fontAlgn="base" latinLnBrk="0" hangingPunct="0">
              <a:lnSpc>
                <a:spcPct val="100000"/>
              </a:lnSpc>
              <a:spcBef>
                <a:spcPct val="0"/>
              </a:spcBef>
              <a:spcAft>
                <a:spcPct val="0"/>
              </a:spcAft>
              <a:buClrTx/>
              <a:buSzTx/>
              <a:buFontTx/>
              <a:buAutoNum type="arabicPeriod" startAt="6"/>
            </a:pPr>
            <a:r>
              <a:rPr kumimoji="0" lang="en-US" altLang="en-US" sz="1800" b="1" i="0" u="none" strike="noStrike" cap="none" normalizeH="0" baseline="0" dirty="0">
                <a:ln>
                  <a:noFill/>
                </a:ln>
                <a:solidFill>
                  <a:schemeClr val="tx1"/>
                </a:solidFill>
                <a:effectLst/>
                <a:latin typeface="Arial" panose="020B0604020202020204" pitchFamily="34" charset="0"/>
              </a:rPr>
              <a:t>Check if a Character is a Vowel or Consonant</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Write a program to input a character and check whether it is a vowel or consonant using </a:t>
            </a:r>
            <a:r>
              <a:rPr kumimoji="0" lang="en-US" altLang="en-US" sz="1800" i="0" u="none" strike="noStrike" cap="none" normalizeH="0" baseline="0" dirty="0">
                <a:ln>
                  <a:noFill/>
                </a:ln>
                <a:solidFill>
                  <a:schemeClr val="tx1"/>
                </a:solidFill>
                <a:effectLst/>
                <a:latin typeface="Arial Unicode MS"/>
              </a:rPr>
              <a:t>if-else</a:t>
            </a:r>
            <a:r>
              <a:rPr kumimoji="0" lang="en-US" altLang="en-US" sz="1800" i="0" u="none" strike="noStrike" cap="none" normalizeH="0" baseline="0" dirty="0">
                <a:ln>
                  <a:noFill/>
                </a:ln>
                <a:solidFill>
                  <a:schemeClr val="tx1"/>
                </a:solidFill>
                <a:effectLst/>
              </a:rPr>
              <a:t>.</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7"/>
            </a:pPr>
            <a:r>
              <a:rPr kumimoji="0" lang="en-US" altLang="en-US" sz="1800" b="1" i="0" u="none" strike="noStrike" cap="none" normalizeH="0" baseline="0" dirty="0">
                <a:ln>
                  <a:noFill/>
                </a:ln>
                <a:solidFill>
                  <a:schemeClr val="tx1"/>
                </a:solidFill>
                <a:effectLst/>
                <a:latin typeface="Arial" panose="020B0604020202020204" pitchFamily="34" charset="0"/>
              </a:rPr>
              <a:t>Find the Largest Among Three Numbers</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Write a Python program that takes three numbers as input and uses </a:t>
            </a:r>
            <a:r>
              <a:rPr kumimoji="0" lang="en-US" altLang="en-US" sz="1800" i="0" u="none" strike="noStrike" cap="none" normalizeH="0" baseline="0" dirty="0">
                <a:ln>
                  <a:noFill/>
                </a:ln>
                <a:solidFill>
                  <a:schemeClr val="tx1"/>
                </a:solidFill>
                <a:effectLst/>
                <a:latin typeface="Arial Unicode MS"/>
              </a:rPr>
              <a:t>if-</a:t>
            </a:r>
            <a:r>
              <a:rPr kumimoji="0" lang="en-US" altLang="en-US" sz="1800" i="0" u="none" strike="noStrike" cap="none" normalizeH="0" baseline="0" dirty="0" err="1">
                <a:ln>
                  <a:noFill/>
                </a:ln>
                <a:solidFill>
                  <a:schemeClr val="tx1"/>
                </a:solidFill>
                <a:effectLst/>
                <a:latin typeface="Arial Unicode MS"/>
              </a:rPr>
              <a:t>elif</a:t>
            </a:r>
            <a:r>
              <a:rPr kumimoji="0" lang="en-US" altLang="en-US" sz="1800" i="0" u="none" strike="noStrike" cap="none" normalizeH="0" baseline="0" dirty="0">
                <a:ln>
                  <a:noFill/>
                </a:ln>
                <a:solidFill>
                  <a:schemeClr val="tx1"/>
                </a:solidFill>
                <a:effectLst/>
                <a:latin typeface="Arial Unicode MS"/>
              </a:rPr>
              <a:t>-else</a:t>
            </a:r>
            <a:r>
              <a:rPr kumimoji="0" lang="en-US" altLang="en-US" sz="1800" i="0" u="none" strike="noStrike" cap="none" normalizeH="0" baseline="0" dirty="0">
                <a:ln>
                  <a:noFill/>
                </a:ln>
                <a:solidFill>
                  <a:schemeClr val="tx1"/>
                </a:solidFill>
                <a:effectLst/>
              </a:rPr>
              <a:t> to find and print the largest number.</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8"/>
            </a:pPr>
            <a:r>
              <a:rPr kumimoji="0" lang="en-US" altLang="en-US" sz="1800" b="1" i="0" u="none" strike="noStrike" cap="none" normalizeH="0" baseline="0" dirty="0">
                <a:ln>
                  <a:noFill/>
                </a:ln>
                <a:solidFill>
                  <a:schemeClr val="tx1"/>
                </a:solidFill>
                <a:effectLst/>
                <a:latin typeface="Arial" panose="020B0604020202020204" pitchFamily="34" charset="0"/>
              </a:rPr>
              <a:t>Check Divisibility by 3 and 5</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Write a program that checks whether a number is divisible by both 3 and 5 using a single </a:t>
            </a:r>
            <a:r>
              <a:rPr kumimoji="0" lang="en-US" altLang="en-US" sz="1800" i="0" u="none" strike="noStrike" cap="none" normalizeH="0" baseline="0" dirty="0">
                <a:ln>
                  <a:noFill/>
                </a:ln>
                <a:solidFill>
                  <a:schemeClr val="tx1"/>
                </a:solidFill>
                <a:effectLst/>
                <a:latin typeface="Arial Unicode MS"/>
              </a:rPr>
              <a:t>if</a:t>
            </a:r>
            <a:r>
              <a:rPr kumimoji="0" lang="en-US" altLang="en-US" sz="1800" i="0" u="none" strike="noStrike" cap="none" normalizeH="0" baseline="0" dirty="0">
                <a:ln>
                  <a:noFill/>
                </a:ln>
                <a:solidFill>
                  <a:schemeClr val="tx1"/>
                </a:solidFill>
                <a:effectLst/>
              </a:rPr>
              <a:t> statement with logical operators.</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9"/>
            </a:pPr>
            <a:r>
              <a:rPr kumimoji="0" lang="en-US" altLang="en-US" sz="1800" b="1" i="0" u="none" strike="noStrike" cap="none" normalizeH="0" baseline="0" dirty="0">
                <a:ln>
                  <a:noFill/>
                </a:ln>
                <a:solidFill>
                  <a:schemeClr val="tx1"/>
                </a:solidFill>
                <a:effectLst/>
                <a:latin typeface="Arial" panose="020B0604020202020204" pitchFamily="34" charset="0"/>
              </a:rPr>
              <a:t>Nested </a:t>
            </a:r>
            <a:r>
              <a:rPr kumimoji="0" lang="en-US" altLang="en-US" sz="1800" b="1" i="0" u="none" strike="noStrike" cap="none" normalizeH="0" baseline="0" dirty="0">
                <a:ln>
                  <a:noFill/>
                </a:ln>
                <a:solidFill>
                  <a:schemeClr val="tx1"/>
                </a:solidFill>
                <a:effectLst/>
                <a:latin typeface="Arial Unicode MS"/>
              </a:rPr>
              <a:t>if-else</a:t>
            </a:r>
            <a:r>
              <a:rPr kumimoji="0" lang="en-US" altLang="en-US" sz="1800" b="1" i="0" u="none" strike="noStrike" cap="none" normalizeH="0" baseline="0" dirty="0">
                <a:ln>
                  <a:noFill/>
                </a:ln>
                <a:solidFill>
                  <a:schemeClr val="tx1"/>
                </a:solidFill>
                <a:effectLst/>
              </a:rPr>
              <a:t>: Age and Gender Check</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Write a program that checks if a person is eligible for a job:</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1200" i="0" u="none" strike="noStrike" cap="none" normalizeH="0" baseline="0" dirty="0">
                <a:ln>
                  <a:noFill/>
                </a:ln>
                <a:solidFill>
                  <a:schemeClr val="tx1"/>
                </a:solidFill>
                <a:effectLst/>
                <a:latin typeface="Arial" panose="020B0604020202020204" pitchFamily="34" charset="0"/>
              </a:rPr>
              <a:t>Age must be above 18</a:t>
            </a:r>
            <a:endParaRPr kumimoji="0" lang="en-US" altLang="en-US" sz="120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1200" i="0" u="none" strike="noStrike" cap="none" normalizeH="0" baseline="0" dirty="0">
                <a:ln>
                  <a:noFill/>
                </a:ln>
                <a:solidFill>
                  <a:schemeClr val="tx1"/>
                </a:solidFill>
                <a:effectLst/>
                <a:latin typeface="Arial" panose="020B0604020202020204" pitchFamily="34" charset="0"/>
              </a:rPr>
              <a:t>If age &gt; 18, then check gender:</a:t>
            </a:r>
            <a:endParaRPr kumimoji="0" lang="en-US" altLang="en-US" sz="1200" i="0" u="none" strike="noStrike" cap="none" normalizeH="0" baseline="0" dirty="0">
              <a:ln>
                <a:noFill/>
              </a:ln>
              <a:solidFill>
                <a:schemeClr val="tx1"/>
              </a:solidFill>
              <a:effectLst/>
              <a:latin typeface="Arial" panose="020B0604020202020204" pitchFamily="34" charset="0"/>
            </a:endParaRPr>
          </a:p>
          <a:p>
            <a:pPr marL="914400" marR="0" lvl="2" indent="0" defTabSz="914400" rtl="0" eaLnBrk="0" fontAlgn="base" latinLnBrk="0" hangingPunct="0">
              <a:lnSpc>
                <a:spcPct val="100000"/>
              </a:lnSpc>
              <a:spcBef>
                <a:spcPct val="0"/>
              </a:spcBef>
              <a:spcAft>
                <a:spcPct val="0"/>
              </a:spcAft>
              <a:buClrTx/>
              <a:buSzTx/>
              <a:buFontTx/>
              <a:buChar char="•"/>
            </a:pPr>
            <a:r>
              <a:rPr kumimoji="0" lang="en-US" altLang="en-US" sz="1200" i="0" u="none" strike="noStrike" cap="none" normalizeH="0" baseline="0" dirty="0">
                <a:ln>
                  <a:noFill/>
                </a:ln>
                <a:solidFill>
                  <a:schemeClr val="tx1"/>
                </a:solidFill>
                <a:effectLst/>
                <a:latin typeface="Arial" panose="020B0604020202020204" pitchFamily="34" charset="0"/>
              </a:rPr>
              <a:t>If male → eligible</a:t>
            </a:r>
            <a:endParaRPr kumimoji="0" lang="en-US" altLang="en-US" sz="1200" i="0" u="none" strike="noStrike" cap="none" normalizeH="0" baseline="0" dirty="0">
              <a:ln>
                <a:noFill/>
              </a:ln>
              <a:solidFill>
                <a:schemeClr val="tx1"/>
              </a:solidFill>
              <a:effectLst/>
              <a:latin typeface="Arial" panose="020B0604020202020204" pitchFamily="34" charset="0"/>
            </a:endParaRPr>
          </a:p>
          <a:p>
            <a:pPr marL="914400" marR="0" lvl="2" indent="0" defTabSz="914400" rtl="0" eaLnBrk="0" fontAlgn="base" latinLnBrk="0" hangingPunct="0">
              <a:lnSpc>
                <a:spcPct val="100000"/>
              </a:lnSpc>
              <a:spcBef>
                <a:spcPct val="0"/>
              </a:spcBef>
              <a:spcAft>
                <a:spcPct val="0"/>
              </a:spcAft>
              <a:buClrTx/>
              <a:buSzTx/>
              <a:buFontTx/>
              <a:buChar char="•"/>
            </a:pPr>
            <a:r>
              <a:rPr kumimoji="0" lang="en-US" altLang="en-US" sz="1200" i="0" u="none" strike="noStrike" cap="none" normalizeH="0" baseline="0" dirty="0">
                <a:ln>
                  <a:noFill/>
                </a:ln>
                <a:solidFill>
                  <a:schemeClr val="tx1"/>
                </a:solidFill>
                <a:effectLst/>
                <a:latin typeface="Arial" panose="020B0604020202020204" pitchFamily="34" charset="0"/>
              </a:rPr>
              <a:t>If female → not eligible</a:t>
            </a:r>
            <a:br>
              <a:rPr kumimoji="0" lang="en-US" altLang="en-US" sz="1200" i="0" u="none" strike="noStrike" cap="none" normalizeH="0" baseline="0" dirty="0">
                <a:ln>
                  <a:noFill/>
                </a:ln>
                <a:solidFill>
                  <a:schemeClr val="tx1"/>
                </a:solidFill>
                <a:effectLst/>
                <a:latin typeface="Arial" panose="020B0604020202020204" pitchFamily="34" charset="0"/>
              </a:rPr>
            </a:br>
            <a:r>
              <a:rPr kumimoji="0" lang="en-US" altLang="en-US" sz="1200" i="0" u="none" strike="noStrike" cap="none" normalizeH="0" baseline="0" dirty="0">
                <a:ln>
                  <a:noFill/>
                </a:ln>
                <a:solidFill>
                  <a:schemeClr val="tx1"/>
                </a:solidFill>
                <a:effectLst/>
                <a:latin typeface="Arial" panose="020B0604020202020204" pitchFamily="34" charset="0"/>
              </a:rPr>
              <a:t>Use nested </a:t>
            </a:r>
            <a:r>
              <a:rPr kumimoji="0" lang="en-US" altLang="en-US" sz="1200" i="0" u="none" strike="noStrike" cap="none" normalizeH="0" baseline="0" dirty="0">
                <a:ln>
                  <a:noFill/>
                </a:ln>
                <a:solidFill>
                  <a:schemeClr val="tx1"/>
                </a:solidFill>
                <a:effectLst/>
                <a:latin typeface="Arial Unicode MS"/>
              </a:rPr>
              <a:t>if-else</a:t>
            </a:r>
            <a:r>
              <a:rPr kumimoji="0" lang="en-US" altLang="en-US" sz="1200" i="0" u="none" strike="noStrike" cap="none" normalizeH="0" baseline="0" dirty="0">
                <a:ln>
                  <a:noFill/>
                </a:ln>
                <a:solidFill>
                  <a:schemeClr val="tx1"/>
                </a:solidFill>
                <a:effectLst/>
              </a:rPr>
              <a:t> statements.</a:t>
            </a:r>
            <a:endParaRPr kumimoji="0" lang="en-US" altLang="en-US" sz="1200" i="0" u="none" strike="noStrike" cap="none" normalizeH="0" baseline="0" dirty="0">
              <a:ln>
                <a:noFill/>
              </a:ln>
              <a:solidFill>
                <a:schemeClr val="tx1"/>
              </a:solidFill>
              <a:effectLst/>
            </a:endParaRPr>
          </a:p>
          <a:p>
            <a:pPr marL="914400" marR="0" lvl="2" indent="0" defTabSz="914400" rtl="0" eaLnBrk="0" fontAlgn="base" latinLnBrk="0" hangingPunct="0">
              <a:lnSpc>
                <a:spcPct val="100000"/>
              </a:lnSpc>
              <a:spcBef>
                <a:spcPct val="0"/>
              </a:spcBef>
              <a:spcAft>
                <a:spcPct val="0"/>
              </a:spcAft>
              <a:buClrTx/>
              <a:buSzTx/>
              <a:buFontTx/>
              <a:buChar char="•"/>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10"/>
            </a:pPr>
            <a:r>
              <a:rPr kumimoji="0" lang="en-US" altLang="en-US" sz="1800" b="1" i="0" u="none" strike="noStrike" cap="none" normalizeH="0" baseline="0" dirty="0">
                <a:ln>
                  <a:noFill/>
                </a:ln>
                <a:solidFill>
                  <a:schemeClr val="tx1"/>
                </a:solidFill>
                <a:effectLst/>
                <a:latin typeface="Arial" panose="020B0604020202020204" pitchFamily="34" charset="0"/>
              </a:rPr>
              <a:t>Electricity Bill Calculator (Simple Slab System)</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Write a program to input the number of electricity units consumed and calculate the bill using the following rules:</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Up to 100 units: ₹5/unit</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101–200 units: ₹7/unit</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More than 200 units: ₹10/unit</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Use </a:t>
            </a:r>
            <a:r>
              <a:rPr kumimoji="0" lang="en-US" altLang="en-US" sz="1800" i="0" u="none" strike="noStrike" cap="none" normalizeH="0" baseline="0" dirty="0">
                <a:ln>
                  <a:noFill/>
                </a:ln>
                <a:solidFill>
                  <a:schemeClr val="tx1"/>
                </a:solidFill>
                <a:effectLst/>
                <a:latin typeface="Arial Unicode MS"/>
              </a:rPr>
              <a:t>if-</a:t>
            </a:r>
            <a:r>
              <a:rPr kumimoji="0" lang="en-US" altLang="en-US" sz="1800" i="0" u="none" strike="noStrike" cap="none" normalizeH="0" baseline="0" dirty="0" err="1">
                <a:ln>
                  <a:noFill/>
                </a:ln>
                <a:solidFill>
                  <a:schemeClr val="tx1"/>
                </a:solidFill>
                <a:effectLst/>
                <a:latin typeface="Arial Unicode MS"/>
              </a:rPr>
              <a:t>elif</a:t>
            </a:r>
            <a:r>
              <a:rPr kumimoji="0" lang="en-US" altLang="en-US" sz="1800" i="0" u="none" strike="noStrike" cap="none" normalizeH="0" baseline="0" dirty="0">
                <a:ln>
                  <a:noFill/>
                </a:ln>
                <a:solidFill>
                  <a:schemeClr val="tx1"/>
                </a:solidFill>
                <a:effectLst/>
                <a:latin typeface="Arial Unicode MS"/>
              </a:rPr>
              <a:t>-else</a:t>
            </a:r>
            <a:r>
              <a:rPr kumimoji="0" lang="en-US" altLang="en-US" sz="1800" i="0" u="none" strike="noStrike" cap="none" normalizeH="0" baseline="0" dirty="0">
                <a:ln>
                  <a:noFill/>
                </a:ln>
                <a:solidFill>
                  <a:schemeClr val="tx1"/>
                </a:solidFill>
                <a:effectLst/>
              </a:rPr>
              <a:t> to solve.</a:t>
            </a:r>
            <a:endParaRPr kumimoji="0" lang="en-US" altLang="en-US" sz="1800" i="0" u="none" strike="noStrike" cap="none" normalizeH="0" baseline="0" dirty="0">
              <a:ln>
                <a:noFill/>
              </a:ln>
              <a:solidFill>
                <a:schemeClr val="tx1"/>
              </a:solidFill>
              <a:effectLst/>
              <a:latin typeface="Arial" panose="020B0604020202020204" pitchFamily="34" charset="0"/>
            </a:endParaRPr>
          </a:p>
          <a:p>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105" y="159087"/>
            <a:ext cx="10888595" cy="529390"/>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Looping Statements</a:t>
            </a: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218662" y="1430740"/>
            <a:ext cx="11754675" cy="370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looping statement</a:t>
            </a:r>
            <a:r>
              <a:rPr kumimoji="0" lang="en-US" altLang="en-US" sz="1800" b="0" i="0" u="none" strike="noStrike" cap="none" normalizeH="0" baseline="0" dirty="0">
                <a:ln>
                  <a:noFill/>
                </a:ln>
                <a:solidFill>
                  <a:schemeClr val="tx1"/>
                </a:solidFill>
                <a:effectLst/>
                <a:latin typeface="Arial" panose="020B0604020202020204" pitchFamily="34" charset="0"/>
              </a:rPr>
              <a:t> allows you to </a:t>
            </a:r>
            <a:r>
              <a:rPr kumimoji="0" lang="en-US" altLang="en-US" sz="1800" b="1" i="0" u="none" strike="noStrike" cap="none" normalizeH="0" baseline="0" dirty="0">
                <a:ln>
                  <a:noFill/>
                </a:ln>
                <a:solidFill>
                  <a:schemeClr val="tx1"/>
                </a:solidFill>
                <a:effectLst/>
                <a:latin typeface="Arial" panose="020B0604020202020204" pitchFamily="34" charset="0"/>
              </a:rPr>
              <a:t>execute a block of code repeatedly</a:t>
            </a:r>
            <a:r>
              <a:rPr kumimoji="0" lang="en-US" altLang="en-US" sz="1800" b="0" i="0" u="none" strike="noStrike" cap="none" normalizeH="0" baseline="0" dirty="0">
                <a:ln>
                  <a:noFill/>
                </a:ln>
                <a:solidFill>
                  <a:schemeClr val="tx1"/>
                </a:solidFill>
                <a:effectLst/>
                <a:latin typeface="Arial" panose="020B0604020202020204" pitchFamily="34" charset="0"/>
              </a:rPr>
              <a:t> based on a condition.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Looping statements are used to execute a block of code repeatedly until a specific condition is met.</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pPr>
            <a:r>
              <a:rPr kumimoji="0" lang="en-US" altLang="en-US" sz="1800" i="0" u="none" strike="noStrike" cap="none" normalizeH="0" baseline="0" dirty="0">
                <a:ln>
                  <a:noFill/>
                </a:ln>
                <a:solidFill>
                  <a:schemeClr val="tx1"/>
                </a:solidFill>
                <a:effectLst/>
                <a:latin typeface="Arial" panose="020B0604020202020204" pitchFamily="34" charset="0"/>
              </a:rPr>
              <a:t>Python supports two main types of loops: </a:t>
            </a:r>
            <a:r>
              <a:rPr kumimoji="0" lang="en-US" altLang="en-US" sz="1800" i="0" u="none" strike="noStrike" cap="none" normalizeH="0" baseline="0" dirty="0">
                <a:ln>
                  <a:noFill/>
                </a:ln>
                <a:solidFill>
                  <a:schemeClr val="tx1"/>
                </a:solidFill>
                <a:effectLst/>
                <a:latin typeface="Arial Unicode MS"/>
              </a:rPr>
              <a:t>for</a:t>
            </a:r>
            <a:r>
              <a:rPr kumimoji="0" lang="en-US" altLang="en-US" sz="1800" i="0" u="none" strike="noStrike" cap="none" normalizeH="0" baseline="0" dirty="0">
                <a:ln>
                  <a:noFill/>
                </a:ln>
                <a:solidFill>
                  <a:schemeClr val="tx1"/>
                </a:solidFill>
                <a:effectLst/>
              </a:rPr>
              <a:t> loops and </a:t>
            </a:r>
            <a:r>
              <a:rPr kumimoji="0" lang="en-US" altLang="en-US" sz="1800" i="0" u="none" strike="noStrike" cap="none" normalizeH="0" baseline="0" dirty="0">
                <a:ln>
                  <a:noFill/>
                </a:ln>
                <a:solidFill>
                  <a:schemeClr val="tx1"/>
                </a:solidFill>
                <a:effectLst/>
                <a:latin typeface="Arial Unicode MS"/>
              </a:rPr>
              <a:t>while</a:t>
            </a:r>
            <a:r>
              <a:rPr kumimoji="0" lang="en-US" altLang="en-US" sz="1800" i="0" u="none" strike="noStrike" cap="none" normalizeH="0" baseline="0" dirty="0">
                <a:ln>
                  <a:noFill/>
                </a:ln>
                <a:solidFill>
                  <a:schemeClr val="tx1"/>
                </a:solidFill>
                <a:effectLst/>
              </a:rPr>
              <a:t> loops.</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3"/>
            </a:pPr>
            <a:r>
              <a:rPr kumimoji="0" lang="en-US" altLang="en-US" sz="1800" i="0" u="none" strike="noStrike" cap="none" normalizeH="0" baseline="0" dirty="0">
                <a:ln>
                  <a:noFill/>
                </a:ln>
                <a:solidFill>
                  <a:schemeClr val="tx1"/>
                </a:solidFill>
                <a:effectLst/>
                <a:latin typeface="Arial" panose="020B0604020202020204" pitchFamily="34" charset="0"/>
              </a:rPr>
              <a:t>The </a:t>
            </a:r>
            <a:r>
              <a:rPr kumimoji="0" lang="en-US" altLang="en-US" sz="1800" i="0" u="none" strike="noStrike" cap="none" normalizeH="0" baseline="0" dirty="0">
                <a:ln>
                  <a:noFill/>
                </a:ln>
                <a:solidFill>
                  <a:schemeClr val="tx1"/>
                </a:solidFill>
                <a:effectLst/>
                <a:latin typeface="Arial Unicode MS"/>
              </a:rPr>
              <a:t>for</a:t>
            </a:r>
            <a:r>
              <a:rPr kumimoji="0" lang="en-US" altLang="en-US" sz="1800" i="0" u="none" strike="noStrike" cap="none" normalizeH="0" baseline="0" dirty="0">
                <a:ln>
                  <a:noFill/>
                </a:ln>
                <a:solidFill>
                  <a:schemeClr val="tx1"/>
                </a:solidFill>
                <a:effectLst/>
              </a:rPr>
              <a:t> loop is commonly used to iterate over sequences such as lists, strings, and ranges.</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4"/>
            </a:pPr>
            <a:r>
              <a:rPr kumimoji="0" lang="en-US" altLang="en-US" sz="1800" i="0" u="none" strike="noStrike" cap="none" normalizeH="0" baseline="0" dirty="0">
                <a:ln>
                  <a:noFill/>
                </a:ln>
                <a:solidFill>
                  <a:schemeClr val="tx1"/>
                </a:solidFill>
                <a:effectLst/>
                <a:latin typeface="Arial" panose="020B0604020202020204" pitchFamily="34" charset="0"/>
              </a:rPr>
              <a:t>The </a:t>
            </a:r>
            <a:r>
              <a:rPr kumimoji="0" lang="en-US" altLang="en-US" sz="1800" i="0" u="none" strike="noStrike" cap="none" normalizeH="0" baseline="0" dirty="0">
                <a:ln>
                  <a:noFill/>
                </a:ln>
                <a:solidFill>
                  <a:schemeClr val="tx1"/>
                </a:solidFill>
                <a:effectLst/>
                <a:latin typeface="Arial Unicode MS"/>
              </a:rPr>
              <a:t>while</a:t>
            </a:r>
            <a:r>
              <a:rPr kumimoji="0" lang="en-US" altLang="en-US" sz="1800" i="0" u="none" strike="noStrike" cap="none" normalizeH="0" baseline="0" dirty="0">
                <a:ln>
                  <a:noFill/>
                </a:ln>
                <a:solidFill>
                  <a:schemeClr val="tx1"/>
                </a:solidFill>
                <a:effectLst/>
              </a:rPr>
              <a:t> loop continues to execute as long as the given condition remains </a:t>
            </a:r>
            <a:r>
              <a:rPr kumimoji="0" lang="en-US" altLang="en-US" sz="1800" i="0" u="none" strike="noStrike" cap="none" normalizeH="0" baseline="0" dirty="0">
                <a:ln>
                  <a:noFill/>
                </a:ln>
                <a:solidFill>
                  <a:schemeClr val="tx1"/>
                </a:solidFill>
                <a:effectLst/>
                <a:latin typeface="Arial Unicode MS"/>
              </a:rPr>
              <a:t>True</a:t>
            </a:r>
            <a:r>
              <a:rPr kumimoji="0" lang="en-US" altLang="en-US" sz="1800" i="0" u="none" strike="noStrike" cap="none" normalizeH="0" baseline="0" dirty="0">
                <a:ln>
                  <a:noFill/>
                </a:ln>
                <a:solidFill>
                  <a:schemeClr val="tx1"/>
                </a:solidFill>
                <a:effectLst/>
              </a:rPr>
              <a:t>.</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5"/>
            </a:pPr>
            <a:r>
              <a:rPr kumimoji="0" lang="en-US" altLang="en-US" sz="1800" i="0" u="none" strike="noStrike" cap="none" normalizeH="0" baseline="0" dirty="0">
                <a:ln>
                  <a:noFill/>
                </a:ln>
                <a:solidFill>
                  <a:schemeClr val="tx1"/>
                </a:solidFill>
                <a:effectLst/>
                <a:latin typeface="Arial" panose="020B0604020202020204" pitchFamily="34" charset="0"/>
              </a:rPr>
              <a:t>Loop control statements like </a:t>
            </a:r>
            <a:r>
              <a:rPr kumimoji="0" lang="en-US" altLang="en-US" sz="1800" i="0" u="none" strike="noStrike" cap="none" normalizeH="0" baseline="0" dirty="0">
                <a:ln>
                  <a:noFill/>
                </a:ln>
                <a:solidFill>
                  <a:schemeClr val="tx1"/>
                </a:solidFill>
                <a:effectLst/>
                <a:latin typeface="Arial Unicode MS"/>
              </a:rPr>
              <a:t>break</a:t>
            </a:r>
            <a:r>
              <a:rPr kumimoji="0" lang="en-US" altLang="en-US" sz="1800" i="0" u="none" strike="noStrike" cap="none" normalizeH="0" baseline="0" dirty="0">
                <a:ln>
                  <a:noFill/>
                </a:ln>
                <a:solidFill>
                  <a:schemeClr val="tx1"/>
                </a:solidFill>
                <a:effectLst/>
              </a:rPr>
              <a:t>, </a:t>
            </a:r>
            <a:r>
              <a:rPr kumimoji="0" lang="en-US" altLang="en-US" sz="1800" i="0" u="none" strike="noStrike" cap="none" normalizeH="0" baseline="0" dirty="0">
                <a:ln>
                  <a:noFill/>
                </a:ln>
                <a:solidFill>
                  <a:schemeClr val="tx1"/>
                </a:solidFill>
                <a:effectLst/>
                <a:latin typeface="Arial Unicode MS"/>
              </a:rPr>
              <a:t>continue</a:t>
            </a:r>
            <a:r>
              <a:rPr kumimoji="0" lang="en-US" altLang="en-US" sz="1800" i="0" u="none" strike="noStrike" cap="none" normalizeH="0" baseline="0" dirty="0">
                <a:ln>
                  <a:noFill/>
                </a:ln>
                <a:solidFill>
                  <a:schemeClr val="tx1"/>
                </a:solidFill>
                <a:effectLst/>
              </a:rPr>
              <a:t>, and </a:t>
            </a:r>
            <a:r>
              <a:rPr kumimoji="0" lang="en-US" altLang="en-US" sz="1800" i="0" u="none" strike="noStrike" cap="none" normalizeH="0" baseline="0" dirty="0">
                <a:ln>
                  <a:noFill/>
                </a:ln>
                <a:solidFill>
                  <a:schemeClr val="tx1"/>
                </a:solidFill>
                <a:effectLst/>
                <a:latin typeface="Arial Unicode MS"/>
              </a:rPr>
              <a:t>pass</a:t>
            </a:r>
            <a:r>
              <a:rPr kumimoji="0" lang="en-US" altLang="en-US" sz="1800" i="0" u="none" strike="noStrike" cap="none" normalizeH="0" baseline="0" dirty="0">
                <a:ln>
                  <a:noFill/>
                </a:ln>
                <a:solidFill>
                  <a:schemeClr val="tx1"/>
                </a:solidFill>
                <a:effectLst/>
              </a:rPr>
              <a:t> are used to modify the flow of loops.</a:t>
            </a: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1800" b="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Python provides two main types of loops:</a:t>
            </a:r>
            <a:endParaRPr lang="en-US" altLang="en-US" sz="1800" dirty="0">
              <a:solidFill>
                <a:schemeClr val="tx1"/>
              </a:solidFill>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for</a:t>
            </a:r>
            <a:r>
              <a:rPr kumimoji="0" lang="en-US" altLang="en-US" sz="1400" b="0" i="0" u="none" strike="noStrike" cap="none" normalizeH="0" baseline="0" dirty="0">
                <a:ln>
                  <a:noFill/>
                </a:ln>
                <a:solidFill>
                  <a:schemeClr val="tx1"/>
                </a:solidFill>
                <a:effectLst/>
              </a:rPr>
              <a:t> loop</a:t>
            </a:r>
            <a:endParaRPr kumimoji="0" lang="en-US" altLang="en-US" sz="14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pPr>
            <a:r>
              <a:rPr lang="en-US" altLang="en-US" sz="1400" dirty="0">
                <a:solidFill>
                  <a:schemeClr val="tx1"/>
                </a:solidFill>
              </a:rPr>
              <a:t>	</a:t>
            </a:r>
            <a:r>
              <a:rPr kumimoji="0" lang="en-US" altLang="en-US" sz="1400" b="0" i="0" u="none" strike="noStrike" cap="none" normalizeH="0" baseline="0" dirty="0">
                <a:ln>
                  <a:noFill/>
                </a:ln>
                <a:solidFill>
                  <a:schemeClr val="tx1"/>
                </a:solidFill>
                <a:effectLst/>
                <a:latin typeface="Arial Unicode MS"/>
              </a:rPr>
              <a:t>while</a:t>
            </a:r>
            <a:r>
              <a:rPr kumimoji="0" lang="en-US" altLang="en-US" sz="1400" b="0" i="0" u="none" strike="noStrike" cap="none" normalizeH="0" baseline="0" dirty="0">
                <a:ln>
                  <a:noFill/>
                </a:ln>
                <a:solidFill>
                  <a:schemeClr val="tx1"/>
                </a:solidFill>
                <a:effectLst/>
              </a:rPr>
              <a:t> loop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102743" y="98819"/>
            <a:ext cx="106210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a:ln>
                  <a:noFill/>
                </a:ln>
                <a:solidFill>
                  <a:srgbClr val="FF0000"/>
                </a:solidFill>
                <a:effectLst/>
                <a:latin typeface="Arial Unicode MS"/>
              </a:rPr>
              <a:t>range()</a:t>
            </a:r>
            <a:r>
              <a:rPr kumimoji="0" lang="en-US" altLang="en-US" sz="2800" b="1" i="0" u="none" strike="noStrike" cap="none" normalizeH="0" baseline="0" dirty="0">
                <a:ln>
                  <a:noFill/>
                </a:ln>
                <a:solidFill>
                  <a:srgbClr val="FF0000"/>
                </a:solidFill>
                <a:effectLst/>
              </a:rPr>
              <a:t> Function in Python? </a:t>
            </a:r>
            <a:endParaRPr kumimoji="0" lang="en-US" altLang="en-US" sz="2800" b="1" i="0" u="none" strike="noStrike" cap="none" normalizeH="0" baseline="0" dirty="0">
              <a:ln>
                <a:noFill/>
              </a:ln>
              <a:solidFill>
                <a:srgbClr val="FF0000"/>
              </a:solidFill>
              <a:effectLst/>
              <a:latin typeface="Arial" panose="020B0604020202020204" pitchFamily="34" charset="0"/>
            </a:endParaRPr>
          </a:p>
        </p:txBody>
      </p:sp>
      <p:sp>
        <p:nvSpPr>
          <p:cNvPr id="5" name="Rectangle 2"/>
          <p:cNvSpPr>
            <a:spLocks noGrp="1" noChangeArrowheads="1"/>
          </p:cNvSpPr>
          <p:nvPr>
            <p:ph idx="1"/>
          </p:nvPr>
        </p:nvSpPr>
        <p:spPr bwMode="auto">
          <a:xfrm>
            <a:off x="102743" y="588338"/>
            <a:ext cx="11671692"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1" i="0" u="none" strike="noStrike" cap="none" normalizeH="0" baseline="0" dirty="0">
                <a:ln>
                  <a:noFill/>
                </a:ln>
                <a:solidFill>
                  <a:schemeClr val="tx1"/>
                </a:solidFill>
                <a:effectLst/>
                <a:latin typeface="Arial Unicode MS"/>
              </a:rPr>
              <a:t>range()</a:t>
            </a:r>
            <a:r>
              <a:rPr kumimoji="0" lang="en-US" altLang="en-US" sz="2000" b="0" i="0" u="none" strike="noStrike" cap="none" normalizeH="0" baseline="0" dirty="0">
                <a:ln>
                  <a:noFill/>
                </a:ln>
                <a:solidFill>
                  <a:schemeClr val="tx1"/>
                </a:solidFill>
                <a:effectLst/>
              </a:rPr>
              <a:t> function in Python is used to </a:t>
            </a:r>
            <a:r>
              <a:rPr kumimoji="0" lang="en-US" altLang="en-US" sz="2000" b="1" i="0" u="none" strike="noStrike" cap="none" normalizeH="0" baseline="0" dirty="0">
                <a:ln>
                  <a:noFill/>
                </a:ln>
                <a:solidFill>
                  <a:schemeClr val="tx1"/>
                </a:solidFill>
                <a:effectLst/>
                <a:latin typeface="Arial" panose="020B0604020202020204" pitchFamily="34" charset="0"/>
              </a:rPr>
              <a:t>generate a sequence of numbers</a:t>
            </a:r>
            <a:r>
              <a:rPr kumimoji="0" lang="en-US" altLang="en-US" sz="2000" b="0" i="0" u="none" strike="noStrike" cap="none" normalizeH="0" baseline="0" dirty="0">
                <a:ln>
                  <a:noFill/>
                </a:ln>
                <a:solidFill>
                  <a:schemeClr val="tx1"/>
                </a:solidFill>
                <a:effectLst/>
                <a:latin typeface="Arial" panose="020B0604020202020204" pitchFamily="34" charset="0"/>
              </a:rPr>
              <a:t>. It's commonly used in </a:t>
            </a:r>
            <a:r>
              <a:rPr kumimoji="0" lang="en-US" altLang="en-US" sz="2000" b="1" i="0" u="none" strike="noStrike" cap="none" normalizeH="0" baseline="0" dirty="0">
                <a:ln>
                  <a:noFill/>
                </a:ln>
                <a:solidFill>
                  <a:schemeClr val="tx1"/>
                </a:solidFill>
                <a:effectLst/>
                <a:latin typeface="Arial" panose="020B0604020202020204" pitchFamily="34" charset="0"/>
              </a:rPr>
              <a:t>loops</a:t>
            </a:r>
            <a:r>
              <a:rPr kumimoji="0" lang="en-US" altLang="en-US" sz="2000" b="0" i="0" u="none" strike="noStrike" cap="none" normalizeH="0" baseline="0" dirty="0">
                <a:ln>
                  <a:noFill/>
                </a:ln>
                <a:solidFill>
                  <a:schemeClr val="tx1"/>
                </a:solidFill>
                <a:effectLst/>
                <a:latin typeface="Arial" panose="020B0604020202020204" pitchFamily="34" charset="0"/>
              </a:rPr>
              <a:t>, especially </a:t>
            </a:r>
            <a:r>
              <a:rPr kumimoji="0" lang="en-US" altLang="en-US" sz="2000" b="0" i="0" u="none" strike="noStrike" cap="none" normalizeH="0" baseline="0" dirty="0">
                <a:ln>
                  <a:noFill/>
                </a:ln>
                <a:solidFill>
                  <a:schemeClr val="tx1"/>
                </a:solidFill>
                <a:effectLst/>
                <a:latin typeface="Arial Unicode MS"/>
              </a:rPr>
              <a:t>for</a:t>
            </a:r>
            <a:r>
              <a:rPr kumimoji="0" lang="en-US" altLang="en-US" sz="2000" b="0" i="0" u="none" strike="noStrike" cap="none" normalizeH="0" baseline="0" dirty="0">
                <a:ln>
                  <a:noFill/>
                </a:ln>
                <a:solidFill>
                  <a:schemeClr val="tx1"/>
                </a:solidFill>
                <a:effectLst/>
              </a:rPr>
              <a:t> loops, to specify how many times the loop should run or what values to iterate over.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p:cNvGraphicFramePr>
            <a:graphicFrameLocks noGrp="1"/>
          </p:cNvGraphicFramePr>
          <p:nvPr/>
        </p:nvGraphicFramePr>
        <p:xfrm>
          <a:off x="253367" y="2707197"/>
          <a:ext cx="11685266" cy="1463040"/>
        </p:xfrm>
        <a:graphic>
          <a:graphicData uri="http://schemas.openxmlformats.org/drawingml/2006/table">
            <a:tbl>
              <a:tblPr/>
              <a:tblGrid>
                <a:gridCol w="1815226"/>
                <a:gridCol w="6852863"/>
                <a:gridCol w="3017177"/>
              </a:tblGrid>
              <a:tr h="0">
                <a:tc>
                  <a:txBody>
                    <a:bodyPr/>
                    <a:lstStyle/>
                    <a:p>
                      <a:pPr algn="ctr"/>
                      <a:r>
                        <a:rPr lang="en-US" b="1" dirty="0">
                          <a:solidFill>
                            <a:srgbClr val="C00000"/>
                          </a:solidFill>
                        </a:rPr>
                        <a:t>Parameter</a:t>
                      </a:r>
                      <a:endParaRPr lang="en-US" b="1" dirty="0">
                        <a:solidFill>
                          <a:srgbClr val="C00000"/>
                        </a:solidFill>
                      </a:endParaRPr>
                    </a:p>
                  </a:txBody>
                  <a:tcPr anchor="ctr">
                    <a:lnL>
                      <a:noFill/>
                    </a:lnL>
                    <a:lnR>
                      <a:noFill/>
                    </a:lnR>
                    <a:lnT>
                      <a:noFill/>
                    </a:lnT>
                    <a:lnB>
                      <a:noFill/>
                    </a:lnB>
                    <a:solidFill>
                      <a:schemeClr val="accent5">
                        <a:lumMod val="60000"/>
                        <a:lumOff val="40000"/>
                      </a:schemeClr>
                    </a:solidFill>
                  </a:tcPr>
                </a:tc>
                <a:tc>
                  <a:txBody>
                    <a:bodyPr/>
                    <a:lstStyle/>
                    <a:p>
                      <a:pPr algn="ctr"/>
                      <a:r>
                        <a:rPr lang="en-US" b="1">
                          <a:solidFill>
                            <a:srgbClr val="C00000"/>
                          </a:solidFill>
                        </a:rPr>
                        <a:t>Description</a:t>
                      </a:r>
                      <a:endParaRPr lang="en-US" b="1">
                        <a:solidFill>
                          <a:srgbClr val="C00000"/>
                        </a:solidFill>
                      </a:endParaRPr>
                    </a:p>
                  </a:txBody>
                  <a:tcPr anchor="ctr">
                    <a:lnL>
                      <a:noFill/>
                    </a:lnL>
                    <a:lnR>
                      <a:noFill/>
                    </a:lnR>
                    <a:lnT>
                      <a:noFill/>
                    </a:lnT>
                    <a:lnB>
                      <a:noFill/>
                    </a:lnB>
                    <a:solidFill>
                      <a:schemeClr val="accent5">
                        <a:lumMod val="60000"/>
                        <a:lumOff val="40000"/>
                      </a:schemeClr>
                    </a:solidFill>
                  </a:tcPr>
                </a:tc>
                <a:tc>
                  <a:txBody>
                    <a:bodyPr/>
                    <a:lstStyle/>
                    <a:p>
                      <a:pPr algn="ctr"/>
                      <a:r>
                        <a:rPr lang="en-US" b="1" dirty="0">
                          <a:solidFill>
                            <a:srgbClr val="C00000"/>
                          </a:solidFill>
                        </a:rPr>
                        <a:t>Optional/Required</a:t>
                      </a:r>
                      <a:endParaRPr lang="en-US" b="1" dirty="0">
                        <a:solidFill>
                          <a:srgbClr val="C00000"/>
                        </a:solidFill>
                      </a:endParaRPr>
                    </a:p>
                  </a:txBody>
                  <a:tcPr anchor="ctr">
                    <a:lnL>
                      <a:noFill/>
                    </a:lnL>
                    <a:lnR>
                      <a:noFill/>
                    </a:lnR>
                    <a:lnT>
                      <a:noFill/>
                    </a:lnT>
                    <a:lnB>
                      <a:noFill/>
                    </a:lnB>
                    <a:solidFill>
                      <a:schemeClr val="accent5">
                        <a:lumMod val="60000"/>
                        <a:lumOff val="40000"/>
                      </a:schemeClr>
                    </a:solidFill>
                  </a:tcPr>
                </a:tc>
              </a:tr>
              <a:tr h="0">
                <a:tc>
                  <a:txBody>
                    <a:bodyPr/>
                    <a:lstStyle/>
                    <a:p>
                      <a:pPr algn="ctr"/>
                      <a:r>
                        <a:rPr lang="en-US" dirty="0"/>
                        <a:t>start</a:t>
                      </a:r>
                      <a:endParaRPr lang="en-US" dirty="0"/>
                    </a:p>
                  </a:txBody>
                  <a:tcPr anchor="ctr">
                    <a:lnL>
                      <a:noFill/>
                    </a:lnL>
                    <a:lnR>
                      <a:noFill/>
                    </a:lnR>
                    <a:lnT>
                      <a:noFill/>
                    </a:lnT>
                    <a:lnB>
                      <a:noFill/>
                    </a:lnB>
                    <a:solidFill>
                      <a:schemeClr val="accent2">
                        <a:lumMod val="20000"/>
                        <a:lumOff val="80000"/>
                      </a:schemeClr>
                    </a:solidFill>
                  </a:tcPr>
                </a:tc>
                <a:tc>
                  <a:txBody>
                    <a:bodyPr/>
                    <a:lstStyle/>
                    <a:p>
                      <a:pPr algn="ctr"/>
                      <a:r>
                        <a:rPr lang="en-US" dirty="0"/>
                        <a:t>Starting number of the sequence</a:t>
                      </a:r>
                      <a:endParaRPr lang="en-US" dirty="0"/>
                    </a:p>
                  </a:txBody>
                  <a:tcPr anchor="ctr">
                    <a:lnL>
                      <a:noFill/>
                    </a:lnL>
                    <a:lnR>
                      <a:noFill/>
                    </a:lnR>
                    <a:lnT>
                      <a:noFill/>
                    </a:lnT>
                    <a:lnB>
                      <a:noFill/>
                    </a:lnB>
                    <a:solidFill>
                      <a:schemeClr val="accent2">
                        <a:lumMod val="20000"/>
                        <a:lumOff val="80000"/>
                      </a:schemeClr>
                    </a:solidFill>
                  </a:tcPr>
                </a:tc>
                <a:tc>
                  <a:txBody>
                    <a:bodyPr/>
                    <a:lstStyle/>
                    <a:p>
                      <a:pPr algn="ctr"/>
                      <a:r>
                        <a:rPr lang="en-US" dirty="0"/>
                        <a:t>Optional (default is 0)</a:t>
                      </a:r>
                      <a:endParaRPr lang="en-US" dirty="0"/>
                    </a:p>
                  </a:txBody>
                  <a:tcPr anchor="ctr">
                    <a:lnL>
                      <a:noFill/>
                    </a:lnL>
                    <a:lnR>
                      <a:noFill/>
                    </a:lnR>
                    <a:lnT>
                      <a:noFill/>
                    </a:lnT>
                    <a:lnB>
                      <a:noFill/>
                    </a:lnB>
                    <a:solidFill>
                      <a:schemeClr val="accent2">
                        <a:lumMod val="20000"/>
                        <a:lumOff val="80000"/>
                      </a:schemeClr>
                    </a:solidFill>
                  </a:tcPr>
                </a:tc>
              </a:tr>
              <a:tr h="0">
                <a:tc>
                  <a:txBody>
                    <a:bodyPr/>
                    <a:lstStyle/>
                    <a:p>
                      <a:pPr algn="ctr"/>
                      <a:r>
                        <a:rPr lang="en-US"/>
                        <a:t>stop</a:t>
                      </a:r>
                      <a:endParaRPr lang="en-US"/>
                    </a:p>
                  </a:txBody>
                  <a:tcPr anchor="ctr">
                    <a:lnL>
                      <a:noFill/>
                    </a:lnL>
                    <a:lnR>
                      <a:noFill/>
                    </a:lnR>
                    <a:lnT>
                      <a:noFill/>
                    </a:lnT>
                    <a:lnB>
                      <a:noFill/>
                    </a:lnB>
                    <a:solidFill>
                      <a:schemeClr val="accent2">
                        <a:lumMod val="20000"/>
                        <a:lumOff val="80000"/>
                      </a:schemeClr>
                    </a:solidFill>
                  </a:tcPr>
                </a:tc>
                <a:tc>
                  <a:txBody>
                    <a:bodyPr/>
                    <a:lstStyle/>
                    <a:p>
                      <a:pPr algn="ctr"/>
                      <a:r>
                        <a:rPr lang="en-US" dirty="0"/>
                        <a:t>End of the sequence (not included)</a:t>
                      </a:r>
                      <a:endParaRPr lang="en-US" dirty="0"/>
                    </a:p>
                  </a:txBody>
                  <a:tcPr anchor="ctr">
                    <a:lnL>
                      <a:noFill/>
                    </a:lnL>
                    <a:lnR>
                      <a:noFill/>
                    </a:lnR>
                    <a:lnT>
                      <a:noFill/>
                    </a:lnT>
                    <a:lnB>
                      <a:noFill/>
                    </a:lnB>
                    <a:solidFill>
                      <a:schemeClr val="accent2">
                        <a:lumMod val="20000"/>
                        <a:lumOff val="80000"/>
                      </a:schemeClr>
                    </a:solidFill>
                  </a:tcPr>
                </a:tc>
                <a:tc>
                  <a:txBody>
                    <a:bodyPr/>
                    <a:lstStyle/>
                    <a:p>
                      <a:pPr algn="ctr"/>
                      <a:r>
                        <a:rPr lang="en-US" dirty="0"/>
                        <a:t>Required</a:t>
                      </a:r>
                      <a:endParaRPr lang="en-US" dirty="0"/>
                    </a:p>
                  </a:txBody>
                  <a:tcPr anchor="ctr">
                    <a:lnL>
                      <a:noFill/>
                    </a:lnL>
                    <a:lnR>
                      <a:noFill/>
                    </a:lnR>
                    <a:lnT>
                      <a:noFill/>
                    </a:lnT>
                    <a:lnB>
                      <a:noFill/>
                    </a:lnB>
                    <a:solidFill>
                      <a:schemeClr val="accent2">
                        <a:lumMod val="20000"/>
                        <a:lumOff val="80000"/>
                      </a:schemeClr>
                    </a:solidFill>
                  </a:tcPr>
                </a:tc>
              </a:tr>
              <a:tr h="0">
                <a:tc>
                  <a:txBody>
                    <a:bodyPr/>
                    <a:lstStyle/>
                    <a:p>
                      <a:pPr algn="ctr"/>
                      <a:r>
                        <a:rPr lang="en-US"/>
                        <a:t>step</a:t>
                      </a:r>
                      <a:endParaRPr lang="en-US"/>
                    </a:p>
                  </a:txBody>
                  <a:tcPr anchor="ctr">
                    <a:lnL>
                      <a:noFill/>
                    </a:lnL>
                    <a:lnR>
                      <a:noFill/>
                    </a:lnR>
                    <a:lnT>
                      <a:noFill/>
                    </a:lnT>
                    <a:lnB>
                      <a:noFill/>
                    </a:lnB>
                    <a:solidFill>
                      <a:schemeClr val="accent2">
                        <a:lumMod val="20000"/>
                        <a:lumOff val="80000"/>
                      </a:schemeClr>
                    </a:solidFill>
                  </a:tcPr>
                </a:tc>
                <a:tc>
                  <a:txBody>
                    <a:bodyPr/>
                    <a:lstStyle/>
                    <a:p>
                      <a:pPr algn="ctr"/>
                      <a:r>
                        <a:rPr lang="en-US"/>
                        <a:t>Difference between each number (default 1)</a:t>
                      </a:r>
                      <a:endParaRPr lang="en-US"/>
                    </a:p>
                  </a:txBody>
                  <a:tcPr anchor="ctr">
                    <a:lnL>
                      <a:noFill/>
                    </a:lnL>
                    <a:lnR>
                      <a:noFill/>
                    </a:lnR>
                    <a:lnT>
                      <a:noFill/>
                    </a:lnT>
                    <a:lnB>
                      <a:noFill/>
                    </a:lnB>
                    <a:solidFill>
                      <a:schemeClr val="accent2">
                        <a:lumMod val="20000"/>
                        <a:lumOff val="80000"/>
                      </a:schemeClr>
                    </a:solidFill>
                  </a:tcPr>
                </a:tc>
                <a:tc>
                  <a:txBody>
                    <a:bodyPr/>
                    <a:lstStyle/>
                    <a:p>
                      <a:pPr algn="ctr"/>
                      <a:r>
                        <a:rPr lang="en-US" dirty="0"/>
                        <a:t>Optional</a:t>
                      </a:r>
                      <a:endParaRPr lang="en-US" dirty="0"/>
                    </a:p>
                  </a:txBody>
                  <a:tcPr anchor="ctr">
                    <a:lnL>
                      <a:noFill/>
                    </a:lnL>
                    <a:lnR>
                      <a:noFill/>
                    </a:lnR>
                    <a:lnT>
                      <a:noFill/>
                    </a:lnT>
                    <a:lnB>
                      <a:noFill/>
                    </a:lnB>
                    <a:solidFill>
                      <a:schemeClr val="accent2">
                        <a:lumMod val="20000"/>
                        <a:lumOff val="80000"/>
                      </a:schemeClr>
                    </a:solidFill>
                  </a:tcPr>
                </a:tc>
              </a:tr>
            </a:tbl>
          </a:graphicData>
        </a:graphic>
      </p:graphicFrame>
      <p:sp>
        <p:nvSpPr>
          <p:cNvPr id="10" name="TextBox 9"/>
          <p:cNvSpPr txBox="1"/>
          <p:nvPr/>
        </p:nvSpPr>
        <p:spPr>
          <a:xfrm>
            <a:off x="723470" y="4310072"/>
            <a:ext cx="2233041" cy="646331"/>
          </a:xfrm>
          <a:prstGeom prst="rect">
            <a:avLst/>
          </a:prstGeom>
          <a:noFill/>
        </p:spPr>
        <p:txBody>
          <a:bodyPr wrap="square">
            <a:spAutoFit/>
          </a:bodyPr>
          <a:lstStyle/>
          <a:p>
            <a:r>
              <a:rPr lang="en-US" dirty="0"/>
              <a:t>for </a:t>
            </a:r>
            <a:r>
              <a:rPr lang="en-US" dirty="0" err="1"/>
              <a:t>i</a:t>
            </a:r>
            <a:r>
              <a:rPr lang="en-US" dirty="0"/>
              <a:t> in range(5):</a:t>
            </a:r>
            <a:endParaRPr lang="en-US" dirty="0"/>
          </a:p>
          <a:p>
            <a:r>
              <a:rPr lang="en-US" dirty="0"/>
              <a:t>    print(</a:t>
            </a:r>
            <a:r>
              <a:rPr lang="en-US" dirty="0" err="1"/>
              <a:t>i</a:t>
            </a:r>
            <a:r>
              <a:rPr lang="en-US" dirty="0"/>
              <a:t>)</a:t>
            </a:r>
            <a:endParaRPr lang="en-US" dirty="0"/>
          </a:p>
        </p:txBody>
      </p:sp>
      <p:sp>
        <p:nvSpPr>
          <p:cNvPr id="12" name="TextBox 11"/>
          <p:cNvSpPr txBox="1"/>
          <p:nvPr/>
        </p:nvSpPr>
        <p:spPr>
          <a:xfrm>
            <a:off x="3328827" y="4315271"/>
            <a:ext cx="2352782" cy="646331"/>
          </a:xfrm>
          <a:prstGeom prst="rect">
            <a:avLst/>
          </a:prstGeom>
          <a:noFill/>
        </p:spPr>
        <p:txBody>
          <a:bodyPr wrap="square">
            <a:spAutoFit/>
          </a:bodyPr>
          <a:lstStyle/>
          <a:p>
            <a:r>
              <a:rPr lang="en-US" dirty="0"/>
              <a:t>for </a:t>
            </a:r>
            <a:r>
              <a:rPr lang="en-US" dirty="0" err="1"/>
              <a:t>i</a:t>
            </a:r>
            <a:r>
              <a:rPr lang="en-US" dirty="0"/>
              <a:t> in range(2, 6):</a:t>
            </a:r>
            <a:endParaRPr lang="en-US" dirty="0"/>
          </a:p>
          <a:p>
            <a:r>
              <a:rPr lang="en-US" dirty="0"/>
              <a:t>    print(</a:t>
            </a:r>
            <a:r>
              <a:rPr lang="en-US" dirty="0" err="1"/>
              <a:t>i</a:t>
            </a:r>
            <a:r>
              <a:rPr lang="en-US" dirty="0"/>
              <a:t>)</a:t>
            </a:r>
            <a:endParaRPr lang="en-US" dirty="0"/>
          </a:p>
        </p:txBody>
      </p:sp>
      <p:sp>
        <p:nvSpPr>
          <p:cNvPr id="14" name="TextBox 13"/>
          <p:cNvSpPr txBox="1"/>
          <p:nvPr/>
        </p:nvSpPr>
        <p:spPr>
          <a:xfrm>
            <a:off x="5856271" y="4310071"/>
            <a:ext cx="2578813" cy="646331"/>
          </a:xfrm>
          <a:prstGeom prst="rect">
            <a:avLst/>
          </a:prstGeom>
          <a:noFill/>
        </p:spPr>
        <p:txBody>
          <a:bodyPr wrap="square">
            <a:spAutoFit/>
          </a:bodyPr>
          <a:lstStyle/>
          <a:p>
            <a:r>
              <a:rPr lang="en-US" dirty="0"/>
              <a:t>for </a:t>
            </a:r>
            <a:r>
              <a:rPr lang="en-US" dirty="0" err="1"/>
              <a:t>i</a:t>
            </a:r>
            <a:r>
              <a:rPr lang="en-US" dirty="0"/>
              <a:t> in range(1, 10, 2):</a:t>
            </a:r>
            <a:endParaRPr lang="en-US" dirty="0"/>
          </a:p>
          <a:p>
            <a:r>
              <a:rPr lang="en-US" dirty="0"/>
              <a:t>    print(</a:t>
            </a:r>
            <a:r>
              <a:rPr lang="en-US" dirty="0" err="1"/>
              <a:t>i</a:t>
            </a:r>
            <a:r>
              <a:rPr lang="en-US" dirty="0"/>
              <a:t>)</a:t>
            </a:r>
            <a:endParaRPr lang="en-US" dirty="0"/>
          </a:p>
        </p:txBody>
      </p:sp>
      <p:sp>
        <p:nvSpPr>
          <p:cNvPr id="16" name="TextBox 15"/>
          <p:cNvSpPr txBox="1"/>
          <p:nvPr/>
        </p:nvSpPr>
        <p:spPr>
          <a:xfrm>
            <a:off x="9150725" y="4310070"/>
            <a:ext cx="2654282" cy="646331"/>
          </a:xfrm>
          <a:prstGeom prst="rect">
            <a:avLst/>
          </a:prstGeom>
          <a:noFill/>
        </p:spPr>
        <p:txBody>
          <a:bodyPr wrap="square">
            <a:spAutoFit/>
          </a:bodyPr>
          <a:lstStyle/>
          <a:p>
            <a:r>
              <a:rPr lang="en-US" dirty="0"/>
              <a:t>for </a:t>
            </a:r>
            <a:r>
              <a:rPr lang="en-US" dirty="0" err="1"/>
              <a:t>i</a:t>
            </a:r>
            <a:r>
              <a:rPr lang="en-US" dirty="0"/>
              <a:t> in range(10, 0, -2):</a:t>
            </a:r>
            <a:endParaRPr lang="en-US" dirty="0"/>
          </a:p>
          <a:p>
            <a:r>
              <a:rPr lang="en-US" dirty="0"/>
              <a:t>    print(</a:t>
            </a:r>
            <a:r>
              <a:rPr lang="en-US" dirty="0" err="1"/>
              <a:t>i</a:t>
            </a:r>
            <a:r>
              <a:rPr lang="en-US" dirty="0"/>
              <a:t>)</a:t>
            </a:r>
            <a:endParaRPr lang="en-US" dirty="0"/>
          </a:p>
        </p:txBody>
      </p:sp>
      <p:sp>
        <p:nvSpPr>
          <p:cNvPr id="18" name="Rectangle 4"/>
          <p:cNvSpPr>
            <a:spLocks noChangeArrowheads="1"/>
          </p:cNvSpPr>
          <p:nvPr/>
        </p:nvSpPr>
        <p:spPr bwMode="auto">
          <a:xfrm>
            <a:off x="723900" y="5081270"/>
            <a:ext cx="9999980" cy="1614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pPr>
            <a:r>
              <a:rPr kumimoji="0" lang="en-US" altLang="en-US" b="0" i="0" u="none" strike="noStrike" cap="none" normalizeH="0" baseline="0" dirty="0">
                <a:ln>
                  <a:noFill/>
                </a:ln>
                <a:solidFill>
                  <a:srgbClr val="C00000"/>
                </a:solidFill>
                <a:effectLst/>
                <a:latin typeface="Arial Unicode MS"/>
              </a:rPr>
              <a:t>Common Uses Of Range Function</a:t>
            </a:r>
            <a:endParaRPr kumimoji="0" lang="en-US" altLang="en-US" b="0" i="0" u="none" strike="noStrike" cap="none" normalizeH="0" baseline="0" dirty="0">
              <a:ln>
                <a:noFill/>
              </a:ln>
              <a:solidFill>
                <a:srgbClr val="C00000"/>
              </a:solidFill>
              <a:effectLst/>
              <a:latin typeface="Arial Unicode MS"/>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tx1"/>
                </a:solidFill>
                <a:effectLst/>
                <a:latin typeface="Arial Unicode MS"/>
              </a:rPr>
              <a:t>range()</a:t>
            </a:r>
            <a:r>
              <a:rPr kumimoji="0" lang="en-US" altLang="en-US" b="0" i="0" u="none" strike="noStrike" cap="none" normalizeH="0" baseline="0" dirty="0">
                <a:ln>
                  <a:noFill/>
                </a:ln>
                <a:solidFill>
                  <a:schemeClr val="tx1"/>
                </a:solidFill>
                <a:effectLst/>
              </a:rPr>
              <a:t> helps generate sequences of numbers for looping.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tx1"/>
                </a:solidFill>
                <a:effectLst/>
                <a:latin typeface="Arial" panose="020B0604020202020204" pitchFamily="34" charset="0"/>
              </a:rPr>
              <a:t>It can be customized sing </a:t>
            </a:r>
            <a:r>
              <a:rPr kumimoji="0" lang="en-US" altLang="en-US" b="0" i="0" u="none" strike="noStrike" cap="none" normalizeH="0" baseline="0" dirty="0">
                <a:ln>
                  <a:noFill/>
                </a:ln>
                <a:solidFill>
                  <a:schemeClr val="tx1"/>
                </a:solidFill>
                <a:effectLst/>
                <a:latin typeface="Arial Unicode MS"/>
              </a:rPr>
              <a:t>start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stop</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a:ln>
                  <a:noFill/>
                </a:ln>
                <a:solidFill>
                  <a:schemeClr val="tx1"/>
                </a:solidFill>
                <a:effectLst/>
                <a:latin typeface="Arial Unicode MS"/>
              </a:rPr>
              <a:t>step</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tx1"/>
                </a:solidFill>
                <a:effectLst/>
                <a:latin typeface="Arial" panose="020B0604020202020204" pitchFamily="34" charset="0"/>
              </a:rPr>
              <a:t>It's efficient and commonly used in </a:t>
            </a:r>
            <a:r>
              <a:rPr kumimoji="0" lang="en-US" altLang="en-US" b="0" i="0" u="none" strike="noStrike" cap="none" normalizeH="0" baseline="0" dirty="0">
                <a:ln>
                  <a:noFill/>
                </a:ln>
                <a:solidFill>
                  <a:schemeClr val="tx1"/>
                </a:solidFill>
                <a:effectLst/>
                <a:latin typeface="Arial Unicode MS"/>
              </a:rPr>
              <a:t>for</a:t>
            </a:r>
            <a:r>
              <a:rPr kumimoji="0" lang="en-US" altLang="en-US" b="0" i="0" u="none" strike="noStrike" cap="none" normalizeH="0" baseline="0" dirty="0">
                <a:ln>
                  <a:noFill/>
                </a:ln>
                <a:solidFill>
                  <a:schemeClr val="tx1"/>
                </a:solidFill>
                <a:effectLst/>
              </a:rPr>
              <a:t> loops.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9" name="Rectangle 5"/>
          <p:cNvSpPr>
            <a:spLocks noChangeArrowheads="1"/>
          </p:cNvSpPr>
          <p:nvPr/>
        </p:nvSpPr>
        <p:spPr bwMode="auto">
          <a:xfrm>
            <a:off x="452063" y="1370218"/>
            <a:ext cx="278429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Syntax of range(1,20)</a:t>
            </a: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range(start, stop, step)</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631" y="0"/>
            <a:ext cx="11129227" cy="376916"/>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Python For Loop and While loop</a:t>
            </a:r>
            <a:endParaRPr lang="en-US" sz="2400"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125128" y="481262"/>
          <a:ext cx="12066873" cy="6238036"/>
        </p:xfrm>
        <a:graphic>
          <a:graphicData uri="http://schemas.openxmlformats.org/drawingml/2006/table">
            <a:tbl>
              <a:tblPr/>
              <a:tblGrid>
                <a:gridCol w="1491412"/>
                <a:gridCol w="6081859"/>
                <a:gridCol w="4493602"/>
              </a:tblGrid>
              <a:tr h="442543">
                <a:tc>
                  <a:txBody>
                    <a:bodyPr/>
                    <a:lstStyle/>
                    <a:p>
                      <a:pPr algn="ctr"/>
                      <a:r>
                        <a:rPr lang="en-US" sz="1800" b="1" dirty="0"/>
                        <a:t>Feature</a:t>
                      </a:r>
                      <a:endParaRPr lang="en-US" sz="1800" b="1" dirty="0"/>
                    </a:p>
                  </a:txBody>
                  <a:tcPr marL="73927" marR="73927" marT="36963" marB="36963" anchor="ctr">
                    <a:lnL>
                      <a:noFill/>
                    </a:lnL>
                    <a:lnR>
                      <a:noFill/>
                    </a:lnR>
                    <a:lnT>
                      <a:noFill/>
                    </a:lnT>
                    <a:lnB>
                      <a:noFill/>
                    </a:lnB>
                    <a:solidFill>
                      <a:schemeClr val="accent2">
                        <a:lumMod val="60000"/>
                        <a:lumOff val="40000"/>
                      </a:schemeClr>
                    </a:solidFill>
                  </a:tcPr>
                </a:tc>
                <a:tc>
                  <a:txBody>
                    <a:bodyPr/>
                    <a:lstStyle/>
                    <a:p>
                      <a:pPr algn="ctr"/>
                      <a:r>
                        <a:rPr lang="en-US" sz="1800" b="1" dirty="0"/>
                        <a:t>for Loop</a:t>
                      </a:r>
                      <a:endParaRPr lang="en-US" sz="1800" b="1" dirty="0"/>
                    </a:p>
                  </a:txBody>
                  <a:tcPr marL="73927" marR="73927" marT="36963" marB="36963" anchor="ctr">
                    <a:lnL>
                      <a:noFill/>
                    </a:lnL>
                    <a:lnR>
                      <a:noFill/>
                    </a:lnR>
                    <a:lnT>
                      <a:noFill/>
                    </a:lnT>
                    <a:lnB>
                      <a:noFill/>
                    </a:lnB>
                    <a:solidFill>
                      <a:schemeClr val="accent2">
                        <a:lumMod val="60000"/>
                        <a:lumOff val="40000"/>
                      </a:schemeClr>
                    </a:solidFill>
                  </a:tcPr>
                </a:tc>
                <a:tc>
                  <a:txBody>
                    <a:bodyPr/>
                    <a:lstStyle/>
                    <a:p>
                      <a:pPr algn="ctr"/>
                      <a:r>
                        <a:rPr lang="en-US" sz="1800" b="1" dirty="0"/>
                        <a:t>while Loop</a:t>
                      </a:r>
                      <a:endParaRPr lang="en-US" sz="1800" b="1" dirty="0"/>
                    </a:p>
                  </a:txBody>
                  <a:tcPr marL="73927" marR="73927" marT="36963" marB="36963" anchor="ctr">
                    <a:lnL>
                      <a:noFill/>
                    </a:lnL>
                    <a:lnR>
                      <a:noFill/>
                    </a:lnR>
                    <a:lnT>
                      <a:noFill/>
                    </a:lnT>
                    <a:lnB>
                      <a:noFill/>
                    </a:lnB>
                    <a:solidFill>
                      <a:schemeClr val="accent2">
                        <a:lumMod val="60000"/>
                        <a:lumOff val="40000"/>
                      </a:schemeClr>
                    </a:solidFill>
                  </a:tcPr>
                </a:tc>
              </a:tr>
              <a:tr h="718434">
                <a:tc>
                  <a:txBody>
                    <a:bodyPr/>
                    <a:lstStyle/>
                    <a:p>
                      <a:pPr algn="ctr"/>
                      <a:r>
                        <a:rPr lang="en-US" sz="1500" b="1" dirty="0"/>
                        <a:t>Definition</a:t>
                      </a:r>
                      <a:endParaRPr lang="en-US" sz="15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Used to iterate over a sequence (like list, tuple, string, or range).</a:t>
                      </a:r>
                      <a:endParaRPr lang="en-US" sz="15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Repeats a block of code as long as a condition is True.</a:t>
                      </a:r>
                      <a:endParaRPr lang="en-US" sz="1500" dirty="0"/>
                    </a:p>
                  </a:txBody>
                  <a:tcPr marL="73927" marR="73927" marT="36963" marB="36963" anchor="ctr">
                    <a:lnL>
                      <a:noFill/>
                    </a:lnL>
                    <a:lnR>
                      <a:noFill/>
                    </a:lnR>
                    <a:lnT>
                      <a:noFill/>
                    </a:lnT>
                    <a:lnB>
                      <a:noFill/>
                    </a:lnB>
                    <a:solidFill>
                      <a:schemeClr val="bg2">
                        <a:lumMod val="90000"/>
                      </a:schemeClr>
                    </a:solidFill>
                  </a:tcPr>
                </a:tc>
              </a:tr>
              <a:tr h="616314">
                <a:tc>
                  <a:txBody>
                    <a:bodyPr/>
                    <a:lstStyle/>
                    <a:p>
                      <a:pPr algn="ctr"/>
                      <a:r>
                        <a:rPr lang="en-US" sz="1500" b="1" dirty="0"/>
                        <a:t>Syntax</a:t>
                      </a:r>
                      <a:endParaRPr lang="en-US" sz="15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for variable in sequence: </a:t>
                      </a:r>
                      <a:endParaRPr lang="en-US" sz="1500" dirty="0"/>
                    </a:p>
                    <a:p>
                      <a:pPr algn="ctr"/>
                      <a:r>
                        <a:rPr lang="en-US" sz="1500" dirty="0"/>
                        <a:t>  # code block</a:t>
                      </a:r>
                      <a:endParaRPr lang="en-US" sz="15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while condition:  </a:t>
                      </a:r>
                      <a:endParaRPr lang="en-US" sz="1500" dirty="0"/>
                    </a:p>
                    <a:p>
                      <a:pPr algn="ctr"/>
                      <a:r>
                        <a:rPr lang="en-US" sz="1500" dirty="0"/>
                        <a:t> # code block</a:t>
                      </a:r>
                      <a:endParaRPr lang="en-US" sz="1500" dirty="0"/>
                    </a:p>
                  </a:txBody>
                  <a:tcPr marL="73927" marR="73927" marT="36963" marB="36963" anchor="ctr">
                    <a:lnL>
                      <a:noFill/>
                    </a:lnL>
                    <a:lnR>
                      <a:noFill/>
                    </a:lnR>
                    <a:lnT>
                      <a:noFill/>
                    </a:lnT>
                    <a:lnB>
                      <a:noFill/>
                    </a:lnB>
                    <a:solidFill>
                      <a:schemeClr val="bg2">
                        <a:lumMod val="90000"/>
                      </a:schemeClr>
                    </a:solidFill>
                  </a:tcPr>
                </a:tc>
              </a:tr>
              <a:tr h="623972">
                <a:tc>
                  <a:txBody>
                    <a:bodyPr/>
                    <a:lstStyle/>
                    <a:p>
                      <a:pPr algn="ctr"/>
                      <a:r>
                        <a:rPr lang="en-US" sz="1500" b="1"/>
                        <a:t>Control Type</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Definite loop (number of iterations is known or defined).</a:t>
                      </a:r>
                      <a:endParaRPr lang="en-US" sz="15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Indefinite loop (number of iterations is not known in advance).</a:t>
                      </a:r>
                      <a:endParaRPr lang="en-US" sz="1500" dirty="0"/>
                    </a:p>
                  </a:txBody>
                  <a:tcPr marL="73927" marR="73927" marT="36963" marB="36963" anchor="ctr">
                    <a:lnL>
                      <a:noFill/>
                    </a:lnL>
                    <a:lnR>
                      <a:noFill/>
                    </a:lnR>
                    <a:lnT>
                      <a:noFill/>
                    </a:lnT>
                    <a:lnB>
                      <a:noFill/>
                    </a:lnB>
                    <a:solidFill>
                      <a:schemeClr val="bg2">
                        <a:lumMod val="90000"/>
                      </a:schemeClr>
                    </a:solidFill>
                  </a:tcPr>
                </a:tc>
              </a:tr>
              <a:tr h="892542">
                <a:tc>
                  <a:txBody>
                    <a:bodyPr/>
                    <a:lstStyle/>
                    <a:p>
                      <a:pPr algn="ctr"/>
                      <a:r>
                        <a:rPr lang="en-US" sz="1500" b="1"/>
                        <a:t>Use Case</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a:t>When you want to loop through items in a collection or range.</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When you want to loop until a condition changes (e.g., user input, counter).</a:t>
                      </a:r>
                      <a:endParaRPr lang="en-US" sz="1500" dirty="0"/>
                    </a:p>
                  </a:txBody>
                  <a:tcPr marL="73927" marR="73927" marT="36963" marB="36963" anchor="ctr">
                    <a:lnL>
                      <a:noFill/>
                    </a:lnL>
                    <a:lnR>
                      <a:noFill/>
                    </a:lnR>
                    <a:lnT>
                      <a:noFill/>
                    </a:lnT>
                    <a:lnB>
                      <a:noFill/>
                    </a:lnB>
                    <a:solidFill>
                      <a:schemeClr val="bg2">
                        <a:lumMod val="90000"/>
                      </a:schemeClr>
                    </a:solidFill>
                  </a:tcPr>
                </a:tc>
              </a:tr>
              <a:tr h="1115044">
                <a:tc>
                  <a:txBody>
                    <a:bodyPr/>
                    <a:lstStyle/>
                    <a:p>
                      <a:pPr algn="ctr"/>
                      <a:r>
                        <a:rPr lang="en-US" sz="1500" b="1"/>
                        <a:t>Example</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for </a:t>
                      </a:r>
                      <a:r>
                        <a:rPr lang="en-US" sz="1500" dirty="0" err="1"/>
                        <a:t>i</a:t>
                      </a:r>
                      <a:r>
                        <a:rPr lang="en-US" sz="1500" dirty="0"/>
                        <a:t> in range(5):  </a:t>
                      </a:r>
                      <a:endParaRPr lang="en-US" sz="1500" dirty="0"/>
                    </a:p>
                    <a:p>
                      <a:pPr algn="ctr"/>
                      <a:r>
                        <a:rPr lang="en-US" sz="1500" dirty="0"/>
                        <a:t> print(</a:t>
                      </a:r>
                      <a:r>
                        <a:rPr lang="en-US" sz="1500" dirty="0" err="1"/>
                        <a:t>i</a:t>
                      </a:r>
                      <a:r>
                        <a:rPr lang="en-US" sz="1500" dirty="0"/>
                        <a:t>)</a:t>
                      </a:r>
                      <a:endParaRPr lang="en-US" sz="15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nn-NO" sz="1500" dirty="0"/>
                        <a:t>i = 0</a:t>
                      </a:r>
                      <a:endParaRPr lang="nn-NO" sz="1500" dirty="0"/>
                    </a:p>
                    <a:p>
                      <a:pPr algn="ctr"/>
                      <a:r>
                        <a:rPr lang="nn-NO" sz="1500" dirty="0"/>
                        <a:t>while i &lt; 5:  </a:t>
                      </a:r>
                      <a:endParaRPr lang="nn-NO" sz="1500" dirty="0"/>
                    </a:p>
                    <a:p>
                      <a:pPr algn="ctr"/>
                      <a:r>
                        <a:rPr lang="nn-NO" sz="1500" dirty="0"/>
                        <a:t> print(i) </a:t>
                      </a:r>
                      <a:endParaRPr lang="nn-NO" sz="1500" dirty="0"/>
                    </a:p>
                    <a:p>
                      <a:pPr algn="ctr"/>
                      <a:r>
                        <a:rPr lang="nn-NO" sz="1500" dirty="0"/>
                        <a:t>  i += 1</a:t>
                      </a:r>
                      <a:endParaRPr lang="nn-NO" sz="1500" dirty="0"/>
                    </a:p>
                  </a:txBody>
                  <a:tcPr marL="73927" marR="73927" marT="36963" marB="36963" anchor="ctr">
                    <a:lnL>
                      <a:noFill/>
                    </a:lnL>
                    <a:lnR>
                      <a:noFill/>
                    </a:lnR>
                    <a:lnT>
                      <a:noFill/>
                    </a:lnT>
                    <a:lnB>
                      <a:noFill/>
                    </a:lnB>
                    <a:solidFill>
                      <a:schemeClr val="bg2">
                        <a:lumMod val="90000"/>
                      </a:schemeClr>
                    </a:solidFill>
                  </a:tcPr>
                </a:tc>
              </a:tr>
              <a:tr h="681631">
                <a:tc>
                  <a:txBody>
                    <a:bodyPr/>
                    <a:lstStyle/>
                    <a:p>
                      <a:pPr algn="ctr"/>
                      <a:r>
                        <a:rPr lang="en-US" sz="1500" b="1"/>
                        <a:t>Common Uses</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a:t>Iterating over: ✅ Lists ✅ Strings ✅ Ranges</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Repeating actions: ✅ User input ✅ Wait loops ✅ Condition checks</a:t>
                      </a:r>
                      <a:endParaRPr lang="en-US" sz="1500" dirty="0"/>
                    </a:p>
                  </a:txBody>
                  <a:tcPr marL="73927" marR="73927" marT="36963" marB="36963" anchor="ctr">
                    <a:lnL>
                      <a:noFill/>
                    </a:lnL>
                    <a:lnR>
                      <a:noFill/>
                    </a:lnR>
                    <a:lnT>
                      <a:noFill/>
                    </a:lnT>
                    <a:lnB>
                      <a:noFill/>
                    </a:lnB>
                    <a:solidFill>
                      <a:schemeClr val="bg2">
                        <a:lumMod val="90000"/>
                      </a:schemeClr>
                    </a:solidFill>
                  </a:tcPr>
                </a:tc>
              </a:tr>
              <a:tr h="544799">
                <a:tc>
                  <a:txBody>
                    <a:bodyPr/>
                    <a:lstStyle/>
                    <a:p>
                      <a:pPr algn="ctr"/>
                      <a:r>
                        <a:rPr lang="en-US" sz="1500" b="1"/>
                        <a:t>Termination</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a:t>Stops when sequence ends.</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Stops when the condition becomes False.</a:t>
                      </a:r>
                      <a:endParaRPr lang="en-US" sz="1500" dirty="0"/>
                    </a:p>
                  </a:txBody>
                  <a:tcPr marL="73927" marR="73927" marT="36963" marB="36963" anchor="ctr">
                    <a:lnL>
                      <a:noFill/>
                    </a:lnL>
                    <a:lnR>
                      <a:noFill/>
                    </a:lnR>
                    <a:lnT>
                      <a:noFill/>
                    </a:lnT>
                    <a:lnB>
                      <a:noFill/>
                    </a:lnB>
                    <a:solidFill>
                      <a:schemeClr val="bg2">
                        <a:lumMod val="90000"/>
                      </a:schemeClr>
                    </a:solidFill>
                  </a:tcPr>
                </a:tc>
              </a:tr>
              <a:tr h="602757">
                <a:tc>
                  <a:txBody>
                    <a:bodyPr/>
                    <a:lstStyle/>
                    <a:p>
                      <a:pPr algn="ctr"/>
                      <a:r>
                        <a:rPr lang="en-US" sz="1500" b="1"/>
                        <a:t>Loop Control</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a:t>Works well with break, continue, and else.</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Same as for, supports break, continue, and else.</a:t>
                      </a:r>
                      <a:endParaRPr lang="en-US" sz="1500" dirty="0"/>
                    </a:p>
                  </a:txBody>
                  <a:tcPr marL="73927" marR="73927" marT="36963" marB="36963" anchor="ctr">
                    <a:lnL>
                      <a:noFill/>
                    </a:lnL>
                    <a:lnR>
                      <a:noFill/>
                    </a:lnR>
                    <a:lnT>
                      <a:noFill/>
                    </a:lnT>
                    <a:lnB>
                      <a:noFill/>
                    </a:lnB>
                    <a:solidFill>
                      <a:schemeClr val="bg2">
                        <a:lumMod val="90000"/>
                      </a:schemeClr>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112" y="110403"/>
            <a:ext cx="11350500" cy="380486"/>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Break And Continue Statements in </a:t>
            </a:r>
            <a:r>
              <a:rPr lang="en-US" sz="2700" b="1" dirty="0">
                <a:solidFill>
                  <a:srgbClr val="FF0000"/>
                </a:solidFill>
                <a:latin typeface="Cambria" panose="02040503050406030204" pitchFamily="18" charset="0"/>
                <a:ea typeface="Cambria" panose="02040503050406030204" pitchFamily="18" charset="0"/>
              </a:rPr>
              <a:t>Python</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54112" y="490889"/>
            <a:ext cx="11944844" cy="3265776"/>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Arial" panose="020B0604020202020204" pitchFamily="34" charset="0"/>
              </a:rPr>
              <a:t>1. </a:t>
            </a:r>
            <a:r>
              <a:rPr kumimoji="0" lang="en-US" altLang="en-US" sz="2000" b="1" i="0" u="none" strike="noStrike" cap="none" normalizeH="0" baseline="0" dirty="0">
                <a:ln>
                  <a:noFill/>
                </a:ln>
                <a:solidFill>
                  <a:schemeClr val="tx1"/>
                </a:solidFill>
                <a:effectLst/>
                <a:latin typeface="Arial Unicode MS"/>
              </a:rPr>
              <a:t>break</a:t>
            </a:r>
            <a:r>
              <a:rPr kumimoji="0" lang="en-US" altLang="en-US" sz="2000" b="1" i="0" u="none" strike="noStrike" cap="none" normalizeH="0" baseline="0" dirty="0">
                <a:ln>
                  <a:noFill/>
                </a:ln>
                <a:solidFill>
                  <a:schemeClr val="tx1"/>
                </a:solidFill>
                <a:effectLst/>
              </a:rPr>
              <a:t> Statement</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0" i="0" u="none" strike="noStrike" cap="none" normalizeH="0" baseline="0" dirty="0">
                <a:ln>
                  <a:noFill/>
                </a:ln>
                <a:solidFill>
                  <a:schemeClr val="tx1"/>
                </a:solidFill>
                <a:effectLst/>
                <a:latin typeface="Arial Unicode MS"/>
              </a:rPr>
              <a:t>break</a:t>
            </a:r>
            <a:r>
              <a:rPr kumimoji="0" lang="en-US" altLang="en-US" sz="2000" b="0" i="0" u="none" strike="noStrike" cap="none" normalizeH="0" baseline="0" dirty="0">
                <a:ln>
                  <a:noFill/>
                </a:ln>
                <a:solidFill>
                  <a:schemeClr val="tx1"/>
                </a:solidFill>
                <a:effectLst/>
              </a:rPr>
              <a:t> statement is used to </a:t>
            </a:r>
            <a:r>
              <a:rPr kumimoji="0" lang="en-US" altLang="en-US" sz="2000" b="1" i="0" u="none" strike="noStrike" cap="none" normalizeH="0" baseline="0" dirty="0">
                <a:ln>
                  <a:noFill/>
                </a:ln>
                <a:solidFill>
                  <a:schemeClr val="tx1"/>
                </a:solidFill>
                <a:effectLst/>
                <a:latin typeface="Arial" panose="020B0604020202020204" pitchFamily="34" charset="0"/>
              </a:rPr>
              <a:t>exit a loop prematurely</a:t>
            </a:r>
            <a:r>
              <a:rPr kumimoji="0" lang="en-US" altLang="en-US" sz="2000" b="0" i="0" u="none" strike="noStrike" cap="none" normalizeH="0" baseline="0" dirty="0">
                <a:ln>
                  <a:noFill/>
                </a:ln>
                <a:solidFill>
                  <a:schemeClr val="tx1"/>
                </a:solidFill>
                <a:effectLst/>
                <a:latin typeface="Arial" panose="020B0604020202020204" pitchFamily="34" charset="0"/>
              </a:rPr>
              <a:t>, before the loop condition becomes false or the sequence is fully iterated.</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It is commonly used when a certain condition is met, and you want to </a:t>
            </a:r>
            <a:r>
              <a:rPr kumimoji="0" lang="en-US" altLang="en-US" sz="2000" b="1" i="0" u="none" strike="noStrike" cap="none" normalizeH="0" baseline="0" dirty="0">
                <a:ln>
                  <a:noFill/>
                </a:ln>
                <a:solidFill>
                  <a:schemeClr val="tx1"/>
                </a:solidFill>
                <a:effectLst/>
                <a:latin typeface="Arial" panose="020B0604020202020204" pitchFamily="34" charset="0"/>
              </a:rPr>
              <a:t>stop the loop immediately</a:t>
            </a:r>
            <a:r>
              <a:rPr kumimoji="0" lang="en-US" altLang="en-US" sz="2000" b="0" i="0" u="none" strike="noStrike" cap="none" normalizeH="0" baseline="0" dirty="0">
                <a:ln>
                  <a:noFill/>
                </a:ln>
                <a:solidFill>
                  <a:schemeClr val="tx1"/>
                </a:solidFill>
                <a:effectLst/>
                <a:latin typeface="Arial" panose="020B0604020202020204" pitchFamily="34"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Arial" panose="020B0604020202020204" pitchFamily="34" charset="0"/>
              </a:rPr>
              <a:t>Example (for understanding only, no code needed):</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If you're searching for an item in a list, and you find it, you can use </a:t>
            </a:r>
            <a:r>
              <a:rPr kumimoji="0" lang="en-US" altLang="en-US" sz="2000" b="0" i="0" u="none" strike="noStrike" cap="none" normalizeH="0" baseline="0" dirty="0">
                <a:ln>
                  <a:noFill/>
                </a:ln>
                <a:solidFill>
                  <a:schemeClr val="tx1"/>
                </a:solidFill>
                <a:effectLst/>
                <a:latin typeface="Arial Unicode MS"/>
              </a:rPr>
              <a:t>break</a:t>
            </a:r>
            <a:r>
              <a:rPr kumimoji="0" lang="en-US" altLang="en-US" sz="2000" b="0" i="0" u="none" strike="noStrike" cap="none" normalizeH="0" baseline="0" dirty="0">
                <a:ln>
                  <a:noFill/>
                </a:ln>
                <a:solidFill>
                  <a:schemeClr val="tx1"/>
                </a:solidFill>
                <a:effectLst/>
              </a:rPr>
              <a:t> to stop the loop at that point.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Arial" panose="020B0604020202020204" pitchFamily="34" charset="0"/>
              </a:rPr>
              <a:t>2. </a:t>
            </a:r>
            <a:r>
              <a:rPr kumimoji="0" lang="en-US" altLang="en-US" sz="2000" b="1" i="0" u="none" strike="noStrike" cap="none" normalizeH="0" baseline="0" dirty="0">
                <a:ln>
                  <a:noFill/>
                </a:ln>
                <a:solidFill>
                  <a:schemeClr val="tx1"/>
                </a:solidFill>
                <a:effectLst/>
                <a:latin typeface="Arial Unicode MS"/>
              </a:rPr>
              <a:t>continue</a:t>
            </a:r>
            <a:r>
              <a:rPr kumimoji="0" lang="en-US" altLang="en-US" sz="2000" b="1" i="0" u="none" strike="noStrike" cap="none" normalizeH="0" baseline="0" dirty="0">
                <a:ln>
                  <a:noFill/>
                </a:ln>
                <a:solidFill>
                  <a:schemeClr val="tx1"/>
                </a:solidFill>
                <a:effectLst/>
              </a:rPr>
              <a:t> Statement</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0" i="0" u="none" strike="noStrike" cap="none" normalizeH="0" baseline="0" dirty="0">
                <a:ln>
                  <a:noFill/>
                </a:ln>
                <a:solidFill>
                  <a:schemeClr val="tx1"/>
                </a:solidFill>
                <a:effectLst/>
                <a:latin typeface="Arial Unicode MS"/>
              </a:rPr>
              <a:t>continue</a:t>
            </a:r>
            <a:r>
              <a:rPr kumimoji="0" lang="en-US" altLang="en-US" sz="2000" b="0" i="0" u="none" strike="noStrike" cap="none" normalizeH="0" baseline="0" dirty="0">
                <a:ln>
                  <a:noFill/>
                </a:ln>
                <a:solidFill>
                  <a:schemeClr val="tx1"/>
                </a:solidFill>
                <a:effectLst/>
              </a:rPr>
              <a:t> statement is used to </a:t>
            </a:r>
            <a:r>
              <a:rPr kumimoji="0" lang="en-US" altLang="en-US" sz="2000" b="1" i="0" u="none" strike="noStrike" cap="none" normalizeH="0" baseline="0" dirty="0">
                <a:ln>
                  <a:noFill/>
                </a:ln>
                <a:solidFill>
                  <a:schemeClr val="tx1"/>
                </a:solidFill>
                <a:effectLst/>
                <a:latin typeface="Arial" panose="020B0604020202020204" pitchFamily="34" charset="0"/>
              </a:rPr>
              <a:t>skip the current iteration</a:t>
            </a:r>
            <a:r>
              <a:rPr kumimoji="0" lang="en-US" altLang="en-US" sz="2000" b="0" i="0" u="none" strike="noStrike" cap="none" normalizeH="0" baseline="0" dirty="0">
                <a:ln>
                  <a:noFill/>
                </a:ln>
                <a:solidFill>
                  <a:schemeClr val="tx1"/>
                </a:solidFill>
                <a:effectLst/>
                <a:latin typeface="Arial" panose="020B0604020202020204" pitchFamily="34" charset="0"/>
              </a:rPr>
              <a:t> of a loop and move directly to the next one.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It is used when a certain condition occurs and you want to </a:t>
            </a:r>
            <a:r>
              <a:rPr kumimoji="0" lang="en-US" altLang="en-US" sz="2000" b="1" i="0" u="none" strike="noStrike" cap="none" normalizeH="0" baseline="0" dirty="0">
                <a:ln>
                  <a:noFill/>
                </a:ln>
                <a:solidFill>
                  <a:schemeClr val="tx1"/>
                </a:solidFill>
                <a:effectLst/>
                <a:latin typeface="Arial" panose="020B0604020202020204" pitchFamily="34" charset="0"/>
              </a:rPr>
              <a:t>skip processing for that particular iteration</a:t>
            </a:r>
            <a:r>
              <a:rPr kumimoji="0" lang="en-US" altLang="en-US" sz="2000" b="0" i="0" u="none" strike="noStrike" cap="none" normalizeH="0" baseline="0" dirty="0">
                <a:ln>
                  <a:noFill/>
                </a:ln>
                <a:solidFill>
                  <a:schemeClr val="tx1"/>
                </a:solidFill>
                <a:effectLst/>
                <a:latin typeface="Arial" panose="020B0604020202020204" pitchFamily="34" charset="0"/>
              </a:rPr>
              <a:t>, without exiting the loop entirely.</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TextBox 7"/>
          <p:cNvSpPr txBox="1"/>
          <p:nvPr/>
        </p:nvSpPr>
        <p:spPr>
          <a:xfrm>
            <a:off x="1778267" y="4303908"/>
            <a:ext cx="2341346" cy="1200329"/>
          </a:xfrm>
          <a:prstGeom prst="rect">
            <a:avLst/>
          </a:prstGeom>
          <a:noFill/>
        </p:spPr>
        <p:txBody>
          <a:bodyPr wrap="square">
            <a:spAutoFit/>
          </a:bodyPr>
          <a:lstStyle/>
          <a:p>
            <a:r>
              <a:rPr lang="en-US" dirty="0"/>
              <a:t>for </a:t>
            </a:r>
            <a:r>
              <a:rPr lang="en-US" dirty="0" err="1"/>
              <a:t>i</a:t>
            </a:r>
            <a:r>
              <a:rPr lang="en-US" dirty="0"/>
              <a:t> in range(1, 10):</a:t>
            </a:r>
            <a:endParaRPr lang="en-US" dirty="0"/>
          </a:p>
          <a:p>
            <a:r>
              <a:rPr lang="en-US" dirty="0"/>
              <a:t>    if </a:t>
            </a:r>
            <a:r>
              <a:rPr lang="en-US" dirty="0" err="1"/>
              <a:t>i</a:t>
            </a:r>
            <a:r>
              <a:rPr lang="en-US" dirty="0"/>
              <a:t> == 5:</a:t>
            </a:r>
            <a:endParaRPr lang="en-US" dirty="0"/>
          </a:p>
          <a:p>
            <a:r>
              <a:rPr lang="en-US" dirty="0"/>
              <a:t>        break</a:t>
            </a:r>
            <a:endParaRPr lang="en-US" dirty="0"/>
          </a:p>
          <a:p>
            <a:r>
              <a:rPr lang="en-US" dirty="0"/>
              <a:t>    print(</a:t>
            </a:r>
            <a:r>
              <a:rPr lang="en-US" dirty="0" err="1"/>
              <a:t>i</a:t>
            </a:r>
            <a:r>
              <a:rPr lang="en-US" dirty="0"/>
              <a:t>)</a:t>
            </a:r>
            <a:endParaRPr lang="en-US" dirty="0"/>
          </a:p>
        </p:txBody>
      </p:sp>
      <p:sp>
        <p:nvSpPr>
          <p:cNvPr id="10" name="TextBox 9"/>
          <p:cNvSpPr txBox="1"/>
          <p:nvPr/>
        </p:nvSpPr>
        <p:spPr>
          <a:xfrm>
            <a:off x="7813307" y="4468951"/>
            <a:ext cx="2341346" cy="1200329"/>
          </a:xfrm>
          <a:prstGeom prst="rect">
            <a:avLst/>
          </a:prstGeom>
          <a:noFill/>
        </p:spPr>
        <p:txBody>
          <a:bodyPr wrap="square">
            <a:spAutoFit/>
          </a:bodyPr>
          <a:lstStyle/>
          <a:p>
            <a:r>
              <a:rPr lang="en-US" dirty="0"/>
              <a:t>for </a:t>
            </a:r>
            <a:r>
              <a:rPr lang="en-US" dirty="0" err="1"/>
              <a:t>i</a:t>
            </a:r>
            <a:r>
              <a:rPr lang="en-US" dirty="0"/>
              <a:t> in range(1, 6):</a:t>
            </a:r>
            <a:endParaRPr lang="en-US" dirty="0"/>
          </a:p>
          <a:p>
            <a:r>
              <a:rPr lang="en-US" dirty="0"/>
              <a:t>    if </a:t>
            </a:r>
            <a:r>
              <a:rPr lang="en-US" dirty="0" err="1"/>
              <a:t>i</a:t>
            </a:r>
            <a:r>
              <a:rPr lang="en-US" dirty="0"/>
              <a:t> == 3:</a:t>
            </a:r>
            <a:endParaRPr lang="en-US" dirty="0"/>
          </a:p>
          <a:p>
            <a:r>
              <a:rPr lang="en-US" dirty="0"/>
              <a:t>        continue</a:t>
            </a:r>
            <a:endParaRPr lang="en-US" dirty="0"/>
          </a:p>
          <a:p>
            <a:r>
              <a:rPr lang="en-US" dirty="0"/>
              <a:t>    print(</a:t>
            </a:r>
            <a:r>
              <a:rPr lang="en-US" dirty="0" err="1"/>
              <a:t>i</a:t>
            </a:r>
            <a:r>
              <a:rPr lang="en-US" dirty="0"/>
              <a: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048" y="105878"/>
            <a:ext cx="11636943" cy="471638"/>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Nesting Loop</a:t>
            </a: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153970" y="378146"/>
            <a:ext cx="12156741"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A </a:t>
            </a:r>
            <a:r>
              <a:rPr kumimoji="0" lang="en-US" altLang="en-US" sz="2000" b="1" i="0" u="none" strike="noStrike" cap="none" normalizeH="0" baseline="0" dirty="0">
                <a:ln>
                  <a:noFill/>
                </a:ln>
                <a:solidFill>
                  <a:schemeClr val="tx1"/>
                </a:solidFill>
                <a:effectLst/>
                <a:latin typeface="Arial" panose="020B0604020202020204" pitchFamily="34" charset="0"/>
              </a:rPr>
              <a:t>nested loop</a:t>
            </a:r>
            <a:r>
              <a:rPr kumimoji="0" lang="en-US" altLang="en-US" sz="2000" b="0" i="0" u="none" strike="noStrike" cap="none" normalizeH="0" baseline="0" dirty="0">
                <a:ln>
                  <a:noFill/>
                </a:ln>
                <a:solidFill>
                  <a:schemeClr val="tx1"/>
                </a:solidFill>
                <a:effectLst/>
                <a:latin typeface="Arial" panose="020B0604020202020204" pitchFamily="34" charset="0"/>
              </a:rPr>
              <a:t> is a loop </a:t>
            </a:r>
            <a:r>
              <a:rPr kumimoji="0" lang="en-US" altLang="en-US" sz="2000" b="1" i="0" u="none" strike="noStrike" cap="none" normalizeH="0" baseline="0" dirty="0">
                <a:ln>
                  <a:noFill/>
                </a:ln>
                <a:solidFill>
                  <a:schemeClr val="tx1"/>
                </a:solidFill>
                <a:effectLst/>
                <a:latin typeface="Arial" panose="020B0604020202020204" pitchFamily="34" charset="0"/>
              </a:rPr>
              <a:t>inside another loop</a:t>
            </a:r>
            <a:r>
              <a:rPr kumimoji="0" lang="en-US" altLang="en-US" sz="2000" b="0" i="0" u="none" strike="noStrike" cap="none" normalizeH="0" baseline="0" dirty="0">
                <a:ln>
                  <a:noFill/>
                </a:ln>
                <a:solidFill>
                  <a:schemeClr val="tx1"/>
                </a:solidFill>
                <a:effectLst/>
                <a:latin typeface="Arial" panose="020B0604020202020204" pitchFamily="34" charset="0"/>
              </a:rPr>
              <a:t>. In Python, this means you can place a </a:t>
            </a:r>
            <a:r>
              <a:rPr kumimoji="0" lang="en-US" altLang="en-US" sz="2000" b="0" i="0" u="none" strike="noStrike" cap="none" normalizeH="0" baseline="0" dirty="0">
                <a:ln>
                  <a:noFill/>
                </a:ln>
                <a:solidFill>
                  <a:schemeClr val="tx1"/>
                </a:solidFill>
                <a:effectLst/>
                <a:latin typeface="Arial Unicode MS"/>
              </a:rPr>
              <a:t>for</a:t>
            </a:r>
            <a:r>
              <a:rPr kumimoji="0" lang="en-US" altLang="en-US" sz="2000" b="0" i="0" u="none" strike="noStrike" cap="none" normalizeH="0" baseline="0" dirty="0">
                <a:ln>
                  <a:noFill/>
                </a:ln>
                <a:solidFill>
                  <a:schemeClr val="tx1"/>
                </a:solidFill>
                <a:effectLst/>
              </a:rPr>
              <a:t> loop or a </a:t>
            </a:r>
            <a:r>
              <a:rPr kumimoji="0" lang="en-US" altLang="en-US" sz="2000" b="0" i="0" u="none" strike="noStrike" cap="none" normalizeH="0" baseline="0" dirty="0">
                <a:ln>
                  <a:noFill/>
                </a:ln>
                <a:solidFill>
                  <a:schemeClr val="tx1"/>
                </a:solidFill>
                <a:effectLst/>
                <a:latin typeface="Arial Unicode MS"/>
              </a:rPr>
              <a:t>while</a:t>
            </a:r>
            <a:r>
              <a:rPr kumimoji="0" lang="en-US" altLang="en-US" sz="2000" b="0" i="0" u="none" strike="noStrike" cap="none" normalizeH="0" baseline="0" dirty="0">
                <a:ln>
                  <a:noFill/>
                </a:ln>
                <a:solidFill>
                  <a:schemeClr val="tx1"/>
                </a:solidFill>
                <a:effectLst/>
              </a:rPr>
              <a:t> loop inside another </a:t>
            </a:r>
            <a:r>
              <a:rPr kumimoji="0" lang="en-US" altLang="en-US" sz="2000" b="0" i="0" u="none" strike="noStrike" cap="none" normalizeH="0" baseline="0" dirty="0">
                <a:ln>
                  <a:noFill/>
                </a:ln>
                <a:solidFill>
                  <a:schemeClr val="tx1"/>
                </a:solidFill>
                <a:effectLst/>
                <a:latin typeface="Arial Unicode MS"/>
              </a:rPr>
              <a:t>for</a:t>
            </a:r>
            <a:r>
              <a:rPr kumimoji="0" lang="en-US" altLang="en-US" sz="2000" b="0" i="0" u="none" strike="noStrike" cap="none" normalizeH="0" baseline="0" dirty="0">
                <a:ln>
                  <a:noFill/>
                </a:ln>
                <a:solidFill>
                  <a:schemeClr val="tx1"/>
                </a:solidFill>
                <a:effectLst/>
              </a:rPr>
              <a:t> or </a:t>
            </a:r>
            <a:r>
              <a:rPr kumimoji="0" lang="en-US" altLang="en-US" sz="2000" b="0" i="0" u="none" strike="noStrike" cap="none" normalizeH="0" baseline="0" dirty="0">
                <a:ln>
                  <a:noFill/>
                </a:ln>
                <a:solidFill>
                  <a:schemeClr val="tx1"/>
                </a:solidFill>
                <a:effectLst/>
                <a:latin typeface="Arial Unicode MS"/>
              </a:rPr>
              <a:t>while</a:t>
            </a:r>
            <a:r>
              <a:rPr kumimoji="0" lang="en-US" altLang="en-US" sz="2000" b="0" i="0" u="none" strike="noStrike" cap="none" normalizeH="0" baseline="0" dirty="0">
                <a:ln>
                  <a:noFill/>
                </a:ln>
                <a:solidFill>
                  <a:schemeClr val="tx1"/>
                </a:solidFill>
                <a:effectLst/>
              </a:rPr>
              <a:t> loop.</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Nested loops are commonly used to work with </a:t>
            </a:r>
            <a:r>
              <a:rPr kumimoji="0" lang="en-US" altLang="en-US" sz="2000" b="1" i="0" u="none" strike="noStrike" cap="none" normalizeH="0" baseline="0" dirty="0">
                <a:ln>
                  <a:noFill/>
                </a:ln>
                <a:solidFill>
                  <a:schemeClr val="tx1"/>
                </a:solidFill>
                <a:effectLst/>
                <a:latin typeface="Arial" panose="020B0604020202020204" pitchFamily="34" charset="0"/>
              </a:rPr>
              <a:t>multi-dimensional data structures</a:t>
            </a:r>
            <a:r>
              <a:rPr kumimoji="0" lang="en-US" altLang="en-US" sz="2000" b="0" i="0" u="none" strike="noStrike" cap="none" normalizeH="0" baseline="0" dirty="0">
                <a:ln>
                  <a:noFill/>
                </a:ln>
                <a:solidFill>
                  <a:schemeClr val="tx1"/>
                </a:solidFill>
                <a:effectLst/>
                <a:latin typeface="Arial" panose="020B0604020202020204" pitchFamily="34" charset="0"/>
              </a:rPr>
              <a:t>, like 2D lists (matrices) or tables.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6" name="TextBox 5"/>
          <p:cNvSpPr txBox="1"/>
          <p:nvPr/>
        </p:nvSpPr>
        <p:spPr>
          <a:xfrm>
            <a:off x="356101" y="2085284"/>
            <a:ext cx="4023394" cy="1200329"/>
          </a:xfrm>
          <a:prstGeom prst="rect">
            <a:avLst/>
          </a:prstGeom>
          <a:noFill/>
        </p:spPr>
        <p:txBody>
          <a:bodyPr wrap="square">
            <a:spAutoFit/>
          </a:bodyPr>
          <a:lstStyle/>
          <a:p>
            <a:r>
              <a:rPr lang="en-US" dirty="0"/>
              <a:t>for </a:t>
            </a:r>
            <a:r>
              <a:rPr lang="en-US" dirty="0" err="1"/>
              <a:t>outer_var</a:t>
            </a:r>
            <a:r>
              <a:rPr lang="en-US" dirty="0"/>
              <a:t> in </a:t>
            </a:r>
            <a:r>
              <a:rPr lang="en-US" dirty="0" err="1"/>
              <a:t>outer_sequence</a:t>
            </a:r>
            <a:r>
              <a:rPr lang="en-US" dirty="0"/>
              <a:t>:</a:t>
            </a:r>
            <a:endParaRPr lang="en-US" dirty="0"/>
          </a:p>
          <a:p>
            <a:r>
              <a:rPr lang="en-US" dirty="0"/>
              <a:t>    for </a:t>
            </a:r>
            <a:r>
              <a:rPr lang="en-US" dirty="0" err="1"/>
              <a:t>inner_var</a:t>
            </a:r>
            <a:r>
              <a:rPr lang="en-US" dirty="0"/>
              <a:t> in </a:t>
            </a:r>
            <a:r>
              <a:rPr lang="en-US" dirty="0" err="1"/>
              <a:t>inner_sequence</a:t>
            </a:r>
            <a:r>
              <a:rPr lang="en-US" dirty="0"/>
              <a:t>:</a:t>
            </a:r>
            <a:endParaRPr lang="en-US" dirty="0"/>
          </a:p>
          <a:p>
            <a:r>
              <a:rPr lang="en-US" dirty="0"/>
              <a:t>        # Inner loop block</a:t>
            </a:r>
            <a:endParaRPr lang="en-US" dirty="0"/>
          </a:p>
          <a:p>
            <a:r>
              <a:rPr lang="en-US" dirty="0"/>
              <a:t>        ...</a:t>
            </a:r>
            <a:endParaRPr lang="en-US" dirty="0"/>
          </a:p>
        </p:txBody>
      </p:sp>
      <p:sp>
        <p:nvSpPr>
          <p:cNvPr id="8" name="TextBox 7"/>
          <p:cNvSpPr txBox="1"/>
          <p:nvPr/>
        </p:nvSpPr>
        <p:spPr>
          <a:xfrm>
            <a:off x="247048" y="4034399"/>
            <a:ext cx="5171975" cy="1200329"/>
          </a:xfrm>
          <a:prstGeom prst="rect">
            <a:avLst/>
          </a:prstGeom>
          <a:noFill/>
        </p:spPr>
        <p:txBody>
          <a:bodyPr wrap="square">
            <a:spAutoFit/>
          </a:bodyPr>
          <a:lstStyle/>
          <a:p>
            <a:r>
              <a:rPr lang="en-US" dirty="0"/>
              <a:t>for </a:t>
            </a:r>
            <a:r>
              <a:rPr lang="en-US" dirty="0" err="1"/>
              <a:t>i</a:t>
            </a:r>
            <a:r>
              <a:rPr lang="en-US" dirty="0"/>
              <a:t> in range(1, 4):        # Outer loop</a:t>
            </a:r>
            <a:endParaRPr lang="en-US" dirty="0"/>
          </a:p>
          <a:p>
            <a:r>
              <a:rPr lang="en-US" dirty="0"/>
              <a:t>    for j in range(1, 4):    # Inner loop</a:t>
            </a:r>
            <a:endParaRPr lang="en-US" dirty="0"/>
          </a:p>
          <a:p>
            <a:r>
              <a:rPr lang="en-US" dirty="0"/>
              <a:t>        print(f"{</a:t>
            </a:r>
            <a:r>
              <a:rPr lang="en-US" dirty="0" err="1"/>
              <a:t>i</a:t>
            </a:r>
            <a:r>
              <a:rPr lang="en-US" dirty="0"/>
              <a:t>},{j}", end="  ")</a:t>
            </a:r>
            <a:endParaRPr lang="en-US" dirty="0"/>
          </a:p>
          <a:p>
            <a:r>
              <a:rPr lang="en-US" dirty="0"/>
              <a:t>    print()  # New line after inner loop finishes</a:t>
            </a:r>
            <a:endParaRPr lang="en-US" dirty="0"/>
          </a:p>
        </p:txBody>
      </p:sp>
      <p:sp>
        <p:nvSpPr>
          <p:cNvPr id="10" name="TextBox 9"/>
          <p:cNvSpPr txBox="1"/>
          <p:nvPr/>
        </p:nvSpPr>
        <p:spPr>
          <a:xfrm>
            <a:off x="7812507" y="2085284"/>
            <a:ext cx="3612680" cy="1477328"/>
          </a:xfrm>
          <a:prstGeom prst="rect">
            <a:avLst/>
          </a:prstGeom>
          <a:noFill/>
        </p:spPr>
        <p:txBody>
          <a:bodyPr wrap="square">
            <a:spAutoFit/>
          </a:bodyPr>
          <a:lstStyle/>
          <a:p>
            <a:r>
              <a:rPr lang="en-US" dirty="0"/>
              <a:t>while </a:t>
            </a:r>
            <a:r>
              <a:rPr lang="en-US" dirty="0" err="1"/>
              <a:t>outer_condition</a:t>
            </a:r>
            <a:r>
              <a:rPr lang="en-US" dirty="0"/>
              <a:t>:</a:t>
            </a:r>
            <a:endParaRPr lang="en-US" dirty="0"/>
          </a:p>
          <a:p>
            <a:r>
              <a:rPr lang="en-US" dirty="0"/>
              <a:t>    # Outer loop block</a:t>
            </a:r>
            <a:endParaRPr lang="en-US" dirty="0"/>
          </a:p>
          <a:p>
            <a:r>
              <a:rPr lang="en-US" dirty="0"/>
              <a:t>    while </a:t>
            </a:r>
            <a:r>
              <a:rPr lang="en-US" dirty="0" err="1"/>
              <a:t>inner_condition</a:t>
            </a:r>
            <a:r>
              <a:rPr lang="en-US" dirty="0"/>
              <a:t>:</a:t>
            </a:r>
            <a:endParaRPr lang="en-US" dirty="0"/>
          </a:p>
          <a:p>
            <a:r>
              <a:rPr lang="en-US" dirty="0"/>
              <a:t>        # Inner loop block</a:t>
            </a:r>
            <a:endParaRPr lang="en-US" dirty="0"/>
          </a:p>
          <a:p>
            <a:r>
              <a:rPr lang="en-US" dirty="0"/>
              <a:t>        ...</a:t>
            </a:r>
            <a:endParaRPr lang="en-US" dirty="0"/>
          </a:p>
        </p:txBody>
      </p:sp>
      <p:sp>
        <p:nvSpPr>
          <p:cNvPr id="12" name="TextBox 11"/>
          <p:cNvSpPr txBox="1"/>
          <p:nvPr/>
        </p:nvSpPr>
        <p:spPr>
          <a:xfrm>
            <a:off x="6724851" y="3875038"/>
            <a:ext cx="5787991" cy="2308324"/>
          </a:xfrm>
          <a:prstGeom prst="rect">
            <a:avLst/>
          </a:prstGeom>
          <a:noFill/>
        </p:spPr>
        <p:txBody>
          <a:bodyPr wrap="square">
            <a:spAutoFit/>
          </a:bodyPr>
          <a:lstStyle/>
          <a:p>
            <a:r>
              <a:rPr lang="en-US" dirty="0" err="1"/>
              <a:t>i</a:t>
            </a:r>
            <a:r>
              <a:rPr lang="en-US" dirty="0"/>
              <a:t> = 1</a:t>
            </a:r>
            <a:endParaRPr lang="en-US" dirty="0"/>
          </a:p>
          <a:p>
            <a:r>
              <a:rPr lang="en-US" dirty="0"/>
              <a:t>while </a:t>
            </a:r>
            <a:r>
              <a:rPr lang="en-US" dirty="0" err="1"/>
              <a:t>i</a:t>
            </a:r>
            <a:r>
              <a:rPr lang="en-US" dirty="0"/>
              <a:t> &lt;= 3:</a:t>
            </a:r>
            <a:endParaRPr lang="en-US" dirty="0"/>
          </a:p>
          <a:p>
            <a:r>
              <a:rPr lang="en-US" dirty="0"/>
              <a:t>    j = 1</a:t>
            </a:r>
            <a:endParaRPr lang="en-US" dirty="0"/>
          </a:p>
          <a:p>
            <a:r>
              <a:rPr lang="en-US" dirty="0"/>
              <a:t>    while j &lt;= 3:</a:t>
            </a:r>
            <a:endParaRPr lang="en-US" dirty="0"/>
          </a:p>
          <a:p>
            <a:r>
              <a:rPr lang="en-US" dirty="0"/>
              <a:t>        print(f"{</a:t>
            </a:r>
            <a:r>
              <a:rPr lang="en-US" dirty="0" err="1"/>
              <a:t>i</a:t>
            </a:r>
            <a:r>
              <a:rPr lang="en-US" dirty="0"/>
              <a:t>},{j}", end="  ")</a:t>
            </a:r>
            <a:endParaRPr lang="en-US" dirty="0"/>
          </a:p>
          <a:p>
            <a:r>
              <a:rPr lang="en-US" dirty="0"/>
              <a:t>        j += 1</a:t>
            </a:r>
            <a:endParaRPr lang="en-US" dirty="0"/>
          </a:p>
          <a:p>
            <a:r>
              <a:rPr lang="en-US" dirty="0"/>
              <a:t>    print()  # Move to the next line after inner loop</a:t>
            </a:r>
            <a:endParaRPr lang="en-US" dirty="0"/>
          </a:p>
          <a:p>
            <a:r>
              <a:rPr lang="en-US" dirty="0"/>
              <a:t>    </a:t>
            </a:r>
            <a:r>
              <a:rPr lang="en-US" dirty="0" err="1"/>
              <a:t>i</a:t>
            </a:r>
            <a:r>
              <a:rPr lang="en-US" dirty="0"/>
              <a:t> += 1</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20" y="186788"/>
            <a:ext cx="8911687" cy="330047"/>
          </a:xfrm>
        </p:spPr>
        <p:txBody>
          <a:bodyPr>
            <a:noAutofit/>
          </a:bodyPr>
          <a:lstStyle/>
          <a:p>
            <a:r>
              <a:rPr lang="en-US" sz="2000" b="1" dirty="0" err="1">
                <a:solidFill>
                  <a:srgbClr val="FF0000"/>
                </a:solidFill>
                <a:latin typeface="Cambria" panose="02040503050406030204" pitchFamily="18" charset="0"/>
                <a:ea typeface="Cambria" panose="02040503050406030204" pitchFamily="18" charset="0"/>
              </a:rPr>
              <a:t>Ptyhon</a:t>
            </a:r>
            <a:r>
              <a:rPr lang="en-US" sz="2000" b="1" dirty="0">
                <a:solidFill>
                  <a:srgbClr val="FF0000"/>
                </a:solidFill>
                <a:latin typeface="Cambria" panose="02040503050406030204" pitchFamily="18" charset="0"/>
                <a:ea typeface="Cambria" panose="02040503050406030204" pitchFamily="18" charset="0"/>
              </a:rPr>
              <a:t> loop </a:t>
            </a:r>
            <a:r>
              <a:rPr lang="en-US" sz="2000" b="1" dirty="0" err="1">
                <a:solidFill>
                  <a:srgbClr val="FF0000"/>
                </a:solidFill>
                <a:latin typeface="Cambria" panose="02040503050406030204" pitchFamily="18" charset="0"/>
                <a:ea typeface="Cambria" panose="02040503050406030204" pitchFamily="18" charset="0"/>
              </a:rPr>
              <a:t>Practise</a:t>
            </a:r>
            <a:r>
              <a:rPr lang="en-US" sz="2000" b="1" dirty="0">
                <a:solidFill>
                  <a:srgbClr val="FF0000"/>
                </a:solidFill>
                <a:latin typeface="Cambria" panose="02040503050406030204" pitchFamily="18" charset="0"/>
                <a:ea typeface="Cambria" panose="02040503050406030204" pitchFamily="18" charset="0"/>
              </a:rPr>
              <a:t> </a:t>
            </a:r>
            <a:r>
              <a:rPr lang="en-US" sz="2000" b="1" dirty="0" err="1">
                <a:solidFill>
                  <a:srgbClr val="FF0000"/>
                </a:solidFill>
                <a:latin typeface="Cambria" panose="02040503050406030204" pitchFamily="18" charset="0"/>
                <a:ea typeface="Cambria" panose="02040503050406030204" pitchFamily="18" charset="0"/>
              </a:rPr>
              <a:t>Quesions</a:t>
            </a:r>
            <a:endParaRPr lang="en-US" sz="2000" b="1" dirty="0">
              <a:solidFill>
                <a:srgbClr val="FF0000"/>
              </a:solidFill>
              <a:latin typeface="Cambria" panose="02040503050406030204" pitchFamily="18" charset="0"/>
              <a:ea typeface="Cambria" panose="02040503050406030204" pitchFamily="18" charset="0"/>
            </a:endParaRPr>
          </a:p>
        </p:txBody>
      </p:sp>
      <p:sp>
        <p:nvSpPr>
          <p:cNvPr id="8" name="TextBox 7"/>
          <p:cNvSpPr txBox="1"/>
          <p:nvPr/>
        </p:nvSpPr>
        <p:spPr>
          <a:xfrm>
            <a:off x="124970" y="782927"/>
            <a:ext cx="11942060" cy="5632311"/>
          </a:xfrm>
          <a:prstGeom prst="rect">
            <a:avLst/>
          </a:prstGeom>
          <a:noFill/>
        </p:spPr>
        <p:txBody>
          <a:bodyPr wrap="square">
            <a:spAutoFit/>
          </a:bodyPr>
          <a:lstStyle/>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for loop that prints numbers 1 to 10,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skips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number 5 using continue.</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while loop to print numbers from 1 to 10.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Stop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loop if the number is divisible by 7 using break.</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nested for loop to print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3x3 multiplication table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skipping rows where the outer loop value is even.</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for loop to iterate over a list ['a', 'b', 'c', 'd'], and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stop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loop if the current letter is 'c’.</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while loop to print numbers from 10 to 1,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skip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numbers divisible by 3.</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nested while loop to print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rectangle of stars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(3 rows × 5 stars), skipping the second row.</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 a for loop from 1 to 20, print only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odd numbers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using continue.</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while loop that prints squares of numbers starting from 1.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Break</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loop if the square exceeds 100</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nested loop to print all combinations of numbers from 1 to 3 and letters from ['x', 'y'],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skip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when number is 2 and letter is 'y’.</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for loop to iterate through a string.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Stop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printing characters if you hit a vowel.</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92506" y="84873"/>
            <a:ext cx="11186979" cy="415641"/>
          </a:xfrm>
        </p:spPr>
        <p:txBody>
          <a:bodyPr>
            <a:noAutofit/>
          </a:bodyPr>
          <a:lstStyle/>
          <a:p>
            <a:r>
              <a:rPr lang="en-US" sz="2000" b="1" dirty="0" err="1">
                <a:solidFill>
                  <a:srgbClr val="FF0000"/>
                </a:solidFill>
                <a:latin typeface="Cambria" panose="02040503050406030204" pitchFamily="18" charset="0"/>
                <a:ea typeface="Cambria" panose="02040503050406030204" pitchFamily="18" charset="0"/>
              </a:rPr>
              <a:t>Ptyhon</a:t>
            </a:r>
            <a:r>
              <a:rPr lang="en-US" sz="2000" b="1" dirty="0">
                <a:solidFill>
                  <a:srgbClr val="FF0000"/>
                </a:solidFill>
                <a:latin typeface="Cambria" panose="02040503050406030204" pitchFamily="18" charset="0"/>
                <a:ea typeface="Cambria" panose="02040503050406030204" pitchFamily="18" charset="0"/>
              </a:rPr>
              <a:t> loop </a:t>
            </a:r>
            <a:r>
              <a:rPr lang="en-US" sz="2000" b="1" dirty="0" err="1">
                <a:solidFill>
                  <a:srgbClr val="FF0000"/>
                </a:solidFill>
                <a:latin typeface="Cambria" panose="02040503050406030204" pitchFamily="18" charset="0"/>
                <a:ea typeface="Cambria" panose="02040503050406030204" pitchFamily="18" charset="0"/>
              </a:rPr>
              <a:t>Practise</a:t>
            </a:r>
            <a:r>
              <a:rPr lang="en-US" sz="2000" b="1" dirty="0">
                <a:solidFill>
                  <a:srgbClr val="FF0000"/>
                </a:solidFill>
                <a:latin typeface="Cambria" panose="02040503050406030204" pitchFamily="18" charset="0"/>
                <a:ea typeface="Cambria" panose="02040503050406030204" pitchFamily="18" charset="0"/>
              </a:rPr>
              <a:t> </a:t>
            </a:r>
            <a:r>
              <a:rPr lang="en-US" sz="2000" b="1" dirty="0" err="1">
                <a:solidFill>
                  <a:srgbClr val="FF0000"/>
                </a:solidFill>
                <a:latin typeface="Cambria" panose="02040503050406030204" pitchFamily="18" charset="0"/>
                <a:ea typeface="Cambria" panose="02040503050406030204" pitchFamily="18" charset="0"/>
              </a:rPr>
              <a:t>Quesions</a:t>
            </a:r>
            <a:endParaRPr lang="en-US" sz="2000" b="1" dirty="0">
              <a:solidFill>
                <a:srgbClr val="FF0000"/>
              </a:solidFill>
              <a:latin typeface="Cambria" panose="02040503050406030204" pitchFamily="18" charset="0"/>
              <a:ea typeface="Cambria" panose="02040503050406030204" pitchFamily="18" charset="0"/>
            </a:endParaRPr>
          </a:p>
        </p:txBody>
      </p:sp>
      <p:sp>
        <p:nvSpPr>
          <p:cNvPr id="5" name="Rectangle 1"/>
          <p:cNvSpPr>
            <a:spLocks noGrp="1" noChangeArrowheads="1"/>
          </p:cNvSpPr>
          <p:nvPr>
            <p:ph idx="1"/>
          </p:nvPr>
        </p:nvSpPr>
        <p:spPr bwMode="auto">
          <a:xfrm>
            <a:off x="149199" y="567955"/>
            <a:ext cx="12042801" cy="6185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while loop that prints even numbers between 1 and 20, but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stops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when number reaches 16.</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nested loop to print all pairs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j) where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1–3 and j is 1–3, but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skip pairs where </a:t>
            </a:r>
            <a:r>
              <a:rPr kumimoji="0" lang="en-US" altLang="en-US" sz="18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j</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for loop with continue to print numbers from 1 to 10,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excluding</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multiples of 4.</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while loop to keep asking for user input until the user enters 'exit'. (Use break.)</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nested loop to print numbers from 1 to 3, and for each, print numbers from 1 to 2, but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break</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inner loop when the inner number is 2.</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for loop to iterate from 0 to 9. If the number is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multiple of both 2 and 3</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use continue.</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while loop to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count backwards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from 10, skipping 6 and stopping at 3.</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for loop over a list of numbers. Print only those that are divisible by 5 using continue.</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nested for loops to print a right-angled triangle of numbers (e.g. 1, 1 2, 1 2 3, ...) up to 5 rows.</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while loop to simulate a countdown. If number is 3, print "BOOM!" and break. Otherwise, print the number.</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6" y="96253"/>
            <a:ext cx="11273606" cy="423511"/>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List (Collection)</a:t>
            </a:r>
            <a:endParaRPr lang="en-US" sz="28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231140" y="831215"/>
            <a:ext cx="11960860" cy="5605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Definition:</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List</a:t>
            </a:r>
            <a:r>
              <a:rPr kumimoji="0" lang="en-US" altLang="en-US" sz="1800" b="0" i="0" u="none" strike="noStrike" cap="none" normalizeH="0" baseline="0" dirty="0">
                <a:ln>
                  <a:noFill/>
                </a:ln>
                <a:solidFill>
                  <a:schemeClr val="tx1"/>
                </a:solidFill>
                <a:effectLst/>
                <a:latin typeface="Arial" panose="020B0604020202020204" pitchFamily="34" charset="0"/>
              </a:rPr>
              <a:t> is an </a:t>
            </a:r>
            <a:r>
              <a:rPr kumimoji="0" lang="en-US" altLang="en-US" sz="1800" b="1" i="0" u="none" strike="noStrike" cap="none" normalizeH="0" baseline="0" dirty="0">
                <a:ln>
                  <a:noFill/>
                </a:ln>
                <a:solidFill>
                  <a:schemeClr val="tx1"/>
                </a:solidFill>
                <a:effectLst/>
                <a:latin typeface="Arial" panose="020B0604020202020204" pitchFamily="34" charset="0"/>
              </a:rPr>
              <a:t>ordered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mutable</a:t>
            </a:r>
            <a:r>
              <a:rPr kumimoji="0" lang="en-US" altLang="en-US" sz="1800" b="0" i="0" u="none" strike="noStrike" cap="none" normalizeH="0" baseline="0" dirty="0">
                <a:ln>
                  <a:noFill/>
                </a:ln>
                <a:solidFill>
                  <a:schemeClr val="tx1"/>
                </a:solidFill>
                <a:effectLst/>
                <a:latin typeface="Arial" panose="020B0604020202020204" pitchFamily="34" charset="0"/>
              </a:rPr>
              <a:t> collection in Python that can contain elements of different data types. Lists allow </a:t>
            </a:r>
            <a:r>
              <a:rPr kumimoji="0" lang="en-US" altLang="en-US" sz="1800" b="1" i="0" u="none" strike="noStrike" cap="none" normalizeH="0" baseline="0" dirty="0">
                <a:ln>
                  <a:noFill/>
                </a:ln>
                <a:solidFill>
                  <a:schemeClr val="tx1"/>
                </a:solidFill>
                <a:effectLst/>
                <a:latin typeface="Arial" panose="020B0604020202020204" pitchFamily="34" charset="0"/>
              </a:rPr>
              <a:t>duplicate values</a:t>
            </a:r>
            <a:r>
              <a:rPr kumimoji="0" lang="en-US" altLang="en-US" sz="1800" b="0" i="0" u="none" strike="noStrike" cap="none" normalizeH="0" baseline="0" dirty="0">
                <a:ln>
                  <a:noFill/>
                </a:ln>
                <a:solidFill>
                  <a:schemeClr val="tx1"/>
                </a:solidFill>
                <a:effectLst/>
                <a:latin typeface="Arial" panose="020B0604020202020204" pitchFamily="34" charset="0"/>
              </a:rPr>
              <a:t> and support </a:t>
            </a:r>
            <a:r>
              <a:rPr kumimoji="0" lang="en-US" altLang="en-US" sz="1800" b="1" i="0" u="none" strike="noStrike" cap="none" normalizeH="0" baseline="0" dirty="0">
                <a:ln>
                  <a:noFill/>
                </a:ln>
                <a:solidFill>
                  <a:schemeClr val="tx1"/>
                </a:solidFill>
                <a:effectLst/>
                <a:latin typeface="Arial" panose="020B0604020202020204" pitchFamily="34" charset="0"/>
              </a:rPr>
              <a:t>indexing</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slicing</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Unicode MS"/>
              </a:rPr>
              <a:t>Python</a:t>
            </a: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Unicode MS"/>
              </a:rPr>
              <a:t>example = [1, 2, 3, "hello", 4.5,5] </a:t>
            </a: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1800" b="1" i="0" u="none" strike="noStrike" cap="none" normalizeH="0" baseline="0" dirty="0">
                <a:ln>
                  <a:noFill/>
                </a:ln>
                <a:solidFill>
                  <a:schemeClr val="tx1"/>
                </a:solidFill>
                <a:effectLst/>
                <a:latin typeface="Arial" panose="020B0604020202020204" pitchFamily="34" charset="0"/>
              </a:rPr>
              <a:t>Ordered</a:t>
            </a:r>
            <a:r>
              <a:rPr kumimoji="0" lang="en-US" altLang="en-US" sz="1800" b="0" i="0" u="none" strike="noStrike" cap="none" normalizeH="0" baseline="0" dirty="0">
                <a:ln>
                  <a:noFill/>
                </a:ln>
                <a:solidFill>
                  <a:schemeClr val="tx1"/>
                </a:solidFill>
                <a:effectLst/>
                <a:latin typeface="Arial" panose="020B0604020202020204" pitchFamily="34" charset="0"/>
              </a:rPr>
              <a:t>: Maintains the order of elements.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1800" b="1" i="0" u="none" strike="noStrike" cap="none" normalizeH="0" baseline="0" dirty="0">
                <a:ln>
                  <a:noFill/>
                </a:ln>
                <a:solidFill>
                  <a:schemeClr val="tx1"/>
                </a:solidFill>
                <a:effectLst/>
                <a:latin typeface="Arial" panose="020B0604020202020204" pitchFamily="34" charset="0"/>
              </a:rPr>
              <a:t>Mutable</a:t>
            </a:r>
            <a:r>
              <a:rPr kumimoji="0" lang="en-US" altLang="en-US" sz="1800" b="0" i="0" u="none" strike="noStrike" cap="none" normalizeH="0" baseline="0" dirty="0">
                <a:ln>
                  <a:noFill/>
                </a:ln>
                <a:solidFill>
                  <a:schemeClr val="tx1"/>
                </a:solidFill>
                <a:effectLst/>
                <a:latin typeface="Arial" panose="020B0604020202020204" pitchFamily="34" charset="0"/>
              </a:rPr>
              <a:t>: Can be modified after creation.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pPr>
            <a:r>
              <a:rPr kumimoji="0" lang="en-US" altLang="en-US" sz="1800" b="1" i="0" u="none" strike="noStrike" cap="none" normalizeH="0" baseline="0" dirty="0">
                <a:ln>
                  <a:noFill/>
                </a:ln>
                <a:solidFill>
                  <a:schemeClr val="tx1"/>
                </a:solidFill>
                <a:effectLst/>
                <a:latin typeface="Arial" panose="020B0604020202020204" pitchFamily="34" charset="0"/>
              </a:rPr>
              <a:t>Allows Duplicates</a:t>
            </a:r>
            <a:r>
              <a:rPr kumimoji="0" lang="en-US" altLang="en-US" sz="1800" b="0" i="0" u="none" strike="noStrike" cap="none" normalizeH="0" baseline="0" dirty="0">
                <a:ln>
                  <a:noFill/>
                </a:ln>
                <a:solidFill>
                  <a:schemeClr val="tx1"/>
                </a:solidFill>
                <a:effectLst/>
                <a:latin typeface="Arial" panose="020B0604020202020204" pitchFamily="34" charset="0"/>
              </a:rPr>
              <a:t>: Elements can repeat.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pPr>
            <a:r>
              <a:rPr kumimoji="0" lang="en-US" altLang="en-US" sz="1800" b="1" i="0" u="none" strike="noStrike" cap="none" normalizeH="0" baseline="0" dirty="0">
                <a:ln>
                  <a:noFill/>
                </a:ln>
                <a:solidFill>
                  <a:schemeClr val="tx1"/>
                </a:solidFill>
                <a:effectLst/>
                <a:latin typeface="Arial" panose="020B0604020202020204" pitchFamily="34" charset="0"/>
              </a:rPr>
              <a:t>Indexed</a:t>
            </a:r>
            <a:r>
              <a:rPr kumimoji="0" lang="en-US" altLang="en-US" sz="1800" b="0" i="0" u="none" strike="noStrike" cap="none" normalizeH="0" baseline="0" dirty="0">
                <a:ln>
                  <a:noFill/>
                </a:ln>
                <a:solidFill>
                  <a:schemeClr val="tx1"/>
                </a:solidFill>
                <a:effectLst/>
                <a:latin typeface="Arial" panose="020B0604020202020204" pitchFamily="34" charset="0"/>
              </a:rPr>
              <a:t>: Accessed using indices.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pPr>
            <a:r>
              <a:rPr kumimoji="0" lang="en-US" altLang="en-US" sz="1800" b="1" i="0" u="none" strike="noStrike" cap="none" normalizeH="0" baseline="0" dirty="0">
                <a:ln>
                  <a:noFill/>
                </a:ln>
                <a:solidFill>
                  <a:schemeClr val="tx1"/>
                </a:solidFill>
                <a:effectLst/>
                <a:latin typeface="Arial" panose="020B0604020202020204" pitchFamily="34" charset="0"/>
              </a:rPr>
              <a:t>Dynamic</a:t>
            </a:r>
            <a:r>
              <a:rPr kumimoji="0" lang="en-US" altLang="en-US" sz="1800" b="0" i="0" u="none" strike="noStrike" cap="none" normalizeH="0" baseline="0" dirty="0">
                <a:ln>
                  <a:noFill/>
                </a:ln>
                <a:solidFill>
                  <a:schemeClr val="tx1"/>
                </a:solidFill>
                <a:effectLst/>
                <a:latin typeface="Arial" panose="020B0604020202020204" pitchFamily="34" charset="0"/>
              </a:rPr>
              <a:t>: Size can be changed during runtime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883" y="67377"/>
            <a:ext cx="11244730" cy="374691"/>
          </a:xfrm>
        </p:spPr>
        <p:txBody>
          <a:bodyPr>
            <a:normAutofit fontScale="90000"/>
          </a:bodyPr>
          <a:lstStyle/>
          <a:p>
            <a:r>
              <a:rPr lang="en-US" sz="2400" b="1" dirty="0">
                <a:solidFill>
                  <a:srgbClr val="FF0000"/>
                </a:solidFill>
              </a:rPr>
              <a:t>List Collection Methods</a:t>
            </a:r>
            <a:endParaRPr lang="en-US" sz="2400" b="1" dirty="0">
              <a:solidFill>
                <a:srgbClr val="FF0000"/>
              </a:solidFill>
            </a:endParaRPr>
          </a:p>
        </p:txBody>
      </p:sp>
      <p:graphicFrame>
        <p:nvGraphicFramePr>
          <p:cNvPr id="6" name="Table 5"/>
          <p:cNvGraphicFramePr/>
          <p:nvPr>
            <p:custDataLst>
              <p:tags r:id="rId1"/>
            </p:custDataLst>
          </p:nvPr>
        </p:nvGraphicFramePr>
        <p:xfrm>
          <a:off x="259715" y="442595"/>
          <a:ext cx="11730990" cy="6598285"/>
        </p:xfrm>
        <a:graphic>
          <a:graphicData uri="http://schemas.openxmlformats.org/drawingml/2006/table">
            <a:tbl>
              <a:tblPr/>
              <a:tblGrid>
                <a:gridCol w="2513965"/>
                <a:gridCol w="5306695"/>
                <a:gridCol w="3910330"/>
              </a:tblGrid>
              <a:tr h="347980">
                <a:tc>
                  <a:txBody>
                    <a:bodyPr/>
                    <a:p>
                      <a:r>
                        <a:rPr sz="1800"/>
                        <a:t>Method</a:t>
                      </a:r>
                      <a:endParaRPr sz="1800"/>
                    </a:p>
                  </a:txBody>
                  <a:tcPr marL="0" marR="0" marT="0" marB="0" anchor="ctr" anchorCtr="0">
                    <a:lnL>
                      <a:noFill/>
                    </a:lnL>
                    <a:lnR>
                      <a:noFill/>
                    </a:lnR>
                    <a:lnT>
                      <a:noFill/>
                    </a:lnT>
                    <a:lnB>
                      <a:noFill/>
                    </a:lnB>
                    <a:noFill/>
                  </a:tcPr>
                </a:tc>
                <a:tc>
                  <a:txBody>
                    <a:bodyPr/>
                    <a:p>
                      <a:r>
                        <a:rPr sz="1800"/>
                        <a:t>Definition</a:t>
                      </a:r>
                      <a:endParaRPr sz="1800"/>
                    </a:p>
                  </a:txBody>
                  <a:tcPr marL="0" marR="0" marT="0" marB="0" anchor="ctr" anchorCtr="0">
                    <a:lnL>
                      <a:noFill/>
                    </a:lnL>
                    <a:lnR>
                      <a:noFill/>
                    </a:lnR>
                    <a:lnT>
                      <a:noFill/>
                    </a:lnT>
                    <a:lnB>
                      <a:noFill/>
                    </a:lnB>
                    <a:noFill/>
                  </a:tcPr>
                </a:tc>
                <a:tc>
                  <a:txBody>
                    <a:bodyPr/>
                    <a:p>
                      <a:r>
                        <a:rPr sz="1800"/>
                        <a:t>Example</a:t>
                      </a:r>
                      <a:endParaRPr sz="1800"/>
                    </a:p>
                  </a:txBody>
                  <a:tcPr marL="0" marR="0" marT="0" marB="0" anchor="ctr" anchorCtr="0">
                    <a:lnL>
                      <a:noFill/>
                    </a:lnL>
                    <a:lnR>
                      <a:noFill/>
                    </a:lnR>
                    <a:lnT>
                      <a:noFill/>
                    </a:lnT>
                    <a:lnB>
                      <a:noFill/>
                    </a:lnB>
                    <a:noFill/>
                  </a:tcPr>
                </a:tc>
              </a:tr>
              <a:tr h="347980">
                <a:tc>
                  <a:txBody>
                    <a:bodyPr/>
                    <a:p>
                      <a:r>
                        <a:rPr sz="1800">
                          <a:solidFill>
                            <a:srgbClr val="FF0000"/>
                          </a:solidFill>
                        </a:rPr>
                        <a:t>append(x)</a:t>
                      </a:r>
                      <a:endParaRPr sz="1800">
                        <a:solidFill>
                          <a:srgbClr val="FF0000"/>
                        </a:solidFill>
                      </a:endParaRPr>
                    </a:p>
                  </a:txBody>
                  <a:tcPr marL="0" marR="0" marT="0" marB="0" anchor="ctr" anchorCtr="0">
                    <a:lnL>
                      <a:noFill/>
                    </a:lnL>
                    <a:lnR>
                      <a:noFill/>
                    </a:lnR>
                    <a:lnT>
                      <a:noFill/>
                    </a:lnT>
                    <a:lnB>
                      <a:noFill/>
                    </a:lnB>
                    <a:noFill/>
                  </a:tcPr>
                </a:tc>
                <a:tc>
                  <a:txBody>
                    <a:bodyPr/>
                    <a:p>
                      <a:r>
                        <a:rPr sz="1800">
                          <a:solidFill>
                            <a:srgbClr val="FF0000"/>
                          </a:solidFill>
                        </a:rPr>
                        <a:t>Adds an element x to the end of the list</a:t>
                      </a:r>
                      <a:endParaRPr sz="1800">
                        <a:solidFill>
                          <a:srgbClr val="FF0000"/>
                        </a:solidFill>
                      </a:endParaRPr>
                    </a:p>
                  </a:txBody>
                  <a:tcPr marL="0" marR="0" marT="0" marB="0" anchor="ctr" anchorCtr="0">
                    <a:lnL>
                      <a:noFill/>
                    </a:lnL>
                    <a:lnR>
                      <a:noFill/>
                    </a:lnR>
                    <a:lnT>
                      <a:noFill/>
                    </a:lnT>
                    <a:lnB>
                      <a:noFill/>
                    </a:lnB>
                    <a:noFill/>
                  </a:tcPr>
                </a:tc>
                <a:tc>
                  <a:txBody>
                    <a:bodyPr/>
                    <a:p>
                      <a:r>
                        <a:rPr sz="1800">
                          <a:solidFill>
                            <a:srgbClr val="FF0000"/>
                          </a:solidFill>
                        </a:rPr>
                        <a:t>lst.append(10)</a:t>
                      </a:r>
                      <a:endParaRPr sz="1800">
                        <a:solidFill>
                          <a:srgbClr val="FF0000"/>
                        </a:solidFill>
                      </a:endParaRPr>
                    </a:p>
                  </a:txBody>
                  <a:tcPr marL="0" marR="0" marT="0" marB="0" anchor="ctr" anchorCtr="0">
                    <a:lnL>
                      <a:noFill/>
                    </a:lnL>
                    <a:lnR>
                      <a:noFill/>
                    </a:lnR>
                    <a:lnT>
                      <a:noFill/>
                    </a:lnT>
                    <a:lnB>
                      <a:noFill/>
                    </a:lnB>
                    <a:noFill/>
                  </a:tcPr>
                </a:tc>
              </a:tr>
              <a:tr h="349885">
                <a:tc>
                  <a:txBody>
                    <a:bodyPr/>
                    <a:p>
                      <a:r>
                        <a:rPr sz="1800"/>
                        <a:t>extend(iterable)</a:t>
                      </a:r>
                      <a:endParaRPr sz="1800"/>
                    </a:p>
                  </a:txBody>
                  <a:tcPr marL="0" marR="0" marT="0" marB="0" anchor="ctr" anchorCtr="0">
                    <a:lnL>
                      <a:noFill/>
                    </a:lnL>
                    <a:lnR>
                      <a:noFill/>
                    </a:lnR>
                    <a:lnT>
                      <a:noFill/>
                    </a:lnT>
                    <a:lnB>
                      <a:noFill/>
                    </a:lnB>
                    <a:noFill/>
                  </a:tcPr>
                </a:tc>
                <a:tc>
                  <a:txBody>
                    <a:bodyPr/>
                    <a:p>
                      <a:r>
                        <a:rPr sz="1800"/>
                        <a:t>Adds all elements of an iterable</a:t>
                      </a:r>
                      <a:endParaRPr sz="1800"/>
                    </a:p>
                  </a:txBody>
                  <a:tcPr marL="0" marR="0" marT="0" marB="0" anchor="ctr" anchorCtr="0">
                    <a:lnL>
                      <a:noFill/>
                    </a:lnL>
                    <a:lnR>
                      <a:noFill/>
                    </a:lnR>
                    <a:lnT>
                      <a:noFill/>
                    </a:lnT>
                    <a:lnB>
                      <a:noFill/>
                    </a:lnB>
                    <a:noFill/>
                  </a:tcPr>
                </a:tc>
                <a:tc>
                  <a:txBody>
                    <a:bodyPr/>
                    <a:p>
                      <a:r>
                        <a:rPr sz="1800"/>
                        <a:t>lst.extend([3, 4])</a:t>
                      </a:r>
                      <a:endParaRPr sz="1800"/>
                    </a:p>
                  </a:txBody>
                  <a:tcPr marL="0" marR="0" marT="0" marB="0" anchor="ctr" anchorCtr="0">
                    <a:lnL>
                      <a:noFill/>
                    </a:lnL>
                    <a:lnR>
                      <a:noFill/>
                    </a:lnR>
                    <a:lnT>
                      <a:noFill/>
                    </a:lnT>
                    <a:lnB>
                      <a:noFill/>
                    </a:lnB>
                    <a:noFill/>
                  </a:tcPr>
                </a:tc>
              </a:tr>
              <a:tr h="346710">
                <a:tc>
                  <a:txBody>
                    <a:bodyPr/>
                    <a:p>
                      <a:r>
                        <a:rPr sz="1800"/>
                        <a:t>insert(i, x)</a:t>
                      </a:r>
                      <a:endParaRPr sz="1800"/>
                    </a:p>
                  </a:txBody>
                  <a:tcPr marL="0" marR="0" marT="0" marB="0" anchor="ctr" anchorCtr="0">
                    <a:lnL>
                      <a:noFill/>
                    </a:lnL>
                    <a:lnR>
                      <a:noFill/>
                    </a:lnR>
                    <a:lnT>
                      <a:noFill/>
                    </a:lnT>
                    <a:lnB>
                      <a:noFill/>
                    </a:lnB>
                    <a:noFill/>
                  </a:tcPr>
                </a:tc>
                <a:tc>
                  <a:txBody>
                    <a:bodyPr/>
                    <a:p>
                      <a:r>
                        <a:rPr sz="1800"/>
                        <a:t>Inserts an element x at position i</a:t>
                      </a:r>
                      <a:endParaRPr sz="1800"/>
                    </a:p>
                  </a:txBody>
                  <a:tcPr marL="0" marR="0" marT="0" marB="0" anchor="ctr" anchorCtr="0">
                    <a:lnL>
                      <a:noFill/>
                    </a:lnL>
                    <a:lnR>
                      <a:noFill/>
                    </a:lnR>
                    <a:lnT>
                      <a:noFill/>
                    </a:lnT>
                    <a:lnB>
                      <a:noFill/>
                    </a:lnB>
                    <a:noFill/>
                  </a:tcPr>
                </a:tc>
                <a:tc>
                  <a:txBody>
                    <a:bodyPr/>
                    <a:p>
                      <a:r>
                        <a:rPr sz="1800"/>
                        <a:t>lst.insert(1, "apple")</a:t>
                      </a:r>
                      <a:endParaRPr sz="1800"/>
                    </a:p>
                  </a:txBody>
                  <a:tcPr marL="0" marR="0" marT="0" marB="0" anchor="ctr" anchorCtr="0">
                    <a:lnL>
                      <a:noFill/>
                    </a:lnL>
                    <a:lnR>
                      <a:noFill/>
                    </a:lnR>
                    <a:lnT>
                      <a:noFill/>
                    </a:lnT>
                    <a:lnB>
                      <a:noFill/>
                    </a:lnB>
                    <a:noFill/>
                  </a:tcPr>
                </a:tc>
              </a:tr>
              <a:tr h="347980">
                <a:tc>
                  <a:txBody>
                    <a:bodyPr/>
                    <a:p>
                      <a:r>
                        <a:rPr sz="1800"/>
                        <a:t>remove(x)</a:t>
                      </a:r>
                      <a:endParaRPr sz="1800"/>
                    </a:p>
                  </a:txBody>
                  <a:tcPr marL="0" marR="0" marT="0" marB="0" anchor="ctr" anchorCtr="0">
                    <a:lnL>
                      <a:noFill/>
                    </a:lnL>
                    <a:lnR>
                      <a:noFill/>
                    </a:lnR>
                    <a:lnT>
                      <a:noFill/>
                    </a:lnT>
                    <a:lnB>
                      <a:noFill/>
                    </a:lnB>
                    <a:noFill/>
                  </a:tcPr>
                </a:tc>
                <a:tc>
                  <a:txBody>
                    <a:bodyPr/>
                    <a:p>
                      <a:r>
                        <a:rPr sz="1800"/>
                        <a:t>Removes first occurrence of value x</a:t>
                      </a:r>
                      <a:endParaRPr sz="1800"/>
                    </a:p>
                  </a:txBody>
                  <a:tcPr marL="0" marR="0" marT="0" marB="0" anchor="ctr" anchorCtr="0">
                    <a:lnL>
                      <a:noFill/>
                    </a:lnL>
                    <a:lnR>
                      <a:noFill/>
                    </a:lnR>
                    <a:lnT>
                      <a:noFill/>
                    </a:lnT>
                    <a:lnB>
                      <a:noFill/>
                    </a:lnB>
                    <a:noFill/>
                  </a:tcPr>
                </a:tc>
                <a:tc>
                  <a:txBody>
                    <a:bodyPr/>
                    <a:p>
                      <a:r>
                        <a:rPr sz="1800"/>
                        <a:t>lst.remove(3)</a:t>
                      </a:r>
                      <a:endParaRPr sz="1800"/>
                    </a:p>
                  </a:txBody>
                  <a:tcPr marL="0" marR="0" marT="0" marB="0" anchor="ctr" anchorCtr="0">
                    <a:lnL>
                      <a:noFill/>
                    </a:lnL>
                    <a:lnR>
                      <a:noFill/>
                    </a:lnR>
                    <a:lnT>
                      <a:noFill/>
                    </a:lnT>
                    <a:lnB>
                      <a:noFill/>
                    </a:lnB>
                    <a:noFill/>
                  </a:tcPr>
                </a:tc>
              </a:tr>
              <a:tr h="696595">
                <a:tc>
                  <a:txBody>
                    <a:bodyPr/>
                    <a:p>
                      <a:r>
                        <a:rPr sz="1800"/>
                        <a:t>pop([i])</a:t>
                      </a:r>
                      <a:endParaRPr sz="1800"/>
                    </a:p>
                  </a:txBody>
                  <a:tcPr marL="0" marR="0" marT="0" marB="0" anchor="ctr" anchorCtr="0">
                    <a:lnL>
                      <a:noFill/>
                    </a:lnL>
                    <a:lnR>
                      <a:noFill/>
                    </a:lnR>
                    <a:lnT>
                      <a:noFill/>
                    </a:lnT>
                    <a:lnB>
                      <a:noFill/>
                    </a:lnB>
                    <a:noFill/>
                  </a:tcPr>
                </a:tc>
                <a:tc>
                  <a:txBody>
                    <a:bodyPr/>
                    <a:p>
                      <a:r>
                        <a:rPr sz="1800"/>
                        <a:t>Removes and returns element at index i or last if not specified</a:t>
                      </a:r>
                      <a:endParaRPr sz="1800"/>
                    </a:p>
                  </a:txBody>
                  <a:tcPr marL="0" marR="0" marT="0" marB="0" anchor="ctr" anchorCtr="0">
                    <a:lnL>
                      <a:noFill/>
                    </a:lnL>
                    <a:lnR>
                      <a:noFill/>
                    </a:lnR>
                    <a:lnT>
                      <a:noFill/>
                    </a:lnT>
                    <a:lnB>
                      <a:noFill/>
                    </a:lnB>
                    <a:noFill/>
                  </a:tcPr>
                </a:tc>
                <a:tc>
                  <a:txBody>
                    <a:bodyPr/>
                    <a:p>
                      <a:r>
                        <a:rPr sz="1800"/>
                        <a:t>lst.pop() or lst.pop(2)</a:t>
                      </a:r>
                      <a:endParaRPr sz="1800"/>
                    </a:p>
                  </a:txBody>
                  <a:tcPr marL="0" marR="0" marT="0" marB="0" anchor="ctr" anchorCtr="0">
                    <a:lnL>
                      <a:noFill/>
                    </a:lnL>
                    <a:lnR>
                      <a:noFill/>
                    </a:lnR>
                    <a:lnT>
                      <a:noFill/>
                    </a:lnT>
                    <a:lnB>
                      <a:noFill/>
                    </a:lnB>
                    <a:noFill/>
                  </a:tcPr>
                </a:tc>
              </a:tr>
              <a:tr h="348615">
                <a:tc>
                  <a:txBody>
                    <a:bodyPr/>
                    <a:p>
                      <a:r>
                        <a:rPr sz="1800"/>
                        <a:t>clear()</a:t>
                      </a:r>
                      <a:endParaRPr sz="1800"/>
                    </a:p>
                  </a:txBody>
                  <a:tcPr marL="0" marR="0" marT="0" marB="0" anchor="ctr" anchorCtr="0">
                    <a:lnL>
                      <a:noFill/>
                    </a:lnL>
                    <a:lnR>
                      <a:noFill/>
                    </a:lnR>
                    <a:lnT>
                      <a:noFill/>
                    </a:lnT>
                    <a:lnB>
                      <a:noFill/>
                    </a:lnB>
                    <a:noFill/>
                  </a:tcPr>
                </a:tc>
                <a:tc>
                  <a:txBody>
                    <a:bodyPr/>
                    <a:p>
                      <a:r>
                        <a:rPr sz="1800"/>
                        <a:t>Removes all elements</a:t>
                      </a:r>
                      <a:endParaRPr sz="1800"/>
                    </a:p>
                  </a:txBody>
                  <a:tcPr marL="0" marR="0" marT="0" marB="0" anchor="ctr" anchorCtr="0">
                    <a:lnL>
                      <a:noFill/>
                    </a:lnL>
                    <a:lnR>
                      <a:noFill/>
                    </a:lnR>
                    <a:lnT>
                      <a:noFill/>
                    </a:lnT>
                    <a:lnB>
                      <a:noFill/>
                    </a:lnB>
                    <a:noFill/>
                  </a:tcPr>
                </a:tc>
                <a:tc>
                  <a:txBody>
                    <a:bodyPr/>
                    <a:p>
                      <a:r>
                        <a:rPr sz="1800"/>
                        <a:t>lst.clear()</a:t>
                      </a:r>
                      <a:endParaRPr sz="1800"/>
                    </a:p>
                  </a:txBody>
                  <a:tcPr marL="0" marR="0" marT="0" marB="0" anchor="ctr" anchorCtr="0">
                    <a:lnL>
                      <a:noFill/>
                    </a:lnL>
                    <a:lnR>
                      <a:noFill/>
                    </a:lnR>
                    <a:lnT>
                      <a:noFill/>
                    </a:lnT>
                    <a:lnB>
                      <a:noFill/>
                    </a:lnB>
                    <a:noFill/>
                  </a:tcPr>
                </a:tc>
              </a:tr>
              <a:tr h="348615">
                <a:tc>
                  <a:txBody>
                    <a:bodyPr/>
                    <a:p>
                      <a:r>
                        <a:rPr sz="1800"/>
                        <a:t>index(x)</a:t>
                      </a:r>
                      <a:endParaRPr sz="1800"/>
                    </a:p>
                  </a:txBody>
                  <a:tcPr marL="0" marR="0" marT="0" marB="0" anchor="ctr" anchorCtr="0">
                    <a:lnL>
                      <a:noFill/>
                    </a:lnL>
                    <a:lnR>
                      <a:noFill/>
                    </a:lnR>
                    <a:lnT>
                      <a:noFill/>
                    </a:lnT>
                    <a:lnB>
                      <a:noFill/>
                    </a:lnB>
                    <a:noFill/>
                  </a:tcPr>
                </a:tc>
                <a:tc>
                  <a:txBody>
                    <a:bodyPr/>
                    <a:p>
                      <a:r>
                        <a:rPr sz="1800"/>
                        <a:t>Returns the first index of x</a:t>
                      </a:r>
                      <a:endParaRPr sz="1800"/>
                    </a:p>
                  </a:txBody>
                  <a:tcPr marL="0" marR="0" marT="0" marB="0" anchor="ctr" anchorCtr="0">
                    <a:lnL>
                      <a:noFill/>
                    </a:lnL>
                    <a:lnR>
                      <a:noFill/>
                    </a:lnR>
                    <a:lnT>
                      <a:noFill/>
                    </a:lnT>
                    <a:lnB>
                      <a:noFill/>
                    </a:lnB>
                    <a:noFill/>
                  </a:tcPr>
                </a:tc>
                <a:tc>
                  <a:txBody>
                    <a:bodyPr/>
                    <a:p>
                      <a:r>
                        <a:rPr sz="1800"/>
                        <a:t>lst.index("apple")</a:t>
                      </a:r>
                      <a:endParaRPr sz="1800"/>
                    </a:p>
                  </a:txBody>
                  <a:tcPr marL="0" marR="0" marT="0" marB="0" anchor="ctr" anchorCtr="0">
                    <a:lnL>
                      <a:noFill/>
                    </a:lnL>
                    <a:lnR>
                      <a:noFill/>
                    </a:lnR>
                    <a:lnT>
                      <a:noFill/>
                    </a:lnT>
                    <a:lnB>
                      <a:noFill/>
                    </a:lnB>
                    <a:noFill/>
                  </a:tcPr>
                </a:tc>
              </a:tr>
              <a:tr h="347345">
                <a:tc>
                  <a:txBody>
                    <a:bodyPr/>
                    <a:p>
                      <a:r>
                        <a:rPr sz="1800"/>
                        <a:t>count(x)</a:t>
                      </a:r>
                      <a:endParaRPr sz="1800"/>
                    </a:p>
                  </a:txBody>
                  <a:tcPr marL="0" marR="0" marT="0" marB="0" anchor="ctr" anchorCtr="0">
                    <a:lnL>
                      <a:noFill/>
                    </a:lnL>
                    <a:lnR>
                      <a:noFill/>
                    </a:lnR>
                    <a:lnT>
                      <a:noFill/>
                    </a:lnT>
                    <a:lnB>
                      <a:noFill/>
                    </a:lnB>
                    <a:noFill/>
                  </a:tcPr>
                </a:tc>
                <a:tc>
                  <a:txBody>
                    <a:bodyPr/>
                    <a:p>
                      <a:r>
                        <a:rPr sz="1800"/>
                        <a:t>Counts occurrences of x</a:t>
                      </a:r>
                      <a:endParaRPr sz="1800"/>
                    </a:p>
                  </a:txBody>
                  <a:tcPr marL="0" marR="0" marT="0" marB="0" anchor="ctr" anchorCtr="0">
                    <a:lnL>
                      <a:noFill/>
                    </a:lnL>
                    <a:lnR>
                      <a:noFill/>
                    </a:lnR>
                    <a:lnT>
                      <a:noFill/>
                    </a:lnT>
                    <a:lnB>
                      <a:noFill/>
                    </a:lnB>
                    <a:noFill/>
                  </a:tcPr>
                </a:tc>
                <a:tc>
                  <a:txBody>
                    <a:bodyPr/>
                    <a:p>
                      <a:r>
                        <a:rPr sz="1800"/>
                        <a:t>lst.count(10)</a:t>
                      </a:r>
                      <a:endParaRPr sz="1800"/>
                    </a:p>
                  </a:txBody>
                  <a:tcPr marL="0" marR="0" marT="0" marB="0" anchor="ctr" anchorCtr="0">
                    <a:lnL>
                      <a:noFill/>
                    </a:lnL>
                    <a:lnR>
                      <a:noFill/>
                    </a:lnR>
                    <a:lnT>
                      <a:noFill/>
                    </a:lnT>
                    <a:lnB>
                      <a:noFill/>
                    </a:lnB>
                    <a:noFill/>
                  </a:tcPr>
                </a:tc>
              </a:tr>
              <a:tr h="348615">
                <a:tc>
                  <a:txBody>
                    <a:bodyPr/>
                    <a:p>
                      <a:r>
                        <a:rPr sz="1800"/>
                        <a:t>sort()</a:t>
                      </a:r>
                      <a:endParaRPr sz="1800"/>
                    </a:p>
                  </a:txBody>
                  <a:tcPr marL="0" marR="0" marT="0" marB="0" anchor="ctr" anchorCtr="0">
                    <a:lnL>
                      <a:noFill/>
                    </a:lnL>
                    <a:lnR>
                      <a:noFill/>
                    </a:lnR>
                    <a:lnT>
                      <a:noFill/>
                    </a:lnT>
                    <a:lnB>
                      <a:noFill/>
                    </a:lnB>
                    <a:noFill/>
                  </a:tcPr>
                </a:tc>
                <a:tc>
                  <a:txBody>
                    <a:bodyPr/>
                    <a:p>
                      <a:r>
                        <a:rPr sz="1800"/>
                        <a:t>Sorts the list in ascending order</a:t>
                      </a:r>
                      <a:endParaRPr sz="1800"/>
                    </a:p>
                  </a:txBody>
                  <a:tcPr marL="0" marR="0" marT="0" marB="0" anchor="ctr" anchorCtr="0">
                    <a:lnL>
                      <a:noFill/>
                    </a:lnL>
                    <a:lnR>
                      <a:noFill/>
                    </a:lnR>
                    <a:lnT>
                      <a:noFill/>
                    </a:lnT>
                    <a:lnB>
                      <a:noFill/>
                    </a:lnB>
                    <a:noFill/>
                  </a:tcPr>
                </a:tc>
                <a:tc>
                  <a:txBody>
                    <a:bodyPr/>
                    <a:p>
                      <a:r>
                        <a:rPr sz="1800"/>
                        <a:t>lst.sort()</a:t>
                      </a:r>
                      <a:endParaRPr sz="1800"/>
                    </a:p>
                  </a:txBody>
                  <a:tcPr marL="0" marR="0" marT="0" marB="0" anchor="ctr" anchorCtr="0">
                    <a:lnL>
                      <a:noFill/>
                    </a:lnL>
                    <a:lnR>
                      <a:noFill/>
                    </a:lnR>
                    <a:lnT>
                      <a:noFill/>
                    </a:lnT>
                    <a:lnB>
                      <a:noFill/>
                    </a:lnB>
                    <a:noFill/>
                  </a:tcPr>
                </a:tc>
              </a:tr>
              <a:tr h="348615">
                <a:tc>
                  <a:txBody>
                    <a:bodyPr/>
                    <a:p>
                      <a:r>
                        <a:rPr sz="1800"/>
                        <a:t>reverse()</a:t>
                      </a:r>
                      <a:endParaRPr sz="1800"/>
                    </a:p>
                  </a:txBody>
                  <a:tcPr marL="0" marR="0" marT="0" marB="0" anchor="ctr" anchorCtr="0">
                    <a:lnL>
                      <a:noFill/>
                    </a:lnL>
                    <a:lnR>
                      <a:noFill/>
                    </a:lnR>
                    <a:lnT>
                      <a:noFill/>
                    </a:lnT>
                    <a:lnB>
                      <a:noFill/>
                    </a:lnB>
                    <a:noFill/>
                  </a:tcPr>
                </a:tc>
                <a:tc>
                  <a:txBody>
                    <a:bodyPr/>
                    <a:p>
                      <a:r>
                        <a:rPr sz="1800"/>
                        <a:t>Reverses the list</a:t>
                      </a:r>
                      <a:endParaRPr sz="1800"/>
                    </a:p>
                  </a:txBody>
                  <a:tcPr marL="0" marR="0" marT="0" marB="0" anchor="ctr" anchorCtr="0">
                    <a:lnL>
                      <a:noFill/>
                    </a:lnL>
                    <a:lnR>
                      <a:noFill/>
                    </a:lnR>
                    <a:lnT>
                      <a:noFill/>
                    </a:lnT>
                    <a:lnB>
                      <a:noFill/>
                    </a:lnB>
                    <a:noFill/>
                  </a:tcPr>
                </a:tc>
                <a:tc>
                  <a:txBody>
                    <a:bodyPr/>
                    <a:p>
                      <a:r>
                        <a:rPr sz="1800"/>
                        <a:t>lst.reverse()</a:t>
                      </a:r>
                      <a:endParaRPr sz="1800"/>
                    </a:p>
                  </a:txBody>
                  <a:tcPr marL="0" marR="0" marT="0" marB="0" anchor="ctr" anchorCtr="0">
                    <a:lnL>
                      <a:noFill/>
                    </a:lnL>
                    <a:lnR>
                      <a:noFill/>
                    </a:lnR>
                    <a:lnT>
                      <a:noFill/>
                    </a:lnT>
                    <a:lnB>
                      <a:noFill/>
                    </a:lnB>
                    <a:noFill/>
                  </a:tcPr>
                </a:tc>
              </a:tr>
              <a:tr h="347980">
                <a:tc>
                  <a:txBody>
                    <a:bodyPr/>
                    <a:p>
                      <a:r>
                        <a:rPr sz="1800"/>
                        <a:t>copy()</a:t>
                      </a:r>
                      <a:endParaRPr sz="1800"/>
                    </a:p>
                  </a:txBody>
                  <a:tcPr marL="0" marR="0" marT="0" marB="0" anchor="ctr" anchorCtr="0">
                    <a:lnL>
                      <a:noFill/>
                    </a:lnL>
                    <a:lnR>
                      <a:noFill/>
                    </a:lnR>
                    <a:lnT>
                      <a:noFill/>
                    </a:lnT>
                    <a:lnB>
                      <a:noFill/>
                    </a:lnB>
                    <a:noFill/>
                  </a:tcPr>
                </a:tc>
                <a:tc>
                  <a:txBody>
                    <a:bodyPr/>
                    <a:p>
                      <a:r>
                        <a:rPr sz="1800"/>
                        <a:t>Returns a shallow copy</a:t>
                      </a:r>
                      <a:endParaRPr sz="1800"/>
                    </a:p>
                  </a:txBody>
                  <a:tcPr marL="0" marR="0" marT="0" marB="0" anchor="ctr" anchorCtr="0">
                    <a:lnL>
                      <a:noFill/>
                    </a:lnL>
                    <a:lnR>
                      <a:noFill/>
                    </a:lnR>
                    <a:lnT>
                      <a:noFill/>
                    </a:lnT>
                    <a:lnB>
                      <a:noFill/>
                    </a:lnB>
                    <a:noFill/>
                  </a:tcPr>
                </a:tc>
                <a:tc>
                  <a:txBody>
                    <a:bodyPr/>
                    <a:p>
                      <a:r>
                        <a:rPr sz="1800"/>
                        <a:t>new_lst = lst.copy()</a:t>
                      </a:r>
                      <a:endParaRPr sz="1800"/>
                    </a:p>
                  </a:txBody>
                  <a:tcPr marL="0" marR="0" marT="0" marB="0" anchor="ctr" anchorCtr="0">
                    <a:lnL>
                      <a:noFill/>
                    </a:lnL>
                    <a:lnR>
                      <a:noFill/>
                    </a:lnR>
                    <a:lnT>
                      <a:noFill/>
                    </a:lnT>
                    <a:lnB>
                      <a:noFill/>
                    </a:lnB>
                    <a:noFill/>
                  </a:tcPr>
                </a:tc>
              </a:tr>
              <a:tr h="348615">
                <a:tc>
                  <a:txBody>
                    <a:bodyPr/>
                    <a:p>
                      <a:r>
                        <a:rPr sz="1800"/>
                        <a:t>max()</a:t>
                      </a:r>
                      <a:endParaRPr sz="1800"/>
                    </a:p>
                  </a:txBody>
                  <a:tcPr marL="0" marR="0" marT="0" marB="0" anchor="ctr" anchorCtr="0">
                    <a:lnL>
                      <a:noFill/>
                    </a:lnL>
                    <a:lnR>
                      <a:noFill/>
                    </a:lnR>
                    <a:lnT>
                      <a:noFill/>
                    </a:lnT>
                    <a:lnB>
                      <a:noFill/>
                    </a:lnB>
                    <a:noFill/>
                  </a:tcPr>
                </a:tc>
                <a:tc>
                  <a:txBody>
                    <a:bodyPr/>
                    <a:p>
                      <a:r>
                        <a:rPr sz="1800"/>
                        <a:t>Returns the maximum value in the list</a:t>
                      </a:r>
                      <a:endParaRPr sz="1800"/>
                    </a:p>
                  </a:txBody>
                  <a:tcPr marL="0" marR="0" marT="0" marB="0" anchor="ctr" anchorCtr="0">
                    <a:lnL>
                      <a:noFill/>
                    </a:lnL>
                    <a:lnR>
                      <a:noFill/>
                    </a:lnR>
                    <a:lnT>
                      <a:noFill/>
                    </a:lnT>
                    <a:lnB>
                      <a:noFill/>
                    </a:lnB>
                    <a:noFill/>
                  </a:tcPr>
                </a:tc>
                <a:tc>
                  <a:txBody>
                    <a:bodyPr/>
                    <a:p>
                      <a:r>
                        <a:rPr sz="1800"/>
                        <a:t>max(lst)</a:t>
                      </a:r>
                      <a:endParaRPr sz="1800"/>
                    </a:p>
                  </a:txBody>
                  <a:tcPr marL="0" marR="0" marT="0" marB="0" anchor="ctr" anchorCtr="0">
                    <a:lnL>
                      <a:noFill/>
                    </a:lnL>
                    <a:lnR>
                      <a:noFill/>
                    </a:lnR>
                    <a:lnT>
                      <a:noFill/>
                    </a:lnT>
                    <a:lnB>
                      <a:noFill/>
                    </a:lnB>
                    <a:noFill/>
                  </a:tcPr>
                </a:tc>
              </a:tr>
              <a:tr h="348615">
                <a:tc>
                  <a:txBody>
                    <a:bodyPr/>
                    <a:p>
                      <a:r>
                        <a:rPr sz="1800"/>
                        <a:t>min()</a:t>
                      </a:r>
                      <a:endParaRPr sz="1800"/>
                    </a:p>
                  </a:txBody>
                  <a:tcPr marL="0" marR="0" marT="0" marB="0" anchor="ctr" anchorCtr="0">
                    <a:lnL>
                      <a:noFill/>
                    </a:lnL>
                    <a:lnR>
                      <a:noFill/>
                    </a:lnR>
                    <a:lnT>
                      <a:noFill/>
                    </a:lnT>
                    <a:lnB>
                      <a:noFill/>
                    </a:lnB>
                    <a:noFill/>
                  </a:tcPr>
                </a:tc>
                <a:tc>
                  <a:txBody>
                    <a:bodyPr/>
                    <a:p>
                      <a:r>
                        <a:rPr sz="1800"/>
                        <a:t>Returns the minimum value in the list</a:t>
                      </a:r>
                      <a:endParaRPr sz="1800"/>
                    </a:p>
                  </a:txBody>
                  <a:tcPr marL="0" marR="0" marT="0" marB="0" anchor="ctr" anchorCtr="0">
                    <a:lnL>
                      <a:noFill/>
                    </a:lnL>
                    <a:lnR>
                      <a:noFill/>
                    </a:lnR>
                    <a:lnT>
                      <a:noFill/>
                    </a:lnT>
                    <a:lnB>
                      <a:noFill/>
                    </a:lnB>
                    <a:noFill/>
                  </a:tcPr>
                </a:tc>
                <a:tc>
                  <a:txBody>
                    <a:bodyPr/>
                    <a:p>
                      <a:r>
                        <a:rPr sz="1800"/>
                        <a:t>min(lst)</a:t>
                      </a:r>
                      <a:endParaRPr sz="1800"/>
                    </a:p>
                  </a:txBody>
                  <a:tcPr marL="0" marR="0" marT="0" marB="0" anchor="ctr" anchorCtr="0">
                    <a:lnL>
                      <a:noFill/>
                    </a:lnL>
                    <a:lnR>
                      <a:noFill/>
                    </a:lnR>
                    <a:lnT>
                      <a:noFill/>
                    </a:lnT>
                    <a:lnB>
                      <a:noFill/>
                    </a:lnB>
                    <a:noFill/>
                  </a:tcPr>
                </a:tc>
              </a:tr>
              <a:tr h="678180">
                <a:tc>
                  <a:txBody>
                    <a:bodyPr/>
                    <a:p>
                      <a:r>
                        <a:rPr sz="1800"/>
                        <a:t>sum()</a:t>
                      </a:r>
                      <a:endParaRPr sz="1800"/>
                    </a:p>
                  </a:txBody>
                  <a:tcPr marL="0" marR="0" marT="0" marB="0" anchor="ctr" anchorCtr="0">
                    <a:lnL>
                      <a:noFill/>
                    </a:lnL>
                    <a:lnR>
                      <a:noFill/>
                    </a:lnR>
                    <a:lnT>
                      <a:noFill/>
                    </a:lnT>
                    <a:lnB>
                      <a:noFill/>
                    </a:lnB>
                    <a:noFill/>
                  </a:tcPr>
                </a:tc>
                <a:tc>
                  <a:txBody>
                    <a:bodyPr/>
                    <a:p>
                      <a:r>
                        <a:rPr sz="1800"/>
                        <a:t>Returns the sum of all elements in the list (if numeric)</a:t>
                      </a:r>
                      <a:endParaRPr sz="1800"/>
                    </a:p>
                  </a:txBody>
                  <a:tcPr marL="0" marR="0" marT="0" marB="0" anchor="ctr" anchorCtr="0">
                    <a:lnL>
                      <a:noFill/>
                    </a:lnL>
                    <a:lnR>
                      <a:noFill/>
                    </a:lnR>
                    <a:lnT>
                      <a:noFill/>
                    </a:lnT>
                    <a:lnB>
                      <a:noFill/>
                    </a:lnB>
                    <a:noFill/>
                  </a:tcPr>
                </a:tc>
                <a:tc>
                  <a:txBody>
                    <a:bodyPr/>
                    <a:p>
                      <a:r>
                        <a:rPr sz="1800"/>
                        <a:t>sum(lst)</a:t>
                      </a:r>
                      <a:endParaRPr sz="1800"/>
                    </a:p>
                  </a:txBody>
                  <a:tcPr marL="0" marR="0" marT="0" marB="0" anchor="ctr" anchorCtr="0">
                    <a:lnL>
                      <a:noFill/>
                    </a:lnL>
                    <a:lnR>
                      <a:noFill/>
                    </a:lnR>
                    <a:lnT>
                      <a:noFill/>
                    </a:lnT>
                    <a:lnB>
                      <a:noFill/>
                    </a:lnB>
                    <a:noFill/>
                  </a:tcPr>
                </a:tc>
              </a:tr>
              <a:tr h="347980">
                <a:tc>
                  <a:txBody>
                    <a:bodyPr/>
                    <a:p>
                      <a:r>
                        <a:rPr sz="1800"/>
                        <a:t>len()</a:t>
                      </a:r>
                      <a:endParaRPr sz="1800"/>
                    </a:p>
                  </a:txBody>
                  <a:tcPr marL="0" marR="0" marT="0" marB="0" anchor="ctr" anchorCtr="0">
                    <a:lnL>
                      <a:noFill/>
                    </a:lnL>
                    <a:lnR>
                      <a:noFill/>
                    </a:lnR>
                    <a:lnT>
                      <a:noFill/>
                    </a:lnT>
                    <a:lnB>
                      <a:noFill/>
                    </a:lnB>
                    <a:noFill/>
                  </a:tcPr>
                </a:tc>
                <a:tc>
                  <a:txBody>
                    <a:bodyPr/>
                    <a:p>
                      <a:r>
                        <a:rPr sz="1800"/>
                        <a:t>Returns the number of elements in the list</a:t>
                      </a:r>
                      <a:endParaRPr sz="1800"/>
                    </a:p>
                  </a:txBody>
                  <a:tcPr marL="0" marR="0" marT="0" marB="0" anchor="ctr" anchorCtr="0">
                    <a:lnL>
                      <a:noFill/>
                    </a:lnL>
                    <a:lnR>
                      <a:noFill/>
                    </a:lnR>
                    <a:lnT>
                      <a:noFill/>
                    </a:lnT>
                    <a:lnB>
                      <a:noFill/>
                    </a:lnB>
                    <a:noFill/>
                  </a:tcPr>
                </a:tc>
                <a:tc>
                  <a:txBody>
                    <a:bodyPr/>
                    <a:p>
                      <a:r>
                        <a:rPr sz="1800"/>
                        <a:t>len(lst)</a:t>
                      </a:r>
                      <a:endParaRPr sz="1800"/>
                    </a:p>
                  </a:txBody>
                  <a:tcPr marL="0" marR="0" marT="0" marB="0" anchor="ctr" anchorCtr="0">
                    <a:lnL>
                      <a:noFill/>
                    </a:lnL>
                    <a:lnR>
                      <a:noFill/>
                    </a:lnR>
                    <a:lnT>
                      <a:noFill/>
                    </a:lnT>
                    <a:lnB>
                      <a:noFill/>
                    </a:lnB>
                    <a:noFill/>
                  </a:tcPr>
                </a:tc>
              </a:tr>
              <a:tr h="347980">
                <a:tc>
                  <a:txBody>
                    <a:bodyPr/>
                    <a:p>
                      <a:pPr>
                        <a:buNone/>
                      </a:pPr>
                      <a:r>
                        <a:rPr lang="en-US" sz="1800"/>
                        <a:t>list()</a:t>
                      </a:r>
                      <a:endParaRPr lang="en-US" sz="1800"/>
                    </a:p>
                  </a:txBody>
                  <a:tcPr marL="0" marR="0" marT="0" marB="0" anchor="ctr" anchorCtr="0">
                    <a:lnL>
                      <a:noFill/>
                    </a:lnL>
                    <a:lnR>
                      <a:noFill/>
                    </a:lnR>
                    <a:lnT>
                      <a:noFill/>
                    </a:lnT>
                    <a:lnB>
                      <a:noFill/>
                    </a:lnB>
                    <a:noFill/>
                  </a:tcPr>
                </a:tc>
                <a:tc>
                  <a:txBody>
                    <a:bodyPr/>
                    <a:p>
                      <a:pPr>
                        <a:buNone/>
                      </a:pPr>
                      <a:r>
                        <a:rPr lang="en-US" sz="1800"/>
                        <a:t>Convert Another collection into the list</a:t>
                      </a:r>
                      <a:endParaRPr lang="en-US" sz="1800"/>
                    </a:p>
                  </a:txBody>
                  <a:tcPr marL="0" marR="0" marT="0" marB="0" anchor="ctr" anchorCtr="0">
                    <a:lnL>
                      <a:noFill/>
                    </a:lnL>
                    <a:lnR>
                      <a:noFill/>
                    </a:lnR>
                    <a:lnT>
                      <a:noFill/>
                    </a:lnT>
                    <a:lnB>
                      <a:noFill/>
                    </a:lnB>
                    <a:noFill/>
                  </a:tcPr>
                </a:tc>
                <a:tc>
                  <a:txBody>
                    <a:bodyPr/>
                    <a:p>
                      <a:pPr>
                        <a:buNone/>
                      </a:pPr>
                      <a:r>
                        <a:rPr lang="en-US" sz="1800"/>
                        <a:t>list(abc)</a:t>
                      </a:r>
                      <a:endParaRPr lang="en-US"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257" y="96253"/>
            <a:ext cx="11254356" cy="481263"/>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Tuple Collection</a:t>
            </a:r>
            <a:endParaRPr lang="en-US" sz="28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223520" y="577215"/>
            <a:ext cx="11968480" cy="579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Definition:</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Tuple</a:t>
            </a:r>
            <a:r>
              <a:rPr kumimoji="0" lang="en-US" altLang="en-US" sz="1800" b="0" i="0" u="none" strike="noStrike" cap="none" normalizeH="0" baseline="0" dirty="0">
                <a:ln>
                  <a:noFill/>
                </a:ln>
                <a:solidFill>
                  <a:schemeClr val="tx1"/>
                </a:solidFill>
                <a:effectLst/>
                <a:latin typeface="Arial" panose="020B0604020202020204" pitchFamily="34" charset="0"/>
              </a:rPr>
              <a:t> is an </a:t>
            </a:r>
            <a:r>
              <a:rPr kumimoji="0" lang="en-US" altLang="en-US" sz="1800" b="1" i="0" u="none" strike="noStrike" cap="none" normalizeH="0" baseline="0" dirty="0">
                <a:ln>
                  <a:noFill/>
                </a:ln>
                <a:solidFill>
                  <a:schemeClr val="tx1"/>
                </a:solidFill>
                <a:effectLst/>
                <a:latin typeface="Arial" panose="020B0604020202020204" pitchFamily="34" charset="0"/>
              </a:rPr>
              <a:t>ordered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immutable</a:t>
            </a:r>
            <a:r>
              <a:rPr kumimoji="0" lang="en-US" altLang="en-US" sz="1800" b="0" i="0" u="none" strike="noStrike" cap="none" normalizeH="0" baseline="0" dirty="0">
                <a:ln>
                  <a:noFill/>
                </a:ln>
                <a:solidFill>
                  <a:schemeClr val="tx1"/>
                </a:solidFill>
                <a:effectLst/>
                <a:latin typeface="Arial" panose="020B0604020202020204" pitchFamily="34" charset="0"/>
              </a:rPr>
              <a:t> collection of elements. Tuples support </a:t>
            </a:r>
            <a:r>
              <a:rPr kumimoji="0" lang="en-US" altLang="en-US" sz="1800" b="1" i="0" u="none" strike="noStrike" cap="none" normalizeH="0" baseline="0" dirty="0">
                <a:ln>
                  <a:noFill/>
                </a:ln>
                <a:solidFill>
                  <a:schemeClr val="tx1"/>
                </a:solidFill>
                <a:effectLst/>
                <a:latin typeface="Arial" panose="020B0604020202020204" pitchFamily="34" charset="0"/>
              </a:rPr>
              <a:t>indexing</a:t>
            </a:r>
            <a:r>
              <a:rPr kumimoji="0" lang="en-US" altLang="en-US" sz="1800" b="0" i="0" u="none" strike="noStrike" cap="none" normalizeH="0" baseline="0" dirty="0">
                <a:ln>
                  <a:noFill/>
                </a:ln>
                <a:solidFill>
                  <a:schemeClr val="tx1"/>
                </a:solidFill>
                <a:effectLst/>
                <a:latin typeface="Arial" panose="020B0604020202020204" pitchFamily="34" charset="0"/>
              </a:rPr>
              <a:t>, allow </a:t>
            </a:r>
            <a:r>
              <a:rPr kumimoji="0" lang="en-US" altLang="en-US" sz="1800" b="1" i="0" u="none" strike="noStrike" cap="none" normalizeH="0" baseline="0" dirty="0">
                <a:ln>
                  <a:noFill/>
                </a:ln>
                <a:solidFill>
                  <a:schemeClr val="tx1"/>
                </a:solidFill>
                <a:effectLst/>
                <a:latin typeface="Arial" panose="020B0604020202020204" pitchFamily="34" charset="0"/>
              </a:rPr>
              <a:t>duplicates</a:t>
            </a:r>
            <a:r>
              <a:rPr kumimoji="0" lang="en-US" altLang="en-US" sz="1800" b="0" i="0" u="none" strike="noStrike" cap="none" normalizeH="0" baseline="0" dirty="0">
                <a:ln>
                  <a:noFill/>
                </a:ln>
                <a:solidFill>
                  <a:schemeClr val="tx1"/>
                </a:solidFill>
                <a:effectLst/>
                <a:latin typeface="Arial" panose="020B0604020202020204" pitchFamily="34" charset="0"/>
              </a:rPr>
              <a:t>, and are generally used for fixed collections.</a:t>
            </a: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Unicode MS"/>
              </a:rPr>
              <a:t>Python</a:t>
            </a: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Unicode MS"/>
              </a:rPr>
              <a:t>example = (1, 2, 3, "hello", 4.5) </a:t>
            </a: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1800" b="1" i="0" u="none" strike="noStrike" cap="none" normalizeH="0" baseline="0" dirty="0">
                <a:ln>
                  <a:noFill/>
                </a:ln>
                <a:solidFill>
                  <a:schemeClr val="tx1"/>
                </a:solidFill>
                <a:effectLst/>
                <a:latin typeface="Arial" panose="020B0604020202020204" pitchFamily="34" charset="0"/>
              </a:rPr>
              <a:t>Ordered</a:t>
            </a:r>
            <a:r>
              <a:rPr kumimoji="0" lang="en-US" altLang="en-US" sz="1800" b="0" i="0" u="none" strike="noStrike" cap="none" normalizeH="0" baseline="0" dirty="0">
                <a:ln>
                  <a:noFill/>
                </a:ln>
                <a:solidFill>
                  <a:schemeClr val="tx1"/>
                </a:solidFill>
                <a:effectLst/>
                <a:latin typeface="Arial" panose="020B0604020202020204" pitchFamily="34" charset="0"/>
              </a:rPr>
              <a:t>: Maintains insertion order.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1800" b="1" i="0" u="none" strike="noStrike" cap="none" normalizeH="0" baseline="0" dirty="0">
                <a:ln>
                  <a:noFill/>
                </a:ln>
                <a:solidFill>
                  <a:schemeClr val="tx1"/>
                </a:solidFill>
                <a:effectLst/>
                <a:latin typeface="Arial" panose="020B0604020202020204" pitchFamily="34" charset="0"/>
              </a:rPr>
              <a:t>Immutable</a:t>
            </a:r>
            <a:r>
              <a:rPr kumimoji="0" lang="en-US" altLang="en-US" sz="1800" b="0" i="0" u="none" strike="noStrike" cap="none" normalizeH="0" baseline="0" dirty="0">
                <a:ln>
                  <a:noFill/>
                </a:ln>
                <a:solidFill>
                  <a:schemeClr val="tx1"/>
                </a:solidFill>
                <a:effectLst/>
                <a:latin typeface="Arial" panose="020B0604020202020204" pitchFamily="34" charset="0"/>
              </a:rPr>
              <a:t>: Cannot be changed after creation.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pPr>
            <a:r>
              <a:rPr kumimoji="0" lang="en-US" altLang="en-US" sz="1800" b="1" i="0" u="none" strike="noStrike" cap="none" normalizeH="0" baseline="0" dirty="0">
                <a:ln>
                  <a:noFill/>
                </a:ln>
                <a:solidFill>
                  <a:schemeClr val="tx1"/>
                </a:solidFill>
                <a:effectLst/>
                <a:latin typeface="Arial" panose="020B0604020202020204" pitchFamily="34" charset="0"/>
              </a:rPr>
              <a:t>Allows Duplicates</a:t>
            </a:r>
            <a:r>
              <a:rPr kumimoji="0" lang="en-US" altLang="en-US" sz="1800" b="0" i="0" u="none" strike="noStrike" cap="none" normalizeH="0" baseline="0" dirty="0">
                <a:ln>
                  <a:noFill/>
                </a:ln>
                <a:solidFill>
                  <a:schemeClr val="tx1"/>
                </a:solidFill>
                <a:effectLst/>
                <a:latin typeface="Arial" panose="020B0604020202020204" pitchFamily="34" charset="0"/>
              </a:rPr>
              <a:t>: Can store repeating values.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pPr>
            <a:r>
              <a:rPr kumimoji="0" lang="en-US" altLang="en-US" sz="1800" b="1" i="0" u="none" strike="noStrike" cap="none" normalizeH="0" baseline="0" dirty="0">
                <a:ln>
                  <a:noFill/>
                </a:ln>
                <a:solidFill>
                  <a:schemeClr val="tx1"/>
                </a:solidFill>
                <a:effectLst/>
                <a:latin typeface="Arial" panose="020B0604020202020204" pitchFamily="34" charset="0"/>
              </a:rPr>
              <a:t>Indexed</a:t>
            </a:r>
            <a:r>
              <a:rPr kumimoji="0" lang="en-US" altLang="en-US" sz="1800" b="0" i="0" u="none" strike="noStrike" cap="none" normalizeH="0" baseline="0" dirty="0">
                <a:ln>
                  <a:noFill/>
                </a:ln>
                <a:solidFill>
                  <a:schemeClr val="tx1"/>
                </a:solidFill>
                <a:effectLst/>
                <a:latin typeface="Arial" panose="020B0604020202020204" pitchFamily="34" charset="0"/>
              </a:rPr>
              <a:t>: Elements can be accessed via indices.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pPr>
            <a:r>
              <a:rPr kumimoji="0" lang="en-US" altLang="en-US" sz="1800" b="1" i="0" u="none" strike="noStrike" cap="none" normalizeH="0" baseline="0" dirty="0">
                <a:ln>
                  <a:noFill/>
                </a:ln>
                <a:solidFill>
                  <a:schemeClr val="tx1"/>
                </a:solidFill>
                <a:effectLst/>
                <a:latin typeface="Arial" panose="020B0604020202020204" pitchFamily="34" charset="0"/>
              </a:rPr>
              <a:t>Efficient</a:t>
            </a:r>
            <a:r>
              <a:rPr kumimoji="0" lang="en-US" altLang="en-US" sz="1800" b="0" i="0" u="none" strike="noStrike" cap="none" normalizeH="0" baseline="0" dirty="0">
                <a:ln>
                  <a:noFill/>
                </a:ln>
                <a:solidFill>
                  <a:schemeClr val="tx1"/>
                </a:solidFill>
                <a:effectLst/>
                <a:latin typeface="Arial" panose="020B0604020202020204" pitchFamily="34" charset="0"/>
              </a:rPr>
              <a:t>: Faster and consumes less memory than lists.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6" y="77004"/>
            <a:ext cx="11129227" cy="288756"/>
          </a:xfrm>
        </p:spPr>
        <p:txBody>
          <a:bodyPr>
            <a:noAutofit/>
          </a:bodyPr>
          <a:lstStyle/>
          <a:p>
            <a:r>
              <a:rPr lang="en-US" sz="2000" b="1" dirty="0">
                <a:solidFill>
                  <a:srgbClr val="FF0000"/>
                </a:solidFill>
                <a:latin typeface="Cambria" panose="02040503050406030204" pitchFamily="18" charset="0"/>
                <a:ea typeface="Cambria" panose="02040503050406030204" pitchFamily="18" charset="0"/>
              </a:rPr>
              <a:t>Python Tuple Collection Method</a:t>
            </a:r>
            <a:endParaRPr lang="en-US" sz="2000" dirty="0"/>
          </a:p>
        </p:txBody>
      </p:sp>
      <p:graphicFrame>
        <p:nvGraphicFramePr>
          <p:cNvPr id="4" name="Content Placeholder 3"/>
          <p:cNvGraphicFramePr>
            <a:graphicFrameLocks noGrp="1"/>
          </p:cNvGraphicFramePr>
          <p:nvPr>
            <p:ph idx="1"/>
          </p:nvPr>
        </p:nvGraphicFramePr>
        <p:xfrm>
          <a:off x="163617" y="442764"/>
          <a:ext cx="12028383" cy="1463040"/>
        </p:xfrm>
        <a:graphic>
          <a:graphicData uri="http://schemas.openxmlformats.org/drawingml/2006/table">
            <a:tbl>
              <a:tblPr/>
              <a:tblGrid>
                <a:gridCol w="2858716"/>
                <a:gridCol w="5938787"/>
                <a:gridCol w="3230880"/>
              </a:tblGrid>
              <a:tr h="0">
                <a:tc>
                  <a:txBody>
                    <a:bodyPr/>
                    <a:lstStyle/>
                    <a:p>
                      <a:pPr algn="ctr"/>
                      <a:r>
                        <a:rPr lang="en-US" sz="1800" b="1" dirty="0">
                          <a:latin typeface="Cambria" panose="02040503050406030204" pitchFamily="18" charset="0"/>
                          <a:ea typeface="Cambria" panose="02040503050406030204" pitchFamily="18" charset="0"/>
                        </a:rPr>
                        <a:t>Function / Method</a:t>
                      </a:r>
                      <a:endParaRPr lang="en-US" sz="18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Definition / Use</a:t>
                      </a:r>
                      <a:endParaRPr lang="en-US" sz="1800" b="1">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Example</a:t>
                      </a:r>
                      <a:endParaRPr lang="en-US" sz="18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r>
              <a:tr h="0">
                <a:tc>
                  <a:txBody>
                    <a:bodyPr/>
                    <a:lstStyle/>
                    <a:p>
                      <a:r>
                        <a:rPr lang="en-US" sz="1800" dirty="0">
                          <a:latin typeface="Cambria" panose="02040503050406030204" pitchFamily="18" charset="0"/>
                          <a:ea typeface="Cambria" panose="02040503050406030204" pitchFamily="18" charset="0"/>
                        </a:rPr>
                        <a:t>tuple()</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Converts an </a:t>
                      </a:r>
                      <a:r>
                        <a:rPr lang="en-US" sz="1800" dirty="0" err="1">
                          <a:latin typeface="Cambria" panose="02040503050406030204" pitchFamily="18" charset="0"/>
                          <a:ea typeface="Cambria" panose="02040503050406030204" pitchFamily="18" charset="0"/>
                        </a:rPr>
                        <a:t>iterable</a:t>
                      </a:r>
                      <a:r>
                        <a:rPr lang="en-US" sz="1800" dirty="0">
                          <a:latin typeface="Cambria" panose="02040503050406030204" pitchFamily="18" charset="0"/>
                          <a:ea typeface="Cambria" panose="02040503050406030204" pitchFamily="18" charset="0"/>
                        </a:rPr>
                        <a:t> (e.g., list, string) to a tuple</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tuple([1, 2, 3]) → (1, 2, 3)</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r>
              <a:tr h="0">
                <a:tc>
                  <a:txBody>
                    <a:bodyPr/>
                    <a:lstStyle/>
                    <a:p>
                      <a:r>
                        <a:rPr lang="en-US" sz="1800" dirty="0">
                          <a:latin typeface="Cambria" panose="02040503050406030204" pitchFamily="18" charset="0"/>
                          <a:ea typeface="Cambria" panose="02040503050406030204" pitchFamily="18" charset="0"/>
                        </a:rPr>
                        <a:t>.count(x)</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number of times x appears in the tuple</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(1, 2, 2, 3).count(2) → 2</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r>
              <a:tr h="0">
                <a:tc>
                  <a:txBody>
                    <a:bodyPr/>
                    <a:lstStyle/>
                    <a:p>
                      <a:r>
                        <a:rPr lang="en-US" sz="1800" dirty="0">
                          <a:latin typeface="Cambria" panose="02040503050406030204" pitchFamily="18" charset="0"/>
                          <a:ea typeface="Cambria" panose="02040503050406030204" pitchFamily="18" charset="0"/>
                        </a:rPr>
                        <a:t>.index(x)</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index of the first occurrence of x</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(1, 2, 3).index(2) → 1</a:t>
                      </a:r>
                      <a:endParaRPr lang="en-US" sz="1800"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r>
            </a:tbl>
          </a:graphicData>
        </a:graphic>
      </p:graphicFrame>
      <p:graphicFrame>
        <p:nvGraphicFramePr>
          <p:cNvPr id="5" name="Table 4"/>
          <p:cNvGraphicFramePr>
            <a:graphicFrameLocks noGrp="1"/>
          </p:cNvGraphicFramePr>
          <p:nvPr/>
        </p:nvGraphicFramePr>
        <p:xfrm>
          <a:off x="231006" y="2014693"/>
          <a:ext cx="11912880" cy="4617117"/>
        </p:xfrm>
        <a:graphic>
          <a:graphicData uri="http://schemas.openxmlformats.org/drawingml/2006/table">
            <a:tbl>
              <a:tblPr/>
              <a:tblGrid>
                <a:gridCol w="2396704"/>
                <a:gridCol w="5545216"/>
                <a:gridCol w="3970960"/>
              </a:tblGrid>
              <a:tr h="392520">
                <a:tc>
                  <a:txBody>
                    <a:bodyPr/>
                    <a:lstStyle/>
                    <a:p>
                      <a:pPr algn="ctr"/>
                      <a:r>
                        <a:rPr lang="en-US" sz="2000" b="1" dirty="0">
                          <a:latin typeface="Cambria" panose="02040503050406030204" pitchFamily="18" charset="0"/>
                          <a:ea typeface="Cambria" panose="02040503050406030204" pitchFamily="18" charset="0"/>
                        </a:rPr>
                        <a:t>Function</a:t>
                      </a:r>
                      <a:endParaRPr lang="en-US" sz="2000" b="1"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solidFill>
                      <a:schemeClr val="accent1">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Definition / Use</a:t>
                      </a:r>
                      <a:endParaRPr lang="en-US" sz="2000" b="1"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solidFill>
                      <a:schemeClr val="accent1">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Example</a:t>
                      </a:r>
                      <a:endParaRPr lang="en-US" sz="2000" b="1"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solidFill>
                      <a:schemeClr val="accent1">
                        <a:lumMod val="60000"/>
                        <a:lumOff val="40000"/>
                      </a:schemeClr>
                    </a:solidFill>
                  </a:tcPr>
                </a:tc>
              </a:tr>
              <a:tr h="377706">
                <a:tc>
                  <a:txBody>
                    <a:bodyPr/>
                    <a:lstStyle/>
                    <a:p>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the number of elements in the tuple</a:t>
                      </a:r>
                      <a:endParaRPr lang="en-US" sz="180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((1, 2, 3)) → 3</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377706">
                <a:tc>
                  <a:txBody>
                    <a:bodyPr/>
                    <a:lstStyle/>
                    <a:p>
                      <a:r>
                        <a:rPr lang="en-US" sz="1800" dirty="0">
                          <a:latin typeface="Cambria" panose="02040503050406030204" pitchFamily="18" charset="0"/>
                          <a:ea typeface="Cambria" panose="02040503050406030204" pitchFamily="18" charset="0"/>
                        </a:rPr>
                        <a:t>max()</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largest element</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fr-FR" sz="1800" dirty="0">
                          <a:latin typeface="Cambria" panose="02040503050406030204" pitchFamily="18" charset="0"/>
                          <a:ea typeface="Cambria" panose="02040503050406030204" pitchFamily="18" charset="0"/>
                        </a:rPr>
                        <a:t>max((1, 5, 3)) → 5</a:t>
                      </a:r>
                      <a:endParaRPr lang="fr-FR"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377706">
                <a:tc>
                  <a:txBody>
                    <a:bodyPr/>
                    <a:lstStyle/>
                    <a:p>
                      <a:r>
                        <a:rPr lang="en-US" sz="1800" dirty="0">
                          <a:latin typeface="Cambria" panose="02040503050406030204" pitchFamily="18" charset="0"/>
                          <a:ea typeface="Cambria" panose="02040503050406030204" pitchFamily="18" charset="0"/>
                        </a:rPr>
                        <a:t>min()</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smallest element</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min((1, 5, 3)) → 1</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539581">
                <a:tc>
                  <a:txBody>
                    <a:bodyPr/>
                    <a:lstStyle/>
                    <a:p>
                      <a:r>
                        <a:rPr lang="en-US" sz="1800" dirty="0">
                          <a:latin typeface="Cambria" panose="02040503050406030204" pitchFamily="18" charset="0"/>
                          <a:ea typeface="Cambria" panose="02040503050406030204" pitchFamily="18" charset="0"/>
                        </a:rPr>
                        <a:t>sum()</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the sum of elements (only if all are numeric)</a:t>
                      </a:r>
                      <a:endParaRPr lang="en-US" sz="180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sum((1, 2, 3)) → 6</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377706">
                <a:tc>
                  <a:txBody>
                    <a:bodyPr/>
                    <a:lstStyle/>
                    <a:p>
                      <a:r>
                        <a:rPr lang="en-US" sz="1800" dirty="0">
                          <a:latin typeface="Cambria" panose="02040503050406030204" pitchFamily="18" charset="0"/>
                          <a:ea typeface="Cambria" panose="02040503050406030204" pitchFamily="18" charset="0"/>
                        </a:rPr>
                        <a:t>sorted()</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a sorted list from the tuple’s elements</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sorted((3, 1, 2)) → [1, 2, 3]</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377706">
                <a:tc>
                  <a:txBody>
                    <a:bodyPr/>
                    <a:lstStyle/>
                    <a:p>
                      <a:r>
                        <a:rPr lang="en-US" sz="1800" dirty="0">
                          <a:solidFill>
                            <a:schemeClr val="tx1"/>
                          </a:solidFill>
                          <a:latin typeface="Cambria" panose="02040503050406030204" pitchFamily="18" charset="0"/>
                          <a:ea typeface="Cambria" panose="02040503050406030204" pitchFamily="18" charset="0"/>
                        </a:rPr>
                        <a:t>all()</a:t>
                      </a:r>
                      <a:endParaRPr lang="en-US" sz="1800" dirty="0">
                        <a:solidFill>
                          <a:schemeClr val="tx1"/>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solidFill>
                            <a:schemeClr val="tx1"/>
                          </a:solidFill>
                          <a:latin typeface="Cambria" panose="02040503050406030204" pitchFamily="18" charset="0"/>
                          <a:ea typeface="Cambria" panose="02040503050406030204" pitchFamily="18" charset="0"/>
                        </a:rPr>
                        <a:t>Returns True if all elements are true</a:t>
                      </a:r>
                      <a:endParaRPr lang="en-US" sz="1800" dirty="0">
                        <a:solidFill>
                          <a:schemeClr val="tx1"/>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solidFill>
                            <a:schemeClr val="tx1"/>
                          </a:solidFill>
                          <a:latin typeface="Cambria" panose="02040503050406030204" pitchFamily="18" charset="0"/>
                          <a:ea typeface="Cambria" panose="02040503050406030204" pitchFamily="18" charset="0"/>
                        </a:rPr>
                        <a:t>all((1, 2, 3)) → True</a:t>
                      </a:r>
                      <a:endParaRPr lang="en-US" sz="1800" dirty="0">
                        <a:solidFill>
                          <a:schemeClr val="tx1"/>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377706">
                <a:tc>
                  <a:txBody>
                    <a:bodyPr/>
                    <a:lstStyle/>
                    <a:p>
                      <a:r>
                        <a:rPr lang="en-US" sz="1800" dirty="0">
                          <a:solidFill>
                            <a:schemeClr val="tx1"/>
                          </a:solidFill>
                          <a:latin typeface="Cambria" panose="02040503050406030204" pitchFamily="18" charset="0"/>
                          <a:ea typeface="Cambria" panose="02040503050406030204" pitchFamily="18" charset="0"/>
                        </a:rPr>
                        <a:t>any()</a:t>
                      </a:r>
                      <a:endParaRPr lang="en-US" sz="1800" dirty="0">
                        <a:solidFill>
                          <a:schemeClr val="tx1"/>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a:solidFill>
                            <a:schemeClr val="tx1"/>
                          </a:solidFill>
                          <a:latin typeface="Cambria" panose="02040503050406030204" pitchFamily="18" charset="0"/>
                          <a:ea typeface="Cambria" panose="02040503050406030204" pitchFamily="18" charset="0"/>
                        </a:rPr>
                        <a:t>Returns True if any element is true</a:t>
                      </a:r>
                      <a:endParaRPr lang="en-US" sz="1800">
                        <a:solidFill>
                          <a:schemeClr val="tx1"/>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solidFill>
                            <a:schemeClr val="tx1"/>
                          </a:solidFill>
                          <a:latin typeface="Cambria" panose="02040503050406030204" pitchFamily="18" charset="0"/>
                          <a:ea typeface="Cambria" panose="02040503050406030204" pitchFamily="18" charset="0"/>
                        </a:rPr>
                        <a:t>any((0, 0, 3)) → True</a:t>
                      </a:r>
                      <a:endParaRPr lang="en-US" sz="1800" dirty="0">
                        <a:solidFill>
                          <a:schemeClr val="tx1"/>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663368">
                <a:tc>
                  <a:txBody>
                    <a:bodyPr/>
                    <a:lstStyle/>
                    <a:p>
                      <a:r>
                        <a:rPr lang="en-US" sz="1800" dirty="0">
                          <a:solidFill>
                            <a:srgbClr val="FF0000"/>
                          </a:solidFill>
                          <a:latin typeface="Cambria" panose="02040503050406030204" pitchFamily="18" charset="0"/>
                          <a:ea typeface="Cambria" panose="02040503050406030204" pitchFamily="18" charset="0"/>
                        </a:rPr>
                        <a:t>enumerate()</a:t>
                      </a:r>
                      <a:endParaRPr lang="en-US" sz="1800" dirty="0">
                        <a:solidFill>
                          <a:srgbClr val="FF0000"/>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a:solidFill>
                            <a:srgbClr val="FF0000"/>
                          </a:solidFill>
                          <a:latin typeface="Cambria" panose="02040503050406030204" pitchFamily="18" charset="0"/>
                          <a:ea typeface="Cambria" panose="02040503050406030204" pitchFamily="18" charset="0"/>
                        </a:rPr>
                        <a:t>Returns an enumerate object with index–value pairs</a:t>
                      </a:r>
                      <a:endParaRPr lang="en-US" sz="1800">
                        <a:solidFill>
                          <a:srgbClr val="FF0000"/>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solidFill>
                            <a:srgbClr val="FF0000"/>
                          </a:solidFill>
                          <a:latin typeface="Cambria" panose="02040503050406030204" pitchFamily="18" charset="0"/>
                          <a:ea typeface="Cambria" panose="02040503050406030204" pitchFamily="18" charset="0"/>
                        </a:rPr>
                        <a:t>list(enumerate(('a', 'b'))) → [(0, 'a'), (1, 'b')]</a:t>
                      </a:r>
                      <a:endParaRPr lang="en-US" sz="1800" dirty="0">
                        <a:solidFill>
                          <a:srgbClr val="FF0000"/>
                        </a:solidFill>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377706">
                <a:tc>
                  <a:txBody>
                    <a:bodyPr/>
                    <a:lstStyle/>
                    <a:p>
                      <a:r>
                        <a:rPr lang="en-US" sz="1800">
                          <a:latin typeface="Cambria" panose="02040503050406030204" pitchFamily="18" charset="0"/>
                          <a:ea typeface="Cambria" panose="02040503050406030204" pitchFamily="18" charset="0"/>
                        </a:rPr>
                        <a:t>reversed()</a:t>
                      </a:r>
                      <a:endParaRPr lang="en-US" sz="180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a reverse iterator over the tuple</a:t>
                      </a:r>
                      <a:endParaRPr lang="en-US" sz="180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tuple(reversed((1, 2, 3))) → (3, 2, 1)</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r h="377706">
                <a:tc>
                  <a:txBody>
                    <a:bodyPr/>
                    <a:lstStyle/>
                    <a:p>
                      <a:r>
                        <a:rPr lang="en-US" sz="1800" dirty="0">
                          <a:latin typeface="Cambria" panose="02040503050406030204" pitchFamily="18" charset="0"/>
                          <a:ea typeface="Cambria" panose="02040503050406030204" pitchFamily="18" charset="0"/>
                        </a:rPr>
                        <a:t>in operator</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Checks if an element exists in the tuple</a:t>
                      </a:r>
                      <a:endParaRPr lang="en-US" sz="180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2 in (1, 2, 3) → True</a:t>
                      </a:r>
                      <a:endParaRPr lang="en-US" sz="1800" dirty="0">
                        <a:latin typeface="Cambria" panose="02040503050406030204" pitchFamily="18" charset="0"/>
                        <a:ea typeface="Cambria" panose="02040503050406030204" pitchFamily="18" charset="0"/>
                      </a:endParaRPr>
                    </a:p>
                  </a:txBody>
                  <a:tcPr marL="48577" marR="48577" marT="24289" marB="24289" anchor="ctr">
                    <a:lnL>
                      <a:noFill/>
                    </a:lnL>
                    <a:lnR>
                      <a:noFill/>
                    </a:lnR>
                    <a:lnT>
                      <a:noFill/>
                    </a:lnT>
                    <a:lnB>
                      <a:noFill/>
                    </a:lnB>
                    <a:no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7" y="123596"/>
            <a:ext cx="11810196" cy="530922"/>
          </a:xfrm>
        </p:spPr>
        <p:txBody>
          <a:bodyPr>
            <a:normAutofit/>
          </a:bodyPr>
          <a:lstStyle/>
          <a:p>
            <a:r>
              <a:rPr lang="en-US" sz="2400" dirty="0">
                <a:solidFill>
                  <a:srgbClr val="FF0000"/>
                </a:solidFill>
                <a:latin typeface="Cambria" panose="02040503050406030204" pitchFamily="18" charset="0"/>
                <a:ea typeface="Cambria" panose="02040503050406030204" pitchFamily="18" charset="0"/>
              </a:rPr>
              <a:t>Python Question on list and Tuple</a:t>
            </a:r>
            <a:endParaRPr lang="en-US" sz="2400"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52387" y="654517"/>
            <a:ext cx="11916075" cy="6079887"/>
          </a:xfrm>
        </p:spPr>
        <p:txBody>
          <a:bodyPr>
            <a:noAutofit/>
          </a:bodyPr>
          <a:lstStyle/>
          <a:p>
            <a:pPr marL="0" indent="0">
              <a:buNone/>
            </a:pPr>
            <a:r>
              <a:rPr lang="en-US" sz="1800" dirty="0">
                <a:latin typeface="Cambria" panose="02040503050406030204" pitchFamily="18" charset="0"/>
                <a:ea typeface="Cambria" panose="02040503050406030204" pitchFamily="18" charset="0"/>
              </a:rPr>
              <a:t>	1. Create a list of 5 integers. Find the maximum and minimum value using max() and min().</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2. Take a list of numbers and use sum() and </a:t>
            </a:r>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 to calculate the average.</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3. Write a program that takes a list of numbers and counts how many times a number (e.g. 3) appears using .count().</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4. Create a list and use append(), insert(), and extend() to add multiple elements. Print the final list.</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5. Sort a list in both ascending and descending order using sort() and reverse=True.</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6. Convert a list of numbers into a tuple using tuple(). Then use index() to find the position of a specific number.</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7. Use a list of strings and sort them alphabetically. Then count how many start with a specific letter.</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8. Write a program that takes a tuple of numbers and prints the second-largest number using sorted() and indexing.</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9. Create two lists and concatenate them using the + operator and also using .extend(). Show the difference.</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10. Create a tuple and check if a specific element exists using the in operator.</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11. Convert a string to a list of characters using list() and then back to a string using "".join().</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12. Given a list of numbers, remove duplicates using set(), then convert it back to a list.</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13. Write a program to create a tuple of even numbers from a given list using a loop and conditional.</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14. Use enumerate() with a list of items to print both index and value.</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800" dirty="0">
                <a:latin typeface="Cambria" panose="02040503050406030204" pitchFamily="18" charset="0"/>
                <a:ea typeface="Cambria" panose="02040503050406030204" pitchFamily="18" charset="0"/>
              </a:rPr>
              <a:t>15. Take a list of integers and use list slicing to reverse it without using .reverse().</a:t>
            </a: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143" y="144379"/>
            <a:ext cx="10840469" cy="664143"/>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Python Set Collection</a:t>
            </a:r>
            <a:endParaRPr lang="en-US" sz="28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265430" y="714375"/>
            <a:ext cx="11637645" cy="581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Definition:</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Set</a:t>
            </a:r>
            <a:r>
              <a:rPr kumimoji="0" lang="en-US" altLang="en-US" sz="1800" b="0" i="0" u="none" strike="noStrike" cap="none" normalizeH="0" baseline="0" dirty="0">
                <a:ln>
                  <a:noFill/>
                </a:ln>
                <a:solidFill>
                  <a:schemeClr val="tx1"/>
                </a:solidFill>
                <a:effectLst/>
                <a:latin typeface="Arial" panose="020B0604020202020204" pitchFamily="34" charset="0"/>
              </a:rPr>
              <a:t> is an </a:t>
            </a:r>
            <a:r>
              <a:rPr kumimoji="0" lang="en-US" altLang="en-US" sz="1800" b="1" i="0" u="none" strike="noStrike" cap="none" normalizeH="0" baseline="0" dirty="0">
                <a:ln>
                  <a:noFill/>
                </a:ln>
                <a:solidFill>
                  <a:schemeClr val="tx1"/>
                </a:solidFill>
                <a:effectLst/>
                <a:latin typeface="Arial" panose="020B0604020202020204" pitchFamily="34" charset="0"/>
              </a:rPr>
              <a:t>unordered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mutable</a:t>
            </a:r>
            <a:r>
              <a:rPr kumimoji="0" lang="en-US" altLang="en-US" sz="1800" b="0" i="0" u="none" strike="noStrike" cap="none" normalizeH="0" baseline="0" dirty="0">
                <a:ln>
                  <a:noFill/>
                </a:ln>
                <a:solidFill>
                  <a:schemeClr val="tx1"/>
                </a:solidFill>
                <a:effectLst/>
                <a:latin typeface="Arial" panose="020B0604020202020204" pitchFamily="34" charset="0"/>
              </a:rPr>
              <a:t> collection of </a:t>
            </a:r>
            <a:r>
              <a:rPr kumimoji="0" lang="en-US" altLang="en-US" sz="1800" b="1" i="0" u="none" strike="noStrike" cap="none" normalizeH="0" baseline="0" dirty="0">
                <a:ln>
                  <a:noFill/>
                </a:ln>
                <a:solidFill>
                  <a:schemeClr val="tx1"/>
                </a:solidFill>
                <a:effectLst/>
                <a:latin typeface="Arial" panose="020B0604020202020204" pitchFamily="34" charset="0"/>
              </a:rPr>
              <a:t>unique elements</a:t>
            </a:r>
            <a:r>
              <a:rPr kumimoji="0" lang="en-US" altLang="en-US" sz="1800" b="0" i="0" u="none" strike="noStrike" cap="none" normalizeH="0" baseline="0" dirty="0">
                <a:ln>
                  <a:noFill/>
                </a:ln>
                <a:solidFill>
                  <a:schemeClr val="tx1"/>
                </a:solidFill>
                <a:effectLst/>
                <a:latin typeface="Arial" panose="020B0604020202020204" pitchFamily="34" charset="0"/>
              </a:rPr>
              <a:t>. Sets are ideal for membership tests and performing </a:t>
            </a:r>
            <a:r>
              <a:rPr kumimoji="0" lang="en-US" altLang="en-US" sz="1800" b="1" i="0" u="none" strike="noStrike" cap="none" normalizeH="0" baseline="0" dirty="0">
                <a:ln>
                  <a:noFill/>
                </a:ln>
                <a:solidFill>
                  <a:schemeClr val="tx1"/>
                </a:solidFill>
                <a:effectLst/>
                <a:latin typeface="Arial" panose="020B0604020202020204" pitchFamily="34" charset="0"/>
              </a:rPr>
              <a:t>mathematical set operations</a:t>
            </a:r>
            <a:r>
              <a:rPr kumimoji="0" lang="en-US" altLang="en-US" sz="1800" b="0" i="0" u="none" strike="noStrike" cap="none" normalizeH="0" baseline="0" dirty="0">
                <a:ln>
                  <a:noFill/>
                </a:ln>
                <a:solidFill>
                  <a:schemeClr val="tx1"/>
                </a:solidFill>
                <a:effectLst/>
                <a:latin typeface="Arial" panose="020B0604020202020204" pitchFamily="34" charset="0"/>
              </a:rPr>
              <a:t> like union, intersection, etc.</a:t>
            </a: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Unicode MS"/>
              </a:rPr>
              <a:t>Python</a:t>
            </a: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Unicode MS"/>
              </a:rPr>
              <a:t>example = {1, 2, 3, 4} </a:t>
            </a:r>
            <a:endParaRPr kumimoji="0" lang="en-US" altLang="en-US" sz="18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1800" b="1" i="0" u="none" strike="noStrike" cap="none" normalizeH="0" baseline="0" dirty="0">
                <a:ln>
                  <a:noFill/>
                </a:ln>
                <a:solidFill>
                  <a:schemeClr val="tx1"/>
                </a:solidFill>
                <a:effectLst/>
                <a:latin typeface="Arial" panose="020B0604020202020204" pitchFamily="34" charset="0"/>
              </a:rPr>
              <a:t>Unordered</a:t>
            </a:r>
            <a:r>
              <a:rPr kumimoji="0" lang="en-US" altLang="en-US" sz="1800" b="0" i="0" u="none" strike="noStrike" cap="none" normalizeH="0" baseline="0" dirty="0">
                <a:ln>
                  <a:noFill/>
                </a:ln>
                <a:solidFill>
                  <a:schemeClr val="tx1"/>
                </a:solidFill>
                <a:effectLst/>
                <a:latin typeface="Arial" panose="020B0604020202020204" pitchFamily="34" charset="0"/>
              </a:rPr>
              <a:t>: No guaranteed order of elements.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1800" b="1" i="0" u="none" strike="noStrike" cap="none" normalizeH="0" baseline="0" dirty="0">
                <a:ln>
                  <a:noFill/>
                </a:ln>
                <a:solidFill>
                  <a:schemeClr val="tx1"/>
                </a:solidFill>
                <a:effectLst/>
                <a:latin typeface="Arial" panose="020B0604020202020204" pitchFamily="34" charset="0"/>
              </a:rPr>
              <a:t>Mutable</a:t>
            </a:r>
            <a:r>
              <a:rPr kumimoji="0" lang="en-US" altLang="en-US" sz="1800" b="0" i="0" u="none" strike="noStrike" cap="none" normalizeH="0" baseline="0" dirty="0">
                <a:ln>
                  <a:noFill/>
                </a:ln>
                <a:solidFill>
                  <a:schemeClr val="tx1"/>
                </a:solidFill>
                <a:effectLst/>
                <a:latin typeface="Arial" panose="020B0604020202020204" pitchFamily="34" charset="0"/>
              </a:rPr>
              <a:t>: Elements can be added or removed.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1800" b="1" i="0" u="none" strike="noStrike" cap="none" normalizeH="0" baseline="0" dirty="0">
                <a:ln>
                  <a:noFill/>
                </a:ln>
                <a:solidFill>
                  <a:schemeClr val="tx1"/>
                </a:solidFill>
                <a:effectLst/>
                <a:latin typeface="Arial" panose="020B0604020202020204" pitchFamily="34" charset="0"/>
              </a:rPr>
              <a:t>No Duplicates</a:t>
            </a:r>
            <a:r>
              <a:rPr kumimoji="0" lang="en-US" altLang="en-US" sz="1800" b="0" i="0" u="none" strike="noStrike" cap="none" normalizeH="0" baseline="0" dirty="0">
                <a:ln>
                  <a:noFill/>
                </a:ln>
                <a:solidFill>
                  <a:schemeClr val="tx1"/>
                </a:solidFill>
                <a:effectLst/>
                <a:latin typeface="Arial" panose="020B0604020202020204" pitchFamily="34" charset="0"/>
              </a:rPr>
              <a:t>: Every element is unique.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pPr>
            <a:r>
              <a:rPr kumimoji="0" lang="en-US" altLang="en-US" sz="1800" b="1" i="0" u="none" strike="noStrike" cap="none" normalizeH="0" baseline="0" dirty="0">
                <a:ln>
                  <a:noFill/>
                </a:ln>
                <a:solidFill>
                  <a:schemeClr val="tx1"/>
                </a:solidFill>
                <a:effectLst/>
                <a:latin typeface="Arial" panose="020B0604020202020204" pitchFamily="34" charset="0"/>
              </a:rPr>
              <a:t>Unindexed</a:t>
            </a:r>
            <a:r>
              <a:rPr kumimoji="0" lang="en-US" altLang="en-US" sz="1800" b="0" i="0" u="none" strike="noStrike" cap="none" normalizeH="0" baseline="0" dirty="0">
                <a:ln>
                  <a:noFill/>
                </a:ln>
                <a:solidFill>
                  <a:schemeClr val="tx1"/>
                </a:solidFill>
                <a:effectLst/>
                <a:latin typeface="Arial" panose="020B0604020202020204" pitchFamily="34" charset="0"/>
              </a:rPr>
              <a:t>: Elements cannot be accessed by index.</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pPr>
            <a:r>
              <a:rPr kumimoji="0" lang="en-US" altLang="en-US" sz="1800" b="1" i="0" u="none" strike="noStrike" cap="none" normalizeH="0" baseline="0" dirty="0">
                <a:ln>
                  <a:noFill/>
                </a:ln>
                <a:solidFill>
                  <a:schemeClr val="tx1"/>
                </a:solidFill>
                <a:effectLst/>
                <a:latin typeface="Arial" panose="020B0604020202020204" pitchFamily="34" charset="0"/>
              </a:rPr>
              <a:t>Supports Set Operations</a:t>
            </a:r>
            <a:r>
              <a:rPr kumimoji="0" lang="en-US" altLang="en-US" sz="1800" b="0" i="0" u="none" strike="noStrike" cap="none" normalizeH="0" baseline="0" dirty="0">
                <a:ln>
                  <a:noFill/>
                </a:ln>
                <a:solidFill>
                  <a:schemeClr val="tx1"/>
                </a:solidFill>
                <a:effectLst/>
                <a:latin typeface="Arial" panose="020B0604020202020204" pitchFamily="34" charset="0"/>
              </a:rPr>
              <a:t>: Like union, intersection, difference.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145" y="635"/>
            <a:ext cx="11158220" cy="329565"/>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Python Set Collection Method</a:t>
            </a:r>
            <a:endParaRPr lang="en-US" sz="2400" dirty="0"/>
          </a:p>
        </p:txBody>
      </p:sp>
      <p:graphicFrame>
        <p:nvGraphicFramePr>
          <p:cNvPr id="4" name="Content Placeholder 3"/>
          <p:cNvGraphicFramePr>
            <a:graphicFrameLocks noGrp="1"/>
          </p:cNvGraphicFramePr>
          <p:nvPr>
            <p:ph idx="1"/>
            <p:custDataLst>
              <p:tags r:id="rId1"/>
            </p:custDataLst>
          </p:nvPr>
        </p:nvGraphicFramePr>
        <p:xfrm>
          <a:off x="221615" y="330200"/>
          <a:ext cx="12047855" cy="6527165"/>
        </p:xfrm>
        <a:graphic>
          <a:graphicData uri="http://schemas.openxmlformats.org/drawingml/2006/table">
            <a:tbl>
              <a:tblPr/>
              <a:tblGrid>
                <a:gridCol w="3207385"/>
                <a:gridCol w="5956935"/>
                <a:gridCol w="2883535"/>
              </a:tblGrid>
              <a:tr h="386715">
                <a:tc>
                  <a:txBody>
                    <a:bodyPr/>
                    <a:lstStyle/>
                    <a:p>
                      <a:pPr algn="ctr"/>
                      <a:r>
                        <a:rPr lang="en-US" sz="2000" b="1" dirty="0">
                          <a:latin typeface="Cambria" panose="02040503050406030204" pitchFamily="18" charset="0"/>
                          <a:ea typeface="Cambria" panose="02040503050406030204" pitchFamily="18" charset="0"/>
                        </a:rPr>
                        <a:t>Method</a:t>
                      </a:r>
                      <a:endParaRPr lang="en-US" sz="2000" b="1"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1">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Definition</a:t>
                      </a:r>
                      <a:endParaRPr lang="en-US" sz="2000" b="1"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1">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Example</a:t>
                      </a:r>
                      <a:endParaRPr lang="en-US" sz="2000" b="1"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1">
                        <a:lumMod val="60000"/>
                        <a:lumOff val="40000"/>
                      </a:schemeClr>
                    </a:solidFill>
                  </a:tcPr>
                </a:tc>
              </a:tr>
              <a:tr h="318770">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add(x)</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highlight>
                            <a:srgbClr val="00FF00"/>
                          </a:highlight>
                          <a:latin typeface="Cambria" panose="02040503050406030204" pitchFamily="18" charset="0"/>
                          <a:ea typeface="Cambria" panose="02040503050406030204" pitchFamily="18" charset="0"/>
                        </a:rPr>
                        <a:t>Adds element x</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highlight>
                            <a:srgbClr val="00FF00"/>
                          </a:highlight>
                          <a:latin typeface="Cambria" panose="02040503050406030204" pitchFamily="18" charset="0"/>
                          <a:ea typeface="Cambria" panose="02040503050406030204" pitchFamily="18" charset="0"/>
                        </a:rPr>
                        <a:t>s.add</a:t>
                      </a:r>
                      <a:r>
                        <a:rPr lang="en-US" sz="1600" dirty="0">
                          <a:highlight>
                            <a:srgbClr val="00FF00"/>
                          </a:highlight>
                          <a:latin typeface="Cambria" panose="02040503050406030204" pitchFamily="18" charset="0"/>
                          <a:ea typeface="Cambria" panose="02040503050406030204" pitchFamily="18" charset="0"/>
                        </a:rPr>
                        <a:t>(5)</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318135">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update(</a:t>
                      </a:r>
                      <a:r>
                        <a:rPr lang="en-US" sz="1800" dirty="0" err="1">
                          <a:solidFill>
                            <a:schemeClr val="tx1"/>
                          </a:solidFill>
                          <a:highlight>
                            <a:srgbClr val="00FF00"/>
                          </a:highlight>
                          <a:latin typeface="Cambria" panose="02040503050406030204" pitchFamily="18" charset="0"/>
                          <a:ea typeface="Cambria" panose="02040503050406030204" pitchFamily="18" charset="0"/>
                        </a:rPr>
                        <a:t>iterable</a:t>
                      </a:r>
                      <a:r>
                        <a:rPr lang="en-US" sz="1800" dirty="0">
                          <a:solidFill>
                            <a:schemeClr val="tx1"/>
                          </a:solidFill>
                          <a:highlight>
                            <a:srgbClr val="00FF00"/>
                          </a:highlight>
                          <a:latin typeface="Cambria" panose="02040503050406030204" pitchFamily="18" charset="0"/>
                          <a:ea typeface="Cambria" panose="02040503050406030204" pitchFamily="18" charset="0"/>
                        </a:rPr>
                        <a:t>)</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highlight>
                            <a:srgbClr val="00FF00"/>
                          </a:highlight>
                          <a:latin typeface="Cambria" panose="02040503050406030204" pitchFamily="18" charset="0"/>
                          <a:ea typeface="Cambria" panose="02040503050406030204" pitchFamily="18" charset="0"/>
                        </a:rPr>
                        <a:t>Adds multiple elements</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highlight>
                            <a:srgbClr val="00FF00"/>
                          </a:highlight>
                          <a:latin typeface="Cambria" panose="02040503050406030204" pitchFamily="18" charset="0"/>
                          <a:ea typeface="Cambria" panose="02040503050406030204" pitchFamily="18" charset="0"/>
                        </a:rPr>
                        <a:t>s.update</a:t>
                      </a:r>
                      <a:r>
                        <a:rPr lang="en-US" sz="1600" dirty="0">
                          <a:highlight>
                            <a:srgbClr val="00FF00"/>
                          </a:highlight>
                          <a:latin typeface="Cambria" panose="02040503050406030204" pitchFamily="18" charset="0"/>
                          <a:ea typeface="Cambria" panose="02040503050406030204" pitchFamily="18" charset="0"/>
                        </a:rPr>
                        <a:t>([6, 7])</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7045">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remove(x)</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highlight>
                            <a:srgbClr val="00FF00"/>
                          </a:highlight>
                          <a:latin typeface="Cambria" panose="02040503050406030204" pitchFamily="18" charset="0"/>
                          <a:ea typeface="Cambria" panose="02040503050406030204" pitchFamily="18" charset="0"/>
                        </a:rPr>
                        <a:t>Removes x; error if not found</a:t>
                      </a:r>
                      <a:endParaRPr lang="en-US" sz="160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highlight>
                            <a:srgbClr val="00FF00"/>
                          </a:highlight>
                          <a:latin typeface="Cambria" panose="02040503050406030204" pitchFamily="18" charset="0"/>
                          <a:ea typeface="Cambria" panose="02040503050406030204" pitchFamily="18" charset="0"/>
                        </a:rPr>
                        <a:t>s.remove(3)</a:t>
                      </a:r>
                      <a:endParaRPr lang="en-US" sz="160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6410">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discard(x)</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highlight>
                            <a:srgbClr val="00FF00"/>
                          </a:highlight>
                          <a:latin typeface="Cambria" panose="02040503050406030204" pitchFamily="18" charset="0"/>
                          <a:ea typeface="Cambria" panose="02040503050406030204" pitchFamily="18" charset="0"/>
                        </a:rPr>
                        <a:t>Removes x; no error if not found</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highlight>
                            <a:srgbClr val="00FF00"/>
                          </a:highlight>
                          <a:latin typeface="Cambria" panose="02040503050406030204" pitchFamily="18" charset="0"/>
                          <a:ea typeface="Cambria" panose="02040503050406030204" pitchFamily="18" charset="0"/>
                        </a:rPr>
                        <a:t>s.discard</a:t>
                      </a:r>
                      <a:r>
                        <a:rPr lang="en-US" sz="1600" dirty="0">
                          <a:highlight>
                            <a:srgbClr val="00FF00"/>
                          </a:highlight>
                          <a:latin typeface="Cambria" panose="02040503050406030204" pitchFamily="18" charset="0"/>
                          <a:ea typeface="Cambria" panose="02040503050406030204" pitchFamily="18" charset="0"/>
                        </a:rPr>
                        <a:t>(10)</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7045">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pop()</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highlight>
                            <a:srgbClr val="00FF00"/>
                          </a:highlight>
                          <a:latin typeface="Cambria" panose="02040503050406030204" pitchFamily="18" charset="0"/>
                          <a:ea typeface="Cambria" panose="02040503050406030204" pitchFamily="18" charset="0"/>
                        </a:rPr>
                        <a:t>Removes and returns an arbitrary item</a:t>
                      </a:r>
                      <a:endParaRPr lang="en-US" sz="160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highlight>
                            <a:srgbClr val="00FF00"/>
                          </a:highlight>
                          <a:latin typeface="Cambria" panose="02040503050406030204" pitchFamily="18" charset="0"/>
                          <a:ea typeface="Cambria" panose="02040503050406030204" pitchFamily="18" charset="0"/>
                        </a:rPr>
                        <a:t>s.pop</a:t>
                      </a:r>
                      <a:r>
                        <a:rPr lang="en-US" sz="1600" dirty="0">
                          <a:highlight>
                            <a:srgbClr val="00FF00"/>
                          </a:highlight>
                          <a:latin typeface="Cambria" panose="02040503050406030204" pitchFamily="18" charset="0"/>
                          <a:ea typeface="Cambria" panose="02040503050406030204" pitchFamily="18" charset="0"/>
                        </a:rPr>
                        <a:t>()</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318135">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clear()</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highlight>
                            <a:srgbClr val="00FF00"/>
                          </a:highlight>
                          <a:latin typeface="Cambria" panose="02040503050406030204" pitchFamily="18" charset="0"/>
                          <a:ea typeface="Cambria" panose="02040503050406030204" pitchFamily="18" charset="0"/>
                        </a:rPr>
                        <a:t>Removes all elements</a:t>
                      </a:r>
                      <a:endParaRPr lang="en-US" sz="160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highlight>
                            <a:srgbClr val="00FF00"/>
                          </a:highlight>
                          <a:latin typeface="Cambria" panose="02040503050406030204" pitchFamily="18" charset="0"/>
                          <a:ea typeface="Cambria" panose="02040503050406030204" pitchFamily="18" charset="0"/>
                        </a:rPr>
                        <a:t>s.clear</a:t>
                      </a:r>
                      <a:r>
                        <a:rPr lang="en-US" sz="1600" dirty="0">
                          <a:highlight>
                            <a:srgbClr val="00FF00"/>
                          </a:highlight>
                          <a:latin typeface="Cambria" panose="02040503050406030204" pitchFamily="18" charset="0"/>
                          <a:ea typeface="Cambria" panose="02040503050406030204" pitchFamily="18" charset="0"/>
                        </a:rPr>
                        <a:t>()</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318770">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copy()</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highlight>
                            <a:srgbClr val="00FF00"/>
                          </a:highlight>
                          <a:latin typeface="Cambria" panose="02040503050406030204" pitchFamily="18" charset="0"/>
                          <a:ea typeface="Cambria" panose="02040503050406030204" pitchFamily="18" charset="0"/>
                        </a:rPr>
                        <a:t>Returns a shallow copy</a:t>
                      </a:r>
                      <a:endParaRPr lang="en-US" sz="160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highlight>
                            <a:srgbClr val="00FF00"/>
                          </a:highlight>
                          <a:latin typeface="Cambria" panose="02040503050406030204" pitchFamily="18" charset="0"/>
                          <a:ea typeface="Cambria" panose="02040503050406030204" pitchFamily="18" charset="0"/>
                        </a:rPr>
                        <a:t>s2 = </a:t>
                      </a:r>
                      <a:r>
                        <a:rPr lang="en-US" sz="1600" dirty="0" err="1">
                          <a:highlight>
                            <a:srgbClr val="00FF00"/>
                          </a:highlight>
                          <a:latin typeface="Cambria" panose="02040503050406030204" pitchFamily="18" charset="0"/>
                          <a:ea typeface="Cambria" panose="02040503050406030204" pitchFamily="18" charset="0"/>
                        </a:rPr>
                        <a:t>s.copy</a:t>
                      </a:r>
                      <a:r>
                        <a:rPr lang="en-US" sz="1600" dirty="0">
                          <a:highlight>
                            <a:srgbClr val="00FF00"/>
                          </a:highlight>
                          <a:latin typeface="Cambria" panose="02040503050406030204" pitchFamily="18" charset="0"/>
                          <a:ea typeface="Cambria" panose="02040503050406030204" pitchFamily="18" charset="0"/>
                        </a:rPr>
                        <a:t>()</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7045">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union(</a:t>
                      </a:r>
                      <a:r>
                        <a:rPr lang="en-US" sz="1800" dirty="0" err="1">
                          <a:solidFill>
                            <a:schemeClr val="tx1"/>
                          </a:solidFill>
                          <a:highlight>
                            <a:srgbClr val="00FF00"/>
                          </a:highlight>
                          <a:latin typeface="Cambria" panose="02040503050406030204" pitchFamily="18" charset="0"/>
                          <a:ea typeface="Cambria" panose="02040503050406030204" pitchFamily="18" charset="0"/>
                        </a:rPr>
                        <a:t>other_set</a:t>
                      </a:r>
                      <a:r>
                        <a:rPr lang="en-US" sz="1800" dirty="0">
                          <a:solidFill>
                            <a:schemeClr val="tx1"/>
                          </a:solidFill>
                          <a:highlight>
                            <a:srgbClr val="00FF00"/>
                          </a:highlight>
                          <a:latin typeface="Cambria" panose="02040503050406030204" pitchFamily="18" charset="0"/>
                          <a:ea typeface="Cambria" panose="02040503050406030204" pitchFamily="18" charset="0"/>
                        </a:rPr>
                        <a:t>)</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highlight>
                            <a:srgbClr val="00FF00"/>
                          </a:highlight>
                          <a:latin typeface="Cambria" panose="02040503050406030204" pitchFamily="18" charset="0"/>
                          <a:ea typeface="Cambria" panose="02040503050406030204" pitchFamily="18" charset="0"/>
                        </a:rPr>
                        <a:t>Returns a new set with elements from both sets</a:t>
                      </a:r>
                      <a:endParaRPr lang="en-US" sz="160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highlight>
                            <a:srgbClr val="00FF00"/>
                          </a:highlight>
                          <a:latin typeface="Cambria" panose="02040503050406030204" pitchFamily="18" charset="0"/>
                          <a:ea typeface="Cambria" panose="02040503050406030204" pitchFamily="18" charset="0"/>
                        </a:rPr>
                        <a:t>s.union</a:t>
                      </a:r>
                      <a:r>
                        <a:rPr lang="en-US" sz="1600" dirty="0">
                          <a:highlight>
                            <a:srgbClr val="00FF00"/>
                          </a:highlight>
                          <a:latin typeface="Cambria" panose="02040503050406030204" pitchFamily="18" charset="0"/>
                          <a:ea typeface="Cambria" panose="02040503050406030204" pitchFamily="18" charset="0"/>
                        </a:rPr>
                        <a:t>({8, 9})</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5775">
                <a:tc>
                  <a:txBody>
                    <a:bodyPr/>
                    <a:lstStyle/>
                    <a:p>
                      <a:r>
                        <a:rPr lang="en-US" sz="1800" dirty="0">
                          <a:solidFill>
                            <a:schemeClr val="tx1"/>
                          </a:solidFill>
                          <a:highlight>
                            <a:srgbClr val="00FF00"/>
                          </a:highlight>
                          <a:latin typeface="Cambria" panose="02040503050406030204" pitchFamily="18" charset="0"/>
                          <a:ea typeface="Cambria" panose="02040503050406030204" pitchFamily="18" charset="0"/>
                        </a:rPr>
                        <a:t>intersection(</a:t>
                      </a:r>
                      <a:r>
                        <a:rPr lang="en-US" sz="1800" dirty="0" err="1">
                          <a:solidFill>
                            <a:schemeClr val="tx1"/>
                          </a:solidFill>
                          <a:highlight>
                            <a:srgbClr val="00FF00"/>
                          </a:highlight>
                          <a:latin typeface="Cambria" panose="02040503050406030204" pitchFamily="18" charset="0"/>
                          <a:ea typeface="Cambria" panose="02040503050406030204" pitchFamily="18" charset="0"/>
                        </a:rPr>
                        <a:t>other_set</a:t>
                      </a:r>
                      <a:r>
                        <a:rPr lang="en-US" sz="1800" dirty="0">
                          <a:solidFill>
                            <a:schemeClr val="tx1"/>
                          </a:solidFill>
                          <a:highlight>
                            <a:srgbClr val="00FF00"/>
                          </a:highlight>
                          <a:latin typeface="Cambria" panose="02040503050406030204" pitchFamily="18" charset="0"/>
                          <a:ea typeface="Cambria" panose="02040503050406030204" pitchFamily="18" charset="0"/>
                        </a:rPr>
                        <a:t>)</a:t>
                      </a:r>
                      <a:endParaRPr lang="en-US" sz="1800" dirty="0">
                        <a:solidFill>
                          <a:schemeClr val="tx1"/>
                        </a:solidFill>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highlight>
                            <a:srgbClr val="00FF00"/>
                          </a:highlight>
                          <a:latin typeface="Cambria" panose="02040503050406030204" pitchFamily="18" charset="0"/>
                          <a:ea typeface="Cambria" panose="02040503050406030204" pitchFamily="18" charset="0"/>
                        </a:rPr>
                        <a:t>Returns elements common to both sets</a:t>
                      </a:r>
                      <a:endParaRPr lang="en-US" sz="160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highlight>
                            <a:srgbClr val="00FF00"/>
                          </a:highlight>
                          <a:latin typeface="Cambria" panose="02040503050406030204" pitchFamily="18" charset="0"/>
                          <a:ea typeface="Cambria" panose="02040503050406030204" pitchFamily="18" charset="0"/>
                        </a:rPr>
                        <a:t>s.intersection</a:t>
                      </a:r>
                      <a:r>
                        <a:rPr lang="en-US" sz="1600" dirty="0">
                          <a:highlight>
                            <a:srgbClr val="00FF00"/>
                          </a:highlight>
                          <a:latin typeface="Cambria" panose="02040503050406030204" pitchFamily="18" charset="0"/>
                          <a:ea typeface="Cambria" panose="02040503050406030204" pitchFamily="18" charset="0"/>
                        </a:rPr>
                        <a:t>({2, 3})</a:t>
                      </a:r>
                      <a:endParaRPr lang="en-US" sz="1600" dirty="0">
                        <a:highlight>
                          <a:srgbClr val="00FF00"/>
                        </a:highlight>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7045">
                <a:tc>
                  <a:txBody>
                    <a:bodyPr/>
                    <a:lstStyle/>
                    <a:p>
                      <a:r>
                        <a:rPr lang="en-US" sz="1800" dirty="0">
                          <a:latin typeface="Cambria" panose="02040503050406030204" pitchFamily="18" charset="0"/>
                          <a:ea typeface="Cambria" panose="02040503050406030204" pitchFamily="18" charset="0"/>
                        </a:rPr>
                        <a:t>difference(</a:t>
                      </a:r>
                      <a:r>
                        <a:rPr lang="en-US" sz="1800" dirty="0" err="1">
                          <a:latin typeface="Cambria" panose="02040503050406030204" pitchFamily="18" charset="0"/>
                          <a:ea typeface="Cambria" panose="02040503050406030204" pitchFamily="18" charset="0"/>
                        </a:rPr>
                        <a:t>other_set</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elements in s but not in other_set</a:t>
                      </a:r>
                      <a:endParaRPr lang="en-US" sz="160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s.difference</a:t>
                      </a:r>
                      <a:r>
                        <a:rPr lang="en-US" sz="1600" dirty="0">
                          <a:latin typeface="Cambria" panose="02040503050406030204" pitchFamily="18" charset="0"/>
                          <a:ea typeface="Cambria" panose="02040503050406030204" pitchFamily="18" charset="0"/>
                        </a:rPr>
                        <a:t>({1, 2})</a:t>
                      </a:r>
                      <a:endParaRPr lang="en-US" sz="1600"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7045">
                <a:tc>
                  <a:txBody>
                    <a:bodyPr/>
                    <a:lstStyle/>
                    <a:p>
                      <a:r>
                        <a:rPr lang="en-US" sz="1800" b="1" dirty="0" err="1">
                          <a:solidFill>
                            <a:srgbClr val="FF0000"/>
                          </a:solidFill>
                          <a:latin typeface="Cambria" panose="02040503050406030204" pitchFamily="18" charset="0"/>
                          <a:ea typeface="Cambria" panose="02040503050406030204" pitchFamily="18" charset="0"/>
                        </a:rPr>
                        <a:t>symmetric_difference</a:t>
                      </a:r>
                      <a:r>
                        <a:rPr lang="en-US" sz="1800" b="1" dirty="0">
                          <a:solidFill>
                            <a:srgbClr val="FF0000"/>
                          </a:solidFill>
                          <a:latin typeface="Cambria" panose="02040503050406030204" pitchFamily="18" charset="0"/>
                          <a:ea typeface="Cambria" panose="02040503050406030204" pitchFamily="18" charset="0"/>
                        </a:rPr>
                        <a:t>(set)</a:t>
                      </a:r>
                      <a:endParaRPr lang="en-US" sz="1800" b="1" dirty="0">
                        <a:solidFill>
                          <a:srgbClr val="FF0000"/>
                        </a:solidFill>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elements in either but not both</a:t>
                      </a:r>
                      <a:endParaRPr lang="en-US" sz="160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s.symmetric_difference</a:t>
                      </a:r>
                      <a:r>
                        <a:rPr lang="en-US" sz="1600" dirty="0">
                          <a:latin typeface="Cambria" panose="02040503050406030204" pitchFamily="18" charset="0"/>
                          <a:ea typeface="Cambria" panose="02040503050406030204" pitchFamily="18" charset="0"/>
                        </a:rPr>
                        <a:t>({3, 4})</a:t>
                      </a:r>
                      <a:endParaRPr lang="en-US" sz="1600"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6410">
                <a:tc>
                  <a:txBody>
                    <a:bodyPr/>
                    <a:lstStyle/>
                    <a:p>
                      <a:r>
                        <a:rPr lang="en-US" sz="1800" b="1" dirty="0" err="1">
                          <a:solidFill>
                            <a:srgbClr val="FF0000"/>
                          </a:solidFill>
                          <a:latin typeface="Cambria" panose="02040503050406030204" pitchFamily="18" charset="0"/>
                          <a:ea typeface="Cambria" panose="02040503050406030204" pitchFamily="18" charset="0"/>
                        </a:rPr>
                        <a:t>issubset</a:t>
                      </a:r>
                      <a:r>
                        <a:rPr lang="en-US" sz="1800" b="1" dirty="0">
                          <a:solidFill>
                            <a:srgbClr val="FF0000"/>
                          </a:solidFill>
                          <a:latin typeface="Cambria" panose="02040503050406030204" pitchFamily="18" charset="0"/>
                          <a:ea typeface="Cambria" panose="02040503050406030204" pitchFamily="18" charset="0"/>
                        </a:rPr>
                        <a:t>(</a:t>
                      </a:r>
                      <a:r>
                        <a:rPr lang="en-US" sz="1800" b="1" dirty="0" err="1">
                          <a:solidFill>
                            <a:srgbClr val="FF0000"/>
                          </a:solidFill>
                          <a:latin typeface="Cambria" panose="02040503050406030204" pitchFamily="18" charset="0"/>
                          <a:ea typeface="Cambria" panose="02040503050406030204" pitchFamily="18" charset="0"/>
                        </a:rPr>
                        <a:t>other_set</a:t>
                      </a:r>
                      <a:r>
                        <a:rPr lang="en-US" sz="1800" b="1" dirty="0">
                          <a:solidFill>
                            <a:srgbClr val="FF0000"/>
                          </a:solidFill>
                          <a:latin typeface="Cambria" panose="02040503050406030204" pitchFamily="18" charset="0"/>
                          <a:ea typeface="Cambria" panose="02040503050406030204" pitchFamily="18" charset="0"/>
                        </a:rPr>
                        <a:t>)</a:t>
                      </a:r>
                      <a:endParaRPr lang="en-US" sz="1800" b="1" dirty="0">
                        <a:solidFill>
                          <a:srgbClr val="FF0000"/>
                        </a:solidFill>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True if current set is subset of other_set</a:t>
                      </a:r>
                      <a:endParaRPr lang="en-US" sz="160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s.issubset</a:t>
                      </a:r>
                      <a:r>
                        <a:rPr lang="en-US" sz="1600" dirty="0">
                          <a:latin typeface="Cambria" panose="02040503050406030204" pitchFamily="18" charset="0"/>
                          <a:ea typeface="Cambria" panose="02040503050406030204" pitchFamily="18" charset="0"/>
                        </a:rPr>
                        <a:t>({1,2,3,4,5})</a:t>
                      </a:r>
                      <a:endParaRPr lang="en-US" sz="1600"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6410">
                <a:tc>
                  <a:txBody>
                    <a:bodyPr/>
                    <a:lstStyle/>
                    <a:p>
                      <a:r>
                        <a:rPr lang="en-US" sz="1800" b="1" dirty="0" err="1">
                          <a:solidFill>
                            <a:srgbClr val="FF0000"/>
                          </a:solidFill>
                          <a:latin typeface="Cambria" panose="02040503050406030204" pitchFamily="18" charset="0"/>
                          <a:ea typeface="Cambria" panose="02040503050406030204" pitchFamily="18" charset="0"/>
                        </a:rPr>
                        <a:t>issuperset</a:t>
                      </a:r>
                      <a:r>
                        <a:rPr lang="en-US" sz="1800" b="1" dirty="0">
                          <a:solidFill>
                            <a:srgbClr val="FF0000"/>
                          </a:solidFill>
                          <a:latin typeface="Cambria" panose="02040503050406030204" pitchFamily="18" charset="0"/>
                          <a:ea typeface="Cambria" panose="02040503050406030204" pitchFamily="18" charset="0"/>
                        </a:rPr>
                        <a:t>(</a:t>
                      </a:r>
                      <a:r>
                        <a:rPr lang="en-US" sz="1800" b="1" dirty="0" err="1">
                          <a:solidFill>
                            <a:srgbClr val="FF0000"/>
                          </a:solidFill>
                          <a:latin typeface="Cambria" panose="02040503050406030204" pitchFamily="18" charset="0"/>
                          <a:ea typeface="Cambria" panose="02040503050406030204" pitchFamily="18" charset="0"/>
                        </a:rPr>
                        <a:t>other_set</a:t>
                      </a:r>
                      <a:r>
                        <a:rPr lang="en-US" sz="1800" b="1" dirty="0">
                          <a:solidFill>
                            <a:srgbClr val="FF0000"/>
                          </a:solidFill>
                          <a:latin typeface="Cambria" panose="02040503050406030204" pitchFamily="18" charset="0"/>
                          <a:ea typeface="Cambria" panose="02040503050406030204" pitchFamily="18" charset="0"/>
                        </a:rPr>
                        <a:t>)</a:t>
                      </a:r>
                      <a:endParaRPr lang="en-US" sz="1800" b="1" dirty="0">
                        <a:solidFill>
                          <a:srgbClr val="FF0000"/>
                        </a:solidFill>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True if current set is superset of other_set</a:t>
                      </a:r>
                      <a:endParaRPr lang="en-US" sz="160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s.issuperset</a:t>
                      </a:r>
                      <a:r>
                        <a:rPr lang="en-US" sz="1600" dirty="0">
                          <a:latin typeface="Cambria" panose="02040503050406030204" pitchFamily="18" charset="0"/>
                          <a:ea typeface="Cambria" panose="02040503050406030204" pitchFamily="18" charset="0"/>
                        </a:rPr>
                        <a:t>({2, 3})</a:t>
                      </a:r>
                      <a:endParaRPr lang="en-US" sz="1600"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r h="486410">
                <a:tc>
                  <a:txBody>
                    <a:bodyPr/>
                    <a:lstStyle/>
                    <a:p>
                      <a:r>
                        <a:rPr lang="en-US" sz="1800" dirty="0" err="1">
                          <a:latin typeface="Cambria" panose="02040503050406030204" pitchFamily="18" charset="0"/>
                          <a:ea typeface="Cambria" panose="02040503050406030204" pitchFamily="18" charset="0"/>
                        </a:rPr>
                        <a:t>isdisjoint</a:t>
                      </a:r>
                      <a:r>
                        <a:rPr lang="en-US" sz="1800" dirty="0">
                          <a:latin typeface="Cambria" panose="02040503050406030204" pitchFamily="18" charset="0"/>
                          <a:ea typeface="Cambria" panose="02040503050406030204" pitchFamily="18" charset="0"/>
                        </a:rPr>
                        <a:t>(</a:t>
                      </a:r>
                      <a:r>
                        <a:rPr lang="en-US" sz="1800" dirty="0" err="1">
                          <a:latin typeface="Cambria" panose="02040503050406030204" pitchFamily="18" charset="0"/>
                          <a:ea typeface="Cambria" panose="02040503050406030204" pitchFamily="18" charset="0"/>
                        </a:rPr>
                        <a:t>other_set</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latin typeface="Cambria" panose="02040503050406030204" pitchFamily="18" charset="0"/>
                          <a:ea typeface="Cambria" panose="02040503050406030204" pitchFamily="18" charset="0"/>
                        </a:rPr>
                        <a:t>Returns True if sets have no common elements</a:t>
                      </a:r>
                      <a:endParaRPr lang="en-US" sz="1600"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s.isdisjoint</a:t>
                      </a:r>
                      <a:r>
                        <a:rPr lang="en-US" sz="1600" dirty="0">
                          <a:latin typeface="Cambria" panose="02040503050406030204" pitchFamily="18" charset="0"/>
                          <a:ea typeface="Cambria" panose="02040503050406030204" pitchFamily="18" charset="0"/>
                        </a:rPr>
                        <a:t>({10, 11})</a:t>
                      </a:r>
                      <a:endParaRPr lang="en-US" sz="1600" dirty="0">
                        <a:latin typeface="Cambria" panose="02040503050406030204" pitchFamily="18" charset="0"/>
                        <a:ea typeface="Cambria" panose="02040503050406030204" pitchFamily="18" charset="0"/>
                      </a:endParaRPr>
                    </a:p>
                  </a:txBody>
                  <a:tcPr marL="66781" marR="66781" marT="33390" marB="33390" anchor="ctr">
                    <a:lnL>
                      <a:noFill/>
                    </a:lnL>
                    <a:lnR>
                      <a:noFill/>
                    </a:lnR>
                    <a:lnT>
                      <a:noFill/>
                    </a:lnT>
                    <a:lnB>
                      <a:noFill/>
                    </a:lnB>
                    <a:solidFill>
                      <a:schemeClr val="accent4">
                        <a:lumMod val="40000"/>
                        <a:lumOff val="60000"/>
                      </a:schemeClr>
                    </a:solidFill>
                  </a:tcPr>
                </a:tc>
              </a:tr>
            </a:tbl>
          </a:graphicData>
        </a:graphic>
      </p:graphicFrame>
    </p:spTree>
  </p:cSld>
  <p:clrMapOvr>
    <a:masterClrMapping/>
  </p:clrMapOvr>
</p:sld>
</file>

<file path=ppt/tags/tag1.xml><?xml version="1.0" encoding="utf-8"?>
<p:tagLst xmlns:p="http://schemas.openxmlformats.org/presentationml/2006/main">
  <p:tag name="TABLE_ENDDRAG_ORIGIN_RECT" val="923*492"/>
  <p:tag name="TABLE_ENDDRAG_RECT" val="20*34*923*492"/>
</p:tagLst>
</file>

<file path=ppt/tags/tag2.xml><?xml version="1.0" encoding="utf-8"?>
<p:tagLst xmlns:p="http://schemas.openxmlformats.org/presentationml/2006/main">
  <p:tag name="TABLE_ENDDRAG_ORIGIN_RECT" val="948*513"/>
  <p:tag name="TABLE_ENDDRAG_RECT" val="17*26*948*51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33562</Words>
  <Application>WPS Presentation</Application>
  <PresentationFormat>Widescreen</PresentationFormat>
  <Paragraphs>1539</Paragraphs>
  <Slides>50</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71" baseType="lpstr">
      <vt:lpstr>Arial</vt:lpstr>
      <vt:lpstr>SimSun</vt:lpstr>
      <vt:lpstr>Wingdings</vt:lpstr>
      <vt:lpstr>Cambria</vt:lpstr>
      <vt:lpstr>Mangal</vt:lpstr>
      <vt:lpstr>Segoe Print</vt:lpstr>
      <vt:lpstr>Calibri</vt:lpstr>
      <vt:lpstr>Times New Roman</vt:lpstr>
      <vt:lpstr>ArialMT</vt:lpstr>
      <vt:lpstr>CascadiaCodeRoman-Bold</vt:lpstr>
      <vt:lpstr>Microsoft YaHei</vt:lpstr>
      <vt:lpstr>Arial Unicode MS</vt:lpstr>
      <vt:lpstr>Calibri Light</vt:lpstr>
      <vt:lpstr>Nunito</vt:lpstr>
      <vt:lpstr>Consolas</vt:lpstr>
      <vt:lpstr>Arial Unicode MS</vt:lpstr>
      <vt:lpstr>Segoe UI</vt:lpstr>
      <vt:lpstr>Georgia</vt:lpstr>
      <vt:lpstr>Helvetica</vt:lpstr>
      <vt:lpstr>Office Theme</vt:lpstr>
      <vt:lpstr>StaticMetafile</vt:lpstr>
      <vt:lpstr>Python Introduction</vt:lpstr>
      <vt:lpstr>History Of Python</vt:lpstr>
      <vt:lpstr>PowerPoint 演示文稿</vt:lpstr>
      <vt:lpstr>Why the Name Python? </vt:lpstr>
      <vt:lpstr>Features of Python</vt:lpstr>
      <vt:lpstr>PowerPoint 演示文稿</vt:lpstr>
      <vt:lpstr>Python Applications</vt:lpstr>
      <vt:lpstr>PowerPoint 演示文稿</vt:lpstr>
      <vt:lpstr>Careers With Python</vt:lpstr>
      <vt:lpstr>Installation of Python </vt:lpstr>
      <vt:lpstr>Execution Process of Python</vt:lpstr>
      <vt:lpstr>	Execution Process of Python</vt:lpstr>
      <vt:lpstr> Difference between compiler and interpreter</vt:lpstr>
      <vt:lpstr>Automatic Compilation in Python</vt:lpstr>
      <vt:lpstr>Install or download Jupyter Notebook</vt:lpstr>
      <vt:lpstr>Jupyter Notebook</vt:lpstr>
      <vt:lpstr>Jupyter Notebook</vt:lpstr>
      <vt:lpstr>Python print() function</vt:lpstr>
      <vt:lpstr>Python print() function</vt:lpstr>
      <vt:lpstr>Python Variables and There Rules</vt:lpstr>
      <vt:lpstr>Python Datatypes</vt:lpstr>
      <vt:lpstr>Python Datatypes  			complex_number = real_part + imaginary_part * j j represents the imaginary unit (just like i in mathematics). Python uses j instead of i for complex numbers.</vt:lpstr>
      <vt:lpstr>Python Keywords</vt:lpstr>
      <vt:lpstr>Python Input() function</vt:lpstr>
      <vt:lpstr>Boolean Input From user</vt:lpstr>
      <vt:lpstr>Python Indentation</vt:lpstr>
      <vt:lpstr>Python Operators</vt:lpstr>
      <vt:lpstr>Arithmetic operators 	Arithmetic operations between two operands are carried out using arithmetic operators. It includes the  exponent (**) operator as well as the + (addition), - (subtraction), * (multiplication), / (divide), % (reminder), and // (floor division) operators. These operators are used to perform basic mathematical operations such as addition, subtraction, multiplication, division, and modulus.  </vt:lpstr>
      <vt:lpstr>Assignment Operators The right expression's value is assigned to the left operand using the assignment operators. The following table provides a description of the assignment operators. These are used to assign values to variables and can also perform operations while assigning (e.g., +=, -=).    </vt:lpstr>
      <vt:lpstr>Comparison operators/Relational Operators Comparison operators compare the values of the two operands and return a true or false Boolean value in accordance. The following table lists the comparison operators.  Also known as relational operators, these are used to compare two values and return a Boolean result (True or False) based on the comparison.</vt:lpstr>
      <vt:lpstr>Python Logical Operators   These are used to combine multiple conditional statements and return a Boolean value depending on the logic (e.g., AND, OR, NOT).</vt:lpstr>
      <vt:lpstr>Python MemberShip Operators These test whether a value or variable is found within a sequence such as a list, tuple, or string.</vt:lpstr>
      <vt:lpstr>Python Decision Making Statements</vt:lpstr>
      <vt:lpstr>Python Decision Making Statements</vt:lpstr>
      <vt:lpstr>Assignment On Decision Making Statement</vt:lpstr>
      <vt:lpstr>PowerPoint 演示文稿</vt:lpstr>
      <vt:lpstr>Python Looping Statements</vt:lpstr>
      <vt:lpstr>range() Function in Python? </vt:lpstr>
      <vt:lpstr>Python For Loop and While loop</vt:lpstr>
      <vt:lpstr>Break And Continue Statements in Python</vt:lpstr>
      <vt:lpstr>Python Nesting Loop</vt:lpstr>
      <vt:lpstr>Ptyhon loop Practise Quesions</vt:lpstr>
      <vt:lpstr>Ptyhon loop Practise Quesions</vt:lpstr>
      <vt:lpstr>Python List (Collection)</vt:lpstr>
      <vt:lpstr>List Collection Methods</vt:lpstr>
      <vt:lpstr>Python Tuple Collection</vt:lpstr>
      <vt:lpstr>Python Tuple Collection Method</vt:lpstr>
      <vt:lpstr>Python Question on list and Tuple</vt:lpstr>
      <vt:lpstr>Python Set Collection</vt:lpstr>
      <vt:lpstr>Python Set Collection Method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Nishank Amte</cp:lastModifiedBy>
  <cp:revision>10</cp:revision>
  <dcterms:created xsi:type="dcterms:W3CDTF">2025-07-23T00:59:00Z</dcterms:created>
  <dcterms:modified xsi:type="dcterms:W3CDTF">2025-10-12T11:47:48Z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5A340BAB3A9747FBB872E31A0228A39E_11</vt:lpwstr>
  </property>
  <property fmtid="{D5CDD505-2E9C-101B-9397-08002B2CF9AE}" pid="3" name="KSOProductBuildVer">
    <vt:lpwstr>1033-12.2.0.22549</vt:lpwstr>
  </property>
</Properties>
</file>