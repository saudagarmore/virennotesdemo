
<file path=[Content_Types].xml><?xml version="1.0" encoding="utf-8"?>
<Types xmlns="http://schemas.openxmlformats.org/package/2006/content-types">
  <Default Extension="jpeg" ContentType="image/jpeg"/>
  <Default Extension="JPG" ContentType="image/.jp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256" r:id="rId3"/>
    <p:sldId id="260" r:id="rId4"/>
    <p:sldId id="258" r:id="rId5"/>
    <p:sldId id="257" r:id="rId6"/>
    <p:sldId id="259" r:id="rId7"/>
    <p:sldId id="261" r:id="rId8"/>
    <p:sldId id="272" r:id="rId9"/>
    <p:sldId id="262" r:id="rId10"/>
    <p:sldId id="263" r:id="rId11"/>
    <p:sldId id="265" r:id="rId12"/>
    <p:sldId id="266" r:id="rId13"/>
    <p:sldId id="267" r:id="rId14"/>
    <p:sldId id="268" r:id="rId15"/>
    <p:sldId id="269" r:id="rId16"/>
    <p:sldId id="270" r:id="rId17"/>
    <p:sldId id="264" r:id="rId1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8"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981" autoAdjust="0"/>
    <p:restoredTop sz="94660"/>
  </p:normalViewPr>
  <p:slideViewPr>
    <p:cSldViewPr snapToGrid="0" showGuides="1">
      <p:cViewPr varScale="1">
        <p:scale>
          <a:sx n="53" d="100"/>
          <a:sy n="53" d="100"/>
        </p:scale>
        <p:origin x="180" y="54"/>
      </p:cViewPr>
      <p:guideLst>
        <p:guide orient="horz" pos="2168"/>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7.xml"/><Relationship Id="rId8" Type="http://schemas.openxmlformats.org/officeDocument/2006/relationships/slide" Target="slides/slide6.xml"/><Relationship Id="rId7" Type="http://schemas.openxmlformats.org/officeDocument/2006/relationships/slide" Target="slides/slide5.xml"/><Relationship Id="rId6" Type="http://schemas.openxmlformats.org/officeDocument/2006/relationships/slide" Target="slides/slide4.xml"/><Relationship Id="rId5" Type="http://schemas.openxmlformats.org/officeDocument/2006/relationships/slide" Target="slides/slide3.xml"/><Relationship Id="rId4" Type="http://schemas.openxmlformats.org/officeDocument/2006/relationships/slide" Target="slides/slide2.xml"/><Relationship Id="rId3" Type="http://schemas.openxmlformats.org/officeDocument/2006/relationships/slide" Target="slides/slide1.xml"/><Relationship Id="rId21" Type="http://schemas.openxmlformats.org/officeDocument/2006/relationships/tableStyles" Target="tableStyles.xml"/><Relationship Id="rId20" Type="http://schemas.openxmlformats.org/officeDocument/2006/relationships/viewProps" Target="viewProps.xml"/><Relationship Id="rId2" Type="http://schemas.openxmlformats.org/officeDocument/2006/relationships/theme" Target="theme/theme1.xml"/><Relationship Id="rId19" Type="http://schemas.openxmlformats.org/officeDocument/2006/relationships/presProps" Target="presProps.xml"/><Relationship Id="rId18" Type="http://schemas.openxmlformats.org/officeDocument/2006/relationships/slide" Target="slides/slide16.xml"/><Relationship Id="rId17" Type="http://schemas.openxmlformats.org/officeDocument/2006/relationships/slide" Target="slides/slide15.xml"/><Relationship Id="rId16" Type="http://schemas.openxmlformats.org/officeDocument/2006/relationships/slide" Target="slides/slide14.xml"/><Relationship Id="rId15" Type="http://schemas.openxmlformats.org/officeDocument/2006/relationships/slide" Target="slides/slide13.xml"/><Relationship Id="rId14" Type="http://schemas.openxmlformats.org/officeDocument/2006/relationships/slide" Target="slides/slide12.xml"/><Relationship Id="rId13" Type="http://schemas.openxmlformats.org/officeDocument/2006/relationships/slide" Target="slides/slide11.xml"/><Relationship Id="rId12" Type="http://schemas.openxmlformats.org/officeDocument/2006/relationships/slide" Target="slides/slide10.xml"/><Relationship Id="rId11" Type="http://schemas.openxmlformats.org/officeDocument/2006/relationships/slide" Target="slides/slide9.xml"/><Relationship Id="rId10" Type="http://schemas.openxmlformats.org/officeDocument/2006/relationships/slide" Target="slides/slide8.xml"/><Relationship Id="rId1" Type="http://schemas.openxmlformats.org/officeDocument/2006/relationships/slideMaster" Target="slideMasters/slideMaster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smtClean="0"/>
              <a:t>Click to edit Master title style</a:t>
            </a:r>
            <a:endParaRPr lang="en-US"/>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63A1C593-65D0-4073-BCC9-577B9352EA97}"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63A1C593-65D0-4073-BCC9-577B9352EA97}"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smtClean="0"/>
              <a:t>Click to edit Master title style</a:t>
            </a:r>
            <a:endParaRPr lang="en-US"/>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Click to edit Master text styles</a:t>
            </a:r>
            <a:endParaRPr lang="en-US" smtClean="0"/>
          </a:p>
        </p:txBody>
      </p:sp>
      <p:sp>
        <p:nvSpPr>
          <p:cNvPr id="4" name="Date Placeholder 3"/>
          <p:cNvSpPr>
            <a:spLocks noGrp="1"/>
          </p:cNvSpPr>
          <p:nvPr>
            <p:ph type="dt" sz="half" idx="10"/>
          </p:nvPr>
        </p:nvSpPr>
        <p:spPr/>
        <p:txBody>
          <a:bodyPr/>
          <a:lstStyle/>
          <a:p>
            <a:fld id="{63A1C593-65D0-4073-BCC9-577B9352EA97}"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838200" y="1825625"/>
            <a:ext cx="5181600" cy="4351338"/>
          </a:xfrm>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Content Placeholder 3"/>
          <p:cNvSpPr>
            <a:spLocks noGrp="1"/>
          </p:cNvSpPr>
          <p:nvPr>
            <p:ph sz="half" idx="2"/>
          </p:nvPr>
        </p:nvSpPr>
        <p:spPr>
          <a:xfrm>
            <a:off x="6172200" y="1825625"/>
            <a:ext cx="5181600" cy="4351338"/>
          </a:xfrm>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5" name="Date Placeholder 4"/>
          <p:cNvSpPr>
            <a:spLocks noGrp="1"/>
          </p:cNvSpPr>
          <p:nvPr>
            <p:ph type="dt" sz="half" idx="10"/>
          </p:nvPr>
        </p:nvSpPr>
        <p:spPr/>
        <p:txBody>
          <a:bodyPr/>
          <a:lstStyle/>
          <a:p>
            <a:fld id="{63A1C593-65D0-4073-BCC9-577B9352EA97}"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smtClean="0"/>
              <a:t>Click to edit Master title style</a:t>
            </a:r>
            <a:endParaRPr lang="en-US"/>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endParaRPr lang="en-US" smtClean="0"/>
          </a:p>
        </p:txBody>
      </p:sp>
      <p:sp>
        <p:nvSpPr>
          <p:cNvPr id="4" name="Content Placeholder 3"/>
          <p:cNvSpPr>
            <a:spLocks noGrp="1"/>
          </p:cNvSpPr>
          <p:nvPr>
            <p:ph sz="half" idx="2"/>
          </p:nvPr>
        </p:nvSpPr>
        <p:spPr>
          <a:xfrm>
            <a:off x="839788" y="2505075"/>
            <a:ext cx="5157787" cy="3684588"/>
          </a:xfrm>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endParaRPr lang="en-US" smtClean="0"/>
          </a:p>
        </p:txBody>
      </p:sp>
      <p:sp>
        <p:nvSpPr>
          <p:cNvPr id="6" name="Content Placeholder 5"/>
          <p:cNvSpPr>
            <a:spLocks noGrp="1"/>
          </p:cNvSpPr>
          <p:nvPr>
            <p:ph sz="quarter" idx="4"/>
          </p:nvPr>
        </p:nvSpPr>
        <p:spPr>
          <a:xfrm>
            <a:off x="6172200" y="2505075"/>
            <a:ext cx="5183188" cy="3684588"/>
          </a:xfrm>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7" name="Date Placeholder 6"/>
          <p:cNvSpPr>
            <a:spLocks noGrp="1"/>
          </p:cNvSpPr>
          <p:nvPr>
            <p:ph type="dt" sz="half" idx="10"/>
          </p:nvPr>
        </p:nvSpPr>
        <p:spPr/>
        <p:txBody>
          <a:bodyPr/>
          <a:lstStyle/>
          <a:p>
            <a:fld id="{63A1C593-65D0-4073-BCC9-577B9352EA97}" type="datetimeFigureOut">
              <a:rPr lang="en-US" smtClean="0"/>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63A1C593-65D0-4073-BCC9-577B9352EA97}" type="datetimeFigureOut">
              <a:rPr lang="en-US" smtClean="0"/>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63A1C593-65D0-4073-BCC9-577B9352EA97}" type="datetimeFigureOut">
              <a:rPr lang="en-US" smtClean="0"/>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endParaRPr lang="en-US" smtClean="0"/>
          </a:p>
        </p:txBody>
      </p:sp>
      <p:sp>
        <p:nvSpPr>
          <p:cNvPr id="5" name="Date Placeholder 4"/>
          <p:cNvSpPr>
            <a:spLocks noGrp="1"/>
          </p:cNvSpPr>
          <p:nvPr>
            <p:ph type="dt" sz="half" idx="10"/>
          </p:nvPr>
        </p:nvSpPr>
        <p:spPr/>
        <p:txBody>
          <a:bodyPr/>
          <a:lstStyle/>
          <a:p>
            <a:fld id="{63A1C593-65D0-4073-BCC9-577B9352EA97}"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endParaRPr lang="en-US" smtClean="0"/>
          </a:p>
        </p:txBody>
      </p:sp>
      <p:sp>
        <p:nvSpPr>
          <p:cNvPr id="5" name="Date Placeholder 4"/>
          <p:cNvSpPr>
            <a:spLocks noGrp="1"/>
          </p:cNvSpPr>
          <p:nvPr>
            <p:ph type="dt" sz="half" idx="10"/>
          </p:nvPr>
        </p:nvSpPr>
        <p:spPr/>
        <p:txBody>
          <a:bodyPr/>
          <a:lstStyle/>
          <a:p>
            <a:fld id="{63A1C593-65D0-4073-BCC9-577B9352EA97}"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63A1C593-65D0-4073-BCC9-577B9352EA97}"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63A1C593-65D0-4073-BCC9-577B9352EA97}"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63A1C593-65D0-4073-BCC9-577B9352EA97}" type="datetimeFigureOut">
              <a:rPr lang="en-US" smtClean="0"/>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9B618960-8005-486C-9A75-10CB2AAC16F9}" type="slidenum">
              <a:rPr lang="en-US" smtClean="0"/>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3.xml"/><Relationship Id="rId1" Type="http://schemas.openxmlformats.org/officeDocument/2006/relationships/tags" Target="../tags/tag2.xml"/></Relationships>
</file>

<file path=ppt/slides/_rels/slide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4.xml"/></Relationships>
</file>

<file path=ppt/slides/_rels/slide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5.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6.xml"/></Relationships>
</file>

<file path=ppt/slides/_rels/slide1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ctrTitle"/>
          </p:nvPr>
        </p:nvSpPr>
        <p:spPr>
          <a:xfrm>
            <a:off x="210185" y="0"/>
            <a:ext cx="11804650" cy="417195"/>
          </a:xfrm>
        </p:spPr>
        <p:txBody>
          <a:bodyPr>
            <a:noAutofit/>
          </a:bodyPr>
          <a:p>
            <a:r>
              <a:rPr lang="en-US" sz="2400" b="1">
                <a:solidFill>
                  <a:srgbClr val="FF0000"/>
                </a:solidFill>
              </a:rPr>
              <a:t>MongoDb</a:t>
            </a:r>
            <a:endParaRPr lang="en-US" sz="2400" b="1">
              <a:solidFill>
                <a:srgbClr val="FF0000"/>
              </a:solidFill>
            </a:endParaRPr>
          </a:p>
        </p:txBody>
      </p:sp>
      <p:sp>
        <p:nvSpPr>
          <p:cNvPr id="3" name="Subtitle 2"/>
          <p:cNvSpPr>
            <a:spLocks noGrp="1"/>
          </p:cNvSpPr>
          <p:nvPr>
            <p:ph type="subTitle" idx="1"/>
          </p:nvPr>
        </p:nvSpPr>
        <p:spPr>
          <a:xfrm>
            <a:off x="128270" y="417195"/>
            <a:ext cx="11886565" cy="6212840"/>
          </a:xfrm>
        </p:spPr>
        <p:txBody>
          <a:bodyPr/>
          <a:p>
            <a:pPr algn="l"/>
            <a:r>
              <a:rPr lang="en-US" altLang="en-US" sz="1800"/>
              <a:t>MongoDB is an open source, document-oriented, NoSql database whose data is stored in an organized format. It is scalable and easy to learn, commonly used in modern web and mobile apps, dealing with high volumes of data. MongoDB stores data in BSON format, which lets you store JSON like documents efficiently.</a:t>
            </a:r>
            <a:endParaRPr lang="en-US" altLang="en-US" sz="1800"/>
          </a:p>
          <a:p>
            <a:pPr algn="l"/>
            <a:r>
              <a:rPr lang="en-US" altLang="en-US" sz="1800"/>
              <a:t>JSON is a text-based data format used for data exchange, while BSON is a binary format used by MongoDB for efficient storage and fast querying.</a:t>
            </a:r>
            <a:endParaRPr lang="en-US" altLang="en-US" sz="1800"/>
          </a:p>
          <a:p>
            <a:pPr algn="l"/>
            <a:endParaRPr lang="en-US" altLang="en-US" sz="1800"/>
          </a:p>
        </p:txBody>
      </p:sp>
      <p:sp>
        <p:nvSpPr>
          <p:cNvPr id="4" name="Text Box 3"/>
          <p:cNvSpPr txBox="1"/>
          <p:nvPr/>
        </p:nvSpPr>
        <p:spPr>
          <a:xfrm>
            <a:off x="-635" y="1941195"/>
            <a:ext cx="4183380" cy="4688840"/>
          </a:xfrm>
          <a:prstGeom prst="rect">
            <a:avLst/>
          </a:prstGeom>
        </p:spPr>
        <p:txBody>
          <a:bodyPr wrap="square">
            <a:noAutofit/>
          </a:bodyPr>
          <a:p>
            <a:pPr>
              <a:spcAft>
                <a:spcPct val="60000"/>
              </a:spcAft>
            </a:pPr>
            <a:r>
              <a:rPr sz="1600" b="1"/>
              <a:t>JSON (JavaScript Object Notation)</a:t>
            </a:r>
            <a:endParaRPr sz="1600" b="1"/>
          </a:p>
          <a:p>
            <a:pPr>
              <a:spcAft>
                <a:spcPct val="60000"/>
              </a:spcAft>
            </a:pPr>
            <a:r>
              <a:rPr sz="1600" b="1"/>
              <a:t>Features</a:t>
            </a:r>
            <a:endParaRPr sz="1600" b="1"/>
          </a:p>
          <a:p>
            <a:pPr indent="0">
              <a:buFont typeface="Arial" panose="020B0604020202020204"/>
              <a:buNone/>
            </a:pPr>
            <a:r>
              <a:rPr sz="1600"/>
              <a:t>Text-based data format</a:t>
            </a:r>
            <a:endParaRPr sz="1600"/>
          </a:p>
          <a:p>
            <a:pPr indent="0">
              <a:buFont typeface="Arial" panose="020B0604020202020204"/>
              <a:buNone/>
            </a:pPr>
            <a:r>
              <a:rPr sz="1600"/>
              <a:t>Easy for humans to read and write</a:t>
            </a:r>
            <a:endParaRPr sz="1600"/>
          </a:p>
          <a:p>
            <a:pPr indent="0">
              <a:buFont typeface="Arial" panose="020B0604020202020204"/>
              <a:buNone/>
            </a:pPr>
            <a:r>
              <a:rPr sz="1600"/>
              <a:t>Used in web applications and APIs</a:t>
            </a:r>
            <a:endParaRPr sz="1600"/>
          </a:p>
          <a:p>
            <a:pPr indent="0">
              <a:buFont typeface="Arial" panose="020B0604020202020204"/>
              <a:buNone/>
            </a:pPr>
            <a:r>
              <a:rPr sz="1600"/>
              <a:t>Language-independent</a:t>
            </a:r>
            <a:endParaRPr sz="1600"/>
          </a:p>
          <a:p>
            <a:pPr>
              <a:spcAft>
                <a:spcPct val="60000"/>
              </a:spcAft>
            </a:pPr>
            <a:r>
              <a:rPr sz="1600" b="1"/>
              <a:t>Example (JSON)</a:t>
            </a:r>
            <a:endParaRPr sz="1600" b="1"/>
          </a:p>
          <a:p>
            <a:r>
              <a:rPr sz="1600"/>
              <a:t>{
  "name":"</a:t>
            </a:r>
            <a:r>
              <a:rPr lang="en-US" sz="1600"/>
              <a:t>Viren</a:t>
            </a:r>
            <a:r>
              <a:rPr sz="1600"/>
              <a:t>",
  "age":20,
  "email":"</a:t>
            </a:r>
            <a:r>
              <a:rPr lang="en-US" sz="1600"/>
              <a:t>Viren</a:t>
            </a:r>
            <a:r>
              <a:rPr sz="1600"/>
              <a:t>@gmail.com",
  "skills":["Java","Python"]
}
</a:t>
            </a:r>
            <a:r>
              <a:rPr sz="1600" b="1"/>
              <a:t>Limitations</a:t>
            </a:r>
            <a:endParaRPr sz="1600" b="1"/>
          </a:p>
          <a:p>
            <a:pPr>
              <a:spcAft>
                <a:spcPct val="60000"/>
              </a:spcAft>
            </a:pPr>
            <a:r>
              <a:rPr sz="1600"/>
              <a:t>Slower to parse compared to BSON</a:t>
            </a:r>
            <a:endParaRPr sz="1600"/>
          </a:p>
          <a:p>
            <a:pPr>
              <a:buFont typeface="Arial" panose="020B0604020202020204"/>
              <a:buChar char="•"/>
            </a:pPr>
            <a:r>
              <a:rPr sz="1600"/>
              <a:t>Limited data types (no date or binary types)</a:t>
            </a:r>
            <a:endParaRPr sz="1600"/>
          </a:p>
        </p:txBody>
      </p:sp>
      <p:sp>
        <p:nvSpPr>
          <p:cNvPr id="5" name="Text Box 4"/>
          <p:cNvSpPr txBox="1"/>
          <p:nvPr/>
        </p:nvSpPr>
        <p:spPr>
          <a:xfrm>
            <a:off x="6320790" y="1941195"/>
            <a:ext cx="5080000" cy="4773930"/>
          </a:xfrm>
          <a:prstGeom prst="rect">
            <a:avLst/>
          </a:prstGeom>
        </p:spPr>
        <p:txBody>
          <a:bodyPr>
            <a:noAutofit/>
          </a:bodyPr>
          <a:p>
            <a:pPr>
              <a:spcAft>
                <a:spcPct val="60000"/>
              </a:spcAft>
            </a:pPr>
            <a:r>
              <a:rPr b="1"/>
              <a:t>BSON (Binary JSON)</a:t>
            </a:r>
            <a:endParaRPr b="1"/>
          </a:p>
          <a:p>
            <a:pPr>
              <a:spcAft>
                <a:spcPct val="60000"/>
              </a:spcAft>
            </a:pPr>
            <a:r>
              <a:rPr b="1"/>
              <a:t>Features</a:t>
            </a:r>
            <a:endParaRPr b="1"/>
          </a:p>
          <a:p>
            <a:pPr>
              <a:spcAft>
                <a:spcPct val="60000"/>
              </a:spcAft>
            </a:pPr>
            <a:r>
              <a:t>Binary format used by MongoDB</a:t>
            </a:r>
          </a:p>
          <a:p>
            <a:pPr>
              <a:buFont typeface="Arial" panose="020B0604020202020204"/>
              <a:buChar char="•"/>
            </a:pPr>
            <a:r>
              <a:t>Faster processing and querying</a:t>
            </a:r>
          </a:p>
          <a:p>
            <a:pPr>
              <a:buFont typeface="Arial" panose="020B0604020202020204"/>
              <a:buChar char="•"/>
            </a:pPr>
            <a:r>
              <a:t>Supports more data types (Date, ObjectId, Binary)</a:t>
            </a:r>
          </a:p>
          <a:p>
            <a:pPr>
              <a:buFont typeface="Arial" panose="020B0604020202020204"/>
              <a:buChar char="•"/>
            </a:pPr>
            <a:r>
              <a:t>Efficient storage for large data</a:t>
            </a:r>
          </a:p>
          <a:p>
            <a:pPr>
              <a:spcAft>
                <a:spcPct val="60000"/>
              </a:spcAft>
            </a:pPr>
            <a:r>
              <a:rPr b="1"/>
              <a:t>Example (BSON – Logical View)</a:t>
            </a:r>
            <a:endParaRPr b="1"/>
          </a:p>
          <a:p>
            <a:r>
              <a:t>{
  "_id": ObjectId("65ab12ef1234"),
  "name":"</a:t>
            </a:r>
            <a:r>
              <a:rPr lang="en-US"/>
              <a:t>Viren</a:t>
            </a:r>
            <a:r>
              <a:t>",
  "age":20,
  "createdAt": ISODate("2024-01-01")
}</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838200" y="105410"/>
            <a:ext cx="10515600" cy="369570"/>
          </a:xfrm>
        </p:spPr>
        <p:txBody>
          <a:bodyPr>
            <a:normAutofit fontScale="90000"/>
          </a:bodyPr>
          <a:p>
            <a:pPr algn="ctr"/>
            <a:r>
              <a:rPr lang="en-US" sz="2400" b="1">
                <a:solidFill>
                  <a:srgbClr val="FF0000"/>
                </a:solidFill>
              </a:rPr>
              <a:t>Advantages and DisAdvantages of Mongodb</a:t>
            </a:r>
            <a:endParaRPr lang="en-US" sz="2400" b="1">
              <a:solidFill>
                <a:srgbClr val="FF0000"/>
              </a:solidFill>
            </a:endParaRPr>
          </a:p>
        </p:txBody>
      </p:sp>
      <p:sp>
        <p:nvSpPr>
          <p:cNvPr id="4" name="Text Box 3"/>
          <p:cNvSpPr txBox="1"/>
          <p:nvPr/>
        </p:nvSpPr>
        <p:spPr>
          <a:xfrm>
            <a:off x="175260" y="474980"/>
            <a:ext cx="5080000" cy="6255385"/>
          </a:xfrm>
          <a:prstGeom prst="rect">
            <a:avLst/>
          </a:prstGeom>
        </p:spPr>
        <p:txBody>
          <a:bodyPr>
            <a:noAutofit/>
          </a:bodyPr>
          <a:p>
            <a:pPr indent="0" algn="l">
              <a:spcAft>
                <a:spcPct val="60000"/>
              </a:spcAft>
              <a:buNone/>
            </a:pPr>
            <a:r>
              <a:rPr sz="1600" b="1"/>
              <a:t> Advantages of MongoDB</a:t>
            </a:r>
            <a:endParaRPr sz="1600" b="1"/>
          </a:p>
          <a:p>
            <a:pPr indent="0" algn="l">
              <a:spcAft>
                <a:spcPct val="60000"/>
              </a:spcAft>
              <a:buNone/>
            </a:pPr>
            <a:r>
              <a:rPr lang="en-US" sz="1600" b="1"/>
              <a:t>1)</a:t>
            </a:r>
            <a:r>
              <a:rPr sz="1600" b="1"/>
              <a:t>Schema Flexibility</a:t>
            </a:r>
            <a:endParaRPr sz="1600" b="1"/>
          </a:p>
          <a:p>
            <a:pPr indent="0" algn="l">
              <a:spcAft>
                <a:spcPct val="60000"/>
              </a:spcAft>
              <a:buNone/>
            </a:pPr>
            <a:r>
              <a:rPr sz="1600"/>
              <a:t>No fixed schema; easy to modify data structure.</a:t>
            </a:r>
            <a:endParaRPr sz="1600"/>
          </a:p>
          <a:p>
            <a:pPr indent="0" algn="l">
              <a:spcAft>
                <a:spcPct val="60000"/>
              </a:spcAft>
              <a:buNone/>
            </a:pPr>
            <a:r>
              <a:rPr lang="en-US" sz="1600" b="1"/>
              <a:t>2)</a:t>
            </a:r>
            <a:r>
              <a:rPr sz="1600" b="1"/>
              <a:t>High Performance</a:t>
            </a:r>
            <a:endParaRPr sz="1600" b="1"/>
          </a:p>
          <a:p>
            <a:pPr indent="0" algn="l">
              <a:spcAft>
                <a:spcPct val="60000"/>
              </a:spcAft>
              <a:buNone/>
            </a:pPr>
            <a:r>
              <a:rPr sz="1600"/>
              <a:t>Fast read and write operations.</a:t>
            </a:r>
            <a:endParaRPr sz="1600"/>
          </a:p>
          <a:p>
            <a:pPr indent="0" algn="l">
              <a:spcAft>
                <a:spcPct val="60000"/>
              </a:spcAft>
              <a:buNone/>
            </a:pPr>
            <a:r>
              <a:rPr lang="en-US" sz="1600" b="1"/>
              <a:t>3)</a:t>
            </a:r>
            <a:r>
              <a:rPr sz="1600" b="1"/>
              <a:t>Scalability</a:t>
            </a:r>
            <a:endParaRPr sz="1600" b="1"/>
          </a:p>
          <a:p>
            <a:pPr indent="0" algn="l">
              <a:spcAft>
                <a:spcPct val="60000"/>
              </a:spcAft>
              <a:buNone/>
            </a:pPr>
            <a:r>
              <a:rPr sz="1600"/>
              <a:t>Supports horizontal scaling using sharding.</a:t>
            </a:r>
            <a:endParaRPr sz="1600"/>
          </a:p>
          <a:p>
            <a:pPr indent="0" algn="l">
              <a:spcAft>
                <a:spcPct val="60000"/>
              </a:spcAft>
              <a:buNone/>
            </a:pPr>
            <a:r>
              <a:rPr lang="en-US" sz="1600" b="1"/>
              <a:t>4)</a:t>
            </a:r>
            <a:r>
              <a:rPr sz="1600" b="1"/>
              <a:t>Document-Oriented</a:t>
            </a:r>
            <a:endParaRPr sz="1600" b="1"/>
          </a:p>
          <a:p>
            <a:pPr indent="0" algn="l">
              <a:spcAft>
                <a:spcPct val="60000"/>
              </a:spcAft>
              <a:buNone/>
            </a:pPr>
            <a:r>
              <a:rPr sz="1600"/>
              <a:t>Stores data in JSON/BSON format, easy to understand</a:t>
            </a:r>
            <a:r>
              <a:rPr lang="en-US" sz="1600"/>
              <a:t>.</a:t>
            </a:r>
            <a:endParaRPr lang="en-US" sz="1600"/>
          </a:p>
          <a:p>
            <a:pPr indent="0" algn="l">
              <a:spcAft>
                <a:spcPct val="60000"/>
              </a:spcAft>
              <a:buNone/>
            </a:pPr>
            <a:r>
              <a:rPr lang="en-US" sz="1600" b="1"/>
              <a:t>5)</a:t>
            </a:r>
            <a:r>
              <a:rPr sz="1600" b="1"/>
              <a:t>High Availability</a:t>
            </a:r>
            <a:endParaRPr sz="1600" b="1"/>
          </a:p>
          <a:p>
            <a:pPr indent="0" algn="l">
              <a:spcAft>
                <a:spcPct val="60000"/>
              </a:spcAft>
              <a:buNone/>
            </a:pPr>
            <a:r>
              <a:rPr sz="1600"/>
              <a:t>Replica sets provide automatic failover.</a:t>
            </a:r>
            <a:endParaRPr sz="1600"/>
          </a:p>
          <a:p>
            <a:pPr indent="0" algn="l">
              <a:spcAft>
                <a:spcPct val="60000"/>
              </a:spcAft>
              <a:buNone/>
            </a:pPr>
            <a:r>
              <a:rPr lang="en-US" sz="1600" b="1"/>
              <a:t>6)</a:t>
            </a:r>
            <a:r>
              <a:rPr sz="1600" b="1"/>
              <a:t>Supports Big Data</a:t>
            </a:r>
            <a:endParaRPr sz="1600" b="1"/>
          </a:p>
          <a:p>
            <a:pPr indent="0" algn="l">
              <a:spcAft>
                <a:spcPct val="60000"/>
              </a:spcAft>
              <a:buNone/>
            </a:pPr>
            <a:r>
              <a:rPr sz="1600"/>
              <a:t>Handles large volumes of unstructured data efficiently.</a:t>
            </a:r>
            <a:endParaRPr sz="1600"/>
          </a:p>
          <a:p>
            <a:pPr indent="0" algn="l">
              <a:spcAft>
                <a:spcPct val="60000"/>
              </a:spcAft>
              <a:buNone/>
            </a:pPr>
            <a:r>
              <a:rPr lang="en-US" sz="1600" b="1"/>
              <a:t>7)</a:t>
            </a:r>
            <a:r>
              <a:rPr sz="1600" b="1"/>
              <a:t>Rich Query Language</a:t>
            </a:r>
            <a:endParaRPr sz="1600" b="1"/>
          </a:p>
          <a:p>
            <a:pPr indent="0" algn="l">
              <a:spcAft>
                <a:spcPct val="60000"/>
              </a:spcAft>
              <a:buNone/>
            </a:pPr>
            <a:r>
              <a:rPr sz="1600"/>
              <a:t>Supports complex queries and aggregation.</a:t>
            </a:r>
            <a:endParaRPr sz="1600"/>
          </a:p>
          <a:p>
            <a:pPr indent="0" algn="l">
              <a:spcAft>
                <a:spcPct val="60000"/>
              </a:spcAft>
              <a:buNone/>
            </a:pPr>
            <a:endParaRPr sz="1600"/>
          </a:p>
        </p:txBody>
      </p:sp>
      <p:sp>
        <p:nvSpPr>
          <p:cNvPr id="5" name="Text Box 4"/>
          <p:cNvSpPr txBox="1"/>
          <p:nvPr/>
        </p:nvSpPr>
        <p:spPr>
          <a:xfrm>
            <a:off x="5636895" y="474980"/>
            <a:ext cx="6188710" cy="6254750"/>
          </a:xfrm>
          <a:prstGeom prst="rect">
            <a:avLst/>
          </a:prstGeom>
        </p:spPr>
        <p:txBody>
          <a:bodyPr>
            <a:noAutofit/>
          </a:bodyPr>
          <a:p>
            <a:pPr>
              <a:lnSpc>
                <a:spcPct val="150000"/>
              </a:lnSpc>
              <a:spcAft>
                <a:spcPct val="60000"/>
              </a:spcAft>
            </a:pPr>
            <a:r>
              <a:rPr sz="1600" b="1"/>
              <a:t> Disadvantages of MongoDB</a:t>
            </a:r>
            <a:endParaRPr sz="1600" b="1"/>
          </a:p>
          <a:p>
            <a:pPr>
              <a:lnSpc>
                <a:spcPct val="150000"/>
              </a:lnSpc>
              <a:spcAft>
                <a:spcPct val="60000"/>
              </a:spcAft>
            </a:pPr>
            <a:r>
              <a:rPr lang="en-US" sz="1600" b="1"/>
              <a:t>1)</a:t>
            </a:r>
            <a:r>
              <a:rPr sz="1600" b="1"/>
              <a:t>Limited Join Support</a:t>
            </a:r>
            <a:endParaRPr sz="1600" b="1"/>
          </a:p>
          <a:p>
            <a:pPr indent="0">
              <a:lnSpc>
                <a:spcPct val="150000"/>
              </a:lnSpc>
              <a:buNone/>
            </a:pPr>
            <a:r>
              <a:rPr sz="1600"/>
              <a:t>Not suitable for highly relational data.</a:t>
            </a:r>
            <a:endParaRPr sz="1600"/>
          </a:p>
          <a:p>
            <a:pPr indent="0">
              <a:lnSpc>
                <a:spcPct val="150000"/>
              </a:lnSpc>
              <a:buNone/>
            </a:pPr>
            <a:r>
              <a:rPr lang="en-US" sz="1600" b="1"/>
              <a:t>2)</a:t>
            </a:r>
            <a:r>
              <a:rPr sz="1600" b="1"/>
              <a:t>High Memory Usage</a:t>
            </a:r>
            <a:endParaRPr sz="1600" b="1"/>
          </a:p>
          <a:p>
            <a:pPr indent="0">
              <a:lnSpc>
                <a:spcPct val="150000"/>
              </a:lnSpc>
              <a:buNone/>
            </a:pPr>
            <a:r>
              <a:rPr sz="1600"/>
              <a:t>Uses more RAM compared to relational databases.</a:t>
            </a:r>
            <a:endParaRPr sz="1600"/>
          </a:p>
          <a:p>
            <a:pPr indent="0">
              <a:lnSpc>
                <a:spcPct val="150000"/>
              </a:lnSpc>
              <a:buNone/>
            </a:pPr>
            <a:r>
              <a:rPr lang="en-US" sz="1600" b="1"/>
              <a:t>3)</a:t>
            </a:r>
            <a:r>
              <a:rPr sz="1600" b="1"/>
              <a:t>Data Redundancy</a:t>
            </a:r>
            <a:endParaRPr sz="1600" b="1"/>
          </a:p>
          <a:p>
            <a:pPr indent="0">
              <a:lnSpc>
                <a:spcPct val="150000"/>
              </a:lnSpc>
              <a:buNone/>
            </a:pPr>
            <a:r>
              <a:rPr sz="1600"/>
              <a:t>Schema-less design can cause duplicate data.</a:t>
            </a:r>
            <a:endParaRPr sz="1600"/>
          </a:p>
          <a:p>
            <a:pPr indent="0">
              <a:lnSpc>
                <a:spcPct val="150000"/>
              </a:lnSpc>
              <a:buNone/>
            </a:pPr>
            <a:r>
              <a:rPr lang="en-US" sz="1600" b="1"/>
              <a:t>4)</a:t>
            </a:r>
            <a:r>
              <a:rPr sz="1600" b="1"/>
              <a:t>Weaker Transaction Support</a:t>
            </a:r>
            <a:endParaRPr sz="1600" b="1"/>
          </a:p>
          <a:p>
            <a:pPr indent="0">
              <a:lnSpc>
                <a:spcPct val="150000"/>
              </a:lnSpc>
              <a:buNone/>
            </a:pPr>
            <a:r>
              <a:rPr sz="1600"/>
              <a:t>Complex transactions are limited compared to SQL databases.</a:t>
            </a:r>
            <a:endParaRPr sz="1600"/>
          </a:p>
          <a:p>
            <a:pPr indent="0">
              <a:lnSpc>
                <a:spcPct val="150000"/>
              </a:lnSpc>
              <a:buNone/>
            </a:pPr>
            <a:r>
              <a:rPr lang="en-US" sz="1600" b="1"/>
              <a:t>5)</a:t>
            </a:r>
            <a:r>
              <a:rPr sz="1600" b="1"/>
              <a:t>Less Suitable for Complex Relationships</a:t>
            </a:r>
            <a:endParaRPr sz="1600" b="1"/>
          </a:p>
          <a:p>
            <a:pPr indent="0">
              <a:lnSpc>
                <a:spcPct val="150000"/>
              </a:lnSpc>
              <a:buNone/>
            </a:pPr>
            <a:r>
              <a:rPr sz="1600"/>
              <a:t>Not ideal for banking or financial systems.</a:t>
            </a:r>
            <a:endParaRPr sz="1600"/>
          </a:p>
          <a:p>
            <a:pPr indent="0">
              <a:lnSpc>
                <a:spcPct val="150000"/>
              </a:lnSpc>
              <a:buNone/>
            </a:pPr>
            <a:r>
              <a:rPr lang="en-US" sz="1600" b="1"/>
              <a:t>6)</a:t>
            </a:r>
            <a:r>
              <a:rPr sz="1600" b="1"/>
              <a:t>Learning Curve</a:t>
            </a:r>
            <a:endParaRPr sz="1600" b="1"/>
          </a:p>
          <a:p>
            <a:pPr indent="0">
              <a:lnSpc>
                <a:spcPct val="150000"/>
              </a:lnSpc>
              <a:buNone/>
            </a:pPr>
            <a:r>
              <a:rPr sz="1600"/>
              <a:t>New concepts for SQL users.</a:t>
            </a:r>
            <a:endParaRPr sz="160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838200" y="-635"/>
            <a:ext cx="10515600" cy="379095"/>
          </a:xfrm>
        </p:spPr>
        <p:txBody>
          <a:bodyPr>
            <a:normAutofit fontScale="90000"/>
          </a:bodyPr>
          <a:p>
            <a:pPr algn="ctr"/>
            <a:r>
              <a:rPr lang="en-US" sz="2400" b="1">
                <a:solidFill>
                  <a:srgbClr val="FF0000"/>
                </a:solidFill>
              </a:rPr>
              <a:t>Difference Between SQL AND NO SQL</a:t>
            </a:r>
            <a:endParaRPr lang="en-US" sz="2400" b="1">
              <a:solidFill>
                <a:srgbClr val="FF0000"/>
              </a:solidFill>
            </a:endParaRPr>
          </a:p>
        </p:txBody>
      </p:sp>
      <p:graphicFrame>
        <p:nvGraphicFramePr>
          <p:cNvPr id="4" name="Table 3"/>
          <p:cNvGraphicFramePr/>
          <p:nvPr>
            <p:custDataLst>
              <p:tags r:id="rId1"/>
            </p:custDataLst>
          </p:nvPr>
        </p:nvGraphicFramePr>
        <p:xfrm>
          <a:off x="113665" y="561340"/>
          <a:ext cx="11977370" cy="4154170"/>
        </p:xfrm>
        <a:graphic>
          <a:graphicData uri="http://schemas.openxmlformats.org/drawingml/2006/table">
            <a:tbl>
              <a:tblPr/>
              <a:tblGrid>
                <a:gridCol w="2620010"/>
                <a:gridCol w="4323080"/>
                <a:gridCol w="5034280"/>
              </a:tblGrid>
              <a:tr h="319405">
                <a:tc>
                  <a:txBody>
                    <a:bodyPr/>
                    <a:p>
                      <a:pPr algn="ctr"/>
                      <a:r>
                        <a:rPr sz="1800"/>
                        <a:t>Feature</a:t>
                      </a:r>
                      <a:endParaRPr sz="1800"/>
                    </a:p>
                  </a:txBody>
                  <a:tcPr marL="0" marR="0" marT="0" marB="0" anchor="ctr" anchorCtr="0">
                    <a:lnL>
                      <a:noFill/>
                    </a:lnL>
                    <a:lnR>
                      <a:noFill/>
                    </a:lnR>
                    <a:lnT>
                      <a:noFill/>
                    </a:lnT>
                    <a:lnB>
                      <a:noFill/>
                    </a:lnB>
                    <a:solidFill>
                      <a:schemeClr val="accent2">
                        <a:lumMod val="40000"/>
                        <a:lumOff val="60000"/>
                      </a:schemeClr>
                    </a:solidFill>
                  </a:tcPr>
                </a:tc>
                <a:tc>
                  <a:txBody>
                    <a:bodyPr/>
                    <a:p>
                      <a:pPr algn="ctr"/>
                      <a:r>
                        <a:rPr sz="1800"/>
                        <a:t>SQL (Relational Database)</a:t>
                      </a:r>
                      <a:endParaRPr sz="1800"/>
                    </a:p>
                  </a:txBody>
                  <a:tcPr marL="0" marR="0" marT="0" marB="0" anchor="ctr" anchorCtr="0">
                    <a:lnL>
                      <a:noFill/>
                    </a:lnL>
                    <a:lnR>
                      <a:noFill/>
                    </a:lnR>
                    <a:lnT>
                      <a:noFill/>
                    </a:lnT>
                    <a:lnB>
                      <a:noFill/>
                    </a:lnB>
                    <a:solidFill>
                      <a:schemeClr val="accent2">
                        <a:lumMod val="40000"/>
                        <a:lumOff val="60000"/>
                      </a:schemeClr>
                    </a:solidFill>
                  </a:tcPr>
                </a:tc>
                <a:tc>
                  <a:txBody>
                    <a:bodyPr/>
                    <a:p>
                      <a:pPr algn="ctr"/>
                      <a:r>
                        <a:rPr sz="1800"/>
                        <a:t>NoSQL (Non-Relational Database)</a:t>
                      </a:r>
                      <a:endParaRPr sz="1800"/>
                    </a:p>
                  </a:txBody>
                  <a:tcPr marL="0" marR="0" marT="0" marB="0" anchor="ctr" anchorCtr="0">
                    <a:lnL>
                      <a:noFill/>
                    </a:lnL>
                    <a:lnR>
                      <a:noFill/>
                    </a:lnR>
                    <a:lnT>
                      <a:noFill/>
                    </a:lnT>
                    <a:lnB>
                      <a:noFill/>
                    </a:lnB>
                    <a:solidFill>
                      <a:schemeClr val="accent2">
                        <a:lumMod val="40000"/>
                        <a:lumOff val="60000"/>
                      </a:schemeClr>
                    </a:solidFill>
                  </a:tcPr>
                </a:tc>
              </a:tr>
              <a:tr h="639445">
                <a:tc>
                  <a:txBody>
                    <a:bodyPr/>
                    <a:p>
                      <a:r>
                        <a:rPr sz="1800"/>
                        <a:t>Data Model</a:t>
                      </a:r>
                      <a:endParaRPr sz="1800"/>
                    </a:p>
                  </a:txBody>
                  <a:tcPr marL="0" marR="0" marT="0" marB="0" anchor="ctr" anchorCtr="0">
                    <a:lnL>
                      <a:noFill/>
                    </a:lnL>
                    <a:lnR>
                      <a:noFill/>
                    </a:lnR>
                    <a:lnT>
                      <a:noFill/>
                    </a:lnT>
                    <a:lnB>
                      <a:noFill/>
                    </a:lnB>
                    <a:solidFill>
                      <a:schemeClr val="accent1">
                        <a:lumMod val="20000"/>
                        <a:lumOff val="80000"/>
                      </a:schemeClr>
                    </a:solidFill>
                  </a:tcPr>
                </a:tc>
                <a:tc>
                  <a:txBody>
                    <a:bodyPr/>
                    <a:p>
                      <a:r>
                        <a:rPr sz="1800"/>
                        <a:t>Uses tables with rows and columns</a:t>
                      </a:r>
                      <a:endParaRPr sz="1800"/>
                    </a:p>
                  </a:txBody>
                  <a:tcPr marL="0" marR="0" marT="0" marB="0" anchor="ctr" anchorCtr="0">
                    <a:lnL>
                      <a:noFill/>
                    </a:lnL>
                    <a:lnR>
                      <a:noFill/>
                    </a:lnR>
                    <a:lnT>
                      <a:noFill/>
                    </a:lnT>
                    <a:lnB>
                      <a:noFill/>
                    </a:lnB>
                    <a:solidFill>
                      <a:schemeClr val="accent1">
                        <a:lumMod val="20000"/>
                        <a:lumOff val="80000"/>
                      </a:schemeClr>
                    </a:solidFill>
                  </a:tcPr>
                </a:tc>
                <a:tc>
                  <a:txBody>
                    <a:bodyPr/>
                    <a:p>
                      <a:r>
                        <a:rPr sz="1800"/>
                        <a:t>Uses documents, key-value, graph, or column formats</a:t>
                      </a:r>
                      <a:endParaRPr sz="1800"/>
                    </a:p>
                  </a:txBody>
                  <a:tcPr marL="0" marR="0" marT="0" marB="0" anchor="ctr" anchorCtr="0">
                    <a:lnL>
                      <a:noFill/>
                    </a:lnL>
                    <a:lnR>
                      <a:noFill/>
                    </a:lnR>
                    <a:lnT>
                      <a:noFill/>
                    </a:lnT>
                    <a:lnB>
                      <a:noFill/>
                    </a:lnB>
                    <a:solidFill>
                      <a:schemeClr val="accent1">
                        <a:lumMod val="20000"/>
                        <a:lumOff val="80000"/>
                      </a:schemeClr>
                    </a:solidFill>
                  </a:tcPr>
                </a:tc>
              </a:tr>
              <a:tr h="319405">
                <a:tc>
                  <a:txBody>
                    <a:bodyPr/>
                    <a:p>
                      <a:r>
                        <a:rPr sz="1800"/>
                        <a:t>Schema</a:t>
                      </a:r>
                      <a:endParaRPr sz="1800"/>
                    </a:p>
                  </a:txBody>
                  <a:tcPr marL="0" marR="0" marT="0" marB="0" anchor="ctr" anchorCtr="0">
                    <a:lnL>
                      <a:noFill/>
                    </a:lnL>
                    <a:lnR>
                      <a:noFill/>
                    </a:lnR>
                    <a:lnT>
                      <a:noFill/>
                    </a:lnT>
                    <a:lnB>
                      <a:noFill/>
                    </a:lnB>
                    <a:solidFill>
                      <a:schemeClr val="accent1">
                        <a:lumMod val="20000"/>
                        <a:lumOff val="80000"/>
                      </a:schemeClr>
                    </a:solidFill>
                  </a:tcPr>
                </a:tc>
                <a:tc>
                  <a:txBody>
                    <a:bodyPr/>
                    <a:p>
                      <a:r>
                        <a:rPr sz="1800"/>
                        <a:t>Fixed schema</a:t>
                      </a:r>
                      <a:endParaRPr sz="1800"/>
                    </a:p>
                  </a:txBody>
                  <a:tcPr marL="0" marR="0" marT="0" marB="0" anchor="ctr" anchorCtr="0">
                    <a:lnL>
                      <a:noFill/>
                    </a:lnL>
                    <a:lnR>
                      <a:noFill/>
                    </a:lnR>
                    <a:lnT>
                      <a:noFill/>
                    </a:lnT>
                    <a:lnB>
                      <a:noFill/>
                    </a:lnB>
                    <a:solidFill>
                      <a:schemeClr val="accent1">
                        <a:lumMod val="20000"/>
                        <a:lumOff val="80000"/>
                      </a:schemeClr>
                    </a:solidFill>
                  </a:tcPr>
                </a:tc>
                <a:tc>
                  <a:txBody>
                    <a:bodyPr/>
                    <a:p>
                      <a:r>
                        <a:rPr sz="1800"/>
                        <a:t>Flexible / schema-less</a:t>
                      </a:r>
                      <a:endParaRPr sz="1800"/>
                    </a:p>
                  </a:txBody>
                  <a:tcPr marL="0" marR="0" marT="0" marB="0" anchor="ctr" anchorCtr="0">
                    <a:lnL>
                      <a:noFill/>
                    </a:lnL>
                    <a:lnR>
                      <a:noFill/>
                    </a:lnR>
                    <a:lnT>
                      <a:noFill/>
                    </a:lnT>
                    <a:lnB>
                      <a:noFill/>
                    </a:lnB>
                    <a:solidFill>
                      <a:schemeClr val="accent1">
                        <a:lumMod val="20000"/>
                        <a:lumOff val="80000"/>
                      </a:schemeClr>
                    </a:solidFill>
                  </a:tcPr>
                </a:tc>
              </a:tr>
              <a:tr h="319405">
                <a:tc>
                  <a:txBody>
                    <a:bodyPr/>
                    <a:p>
                      <a:r>
                        <a:rPr sz="1800"/>
                        <a:t>Query Language</a:t>
                      </a:r>
                      <a:endParaRPr sz="1800"/>
                    </a:p>
                  </a:txBody>
                  <a:tcPr marL="0" marR="0" marT="0" marB="0" anchor="ctr" anchorCtr="0">
                    <a:lnL>
                      <a:noFill/>
                    </a:lnL>
                    <a:lnR>
                      <a:noFill/>
                    </a:lnR>
                    <a:lnT>
                      <a:noFill/>
                    </a:lnT>
                    <a:lnB>
                      <a:noFill/>
                    </a:lnB>
                    <a:solidFill>
                      <a:schemeClr val="accent1">
                        <a:lumMod val="20000"/>
                        <a:lumOff val="80000"/>
                      </a:schemeClr>
                    </a:solidFill>
                  </a:tcPr>
                </a:tc>
                <a:tc>
                  <a:txBody>
                    <a:bodyPr/>
                    <a:p>
                      <a:r>
                        <a:rPr sz="1800"/>
                        <a:t>Uses SQL (Structured Query Language)</a:t>
                      </a:r>
                      <a:endParaRPr sz="1800"/>
                    </a:p>
                  </a:txBody>
                  <a:tcPr marL="0" marR="0" marT="0" marB="0" anchor="ctr" anchorCtr="0">
                    <a:lnL>
                      <a:noFill/>
                    </a:lnL>
                    <a:lnR>
                      <a:noFill/>
                    </a:lnR>
                    <a:lnT>
                      <a:noFill/>
                    </a:lnT>
                    <a:lnB>
                      <a:noFill/>
                    </a:lnB>
                    <a:solidFill>
                      <a:schemeClr val="accent1">
                        <a:lumMod val="20000"/>
                        <a:lumOff val="80000"/>
                      </a:schemeClr>
                    </a:solidFill>
                  </a:tcPr>
                </a:tc>
                <a:tc>
                  <a:txBody>
                    <a:bodyPr/>
                    <a:p>
                      <a:r>
                        <a:rPr sz="1800"/>
                        <a:t>Uses database-specific query methods</a:t>
                      </a:r>
                      <a:endParaRPr sz="1800"/>
                    </a:p>
                  </a:txBody>
                  <a:tcPr marL="0" marR="0" marT="0" marB="0" anchor="ctr" anchorCtr="0">
                    <a:lnL>
                      <a:noFill/>
                    </a:lnL>
                    <a:lnR>
                      <a:noFill/>
                    </a:lnR>
                    <a:lnT>
                      <a:noFill/>
                    </a:lnT>
                    <a:lnB>
                      <a:noFill/>
                    </a:lnB>
                    <a:solidFill>
                      <a:schemeClr val="accent1">
                        <a:lumMod val="20000"/>
                        <a:lumOff val="80000"/>
                      </a:schemeClr>
                    </a:solidFill>
                  </a:tcPr>
                </a:tc>
              </a:tr>
              <a:tr h="319405">
                <a:tc>
                  <a:txBody>
                    <a:bodyPr/>
                    <a:p>
                      <a:r>
                        <a:rPr sz="1800"/>
                        <a:t>Scalability</a:t>
                      </a:r>
                      <a:endParaRPr sz="1800"/>
                    </a:p>
                  </a:txBody>
                  <a:tcPr marL="0" marR="0" marT="0" marB="0" anchor="ctr" anchorCtr="0">
                    <a:lnL>
                      <a:noFill/>
                    </a:lnL>
                    <a:lnR>
                      <a:noFill/>
                    </a:lnR>
                    <a:lnT>
                      <a:noFill/>
                    </a:lnT>
                    <a:lnB>
                      <a:noFill/>
                    </a:lnB>
                    <a:solidFill>
                      <a:schemeClr val="accent1">
                        <a:lumMod val="20000"/>
                        <a:lumOff val="80000"/>
                      </a:schemeClr>
                    </a:solidFill>
                  </a:tcPr>
                </a:tc>
                <a:tc>
                  <a:txBody>
                    <a:bodyPr/>
                    <a:p>
                      <a:r>
                        <a:rPr sz="1800"/>
                        <a:t>Vertical scaling (increase server power)</a:t>
                      </a:r>
                      <a:endParaRPr sz="1800"/>
                    </a:p>
                  </a:txBody>
                  <a:tcPr marL="0" marR="0" marT="0" marB="0" anchor="ctr" anchorCtr="0">
                    <a:lnL>
                      <a:noFill/>
                    </a:lnL>
                    <a:lnR>
                      <a:noFill/>
                    </a:lnR>
                    <a:lnT>
                      <a:noFill/>
                    </a:lnT>
                    <a:lnB>
                      <a:noFill/>
                    </a:lnB>
                    <a:solidFill>
                      <a:schemeClr val="accent1">
                        <a:lumMod val="20000"/>
                        <a:lumOff val="80000"/>
                      </a:schemeClr>
                    </a:solidFill>
                  </a:tcPr>
                </a:tc>
                <a:tc>
                  <a:txBody>
                    <a:bodyPr/>
                    <a:p>
                      <a:r>
                        <a:rPr sz="1800"/>
                        <a:t>Horizontal scaling (add more servers)</a:t>
                      </a:r>
                      <a:endParaRPr sz="1800"/>
                    </a:p>
                  </a:txBody>
                  <a:tcPr marL="0" marR="0" marT="0" marB="0" anchor="ctr" anchorCtr="0">
                    <a:lnL>
                      <a:noFill/>
                    </a:lnL>
                    <a:lnR>
                      <a:noFill/>
                    </a:lnR>
                    <a:lnT>
                      <a:noFill/>
                    </a:lnT>
                    <a:lnB>
                      <a:noFill/>
                    </a:lnB>
                    <a:solidFill>
                      <a:schemeClr val="accent1">
                        <a:lumMod val="20000"/>
                        <a:lumOff val="80000"/>
                      </a:schemeClr>
                    </a:solidFill>
                  </a:tcPr>
                </a:tc>
              </a:tr>
              <a:tr h="320040">
                <a:tc>
                  <a:txBody>
                    <a:bodyPr/>
                    <a:p>
                      <a:r>
                        <a:rPr sz="1800"/>
                        <a:t>Data Relationships</a:t>
                      </a:r>
                      <a:endParaRPr sz="1800"/>
                    </a:p>
                  </a:txBody>
                  <a:tcPr marL="0" marR="0" marT="0" marB="0" anchor="ctr" anchorCtr="0">
                    <a:lnL>
                      <a:noFill/>
                    </a:lnL>
                    <a:lnR>
                      <a:noFill/>
                    </a:lnR>
                    <a:lnT>
                      <a:noFill/>
                    </a:lnT>
                    <a:lnB>
                      <a:noFill/>
                    </a:lnB>
                    <a:solidFill>
                      <a:schemeClr val="accent1">
                        <a:lumMod val="20000"/>
                        <a:lumOff val="80000"/>
                      </a:schemeClr>
                    </a:solidFill>
                  </a:tcPr>
                </a:tc>
                <a:tc>
                  <a:txBody>
                    <a:bodyPr/>
                    <a:p>
                      <a:r>
                        <a:rPr sz="1800"/>
                        <a:t>Strong support using joins</a:t>
                      </a:r>
                      <a:endParaRPr sz="1800"/>
                    </a:p>
                  </a:txBody>
                  <a:tcPr marL="0" marR="0" marT="0" marB="0" anchor="ctr" anchorCtr="0">
                    <a:lnL>
                      <a:noFill/>
                    </a:lnL>
                    <a:lnR>
                      <a:noFill/>
                    </a:lnR>
                    <a:lnT>
                      <a:noFill/>
                    </a:lnT>
                    <a:lnB>
                      <a:noFill/>
                    </a:lnB>
                    <a:solidFill>
                      <a:schemeClr val="accent1">
                        <a:lumMod val="20000"/>
                        <a:lumOff val="80000"/>
                      </a:schemeClr>
                    </a:solidFill>
                  </a:tcPr>
                </a:tc>
                <a:tc>
                  <a:txBody>
                    <a:bodyPr/>
                    <a:p>
                      <a:r>
                        <a:rPr sz="1800"/>
                        <a:t>Limited or no joins</a:t>
                      </a:r>
                      <a:endParaRPr sz="1800"/>
                    </a:p>
                  </a:txBody>
                  <a:tcPr marL="0" marR="0" marT="0" marB="0" anchor="ctr" anchorCtr="0">
                    <a:lnL>
                      <a:noFill/>
                    </a:lnL>
                    <a:lnR>
                      <a:noFill/>
                    </a:lnR>
                    <a:lnT>
                      <a:noFill/>
                    </a:lnT>
                    <a:lnB>
                      <a:noFill/>
                    </a:lnB>
                    <a:solidFill>
                      <a:schemeClr val="accent1">
                        <a:lumMod val="20000"/>
                        <a:lumOff val="80000"/>
                      </a:schemeClr>
                    </a:solidFill>
                  </a:tcPr>
                </a:tc>
              </a:tr>
              <a:tr h="319405">
                <a:tc>
                  <a:txBody>
                    <a:bodyPr/>
                    <a:p>
                      <a:r>
                        <a:rPr sz="1800"/>
                        <a:t>Consistency</a:t>
                      </a:r>
                      <a:endParaRPr sz="1800"/>
                    </a:p>
                  </a:txBody>
                  <a:tcPr marL="0" marR="0" marT="0" marB="0" anchor="ctr" anchorCtr="0">
                    <a:lnL>
                      <a:noFill/>
                    </a:lnL>
                    <a:lnR>
                      <a:noFill/>
                    </a:lnR>
                    <a:lnT>
                      <a:noFill/>
                    </a:lnT>
                    <a:lnB>
                      <a:noFill/>
                    </a:lnB>
                    <a:solidFill>
                      <a:schemeClr val="accent1">
                        <a:lumMod val="20000"/>
                        <a:lumOff val="80000"/>
                      </a:schemeClr>
                    </a:solidFill>
                  </a:tcPr>
                </a:tc>
                <a:tc>
                  <a:txBody>
                    <a:bodyPr/>
                    <a:p>
                      <a:r>
                        <a:rPr sz="1800"/>
                        <a:t>Strong consistency</a:t>
                      </a:r>
                      <a:endParaRPr sz="1800"/>
                    </a:p>
                  </a:txBody>
                  <a:tcPr marL="0" marR="0" marT="0" marB="0" anchor="ctr" anchorCtr="0">
                    <a:lnL>
                      <a:noFill/>
                    </a:lnL>
                    <a:lnR>
                      <a:noFill/>
                    </a:lnR>
                    <a:lnT>
                      <a:noFill/>
                    </a:lnT>
                    <a:lnB>
                      <a:noFill/>
                    </a:lnB>
                    <a:solidFill>
                      <a:schemeClr val="accent1">
                        <a:lumMod val="20000"/>
                        <a:lumOff val="80000"/>
                      </a:schemeClr>
                    </a:solidFill>
                  </a:tcPr>
                </a:tc>
                <a:tc>
                  <a:txBody>
                    <a:bodyPr/>
                    <a:p>
                      <a:r>
                        <a:rPr sz="1800"/>
                        <a:t>Eventual consistency (usually)</a:t>
                      </a:r>
                      <a:endParaRPr sz="1800"/>
                    </a:p>
                  </a:txBody>
                  <a:tcPr marL="0" marR="0" marT="0" marB="0" anchor="ctr" anchorCtr="0">
                    <a:lnL>
                      <a:noFill/>
                    </a:lnL>
                    <a:lnR>
                      <a:noFill/>
                    </a:lnR>
                    <a:lnT>
                      <a:noFill/>
                    </a:lnT>
                    <a:lnB>
                      <a:noFill/>
                    </a:lnB>
                    <a:solidFill>
                      <a:schemeClr val="accent1">
                        <a:lumMod val="20000"/>
                        <a:lumOff val="80000"/>
                      </a:schemeClr>
                    </a:solidFill>
                  </a:tcPr>
                </a:tc>
              </a:tr>
              <a:tr h="319405">
                <a:tc>
                  <a:txBody>
                    <a:bodyPr/>
                    <a:p>
                      <a:r>
                        <a:rPr sz="1800">
                          <a:highlight>
                            <a:srgbClr val="FFFF00"/>
                          </a:highlight>
                        </a:rPr>
                        <a:t>Transaction Support</a:t>
                      </a:r>
                      <a:endParaRPr sz="1800">
                        <a:highlight>
                          <a:srgbClr val="FFFF00"/>
                        </a:highlight>
                      </a:endParaRPr>
                    </a:p>
                  </a:txBody>
                  <a:tcPr marL="0" marR="0" marT="0" marB="0" anchor="ctr" anchorCtr="0">
                    <a:lnL>
                      <a:noFill/>
                    </a:lnL>
                    <a:lnR>
                      <a:noFill/>
                    </a:lnR>
                    <a:lnT>
                      <a:noFill/>
                    </a:lnT>
                    <a:lnB>
                      <a:noFill/>
                    </a:lnB>
                    <a:solidFill>
                      <a:schemeClr val="accent1">
                        <a:lumMod val="20000"/>
                        <a:lumOff val="80000"/>
                      </a:schemeClr>
                    </a:solidFill>
                  </a:tcPr>
                </a:tc>
                <a:tc>
                  <a:txBody>
                    <a:bodyPr/>
                    <a:p>
                      <a:r>
                        <a:rPr sz="1800">
                          <a:highlight>
                            <a:srgbClr val="FFFF00"/>
                          </a:highlight>
                        </a:rPr>
                        <a:t>Supports ACID transactions</a:t>
                      </a:r>
                      <a:endParaRPr sz="1800">
                        <a:highlight>
                          <a:srgbClr val="FFFF00"/>
                        </a:highlight>
                      </a:endParaRPr>
                    </a:p>
                  </a:txBody>
                  <a:tcPr marL="0" marR="0" marT="0" marB="0" anchor="ctr" anchorCtr="0">
                    <a:lnL>
                      <a:noFill/>
                    </a:lnL>
                    <a:lnR>
                      <a:noFill/>
                    </a:lnR>
                    <a:lnT>
                      <a:noFill/>
                    </a:lnT>
                    <a:lnB>
                      <a:noFill/>
                    </a:lnB>
                    <a:solidFill>
                      <a:schemeClr val="accent1">
                        <a:lumMod val="20000"/>
                        <a:lumOff val="80000"/>
                      </a:schemeClr>
                    </a:solidFill>
                  </a:tcPr>
                </a:tc>
                <a:tc>
                  <a:txBody>
                    <a:bodyPr/>
                    <a:p>
                      <a:r>
                        <a:rPr sz="1800">
                          <a:highlight>
                            <a:srgbClr val="FFFF00"/>
                          </a:highlight>
                        </a:rPr>
                        <a:t>Mostly BASE properties</a:t>
                      </a:r>
                      <a:endParaRPr sz="1800">
                        <a:highlight>
                          <a:srgbClr val="FFFF00"/>
                        </a:highlight>
                      </a:endParaRPr>
                    </a:p>
                  </a:txBody>
                  <a:tcPr marL="0" marR="0" marT="0" marB="0" anchor="ctr" anchorCtr="0">
                    <a:lnL>
                      <a:noFill/>
                    </a:lnL>
                    <a:lnR>
                      <a:noFill/>
                    </a:lnR>
                    <a:lnT>
                      <a:noFill/>
                    </a:lnT>
                    <a:lnB>
                      <a:noFill/>
                    </a:lnB>
                    <a:solidFill>
                      <a:schemeClr val="accent1">
                        <a:lumMod val="20000"/>
                        <a:lumOff val="80000"/>
                      </a:schemeClr>
                    </a:solidFill>
                  </a:tcPr>
                </a:tc>
              </a:tr>
              <a:tr h="319405">
                <a:tc>
                  <a:txBody>
                    <a:bodyPr/>
                    <a:p>
                      <a:r>
                        <a:rPr sz="1800"/>
                        <a:t>Performance</a:t>
                      </a:r>
                      <a:endParaRPr sz="1800"/>
                    </a:p>
                  </a:txBody>
                  <a:tcPr marL="0" marR="0" marT="0" marB="0" anchor="ctr" anchorCtr="0">
                    <a:lnL>
                      <a:noFill/>
                    </a:lnL>
                    <a:lnR>
                      <a:noFill/>
                    </a:lnR>
                    <a:lnT>
                      <a:noFill/>
                    </a:lnT>
                    <a:lnB>
                      <a:noFill/>
                    </a:lnB>
                    <a:solidFill>
                      <a:schemeClr val="accent1">
                        <a:lumMod val="20000"/>
                        <a:lumOff val="80000"/>
                      </a:schemeClr>
                    </a:solidFill>
                  </a:tcPr>
                </a:tc>
                <a:tc>
                  <a:txBody>
                    <a:bodyPr/>
                    <a:p>
                      <a:r>
                        <a:rPr sz="1800"/>
                        <a:t>Slower for large distributed data</a:t>
                      </a:r>
                      <a:endParaRPr sz="1800"/>
                    </a:p>
                  </a:txBody>
                  <a:tcPr marL="0" marR="0" marT="0" marB="0" anchor="ctr" anchorCtr="0">
                    <a:lnL>
                      <a:noFill/>
                    </a:lnL>
                    <a:lnR>
                      <a:noFill/>
                    </a:lnR>
                    <a:lnT>
                      <a:noFill/>
                    </a:lnT>
                    <a:lnB>
                      <a:noFill/>
                    </a:lnB>
                    <a:solidFill>
                      <a:schemeClr val="accent1">
                        <a:lumMod val="20000"/>
                        <a:lumOff val="80000"/>
                      </a:schemeClr>
                    </a:solidFill>
                  </a:tcPr>
                </a:tc>
                <a:tc>
                  <a:txBody>
                    <a:bodyPr/>
                    <a:p>
                      <a:r>
                        <a:rPr sz="1800"/>
                        <a:t>Faster for big data &amp; real-time apps</a:t>
                      </a:r>
                      <a:endParaRPr sz="1800"/>
                    </a:p>
                  </a:txBody>
                  <a:tcPr marL="0" marR="0" marT="0" marB="0" anchor="ctr" anchorCtr="0">
                    <a:lnL>
                      <a:noFill/>
                    </a:lnL>
                    <a:lnR>
                      <a:noFill/>
                    </a:lnR>
                    <a:lnT>
                      <a:noFill/>
                    </a:lnT>
                    <a:lnB>
                      <a:noFill/>
                    </a:lnB>
                    <a:solidFill>
                      <a:schemeClr val="accent1">
                        <a:lumMod val="20000"/>
                        <a:lumOff val="80000"/>
                      </a:schemeClr>
                    </a:solidFill>
                  </a:tcPr>
                </a:tc>
              </a:tr>
              <a:tr h="320040">
                <a:tc>
                  <a:txBody>
                    <a:bodyPr/>
                    <a:p>
                      <a:r>
                        <a:rPr sz="1800"/>
                        <a:t>Data Integrity</a:t>
                      </a:r>
                      <a:endParaRPr sz="1800"/>
                    </a:p>
                  </a:txBody>
                  <a:tcPr marL="0" marR="0" marT="0" marB="0" anchor="ctr" anchorCtr="0">
                    <a:lnL>
                      <a:noFill/>
                    </a:lnL>
                    <a:lnR>
                      <a:noFill/>
                    </a:lnR>
                    <a:lnT>
                      <a:noFill/>
                    </a:lnT>
                    <a:lnB>
                      <a:noFill/>
                    </a:lnB>
                    <a:solidFill>
                      <a:schemeClr val="accent1">
                        <a:lumMod val="20000"/>
                        <a:lumOff val="80000"/>
                      </a:schemeClr>
                    </a:solidFill>
                  </a:tcPr>
                </a:tc>
                <a:tc>
                  <a:txBody>
                    <a:bodyPr/>
                    <a:p>
                      <a:r>
                        <a:rPr sz="1800"/>
                        <a:t>High integrity and constraints</a:t>
                      </a:r>
                      <a:endParaRPr sz="1800"/>
                    </a:p>
                  </a:txBody>
                  <a:tcPr marL="0" marR="0" marT="0" marB="0" anchor="ctr" anchorCtr="0">
                    <a:lnL>
                      <a:noFill/>
                    </a:lnL>
                    <a:lnR>
                      <a:noFill/>
                    </a:lnR>
                    <a:lnT>
                      <a:noFill/>
                    </a:lnT>
                    <a:lnB>
                      <a:noFill/>
                    </a:lnB>
                    <a:solidFill>
                      <a:schemeClr val="accent1">
                        <a:lumMod val="20000"/>
                        <a:lumOff val="80000"/>
                      </a:schemeClr>
                    </a:solidFill>
                  </a:tcPr>
                </a:tc>
                <a:tc>
                  <a:txBody>
                    <a:bodyPr/>
                    <a:p>
                      <a:r>
                        <a:rPr sz="1800"/>
                        <a:t>Less strict integrity</a:t>
                      </a:r>
                      <a:endParaRPr sz="1800"/>
                    </a:p>
                  </a:txBody>
                  <a:tcPr marL="0" marR="0" marT="0" marB="0" anchor="ctr" anchorCtr="0">
                    <a:lnL>
                      <a:noFill/>
                    </a:lnL>
                    <a:lnR>
                      <a:noFill/>
                    </a:lnR>
                    <a:lnT>
                      <a:noFill/>
                    </a:lnT>
                    <a:lnB>
                      <a:noFill/>
                    </a:lnB>
                    <a:solidFill>
                      <a:schemeClr val="accent1">
                        <a:lumMod val="20000"/>
                        <a:lumOff val="80000"/>
                      </a:schemeClr>
                    </a:solidFill>
                  </a:tcPr>
                </a:tc>
              </a:tr>
              <a:tr h="319405">
                <a:tc>
                  <a:txBody>
                    <a:bodyPr/>
                    <a:p>
                      <a:r>
                        <a:rPr sz="1800"/>
                        <a:t>Examples</a:t>
                      </a:r>
                      <a:endParaRPr sz="1800"/>
                    </a:p>
                  </a:txBody>
                  <a:tcPr marL="0" marR="0" marT="0" marB="0" anchor="ctr" anchorCtr="0">
                    <a:lnL>
                      <a:noFill/>
                    </a:lnL>
                    <a:lnR>
                      <a:noFill/>
                    </a:lnR>
                    <a:lnT>
                      <a:noFill/>
                    </a:lnT>
                    <a:lnB>
                      <a:noFill/>
                    </a:lnB>
                    <a:solidFill>
                      <a:schemeClr val="accent1">
                        <a:lumMod val="20000"/>
                        <a:lumOff val="80000"/>
                      </a:schemeClr>
                    </a:solidFill>
                  </a:tcPr>
                </a:tc>
                <a:tc>
                  <a:txBody>
                    <a:bodyPr/>
                    <a:p>
                      <a:r>
                        <a:rPr sz="1800" b="1"/>
                        <a:t>MySQL</a:t>
                      </a:r>
                      <a:r>
                        <a:rPr sz="1800"/>
                        <a:t>, PostgreSQL, Oracle</a:t>
                      </a:r>
                      <a:endParaRPr sz="1800"/>
                    </a:p>
                  </a:txBody>
                  <a:tcPr marL="0" marR="0" marT="0" marB="0" anchor="ctr" anchorCtr="0">
                    <a:lnL>
                      <a:noFill/>
                    </a:lnL>
                    <a:lnR>
                      <a:noFill/>
                    </a:lnR>
                    <a:lnT>
                      <a:noFill/>
                    </a:lnT>
                    <a:lnB>
                      <a:noFill/>
                    </a:lnB>
                    <a:solidFill>
                      <a:schemeClr val="accent1">
                        <a:lumMod val="20000"/>
                        <a:lumOff val="80000"/>
                      </a:schemeClr>
                    </a:solidFill>
                  </a:tcPr>
                </a:tc>
                <a:tc>
                  <a:txBody>
                    <a:bodyPr/>
                    <a:p>
                      <a:r>
                        <a:rPr sz="1800" b="1"/>
                        <a:t>MongoDB</a:t>
                      </a:r>
                      <a:r>
                        <a:rPr sz="1800"/>
                        <a:t>, Cassandra, Redis</a:t>
                      </a:r>
                      <a:endParaRPr sz="1800"/>
                    </a:p>
                  </a:txBody>
                  <a:tcPr marL="0" marR="0" marT="0" marB="0" anchor="ctr" anchorCtr="0">
                    <a:lnL>
                      <a:noFill/>
                    </a:lnL>
                    <a:lnR>
                      <a:noFill/>
                    </a:lnR>
                    <a:lnT>
                      <a:noFill/>
                    </a:lnT>
                    <a:lnB>
                      <a:noFill/>
                    </a:lnB>
                    <a:solidFill>
                      <a:schemeClr val="accent1">
                        <a:lumMod val="20000"/>
                        <a:lumOff val="80000"/>
                      </a:schemeClr>
                    </a:solidFill>
                  </a:tcPr>
                </a:tc>
              </a:tr>
              <a:tr h="319405">
                <a:tc>
                  <a:txBody>
                    <a:bodyPr/>
                    <a:p>
                      <a:r>
                        <a:rPr sz="1800"/>
                        <a:t>Best Used For</a:t>
                      </a:r>
                      <a:endParaRPr sz="1800"/>
                    </a:p>
                  </a:txBody>
                  <a:tcPr marL="0" marR="0" marT="0" marB="0" anchor="ctr" anchorCtr="0">
                    <a:lnL>
                      <a:noFill/>
                    </a:lnL>
                    <a:lnR>
                      <a:noFill/>
                    </a:lnR>
                    <a:lnT>
                      <a:noFill/>
                    </a:lnT>
                    <a:lnB>
                      <a:noFill/>
                    </a:lnB>
                    <a:solidFill>
                      <a:schemeClr val="accent1">
                        <a:lumMod val="20000"/>
                        <a:lumOff val="80000"/>
                      </a:schemeClr>
                    </a:solidFill>
                  </a:tcPr>
                </a:tc>
                <a:tc>
                  <a:txBody>
                    <a:bodyPr/>
                    <a:p>
                      <a:r>
                        <a:rPr sz="1800"/>
                        <a:t>Banking, ERP, Accounting systems</a:t>
                      </a:r>
                      <a:endParaRPr sz="1800"/>
                    </a:p>
                  </a:txBody>
                  <a:tcPr marL="0" marR="0" marT="0" marB="0" anchor="ctr" anchorCtr="0">
                    <a:lnL>
                      <a:noFill/>
                    </a:lnL>
                    <a:lnR>
                      <a:noFill/>
                    </a:lnR>
                    <a:lnT>
                      <a:noFill/>
                    </a:lnT>
                    <a:lnB>
                      <a:noFill/>
                    </a:lnB>
                    <a:solidFill>
                      <a:schemeClr val="accent1">
                        <a:lumMod val="20000"/>
                        <a:lumOff val="80000"/>
                      </a:schemeClr>
                    </a:solidFill>
                  </a:tcPr>
                </a:tc>
                <a:tc>
                  <a:txBody>
                    <a:bodyPr/>
                    <a:p>
                      <a:r>
                        <a:rPr sz="1800"/>
                        <a:t>Big data, IoT, real-time apps</a:t>
                      </a:r>
                      <a:endParaRPr sz="1800"/>
                    </a:p>
                  </a:txBody>
                  <a:tcPr marL="0" marR="0" marT="0" marB="0" anchor="ctr" anchorCtr="0">
                    <a:lnL>
                      <a:noFill/>
                    </a:lnL>
                    <a:lnR>
                      <a:noFill/>
                    </a:lnR>
                    <a:lnT>
                      <a:noFill/>
                    </a:lnT>
                    <a:lnB>
                      <a:noFill/>
                    </a:lnB>
                    <a:solidFill>
                      <a:schemeClr val="accent1">
                        <a:lumMod val="20000"/>
                        <a:lumOff val="80000"/>
                      </a:schemeClr>
                    </a:solidFill>
                  </a:tcPr>
                </a:tc>
              </a:tr>
            </a:tbl>
          </a:graphicData>
        </a:graphic>
      </p:graphicFrame>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236220" y="635"/>
            <a:ext cx="11677650" cy="321945"/>
          </a:xfrm>
        </p:spPr>
        <p:txBody>
          <a:bodyPr>
            <a:noAutofit/>
          </a:bodyPr>
          <a:p>
            <a:pPr algn="ctr"/>
            <a:r>
              <a:rPr lang="en-US" sz="2000" b="1">
                <a:solidFill>
                  <a:srgbClr val="FF0000"/>
                </a:solidFill>
              </a:rPr>
              <a:t>MongoDb Features</a:t>
            </a:r>
            <a:endParaRPr lang="en-US" sz="2000" b="1">
              <a:solidFill>
                <a:srgbClr val="FF0000"/>
              </a:solidFill>
            </a:endParaRPr>
          </a:p>
        </p:txBody>
      </p:sp>
      <p:sp>
        <p:nvSpPr>
          <p:cNvPr id="3" name="Content Placeholder 2"/>
          <p:cNvSpPr>
            <a:spLocks noGrp="1"/>
          </p:cNvSpPr>
          <p:nvPr>
            <p:ph idx="1"/>
          </p:nvPr>
        </p:nvSpPr>
        <p:spPr>
          <a:xfrm>
            <a:off x="635" y="321945"/>
            <a:ext cx="12050395" cy="6405245"/>
          </a:xfrm>
        </p:spPr>
        <p:txBody>
          <a:bodyPr>
            <a:normAutofit fontScale="55000"/>
          </a:bodyPr>
          <a:p>
            <a:pPr marL="0" indent="0">
              <a:buNone/>
            </a:pPr>
            <a:r>
              <a:rPr lang="en-US" altLang="en-US" b="1"/>
              <a:t>Document-Oriented Storage</a:t>
            </a:r>
            <a:endParaRPr lang="en-US" altLang="en-US"/>
          </a:p>
          <a:p>
            <a:pPr marL="0" indent="0">
              <a:buNone/>
            </a:pPr>
            <a:r>
              <a:rPr lang="en-US" altLang="en-US"/>
              <a:t>Stores data in JSON-like documents (BSON) instead of rows and tables.</a:t>
            </a:r>
            <a:endParaRPr lang="en-US" altLang="en-US"/>
          </a:p>
          <a:p>
            <a:pPr marL="0" indent="0">
              <a:buNone/>
            </a:pPr>
            <a:r>
              <a:rPr lang="en-US" altLang="en-US"/>
              <a:t>Each document can have a different structure, making it flexible.</a:t>
            </a:r>
            <a:endParaRPr lang="en-US" altLang="en-US"/>
          </a:p>
          <a:p>
            <a:pPr marL="0" indent="0">
              <a:buNone/>
            </a:pPr>
            <a:r>
              <a:rPr lang="en-US" altLang="en-US" b="1"/>
              <a:t> Schema Flexibility</a:t>
            </a:r>
            <a:endParaRPr lang="en-US" altLang="en-US"/>
          </a:p>
          <a:p>
            <a:pPr marL="0" indent="0">
              <a:buNone/>
            </a:pPr>
            <a:r>
              <a:rPr lang="en-US" altLang="en-US"/>
              <a:t>No fixed schema required.</a:t>
            </a:r>
            <a:endParaRPr lang="en-US" altLang="en-US"/>
          </a:p>
          <a:p>
            <a:pPr marL="0" indent="0">
              <a:buNone/>
            </a:pPr>
            <a:r>
              <a:rPr lang="en-US" altLang="en-US"/>
              <a:t>Easy to change or add fields without altering the whole database.</a:t>
            </a:r>
            <a:endParaRPr lang="en-US" altLang="en-US"/>
          </a:p>
          <a:p>
            <a:pPr marL="0" indent="0">
              <a:buNone/>
            </a:pPr>
            <a:r>
              <a:rPr lang="en-US" altLang="en-US" b="1"/>
              <a:t>High Performance</a:t>
            </a:r>
            <a:endParaRPr lang="en-US" altLang="en-US"/>
          </a:p>
          <a:p>
            <a:pPr marL="0" indent="0">
              <a:buNone/>
            </a:pPr>
            <a:r>
              <a:rPr lang="en-US" altLang="en-US"/>
              <a:t>Fast read and write operations.</a:t>
            </a:r>
            <a:endParaRPr lang="en-US" altLang="en-US"/>
          </a:p>
          <a:p>
            <a:pPr marL="0" indent="0">
              <a:buNone/>
            </a:pPr>
            <a:r>
              <a:rPr lang="en-US" altLang="en-US"/>
              <a:t>Uses indexes to speed up queries.</a:t>
            </a:r>
            <a:endParaRPr lang="en-US" altLang="en-US"/>
          </a:p>
          <a:p>
            <a:pPr marL="0" indent="0">
              <a:buNone/>
            </a:pPr>
            <a:r>
              <a:rPr lang="en-US" altLang="en-US" b="1"/>
              <a:t> Scalability</a:t>
            </a:r>
            <a:endParaRPr lang="en-US" altLang="en-US" b="1"/>
          </a:p>
          <a:p>
            <a:pPr marL="0" indent="0">
              <a:buNone/>
            </a:pPr>
            <a:r>
              <a:rPr lang="en-US" altLang="en-US"/>
              <a:t>Horizontal scaling using sharding (data distributed across multiple servers).</a:t>
            </a:r>
            <a:endParaRPr lang="en-US" altLang="en-US"/>
          </a:p>
          <a:p>
            <a:pPr marL="0" indent="0">
              <a:buNone/>
            </a:pPr>
            <a:r>
              <a:rPr lang="en-US" altLang="en-US"/>
              <a:t>Handles large amounts of data efficiently.</a:t>
            </a:r>
            <a:endParaRPr lang="en-US" altLang="en-US"/>
          </a:p>
          <a:p>
            <a:pPr marL="0" indent="0">
              <a:buNone/>
            </a:pPr>
            <a:r>
              <a:rPr lang="en-US" altLang="en-US" b="1"/>
              <a:t> Replication &amp; High Availability</a:t>
            </a:r>
            <a:endParaRPr lang="en-US" altLang="en-US"/>
          </a:p>
          <a:p>
            <a:pPr marL="0" indent="0">
              <a:buNone/>
            </a:pPr>
            <a:r>
              <a:rPr lang="en-US" altLang="en-US"/>
              <a:t>Supports replica sets (copies of data across servers).</a:t>
            </a:r>
            <a:endParaRPr lang="en-US" altLang="en-US"/>
          </a:p>
          <a:p>
            <a:pPr marL="0" indent="0">
              <a:buNone/>
            </a:pPr>
            <a:r>
              <a:rPr lang="en-US" altLang="en-US"/>
              <a:t>Automatic failover if a server goes down.</a:t>
            </a:r>
            <a:endParaRPr lang="en-US" altLang="en-US"/>
          </a:p>
          <a:p>
            <a:pPr marL="0" indent="0">
              <a:buNone/>
            </a:pPr>
            <a:r>
              <a:rPr lang="en-US" altLang="en-US" b="1"/>
              <a:t> Powerful Querying</a:t>
            </a:r>
            <a:endParaRPr lang="en-US" altLang="en-US"/>
          </a:p>
          <a:p>
            <a:pPr marL="0" indent="0">
              <a:buNone/>
            </a:pPr>
            <a:r>
              <a:rPr lang="en-US" altLang="en-US"/>
              <a:t>Supports rich queries, filtering, sorting, and aggregation.</a:t>
            </a:r>
            <a:endParaRPr lang="en-US" altLang="en-US"/>
          </a:p>
          <a:p>
            <a:pPr marL="0" indent="0">
              <a:buNone/>
            </a:pPr>
            <a:r>
              <a:rPr lang="en-US" altLang="en-US"/>
              <a:t>Aggregation framework works like advanced data processing.</a:t>
            </a:r>
            <a:endParaRPr lang="en-US" altLang="en-US"/>
          </a:p>
          <a:p>
            <a:pPr marL="0" indent="0">
              <a:buNone/>
            </a:pPr>
            <a:endParaRPr lang="en-US" altLang="en-US"/>
          </a:p>
        </p:txBody>
      </p:sp>
      <p:sp>
        <p:nvSpPr>
          <p:cNvPr id="4" name="Text Box 3"/>
          <p:cNvSpPr txBox="1"/>
          <p:nvPr/>
        </p:nvSpPr>
        <p:spPr>
          <a:xfrm>
            <a:off x="6347460" y="884555"/>
            <a:ext cx="5703570" cy="5591175"/>
          </a:xfrm>
          <a:prstGeom prst="rect">
            <a:avLst/>
          </a:prstGeom>
          <a:noFill/>
        </p:spPr>
        <p:txBody>
          <a:bodyPr wrap="square" rtlCol="0" anchor="t">
            <a:noAutofit/>
          </a:bodyPr>
          <a:p>
            <a:r>
              <a:rPr lang="en-US" altLang="en-US" b="1">
                <a:sym typeface="+mn-ea"/>
              </a:rPr>
              <a:t> Indexing</a:t>
            </a:r>
            <a:endParaRPr lang="en-US" altLang="en-US"/>
          </a:p>
          <a:p>
            <a:r>
              <a:rPr lang="en-US" altLang="en-US">
                <a:sym typeface="+mn-ea"/>
              </a:rPr>
              <a:t>Supports multiple index types (single field, compound, text, geospatial). Improves query performance significantly.</a:t>
            </a:r>
            <a:endParaRPr lang="en-US" altLang="en-US"/>
          </a:p>
          <a:p>
            <a:r>
              <a:rPr lang="en-US" altLang="en-US">
                <a:sym typeface="+mn-ea"/>
              </a:rPr>
              <a:t> </a:t>
            </a:r>
            <a:r>
              <a:rPr lang="en-US" altLang="en-US" b="1">
                <a:sym typeface="+mn-ea"/>
              </a:rPr>
              <a:t>Geospatial Support</a:t>
            </a:r>
            <a:endParaRPr lang="en-US" altLang="en-US"/>
          </a:p>
          <a:p>
            <a:r>
              <a:rPr lang="en-US" altLang="en-US">
                <a:sym typeface="+mn-ea"/>
              </a:rPr>
              <a:t>Built-in support for location-based queries (maps, distance searches).</a:t>
            </a:r>
            <a:endParaRPr lang="en-US" altLang="en-US"/>
          </a:p>
          <a:p>
            <a:r>
              <a:rPr lang="en-US" altLang="en-US" b="1">
                <a:sym typeface="+mn-ea"/>
              </a:rPr>
              <a:t> Security</a:t>
            </a:r>
            <a:endParaRPr lang="en-US" altLang="en-US" b="1"/>
          </a:p>
          <a:p>
            <a:r>
              <a:rPr lang="en-US" altLang="en-US">
                <a:sym typeface="+mn-ea"/>
              </a:rPr>
              <a:t>Authentication and role-based access control.</a:t>
            </a:r>
            <a:endParaRPr lang="en-US" altLang="en-US"/>
          </a:p>
          <a:p>
            <a:r>
              <a:rPr lang="en-US" altLang="en-US">
                <a:sym typeface="+mn-ea"/>
              </a:rPr>
              <a:t>Data encryption options available.</a:t>
            </a:r>
            <a:endParaRPr lang="en-US" altLang="en-US"/>
          </a:p>
          <a:p>
            <a:r>
              <a:rPr lang="en-US" altLang="en-US" b="1">
                <a:sym typeface="+mn-ea"/>
              </a:rPr>
              <a:t> Developer-Friendly</a:t>
            </a:r>
            <a:endParaRPr lang="en-US" altLang="en-US"/>
          </a:p>
          <a:p>
            <a:r>
              <a:rPr lang="en-US" altLang="en-US">
                <a:sym typeface="+mn-ea"/>
              </a:rPr>
              <a:t>Works well with modern programming languages.</a:t>
            </a:r>
            <a:endParaRPr lang="en-US" altLang="en-US"/>
          </a:p>
          <a:p>
            <a:r>
              <a:rPr lang="en-US" altLang="en-US">
                <a:sym typeface="+mn-ea"/>
              </a:rPr>
              <a:t>Popular for web apps, mobile apps, and real-time systems.</a:t>
            </a:r>
            <a:endParaRPr lang="en-US" altLang="en-US">
              <a:sym typeface="+mn-ea"/>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838200" y="635"/>
            <a:ext cx="10515600" cy="447675"/>
          </a:xfrm>
        </p:spPr>
        <p:txBody>
          <a:bodyPr>
            <a:normAutofit fontScale="90000"/>
          </a:bodyPr>
          <a:p>
            <a:pPr algn="ctr"/>
            <a:r>
              <a:rPr lang="en-US" sz="2800" b="1">
                <a:solidFill>
                  <a:srgbClr val="FF0000"/>
                </a:solidFill>
              </a:rPr>
              <a:t>Installation OF MongoDB</a:t>
            </a:r>
            <a:endParaRPr lang="en-US" sz="2800" b="1">
              <a:solidFill>
                <a:srgbClr val="FF0000"/>
              </a:solidFill>
            </a:endParaRPr>
          </a:p>
        </p:txBody>
      </p:sp>
      <p:sp>
        <p:nvSpPr>
          <p:cNvPr id="3" name="Content Placeholder 2"/>
          <p:cNvSpPr>
            <a:spLocks noGrp="1"/>
          </p:cNvSpPr>
          <p:nvPr>
            <p:ph idx="1"/>
          </p:nvPr>
        </p:nvSpPr>
        <p:spPr>
          <a:xfrm>
            <a:off x="139700" y="448310"/>
            <a:ext cx="11856720" cy="6240780"/>
          </a:xfrm>
        </p:spPr>
        <p:txBody>
          <a:bodyPr>
            <a:normAutofit fontScale="55000"/>
          </a:bodyPr>
          <a:p>
            <a:pPr marL="0" indent="0">
              <a:buNone/>
            </a:pPr>
            <a:r>
              <a:rPr lang="en-US" altLang="en-US" b="1"/>
              <a:t>Step 1: Download MongoDB</a:t>
            </a:r>
            <a:endParaRPr lang="en-US" altLang="en-US" b="1"/>
          </a:p>
          <a:p>
            <a:pPr marL="0" indent="0">
              <a:buNone/>
            </a:pPr>
            <a:r>
              <a:rPr lang="en-US" altLang="en-US"/>
              <a:t>Go to the MongoDB official website</a:t>
            </a:r>
            <a:endParaRPr lang="en-US" altLang="en-US"/>
          </a:p>
          <a:p>
            <a:pPr marL="0" indent="0">
              <a:buNone/>
            </a:pPr>
            <a:r>
              <a:rPr lang="en-US" altLang="en-US"/>
              <a:t>Download MongoDB Community Server for Windows</a:t>
            </a:r>
            <a:endParaRPr lang="en-US" altLang="en-US"/>
          </a:p>
          <a:p>
            <a:pPr marL="0" indent="0">
              <a:buNone/>
            </a:pPr>
            <a:r>
              <a:rPr lang="en-US" altLang="en-US" b="1"/>
              <a:t>Step 2: Run the Installer</a:t>
            </a:r>
            <a:endParaRPr lang="en-US" altLang="en-US" b="1"/>
          </a:p>
          <a:p>
            <a:pPr marL="0" indent="0">
              <a:buNone/>
            </a:pPr>
            <a:r>
              <a:rPr lang="en-US" altLang="en-US"/>
              <a:t>Open the downloaded .msi file</a:t>
            </a:r>
            <a:endParaRPr lang="en-US" altLang="en-US"/>
          </a:p>
          <a:p>
            <a:pPr marL="0" indent="0">
              <a:buNone/>
            </a:pPr>
            <a:r>
              <a:rPr lang="en-US" altLang="en-US"/>
              <a:t>Choose Complete Setup</a:t>
            </a:r>
            <a:endParaRPr lang="en-US" altLang="en-US"/>
          </a:p>
          <a:p>
            <a:pPr marL="0" indent="0">
              <a:buNone/>
            </a:pPr>
            <a:r>
              <a:rPr lang="en-US" altLang="en-US"/>
              <a:t>Select Install MongoDB as a Service</a:t>
            </a:r>
            <a:endParaRPr lang="en-US" altLang="en-US"/>
          </a:p>
          <a:p>
            <a:pPr marL="0" indent="0">
              <a:buNone/>
            </a:pPr>
            <a:r>
              <a:rPr lang="en-US" altLang="en-US"/>
              <a:t>Click Install</a:t>
            </a:r>
            <a:endParaRPr lang="en-US" altLang="en-US"/>
          </a:p>
          <a:p>
            <a:pPr marL="0" indent="0">
              <a:buNone/>
            </a:pPr>
            <a:r>
              <a:rPr lang="en-US" altLang="en-US" b="1"/>
              <a:t>Step 3: Finish Installation</a:t>
            </a:r>
            <a:endParaRPr lang="en-US" altLang="en-US" b="1"/>
          </a:p>
          <a:p>
            <a:pPr marL="0" indent="0">
              <a:buNone/>
            </a:pPr>
            <a:r>
              <a:rPr lang="en-US" altLang="en-US"/>
              <a:t>Allow installation to complete</a:t>
            </a:r>
            <a:endParaRPr lang="en-US" altLang="en-US"/>
          </a:p>
          <a:p>
            <a:pPr marL="0" indent="0">
              <a:buNone/>
            </a:pPr>
            <a:r>
              <a:rPr lang="en-US" altLang="en-US"/>
              <a:t>MongoDB will start automatically</a:t>
            </a:r>
            <a:endParaRPr lang="en-US" altLang="en-US"/>
          </a:p>
          <a:p>
            <a:pPr marL="0" indent="0">
              <a:buNone/>
            </a:pPr>
            <a:r>
              <a:rPr lang="en-US" altLang="en-US" b="1"/>
              <a:t>Step 4: Verify Installation</a:t>
            </a:r>
            <a:endParaRPr lang="en-US" altLang="en-US" b="1"/>
          </a:p>
          <a:p>
            <a:pPr marL="0" indent="0">
              <a:buNone/>
            </a:pPr>
            <a:r>
              <a:rPr lang="en-US" altLang="en-US"/>
              <a:t>Open Command Prompt</a:t>
            </a:r>
            <a:endParaRPr lang="en-US" altLang="en-US"/>
          </a:p>
          <a:p>
            <a:pPr marL="0" indent="0">
              <a:buNone/>
            </a:pPr>
            <a:r>
              <a:rPr lang="en-US" altLang="en-US"/>
              <a:t>Type: mongod --version</a:t>
            </a:r>
            <a:endParaRPr lang="en-US" altLang="en-US"/>
          </a:p>
          <a:p>
            <a:pPr marL="0" indent="0">
              <a:buNone/>
            </a:pPr>
            <a:r>
              <a:rPr lang="en-US" altLang="en-US" b="1"/>
              <a:t>Step 5: Open MongoDB Shell</a:t>
            </a:r>
            <a:endParaRPr lang="en-US" altLang="en-US" b="1"/>
          </a:p>
          <a:p>
            <a:pPr marL="0" indent="0">
              <a:buNone/>
            </a:pPr>
            <a:r>
              <a:rPr lang="en-US" altLang="en-US"/>
              <a:t>In Command Prompt, type:</a:t>
            </a:r>
            <a:endParaRPr lang="en-US" altLang="en-US"/>
          </a:p>
          <a:p>
            <a:pPr marL="0" indent="0">
              <a:buNone/>
            </a:pPr>
            <a:r>
              <a:rPr lang="en-US" altLang="en-US"/>
              <a:t>mongosh</a:t>
            </a:r>
            <a:endParaRPr lang="en-US" alt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838200" y="-635"/>
            <a:ext cx="10515600" cy="285750"/>
          </a:xfrm>
        </p:spPr>
        <p:txBody>
          <a:bodyPr>
            <a:noAutofit/>
          </a:bodyPr>
          <a:p>
            <a:pPr algn="ctr"/>
            <a:r>
              <a:rPr lang="en-US" sz="2000" b="1">
                <a:solidFill>
                  <a:srgbClr val="FF0000"/>
                </a:solidFill>
              </a:rPr>
              <a:t>MongoDb Methods</a:t>
            </a:r>
            <a:endParaRPr lang="en-US" sz="2000" b="1">
              <a:solidFill>
                <a:srgbClr val="FF0000"/>
              </a:solidFill>
            </a:endParaRPr>
          </a:p>
        </p:txBody>
      </p:sp>
      <p:sp>
        <p:nvSpPr>
          <p:cNvPr id="3" name="Content Placeholder 2"/>
          <p:cNvSpPr>
            <a:spLocks noGrp="1"/>
          </p:cNvSpPr>
          <p:nvPr>
            <p:ph idx="1"/>
          </p:nvPr>
        </p:nvSpPr>
        <p:spPr>
          <a:xfrm>
            <a:off x="166370" y="285115"/>
            <a:ext cx="11734165" cy="6377305"/>
          </a:xfrm>
        </p:spPr>
        <p:txBody>
          <a:bodyPr>
            <a:normAutofit fontScale="65000"/>
          </a:bodyPr>
          <a:p>
            <a:pPr marL="0" indent="0">
              <a:buNone/>
            </a:pPr>
            <a:r>
              <a:rPr lang="en-US" altLang="en-US"/>
              <a:t>1. CRUD Methods (Collection Methods)</a:t>
            </a:r>
            <a:endParaRPr lang="en-US" altLang="en-US"/>
          </a:p>
          <a:p>
            <a:pPr marL="0" indent="0">
              <a:buNone/>
            </a:pPr>
            <a:r>
              <a:rPr lang="en-US" altLang="en-US" b="1"/>
              <a:t>Create</a:t>
            </a:r>
            <a:endParaRPr lang="en-US" altLang="en-US" b="1"/>
          </a:p>
          <a:p>
            <a:pPr marL="0" indent="0">
              <a:buNone/>
            </a:pPr>
            <a:r>
              <a:rPr lang="en-US" altLang="en-US" b="1">
                <a:solidFill>
                  <a:srgbClr val="FF0000"/>
                </a:solidFill>
              </a:rPr>
              <a:t>insertOne()</a:t>
            </a:r>
            <a:endParaRPr lang="en-US" altLang="en-US" b="1">
              <a:solidFill>
                <a:srgbClr val="FF0000"/>
              </a:solidFill>
            </a:endParaRPr>
          </a:p>
          <a:p>
            <a:pPr marL="0" indent="0">
              <a:buNone/>
            </a:pPr>
            <a:r>
              <a:rPr lang="en-US" altLang="en-US" b="1">
                <a:solidFill>
                  <a:srgbClr val="FF0000"/>
                </a:solidFill>
              </a:rPr>
              <a:t>insertMany()</a:t>
            </a:r>
            <a:endParaRPr lang="en-US" altLang="en-US" b="1">
              <a:solidFill>
                <a:srgbClr val="FF0000"/>
              </a:solidFill>
            </a:endParaRPr>
          </a:p>
          <a:p>
            <a:pPr marL="0" indent="0">
              <a:buNone/>
            </a:pPr>
            <a:r>
              <a:rPr lang="en-US" altLang="en-US" b="1">
                <a:solidFill>
                  <a:srgbClr val="FF0000"/>
                </a:solidFill>
              </a:rPr>
              <a:t>find()</a:t>
            </a:r>
            <a:endParaRPr lang="en-US" altLang="en-US" b="1">
              <a:solidFill>
                <a:srgbClr val="FF0000"/>
              </a:solidFill>
            </a:endParaRPr>
          </a:p>
          <a:p>
            <a:pPr marL="0" indent="0">
              <a:buNone/>
            </a:pPr>
            <a:r>
              <a:rPr lang="en-US" altLang="en-US" b="1">
                <a:solidFill>
                  <a:srgbClr val="FF0000"/>
                </a:solidFill>
              </a:rPr>
              <a:t>findOne()</a:t>
            </a:r>
            <a:endParaRPr lang="en-US" altLang="en-US" b="1">
              <a:solidFill>
                <a:srgbClr val="FF0000"/>
              </a:solidFill>
            </a:endParaRPr>
          </a:p>
          <a:p>
            <a:pPr marL="0" indent="0">
              <a:buNone/>
            </a:pPr>
            <a:r>
              <a:rPr lang="en-US" altLang="en-US"/>
              <a:t>distinct()</a:t>
            </a:r>
            <a:endParaRPr lang="en-US" altLang="en-US"/>
          </a:p>
          <a:p>
            <a:pPr marL="0" indent="0">
              <a:buNone/>
            </a:pPr>
            <a:r>
              <a:rPr lang="en-US" altLang="en-US" b="1"/>
              <a:t>Update</a:t>
            </a:r>
            <a:endParaRPr lang="en-US" altLang="en-US" b="1"/>
          </a:p>
          <a:p>
            <a:pPr marL="0" indent="0">
              <a:buNone/>
            </a:pPr>
            <a:r>
              <a:rPr lang="en-US" altLang="en-US" b="1">
                <a:solidFill>
                  <a:srgbClr val="FF0000"/>
                </a:solidFill>
              </a:rPr>
              <a:t>updateOne()</a:t>
            </a:r>
            <a:endParaRPr lang="en-US" altLang="en-US" b="1">
              <a:solidFill>
                <a:srgbClr val="FF0000"/>
              </a:solidFill>
            </a:endParaRPr>
          </a:p>
          <a:p>
            <a:pPr marL="0" indent="0">
              <a:buNone/>
            </a:pPr>
            <a:r>
              <a:rPr lang="en-US" altLang="en-US" b="1">
                <a:solidFill>
                  <a:srgbClr val="FF0000"/>
                </a:solidFill>
              </a:rPr>
              <a:t>updateMany()</a:t>
            </a:r>
            <a:endParaRPr lang="en-US" altLang="en-US" b="1">
              <a:solidFill>
                <a:srgbClr val="FF0000"/>
              </a:solidFill>
            </a:endParaRPr>
          </a:p>
          <a:p>
            <a:pPr marL="0" indent="0">
              <a:buNone/>
            </a:pPr>
            <a:r>
              <a:rPr lang="en-US" altLang="en-US" b="1">
                <a:solidFill>
                  <a:srgbClr val="FF0000"/>
                </a:solidFill>
              </a:rPr>
              <a:t>replaceOne()</a:t>
            </a:r>
            <a:endParaRPr lang="en-US" altLang="en-US" b="1">
              <a:solidFill>
                <a:srgbClr val="FF0000"/>
              </a:solidFill>
            </a:endParaRPr>
          </a:p>
          <a:p>
            <a:pPr marL="0" indent="0">
              <a:buNone/>
            </a:pPr>
            <a:r>
              <a:rPr lang="en-US" altLang="en-US" b="1">
                <a:solidFill>
                  <a:srgbClr val="FF0000"/>
                </a:solidFill>
              </a:rPr>
              <a:t>findOneAndUpdate()</a:t>
            </a:r>
            <a:endParaRPr lang="en-US" altLang="en-US"/>
          </a:p>
          <a:p>
            <a:pPr marL="0" indent="0">
              <a:buNone/>
            </a:pPr>
            <a:r>
              <a:rPr lang="en-US" altLang="en-US" b="1"/>
              <a:t>Delete</a:t>
            </a:r>
            <a:endParaRPr lang="en-US" altLang="en-US" b="1"/>
          </a:p>
          <a:p>
            <a:pPr marL="0" indent="0">
              <a:buNone/>
            </a:pPr>
            <a:r>
              <a:rPr lang="en-US" altLang="en-US" b="1">
                <a:solidFill>
                  <a:srgbClr val="FF0000"/>
                </a:solidFill>
              </a:rPr>
              <a:t>deleteOne()</a:t>
            </a:r>
            <a:endParaRPr lang="en-US" altLang="en-US" b="1">
              <a:solidFill>
                <a:srgbClr val="FF0000"/>
              </a:solidFill>
            </a:endParaRPr>
          </a:p>
          <a:p>
            <a:pPr marL="0" indent="0">
              <a:buNone/>
            </a:pPr>
            <a:r>
              <a:rPr lang="en-US" altLang="en-US" b="1">
                <a:solidFill>
                  <a:srgbClr val="FF0000"/>
                </a:solidFill>
              </a:rPr>
              <a:t>deleteMany()</a:t>
            </a:r>
            <a:endParaRPr lang="en-US" altLang="en-US" b="1">
              <a:solidFill>
                <a:srgbClr val="FF0000"/>
              </a:solidFill>
            </a:endParaRPr>
          </a:p>
          <a:p>
            <a:pPr marL="0" indent="0">
              <a:buNone/>
            </a:pPr>
            <a:r>
              <a:rPr lang="en-US" altLang="en-US" b="1">
                <a:solidFill>
                  <a:srgbClr val="FF0000"/>
                </a:solidFill>
              </a:rPr>
              <a:t>findOneAndDelete()</a:t>
            </a:r>
            <a:endParaRPr lang="en-US" altLang="en-US" b="1">
              <a:solidFill>
                <a:srgbClr val="FF0000"/>
              </a:solidFill>
            </a:endParaRPr>
          </a:p>
        </p:txBody>
      </p:sp>
      <p:sp>
        <p:nvSpPr>
          <p:cNvPr id="4" name="Text Box 3"/>
          <p:cNvSpPr txBox="1"/>
          <p:nvPr/>
        </p:nvSpPr>
        <p:spPr>
          <a:xfrm>
            <a:off x="4740910" y="379730"/>
            <a:ext cx="3549015" cy="3410585"/>
          </a:xfrm>
          <a:prstGeom prst="rect">
            <a:avLst/>
          </a:prstGeom>
        </p:spPr>
        <p:txBody>
          <a:bodyPr wrap="square">
            <a:noAutofit/>
          </a:bodyPr>
          <a:p>
            <a:pPr indent="0">
              <a:spcAft>
                <a:spcPct val="60000"/>
              </a:spcAft>
              <a:buNone/>
            </a:pPr>
            <a:r>
              <a:rPr b="1"/>
              <a:t>2. Query (Comparison) Operators</a:t>
            </a:r>
            <a:endParaRPr b="1"/>
          </a:p>
          <a:p>
            <a:pPr indent="0">
              <a:buNone/>
            </a:pPr>
            <a:r>
              <a:rPr b="1">
                <a:solidFill>
                  <a:srgbClr val="FF0000"/>
                </a:solidFill>
              </a:rPr>
              <a:t>Used for filtering documents.</a:t>
            </a:r>
            <a:endParaRPr b="1">
              <a:solidFill>
                <a:srgbClr val="FF0000"/>
              </a:solidFill>
            </a:endParaRPr>
          </a:p>
          <a:p>
            <a:pPr indent="0">
              <a:buNone/>
            </a:pPr>
            <a:r>
              <a:rPr b="1">
                <a:solidFill>
                  <a:srgbClr val="FF0000"/>
                </a:solidFill>
              </a:rPr>
              <a:t>$eq → equal</a:t>
            </a:r>
            <a:endParaRPr b="1">
              <a:solidFill>
                <a:srgbClr val="FF0000"/>
              </a:solidFill>
            </a:endParaRPr>
          </a:p>
          <a:p>
            <a:pPr indent="0">
              <a:buNone/>
            </a:pPr>
            <a:r>
              <a:rPr b="1">
                <a:solidFill>
                  <a:srgbClr val="FF0000"/>
                </a:solidFill>
              </a:rPr>
              <a:t>$ne → not equal</a:t>
            </a:r>
            <a:endParaRPr b="1">
              <a:solidFill>
                <a:srgbClr val="FF0000"/>
              </a:solidFill>
            </a:endParaRPr>
          </a:p>
          <a:p>
            <a:pPr indent="0">
              <a:buNone/>
            </a:pPr>
            <a:r>
              <a:rPr b="1">
                <a:solidFill>
                  <a:srgbClr val="FF0000"/>
                </a:solidFill>
              </a:rPr>
              <a:t>$gt → greater than</a:t>
            </a:r>
            <a:endParaRPr b="1">
              <a:solidFill>
                <a:srgbClr val="FF0000"/>
              </a:solidFill>
            </a:endParaRPr>
          </a:p>
          <a:p>
            <a:pPr indent="0">
              <a:buNone/>
            </a:pPr>
            <a:r>
              <a:rPr b="1">
                <a:solidFill>
                  <a:srgbClr val="FF0000"/>
                </a:solidFill>
              </a:rPr>
              <a:t>$gte → greater than or equal</a:t>
            </a:r>
            <a:endParaRPr b="1">
              <a:solidFill>
                <a:srgbClr val="FF0000"/>
              </a:solidFill>
            </a:endParaRPr>
          </a:p>
          <a:p>
            <a:pPr indent="0">
              <a:buNone/>
            </a:pPr>
            <a:r>
              <a:rPr b="1">
                <a:solidFill>
                  <a:srgbClr val="FF0000"/>
                </a:solidFill>
              </a:rPr>
              <a:t>$lt → less than</a:t>
            </a:r>
            <a:endParaRPr b="1">
              <a:solidFill>
                <a:srgbClr val="FF0000"/>
              </a:solidFill>
            </a:endParaRPr>
          </a:p>
          <a:p>
            <a:pPr indent="0">
              <a:buNone/>
            </a:pPr>
            <a:r>
              <a:rPr b="1">
                <a:solidFill>
                  <a:srgbClr val="FF0000"/>
                </a:solidFill>
              </a:rPr>
              <a:t>$lte → less than or equal</a:t>
            </a:r>
            <a:endParaRPr b="1">
              <a:solidFill>
                <a:srgbClr val="FF0000"/>
              </a:solidFill>
            </a:endParaRPr>
          </a:p>
          <a:p>
            <a:pPr indent="0">
              <a:buNone/>
            </a:pPr>
            <a:r>
              <a:rPr b="1">
                <a:solidFill>
                  <a:srgbClr val="FF0000"/>
                </a:solidFill>
              </a:rPr>
              <a:t>$in → matches any value in array</a:t>
            </a:r>
            <a:endParaRPr b="1">
              <a:solidFill>
                <a:srgbClr val="FF0000"/>
              </a:solidFill>
            </a:endParaRPr>
          </a:p>
          <a:p>
            <a:pPr indent="0">
              <a:buNone/>
            </a:pPr>
            <a:r>
              <a:rPr b="1">
                <a:solidFill>
                  <a:srgbClr val="FF0000"/>
                </a:solidFill>
              </a:rPr>
              <a:t>$nin → not in array</a:t>
            </a:r>
            <a:endParaRPr b="1">
              <a:solidFill>
                <a:srgbClr val="FF0000"/>
              </a:solidFill>
            </a:endParaRPr>
          </a:p>
          <a:p>
            <a:pPr indent="0">
              <a:buNone/>
            </a:pPr>
            <a:r>
              <a:rPr lang="en-US" b="1">
                <a:solidFill>
                  <a:srgbClr val="FF0000"/>
                </a:solidFill>
              </a:rPr>
              <a:t>$inc -&gt;increment</a:t>
            </a:r>
            <a:endParaRPr lang="en-US" b="1">
              <a:solidFill>
                <a:srgbClr val="FF0000"/>
              </a:solidFill>
            </a:endParaRPr>
          </a:p>
        </p:txBody>
      </p:sp>
      <p:sp>
        <p:nvSpPr>
          <p:cNvPr id="5" name="Text Box 4"/>
          <p:cNvSpPr txBox="1"/>
          <p:nvPr/>
        </p:nvSpPr>
        <p:spPr>
          <a:xfrm>
            <a:off x="1852930" y="676910"/>
            <a:ext cx="3038475" cy="2074545"/>
          </a:xfrm>
          <a:prstGeom prst="rect">
            <a:avLst/>
          </a:prstGeom>
        </p:spPr>
        <p:txBody>
          <a:bodyPr wrap="square">
            <a:noAutofit/>
          </a:bodyPr>
          <a:p>
            <a:pPr indent="0">
              <a:spcAft>
                <a:spcPct val="60000"/>
              </a:spcAft>
              <a:buNone/>
            </a:pPr>
            <a:r>
              <a:rPr b="1"/>
              <a:t>3. Logical Operators</a:t>
            </a:r>
            <a:endParaRPr b="1"/>
          </a:p>
          <a:p>
            <a:pPr indent="0">
              <a:buNone/>
            </a:pPr>
            <a:r>
              <a:rPr b="1">
                <a:solidFill>
                  <a:srgbClr val="FF0000"/>
                </a:solidFill>
              </a:rPr>
              <a:t>Used to combine conditions.</a:t>
            </a:r>
            <a:endParaRPr b="1">
              <a:solidFill>
                <a:srgbClr val="FF0000"/>
              </a:solidFill>
            </a:endParaRPr>
          </a:p>
          <a:p>
            <a:pPr indent="0">
              <a:buNone/>
            </a:pPr>
            <a:r>
              <a:rPr b="1">
                <a:solidFill>
                  <a:srgbClr val="FF0000"/>
                </a:solidFill>
              </a:rPr>
              <a:t>$and</a:t>
            </a:r>
            <a:endParaRPr b="1">
              <a:solidFill>
                <a:srgbClr val="FF0000"/>
              </a:solidFill>
            </a:endParaRPr>
          </a:p>
          <a:p>
            <a:pPr indent="0">
              <a:buNone/>
            </a:pPr>
            <a:r>
              <a:rPr b="1">
                <a:solidFill>
                  <a:srgbClr val="FF0000"/>
                </a:solidFill>
              </a:rPr>
              <a:t>$or</a:t>
            </a:r>
            <a:endParaRPr b="1">
              <a:solidFill>
                <a:srgbClr val="FF0000"/>
              </a:solidFill>
            </a:endParaRPr>
          </a:p>
          <a:p>
            <a:pPr indent="0">
              <a:buNone/>
            </a:pPr>
            <a:r>
              <a:rPr b="1">
                <a:solidFill>
                  <a:srgbClr val="FF0000"/>
                </a:solidFill>
              </a:rPr>
              <a:t>$not</a:t>
            </a:r>
            <a:endParaRPr b="1">
              <a:solidFill>
                <a:srgbClr val="FF0000"/>
              </a:solidFill>
            </a:endParaRPr>
          </a:p>
          <a:p>
            <a:pPr indent="0">
              <a:buNone/>
            </a:pPr>
            <a:r>
              <a:rPr b="1">
                <a:solidFill>
                  <a:srgbClr val="FF0000"/>
                </a:solidFill>
              </a:rPr>
              <a:t>$nor</a:t>
            </a:r>
            <a:endParaRPr b="1">
              <a:solidFill>
                <a:srgbClr val="FF0000"/>
              </a:solidFill>
            </a:endParaRPr>
          </a:p>
        </p:txBody>
      </p:sp>
      <p:sp>
        <p:nvSpPr>
          <p:cNvPr id="6" name="Text Box 5"/>
          <p:cNvSpPr txBox="1"/>
          <p:nvPr/>
        </p:nvSpPr>
        <p:spPr>
          <a:xfrm>
            <a:off x="1620520" y="2750820"/>
            <a:ext cx="3083560" cy="1381125"/>
          </a:xfrm>
          <a:prstGeom prst="rect">
            <a:avLst/>
          </a:prstGeom>
        </p:spPr>
        <p:txBody>
          <a:bodyPr wrap="square">
            <a:noAutofit/>
          </a:bodyPr>
          <a:p>
            <a:pPr indent="0">
              <a:spcAft>
                <a:spcPct val="60000"/>
              </a:spcAft>
              <a:buNone/>
            </a:pPr>
            <a:r>
              <a:rPr b="1"/>
              <a:t>4. Element Operators</a:t>
            </a:r>
            <a:endParaRPr b="1"/>
          </a:p>
          <a:p>
            <a:pPr indent="0">
              <a:buNone/>
            </a:pPr>
            <a:r>
              <a:rPr b="1">
                <a:solidFill>
                  <a:srgbClr val="FF0000"/>
                </a:solidFill>
              </a:rPr>
              <a:t>Check field existence or type.</a:t>
            </a:r>
            <a:endParaRPr b="1">
              <a:solidFill>
                <a:srgbClr val="FF0000"/>
              </a:solidFill>
            </a:endParaRPr>
          </a:p>
          <a:p>
            <a:pPr indent="0">
              <a:buNone/>
            </a:pPr>
            <a:r>
              <a:rPr b="1">
                <a:solidFill>
                  <a:srgbClr val="FF0000"/>
                </a:solidFill>
              </a:rPr>
              <a:t>$exists → field exists or not</a:t>
            </a:r>
            <a:endParaRPr b="1">
              <a:solidFill>
                <a:srgbClr val="FF0000"/>
              </a:solidFill>
            </a:endParaRPr>
          </a:p>
          <a:p>
            <a:pPr indent="0">
              <a:buNone/>
            </a:pPr>
            <a:r>
              <a:rPr b="1">
                <a:solidFill>
                  <a:srgbClr val="FF0000"/>
                </a:solidFill>
              </a:rPr>
              <a:t>$type → data type check</a:t>
            </a:r>
            <a:endParaRPr b="1">
              <a:solidFill>
                <a:srgbClr val="FF0000"/>
              </a:solidFill>
            </a:endParaRPr>
          </a:p>
        </p:txBody>
      </p:sp>
      <p:sp>
        <p:nvSpPr>
          <p:cNvPr id="7" name="Text Box 6"/>
          <p:cNvSpPr txBox="1"/>
          <p:nvPr/>
        </p:nvSpPr>
        <p:spPr>
          <a:xfrm>
            <a:off x="2118995" y="4260215"/>
            <a:ext cx="2603500" cy="2209800"/>
          </a:xfrm>
          <a:prstGeom prst="rect">
            <a:avLst/>
          </a:prstGeom>
        </p:spPr>
        <p:txBody>
          <a:bodyPr wrap="square">
            <a:noAutofit/>
          </a:bodyPr>
          <a:p>
            <a:pPr indent="0">
              <a:spcAft>
                <a:spcPct val="60000"/>
              </a:spcAft>
              <a:buNone/>
            </a:pPr>
            <a:r>
              <a:rPr b="1"/>
              <a:t>12. Database Methods</a:t>
            </a:r>
            <a:endParaRPr b="1"/>
          </a:p>
          <a:p>
            <a:pPr indent="0">
              <a:spcAft>
                <a:spcPct val="60000"/>
              </a:spcAft>
              <a:buNone/>
            </a:pPr>
            <a:r>
              <a:rPr lang="en-US" b="1">
                <a:solidFill>
                  <a:srgbClr val="FF0000"/>
                </a:solidFill>
              </a:rPr>
              <a:t>  </a:t>
            </a:r>
            <a:r>
              <a:rPr b="1">
                <a:solidFill>
                  <a:srgbClr val="FF0000"/>
                </a:solidFill>
              </a:rPr>
              <a:t>show dbs</a:t>
            </a:r>
            <a:endParaRPr b="1">
              <a:solidFill>
                <a:srgbClr val="FF0000"/>
              </a:solidFill>
            </a:endParaRPr>
          </a:p>
          <a:p>
            <a:pPr indent="0">
              <a:buNone/>
            </a:pPr>
            <a:r>
              <a:rPr b="1">
                <a:solidFill>
                  <a:srgbClr val="FF0000"/>
                </a:solidFill>
              </a:rPr>
              <a:t>use databaseName</a:t>
            </a:r>
            <a:endParaRPr b="1">
              <a:solidFill>
                <a:srgbClr val="FF0000"/>
              </a:solidFill>
            </a:endParaRPr>
          </a:p>
          <a:p>
            <a:pPr indent="0">
              <a:buNone/>
            </a:pPr>
            <a:r>
              <a:rPr b="1">
                <a:solidFill>
                  <a:srgbClr val="FF0000"/>
                </a:solidFill>
              </a:rPr>
              <a:t>db.dropDatabase()</a:t>
            </a:r>
            <a:endParaRPr b="1">
              <a:solidFill>
                <a:srgbClr val="FF0000"/>
              </a:solidFill>
            </a:endParaRPr>
          </a:p>
          <a:p>
            <a:pPr indent="0">
              <a:buNone/>
            </a:pPr>
            <a:r>
              <a:rPr b="1">
                <a:solidFill>
                  <a:srgbClr val="FF0000"/>
                </a:solidFill>
              </a:rPr>
              <a:t>db.stats()</a:t>
            </a:r>
            <a:endParaRPr b="1">
              <a:solidFill>
                <a:srgbClr val="FF0000"/>
              </a:solidFill>
            </a:endParaRPr>
          </a:p>
        </p:txBody>
      </p:sp>
      <p:sp>
        <p:nvSpPr>
          <p:cNvPr id="8" name="Text Box 7"/>
          <p:cNvSpPr txBox="1"/>
          <p:nvPr/>
        </p:nvSpPr>
        <p:spPr>
          <a:xfrm>
            <a:off x="4722495" y="4004945"/>
            <a:ext cx="2124075" cy="2465070"/>
          </a:xfrm>
          <a:prstGeom prst="rect">
            <a:avLst/>
          </a:prstGeom>
        </p:spPr>
        <p:txBody>
          <a:bodyPr wrap="square">
            <a:noAutofit/>
          </a:bodyPr>
          <a:p>
            <a:pPr indent="0">
              <a:spcAft>
                <a:spcPct val="60000"/>
              </a:spcAft>
              <a:buNone/>
            </a:pPr>
            <a:r>
              <a:rPr b="1"/>
              <a:t>10. Cursor Methods</a:t>
            </a:r>
            <a:endParaRPr b="1"/>
          </a:p>
          <a:p>
            <a:pPr indent="0">
              <a:spcAft>
                <a:spcPct val="60000"/>
              </a:spcAft>
              <a:buNone/>
            </a:pPr>
            <a:r>
              <a:rPr b="1">
                <a:solidFill>
                  <a:srgbClr val="FF0000"/>
                </a:solidFill>
              </a:rPr>
              <a:t>Used after find().</a:t>
            </a:r>
            <a:endParaRPr b="1">
              <a:solidFill>
                <a:srgbClr val="FF0000"/>
              </a:solidFill>
            </a:endParaRPr>
          </a:p>
          <a:p>
            <a:pPr indent="0">
              <a:buNone/>
            </a:pPr>
            <a:r>
              <a:rPr b="1">
                <a:solidFill>
                  <a:srgbClr val="FF0000"/>
                </a:solidFill>
              </a:rPr>
              <a:t>sort()</a:t>
            </a:r>
            <a:endParaRPr b="1">
              <a:solidFill>
                <a:srgbClr val="FF0000"/>
              </a:solidFill>
            </a:endParaRPr>
          </a:p>
          <a:p>
            <a:pPr indent="0">
              <a:buNone/>
            </a:pPr>
            <a:r>
              <a:rPr b="1">
                <a:solidFill>
                  <a:srgbClr val="FF0000"/>
                </a:solidFill>
              </a:rPr>
              <a:t>limit()</a:t>
            </a:r>
            <a:endParaRPr b="1">
              <a:solidFill>
                <a:srgbClr val="FF0000"/>
              </a:solidFill>
            </a:endParaRPr>
          </a:p>
          <a:p>
            <a:pPr indent="0">
              <a:buNone/>
            </a:pPr>
            <a:r>
              <a:rPr b="1">
                <a:solidFill>
                  <a:srgbClr val="FF0000"/>
                </a:solidFill>
              </a:rPr>
              <a:t>skip()</a:t>
            </a:r>
            <a:endParaRPr b="1">
              <a:solidFill>
                <a:srgbClr val="FF0000"/>
              </a:solidFill>
            </a:endParaRPr>
          </a:p>
          <a:p>
            <a:pPr indent="0">
              <a:buNone/>
            </a:pPr>
            <a:r>
              <a:rPr b="1">
                <a:solidFill>
                  <a:srgbClr val="FF0000"/>
                </a:solidFill>
              </a:rPr>
              <a:t>count()</a:t>
            </a:r>
            <a:endParaRPr b="1">
              <a:solidFill>
                <a:srgbClr val="FF0000"/>
              </a:solidFill>
            </a:endParaRPr>
          </a:p>
          <a:p>
            <a:pPr indent="0">
              <a:buNone/>
            </a:pPr>
            <a:r>
              <a:rPr b="1">
                <a:solidFill>
                  <a:srgbClr val="FF0000"/>
                </a:solidFill>
              </a:rPr>
              <a:t>pretty()</a:t>
            </a:r>
            <a:endParaRPr b="1">
              <a:solidFill>
                <a:srgbClr val="FF0000"/>
              </a:solidFill>
            </a:endParaRPr>
          </a:p>
        </p:txBody>
      </p:sp>
      <p:sp>
        <p:nvSpPr>
          <p:cNvPr id="9" name="Text Box 8"/>
          <p:cNvSpPr txBox="1"/>
          <p:nvPr/>
        </p:nvSpPr>
        <p:spPr>
          <a:xfrm>
            <a:off x="8098790" y="160020"/>
            <a:ext cx="3965575" cy="6137275"/>
          </a:xfrm>
          <a:prstGeom prst="rect">
            <a:avLst/>
          </a:prstGeom>
        </p:spPr>
        <p:txBody>
          <a:bodyPr>
            <a:noAutofit/>
          </a:bodyPr>
          <a:p>
            <a:pPr indent="0">
              <a:spcAft>
                <a:spcPct val="60000"/>
              </a:spcAft>
              <a:buNone/>
            </a:pPr>
            <a:r>
              <a:rPr b="1"/>
              <a:t>9. Aggregation Operators (Expressions)</a:t>
            </a:r>
            <a:endParaRPr b="1"/>
          </a:p>
          <a:p>
            <a:pPr indent="0">
              <a:spcAft>
                <a:spcPct val="60000"/>
              </a:spcAft>
              <a:buNone/>
            </a:pPr>
            <a:endParaRPr b="1"/>
          </a:p>
          <a:p>
            <a:pPr indent="0">
              <a:spcAft>
                <a:spcPct val="60000"/>
              </a:spcAft>
              <a:buNone/>
            </a:pPr>
            <a:r>
              <a:rPr b="1"/>
              <a:t>Arithmetic</a:t>
            </a:r>
            <a:endParaRPr b="1"/>
          </a:p>
          <a:p>
            <a:pPr indent="0">
              <a:spcAft>
                <a:spcPct val="60000"/>
              </a:spcAft>
              <a:buNone/>
            </a:pPr>
            <a:r>
              <a:t>$add</a:t>
            </a:r>
            <a:r>
              <a:rPr lang="en-US"/>
              <a:t>          </a:t>
            </a:r>
            <a:r>
              <a:t>$subtract</a:t>
            </a:r>
          </a:p>
          <a:p>
            <a:pPr indent="0">
              <a:buNone/>
            </a:pPr>
            <a:r>
              <a:t>$multiply</a:t>
            </a:r>
            <a:r>
              <a:rPr lang="en-US"/>
              <a:t>          </a:t>
            </a:r>
            <a:r>
              <a:t>$divide</a:t>
            </a:r>
          </a:p>
          <a:p>
            <a:pPr indent="0">
              <a:spcAft>
                <a:spcPct val="60000"/>
              </a:spcAft>
              <a:buNone/>
            </a:pPr>
            <a:r>
              <a:rPr b="1"/>
              <a:t>Conditional</a:t>
            </a:r>
            <a:endParaRPr b="1"/>
          </a:p>
          <a:p>
            <a:pPr indent="0">
              <a:spcAft>
                <a:spcPct val="60000"/>
              </a:spcAft>
              <a:buNone/>
            </a:pPr>
            <a:r>
              <a:t>$cond</a:t>
            </a:r>
            <a:r>
              <a:rPr lang="en-US"/>
              <a:t>        </a:t>
            </a:r>
            <a:r>
              <a:t>$ifNull</a:t>
            </a:r>
          </a:p>
          <a:p>
            <a:pPr indent="0">
              <a:buNone/>
            </a:pPr>
            <a:r>
              <a:t>$switch</a:t>
            </a:r>
            <a:r>
              <a:rPr lang="en-US"/>
              <a:t>     </a:t>
            </a:r>
            <a:endParaRPr lang="en-US"/>
          </a:p>
          <a:p>
            <a:pPr indent="0">
              <a:spcAft>
                <a:spcPct val="60000"/>
              </a:spcAft>
              <a:buNone/>
            </a:pPr>
            <a:r>
              <a:rPr b="1"/>
              <a:t>String</a:t>
            </a:r>
            <a:endParaRPr b="1"/>
          </a:p>
          <a:p>
            <a:pPr indent="0">
              <a:spcAft>
                <a:spcPct val="60000"/>
              </a:spcAft>
              <a:buNone/>
            </a:pPr>
            <a:r>
              <a:t>$concat</a:t>
            </a:r>
            <a:r>
              <a:rPr lang="en-US"/>
              <a:t>        </a:t>
            </a:r>
            <a:r>
              <a:t>$toUpper</a:t>
            </a:r>
          </a:p>
          <a:p>
            <a:pPr indent="0">
              <a:buNone/>
            </a:pPr>
            <a:r>
              <a:t>$toLower</a:t>
            </a:r>
            <a:r>
              <a:rPr lang="en-US"/>
              <a:t>       </a:t>
            </a:r>
            <a:r>
              <a:t>$substr</a:t>
            </a:r>
          </a:p>
          <a:p>
            <a:pPr indent="0">
              <a:spcAft>
                <a:spcPct val="60000"/>
              </a:spcAft>
              <a:buNone/>
            </a:pPr>
            <a:r>
              <a:rPr b="1"/>
              <a:t>Date</a:t>
            </a:r>
            <a:endParaRPr b="1"/>
          </a:p>
          <a:p>
            <a:pPr indent="0">
              <a:spcAft>
                <a:spcPct val="60000"/>
              </a:spcAft>
              <a:buNone/>
            </a:pPr>
            <a:r>
              <a:t>$year</a:t>
            </a:r>
            <a:r>
              <a:rPr lang="en-US"/>
              <a:t>     </a:t>
            </a:r>
            <a:r>
              <a:t>$month</a:t>
            </a:r>
          </a:p>
          <a:p>
            <a:pPr indent="0">
              <a:buNone/>
            </a:pPr>
            <a:r>
              <a:t>$dayOfMonth</a:t>
            </a:r>
            <a:r>
              <a:rPr lang="en-US"/>
              <a:t>         </a:t>
            </a:r>
            <a:r>
              <a:t>$dateToString</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635" y="0"/>
            <a:ext cx="12192635" cy="308610"/>
          </a:xfrm>
        </p:spPr>
        <p:txBody>
          <a:bodyPr>
            <a:noAutofit/>
          </a:bodyPr>
          <a:p>
            <a:pPr algn="ctr"/>
            <a:r>
              <a:rPr lang="en-US" sz="1800" b="1">
                <a:solidFill>
                  <a:srgbClr val="FF0000"/>
                </a:solidFill>
              </a:rPr>
              <a:t>MongoDb Operators</a:t>
            </a:r>
            <a:endParaRPr lang="en-US" sz="1800" b="1">
              <a:solidFill>
                <a:srgbClr val="FF0000"/>
              </a:solidFill>
            </a:endParaRPr>
          </a:p>
        </p:txBody>
      </p:sp>
      <p:graphicFrame>
        <p:nvGraphicFramePr>
          <p:cNvPr id="4" name="Table 3"/>
          <p:cNvGraphicFramePr/>
          <p:nvPr>
            <p:custDataLst>
              <p:tags r:id="rId1"/>
            </p:custDataLst>
          </p:nvPr>
        </p:nvGraphicFramePr>
        <p:xfrm>
          <a:off x="0" y="308610"/>
          <a:ext cx="12036425" cy="2767330"/>
        </p:xfrm>
        <a:graphic>
          <a:graphicData uri="http://schemas.openxmlformats.org/drawingml/2006/table">
            <a:tbl>
              <a:tblPr/>
              <a:tblGrid>
                <a:gridCol w="789305"/>
                <a:gridCol w="2780030"/>
                <a:gridCol w="5258435"/>
                <a:gridCol w="3208655"/>
              </a:tblGrid>
              <a:tr h="277495">
                <a:tc>
                  <a:txBody>
                    <a:bodyPr/>
                    <a:p>
                      <a:pPr algn="ctr"/>
                      <a:r>
                        <a:rPr sz="1600" b="1">
                          <a:solidFill>
                            <a:srgbClr val="FF0000"/>
                          </a:solidFill>
                        </a:rPr>
                        <a:t>Operator</a:t>
                      </a:r>
                      <a:endParaRPr sz="1600" b="1">
                        <a:solidFill>
                          <a:srgbClr val="FF0000"/>
                        </a:solidFill>
                      </a:endParaRPr>
                    </a:p>
                  </a:txBody>
                  <a:tcPr marL="0" marR="0" marT="0" marB="0" anchor="ctr" anchorCtr="0">
                    <a:lnL>
                      <a:noFill/>
                    </a:lnL>
                    <a:lnR>
                      <a:noFill/>
                    </a:lnR>
                    <a:lnT>
                      <a:noFill/>
                    </a:lnT>
                    <a:lnB>
                      <a:noFill/>
                    </a:lnB>
                    <a:noFill/>
                  </a:tcPr>
                </a:tc>
                <a:tc>
                  <a:txBody>
                    <a:bodyPr/>
                    <a:p>
                      <a:pPr algn="ctr"/>
                      <a:r>
                        <a:rPr sz="1600" b="1">
                          <a:solidFill>
                            <a:srgbClr val="FF0000"/>
                          </a:solidFill>
                        </a:rPr>
                        <a:t>Definition</a:t>
                      </a:r>
                      <a:endParaRPr sz="1600" b="1">
                        <a:solidFill>
                          <a:srgbClr val="FF0000"/>
                        </a:solidFill>
                      </a:endParaRPr>
                    </a:p>
                  </a:txBody>
                  <a:tcPr marL="0" marR="0" marT="0" marB="0" anchor="ctr" anchorCtr="0">
                    <a:lnL>
                      <a:noFill/>
                    </a:lnL>
                    <a:lnR>
                      <a:noFill/>
                    </a:lnR>
                    <a:lnT>
                      <a:noFill/>
                    </a:lnT>
                    <a:lnB>
                      <a:noFill/>
                    </a:lnB>
                    <a:noFill/>
                  </a:tcPr>
                </a:tc>
                <a:tc>
                  <a:txBody>
                    <a:bodyPr/>
                    <a:p>
                      <a:pPr algn="ctr"/>
                      <a:r>
                        <a:rPr sz="1600" b="1">
                          <a:solidFill>
                            <a:srgbClr val="FF0000"/>
                          </a:solidFill>
                        </a:rPr>
                        <a:t>Example Query</a:t>
                      </a:r>
                      <a:endParaRPr sz="1600" b="1">
                        <a:solidFill>
                          <a:srgbClr val="FF0000"/>
                        </a:solidFill>
                      </a:endParaRPr>
                    </a:p>
                  </a:txBody>
                  <a:tcPr marL="0" marR="0" marT="0" marB="0" anchor="ctr" anchorCtr="0">
                    <a:lnL>
                      <a:noFill/>
                    </a:lnL>
                    <a:lnR>
                      <a:noFill/>
                    </a:lnR>
                    <a:lnT>
                      <a:noFill/>
                    </a:lnT>
                    <a:lnB>
                      <a:noFill/>
                    </a:lnB>
                    <a:noFill/>
                  </a:tcPr>
                </a:tc>
                <a:tc>
                  <a:txBody>
                    <a:bodyPr/>
                    <a:p>
                      <a:pPr algn="ctr"/>
                      <a:r>
                        <a:rPr sz="1600" b="1">
                          <a:solidFill>
                            <a:srgbClr val="FF0000"/>
                          </a:solidFill>
                        </a:rPr>
                        <a:t>Meaning of Example</a:t>
                      </a:r>
                      <a:endParaRPr sz="1600" b="1">
                        <a:solidFill>
                          <a:srgbClr val="FF0000"/>
                        </a:solidFill>
                      </a:endParaRPr>
                    </a:p>
                  </a:txBody>
                  <a:tcPr marL="0" marR="0" marT="0" marB="0" anchor="ctr" anchorCtr="0">
                    <a:lnL>
                      <a:noFill/>
                    </a:lnL>
                    <a:lnR>
                      <a:noFill/>
                    </a:lnR>
                    <a:lnT>
                      <a:noFill/>
                    </a:lnT>
                    <a:lnB>
                      <a:noFill/>
                    </a:lnB>
                    <a:noFill/>
                  </a:tcPr>
                </a:tc>
              </a:tr>
              <a:tr h="554355">
                <a:tc>
                  <a:txBody>
                    <a:bodyPr/>
                    <a:p>
                      <a:r>
                        <a:rPr sz="1600"/>
                        <a:t>$and</a:t>
                      </a:r>
                      <a:endParaRPr sz="1600"/>
                    </a:p>
                  </a:txBody>
                  <a:tcPr marL="0" marR="0" marT="0" marB="0" anchor="ctr" anchorCtr="0">
                    <a:lnL>
                      <a:noFill/>
                    </a:lnL>
                    <a:lnR>
                      <a:noFill/>
                    </a:lnR>
                    <a:lnT>
                      <a:noFill/>
                    </a:lnT>
                    <a:lnB>
                      <a:noFill/>
                    </a:lnB>
                    <a:noFill/>
                  </a:tcPr>
                </a:tc>
                <a:tc>
                  <a:txBody>
                    <a:bodyPr/>
                    <a:p>
                      <a:r>
                        <a:rPr sz="1600"/>
                        <a:t>Matches documents where ALL conditions are true</a:t>
                      </a:r>
                      <a:endParaRPr sz="1600"/>
                    </a:p>
                  </a:txBody>
                  <a:tcPr marL="0" marR="0" marT="0" marB="0" anchor="ctr" anchorCtr="0">
                    <a:lnL>
                      <a:noFill/>
                    </a:lnL>
                    <a:lnR>
                      <a:noFill/>
                    </a:lnR>
                    <a:lnT>
                      <a:noFill/>
                    </a:lnT>
                    <a:lnB>
                      <a:noFill/>
                    </a:lnB>
                    <a:noFill/>
                  </a:tcPr>
                </a:tc>
                <a:tc>
                  <a:txBody>
                    <a:bodyPr/>
                    <a:p>
                      <a:r>
                        <a:rPr sz="1600"/>
                        <a:t>db.students.find({ $and: [{ age: 18 }, { grade: "A" }] })</a:t>
                      </a:r>
                      <a:endParaRPr sz="1600"/>
                    </a:p>
                  </a:txBody>
                  <a:tcPr marL="0" marR="0" marT="0" marB="0" anchor="ctr" anchorCtr="0">
                    <a:lnL>
                      <a:noFill/>
                    </a:lnL>
                    <a:lnR>
                      <a:noFill/>
                    </a:lnR>
                    <a:lnT>
                      <a:noFill/>
                    </a:lnT>
                    <a:lnB>
                      <a:noFill/>
                    </a:lnB>
                    <a:noFill/>
                  </a:tcPr>
                </a:tc>
                <a:tc>
                  <a:txBody>
                    <a:bodyPr/>
                    <a:p>
                      <a:r>
                        <a:rPr sz="1600"/>
                        <a:t>Finds students who are 18 years old AND grade A</a:t>
                      </a:r>
                      <a:endParaRPr sz="1600"/>
                    </a:p>
                  </a:txBody>
                  <a:tcPr marL="0" marR="0" marT="0" marB="0" anchor="ctr" anchorCtr="0">
                    <a:lnL>
                      <a:noFill/>
                    </a:lnL>
                    <a:lnR>
                      <a:noFill/>
                    </a:lnR>
                    <a:lnT>
                      <a:noFill/>
                    </a:lnT>
                    <a:lnB>
                      <a:noFill/>
                    </a:lnB>
                    <a:noFill/>
                  </a:tcPr>
                </a:tc>
              </a:tr>
              <a:tr h="554990">
                <a:tc>
                  <a:txBody>
                    <a:bodyPr/>
                    <a:p>
                      <a:r>
                        <a:rPr sz="1600"/>
                        <a:t>$or</a:t>
                      </a:r>
                      <a:endParaRPr sz="1600"/>
                    </a:p>
                  </a:txBody>
                  <a:tcPr marL="0" marR="0" marT="0" marB="0" anchor="ctr" anchorCtr="0">
                    <a:lnL>
                      <a:noFill/>
                    </a:lnL>
                    <a:lnR>
                      <a:noFill/>
                    </a:lnR>
                    <a:lnT>
                      <a:noFill/>
                    </a:lnT>
                    <a:lnB>
                      <a:noFill/>
                    </a:lnB>
                    <a:noFill/>
                  </a:tcPr>
                </a:tc>
                <a:tc>
                  <a:txBody>
                    <a:bodyPr/>
                    <a:p>
                      <a:r>
                        <a:rPr sz="1600"/>
                        <a:t>Matches documents where ANY condition is true</a:t>
                      </a:r>
                      <a:endParaRPr sz="1600"/>
                    </a:p>
                  </a:txBody>
                  <a:tcPr marL="0" marR="0" marT="0" marB="0" anchor="ctr" anchorCtr="0">
                    <a:lnL>
                      <a:noFill/>
                    </a:lnL>
                    <a:lnR>
                      <a:noFill/>
                    </a:lnR>
                    <a:lnT>
                      <a:noFill/>
                    </a:lnT>
                    <a:lnB>
                      <a:noFill/>
                    </a:lnB>
                    <a:noFill/>
                  </a:tcPr>
                </a:tc>
                <a:tc>
                  <a:txBody>
                    <a:bodyPr/>
                    <a:p>
                      <a:r>
                        <a:rPr sz="1600"/>
                        <a:t> db.students.find({ $or: [{ grade: "A" }, { age: 17 }] })</a:t>
                      </a:r>
                      <a:endParaRPr sz="1600"/>
                    </a:p>
                  </a:txBody>
                  <a:tcPr marL="0" marR="0" marT="0" marB="0" anchor="ctr" anchorCtr="0">
                    <a:lnL>
                      <a:noFill/>
                    </a:lnL>
                    <a:lnR>
                      <a:noFill/>
                    </a:lnR>
                    <a:lnT>
                      <a:noFill/>
                    </a:lnT>
                    <a:lnB>
                      <a:noFill/>
                    </a:lnB>
                    <a:noFill/>
                  </a:tcPr>
                </a:tc>
                <a:tc>
                  <a:txBody>
                    <a:bodyPr/>
                    <a:p>
                      <a:r>
                        <a:rPr sz="1600"/>
                        <a:t>Finds students who are grade A OR age 17</a:t>
                      </a:r>
                      <a:endParaRPr sz="1600"/>
                    </a:p>
                  </a:txBody>
                  <a:tcPr marL="0" marR="0" marT="0" marB="0" anchor="ctr" anchorCtr="0">
                    <a:lnL>
                      <a:noFill/>
                    </a:lnL>
                    <a:lnR>
                      <a:noFill/>
                    </a:lnR>
                    <a:lnT>
                      <a:noFill/>
                    </a:lnT>
                    <a:lnB>
                      <a:noFill/>
                    </a:lnB>
                    <a:noFill/>
                  </a:tcPr>
                </a:tc>
              </a:tr>
              <a:tr h="554355">
                <a:tc>
                  <a:txBody>
                    <a:bodyPr/>
                    <a:p>
                      <a:r>
                        <a:rPr sz="1600"/>
                        <a:t>$not</a:t>
                      </a:r>
                      <a:endParaRPr sz="1600"/>
                    </a:p>
                  </a:txBody>
                  <a:tcPr marL="0" marR="0" marT="0" marB="0" anchor="ctr" anchorCtr="0">
                    <a:lnL>
                      <a:noFill/>
                    </a:lnL>
                    <a:lnR>
                      <a:noFill/>
                    </a:lnR>
                    <a:lnT>
                      <a:noFill/>
                    </a:lnT>
                    <a:lnB>
                      <a:noFill/>
                    </a:lnB>
                    <a:noFill/>
                  </a:tcPr>
                </a:tc>
                <a:tc>
                  <a:txBody>
                    <a:bodyPr/>
                    <a:p>
                      <a:r>
                        <a:rPr sz="1600"/>
                        <a:t>Negates a condition</a:t>
                      </a:r>
                      <a:endParaRPr sz="1600"/>
                    </a:p>
                  </a:txBody>
                  <a:tcPr marL="0" marR="0" marT="0" marB="0" anchor="ctr" anchorCtr="0">
                    <a:lnL>
                      <a:noFill/>
                    </a:lnL>
                    <a:lnR>
                      <a:noFill/>
                    </a:lnR>
                    <a:lnT>
                      <a:noFill/>
                    </a:lnT>
                    <a:lnB>
                      <a:noFill/>
                    </a:lnB>
                    <a:noFill/>
                  </a:tcPr>
                </a:tc>
                <a:tc>
                  <a:txBody>
                    <a:bodyPr/>
                    <a:p>
                      <a:r>
                        <a:rPr sz="1600"/>
                        <a:t> db.students.find({ age: { $not: { $gt: 18 } } })</a:t>
                      </a:r>
                      <a:endParaRPr sz="1600"/>
                    </a:p>
                  </a:txBody>
                  <a:tcPr marL="0" marR="0" marT="0" marB="0" anchor="ctr" anchorCtr="0">
                    <a:lnL>
                      <a:noFill/>
                    </a:lnL>
                    <a:lnR>
                      <a:noFill/>
                    </a:lnR>
                    <a:lnT>
                      <a:noFill/>
                    </a:lnT>
                    <a:lnB>
                      <a:noFill/>
                    </a:lnB>
                    <a:noFill/>
                  </a:tcPr>
                </a:tc>
                <a:tc>
                  <a:txBody>
                    <a:bodyPr/>
                    <a:p>
                      <a:r>
                        <a:rPr sz="1600"/>
                        <a:t>Finds students whose age is NOT greater than 18</a:t>
                      </a:r>
                      <a:endParaRPr sz="1600"/>
                    </a:p>
                  </a:txBody>
                  <a:tcPr marL="0" marR="0" marT="0" marB="0" anchor="ctr" anchorCtr="0">
                    <a:lnL>
                      <a:noFill/>
                    </a:lnL>
                    <a:lnR>
                      <a:noFill/>
                    </a:lnR>
                    <a:lnT>
                      <a:noFill/>
                    </a:lnT>
                    <a:lnB>
                      <a:noFill/>
                    </a:lnB>
                    <a:noFill/>
                  </a:tcPr>
                </a:tc>
              </a:tr>
              <a:tr h="554990">
                <a:tc>
                  <a:txBody>
                    <a:bodyPr/>
                    <a:p>
                      <a:r>
                        <a:rPr sz="1600"/>
                        <a:t>$nor</a:t>
                      </a:r>
                      <a:endParaRPr sz="1600"/>
                    </a:p>
                  </a:txBody>
                  <a:tcPr marL="0" marR="0" marT="0" marB="0" anchor="ctr" anchorCtr="0">
                    <a:lnL>
                      <a:noFill/>
                    </a:lnL>
                    <a:lnR>
                      <a:noFill/>
                    </a:lnR>
                    <a:lnT>
                      <a:noFill/>
                    </a:lnT>
                    <a:lnB>
                      <a:noFill/>
                    </a:lnB>
                    <a:noFill/>
                  </a:tcPr>
                </a:tc>
                <a:tc>
                  <a:txBody>
                    <a:bodyPr/>
                    <a:p>
                      <a:r>
                        <a:rPr sz="1600"/>
                        <a:t>Matches documents where NONE of the conditions are true</a:t>
                      </a:r>
                      <a:endParaRPr sz="1600"/>
                    </a:p>
                  </a:txBody>
                  <a:tcPr marL="0" marR="0" marT="0" marB="0" anchor="ctr" anchorCtr="0">
                    <a:lnL>
                      <a:noFill/>
                    </a:lnL>
                    <a:lnR>
                      <a:noFill/>
                    </a:lnR>
                    <a:lnT>
                      <a:noFill/>
                    </a:lnT>
                    <a:lnB>
                      <a:noFill/>
                    </a:lnB>
                    <a:noFill/>
                  </a:tcPr>
                </a:tc>
                <a:tc>
                  <a:txBody>
                    <a:bodyPr/>
                    <a:p>
                      <a:r>
                        <a:rPr sz="1600"/>
                        <a:t>db.students.find({ $nor: [{ grade: "A" }, { age: 18 }] })</a:t>
                      </a:r>
                      <a:endParaRPr sz="1600"/>
                    </a:p>
                  </a:txBody>
                  <a:tcPr marL="0" marR="0" marT="0" marB="0" anchor="ctr" anchorCtr="0">
                    <a:lnL>
                      <a:noFill/>
                    </a:lnL>
                    <a:lnR>
                      <a:noFill/>
                    </a:lnR>
                    <a:lnT>
                      <a:noFill/>
                    </a:lnT>
                    <a:lnB>
                      <a:noFill/>
                    </a:lnB>
                    <a:noFill/>
                  </a:tcPr>
                </a:tc>
                <a:tc>
                  <a:txBody>
                    <a:bodyPr/>
                    <a:p>
                      <a:r>
                        <a:rPr sz="1600"/>
                        <a:t>Finds students who are not grade A AND not age 18</a:t>
                      </a:r>
                      <a:endParaRPr sz="1600"/>
                    </a:p>
                  </a:txBody>
                  <a:tcPr marL="0" marR="0" marT="0" marB="0" anchor="ctr" anchorCtr="0">
                    <a:lnL>
                      <a:noFill/>
                    </a:lnL>
                    <a:lnR>
                      <a:noFill/>
                    </a:lnR>
                    <a:lnT>
                      <a:noFill/>
                    </a:lnT>
                    <a:lnB>
                      <a:noFill/>
                    </a:lnB>
                    <a:noFill/>
                  </a:tcPr>
                </a:tc>
              </a:tr>
            </a:tbl>
          </a:graphicData>
        </a:graphic>
      </p:graphicFrame>
      <p:graphicFrame>
        <p:nvGraphicFramePr>
          <p:cNvPr id="5" name="Table 4"/>
          <p:cNvGraphicFramePr/>
          <p:nvPr>
            <p:custDataLst>
              <p:tags r:id="rId2"/>
            </p:custDataLst>
          </p:nvPr>
        </p:nvGraphicFramePr>
        <p:xfrm>
          <a:off x="0" y="3248025"/>
          <a:ext cx="11899265" cy="3414395"/>
        </p:xfrm>
        <a:graphic>
          <a:graphicData uri="http://schemas.openxmlformats.org/drawingml/2006/table">
            <a:tbl>
              <a:tblPr/>
              <a:tblGrid>
                <a:gridCol w="1167130"/>
                <a:gridCol w="2613660"/>
                <a:gridCol w="4253865"/>
                <a:gridCol w="3864610"/>
              </a:tblGrid>
              <a:tr h="341630">
                <a:tc>
                  <a:txBody>
                    <a:bodyPr/>
                    <a:p>
                      <a:pPr algn="ctr"/>
                      <a:r>
                        <a:rPr sz="2000" b="1">
                          <a:solidFill>
                            <a:srgbClr val="FF0000"/>
                          </a:solidFill>
                        </a:rPr>
                        <a:t>Operator</a:t>
                      </a:r>
                      <a:endParaRPr sz="2000" b="1">
                        <a:solidFill>
                          <a:srgbClr val="FF0000"/>
                        </a:solidFill>
                      </a:endParaRPr>
                    </a:p>
                  </a:txBody>
                  <a:tcPr marL="0" marR="0" marT="0" marB="0" anchor="ctr" anchorCtr="0">
                    <a:lnL>
                      <a:noFill/>
                    </a:lnL>
                    <a:lnR>
                      <a:noFill/>
                    </a:lnR>
                    <a:lnT>
                      <a:noFill/>
                    </a:lnT>
                    <a:lnB>
                      <a:noFill/>
                    </a:lnB>
                    <a:noFill/>
                  </a:tcPr>
                </a:tc>
                <a:tc>
                  <a:txBody>
                    <a:bodyPr/>
                    <a:p>
                      <a:pPr algn="ctr"/>
                      <a:r>
                        <a:rPr sz="2000" b="1">
                          <a:solidFill>
                            <a:srgbClr val="FF0000"/>
                          </a:solidFill>
                        </a:rPr>
                        <a:t>Meaning</a:t>
                      </a:r>
                      <a:endParaRPr sz="2000" b="1">
                        <a:solidFill>
                          <a:srgbClr val="FF0000"/>
                        </a:solidFill>
                      </a:endParaRPr>
                    </a:p>
                  </a:txBody>
                  <a:tcPr marL="0" marR="0" marT="0" marB="0" anchor="ctr" anchorCtr="0">
                    <a:lnL>
                      <a:noFill/>
                    </a:lnL>
                    <a:lnR>
                      <a:noFill/>
                    </a:lnR>
                    <a:lnT>
                      <a:noFill/>
                    </a:lnT>
                    <a:lnB>
                      <a:noFill/>
                    </a:lnB>
                    <a:noFill/>
                  </a:tcPr>
                </a:tc>
                <a:tc>
                  <a:txBody>
                    <a:bodyPr/>
                    <a:p>
                      <a:pPr algn="ctr"/>
                      <a:r>
                        <a:rPr sz="2000" b="1">
                          <a:solidFill>
                            <a:srgbClr val="FF0000"/>
                          </a:solidFill>
                        </a:rPr>
                        <a:t>Example Query</a:t>
                      </a:r>
                      <a:endParaRPr sz="2000" b="1">
                        <a:solidFill>
                          <a:srgbClr val="FF0000"/>
                        </a:solidFill>
                      </a:endParaRPr>
                    </a:p>
                  </a:txBody>
                  <a:tcPr marL="0" marR="0" marT="0" marB="0" anchor="ctr" anchorCtr="0">
                    <a:lnL>
                      <a:noFill/>
                    </a:lnL>
                    <a:lnR>
                      <a:noFill/>
                    </a:lnR>
                    <a:lnT>
                      <a:noFill/>
                    </a:lnT>
                    <a:lnB>
                      <a:noFill/>
                    </a:lnB>
                    <a:noFill/>
                  </a:tcPr>
                </a:tc>
                <a:tc>
                  <a:txBody>
                    <a:bodyPr/>
                    <a:p>
                      <a:pPr algn="ctr"/>
                      <a:r>
                        <a:rPr sz="2000" b="1">
                          <a:solidFill>
                            <a:srgbClr val="FF0000"/>
                          </a:solidFill>
                        </a:rPr>
                        <a:t>Explanation</a:t>
                      </a:r>
                      <a:endParaRPr sz="2000" b="1">
                        <a:solidFill>
                          <a:srgbClr val="FF0000"/>
                        </a:solidFill>
                      </a:endParaRPr>
                    </a:p>
                  </a:txBody>
                  <a:tcPr marL="0" marR="0" marT="0" marB="0" anchor="ctr" anchorCtr="0">
                    <a:lnL>
                      <a:noFill/>
                    </a:lnL>
                    <a:lnR>
                      <a:noFill/>
                    </a:lnR>
                    <a:lnT>
                      <a:noFill/>
                    </a:lnT>
                    <a:lnB>
                      <a:noFill/>
                    </a:lnB>
                    <a:noFill/>
                  </a:tcPr>
                </a:tc>
              </a:tr>
              <a:tr h="340995">
                <a:tc>
                  <a:txBody>
                    <a:bodyPr/>
                    <a:p>
                      <a:r>
                        <a:rPr sz="1600"/>
                        <a:t>$eq</a:t>
                      </a:r>
                      <a:endParaRPr sz="1600"/>
                    </a:p>
                  </a:txBody>
                  <a:tcPr marL="0" marR="0" marT="0" marB="0" anchor="ctr" anchorCtr="0">
                    <a:lnL>
                      <a:noFill/>
                    </a:lnL>
                    <a:lnR>
                      <a:noFill/>
                    </a:lnR>
                    <a:lnT>
                      <a:noFill/>
                    </a:lnT>
                    <a:lnB>
                      <a:noFill/>
                    </a:lnB>
                    <a:noFill/>
                  </a:tcPr>
                </a:tc>
                <a:tc>
                  <a:txBody>
                    <a:bodyPr/>
                    <a:p>
                      <a:r>
                        <a:rPr sz="1600"/>
                        <a:t>Equal to</a:t>
                      </a:r>
                      <a:endParaRPr sz="1600"/>
                    </a:p>
                  </a:txBody>
                  <a:tcPr marL="0" marR="0" marT="0" marB="0" anchor="ctr" anchorCtr="0">
                    <a:lnL>
                      <a:noFill/>
                    </a:lnL>
                    <a:lnR>
                      <a:noFill/>
                    </a:lnR>
                    <a:lnT>
                      <a:noFill/>
                    </a:lnT>
                    <a:lnB>
                      <a:noFill/>
                    </a:lnB>
                    <a:noFill/>
                  </a:tcPr>
                </a:tc>
                <a:tc>
                  <a:txBody>
                    <a:bodyPr/>
                    <a:p>
                      <a:r>
                        <a:rPr sz="1600"/>
                        <a:t>db.students.find({ age: { $eq: 18 } })</a:t>
                      </a:r>
                      <a:endParaRPr sz="1600"/>
                    </a:p>
                  </a:txBody>
                  <a:tcPr marL="0" marR="0" marT="0" marB="0" anchor="ctr" anchorCtr="0">
                    <a:lnL>
                      <a:noFill/>
                    </a:lnL>
                    <a:lnR>
                      <a:noFill/>
                    </a:lnR>
                    <a:lnT>
                      <a:noFill/>
                    </a:lnT>
                    <a:lnB>
                      <a:noFill/>
                    </a:lnB>
                    <a:noFill/>
                  </a:tcPr>
                </a:tc>
                <a:tc>
                  <a:txBody>
                    <a:bodyPr/>
                    <a:p>
                      <a:r>
                        <a:rPr sz="1600"/>
                        <a:t>Finds students whose age is exactly 18</a:t>
                      </a:r>
                      <a:endParaRPr sz="1600"/>
                    </a:p>
                  </a:txBody>
                  <a:tcPr marL="0" marR="0" marT="0" marB="0" anchor="ctr" anchorCtr="0">
                    <a:lnL>
                      <a:noFill/>
                    </a:lnL>
                    <a:lnR>
                      <a:noFill/>
                    </a:lnR>
                    <a:lnT>
                      <a:noFill/>
                    </a:lnT>
                    <a:lnB>
                      <a:noFill/>
                    </a:lnB>
                    <a:noFill/>
                  </a:tcPr>
                </a:tc>
              </a:tr>
              <a:tr h="341630">
                <a:tc>
                  <a:txBody>
                    <a:bodyPr/>
                    <a:p>
                      <a:r>
                        <a:rPr sz="1600"/>
                        <a:t>$ne</a:t>
                      </a:r>
                      <a:endParaRPr sz="1600"/>
                    </a:p>
                  </a:txBody>
                  <a:tcPr marL="0" marR="0" marT="0" marB="0" anchor="ctr" anchorCtr="0">
                    <a:lnL>
                      <a:noFill/>
                    </a:lnL>
                    <a:lnR>
                      <a:noFill/>
                    </a:lnR>
                    <a:lnT>
                      <a:noFill/>
                    </a:lnT>
                    <a:lnB>
                      <a:noFill/>
                    </a:lnB>
                    <a:noFill/>
                  </a:tcPr>
                </a:tc>
                <a:tc>
                  <a:txBody>
                    <a:bodyPr/>
                    <a:p>
                      <a:r>
                        <a:rPr sz="1600"/>
                        <a:t>Not equal to</a:t>
                      </a:r>
                      <a:endParaRPr sz="1600"/>
                    </a:p>
                  </a:txBody>
                  <a:tcPr marL="0" marR="0" marT="0" marB="0" anchor="ctr" anchorCtr="0">
                    <a:lnL>
                      <a:noFill/>
                    </a:lnL>
                    <a:lnR>
                      <a:noFill/>
                    </a:lnR>
                    <a:lnT>
                      <a:noFill/>
                    </a:lnT>
                    <a:lnB>
                      <a:noFill/>
                    </a:lnB>
                    <a:noFill/>
                  </a:tcPr>
                </a:tc>
                <a:tc>
                  <a:txBody>
                    <a:bodyPr/>
                    <a:p>
                      <a:r>
                        <a:rPr sz="1600"/>
                        <a:t>db.students.find({ grade: { $ne: "A" } })</a:t>
                      </a:r>
                      <a:endParaRPr sz="1600"/>
                    </a:p>
                  </a:txBody>
                  <a:tcPr marL="0" marR="0" marT="0" marB="0" anchor="ctr" anchorCtr="0">
                    <a:lnL>
                      <a:noFill/>
                    </a:lnL>
                    <a:lnR>
                      <a:noFill/>
                    </a:lnR>
                    <a:lnT>
                      <a:noFill/>
                    </a:lnT>
                    <a:lnB>
                      <a:noFill/>
                    </a:lnB>
                    <a:noFill/>
                  </a:tcPr>
                </a:tc>
                <a:tc>
                  <a:txBody>
                    <a:bodyPr/>
                    <a:p>
                      <a:r>
                        <a:rPr sz="1600"/>
                        <a:t>Finds students whose grade is not A</a:t>
                      </a:r>
                      <a:endParaRPr sz="1600"/>
                    </a:p>
                  </a:txBody>
                  <a:tcPr marL="0" marR="0" marT="0" marB="0" anchor="ctr" anchorCtr="0">
                    <a:lnL>
                      <a:noFill/>
                    </a:lnL>
                    <a:lnR>
                      <a:noFill/>
                    </a:lnR>
                    <a:lnT>
                      <a:noFill/>
                    </a:lnT>
                    <a:lnB>
                      <a:noFill/>
                    </a:lnB>
                    <a:noFill/>
                  </a:tcPr>
                </a:tc>
              </a:tr>
              <a:tr h="341630">
                <a:tc>
                  <a:txBody>
                    <a:bodyPr/>
                    <a:p>
                      <a:r>
                        <a:rPr sz="1600"/>
                        <a:t>$gt</a:t>
                      </a:r>
                      <a:endParaRPr sz="1600"/>
                    </a:p>
                  </a:txBody>
                  <a:tcPr marL="0" marR="0" marT="0" marB="0" anchor="ctr" anchorCtr="0">
                    <a:lnL>
                      <a:noFill/>
                    </a:lnL>
                    <a:lnR>
                      <a:noFill/>
                    </a:lnR>
                    <a:lnT>
                      <a:noFill/>
                    </a:lnT>
                    <a:lnB>
                      <a:noFill/>
                    </a:lnB>
                    <a:noFill/>
                  </a:tcPr>
                </a:tc>
                <a:tc>
                  <a:txBody>
                    <a:bodyPr/>
                    <a:p>
                      <a:r>
                        <a:rPr sz="1600"/>
                        <a:t>Greater than</a:t>
                      </a:r>
                      <a:endParaRPr sz="1600"/>
                    </a:p>
                  </a:txBody>
                  <a:tcPr marL="0" marR="0" marT="0" marB="0" anchor="ctr" anchorCtr="0">
                    <a:lnL>
                      <a:noFill/>
                    </a:lnL>
                    <a:lnR>
                      <a:noFill/>
                    </a:lnR>
                    <a:lnT>
                      <a:noFill/>
                    </a:lnT>
                    <a:lnB>
                      <a:noFill/>
                    </a:lnB>
                    <a:noFill/>
                  </a:tcPr>
                </a:tc>
                <a:tc>
                  <a:txBody>
                    <a:bodyPr/>
                    <a:p>
                      <a:r>
                        <a:rPr sz="1600"/>
                        <a:t>db.students.find({ age: { $gt: 18 } })</a:t>
                      </a:r>
                      <a:endParaRPr sz="1600"/>
                    </a:p>
                  </a:txBody>
                  <a:tcPr marL="0" marR="0" marT="0" marB="0" anchor="ctr" anchorCtr="0">
                    <a:lnL>
                      <a:noFill/>
                    </a:lnL>
                    <a:lnR>
                      <a:noFill/>
                    </a:lnR>
                    <a:lnT>
                      <a:noFill/>
                    </a:lnT>
                    <a:lnB>
                      <a:noFill/>
                    </a:lnB>
                    <a:noFill/>
                  </a:tcPr>
                </a:tc>
                <a:tc>
                  <a:txBody>
                    <a:bodyPr/>
                    <a:p>
                      <a:r>
                        <a:rPr sz="1600"/>
                        <a:t>Finds students older than 18</a:t>
                      </a:r>
                      <a:endParaRPr sz="1600"/>
                    </a:p>
                  </a:txBody>
                  <a:tcPr marL="0" marR="0" marT="0" marB="0" anchor="ctr" anchorCtr="0">
                    <a:lnL>
                      <a:noFill/>
                    </a:lnL>
                    <a:lnR>
                      <a:noFill/>
                    </a:lnR>
                    <a:lnT>
                      <a:noFill/>
                    </a:lnT>
                    <a:lnB>
                      <a:noFill/>
                    </a:lnB>
                    <a:noFill/>
                  </a:tcPr>
                </a:tc>
              </a:tr>
              <a:tr h="341630">
                <a:tc>
                  <a:txBody>
                    <a:bodyPr/>
                    <a:p>
                      <a:r>
                        <a:rPr sz="1600"/>
                        <a:t>$gte</a:t>
                      </a:r>
                      <a:endParaRPr sz="1600"/>
                    </a:p>
                  </a:txBody>
                  <a:tcPr marL="0" marR="0" marT="0" marB="0" anchor="ctr" anchorCtr="0">
                    <a:lnL>
                      <a:noFill/>
                    </a:lnL>
                    <a:lnR>
                      <a:noFill/>
                    </a:lnR>
                    <a:lnT>
                      <a:noFill/>
                    </a:lnT>
                    <a:lnB>
                      <a:noFill/>
                    </a:lnB>
                    <a:noFill/>
                  </a:tcPr>
                </a:tc>
                <a:tc>
                  <a:txBody>
                    <a:bodyPr/>
                    <a:p>
                      <a:r>
                        <a:rPr sz="1600"/>
                        <a:t>Greater than or equal to</a:t>
                      </a:r>
                      <a:endParaRPr sz="1600"/>
                    </a:p>
                  </a:txBody>
                  <a:tcPr marL="0" marR="0" marT="0" marB="0" anchor="ctr" anchorCtr="0">
                    <a:lnL>
                      <a:noFill/>
                    </a:lnL>
                    <a:lnR>
                      <a:noFill/>
                    </a:lnR>
                    <a:lnT>
                      <a:noFill/>
                    </a:lnT>
                    <a:lnB>
                      <a:noFill/>
                    </a:lnB>
                    <a:noFill/>
                  </a:tcPr>
                </a:tc>
                <a:tc>
                  <a:txBody>
                    <a:bodyPr/>
                    <a:p>
                      <a:r>
                        <a:rPr sz="1600"/>
                        <a:t>db.students.find({ age: { $gte: 18 } })</a:t>
                      </a:r>
                      <a:endParaRPr sz="1600"/>
                    </a:p>
                  </a:txBody>
                  <a:tcPr marL="0" marR="0" marT="0" marB="0" anchor="ctr" anchorCtr="0">
                    <a:lnL>
                      <a:noFill/>
                    </a:lnL>
                    <a:lnR>
                      <a:noFill/>
                    </a:lnR>
                    <a:lnT>
                      <a:noFill/>
                    </a:lnT>
                    <a:lnB>
                      <a:noFill/>
                    </a:lnB>
                    <a:noFill/>
                  </a:tcPr>
                </a:tc>
                <a:tc>
                  <a:txBody>
                    <a:bodyPr/>
                    <a:p>
                      <a:r>
                        <a:rPr sz="1600"/>
                        <a:t>Finds students 18 or older</a:t>
                      </a:r>
                      <a:endParaRPr sz="1600"/>
                    </a:p>
                  </a:txBody>
                  <a:tcPr marL="0" marR="0" marT="0" marB="0" anchor="ctr" anchorCtr="0">
                    <a:lnL>
                      <a:noFill/>
                    </a:lnL>
                    <a:lnR>
                      <a:noFill/>
                    </a:lnR>
                    <a:lnT>
                      <a:noFill/>
                    </a:lnT>
                    <a:lnB>
                      <a:noFill/>
                    </a:lnB>
                    <a:noFill/>
                  </a:tcPr>
                </a:tc>
              </a:tr>
              <a:tr h="340995">
                <a:tc>
                  <a:txBody>
                    <a:bodyPr/>
                    <a:p>
                      <a:r>
                        <a:rPr sz="1600"/>
                        <a:t>$lt</a:t>
                      </a:r>
                      <a:endParaRPr sz="1600"/>
                    </a:p>
                  </a:txBody>
                  <a:tcPr marL="0" marR="0" marT="0" marB="0" anchor="ctr" anchorCtr="0">
                    <a:lnL>
                      <a:noFill/>
                    </a:lnL>
                    <a:lnR>
                      <a:noFill/>
                    </a:lnR>
                    <a:lnT>
                      <a:noFill/>
                    </a:lnT>
                    <a:lnB>
                      <a:noFill/>
                    </a:lnB>
                    <a:noFill/>
                  </a:tcPr>
                </a:tc>
                <a:tc>
                  <a:txBody>
                    <a:bodyPr/>
                    <a:p>
                      <a:r>
                        <a:rPr sz="1600"/>
                        <a:t>Less than</a:t>
                      </a:r>
                      <a:endParaRPr sz="1600"/>
                    </a:p>
                  </a:txBody>
                  <a:tcPr marL="0" marR="0" marT="0" marB="0" anchor="ctr" anchorCtr="0">
                    <a:lnL>
                      <a:noFill/>
                    </a:lnL>
                    <a:lnR>
                      <a:noFill/>
                    </a:lnR>
                    <a:lnT>
                      <a:noFill/>
                    </a:lnT>
                    <a:lnB>
                      <a:noFill/>
                    </a:lnB>
                    <a:noFill/>
                  </a:tcPr>
                </a:tc>
                <a:tc>
                  <a:txBody>
                    <a:bodyPr/>
                    <a:p>
                      <a:r>
                        <a:rPr sz="1600"/>
                        <a:t>db.students.find({ age: { $lt: 18 } })</a:t>
                      </a:r>
                      <a:endParaRPr sz="1600"/>
                    </a:p>
                  </a:txBody>
                  <a:tcPr marL="0" marR="0" marT="0" marB="0" anchor="ctr" anchorCtr="0">
                    <a:lnL>
                      <a:noFill/>
                    </a:lnL>
                    <a:lnR>
                      <a:noFill/>
                    </a:lnR>
                    <a:lnT>
                      <a:noFill/>
                    </a:lnT>
                    <a:lnB>
                      <a:noFill/>
                    </a:lnB>
                    <a:noFill/>
                  </a:tcPr>
                </a:tc>
                <a:tc>
                  <a:txBody>
                    <a:bodyPr/>
                    <a:p>
                      <a:r>
                        <a:rPr sz="1600"/>
                        <a:t>Finds students younger than 18</a:t>
                      </a:r>
                      <a:endParaRPr sz="1600"/>
                    </a:p>
                  </a:txBody>
                  <a:tcPr marL="0" marR="0" marT="0" marB="0" anchor="ctr" anchorCtr="0">
                    <a:lnL>
                      <a:noFill/>
                    </a:lnL>
                    <a:lnR>
                      <a:noFill/>
                    </a:lnR>
                    <a:lnT>
                      <a:noFill/>
                    </a:lnT>
                    <a:lnB>
                      <a:noFill/>
                    </a:lnB>
                    <a:noFill/>
                  </a:tcPr>
                </a:tc>
              </a:tr>
              <a:tr h="341630">
                <a:tc>
                  <a:txBody>
                    <a:bodyPr/>
                    <a:p>
                      <a:r>
                        <a:rPr sz="1600"/>
                        <a:t>$lte</a:t>
                      </a:r>
                      <a:endParaRPr sz="1600"/>
                    </a:p>
                  </a:txBody>
                  <a:tcPr marL="0" marR="0" marT="0" marB="0" anchor="ctr" anchorCtr="0">
                    <a:lnL>
                      <a:noFill/>
                    </a:lnL>
                    <a:lnR>
                      <a:noFill/>
                    </a:lnR>
                    <a:lnT>
                      <a:noFill/>
                    </a:lnT>
                    <a:lnB>
                      <a:noFill/>
                    </a:lnB>
                    <a:noFill/>
                  </a:tcPr>
                </a:tc>
                <a:tc>
                  <a:txBody>
                    <a:bodyPr/>
                    <a:p>
                      <a:r>
                        <a:rPr sz="1600"/>
                        <a:t>Less than or equal to</a:t>
                      </a:r>
                      <a:endParaRPr sz="1600"/>
                    </a:p>
                  </a:txBody>
                  <a:tcPr marL="0" marR="0" marT="0" marB="0" anchor="ctr" anchorCtr="0">
                    <a:lnL>
                      <a:noFill/>
                    </a:lnL>
                    <a:lnR>
                      <a:noFill/>
                    </a:lnR>
                    <a:lnT>
                      <a:noFill/>
                    </a:lnT>
                    <a:lnB>
                      <a:noFill/>
                    </a:lnB>
                    <a:noFill/>
                  </a:tcPr>
                </a:tc>
                <a:tc>
                  <a:txBody>
                    <a:bodyPr/>
                    <a:p>
                      <a:r>
                        <a:rPr sz="1600"/>
                        <a:t>db.students.find({ age: { $lte: 18 } })</a:t>
                      </a:r>
                      <a:endParaRPr sz="1600"/>
                    </a:p>
                  </a:txBody>
                  <a:tcPr marL="0" marR="0" marT="0" marB="0" anchor="ctr" anchorCtr="0">
                    <a:lnL>
                      <a:noFill/>
                    </a:lnL>
                    <a:lnR>
                      <a:noFill/>
                    </a:lnR>
                    <a:lnT>
                      <a:noFill/>
                    </a:lnT>
                    <a:lnB>
                      <a:noFill/>
                    </a:lnB>
                    <a:noFill/>
                  </a:tcPr>
                </a:tc>
                <a:tc>
                  <a:txBody>
                    <a:bodyPr/>
                    <a:p>
                      <a:r>
                        <a:rPr sz="1600"/>
                        <a:t>Finds students 18 or younger</a:t>
                      </a:r>
                      <a:endParaRPr sz="1600"/>
                    </a:p>
                  </a:txBody>
                  <a:tcPr marL="0" marR="0" marT="0" marB="0" anchor="ctr" anchorCtr="0">
                    <a:lnL>
                      <a:noFill/>
                    </a:lnL>
                    <a:lnR>
                      <a:noFill/>
                    </a:lnR>
                    <a:lnT>
                      <a:noFill/>
                    </a:lnT>
                    <a:lnB>
                      <a:noFill/>
                    </a:lnB>
                    <a:noFill/>
                  </a:tcPr>
                </a:tc>
              </a:tr>
              <a:tr h="341630">
                <a:tc>
                  <a:txBody>
                    <a:bodyPr/>
                    <a:p>
                      <a:r>
                        <a:rPr sz="1600"/>
                        <a:t>$in</a:t>
                      </a:r>
                      <a:endParaRPr sz="1600"/>
                    </a:p>
                  </a:txBody>
                  <a:tcPr marL="0" marR="0" marT="0" marB="0" anchor="ctr" anchorCtr="0">
                    <a:lnL>
                      <a:noFill/>
                    </a:lnL>
                    <a:lnR>
                      <a:noFill/>
                    </a:lnR>
                    <a:lnT>
                      <a:noFill/>
                    </a:lnT>
                    <a:lnB>
                      <a:noFill/>
                    </a:lnB>
                    <a:noFill/>
                  </a:tcPr>
                </a:tc>
                <a:tc>
                  <a:txBody>
                    <a:bodyPr/>
                    <a:p>
                      <a:r>
                        <a:rPr sz="1600"/>
                        <a:t>Matches any value in array</a:t>
                      </a:r>
                      <a:endParaRPr sz="1600"/>
                    </a:p>
                  </a:txBody>
                  <a:tcPr marL="0" marR="0" marT="0" marB="0" anchor="ctr" anchorCtr="0">
                    <a:lnL>
                      <a:noFill/>
                    </a:lnL>
                    <a:lnR>
                      <a:noFill/>
                    </a:lnR>
                    <a:lnT>
                      <a:noFill/>
                    </a:lnT>
                    <a:lnB>
                      <a:noFill/>
                    </a:lnB>
                    <a:noFill/>
                  </a:tcPr>
                </a:tc>
                <a:tc>
                  <a:txBody>
                    <a:bodyPr/>
                    <a:p>
                      <a:r>
                        <a:rPr sz="1600"/>
                        <a:t>db.students.find({ grade: { $in: ["A", "B"] } })</a:t>
                      </a:r>
                      <a:endParaRPr sz="1600"/>
                    </a:p>
                  </a:txBody>
                  <a:tcPr marL="0" marR="0" marT="0" marB="0" anchor="ctr" anchorCtr="0">
                    <a:lnL>
                      <a:noFill/>
                    </a:lnL>
                    <a:lnR>
                      <a:noFill/>
                    </a:lnR>
                    <a:lnT>
                      <a:noFill/>
                    </a:lnT>
                    <a:lnB>
                      <a:noFill/>
                    </a:lnB>
                    <a:noFill/>
                  </a:tcPr>
                </a:tc>
                <a:tc>
                  <a:txBody>
                    <a:bodyPr/>
                    <a:p>
                      <a:r>
                        <a:rPr sz="1600"/>
                        <a:t>Finds students with grade A or B</a:t>
                      </a:r>
                      <a:endParaRPr sz="1600"/>
                    </a:p>
                  </a:txBody>
                  <a:tcPr marL="0" marR="0" marT="0" marB="0" anchor="ctr" anchorCtr="0">
                    <a:lnL>
                      <a:noFill/>
                    </a:lnL>
                    <a:lnR>
                      <a:noFill/>
                    </a:lnR>
                    <a:lnT>
                      <a:noFill/>
                    </a:lnT>
                    <a:lnB>
                      <a:noFill/>
                    </a:lnB>
                    <a:noFill/>
                  </a:tcPr>
                </a:tc>
              </a:tr>
              <a:tr h="682625">
                <a:tc>
                  <a:txBody>
                    <a:bodyPr/>
                    <a:p>
                      <a:r>
                        <a:rPr sz="1600"/>
                        <a:t>$nin</a:t>
                      </a:r>
                      <a:endParaRPr sz="1600"/>
                    </a:p>
                  </a:txBody>
                  <a:tcPr marL="0" marR="0" marT="0" marB="0" anchor="ctr" anchorCtr="0">
                    <a:lnL>
                      <a:noFill/>
                    </a:lnL>
                    <a:lnR>
                      <a:noFill/>
                    </a:lnR>
                    <a:lnT>
                      <a:noFill/>
                    </a:lnT>
                    <a:lnB>
                      <a:noFill/>
                    </a:lnB>
                    <a:noFill/>
                  </a:tcPr>
                </a:tc>
                <a:tc>
                  <a:txBody>
                    <a:bodyPr/>
                    <a:p>
                      <a:r>
                        <a:rPr sz="1600"/>
                        <a:t>Not in array</a:t>
                      </a:r>
                      <a:endParaRPr sz="1600"/>
                    </a:p>
                  </a:txBody>
                  <a:tcPr marL="0" marR="0" marT="0" marB="0" anchor="ctr" anchorCtr="0">
                    <a:lnL>
                      <a:noFill/>
                    </a:lnL>
                    <a:lnR>
                      <a:noFill/>
                    </a:lnR>
                    <a:lnT>
                      <a:noFill/>
                    </a:lnT>
                    <a:lnB>
                      <a:noFill/>
                    </a:lnB>
                    <a:noFill/>
                  </a:tcPr>
                </a:tc>
                <a:tc>
                  <a:txBody>
                    <a:bodyPr/>
                    <a:p>
                      <a:r>
                        <a:rPr sz="1600"/>
                        <a:t>db.students.find({ grade: { $nin: ["A", "B"] } })</a:t>
                      </a:r>
                      <a:endParaRPr sz="1600"/>
                    </a:p>
                  </a:txBody>
                  <a:tcPr marL="0" marR="0" marT="0" marB="0" anchor="ctr" anchorCtr="0">
                    <a:lnL>
                      <a:noFill/>
                    </a:lnL>
                    <a:lnR>
                      <a:noFill/>
                    </a:lnR>
                    <a:lnT>
                      <a:noFill/>
                    </a:lnT>
                    <a:lnB>
                      <a:noFill/>
                    </a:lnB>
                    <a:noFill/>
                  </a:tcPr>
                </a:tc>
                <a:tc>
                  <a:txBody>
                    <a:bodyPr/>
                    <a:p>
                      <a:r>
                        <a:rPr sz="1600"/>
                        <a:t>Finds students whose grade is not A or B</a:t>
                      </a:r>
                      <a:endParaRPr sz="1600"/>
                    </a:p>
                  </a:txBody>
                  <a:tcPr marL="0" marR="0" marT="0" marB="0" anchor="ctr" anchorCtr="0">
                    <a:lnL>
                      <a:noFill/>
                    </a:lnL>
                    <a:lnR>
                      <a:noFill/>
                    </a:lnR>
                    <a:lnT>
                      <a:noFill/>
                    </a:lnT>
                    <a:lnB>
                      <a:noFill/>
                    </a:lnB>
                    <a:noFill/>
                  </a:tcPr>
                </a:tc>
              </a:tr>
            </a:tbl>
          </a:graphicData>
        </a:graphic>
      </p:graphicFrame>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838200" y="0"/>
            <a:ext cx="10515600" cy="364490"/>
          </a:xfrm>
        </p:spPr>
        <p:txBody>
          <a:bodyPr>
            <a:normAutofit fontScale="90000"/>
          </a:bodyPr>
          <a:p>
            <a:pPr algn="ctr"/>
            <a:r>
              <a:rPr lang="en-US" sz="2800" b="1">
                <a:solidFill>
                  <a:srgbClr val="FF0000"/>
                </a:solidFill>
              </a:rPr>
              <a:t>Datatypes of  MongoDb Database</a:t>
            </a:r>
            <a:endParaRPr lang="en-US" sz="2800" b="1">
              <a:solidFill>
                <a:srgbClr val="FF0000"/>
              </a:solidFill>
            </a:endParaRPr>
          </a:p>
        </p:txBody>
      </p:sp>
      <p:graphicFrame>
        <p:nvGraphicFramePr>
          <p:cNvPr id="4" name="Table 3"/>
          <p:cNvGraphicFramePr/>
          <p:nvPr>
            <p:custDataLst>
              <p:tags r:id="rId1"/>
            </p:custDataLst>
          </p:nvPr>
        </p:nvGraphicFramePr>
        <p:xfrm>
          <a:off x="125730" y="364490"/>
          <a:ext cx="11949430" cy="3870960"/>
        </p:xfrm>
        <a:graphic>
          <a:graphicData uri="http://schemas.openxmlformats.org/drawingml/2006/table">
            <a:tbl>
              <a:tblPr/>
              <a:tblGrid>
                <a:gridCol w="5974715"/>
                <a:gridCol w="5974715"/>
              </a:tblGrid>
              <a:tr h="304800">
                <a:tc>
                  <a:txBody>
                    <a:bodyPr/>
                    <a:p>
                      <a:pPr algn="ctr"/>
                      <a:r>
                        <a:rPr sz="2000" b="1">
                          <a:solidFill>
                            <a:srgbClr val="FF0000"/>
                          </a:solidFill>
                        </a:rPr>
                        <a:t>Data Type</a:t>
                      </a:r>
                      <a:endParaRPr sz="2000" b="1">
                        <a:solidFill>
                          <a:srgbClr val="FF0000"/>
                        </a:solidFill>
                      </a:endParaRPr>
                    </a:p>
                  </a:txBody>
                  <a:tcPr marL="0" marR="0" marT="0" marB="0" anchor="ctr" anchorCtr="0">
                    <a:lnL>
                      <a:noFill/>
                    </a:lnL>
                    <a:lnR>
                      <a:noFill/>
                    </a:lnR>
                    <a:lnT>
                      <a:noFill/>
                    </a:lnT>
                    <a:lnB>
                      <a:noFill/>
                    </a:lnB>
                    <a:noFill/>
                  </a:tcPr>
                </a:tc>
                <a:tc>
                  <a:txBody>
                    <a:bodyPr/>
                    <a:p>
                      <a:pPr algn="ctr"/>
                      <a:r>
                        <a:rPr sz="2000" b="1">
                          <a:solidFill>
                            <a:srgbClr val="FF0000"/>
                          </a:solidFill>
                        </a:rPr>
                        <a:t>Usage</a:t>
                      </a:r>
                      <a:endParaRPr sz="2000" b="1">
                        <a:solidFill>
                          <a:srgbClr val="FF0000"/>
                        </a:solidFill>
                      </a:endParaRPr>
                    </a:p>
                  </a:txBody>
                  <a:tcPr marL="0" marR="0" marT="0" marB="0" anchor="ctr" anchorCtr="0">
                    <a:lnL>
                      <a:noFill/>
                    </a:lnL>
                    <a:lnR>
                      <a:noFill/>
                    </a:lnR>
                    <a:lnT>
                      <a:noFill/>
                    </a:lnT>
                    <a:lnB>
                      <a:noFill/>
                    </a:lnB>
                    <a:noFill/>
                  </a:tcPr>
                </a:tc>
              </a:tr>
              <a:tr h="274320">
                <a:tc>
                  <a:txBody>
                    <a:bodyPr/>
                    <a:p>
                      <a:r>
                        <a:rPr sz="1800"/>
                        <a:t>String</a:t>
                      </a:r>
                      <a:endParaRPr sz="1800"/>
                    </a:p>
                  </a:txBody>
                  <a:tcPr marL="0" marR="0" marT="0" marB="0" anchor="ctr" anchorCtr="0">
                    <a:lnL>
                      <a:noFill/>
                    </a:lnL>
                    <a:lnR>
                      <a:noFill/>
                    </a:lnR>
                    <a:lnT>
                      <a:noFill/>
                    </a:lnT>
                    <a:lnB>
                      <a:noFill/>
                    </a:lnB>
                    <a:noFill/>
                  </a:tcPr>
                </a:tc>
                <a:tc>
                  <a:txBody>
                    <a:bodyPr/>
                    <a:p>
                      <a:r>
                        <a:rPr sz="1800"/>
                        <a:t>Text</a:t>
                      </a:r>
                      <a:endParaRPr sz="1800"/>
                    </a:p>
                  </a:txBody>
                  <a:tcPr marL="0" marR="0" marT="0" marB="0" anchor="ctr" anchorCtr="0">
                    <a:lnL>
                      <a:noFill/>
                    </a:lnL>
                    <a:lnR>
                      <a:noFill/>
                    </a:lnR>
                    <a:lnT>
                      <a:noFill/>
                    </a:lnT>
                    <a:lnB>
                      <a:noFill/>
                    </a:lnB>
                    <a:noFill/>
                  </a:tcPr>
                </a:tc>
              </a:tr>
              <a:tr h="274320">
                <a:tc>
                  <a:txBody>
                    <a:bodyPr/>
                    <a:p>
                      <a:r>
                        <a:rPr sz="1800"/>
                        <a:t>Int / Long</a:t>
                      </a:r>
                      <a:endParaRPr sz="1800"/>
                    </a:p>
                  </a:txBody>
                  <a:tcPr marL="0" marR="0" marT="0" marB="0" anchor="ctr" anchorCtr="0">
                    <a:lnL>
                      <a:noFill/>
                    </a:lnL>
                    <a:lnR>
                      <a:noFill/>
                    </a:lnR>
                    <a:lnT>
                      <a:noFill/>
                    </a:lnT>
                    <a:lnB>
                      <a:noFill/>
                    </a:lnB>
                    <a:noFill/>
                  </a:tcPr>
                </a:tc>
                <a:tc>
                  <a:txBody>
                    <a:bodyPr/>
                    <a:p>
                      <a:r>
                        <a:rPr sz="1800"/>
                        <a:t>Numbers</a:t>
                      </a:r>
                      <a:endParaRPr sz="1800"/>
                    </a:p>
                  </a:txBody>
                  <a:tcPr marL="0" marR="0" marT="0" marB="0" anchor="ctr" anchorCtr="0">
                    <a:lnL>
                      <a:noFill/>
                    </a:lnL>
                    <a:lnR>
                      <a:noFill/>
                    </a:lnR>
                    <a:lnT>
                      <a:noFill/>
                    </a:lnT>
                    <a:lnB>
                      <a:noFill/>
                    </a:lnB>
                    <a:noFill/>
                  </a:tcPr>
                </a:tc>
              </a:tr>
              <a:tr h="274320">
                <a:tc>
                  <a:txBody>
                    <a:bodyPr/>
                    <a:p>
                      <a:r>
                        <a:rPr sz="1800"/>
                        <a:t>Double</a:t>
                      </a:r>
                      <a:endParaRPr sz="1800"/>
                    </a:p>
                  </a:txBody>
                  <a:tcPr marL="0" marR="0" marT="0" marB="0" anchor="ctr" anchorCtr="0">
                    <a:lnL>
                      <a:noFill/>
                    </a:lnL>
                    <a:lnR>
                      <a:noFill/>
                    </a:lnR>
                    <a:lnT>
                      <a:noFill/>
                    </a:lnT>
                    <a:lnB>
                      <a:noFill/>
                    </a:lnB>
                    <a:noFill/>
                  </a:tcPr>
                </a:tc>
                <a:tc>
                  <a:txBody>
                    <a:bodyPr/>
                    <a:p>
                      <a:r>
                        <a:rPr sz="1800"/>
                        <a:t>Decimal numbers</a:t>
                      </a:r>
                      <a:endParaRPr sz="1800"/>
                    </a:p>
                  </a:txBody>
                  <a:tcPr marL="0" marR="0" marT="0" marB="0" anchor="ctr" anchorCtr="0">
                    <a:lnL>
                      <a:noFill/>
                    </a:lnL>
                    <a:lnR>
                      <a:noFill/>
                    </a:lnR>
                    <a:lnT>
                      <a:noFill/>
                    </a:lnT>
                    <a:lnB>
                      <a:noFill/>
                    </a:lnB>
                    <a:noFill/>
                  </a:tcPr>
                </a:tc>
              </a:tr>
              <a:tr h="274320">
                <a:tc>
                  <a:txBody>
                    <a:bodyPr/>
                    <a:p>
                      <a:r>
                        <a:rPr sz="1800"/>
                        <a:t>Decimal128</a:t>
                      </a:r>
                      <a:endParaRPr sz="1800"/>
                    </a:p>
                  </a:txBody>
                  <a:tcPr marL="0" marR="0" marT="0" marB="0" anchor="ctr" anchorCtr="0">
                    <a:lnL>
                      <a:noFill/>
                    </a:lnL>
                    <a:lnR>
                      <a:noFill/>
                    </a:lnR>
                    <a:lnT>
                      <a:noFill/>
                    </a:lnT>
                    <a:lnB>
                      <a:noFill/>
                    </a:lnB>
                    <a:noFill/>
                  </a:tcPr>
                </a:tc>
                <a:tc>
                  <a:txBody>
                    <a:bodyPr/>
                    <a:p>
                      <a:r>
                        <a:rPr sz="1800"/>
                        <a:t>Financial data</a:t>
                      </a:r>
                      <a:endParaRPr sz="1800"/>
                    </a:p>
                  </a:txBody>
                  <a:tcPr marL="0" marR="0" marT="0" marB="0" anchor="ctr" anchorCtr="0">
                    <a:lnL>
                      <a:noFill/>
                    </a:lnL>
                    <a:lnR>
                      <a:noFill/>
                    </a:lnR>
                    <a:lnT>
                      <a:noFill/>
                    </a:lnT>
                    <a:lnB>
                      <a:noFill/>
                    </a:lnB>
                    <a:noFill/>
                  </a:tcPr>
                </a:tc>
              </a:tr>
              <a:tr h="274320">
                <a:tc>
                  <a:txBody>
                    <a:bodyPr/>
                    <a:p>
                      <a:r>
                        <a:rPr sz="1800"/>
                        <a:t>Boolean</a:t>
                      </a:r>
                      <a:endParaRPr sz="1800"/>
                    </a:p>
                  </a:txBody>
                  <a:tcPr marL="0" marR="0" marT="0" marB="0" anchor="ctr" anchorCtr="0">
                    <a:lnL>
                      <a:noFill/>
                    </a:lnL>
                    <a:lnR>
                      <a:noFill/>
                    </a:lnR>
                    <a:lnT>
                      <a:noFill/>
                    </a:lnT>
                    <a:lnB>
                      <a:noFill/>
                    </a:lnB>
                    <a:noFill/>
                  </a:tcPr>
                </a:tc>
                <a:tc>
                  <a:txBody>
                    <a:bodyPr/>
                    <a:p>
                      <a:r>
                        <a:rPr sz="1800"/>
                        <a:t>True / False</a:t>
                      </a:r>
                      <a:endParaRPr sz="1800"/>
                    </a:p>
                  </a:txBody>
                  <a:tcPr marL="0" marR="0" marT="0" marB="0" anchor="ctr" anchorCtr="0">
                    <a:lnL>
                      <a:noFill/>
                    </a:lnL>
                    <a:lnR>
                      <a:noFill/>
                    </a:lnR>
                    <a:lnT>
                      <a:noFill/>
                    </a:lnT>
                    <a:lnB>
                      <a:noFill/>
                    </a:lnB>
                    <a:noFill/>
                  </a:tcPr>
                </a:tc>
              </a:tr>
              <a:tr h="274320">
                <a:tc>
                  <a:txBody>
                    <a:bodyPr/>
                    <a:p>
                      <a:r>
                        <a:rPr sz="1800"/>
                        <a:t>Date</a:t>
                      </a:r>
                      <a:endParaRPr sz="1800"/>
                    </a:p>
                  </a:txBody>
                  <a:tcPr marL="0" marR="0" marT="0" marB="0" anchor="ctr" anchorCtr="0">
                    <a:lnL>
                      <a:noFill/>
                    </a:lnL>
                    <a:lnR>
                      <a:noFill/>
                    </a:lnR>
                    <a:lnT>
                      <a:noFill/>
                    </a:lnT>
                    <a:lnB>
                      <a:noFill/>
                    </a:lnB>
                    <a:noFill/>
                  </a:tcPr>
                </a:tc>
                <a:tc>
                  <a:txBody>
                    <a:bodyPr/>
                    <a:p>
                      <a:r>
                        <a:rPr sz="1800"/>
                        <a:t>Date &amp; time</a:t>
                      </a:r>
                      <a:endParaRPr sz="1800"/>
                    </a:p>
                  </a:txBody>
                  <a:tcPr marL="0" marR="0" marT="0" marB="0" anchor="ctr" anchorCtr="0">
                    <a:lnL>
                      <a:noFill/>
                    </a:lnL>
                    <a:lnR>
                      <a:noFill/>
                    </a:lnR>
                    <a:lnT>
                      <a:noFill/>
                    </a:lnT>
                    <a:lnB>
                      <a:noFill/>
                    </a:lnB>
                    <a:noFill/>
                  </a:tcPr>
                </a:tc>
              </a:tr>
              <a:tr h="274320">
                <a:tc>
                  <a:txBody>
                    <a:bodyPr/>
                    <a:p>
                      <a:r>
                        <a:rPr sz="1800"/>
                        <a:t>Timestamp</a:t>
                      </a:r>
                      <a:endParaRPr sz="1800"/>
                    </a:p>
                  </a:txBody>
                  <a:tcPr marL="0" marR="0" marT="0" marB="0" anchor="ctr" anchorCtr="0">
                    <a:lnL>
                      <a:noFill/>
                    </a:lnL>
                    <a:lnR>
                      <a:noFill/>
                    </a:lnR>
                    <a:lnT>
                      <a:noFill/>
                    </a:lnT>
                    <a:lnB>
                      <a:noFill/>
                    </a:lnB>
                    <a:noFill/>
                  </a:tcPr>
                </a:tc>
                <a:tc>
                  <a:txBody>
                    <a:bodyPr/>
                    <a:p>
                      <a:r>
                        <a:rPr sz="1800"/>
                        <a:t>Replication</a:t>
                      </a:r>
                      <a:endParaRPr sz="1800"/>
                    </a:p>
                  </a:txBody>
                  <a:tcPr marL="0" marR="0" marT="0" marB="0" anchor="ctr" anchorCtr="0">
                    <a:lnL>
                      <a:noFill/>
                    </a:lnL>
                    <a:lnR>
                      <a:noFill/>
                    </a:lnR>
                    <a:lnT>
                      <a:noFill/>
                    </a:lnT>
                    <a:lnB>
                      <a:noFill/>
                    </a:lnB>
                    <a:noFill/>
                  </a:tcPr>
                </a:tc>
              </a:tr>
              <a:tr h="274320">
                <a:tc>
                  <a:txBody>
                    <a:bodyPr/>
                    <a:p>
                      <a:r>
                        <a:rPr sz="1800"/>
                        <a:t>Array</a:t>
                      </a:r>
                      <a:endParaRPr sz="1800"/>
                    </a:p>
                  </a:txBody>
                  <a:tcPr marL="0" marR="0" marT="0" marB="0" anchor="ctr" anchorCtr="0">
                    <a:lnL>
                      <a:noFill/>
                    </a:lnL>
                    <a:lnR>
                      <a:noFill/>
                    </a:lnR>
                    <a:lnT>
                      <a:noFill/>
                    </a:lnT>
                    <a:lnB>
                      <a:noFill/>
                    </a:lnB>
                    <a:noFill/>
                  </a:tcPr>
                </a:tc>
                <a:tc>
                  <a:txBody>
                    <a:bodyPr/>
                    <a:p>
                      <a:r>
                        <a:rPr sz="1800"/>
                        <a:t>Multiple values</a:t>
                      </a:r>
                      <a:endParaRPr sz="1800"/>
                    </a:p>
                  </a:txBody>
                  <a:tcPr marL="0" marR="0" marT="0" marB="0" anchor="ctr" anchorCtr="0">
                    <a:lnL>
                      <a:noFill/>
                    </a:lnL>
                    <a:lnR>
                      <a:noFill/>
                    </a:lnR>
                    <a:lnT>
                      <a:noFill/>
                    </a:lnT>
                    <a:lnB>
                      <a:noFill/>
                    </a:lnB>
                    <a:noFill/>
                  </a:tcPr>
                </a:tc>
              </a:tr>
              <a:tr h="274320">
                <a:tc>
                  <a:txBody>
                    <a:bodyPr/>
                    <a:p>
                      <a:r>
                        <a:rPr sz="1800"/>
                        <a:t>Object</a:t>
                      </a:r>
                      <a:endParaRPr sz="1800"/>
                    </a:p>
                  </a:txBody>
                  <a:tcPr marL="0" marR="0" marT="0" marB="0" anchor="ctr" anchorCtr="0">
                    <a:lnL>
                      <a:noFill/>
                    </a:lnL>
                    <a:lnR>
                      <a:noFill/>
                    </a:lnR>
                    <a:lnT>
                      <a:noFill/>
                    </a:lnT>
                    <a:lnB>
                      <a:noFill/>
                    </a:lnB>
                    <a:noFill/>
                  </a:tcPr>
                </a:tc>
                <a:tc>
                  <a:txBody>
                    <a:bodyPr/>
                    <a:p>
                      <a:r>
                        <a:rPr sz="1800"/>
                        <a:t>Embedded document</a:t>
                      </a:r>
                      <a:endParaRPr sz="1800"/>
                    </a:p>
                  </a:txBody>
                  <a:tcPr marL="0" marR="0" marT="0" marB="0" anchor="ctr" anchorCtr="0">
                    <a:lnL>
                      <a:noFill/>
                    </a:lnL>
                    <a:lnR>
                      <a:noFill/>
                    </a:lnR>
                    <a:lnT>
                      <a:noFill/>
                    </a:lnT>
                    <a:lnB>
                      <a:noFill/>
                    </a:lnB>
                    <a:noFill/>
                  </a:tcPr>
                </a:tc>
              </a:tr>
              <a:tr h="274320">
                <a:tc>
                  <a:txBody>
                    <a:bodyPr/>
                    <a:p>
                      <a:r>
                        <a:rPr sz="1800"/>
                        <a:t>ObjectId</a:t>
                      </a:r>
                      <a:endParaRPr sz="1800"/>
                    </a:p>
                  </a:txBody>
                  <a:tcPr marL="0" marR="0" marT="0" marB="0" anchor="ctr" anchorCtr="0">
                    <a:lnL>
                      <a:noFill/>
                    </a:lnL>
                    <a:lnR>
                      <a:noFill/>
                    </a:lnR>
                    <a:lnT>
                      <a:noFill/>
                    </a:lnT>
                    <a:lnB>
                      <a:noFill/>
                    </a:lnB>
                    <a:noFill/>
                  </a:tcPr>
                </a:tc>
                <a:tc>
                  <a:txBody>
                    <a:bodyPr/>
                    <a:p>
                      <a:r>
                        <a:rPr sz="1800"/>
                        <a:t>Unique ID</a:t>
                      </a:r>
                      <a:endParaRPr sz="1800"/>
                    </a:p>
                  </a:txBody>
                  <a:tcPr marL="0" marR="0" marT="0" marB="0" anchor="ctr" anchorCtr="0">
                    <a:lnL>
                      <a:noFill/>
                    </a:lnL>
                    <a:lnR>
                      <a:noFill/>
                    </a:lnR>
                    <a:lnT>
                      <a:noFill/>
                    </a:lnT>
                    <a:lnB>
                      <a:noFill/>
                    </a:lnB>
                    <a:noFill/>
                  </a:tcPr>
                </a:tc>
              </a:tr>
              <a:tr h="274320">
                <a:tc>
                  <a:txBody>
                    <a:bodyPr/>
                    <a:p>
                      <a:r>
                        <a:rPr sz="1800"/>
                        <a:t>Null</a:t>
                      </a:r>
                      <a:endParaRPr sz="1800"/>
                    </a:p>
                  </a:txBody>
                  <a:tcPr marL="0" marR="0" marT="0" marB="0" anchor="ctr" anchorCtr="0">
                    <a:lnL>
                      <a:noFill/>
                    </a:lnL>
                    <a:lnR>
                      <a:noFill/>
                    </a:lnR>
                    <a:lnT>
                      <a:noFill/>
                    </a:lnT>
                    <a:lnB>
                      <a:noFill/>
                    </a:lnB>
                    <a:noFill/>
                  </a:tcPr>
                </a:tc>
                <a:tc>
                  <a:txBody>
                    <a:bodyPr/>
                    <a:p>
                      <a:r>
                        <a:rPr sz="1800"/>
                        <a:t>Empty value</a:t>
                      </a:r>
                      <a:endParaRPr sz="1800"/>
                    </a:p>
                  </a:txBody>
                  <a:tcPr marL="0" marR="0" marT="0" marB="0" anchor="ctr" anchorCtr="0">
                    <a:lnL>
                      <a:noFill/>
                    </a:lnL>
                    <a:lnR>
                      <a:noFill/>
                    </a:lnR>
                    <a:lnT>
                      <a:noFill/>
                    </a:lnT>
                    <a:lnB>
                      <a:noFill/>
                    </a:lnB>
                    <a:noFill/>
                  </a:tcPr>
                </a:tc>
              </a:tr>
              <a:tr h="274320">
                <a:tc>
                  <a:txBody>
                    <a:bodyPr/>
                    <a:p>
                      <a:r>
                        <a:rPr sz="1800"/>
                        <a:t>Binary</a:t>
                      </a:r>
                      <a:endParaRPr sz="1800"/>
                    </a:p>
                  </a:txBody>
                  <a:tcPr marL="0" marR="0" marT="0" marB="0" anchor="ctr" anchorCtr="0">
                    <a:lnL>
                      <a:noFill/>
                    </a:lnL>
                    <a:lnR>
                      <a:noFill/>
                    </a:lnR>
                    <a:lnT>
                      <a:noFill/>
                    </a:lnT>
                    <a:lnB>
                      <a:noFill/>
                    </a:lnB>
                    <a:noFill/>
                  </a:tcPr>
                </a:tc>
                <a:tc>
                  <a:txBody>
                    <a:bodyPr/>
                    <a:p>
                      <a:r>
                        <a:rPr sz="1800"/>
                        <a:t>Files</a:t>
                      </a:r>
                      <a:endParaRPr sz="1800"/>
                    </a:p>
                  </a:txBody>
                  <a:tcPr marL="0" marR="0" marT="0" marB="0" anchor="ctr" anchorCtr="0">
                    <a:lnL>
                      <a:noFill/>
                    </a:lnL>
                    <a:lnR>
                      <a:noFill/>
                    </a:lnR>
                    <a:lnT>
                      <a:noFill/>
                    </a:lnT>
                    <a:lnB>
                      <a:noFill/>
                    </a:lnB>
                    <a:noFill/>
                  </a:tcPr>
                </a:tc>
              </a:tr>
              <a:tr h="274320">
                <a:tc>
                  <a:txBody>
                    <a:bodyPr/>
                    <a:p>
                      <a:r>
                        <a:rPr sz="1800"/>
                        <a:t>Regex</a:t>
                      </a:r>
                      <a:endParaRPr sz="1800"/>
                    </a:p>
                  </a:txBody>
                  <a:tcPr marL="0" marR="0" marT="0" marB="0" anchor="ctr" anchorCtr="0">
                    <a:lnL>
                      <a:noFill/>
                    </a:lnL>
                    <a:lnR>
                      <a:noFill/>
                    </a:lnR>
                    <a:lnT>
                      <a:noFill/>
                    </a:lnT>
                    <a:lnB>
                      <a:noFill/>
                    </a:lnB>
                    <a:noFill/>
                  </a:tcPr>
                </a:tc>
                <a:tc>
                  <a:txBody>
                    <a:bodyPr/>
                    <a:p>
                      <a:r>
                        <a:rPr sz="1800"/>
                        <a:t>Search patterns</a:t>
                      </a:r>
                      <a:endParaRPr sz="1800"/>
                    </a:p>
                  </a:txBody>
                  <a:tcPr marL="0" marR="0" marT="0" marB="0" anchor="ctr" anchorCtr="0">
                    <a:lnL>
                      <a:noFill/>
                    </a:lnL>
                    <a:lnR>
                      <a:noFill/>
                    </a:lnR>
                    <a:lnT>
                      <a:noFill/>
                    </a:lnT>
                    <a:lnB>
                      <a:noFill/>
                    </a:lnB>
                    <a:noFill/>
                  </a:tcPr>
                </a:tc>
              </a:tr>
            </a:tbl>
          </a:graphicData>
        </a:graphic>
      </p:graphicFrame>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225425" y="0"/>
            <a:ext cx="11966575" cy="287020"/>
          </a:xfrm>
        </p:spPr>
        <p:txBody>
          <a:bodyPr>
            <a:normAutofit fontScale="90000"/>
          </a:bodyPr>
          <a:p>
            <a:pPr algn="ctr"/>
            <a:r>
              <a:rPr lang="en-US" sz="2400" b="1">
                <a:solidFill>
                  <a:srgbClr val="FF0000"/>
                </a:solidFill>
              </a:rPr>
              <a:t>What is Database , Collection, Documents in Mongodb</a:t>
            </a:r>
            <a:endParaRPr lang="en-US" sz="2400" b="1">
              <a:solidFill>
                <a:srgbClr val="FF0000"/>
              </a:solidFill>
            </a:endParaRPr>
          </a:p>
        </p:txBody>
      </p:sp>
      <p:sp>
        <p:nvSpPr>
          <p:cNvPr id="4" name="Text Box 3"/>
          <p:cNvSpPr txBox="1"/>
          <p:nvPr/>
        </p:nvSpPr>
        <p:spPr>
          <a:xfrm>
            <a:off x="0" y="267335"/>
            <a:ext cx="4891405" cy="2848610"/>
          </a:xfrm>
          <a:prstGeom prst="rect">
            <a:avLst/>
          </a:prstGeom>
          <a:solidFill>
            <a:schemeClr val="accent2">
              <a:lumMod val="40000"/>
              <a:lumOff val="60000"/>
            </a:schemeClr>
          </a:solidFill>
        </p:spPr>
        <p:txBody>
          <a:bodyPr wrap="square">
            <a:noAutofit/>
          </a:bodyPr>
          <a:p>
            <a:pPr>
              <a:spcAft>
                <a:spcPct val="60000"/>
              </a:spcAft>
            </a:pPr>
            <a:r>
              <a:rPr b="1"/>
              <a:t>1</a:t>
            </a:r>
            <a:r>
              <a:rPr lang="en-US" b="1"/>
              <a:t>.</a:t>
            </a:r>
            <a:r>
              <a:rPr b="1"/>
              <a:t> Database (db)</a:t>
            </a:r>
            <a:endParaRPr b="1"/>
          </a:p>
          <a:p>
            <a:pPr>
              <a:spcAft>
                <a:spcPct val="60000"/>
              </a:spcAft>
            </a:pPr>
            <a:r>
              <a:t>A database is like a big container that holds collections.</a:t>
            </a:r>
          </a:p>
          <a:p>
            <a:pPr>
              <a:buFont typeface="Arial" panose="020B0604020202020204"/>
              <a:buChar char="•"/>
            </a:pPr>
            <a:r>
              <a:t>Think of it as a folder on your computer.</a:t>
            </a:r>
          </a:p>
          <a:p>
            <a:pPr>
              <a:buFont typeface="Arial" panose="020B0604020202020204"/>
              <a:buChar char="•"/>
            </a:pPr>
            <a:r>
              <a:t>You can have multiple databases in MongoDB.</a:t>
            </a:r>
          </a:p>
          <a:p>
            <a:r>
              <a:t>Example:</a:t>
            </a:r>
          </a:p>
          <a:p>
            <a:r>
              <a:t>use myDatabase  // Switches to (or creates) a database called "myDatabase"</a:t>
            </a:r>
          </a:p>
        </p:txBody>
      </p:sp>
      <p:sp>
        <p:nvSpPr>
          <p:cNvPr id="5" name="Text Box 4"/>
          <p:cNvSpPr txBox="1"/>
          <p:nvPr/>
        </p:nvSpPr>
        <p:spPr>
          <a:xfrm>
            <a:off x="5001260" y="403225"/>
            <a:ext cx="7340600" cy="2595245"/>
          </a:xfrm>
          <a:prstGeom prst="rect">
            <a:avLst/>
          </a:prstGeom>
        </p:spPr>
        <p:txBody>
          <a:bodyPr wrap="square">
            <a:spAutoFit/>
          </a:bodyPr>
          <a:p>
            <a:pPr>
              <a:spcAft>
                <a:spcPct val="60000"/>
              </a:spcAft>
            </a:pPr>
            <a:r>
              <a:rPr sz="2400" b="1"/>
              <a:t>2 Collection</a:t>
            </a:r>
            <a:endParaRPr sz="2400" b="1"/>
          </a:p>
          <a:p>
            <a:pPr>
              <a:spcAft>
                <a:spcPct val="60000"/>
              </a:spcAft>
            </a:pPr>
            <a:r>
              <a:t>A collection is like a table in SQL.</a:t>
            </a:r>
          </a:p>
          <a:p>
            <a:pPr>
              <a:buFont typeface="Arial" panose="020B0604020202020204"/>
              <a:buChar char="•"/>
            </a:pPr>
            <a:r>
              <a:t>It stores documents, but unlike SQL tables, it doesn’t enforce a fixed schema.</a:t>
            </a:r>
          </a:p>
          <a:p>
            <a:pPr>
              <a:buFont typeface="Arial" panose="020B0604020202020204"/>
              <a:buChar char="•"/>
            </a:pPr>
            <a:r>
              <a:t>Collections hold related data.</a:t>
            </a:r>
          </a:p>
          <a:p>
            <a:r>
              <a:t>Example:</a:t>
            </a:r>
          </a:p>
          <a:p>
            <a:r>
              <a:t>db.createCollection("users")  // Creates a collection called "users"</a:t>
            </a:r>
          </a:p>
          <a:p>
            <a:r>
              <a:rPr lang="en-US" altLang="en-US"/>
              <a:t>db.users.insertOne({ name: "viren", age: 25 })</a:t>
            </a:r>
            <a:endParaRPr lang="en-US" altLang="en-US"/>
          </a:p>
        </p:txBody>
      </p:sp>
      <p:sp>
        <p:nvSpPr>
          <p:cNvPr id="6" name="Text Box 5"/>
          <p:cNvSpPr txBox="1"/>
          <p:nvPr/>
        </p:nvSpPr>
        <p:spPr>
          <a:xfrm>
            <a:off x="0" y="3241675"/>
            <a:ext cx="6561455" cy="4048760"/>
          </a:xfrm>
          <a:prstGeom prst="rect">
            <a:avLst/>
          </a:prstGeom>
        </p:spPr>
        <p:txBody>
          <a:bodyPr wrap="square">
            <a:noAutofit/>
          </a:bodyPr>
          <a:p>
            <a:pPr>
              <a:spcAft>
                <a:spcPct val="60000"/>
              </a:spcAft>
            </a:pPr>
            <a:r>
              <a:rPr sz="2400" b="1"/>
              <a:t>3</a:t>
            </a:r>
            <a:r>
              <a:rPr lang="en-US" sz="2400" b="1"/>
              <a:t>.</a:t>
            </a:r>
            <a:r>
              <a:rPr sz="2400" b="1"/>
              <a:t> Document</a:t>
            </a:r>
            <a:endParaRPr sz="2400" b="1"/>
          </a:p>
          <a:p>
            <a:pPr>
              <a:spcAft>
                <a:spcPct val="60000"/>
              </a:spcAft>
            </a:pPr>
            <a:r>
              <a:t>A document is a single record in a collection.</a:t>
            </a:r>
          </a:p>
          <a:p>
            <a:pPr>
              <a:buFont typeface="Arial" panose="020B0604020202020204"/>
              <a:buChar char="•"/>
            </a:pPr>
            <a:r>
              <a:t>It’s a JSON-like object (BSON in MongoDB internally).</a:t>
            </a:r>
          </a:p>
          <a:p>
            <a:pPr>
              <a:buFont typeface="Arial" panose="020B0604020202020204"/>
              <a:buChar char="•"/>
            </a:pPr>
            <a:r>
              <a:t>Each document can have different fields (no fixed schema).</a:t>
            </a:r>
          </a:p>
          <a:p>
            <a:r>
              <a:t>Example:</a:t>
            </a:r>
          </a:p>
          <a:p>
            <a:r>
              <a:t>{
  _id: ObjectId("64c9f1f7a3e5f7b123456789"),
  name: "</a:t>
            </a:r>
            <a:r>
              <a:rPr lang="en-US"/>
              <a:t>viren</a:t>
            </a:r>
            <a:r>
              <a:t>",
  age: 25,
  email: "</a:t>
            </a:r>
            <a:r>
              <a:rPr lang="en-US"/>
              <a:t>viren</a:t>
            </a:r>
            <a:r>
              <a:t>@example.com"
}
_id is automatically created as a unique identifier for each document.</a:t>
            </a:r>
          </a:p>
        </p:txBody>
      </p:sp>
      <p:graphicFrame>
        <p:nvGraphicFramePr>
          <p:cNvPr id="7" name="Table 6"/>
          <p:cNvGraphicFramePr/>
          <p:nvPr>
            <p:custDataLst>
              <p:tags r:id="rId1"/>
            </p:custDataLst>
          </p:nvPr>
        </p:nvGraphicFramePr>
        <p:xfrm>
          <a:off x="6315710" y="3115310"/>
          <a:ext cx="5926455" cy="3196590"/>
        </p:xfrm>
        <a:graphic>
          <a:graphicData uri="http://schemas.openxmlformats.org/drawingml/2006/table">
            <a:tbl>
              <a:tblPr/>
              <a:tblGrid>
                <a:gridCol w="1975485"/>
                <a:gridCol w="1975485"/>
                <a:gridCol w="1975485"/>
              </a:tblGrid>
              <a:tr h="612775">
                <a:tc>
                  <a:txBody>
                    <a:bodyPr/>
                    <a:p>
                      <a:pPr algn="ctr"/>
                      <a:r>
                        <a:rPr sz="2000"/>
                        <a:t>SQL</a:t>
                      </a:r>
                      <a:endParaRPr sz="2000"/>
                    </a:p>
                  </a:txBody>
                  <a:tcPr marL="0" marR="0" marT="0" marB="0" anchor="ctr" anchorCtr="0">
                    <a:lnL>
                      <a:noFill/>
                    </a:lnL>
                    <a:lnR>
                      <a:noFill/>
                    </a:lnR>
                    <a:lnT>
                      <a:noFill/>
                    </a:lnT>
                    <a:lnB>
                      <a:noFill/>
                    </a:lnB>
                    <a:solidFill>
                      <a:schemeClr val="accent5">
                        <a:lumMod val="20000"/>
                        <a:lumOff val="80000"/>
                      </a:schemeClr>
                    </a:solidFill>
                  </a:tcPr>
                </a:tc>
                <a:tc>
                  <a:txBody>
                    <a:bodyPr/>
                    <a:p>
                      <a:pPr algn="ctr"/>
                      <a:r>
                        <a:rPr sz="2000"/>
                        <a:t>MongoDB</a:t>
                      </a:r>
                      <a:endParaRPr sz="2000"/>
                    </a:p>
                  </a:txBody>
                  <a:tcPr marL="0" marR="0" marT="0" marB="0" anchor="ctr" anchorCtr="0">
                    <a:lnL>
                      <a:noFill/>
                    </a:lnL>
                    <a:lnR>
                      <a:noFill/>
                    </a:lnR>
                    <a:lnT>
                      <a:noFill/>
                    </a:lnT>
                    <a:lnB>
                      <a:noFill/>
                    </a:lnB>
                    <a:solidFill>
                      <a:schemeClr val="accent5">
                        <a:lumMod val="20000"/>
                        <a:lumOff val="80000"/>
                      </a:schemeClr>
                    </a:solidFill>
                  </a:tcPr>
                </a:tc>
                <a:tc>
                  <a:txBody>
                    <a:bodyPr/>
                    <a:p>
                      <a:pPr algn="ctr"/>
                      <a:r>
                        <a:rPr sz="2000"/>
                        <a:t>Example</a:t>
                      </a:r>
                      <a:endParaRPr sz="2000"/>
                    </a:p>
                  </a:txBody>
                  <a:tcPr marL="0" marR="0" marT="0" marB="0" anchor="ctr" anchorCtr="0">
                    <a:lnL>
                      <a:noFill/>
                    </a:lnL>
                    <a:lnR>
                      <a:noFill/>
                    </a:lnR>
                    <a:lnT>
                      <a:noFill/>
                    </a:lnT>
                    <a:lnB>
                      <a:noFill/>
                    </a:lnB>
                    <a:solidFill>
                      <a:schemeClr val="accent5">
                        <a:lumMod val="20000"/>
                        <a:lumOff val="80000"/>
                      </a:schemeClr>
                    </a:solidFill>
                  </a:tcPr>
                </a:tc>
              </a:tr>
              <a:tr h="611505">
                <a:tc>
                  <a:txBody>
                    <a:bodyPr/>
                    <a:p>
                      <a:pPr algn="ctr"/>
                      <a:r>
                        <a:rPr sz="2000"/>
                        <a:t>Database</a:t>
                      </a:r>
                      <a:endParaRPr sz="2000"/>
                    </a:p>
                  </a:txBody>
                  <a:tcPr marL="0" marR="0" marT="0" marB="0" anchor="ctr" anchorCtr="0">
                    <a:lnL>
                      <a:noFill/>
                    </a:lnL>
                    <a:lnR>
                      <a:noFill/>
                    </a:lnR>
                    <a:lnT>
                      <a:noFill/>
                    </a:lnT>
                    <a:lnB>
                      <a:noFill/>
                    </a:lnB>
                    <a:solidFill>
                      <a:schemeClr val="accent5">
                        <a:lumMod val="20000"/>
                        <a:lumOff val="80000"/>
                      </a:schemeClr>
                    </a:solidFill>
                  </a:tcPr>
                </a:tc>
                <a:tc>
                  <a:txBody>
                    <a:bodyPr/>
                    <a:p>
                      <a:pPr algn="ctr"/>
                      <a:r>
                        <a:rPr sz="2000"/>
                        <a:t>Database (db)</a:t>
                      </a:r>
                      <a:endParaRPr sz="2000"/>
                    </a:p>
                  </a:txBody>
                  <a:tcPr marL="0" marR="0" marT="0" marB="0" anchor="ctr" anchorCtr="0">
                    <a:lnL>
                      <a:noFill/>
                    </a:lnL>
                    <a:lnR>
                      <a:noFill/>
                    </a:lnR>
                    <a:lnT>
                      <a:noFill/>
                    </a:lnT>
                    <a:lnB>
                      <a:noFill/>
                    </a:lnB>
                    <a:solidFill>
                      <a:schemeClr val="accent5">
                        <a:lumMod val="20000"/>
                        <a:lumOff val="80000"/>
                      </a:schemeClr>
                    </a:solidFill>
                  </a:tcPr>
                </a:tc>
                <a:tc>
                  <a:txBody>
                    <a:bodyPr/>
                    <a:p>
                      <a:pPr algn="ctr"/>
                      <a:r>
                        <a:rPr sz="2000"/>
                        <a:t>myDatabase</a:t>
                      </a:r>
                      <a:endParaRPr sz="2000"/>
                    </a:p>
                  </a:txBody>
                  <a:tcPr marL="0" marR="0" marT="0" marB="0" anchor="ctr" anchorCtr="0">
                    <a:lnL>
                      <a:noFill/>
                    </a:lnL>
                    <a:lnR>
                      <a:noFill/>
                    </a:lnR>
                    <a:lnT>
                      <a:noFill/>
                    </a:lnT>
                    <a:lnB>
                      <a:noFill/>
                    </a:lnB>
                    <a:solidFill>
                      <a:schemeClr val="accent5">
                        <a:lumMod val="20000"/>
                        <a:lumOff val="80000"/>
                      </a:schemeClr>
                    </a:solidFill>
                  </a:tcPr>
                </a:tc>
              </a:tr>
              <a:tr h="612775">
                <a:tc>
                  <a:txBody>
                    <a:bodyPr/>
                    <a:p>
                      <a:pPr algn="ctr"/>
                      <a:r>
                        <a:rPr sz="2000"/>
                        <a:t>Table</a:t>
                      </a:r>
                      <a:endParaRPr sz="2000"/>
                    </a:p>
                  </a:txBody>
                  <a:tcPr marL="0" marR="0" marT="0" marB="0" anchor="ctr" anchorCtr="0">
                    <a:lnL>
                      <a:noFill/>
                    </a:lnL>
                    <a:lnR>
                      <a:noFill/>
                    </a:lnR>
                    <a:lnT>
                      <a:noFill/>
                    </a:lnT>
                    <a:lnB>
                      <a:noFill/>
                    </a:lnB>
                    <a:solidFill>
                      <a:schemeClr val="accent5">
                        <a:lumMod val="20000"/>
                        <a:lumOff val="80000"/>
                      </a:schemeClr>
                    </a:solidFill>
                  </a:tcPr>
                </a:tc>
                <a:tc>
                  <a:txBody>
                    <a:bodyPr/>
                    <a:p>
                      <a:pPr algn="ctr"/>
                      <a:r>
                        <a:rPr sz="2000"/>
                        <a:t>Collection</a:t>
                      </a:r>
                      <a:endParaRPr sz="2000"/>
                    </a:p>
                  </a:txBody>
                  <a:tcPr marL="0" marR="0" marT="0" marB="0" anchor="ctr" anchorCtr="0">
                    <a:lnL>
                      <a:noFill/>
                    </a:lnL>
                    <a:lnR>
                      <a:noFill/>
                    </a:lnR>
                    <a:lnT>
                      <a:noFill/>
                    </a:lnT>
                    <a:lnB>
                      <a:noFill/>
                    </a:lnB>
                    <a:solidFill>
                      <a:schemeClr val="accent5">
                        <a:lumMod val="20000"/>
                        <a:lumOff val="80000"/>
                      </a:schemeClr>
                    </a:solidFill>
                  </a:tcPr>
                </a:tc>
                <a:tc>
                  <a:txBody>
                    <a:bodyPr/>
                    <a:p>
                      <a:pPr algn="ctr"/>
                      <a:r>
                        <a:rPr sz="2000"/>
                        <a:t>users</a:t>
                      </a:r>
                      <a:endParaRPr sz="2000"/>
                    </a:p>
                  </a:txBody>
                  <a:tcPr marL="0" marR="0" marT="0" marB="0" anchor="ctr" anchorCtr="0">
                    <a:lnL>
                      <a:noFill/>
                    </a:lnL>
                    <a:lnR>
                      <a:noFill/>
                    </a:lnR>
                    <a:lnT>
                      <a:noFill/>
                    </a:lnT>
                    <a:lnB>
                      <a:noFill/>
                    </a:lnB>
                    <a:solidFill>
                      <a:schemeClr val="accent5">
                        <a:lumMod val="20000"/>
                        <a:lumOff val="80000"/>
                      </a:schemeClr>
                    </a:solidFill>
                  </a:tcPr>
                </a:tc>
              </a:tr>
              <a:tr h="746760">
                <a:tc>
                  <a:txBody>
                    <a:bodyPr/>
                    <a:p>
                      <a:pPr algn="ctr"/>
                      <a:r>
                        <a:rPr sz="2000"/>
                        <a:t>Row</a:t>
                      </a:r>
                      <a:endParaRPr sz="2000"/>
                    </a:p>
                  </a:txBody>
                  <a:tcPr marL="0" marR="0" marT="0" marB="0" anchor="ctr" anchorCtr="0">
                    <a:lnL>
                      <a:noFill/>
                    </a:lnL>
                    <a:lnR>
                      <a:noFill/>
                    </a:lnR>
                    <a:lnT>
                      <a:noFill/>
                    </a:lnT>
                    <a:lnB>
                      <a:noFill/>
                    </a:lnB>
                    <a:solidFill>
                      <a:schemeClr val="accent5">
                        <a:lumMod val="20000"/>
                        <a:lumOff val="80000"/>
                      </a:schemeClr>
                    </a:solidFill>
                  </a:tcPr>
                </a:tc>
                <a:tc>
                  <a:txBody>
                    <a:bodyPr/>
                    <a:p>
                      <a:pPr algn="ctr"/>
                      <a:r>
                        <a:rPr sz="2000"/>
                        <a:t>Document</a:t>
                      </a:r>
                      <a:endParaRPr sz="2000"/>
                    </a:p>
                  </a:txBody>
                  <a:tcPr marL="0" marR="0" marT="0" marB="0" anchor="ctr" anchorCtr="0">
                    <a:lnL>
                      <a:noFill/>
                    </a:lnL>
                    <a:lnR>
                      <a:noFill/>
                    </a:lnR>
                    <a:lnT>
                      <a:noFill/>
                    </a:lnT>
                    <a:lnB>
                      <a:noFill/>
                    </a:lnB>
                    <a:solidFill>
                      <a:schemeClr val="accent5">
                        <a:lumMod val="20000"/>
                        <a:lumOff val="80000"/>
                      </a:schemeClr>
                    </a:solidFill>
                  </a:tcPr>
                </a:tc>
                <a:tc>
                  <a:txBody>
                    <a:bodyPr/>
                    <a:p>
                      <a:pPr algn="ctr"/>
                      <a:r>
                        <a:rPr sz="2000"/>
                        <a:t>{name: "Alice", age: 25}</a:t>
                      </a:r>
                      <a:endParaRPr sz="2000"/>
                    </a:p>
                  </a:txBody>
                  <a:tcPr marL="0" marR="0" marT="0" marB="0" anchor="ctr" anchorCtr="0">
                    <a:lnL>
                      <a:noFill/>
                    </a:lnL>
                    <a:lnR>
                      <a:noFill/>
                    </a:lnR>
                    <a:lnT>
                      <a:noFill/>
                    </a:lnT>
                    <a:lnB>
                      <a:noFill/>
                    </a:lnB>
                    <a:solidFill>
                      <a:schemeClr val="accent5">
                        <a:lumMod val="20000"/>
                        <a:lumOff val="80000"/>
                      </a:schemeClr>
                    </a:solidFill>
                  </a:tcPr>
                </a:tc>
              </a:tr>
              <a:tr h="612775">
                <a:tc>
                  <a:txBody>
                    <a:bodyPr/>
                    <a:p>
                      <a:pPr algn="ctr"/>
                      <a:r>
                        <a:rPr sz="2000"/>
                        <a:t>Column</a:t>
                      </a:r>
                      <a:endParaRPr sz="2000"/>
                    </a:p>
                  </a:txBody>
                  <a:tcPr marL="0" marR="0" marT="0" marB="0" anchor="ctr" anchorCtr="0">
                    <a:lnL>
                      <a:noFill/>
                    </a:lnL>
                    <a:lnR>
                      <a:noFill/>
                    </a:lnR>
                    <a:lnT>
                      <a:noFill/>
                    </a:lnT>
                    <a:lnB>
                      <a:noFill/>
                    </a:lnB>
                    <a:solidFill>
                      <a:schemeClr val="accent5">
                        <a:lumMod val="20000"/>
                        <a:lumOff val="80000"/>
                      </a:schemeClr>
                    </a:solidFill>
                  </a:tcPr>
                </a:tc>
                <a:tc>
                  <a:txBody>
                    <a:bodyPr/>
                    <a:p>
                      <a:pPr algn="ctr"/>
                      <a:r>
                        <a:rPr sz="2000"/>
                        <a:t>Field</a:t>
                      </a:r>
                      <a:endParaRPr sz="2000"/>
                    </a:p>
                  </a:txBody>
                  <a:tcPr marL="0" marR="0" marT="0" marB="0" anchor="ctr" anchorCtr="0">
                    <a:lnL>
                      <a:noFill/>
                    </a:lnL>
                    <a:lnR>
                      <a:noFill/>
                    </a:lnR>
                    <a:lnT>
                      <a:noFill/>
                    </a:lnT>
                    <a:lnB>
                      <a:noFill/>
                    </a:lnB>
                    <a:solidFill>
                      <a:schemeClr val="accent5">
                        <a:lumMod val="20000"/>
                        <a:lumOff val="80000"/>
                      </a:schemeClr>
                    </a:solidFill>
                  </a:tcPr>
                </a:tc>
                <a:tc>
                  <a:txBody>
                    <a:bodyPr/>
                    <a:p>
                      <a:pPr algn="ctr"/>
                      <a:r>
                        <a:rPr sz="2000"/>
                        <a:t>name, age</a:t>
                      </a:r>
                      <a:endParaRPr sz="2000"/>
                    </a:p>
                  </a:txBody>
                  <a:tcPr marL="0" marR="0" marT="0" marB="0" anchor="ctr" anchorCtr="0">
                    <a:lnL>
                      <a:noFill/>
                    </a:lnL>
                    <a:lnR>
                      <a:noFill/>
                    </a:lnR>
                    <a:lnT>
                      <a:noFill/>
                    </a:lnT>
                    <a:lnB>
                      <a:noFill/>
                    </a:lnB>
                    <a:solidFill>
                      <a:schemeClr val="accent5">
                        <a:lumMod val="20000"/>
                        <a:lumOff val="80000"/>
                      </a:schemeClr>
                    </a:solidFill>
                  </a:tcPr>
                </a:tc>
              </a:tr>
            </a:tbl>
          </a:graphicData>
        </a:graphic>
      </p:graphicFrame>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0" y="635"/>
            <a:ext cx="11353800" cy="494665"/>
          </a:xfrm>
        </p:spPr>
        <p:txBody>
          <a:bodyPr>
            <a:normAutofit fontScale="90000"/>
          </a:bodyPr>
          <a:p>
            <a:pPr algn="ctr"/>
            <a:r>
              <a:rPr lang="en-US" sz="2800" b="1">
                <a:solidFill>
                  <a:srgbClr val="FF0000"/>
                </a:solidFill>
              </a:rPr>
              <a:t>Insertion In MongoDb Collections</a:t>
            </a:r>
            <a:endParaRPr lang="en-US" sz="2800" b="1">
              <a:solidFill>
                <a:srgbClr val="FF0000"/>
              </a:solidFill>
            </a:endParaRPr>
          </a:p>
        </p:txBody>
      </p:sp>
      <p:sp>
        <p:nvSpPr>
          <p:cNvPr id="3" name="Content Placeholder 2"/>
          <p:cNvSpPr>
            <a:spLocks noGrp="1"/>
          </p:cNvSpPr>
          <p:nvPr>
            <p:ph idx="1"/>
          </p:nvPr>
        </p:nvSpPr>
        <p:spPr>
          <a:xfrm>
            <a:off x="156845" y="402590"/>
            <a:ext cx="11817350" cy="6244590"/>
          </a:xfrm>
        </p:spPr>
        <p:txBody>
          <a:bodyPr>
            <a:normAutofit fontScale="75000"/>
          </a:bodyPr>
          <a:p>
            <a:pPr marL="0" indent="0">
              <a:buNone/>
            </a:pPr>
            <a:r>
              <a:rPr lang="en-US" altLang="en-US" b="1"/>
              <a:t>1. insertOne()</a:t>
            </a:r>
            <a:endParaRPr lang="en-US" altLang="en-US" b="1"/>
          </a:p>
          <a:p>
            <a:pPr marL="0" indent="0">
              <a:buNone/>
            </a:pPr>
            <a:r>
              <a:rPr lang="en-US" altLang="en-US"/>
              <a:t>Inserts a single document.</a:t>
            </a:r>
            <a:endParaRPr lang="en-US" altLang="en-US"/>
          </a:p>
          <a:p>
            <a:pPr marL="0" indent="0">
              <a:buNone/>
            </a:pPr>
            <a:r>
              <a:rPr lang="en-US" altLang="en-US"/>
              <a:t>db.users.insertOne({ name: "viren", age: 25 });</a:t>
            </a:r>
            <a:endParaRPr lang="en-US" altLang="en-US"/>
          </a:p>
          <a:p>
            <a:pPr marL="0" indent="0">
              <a:buNone/>
            </a:pPr>
            <a:endParaRPr lang="en-US" altLang="en-US"/>
          </a:p>
          <a:p>
            <a:pPr marL="0" indent="0">
              <a:buNone/>
            </a:pPr>
            <a:r>
              <a:rPr lang="en-US" altLang="en-US"/>
              <a:t>Explanation:</a:t>
            </a:r>
            <a:endParaRPr lang="en-US" altLang="en-US"/>
          </a:p>
          <a:p>
            <a:pPr marL="0" indent="0">
              <a:buNone/>
            </a:pPr>
            <a:r>
              <a:rPr lang="en-US" altLang="en-US"/>
              <a:t>db.users → users collection</a:t>
            </a:r>
            <a:endParaRPr lang="en-US" altLang="en-US"/>
          </a:p>
          <a:p>
            <a:pPr marL="0" indent="0">
              <a:buNone/>
            </a:pPr>
            <a:r>
              <a:rPr lang="en-US" altLang="en-US"/>
              <a:t>{ name: "viren", age: 25 } → the document being inserted</a:t>
            </a:r>
            <a:endParaRPr lang="en-US" altLang="en-US"/>
          </a:p>
          <a:p>
            <a:pPr marL="0" indent="0">
              <a:buNone/>
            </a:pPr>
            <a:endParaRPr lang="en-US" altLang="en-US"/>
          </a:p>
          <a:p>
            <a:pPr marL="0" indent="0">
              <a:buNone/>
            </a:pPr>
            <a:r>
              <a:rPr lang="en-US" altLang="en-US" b="1"/>
              <a:t>2. insertMany()</a:t>
            </a:r>
            <a:endParaRPr lang="en-US" altLang="en-US" b="1"/>
          </a:p>
          <a:p>
            <a:pPr marL="0" indent="0">
              <a:buNone/>
            </a:pPr>
            <a:r>
              <a:rPr lang="en-US" altLang="en-US"/>
              <a:t>Inserts multiple documents at once.</a:t>
            </a:r>
            <a:endParaRPr lang="en-US" altLang="en-US"/>
          </a:p>
          <a:p>
            <a:pPr marL="0" indent="0">
              <a:buNone/>
            </a:pPr>
            <a:r>
              <a:rPr lang="en-US" altLang="en-US"/>
              <a:t>db.users.insertMany([</a:t>
            </a:r>
            <a:endParaRPr lang="en-US" altLang="en-US"/>
          </a:p>
          <a:p>
            <a:pPr marL="0" indent="0">
              <a:buNone/>
            </a:pPr>
            <a:r>
              <a:rPr lang="en-US" altLang="en-US"/>
              <a:t>  { name: "viren", age: 30 },</a:t>
            </a:r>
            <a:endParaRPr lang="en-US" altLang="en-US"/>
          </a:p>
          <a:p>
            <a:pPr marL="0" indent="0">
              <a:buNone/>
            </a:pPr>
            <a:r>
              <a:rPr lang="en-US" altLang="en-US"/>
              <a:t>  { name: "Ravi", age: 28 }</a:t>
            </a:r>
            <a:endParaRPr lang="en-US" altLang="en-US"/>
          </a:p>
          <a:p>
            <a:pPr marL="0" indent="0">
              <a:buNone/>
            </a:pPr>
            <a:r>
              <a:rPr lang="en-US" altLang="en-US"/>
              <a:t>]);</a:t>
            </a:r>
            <a:endParaRPr lang="en-US" alt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353695" y="0"/>
            <a:ext cx="11696065" cy="364490"/>
          </a:xfrm>
        </p:spPr>
        <p:txBody>
          <a:bodyPr>
            <a:noAutofit/>
          </a:bodyPr>
          <a:p>
            <a:pPr algn="ctr"/>
            <a:r>
              <a:rPr lang="en-US" sz="2400" b="1">
                <a:solidFill>
                  <a:srgbClr val="FF0000"/>
                </a:solidFill>
              </a:rPr>
              <a:t>Deleting in MongoDb</a:t>
            </a:r>
            <a:endParaRPr lang="en-US" sz="2400" b="1">
              <a:solidFill>
                <a:srgbClr val="FF0000"/>
              </a:solidFill>
            </a:endParaRPr>
          </a:p>
        </p:txBody>
      </p:sp>
      <p:graphicFrame>
        <p:nvGraphicFramePr>
          <p:cNvPr id="4" name="Table 3"/>
          <p:cNvGraphicFramePr/>
          <p:nvPr>
            <p:custDataLst>
              <p:tags r:id="rId1"/>
            </p:custDataLst>
          </p:nvPr>
        </p:nvGraphicFramePr>
        <p:xfrm>
          <a:off x="-635" y="270510"/>
          <a:ext cx="12051030" cy="1897380"/>
        </p:xfrm>
        <a:graphic>
          <a:graphicData uri="http://schemas.openxmlformats.org/drawingml/2006/table">
            <a:tbl>
              <a:tblPr/>
              <a:tblGrid>
                <a:gridCol w="4017010"/>
                <a:gridCol w="4017010"/>
                <a:gridCol w="4017010"/>
              </a:tblGrid>
              <a:tr h="316230">
                <a:tc>
                  <a:txBody>
                    <a:bodyPr/>
                    <a:p>
                      <a:pPr algn="ctr"/>
                      <a:r>
                        <a:rPr sz="1800" b="1">
                          <a:solidFill>
                            <a:srgbClr val="FF0000"/>
                          </a:solidFill>
                        </a:rPr>
                        <a:t>Method</a:t>
                      </a:r>
                      <a:endParaRPr sz="1800" b="1">
                        <a:solidFill>
                          <a:srgbClr val="FF0000"/>
                        </a:solidFill>
                      </a:endParaRPr>
                    </a:p>
                  </a:txBody>
                  <a:tcPr marL="0" marR="0" marT="0" marB="0" anchor="ctr" anchorCtr="0">
                    <a:lnL>
                      <a:noFill/>
                    </a:lnL>
                    <a:lnR>
                      <a:noFill/>
                    </a:lnR>
                    <a:lnT>
                      <a:noFill/>
                    </a:lnT>
                    <a:lnB>
                      <a:noFill/>
                    </a:lnB>
                    <a:noFill/>
                  </a:tcPr>
                </a:tc>
                <a:tc>
                  <a:txBody>
                    <a:bodyPr/>
                    <a:p>
                      <a:pPr algn="ctr"/>
                      <a:r>
                        <a:rPr sz="1800" b="1">
                          <a:solidFill>
                            <a:srgbClr val="FF0000"/>
                          </a:solidFill>
                        </a:rPr>
                        <a:t>Deletes</a:t>
                      </a:r>
                      <a:endParaRPr sz="1800" b="1">
                        <a:solidFill>
                          <a:srgbClr val="FF0000"/>
                        </a:solidFill>
                      </a:endParaRPr>
                    </a:p>
                  </a:txBody>
                  <a:tcPr marL="0" marR="0" marT="0" marB="0" anchor="ctr" anchorCtr="0">
                    <a:lnL>
                      <a:noFill/>
                    </a:lnL>
                    <a:lnR>
                      <a:noFill/>
                    </a:lnR>
                    <a:lnT>
                      <a:noFill/>
                    </a:lnT>
                    <a:lnB>
                      <a:noFill/>
                    </a:lnB>
                    <a:noFill/>
                  </a:tcPr>
                </a:tc>
                <a:tc>
                  <a:txBody>
                    <a:bodyPr/>
                    <a:p>
                      <a:pPr algn="ctr"/>
                      <a:r>
                        <a:rPr sz="1800" b="1">
                          <a:solidFill>
                            <a:srgbClr val="FF0000"/>
                          </a:solidFill>
                        </a:rPr>
                        <a:t>Notes</a:t>
                      </a:r>
                      <a:endParaRPr sz="1800" b="1">
                        <a:solidFill>
                          <a:srgbClr val="FF0000"/>
                        </a:solidFill>
                      </a:endParaRPr>
                    </a:p>
                  </a:txBody>
                  <a:tcPr marL="0" marR="0" marT="0" marB="0" anchor="ctr" anchorCtr="0">
                    <a:lnL>
                      <a:noFill/>
                    </a:lnL>
                    <a:lnR>
                      <a:noFill/>
                    </a:lnR>
                    <a:lnT>
                      <a:noFill/>
                    </a:lnT>
                    <a:lnB>
                      <a:noFill/>
                    </a:lnB>
                    <a:noFill/>
                  </a:tcPr>
                </a:tc>
              </a:tr>
              <a:tr h="316230">
                <a:tc>
                  <a:txBody>
                    <a:bodyPr/>
                    <a:p>
                      <a:pPr marL="285750" indent="-285750">
                        <a:buFont typeface="Arial" panose="020B0604020202020204" pitchFamily="34" charset="0"/>
                        <a:buChar char="•"/>
                      </a:pPr>
                      <a:r>
                        <a:rPr sz="1800"/>
                        <a:t>deleteOne()</a:t>
                      </a:r>
                      <a:endParaRPr sz="1800"/>
                    </a:p>
                  </a:txBody>
                  <a:tcPr marL="0" marR="0" marT="0" marB="0" anchor="ctr" anchorCtr="0">
                    <a:lnL>
                      <a:noFill/>
                    </a:lnL>
                    <a:lnR>
                      <a:noFill/>
                    </a:lnR>
                    <a:lnT>
                      <a:noFill/>
                    </a:lnT>
                    <a:lnB>
                      <a:noFill/>
                    </a:lnB>
                    <a:noFill/>
                  </a:tcPr>
                </a:tc>
                <a:tc>
                  <a:txBody>
                    <a:bodyPr/>
                    <a:p>
                      <a:r>
                        <a:rPr sz="1800"/>
                        <a:t>1 document</a:t>
                      </a:r>
                      <a:endParaRPr sz="1800"/>
                    </a:p>
                  </a:txBody>
                  <a:tcPr marL="0" marR="0" marT="0" marB="0" anchor="ctr" anchorCtr="0">
                    <a:lnL>
                      <a:noFill/>
                    </a:lnL>
                    <a:lnR>
                      <a:noFill/>
                    </a:lnR>
                    <a:lnT>
                      <a:noFill/>
                    </a:lnT>
                    <a:lnB>
                      <a:noFill/>
                    </a:lnB>
                    <a:noFill/>
                  </a:tcPr>
                </a:tc>
                <a:tc>
                  <a:txBody>
                    <a:bodyPr/>
                    <a:p>
                      <a:r>
                        <a:rPr sz="1800"/>
                        <a:t>First match only</a:t>
                      </a:r>
                      <a:endParaRPr sz="1800"/>
                    </a:p>
                  </a:txBody>
                  <a:tcPr marL="0" marR="0" marT="0" marB="0" anchor="ctr" anchorCtr="0">
                    <a:lnL>
                      <a:noFill/>
                    </a:lnL>
                    <a:lnR>
                      <a:noFill/>
                    </a:lnR>
                    <a:lnT>
                      <a:noFill/>
                    </a:lnT>
                    <a:lnB>
                      <a:noFill/>
                    </a:lnB>
                    <a:noFill/>
                  </a:tcPr>
                </a:tc>
              </a:tr>
              <a:tr h="316230">
                <a:tc>
                  <a:txBody>
                    <a:bodyPr/>
                    <a:p>
                      <a:pPr marL="285750" indent="-285750">
                        <a:buFont typeface="Arial" panose="020B0604020202020204" pitchFamily="34" charset="0"/>
                        <a:buChar char="•"/>
                      </a:pPr>
                      <a:r>
                        <a:rPr sz="1800"/>
                        <a:t>deleteMany()</a:t>
                      </a:r>
                      <a:endParaRPr sz="1800"/>
                    </a:p>
                  </a:txBody>
                  <a:tcPr marL="0" marR="0" marT="0" marB="0" anchor="ctr" anchorCtr="0">
                    <a:lnL>
                      <a:noFill/>
                    </a:lnL>
                    <a:lnR>
                      <a:noFill/>
                    </a:lnR>
                    <a:lnT>
                      <a:noFill/>
                    </a:lnT>
                    <a:lnB>
                      <a:noFill/>
                    </a:lnB>
                    <a:noFill/>
                  </a:tcPr>
                </a:tc>
                <a:tc>
                  <a:txBody>
                    <a:bodyPr/>
                    <a:p>
                      <a:r>
                        <a:rPr sz="1800"/>
                        <a:t>Multiple documents</a:t>
                      </a:r>
                      <a:endParaRPr sz="1800"/>
                    </a:p>
                  </a:txBody>
                  <a:tcPr marL="0" marR="0" marT="0" marB="0" anchor="ctr" anchorCtr="0">
                    <a:lnL>
                      <a:noFill/>
                    </a:lnL>
                    <a:lnR>
                      <a:noFill/>
                    </a:lnR>
                    <a:lnT>
                      <a:noFill/>
                    </a:lnT>
                    <a:lnB>
                      <a:noFill/>
                    </a:lnB>
                    <a:noFill/>
                  </a:tcPr>
                </a:tc>
                <a:tc>
                  <a:txBody>
                    <a:bodyPr/>
                    <a:p>
                      <a:r>
                        <a:rPr sz="1800"/>
                        <a:t>All matches</a:t>
                      </a:r>
                      <a:endParaRPr sz="1800"/>
                    </a:p>
                  </a:txBody>
                  <a:tcPr marL="0" marR="0" marT="0" marB="0" anchor="ctr" anchorCtr="0">
                    <a:lnL>
                      <a:noFill/>
                    </a:lnL>
                    <a:lnR>
                      <a:noFill/>
                    </a:lnR>
                    <a:lnT>
                      <a:noFill/>
                    </a:lnT>
                    <a:lnB>
                      <a:noFill/>
                    </a:lnB>
                    <a:noFill/>
                  </a:tcPr>
                </a:tc>
              </a:tr>
              <a:tr h="316230">
                <a:tc>
                  <a:txBody>
                    <a:bodyPr/>
                    <a:p>
                      <a:pPr marL="285750" indent="-285750">
                        <a:buFont typeface="Arial" panose="020B0604020202020204" pitchFamily="34" charset="0"/>
                        <a:buChar char="•"/>
                      </a:pPr>
                      <a:r>
                        <a:rPr sz="1800"/>
                        <a:t>remove()</a:t>
                      </a:r>
                      <a:endParaRPr sz="1800"/>
                    </a:p>
                  </a:txBody>
                  <a:tcPr marL="0" marR="0" marT="0" marB="0" anchor="ctr" anchorCtr="0">
                    <a:lnL>
                      <a:noFill/>
                    </a:lnL>
                    <a:lnR>
                      <a:noFill/>
                    </a:lnR>
                    <a:lnT>
                      <a:noFill/>
                    </a:lnT>
                    <a:lnB>
                      <a:noFill/>
                    </a:lnB>
                    <a:noFill/>
                  </a:tcPr>
                </a:tc>
                <a:tc>
                  <a:txBody>
                    <a:bodyPr/>
                    <a:p>
                      <a:r>
                        <a:rPr sz="1800"/>
                        <a:t>1 or many</a:t>
                      </a:r>
                      <a:endParaRPr sz="1800"/>
                    </a:p>
                  </a:txBody>
                  <a:tcPr marL="0" marR="0" marT="0" marB="0" anchor="ctr" anchorCtr="0">
                    <a:lnL>
                      <a:noFill/>
                    </a:lnL>
                    <a:lnR>
                      <a:noFill/>
                    </a:lnR>
                    <a:lnT>
                      <a:noFill/>
                    </a:lnT>
                    <a:lnB>
                      <a:noFill/>
                    </a:lnB>
                    <a:noFill/>
                  </a:tcPr>
                </a:tc>
                <a:tc>
                  <a:txBody>
                    <a:bodyPr/>
                    <a:p>
                      <a:r>
                        <a:rPr sz="1800"/>
                        <a:t>Deprecated</a:t>
                      </a:r>
                      <a:endParaRPr sz="1800"/>
                    </a:p>
                  </a:txBody>
                  <a:tcPr marL="0" marR="0" marT="0" marB="0" anchor="ctr" anchorCtr="0">
                    <a:lnL>
                      <a:noFill/>
                    </a:lnL>
                    <a:lnR>
                      <a:noFill/>
                    </a:lnR>
                    <a:lnT>
                      <a:noFill/>
                    </a:lnT>
                    <a:lnB>
                      <a:noFill/>
                    </a:lnB>
                    <a:noFill/>
                  </a:tcPr>
                </a:tc>
              </a:tr>
              <a:tr h="316230">
                <a:tc>
                  <a:txBody>
                    <a:bodyPr/>
                    <a:p>
                      <a:pPr marL="285750" indent="-285750">
                        <a:buFont typeface="Arial" panose="020B0604020202020204" pitchFamily="34" charset="0"/>
                        <a:buChar char="•"/>
                      </a:pPr>
                      <a:r>
                        <a:rPr sz="1800"/>
                        <a:t>drop()</a:t>
                      </a:r>
                      <a:endParaRPr sz="1800"/>
                    </a:p>
                  </a:txBody>
                  <a:tcPr marL="0" marR="0" marT="0" marB="0" anchor="ctr" anchorCtr="0">
                    <a:lnL>
                      <a:noFill/>
                    </a:lnL>
                    <a:lnR>
                      <a:noFill/>
                    </a:lnR>
                    <a:lnT>
                      <a:noFill/>
                    </a:lnT>
                    <a:lnB>
                      <a:noFill/>
                    </a:lnB>
                    <a:noFill/>
                  </a:tcPr>
                </a:tc>
                <a:tc>
                  <a:txBody>
                    <a:bodyPr/>
                    <a:p>
                      <a:r>
                        <a:rPr sz="1800"/>
                        <a:t>Collection</a:t>
                      </a:r>
                      <a:endParaRPr sz="1800"/>
                    </a:p>
                  </a:txBody>
                  <a:tcPr marL="0" marR="0" marT="0" marB="0" anchor="ctr" anchorCtr="0">
                    <a:lnL>
                      <a:noFill/>
                    </a:lnL>
                    <a:lnR>
                      <a:noFill/>
                    </a:lnR>
                    <a:lnT>
                      <a:noFill/>
                    </a:lnT>
                    <a:lnB>
                      <a:noFill/>
                    </a:lnB>
                    <a:noFill/>
                  </a:tcPr>
                </a:tc>
                <a:tc>
                  <a:txBody>
                    <a:bodyPr/>
                    <a:p>
                      <a:r>
                        <a:rPr sz="1800"/>
                        <a:t>Deletes the whole collection</a:t>
                      </a:r>
                      <a:endParaRPr sz="1800"/>
                    </a:p>
                  </a:txBody>
                  <a:tcPr marL="0" marR="0" marT="0" marB="0" anchor="ctr" anchorCtr="0">
                    <a:lnL>
                      <a:noFill/>
                    </a:lnL>
                    <a:lnR>
                      <a:noFill/>
                    </a:lnR>
                    <a:lnT>
                      <a:noFill/>
                    </a:lnT>
                    <a:lnB>
                      <a:noFill/>
                    </a:lnB>
                    <a:noFill/>
                  </a:tcPr>
                </a:tc>
              </a:tr>
              <a:tr h="316230">
                <a:tc>
                  <a:txBody>
                    <a:bodyPr/>
                    <a:p>
                      <a:pPr marL="285750" indent="-285750">
                        <a:buFont typeface="Arial" panose="020B0604020202020204" pitchFamily="34" charset="0"/>
                        <a:buChar char="•"/>
                      </a:pPr>
                      <a:r>
                        <a:rPr sz="1800"/>
                        <a:t>dropDatabase()</a:t>
                      </a:r>
                      <a:endParaRPr sz="1800"/>
                    </a:p>
                  </a:txBody>
                  <a:tcPr marL="0" marR="0" marT="0" marB="0" anchor="ctr" anchorCtr="0">
                    <a:lnL>
                      <a:noFill/>
                    </a:lnL>
                    <a:lnR>
                      <a:noFill/>
                    </a:lnR>
                    <a:lnT>
                      <a:noFill/>
                    </a:lnT>
                    <a:lnB>
                      <a:noFill/>
                    </a:lnB>
                    <a:noFill/>
                  </a:tcPr>
                </a:tc>
                <a:tc>
                  <a:txBody>
                    <a:bodyPr/>
                    <a:p>
                      <a:r>
                        <a:rPr sz="1800"/>
                        <a:t>Database</a:t>
                      </a:r>
                      <a:endParaRPr sz="1800"/>
                    </a:p>
                  </a:txBody>
                  <a:tcPr marL="0" marR="0" marT="0" marB="0" anchor="ctr" anchorCtr="0">
                    <a:lnL>
                      <a:noFill/>
                    </a:lnL>
                    <a:lnR>
                      <a:noFill/>
                    </a:lnR>
                    <a:lnT>
                      <a:noFill/>
                    </a:lnT>
                    <a:lnB>
                      <a:noFill/>
                    </a:lnB>
                    <a:noFill/>
                  </a:tcPr>
                </a:tc>
                <a:tc>
                  <a:txBody>
                    <a:bodyPr/>
                    <a:p>
                      <a:r>
                        <a:rPr sz="1800"/>
                        <a:t>Deletes the entire database</a:t>
                      </a:r>
                      <a:endParaRPr sz="1800"/>
                    </a:p>
                  </a:txBody>
                  <a:tcPr marL="0" marR="0" marT="0" marB="0" anchor="ctr" anchorCtr="0">
                    <a:lnL>
                      <a:noFill/>
                    </a:lnL>
                    <a:lnR>
                      <a:noFill/>
                    </a:lnR>
                    <a:lnT>
                      <a:noFill/>
                    </a:lnT>
                    <a:lnB>
                      <a:noFill/>
                    </a:lnB>
                    <a:noFill/>
                  </a:tcPr>
                </a:tc>
              </a:tr>
            </a:tbl>
          </a:graphicData>
        </a:graphic>
      </p:graphicFrame>
      <p:sp>
        <p:nvSpPr>
          <p:cNvPr id="5" name="Text Box 4"/>
          <p:cNvSpPr txBox="1"/>
          <p:nvPr/>
        </p:nvSpPr>
        <p:spPr>
          <a:xfrm>
            <a:off x="0" y="2268220"/>
            <a:ext cx="5956935" cy="2242820"/>
          </a:xfrm>
          <a:prstGeom prst="rect">
            <a:avLst/>
          </a:prstGeom>
          <a:solidFill>
            <a:schemeClr val="accent2">
              <a:lumMod val="40000"/>
              <a:lumOff val="60000"/>
            </a:schemeClr>
          </a:solidFill>
        </p:spPr>
        <p:txBody>
          <a:bodyPr wrap="square">
            <a:noAutofit/>
          </a:bodyPr>
          <a:p>
            <a:pPr>
              <a:spcAft>
                <a:spcPct val="60000"/>
              </a:spcAft>
            </a:pPr>
            <a:r>
              <a:rPr lang="en-US" b="1"/>
              <a:t>1.</a:t>
            </a:r>
            <a:r>
              <a:rPr b="1"/>
              <a:t>deleteOne()</a:t>
            </a:r>
            <a:endParaRPr b="1"/>
          </a:p>
          <a:p>
            <a:pPr>
              <a:buFont typeface="Arial" panose="020B0604020202020204"/>
              <a:buChar char="•"/>
            </a:pPr>
            <a:r>
              <a:t>Deletes a single document that matches a filter.</a:t>
            </a:r>
          </a:p>
          <a:p>
            <a:r>
              <a:t>db.users.deleteOne({ name: "</a:t>
            </a:r>
            <a:r>
              <a:rPr lang="en-US"/>
              <a:t>viren</a:t>
            </a:r>
            <a:r>
              <a:t>" });
Explanation:</a:t>
            </a:r>
          </a:p>
          <a:p>
            <a:r>
              <a:t>Finds the first document where name is "</a:t>
            </a:r>
            <a:r>
              <a:rPr lang="en-US"/>
              <a:t>viren</a:t>
            </a:r>
            <a:r>
              <a:t>" and deletes it.</a:t>
            </a:r>
          </a:p>
          <a:p>
            <a:pPr>
              <a:buFont typeface="Arial" panose="020B0604020202020204"/>
              <a:buChar char="•"/>
            </a:pPr>
            <a:r>
              <a:t>Only one document is deleted, even if multiple match.</a:t>
            </a:r>
          </a:p>
        </p:txBody>
      </p:sp>
      <p:sp>
        <p:nvSpPr>
          <p:cNvPr id="6" name="Text Box 5"/>
          <p:cNvSpPr txBox="1"/>
          <p:nvPr/>
        </p:nvSpPr>
        <p:spPr>
          <a:xfrm>
            <a:off x="6455410" y="2268220"/>
            <a:ext cx="5737225" cy="2232660"/>
          </a:xfrm>
          <a:prstGeom prst="rect">
            <a:avLst/>
          </a:prstGeom>
          <a:solidFill>
            <a:schemeClr val="accent2">
              <a:lumMod val="40000"/>
              <a:lumOff val="60000"/>
            </a:schemeClr>
          </a:solidFill>
        </p:spPr>
        <p:txBody>
          <a:bodyPr wrap="square">
            <a:spAutoFit/>
          </a:bodyPr>
          <a:p>
            <a:pPr>
              <a:spcAft>
                <a:spcPct val="60000"/>
              </a:spcAft>
            </a:pPr>
            <a:r>
              <a:rPr b="1"/>
              <a:t>2️deleteMany()</a:t>
            </a:r>
            <a:endParaRPr b="1"/>
          </a:p>
          <a:p>
            <a:pPr>
              <a:buFont typeface="Arial" panose="020B0604020202020204"/>
              <a:buChar char="•"/>
            </a:pPr>
            <a:r>
              <a:t>Deletes all documents that match a filter.</a:t>
            </a:r>
          </a:p>
          <a:p>
            <a:r>
              <a:t>db.users.deleteMany({ age: { $gt: 30 } });
Explanation:</a:t>
            </a:r>
          </a:p>
          <a:p>
            <a:r>
              <a:t>Deletes all users with age greater than 30.</a:t>
            </a:r>
          </a:p>
          <a:p>
            <a:pPr>
              <a:buFont typeface="Arial" panose="020B0604020202020204"/>
              <a:buChar char="•"/>
            </a:pPr>
            <a:r>
              <a:t>Useful when you want to remove multiple documents at once.</a:t>
            </a:r>
          </a:p>
        </p:txBody>
      </p:sp>
      <p:sp>
        <p:nvSpPr>
          <p:cNvPr id="7" name="Text Box 6"/>
          <p:cNvSpPr txBox="1"/>
          <p:nvPr/>
        </p:nvSpPr>
        <p:spPr>
          <a:xfrm>
            <a:off x="635" y="4698365"/>
            <a:ext cx="5956300" cy="2047240"/>
          </a:xfrm>
          <a:prstGeom prst="rect">
            <a:avLst/>
          </a:prstGeom>
          <a:solidFill>
            <a:schemeClr val="accent2">
              <a:lumMod val="40000"/>
              <a:lumOff val="60000"/>
            </a:schemeClr>
          </a:solidFill>
        </p:spPr>
        <p:txBody>
          <a:bodyPr>
            <a:noAutofit/>
          </a:bodyPr>
          <a:p>
            <a:pPr>
              <a:spcAft>
                <a:spcPct val="60000"/>
              </a:spcAft>
            </a:pPr>
            <a:r>
              <a:rPr lang="en-US" b="1"/>
              <a:t>4.</a:t>
            </a:r>
            <a:r>
              <a:rPr b="1"/>
              <a:t> drop()</a:t>
            </a:r>
            <a:endParaRPr b="1"/>
          </a:p>
          <a:p>
            <a:pPr>
              <a:spcAft>
                <a:spcPct val="60000"/>
              </a:spcAft>
            </a:pPr>
            <a:r>
              <a:t>Deletes the entire collection, including all documents.</a:t>
            </a:r>
          </a:p>
          <a:p>
            <a:r>
              <a:t>db.users.drop();
Use carefully: all data in the collection is gone.</a:t>
            </a:r>
          </a:p>
        </p:txBody>
      </p:sp>
      <p:sp>
        <p:nvSpPr>
          <p:cNvPr id="8" name="Text Box 7"/>
          <p:cNvSpPr txBox="1"/>
          <p:nvPr/>
        </p:nvSpPr>
        <p:spPr>
          <a:xfrm>
            <a:off x="6456045" y="4698365"/>
            <a:ext cx="5594350" cy="2046605"/>
          </a:xfrm>
          <a:prstGeom prst="rect">
            <a:avLst/>
          </a:prstGeom>
          <a:solidFill>
            <a:schemeClr val="accent2">
              <a:lumMod val="40000"/>
              <a:lumOff val="60000"/>
            </a:schemeClr>
          </a:solidFill>
        </p:spPr>
        <p:txBody>
          <a:bodyPr wrap="square">
            <a:noAutofit/>
          </a:bodyPr>
          <a:p>
            <a:pPr>
              <a:spcAft>
                <a:spcPct val="60000"/>
              </a:spcAft>
            </a:pPr>
            <a:r>
              <a:rPr b="1"/>
              <a:t>5</a:t>
            </a:r>
            <a:r>
              <a:rPr lang="en-US" b="1"/>
              <a:t>.</a:t>
            </a:r>
            <a:r>
              <a:rPr b="1"/>
              <a:t> dropDatabase()</a:t>
            </a:r>
            <a:endParaRPr b="1"/>
          </a:p>
          <a:p>
            <a:pPr>
              <a:spcAft>
                <a:spcPct val="60000"/>
              </a:spcAft>
            </a:pPr>
            <a:r>
              <a:t>Deletes the entire database and all its collections.</a:t>
            </a:r>
          </a:p>
          <a:p>
            <a:r>
              <a:t>db.dropDatabase();
Very destructive! Removes everything in the current database.</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309245" y="0"/>
            <a:ext cx="11740515" cy="389890"/>
          </a:xfrm>
        </p:spPr>
        <p:txBody>
          <a:bodyPr>
            <a:noAutofit/>
          </a:bodyPr>
          <a:p>
            <a:pPr algn="ctr"/>
            <a:r>
              <a:rPr lang="en-US" sz="2400" b="1">
                <a:solidFill>
                  <a:srgbClr val="FF0000"/>
                </a:solidFill>
              </a:rPr>
              <a:t>Update in Mongo Db</a:t>
            </a:r>
            <a:endParaRPr lang="en-US" sz="2400" b="1">
              <a:solidFill>
                <a:srgbClr val="FF0000"/>
              </a:solidFill>
            </a:endParaRPr>
          </a:p>
        </p:txBody>
      </p:sp>
      <p:sp>
        <p:nvSpPr>
          <p:cNvPr id="4" name="Text Box 3"/>
          <p:cNvSpPr txBox="1"/>
          <p:nvPr/>
        </p:nvSpPr>
        <p:spPr>
          <a:xfrm>
            <a:off x="0" y="389890"/>
            <a:ext cx="5629275" cy="2989580"/>
          </a:xfrm>
          <a:prstGeom prst="rect">
            <a:avLst/>
          </a:prstGeom>
          <a:solidFill>
            <a:schemeClr val="accent2">
              <a:lumMod val="20000"/>
              <a:lumOff val="80000"/>
            </a:schemeClr>
          </a:solidFill>
        </p:spPr>
        <p:txBody>
          <a:bodyPr wrap="square">
            <a:spAutoFit/>
          </a:bodyPr>
          <a:p>
            <a:pPr>
              <a:spcAft>
                <a:spcPct val="60000"/>
              </a:spcAft>
            </a:pPr>
            <a:r>
              <a:rPr b="1"/>
              <a:t>1</a:t>
            </a:r>
            <a:r>
              <a:rPr lang="en-US" b="1"/>
              <a:t>.</a:t>
            </a:r>
            <a:r>
              <a:rPr b="1"/>
              <a:t> updateOne()</a:t>
            </a:r>
            <a:endParaRPr b="1"/>
          </a:p>
          <a:p>
            <a:pPr>
              <a:spcAft>
                <a:spcPct val="60000"/>
              </a:spcAft>
            </a:pPr>
            <a:r>
              <a:t>Updates the first document that matches a filter.</a:t>
            </a:r>
          </a:p>
          <a:p>
            <a:r>
              <a:t>db.users.updateOne(
  { name: "</a:t>
            </a:r>
            <a:r>
              <a:rPr lang="en-US"/>
              <a:t>viren</a:t>
            </a:r>
            <a:r>
              <a:t>" },       // Filter: find the document
  { $set: { age: 26 } }    // Update: change age to 26
);
Explanation:</a:t>
            </a:r>
          </a:p>
          <a:p>
            <a:r>
              <a:t>$set updates only the fields you specify.</a:t>
            </a:r>
          </a:p>
          <a:p>
            <a:pPr>
              <a:buFont typeface="Arial" panose="020B0604020202020204"/>
              <a:buChar char="•"/>
            </a:pPr>
            <a:r>
              <a:t>Only the first matching document is updated.</a:t>
            </a:r>
          </a:p>
        </p:txBody>
      </p:sp>
      <p:sp>
        <p:nvSpPr>
          <p:cNvPr id="5" name="Text Box 4"/>
          <p:cNvSpPr txBox="1"/>
          <p:nvPr/>
        </p:nvSpPr>
        <p:spPr>
          <a:xfrm>
            <a:off x="5847080" y="439420"/>
            <a:ext cx="6344285" cy="2989580"/>
          </a:xfrm>
          <a:prstGeom prst="rect">
            <a:avLst/>
          </a:prstGeom>
          <a:solidFill>
            <a:schemeClr val="accent2">
              <a:lumMod val="20000"/>
              <a:lumOff val="80000"/>
            </a:schemeClr>
          </a:solidFill>
        </p:spPr>
        <p:txBody>
          <a:bodyPr wrap="square">
            <a:spAutoFit/>
          </a:bodyPr>
          <a:p>
            <a:pPr>
              <a:spcAft>
                <a:spcPct val="60000"/>
              </a:spcAft>
            </a:pPr>
            <a:r>
              <a:rPr b="1"/>
              <a:t>2</a:t>
            </a:r>
            <a:r>
              <a:rPr lang="en-US" b="1"/>
              <a:t>.</a:t>
            </a:r>
            <a:r>
              <a:rPr b="1"/>
              <a:t> updateMany()</a:t>
            </a:r>
            <a:endParaRPr b="1"/>
          </a:p>
          <a:p>
            <a:pPr>
              <a:spcAft>
                <a:spcPct val="60000"/>
              </a:spcAft>
            </a:pPr>
            <a:r>
              <a:t>Updates all documents that match a filter.</a:t>
            </a:r>
          </a:p>
          <a:p>
            <a:r>
              <a:t>db.users.updateMany(
  { age: { $lt: 30 } },    // Filter: all users under 30
  { $inc: { age: 1 } }     // Update: increase age by 1
);
Explanation:</a:t>
            </a:r>
          </a:p>
          <a:p>
            <a:r>
              <a:t>$inc increments numeric fields.</a:t>
            </a:r>
          </a:p>
          <a:p>
            <a:pPr>
              <a:buFont typeface="Arial" panose="020B0604020202020204"/>
              <a:buChar char="•"/>
            </a:pPr>
            <a:r>
              <a:t>All documents that match { age: { $lt: 30 } } are updated.</a:t>
            </a:r>
          </a:p>
        </p:txBody>
      </p:sp>
      <p:sp>
        <p:nvSpPr>
          <p:cNvPr id="6" name="Text Box 5"/>
          <p:cNvSpPr txBox="1"/>
          <p:nvPr/>
        </p:nvSpPr>
        <p:spPr>
          <a:xfrm>
            <a:off x="-218440" y="3547745"/>
            <a:ext cx="5600700" cy="3207385"/>
          </a:xfrm>
          <a:prstGeom prst="rect">
            <a:avLst/>
          </a:prstGeom>
          <a:solidFill>
            <a:schemeClr val="accent2">
              <a:lumMod val="20000"/>
              <a:lumOff val="80000"/>
            </a:schemeClr>
          </a:solidFill>
        </p:spPr>
        <p:txBody>
          <a:bodyPr wrap="square">
            <a:noAutofit/>
          </a:bodyPr>
          <a:p>
            <a:pPr>
              <a:spcAft>
                <a:spcPct val="60000"/>
              </a:spcAft>
            </a:pPr>
            <a:r>
              <a:rPr b="1"/>
              <a:t>3</a:t>
            </a:r>
            <a:r>
              <a:rPr lang="en-US" b="1"/>
              <a:t>.</a:t>
            </a:r>
            <a:r>
              <a:rPr b="1"/>
              <a:t> replaceOne()</a:t>
            </a:r>
            <a:endParaRPr b="1"/>
          </a:p>
          <a:p>
            <a:pPr>
              <a:spcAft>
                <a:spcPct val="60000"/>
              </a:spcAft>
            </a:pPr>
            <a:r>
              <a:t>Replaces the entire document with a new one.</a:t>
            </a:r>
          </a:p>
          <a:p>
            <a:r>
              <a:t>db.users.replaceOne(
  { name: "</a:t>
            </a:r>
            <a:r>
              <a:rPr lang="en-US"/>
              <a:t>viren</a:t>
            </a:r>
            <a:r>
              <a:t>" }, 
  { name: "</a:t>
            </a:r>
            <a:r>
              <a:rPr lang="en-US"/>
              <a:t>pratik</a:t>
            </a:r>
            <a:r>
              <a:t>", age: 32, email: "</a:t>
            </a:r>
            <a:r>
              <a:rPr lang="en-US"/>
              <a:t>pratik</a:t>
            </a:r>
            <a:r>
              <a:t>@example.com" }
);
Explanation:</a:t>
            </a:r>
          </a:p>
          <a:p>
            <a:r>
              <a:t>The original document is completely replaced.</a:t>
            </a:r>
          </a:p>
          <a:p>
            <a:pPr>
              <a:buFont typeface="Arial" panose="020B0604020202020204"/>
              <a:buChar char="•"/>
            </a:pPr>
            <a:r>
              <a:t>Only the document matching the filter is replaced.</a:t>
            </a:r>
          </a:p>
        </p:txBody>
      </p:sp>
      <p:graphicFrame>
        <p:nvGraphicFramePr>
          <p:cNvPr id="7" name="Table 6"/>
          <p:cNvGraphicFramePr/>
          <p:nvPr>
            <p:custDataLst>
              <p:tags r:id="rId1"/>
            </p:custDataLst>
          </p:nvPr>
        </p:nvGraphicFramePr>
        <p:xfrm>
          <a:off x="5381625" y="3605530"/>
          <a:ext cx="6810375" cy="3271520"/>
        </p:xfrm>
        <a:graphic>
          <a:graphicData uri="http://schemas.openxmlformats.org/drawingml/2006/table">
            <a:tbl>
              <a:tblPr/>
              <a:tblGrid>
                <a:gridCol w="1073785"/>
                <a:gridCol w="2932430"/>
                <a:gridCol w="2804160"/>
              </a:tblGrid>
              <a:tr h="609600">
                <a:tc>
                  <a:txBody>
                    <a:bodyPr/>
                    <a:p>
                      <a:pPr algn="ctr"/>
                      <a:r>
                        <a:rPr sz="2000" b="1">
                          <a:solidFill>
                            <a:srgbClr val="FF0000"/>
                          </a:solidFill>
                        </a:rPr>
                        <a:t>Operator</a:t>
                      </a:r>
                      <a:endParaRPr sz="2000" b="1">
                        <a:solidFill>
                          <a:srgbClr val="FF0000"/>
                        </a:solidFill>
                      </a:endParaRPr>
                    </a:p>
                  </a:txBody>
                  <a:tcPr marL="0" marR="0" marT="0" marB="0" anchor="ctr" anchorCtr="0">
                    <a:lnL>
                      <a:noFill/>
                    </a:lnL>
                    <a:lnR>
                      <a:noFill/>
                    </a:lnR>
                    <a:lnT>
                      <a:noFill/>
                    </a:lnT>
                    <a:lnB>
                      <a:noFill/>
                    </a:lnB>
                    <a:solidFill>
                      <a:schemeClr val="accent2">
                        <a:lumMod val="20000"/>
                        <a:lumOff val="80000"/>
                      </a:schemeClr>
                    </a:solidFill>
                  </a:tcPr>
                </a:tc>
                <a:tc>
                  <a:txBody>
                    <a:bodyPr/>
                    <a:p>
                      <a:pPr algn="ctr"/>
                      <a:r>
                        <a:rPr sz="2000" b="1">
                          <a:solidFill>
                            <a:srgbClr val="FF0000"/>
                          </a:solidFill>
                        </a:rPr>
                        <a:t>What it does</a:t>
                      </a:r>
                      <a:endParaRPr sz="2000" b="1">
                        <a:solidFill>
                          <a:srgbClr val="FF0000"/>
                        </a:solidFill>
                      </a:endParaRPr>
                    </a:p>
                  </a:txBody>
                  <a:tcPr marL="0" marR="0" marT="0" marB="0" anchor="ctr" anchorCtr="0">
                    <a:lnL>
                      <a:noFill/>
                    </a:lnL>
                    <a:lnR>
                      <a:noFill/>
                    </a:lnR>
                    <a:lnT>
                      <a:noFill/>
                    </a:lnT>
                    <a:lnB>
                      <a:noFill/>
                    </a:lnB>
                    <a:solidFill>
                      <a:schemeClr val="accent2">
                        <a:lumMod val="20000"/>
                        <a:lumOff val="80000"/>
                      </a:schemeClr>
                    </a:solidFill>
                  </a:tcPr>
                </a:tc>
                <a:tc>
                  <a:txBody>
                    <a:bodyPr/>
                    <a:p>
                      <a:pPr algn="ctr"/>
                      <a:r>
                        <a:rPr sz="2000" b="1">
                          <a:solidFill>
                            <a:srgbClr val="FF0000"/>
                          </a:solidFill>
                        </a:rPr>
                        <a:t>Example</a:t>
                      </a:r>
                      <a:endParaRPr sz="2000" b="1">
                        <a:solidFill>
                          <a:srgbClr val="FF0000"/>
                        </a:solidFill>
                      </a:endParaRPr>
                    </a:p>
                  </a:txBody>
                  <a:tcPr marL="0" marR="0" marT="0" marB="0" anchor="ctr" anchorCtr="0">
                    <a:lnL>
                      <a:noFill/>
                    </a:lnL>
                    <a:lnR>
                      <a:noFill/>
                    </a:lnR>
                    <a:lnT>
                      <a:noFill/>
                    </a:lnT>
                    <a:lnB>
                      <a:noFill/>
                    </a:lnB>
                    <a:solidFill>
                      <a:schemeClr val="accent2">
                        <a:lumMod val="20000"/>
                        <a:lumOff val="80000"/>
                      </a:schemeClr>
                    </a:solidFill>
                  </a:tcPr>
                </a:tc>
              </a:tr>
              <a:tr h="489585">
                <a:tc>
                  <a:txBody>
                    <a:bodyPr/>
                    <a:p>
                      <a:r>
                        <a:rPr sz="1800"/>
                        <a:t>$set</a:t>
                      </a:r>
                      <a:endParaRPr sz="1800"/>
                    </a:p>
                  </a:txBody>
                  <a:tcPr marL="0" marR="0" marT="0" marB="0" anchor="ctr" anchorCtr="0">
                    <a:lnL>
                      <a:noFill/>
                    </a:lnL>
                    <a:lnR>
                      <a:noFill/>
                    </a:lnR>
                    <a:lnT>
                      <a:noFill/>
                    </a:lnT>
                    <a:lnB>
                      <a:noFill/>
                    </a:lnB>
                    <a:solidFill>
                      <a:schemeClr val="accent2">
                        <a:lumMod val="20000"/>
                        <a:lumOff val="80000"/>
                      </a:schemeClr>
                    </a:solidFill>
                  </a:tcPr>
                </a:tc>
                <a:tc>
                  <a:txBody>
                    <a:bodyPr/>
                    <a:p>
                      <a:r>
                        <a:rPr sz="1800"/>
                        <a:t>Sets a field to a value</a:t>
                      </a:r>
                      <a:endParaRPr sz="1800"/>
                    </a:p>
                  </a:txBody>
                  <a:tcPr marL="0" marR="0" marT="0" marB="0" anchor="ctr" anchorCtr="0">
                    <a:lnL>
                      <a:noFill/>
                    </a:lnL>
                    <a:lnR>
                      <a:noFill/>
                    </a:lnR>
                    <a:lnT>
                      <a:noFill/>
                    </a:lnT>
                    <a:lnB>
                      <a:noFill/>
                    </a:lnB>
                    <a:solidFill>
                      <a:schemeClr val="accent2">
                        <a:lumMod val="20000"/>
                        <a:lumOff val="80000"/>
                      </a:schemeClr>
                    </a:solidFill>
                  </a:tcPr>
                </a:tc>
                <a:tc>
                  <a:txBody>
                    <a:bodyPr/>
                    <a:p>
                      <a:r>
                        <a:rPr sz="1800"/>
                        <a:t>{ $set: { age: 26 } }</a:t>
                      </a:r>
                      <a:endParaRPr sz="1800"/>
                    </a:p>
                  </a:txBody>
                  <a:tcPr marL="0" marR="0" marT="0" marB="0" anchor="ctr" anchorCtr="0">
                    <a:lnL>
                      <a:noFill/>
                    </a:lnL>
                    <a:lnR>
                      <a:noFill/>
                    </a:lnR>
                    <a:lnT>
                      <a:noFill/>
                    </a:lnT>
                    <a:lnB>
                      <a:noFill/>
                    </a:lnB>
                    <a:solidFill>
                      <a:schemeClr val="accent2">
                        <a:lumMod val="20000"/>
                        <a:lumOff val="80000"/>
                      </a:schemeClr>
                    </a:solidFill>
                  </a:tcPr>
                </a:tc>
              </a:tr>
              <a:tr h="531495">
                <a:tc>
                  <a:txBody>
                    <a:bodyPr/>
                    <a:p>
                      <a:r>
                        <a:rPr sz="1800"/>
                        <a:t>$inc</a:t>
                      </a:r>
                      <a:endParaRPr sz="1800"/>
                    </a:p>
                  </a:txBody>
                  <a:tcPr marL="0" marR="0" marT="0" marB="0" anchor="ctr" anchorCtr="0">
                    <a:lnL>
                      <a:noFill/>
                    </a:lnL>
                    <a:lnR>
                      <a:noFill/>
                    </a:lnR>
                    <a:lnT>
                      <a:noFill/>
                    </a:lnT>
                    <a:lnB>
                      <a:noFill/>
                    </a:lnB>
                    <a:solidFill>
                      <a:schemeClr val="accent2">
                        <a:lumMod val="20000"/>
                        <a:lumOff val="80000"/>
                      </a:schemeClr>
                    </a:solidFill>
                  </a:tcPr>
                </a:tc>
                <a:tc>
                  <a:txBody>
                    <a:bodyPr/>
                    <a:p>
                      <a:r>
                        <a:rPr sz="1800"/>
                        <a:t>Increments a numeric field</a:t>
                      </a:r>
                      <a:endParaRPr sz="1800"/>
                    </a:p>
                  </a:txBody>
                  <a:tcPr marL="0" marR="0" marT="0" marB="0" anchor="ctr" anchorCtr="0">
                    <a:lnL>
                      <a:noFill/>
                    </a:lnL>
                    <a:lnR>
                      <a:noFill/>
                    </a:lnR>
                    <a:lnT>
                      <a:noFill/>
                    </a:lnT>
                    <a:lnB>
                      <a:noFill/>
                    </a:lnB>
                    <a:solidFill>
                      <a:schemeClr val="accent2">
                        <a:lumMod val="20000"/>
                        <a:lumOff val="80000"/>
                      </a:schemeClr>
                    </a:solidFill>
                  </a:tcPr>
                </a:tc>
                <a:tc>
                  <a:txBody>
                    <a:bodyPr/>
                    <a:p>
                      <a:r>
                        <a:rPr sz="1800"/>
                        <a:t>{ $inc: { age: 1 } }</a:t>
                      </a:r>
                      <a:endParaRPr sz="1800"/>
                    </a:p>
                  </a:txBody>
                  <a:tcPr marL="0" marR="0" marT="0" marB="0" anchor="ctr" anchorCtr="0">
                    <a:lnL>
                      <a:noFill/>
                    </a:lnL>
                    <a:lnR>
                      <a:noFill/>
                    </a:lnR>
                    <a:lnT>
                      <a:noFill/>
                    </a:lnT>
                    <a:lnB>
                      <a:noFill/>
                    </a:lnB>
                    <a:solidFill>
                      <a:schemeClr val="accent2">
                        <a:lumMod val="20000"/>
                        <a:lumOff val="80000"/>
                      </a:schemeClr>
                    </a:solidFill>
                  </a:tcPr>
                </a:tc>
              </a:tr>
              <a:tr h="487680">
                <a:tc>
                  <a:txBody>
                    <a:bodyPr/>
                    <a:p>
                      <a:r>
                        <a:rPr sz="1800"/>
                        <a:t>$unset</a:t>
                      </a:r>
                      <a:endParaRPr sz="1800"/>
                    </a:p>
                  </a:txBody>
                  <a:tcPr marL="0" marR="0" marT="0" marB="0" anchor="ctr" anchorCtr="0">
                    <a:lnL>
                      <a:noFill/>
                    </a:lnL>
                    <a:lnR>
                      <a:noFill/>
                    </a:lnR>
                    <a:lnT>
                      <a:noFill/>
                    </a:lnT>
                    <a:lnB>
                      <a:noFill/>
                    </a:lnB>
                    <a:solidFill>
                      <a:schemeClr val="accent2">
                        <a:lumMod val="20000"/>
                        <a:lumOff val="80000"/>
                      </a:schemeClr>
                    </a:solidFill>
                  </a:tcPr>
                </a:tc>
                <a:tc>
                  <a:txBody>
                    <a:bodyPr/>
                    <a:p>
                      <a:r>
                        <a:rPr sz="1800"/>
                        <a:t>Removes a field</a:t>
                      </a:r>
                      <a:endParaRPr sz="1800"/>
                    </a:p>
                  </a:txBody>
                  <a:tcPr marL="0" marR="0" marT="0" marB="0" anchor="ctr" anchorCtr="0">
                    <a:lnL>
                      <a:noFill/>
                    </a:lnL>
                    <a:lnR>
                      <a:noFill/>
                    </a:lnR>
                    <a:lnT>
                      <a:noFill/>
                    </a:lnT>
                    <a:lnB>
                      <a:noFill/>
                    </a:lnB>
                    <a:solidFill>
                      <a:schemeClr val="accent2">
                        <a:lumMod val="20000"/>
                        <a:lumOff val="80000"/>
                      </a:schemeClr>
                    </a:solidFill>
                  </a:tcPr>
                </a:tc>
                <a:tc>
                  <a:txBody>
                    <a:bodyPr/>
                    <a:p>
                      <a:r>
                        <a:rPr sz="1800"/>
                        <a:t>{ $unset: { email: "" } }</a:t>
                      </a:r>
                      <a:endParaRPr sz="1800"/>
                    </a:p>
                  </a:txBody>
                  <a:tcPr marL="0" marR="0" marT="0" marB="0" anchor="ctr" anchorCtr="0">
                    <a:lnL>
                      <a:noFill/>
                    </a:lnL>
                    <a:lnR>
                      <a:noFill/>
                    </a:lnR>
                    <a:lnT>
                      <a:noFill/>
                    </a:lnT>
                    <a:lnB>
                      <a:noFill/>
                    </a:lnB>
                    <a:solidFill>
                      <a:schemeClr val="accent2">
                        <a:lumMod val="20000"/>
                        <a:lumOff val="80000"/>
                      </a:schemeClr>
                    </a:solidFill>
                  </a:tcPr>
                </a:tc>
              </a:tr>
              <a:tr h="576580">
                <a:tc>
                  <a:txBody>
                    <a:bodyPr/>
                    <a:p>
                      <a:r>
                        <a:rPr sz="1800"/>
                        <a:t>$push</a:t>
                      </a:r>
                      <a:endParaRPr sz="1800"/>
                    </a:p>
                  </a:txBody>
                  <a:tcPr marL="0" marR="0" marT="0" marB="0" anchor="ctr" anchorCtr="0">
                    <a:lnL>
                      <a:noFill/>
                    </a:lnL>
                    <a:lnR>
                      <a:noFill/>
                    </a:lnR>
                    <a:lnT>
                      <a:noFill/>
                    </a:lnT>
                    <a:lnB>
                      <a:noFill/>
                    </a:lnB>
                    <a:solidFill>
                      <a:schemeClr val="accent2">
                        <a:lumMod val="20000"/>
                        <a:lumOff val="80000"/>
                      </a:schemeClr>
                    </a:solidFill>
                  </a:tcPr>
                </a:tc>
                <a:tc>
                  <a:txBody>
                    <a:bodyPr/>
                    <a:p>
                      <a:r>
                        <a:rPr sz="1800"/>
                        <a:t>Adds a value to an array</a:t>
                      </a:r>
                      <a:endParaRPr sz="1800"/>
                    </a:p>
                  </a:txBody>
                  <a:tcPr marL="0" marR="0" marT="0" marB="0" anchor="ctr" anchorCtr="0">
                    <a:lnL>
                      <a:noFill/>
                    </a:lnL>
                    <a:lnR>
                      <a:noFill/>
                    </a:lnR>
                    <a:lnT>
                      <a:noFill/>
                    </a:lnT>
                    <a:lnB>
                      <a:noFill/>
                    </a:lnB>
                    <a:solidFill>
                      <a:schemeClr val="accent2">
                        <a:lumMod val="20000"/>
                        <a:lumOff val="80000"/>
                      </a:schemeClr>
                    </a:solidFill>
                  </a:tcPr>
                </a:tc>
                <a:tc>
                  <a:txBody>
                    <a:bodyPr/>
                    <a:p>
                      <a:r>
                        <a:rPr sz="1800"/>
                        <a:t>{ $push: { hobbies: "swim" }}</a:t>
                      </a:r>
                      <a:endParaRPr sz="1800"/>
                    </a:p>
                  </a:txBody>
                  <a:tcPr marL="0" marR="0" marT="0" marB="0" anchor="ctr" anchorCtr="0">
                    <a:lnL>
                      <a:noFill/>
                    </a:lnL>
                    <a:lnR>
                      <a:noFill/>
                    </a:lnR>
                    <a:lnT>
                      <a:noFill/>
                    </a:lnT>
                    <a:lnB>
                      <a:noFill/>
                    </a:lnB>
                    <a:solidFill>
                      <a:schemeClr val="accent2">
                        <a:lumMod val="20000"/>
                        <a:lumOff val="80000"/>
                      </a:schemeClr>
                    </a:solidFill>
                  </a:tcPr>
                </a:tc>
              </a:tr>
              <a:tr h="576580">
                <a:tc>
                  <a:txBody>
                    <a:bodyPr/>
                    <a:p>
                      <a:r>
                        <a:rPr sz="1800"/>
                        <a:t>$addToSet</a:t>
                      </a:r>
                      <a:endParaRPr sz="1800"/>
                    </a:p>
                  </a:txBody>
                  <a:tcPr marL="0" marR="0" marT="0" marB="0" anchor="ctr" anchorCtr="0">
                    <a:lnL>
                      <a:noFill/>
                    </a:lnL>
                    <a:lnR>
                      <a:noFill/>
                    </a:lnR>
                    <a:lnT>
                      <a:noFill/>
                    </a:lnT>
                    <a:lnB>
                      <a:noFill/>
                    </a:lnB>
                    <a:solidFill>
                      <a:schemeClr val="accent2">
                        <a:lumMod val="20000"/>
                        <a:lumOff val="80000"/>
                      </a:schemeClr>
                    </a:solidFill>
                  </a:tcPr>
                </a:tc>
                <a:tc>
                  <a:txBody>
                    <a:bodyPr/>
                    <a:p>
                      <a:r>
                        <a:rPr sz="1800"/>
                        <a:t>Adds to array only if not exists</a:t>
                      </a:r>
                      <a:endParaRPr sz="1800"/>
                    </a:p>
                  </a:txBody>
                  <a:tcPr marL="0" marR="0" marT="0" marB="0" anchor="ctr" anchorCtr="0">
                    <a:lnL>
                      <a:noFill/>
                    </a:lnL>
                    <a:lnR>
                      <a:noFill/>
                    </a:lnR>
                    <a:lnT>
                      <a:noFill/>
                    </a:lnT>
                    <a:lnB>
                      <a:noFill/>
                    </a:lnB>
                    <a:solidFill>
                      <a:schemeClr val="accent2">
                        <a:lumMod val="20000"/>
                        <a:lumOff val="80000"/>
                      </a:schemeClr>
                    </a:solidFill>
                  </a:tcPr>
                </a:tc>
                <a:tc>
                  <a:txBody>
                    <a:bodyPr/>
                    <a:p>
                      <a:r>
                        <a:rPr sz="1800"/>
                        <a:t>{ $addToSet: { tags: "new" }}</a:t>
                      </a:r>
                      <a:endParaRPr sz="1800"/>
                    </a:p>
                  </a:txBody>
                  <a:tcPr marL="0" marR="0" marT="0" marB="0" anchor="ctr" anchorCtr="0">
                    <a:lnL>
                      <a:noFill/>
                    </a:lnL>
                    <a:lnR>
                      <a:noFill/>
                    </a:lnR>
                    <a:lnT>
                      <a:noFill/>
                    </a:lnT>
                    <a:lnB>
                      <a:noFill/>
                    </a:lnB>
                    <a:solidFill>
                      <a:schemeClr val="accent2">
                        <a:lumMod val="20000"/>
                        <a:lumOff val="80000"/>
                      </a:schemeClr>
                    </a:solidFill>
                  </a:tcPr>
                </a:tc>
              </a:tr>
            </a:tbl>
          </a:graphicData>
        </a:graphic>
      </p:graphicFrame>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233045" y="-635"/>
            <a:ext cx="11741150" cy="346710"/>
          </a:xfrm>
        </p:spPr>
        <p:txBody>
          <a:bodyPr>
            <a:noAutofit/>
          </a:bodyPr>
          <a:p>
            <a:pPr algn="ctr"/>
            <a:r>
              <a:rPr lang="en-US" sz="2000" b="1">
                <a:solidFill>
                  <a:srgbClr val="FF0000"/>
                </a:solidFill>
              </a:rPr>
              <a:t>Fetching And Finding /Reading Record From Db</a:t>
            </a:r>
            <a:endParaRPr lang="en-US" sz="2000" b="1">
              <a:solidFill>
                <a:srgbClr val="FF0000"/>
              </a:solidFill>
            </a:endParaRPr>
          </a:p>
        </p:txBody>
      </p:sp>
      <p:sp>
        <p:nvSpPr>
          <p:cNvPr id="4" name="Text Box 3"/>
          <p:cNvSpPr txBox="1"/>
          <p:nvPr/>
        </p:nvSpPr>
        <p:spPr>
          <a:xfrm>
            <a:off x="0" y="330835"/>
            <a:ext cx="5827395" cy="3285490"/>
          </a:xfrm>
          <a:prstGeom prst="rect">
            <a:avLst/>
          </a:prstGeom>
        </p:spPr>
        <p:txBody>
          <a:bodyPr>
            <a:noAutofit/>
          </a:bodyPr>
          <a:p>
            <a:pPr>
              <a:spcAft>
                <a:spcPct val="60000"/>
              </a:spcAft>
            </a:pPr>
            <a:r>
              <a:rPr sz="2400" b="1"/>
              <a:t>1</a:t>
            </a:r>
            <a:r>
              <a:rPr lang="en-US" sz="2400" b="1"/>
              <a:t>.</a:t>
            </a:r>
            <a:r>
              <a:rPr sz="2400" b="1"/>
              <a:t>find()</a:t>
            </a:r>
            <a:r>
              <a:rPr lang="en-US" sz="2400" b="1"/>
              <a:t>  </a:t>
            </a:r>
            <a:r>
              <a:t>Retrieves all documents that match a filter (or all documents if no filter).</a:t>
            </a:r>
          </a:p>
          <a:p>
            <a:pPr>
              <a:buFont typeface="Arial" panose="020B0604020202020204"/>
              <a:buChar char="•"/>
            </a:pPr>
            <a:r>
              <a:t>Returns a cursor, which you can iterate or convert to an array.</a:t>
            </a:r>
          </a:p>
          <a:p>
            <a:r>
              <a:t>// Get all documents
db.users.find();
// Get documents matching a filter
db.users.find({ age: { $gt: 25 } });
Optional: Convert to an array to see all at once:</a:t>
            </a:r>
          </a:p>
          <a:p>
            <a:r>
              <a:t>db.users.find({ age: { $gt: 25 } }).toArray();</a:t>
            </a:r>
          </a:p>
        </p:txBody>
      </p:sp>
      <p:sp>
        <p:nvSpPr>
          <p:cNvPr id="5" name="Text Box 4"/>
          <p:cNvSpPr txBox="1"/>
          <p:nvPr/>
        </p:nvSpPr>
        <p:spPr>
          <a:xfrm>
            <a:off x="7071995" y="346075"/>
            <a:ext cx="4902835" cy="2712720"/>
          </a:xfrm>
          <a:prstGeom prst="rect">
            <a:avLst/>
          </a:prstGeom>
        </p:spPr>
        <p:txBody>
          <a:bodyPr wrap="square">
            <a:spAutoFit/>
          </a:bodyPr>
          <a:p>
            <a:pPr>
              <a:spcAft>
                <a:spcPct val="60000"/>
              </a:spcAft>
            </a:pPr>
            <a:r>
              <a:rPr b="1"/>
              <a:t>2</a:t>
            </a:r>
            <a:r>
              <a:rPr lang="en-US" b="1"/>
              <a:t>.</a:t>
            </a:r>
            <a:r>
              <a:rPr b="1"/>
              <a:t> findOne()</a:t>
            </a:r>
            <a:endParaRPr b="1"/>
          </a:p>
          <a:p>
            <a:pPr>
              <a:spcAft>
                <a:spcPct val="60000"/>
              </a:spcAft>
            </a:pPr>
            <a:r>
              <a:t>Retrieves the first document that matches a filter.</a:t>
            </a:r>
          </a:p>
          <a:p>
            <a:pPr>
              <a:buFont typeface="Arial" panose="020B0604020202020204"/>
              <a:buChar char="•"/>
            </a:pPr>
            <a:r>
              <a:t>Returns a single document (not a cursor).</a:t>
            </a:r>
          </a:p>
          <a:p>
            <a:r>
              <a:t>db.users.findOne({ name: "</a:t>
            </a:r>
            <a:r>
              <a:rPr lang="en-US"/>
              <a:t>viren</a:t>
            </a:r>
            <a:r>
              <a:t>" });
Explanation:</a:t>
            </a:r>
          </a:p>
          <a:p>
            <a:r>
              <a:t>Finds only the first match.</a:t>
            </a:r>
          </a:p>
          <a:p>
            <a:pPr>
              <a:buFont typeface="Arial" panose="020B0604020202020204"/>
              <a:buChar char="•"/>
            </a:pPr>
          </a:p>
          <a:p>
            <a:pPr>
              <a:buFont typeface="Arial" panose="020B0604020202020204"/>
              <a:buChar char="•"/>
            </a:pPr>
            <a:r>
              <a:t>Useful if you know there’s only one document.</a:t>
            </a:r>
          </a:p>
        </p:txBody>
      </p:sp>
      <p:sp>
        <p:nvSpPr>
          <p:cNvPr id="6" name="Text Box 5"/>
          <p:cNvSpPr txBox="1"/>
          <p:nvPr/>
        </p:nvSpPr>
        <p:spPr>
          <a:xfrm>
            <a:off x="89535" y="3429000"/>
            <a:ext cx="4833620" cy="2199640"/>
          </a:xfrm>
          <a:prstGeom prst="rect">
            <a:avLst/>
          </a:prstGeom>
        </p:spPr>
        <p:txBody>
          <a:bodyPr wrap="square">
            <a:noAutofit/>
          </a:bodyPr>
          <a:p>
            <a:pPr>
              <a:spcAft>
                <a:spcPct val="60000"/>
              </a:spcAft>
            </a:pPr>
            <a:r>
              <a:rPr sz="2300" b="1"/>
              <a:t>3</a:t>
            </a:r>
            <a:r>
              <a:rPr lang="en-US" sz="2300" b="1"/>
              <a:t>.</a:t>
            </a:r>
            <a:r>
              <a:rPr sz="2300" b="1"/>
              <a:t>Projections</a:t>
            </a:r>
            <a:endParaRPr sz="2300" b="1"/>
          </a:p>
          <a:p>
            <a:pPr>
              <a:spcAft>
                <a:spcPct val="60000"/>
              </a:spcAft>
            </a:pPr>
            <a:r>
              <a:rPr sz="1600"/>
              <a:t>You can select which fields to return using projection:</a:t>
            </a:r>
            <a:endParaRPr sz="1600"/>
          </a:p>
          <a:p>
            <a:r>
              <a:rPr sz="1600"/>
              <a:t>db.users.find(
  { age: { $gt: 25 } },   // Filter
  { name: 1, age: 1, _id: 0 }  // Projection: include name &amp; age, exclude _id
);</a:t>
            </a:r>
            <a:endParaRPr sz="1600"/>
          </a:p>
        </p:txBody>
      </p:sp>
      <p:sp>
        <p:nvSpPr>
          <p:cNvPr id="7" name="Text Box 6"/>
          <p:cNvSpPr txBox="1"/>
          <p:nvPr/>
        </p:nvSpPr>
        <p:spPr>
          <a:xfrm>
            <a:off x="15240" y="5628640"/>
            <a:ext cx="5080000" cy="1376680"/>
          </a:xfrm>
          <a:prstGeom prst="rect">
            <a:avLst/>
          </a:prstGeom>
        </p:spPr>
        <p:txBody>
          <a:bodyPr>
            <a:spAutoFit/>
          </a:bodyPr>
          <a:p>
            <a:pPr>
              <a:spcAft>
                <a:spcPct val="60000"/>
              </a:spcAft>
            </a:pPr>
            <a:r>
              <a:rPr sz="2300" b="1"/>
              <a:t>4</a:t>
            </a:r>
            <a:r>
              <a:rPr lang="en-US" sz="2300" b="1"/>
              <a:t>.c</a:t>
            </a:r>
            <a:r>
              <a:rPr sz="2300" b="1"/>
              <a:t>ountDocuments()</a:t>
            </a:r>
            <a:endParaRPr sz="2300" b="1"/>
          </a:p>
          <a:p>
            <a:pPr>
              <a:spcAft>
                <a:spcPct val="60000"/>
              </a:spcAft>
            </a:pPr>
            <a:r>
              <a:rPr sz="1600"/>
              <a:t>Returns how many documents match a filter:</a:t>
            </a:r>
            <a:endParaRPr sz="1600"/>
          </a:p>
          <a:p>
            <a:r>
              <a:rPr sz="1600"/>
              <a:t>db.users.countDocuments({ age</a:t>
            </a:r>
            <a:r>
              <a:rPr lang="en-US" sz="1600"/>
              <a:t>s</a:t>
            </a:r>
            <a:r>
              <a:rPr sz="1600"/>
              <a:t>: { $gt: 25 } });</a:t>
            </a:r>
            <a:endParaRPr sz="1600"/>
          </a:p>
        </p:txBody>
      </p:sp>
      <p:sp>
        <p:nvSpPr>
          <p:cNvPr id="8" name="Text Box 7"/>
          <p:cNvSpPr txBox="1"/>
          <p:nvPr/>
        </p:nvSpPr>
        <p:spPr>
          <a:xfrm>
            <a:off x="4704715" y="3058795"/>
            <a:ext cx="7486650" cy="2241550"/>
          </a:xfrm>
          <a:prstGeom prst="rect">
            <a:avLst/>
          </a:prstGeom>
        </p:spPr>
        <p:txBody>
          <a:bodyPr wrap="square">
            <a:noAutofit/>
          </a:bodyPr>
          <a:p>
            <a:pPr>
              <a:spcAft>
                <a:spcPct val="60000"/>
              </a:spcAft>
            </a:pPr>
            <a:r>
              <a:rPr b="1"/>
              <a:t>6</a:t>
            </a:r>
            <a:r>
              <a:rPr lang="en-US" b="1"/>
              <a:t>.</a:t>
            </a:r>
            <a:r>
              <a:rPr b="1"/>
              <a:t> findOneAndUpdate(), findOneAndDelete(), findOneAndReplace()</a:t>
            </a:r>
            <a:endParaRPr b="1"/>
          </a:p>
          <a:p>
            <a:pPr>
              <a:buFont typeface="Arial" panose="020B0604020202020204"/>
              <a:buChar char="•"/>
            </a:pPr>
            <a:r>
              <a:t>Read and modify or delete a document at the same time.</a:t>
            </a:r>
          </a:p>
          <a:p>
            <a:pPr>
              <a:buFont typeface="Arial" panose="020B0604020202020204"/>
              <a:buChar char="•"/>
            </a:pPr>
            <a:r>
              <a:t>Already explained findOneAndDelete(). Example for update:</a:t>
            </a:r>
          </a:p>
          <a:p>
            <a:r>
              <a:t>db.users.findOneAndUpdate(
  { name: "Alice" },
  { $set: { age: 27 } },
  { returnDocument: "after" }  // returns the updated document</a:t>
            </a:r>
            <a:r>
              <a:rPr lang="en-US"/>
              <a:t>  </a:t>
            </a:r>
            <a:r>
              <a:t>);</a:t>
            </a:r>
          </a:p>
        </p:txBody>
      </p:sp>
      <p:sp>
        <p:nvSpPr>
          <p:cNvPr id="9" name="Text Box 8"/>
          <p:cNvSpPr txBox="1"/>
          <p:nvPr/>
        </p:nvSpPr>
        <p:spPr>
          <a:xfrm>
            <a:off x="4923155" y="5300345"/>
            <a:ext cx="6096000" cy="1117600"/>
          </a:xfrm>
          <a:prstGeom prst="rect">
            <a:avLst/>
          </a:prstGeom>
          <a:noFill/>
        </p:spPr>
        <p:txBody>
          <a:bodyPr wrap="square" rtlCol="0" anchor="t">
            <a:spAutoFit/>
          </a:bodyPr>
          <a:p>
            <a:r>
              <a:rPr sz="2300" b="1">
                <a:sym typeface="+mn-ea"/>
              </a:rPr>
              <a:t>5</a:t>
            </a:r>
            <a:r>
              <a:rPr lang="en-US" sz="2300" b="1">
                <a:sym typeface="+mn-ea"/>
              </a:rPr>
              <a:t>.</a:t>
            </a:r>
            <a:r>
              <a:rPr sz="2300" b="1">
                <a:sym typeface="+mn-ea"/>
              </a:rPr>
              <a:t> distinct()</a:t>
            </a:r>
            <a:endParaRPr sz="2300" b="1"/>
          </a:p>
          <a:p>
            <a:pPr>
              <a:spcAft>
                <a:spcPct val="60000"/>
              </a:spcAft>
            </a:pPr>
            <a:r>
              <a:rPr sz="1600">
                <a:sym typeface="+mn-ea"/>
              </a:rPr>
              <a:t>Returns unique values for a field:</a:t>
            </a:r>
            <a:endParaRPr sz="1600"/>
          </a:p>
          <a:p>
            <a:r>
              <a:rPr sz="1600">
                <a:sym typeface="+mn-ea"/>
              </a:rPr>
              <a:t>db.users.distinct("age");</a:t>
            </a:r>
            <a:endParaRPr lang="en-US" sz="1600">
              <a:sym typeface="+mn-ea"/>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endParaRPr lang="en-US"/>
          </a:p>
        </p:txBody>
      </p:sp>
      <p:sp>
        <p:nvSpPr>
          <p:cNvPr id="3" name="Content Placeholder 2"/>
          <p:cNvSpPr>
            <a:spLocks noGrp="1"/>
          </p:cNvSpPr>
          <p:nvPr>
            <p:ph idx="1"/>
          </p:nvPr>
        </p:nvSpPr>
        <p:spPr/>
        <p:txBody>
          <a:bodyPr>
            <a:normAutofit lnSpcReduction="20000"/>
          </a:bodyPr>
          <a:p>
            <a:r>
              <a:rPr lang="en-US" altLang="en-US"/>
              <a:t>db.users.updateOne(</a:t>
            </a:r>
            <a:endParaRPr lang="en-US" altLang="en-US"/>
          </a:p>
          <a:p>
            <a:r>
              <a:rPr lang="en-US" altLang="en-US"/>
              <a:t>  { id: 101 },</a:t>
            </a:r>
            <a:endParaRPr lang="en-US" altLang="en-US"/>
          </a:p>
          <a:p>
            <a:r>
              <a:rPr lang="en-US" altLang="en-US"/>
              <a:t>  {</a:t>
            </a:r>
            <a:endParaRPr lang="en-US" altLang="en-US"/>
          </a:p>
          <a:p>
            <a:r>
              <a:rPr lang="en-US" altLang="en-US"/>
              <a:t>    $set: {</a:t>
            </a:r>
            <a:endParaRPr lang="en-US" altLang="en-US"/>
          </a:p>
          <a:p>
            <a:r>
              <a:rPr lang="en-US" altLang="en-US"/>
              <a:t>      name: "viren",</a:t>
            </a:r>
            <a:endParaRPr lang="en-US" altLang="en-US"/>
          </a:p>
          <a:p>
            <a:r>
              <a:rPr lang="en-US" altLang="en-US"/>
              <a:t>      age: 30,</a:t>
            </a:r>
            <a:endParaRPr lang="en-US" altLang="en-US"/>
          </a:p>
          <a:p>
            <a:r>
              <a:rPr lang="en-US" altLang="en-US"/>
              <a:t>      status: "active"</a:t>
            </a:r>
            <a:endParaRPr lang="en-US" altLang="en-US"/>
          </a:p>
          <a:p>
            <a:r>
              <a:rPr lang="en-US" altLang="en-US"/>
              <a:t>    }</a:t>
            </a:r>
            <a:endParaRPr lang="en-US" altLang="en-US"/>
          </a:p>
          <a:p>
            <a:r>
              <a:rPr lang="en-US" altLang="en-US"/>
              <a:t>  }</a:t>
            </a:r>
            <a:endParaRPr lang="en-US" altLang="en-US"/>
          </a:p>
          <a:p>
            <a:r>
              <a:rPr lang="en-US" altLang="en-US"/>
              <a:t>);</a:t>
            </a:r>
            <a:endParaRPr lang="en-US" altLang="en-US"/>
          </a:p>
          <a:p>
            <a:endParaRPr lang="en-US" alt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endParaRPr lang="en-US"/>
          </a:p>
        </p:txBody>
      </p:sp>
      <p:sp>
        <p:nvSpPr>
          <p:cNvPr id="3" name="Content Placeholder 2"/>
          <p:cNvSpPr>
            <a:spLocks noGrp="1"/>
          </p:cNvSpPr>
          <p:nvPr>
            <p:ph idx="1"/>
          </p:nvPr>
        </p:nvSpPr>
        <p:spPr/>
        <p:txBody>
          <a:bodyPr/>
          <a:p>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168275" y="2952115"/>
            <a:ext cx="11910695" cy="1244600"/>
          </a:xfrm>
        </p:spPr>
        <p:txBody>
          <a:bodyPr/>
          <a:p>
            <a:pPr algn="ctr"/>
            <a:r>
              <a:rPr lang="en-US" sz="3200" b="1">
                <a:solidFill>
                  <a:srgbClr val="FF0000"/>
                </a:solidFill>
              </a:rPr>
              <a:t>MONGODB END</a:t>
            </a:r>
            <a:endParaRPr lang="en-US" sz="3200" b="1">
              <a:solidFill>
                <a:srgbClr val="FF0000"/>
              </a:solidFill>
            </a:endParaRPr>
          </a:p>
        </p:txBody>
      </p:sp>
    </p:spTree>
  </p:cSld>
  <p:clrMapOvr>
    <a:masterClrMapping/>
  </p:clrMapOvr>
</p:sld>
</file>

<file path=ppt/tags/tag1.xml><?xml version="1.0" encoding="utf-8"?>
<p:tagLst xmlns:p="http://schemas.openxmlformats.org/presentationml/2006/main">
  <p:tag name="TABLE_ENDDRAG_ORIGIN_RECT" val="943*327"/>
  <p:tag name="TABLE_ENDDRAG_RECT" val="8*44*943*327"/>
</p:tagLst>
</file>

<file path=ppt/tags/tag2.xml><?xml version="1.0" encoding="utf-8"?>
<p:tagLst xmlns:p="http://schemas.openxmlformats.org/presentationml/2006/main">
  <p:tag name="TABLE_ENDDRAG_ORIGIN_RECT" val="947*196"/>
  <p:tag name="TABLE_ENDDRAG_RECT" val="0*24*947*196"/>
</p:tagLst>
</file>

<file path=ppt/tags/tag3.xml><?xml version="1.0" encoding="utf-8"?>
<p:tagLst xmlns:p="http://schemas.openxmlformats.org/presentationml/2006/main">
  <p:tag name="TABLE_ENDDRAG_ORIGIN_RECT" val="936*268"/>
  <p:tag name="TABLE_ENDDRAG_RECT" val="0*255*936*268"/>
</p:tagLst>
</file>

<file path=ppt/tags/tag4.xml><?xml version="1.0" encoding="utf-8"?>
<p:tagLst xmlns:p="http://schemas.openxmlformats.org/presentationml/2006/main">
  <p:tag name="TABLE_ENDDRAG_ORIGIN_RECT" val="940*286"/>
  <p:tag name="TABLE_ENDDRAG_RECT" val="9*28*940*286"/>
</p:tagLst>
</file>

<file path=ppt/tags/tag5.xml><?xml version="1.0" encoding="utf-8"?>
<p:tagLst xmlns:p="http://schemas.openxmlformats.org/presentationml/2006/main">
  <p:tag name="TABLE_ENDDRAG_ORIGIN_RECT" val="466*251"/>
  <p:tag name="TABLE_ENDDRAG_RECT" val="497*245*466*251"/>
</p:tagLst>
</file>

<file path=ppt/tags/tag6.xml><?xml version="1.0" encoding="utf-8"?>
<p:tagLst xmlns:p="http://schemas.openxmlformats.org/presentationml/2006/main">
  <p:tag name="TABLE_ENDDRAG_ORIGIN_RECT" val="948*149"/>
  <p:tag name="TABLE_ENDDRAG_RECT" val="0*21*948*149"/>
</p:tagLst>
</file>

<file path=ppt/tags/tag7.xml><?xml version="1.0" encoding="utf-8"?>
<p:tagLst xmlns:p="http://schemas.openxmlformats.org/presentationml/2006/main">
  <p:tag name="TABLE_ENDDRAG_ORIGIN_RECT" val="536*257"/>
  <p:tag name="TABLE_ENDDRAG_RECT" val="423*283*536*257"/>
</p:tagLst>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12200</Words>
  <Application>WPS Presentation</Application>
  <PresentationFormat>Widescreen</PresentationFormat>
  <Paragraphs>661</Paragraphs>
  <Slides>16</Slides>
  <Notes>0</Notes>
  <HiddenSlides>0</HiddenSlides>
  <MMClips>0</MMClips>
  <ScaleCrop>false</ScaleCrop>
  <HeadingPairs>
    <vt:vector size="6" baseType="variant">
      <vt:variant>
        <vt:lpstr>已用的字体</vt:lpstr>
      </vt:variant>
      <vt:variant>
        <vt:i4>8</vt:i4>
      </vt:variant>
      <vt:variant>
        <vt:lpstr>主题</vt:lpstr>
      </vt:variant>
      <vt:variant>
        <vt:i4>1</vt:i4>
      </vt:variant>
      <vt:variant>
        <vt:lpstr>幻灯片标题</vt:lpstr>
      </vt:variant>
      <vt:variant>
        <vt:i4>16</vt:i4>
      </vt:variant>
    </vt:vector>
  </HeadingPairs>
  <TitlesOfParts>
    <vt:vector size="25" baseType="lpstr">
      <vt:lpstr>Arial</vt:lpstr>
      <vt:lpstr>SimSun</vt:lpstr>
      <vt:lpstr>Wingdings</vt:lpstr>
      <vt:lpstr>Arial</vt:lpstr>
      <vt:lpstr>Calibri Light</vt:lpstr>
      <vt:lpstr>Calibri</vt:lpstr>
      <vt:lpstr>Microsoft YaHei</vt:lpstr>
      <vt:lpstr>Arial Unicode MS</vt:lpstr>
      <vt:lpstr>Office Theme</vt:lpstr>
      <vt:lpstr>MongoDb</vt:lpstr>
      <vt:lpstr>Advantages and DisAdvantages of Mongodb</vt:lpstr>
      <vt:lpstr>Difference Between SQL AND NO SQL</vt:lpstr>
      <vt:lpstr>MongoDb Features</vt:lpstr>
      <vt:lpstr>Installation OF MongoDB</vt:lpstr>
      <vt:lpstr>MongoDb Methods</vt:lpstr>
      <vt:lpstr>MongoDb Operators</vt:lpstr>
      <vt:lpstr>Datatypes of  MongoDb Database</vt:lpstr>
      <vt:lpstr>What is Database , Collection, Documents in Mongodb</vt:lpstr>
      <vt:lpstr>Insertion In MongoDb Collections</vt:lpstr>
      <vt:lpstr>Deleting in MongoDb</vt:lpstr>
      <vt:lpstr>Update in Mongo Db</vt:lpstr>
      <vt:lpstr>Fetching And Finding /Reading Record From Db</vt:lpstr>
      <vt:lpstr>PowerPoint 演示文稿</vt:lpstr>
      <vt:lpstr>PowerPoint 演示文稿</vt:lpstr>
      <vt:lpstr>MONGODB END</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WPS Presentation</dc:title>
  <dc:creator>UV-user</dc:creator>
  <cp:lastModifiedBy>Nishank Amte</cp:lastModifiedBy>
  <cp:revision>130</cp:revision>
  <dcterms:created xsi:type="dcterms:W3CDTF">2025-07-23T00:59:00Z</dcterms:created>
  <dcterms:modified xsi:type="dcterms:W3CDTF">2026-02-01T11:06:28Z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37D9AAF8A0F64A8FA6A13E9FD1215D91_11</vt:lpwstr>
  </property>
  <property fmtid="{D5CDD505-2E9C-101B-9397-08002B2CF9AE}" pid="3" name="KSOProductBuildVer">
    <vt:lpwstr>1033-12.2.0.23196</vt:lpwstr>
  </property>
</Properties>
</file>