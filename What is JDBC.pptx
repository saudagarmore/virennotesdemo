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8" r:id="rId4"/>
    <p:sldId id="257" r:id="rId5"/>
    <p:sldId id="296" r:id="rId6"/>
    <p:sldId id="277" r:id="rId7"/>
    <p:sldId id="279" r:id="rId8"/>
    <p:sldId id="280" r:id="rId9"/>
    <p:sldId id="281" r:id="rId10"/>
    <p:sldId id="283" r:id="rId11"/>
    <p:sldId id="259" r:id="rId12"/>
    <p:sldId id="297" r:id="rId13"/>
    <p:sldId id="271" r:id="rId14"/>
    <p:sldId id="260" r:id="rId15"/>
    <p:sldId id="267" r:id="rId16"/>
    <p:sldId id="276" r:id="rId17"/>
    <p:sldId id="262" r:id="rId18"/>
    <p:sldId id="263" r:id="rId19"/>
    <p:sldId id="264" r:id="rId20"/>
    <p:sldId id="265" r:id="rId21"/>
    <p:sldId id="272" r:id="rId22"/>
    <p:sldId id="273" r:id="rId23"/>
    <p:sldId id="285" r:id="rId24"/>
    <p:sldId id="266" r:id="rId25"/>
    <p:sldId id="274" r:id="rId26"/>
    <p:sldId id="275" r:id="rId27"/>
    <p:sldId id="268" r:id="rId28"/>
    <p:sldId id="269" r:id="rId29"/>
    <p:sldId id="286" r:id="rId30"/>
    <p:sldId id="287" r:id="rId31"/>
    <p:sldId id="288" r:id="rId32"/>
    <p:sldId id="284" r:id="rId33"/>
    <p:sldId id="289" r:id="rId34"/>
    <p:sldId id="293" r:id="rId35"/>
    <p:sldId id="29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4445" y="-635"/>
            <a:ext cx="9144000" cy="311150"/>
          </a:xfrm>
        </p:spPr>
        <p:txBody>
          <a:bodyPr>
            <a:noAutofit/>
          </a:bodyPr>
          <a:p>
            <a:r>
              <a:rPr lang="en-US" altLang="en-US" sz="2400" b="1">
                <a:solidFill>
                  <a:srgbClr val="FF0000"/>
                </a:solidFill>
                <a:sym typeface="+mn-ea"/>
              </a:rPr>
              <a:t>What is JDBC?</a:t>
            </a:r>
            <a:endParaRPr lang="en-US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635" y="227965"/>
            <a:ext cx="12031980" cy="6520815"/>
          </a:xfrm>
        </p:spPr>
        <p:txBody>
          <a:bodyPr>
            <a:noAutofit/>
          </a:bodyPr>
          <a:p>
            <a:pPr algn="l"/>
            <a:r>
              <a:rPr lang="en-US" altLang="en-US" sz="1800"/>
              <a:t>JDBC (Java Database Connectivity) is an API (Application Programming Interface) provided by Java to connect and interact with relational databases like MySQL, Oracle, PostgreSQL, etc.</a:t>
            </a:r>
            <a:endParaRPr lang="en-US" altLang="en-US" sz="1800"/>
          </a:p>
          <a:p>
            <a:pPr algn="l"/>
            <a:r>
              <a:rPr lang="en-US" altLang="en-US" sz="1800" b="1"/>
              <a:t> Why JDBC?</a:t>
            </a:r>
            <a:endParaRPr lang="en-US" altLang="en-US" sz="1800" b="1"/>
          </a:p>
          <a:p>
            <a:pPr algn="l"/>
            <a:r>
              <a:rPr lang="en-US" altLang="en-US" sz="1800"/>
              <a:t>JDBC is used for:</a:t>
            </a:r>
            <a:endParaRPr lang="en-US" altLang="en-US" sz="1800"/>
          </a:p>
          <a:p>
            <a:pPr marL="342900" indent="-342900" algn="l">
              <a:buAutoNum type="arabicPeriod"/>
            </a:pPr>
            <a:r>
              <a:rPr lang="en-US" altLang="en-US" sz="1800"/>
              <a:t>Connecting Java applications to databases   and Sending SQL queries (SELECT, INSERT, UPDATE, DELETE)</a:t>
            </a:r>
            <a:endParaRPr lang="en-US" altLang="en-US" sz="1800"/>
          </a:p>
          <a:p>
            <a:pPr marL="342900" indent="-342900" algn="l">
              <a:buAutoNum type="arabicPeriod"/>
            </a:pPr>
            <a:r>
              <a:rPr lang="en-US" altLang="en-US" sz="1800"/>
              <a:t>Retrieving and processing results from the database</a:t>
            </a:r>
            <a:endParaRPr lang="en-US" altLang="en-US" sz="1800"/>
          </a:p>
          <a:p>
            <a:pPr marL="342900" indent="-342900" algn="l">
              <a:buAutoNum type="arabicPeriod"/>
            </a:pPr>
            <a:r>
              <a:rPr lang="en-US" altLang="en-US" sz="1800"/>
              <a:t>It allows Java applications to perform database operations in a platform-independent way.</a:t>
            </a:r>
            <a:endParaRPr lang="en-US" altLang="en-US" sz="1800"/>
          </a:p>
          <a:p>
            <a:pPr marL="342900" indent="-342900" algn="l">
              <a:buAutoNum type="arabicPeriod"/>
            </a:pPr>
            <a:r>
              <a:rPr lang="en-US" altLang="en-US" sz="1800"/>
              <a:t>Call Stored Procedure In Java Application with different database</a:t>
            </a:r>
            <a:endParaRPr lang="en-US" altLang="en-US" sz="1800"/>
          </a:p>
          <a:p>
            <a:pPr algn="l"/>
            <a:r>
              <a:rPr lang="en-US" altLang="en-US" sz="1800" b="1"/>
              <a:t> How many ways to connect Java to MySQL?</a:t>
            </a:r>
            <a:endParaRPr lang="en-US" altLang="en-US" sz="1800" b="1"/>
          </a:p>
          <a:p>
            <a:pPr algn="l"/>
            <a:r>
              <a:rPr lang="en-US" altLang="en-US" sz="1800"/>
              <a:t>There are primarily two ways to connect Java to MySQL:</a:t>
            </a:r>
            <a:endParaRPr lang="en-US" altLang="en-US" sz="1800"/>
          </a:p>
          <a:p>
            <a:pPr marL="342900" indent="-342900" algn="l">
              <a:buAutoNum type="arabicPeriod"/>
            </a:pPr>
            <a:r>
              <a:rPr lang="en-US" altLang="en-US" sz="1800"/>
              <a:t>Using JDBC API with DriverManager (Standard way)</a:t>
            </a:r>
            <a:endParaRPr lang="en-US" altLang="en-US" sz="1800"/>
          </a:p>
          <a:p>
            <a:pPr marL="342900" indent="-342900" algn="l">
              <a:buAutoNum type="arabicPeriod"/>
            </a:pPr>
            <a:r>
              <a:rPr lang="en-US" altLang="en-US" sz="1800"/>
              <a:t>Using DataSource (Advanced, used in connection pooling, enterprise apps) hibernate ,spring </a:t>
            </a:r>
            <a:endParaRPr lang="en-US" altLang="en-US" sz="1800"/>
          </a:p>
          <a:p>
            <a:pPr algn="l"/>
            <a:r>
              <a:rPr lang="en-US" altLang="en-US" sz="1800" b="1"/>
              <a:t>Key Features of JDBC</a:t>
            </a:r>
            <a:endParaRPr lang="en-US" altLang="en-US" sz="1800" b="1"/>
          </a:p>
          <a:p>
            <a:pPr algn="l"/>
            <a:r>
              <a:rPr lang="en-US" altLang="en-US" sz="1800" b="1"/>
              <a:t>Connection management</a:t>
            </a:r>
            <a:r>
              <a:rPr lang="en-US" altLang="en-US" sz="1800"/>
              <a:t>: Establish and close database connections.</a:t>
            </a:r>
            <a:endParaRPr lang="en-US" altLang="en-US" sz="1800"/>
          </a:p>
          <a:p>
            <a:pPr algn="l"/>
            <a:r>
              <a:rPr lang="en-US" altLang="en-US" sz="1800" b="1"/>
              <a:t>Statement execution: </a:t>
            </a:r>
            <a:r>
              <a:rPr lang="en-US" altLang="en-US" sz="1800"/>
              <a:t>Execute SQL queries using Statement or PreparedStatement.</a:t>
            </a:r>
            <a:endParaRPr lang="en-US" altLang="en-US" sz="1800"/>
          </a:p>
          <a:p>
            <a:pPr algn="l"/>
            <a:r>
              <a:rPr lang="en-US" altLang="en-US" sz="1800" b="1"/>
              <a:t>Result processing: </a:t>
            </a:r>
            <a:r>
              <a:rPr lang="en-US" altLang="en-US" sz="1800"/>
              <a:t>Fetch and iterate over data with ResultSet.</a:t>
            </a:r>
            <a:endParaRPr lang="en-US" altLang="en-US" sz="1800"/>
          </a:p>
          <a:p>
            <a:pPr algn="l"/>
            <a:r>
              <a:rPr lang="en-US" altLang="en-US" sz="1800" b="1"/>
              <a:t>Transaction management:</a:t>
            </a:r>
            <a:r>
              <a:rPr lang="en-US" altLang="en-US" sz="1800"/>
              <a:t> Supports commit, rollback, and savepoint.</a:t>
            </a:r>
            <a:endParaRPr lang="en-US" altLang="en-US" sz="1800"/>
          </a:p>
          <a:p>
            <a:pPr algn="l"/>
            <a:r>
              <a:rPr lang="en-US" altLang="en-US" sz="1800" b="1"/>
              <a:t>Exception handling:</a:t>
            </a:r>
            <a:r>
              <a:rPr lang="en-US" altLang="en-US" sz="1800"/>
              <a:t> Uses SQLException for database errors.</a:t>
            </a:r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70" y="0"/>
            <a:ext cx="10515600" cy="368935"/>
          </a:xfrm>
        </p:spPr>
        <p:txBody>
          <a:bodyPr>
            <a:noAutofit/>
          </a:bodyPr>
          <a:p>
            <a:pPr algn="l"/>
            <a:r>
              <a:rPr lang="en-US" sz="2400" b="1">
                <a:solidFill>
                  <a:srgbClr val="FF0000"/>
                </a:solidFill>
              </a:rPr>
              <a:t>JDBC Architechture</a:t>
            </a:r>
            <a:endParaRPr lang="en-US" sz="2400" b="1">
              <a:solidFill>
                <a:srgbClr val="FF0000"/>
              </a:solidFill>
            </a:endParaRPr>
          </a:p>
        </p:txBody>
      </p:sp>
      <p:pic>
        <p:nvPicPr>
          <p:cNvPr id="4" name="Picture 3" descr="jdbcap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70" y="368935"/>
            <a:ext cx="5708650" cy="34759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400800" y="37465"/>
            <a:ext cx="5595620" cy="364426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sz="2400" b="1"/>
              <a:t>What is the JDBC API?</a:t>
            </a:r>
            <a:endParaRPr sz="2400" b="1"/>
          </a:p>
          <a:p>
            <a:r>
              <a:t>The JDBC API is part of the Java Standard Edition (Java SE) platform.</a:t>
            </a:r>
          </a:p>
          <a:p>
            <a:r>
              <a:t> It provides interfaces and classes (in the java.sql and javax.sql packages) for:</a:t>
            </a:r>
          </a:p>
          <a:p/>
          <a:p>
            <a:r>
              <a:t>Connecting to a database</a:t>
            </a:r>
          </a:p>
          <a:p>
            <a:pPr>
              <a:buFont typeface="Arial" panose="020B0604020202020204"/>
              <a:buChar char="•"/>
            </a:pPr>
            <a:r>
              <a:t>Sending SQL statements</a:t>
            </a:r>
          </a:p>
          <a:p>
            <a:pPr>
              <a:buFont typeface="Arial" panose="020B0604020202020204"/>
              <a:buChar char="•"/>
            </a:pPr>
            <a:r>
              <a:t>Retrieving and updating data</a:t>
            </a:r>
          </a:p>
          <a:p>
            <a:pPr>
              <a:buFont typeface="Arial" panose="020B0604020202020204"/>
              <a:buChar char="•"/>
            </a:pPr>
            <a:r>
              <a:t>Managing transactions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33020" y="6078220"/>
          <a:ext cx="11964035" cy="956945"/>
        </p:xfrm>
        <a:graphic>
          <a:graphicData uri="http://schemas.openxmlformats.org/drawingml/2006/table">
            <a:tbl>
              <a:tblPr/>
              <a:tblGrid>
                <a:gridCol w="2789555"/>
                <a:gridCol w="9174480"/>
              </a:tblGrid>
              <a:tr h="365760"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Package Name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Description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275">
                <a:tc>
                  <a:txBody>
                    <a:bodyPr/>
                    <a:p>
                      <a:r>
                        <a:rPr sz="1800"/>
                        <a:t>java.sql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Core JDBC API — provides interfaces and classes for connecting to and interacting with databases.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33020" y="57273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600" b="1"/>
              <a:t> JDBC API Main Packages</a:t>
            </a:r>
            <a:endParaRPr sz="1600" b="1"/>
          </a:p>
        </p:txBody>
      </p:sp>
      <p:graphicFrame>
        <p:nvGraphicFramePr>
          <p:cNvPr id="8" name="Table 7"/>
          <p:cNvGraphicFramePr/>
          <p:nvPr>
            <p:custDataLst>
              <p:tags r:id="rId3"/>
            </p:custDataLst>
          </p:nvPr>
        </p:nvGraphicFramePr>
        <p:xfrm>
          <a:off x="33020" y="4613275"/>
          <a:ext cx="11868150" cy="1103630"/>
        </p:xfrm>
        <a:graphic>
          <a:graphicData uri="http://schemas.openxmlformats.org/drawingml/2006/table">
            <a:tbl>
              <a:tblPr/>
              <a:tblGrid>
                <a:gridCol w="3376930"/>
                <a:gridCol w="2755900"/>
                <a:gridCol w="5735320"/>
              </a:tblGrid>
              <a:tr h="342900"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Level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Name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Purpose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6700">
                <a:tc>
                  <a:txBody>
                    <a:bodyPr/>
                    <a:p>
                      <a:r>
                        <a:rPr sz="1400"/>
                        <a:t>1. JDBC API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Application-level API (java.sql)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For Java developers to write database programs.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4030">
                <a:tc>
                  <a:txBody>
                    <a:bodyPr/>
                    <a:p>
                      <a:r>
                        <a:rPr sz="1400"/>
                        <a:t>2. JDBC Driver API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Driver-level API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For database vendors to implement drivers that connect Java to their database.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128270" y="43202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sz="1600" b="1"/>
              <a:t>JDBC API Levels</a:t>
            </a:r>
            <a:endParaRPr sz="16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50" y="0"/>
            <a:ext cx="10515600" cy="259080"/>
          </a:xfrm>
        </p:spPr>
        <p:txBody>
          <a:bodyPr>
            <a:noAutofit/>
          </a:bodyPr>
          <a:p>
            <a:r>
              <a:rPr lang="en-US" sz="1800" b="1">
                <a:solidFill>
                  <a:srgbClr val="FF0000"/>
                </a:solidFill>
                <a:sym typeface="+mn-ea"/>
              </a:rPr>
              <a:t>Jdbc Related Classes And interfaces</a:t>
            </a:r>
            <a:endParaRPr lang="en-US" sz="18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88950" y="5036820"/>
            <a:ext cx="11137265" cy="337185"/>
          </a:xfrm>
          <a:prstGeom prst="rect">
            <a:avLst/>
          </a:prstGeom>
        </p:spPr>
        <p:txBody>
          <a:bodyPr wrap="square">
            <a:spAutoFit/>
          </a:bodyPr>
          <a:p>
            <a:pPr lvl="1">
              <a:buFont typeface="Arial" panose="020B0604020202020204"/>
              <a:buChar char="◦"/>
            </a:pPr>
            <a:r>
              <a:rPr sz="1600"/>
              <a:t>Or download JAR from </a:t>
            </a:r>
            <a:r>
              <a:rPr lang="en-US" sz="1600"/>
              <a:t>   </a:t>
            </a:r>
            <a:r>
              <a:rPr sz="1600"/>
              <a:t>https://dev.mysql.com/downloads/connector/j/ and add to classpath.</a:t>
            </a:r>
            <a:endParaRPr sz="1600"/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90805" y="259080"/>
          <a:ext cx="11974195" cy="4389120"/>
        </p:xfrm>
        <a:graphic>
          <a:graphicData uri="http://schemas.openxmlformats.org/drawingml/2006/table">
            <a:tbl>
              <a:tblPr/>
              <a:tblGrid>
                <a:gridCol w="1115060"/>
                <a:gridCol w="1905000"/>
                <a:gridCol w="1048385"/>
                <a:gridCol w="7905750"/>
              </a:tblGrid>
              <a:tr h="274320">
                <a:tc>
                  <a:txBody>
                    <a:bodyPr/>
                    <a:p>
                      <a:pPr algn="l"/>
                      <a:r>
                        <a:rPr sz="1800" b="1">
                          <a:solidFill>
                            <a:srgbClr val="FF0000"/>
                          </a:solidFill>
                        </a:rPr>
                        <a:t>Category</a:t>
                      </a:r>
                      <a:r>
                        <a:rPr lang="en-US" sz="1800" b="1">
                          <a:solidFill>
                            <a:srgbClr val="FF0000"/>
                          </a:solidFill>
                        </a:rPr>
                        <a:t>s</a:t>
                      </a:r>
                      <a:endParaRPr lang="en-US"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 b="1">
                          <a:solidFill>
                            <a:srgbClr val="FF0000"/>
                          </a:solidFill>
                        </a:rPr>
                        <a:t>Class / Interface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 b="1">
                          <a:solidFill>
                            <a:srgbClr val="FF0000"/>
                          </a:solidFill>
                        </a:rPr>
                        <a:t>Package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 b="1">
                          <a:solidFill>
                            <a:srgbClr val="FF0000"/>
                          </a:solidFill>
                        </a:rPr>
                        <a:t>Description / Purpose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l"/>
                      <a:r>
                        <a:rPr sz="1800"/>
                        <a:t>Core Interface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Driver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java.sql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Interface for all JDBC drivers; handles connection requests from the DriverManager.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algn="l"/>
                      <a:r>
                        <a:rPr sz="1800"/>
                        <a:t>Core Class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DriverManager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java.sql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Manages a list of database drivers and establishes connections to databases.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80060">
                <a:tc>
                  <a:txBody>
                    <a:bodyPr/>
                    <a:p>
                      <a:pPr algn="l"/>
                      <a:r>
                        <a:rPr sz="1800"/>
                        <a:t>Interface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Connection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java.sql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Represents a connection (session) with a specific database; provides methods for transaction management.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algn="l"/>
                      <a:r>
                        <a:rPr sz="1800"/>
                        <a:t>Interface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Statement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java.sql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Used to execute static SQL queries and return results.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l"/>
                      <a:r>
                        <a:rPr sz="1800"/>
                        <a:t>Interface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PreparedStatement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java.sql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Subinterface of Statement used for executing precompiled parameterized SQL queries.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algn="l"/>
                      <a:r>
                        <a:rPr sz="1800"/>
                        <a:t>Interface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CallableStatement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java.sql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Subinterface of PreparedStatement used to call stored procedures.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algn="l"/>
                      <a:r>
                        <a:rPr sz="1800"/>
                        <a:t>Interface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ResultSet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java.sql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Represents the result set of a query; used to iterate through retrieved data.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l"/>
                      <a:r>
                        <a:rPr sz="1800">
                          <a:sym typeface="+mn-ea"/>
                        </a:rPr>
                        <a:t>Class</a:t>
                      </a:r>
                      <a:endParaRPr sz="1800"/>
                    </a:p>
                    <a:p>
                      <a:pPr algn="l"/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>
                          <a:sym typeface="+mn-ea"/>
                        </a:rPr>
                        <a:t>SQLException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java.sql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>
                          <a:sym typeface="+mn-ea"/>
                        </a:rPr>
                        <a:t>Handles exceptions related to database operations.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822960">
                <a:tc gridSpan="2">
                  <a:txBody>
                    <a:bodyPr/>
                    <a:p>
                      <a:pPr algn="l">
                        <a:buNone/>
                      </a:pPr>
                      <a:r>
                        <a:rPr lang="en-US" sz="1800">
                          <a:sym typeface="Arial" panose="020B0604020202020204" pitchFamily="34" charset="0"/>
                        </a:rPr>
                        <a:t>MySQL JDBC Driver (com.mysql.cj.jdbc.Driver)</a:t>
                      </a:r>
                      <a:endParaRPr lang="en-US" sz="1800">
                        <a:sym typeface="Arial" panose="020B0604020202020204" pitchFamily="34" charset="0"/>
                      </a:endParaRPr>
                    </a:p>
                    <a:p>
                      <a:pPr algn="l">
                        <a:buNone/>
                      </a:pPr>
                      <a:endParaRPr 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algn="l">
                        <a:buNone/>
                      </a:pPr>
                      <a:r>
                        <a:rPr lang="en-US" sz="1800">
                          <a:sym typeface="Arial" panose="020B0604020202020204" pitchFamily="34" charset="0"/>
                        </a:rPr>
                        <a:t>MySQL-specific JDBC driver class.</a:t>
                      </a:r>
                      <a:endParaRPr lang="en-US" sz="1800">
                        <a:sym typeface="Arial" panose="020B0604020202020204" pitchFamily="34" charset="0"/>
                      </a:endParaRPr>
                    </a:p>
                    <a:p>
                      <a:pPr algn="l">
                        <a:buNone/>
                      </a:pPr>
                      <a:endParaRPr 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5"/>
            <a:ext cx="10515600" cy="391160"/>
          </a:xfrm>
        </p:spPr>
        <p:txBody>
          <a:bodyPr>
            <a:normAutofit fontScale="90000"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Steps Of Jdbc Connectivity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975" y="391795"/>
            <a:ext cx="11828780" cy="6309360"/>
          </a:xfrm>
        </p:spPr>
        <p:txBody>
          <a:bodyPr/>
          <a:p>
            <a:pPr marL="0" indent="0">
              <a:buNone/>
            </a:pPr>
            <a:r>
              <a:rPr lang="en-US" sz="1800"/>
              <a:t>Steps od Jdbc Connectivity</a:t>
            </a:r>
            <a:endParaRPr lang="en-US" sz="1800"/>
          </a:p>
          <a:p>
            <a:r>
              <a:rPr lang="en-US" sz="1800" b="1"/>
              <a:t>Load the jdbc Driver:</a:t>
            </a:r>
            <a:endParaRPr lang="en-US" sz="1800" b="1"/>
          </a:p>
          <a:p>
            <a:pPr marL="0" indent="0">
              <a:buNone/>
            </a:pPr>
            <a:r>
              <a:rPr lang="en-US" sz="1800"/>
              <a:t>First the jdbc driver class must be loaded this acts as a bridge between the java programme and the database. In older versions we use Class.forName(), but in newer versions drivers are loaded automatically</a:t>
            </a:r>
            <a:endParaRPr lang="en-US" sz="1800"/>
          </a:p>
          <a:p>
            <a:r>
              <a:rPr lang="en-US" sz="1800" b="1"/>
              <a:t>Create Connection:</a:t>
            </a:r>
            <a:endParaRPr lang="en-US" sz="1800" b="1"/>
          </a:p>
          <a:p>
            <a:pPr marL="0" indent="0">
              <a:buNone/>
            </a:pPr>
            <a:r>
              <a:rPr lang="en-US" sz="1800"/>
              <a:t> use DriverManager.getConnection() to Connect to the database , you need the database url ,username,and password to to this.</a:t>
            </a:r>
            <a:endParaRPr lang="en-US" sz="1800"/>
          </a:p>
          <a:p>
            <a:r>
              <a:rPr lang="en-US" sz="1800" b="1"/>
              <a:t>Prepare Statement: </a:t>
            </a:r>
            <a:endParaRPr lang="en-US" sz="1800"/>
          </a:p>
          <a:p>
            <a:pPr marL="0" indent="0">
              <a:buNone/>
            </a:pPr>
            <a:r>
              <a:rPr lang="en-US" sz="1800"/>
              <a:t>After the connection is ready ,create a Statement object This object is used to send sql commands to the database.</a:t>
            </a:r>
            <a:endParaRPr lang="en-US" sz="1800"/>
          </a:p>
          <a:p>
            <a:r>
              <a:rPr lang="en-US" sz="1800" b="1"/>
              <a:t>Run the query</a:t>
            </a:r>
            <a:r>
              <a:rPr lang="en-US" sz="1800"/>
              <a:t> :</a:t>
            </a:r>
            <a:endParaRPr lang="en-US" sz="1800"/>
          </a:p>
          <a:p>
            <a:pPr marL="0" indent="0">
              <a:buNone/>
            </a:pPr>
            <a:r>
              <a:rPr lang="en-US" sz="1800"/>
              <a:t>use the statement object to execute sql commands ,for ex executequery() is used for select while executeupdate() is used for insert ,update or delete</a:t>
            </a:r>
            <a:endParaRPr lang="en-US" sz="1800"/>
          </a:p>
          <a:p>
            <a:r>
              <a:rPr lang="en-US" sz="1800" b="1"/>
              <a:t>Handles the Results:</a:t>
            </a:r>
            <a:endParaRPr lang="en-US" sz="1800"/>
          </a:p>
          <a:p>
            <a:pPr marL="0" indent="0">
              <a:buNone/>
            </a:pPr>
            <a:r>
              <a:rPr lang="en-US" sz="1800"/>
              <a:t>if the query returns data (like in select) the results are stored in a Result set, you can loop through it to the fetch the records.</a:t>
            </a:r>
            <a:endParaRPr lang="en-US" sz="1800"/>
          </a:p>
          <a:p>
            <a:r>
              <a:rPr lang="en-US" sz="1800" b="1"/>
              <a:t>Cloase the Resources:</a:t>
            </a:r>
            <a:r>
              <a:rPr lang="en-US" sz="1800"/>
              <a:t> </a:t>
            </a:r>
            <a:endParaRPr lang="en-US" sz="1800"/>
          </a:p>
          <a:p>
            <a:pPr marL="0" indent="0">
              <a:buNone/>
            </a:pPr>
            <a:r>
              <a:rPr lang="en-US" sz="1800"/>
              <a:t>One everythin is done ,close the ResultSet,Statemnet,and Connection This avoids memory leaks and keeps the database free for other to use.</a:t>
            </a: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0" y="145415"/>
            <a:ext cx="4211320" cy="2463800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sz="2000" b="1"/>
              <a:t>Basic JDBC Connection Steps</a:t>
            </a:r>
            <a:r>
              <a:rPr lang="en-US" sz="2000" b="1"/>
              <a:t>.</a:t>
            </a:r>
            <a:endParaRPr sz="2000" b="1"/>
          </a:p>
          <a:p>
            <a:pPr marL="342900" indent="-342900">
              <a:spcAft>
                <a:spcPct val="60000"/>
              </a:spcAft>
              <a:buAutoNum type="arabicPeriod"/>
            </a:pPr>
            <a:r>
              <a:t>Load the JDBC driver.</a:t>
            </a:r>
          </a:p>
          <a:p>
            <a:pPr marL="342900" indent="-342900">
              <a:buAutoNum type="arabicPeriod"/>
            </a:pPr>
            <a:r>
              <a:t>Create a connection.</a:t>
            </a:r>
          </a:p>
          <a:p>
            <a:pPr marL="342900" indent="-342900">
              <a:buAutoNum type="arabicPeriod"/>
            </a:pPr>
            <a:r>
              <a:t>Create a statement.</a:t>
            </a:r>
          </a:p>
          <a:p>
            <a:pPr marL="342900" indent="-342900">
              <a:buAutoNum type="arabicPeriod"/>
            </a:pPr>
            <a:r>
              <a:t>Execute SQL queries.</a:t>
            </a:r>
          </a:p>
          <a:p>
            <a:pPr marL="342900" indent="-342900">
              <a:buAutoNum type="arabicPeriod"/>
            </a:pPr>
            <a:r>
              <a:t>Process the result.</a:t>
            </a:r>
          </a:p>
          <a:p>
            <a:pPr marL="342900" indent="-342900">
              <a:buAutoNum type="arabicPeriod"/>
            </a:pPr>
            <a:r>
              <a:t>Close the connection.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31445" y="2731135"/>
            <a:ext cx="5461000" cy="39185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en-US">
                <a:sym typeface="+mn-ea"/>
              </a:rPr>
              <a:t>import java.sql.Connection;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import java.sql.DriverManager;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import java.sql.SQLException;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public class MySQLJDBCConnection {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public static void main(String[] args) {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String url = "jdbc:mysql://localhost:3306/mydatabase"; // Replace with your DB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String user = "root";                                  // Replace with your DB user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String password = "password";                          // Replace with your DB password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Connection connection = null;</a:t>
            </a:r>
            <a:endParaRPr lang="en-US" altLang="en-US"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878830" y="257175"/>
            <a:ext cx="6096000" cy="63925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en-US">
                <a:sym typeface="+mn-ea"/>
              </a:rPr>
              <a:t>        try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Class.forName("com.mysql.cj.jdbc.Driver");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// Attempt to connect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connection = DriverManager.getConnection(url, user, password);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// Use 'if' to check the connection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if (connection != null)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    System.out.println("Connection established successfully!");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} else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    System.out.println(" Connection failed.");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} catch (ClassNotFoundException e)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System.out.println("DBC Driver not found.");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e.printStackTrace();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} catch (SQLException e)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System.out.println(" Error connecting to the database.");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e.printStackTrace();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} 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0"/>
            <a:ext cx="10515600" cy="368300"/>
          </a:xfrm>
        </p:spPr>
        <p:txBody>
          <a:bodyPr>
            <a:normAutofit fontScale="90000"/>
          </a:bodyPr>
          <a:p>
            <a:r>
              <a:rPr lang="en-US" altLang="en-US" sz="2400" b="1">
                <a:solidFill>
                  <a:srgbClr val="FF0000"/>
                </a:solidFill>
                <a:sym typeface="+mn-ea"/>
              </a:rPr>
              <a:t>PreparedStatement </a:t>
            </a:r>
            <a:r>
              <a:rPr lang="en-US" sz="2400" b="1">
                <a:solidFill>
                  <a:srgbClr val="FF0000"/>
                </a:solidFill>
              </a:rPr>
              <a:t>Interface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665" y="459740"/>
            <a:ext cx="11979910" cy="296926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sz="1800" b="1">
                <a:sym typeface="+mn-ea"/>
              </a:rPr>
              <a:t>Definition: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PreparedStatement is a precompiled SQL statement used to execute the same query multiple times with different parameters.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>
                <a:sym typeface="+mn-ea"/>
              </a:rPr>
              <a:t> Key Points:</a:t>
            </a:r>
            <a:endParaRPr lang="en-US" altLang="en-US" sz="1800" b="1"/>
          </a:p>
          <a:p>
            <a:pPr marL="342900" indent="-342900">
              <a:buAutoNum type="arabicPeriod"/>
            </a:pPr>
            <a:r>
              <a:rPr lang="en-US" altLang="en-US" sz="1800">
                <a:sym typeface="+mn-ea"/>
              </a:rPr>
              <a:t>Extends Statement.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>
                <a:sym typeface="+mn-ea"/>
              </a:rPr>
              <a:t>SQL query is precompiled, which makes it faster.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>
                <a:sym typeface="+mn-ea"/>
              </a:rPr>
              <a:t>Prevents SQL Injection by using placeholders (?).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>
                <a:sym typeface="+mn-ea"/>
              </a:rPr>
              <a:t>Supports parameterized queries.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>
                <a:sym typeface="+mn-ea"/>
              </a:rPr>
              <a:t>Best for queries executed multiple times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113665" y="3429000"/>
            <a:ext cx="6096000" cy="32169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PreparedStatement pstmt = conn.prepareStatement(</a:t>
            </a:r>
            <a:endParaRPr lang="en-US" altLang="en-US"/>
          </a:p>
          <a:p>
            <a:r>
              <a:rPr lang="en-US" altLang="en-US"/>
              <a:t>    "SELECT * FROM employees WHERE department = ?"</a:t>
            </a:r>
            <a:endParaRPr lang="en-US" altLang="en-US"/>
          </a:p>
          <a:p>
            <a:r>
              <a:rPr lang="en-US" altLang="en-US"/>
              <a:t>);</a:t>
            </a:r>
            <a:endParaRPr lang="en-US" altLang="en-US"/>
          </a:p>
          <a:p>
            <a:r>
              <a:rPr lang="en-US" altLang="en-US"/>
              <a:t>pstmt.setString(1, "Sales");</a:t>
            </a:r>
            <a:endParaRPr lang="en-US" altLang="en-US"/>
          </a:p>
          <a:p>
            <a:r>
              <a:rPr lang="en-US" altLang="en-US"/>
              <a:t>ResultSet rs = pstmt.executeQuery();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while (rs.next()) {</a:t>
            </a:r>
            <a:endParaRPr lang="en-US" altLang="en-US"/>
          </a:p>
          <a:p>
            <a:r>
              <a:rPr lang="en-US" altLang="en-US"/>
              <a:t>    System.out.println(rs.getString("name"));</a:t>
            </a:r>
            <a:endParaRPr lang="en-US" altLang="en-US"/>
          </a:p>
          <a:p>
            <a:r>
              <a:rPr lang="en-US" altLang="en-US"/>
              <a:t>}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0"/>
            <a:ext cx="10515600" cy="314325"/>
          </a:xfrm>
        </p:spPr>
        <p:txBody>
          <a:bodyPr>
            <a:noAutofit/>
          </a:bodyPr>
          <a:p>
            <a:r>
              <a:rPr lang="en-US" sz="2400" b="1">
                <a:solidFill>
                  <a:srgbClr val="FF0000"/>
                </a:solidFill>
              </a:rPr>
              <a:t>Statement Interface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280" y="405765"/>
            <a:ext cx="11664950" cy="281876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 b="1"/>
              <a:t>Definition</a:t>
            </a:r>
            <a:r>
              <a:rPr lang="en-US" altLang="en-US" sz="2000"/>
              <a:t>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Statement is used to execute simple SQL queries without parameters.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 Key Points:</a:t>
            </a:r>
            <a:endParaRPr lang="en-US" altLang="en-US" sz="2000" b="1"/>
          </a:p>
          <a:p>
            <a:pPr marL="457200" indent="-457200">
              <a:buAutoNum type="arabicPeriod"/>
            </a:pPr>
            <a:r>
              <a:rPr lang="en-US" altLang="en-US" sz="2000"/>
              <a:t>Used for static SQL queries (queries that don’t change at runtime).</a:t>
            </a:r>
            <a:endParaRPr lang="en-US" altLang="en-US" sz="2000"/>
          </a:p>
          <a:p>
            <a:pPr marL="457200" indent="-457200">
              <a:buAutoNum type="arabicPeriod"/>
            </a:pPr>
            <a:r>
              <a:rPr lang="en-US" altLang="en-US" sz="2000"/>
              <a:t>SQL is compiled each time it’s executed → less efficient.</a:t>
            </a:r>
            <a:endParaRPr lang="en-US" altLang="en-US" sz="2000"/>
          </a:p>
          <a:p>
            <a:pPr marL="457200" indent="-457200">
              <a:buAutoNum type="arabicPeriod"/>
            </a:pPr>
            <a:r>
              <a:rPr lang="en-US" altLang="en-US" sz="2000"/>
              <a:t>Vulnerable to SQL Injection.</a:t>
            </a:r>
            <a:endParaRPr lang="en-US" altLang="en-US" sz="2000"/>
          </a:p>
          <a:p>
            <a:pPr marL="457200" indent="-457200">
              <a:buAutoNum type="arabicPeriod"/>
            </a:pPr>
            <a:r>
              <a:rPr lang="en-US" altLang="en-US" sz="2000"/>
              <a:t>Best for running queries that are executed only once.</a:t>
            </a:r>
            <a:endParaRPr lang="en-US" altLang="en-US" sz="2000"/>
          </a:p>
        </p:txBody>
      </p:sp>
      <p:sp>
        <p:nvSpPr>
          <p:cNvPr id="4" name="Text Box 3"/>
          <p:cNvSpPr txBox="1"/>
          <p:nvPr/>
        </p:nvSpPr>
        <p:spPr>
          <a:xfrm>
            <a:off x="208280" y="4029075"/>
            <a:ext cx="9490075" cy="16319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2000"/>
              <a:t>Statement stmt = con.createStatement();</a:t>
            </a:r>
            <a:endParaRPr lang="en-US" altLang="en-US" sz="2000"/>
          </a:p>
          <a:p>
            <a:r>
              <a:rPr lang="en-US" altLang="en-US" sz="2000"/>
              <a:t>String sql = "INSERT INTO table_name (column1, column2) VALUES ('value1', 'value2')";</a:t>
            </a:r>
            <a:endParaRPr lang="en-US" altLang="en-US" sz="2000"/>
          </a:p>
          <a:p>
            <a:r>
              <a:rPr lang="en-US" altLang="en-US" sz="2000"/>
              <a:t>stmt.executeUpdate(sql);</a:t>
            </a:r>
            <a:endParaRPr lang="en-US" altLang="en-US" sz="2000"/>
          </a:p>
          <a:p>
            <a:endParaRPr lang="en-US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980" y="0"/>
            <a:ext cx="10515600" cy="368300"/>
          </a:xfrm>
        </p:spPr>
        <p:txBody>
          <a:bodyPr>
            <a:noAutofit/>
          </a:bodyPr>
          <a:p>
            <a:pPr algn="ctr"/>
            <a:r>
              <a:rPr lang="en-US" sz="2000" b="1">
                <a:solidFill>
                  <a:srgbClr val="FF0000"/>
                </a:solidFill>
              </a:rPr>
              <a:t>ResultSet Interface</a:t>
            </a: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395" y="368935"/>
            <a:ext cx="11898630" cy="264668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1800" b="1"/>
              <a:t>Definition</a:t>
            </a:r>
            <a:r>
              <a:rPr lang="en-US" altLang="en-US" sz="1800"/>
              <a:t>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ResultSet represents a table of data returned by executing a SQL query using Statement or PreparedStatement.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 Key Points:</a:t>
            </a:r>
            <a:endParaRPr lang="en-US" altLang="en-US" sz="1800" b="1"/>
          </a:p>
          <a:p>
            <a:pPr marL="457200" indent="-457200">
              <a:buAutoNum type="arabicPeriod"/>
            </a:pPr>
            <a:r>
              <a:rPr lang="en-US" altLang="en-US" sz="1800"/>
              <a:t>Acts as a cursor that points to one row of the result at a time.</a:t>
            </a:r>
            <a:endParaRPr lang="en-US" altLang="en-US" sz="1800"/>
          </a:p>
          <a:p>
            <a:pPr marL="457200" indent="-457200">
              <a:buAutoNum type="arabicPeriod"/>
            </a:pPr>
            <a:r>
              <a:rPr lang="en-US" altLang="en-US" sz="1800"/>
              <a:t>Used to read data from the database.</a:t>
            </a:r>
            <a:endParaRPr lang="en-US" altLang="en-US" sz="1800"/>
          </a:p>
          <a:p>
            <a:pPr marL="457200" indent="-457200">
              <a:buAutoNum type="arabicPeriod"/>
            </a:pPr>
            <a:r>
              <a:rPr lang="en-US" altLang="en-US" sz="1800"/>
              <a:t>Can move the cursor forward (default) or in both directions (if scrollable).</a:t>
            </a:r>
            <a:endParaRPr lang="en-US" altLang="en-US" sz="1800"/>
          </a:p>
          <a:p>
            <a:pPr marL="457200" indent="-457200">
              <a:buAutoNum type="arabicPeriod"/>
            </a:pPr>
            <a:r>
              <a:rPr lang="en-US" altLang="en-US" sz="1800"/>
              <a:t>Provides methods to get data of various types (getString(), getInt(), etc.).</a:t>
            </a:r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214630" y="3429000"/>
            <a:ext cx="60960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ResultSet rs = pstmt.executeQuery();</a:t>
            </a:r>
            <a:endParaRPr lang="en-US" altLang="en-US"/>
          </a:p>
          <a:p>
            <a:r>
              <a:rPr lang="en-US" altLang="en-US"/>
              <a:t>while (rs.next()) {</a:t>
            </a:r>
            <a:endParaRPr lang="en-US" altLang="en-US"/>
          </a:p>
          <a:p>
            <a:r>
              <a:rPr lang="en-US" altLang="en-US"/>
              <a:t>    int id = rs.getInt("id");</a:t>
            </a:r>
            <a:endParaRPr lang="en-US" altLang="en-US"/>
          </a:p>
          <a:p>
            <a:r>
              <a:rPr lang="en-US" altLang="en-US"/>
              <a:t>    String name = rs.getString("name");</a:t>
            </a:r>
            <a:endParaRPr lang="en-US" altLang="en-US"/>
          </a:p>
          <a:p>
            <a:r>
              <a:rPr lang="en-US" altLang="en-US"/>
              <a:t>    System.out.println(id + " - " + name);</a:t>
            </a:r>
            <a:endParaRPr lang="en-US" altLang="en-US"/>
          </a:p>
          <a:p>
            <a:r>
              <a:rPr lang="en-US" altLang="en-US"/>
              <a:t>}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370205"/>
          </a:xfrm>
        </p:spPr>
        <p:txBody>
          <a:bodyPr>
            <a:noAutofit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Callable Interface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945" y="370205"/>
            <a:ext cx="11897360" cy="6377305"/>
          </a:xfrm>
        </p:spPr>
        <p:txBody>
          <a:bodyPr/>
          <a:p>
            <a:r>
              <a:rPr lang="en-US" altLang="en-US" sz="1600"/>
              <a:t>In JDBC (Java Database Connectivity), when you want to call stored procedures or functions in a database, you typically use the CallableStatement interface. There isn’t an interface literally named just Callable in JDBC—you meant CallableStatement.</a:t>
            </a:r>
            <a:endParaRPr lang="en-US" altLang="en-US" sz="1600"/>
          </a:p>
          <a:p>
            <a:r>
              <a:rPr lang="en-US" altLang="en-US" sz="1600"/>
              <a:t>1. CallableStatement Interface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Part of java.sql package.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Extends PreparedStatement.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Used for executing stored procedures in a database.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CallableStatement cs=connection.prepareCall("{call AddMobileDetails(?,?,?,?)}");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var_name TIMESTAMP DEFAULT CURRENT_TIMESTAMP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CallableStatement cs =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        con.prepareCall("{call insert_student(?)}");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cs.setString(1, "Rahul");    cs.execute();        con.close();        System.out.println("Inserted successfully");</a:t>
            </a:r>
            <a:endParaRPr lang="en-US" altLang="en-US" sz="16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13665" y="4064635"/>
          <a:ext cx="12078335" cy="2499360"/>
        </p:xfrm>
        <a:graphic>
          <a:graphicData uri="http://schemas.openxmlformats.org/drawingml/2006/table">
            <a:tbl>
              <a:tblPr/>
              <a:tblGrid>
                <a:gridCol w="1943735"/>
                <a:gridCol w="3609975"/>
                <a:gridCol w="3514090"/>
                <a:gridCol w="3010535"/>
              </a:tblGrid>
              <a:tr h="304800"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Feature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Statement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PreparedStatement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ResultSet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Purpose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Execute static SQL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Execute parameterized SQL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Store and navigate query results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Compilation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Compiled each time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Precompiled once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Not applicable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p>
                      <a:r>
                        <a:rPr sz="1800"/>
                        <a:t>Performance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Slower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Faster (especially for repeated queries)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Depends on query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SQL Injection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Vulnerable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Safe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Not applicable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Parameter Support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No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Yes (via ?)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No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Used For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DDL/DML without parameters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DML/DQL with parameters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Reading query results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Example Method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executeQuery("SELECT * FROM emp")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setString(1, "HR")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getString("name")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910" y="0"/>
            <a:ext cx="10515600" cy="388620"/>
          </a:xfrm>
        </p:spPr>
        <p:txBody>
          <a:bodyPr>
            <a:normAutofit fontScale="90000"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Crud operations using Java Project In JDBC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890" y="470535"/>
            <a:ext cx="11774805" cy="6116955"/>
          </a:xfrm>
        </p:spPr>
        <p:txBody>
          <a:bodyPr/>
          <a:p>
            <a:pPr marL="514350" indent="-514350">
              <a:buAutoNum type="arabicPeriod"/>
            </a:pPr>
            <a:r>
              <a:rPr lang="en-US" sz="2400"/>
              <a:t>Create Menu Based Java Application </a:t>
            </a:r>
            <a:endParaRPr lang="en-US" sz="2400"/>
          </a:p>
          <a:p>
            <a:pPr marL="514350" indent="-514350">
              <a:buAutoNum type="arabicPeriod"/>
            </a:pPr>
            <a:r>
              <a:rPr lang="en-US" sz="2400"/>
              <a:t>Java Database Connectivity With Mysql</a:t>
            </a:r>
            <a:endParaRPr lang="en-US" sz="2400"/>
          </a:p>
          <a:p>
            <a:pPr marL="514350" indent="-514350">
              <a:buAutoNum type="arabicPeriod"/>
            </a:pPr>
            <a:r>
              <a:rPr lang="en-US" sz="2400"/>
              <a:t>Record Insert using jdbc</a:t>
            </a:r>
            <a:endParaRPr lang="en-US" sz="2400"/>
          </a:p>
          <a:p>
            <a:pPr marL="514350" indent="-514350">
              <a:buAutoNum type="arabicPeriod"/>
            </a:pPr>
            <a:r>
              <a:rPr lang="en-US" sz="2400"/>
              <a:t>Record Update Using Jdbc</a:t>
            </a:r>
            <a:endParaRPr lang="en-US" sz="2400"/>
          </a:p>
          <a:p>
            <a:pPr marL="514350" indent="-514350">
              <a:buAutoNum type="arabicPeriod"/>
            </a:pPr>
            <a:r>
              <a:rPr lang="en-US" sz="2400"/>
              <a:t>Record Delete Using Jdbc</a:t>
            </a:r>
            <a:endParaRPr lang="en-US" sz="2400"/>
          </a:p>
          <a:p>
            <a:pPr marL="514350" indent="-514350">
              <a:buAutoNum type="arabicPeriod"/>
            </a:pPr>
            <a:r>
              <a:rPr lang="en-US" sz="2400"/>
              <a:t>Perform operations with Stored procedures</a:t>
            </a:r>
            <a:endParaRPr lang="en-US" sz="2400"/>
          </a:p>
          <a:p>
            <a:pPr marL="514350" indent="-514350">
              <a:buAutoNum type="arabicPeriod"/>
            </a:pPr>
            <a:r>
              <a:rPr lang="en-US" sz="2400"/>
              <a:t>Perfrom operations with Aggregate Function</a:t>
            </a:r>
            <a:endParaRPr lang="en-US" sz="2400"/>
          </a:p>
          <a:p>
            <a:pPr marL="514350" indent="-514350">
              <a:buAutoNum type="arabicPeriod"/>
            </a:pPr>
            <a:r>
              <a:rPr lang="en-US" sz="2400"/>
              <a:t>Perfrom Display And Filter Operations with jdbc</a:t>
            </a:r>
            <a:endParaRPr lang="en-US" sz="2400"/>
          </a:p>
          <a:p>
            <a:pPr marL="514350" indent="-514350">
              <a:buAutoNum type="arabicPeriod"/>
            </a:pPr>
            <a:endParaRPr lang="en-US" sz="2400"/>
          </a:p>
          <a:p>
            <a:pPr marL="514350" indent="-514350">
              <a:buAutoNum type="arabicPeriod"/>
            </a:pPr>
            <a:endParaRPr lang="en-US" sz="2400"/>
          </a:p>
          <a:p>
            <a:pPr marL="0" indent="0" algn="ctr">
              <a:buNone/>
            </a:pPr>
            <a:r>
              <a:rPr lang="en-US" sz="2400" b="1">
                <a:solidFill>
                  <a:srgbClr val="FF0000"/>
                </a:solidFill>
              </a:rPr>
              <a:t>JDBC End</a:t>
            </a:r>
            <a:endParaRPr 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5410"/>
            <a:ext cx="10515600" cy="340360"/>
          </a:xfrm>
        </p:spPr>
        <p:txBody>
          <a:bodyPr>
            <a:noAutofit/>
          </a:bodyPr>
          <a:p>
            <a:pPr algn="ctr"/>
            <a:r>
              <a:rPr lang="en-US" sz="2000" b="1">
                <a:solidFill>
                  <a:srgbClr val="FF0000"/>
                </a:solidFill>
              </a:rPr>
              <a:t>JSP AND SERVLET Syllabus</a:t>
            </a: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45770"/>
            <a:ext cx="12191365" cy="6219190"/>
          </a:xfrm>
        </p:spPr>
        <p:txBody>
          <a:bodyPr/>
          <a:p>
            <a:r>
              <a:rPr lang="en-US" sz="2000"/>
              <a:t>jsp and Servlet Introduction</a:t>
            </a:r>
            <a:endParaRPr lang="en-US" sz="2000"/>
          </a:p>
          <a:p>
            <a:r>
              <a:rPr lang="en-US" sz="2000">
                <a:sym typeface="+mn-ea"/>
              </a:rPr>
              <a:t>Serlet And Jsp Lifecycle</a:t>
            </a:r>
            <a:endParaRPr lang="en-US" sz="2000">
              <a:sym typeface="+mn-ea"/>
            </a:endParaRPr>
          </a:p>
          <a:p>
            <a:r>
              <a:rPr lang="en-US" sz="2000"/>
              <a:t>Tomcat Configuration</a:t>
            </a:r>
            <a:endParaRPr lang="en-US" sz="2000"/>
          </a:p>
          <a:p>
            <a:r>
              <a:rPr lang="en-US" sz="2000"/>
              <a:t>jsp Expression</a:t>
            </a:r>
            <a:endParaRPr lang="en-US" sz="2000"/>
          </a:p>
          <a:p>
            <a:r>
              <a:rPr lang="en-US" sz="2000"/>
              <a:t>jsp and servlet communication</a:t>
            </a:r>
            <a:endParaRPr lang="en-US" sz="2000"/>
          </a:p>
          <a:p>
            <a:r>
              <a:rPr lang="en-US" sz="2000"/>
              <a:t>jsp and servlet with jdbc</a:t>
            </a:r>
            <a:endParaRPr lang="en-US" sz="2000"/>
          </a:p>
          <a:p>
            <a:r>
              <a:rPr lang="en-US" sz="2000"/>
              <a:t>HTTPSession</a:t>
            </a:r>
            <a:endParaRPr lang="en-US" sz="2000"/>
          </a:p>
          <a:p>
            <a:r>
              <a:rPr lang="en-US" sz="2000"/>
              <a:t>Servlet Methods</a:t>
            </a:r>
            <a:endParaRPr lang="en-US" sz="2000"/>
          </a:p>
          <a:p>
            <a:r>
              <a:rPr lang="en-US" sz="2000"/>
              <a:t>jsp And Servlet Crud Operations</a:t>
            </a:r>
            <a:endParaRPr lang="en-US" sz="2000"/>
          </a:p>
          <a:p>
            <a:endParaRPr lang="en-US" sz="2000"/>
          </a:p>
          <a:p>
            <a:r>
              <a:rPr lang="en-US" sz="2000"/>
              <a:t>JSp And Servlet Project..</a:t>
            </a:r>
            <a:endParaRPr lang="en-US" sz="2000"/>
          </a:p>
          <a:p>
            <a:endParaRPr lang="en-US" sz="2000"/>
          </a:p>
          <a:p>
            <a:endParaRPr 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860" y="109220"/>
            <a:ext cx="10899140" cy="392430"/>
          </a:xfrm>
        </p:spPr>
        <p:txBody>
          <a:bodyPr>
            <a:normAutofit fontScale="90000"/>
          </a:bodyPr>
          <a:p>
            <a:pPr algn="ctr"/>
            <a:r>
              <a:rPr lang="en-US" sz="2800" b="1">
                <a:solidFill>
                  <a:srgbClr val="FF0000"/>
                </a:solidFill>
              </a:rPr>
              <a:t>JSP And Servlet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860" y="501650"/>
            <a:ext cx="11719560" cy="6186170"/>
          </a:xfrm>
        </p:spPr>
        <p:txBody>
          <a:bodyPr>
            <a:normAutofit fontScale="65000"/>
          </a:bodyPr>
          <a:p>
            <a:pPr marL="0" indent="0">
              <a:buNone/>
            </a:pPr>
            <a:r>
              <a:rPr lang="en-US" altLang="en-US" b="1"/>
              <a:t>Who Developed JSP and Servlet Technology?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Both JSP (JavaServer Pages) and Servlets were developed by Sun Microsystems, which was the original creator of the Java programming language.</a:t>
            </a:r>
            <a:endParaRPr lang="en-US" altLang="en-US"/>
          </a:p>
          <a:p>
            <a:pPr marL="0" indent="0">
              <a:buNone/>
            </a:pPr>
            <a:r>
              <a:rPr lang="zh-CN" altLang="en-US"/>
              <a:t>🔹</a:t>
            </a:r>
            <a:r>
              <a:rPr lang="en-US" altLang="en-US"/>
              <a:t> Timeline &amp; Details: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 Developer: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Sun Microsystems (now part of Oracle Corporation)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Introduced: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Servlets: Introduced in 1997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JSP: Introduced in 1999</a:t>
            </a:r>
            <a:endParaRPr lang="en-US" altLang="en-US"/>
          </a:p>
          <a:p>
            <a:pPr marL="0" indent="0">
              <a:buNone/>
            </a:pPr>
            <a:r>
              <a:rPr lang="zh-CN" altLang="en-US"/>
              <a:t>🔹</a:t>
            </a:r>
            <a:r>
              <a:rPr lang="en-US" altLang="en-US"/>
              <a:t> What Happened After 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 2010, Oracle Corporation acquired Sun Microsystems.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Since then, Oracle maintained the Java platform, including JSP and Servlets.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Recent Updates: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 2017, Java EE (which includes JSP and Servlets) was donated to the Eclipse Foundation and rebranded as Jakarta EE.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So now, JSP and Servlets are part of Jakarta EE, not Java EE. javax.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Example: javax.servlet became </a:t>
            </a:r>
            <a:r>
              <a:rPr lang="en-US" altLang="en-US" b="1">
                <a:solidFill>
                  <a:srgbClr val="FF0000"/>
                </a:solidFill>
              </a:rPr>
              <a:t>jakarta.servlet</a:t>
            </a:r>
            <a:r>
              <a:rPr lang="en-US" altLang="en-US"/>
              <a:t>.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95" y="0"/>
            <a:ext cx="11939905" cy="276225"/>
          </a:xfrm>
        </p:spPr>
        <p:txBody>
          <a:bodyPr>
            <a:noAutofit/>
          </a:bodyPr>
          <a:p>
            <a:pPr algn="ctr"/>
            <a:r>
              <a:rPr lang="en-US" sz="2800" b="1">
                <a:solidFill>
                  <a:srgbClr val="FF0000"/>
                </a:solidFill>
              </a:rPr>
              <a:t>JSP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75590"/>
            <a:ext cx="11910060" cy="6347460"/>
          </a:xfrm>
        </p:spPr>
        <p:txBody>
          <a:bodyPr/>
          <a:p>
            <a:pPr marL="0" indent="0">
              <a:buNone/>
            </a:pPr>
            <a:r>
              <a:rPr lang="en-US" altLang="en-US" sz="1800" b="1"/>
              <a:t>What is JSP (JavaServer Pages)?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JSP is a server-side technology used to create dynamic web pages using Java.   It's like HTML + Java combined.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JSP pages are compiled into servlets by the server.  It allows embedding Java code directly into HTML using special JSP tags and expressions.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Why JSP? / Why Do We Need JSP?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Create dynamic web content (e.g., displaying data from a database).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Use Java logic in HTML pages.      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Make web development easier by separating business logic from presentation.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Quickly develop web applications in Java EE or Jakarta EE environments.</a:t>
            </a:r>
            <a:endParaRPr lang="en-US" altLang="en-US" sz="18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74295" y="3618865"/>
          <a:ext cx="11775440" cy="3119755"/>
        </p:xfrm>
        <a:graphic>
          <a:graphicData uri="http://schemas.openxmlformats.org/drawingml/2006/table">
            <a:tbl>
              <a:tblPr/>
              <a:tblGrid>
                <a:gridCol w="4510405"/>
                <a:gridCol w="7265035"/>
              </a:tblGrid>
              <a:tr h="5327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sz="1800" b="1">
                          <a:solidFill>
                            <a:srgbClr val="FF0000"/>
                          </a:solidFill>
                        </a:rPr>
                        <a:t>Advantage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sz="1800" b="1">
                          <a:solidFill>
                            <a:srgbClr val="FF0000"/>
                          </a:solidFill>
                        </a:rPr>
                        <a:t>Description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1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800"/>
                        <a:t> Easy to use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800"/>
                        <a:t>Java code can be embedded in HTML using simple tags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1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800"/>
                        <a:t> Fast execution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800"/>
                        <a:t>JSPs are compiled into servlets only once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1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800"/>
                        <a:t> Reusable components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800"/>
                        <a:t>Can use JavaBeans, tag libraries, and custom tags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1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800"/>
                        <a:t> Separation of concerns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800"/>
                        <a:t>Business logic (Java) can be separated from UI (HTML)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1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800"/>
                        <a:t> Built-in session management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800"/>
                        <a:t>JSP supports HTTP session management easily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1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800"/>
                        <a:t> Platform independent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800"/>
                        <a:t>Runs on any server that supports Java EE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5"/>
            <a:ext cx="10515600" cy="357505"/>
          </a:xfrm>
        </p:spPr>
        <p:txBody>
          <a:bodyPr>
            <a:normAutofit fontScale="90000"/>
          </a:bodyPr>
          <a:p>
            <a:pPr algn="ctr"/>
            <a:r>
              <a:rPr lang="en-US" altLang="en-US" sz="2800" b="1">
                <a:solidFill>
                  <a:srgbClr val="FF0000"/>
                </a:solidFill>
                <a:sym typeface="+mn-ea"/>
              </a:rPr>
              <a:t>JSP Lifecycle</a:t>
            </a:r>
            <a:endParaRPr lang="en-US" altLang="en-US" sz="28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05" y="358140"/>
            <a:ext cx="12101195" cy="649986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/>
              <a:t>JSP lifecycle is similar to servlet lifecycle but with an extra compilation step because JSPs are converted to servlets by the container: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1. Translation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The JSP file is translated into a Java servlet source file (.java).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2. Compilation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The servlet source file is compiled into a .class file (Java bytecode).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3. Loading and Instantiation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The container loads the generated servlet class and creates an instance.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4. Initialization (jspInit method)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Container calls jspInit() once to initialize the JSP servlet.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5. Request Handling (_jspService method)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For each request, container calls _jspService() method (auto-generated).  This handles the request and response, similar to service() in servlets.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6. Destruction (jspDestroy method)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When the JSP servlet is removed, container calls jspDestroy() for cleanup.</a:t>
            </a:r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6871970" y="702945"/>
            <a:ext cx="5203190" cy="43808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r>
              <a:rPr lang="en-US" altLang="en-US"/>
              <a:t>JSP File</a:t>
            </a:r>
            <a:endParaRPr lang="en-US" altLang="en-US"/>
          </a:p>
          <a:p>
            <a:r>
              <a:rPr lang="en-US" altLang="en-US"/>
              <a:t>   ↓ (Translate)</a:t>
            </a:r>
            <a:endParaRPr lang="en-US" altLang="en-US"/>
          </a:p>
          <a:p>
            <a:r>
              <a:rPr lang="en-US" altLang="en-US"/>
              <a:t>Servlet Source (.java)</a:t>
            </a:r>
            <a:endParaRPr lang="en-US" altLang="en-US"/>
          </a:p>
          <a:p>
            <a:r>
              <a:rPr lang="en-US" altLang="en-US"/>
              <a:t>   ↓ (Compile)</a:t>
            </a:r>
            <a:endParaRPr lang="en-US" altLang="en-US"/>
          </a:p>
          <a:p>
            <a:r>
              <a:rPr lang="en-US" altLang="en-US"/>
              <a:t>Servlet Class (.class)</a:t>
            </a:r>
            <a:endParaRPr lang="en-US" altLang="en-US"/>
          </a:p>
          <a:p>
            <a:r>
              <a:rPr lang="en-US" altLang="en-US"/>
              <a:t>   ↓ (Load &amp; Instantiate)</a:t>
            </a:r>
            <a:endParaRPr lang="en-US" altLang="en-US"/>
          </a:p>
          <a:p>
            <a:r>
              <a:rPr lang="en-US" altLang="en-US"/>
              <a:t>jspInit()</a:t>
            </a:r>
            <a:endParaRPr lang="en-US" altLang="en-US"/>
          </a:p>
          <a:p>
            <a:r>
              <a:rPr lang="en-US" altLang="en-US"/>
              <a:t>   ↓</a:t>
            </a:r>
            <a:endParaRPr lang="en-US" altLang="en-US"/>
          </a:p>
          <a:p>
            <a:r>
              <a:rPr lang="en-US" altLang="en-US"/>
              <a:t>_jspService() ←←←←←←←←←←←←←← (multiple requests)</a:t>
            </a:r>
            <a:endParaRPr lang="en-US" altLang="en-US"/>
          </a:p>
          <a:p>
            <a:r>
              <a:rPr lang="en-US" altLang="en-US"/>
              <a:t>   ↓</a:t>
            </a:r>
            <a:endParaRPr lang="en-US" altLang="en-US"/>
          </a:p>
          <a:p>
            <a:r>
              <a:rPr lang="en-US" altLang="en-US"/>
              <a:t>jspDestroy()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" y="0"/>
            <a:ext cx="10515600" cy="422275"/>
          </a:xfrm>
        </p:spPr>
        <p:txBody>
          <a:bodyPr>
            <a:noAutofit/>
          </a:bodyPr>
          <a:p>
            <a:r>
              <a:rPr lang="en-US" sz="2800" b="1">
                <a:solidFill>
                  <a:srgbClr val="FF0000"/>
                </a:solidFill>
              </a:rPr>
              <a:t>Jsp Imp</a:t>
            </a:r>
            <a:endParaRPr lang="en-US" sz="28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14300" y="593090"/>
          <a:ext cx="6256020" cy="2550795"/>
        </p:xfrm>
        <a:graphic>
          <a:graphicData uri="http://schemas.openxmlformats.org/drawingml/2006/table">
            <a:tbl>
              <a:tblPr/>
              <a:tblGrid>
                <a:gridCol w="2252345"/>
                <a:gridCol w="4003675"/>
              </a:tblGrid>
              <a:tr h="313055">
                <a:tc>
                  <a:txBody>
                    <a:bodyPr/>
                    <a:p>
                      <a:pPr algn="ctr"/>
                      <a:r>
                        <a:rPr sz="2000" b="1"/>
                        <a:t>Topic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/>
                        <a:t>Description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28930">
                <a:tc>
                  <a:txBody>
                    <a:bodyPr/>
                    <a:p>
                      <a:r>
                        <a:rPr sz="1800"/>
                        <a:t>What is JSP?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HTML page with embedded Java code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25475">
                <a:tc>
                  <a:txBody>
                    <a:bodyPr/>
                    <a:p>
                      <a:r>
                        <a:rPr sz="1800"/>
                        <a:t>Difference between JSP &amp; Servlet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JSP = View (UI), Servlet = Controller (logic)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28930">
                <a:tc>
                  <a:txBody>
                    <a:bodyPr/>
                    <a:p>
                      <a:r>
                        <a:rPr sz="1800"/>
                        <a:t>How JSP Works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Translated into a Servlet at runtime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25475">
                <a:tc>
                  <a:txBody>
                    <a:bodyPr/>
                    <a:p>
                      <a:r>
                        <a:rPr sz="1800"/>
                        <a:t>JSP Lifecycle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Translation → Compilation → Initialization → Execution → Destruction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28930">
                <a:tc>
                  <a:txBody>
                    <a:bodyPr/>
                    <a:p>
                      <a:r>
                        <a:rPr sz="1800"/>
                        <a:t>File Extension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.jsp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1434465" y="139065"/>
            <a:ext cx="4935220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b="1">
                <a:solidFill>
                  <a:srgbClr val="FF0000"/>
                </a:solidFill>
              </a:rPr>
              <a:t>🔹 1. JSP Basics</a:t>
            </a:r>
            <a:endParaRPr b="1">
              <a:solidFill>
                <a:srgbClr val="FF0000"/>
              </a:solidFill>
            </a:endParaRP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6673215" y="593090"/>
          <a:ext cx="5518785" cy="2552700"/>
        </p:xfrm>
        <a:graphic>
          <a:graphicData uri="http://schemas.openxmlformats.org/drawingml/2006/table">
            <a:tbl>
              <a:tblPr/>
              <a:tblGrid>
                <a:gridCol w="1264285"/>
                <a:gridCol w="1196975"/>
                <a:gridCol w="3057525"/>
              </a:tblGrid>
              <a:tr h="638175"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Type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Syntax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Purpose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38175">
                <a:tc>
                  <a:txBody>
                    <a:bodyPr/>
                    <a:p>
                      <a:r>
                        <a:rPr sz="1800"/>
                        <a:t>Declaration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&lt;%! %&gt;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Declare variables and methods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38175">
                <a:tc>
                  <a:txBody>
                    <a:bodyPr/>
                    <a:p>
                      <a:r>
                        <a:rPr sz="1800"/>
                        <a:t>Scriptlet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&lt;% %&gt;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Embed Java code (not recommended in modern use)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38175">
                <a:tc>
                  <a:txBody>
                    <a:bodyPr/>
                    <a:p>
                      <a:r>
                        <a:rPr sz="1800"/>
                        <a:t>Expression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&lt;%= %&gt;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Output Java value to the response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6673215" y="20796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b="1">
                <a:solidFill>
                  <a:srgbClr val="FF0000"/>
                </a:solidFill>
              </a:rPr>
              <a:t>2. JSP Scripting Elements</a:t>
            </a:r>
            <a:endParaRPr b="1">
              <a:solidFill>
                <a:srgbClr val="FF0000"/>
              </a:solidFill>
            </a:endParaRPr>
          </a:p>
        </p:txBody>
      </p:sp>
      <p:graphicFrame>
        <p:nvGraphicFramePr>
          <p:cNvPr id="8" name="Table 7"/>
          <p:cNvGraphicFramePr/>
          <p:nvPr>
            <p:custDataLst>
              <p:tags r:id="rId3"/>
            </p:custDataLst>
          </p:nvPr>
        </p:nvGraphicFramePr>
        <p:xfrm>
          <a:off x="113665" y="3556000"/>
          <a:ext cx="6256020" cy="3155950"/>
        </p:xfrm>
        <a:graphic>
          <a:graphicData uri="http://schemas.openxmlformats.org/drawingml/2006/table">
            <a:tbl>
              <a:tblPr/>
              <a:tblGrid>
                <a:gridCol w="948690"/>
                <a:gridCol w="2811145"/>
                <a:gridCol w="2496185"/>
              </a:tblGrid>
              <a:tr h="725805"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Directive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Syntax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Description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978535">
                <a:tc>
                  <a:txBody>
                    <a:bodyPr/>
                    <a:p>
                      <a:r>
                        <a:rPr sz="1800"/>
                        <a:t>Page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&lt;%@ page ... %&gt;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Set language, import packages, error page, etc.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25805">
                <a:tc>
                  <a:txBody>
                    <a:bodyPr/>
                    <a:p>
                      <a:r>
                        <a:rPr sz="1800"/>
                        <a:t>Include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&lt;%@ include file="header.jsp" %&gt;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Static include at compile time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25805">
                <a:tc>
                  <a:txBody>
                    <a:bodyPr/>
                    <a:p>
                      <a:r>
                        <a:rPr sz="1800"/>
                        <a:t>Taglib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&lt;%@ taglib uri="..." prefix="..." %&gt;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 JSTL or custom tags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114300" y="3228975"/>
            <a:ext cx="6255385" cy="24257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sz="2000" b="1">
                <a:solidFill>
                  <a:srgbClr val="FF0000"/>
                </a:solidFill>
              </a:rPr>
              <a:t>3. JSP Directives</a:t>
            </a:r>
            <a:endParaRPr sz="2000" b="1">
              <a:solidFill>
                <a:srgbClr val="FF0000"/>
              </a:solidFill>
            </a:endParaRPr>
          </a:p>
        </p:txBody>
      </p:sp>
      <p:graphicFrame>
        <p:nvGraphicFramePr>
          <p:cNvPr id="10" name="Table 9"/>
          <p:cNvGraphicFramePr/>
          <p:nvPr>
            <p:custDataLst>
              <p:tags r:id="rId4"/>
            </p:custDataLst>
          </p:nvPr>
        </p:nvGraphicFramePr>
        <p:xfrm>
          <a:off x="6673215" y="3492500"/>
          <a:ext cx="5364480" cy="3228340"/>
        </p:xfrm>
        <a:graphic>
          <a:graphicData uri="http://schemas.openxmlformats.org/drawingml/2006/table">
            <a:tbl>
              <a:tblPr/>
              <a:tblGrid>
                <a:gridCol w="1217295"/>
                <a:gridCol w="4147185"/>
              </a:tblGrid>
              <a:tr h="327025">
                <a:tc>
                  <a:txBody>
                    <a:bodyPr/>
                    <a:p>
                      <a:pPr algn="ctr"/>
                      <a:r>
                        <a:rPr sz="2000" b="1"/>
                        <a:t>Object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/>
                        <a:t>Description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22580">
                <a:tc>
                  <a:txBody>
                    <a:bodyPr/>
                    <a:p>
                      <a:r>
                        <a:rPr sz="1800"/>
                        <a:t>request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HTTP request object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21945">
                <a:tc>
                  <a:txBody>
                    <a:bodyPr/>
                    <a:p>
                      <a:r>
                        <a:rPr sz="1800"/>
                        <a:t>response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HTTP response object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22580">
                <a:tc>
                  <a:txBody>
                    <a:bodyPr/>
                    <a:p>
                      <a:r>
                        <a:rPr sz="1800"/>
                        <a:t>session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User session object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22580">
                <a:tc>
                  <a:txBody>
                    <a:bodyPr/>
                    <a:p>
                      <a:r>
                        <a:rPr sz="1800"/>
                        <a:t>application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ServletContext (shared for entire app)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21945">
                <a:tc>
                  <a:txBody>
                    <a:bodyPr/>
                    <a:p>
                      <a:r>
                        <a:rPr sz="1800"/>
                        <a:t>out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Sends output to browser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22580">
                <a:tc>
                  <a:txBody>
                    <a:bodyPr/>
                    <a:p>
                      <a:r>
                        <a:rPr sz="1800"/>
                        <a:t>config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ServletConfig object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22580">
                <a:tc>
                  <a:txBody>
                    <a:bodyPr/>
                    <a:p>
                      <a:r>
                        <a:rPr sz="1800"/>
                        <a:t>pageContext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Manages namespaces and scopes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21945">
                <a:tc>
                  <a:txBody>
                    <a:bodyPr/>
                    <a:p>
                      <a:r>
                        <a:rPr sz="1800"/>
                        <a:t>page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This page’s servlet object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22580">
                <a:tc>
                  <a:txBody>
                    <a:bodyPr/>
                    <a:p>
                      <a:r>
                        <a:rPr sz="1800"/>
                        <a:t>exception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Used in error pages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673215" y="3162300"/>
            <a:ext cx="5080000" cy="313690"/>
          </a:xfrm>
          <a:prstGeom prst="rect">
            <a:avLst/>
          </a:prstGeom>
        </p:spPr>
        <p:txBody>
          <a:bodyPr>
            <a:noAutofit/>
          </a:bodyPr>
          <a:p>
            <a:r>
              <a:rPr b="1">
                <a:solidFill>
                  <a:srgbClr val="FF0000"/>
                </a:solidFill>
              </a:rPr>
              <a:t>4. JSP Implicit Objects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540" y="0"/>
            <a:ext cx="10515600" cy="403225"/>
          </a:xfrm>
        </p:spPr>
        <p:txBody>
          <a:bodyPr>
            <a:normAutofit fontScale="90000"/>
          </a:bodyPr>
          <a:p>
            <a:r>
              <a:rPr lang="en-US" sz="2800" b="1">
                <a:solidFill>
                  <a:srgbClr val="FF0000"/>
                </a:solidFill>
              </a:rPr>
              <a:t>JSP Expressions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10" y="403225"/>
            <a:ext cx="12086590" cy="6455410"/>
          </a:xfrm>
        </p:spPr>
        <p:txBody>
          <a:bodyPr>
            <a:normAutofit/>
          </a:bodyPr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5455285" y="271145"/>
            <a:ext cx="6096000" cy="1506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en-US" sz="2000" b="1">
                <a:sym typeface="+mn-ea"/>
              </a:rPr>
              <a:t>2. </a:t>
            </a:r>
            <a:r>
              <a:rPr lang="en-US" altLang="en-US" sz="2000" b="1">
                <a:sym typeface="+mn-ea"/>
              </a:rPr>
              <a:t>Expression Tag – &lt;%= expression %&gt;</a:t>
            </a:r>
            <a:endParaRPr lang="en-US" altLang="en-US" sz="2000" b="1">
              <a:sym typeface="+mn-ea"/>
            </a:endParaRPr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Prints the result of a Java expression to the web page.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&lt;%= "Hello, JSP!" %&gt;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&lt;%= sum %&gt; &lt;!-- This will print the value of the sum variable --&gt;</a:t>
            </a:r>
            <a:endParaRPr lang="en-US" altLang="en-US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5410" y="403225"/>
            <a:ext cx="4870450" cy="23571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en-US">
                <a:sym typeface="+mn-ea"/>
              </a:rPr>
              <a:t>JSP Tags and Expressions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JSP uses special syntax for embedding Java code: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Used to write Java code directly.</a:t>
            </a:r>
            <a:endParaRPr lang="en-US" altLang="en-US" sz="1800"/>
          </a:p>
          <a:p>
            <a:pPr marL="0" indent="0">
              <a:buNone/>
            </a:pPr>
            <a:r>
              <a:rPr lang="zh-CN" altLang="en-US" b="1">
                <a:sym typeface="+mn-ea"/>
              </a:rPr>
              <a:t>🔹</a:t>
            </a:r>
            <a:r>
              <a:rPr lang="en-US" altLang="en-US" b="1">
                <a:sym typeface="+mn-ea"/>
              </a:rPr>
              <a:t> 1. </a:t>
            </a:r>
            <a:r>
              <a:rPr lang="en-US" altLang="en-US" b="1">
                <a:sym typeface="+mn-ea"/>
              </a:rPr>
              <a:t>Scriptlet Tag – &lt;% code %&gt;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>
                <a:sym typeface="+mn-ea"/>
              </a:rPr>
              <a:t>&lt;%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int a = 5;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int b = 10;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int sum = a + b;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%&gt;</a:t>
            </a:r>
            <a:endParaRPr lang="en-US" altLang="en-US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05410" y="3170555"/>
            <a:ext cx="4688840" cy="26149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en-US" sz="2000" b="1">
                <a:sym typeface="+mn-ea"/>
              </a:rPr>
              <a:t>3. Declaration Tag – &lt;%! declaration %&gt;</a:t>
            </a:r>
            <a:endParaRPr lang="en-US" altLang="en-US" sz="2000" b="1">
              <a:sym typeface="+mn-ea"/>
            </a:endParaRPr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Used to declare variables or methods at class level.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&lt;%! int counter = 0; %&gt;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&lt;%! public int add(int x, int y)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return x + y;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%&gt;</a:t>
            </a:r>
            <a:endParaRPr lang="en-US" altLang="en-US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243195" y="1884680"/>
            <a:ext cx="6822440" cy="2225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2000" b="1">
                <a:sym typeface="+mn-ea"/>
              </a:rPr>
              <a:t>4. Directive Tag – &lt;%@ directive %&gt;</a:t>
            </a:r>
            <a:endParaRPr lang="en-US" altLang="en-US" sz="2000" b="1">
              <a:sym typeface="+mn-ea"/>
            </a:endParaRPr>
          </a:p>
          <a:p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Used to give instructions to the JSP engine.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&lt;%@ page language="java" contentType="text/html" %&gt;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&lt;%@ include file="header.jsp" %&gt; &lt;!-- Includes another JSP file --&gt;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" y="0"/>
            <a:ext cx="10515600" cy="418465"/>
          </a:xfrm>
        </p:spPr>
        <p:txBody>
          <a:bodyPr>
            <a:normAutofit fontScale="90000"/>
          </a:bodyPr>
          <a:p>
            <a:r>
              <a:rPr lang="en-US" sz="2400" b="1">
                <a:solidFill>
                  <a:srgbClr val="FF0000"/>
                </a:solidFill>
                <a:sym typeface="+mn-ea"/>
              </a:rPr>
              <a:t>JSP Expressions</a:t>
            </a:r>
            <a:endParaRPr lang="en-US" sz="2400" b="1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63830" y="418465"/>
          <a:ext cx="11567160" cy="2679700"/>
        </p:xfrm>
        <a:graphic>
          <a:graphicData uri="http://schemas.openxmlformats.org/drawingml/2006/table">
            <a:tbl>
              <a:tblPr/>
              <a:tblGrid>
                <a:gridCol w="3166110"/>
                <a:gridCol w="3842385"/>
                <a:gridCol w="4558665"/>
              </a:tblGrid>
              <a:tr h="535940"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Tag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Purpose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Syntax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r>
                        <a:rPr sz="1800"/>
                        <a:t>Scriptlet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Java code block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&lt;% code %&gt;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r>
                        <a:rPr sz="1800"/>
                        <a:t>Expression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Print value to HTML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&lt;%= expression %&gt;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r>
                        <a:rPr sz="1800"/>
                        <a:t>Declaration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Declare variable/method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&lt;%! declaration %&gt;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r>
                        <a:rPr sz="1800"/>
                        <a:t>Directive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Page instructions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&lt;%@ directive %&gt;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635"/>
            <a:ext cx="10515600" cy="403225"/>
          </a:xfrm>
        </p:spPr>
        <p:txBody>
          <a:bodyPr>
            <a:normAutofit fontScale="90000"/>
          </a:bodyPr>
          <a:p>
            <a:pPr algn="ctr"/>
            <a:r>
              <a:rPr lang="en-US" altLang="en-US" sz="2800" b="1">
                <a:solidFill>
                  <a:srgbClr val="FF0000"/>
                </a:solidFill>
                <a:sym typeface="+mn-ea"/>
              </a:rPr>
              <a:t>What is a Servlet?</a:t>
            </a:r>
            <a:endParaRPr lang="en-US" altLang="en-US" sz="28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65" y="492125"/>
            <a:ext cx="11968480" cy="636524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2000"/>
              <a:t>A Servlet is a Java class used to build web applications. It runs on the server side and handles HTTP requests and responses.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In simple terms: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A Servlet receives a request from the browser. Processes it (like accessing a database).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Sends back a response (like HTML data, success message, etc.).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It’s part of Java EE / Jakarta EE and works with a Servlet container like </a:t>
            </a:r>
            <a:r>
              <a:rPr lang="en-US" altLang="en-US" sz="2000" b="1"/>
              <a:t>Apache Tomcat</a:t>
            </a:r>
            <a:r>
              <a:rPr lang="en-US" altLang="en-US" sz="2000"/>
              <a:t>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Why Use Servlets?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Servlets are used for: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Handling complex business logic.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Controlling the flow between the browser and the server.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Managing data operations (insert, update, delete, read).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Acting as the controller in MVC architecture.</a:t>
            </a:r>
            <a:endParaRPr lang="en-US" altLang="en-US"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5"/>
            <a:ext cx="10515600" cy="461010"/>
          </a:xfrm>
        </p:spPr>
        <p:txBody>
          <a:bodyPr>
            <a:normAutofit fontScale="90000"/>
          </a:bodyPr>
          <a:p>
            <a:pPr algn="ctr"/>
            <a:r>
              <a:rPr lang="en-US" sz="3200" b="1">
                <a:solidFill>
                  <a:srgbClr val="FF0000"/>
                </a:solidFill>
              </a:rPr>
              <a:t>Advantages of Servlet</a:t>
            </a:r>
            <a:endParaRPr lang="en-US" sz="32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252730" y="461645"/>
          <a:ext cx="11698605" cy="2299970"/>
        </p:xfrm>
        <a:graphic>
          <a:graphicData uri="http://schemas.openxmlformats.org/drawingml/2006/table">
            <a:tbl>
              <a:tblPr/>
              <a:tblGrid>
                <a:gridCol w="4227830"/>
                <a:gridCol w="7470775"/>
              </a:tblGrid>
              <a:tr h="313690"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Advantage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Description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0830">
                <a:tc>
                  <a:txBody>
                    <a:bodyPr/>
                    <a:p>
                      <a:pPr algn="l"/>
                      <a:r>
                        <a:rPr lang="en-US" sz="1800"/>
                        <a:t>  </a:t>
                      </a:r>
                      <a:r>
                        <a:rPr sz="1800"/>
                        <a:t>Platform Independent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Runs on any OS that supports Java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9560">
                <a:tc>
                  <a:txBody>
                    <a:bodyPr/>
                    <a:p>
                      <a:pPr algn="l"/>
                      <a:r>
                        <a:rPr sz="1800"/>
                        <a:t> Efficient and Scalable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Managed by container like Tomcat, Jetty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0195">
                <a:tc>
                  <a:txBody>
                    <a:bodyPr/>
                    <a:p>
                      <a:pPr algn="l"/>
                      <a:r>
                        <a:rPr sz="1800"/>
                        <a:t> Secure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Supports HTTPS, session, authentication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0830">
                <a:tc>
                  <a:txBody>
                    <a:bodyPr/>
                    <a:p>
                      <a:pPr algn="l"/>
                      <a:r>
                        <a:rPr sz="1800"/>
                        <a:t> Integration with JSP/HTML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Works well with JSP for UI output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4670">
                <a:tc>
                  <a:txBody>
                    <a:bodyPr/>
                    <a:p>
                      <a:pPr algn="l"/>
                      <a:r>
                        <a:rPr sz="1800"/>
                        <a:t> Reusable and Maintainable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Business logic is separated from presentation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0195">
                <a:tc>
                  <a:txBody>
                    <a:bodyPr/>
                    <a:p>
                      <a:pPr algn="l"/>
                      <a:r>
                        <a:rPr sz="1800"/>
                        <a:t> Lifecycle Management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Handled by the server automatically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133985" y="2762250"/>
            <a:ext cx="11951335" cy="108712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sz="2000" b="1"/>
              <a:t>What is HttpServlet?</a:t>
            </a:r>
            <a:endParaRPr sz="2200" b="1"/>
          </a:p>
          <a:p>
            <a:r>
              <a:rPr sz="1600"/>
              <a:t>HttpServlet is a Java class provided by Java EE / Jakarta EE that helps in building web applications. It is part of the Servlet API, and it's used to handle HTTP requests (like GET, POST, etc.).</a:t>
            </a:r>
            <a:endParaRPr sz="1600"/>
          </a:p>
        </p:txBody>
      </p:sp>
      <p:sp>
        <p:nvSpPr>
          <p:cNvPr id="6" name="Text Box 5"/>
          <p:cNvSpPr txBox="1"/>
          <p:nvPr/>
        </p:nvSpPr>
        <p:spPr>
          <a:xfrm>
            <a:off x="133985" y="3937000"/>
            <a:ext cx="11294110" cy="2860675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None/>
            </a:pPr>
            <a:r>
              <a:t>It is a subclass of GenericServlet, and it's specifically designed to work with the HTTP protocol (used in web browsers and web servers).</a:t>
            </a:r>
          </a:p>
          <a:p>
            <a:pPr indent="0">
              <a:spcAft>
                <a:spcPct val="60000"/>
              </a:spcAft>
              <a:buNone/>
            </a:pPr>
            <a:r>
              <a:rPr b="1"/>
              <a:t>Purpose:</a:t>
            </a:r>
            <a:r>
              <a:t>When you build a Java web application, HttpServlet allows you to:</a:t>
            </a:r>
          </a:p>
          <a:p>
            <a:pPr indent="0">
              <a:buNone/>
            </a:pPr>
            <a:r>
              <a:t>Handle browser requests (GET, POST, etc.)</a:t>
            </a:r>
          </a:p>
          <a:p>
            <a:pPr indent="0">
              <a:buNone/>
            </a:pPr>
          </a:p>
          <a:p>
            <a:pPr indent="0">
              <a:buNone/>
            </a:pPr>
            <a:r>
              <a:t>Send responses like HTML pages or JSON</a:t>
            </a:r>
          </a:p>
          <a:p>
            <a:pPr indent="0">
              <a:buNone/>
            </a:pPr>
          </a:p>
          <a:p>
            <a:pPr indent="0">
              <a:buNone/>
            </a:pPr>
            <a:r>
              <a:t>Interact with web components like forms, APIs, etc.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775" y="86995"/>
            <a:ext cx="11816715" cy="6527800"/>
          </a:xfrm>
        </p:spPr>
        <p:txBody>
          <a:bodyPr/>
          <a:p>
            <a:r>
              <a:rPr lang="en-US" altLang="en-US" sz="1800"/>
              <a:t>Where is HttpServlet Used?</a:t>
            </a:r>
            <a:endParaRPr lang="en-US" altLang="en-US" sz="1800"/>
          </a:p>
          <a:p>
            <a:r>
              <a:rPr lang="en-US" altLang="en-US" sz="1800"/>
              <a:t>It runs inside a Servlet container like:</a:t>
            </a:r>
            <a:endParaRPr lang="en-US" altLang="en-US" sz="1800"/>
          </a:p>
          <a:p>
            <a:r>
              <a:rPr lang="en-US" altLang="en-US" sz="1800"/>
              <a:t>Apache Tomcat   , Jetty , GlassFish</a:t>
            </a:r>
            <a:endParaRPr lang="en-US" altLang="en-US" sz="1800"/>
          </a:p>
          <a:p>
            <a:r>
              <a:rPr lang="en-US" altLang="en-US" sz="1800"/>
              <a:t>It is used to build dynamic web applications (pre-Spring or alongside Spring).</a:t>
            </a:r>
            <a:endParaRPr lang="en-US" altLang="en-US" sz="1800"/>
          </a:p>
          <a:p>
            <a:endParaRPr lang="en-US" altLang="en-US" sz="18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14300" y="1629410"/>
          <a:ext cx="11798300" cy="2122170"/>
        </p:xfrm>
        <a:graphic>
          <a:graphicData uri="http://schemas.openxmlformats.org/drawingml/2006/table">
            <a:tbl>
              <a:tblPr/>
              <a:tblGrid>
                <a:gridCol w="4187825"/>
                <a:gridCol w="7610475"/>
              </a:tblGrid>
              <a:tr h="353695"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Feature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Description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53695">
                <a:tc>
                  <a:txBody>
                    <a:bodyPr/>
                    <a:p>
                      <a:r>
                        <a:rPr sz="1800"/>
                        <a:t>Class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HttpServlet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53695">
                <a:tc>
                  <a:txBody>
                    <a:bodyPr/>
                    <a:p>
                      <a:r>
                        <a:rPr sz="1800"/>
                        <a:t>Package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javax.servlet.http or jakarta.servlet.http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53695">
                <a:tc>
                  <a:txBody>
                    <a:bodyPr/>
                    <a:p>
                      <a:r>
                        <a:rPr sz="1800"/>
                        <a:t>Purpose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Handles HTTP requests in Java web apps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53695">
                <a:tc>
                  <a:txBody>
                    <a:bodyPr/>
                    <a:p>
                      <a:r>
                        <a:rPr sz="1800"/>
                        <a:t>Used In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Servlets, JSP, Java EE, Spring (internally)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53695">
                <a:tc>
                  <a:txBody>
                    <a:bodyPr/>
                    <a:p>
                      <a:r>
                        <a:rPr sz="1800"/>
                        <a:t>Important Methods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doGet(), doPost(), service(), etc.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860" y="0"/>
            <a:ext cx="10515600" cy="231775"/>
          </a:xfrm>
        </p:spPr>
        <p:txBody>
          <a:bodyPr>
            <a:noAutofit/>
          </a:bodyPr>
          <a:p>
            <a:r>
              <a:rPr lang="en-US" sz="2000" b="1">
                <a:solidFill>
                  <a:srgbClr val="FF0000"/>
                </a:solidFill>
              </a:rPr>
              <a:t>Key Methods of HttpServlet Class</a:t>
            </a:r>
            <a:endParaRPr lang="en-US" sz="20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06045" y="232410"/>
          <a:ext cx="11979275" cy="6519545"/>
        </p:xfrm>
        <a:graphic>
          <a:graphicData uri="http://schemas.openxmlformats.org/drawingml/2006/table">
            <a:tbl>
              <a:tblPr/>
              <a:tblGrid>
                <a:gridCol w="6198870"/>
                <a:gridCol w="5780405"/>
              </a:tblGrid>
              <a:tr h="668020">
                <a:tc>
                  <a:txBody>
                    <a:bodyPr/>
                    <a:p>
                      <a:pPr algn="ctr"/>
                      <a:r>
                        <a:rPr sz="2400" b="1">
                          <a:solidFill>
                            <a:srgbClr val="FF0000"/>
                          </a:solidFill>
                        </a:rPr>
                        <a:t>Method</a:t>
                      </a:r>
                      <a:endParaRPr sz="24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400" b="1">
                          <a:solidFill>
                            <a:srgbClr val="FF0000"/>
                          </a:solidFill>
                        </a:rPr>
                        <a:t>Description</a:t>
                      </a:r>
                      <a:endParaRPr sz="24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67385">
                <a:tc>
                  <a:txBody>
                    <a:bodyPr/>
                    <a:p>
                      <a:r>
                        <a:rPr sz="2000"/>
                        <a:t>doGet(HttpServletRequest req, HttpServletResponse resp)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Handles HTTP GET requests (e.g., loading a webpage).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67385">
                <a:tc>
                  <a:txBody>
                    <a:bodyPr/>
                    <a:p>
                      <a:r>
                        <a:rPr sz="2000"/>
                        <a:t>doPost(HttpServletRequest req, HttpServletResponse resp)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Handles HTTP POST requests (e.g., form submission).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67385">
                <a:tc>
                  <a:txBody>
                    <a:bodyPr/>
                    <a:p>
                      <a:r>
                        <a:rPr sz="2000"/>
                        <a:t>doPut(HttpServletRequest req, HttpServletResponse resp)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Handles HTTP PUT requests (e.g., updating data).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923925">
                <a:tc>
                  <a:txBody>
                    <a:bodyPr/>
                    <a:p>
                      <a:r>
                        <a:rPr sz="2000"/>
                        <a:t>doDelete(HttpServletRequest req, HttpServletResponse resp)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Handles HTTP DELETE requests (e.g., deleting data).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66750">
                <a:tc>
                  <a:txBody>
                    <a:bodyPr/>
                    <a:p>
                      <a:r>
                        <a:rPr sz="2000"/>
                        <a:t>doHead(HttpServletRequest req, HttpServletResponse resp)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Same as GET but only returns headers.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923290">
                <a:tc>
                  <a:txBody>
                    <a:bodyPr/>
                    <a:p>
                      <a:r>
                        <a:rPr sz="2000"/>
                        <a:t>doOptions(HttpServletRequest req, HttpServletResponse resp)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Tells client what HTTP methods are supported.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335405">
                <a:tc>
                  <a:txBody>
                    <a:bodyPr/>
                    <a:p>
                      <a:r>
                        <a:rPr sz="2000"/>
                        <a:t>service(HttpServletRequest req, HttpServletResponse resp)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Called by the server to handle the request. It internally calls doGet, doPost, etc. based on the HTTP method.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313690"/>
          </a:xfrm>
        </p:spPr>
        <p:txBody>
          <a:bodyPr>
            <a:normAutofit fontScale="90000"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RequesetDispatcher in Servlet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055"/>
            <a:ext cx="11832590" cy="6544945"/>
          </a:xfrm>
        </p:spPr>
        <p:txBody>
          <a:bodyPr>
            <a:noAutofit/>
          </a:bodyPr>
          <a:p>
            <a:pPr marL="0" indent="0" algn="l">
              <a:buNone/>
            </a:pPr>
            <a:r>
              <a:rPr lang="en-US" altLang="en-US" sz="1600"/>
              <a:t>In Servlets, a RequestDispatcher is an interface used to forward or include the content of another resource (like a JSP, another servlet, or HTML file) in a web application.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It helps you delegate a request from one component to another within the same web application — without the client knowing.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forward(ServletRequest request, ServletResponse response)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Forwards the same request and response objects to another resource.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The control is transferred completely to the target resource.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The browser’s URL doesn’t change.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Anything written to the response before forwarding is ignored.</a:t>
            </a:r>
            <a:endParaRPr lang="en-US" altLang="en-US" sz="1600"/>
          </a:p>
          <a:p>
            <a:pPr marL="0" indent="0" algn="l">
              <a:buNone/>
            </a:pP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request.setAttribute("products", dao.getAllProducts());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        RequestDispatcher rd = request.getRequestDispatcher("productList.jsp");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        rd.forward(request, response);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 List&lt;Product&gt; list = (List&lt;Product&gt;) request.getAttribute("products");</a:t>
            </a:r>
            <a:endParaRPr lang="en-US" altLang="en-US" sz="1600"/>
          </a:p>
          <a:p>
            <a:pPr marL="0" indent="0" algn="l">
              <a:buNone/>
            </a:pP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private static List&lt;Product&gt; products = new ArrayList&lt;&gt;();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    public void addProduct(Product product) {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        products.add(product);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    }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    public List&lt;Product&gt; getAllProducts() {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        return products;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    }</a:t>
            </a:r>
            <a:endParaRPr lang="en-US" altLang="en-US"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5"/>
            <a:ext cx="10515600" cy="416560"/>
          </a:xfrm>
        </p:spPr>
        <p:txBody>
          <a:bodyPr>
            <a:normAutofit fontScale="90000"/>
          </a:bodyPr>
          <a:p>
            <a:pPr algn="ctr"/>
            <a:r>
              <a:rPr lang="en-US" altLang="en-US" sz="2400" b="1">
                <a:solidFill>
                  <a:srgbClr val="FF0000"/>
                </a:solidFill>
                <a:sym typeface="+mn-ea"/>
              </a:rPr>
              <a:t>Servlet Lifecycle</a:t>
            </a:r>
            <a:endParaRPr lang="en-US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10" y="417195"/>
            <a:ext cx="11997690" cy="619823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/>
              <a:t>A servlet goes through several phases managed by the servlet container (like Tomcat):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1. Loading and Instantiation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The servlet container loads the servlet class and creates an instance.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This usually happens when the servlet is first requested or at server startup if configured.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2. Initialization (init method)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Container calls init() method once after instantiation.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Used to perform one-time setup like opening DB connections.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3. Request Handling (service method)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For each client request, container calls service() method.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service() dispatches the request to doGet(), doPost(), etc., based on HTTP method.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This method can be called multiple times concurrently for multiple requests.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4. Destruction (destroy method)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When the servlet is being taken out of service (server shutdown or undeploy), container calls destroy().</a:t>
            </a:r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8359140" y="2239010"/>
            <a:ext cx="3583940" cy="30086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r>
              <a:rPr lang="en-US" altLang="en-US"/>
              <a:t>Load &amp; Instantiate</a:t>
            </a:r>
            <a:endParaRPr lang="en-US" altLang="en-US"/>
          </a:p>
          <a:p>
            <a:r>
              <a:rPr lang="en-US" altLang="en-US"/>
              <a:t>        ↓</a:t>
            </a:r>
            <a:endParaRPr lang="en-US" altLang="en-US"/>
          </a:p>
          <a:p>
            <a:r>
              <a:rPr lang="en-US" altLang="en-US"/>
              <a:t>      init()</a:t>
            </a:r>
            <a:endParaRPr lang="en-US" altLang="en-US"/>
          </a:p>
          <a:p>
            <a:r>
              <a:rPr lang="en-US" altLang="en-US"/>
              <a:t>        ↓</a:t>
            </a:r>
            <a:endParaRPr lang="en-US" altLang="en-US"/>
          </a:p>
          <a:p>
            <a:r>
              <a:rPr lang="en-US" altLang="en-US"/>
              <a:t>    service() ←←←←←←←←←←←←←←←← (multiple requests)</a:t>
            </a:r>
            <a:endParaRPr lang="en-US" altLang="en-US"/>
          </a:p>
          <a:p>
            <a:r>
              <a:rPr lang="en-US" altLang="en-US"/>
              <a:t>        ↓</a:t>
            </a:r>
            <a:endParaRPr lang="en-US" altLang="en-US"/>
          </a:p>
          <a:p>
            <a:r>
              <a:rPr lang="en-US" altLang="en-US"/>
              <a:t>    destroy()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" y="-635"/>
            <a:ext cx="11911330" cy="459740"/>
          </a:xfrm>
        </p:spPr>
        <p:txBody>
          <a:bodyPr/>
          <a:p>
            <a:r>
              <a:rPr lang="en-US" altLang="en-US" sz="2000" b="1">
                <a:solidFill>
                  <a:srgbClr val="FF0000"/>
                </a:solidFill>
              </a:rPr>
              <a:t>Most Important Servlet Topics</a:t>
            </a:r>
            <a:endParaRPr lang="en-US" altLang="en-US" sz="20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67640" y="339090"/>
          <a:ext cx="11911330" cy="1582420"/>
        </p:xfrm>
        <a:graphic>
          <a:graphicData uri="http://schemas.openxmlformats.org/drawingml/2006/table">
            <a:tbl>
              <a:tblPr/>
              <a:tblGrid>
                <a:gridCol w="4832985"/>
                <a:gridCol w="7078345"/>
              </a:tblGrid>
              <a:tr h="274320"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Topic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Description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61620">
                <a:tc>
                  <a:txBody>
                    <a:bodyPr/>
                    <a:p>
                      <a:pPr algn="l"/>
                      <a:r>
                        <a:rPr sz="1600"/>
                        <a:t>What is a Servlet?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Java class that handles HTTP requests/responses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61620">
                <a:tc>
                  <a:txBody>
                    <a:bodyPr/>
                    <a:p>
                      <a:pPr algn="l"/>
                      <a:r>
                        <a:rPr sz="1600"/>
                        <a:t>Life Cycle of a Servlet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init(), service(), destroy() methods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61620">
                <a:tc>
                  <a:txBody>
                    <a:bodyPr/>
                    <a:p>
                      <a:pPr algn="l"/>
                      <a:r>
                        <a:rPr sz="1600"/>
                        <a:t>Servlet API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javax.servlet, javax.servlet.http packages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61620">
                <a:tc>
                  <a:txBody>
                    <a:bodyPr/>
                    <a:p>
                      <a:pPr algn="l"/>
                      <a:r>
                        <a:rPr sz="1600"/>
                        <a:t>ServletConfig vs ServletContext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Config: per servlet; Context: shared across app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61620">
                <a:tc>
                  <a:txBody>
                    <a:bodyPr/>
                    <a:p>
                      <a:pPr algn="l"/>
                      <a:r>
                        <a:rPr sz="1600"/>
                        <a:t>How Servlets work with a Web Server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Handled via Servlet container like Tomcat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167005" y="2372995"/>
          <a:ext cx="5671185" cy="1767840"/>
        </p:xfrm>
        <a:graphic>
          <a:graphicData uri="http://schemas.openxmlformats.org/drawingml/2006/table">
            <a:tbl>
              <a:tblPr/>
              <a:tblGrid>
                <a:gridCol w="2123440"/>
                <a:gridCol w="3547745"/>
              </a:tblGrid>
              <a:tr h="360680">
                <a:tc>
                  <a:txBody>
                    <a:bodyPr/>
                    <a:p>
                      <a:r>
                        <a:rPr sz="1800"/>
                        <a:t>Method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Purpose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0680">
                <a:tc>
                  <a:txBody>
                    <a:bodyPr/>
                    <a:p>
                      <a:r>
                        <a:rPr sz="1800"/>
                        <a:t>init()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Called once when servlet is created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25120">
                <a:tc>
                  <a:txBody>
                    <a:bodyPr/>
                    <a:p>
                      <a:r>
                        <a:rPr sz="1800"/>
                        <a:t>service()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Called on each request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0680">
                <a:tc>
                  <a:txBody>
                    <a:bodyPr/>
                    <a:p>
                      <a:r>
                        <a:rPr sz="1800"/>
                        <a:t>doGet(), doPost()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Handle specific HTTP methods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0680">
                <a:tc>
                  <a:txBody>
                    <a:bodyPr/>
                    <a:p>
                      <a:r>
                        <a:rPr sz="1800"/>
                        <a:t>destroy()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Called once before servlet is removed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>
            <p:custDataLst>
              <p:tags r:id="rId3"/>
            </p:custDataLst>
          </p:nvPr>
        </p:nvGraphicFramePr>
        <p:xfrm>
          <a:off x="5975985" y="2372995"/>
          <a:ext cx="6216015" cy="1767840"/>
        </p:xfrm>
        <a:graphic>
          <a:graphicData uri="http://schemas.openxmlformats.org/drawingml/2006/table">
            <a:tbl>
              <a:tblPr/>
              <a:tblGrid>
                <a:gridCol w="2082800"/>
                <a:gridCol w="4133215"/>
              </a:tblGrid>
              <a:tr h="294640">
                <a:tc>
                  <a:txBody>
                    <a:bodyPr/>
                    <a:p>
                      <a:r>
                        <a:rPr sz="1800"/>
                        <a:t>Topic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Description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89280">
                <a:tc>
                  <a:txBody>
                    <a:bodyPr/>
                    <a:p>
                      <a:r>
                        <a:rPr sz="1800"/>
                        <a:t>HttpServletRequest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Reads request data (parameters, headers, etc.)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94005">
                <a:tc>
                  <a:txBody>
                    <a:bodyPr/>
                    <a:p>
                      <a:r>
                        <a:rPr sz="1800"/>
                        <a:t>HttpServletResponse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Sends response (HTML, JSON, etc.)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95275">
                <a:tc>
                  <a:txBody>
                    <a:bodyPr/>
                    <a:p>
                      <a:r>
                        <a:rPr sz="1800"/>
                        <a:t>Reading form data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getParameter(), getParameterValues()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94640">
                <a:tc>
                  <a:txBody>
                    <a:bodyPr/>
                    <a:p>
                      <a:r>
                        <a:rPr sz="1800"/>
                        <a:t>Sending responses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PrintWriter, setting content type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4"/>
            </p:custDataLst>
          </p:nvPr>
        </p:nvGraphicFramePr>
        <p:xfrm>
          <a:off x="167640" y="4711065"/>
          <a:ext cx="5670550" cy="2026285"/>
        </p:xfrm>
        <a:graphic>
          <a:graphicData uri="http://schemas.openxmlformats.org/drawingml/2006/table">
            <a:tbl>
              <a:tblPr/>
              <a:tblGrid>
                <a:gridCol w="1704340"/>
                <a:gridCol w="3966210"/>
              </a:tblGrid>
              <a:tr h="477520">
                <a:tc>
                  <a:txBody>
                    <a:bodyPr/>
                    <a:p>
                      <a:r>
                        <a:rPr sz="1800"/>
                        <a:t>Topic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Description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p>
                      <a:r>
                        <a:rPr sz="1800"/>
                        <a:t>Deployment Descriptor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web.xml file (Servlet mapping, init params)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99745">
                <a:tc>
                  <a:txBody>
                    <a:bodyPr/>
                    <a:p>
                      <a:r>
                        <a:rPr sz="1800"/>
                        <a:t>Annotations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@WebServlet, @WebInitParam (Java 6+)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00380">
                <a:tc>
                  <a:txBody>
                    <a:bodyPr/>
                    <a:p>
                      <a:r>
                        <a:rPr sz="1800"/>
                        <a:t>URL Mapping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Mapping servlets to specific URL patterns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/>
          <p:nvPr>
            <p:custDataLst>
              <p:tags r:id="rId5"/>
            </p:custDataLst>
          </p:nvPr>
        </p:nvGraphicFramePr>
        <p:xfrm>
          <a:off x="5976620" y="4640580"/>
          <a:ext cx="5970270" cy="2168525"/>
        </p:xfrm>
        <a:graphic>
          <a:graphicData uri="http://schemas.openxmlformats.org/drawingml/2006/table">
            <a:tbl>
              <a:tblPr/>
              <a:tblGrid>
                <a:gridCol w="2122805"/>
                <a:gridCol w="3847465"/>
              </a:tblGrid>
              <a:tr h="274320">
                <a:tc>
                  <a:txBody>
                    <a:bodyPr/>
                    <a:p>
                      <a:r>
                        <a:rPr sz="1800"/>
                        <a:t>Technique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Description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p>
                      <a:r>
                        <a:rPr sz="1800"/>
                        <a:t>Cookies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Small pieces of data stored in the browser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48945">
                <a:tc>
                  <a:txBody>
                    <a:bodyPr/>
                    <a:p>
                      <a:r>
                        <a:rPr sz="1800"/>
                        <a:t>HttpSession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Server-side session tracking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48310">
                <a:tc>
                  <a:txBody>
                    <a:bodyPr/>
                    <a:p>
                      <a:r>
                        <a:rPr sz="1800"/>
                        <a:t>URL Rewriting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Passing session data via URL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48310">
                <a:tc>
                  <a:txBody>
                    <a:bodyPr/>
                    <a:p>
                      <a:r>
                        <a:rPr sz="1800"/>
                        <a:t>Hidden Form Fields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Another way to track session info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5976620" y="4221798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sz="2000" b="1">
                <a:solidFill>
                  <a:srgbClr val="FF0000"/>
                </a:solidFill>
              </a:rPr>
              <a:t> 5. Session Management</a:t>
            </a:r>
            <a:endParaRPr sz="2000" b="1">
              <a:solidFill>
                <a:srgbClr val="FF0000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67005" y="4222115"/>
            <a:ext cx="5670550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 b="1">
                <a:solidFill>
                  <a:srgbClr val="FF0000"/>
                </a:solidFill>
              </a:rPr>
              <a:t>4. Servlet Configuration</a:t>
            </a:r>
            <a:endParaRPr sz="2000" b="1">
              <a:solidFill>
                <a:srgbClr val="FF0000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976620" y="1962150"/>
            <a:ext cx="6102350" cy="32956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b="1">
                <a:solidFill>
                  <a:srgbClr val="FF0000"/>
                </a:solidFill>
              </a:rPr>
              <a:t>3. Request &amp; Response Handling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67640" y="195421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b="1">
                <a:solidFill>
                  <a:srgbClr val="FF0000"/>
                </a:solidFill>
              </a:rPr>
              <a:t>2. Servlet Life Cycle Methods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5"/>
            <a:ext cx="10515600" cy="4506595"/>
          </a:xfrm>
        </p:spPr>
        <p:txBody>
          <a:bodyPr/>
          <a:p>
            <a:r>
              <a:rPr lang="zh-CN" altLang="en-US" sz="1800"/>
              <a:t>🔹</a:t>
            </a:r>
            <a:r>
              <a:rPr lang="en-US" altLang="en-US" sz="1800"/>
              <a:t> 6. Request Dispatching &amp; Redirecting</a:t>
            </a:r>
            <a:endParaRPr lang="en-US" altLang="en-US" sz="18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635" y="394335"/>
          <a:ext cx="5629910" cy="1633220"/>
        </p:xfrm>
        <a:graphic>
          <a:graphicData uri="http://schemas.openxmlformats.org/drawingml/2006/table">
            <a:tbl>
              <a:tblPr/>
              <a:tblGrid>
                <a:gridCol w="1780540"/>
                <a:gridCol w="3849370"/>
              </a:tblGrid>
              <a:tr h="457835">
                <a:tc>
                  <a:txBody>
                    <a:bodyPr/>
                    <a:p>
                      <a:r>
                        <a:rPr sz="1800"/>
                        <a:t>Topic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Description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588010">
                <a:tc>
                  <a:txBody>
                    <a:bodyPr/>
                    <a:p>
                      <a:r>
                        <a:rPr sz="1800"/>
                        <a:t>RequestDispatcher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Forward or include a request to another resource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587375">
                <a:tc>
                  <a:txBody>
                    <a:bodyPr/>
                    <a:p>
                      <a:r>
                        <a:rPr sz="1800"/>
                        <a:t>sendRedirect()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Redirect to another resource (client-side redirect)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Content Placeholder 2"/>
          <p:cNvSpPr>
            <a:spLocks noGrp="1"/>
          </p:cNvSpPr>
          <p:nvPr/>
        </p:nvSpPr>
        <p:spPr>
          <a:xfrm>
            <a:off x="100330" y="4875530"/>
            <a:ext cx="11937365" cy="1877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1800"/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00330" y="2178685"/>
          <a:ext cx="9713595" cy="2861945"/>
        </p:xfrm>
        <a:graphic>
          <a:graphicData uri="http://schemas.openxmlformats.org/drawingml/2006/table">
            <a:tbl>
              <a:tblPr/>
              <a:tblGrid>
                <a:gridCol w="3558540"/>
                <a:gridCol w="6155055"/>
              </a:tblGrid>
              <a:tr h="365760">
                <a:tc>
                  <a:txBody>
                    <a:bodyPr/>
                    <a:p>
                      <a:pPr algn="ctr"/>
                      <a:r>
                        <a:rPr sz="2000" b="1"/>
                        <a:t>Server Type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/>
                        <a:t>Function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r>
                        <a:rPr sz="1800"/>
                        <a:t>Web Server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Hosts websites (e.g., Apache, Nginx).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27050">
                <a:tc>
                  <a:txBody>
                    <a:bodyPr/>
                    <a:p>
                      <a:r>
                        <a:rPr sz="1800"/>
                        <a:t>Application Server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Runs business logic (e.g., Apache Tomcat, JBoss).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27685">
                <a:tc>
                  <a:txBody>
                    <a:bodyPr/>
                    <a:p>
                      <a:r>
                        <a:rPr sz="1800"/>
                        <a:t>Database Server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Manages data storage and retrieval (e.g., MySQL, Oracle).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r>
                        <a:rPr sz="1800"/>
                        <a:t>File Server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Stores and shares files.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27050">
                <a:tc>
                  <a:txBody>
                    <a:bodyPr/>
                    <a:p>
                      <a:r>
                        <a:rPr sz="1800"/>
                        <a:t>Email Server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Sends and receives emails (e.g., Microsoft Exchange).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r>
                        <a:rPr sz="1800"/>
                        <a:t>DNS Server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Translates domain names to IP addresses.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100330" y="4683125"/>
            <a:ext cx="2223770" cy="357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endParaRPr lang="en-US" altLang="en-US" sz="20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0" y="358775"/>
            <a:ext cx="11897995" cy="1943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en-US">
                <a:sym typeface="+mn-ea"/>
              </a:rPr>
              <a:t>A server is a computer or software system that provides services, resources, or data to other computers, known as clients, over a network.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 Basic Idea: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A server "serves" data or services to clients.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Clients can be browsers, apps, or other systems.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Example: When you open a website, your browser (client) makes a request to the web server, and the server sends back the webpage.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2048510" y="0"/>
            <a:ext cx="6096000" cy="358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en-US" sz="2000" b="1">
                <a:solidFill>
                  <a:srgbClr val="FF0000"/>
                </a:solidFill>
                <a:sym typeface="+mn-ea"/>
              </a:rPr>
              <a:t>What is a Server?</a:t>
            </a:r>
            <a:endParaRPr lang="en-US" altLang="en-US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26365" y="2487295"/>
            <a:ext cx="11908790" cy="4385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b="1">
                <a:sym typeface="+mn-ea"/>
              </a:rPr>
              <a:t>What is Apache Tomcat?</a:t>
            </a:r>
            <a:endParaRPr sz="2400" b="1"/>
          </a:p>
          <a:p>
            <a:r>
              <a:rPr>
                <a:sym typeface="+mn-ea"/>
              </a:rPr>
              <a:t>Apache Tomcat is an open-source Java-based web server and servlet container developed by the Apache Software Foundation.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It is used to run Java web applications — specifically, Java Servlets and JavaServer Pages (JSP).</a:t>
            </a:r>
            <a:endParaRPr>
              <a:sym typeface="+mn-ea"/>
            </a:endParaRPr>
          </a:p>
          <a:p>
            <a:pPr>
              <a:spcAft>
                <a:spcPct val="60000"/>
              </a:spcAft>
            </a:pPr>
            <a:r>
              <a:rPr sz="2400" b="1">
                <a:sym typeface="+mn-ea"/>
              </a:rPr>
              <a:t> </a:t>
            </a:r>
            <a:r>
              <a:rPr b="1">
                <a:sym typeface="+mn-ea"/>
              </a:rPr>
              <a:t>How It Works:</a:t>
            </a:r>
            <a:endParaRPr sz="2400" b="1"/>
          </a:p>
          <a:p>
            <a:pPr>
              <a:buAutoNum type="arabicPeriod"/>
            </a:pPr>
            <a:r>
              <a:rPr>
                <a:sym typeface="+mn-ea"/>
              </a:rPr>
              <a:t>A user requests a Java web app via a browser.</a:t>
            </a:r>
            <a:endParaRPr>
              <a:sym typeface="+mn-ea"/>
            </a:endParaRPr>
          </a:p>
          <a:p>
            <a:pPr>
              <a:buAutoNum type="arabicPeriod"/>
            </a:pPr>
            <a:r>
              <a:rPr>
                <a:sym typeface="+mn-ea"/>
              </a:rPr>
              <a:t>Tomcat receives the request.</a:t>
            </a:r>
            <a:endParaRPr>
              <a:sym typeface="+mn-ea"/>
            </a:endParaRPr>
          </a:p>
          <a:p>
            <a:pPr>
              <a:buAutoNum type="arabicPeriod"/>
            </a:pPr>
            <a:r>
              <a:rPr>
                <a:sym typeface="+mn-ea"/>
              </a:rPr>
              <a:t>It executes the Java code (Servlets/JSP).</a:t>
            </a:r>
            <a:endParaRPr>
              <a:sym typeface="+mn-ea"/>
            </a:endParaRPr>
          </a:p>
          <a:p>
            <a:pPr>
              <a:buAutoNum type="arabicPeriod"/>
            </a:pPr>
            <a:r>
              <a:rPr>
                <a:sym typeface="+mn-ea"/>
              </a:rPr>
              <a:t>Sends the response (HTML, JSON, etc.) back to the client.</a:t>
            </a:r>
            <a:endParaRPr>
              <a:sym typeface="+mn-ea"/>
            </a:endParaRPr>
          </a:p>
          <a:p>
            <a:pPr>
              <a:spcAft>
                <a:spcPct val="60000"/>
              </a:spcAft>
            </a:pPr>
            <a:r>
              <a:rPr b="1">
                <a:sym typeface="+mn-ea"/>
              </a:rPr>
              <a:t> Key Features:</a:t>
            </a:r>
            <a:endParaRPr b="1"/>
          </a:p>
          <a:p>
            <a:pPr>
              <a:spcAft>
                <a:spcPct val="60000"/>
              </a:spcAft>
            </a:pPr>
            <a:r>
              <a:rPr>
                <a:sym typeface="+mn-ea"/>
              </a:rPr>
              <a:t>Supports Servlet API, JSP, WebSocket, and more.</a:t>
            </a:r>
            <a:endParaRPr>
              <a:sym typeface="+mn-ea"/>
            </a:endParaRPr>
          </a:p>
          <a:p>
            <a:pPr>
              <a:buFont typeface="Arial" panose="020B0604020202020204"/>
              <a:buChar char="•"/>
            </a:pPr>
            <a:r>
              <a:rPr>
                <a:sym typeface="+mn-ea"/>
              </a:rPr>
              <a:t>Lightweight and easy to configure.</a:t>
            </a:r>
            <a:endParaRPr>
              <a:sym typeface="+mn-ea"/>
            </a:endParaRPr>
          </a:p>
          <a:p>
            <a:pPr>
              <a:buFont typeface="Arial" panose="020B0604020202020204"/>
              <a:buChar char="•"/>
            </a:pPr>
            <a:r>
              <a:rPr>
                <a:sym typeface="+mn-ea"/>
              </a:rPr>
              <a:t>Often used with Apache HTTP Server or Spring Boot apps.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515" y="0"/>
            <a:ext cx="10515600" cy="392430"/>
          </a:xfrm>
        </p:spPr>
        <p:txBody>
          <a:bodyPr>
            <a:noAutofit/>
          </a:bodyPr>
          <a:p>
            <a:r>
              <a:rPr sz="2000" b="1">
                <a:solidFill>
                  <a:srgbClr val="FF0000"/>
                </a:solidFill>
                <a:sym typeface="+mn-ea"/>
              </a:rPr>
              <a:t>Advantages and Importance:</a:t>
            </a:r>
            <a:endParaRPr lang="en-US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3665" y="392430"/>
            <a:ext cx="11936730" cy="220535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t>Centralized Resources: Store data and applications in one place.</a:t>
            </a:r>
          </a:p>
          <a:p>
            <a:pPr>
              <a:buAutoNum type="arabicPeriod"/>
            </a:pPr>
            <a:r>
              <a:t>Multi-user Access: Many clients can access the same resource.</a:t>
            </a:r>
          </a:p>
          <a:p>
            <a:pPr>
              <a:buAutoNum type="arabicPeriod"/>
            </a:pPr>
            <a:r>
              <a:t>Security: Easier to control and secure data.</a:t>
            </a:r>
          </a:p>
          <a:p>
            <a:pPr>
              <a:buAutoNum type="arabicPeriod"/>
            </a:pPr>
            <a:r>
              <a:t>Scalability: Servers can be scaled to handle more users.</a:t>
            </a:r>
          </a:p>
          <a:p>
            <a:pPr>
              <a:buAutoNum type="arabicPeriod"/>
            </a:pPr>
            <a:r>
              <a:t>Reliability: High-performance hardware designed to run 24/7.</a:t>
            </a:r>
          </a:p>
          <a:p>
            <a:pPr>
              <a:buAutoNum type="arabicPeriod"/>
            </a:pPr>
            <a:r>
              <a:t>Remote Access: Access from anywhere over the internet.</a:t>
            </a:r>
          </a:p>
          <a:p>
            <a:pPr>
              <a:buAutoNum type="arabicPeriod"/>
            </a:pPr>
            <a:r>
              <a:t>Automation: Supports scripts, tasks, and business processes.</a:t>
            </a: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154940" y="2809240"/>
          <a:ext cx="11895455" cy="1976755"/>
        </p:xfrm>
        <a:graphic>
          <a:graphicData uri="http://schemas.openxmlformats.org/drawingml/2006/table">
            <a:tbl>
              <a:tblPr/>
              <a:tblGrid>
                <a:gridCol w="4126865"/>
                <a:gridCol w="7768590"/>
              </a:tblGrid>
              <a:tr h="287655">
                <a:tc>
                  <a:txBody>
                    <a:bodyPr/>
                    <a:p>
                      <a:pPr algn="ctr"/>
                      <a:r>
                        <a:rPr sz="2000" b="1"/>
                        <a:t>Advantage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/>
                        <a:t>Description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88290">
                <a:tc>
                  <a:txBody>
                    <a:bodyPr/>
                    <a:p>
                      <a:pPr algn="l"/>
                      <a:r>
                        <a:rPr sz="1600"/>
                        <a:t>Open Source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Free to use and modify.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l"/>
                      <a:r>
                        <a:rPr sz="1600"/>
                        <a:t>Lightweight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Easy to deploy and run.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8290">
                <a:tc>
                  <a:txBody>
                    <a:bodyPr/>
                    <a:p>
                      <a:pPr algn="l"/>
                      <a:r>
                        <a:rPr sz="1600"/>
                        <a:t>Java Support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Native support for Java web apps.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7655">
                <a:tc>
                  <a:txBody>
                    <a:bodyPr/>
                    <a:p>
                      <a:pPr algn="l"/>
                      <a:r>
                        <a:rPr sz="1600"/>
                        <a:t>Cross-platform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Runs on Windows, Linux, macOS.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8290">
                <a:tc>
                  <a:txBody>
                    <a:bodyPr/>
                    <a:p>
                      <a:pPr algn="l"/>
                      <a:r>
                        <a:rPr sz="1600"/>
                        <a:t>Active Community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Regular updates and support.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7655">
                <a:tc>
                  <a:txBody>
                    <a:bodyPr/>
                    <a:p>
                      <a:pPr algn="l"/>
                      <a:r>
                        <a:rPr sz="1600"/>
                        <a:t>Integration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Works with other Java frameworks like Spring and Hibernate.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09575"/>
          </a:xfrm>
        </p:spPr>
        <p:txBody>
          <a:bodyPr>
            <a:normAutofit fontScale="90000"/>
          </a:bodyPr>
          <a:p>
            <a:pPr algn="ctr"/>
            <a:r>
              <a:rPr lang="en-US" sz="2800" b="1">
                <a:solidFill>
                  <a:srgbClr val="FF0000"/>
                </a:solidFill>
              </a:rPr>
              <a:t>Servlet And Jsp Session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585" y="409575"/>
            <a:ext cx="11788140" cy="626745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2135" b="1"/>
              <a:t>What Is a Servlet Session?</a:t>
            </a:r>
            <a:endParaRPr lang="en-US" altLang="en-US" sz="2135" b="1"/>
          </a:p>
          <a:p>
            <a:pPr marL="0" indent="0">
              <a:buNone/>
            </a:pPr>
            <a:r>
              <a:rPr lang="en-US" altLang="en-US" sz="2135"/>
              <a:t>A session in a Java Servlet is a way to store user-specific data across multiple HTTP requests.</a:t>
            </a:r>
            <a:endParaRPr lang="en-US" altLang="en-US" sz="2135"/>
          </a:p>
          <a:p>
            <a:pPr marL="0" indent="0">
              <a:buNone/>
            </a:pPr>
            <a:r>
              <a:rPr lang="en-US" altLang="en-US" sz="2135"/>
              <a:t>HTTP is stateless, meaning each request is independent — the server doesn’t automatically remember who you are.</a:t>
            </a:r>
            <a:endParaRPr lang="en-US" altLang="en-US" sz="2135"/>
          </a:p>
          <a:p>
            <a:pPr marL="0" indent="0">
              <a:buNone/>
            </a:pPr>
            <a:r>
              <a:rPr lang="en-US" altLang="en-US" sz="2135"/>
              <a:t>A session fixes that by giving each user a unique session ID, so the server can remember data for that user until the session expires or is invalidated.</a:t>
            </a:r>
            <a:endParaRPr lang="en-US" altLang="en-US" sz="2135"/>
          </a:p>
          <a:p>
            <a:endParaRPr lang="en-US" altLang="en-US" sz="2135"/>
          </a:p>
          <a:p>
            <a:r>
              <a:rPr lang="en-US" altLang="en-US" sz="2135" b="1"/>
              <a:t> How Session Works</a:t>
            </a:r>
            <a:endParaRPr lang="en-US" altLang="en-US" sz="2135"/>
          </a:p>
          <a:p>
            <a:pPr marL="0" indent="0">
              <a:buNone/>
            </a:pPr>
            <a:r>
              <a:rPr lang="en-US" altLang="en-US" sz="2135"/>
              <a:t>When a user first visits your servlet, the server:</a:t>
            </a:r>
            <a:endParaRPr lang="en-US" altLang="en-US" sz="2135"/>
          </a:p>
          <a:p>
            <a:pPr marL="0" indent="0">
              <a:buNone/>
            </a:pPr>
            <a:r>
              <a:rPr lang="en-US" altLang="en-US" sz="2135"/>
              <a:t>Creates a new HttpSession object.</a:t>
            </a:r>
            <a:endParaRPr lang="en-US" altLang="en-US" sz="2135"/>
          </a:p>
          <a:p>
            <a:pPr marL="0" indent="0">
              <a:buNone/>
            </a:pPr>
            <a:r>
              <a:rPr lang="en-US" altLang="en-US" sz="2135"/>
              <a:t>Assigns a unique session ID.</a:t>
            </a:r>
            <a:endParaRPr lang="en-US" altLang="en-US" sz="2135"/>
          </a:p>
          <a:p>
            <a:pPr marL="0" indent="0">
              <a:buNone/>
            </a:pPr>
            <a:r>
              <a:rPr lang="en-US" altLang="en-US" sz="2135"/>
              <a:t>Sends that ID to the client via a cookie (JSESSIONID).</a:t>
            </a:r>
            <a:endParaRPr lang="en-US" altLang="en-US" sz="2135"/>
          </a:p>
          <a:p>
            <a:pPr marL="0" indent="0">
              <a:buNone/>
            </a:pPr>
            <a:r>
              <a:rPr lang="en-US" altLang="en-US" sz="2135"/>
              <a:t>On subsequent requests:</a:t>
            </a:r>
            <a:endParaRPr lang="en-US" altLang="en-US" sz="2135"/>
          </a:p>
          <a:p>
            <a:pPr marL="0" indent="0">
              <a:buNone/>
            </a:pPr>
            <a:r>
              <a:rPr lang="en-US" altLang="en-US" sz="2135"/>
              <a:t>The client automatically sends that cookie back.</a:t>
            </a:r>
            <a:endParaRPr lang="en-US" altLang="en-US" sz="2135"/>
          </a:p>
          <a:p>
            <a:pPr marL="0" indent="0">
              <a:buNone/>
            </a:pPr>
            <a:r>
              <a:rPr lang="en-US" altLang="en-US" sz="2135"/>
              <a:t>The server finds the existing session using that ID.</a:t>
            </a:r>
            <a:endParaRPr lang="en-US" altLang="en-US" sz="2135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35" y="128270"/>
            <a:ext cx="11924665" cy="659638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HttpSession session = request.getSession();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          session.setAttribute("userEmail", email);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          response.sendRedirect("home.jsp");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-------------------------------------------------------------------------------------------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HttpSession session = request.getSession(false);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      if (session != null) {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          session.invalidate();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      }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      response.sendRedirect("login.jsp");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---------------------------------------------------------------------------------------------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&lt;%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  String user = (String) session.getAttribute("userEmail");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  if (user == null) {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      response.sendRedirect("login.jsp");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  }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%&gt;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&lt;h2&gt;Welcome, &lt;%= user %&gt;!&lt;/h2&gt;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&lt;a href="LogoutServlet"&gt;Logout&lt;/a&gt;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096000" y="4798695"/>
            <a:ext cx="512381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ALTER TABLE products </a:t>
            </a:r>
            <a:endParaRPr lang="en-US" altLang="en-US"/>
          </a:p>
          <a:p>
            <a:r>
              <a:rPr lang="en-US" altLang="en-US"/>
              <a:t>ADD CONSTRAINT fk_user_product</a:t>
            </a:r>
            <a:endParaRPr lang="en-US" altLang="en-US"/>
          </a:p>
          <a:p>
            <a:r>
              <a:rPr lang="en-US" altLang="en-US"/>
              <a:t>FOREIGN KEY (userid) REFERENCES users(userid)</a:t>
            </a:r>
            <a:endParaRPr lang="en-US" altLang="en-US"/>
          </a:p>
          <a:p>
            <a:r>
              <a:rPr lang="en-US" altLang="en-US"/>
              <a:t>ON DELETE CASCADE;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635"/>
            <a:ext cx="10515600" cy="542925"/>
          </a:xfrm>
        </p:spPr>
        <p:txBody>
          <a:bodyPr/>
          <a:p>
            <a:pPr algn="ctr"/>
            <a:r>
              <a:rPr lang="en-US" sz="2400" b="1">
                <a:solidFill>
                  <a:srgbClr val="FF0000"/>
                </a:solidFill>
              </a:rPr>
              <a:t>QueryString/QueryParameter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" y="542290"/>
            <a:ext cx="11756390" cy="6147435"/>
          </a:xfrm>
        </p:spPr>
        <p:txBody>
          <a:bodyPr/>
          <a:p>
            <a:pPr marL="0" indent="0">
              <a:buNone/>
            </a:pPr>
            <a:r>
              <a:rPr lang="en-US" altLang="en-US" sz="2000"/>
              <a:t>if(result &gt; 0){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response.sendRedirect("login.jsp?msg=Record+saved+successfully");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&lt;%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String msg = request.getParameter("msg");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if (msg != null)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%&gt;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&lt;script&gt;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 alert("&lt;%= msg %&gt;");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&lt;/script&gt;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&lt;%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%&gt;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  <p:sp>
        <p:nvSpPr>
          <p:cNvPr id="4" name="Text Box 3"/>
          <p:cNvSpPr txBox="1"/>
          <p:nvPr/>
        </p:nvSpPr>
        <p:spPr>
          <a:xfrm>
            <a:off x="5167630" y="1423670"/>
            <a:ext cx="6759575" cy="5266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en-US" sz="2000">
                <a:sym typeface="+mn-ea"/>
              </a:rPr>
              <a:t>LocalDate localDate = LocalDate.now();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java.sql.Date sqlDate = java.sql.Date.valueOf(localDate);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System.out.println(localDate);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ps.setDate(1, sqlDate);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Why this works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java.sql.Date.valueOf(LocalDate) converts a LocalDate to an SQL-compatible Date, which is exactly what PreparedStatement.setDate() expects.</a:t>
            </a:r>
            <a:endParaRPr lang="en-US" altLang="en-US" sz="2000"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80" y="-635"/>
            <a:ext cx="11761470" cy="380365"/>
          </a:xfrm>
        </p:spPr>
        <p:txBody>
          <a:bodyPr>
            <a:normAutofit fontScale="90000"/>
          </a:bodyPr>
          <a:p>
            <a:pPr algn="ctr"/>
            <a:r>
              <a:rPr lang="en-US" sz="2000" b="1">
                <a:solidFill>
                  <a:srgbClr val="FF0000"/>
                </a:solidFill>
              </a:rPr>
              <a:t>Project On Advanced Java</a:t>
            </a: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30" y="379730"/>
            <a:ext cx="11951970" cy="6212205"/>
          </a:xfrm>
        </p:spPr>
        <p:txBody>
          <a:bodyPr/>
          <a:p>
            <a:pPr marL="457200" indent="-457200">
              <a:buAutoNum type="arabicPeriod"/>
            </a:pPr>
            <a:r>
              <a:rPr lang="en-US" sz="2000"/>
              <a:t>Using JDBC</a:t>
            </a:r>
            <a:endParaRPr lang="en-US" sz="2000"/>
          </a:p>
          <a:p>
            <a:pPr marL="457200" indent="-457200">
              <a:buAutoNum type="arabicPeriod"/>
            </a:pPr>
            <a:r>
              <a:rPr lang="en-US" sz="2000"/>
              <a:t>Using JSP</a:t>
            </a:r>
            <a:endParaRPr lang="en-US" sz="2000"/>
          </a:p>
          <a:p>
            <a:pPr marL="457200" indent="-457200">
              <a:buAutoNum type="arabicPeriod"/>
            </a:pPr>
            <a:r>
              <a:rPr lang="en-US" sz="2000"/>
              <a:t>Using Servlet</a:t>
            </a:r>
            <a:endParaRPr lang="en-US" sz="2000"/>
          </a:p>
          <a:p>
            <a:pPr marL="457200" indent="-457200">
              <a:buAutoNum type="arabicPeriod"/>
            </a:pPr>
            <a:r>
              <a:rPr lang="en-US" sz="2000"/>
              <a:t>Using Tomcat</a:t>
            </a:r>
            <a:endParaRPr lang="en-US" sz="2000"/>
          </a:p>
          <a:p>
            <a:pPr marL="457200" indent="-457200">
              <a:buAutoNum type="arabicPeriod"/>
            </a:pPr>
            <a:r>
              <a:rPr lang="en-US" sz="2000"/>
              <a:t>Using Mysql</a:t>
            </a:r>
            <a:endParaRPr lang="en-US" sz="2000"/>
          </a:p>
          <a:p>
            <a:pPr marL="457200" indent="-457200">
              <a:buAutoNum type="arabicPeriod"/>
            </a:pPr>
            <a:r>
              <a:rPr lang="en-US" sz="2000"/>
              <a:t>Using Html,css,js,bootstrap</a:t>
            </a:r>
            <a:endParaRPr lang="en-US" sz="2000"/>
          </a:p>
          <a:p>
            <a:pPr marL="457200" indent="-457200">
              <a:buAutoNum type="arabicPeriod"/>
            </a:pPr>
            <a:r>
              <a:rPr lang="en-US" sz="2000"/>
              <a:t>--------------------------------------------</a:t>
            </a:r>
            <a:endParaRPr lang="en-US" sz="2000"/>
          </a:p>
        </p:txBody>
      </p:sp>
      <p:sp>
        <p:nvSpPr>
          <p:cNvPr id="4" name="Text Box 3"/>
          <p:cNvSpPr txBox="1"/>
          <p:nvPr/>
        </p:nvSpPr>
        <p:spPr>
          <a:xfrm>
            <a:off x="5424805" y="931545"/>
            <a:ext cx="609600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>
                <a:solidFill>
                  <a:srgbClr val="808080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&lt;</a:t>
            </a:r>
            <a:r>
              <a:rPr b="1">
                <a:solidFill>
                  <a:srgbClr val="03A8D8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script</a:t>
            </a:r>
            <a:r>
              <a:rPr>
                <a:solidFill>
                  <a:srgbClr val="808080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&gt;</a:t>
            </a:r>
            <a:endParaRPr>
              <a:solidFill>
                <a:srgbClr val="808080"/>
              </a:solidFill>
              <a:highlight>
                <a:srgbClr val="000000"/>
              </a:highlight>
              <a:latin typeface="Consolas" panose="020B0609020204030204"/>
              <a:ea typeface="Consolas" panose="020B0609020204030204"/>
            </a:endParaRPr>
          </a:p>
          <a:p>
            <a:endParaRPr>
              <a:solidFill>
                <a:srgbClr val="808080"/>
              </a:solidFill>
              <a:highlight>
                <a:srgbClr val="000000"/>
              </a:highlight>
              <a:latin typeface="Consolas" panose="020B0609020204030204"/>
              <a:ea typeface="Consolas" panose="020B0609020204030204"/>
            </a:endParaRPr>
          </a:p>
          <a:p>
            <a:r>
              <a:rPr b="1">
                <a:solidFill>
                  <a:srgbClr val="569CD6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function</a:t>
            </a:r>
            <a:r>
              <a:rPr>
                <a:solidFill>
                  <a:srgbClr val="D9E8F7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 onlydigit(digit) {</a:t>
            </a:r>
            <a:endParaRPr>
              <a:solidFill>
                <a:srgbClr val="D9E8F7"/>
              </a:solidFill>
              <a:highlight>
                <a:srgbClr val="000000"/>
              </a:highlight>
              <a:latin typeface="Consolas" panose="020B0609020204030204"/>
              <a:ea typeface="Consolas" panose="020B0609020204030204"/>
            </a:endParaRPr>
          </a:p>
          <a:p>
            <a:r>
              <a:rPr>
                <a:solidFill>
                  <a:srgbClr val="D9E8F7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 let original = digit.value;</a:t>
            </a:r>
            <a:endParaRPr>
              <a:solidFill>
                <a:srgbClr val="D9E8F7"/>
              </a:solidFill>
              <a:highlight>
                <a:srgbClr val="000000"/>
              </a:highlight>
              <a:latin typeface="Consolas" panose="020B0609020204030204"/>
              <a:ea typeface="Consolas" panose="020B0609020204030204"/>
            </a:endParaRPr>
          </a:p>
          <a:p>
            <a:r>
              <a:rPr>
                <a:solidFill>
                  <a:srgbClr val="D9E8F7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 let newvalue = original.replace(/[^0-9]/g, </a:t>
            </a:r>
            <a:r>
              <a:rPr>
                <a:solidFill>
                  <a:srgbClr val="CE9178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''</a:t>
            </a:r>
            <a:r>
              <a:rPr>
                <a:solidFill>
                  <a:srgbClr val="D9E8F7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);</a:t>
            </a:r>
            <a:endParaRPr>
              <a:solidFill>
                <a:srgbClr val="D9E8F7"/>
              </a:solidFill>
              <a:highlight>
                <a:srgbClr val="000000"/>
              </a:highlight>
              <a:latin typeface="Consolas" panose="020B0609020204030204"/>
              <a:ea typeface="Consolas" panose="020B0609020204030204"/>
            </a:endParaRPr>
          </a:p>
          <a:p>
            <a:r>
              <a:rPr b="1">
                <a:solidFill>
                  <a:srgbClr val="569CD6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if</a:t>
            </a:r>
            <a:r>
              <a:rPr>
                <a:solidFill>
                  <a:srgbClr val="D9E8F7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 (original !== newvalue) {</a:t>
            </a:r>
            <a:endParaRPr>
              <a:solidFill>
                <a:srgbClr val="D9E8F7"/>
              </a:solidFill>
              <a:highlight>
                <a:srgbClr val="000000"/>
              </a:highlight>
              <a:latin typeface="Consolas" panose="020B0609020204030204"/>
              <a:ea typeface="Consolas" panose="020B0609020204030204"/>
            </a:endParaRPr>
          </a:p>
          <a:p>
            <a:r>
              <a:rPr>
                <a:solidFill>
                  <a:srgbClr val="D9E8F7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 alert(</a:t>
            </a:r>
            <a:r>
              <a:rPr>
                <a:solidFill>
                  <a:srgbClr val="CE9178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'Enter Ony Digit'</a:t>
            </a:r>
            <a:r>
              <a:rPr>
                <a:solidFill>
                  <a:srgbClr val="D9E8F7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);</a:t>
            </a:r>
            <a:endParaRPr>
              <a:solidFill>
                <a:srgbClr val="D9E8F7"/>
              </a:solidFill>
              <a:highlight>
                <a:srgbClr val="000000"/>
              </a:highlight>
              <a:latin typeface="Consolas" panose="020B0609020204030204"/>
              <a:ea typeface="Consolas" panose="020B0609020204030204"/>
            </a:endParaRPr>
          </a:p>
          <a:p>
            <a:r>
              <a:rPr>
                <a:solidFill>
                  <a:srgbClr val="D9E8F7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 digit.value = newvalue;</a:t>
            </a:r>
            <a:endParaRPr>
              <a:solidFill>
                <a:srgbClr val="D9E8F7"/>
              </a:solidFill>
              <a:highlight>
                <a:srgbClr val="000000"/>
              </a:highlight>
              <a:latin typeface="Consolas" panose="020B0609020204030204"/>
              <a:ea typeface="Consolas" panose="020B0609020204030204"/>
            </a:endParaRPr>
          </a:p>
          <a:p>
            <a:r>
              <a:rPr>
                <a:solidFill>
                  <a:srgbClr val="D9E8F7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 }</a:t>
            </a:r>
            <a:endParaRPr>
              <a:solidFill>
                <a:srgbClr val="D9E8F7"/>
              </a:solidFill>
              <a:highlight>
                <a:srgbClr val="000000"/>
              </a:highlight>
              <a:latin typeface="Consolas" panose="020B0609020204030204"/>
              <a:ea typeface="Consolas" panose="020B0609020204030204"/>
            </a:endParaRPr>
          </a:p>
          <a:p>
            <a:r>
              <a:rPr>
                <a:solidFill>
                  <a:srgbClr val="D9E8F7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 }</a:t>
            </a:r>
            <a:endParaRPr>
              <a:solidFill>
                <a:srgbClr val="D9E8F7"/>
              </a:solidFill>
              <a:highlight>
                <a:srgbClr val="000000"/>
              </a:highlight>
              <a:latin typeface="Consolas" panose="020B0609020204030204"/>
              <a:ea typeface="Consolas" panose="020B0609020204030204"/>
            </a:endParaRPr>
          </a:p>
          <a:p>
            <a:endParaRPr>
              <a:solidFill>
                <a:srgbClr val="D9E8F7"/>
              </a:solidFill>
              <a:highlight>
                <a:srgbClr val="000000"/>
              </a:highlight>
              <a:latin typeface="Consolas" panose="020B0609020204030204"/>
              <a:ea typeface="Consolas" panose="020B0609020204030204"/>
            </a:endParaRPr>
          </a:p>
          <a:p>
            <a:r>
              <a:rPr>
                <a:solidFill>
                  <a:srgbClr val="808080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&lt;/</a:t>
            </a:r>
            <a:r>
              <a:rPr b="1">
                <a:solidFill>
                  <a:srgbClr val="03A8D8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script</a:t>
            </a:r>
            <a:r>
              <a:rPr>
                <a:solidFill>
                  <a:srgbClr val="808080"/>
                </a:solidFill>
                <a:highlight>
                  <a:srgbClr val="000000"/>
                </a:highlight>
                <a:latin typeface="Consolas" panose="020B0609020204030204"/>
                <a:ea typeface="Consolas" panose="020B0609020204030204"/>
                <a:sym typeface="+mn-ea"/>
              </a:rPr>
              <a:t>&gt;</a:t>
            </a:r>
            <a:endParaRPr lang="en-US">
              <a:solidFill>
                <a:srgbClr val="808080"/>
              </a:solidFill>
              <a:highlight>
                <a:srgbClr val="000000"/>
              </a:highlight>
              <a:latin typeface="Consolas" panose="020B0609020204030204"/>
              <a:ea typeface="Consolas" panose="020B0609020204030204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5"/>
            <a:ext cx="10515600" cy="447040"/>
          </a:xfrm>
        </p:spPr>
        <p:txBody>
          <a:bodyPr>
            <a:noAutofit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Expense Tracker App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48310"/>
            <a:ext cx="12191365" cy="6409055"/>
          </a:xfrm>
        </p:spPr>
        <p:txBody>
          <a:bodyPr/>
          <a:p>
            <a:pPr marL="0" indent="0">
              <a:buNone/>
            </a:pPr>
            <a:r>
              <a:rPr lang="en-US" sz="1800" b="1"/>
              <a:t>UserTable                                                               				-&gt; login</a:t>
            </a:r>
            <a:endParaRPr lang="en-US" sz="1800" b="1"/>
          </a:p>
          <a:p>
            <a:pPr marL="0" indent="0">
              <a:buNone/>
            </a:pPr>
            <a:r>
              <a:rPr lang="en-US" sz="1800"/>
              <a:t>id int auto_increment primary key 					userid</a:t>
            </a:r>
            <a:endParaRPr lang="en-US" sz="1800"/>
          </a:p>
          <a:p>
            <a:pPr marL="0" indent="0">
              <a:buNone/>
            </a:pPr>
            <a:r>
              <a:rPr lang="en-US" sz="1800"/>
              <a:t>name varchar(100)/userid not null unique				password</a:t>
            </a:r>
            <a:endParaRPr lang="en-US" sz="1800"/>
          </a:p>
          <a:p>
            <a:pPr marL="0" indent="0">
              <a:buNone/>
            </a:pPr>
            <a:r>
              <a:rPr lang="en-US" sz="1800"/>
              <a:t>contact varchar(10) not null</a:t>
            </a:r>
            <a:endParaRPr lang="en-US" sz="1800"/>
          </a:p>
          <a:p>
            <a:pPr marL="0" indent="0">
              <a:buNone/>
            </a:pPr>
            <a:r>
              <a:rPr lang="en-US" sz="1800"/>
              <a:t>amount  double not null</a:t>
            </a:r>
            <a:endParaRPr lang="en-US" sz="1800"/>
          </a:p>
          <a:p>
            <a:pPr marL="0" indent="0">
              <a:buNone/>
            </a:pPr>
            <a:r>
              <a:rPr lang="en-US" sz="1800"/>
              <a:t>password varchar(10) not null</a:t>
            </a:r>
            <a:endParaRPr lang="en-US" sz="1800"/>
          </a:p>
          <a:p>
            <a:pPr marL="0" indent="0">
              <a:buNone/>
            </a:pPr>
            <a:r>
              <a:rPr lang="en-US" sz="1800"/>
              <a:t>Registereddate            date</a:t>
            </a:r>
            <a:endParaRPr lang="en-US" sz="1800"/>
          </a:p>
          <a:p>
            <a:pPr marL="0" indent="0">
              <a:buNone/>
            </a:pPr>
            <a:r>
              <a:rPr lang="en-US" sz="1800"/>
              <a:t>---------------------------------------------------------------------------------------------------------------------------------------------------------------------------</a:t>
            </a:r>
            <a:endParaRPr lang="en-US" sz="1800"/>
          </a:p>
          <a:p>
            <a:pPr marL="0" indent="0">
              <a:buNone/>
            </a:pPr>
            <a:r>
              <a:rPr lang="en-US" sz="1800" b="1"/>
              <a:t>ExpenseTable...		</a:t>
            </a:r>
            <a:endParaRPr lang="en-US" sz="1800" b="1"/>
          </a:p>
          <a:p>
            <a:pPr marL="0" indent="0">
              <a:buNone/>
            </a:pPr>
            <a:r>
              <a:rPr lang="en-US" sz="1800" b="1"/>
              <a:t>					</a:t>
            </a:r>
            <a:endParaRPr lang="en-US" sz="1800"/>
          </a:p>
          <a:p>
            <a:pPr marL="0" indent="0">
              <a:buNone/>
            </a:pPr>
            <a:r>
              <a:rPr lang="en-US" sz="1800"/>
              <a:t>id int autoincrement primary key</a:t>
            </a:r>
            <a:endParaRPr lang="en-US" sz="1800"/>
          </a:p>
          <a:p>
            <a:pPr marL="0" indent="0">
              <a:buNone/>
            </a:pPr>
            <a:r>
              <a:rPr lang="en-US" sz="1800"/>
              <a:t>Amount double not null		</a:t>
            </a:r>
            <a:endParaRPr lang="en-US" sz="1800"/>
          </a:p>
          <a:p>
            <a:pPr marL="0" indent="0">
              <a:buNone/>
            </a:pPr>
            <a:r>
              <a:rPr lang="en-US" sz="1800"/>
              <a:t>category  varchar(50) not null</a:t>
            </a:r>
            <a:endParaRPr lang="en-US" sz="1800"/>
          </a:p>
          <a:p>
            <a:pPr marL="0" indent="0">
              <a:buNone/>
            </a:pPr>
            <a:r>
              <a:rPr lang="en-US" sz="1800"/>
              <a:t>description varchar(100) not null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/>
              <a:t>Expdate       date not  null</a:t>
            </a: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86690" y="159385"/>
            <a:ext cx="500570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buNone/>
            </a:pPr>
            <a:r>
              <a:rPr lang="en-US" altLang="en-US">
                <a:sym typeface="+mn-ea"/>
              </a:rPr>
              <a:t>String name = req.getParameter("name");</a:t>
            </a:r>
            <a:endParaRPr lang="en-US" altLang="en-US" sz="1800"/>
          </a:p>
          <a:p>
            <a:pPr marL="0" indent="0" algn="l">
              <a:buNone/>
            </a:pPr>
            <a:r>
              <a:rPr lang="en-US" altLang="en-US">
                <a:sym typeface="+mn-ea"/>
              </a:rPr>
              <a:t>Part filepart = req.getPart("photofile");</a:t>
            </a:r>
            <a:endParaRPr lang="en-US" altLang="en-US" sz="1800"/>
          </a:p>
          <a:p>
            <a:pPr marL="0" indent="0" algn="l">
              <a:buNone/>
            </a:pPr>
            <a:r>
              <a:rPr lang="en-US" altLang="en-US">
                <a:sym typeface="+mn-ea"/>
              </a:rPr>
              <a:t>String filename = filepart.getSubmittedFileName();</a:t>
            </a:r>
            <a:endParaRPr lang="en-US" altLang="en-US" sz="1800"/>
          </a:p>
          <a:p>
            <a:pPr marL="0" indent="0" algn="l">
              <a:buNone/>
            </a:pPr>
            <a:r>
              <a:rPr lang="en-US" altLang="en-US">
                <a:sym typeface="+mn-ea"/>
              </a:rPr>
              <a:t>String filetype = filepart.getContentType();</a:t>
            </a:r>
            <a:endParaRPr lang="en-US" altLang="en-US" sz="1800"/>
          </a:p>
          <a:p>
            <a:pPr marL="0" indent="0" algn="l">
              <a:buNone/>
            </a:pPr>
            <a:r>
              <a:rPr lang="en-US" altLang="en-US">
                <a:sym typeface="+mn-ea"/>
              </a:rPr>
              <a:t>InputStream inputStream = null;</a:t>
            </a:r>
            <a:endParaRPr lang="en-US" altLang="en-US" sz="1800"/>
          </a:p>
          <a:p>
            <a:pPr marL="0" indent="0" algn="l">
              <a:buNone/>
            </a:pPr>
            <a:r>
              <a:rPr lang="en-US" altLang="en-US">
                <a:sym typeface="+mn-ea"/>
              </a:rPr>
              <a:t>if (filepart != null) {</a:t>
            </a:r>
            <a:endParaRPr lang="en-US" altLang="en-US" sz="1800"/>
          </a:p>
          <a:p>
            <a:pPr marL="0" indent="0" algn="l">
              <a:buNone/>
            </a:pPr>
            <a:r>
              <a:rPr lang="en-US" altLang="en-US">
                <a:sym typeface="+mn-ea"/>
              </a:rPr>
              <a:t>inputStream = filepart.getInputStream();</a:t>
            </a:r>
            <a:endParaRPr lang="en-US" altLang="en-US" sz="1800"/>
          </a:p>
          <a:p>
            <a:pPr marL="0" indent="0" algn="l">
              <a:buNone/>
            </a:pPr>
            <a:r>
              <a:rPr lang="en-US" altLang="en-US">
                <a:sym typeface="+mn-ea"/>
              </a:rPr>
              <a:t>	}</a:t>
            </a:r>
            <a:endParaRPr lang="en-US" altLang="en-US" sz="1800"/>
          </a:p>
          <a:p>
            <a:pPr marL="0" indent="0" algn="l">
              <a:buNone/>
            </a:pPr>
            <a:r>
              <a:rPr lang="en-US" altLang="en-US">
                <a:sym typeface="+mn-ea"/>
              </a:rPr>
              <a:t>ps1.setString(2, filetype);</a:t>
            </a:r>
            <a:endParaRPr lang="en-US" altLang="en-US" sz="1800"/>
          </a:p>
          <a:p>
            <a:pPr marL="0" indent="0" algn="l">
              <a:buNone/>
            </a:pPr>
            <a:r>
              <a:rPr lang="en-US" altLang="en-US">
                <a:sym typeface="+mn-ea"/>
              </a:rPr>
              <a:t>ps1.setBlob(3, inputStream);</a:t>
            </a:r>
            <a:endParaRPr lang="en-US" altLang="en-US" sz="1800"/>
          </a:p>
          <a:p>
            <a:pPr marL="0" indent="0" algn="l">
              <a:buNone/>
            </a:pPr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5485130" y="293370"/>
            <a:ext cx="6096000" cy="5908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en-US">
                <a:sym typeface="+mn-ea"/>
              </a:rPr>
              <a:t>                        &lt;img src="ImageServlet?id=&lt;%= id %&gt;" alt="&lt;%= name %&gt;"&gt;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String fileId = request.getParameter("id");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String sql = "SELECT file_type, file_data FROM files WHERE id=?";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try (Connection conn = DbConnection.getConnection();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 PreparedStatement stmt = conn.prepareStatement(sql)) {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stmt.setInt(1, Integer.parseInt(fileId));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try (ResultSet rs = stmt.executeQuery()) {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    if (rs.next()) {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        try (InputStream is = rs.getBinaryStream("file_data");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             OutputStream os = response.getOutputStream()) {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            is.transferTo(os);   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       }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    } 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}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} 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90" y="187325"/>
            <a:ext cx="11090910" cy="1079500"/>
          </a:xfrm>
        </p:spPr>
        <p:txBody>
          <a:bodyPr>
            <a:noAutofit/>
          </a:bodyPr>
          <a:p>
            <a:r>
              <a:rPr lang="en-US" sz="2000" b="1"/>
              <a:t>BrowerseNavigation</a:t>
            </a:r>
            <a:br>
              <a:rPr lang="en-US" sz="2000" b="1"/>
            </a:br>
            <a:r>
              <a:rPr lang="en-US" altLang="en-US" sz="2000" b="1"/>
              <a:t>&lt;%@ include file="disable.jsp" %&gt;</a:t>
            </a:r>
            <a:br>
              <a:rPr lang="en-US" altLang="en-US" sz="2000" b="1"/>
            </a:br>
            <a:endParaRPr lang="en-US" altLang="en-US" sz="2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" y="1266825"/>
            <a:ext cx="5625465" cy="532066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/>
              <a:t>&lt;%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response.setHeader("Cache-Control", "no-cache, no-store, must-revalidate"); 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response.setHeader("Pragma", "no-cache"); 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response.setDateHeader("Expires", 0); 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%&gt;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&lt;script type="text/javascript"&gt;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history.pushState(null, null, location.href);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window.onpopstate = function ()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    history.go(1);  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};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&lt;/script&gt;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5909310" y="504190"/>
            <a:ext cx="6096000" cy="5864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lnSpc>
                <a:spcPct val="110000"/>
              </a:lnSpc>
              <a:buNone/>
            </a:pPr>
            <a:r>
              <a:rPr lang="en-US" altLang="en-US" sz="2000">
                <a:sym typeface="+mn-ea"/>
              </a:rPr>
              <a:t>SELECT </a:t>
            </a:r>
            <a:endParaRPr lang="en-US" altLang="en-US" sz="2000"/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000">
                <a:sym typeface="+mn-ea"/>
              </a:rPr>
              <a:t>    @row := @row + 1 AS serial_no,</a:t>
            </a:r>
            <a:endParaRPr lang="en-US" altLang="en-US" sz="2000"/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000">
                <a:sym typeface="+mn-ea"/>
              </a:rPr>
              <a:t>    s.student_id,</a:t>
            </a:r>
            <a:endParaRPr lang="en-US" altLang="en-US" sz="2000"/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000">
                <a:sym typeface="+mn-ea"/>
              </a:rPr>
              <a:t>    s.student_name,</a:t>
            </a:r>
            <a:endParaRPr lang="en-US" altLang="en-US" sz="2000"/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000">
                <a:sym typeface="+mn-ea"/>
              </a:rPr>
              <a:t>    c.course_name</a:t>
            </a:r>
            <a:endParaRPr lang="en-US" altLang="en-US" sz="2000"/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000">
                <a:sym typeface="+mn-ea"/>
              </a:rPr>
              <a:t>FROM student1 s</a:t>
            </a:r>
            <a:endParaRPr lang="en-US" altLang="en-US" sz="2000"/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000">
                <a:sym typeface="+mn-ea"/>
              </a:rPr>
              <a:t>JOIN course1 c ON s.course_id = c.course_id</a:t>
            </a:r>
            <a:endParaRPr lang="en-US" altLang="en-US" sz="2000"/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000">
                <a:sym typeface="+mn-ea"/>
              </a:rPr>
              <a:t>JOIN (SELECT @row := 0) r</a:t>
            </a:r>
            <a:endParaRPr lang="en-US" altLang="en-US" sz="2000"/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000">
                <a:sym typeface="+mn-ea"/>
              </a:rPr>
              <a:t>WHERE c.course_name = 'Math'</a:t>
            </a:r>
            <a:endParaRPr lang="en-US" altLang="en-US" sz="2000"/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000">
                <a:sym typeface="+mn-ea"/>
              </a:rPr>
              <a:t>ORDER BY s.student_id;</a:t>
            </a:r>
            <a:endParaRPr lang="en-US" altLang="en-US" sz="2000"/>
          </a:p>
          <a:p>
            <a:pPr marL="0" indent="0">
              <a:lnSpc>
                <a:spcPct val="110000"/>
              </a:lnSpc>
              <a:buNone/>
            </a:pPr>
            <a:endParaRPr lang="en-US" altLang="en-US" sz="2000"/>
          </a:p>
          <a:p>
            <a:pPr marL="0" indent="0">
              <a:lnSpc>
                <a:spcPct val="110000"/>
              </a:lnSpc>
              <a:buNone/>
            </a:pPr>
            <a:endParaRPr lang="en-US" altLang="en-US" sz="2000"/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000">
                <a:sym typeface="+mn-ea"/>
              </a:rPr>
              <a:t>ALTER TABLE userDetails AUTO_INCREMENT = 1</a:t>
            </a:r>
            <a:endParaRPr lang="en-US" altLang="en-US" sz="2000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42*68"/>
  <p:tag name="TABLE_ENDDRAG_RECT" val="10*459*942*68"/>
</p:tagLst>
</file>

<file path=ppt/tags/tag2.xml><?xml version="1.0" encoding="utf-8"?>
<p:tagLst xmlns:p="http://schemas.openxmlformats.org/presentationml/2006/main">
  <p:tag name="TABLE_ENDDRAG_ORIGIN_RECT" val="934*86"/>
  <p:tag name="TABLE_ENDDRAG_RECT" val="10*336*934*86"/>
</p:tagLst>
</file>

<file path=ppt/tags/tag3.xml><?xml version="1.0" encoding="utf-8"?>
<p:tagLst xmlns:p="http://schemas.openxmlformats.org/presentationml/2006/main">
  <p:tag name="TABLE_ENDDRAG_ORIGIN_RECT" val="942*316"/>
  <p:tag name="TABLE_ENDDRAG_RECT" val="7*29*942*316"/>
</p:tagLst>
</file>

<file path=ppt/tags/tag4.xml><?xml version="1.0" encoding="utf-8"?>
<p:tagLst xmlns:p="http://schemas.openxmlformats.org/presentationml/2006/main">
  <p:tag name="TABLE_ENDDRAG_ORIGIN_RECT" val="951*126"/>
  <p:tag name="TABLE_ENDDRAG_RECT" val="8*390*951*126"/>
</p:tagLst>
</file>

<file path=ppt/tags/tag5.xml><?xml version="1.0" encoding="utf-8"?>
<p:tagLst xmlns:p="http://schemas.openxmlformats.org/presentationml/2006/main">
  <p:tag name="TABLE_ENDDRAG_ORIGIN_RECT" val="927*190"/>
  <p:tag name="TABLE_ENDDRAG_RECT" val="5*361*927*190"/>
</p:tagLst>
</file>

<file path=ppt/tags/tag6.xml><?xml version="1.0" encoding="utf-8"?>
<p:tagLst xmlns:p="http://schemas.openxmlformats.org/presentationml/2006/main">
  <p:tag name="TABLE_ENDDRAG_ORIGIN_RECT" val="492*200"/>
  <p:tag name="TABLE_ENDDRAG_RECT" val="9*46*492*200"/>
</p:tagLst>
</file>

<file path=ppt/tags/tag7.xml><?xml version="1.0" encoding="utf-8"?>
<p:tagLst xmlns:p="http://schemas.openxmlformats.org/presentationml/2006/main">
  <p:tag name="TABLE_ENDDRAG_ORIGIN_RECT" val="434*200"/>
  <p:tag name="TABLE_ENDDRAG_RECT" val="525*46*434*200"/>
</p:tagLst>
</file>

<file path=ppt/tags/tag8.xml><?xml version="1.0" encoding="utf-8"?>
<p:tagLst xmlns:p="http://schemas.openxmlformats.org/presentationml/2006/main">
  <p:tag name="TABLE_ENDDRAG_ORIGIN_RECT" val="492*248"/>
  <p:tag name="TABLE_ENDDRAG_RECT" val="8*280*492*248"/>
</p:tagLst>
</file>

<file path=ppt/tags/tag9.xml><?xml version="1.0" encoding="utf-8"?>
<p:tagLst xmlns:p="http://schemas.openxmlformats.org/presentationml/2006/main">
  <p:tag name="TABLE_ENDDRAG_ORIGIN_RECT" val="422*254"/>
  <p:tag name="TABLE_ENDDRAG_RECT" val="525*275*422*254"/>
</p:tagLst>
</file>

<file path=ppt/tags/tag10.xml><?xml version="1.0" encoding="utf-8"?>
<p:tagLst xmlns:p="http://schemas.openxmlformats.org/presentationml/2006/main">
  <p:tag name="TABLE_ENDDRAG_ORIGIN_RECT" val="910*210"/>
  <p:tag name="TABLE_ENDDRAG_RECT" val="12*175*910*210"/>
</p:tagLst>
</file>

<file path=ppt/tags/tag11.xml><?xml version="1.0" encoding="utf-8"?>
<p:tagLst xmlns:p="http://schemas.openxmlformats.org/presentationml/2006/main">
  <p:tag name="TABLE_ENDDRAG_ORIGIN_RECT" val="921*181"/>
  <p:tag name="TABLE_ENDDRAG_RECT" val="19*36*921*181"/>
</p:tagLst>
</file>

<file path=ppt/tags/tag12.xml><?xml version="1.0" encoding="utf-8"?>
<p:tagLst xmlns:p="http://schemas.openxmlformats.org/presentationml/2006/main">
  <p:tag name="TABLE_ENDDRAG_ORIGIN_RECT" val="929*166"/>
  <p:tag name="TABLE_ENDDRAG_RECT" val="9*190*929*166"/>
</p:tagLst>
</file>

<file path=ppt/tags/tag13.xml><?xml version="1.0" encoding="utf-8"?>
<p:tagLst xmlns:p="http://schemas.openxmlformats.org/presentationml/2006/main">
  <p:tag name="TABLE_ENDDRAG_ORIGIN_RECT" val="943*513"/>
  <p:tag name="TABLE_ENDDRAG_RECT" val="8*18*943*513"/>
</p:tagLst>
</file>

<file path=ppt/tags/tag14.xml><?xml version="1.0" encoding="utf-8"?>
<p:tagLst xmlns:p="http://schemas.openxmlformats.org/presentationml/2006/main">
  <p:tag name="TABLE_ENDDRAG_ORIGIN_RECT" val="937*123"/>
  <p:tag name="TABLE_ENDDRAG_RECT" val="13*26*937*123"/>
</p:tagLst>
</file>

<file path=ppt/tags/tag15.xml><?xml version="1.0" encoding="utf-8"?>
<p:tagLst xmlns:p="http://schemas.openxmlformats.org/presentationml/2006/main">
  <p:tag name="TABLE_ENDDRAG_ORIGIN_RECT" val="446*139"/>
  <p:tag name="TABLE_ENDDRAG_RECT" val="13*186*446*139"/>
</p:tagLst>
</file>

<file path=ppt/tags/tag16.xml><?xml version="1.0" encoding="utf-8"?>
<p:tagLst xmlns:p="http://schemas.openxmlformats.org/presentationml/2006/main">
  <p:tag name="TABLE_ENDDRAG_ORIGIN_RECT" val="489*139"/>
  <p:tag name="TABLE_ENDDRAG_RECT" val="470*186*489*139"/>
</p:tagLst>
</file>

<file path=ppt/tags/tag17.xml><?xml version="1.0" encoding="utf-8"?>
<p:tagLst xmlns:p="http://schemas.openxmlformats.org/presentationml/2006/main">
  <p:tag name="TABLE_ENDDRAG_ORIGIN_RECT" val="446*155"/>
  <p:tag name="TABLE_ENDDRAG_RECT" val="13*374*446*155"/>
</p:tagLst>
</file>

<file path=ppt/tags/tag18.xml><?xml version="1.0" encoding="utf-8"?>
<p:tagLst xmlns:p="http://schemas.openxmlformats.org/presentationml/2006/main">
  <p:tag name="TABLE_ENDDRAG_ORIGIN_RECT" val="470*166"/>
  <p:tag name="TABLE_ENDDRAG_RECT" val="470*369*470*166"/>
</p:tagLst>
</file>

<file path=ppt/tags/tag19.xml><?xml version="1.0" encoding="utf-8"?>
<p:tagLst xmlns:p="http://schemas.openxmlformats.org/presentationml/2006/main">
  <p:tag name="TABLE_ENDDRAG_ORIGIN_RECT" val="443*128"/>
  <p:tag name="TABLE_ENDDRAG_RECT" val="0*50*443*128"/>
</p:tagLst>
</file>

<file path=ppt/tags/tag20.xml><?xml version="1.0" encoding="utf-8"?>
<p:tagLst xmlns:p="http://schemas.openxmlformats.org/presentationml/2006/main">
  <p:tag name="TABLE_ENDDRAG_ORIGIN_RECT" val="764*225"/>
  <p:tag name="TABLE_ENDDRAG_RECT" val="172*171*764*225"/>
</p:tagLst>
</file>

<file path=ppt/tags/tag21.xml><?xml version="1.0" encoding="utf-8"?>
<p:tagLst xmlns:p="http://schemas.openxmlformats.org/presentationml/2006/main">
  <p:tag name="TABLE_ENDDRAG_ORIGIN_RECT" val="936*155"/>
  <p:tag name="TABLE_ENDDRAG_RECT" val="8*154*936*15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26481</Words>
  <Application>WPS Presentation</Application>
  <PresentationFormat>Widescreen</PresentationFormat>
  <Paragraphs>1200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Arial</vt:lpstr>
      <vt:lpstr>SimSun</vt:lpstr>
      <vt:lpstr>Wingdings</vt:lpstr>
      <vt:lpstr>Arial</vt:lpstr>
      <vt:lpstr>Calibri Light</vt:lpstr>
      <vt:lpstr>Calibri</vt:lpstr>
      <vt:lpstr>Microsoft YaHei</vt:lpstr>
      <vt:lpstr>Arial Unicode MS</vt:lpstr>
      <vt:lpstr>Cambria</vt:lpstr>
      <vt:lpstr>Consolas</vt:lpstr>
      <vt:lpstr>Office Theme</vt:lpstr>
      <vt:lpstr>What is JDBC?</vt:lpstr>
      <vt:lpstr>JDBC Architechture</vt:lpstr>
      <vt:lpstr>Jdbc Related Classes And interfaces</vt:lpstr>
      <vt:lpstr>Steps Of Jdbc Connectivity</vt:lpstr>
      <vt:lpstr>PowerPoint 演示文稿</vt:lpstr>
      <vt:lpstr>PreparedStatement Interface</vt:lpstr>
      <vt:lpstr>Statement Interface</vt:lpstr>
      <vt:lpstr>ResultSet Interface</vt:lpstr>
      <vt:lpstr>Callable Interface</vt:lpstr>
      <vt:lpstr>Crud operations using Java Project In JDBC</vt:lpstr>
      <vt:lpstr>JSP AND SERVLET Syllabus</vt:lpstr>
      <vt:lpstr>JSP And Servlet</vt:lpstr>
      <vt:lpstr>JSP</vt:lpstr>
      <vt:lpstr>JSP Lifecycle</vt:lpstr>
      <vt:lpstr>Jsp Imp</vt:lpstr>
      <vt:lpstr>JSP Expressions</vt:lpstr>
      <vt:lpstr>JSP Expressions</vt:lpstr>
      <vt:lpstr>What is a Servlet?</vt:lpstr>
      <vt:lpstr>Advantages of Servlet</vt:lpstr>
      <vt:lpstr>PowerPoint 演示文稿</vt:lpstr>
      <vt:lpstr>Key Methods of HttpServlet Class</vt:lpstr>
      <vt:lpstr>RequesetDispatcher in Servlet</vt:lpstr>
      <vt:lpstr>Servlet Lifecycle</vt:lpstr>
      <vt:lpstr>Most Important Servlet Topics</vt:lpstr>
      <vt:lpstr>PowerPoint 演示文稿</vt:lpstr>
      <vt:lpstr>PowerPoint 演示文稿</vt:lpstr>
      <vt:lpstr>Advantages and Importance:</vt:lpstr>
      <vt:lpstr>Servlet And Jsp Session</vt:lpstr>
      <vt:lpstr>PowerPoint 演示文稿</vt:lpstr>
      <vt:lpstr>QueryString/QueryParameter</vt:lpstr>
      <vt:lpstr>Project On Advanced Java</vt:lpstr>
      <vt:lpstr>Expense Tracker App</vt:lpstr>
      <vt:lpstr>PowerPoint 演示文稿</vt:lpstr>
      <vt:lpstr>BrowerseNavigation &lt;%@ include file="disable.jsp" %&gt;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JDBC?</dc:title>
  <dc:creator>UV-user</dc:creator>
  <cp:lastModifiedBy>Nishank Amte</cp:lastModifiedBy>
  <cp:revision>319</cp:revision>
  <dcterms:created xsi:type="dcterms:W3CDTF">2025-08-18T06:56:00Z</dcterms:created>
  <dcterms:modified xsi:type="dcterms:W3CDTF">2026-01-30T07:49:33Z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4A0C8CD652E9453190B53A3E1A2BDF7D_11</vt:lpwstr>
  </property>
  <property fmtid="{D5CDD505-2E9C-101B-9397-08002B2CF9AE}" pid="3" name="KSOProductBuildVer">
    <vt:lpwstr>1033-12.2.0.23196</vt:lpwstr>
  </property>
</Properties>
</file>