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15" r:id="rId3"/>
    <p:sldId id="310" r:id="rId4"/>
    <p:sldId id="312" r:id="rId5"/>
    <p:sldId id="265" r:id="rId6"/>
    <p:sldId id="300" r:id="rId7"/>
    <p:sldId id="256" r:id="rId8"/>
    <p:sldId id="264" r:id="rId9"/>
    <p:sldId id="262" r:id="rId10"/>
    <p:sldId id="263" r:id="rId11"/>
    <p:sldId id="257" r:id="rId12"/>
    <p:sldId id="259" r:id="rId13"/>
    <p:sldId id="266" r:id="rId14"/>
    <p:sldId id="314" r:id="rId15"/>
    <p:sldId id="267" r:id="rId16"/>
    <p:sldId id="290" r:id="rId17"/>
    <p:sldId id="268" r:id="rId18"/>
    <p:sldId id="291" r:id="rId19"/>
    <p:sldId id="269" r:id="rId20"/>
    <p:sldId id="297" r:id="rId21"/>
    <p:sldId id="298" r:id="rId22"/>
    <p:sldId id="276" r:id="rId23"/>
    <p:sldId id="277" r:id="rId24"/>
    <p:sldId id="278" r:id="rId25"/>
    <p:sldId id="308" r:id="rId26"/>
    <p:sldId id="273" r:id="rId27"/>
    <p:sldId id="275" r:id="rId28"/>
    <p:sldId id="316" r:id="rId29"/>
    <p:sldId id="325" r:id="rId30"/>
    <p:sldId id="319" r:id="rId31"/>
    <p:sldId id="320" r:id="rId32"/>
    <p:sldId id="318" r:id="rId33"/>
    <p:sldId id="274" r:id="rId34"/>
    <p:sldId id="323" r:id="rId35"/>
    <p:sldId id="321" r:id="rId36"/>
    <p:sldId id="322" r:id="rId37"/>
    <p:sldId id="284" r:id="rId38"/>
    <p:sldId id="285" r:id="rId39"/>
    <p:sldId id="279" r:id="rId40"/>
    <p:sldId id="280" r:id="rId41"/>
    <p:sldId id="286" r:id="rId42"/>
    <p:sldId id="281" r:id="rId43"/>
    <p:sldId id="287" r:id="rId44"/>
    <p:sldId id="288" r:id="rId45"/>
    <p:sldId id="289" r:id="rId46"/>
    <p:sldId id="309" r:id="rId47"/>
    <p:sldId id="324"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Maven%20Project.pptx" TargetMode="Externa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269875"/>
          </a:xfrm>
        </p:spPr>
        <p:txBody>
          <a:bodyPr>
            <a:normAutofit fontScale="90000"/>
          </a:bodyPr>
          <a:p>
            <a:pPr algn="ctr"/>
            <a:r>
              <a:rPr lang="en-US" sz="2400" b="1">
                <a:solidFill>
                  <a:srgbClr val="FF0000"/>
                </a:solidFill>
              </a:rPr>
              <a:t>Syllabus   Of Hibernate</a:t>
            </a:r>
            <a:endParaRPr lang="en-US" sz="2400" b="1">
              <a:solidFill>
                <a:srgbClr val="FF0000"/>
              </a:solidFill>
            </a:endParaRPr>
          </a:p>
        </p:txBody>
      </p:sp>
      <p:sp>
        <p:nvSpPr>
          <p:cNvPr id="3" name="Content Placeholder 2"/>
          <p:cNvSpPr>
            <a:spLocks noGrp="1"/>
          </p:cNvSpPr>
          <p:nvPr>
            <p:ph idx="1"/>
          </p:nvPr>
        </p:nvSpPr>
        <p:spPr>
          <a:xfrm>
            <a:off x="99695" y="269240"/>
            <a:ext cx="11993245" cy="6404610"/>
          </a:xfrm>
        </p:spPr>
        <p:txBody>
          <a:bodyPr/>
          <a:p>
            <a:pPr marL="342900" indent="-342900">
              <a:buAutoNum type="arabicPeriod"/>
            </a:pPr>
            <a:r>
              <a:rPr lang="en-US" sz="1800">
                <a:solidFill>
                  <a:srgbClr val="FF0000"/>
                </a:solidFill>
              </a:rPr>
              <a:t>Hibernate Introduction(1)</a:t>
            </a:r>
            <a:endParaRPr lang="en-US" sz="1800">
              <a:solidFill>
                <a:srgbClr val="FF0000"/>
              </a:solidFill>
            </a:endParaRPr>
          </a:p>
          <a:p>
            <a:pPr marL="342900" indent="-342900">
              <a:buAutoNum type="arabicPeriod"/>
            </a:pPr>
            <a:r>
              <a:rPr lang="en-US" sz="1800">
                <a:solidFill>
                  <a:srgbClr val="FF0000"/>
                </a:solidFill>
              </a:rPr>
              <a:t>Hibernate With configuration in Java</a:t>
            </a:r>
            <a:endParaRPr lang="en-US" sz="1800">
              <a:solidFill>
                <a:srgbClr val="FF0000"/>
              </a:solidFill>
            </a:endParaRPr>
          </a:p>
          <a:p>
            <a:pPr marL="342900" indent="-342900">
              <a:buAutoNum type="arabicPeriod"/>
            </a:pPr>
            <a:r>
              <a:rPr lang="en-US" sz="1800">
                <a:solidFill>
                  <a:srgbClr val="FF0000"/>
                </a:solidFill>
              </a:rPr>
              <a:t>hibernate Annotations (1)</a:t>
            </a:r>
            <a:endParaRPr lang="en-US" sz="1800">
              <a:solidFill>
                <a:srgbClr val="FF0000"/>
              </a:solidFill>
            </a:endParaRPr>
          </a:p>
          <a:p>
            <a:pPr marL="342900" indent="-342900">
              <a:buAutoNum type="arabicPeriod"/>
            </a:pPr>
            <a:r>
              <a:rPr lang="en-US" sz="1800"/>
              <a:t>Hibernate Crud Operations With Jdbc with StandAlone App(2-3)</a:t>
            </a:r>
            <a:endParaRPr lang="en-US" sz="1800" b="1"/>
          </a:p>
          <a:p>
            <a:pPr marL="342900" indent="-342900">
              <a:buAutoNum type="arabicPeriod"/>
            </a:pPr>
            <a:r>
              <a:rPr lang="en-US" sz="1800"/>
              <a:t>Hibernate With Mapping(1)</a:t>
            </a:r>
            <a:endParaRPr lang="en-US" sz="1800"/>
          </a:p>
          <a:p>
            <a:pPr marL="342900" indent="-342900">
              <a:buAutoNum type="arabicPeriod"/>
            </a:pPr>
            <a:r>
              <a:rPr lang="en-US" sz="1800"/>
              <a:t>Hibernate OneToOne</a:t>
            </a:r>
            <a:endParaRPr lang="en-US" sz="1800"/>
          </a:p>
          <a:p>
            <a:pPr marL="342900" indent="-342900">
              <a:buAutoNum type="arabicPeriod"/>
            </a:pPr>
            <a:r>
              <a:rPr lang="en-US" sz="1800"/>
              <a:t>Hibernate With OneToMany(1)</a:t>
            </a:r>
            <a:endParaRPr lang="en-US" sz="1800"/>
          </a:p>
          <a:p>
            <a:pPr marL="342900" indent="-342900">
              <a:buAutoNum type="arabicPeriod"/>
            </a:pPr>
            <a:r>
              <a:rPr lang="en-US" sz="1800"/>
              <a:t>Hibernate With ManyToOne(1)</a:t>
            </a:r>
            <a:endParaRPr lang="en-US" sz="1800"/>
          </a:p>
          <a:p>
            <a:pPr marL="342900" indent="-342900">
              <a:buAutoNum type="arabicPeriod"/>
            </a:pPr>
            <a:r>
              <a:rPr lang="en-US" sz="1800"/>
              <a:t>Hibernate Wtih ManyToMany(2)</a:t>
            </a:r>
            <a:endParaRPr lang="en-US" sz="1800"/>
          </a:p>
          <a:p>
            <a:pPr marL="342900" indent="-342900">
              <a:buAutoNum type="arabicPeriod"/>
            </a:pPr>
            <a:r>
              <a:rPr lang="en-US" sz="1800"/>
              <a:t>Hibernate With Embedding(1)</a:t>
            </a:r>
            <a:endParaRPr lang="en-US" sz="1800"/>
          </a:p>
          <a:p>
            <a:pPr marL="342900" indent="-342900">
              <a:buAutoNum type="arabicPeriod"/>
            </a:pPr>
            <a:r>
              <a:rPr lang="en-US" sz="1800"/>
              <a:t>Hibernate with Image Storing(1)</a:t>
            </a:r>
            <a:endParaRPr 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14630" y="0"/>
            <a:ext cx="12087860" cy="6584315"/>
          </a:xfrm>
        </p:spPr>
        <p:txBody>
          <a:bodyPr>
            <a:normAutofit/>
          </a:bodyPr>
          <a:p>
            <a:pPr marL="0" indent="0">
              <a:lnSpc>
                <a:spcPct val="100000"/>
              </a:lnSpc>
              <a:spcBef>
                <a:spcPts val="1345"/>
              </a:spcBef>
              <a:buNone/>
            </a:pPr>
            <a:r>
              <a:rPr sz="1800" b="1" spc="-20" dirty="0">
                <a:solidFill>
                  <a:srgbClr val="3B3838"/>
                </a:solidFill>
                <a:latin typeface="Gadugi" panose="020B0502040204020203"/>
                <a:cs typeface="Gadugi" panose="020B0502040204020203"/>
                <a:sym typeface="+mn-ea"/>
              </a:rPr>
              <a:t>WHAT</a:t>
            </a:r>
            <a:r>
              <a:rPr sz="1800" b="1" spc="-50" dirty="0">
                <a:solidFill>
                  <a:srgbClr val="3B3838"/>
                </a:solidFill>
                <a:latin typeface="Gadugi" panose="020B0502040204020203"/>
                <a:cs typeface="Gadugi" panose="020B0502040204020203"/>
                <a:sym typeface="+mn-ea"/>
              </a:rPr>
              <a:t> </a:t>
            </a:r>
            <a:r>
              <a:rPr sz="1800" b="1" dirty="0">
                <a:solidFill>
                  <a:srgbClr val="3B3838"/>
                </a:solidFill>
                <a:latin typeface="Gadugi" panose="020B0502040204020203"/>
                <a:cs typeface="Gadugi" panose="020B0502040204020203"/>
                <a:sym typeface="+mn-ea"/>
              </a:rPr>
              <a:t>IS</a:t>
            </a:r>
            <a:r>
              <a:rPr sz="1800" b="1" spc="-30" dirty="0">
                <a:solidFill>
                  <a:srgbClr val="3B3838"/>
                </a:solidFill>
                <a:latin typeface="Gadugi" panose="020B0502040204020203"/>
                <a:cs typeface="Gadugi" panose="020B0502040204020203"/>
                <a:sym typeface="+mn-ea"/>
              </a:rPr>
              <a:t> </a:t>
            </a:r>
            <a:r>
              <a:rPr sz="1800" b="1" spc="-10" dirty="0">
                <a:solidFill>
                  <a:srgbClr val="3B3838"/>
                </a:solidFill>
                <a:latin typeface="Gadugi" panose="020B0502040204020203"/>
                <a:cs typeface="Gadugi" panose="020B0502040204020203"/>
                <a:sym typeface="+mn-ea"/>
              </a:rPr>
              <a:t>HIBERNATE?</a:t>
            </a:r>
            <a:endParaRPr sz="1800">
              <a:latin typeface="Gadugi" panose="020B0502040204020203"/>
              <a:cs typeface="Gadugi" panose="020B0502040204020203"/>
            </a:endParaRPr>
          </a:p>
          <a:p>
            <a:pPr marL="342900" marR="193675" indent="-342900">
              <a:lnSpc>
                <a:spcPct val="150000"/>
              </a:lnSpc>
              <a:spcBef>
                <a:spcPts val="900"/>
              </a:spcBef>
              <a:buAutoNum type="arabicPeriod"/>
              <a:tabLst>
                <a:tab pos="350520" algn="l"/>
              </a:tabLst>
            </a:pPr>
            <a:r>
              <a:rPr sz="1800" dirty="0">
                <a:solidFill>
                  <a:srgbClr val="333333"/>
                </a:solidFill>
                <a:latin typeface="Calibri" panose="020F0502020204030204"/>
                <a:cs typeface="Calibri" panose="020F0502020204030204"/>
                <a:sym typeface="+mn-ea"/>
              </a:rPr>
              <a:t>Hibernate</a:t>
            </a:r>
            <a:r>
              <a:rPr sz="1800" spc="135"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is</a:t>
            </a:r>
            <a:r>
              <a:rPr sz="1800" spc="140"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a</a:t>
            </a:r>
            <a:r>
              <a:rPr sz="1800" spc="140"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Java</a:t>
            </a:r>
            <a:r>
              <a:rPr sz="1800" spc="125"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framework</a:t>
            </a:r>
            <a:r>
              <a:rPr sz="1800" spc="135"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that</a:t>
            </a:r>
            <a:r>
              <a:rPr sz="1800" spc="130"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simplifies</a:t>
            </a:r>
            <a:r>
              <a:rPr sz="1800" spc="135"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the</a:t>
            </a:r>
            <a:r>
              <a:rPr sz="1800" spc="130"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development</a:t>
            </a:r>
            <a:r>
              <a:rPr sz="1800" spc="135"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of</a:t>
            </a:r>
            <a:r>
              <a:rPr sz="1800" spc="140" dirty="0">
                <a:solidFill>
                  <a:srgbClr val="333333"/>
                </a:solidFill>
                <a:latin typeface="Calibri" panose="020F0502020204030204"/>
                <a:cs typeface="Calibri" panose="020F0502020204030204"/>
                <a:sym typeface="+mn-ea"/>
              </a:rPr>
              <a:t> </a:t>
            </a:r>
            <a:r>
              <a:rPr sz="1800" spc="-20" dirty="0">
                <a:solidFill>
                  <a:srgbClr val="333333"/>
                </a:solidFill>
                <a:latin typeface="Calibri" panose="020F0502020204030204"/>
                <a:cs typeface="Calibri" panose="020F0502020204030204"/>
                <a:sym typeface="+mn-ea"/>
              </a:rPr>
              <a:t>Java </a:t>
            </a:r>
            <a:r>
              <a:rPr sz="1800" spc="-10" dirty="0">
                <a:solidFill>
                  <a:srgbClr val="333333"/>
                </a:solidFill>
                <a:latin typeface="Calibri" panose="020F0502020204030204"/>
                <a:cs typeface="Calibri" panose="020F0502020204030204"/>
                <a:sym typeface="+mn-ea"/>
              </a:rPr>
              <a:t>application</a:t>
            </a:r>
            <a:r>
              <a:rPr sz="1800" spc="-30"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to</a:t>
            </a:r>
            <a:r>
              <a:rPr sz="1800" spc="-10" dirty="0">
                <a:solidFill>
                  <a:srgbClr val="333333"/>
                </a:solidFill>
                <a:latin typeface="Calibri" panose="020F0502020204030204"/>
                <a:cs typeface="Calibri" panose="020F0502020204030204"/>
                <a:sym typeface="+mn-ea"/>
              </a:rPr>
              <a:t> interact </a:t>
            </a:r>
            <a:r>
              <a:rPr sz="1800" dirty="0">
                <a:solidFill>
                  <a:srgbClr val="333333"/>
                </a:solidFill>
                <a:latin typeface="Calibri" panose="020F0502020204030204"/>
                <a:cs typeface="Calibri" panose="020F0502020204030204"/>
                <a:sym typeface="+mn-ea"/>
              </a:rPr>
              <a:t>with</a:t>
            </a:r>
            <a:r>
              <a:rPr sz="1800" spc="-30"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the</a:t>
            </a:r>
            <a:r>
              <a:rPr sz="1800" spc="-10" dirty="0">
                <a:solidFill>
                  <a:srgbClr val="333333"/>
                </a:solidFill>
                <a:latin typeface="Calibri" panose="020F0502020204030204"/>
                <a:cs typeface="Calibri" panose="020F0502020204030204"/>
                <a:sym typeface="+mn-ea"/>
              </a:rPr>
              <a:t> database</a:t>
            </a:r>
            <a:endParaRPr sz="1800">
              <a:latin typeface="Calibri" panose="020F0502020204030204"/>
              <a:cs typeface="Calibri" panose="020F0502020204030204"/>
            </a:endParaRPr>
          </a:p>
          <a:p>
            <a:pPr marL="342900" indent="-342900">
              <a:lnSpc>
                <a:spcPct val="100000"/>
              </a:lnSpc>
              <a:spcBef>
                <a:spcPts val="840"/>
              </a:spcBef>
              <a:buAutoNum type="arabicPeriod"/>
              <a:tabLst>
                <a:tab pos="349250" algn="l"/>
              </a:tabLst>
            </a:pPr>
            <a:r>
              <a:rPr sz="1800" spc="-10" dirty="0">
                <a:solidFill>
                  <a:srgbClr val="333333"/>
                </a:solidFill>
                <a:latin typeface="Calibri" panose="020F0502020204030204"/>
                <a:cs typeface="Calibri" panose="020F0502020204030204"/>
                <a:sym typeface="+mn-ea"/>
              </a:rPr>
              <a:t>Hibernate</a:t>
            </a:r>
            <a:r>
              <a:rPr sz="1800" spc="-20"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is</a:t>
            </a:r>
            <a:r>
              <a:rPr sz="1800" spc="-15"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a</a:t>
            </a:r>
            <a:r>
              <a:rPr sz="1800" spc="-20" dirty="0">
                <a:solidFill>
                  <a:srgbClr val="333333"/>
                </a:solidFill>
                <a:latin typeface="Calibri" panose="020F0502020204030204"/>
                <a:cs typeface="Calibri" panose="020F0502020204030204"/>
                <a:sym typeface="+mn-ea"/>
              </a:rPr>
              <a:t> </a:t>
            </a:r>
            <a:r>
              <a:rPr sz="1800" spc="-10" dirty="0">
                <a:solidFill>
                  <a:srgbClr val="333333"/>
                </a:solidFill>
                <a:latin typeface="Calibri" panose="020F0502020204030204"/>
                <a:cs typeface="Calibri" panose="020F0502020204030204"/>
                <a:sym typeface="+mn-ea"/>
              </a:rPr>
              <a:t>open-</a:t>
            </a:r>
            <a:r>
              <a:rPr sz="1800" dirty="0">
                <a:solidFill>
                  <a:srgbClr val="333333"/>
                </a:solidFill>
                <a:latin typeface="Calibri" panose="020F0502020204030204"/>
                <a:cs typeface="Calibri" panose="020F0502020204030204"/>
                <a:sym typeface="+mn-ea"/>
              </a:rPr>
              <a:t>source</a:t>
            </a:r>
            <a:r>
              <a:rPr sz="1800" spc="-10"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ORM</a:t>
            </a:r>
            <a:r>
              <a:rPr sz="1800" spc="275"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tool</a:t>
            </a:r>
            <a:r>
              <a:rPr sz="1800" spc="-35" dirty="0">
                <a:solidFill>
                  <a:srgbClr val="333333"/>
                </a:solidFill>
                <a:latin typeface="Calibri" panose="020F0502020204030204"/>
                <a:cs typeface="Calibri" panose="020F0502020204030204"/>
                <a:sym typeface="+mn-ea"/>
              </a:rPr>
              <a:t> </a:t>
            </a:r>
            <a:r>
              <a:rPr sz="1800" spc="-50" dirty="0">
                <a:solidFill>
                  <a:srgbClr val="333333"/>
                </a:solidFill>
                <a:latin typeface="Calibri" panose="020F0502020204030204"/>
                <a:cs typeface="Calibri" panose="020F0502020204030204"/>
                <a:sym typeface="+mn-ea"/>
              </a:rPr>
              <a:t>.</a:t>
            </a:r>
            <a:r>
              <a:rPr lang="en-US" sz="1800" spc="-50" dirty="0">
                <a:solidFill>
                  <a:srgbClr val="333333"/>
                </a:solidFill>
                <a:latin typeface="Calibri" panose="020F0502020204030204"/>
                <a:cs typeface="Calibri" panose="020F0502020204030204"/>
                <a:sym typeface="+mn-ea"/>
              </a:rPr>
              <a:t> </a:t>
            </a:r>
            <a:endParaRPr sz="1800">
              <a:latin typeface="Calibri" panose="020F0502020204030204"/>
              <a:cs typeface="Calibri" panose="020F0502020204030204"/>
            </a:endParaRPr>
          </a:p>
          <a:p>
            <a:pPr marL="342900" indent="-342900">
              <a:lnSpc>
                <a:spcPct val="100000"/>
              </a:lnSpc>
              <a:spcBef>
                <a:spcPts val="840"/>
              </a:spcBef>
              <a:buAutoNum type="arabicPeriod"/>
              <a:tabLst>
                <a:tab pos="349250" algn="l"/>
              </a:tabLst>
            </a:pPr>
            <a:r>
              <a:rPr sz="1800" spc="-10" dirty="0">
                <a:solidFill>
                  <a:srgbClr val="333333"/>
                </a:solidFill>
                <a:latin typeface="Calibri" panose="020F0502020204030204"/>
                <a:cs typeface="Calibri" panose="020F0502020204030204"/>
                <a:sym typeface="+mn-ea"/>
              </a:rPr>
              <a:t>Hibernate</a:t>
            </a:r>
            <a:r>
              <a:rPr sz="1800" spc="-20" dirty="0">
                <a:solidFill>
                  <a:srgbClr val="333333"/>
                </a:solidFill>
                <a:latin typeface="Calibri" panose="020F0502020204030204"/>
                <a:cs typeface="Calibri" panose="020F0502020204030204"/>
                <a:sym typeface="+mn-ea"/>
              </a:rPr>
              <a:t> </a:t>
            </a:r>
            <a:r>
              <a:rPr sz="1800" spc="-10" dirty="0">
                <a:solidFill>
                  <a:srgbClr val="333333"/>
                </a:solidFill>
                <a:latin typeface="Calibri" panose="020F0502020204030204"/>
                <a:cs typeface="Calibri" panose="020F0502020204030204"/>
                <a:sym typeface="+mn-ea"/>
              </a:rPr>
              <a:t>implements </a:t>
            </a:r>
            <a:r>
              <a:rPr sz="1800" b="1" spc="-35" dirty="0">
                <a:solidFill>
                  <a:srgbClr val="333333"/>
                </a:solidFill>
                <a:latin typeface="Calibri" panose="020F0502020204030204"/>
                <a:cs typeface="Calibri" panose="020F0502020204030204"/>
                <a:sym typeface="+mn-ea"/>
              </a:rPr>
              <a:t>JPA</a:t>
            </a:r>
            <a:r>
              <a:rPr sz="1800" b="1" spc="-5" dirty="0">
                <a:solidFill>
                  <a:srgbClr val="333333"/>
                </a:solidFill>
                <a:latin typeface="Calibri" panose="020F0502020204030204"/>
                <a:cs typeface="Calibri" panose="020F0502020204030204"/>
                <a:sym typeface="+mn-ea"/>
              </a:rPr>
              <a:t> </a:t>
            </a:r>
            <a:r>
              <a:rPr sz="1800" spc="-10" dirty="0">
                <a:solidFill>
                  <a:srgbClr val="333333"/>
                </a:solidFill>
                <a:latin typeface="Calibri" panose="020F0502020204030204"/>
                <a:cs typeface="Calibri" panose="020F0502020204030204"/>
                <a:sym typeface="+mn-ea"/>
              </a:rPr>
              <a:t>specification</a:t>
            </a:r>
            <a:r>
              <a:rPr sz="1800" spc="-20"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for</a:t>
            </a:r>
            <a:r>
              <a:rPr sz="1800" spc="-45" dirty="0">
                <a:solidFill>
                  <a:srgbClr val="333333"/>
                </a:solidFill>
                <a:latin typeface="Calibri" panose="020F0502020204030204"/>
                <a:cs typeface="Calibri" panose="020F0502020204030204"/>
                <a:sym typeface="+mn-ea"/>
              </a:rPr>
              <a:t> </a:t>
            </a:r>
            <a:r>
              <a:rPr sz="1800" dirty="0">
                <a:solidFill>
                  <a:srgbClr val="333333"/>
                </a:solidFill>
                <a:latin typeface="Calibri" panose="020F0502020204030204"/>
                <a:cs typeface="Calibri" panose="020F0502020204030204"/>
                <a:sym typeface="+mn-ea"/>
              </a:rPr>
              <a:t>data</a:t>
            </a:r>
            <a:r>
              <a:rPr sz="1800" spc="-20" dirty="0">
                <a:solidFill>
                  <a:srgbClr val="333333"/>
                </a:solidFill>
                <a:latin typeface="Calibri" panose="020F0502020204030204"/>
                <a:cs typeface="Calibri" panose="020F0502020204030204"/>
                <a:sym typeface="+mn-ea"/>
              </a:rPr>
              <a:t> </a:t>
            </a:r>
            <a:r>
              <a:rPr sz="1800" spc="-10" dirty="0">
                <a:solidFill>
                  <a:srgbClr val="333333"/>
                </a:solidFill>
                <a:latin typeface="Calibri" panose="020F0502020204030204"/>
                <a:cs typeface="Calibri" panose="020F0502020204030204"/>
                <a:sym typeface="+mn-ea"/>
              </a:rPr>
              <a:t>persistence.</a:t>
            </a:r>
            <a:endParaRPr sz="1800">
              <a:latin typeface="Calibri" panose="020F0502020204030204"/>
              <a:cs typeface="Calibri" panose="020F0502020204030204"/>
            </a:endParaRPr>
          </a:p>
          <a:p>
            <a:pPr marL="342900" marR="190500" indent="-342900">
              <a:lnSpc>
                <a:spcPct val="150000"/>
              </a:lnSpc>
              <a:buAutoNum type="arabicPeriod"/>
              <a:tabLst>
                <a:tab pos="350520" algn="l"/>
              </a:tabLst>
            </a:pPr>
            <a:r>
              <a:rPr sz="1800" dirty="0">
                <a:latin typeface="Calibri" panose="020F0502020204030204"/>
                <a:cs typeface="Calibri" panose="020F0502020204030204"/>
                <a:sym typeface="+mn-ea"/>
              </a:rPr>
              <a:t>Hibernate</a:t>
            </a:r>
            <a:r>
              <a:rPr sz="1800" spc="365"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framework</a:t>
            </a:r>
            <a:r>
              <a:rPr sz="1800" spc="355"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can</a:t>
            </a:r>
            <a:r>
              <a:rPr sz="1800" spc="365"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be</a:t>
            </a:r>
            <a:r>
              <a:rPr sz="1800" spc="380"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used</a:t>
            </a:r>
            <a:r>
              <a:rPr sz="1800" spc="350"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to</a:t>
            </a:r>
            <a:r>
              <a:rPr sz="1800" spc="375"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create</a:t>
            </a:r>
            <a:r>
              <a:rPr sz="1800" spc="355"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tables</a:t>
            </a:r>
            <a:r>
              <a:rPr sz="1800" spc="360"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in</a:t>
            </a:r>
            <a:r>
              <a:rPr sz="1800" spc="355"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the</a:t>
            </a:r>
            <a:r>
              <a:rPr sz="1800" spc="365" dirty="0">
                <a:latin typeface="Calibri" panose="020F0502020204030204"/>
                <a:cs typeface="Calibri" panose="020F0502020204030204"/>
                <a:sym typeface="+mn-ea"/>
              </a:rPr>
              <a:t> </a:t>
            </a:r>
            <a:r>
              <a:rPr sz="1800" spc="-10" dirty="0">
                <a:latin typeface="Calibri" panose="020F0502020204030204"/>
                <a:cs typeface="Calibri" panose="020F0502020204030204"/>
                <a:sym typeface="+mn-ea"/>
              </a:rPr>
              <a:t>database implicitly.</a:t>
            </a:r>
            <a:endParaRPr sz="1800">
              <a:latin typeface="Calibri" panose="020F0502020204030204"/>
              <a:cs typeface="Calibri" panose="020F0502020204030204"/>
            </a:endParaRPr>
          </a:p>
          <a:p>
            <a:pPr marL="342900" indent="-342900">
              <a:lnSpc>
                <a:spcPct val="100000"/>
              </a:lnSpc>
              <a:spcBef>
                <a:spcPts val="840"/>
              </a:spcBef>
              <a:buAutoNum type="arabicPeriod"/>
              <a:tabLst>
                <a:tab pos="349250" algn="l"/>
              </a:tabLst>
            </a:pPr>
            <a:r>
              <a:rPr sz="1800" dirty="0">
                <a:latin typeface="Calibri" panose="020F0502020204030204"/>
                <a:cs typeface="Calibri" panose="020F0502020204030204"/>
                <a:sym typeface="+mn-ea"/>
              </a:rPr>
              <a:t>It</a:t>
            </a:r>
            <a:r>
              <a:rPr sz="1800" spc="-20"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has</a:t>
            </a:r>
            <a:r>
              <a:rPr sz="1800" spc="-40"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inbuilt</a:t>
            </a:r>
            <a:r>
              <a:rPr sz="1800" spc="-30"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methods</a:t>
            </a:r>
            <a:r>
              <a:rPr sz="1800" spc="-15"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which</a:t>
            </a:r>
            <a:r>
              <a:rPr sz="1800" spc="-20"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implicitly</a:t>
            </a:r>
            <a:r>
              <a:rPr sz="1800" spc="-40"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calls</a:t>
            </a:r>
            <a:r>
              <a:rPr sz="1800" spc="-40"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the</a:t>
            </a:r>
            <a:r>
              <a:rPr sz="1800" spc="-30" dirty="0">
                <a:latin typeface="Calibri" panose="020F0502020204030204"/>
                <a:cs typeface="Calibri" panose="020F0502020204030204"/>
                <a:sym typeface="+mn-ea"/>
              </a:rPr>
              <a:t> </a:t>
            </a:r>
            <a:r>
              <a:rPr sz="1800" dirty="0">
                <a:latin typeface="Calibri" panose="020F0502020204030204"/>
                <a:cs typeface="Calibri" panose="020F0502020204030204"/>
                <a:sym typeface="+mn-ea"/>
              </a:rPr>
              <a:t>SQL</a:t>
            </a:r>
            <a:r>
              <a:rPr sz="1800" spc="-40" dirty="0">
                <a:latin typeface="Calibri" panose="020F0502020204030204"/>
                <a:cs typeface="Calibri" panose="020F0502020204030204"/>
                <a:sym typeface="+mn-ea"/>
              </a:rPr>
              <a:t> </a:t>
            </a:r>
            <a:r>
              <a:rPr sz="1800" spc="-10" dirty="0">
                <a:latin typeface="Calibri" panose="020F0502020204030204"/>
                <a:cs typeface="Calibri" panose="020F0502020204030204"/>
                <a:sym typeface="+mn-ea"/>
              </a:rPr>
              <a:t>queries</a:t>
            </a:r>
            <a:endParaRPr sz="1800">
              <a:latin typeface="Calibri" panose="020F0502020204030204"/>
              <a:cs typeface="Calibri" panose="020F0502020204030204"/>
            </a:endParaRPr>
          </a:p>
          <a:p>
            <a:pPr marL="342900" indent="-342900">
              <a:buAutoNum type="arabicPeriod"/>
            </a:pPr>
            <a:endParaRPr lang="en-US" sz="1800">
              <a:latin typeface="Calibri" panose="020F0502020204030204"/>
              <a:cs typeface="Calibri" panose="020F0502020204030204"/>
            </a:endParaRPr>
          </a:p>
        </p:txBody>
      </p:sp>
      <p:sp>
        <p:nvSpPr>
          <p:cNvPr id="4" name="Text Box 3"/>
          <p:cNvSpPr txBox="1"/>
          <p:nvPr/>
        </p:nvSpPr>
        <p:spPr>
          <a:xfrm>
            <a:off x="0" y="2851150"/>
            <a:ext cx="12303125" cy="3733165"/>
          </a:xfrm>
          <a:prstGeom prst="rect">
            <a:avLst/>
          </a:prstGeom>
          <a:noFill/>
        </p:spPr>
        <p:txBody>
          <a:bodyPr wrap="square" rtlCol="0" anchor="t">
            <a:noAutofit/>
          </a:bodyPr>
          <a:p>
            <a:pPr indent="0">
              <a:lnSpc>
                <a:spcPct val="100000"/>
              </a:lnSpc>
              <a:spcBef>
                <a:spcPts val="1100"/>
              </a:spcBef>
              <a:buNone/>
            </a:pPr>
            <a:r>
              <a:rPr b="1" dirty="0">
                <a:solidFill>
                  <a:srgbClr val="FF0000"/>
                </a:solidFill>
                <a:latin typeface="Gadugi" panose="020B0502040204020203"/>
                <a:cs typeface="Gadugi" panose="020B0502040204020203"/>
                <a:sym typeface="+mn-ea"/>
              </a:rPr>
              <a:t>WHY</a:t>
            </a:r>
            <a:r>
              <a:rPr b="1" spc="-35" dirty="0">
                <a:solidFill>
                  <a:srgbClr val="FF0000"/>
                </a:solidFill>
                <a:latin typeface="Gadugi" panose="020B0502040204020203"/>
                <a:cs typeface="Gadugi" panose="020B0502040204020203"/>
                <a:sym typeface="+mn-ea"/>
              </a:rPr>
              <a:t> </a:t>
            </a:r>
            <a:r>
              <a:rPr b="1" spc="-10" dirty="0">
                <a:solidFill>
                  <a:srgbClr val="FF0000"/>
                </a:solidFill>
                <a:latin typeface="Gadugi" panose="020B0502040204020203"/>
                <a:cs typeface="Gadugi" panose="020B0502040204020203"/>
                <a:sym typeface="+mn-ea"/>
              </a:rPr>
              <a:t>HIBERNATE?</a:t>
            </a:r>
            <a:endParaRPr>
              <a:solidFill>
                <a:srgbClr val="FF0000"/>
              </a:solidFill>
              <a:latin typeface="Gadugi" panose="020B0502040204020203"/>
              <a:cs typeface="Gadugi" panose="020B0502040204020203"/>
            </a:endParaRPr>
          </a:p>
          <a:p>
            <a:pPr marL="342900" marR="531495" indent="-342900">
              <a:lnSpc>
                <a:spcPct val="150000"/>
              </a:lnSpc>
              <a:spcBef>
                <a:spcPts val="1115"/>
              </a:spcBef>
              <a:buAutoNum type="arabicPeriod"/>
              <a:tabLst>
                <a:tab pos="349885" algn="l"/>
              </a:tabLst>
            </a:pPr>
            <a:r>
              <a:rPr dirty="0">
                <a:latin typeface="Calibri" panose="020F0502020204030204"/>
                <a:cs typeface="Calibri" panose="020F0502020204030204"/>
                <a:sym typeface="+mn-ea"/>
              </a:rPr>
              <a:t>Hibernate</a:t>
            </a:r>
            <a:r>
              <a:rPr spc="-15" dirty="0">
                <a:latin typeface="Calibri" panose="020F0502020204030204"/>
                <a:cs typeface="Calibri" panose="020F0502020204030204"/>
                <a:sym typeface="+mn-ea"/>
              </a:rPr>
              <a:t> </a:t>
            </a:r>
            <a:r>
              <a:rPr dirty="0">
                <a:latin typeface="Calibri" panose="020F0502020204030204"/>
                <a:cs typeface="Calibri" panose="020F0502020204030204"/>
                <a:sym typeface="+mn-ea"/>
              </a:rPr>
              <a:t>Reduces</a:t>
            </a:r>
            <a:r>
              <a:rPr spc="-20" dirty="0">
                <a:latin typeface="Calibri" panose="020F0502020204030204"/>
                <a:cs typeface="Calibri" panose="020F0502020204030204"/>
                <a:sym typeface="+mn-ea"/>
              </a:rPr>
              <a:t> </a:t>
            </a:r>
            <a:r>
              <a:rPr dirty="0">
                <a:latin typeface="Calibri" panose="020F0502020204030204"/>
                <a:cs typeface="Calibri" panose="020F0502020204030204"/>
                <a:sym typeface="+mn-ea"/>
              </a:rPr>
              <a:t>lines</a:t>
            </a:r>
            <a:r>
              <a:rPr spc="-5" dirty="0">
                <a:latin typeface="Calibri" panose="020F0502020204030204"/>
                <a:cs typeface="Calibri" panose="020F0502020204030204"/>
                <a:sym typeface="+mn-ea"/>
              </a:rPr>
              <a:t> </a:t>
            </a:r>
            <a:r>
              <a:rPr dirty="0">
                <a:latin typeface="Calibri" panose="020F0502020204030204"/>
                <a:cs typeface="Calibri" panose="020F0502020204030204"/>
                <a:sym typeface="+mn-ea"/>
              </a:rPr>
              <a:t>of</a:t>
            </a:r>
            <a:r>
              <a:rPr spc="-35" dirty="0">
                <a:latin typeface="Calibri" panose="020F0502020204030204"/>
                <a:cs typeface="Calibri" panose="020F0502020204030204"/>
                <a:sym typeface="+mn-ea"/>
              </a:rPr>
              <a:t> </a:t>
            </a:r>
            <a:r>
              <a:rPr dirty="0">
                <a:latin typeface="Calibri" panose="020F0502020204030204"/>
                <a:cs typeface="Calibri" panose="020F0502020204030204"/>
                <a:sym typeface="+mn-ea"/>
              </a:rPr>
              <a:t>code</a:t>
            </a:r>
            <a:r>
              <a:rPr spc="-20" dirty="0">
                <a:latin typeface="Calibri" panose="020F0502020204030204"/>
                <a:cs typeface="Calibri" panose="020F0502020204030204"/>
                <a:sym typeface="+mn-ea"/>
              </a:rPr>
              <a:t> </a:t>
            </a:r>
            <a:r>
              <a:rPr dirty="0">
                <a:latin typeface="Calibri" panose="020F0502020204030204"/>
                <a:cs typeface="Calibri" panose="020F0502020204030204"/>
                <a:sym typeface="+mn-ea"/>
              </a:rPr>
              <a:t>by</a:t>
            </a:r>
            <a:r>
              <a:rPr spc="-35" dirty="0">
                <a:latin typeface="Calibri" panose="020F0502020204030204"/>
                <a:cs typeface="Calibri" panose="020F0502020204030204"/>
                <a:sym typeface="+mn-ea"/>
              </a:rPr>
              <a:t> </a:t>
            </a:r>
            <a:r>
              <a:rPr dirty="0">
                <a:latin typeface="Calibri" panose="020F0502020204030204"/>
                <a:cs typeface="Calibri" panose="020F0502020204030204"/>
                <a:sym typeface="+mn-ea"/>
              </a:rPr>
              <a:t>maintaining</a:t>
            </a:r>
            <a:r>
              <a:rPr spc="-20" dirty="0">
                <a:latin typeface="Calibri" panose="020F0502020204030204"/>
                <a:cs typeface="Calibri" panose="020F0502020204030204"/>
                <a:sym typeface="+mn-ea"/>
              </a:rPr>
              <a:t> </a:t>
            </a:r>
            <a:r>
              <a:rPr spc="-10" dirty="0">
                <a:latin typeface="Calibri" panose="020F0502020204030204"/>
                <a:cs typeface="Calibri" panose="020F0502020204030204"/>
                <a:sym typeface="+mn-ea"/>
              </a:rPr>
              <a:t>object-</a:t>
            </a:r>
            <a:r>
              <a:rPr dirty="0">
                <a:latin typeface="Calibri" panose="020F0502020204030204"/>
                <a:cs typeface="Calibri" panose="020F0502020204030204"/>
                <a:sym typeface="+mn-ea"/>
              </a:rPr>
              <a:t>table mapping</a:t>
            </a:r>
            <a:r>
              <a:rPr spc="-30" dirty="0">
                <a:latin typeface="Calibri" panose="020F0502020204030204"/>
                <a:cs typeface="Calibri" panose="020F0502020204030204"/>
                <a:sym typeface="+mn-ea"/>
              </a:rPr>
              <a:t> </a:t>
            </a:r>
            <a:r>
              <a:rPr dirty="0">
                <a:latin typeface="Calibri" panose="020F0502020204030204"/>
                <a:cs typeface="Calibri" panose="020F0502020204030204"/>
                <a:sym typeface="+mn-ea"/>
              </a:rPr>
              <a:t>itself</a:t>
            </a:r>
            <a:r>
              <a:rPr spc="-10" dirty="0">
                <a:latin typeface="Calibri" panose="020F0502020204030204"/>
                <a:cs typeface="Calibri" panose="020F0502020204030204"/>
                <a:sym typeface="+mn-ea"/>
              </a:rPr>
              <a:t> </a:t>
            </a:r>
            <a:r>
              <a:rPr dirty="0">
                <a:latin typeface="Calibri" panose="020F0502020204030204"/>
                <a:cs typeface="Calibri" panose="020F0502020204030204"/>
                <a:sym typeface="+mn-ea"/>
              </a:rPr>
              <a:t>and</a:t>
            </a:r>
            <a:r>
              <a:rPr spc="-25" dirty="0">
                <a:latin typeface="Calibri" panose="020F0502020204030204"/>
                <a:cs typeface="Calibri" panose="020F0502020204030204"/>
                <a:sym typeface="+mn-ea"/>
              </a:rPr>
              <a:t> </a:t>
            </a:r>
            <a:r>
              <a:rPr dirty="0">
                <a:latin typeface="Calibri" panose="020F0502020204030204"/>
                <a:cs typeface="Calibri" panose="020F0502020204030204"/>
                <a:sym typeface="+mn-ea"/>
              </a:rPr>
              <a:t>returns</a:t>
            </a:r>
            <a:r>
              <a:rPr spc="-35" dirty="0">
                <a:latin typeface="Calibri" panose="020F0502020204030204"/>
                <a:cs typeface="Calibri" panose="020F0502020204030204"/>
                <a:sym typeface="+mn-ea"/>
              </a:rPr>
              <a:t> </a:t>
            </a:r>
            <a:r>
              <a:rPr dirty="0">
                <a:latin typeface="Calibri" panose="020F0502020204030204"/>
                <a:cs typeface="Calibri" panose="020F0502020204030204"/>
                <a:sym typeface="+mn-ea"/>
              </a:rPr>
              <a:t>result</a:t>
            </a:r>
            <a:r>
              <a:rPr spc="-5" dirty="0">
                <a:latin typeface="Calibri" panose="020F0502020204030204"/>
                <a:cs typeface="Calibri" panose="020F0502020204030204"/>
                <a:sym typeface="+mn-ea"/>
              </a:rPr>
              <a:t> </a:t>
            </a:r>
            <a:r>
              <a:rPr spc="-25" dirty="0">
                <a:latin typeface="Calibri" panose="020F0502020204030204"/>
                <a:cs typeface="Calibri" panose="020F0502020204030204"/>
                <a:sym typeface="+mn-ea"/>
              </a:rPr>
              <a:t>to</a:t>
            </a:r>
            <a:r>
              <a:rPr dirty="0">
                <a:latin typeface="Calibri" panose="020F0502020204030204"/>
                <a:cs typeface="Calibri" panose="020F0502020204030204"/>
                <a:sym typeface="+mn-ea"/>
              </a:rPr>
              <a:t> application</a:t>
            </a:r>
            <a:r>
              <a:rPr spc="-15" dirty="0">
                <a:latin typeface="Calibri" panose="020F0502020204030204"/>
                <a:cs typeface="Calibri" panose="020F0502020204030204"/>
                <a:sym typeface="+mn-ea"/>
              </a:rPr>
              <a:t> </a:t>
            </a:r>
            <a:r>
              <a:rPr dirty="0">
                <a:latin typeface="Calibri" panose="020F0502020204030204"/>
                <a:cs typeface="Calibri" panose="020F0502020204030204"/>
                <a:sym typeface="+mn-ea"/>
              </a:rPr>
              <a:t>in</a:t>
            </a:r>
            <a:r>
              <a:rPr spc="-35" dirty="0">
                <a:latin typeface="Calibri" panose="020F0502020204030204"/>
                <a:cs typeface="Calibri" panose="020F0502020204030204"/>
                <a:sym typeface="+mn-ea"/>
              </a:rPr>
              <a:t> </a:t>
            </a:r>
            <a:r>
              <a:rPr dirty="0">
                <a:latin typeface="Calibri" panose="020F0502020204030204"/>
                <a:cs typeface="Calibri" panose="020F0502020204030204"/>
                <a:sym typeface="+mn-ea"/>
              </a:rPr>
              <a:t>form</a:t>
            </a:r>
            <a:r>
              <a:rPr spc="-15" dirty="0">
                <a:latin typeface="Calibri" panose="020F0502020204030204"/>
                <a:cs typeface="Calibri" panose="020F0502020204030204"/>
                <a:sym typeface="+mn-ea"/>
              </a:rPr>
              <a:t> </a:t>
            </a:r>
            <a:r>
              <a:rPr dirty="0">
                <a:latin typeface="Calibri" panose="020F0502020204030204"/>
                <a:cs typeface="Calibri" panose="020F0502020204030204"/>
                <a:sym typeface="+mn-ea"/>
              </a:rPr>
              <a:t>of</a:t>
            </a:r>
            <a:r>
              <a:rPr spc="-30" dirty="0">
                <a:latin typeface="Calibri" panose="020F0502020204030204"/>
                <a:cs typeface="Calibri" panose="020F0502020204030204"/>
                <a:sym typeface="+mn-ea"/>
              </a:rPr>
              <a:t> </a:t>
            </a:r>
            <a:r>
              <a:rPr dirty="0">
                <a:latin typeface="Calibri" panose="020F0502020204030204"/>
                <a:cs typeface="Calibri" panose="020F0502020204030204"/>
                <a:sym typeface="+mn-ea"/>
              </a:rPr>
              <a:t>Java</a:t>
            </a:r>
            <a:r>
              <a:rPr spc="-20" dirty="0">
                <a:latin typeface="Calibri" panose="020F0502020204030204"/>
                <a:cs typeface="Calibri" panose="020F0502020204030204"/>
                <a:sym typeface="+mn-ea"/>
              </a:rPr>
              <a:t> </a:t>
            </a:r>
            <a:r>
              <a:rPr spc="-10" dirty="0">
                <a:latin typeface="Calibri" panose="020F0502020204030204"/>
                <a:cs typeface="Calibri" panose="020F0502020204030204"/>
                <a:sym typeface="+mn-ea"/>
              </a:rPr>
              <a:t>objects.</a:t>
            </a:r>
            <a:endParaRPr>
              <a:latin typeface="Calibri" panose="020F0502020204030204"/>
              <a:cs typeface="Calibri" panose="020F0502020204030204"/>
            </a:endParaRPr>
          </a:p>
          <a:p>
            <a:pPr marL="342900" indent="-342900">
              <a:lnSpc>
                <a:spcPct val="100000"/>
              </a:lnSpc>
              <a:spcBef>
                <a:spcPts val="600"/>
              </a:spcBef>
              <a:buAutoNum type="arabicPeriod"/>
              <a:tabLst>
                <a:tab pos="348615" algn="l"/>
              </a:tabLst>
            </a:pPr>
            <a:r>
              <a:rPr dirty="0">
                <a:latin typeface="Calibri" panose="020F0502020204030204"/>
                <a:cs typeface="Calibri" panose="020F0502020204030204"/>
                <a:sym typeface="+mn-ea"/>
              </a:rPr>
              <a:t>Hibernate</a:t>
            </a:r>
            <a:r>
              <a:rPr spc="-15" dirty="0">
                <a:latin typeface="Calibri" panose="020F0502020204030204"/>
                <a:cs typeface="Calibri" panose="020F0502020204030204"/>
                <a:sym typeface="+mn-ea"/>
              </a:rPr>
              <a:t> </a:t>
            </a:r>
            <a:r>
              <a:rPr dirty="0">
                <a:latin typeface="Calibri" panose="020F0502020204030204"/>
                <a:cs typeface="Calibri" panose="020F0502020204030204"/>
                <a:sym typeface="+mn-ea"/>
              </a:rPr>
              <a:t>does</a:t>
            </a:r>
            <a:r>
              <a:rPr spc="-35" dirty="0">
                <a:latin typeface="Calibri" panose="020F0502020204030204"/>
                <a:cs typeface="Calibri" panose="020F0502020204030204"/>
                <a:sym typeface="+mn-ea"/>
              </a:rPr>
              <a:t> </a:t>
            </a:r>
            <a:r>
              <a:rPr dirty="0">
                <a:latin typeface="Calibri" panose="020F0502020204030204"/>
                <a:cs typeface="Calibri" panose="020F0502020204030204"/>
                <a:sym typeface="+mn-ea"/>
              </a:rPr>
              <a:t>the</a:t>
            </a:r>
            <a:r>
              <a:rPr spc="-25" dirty="0">
                <a:latin typeface="Calibri" panose="020F0502020204030204"/>
                <a:cs typeface="Calibri" panose="020F0502020204030204"/>
                <a:sym typeface="+mn-ea"/>
              </a:rPr>
              <a:t> </a:t>
            </a:r>
            <a:r>
              <a:rPr spc="-10" dirty="0">
                <a:latin typeface="Calibri" panose="020F0502020204030204"/>
                <a:cs typeface="Calibri" panose="020F0502020204030204"/>
                <a:sym typeface="+mn-ea"/>
              </a:rPr>
              <a:t>implementation</a:t>
            </a:r>
            <a:r>
              <a:rPr spc="5" dirty="0">
                <a:latin typeface="Calibri" panose="020F0502020204030204"/>
                <a:cs typeface="Calibri" panose="020F0502020204030204"/>
                <a:sym typeface="+mn-ea"/>
              </a:rPr>
              <a:t> </a:t>
            </a:r>
            <a:r>
              <a:rPr dirty="0">
                <a:latin typeface="Calibri" panose="020F0502020204030204"/>
                <a:cs typeface="Calibri" panose="020F0502020204030204"/>
                <a:sym typeface="+mn-ea"/>
              </a:rPr>
              <a:t>internally</a:t>
            </a:r>
            <a:r>
              <a:rPr spc="-10" dirty="0">
                <a:latin typeface="Calibri" panose="020F0502020204030204"/>
                <a:cs typeface="Calibri" panose="020F0502020204030204"/>
                <a:sym typeface="+mn-ea"/>
              </a:rPr>
              <a:t> </a:t>
            </a:r>
            <a:r>
              <a:rPr dirty="0">
                <a:latin typeface="Calibri" panose="020F0502020204030204"/>
                <a:cs typeface="Calibri" panose="020F0502020204030204"/>
                <a:sym typeface="+mn-ea"/>
              </a:rPr>
              <a:t>like</a:t>
            </a:r>
            <a:r>
              <a:rPr spc="-25" dirty="0">
                <a:latin typeface="Calibri" panose="020F0502020204030204"/>
                <a:cs typeface="Calibri" panose="020F0502020204030204"/>
                <a:sym typeface="+mn-ea"/>
              </a:rPr>
              <a:t> </a:t>
            </a:r>
            <a:r>
              <a:rPr dirty="0">
                <a:latin typeface="Calibri" panose="020F0502020204030204"/>
                <a:cs typeface="Calibri" panose="020F0502020204030204"/>
                <a:sym typeface="+mn-ea"/>
              </a:rPr>
              <a:t>writing</a:t>
            </a:r>
            <a:r>
              <a:rPr spc="-15" dirty="0">
                <a:latin typeface="Calibri" panose="020F0502020204030204"/>
                <a:cs typeface="Calibri" panose="020F0502020204030204"/>
                <a:sym typeface="+mn-ea"/>
              </a:rPr>
              <a:t> </a:t>
            </a:r>
            <a:r>
              <a:rPr dirty="0">
                <a:latin typeface="Calibri" panose="020F0502020204030204"/>
                <a:cs typeface="Calibri" panose="020F0502020204030204"/>
                <a:sym typeface="+mn-ea"/>
              </a:rPr>
              <a:t>queries</a:t>
            </a:r>
            <a:r>
              <a:rPr spc="-10" dirty="0">
                <a:latin typeface="Calibri" panose="020F0502020204030204"/>
                <a:cs typeface="Calibri" panose="020F0502020204030204"/>
                <a:sym typeface="+mn-ea"/>
              </a:rPr>
              <a:t> </a:t>
            </a:r>
            <a:r>
              <a:rPr dirty="0">
                <a:latin typeface="Calibri" panose="020F0502020204030204"/>
                <a:cs typeface="Calibri" panose="020F0502020204030204"/>
                <a:sym typeface="+mn-ea"/>
              </a:rPr>
              <a:t>&amp;</a:t>
            </a:r>
            <a:r>
              <a:rPr spc="-35" dirty="0">
                <a:latin typeface="Calibri" panose="020F0502020204030204"/>
                <a:cs typeface="Calibri" panose="020F0502020204030204"/>
                <a:sym typeface="+mn-ea"/>
              </a:rPr>
              <a:t> </a:t>
            </a:r>
            <a:r>
              <a:rPr dirty="0">
                <a:latin typeface="Calibri" panose="020F0502020204030204"/>
                <a:cs typeface="Calibri" panose="020F0502020204030204"/>
                <a:sym typeface="+mn-ea"/>
              </a:rPr>
              <a:t>Establishing</a:t>
            </a:r>
            <a:r>
              <a:rPr spc="-20" dirty="0">
                <a:latin typeface="Calibri" panose="020F0502020204030204"/>
                <a:cs typeface="Calibri" panose="020F0502020204030204"/>
                <a:sym typeface="+mn-ea"/>
              </a:rPr>
              <a:t> </a:t>
            </a:r>
            <a:r>
              <a:rPr dirty="0">
                <a:latin typeface="Calibri" panose="020F0502020204030204"/>
                <a:cs typeface="Calibri" panose="020F0502020204030204"/>
                <a:sym typeface="+mn-ea"/>
              </a:rPr>
              <a:t>connection</a:t>
            </a:r>
            <a:r>
              <a:rPr spc="-15" dirty="0">
                <a:latin typeface="Calibri" panose="020F0502020204030204"/>
                <a:cs typeface="Calibri" panose="020F0502020204030204"/>
                <a:sym typeface="+mn-ea"/>
              </a:rPr>
              <a:t> </a:t>
            </a:r>
            <a:r>
              <a:rPr spc="-20" dirty="0">
                <a:latin typeface="Calibri" panose="020F0502020204030204"/>
                <a:cs typeface="Calibri" panose="020F0502020204030204"/>
                <a:sym typeface="+mn-ea"/>
              </a:rPr>
              <a:t>etc.</a:t>
            </a:r>
            <a:endParaRPr>
              <a:latin typeface="Calibri" panose="020F0502020204030204"/>
              <a:cs typeface="Calibri" panose="020F0502020204030204"/>
            </a:endParaRPr>
          </a:p>
          <a:p>
            <a:pPr marL="342900" marR="741680" indent="-342900">
              <a:lnSpc>
                <a:spcPct val="150000"/>
              </a:lnSpc>
              <a:buAutoNum type="arabicPeriod"/>
              <a:tabLst>
                <a:tab pos="349885" algn="l"/>
              </a:tabLst>
            </a:pPr>
            <a:r>
              <a:rPr dirty="0">
                <a:latin typeface="Calibri" panose="020F0502020204030204"/>
                <a:cs typeface="Calibri" panose="020F0502020204030204"/>
                <a:sym typeface="+mn-ea"/>
              </a:rPr>
              <a:t>Hibernate</a:t>
            </a:r>
            <a:r>
              <a:rPr spc="-10" dirty="0">
                <a:latin typeface="Calibri" panose="020F0502020204030204"/>
                <a:cs typeface="Calibri" panose="020F0502020204030204"/>
                <a:sym typeface="+mn-ea"/>
              </a:rPr>
              <a:t> </a:t>
            </a:r>
            <a:r>
              <a:rPr dirty="0">
                <a:latin typeface="Calibri" panose="020F0502020204030204"/>
                <a:cs typeface="Calibri" panose="020F0502020204030204"/>
                <a:sym typeface="+mn-ea"/>
              </a:rPr>
              <a:t>removes</a:t>
            </a:r>
            <a:r>
              <a:rPr spc="-5" dirty="0">
                <a:latin typeface="Calibri" panose="020F0502020204030204"/>
                <a:cs typeface="Calibri" panose="020F0502020204030204"/>
                <a:sym typeface="+mn-ea"/>
              </a:rPr>
              <a:t> </a:t>
            </a:r>
            <a:r>
              <a:rPr dirty="0">
                <a:latin typeface="Calibri" panose="020F0502020204030204"/>
                <a:cs typeface="Calibri" panose="020F0502020204030204"/>
                <a:sym typeface="+mn-ea"/>
              </a:rPr>
              <a:t>a</a:t>
            </a:r>
            <a:r>
              <a:rPr spc="-20" dirty="0">
                <a:latin typeface="Calibri" panose="020F0502020204030204"/>
                <a:cs typeface="Calibri" panose="020F0502020204030204"/>
                <a:sym typeface="+mn-ea"/>
              </a:rPr>
              <a:t> </a:t>
            </a:r>
            <a:r>
              <a:rPr dirty="0">
                <a:latin typeface="Calibri" panose="020F0502020204030204"/>
                <a:cs typeface="Calibri" panose="020F0502020204030204"/>
                <a:sym typeface="+mn-ea"/>
              </a:rPr>
              <a:t>lot</a:t>
            </a:r>
            <a:r>
              <a:rPr spc="-25" dirty="0">
                <a:latin typeface="Calibri" panose="020F0502020204030204"/>
                <a:cs typeface="Calibri" panose="020F0502020204030204"/>
                <a:sym typeface="+mn-ea"/>
              </a:rPr>
              <a:t> </a:t>
            </a:r>
            <a:r>
              <a:rPr dirty="0">
                <a:latin typeface="Calibri" panose="020F0502020204030204"/>
                <a:cs typeface="Calibri" panose="020F0502020204030204"/>
                <a:sym typeface="+mn-ea"/>
              </a:rPr>
              <a:t>of</a:t>
            </a:r>
            <a:r>
              <a:rPr spc="-30" dirty="0">
                <a:latin typeface="Calibri" panose="020F0502020204030204"/>
                <a:cs typeface="Calibri" panose="020F0502020204030204"/>
                <a:sym typeface="+mn-ea"/>
              </a:rPr>
              <a:t> </a:t>
            </a:r>
            <a:r>
              <a:rPr spc="-10" dirty="0">
                <a:latin typeface="Calibri" panose="020F0502020204030204"/>
                <a:cs typeface="Calibri" panose="020F0502020204030204"/>
                <a:sym typeface="+mn-ea"/>
              </a:rPr>
              <a:t>boiler-</a:t>
            </a:r>
            <a:r>
              <a:rPr dirty="0">
                <a:latin typeface="Calibri" panose="020F0502020204030204"/>
                <a:cs typeface="Calibri" panose="020F0502020204030204"/>
                <a:sym typeface="+mn-ea"/>
              </a:rPr>
              <a:t>plate</a:t>
            </a:r>
            <a:r>
              <a:rPr spc="10" dirty="0">
                <a:latin typeface="Calibri" panose="020F0502020204030204"/>
                <a:cs typeface="Calibri" panose="020F0502020204030204"/>
                <a:sym typeface="+mn-ea"/>
              </a:rPr>
              <a:t> </a:t>
            </a:r>
            <a:r>
              <a:rPr dirty="0">
                <a:latin typeface="Calibri" panose="020F0502020204030204"/>
                <a:cs typeface="Calibri" panose="020F0502020204030204"/>
                <a:sym typeface="+mn-ea"/>
              </a:rPr>
              <a:t>code</a:t>
            </a:r>
            <a:r>
              <a:rPr spc="-25" dirty="0">
                <a:latin typeface="Calibri" panose="020F0502020204030204"/>
                <a:cs typeface="Calibri" panose="020F0502020204030204"/>
                <a:sym typeface="+mn-ea"/>
              </a:rPr>
              <a:t> </a:t>
            </a:r>
            <a:r>
              <a:rPr dirty="0">
                <a:latin typeface="Calibri" panose="020F0502020204030204"/>
                <a:cs typeface="Calibri" panose="020F0502020204030204"/>
                <a:sym typeface="+mn-ea"/>
              </a:rPr>
              <a:t>that</a:t>
            </a:r>
            <a:r>
              <a:rPr spc="-25" dirty="0">
                <a:latin typeface="Calibri" panose="020F0502020204030204"/>
                <a:cs typeface="Calibri" panose="020F0502020204030204"/>
                <a:sym typeface="+mn-ea"/>
              </a:rPr>
              <a:t> </a:t>
            </a:r>
            <a:r>
              <a:rPr dirty="0">
                <a:latin typeface="Calibri" panose="020F0502020204030204"/>
                <a:cs typeface="Calibri" panose="020F0502020204030204"/>
                <a:sym typeface="+mn-ea"/>
              </a:rPr>
              <a:t>comes</a:t>
            </a:r>
            <a:r>
              <a:rPr spc="5" dirty="0">
                <a:latin typeface="Calibri" panose="020F0502020204030204"/>
                <a:cs typeface="Calibri" panose="020F0502020204030204"/>
                <a:sym typeface="+mn-ea"/>
              </a:rPr>
              <a:t> </a:t>
            </a:r>
            <a:r>
              <a:rPr dirty="0">
                <a:latin typeface="Calibri" panose="020F0502020204030204"/>
                <a:cs typeface="Calibri" panose="020F0502020204030204"/>
                <a:sym typeface="+mn-ea"/>
              </a:rPr>
              <a:t>with</a:t>
            </a:r>
            <a:r>
              <a:rPr spc="-15" dirty="0">
                <a:latin typeface="Calibri" panose="020F0502020204030204"/>
                <a:cs typeface="Calibri" panose="020F0502020204030204"/>
                <a:sym typeface="+mn-ea"/>
              </a:rPr>
              <a:t> </a:t>
            </a:r>
            <a:r>
              <a:rPr dirty="0">
                <a:latin typeface="Calibri" panose="020F0502020204030204"/>
                <a:cs typeface="Calibri" panose="020F0502020204030204"/>
                <a:sym typeface="+mn-ea"/>
              </a:rPr>
              <a:t>JDBC</a:t>
            </a:r>
            <a:r>
              <a:rPr spc="-20" dirty="0">
                <a:latin typeface="Calibri" panose="020F0502020204030204"/>
                <a:cs typeface="Calibri" panose="020F0502020204030204"/>
                <a:sym typeface="+mn-ea"/>
              </a:rPr>
              <a:t> </a:t>
            </a:r>
            <a:r>
              <a:rPr dirty="0">
                <a:latin typeface="Calibri" panose="020F0502020204030204"/>
                <a:cs typeface="Calibri" panose="020F0502020204030204"/>
                <a:sym typeface="+mn-ea"/>
              </a:rPr>
              <a:t>API,</a:t>
            </a:r>
            <a:r>
              <a:rPr spc="-20" dirty="0">
                <a:latin typeface="Calibri" panose="020F0502020204030204"/>
                <a:cs typeface="Calibri" panose="020F0502020204030204"/>
                <a:sym typeface="+mn-ea"/>
              </a:rPr>
              <a:t> </a:t>
            </a:r>
            <a:r>
              <a:rPr dirty="0">
                <a:latin typeface="Calibri" panose="020F0502020204030204"/>
                <a:cs typeface="Calibri" panose="020F0502020204030204"/>
                <a:sym typeface="+mn-ea"/>
              </a:rPr>
              <a:t>the</a:t>
            </a:r>
            <a:r>
              <a:rPr spc="-25" dirty="0">
                <a:latin typeface="Calibri" panose="020F0502020204030204"/>
                <a:cs typeface="Calibri" panose="020F0502020204030204"/>
                <a:sym typeface="+mn-ea"/>
              </a:rPr>
              <a:t> </a:t>
            </a:r>
            <a:r>
              <a:rPr dirty="0">
                <a:latin typeface="Calibri" panose="020F0502020204030204"/>
                <a:cs typeface="Calibri" panose="020F0502020204030204"/>
                <a:sym typeface="+mn-ea"/>
              </a:rPr>
              <a:t>code</a:t>
            </a:r>
            <a:r>
              <a:rPr spc="-10" dirty="0">
                <a:latin typeface="Calibri" panose="020F0502020204030204"/>
                <a:cs typeface="Calibri" panose="020F0502020204030204"/>
                <a:sym typeface="+mn-ea"/>
              </a:rPr>
              <a:t> </a:t>
            </a:r>
            <a:r>
              <a:rPr dirty="0">
                <a:latin typeface="Calibri" panose="020F0502020204030204"/>
                <a:cs typeface="Calibri" panose="020F0502020204030204"/>
                <a:sym typeface="+mn-ea"/>
              </a:rPr>
              <a:t>looks</a:t>
            </a:r>
            <a:r>
              <a:rPr spc="-20" dirty="0">
                <a:latin typeface="Calibri" panose="020F0502020204030204"/>
                <a:cs typeface="Calibri" panose="020F0502020204030204"/>
                <a:sym typeface="+mn-ea"/>
              </a:rPr>
              <a:t> more</a:t>
            </a:r>
            <a:r>
              <a:rPr lang="en-US" spc="-20" dirty="0">
                <a:latin typeface="Calibri" panose="020F0502020204030204"/>
                <a:cs typeface="Calibri" panose="020F0502020204030204"/>
                <a:sym typeface="+mn-ea"/>
              </a:rPr>
              <a:t> </a:t>
            </a:r>
            <a:r>
              <a:rPr dirty="0">
                <a:latin typeface="Calibri" panose="020F0502020204030204"/>
                <a:cs typeface="Calibri" panose="020F0502020204030204"/>
                <a:sym typeface="+mn-ea"/>
              </a:rPr>
              <a:t>cleaner and</a:t>
            </a:r>
            <a:r>
              <a:rPr spc="-35" dirty="0">
                <a:latin typeface="Calibri" panose="020F0502020204030204"/>
                <a:cs typeface="Calibri" panose="020F0502020204030204"/>
                <a:sym typeface="+mn-ea"/>
              </a:rPr>
              <a:t> </a:t>
            </a:r>
            <a:r>
              <a:rPr spc="-10" dirty="0">
                <a:latin typeface="Calibri" panose="020F0502020204030204"/>
                <a:cs typeface="Calibri" panose="020F0502020204030204"/>
                <a:sym typeface="+mn-ea"/>
              </a:rPr>
              <a:t>readable.</a:t>
            </a:r>
            <a:endParaRPr>
              <a:latin typeface="Calibri" panose="020F0502020204030204"/>
              <a:cs typeface="Calibri" panose="020F0502020204030204"/>
            </a:endParaRPr>
          </a:p>
          <a:p>
            <a:pPr marL="342900" marR="574675" indent="-342900">
              <a:lnSpc>
                <a:spcPct val="150000"/>
              </a:lnSpc>
              <a:buAutoNum type="arabicPeriod"/>
              <a:tabLst>
                <a:tab pos="349885" algn="l"/>
              </a:tabLst>
            </a:pPr>
            <a:r>
              <a:rPr dirty="0">
                <a:latin typeface="Calibri" panose="020F0502020204030204"/>
                <a:cs typeface="Calibri" panose="020F0502020204030204"/>
                <a:sym typeface="+mn-ea"/>
              </a:rPr>
              <a:t>JDBC</a:t>
            </a:r>
            <a:r>
              <a:rPr spc="-20" dirty="0">
                <a:latin typeface="Calibri" panose="020F0502020204030204"/>
                <a:cs typeface="Calibri" panose="020F0502020204030204"/>
                <a:sym typeface="+mn-ea"/>
              </a:rPr>
              <a:t> </a:t>
            </a:r>
            <a:r>
              <a:rPr dirty="0">
                <a:latin typeface="Calibri" panose="020F0502020204030204"/>
                <a:cs typeface="Calibri" panose="020F0502020204030204"/>
                <a:sym typeface="+mn-ea"/>
              </a:rPr>
              <a:t>is</a:t>
            </a:r>
            <a:r>
              <a:rPr spc="-15" dirty="0">
                <a:latin typeface="Calibri" panose="020F0502020204030204"/>
                <a:cs typeface="Calibri" panose="020F0502020204030204"/>
                <a:sym typeface="+mn-ea"/>
              </a:rPr>
              <a:t> </a:t>
            </a:r>
            <a:r>
              <a:rPr dirty="0">
                <a:latin typeface="Calibri" panose="020F0502020204030204"/>
                <a:cs typeface="Calibri" panose="020F0502020204030204"/>
                <a:sym typeface="+mn-ea"/>
              </a:rPr>
              <a:t>database</a:t>
            </a:r>
            <a:r>
              <a:rPr spc="-5" dirty="0">
                <a:latin typeface="Calibri" panose="020F0502020204030204"/>
                <a:cs typeface="Calibri" panose="020F0502020204030204"/>
                <a:sym typeface="+mn-ea"/>
              </a:rPr>
              <a:t> </a:t>
            </a:r>
            <a:r>
              <a:rPr spc="-10" dirty="0">
                <a:latin typeface="Calibri" panose="020F0502020204030204"/>
                <a:cs typeface="Calibri" panose="020F0502020204030204"/>
                <a:sym typeface="+mn-ea"/>
              </a:rPr>
              <a:t>dependent </a:t>
            </a:r>
            <a:r>
              <a:rPr dirty="0">
                <a:latin typeface="Calibri" panose="020F0502020204030204"/>
                <a:cs typeface="Calibri" panose="020F0502020204030204"/>
                <a:sym typeface="+mn-ea"/>
              </a:rPr>
              <a:t>i.e.</a:t>
            </a:r>
            <a:r>
              <a:rPr spc="-25" dirty="0">
                <a:latin typeface="Calibri" panose="020F0502020204030204"/>
                <a:cs typeface="Calibri" panose="020F0502020204030204"/>
                <a:sym typeface="+mn-ea"/>
              </a:rPr>
              <a:t> </a:t>
            </a:r>
            <a:r>
              <a:rPr dirty="0">
                <a:latin typeface="Calibri" panose="020F0502020204030204"/>
                <a:cs typeface="Calibri" panose="020F0502020204030204"/>
                <a:sym typeface="+mn-ea"/>
              </a:rPr>
              <a:t>one</a:t>
            </a:r>
            <a:r>
              <a:rPr spc="-15" dirty="0">
                <a:latin typeface="Calibri" panose="020F0502020204030204"/>
                <a:cs typeface="Calibri" panose="020F0502020204030204"/>
                <a:sym typeface="+mn-ea"/>
              </a:rPr>
              <a:t> </a:t>
            </a:r>
            <a:r>
              <a:rPr dirty="0">
                <a:latin typeface="Calibri" panose="020F0502020204030204"/>
                <a:cs typeface="Calibri" panose="020F0502020204030204"/>
                <a:sym typeface="+mn-ea"/>
              </a:rPr>
              <a:t>needs</a:t>
            </a:r>
            <a:r>
              <a:rPr spc="-15" dirty="0">
                <a:latin typeface="Calibri" panose="020F0502020204030204"/>
                <a:cs typeface="Calibri" panose="020F0502020204030204"/>
                <a:sym typeface="+mn-ea"/>
              </a:rPr>
              <a:t> </a:t>
            </a:r>
            <a:r>
              <a:rPr dirty="0">
                <a:latin typeface="Calibri" panose="020F0502020204030204"/>
                <a:cs typeface="Calibri" panose="020F0502020204030204"/>
                <a:sym typeface="+mn-ea"/>
              </a:rPr>
              <a:t>to</a:t>
            </a:r>
            <a:r>
              <a:rPr spc="-25" dirty="0">
                <a:latin typeface="Calibri" panose="020F0502020204030204"/>
                <a:cs typeface="Calibri" panose="020F0502020204030204"/>
                <a:sym typeface="+mn-ea"/>
              </a:rPr>
              <a:t> </a:t>
            </a:r>
            <a:r>
              <a:rPr dirty="0">
                <a:latin typeface="Calibri" panose="020F0502020204030204"/>
                <a:cs typeface="Calibri" panose="020F0502020204030204"/>
                <a:sym typeface="+mn-ea"/>
              </a:rPr>
              <a:t>write </a:t>
            </a:r>
            <a:r>
              <a:rPr spc="-10" dirty="0">
                <a:latin typeface="Calibri" panose="020F0502020204030204"/>
                <a:cs typeface="Calibri" panose="020F0502020204030204"/>
                <a:sym typeface="+mn-ea"/>
              </a:rPr>
              <a:t>different</a:t>
            </a:r>
            <a:r>
              <a:rPr dirty="0">
                <a:latin typeface="Calibri" panose="020F0502020204030204"/>
                <a:cs typeface="Calibri" panose="020F0502020204030204"/>
                <a:sym typeface="+mn-ea"/>
              </a:rPr>
              <a:t> codes</a:t>
            </a:r>
            <a:r>
              <a:rPr spc="-5" dirty="0">
                <a:latin typeface="Calibri" panose="020F0502020204030204"/>
                <a:cs typeface="Calibri" panose="020F0502020204030204"/>
                <a:sym typeface="+mn-ea"/>
              </a:rPr>
              <a:t> </a:t>
            </a:r>
            <a:r>
              <a:rPr dirty="0">
                <a:latin typeface="Calibri" panose="020F0502020204030204"/>
                <a:cs typeface="Calibri" panose="020F0502020204030204"/>
                <a:sym typeface="+mn-ea"/>
              </a:rPr>
              <a:t>for</a:t>
            </a:r>
            <a:r>
              <a:rPr spc="-30" dirty="0">
                <a:latin typeface="Calibri" panose="020F0502020204030204"/>
                <a:cs typeface="Calibri" panose="020F0502020204030204"/>
                <a:sym typeface="+mn-ea"/>
              </a:rPr>
              <a:t> </a:t>
            </a:r>
            <a:r>
              <a:rPr spc="-10" dirty="0">
                <a:latin typeface="Calibri" panose="020F0502020204030204"/>
                <a:cs typeface="Calibri" panose="020F0502020204030204"/>
                <a:sym typeface="+mn-ea"/>
              </a:rPr>
              <a:t>different</a:t>
            </a:r>
            <a:r>
              <a:rPr spc="20" dirty="0">
                <a:latin typeface="Calibri" panose="020F0502020204030204"/>
                <a:cs typeface="Calibri" panose="020F0502020204030204"/>
                <a:sym typeface="+mn-ea"/>
              </a:rPr>
              <a:t> </a:t>
            </a:r>
            <a:r>
              <a:rPr spc="-10" dirty="0">
                <a:latin typeface="Calibri" panose="020F0502020204030204"/>
                <a:cs typeface="Calibri" panose="020F0502020204030204"/>
                <a:sym typeface="+mn-ea"/>
              </a:rPr>
              <a:t>database. 	</a:t>
            </a:r>
            <a:endParaRPr spc="-10" dirty="0">
              <a:latin typeface="Calibri" panose="020F0502020204030204"/>
              <a:cs typeface="Calibri" panose="020F0502020204030204"/>
              <a:sym typeface="+mn-ea"/>
            </a:endParaRPr>
          </a:p>
          <a:p>
            <a:pPr marL="342900" marR="574675" indent="-342900">
              <a:lnSpc>
                <a:spcPct val="150000"/>
              </a:lnSpc>
              <a:buAutoNum type="arabicPeriod"/>
              <a:tabLst>
                <a:tab pos="349885" algn="l"/>
              </a:tabLst>
            </a:pPr>
            <a:r>
              <a:rPr dirty="0">
                <a:latin typeface="Calibri" panose="020F0502020204030204"/>
                <a:cs typeface="Calibri" panose="020F0502020204030204"/>
                <a:sym typeface="+mn-ea"/>
              </a:rPr>
              <a:t>Whereas</a:t>
            </a:r>
            <a:r>
              <a:rPr spc="-10" dirty="0">
                <a:latin typeface="Calibri" panose="020F0502020204030204"/>
                <a:cs typeface="Calibri" panose="020F0502020204030204"/>
                <a:sym typeface="+mn-ea"/>
              </a:rPr>
              <a:t> </a:t>
            </a:r>
            <a:r>
              <a:rPr b="1" spc="-10" dirty="0">
                <a:latin typeface="Calibri" panose="020F0502020204030204"/>
                <a:cs typeface="Calibri" panose="020F0502020204030204"/>
                <a:sym typeface="+mn-ea"/>
              </a:rPr>
              <a:t>Hibernate</a:t>
            </a:r>
            <a:r>
              <a:rPr b="1" spc="-20" dirty="0">
                <a:latin typeface="Calibri" panose="020F0502020204030204"/>
                <a:cs typeface="Calibri" panose="020F0502020204030204"/>
                <a:sym typeface="+mn-ea"/>
              </a:rPr>
              <a:t> </a:t>
            </a:r>
            <a:r>
              <a:rPr dirty="0">
                <a:latin typeface="Calibri" panose="020F0502020204030204"/>
                <a:cs typeface="Calibri" panose="020F0502020204030204"/>
                <a:sym typeface="+mn-ea"/>
              </a:rPr>
              <a:t>is</a:t>
            </a:r>
            <a:r>
              <a:rPr spc="-10" dirty="0">
                <a:latin typeface="Calibri" panose="020F0502020204030204"/>
                <a:cs typeface="Calibri" panose="020F0502020204030204"/>
                <a:sym typeface="+mn-ea"/>
              </a:rPr>
              <a:t> </a:t>
            </a:r>
            <a:r>
              <a:rPr dirty="0">
                <a:latin typeface="Calibri" panose="020F0502020204030204"/>
                <a:cs typeface="Calibri" panose="020F0502020204030204"/>
                <a:sym typeface="+mn-ea"/>
              </a:rPr>
              <a:t>database</a:t>
            </a:r>
            <a:r>
              <a:rPr spc="-5" dirty="0">
                <a:latin typeface="Calibri" panose="020F0502020204030204"/>
                <a:cs typeface="Calibri" panose="020F0502020204030204"/>
                <a:sym typeface="+mn-ea"/>
              </a:rPr>
              <a:t> </a:t>
            </a:r>
            <a:r>
              <a:rPr spc="-10" dirty="0">
                <a:latin typeface="Calibri" panose="020F0502020204030204"/>
                <a:cs typeface="Calibri" panose="020F0502020204030204"/>
                <a:sym typeface="+mn-ea"/>
              </a:rPr>
              <a:t>independent</a:t>
            </a:r>
            <a:r>
              <a:rPr spc="-5" dirty="0">
                <a:latin typeface="Calibri" panose="020F0502020204030204"/>
                <a:cs typeface="Calibri" panose="020F0502020204030204"/>
                <a:sym typeface="+mn-ea"/>
              </a:rPr>
              <a:t> </a:t>
            </a:r>
            <a:r>
              <a:rPr dirty="0">
                <a:latin typeface="Calibri" panose="020F0502020204030204"/>
                <a:cs typeface="Calibri" panose="020F0502020204030204"/>
                <a:sym typeface="+mn-ea"/>
              </a:rPr>
              <a:t>and</a:t>
            </a:r>
            <a:r>
              <a:rPr spc="-25" dirty="0">
                <a:latin typeface="Calibri" panose="020F0502020204030204"/>
                <a:cs typeface="Calibri" panose="020F0502020204030204"/>
                <a:sym typeface="+mn-ea"/>
              </a:rPr>
              <a:t> </a:t>
            </a:r>
            <a:r>
              <a:rPr dirty="0">
                <a:latin typeface="Calibri" panose="020F0502020204030204"/>
                <a:cs typeface="Calibri" panose="020F0502020204030204"/>
                <a:sym typeface="+mn-ea"/>
              </a:rPr>
              <a:t>same</a:t>
            </a:r>
            <a:r>
              <a:rPr spc="-10" dirty="0">
                <a:latin typeface="Calibri" panose="020F0502020204030204"/>
                <a:cs typeface="Calibri" panose="020F0502020204030204"/>
                <a:sym typeface="+mn-ea"/>
              </a:rPr>
              <a:t> </a:t>
            </a:r>
            <a:r>
              <a:rPr dirty="0">
                <a:latin typeface="Calibri" panose="020F0502020204030204"/>
                <a:cs typeface="Calibri" panose="020F0502020204030204"/>
                <a:sym typeface="+mn-ea"/>
              </a:rPr>
              <a:t>code</a:t>
            </a:r>
            <a:r>
              <a:rPr spc="-15" dirty="0">
                <a:latin typeface="Calibri" panose="020F0502020204030204"/>
                <a:cs typeface="Calibri" panose="020F0502020204030204"/>
                <a:sym typeface="+mn-ea"/>
              </a:rPr>
              <a:t> </a:t>
            </a:r>
            <a:r>
              <a:rPr dirty="0">
                <a:latin typeface="Calibri" panose="020F0502020204030204"/>
                <a:cs typeface="Calibri" panose="020F0502020204030204"/>
                <a:sym typeface="+mn-ea"/>
              </a:rPr>
              <a:t>can</a:t>
            </a:r>
            <a:r>
              <a:rPr spc="-5" dirty="0">
                <a:latin typeface="Calibri" panose="020F0502020204030204"/>
                <a:cs typeface="Calibri" panose="020F0502020204030204"/>
                <a:sym typeface="+mn-ea"/>
              </a:rPr>
              <a:t> </a:t>
            </a:r>
            <a:r>
              <a:rPr dirty="0">
                <a:latin typeface="Calibri" panose="020F0502020204030204"/>
                <a:cs typeface="Calibri" panose="020F0502020204030204"/>
                <a:sym typeface="+mn-ea"/>
              </a:rPr>
              <a:t>work</a:t>
            </a:r>
            <a:r>
              <a:rPr spc="-25" dirty="0">
                <a:latin typeface="Calibri" panose="020F0502020204030204"/>
                <a:cs typeface="Calibri" panose="020F0502020204030204"/>
                <a:sym typeface="+mn-ea"/>
              </a:rPr>
              <a:t> </a:t>
            </a:r>
            <a:r>
              <a:rPr dirty="0">
                <a:latin typeface="Calibri" panose="020F0502020204030204"/>
                <a:cs typeface="Calibri" panose="020F0502020204030204"/>
                <a:sym typeface="+mn-ea"/>
              </a:rPr>
              <a:t>for</a:t>
            </a:r>
            <a:r>
              <a:rPr spc="-20" dirty="0">
                <a:latin typeface="Calibri" panose="020F0502020204030204"/>
                <a:cs typeface="Calibri" panose="020F0502020204030204"/>
                <a:sym typeface="+mn-ea"/>
              </a:rPr>
              <a:t> </a:t>
            </a:r>
            <a:r>
              <a:rPr dirty="0">
                <a:latin typeface="Calibri" panose="020F0502020204030204"/>
                <a:cs typeface="Calibri" panose="020F0502020204030204"/>
                <a:sym typeface="+mn-ea"/>
              </a:rPr>
              <a:t>many</a:t>
            </a:r>
            <a:r>
              <a:rPr spc="-10" dirty="0">
                <a:latin typeface="Calibri" panose="020F0502020204030204"/>
                <a:cs typeface="Calibri" panose="020F0502020204030204"/>
                <a:sym typeface="+mn-ea"/>
              </a:rPr>
              <a:t> </a:t>
            </a:r>
            <a:r>
              <a:rPr dirty="0">
                <a:latin typeface="Calibri" panose="020F0502020204030204"/>
                <a:cs typeface="Calibri" panose="020F0502020204030204"/>
                <a:sym typeface="+mn-ea"/>
              </a:rPr>
              <a:t>databases</a:t>
            </a:r>
            <a:r>
              <a:rPr spc="10" dirty="0">
                <a:latin typeface="Calibri" panose="020F0502020204030204"/>
                <a:cs typeface="Calibri" panose="020F0502020204030204"/>
                <a:sym typeface="+mn-ea"/>
              </a:rPr>
              <a:t> </a:t>
            </a:r>
            <a:r>
              <a:rPr spc="-20" dirty="0">
                <a:latin typeface="Calibri" panose="020F0502020204030204"/>
                <a:cs typeface="Calibri" panose="020F0502020204030204"/>
                <a:sym typeface="+mn-ea"/>
              </a:rPr>
              <a:t>with </a:t>
            </a:r>
            <a:r>
              <a:rPr dirty="0">
                <a:latin typeface="Calibri" panose="020F0502020204030204"/>
                <a:cs typeface="Calibri" panose="020F0502020204030204"/>
                <a:sym typeface="+mn-ea"/>
              </a:rPr>
              <a:t>minor</a:t>
            </a:r>
            <a:r>
              <a:rPr spc="-25" dirty="0">
                <a:latin typeface="Calibri" panose="020F0502020204030204"/>
                <a:cs typeface="Calibri" panose="020F0502020204030204"/>
                <a:sym typeface="+mn-ea"/>
              </a:rPr>
              <a:t> </a:t>
            </a:r>
            <a:r>
              <a:rPr spc="-10" dirty="0">
                <a:latin typeface="Calibri" panose="020F0502020204030204"/>
                <a:cs typeface="Calibri" panose="020F0502020204030204"/>
                <a:sym typeface="+mn-ea"/>
              </a:rPr>
              <a:t>changes.</a:t>
            </a:r>
            <a:endParaRPr>
              <a:latin typeface="Calibri" panose="020F0502020204030204"/>
              <a:cs typeface="Calibri" panose="020F0502020204030204"/>
            </a:endParaRPr>
          </a:p>
          <a:p>
            <a:pPr marL="342900" indent="-342900">
              <a:lnSpc>
                <a:spcPct val="100000"/>
              </a:lnSpc>
              <a:spcBef>
                <a:spcPts val="600"/>
              </a:spcBef>
              <a:buAutoNum type="arabicPeriod"/>
              <a:tabLst>
                <a:tab pos="348615" algn="l"/>
              </a:tabLst>
            </a:pPr>
            <a:r>
              <a:rPr dirty="0">
                <a:latin typeface="Calibri" panose="020F0502020204030204"/>
                <a:cs typeface="Calibri" panose="020F0502020204030204"/>
                <a:sym typeface="+mn-ea"/>
              </a:rPr>
              <a:t>Automatic</a:t>
            </a:r>
            <a:r>
              <a:rPr spc="5" dirty="0">
                <a:latin typeface="Calibri" panose="020F0502020204030204"/>
                <a:cs typeface="Calibri" panose="020F0502020204030204"/>
                <a:sym typeface="+mn-ea"/>
              </a:rPr>
              <a:t> </a:t>
            </a:r>
            <a:r>
              <a:rPr dirty="0">
                <a:latin typeface="Calibri" panose="020F0502020204030204"/>
                <a:cs typeface="Calibri" panose="020F0502020204030204"/>
                <a:sym typeface="+mn-ea"/>
              </a:rPr>
              <a:t>SQL</a:t>
            </a:r>
            <a:r>
              <a:rPr spc="-15" dirty="0">
                <a:latin typeface="Calibri" panose="020F0502020204030204"/>
                <a:cs typeface="Calibri" panose="020F0502020204030204"/>
                <a:sym typeface="+mn-ea"/>
              </a:rPr>
              <a:t> </a:t>
            </a:r>
            <a:r>
              <a:rPr dirty="0">
                <a:latin typeface="Calibri" panose="020F0502020204030204"/>
                <a:cs typeface="Calibri" panose="020F0502020204030204"/>
                <a:sym typeface="+mn-ea"/>
              </a:rPr>
              <a:t>Query</a:t>
            </a:r>
            <a:r>
              <a:rPr spc="5" dirty="0">
                <a:latin typeface="Calibri" panose="020F0502020204030204"/>
                <a:cs typeface="Calibri" panose="020F0502020204030204"/>
                <a:sym typeface="+mn-ea"/>
              </a:rPr>
              <a:t> </a:t>
            </a:r>
            <a:r>
              <a:rPr spc="-10" dirty="0">
                <a:latin typeface="Calibri" panose="020F0502020204030204"/>
                <a:cs typeface="Calibri" panose="020F0502020204030204"/>
                <a:sym typeface="+mn-ea"/>
              </a:rPr>
              <a:t>Generation.</a:t>
            </a:r>
            <a:r>
              <a:rPr spc="5" dirty="0">
                <a:latin typeface="Calibri" panose="020F0502020204030204"/>
                <a:cs typeface="Calibri" panose="020F0502020204030204"/>
                <a:sym typeface="+mn-ea"/>
              </a:rPr>
              <a:t> </a:t>
            </a:r>
            <a:r>
              <a:rPr dirty="0">
                <a:latin typeface="Calibri" panose="020F0502020204030204"/>
                <a:cs typeface="Calibri" panose="020F0502020204030204"/>
                <a:sym typeface="+mn-ea"/>
              </a:rPr>
              <a:t>There</a:t>
            </a:r>
            <a:r>
              <a:rPr spc="-10" dirty="0">
                <a:latin typeface="Calibri" panose="020F0502020204030204"/>
                <a:cs typeface="Calibri" panose="020F0502020204030204"/>
                <a:sym typeface="+mn-ea"/>
              </a:rPr>
              <a:t> </a:t>
            </a:r>
            <a:r>
              <a:rPr dirty="0">
                <a:latin typeface="Calibri" panose="020F0502020204030204"/>
                <a:cs typeface="Calibri" panose="020F0502020204030204"/>
                <a:sym typeface="+mn-ea"/>
              </a:rPr>
              <a:t>is</a:t>
            </a:r>
            <a:r>
              <a:rPr spc="-5" dirty="0">
                <a:latin typeface="Calibri" panose="020F0502020204030204"/>
                <a:cs typeface="Calibri" panose="020F0502020204030204"/>
                <a:sym typeface="+mn-ea"/>
              </a:rPr>
              <a:t> </a:t>
            </a:r>
            <a:r>
              <a:rPr dirty="0">
                <a:latin typeface="Calibri" panose="020F0502020204030204"/>
                <a:cs typeface="Calibri" panose="020F0502020204030204"/>
                <a:sym typeface="+mn-ea"/>
              </a:rPr>
              <a:t>no</a:t>
            </a:r>
            <a:r>
              <a:rPr spc="-25" dirty="0">
                <a:latin typeface="Calibri" panose="020F0502020204030204"/>
                <a:cs typeface="Calibri" panose="020F0502020204030204"/>
                <a:sym typeface="+mn-ea"/>
              </a:rPr>
              <a:t> </a:t>
            </a:r>
            <a:r>
              <a:rPr dirty="0">
                <a:latin typeface="Calibri" panose="020F0502020204030204"/>
                <a:cs typeface="Calibri" panose="020F0502020204030204"/>
                <a:sym typeface="+mn-ea"/>
              </a:rPr>
              <a:t>problem</a:t>
            </a:r>
            <a:r>
              <a:rPr spc="-5" dirty="0">
                <a:latin typeface="Calibri" panose="020F0502020204030204"/>
                <a:cs typeface="Calibri" panose="020F0502020204030204"/>
                <a:sym typeface="+mn-ea"/>
              </a:rPr>
              <a:t> </a:t>
            </a:r>
            <a:r>
              <a:rPr dirty="0">
                <a:latin typeface="Calibri" panose="020F0502020204030204"/>
                <a:cs typeface="Calibri" panose="020F0502020204030204"/>
                <a:sym typeface="+mn-ea"/>
              </a:rPr>
              <a:t>of</a:t>
            </a:r>
            <a:r>
              <a:rPr spc="-20" dirty="0">
                <a:latin typeface="Calibri" panose="020F0502020204030204"/>
                <a:cs typeface="Calibri" panose="020F0502020204030204"/>
                <a:sym typeface="+mn-ea"/>
              </a:rPr>
              <a:t> </a:t>
            </a:r>
            <a:r>
              <a:rPr spc="-10" dirty="0">
                <a:latin typeface="Calibri" panose="020F0502020204030204"/>
                <a:cs typeface="Calibri" panose="020F0502020204030204"/>
                <a:sym typeface="+mn-ea"/>
              </a:rPr>
              <a:t>remembering</a:t>
            </a:r>
            <a:r>
              <a:rPr spc="15" dirty="0">
                <a:latin typeface="Calibri" panose="020F0502020204030204"/>
                <a:cs typeface="Calibri" panose="020F0502020204030204"/>
                <a:sym typeface="+mn-ea"/>
              </a:rPr>
              <a:t> </a:t>
            </a:r>
            <a:r>
              <a:rPr dirty="0">
                <a:latin typeface="Calibri" panose="020F0502020204030204"/>
                <a:cs typeface="Calibri" panose="020F0502020204030204"/>
                <a:sym typeface="+mn-ea"/>
              </a:rPr>
              <a:t>sql </a:t>
            </a:r>
            <a:r>
              <a:rPr spc="-10" dirty="0">
                <a:latin typeface="Calibri" panose="020F0502020204030204"/>
                <a:cs typeface="Calibri" panose="020F0502020204030204"/>
                <a:sym typeface="+mn-ea"/>
              </a:rPr>
              <a:t>queries.</a:t>
            </a:r>
            <a:endParaRPr>
              <a:latin typeface="Calibri" panose="020F0502020204030204"/>
              <a:cs typeface="Calibri" panose="020F0502020204030204"/>
            </a:endParaRPr>
          </a:p>
          <a:p>
            <a:pPr marL="342900" indent="-342900">
              <a:buAutoNum type="arabicPeriod"/>
            </a:pPr>
            <a:endParaRPr lang="en-US">
              <a:latin typeface="Calibri" panose="020F0502020204030204"/>
              <a:cs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55905" y="118110"/>
            <a:ext cx="11733530" cy="6466205"/>
          </a:xfrm>
        </p:spPr>
        <p:txBody>
          <a:bodyPr/>
          <a:p>
            <a:pPr marL="0" indent="0">
              <a:lnSpc>
                <a:spcPct val="100000"/>
              </a:lnSpc>
              <a:spcBef>
                <a:spcPts val="265"/>
              </a:spcBef>
              <a:buNone/>
              <a:tabLst>
                <a:tab pos="5666105" algn="l"/>
              </a:tabLst>
            </a:pPr>
            <a:r>
              <a:rPr sz="1800" u="sng" spc="-185" dirty="0">
                <a:solidFill>
                  <a:srgbClr val="3B3838"/>
                </a:solidFill>
                <a:uFill>
                  <a:solidFill>
                    <a:srgbClr val="D14626"/>
                  </a:solidFill>
                </a:uFill>
                <a:latin typeface="Times New Roman" panose="02020603050405020304"/>
                <a:cs typeface="Times New Roman" panose="02020603050405020304"/>
                <a:sym typeface="+mn-ea"/>
              </a:rPr>
              <a:t> </a:t>
            </a:r>
            <a:r>
              <a:rPr sz="1800" b="1" u="sng" spc="-25" dirty="0">
                <a:solidFill>
                  <a:srgbClr val="3B3838"/>
                </a:solidFill>
                <a:uFill>
                  <a:solidFill>
                    <a:srgbClr val="D14626"/>
                  </a:solidFill>
                </a:uFill>
                <a:latin typeface="Gadugi" panose="020B0502040204020203"/>
                <a:cs typeface="Gadugi" panose="020B0502040204020203"/>
                <a:sym typeface="+mn-ea"/>
              </a:rPr>
              <a:t>ORM</a:t>
            </a:r>
            <a:r>
              <a:rPr sz="1800" b="1" u="sng" dirty="0">
                <a:solidFill>
                  <a:srgbClr val="3B3838"/>
                </a:solidFill>
                <a:uFill>
                  <a:solidFill>
                    <a:srgbClr val="D14626"/>
                  </a:solidFill>
                </a:uFill>
                <a:latin typeface="Gadugi" panose="020B0502040204020203"/>
                <a:cs typeface="Gadugi" panose="020B0502040204020203"/>
                <a:sym typeface="+mn-ea"/>
              </a:rPr>
              <a:t>	</a:t>
            </a:r>
            <a:endParaRPr sz="1800">
              <a:latin typeface="Gadugi" panose="020B0502040204020203"/>
              <a:cs typeface="Gadugi" panose="020B0502040204020203"/>
            </a:endParaRPr>
          </a:p>
          <a:p>
            <a:pPr marL="342900" indent="-342900">
              <a:lnSpc>
                <a:spcPct val="100000"/>
              </a:lnSpc>
              <a:spcBef>
                <a:spcPts val="1450"/>
              </a:spcBef>
              <a:buAutoNum type="arabicPeriod"/>
              <a:tabLst>
                <a:tab pos="406400" algn="l"/>
              </a:tabLst>
            </a:pPr>
            <a:r>
              <a:rPr sz="1800" dirty="0">
                <a:latin typeface="Gadugi" panose="020B0502040204020203"/>
                <a:cs typeface="Gadugi" panose="020B0502040204020203"/>
                <a:sym typeface="+mn-ea"/>
              </a:rPr>
              <a:t>ORM</a:t>
            </a:r>
            <a:r>
              <a:rPr sz="1800" spc="-25" dirty="0">
                <a:latin typeface="Gadugi" panose="020B0502040204020203"/>
                <a:cs typeface="Gadugi" panose="020B0502040204020203"/>
                <a:sym typeface="+mn-ea"/>
              </a:rPr>
              <a:t> </a:t>
            </a:r>
            <a:r>
              <a:rPr sz="1800" dirty="0">
                <a:latin typeface="Gadugi" panose="020B0502040204020203"/>
                <a:cs typeface="Gadugi" panose="020B0502040204020203"/>
                <a:sym typeface="+mn-ea"/>
              </a:rPr>
              <a:t>is</a:t>
            </a:r>
            <a:r>
              <a:rPr sz="1800" spc="-15" dirty="0">
                <a:latin typeface="Gadugi" panose="020B0502040204020203"/>
                <a:cs typeface="Gadugi" panose="020B0502040204020203"/>
                <a:sym typeface="+mn-ea"/>
              </a:rPr>
              <a:t> </a:t>
            </a:r>
            <a:r>
              <a:rPr sz="1800" dirty="0">
                <a:latin typeface="Gadugi" panose="020B0502040204020203"/>
                <a:cs typeface="Gadugi" panose="020B0502040204020203"/>
                <a:sym typeface="+mn-ea"/>
              </a:rPr>
              <a:t>an</a:t>
            </a:r>
            <a:r>
              <a:rPr sz="1800" spc="-10" dirty="0">
                <a:latin typeface="Gadugi" panose="020B0502040204020203"/>
                <a:cs typeface="Gadugi" panose="020B0502040204020203"/>
                <a:sym typeface="+mn-ea"/>
              </a:rPr>
              <a:t> </a:t>
            </a:r>
            <a:r>
              <a:rPr sz="1800" dirty="0">
                <a:latin typeface="Gadugi" panose="020B0502040204020203"/>
                <a:cs typeface="Gadugi" panose="020B0502040204020203"/>
                <a:sym typeface="+mn-ea"/>
              </a:rPr>
              <a:t>acronym</a:t>
            </a:r>
            <a:r>
              <a:rPr sz="1800" spc="-10" dirty="0">
                <a:latin typeface="Gadugi" panose="020B0502040204020203"/>
                <a:cs typeface="Gadugi" panose="020B0502040204020203"/>
                <a:sym typeface="+mn-ea"/>
              </a:rPr>
              <a:t> </a:t>
            </a:r>
            <a:r>
              <a:rPr sz="1800" dirty="0">
                <a:latin typeface="Gadugi" panose="020B0502040204020203"/>
                <a:cs typeface="Gadugi" panose="020B0502040204020203"/>
                <a:sym typeface="+mn-ea"/>
              </a:rPr>
              <a:t>of</a:t>
            </a:r>
            <a:r>
              <a:rPr sz="1800" spc="-25" dirty="0">
                <a:latin typeface="Gadugi" panose="020B0502040204020203"/>
                <a:cs typeface="Gadugi" panose="020B0502040204020203"/>
                <a:sym typeface="+mn-ea"/>
              </a:rPr>
              <a:t> </a:t>
            </a:r>
            <a:r>
              <a:rPr sz="1800" b="1" spc="-10" dirty="0">
                <a:latin typeface="Gadugi" panose="020B0502040204020203"/>
                <a:cs typeface="Gadugi" panose="020B0502040204020203"/>
                <a:sym typeface="+mn-ea"/>
              </a:rPr>
              <a:t>OBJECT-RELATIONAL</a:t>
            </a:r>
            <a:r>
              <a:rPr sz="1800" b="1" spc="-20" dirty="0">
                <a:latin typeface="Gadugi" panose="020B0502040204020203"/>
                <a:cs typeface="Gadugi" panose="020B0502040204020203"/>
                <a:sym typeface="+mn-ea"/>
              </a:rPr>
              <a:t> </a:t>
            </a:r>
            <a:r>
              <a:rPr sz="1800" b="1" spc="-10" dirty="0">
                <a:latin typeface="Gadugi" panose="020B0502040204020203"/>
                <a:cs typeface="Gadugi" panose="020B0502040204020203"/>
                <a:sym typeface="+mn-ea"/>
              </a:rPr>
              <a:t>MAPPING.</a:t>
            </a:r>
            <a:endParaRPr sz="1800">
              <a:latin typeface="Gadugi" panose="020B0502040204020203"/>
              <a:cs typeface="Gadugi" panose="020B0502040204020203"/>
            </a:endParaRPr>
          </a:p>
          <a:p>
            <a:pPr marL="342900" indent="-342900">
              <a:lnSpc>
                <a:spcPct val="100000"/>
              </a:lnSpc>
              <a:spcBef>
                <a:spcPts val="540"/>
              </a:spcBef>
              <a:buAutoNum type="arabicPeriod"/>
              <a:tabLst>
                <a:tab pos="406400" algn="l"/>
              </a:tabLst>
            </a:pPr>
            <a:r>
              <a:rPr sz="1800" dirty="0">
                <a:latin typeface="Gadugi" panose="020B0502040204020203"/>
                <a:cs typeface="Gadugi" panose="020B0502040204020203"/>
                <a:sym typeface="+mn-ea"/>
              </a:rPr>
              <a:t>ORM</a:t>
            </a:r>
            <a:r>
              <a:rPr sz="1800" spc="-35" dirty="0">
                <a:latin typeface="Gadugi" panose="020B0502040204020203"/>
                <a:cs typeface="Gadugi" panose="020B0502040204020203"/>
                <a:sym typeface="+mn-ea"/>
              </a:rPr>
              <a:t> </a:t>
            </a:r>
            <a:r>
              <a:rPr sz="1800" dirty="0">
                <a:latin typeface="Gadugi" panose="020B0502040204020203"/>
                <a:cs typeface="Gadugi" panose="020B0502040204020203"/>
                <a:sym typeface="+mn-ea"/>
              </a:rPr>
              <a:t>acts</a:t>
            </a:r>
            <a:r>
              <a:rPr sz="1800" spc="-10" dirty="0">
                <a:latin typeface="Gadugi" panose="020B0502040204020203"/>
                <a:cs typeface="Gadugi" panose="020B0502040204020203"/>
                <a:sym typeface="+mn-ea"/>
              </a:rPr>
              <a:t> </a:t>
            </a:r>
            <a:r>
              <a:rPr sz="1800" dirty="0">
                <a:latin typeface="Gadugi" panose="020B0502040204020203"/>
                <a:cs typeface="Gadugi" panose="020B0502040204020203"/>
                <a:sym typeface="+mn-ea"/>
              </a:rPr>
              <a:t>as</a:t>
            </a:r>
            <a:r>
              <a:rPr sz="1800" spc="-30" dirty="0">
                <a:latin typeface="Gadugi" panose="020B0502040204020203"/>
                <a:cs typeface="Gadugi" panose="020B0502040204020203"/>
                <a:sym typeface="+mn-ea"/>
              </a:rPr>
              <a:t> </a:t>
            </a:r>
            <a:r>
              <a:rPr sz="1800" dirty="0">
                <a:latin typeface="Gadugi" panose="020B0502040204020203"/>
                <a:cs typeface="Gadugi" panose="020B0502040204020203"/>
                <a:sym typeface="+mn-ea"/>
              </a:rPr>
              <a:t>a</a:t>
            </a:r>
            <a:r>
              <a:rPr sz="1800" spc="-30" dirty="0">
                <a:latin typeface="Gadugi" panose="020B0502040204020203"/>
                <a:cs typeface="Gadugi" panose="020B0502040204020203"/>
                <a:sym typeface="+mn-ea"/>
              </a:rPr>
              <a:t> </a:t>
            </a:r>
            <a:r>
              <a:rPr sz="1800" dirty="0">
                <a:latin typeface="Gadugi" panose="020B0502040204020203"/>
                <a:cs typeface="Gadugi" panose="020B0502040204020203"/>
                <a:sym typeface="+mn-ea"/>
              </a:rPr>
              <a:t>converter</a:t>
            </a:r>
            <a:r>
              <a:rPr sz="1800" spc="-15" dirty="0">
                <a:latin typeface="Gadugi" panose="020B0502040204020203"/>
                <a:cs typeface="Gadugi" panose="020B0502040204020203"/>
                <a:sym typeface="+mn-ea"/>
              </a:rPr>
              <a:t> </a:t>
            </a:r>
            <a:r>
              <a:rPr sz="1800" dirty="0">
                <a:latin typeface="Gadugi" panose="020B0502040204020203"/>
                <a:cs typeface="Gadugi" panose="020B0502040204020203"/>
                <a:sym typeface="+mn-ea"/>
              </a:rPr>
              <a:t>between</a:t>
            </a:r>
            <a:r>
              <a:rPr sz="1800" spc="-20" dirty="0">
                <a:latin typeface="Gadugi" panose="020B0502040204020203"/>
                <a:cs typeface="Gadugi" panose="020B0502040204020203"/>
                <a:sym typeface="+mn-ea"/>
              </a:rPr>
              <a:t> </a:t>
            </a:r>
            <a:r>
              <a:rPr sz="1800" dirty="0">
                <a:latin typeface="Gadugi" panose="020B0502040204020203"/>
                <a:cs typeface="Gadugi" panose="020B0502040204020203"/>
                <a:sym typeface="+mn-ea"/>
              </a:rPr>
              <a:t>java</a:t>
            </a:r>
            <a:r>
              <a:rPr sz="1800" spc="-30" dirty="0">
                <a:latin typeface="Gadugi" panose="020B0502040204020203"/>
                <a:cs typeface="Gadugi" panose="020B0502040204020203"/>
                <a:sym typeface="+mn-ea"/>
              </a:rPr>
              <a:t> </a:t>
            </a:r>
            <a:r>
              <a:rPr sz="1800" dirty="0">
                <a:latin typeface="Gadugi" panose="020B0502040204020203"/>
                <a:cs typeface="Gadugi" panose="020B0502040204020203"/>
                <a:sym typeface="+mn-ea"/>
              </a:rPr>
              <a:t>object</a:t>
            </a:r>
            <a:r>
              <a:rPr sz="1800" spc="-15" dirty="0">
                <a:latin typeface="Gadugi" panose="020B0502040204020203"/>
                <a:cs typeface="Gadugi" panose="020B0502040204020203"/>
                <a:sym typeface="+mn-ea"/>
              </a:rPr>
              <a:t> </a:t>
            </a:r>
            <a:r>
              <a:rPr sz="1800" dirty="0">
                <a:latin typeface="Gadugi" panose="020B0502040204020203"/>
                <a:cs typeface="Gadugi" panose="020B0502040204020203"/>
                <a:sym typeface="+mn-ea"/>
              </a:rPr>
              <a:t>and</a:t>
            </a:r>
            <a:r>
              <a:rPr sz="1800" spc="-15" dirty="0">
                <a:latin typeface="Gadugi" panose="020B0502040204020203"/>
                <a:cs typeface="Gadugi" panose="020B0502040204020203"/>
                <a:sym typeface="+mn-ea"/>
              </a:rPr>
              <a:t> </a:t>
            </a:r>
            <a:r>
              <a:rPr sz="1800" dirty="0">
                <a:latin typeface="Gadugi" panose="020B0502040204020203"/>
                <a:cs typeface="Gadugi" panose="020B0502040204020203"/>
                <a:sym typeface="+mn-ea"/>
              </a:rPr>
              <a:t>a</a:t>
            </a:r>
            <a:r>
              <a:rPr sz="1800" spc="-15" dirty="0">
                <a:latin typeface="Gadugi" panose="020B0502040204020203"/>
                <a:cs typeface="Gadugi" panose="020B0502040204020203"/>
                <a:sym typeface="+mn-ea"/>
              </a:rPr>
              <a:t> </a:t>
            </a:r>
            <a:r>
              <a:rPr sz="1800" spc="-10" dirty="0">
                <a:latin typeface="Gadugi" panose="020B0502040204020203"/>
                <a:cs typeface="Gadugi" panose="020B0502040204020203"/>
                <a:sym typeface="+mn-ea"/>
              </a:rPr>
              <a:t>database.</a:t>
            </a:r>
            <a:endParaRPr sz="1800">
              <a:latin typeface="Gadugi" panose="020B0502040204020203"/>
              <a:cs typeface="Gadugi" panose="020B0502040204020203"/>
            </a:endParaRPr>
          </a:p>
          <a:p>
            <a:pPr marL="342900" indent="-342900">
              <a:lnSpc>
                <a:spcPct val="100000"/>
              </a:lnSpc>
              <a:spcBef>
                <a:spcPts val="540"/>
              </a:spcBef>
              <a:buAutoNum type="arabicPeriod"/>
              <a:tabLst>
                <a:tab pos="406400" algn="l"/>
              </a:tabLst>
            </a:pPr>
            <a:r>
              <a:rPr sz="1800" dirty="0">
                <a:latin typeface="Gadugi" panose="020B0502040204020203"/>
                <a:cs typeface="Gadugi" panose="020B0502040204020203"/>
                <a:sym typeface="+mn-ea"/>
              </a:rPr>
              <a:t>ORM</a:t>
            </a:r>
            <a:r>
              <a:rPr sz="1800" spc="-35" dirty="0">
                <a:latin typeface="Gadugi" panose="020B0502040204020203"/>
                <a:cs typeface="Gadugi" panose="020B0502040204020203"/>
                <a:sym typeface="+mn-ea"/>
              </a:rPr>
              <a:t> </a:t>
            </a:r>
            <a:r>
              <a:rPr sz="1800" dirty="0">
                <a:latin typeface="Gadugi" panose="020B0502040204020203"/>
                <a:cs typeface="Gadugi" panose="020B0502040204020203"/>
                <a:sym typeface="+mn-ea"/>
              </a:rPr>
              <a:t>Handles</a:t>
            </a:r>
            <a:r>
              <a:rPr sz="1800" spc="-20" dirty="0">
                <a:latin typeface="Gadugi" panose="020B0502040204020203"/>
                <a:cs typeface="Gadugi" panose="020B0502040204020203"/>
                <a:sym typeface="+mn-ea"/>
              </a:rPr>
              <a:t> </a:t>
            </a:r>
            <a:r>
              <a:rPr sz="1800" dirty="0">
                <a:latin typeface="Gadugi" panose="020B0502040204020203"/>
                <a:cs typeface="Gadugi" panose="020B0502040204020203"/>
                <a:sym typeface="+mn-ea"/>
              </a:rPr>
              <a:t>the</a:t>
            </a:r>
            <a:r>
              <a:rPr sz="1800" spc="-15" dirty="0">
                <a:latin typeface="Gadugi" panose="020B0502040204020203"/>
                <a:cs typeface="Gadugi" panose="020B0502040204020203"/>
                <a:sym typeface="+mn-ea"/>
              </a:rPr>
              <a:t> </a:t>
            </a:r>
            <a:r>
              <a:rPr sz="1800" dirty="0">
                <a:latin typeface="Gadugi" panose="020B0502040204020203"/>
                <a:cs typeface="Gadugi" panose="020B0502040204020203"/>
                <a:sym typeface="+mn-ea"/>
              </a:rPr>
              <a:t>logic</a:t>
            </a:r>
            <a:r>
              <a:rPr sz="1800" spc="-10" dirty="0">
                <a:latin typeface="Gadugi" panose="020B0502040204020203"/>
                <a:cs typeface="Gadugi" panose="020B0502040204020203"/>
                <a:sym typeface="+mn-ea"/>
              </a:rPr>
              <a:t> required</a:t>
            </a:r>
            <a:r>
              <a:rPr sz="1800" spc="-15" dirty="0">
                <a:latin typeface="Gadugi" panose="020B0502040204020203"/>
                <a:cs typeface="Gadugi" panose="020B0502040204020203"/>
                <a:sym typeface="+mn-ea"/>
              </a:rPr>
              <a:t> </a:t>
            </a:r>
            <a:r>
              <a:rPr sz="1800" dirty="0">
                <a:latin typeface="Gadugi" panose="020B0502040204020203"/>
                <a:cs typeface="Gadugi" panose="020B0502040204020203"/>
                <a:sym typeface="+mn-ea"/>
              </a:rPr>
              <a:t>to</a:t>
            </a:r>
            <a:r>
              <a:rPr sz="1800" spc="-20" dirty="0">
                <a:latin typeface="Gadugi" panose="020B0502040204020203"/>
                <a:cs typeface="Gadugi" panose="020B0502040204020203"/>
                <a:sym typeface="+mn-ea"/>
              </a:rPr>
              <a:t> </a:t>
            </a:r>
            <a:r>
              <a:rPr sz="1800" dirty="0">
                <a:latin typeface="Gadugi" panose="020B0502040204020203"/>
                <a:cs typeface="Gadugi" panose="020B0502040204020203"/>
                <a:sym typeface="+mn-ea"/>
              </a:rPr>
              <a:t>interact with</a:t>
            </a:r>
            <a:r>
              <a:rPr sz="1800" spc="-15" dirty="0">
                <a:latin typeface="Gadugi" panose="020B0502040204020203"/>
                <a:cs typeface="Gadugi" panose="020B0502040204020203"/>
                <a:sym typeface="+mn-ea"/>
              </a:rPr>
              <a:t> </a:t>
            </a:r>
            <a:r>
              <a:rPr sz="1800" spc="-10" dirty="0">
                <a:latin typeface="Gadugi" panose="020B0502040204020203"/>
                <a:cs typeface="Gadugi" panose="020B0502040204020203"/>
                <a:sym typeface="+mn-ea"/>
              </a:rPr>
              <a:t>databases.</a:t>
            </a:r>
            <a:endParaRPr sz="1800">
              <a:latin typeface="Gadugi" panose="020B0502040204020203"/>
              <a:cs typeface="Gadugi" panose="020B0502040204020203"/>
            </a:endParaRPr>
          </a:p>
          <a:p>
            <a:pPr marL="342900" indent="-342900">
              <a:lnSpc>
                <a:spcPct val="100000"/>
              </a:lnSpc>
              <a:spcBef>
                <a:spcPts val="540"/>
              </a:spcBef>
              <a:buAutoNum type="arabicPeriod"/>
              <a:tabLst>
                <a:tab pos="405765" algn="l"/>
              </a:tabLst>
            </a:pPr>
            <a:r>
              <a:rPr sz="1800" dirty="0">
                <a:solidFill>
                  <a:srgbClr val="0A0A23"/>
                </a:solidFill>
                <a:latin typeface="Tahoma" panose="020B0604030504040204"/>
                <a:cs typeface="Tahoma" panose="020B0604030504040204"/>
                <a:sym typeface="+mn-ea"/>
              </a:rPr>
              <a:t>You</a:t>
            </a:r>
            <a:r>
              <a:rPr sz="1800" spc="-20" dirty="0">
                <a:solidFill>
                  <a:srgbClr val="0A0A23"/>
                </a:solidFill>
                <a:latin typeface="Tahoma" panose="020B0604030504040204"/>
                <a:cs typeface="Tahoma" panose="020B0604030504040204"/>
                <a:sym typeface="+mn-ea"/>
              </a:rPr>
              <a:t> </a:t>
            </a:r>
            <a:r>
              <a:rPr sz="1800" dirty="0">
                <a:solidFill>
                  <a:srgbClr val="0A0A23"/>
                </a:solidFill>
                <a:latin typeface="Tahoma" panose="020B0604030504040204"/>
                <a:cs typeface="Tahoma" panose="020B0604030504040204"/>
                <a:sym typeface="+mn-ea"/>
              </a:rPr>
              <a:t>write</a:t>
            </a:r>
            <a:r>
              <a:rPr sz="1800" spc="-15" dirty="0">
                <a:solidFill>
                  <a:srgbClr val="0A0A23"/>
                </a:solidFill>
                <a:latin typeface="Tahoma" panose="020B0604030504040204"/>
                <a:cs typeface="Tahoma" panose="020B0604030504040204"/>
                <a:sym typeface="+mn-ea"/>
              </a:rPr>
              <a:t> </a:t>
            </a:r>
            <a:r>
              <a:rPr sz="1800" spc="-10" dirty="0">
                <a:solidFill>
                  <a:srgbClr val="0A0A23"/>
                </a:solidFill>
                <a:latin typeface="Tahoma" panose="020B0604030504040204"/>
                <a:cs typeface="Tahoma" panose="020B0604030504040204"/>
                <a:sym typeface="+mn-ea"/>
              </a:rPr>
              <a:t>less</a:t>
            </a:r>
            <a:r>
              <a:rPr sz="1800" spc="-20" dirty="0">
                <a:solidFill>
                  <a:srgbClr val="0A0A23"/>
                </a:solidFill>
                <a:latin typeface="Tahoma" panose="020B0604030504040204"/>
                <a:cs typeface="Tahoma" panose="020B0604030504040204"/>
                <a:sym typeface="+mn-ea"/>
              </a:rPr>
              <a:t> </a:t>
            </a:r>
            <a:r>
              <a:rPr sz="1800" dirty="0">
                <a:solidFill>
                  <a:srgbClr val="0A0A23"/>
                </a:solidFill>
                <a:latin typeface="Tahoma" panose="020B0604030504040204"/>
                <a:cs typeface="Tahoma" panose="020B0604030504040204"/>
                <a:sym typeface="+mn-ea"/>
              </a:rPr>
              <a:t>code</a:t>
            </a:r>
            <a:r>
              <a:rPr sz="1800" spc="-30" dirty="0">
                <a:solidFill>
                  <a:srgbClr val="0A0A23"/>
                </a:solidFill>
                <a:latin typeface="Tahoma" panose="020B0604030504040204"/>
                <a:cs typeface="Tahoma" panose="020B0604030504040204"/>
                <a:sym typeface="+mn-ea"/>
              </a:rPr>
              <a:t> </a:t>
            </a:r>
            <a:r>
              <a:rPr sz="1800" dirty="0">
                <a:solidFill>
                  <a:srgbClr val="0A0A23"/>
                </a:solidFill>
                <a:latin typeface="Tahoma" panose="020B0604030504040204"/>
                <a:cs typeface="Tahoma" panose="020B0604030504040204"/>
                <a:sym typeface="+mn-ea"/>
              </a:rPr>
              <a:t>when</a:t>
            </a:r>
            <a:r>
              <a:rPr sz="1800" spc="-15" dirty="0">
                <a:solidFill>
                  <a:srgbClr val="0A0A23"/>
                </a:solidFill>
                <a:latin typeface="Tahoma" panose="020B0604030504040204"/>
                <a:cs typeface="Tahoma" panose="020B0604030504040204"/>
                <a:sym typeface="+mn-ea"/>
              </a:rPr>
              <a:t> </a:t>
            </a:r>
            <a:r>
              <a:rPr sz="1800" spc="-10" dirty="0">
                <a:solidFill>
                  <a:srgbClr val="0A0A23"/>
                </a:solidFill>
                <a:latin typeface="Tahoma" panose="020B0604030504040204"/>
                <a:cs typeface="Tahoma" panose="020B0604030504040204"/>
                <a:sym typeface="+mn-ea"/>
              </a:rPr>
              <a:t>using</a:t>
            </a:r>
            <a:r>
              <a:rPr sz="1800" spc="-20" dirty="0">
                <a:solidFill>
                  <a:srgbClr val="0A0A23"/>
                </a:solidFill>
                <a:latin typeface="Tahoma" panose="020B0604030504040204"/>
                <a:cs typeface="Tahoma" panose="020B0604030504040204"/>
                <a:sym typeface="+mn-ea"/>
              </a:rPr>
              <a:t> </a:t>
            </a:r>
            <a:r>
              <a:rPr sz="1800" spc="70" dirty="0">
                <a:solidFill>
                  <a:srgbClr val="0A0A23"/>
                </a:solidFill>
                <a:latin typeface="Tahoma" panose="020B0604030504040204"/>
                <a:cs typeface="Tahoma" panose="020B0604030504040204"/>
                <a:sym typeface="+mn-ea"/>
              </a:rPr>
              <a:t>ORM</a:t>
            </a:r>
            <a:r>
              <a:rPr sz="1800" spc="-10" dirty="0">
                <a:solidFill>
                  <a:srgbClr val="0A0A23"/>
                </a:solidFill>
                <a:latin typeface="Tahoma" panose="020B0604030504040204"/>
                <a:cs typeface="Tahoma" panose="020B0604030504040204"/>
                <a:sym typeface="+mn-ea"/>
              </a:rPr>
              <a:t> </a:t>
            </a:r>
            <a:r>
              <a:rPr sz="1800" dirty="0">
                <a:solidFill>
                  <a:srgbClr val="0A0A23"/>
                </a:solidFill>
                <a:latin typeface="Tahoma" panose="020B0604030504040204"/>
                <a:cs typeface="Tahoma" panose="020B0604030504040204"/>
                <a:sym typeface="+mn-ea"/>
              </a:rPr>
              <a:t>tools</a:t>
            </a:r>
            <a:r>
              <a:rPr sz="1800" spc="-35" dirty="0">
                <a:solidFill>
                  <a:srgbClr val="0A0A23"/>
                </a:solidFill>
                <a:latin typeface="Tahoma" panose="020B0604030504040204"/>
                <a:cs typeface="Tahoma" panose="020B0604030504040204"/>
                <a:sym typeface="+mn-ea"/>
              </a:rPr>
              <a:t> </a:t>
            </a:r>
            <a:r>
              <a:rPr sz="1800" dirty="0">
                <a:solidFill>
                  <a:srgbClr val="0A0A23"/>
                </a:solidFill>
                <a:latin typeface="Tahoma" panose="020B0604030504040204"/>
                <a:cs typeface="Tahoma" panose="020B0604030504040204"/>
                <a:sym typeface="+mn-ea"/>
              </a:rPr>
              <a:t>than</a:t>
            </a:r>
            <a:r>
              <a:rPr sz="1800" spc="-10" dirty="0">
                <a:solidFill>
                  <a:srgbClr val="0A0A23"/>
                </a:solidFill>
                <a:latin typeface="Tahoma" panose="020B0604030504040204"/>
                <a:cs typeface="Tahoma" panose="020B0604030504040204"/>
                <a:sym typeface="+mn-ea"/>
              </a:rPr>
              <a:t> </a:t>
            </a:r>
            <a:r>
              <a:rPr sz="1800" dirty="0">
                <a:solidFill>
                  <a:srgbClr val="0A0A23"/>
                </a:solidFill>
                <a:latin typeface="Tahoma" panose="020B0604030504040204"/>
                <a:cs typeface="Tahoma" panose="020B0604030504040204"/>
                <a:sym typeface="+mn-ea"/>
              </a:rPr>
              <a:t>with</a:t>
            </a:r>
            <a:r>
              <a:rPr sz="1800" spc="5" dirty="0">
                <a:solidFill>
                  <a:srgbClr val="0A0A23"/>
                </a:solidFill>
                <a:latin typeface="Tahoma" panose="020B0604030504040204"/>
                <a:cs typeface="Tahoma" panose="020B0604030504040204"/>
                <a:sym typeface="+mn-ea"/>
              </a:rPr>
              <a:t> </a:t>
            </a:r>
            <a:r>
              <a:rPr sz="1800" spc="-20" dirty="0">
                <a:solidFill>
                  <a:srgbClr val="0A0A23"/>
                </a:solidFill>
                <a:latin typeface="Tahoma" panose="020B0604030504040204"/>
                <a:cs typeface="Tahoma" panose="020B0604030504040204"/>
                <a:sym typeface="+mn-ea"/>
              </a:rPr>
              <a:t>SQL.</a:t>
            </a:r>
            <a:endParaRPr sz="1800">
              <a:latin typeface="Tahoma" panose="020B0604030504040204"/>
              <a:cs typeface="Tahoma" panose="020B0604030504040204"/>
            </a:endParaRPr>
          </a:p>
          <a:p>
            <a:pPr marL="342900" indent="-342900">
              <a:lnSpc>
                <a:spcPct val="100000"/>
              </a:lnSpc>
              <a:spcBef>
                <a:spcPts val="540"/>
              </a:spcBef>
              <a:buAutoNum type="arabicPeriod"/>
              <a:tabLst>
                <a:tab pos="405765" algn="l"/>
              </a:tabLst>
            </a:pPr>
            <a:r>
              <a:rPr sz="1800" dirty="0">
                <a:solidFill>
                  <a:srgbClr val="0A0A23"/>
                </a:solidFill>
                <a:latin typeface="Tahoma" panose="020B0604030504040204"/>
                <a:cs typeface="Tahoma" panose="020B0604030504040204"/>
                <a:sym typeface="+mn-ea"/>
              </a:rPr>
              <a:t>There</a:t>
            </a:r>
            <a:r>
              <a:rPr sz="1800" spc="-65" dirty="0">
                <a:solidFill>
                  <a:srgbClr val="0A0A23"/>
                </a:solidFill>
                <a:latin typeface="Tahoma" panose="020B0604030504040204"/>
                <a:cs typeface="Tahoma" panose="020B0604030504040204"/>
                <a:sym typeface="+mn-ea"/>
              </a:rPr>
              <a:t> </a:t>
            </a:r>
            <a:r>
              <a:rPr sz="1800" spc="-10" dirty="0">
                <a:solidFill>
                  <a:srgbClr val="0A0A23"/>
                </a:solidFill>
                <a:latin typeface="Tahoma" panose="020B0604030504040204"/>
                <a:cs typeface="Tahoma" panose="020B0604030504040204"/>
                <a:sym typeface="+mn-ea"/>
              </a:rPr>
              <a:t>are</a:t>
            </a:r>
            <a:r>
              <a:rPr sz="1800" spc="-35" dirty="0">
                <a:solidFill>
                  <a:srgbClr val="0A0A23"/>
                </a:solidFill>
                <a:latin typeface="Tahoma" panose="020B0604030504040204"/>
                <a:cs typeface="Tahoma" panose="020B0604030504040204"/>
                <a:sym typeface="+mn-ea"/>
              </a:rPr>
              <a:t> </a:t>
            </a:r>
            <a:r>
              <a:rPr sz="1800" spc="-10" dirty="0">
                <a:solidFill>
                  <a:srgbClr val="0A0A23"/>
                </a:solidFill>
                <a:latin typeface="Tahoma" panose="020B0604030504040204"/>
                <a:cs typeface="Tahoma" panose="020B0604030504040204"/>
                <a:sym typeface="+mn-ea"/>
              </a:rPr>
              <a:t>some</a:t>
            </a:r>
            <a:r>
              <a:rPr sz="1800" spc="-65" dirty="0">
                <a:solidFill>
                  <a:srgbClr val="0A0A23"/>
                </a:solidFill>
                <a:latin typeface="Tahoma" panose="020B0604030504040204"/>
                <a:cs typeface="Tahoma" panose="020B0604030504040204"/>
                <a:sym typeface="+mn-ea"/>
              </a:rPr>
              <a:t> </a:t>
            </a:r>
            <a:r>
              <a:rPr sz="1800" dirty="0">
                <a:solidFill>
                  <a:srgbClr val="0A0A23"/>
                </a:solidFill>
                <a:latin typeface="Tahoma" panose="020B0604030504040204"/>
                <a:cs typeface="Tahoma" panose="020B0604030504040204"/>
                <a:sym typeface="+mn-ea"/>
              </a:rPr>
              <a:t>popular</a:t>
            </a:r>
            <a:r>
              <a:rPr sz="1800" spc="-40" dirty="0">
                <a:solidFill>
                  <a:srgbClr val="0A0A23"/>
                </a:solidFill>
                <a:latin typeface="Tahoma" panose="020B0604030504040204"/>
                <a:cs typeface="Tahoma" panose="020B0604030504040204"/>
                <a:sym typeface="+mn-ea"/>
              </a:rPr>
              <a:t> </a:t>
            </a:r>
            <a:r>
              <a:rPr sz="1800" spc="70" dirty="0">
                <a:solidFill>
                  <a:srgbClr val="0A0A23"/>
                </a:solidFill>
                <a:latin typeface="Tahoma" panose="020B0604030504040204"/>
                <a:cs typeface="Tahoma" panose="020B0604030504040204"/>
                <a:sym typeface="+mn-ea"/>
              </a:rPr>
              <a:t>ORM</a:t>
            </a:r>
            <a:r>
              <a:rPr sz="1800" spc="-55" dirty="0">
                <a:solidFill>
                  <a:srgbClr val="0A0A23"/>
                </a:solidFill>
                <a:latin typeface="Tahoma" panose="020B0604030504040204"/>
                <a:cs typeface="Tahoma" panose="020B0604030504040204"/>
                <a:sym typeface="+mn-ea"/>
              </a:rPr>
              <a:t> </a:t>
            </a:r>
            <a:r>
              <a:rPr sz="1800" spc="-10" dirty="0">
                <a:solidFill>
                  <a:srgbClr val="0A0A23"/>
                </a:solidFill>
                <a:latin typeface="Tahoma" panose="020B0604030504040204"/>
                <a:cs typeface="Tahoma" panose="020B0604030504040204"/>
                <a:sym typeface="+mn-ea"/>
              </a:rPr>
              <a:t>tools:</a:t>
            </a:r>
            <a:endParaRPr sz="1800">
              <a:latin typeface="Tahoma" panose="020B0604030504040204"/>
              <a:cs typeface="Tahoma" panose="020B0604030504040204"/>
            </a:endParaRPr>
          </a:p>
          <a:p>
            <a:pPr marL="800100" lvl="1" indent="-342900">
              <a:lnSpc>
                <a:spcPct val="100000"/>
              </a:lnSpc>
              <a:spcBef>
                <a:spcPts val="540"/>
              </a:spcBef>
              <a:buAutoNum type="arabicPeriod"/>
              <a:tabLst>
                <a:tab pos="375920" algn="l"/>
              </a:tabLst>
            </a:pPr>
            <a:r>
              <a:rPr sz="1800" spc="-10" dirty="0">
                <a:solidFill>
                  <a:srgbClr val="0A0A23"/>
                </a:solidFill>
                <a:latin typeface="Tahoma" panose="020B0604030504040204"/>
                <a:cs typeface="Tahoma" panose="020B0604030504040204"/>
                <a:sym typeface="+mn-ea"/>
              </a:rPr>
              <a:t>Hibernate</a:t>
            </a:r>
            <a:endParaRPr sz="1800">
              <a:latin typeface="Tahoma" panose="020B0604030504040204"/>
              <a:cs typeface="Tahoma" panose="020B0604030504040204"/>
            </a:endParaRPr>
          </a:p>
          <a:p>
            <a:pPr marL="800100" lvl="1" indent="-342900">
              <a:lnSpc>
                <a:spcPct val="100000"/>
              </a:lnSpc>
              <a:spcBef>
                <a:spcPts val="540"/>
              </a:spcBef>
              <a:buAutoNum type="arabicPeriod"/>
              <a:tabLst>
                <a:tab pos="375920" algn="l"/>
              </a:tabLst>
            </a:pPr>
            <a:r>
              <a:rPr sz="1800" spc="-10" dirty="0">
                <a:solidFill>
                  <a:srgbClr val="0A0A23"/>
                </a:solidFill>
                <a:latin typeface="Tahoma" panose="020B0604030504040204"/>
                <a:cs typeface="Tahoma" panose="020B0604030504040204"/>
                <a:sym typeface="+mn-ea"/>
              </a:rPr>
              <a:t>TopLink</a:t>
            </a:r>
            <a:endParaRPr sz="1800">
              <a:latin typeface="Tahoma" panose="020B0604030504040204"/>
              <a:cs typeface="Tahoma" panose="020B0604030504040204"/>
            </a:endParaRPr>
          </a:p>
          <a:p>
            <a:pPr marL="800100" lvl="1" indent="-342900">
              <a:lnSpc>
                <a:spcPct val="100000"/>
              </a:lnSpc>
              <a:spcBef>
                <a:spcPts val="540"/>
              </a:spcBef>
              <a:buAutoNum type="arabicPeriod"/>
              <a:tabLst>
                <a:tab pos="375920" algn="l"/>
              </a:tabLst>
            </a:pPr>
            <a:r>
              <a:rPr sz="1800" dirty="0">
                <a:solidFill>
                  <a:srgbClr val="0A0A23"/>
                </a:solidFill>
                <a:latin typeface="Tahoma" panose="020B0604030504040204"/>
                <a:cs typeface="Tahoma" panose="020B0604030504040204"/>
                <a:sym typeface="+mn-ea"/>
              </a:rPr>
              <a:t>Eclipse</a:t>
            </a:r>
            <a:r>
              <a:rPr sz="1800" spc="-25" dirty="0">
                <a:solidFill>
                  <a:srgbClr val="0A0A23"/>
                </a:solidFill>
                <a:latin typeface="Tahoma" panose="020B0604030504040204"/>
                <a:cs typeface="Tahoma" panose="020B0604030504040204"/>
                <a:sym typeface="+mn-ea"/>
              </a:rPr>
              <a:t> </a:t>
            </a:r>
            <a:r>
              <a:rPr sz="1800" spc="-20" dirty="0">
                <a:solidFill>
                  <a:srgbClr val="0A0A23"/>
                </a:solidFill>
                <a:latin typeface="Tahoma" panose="020B0604030504040204"/>
                <a:cs typeface="Tahoma" panose="020B0604030504040204"/>
                <a:sym typeface="+mn-ea"/>
              </a:rPr>
              <a:t>Link</a:t>
            </a:r>
            <a:endParaRPr sz="1800">
              <a:latin typeface="Tahoma" panose="020B0604030504040204"/>
              <a:cs typeface="Tahoma" panose="020B0604030504040204"/>
            </a:endParaRPr>
          </a:p>
          <a:p>
            <a:pPr marL="800100" lvl="1" indent="-342900">
              <a:lnSpc>
                <a:spcPct val="100000"/>
              </a:lnSpc>
              <a:spcBef>
                <a:spcPts val="540"/>
              </a:spcBef>
              <a:buAutoNum type="arabicPeriod"/>
              <a:tabLst>
                <a:tab pos="375920" algn="l"/>
              </a:tabLst>
            </a:pPr>
            <a:r>
              <a:rPr sz="1800" dirty="0">
                <a:solidFill>
                  <a:srgbClr val="0A0A23"/>
                </a:solidFill>
                <a:latin typeface="Tahoma" panose="020B0604030504040204"/>
                <a:cs typeface="Tahoma" panose="020B0604030504040204"/>
                <a:sym typeface="+mn-ea"/>
              </a:rPr>
              <a:t>Open</a:t>
            </a:r>
            <a:r>
              <a:rPr sz="1800" spc="20" dirty="0">
                <a:solidFill>
                  <a:srgbClr val="0A0A23"/>
                </a:solidFill>
                <a:latin typeface="Tahoma" panose="020B0604030504040204"/>
                <a:cs typeface="Tahoma" panose="020B0604030504040204"/>
                <a:sym typeface="+mn-ea"/>
              </a:rPr>
              <a:t> </a:t>
            </a:r>
            <a:r>
              <a:rPr sz="1800" spc="-25" dirty="0">
                <a:solidFill>
                  <a:srgbClr val="0A0A23"/>
                </a:solidFill>
                <a:latin typeface="Tahoma" panose="020B0604030504040204"/>
                <a:cs typeface="Tahoma" panose="020B0604030504040204"/>
                <a:sym typeface="+mn-ea"/>
              </a:rPr>
              <a:t>JPA</a:t>
            </a:r>
            <a:endParaRPr sz="1800">
              <a:latin typeface="Tahoma" panose="020B0604030504040204"/>
              <a:cs typeface="Tahoma" panose="020B0604030504040204"/>
            </a:endParaRPr>
          </a:p>
          <a:p>
            <a:pPr marL="800100" lvl="1" indent="-342900">
              <a:lnSpc>
                <a:spcPct val="100000"/>
              </a:lnSpc>
              <a:spcBef>
                <a:spcPts val="540"/>
              </a:spcBef>
              <a:buAutoNum type="arabicPeriod"/>
              <a:tabLst>
                <a:tab pos="375920" algn="l"/>
              </a:tabLst>
            </a:pPr>
            <a:r>
              <a:rPr sz="1800" dirty="0">
                <a:solidFill>
                  <a:srgbClr val="0A0A23"/>
                </a:solidFill>
                <a:latin typeface="Tahoma" panose="020B0604030504040204"/>
                <a:cs typeface="Tahoma" panose="020B0604030504040204"/>
                <a:sym typeface="+mn-ea"/>
              </a:rPr>
              <a:t>MyBatis</a:t>
            </a:r>
            <a:r>
              <a:rPr sz="1800" spc="145" dirty="0">
                <a:solidFill>
                  <a:srgbClr val="0A0A23"/>
                </a:solidFill>
                <a:latin typeface="Tahoma" panose="020B0604030504040204"/>
                <a:cs typeface="Tahoma" panose="020B0604030504040204"/>
                <a:sym typeface="+mn-ea"/>
              </a:rPr>
              <a:t> </a:t>
            </a:r>
            <a:r>
              <a:rPr sz="1800" spc="-10" dirty="0">
                <a:solidFill>
                  <a:srgbClr val="0A0A23"/>
                </a:solidFill>
                <a:latin typeface="Tahoma" panose="020B0604030504040204"/>
                <a:cs typeface="Tahoma" panose="020B0604030504040204"/>
                <a:sym typeface="+mn-ea"/>
              </a:rPr>
              <a:t>(ibatis)</a:t>
            </a:r>
            <a:endParaRPr sz="1800">
              <a:latin typeface="Tahoma" panose="020B0604030504040204"/>
              <a:cs typeface="Tahoma" panose="020B0604030504040204"/>
            </a:endParaRPr>
          </a:p>
          <a:p>
            <a:pPr marL="342900" indent="-342900">
              <a:lnSpc>
                <a:spcPct val="100000"/>
              </a:lnSpc>
              <a:spcBef>
                <a:spcPts val="540"/>
              </a:spcBef>
              <a:buAutoNum type="arabicPeriod"/>
              <a:tabLst>
                <a:tab pos="405765" algn="l"/>
              </a:tabLst>
            </a:pPr>
            <a:r>
              <a:rPr sz="1800" dirty="0">
                <a:solidFill>
                  <a:srgbClr val="0A0A23"/>
                </a:solidFill>
                <a:latin typeface="Tahoma" panose="020B0604030504040204"/>
                <a:cs typeface="Tahoma" panose="020B0604030504040204"/>
                <a:sym typeface="+mn-ea"/>
              </a:rPr>
              <a:t>The</a:t>
            </a:r>
            <a:r>
              <a:rPr sz="1800" spc="-30" dirty="0">
                <a:solidFill>
                  <a:srgbClr val="0A0A23"/>
                </a:solidFill>
                <a:latin typeface="Tahoma" panose="020B0604030504040204"/>
                <a:cs typeface="Tahoma" panose="020B0604030504040204"/>
                <a:sym typeface="+mn-ea"/>
              </a:rPr>
              <a:t> </a:t>
            </a:r>
            <a:r>
              <a:rPr sz="1800" dirty="0">
                <a:solidFill>
                  <a:srgbClr val="0A0A23"/>
                </a:solidFill>
                <a:latin typeface="Tahoma" panose="020B0604030504040204"/>
                <a:cs typeface="Tahoma" panose="020B0604030504040204"/>
                <a:sym typeface="+mn-ea"/>
              </a:rPr>
              <a:t>most</a:t>
            </a:r>
            <a:r>
              <a:rPr sz="1800" spc="-35" dirty="0">
                <a:solidFill>
                  <a:srgbClr val="0A0A23"/>
                </a:solidFill>
                <a:latin typeface="Tahoma" panose="020B0604030504040204"/>
                <a:cs typeface="Tahoma" panose="020B0604030504040204"/>
                <a:sym typeface="+mn-ea"/>
              </a:rPr>
              <a:t> </a:t>
            </a:r>
            <a:r>
              <a:rPr sz="1800" spc="-10" dirty="0">
                <a:solidFill>
                  <a:srgbClr val="0A0A23"/>
                </a:solidFill>
                <a:latin typeface="Tahoma" panose="020B0604030504040204"/>
                <a:cs typeface="Tahoma" panose="020B0604030504040204"/>
                <a:sym typeface="+mn-ea"/>
              </a:rPr>
              <a:t>used</a:t>
            </a:r>
            <a:r>
              <a:rPr sz="1800" spc="-35" dirty="0">
                <a:solidFill>
                  <a:srgbClr val="0A0A23"/>
                </a:solidFill>
                <a:latin typeface="Tahoma" panose="020B0604030504040204"/>
                <a:cs typeface="Tahoma" panose="020B0604030504040204"/>
                <a:sym typeface="+mn-ea"/>
              </a:rPr>
              <a:t> </a:t>
            </a:r>
            <a:r>
              <a:rPr sz="1800" spc="70" dirty="0">
                <a:solidFill>
                  <a:srgbClr val="0A0A23"/>
                </a:solidFill>
                <a:latin typeface="Tahoma" panose="020B0604030504040204"/>
                <a:cs typeface="Tahoma" panose="020B0604030504040204"/>
                <a:sym typeface="+mn-ea"/>
              </a:rPr>
              <a:t>ORM</a:t>
            </a:r>
            <a:r>
              <a:rPr sz="1800" spc="-45" dirty="0">
                <a:solidFill>
                  <a:srgbClr val="0A0A23"/>
                </a:solidFill>
                <a:latin typeface="Tahoma" panose="020B0604030504040204"/>
                <a:cs typeface="Tahoma" panose="020B0604030504040204"/>
                <a:sym typeface="+mn-ea"/>
              </a:rPr>
              <a:t> </a:t>
            </a:r>
            <a:r>
              <a:rPr sz="1800" dirty="0">
                <a:solidFill>
                  <a:srgbClr val="0A0A23"/>
                </a:solidFill>
                <a:latin typeface="Tahoma" panose="020B0604030504040204"/>
                <a:cs typeface="Tahoma" panose="020B0604030504040204"/>
                <a:sym typeface="+mn-ea"/>
              </a:rPr>
              <a:t>tool</a:t>
            </a:r>
            <a:r>
              <a:rPr sz="1800" spc="-35" dirty="0">
                <a:solidFill>
                  <a:srgbClr val="0A0A23"/>
                </a:solidFill>
                <a:latin typeface="Tahoma" panose="020B0604030504040204"/>
                <a:cs typeface="Tahoma" panose="020B0604030504040204"/>
                <a:sym typeface="+mn-ea"/>
              </a:rPr>
              <a:t> </a:t>
            </a:r>
            <a:r>
              <a:rPr sz="1800" dirty="0">
                <a:solidFill>
                  <a:srgbClr val="0A0A23"/>
                </a:solidFill>
                <a:latin typeface="Tahoma" panose="020B0604030504040204"/>
                <a:cs typeface="Tahoma" panose="020B0604030504040204"/>
                <a:sym typeface="+mn-ea"/>
              </a:rPr>
              <a:t>is</a:t>
            </a:r>
            <a:r>
              <a:rPr sz="1800" spc="-20" dirty="0">
                <a:solidFill>
                  <a:srgbClr val="0A0A23"/>
                </a:solidFill>
                <a:latin typeface="Tahoma" panose="020B0604030504040204"/>
                <a:cs typeface="Tahoma" panose="020B0604030504040204"/>
                <a:sym typeface="+mn-ea"/>
              </a:rPr>
              <a:t> </a:t>
            </a:r>
            <a:r>
              <a:rPr sz="1800" spc="-10" dirty="0">
                <a:solidFill>
                  <a:srgbClr val="0A0A23"/>
                </a:solidFill>
                <a:latin typeface="Tahoma" panose="020B0604030504040204"/>
                <a:cs typeface="Tahoma" panose="020B0604030504040204"/>
                <a:sym typeface="+mn-ea"/>
              </a:rPr>
              <a:t>Hibernate.</a:t>
            </a:r>
            <a:endParaRPr sz="1800">
              <a:latin typeface="Tahoma" panose="020B0604030504040204"/>
              <a:cs typeface="Tahoma" panose="020B0604030504040204"/>
            </a:endParaRPr>
          </a:p>
          <a:p>
            <a:pPr marL="342900" indent="-342900">
              <a:lnSpc>
                <a:spcPct val="100000"/>
              </a:lnSpc>
              <a:spcBef>
                <a:spcPts val="540"/>
              </a:spcBef>
              <a:buAutoNum type="arabicPeriod"/>
              <a:tabLst>
                <a:tab pos="406400" algn="l"/>
              </a:tabLst>
            </a:pPr>
            <a:r>
              <a:rPr sz="1800" dirty="0">
                <a:latin typeface="Gadugi" panose="020B0502040204020203"/>
                <a:cs typeface="Gadugi" panose="020B0502040204020203"/>
                <a:sym typeface="+mn-ea"/>
              </a:rPr>
              <a:t>The</a:t>
            </a:r>
            <a:r>
              <a:rPr sz="1800" spc="-30" dirty="0">
                <a:latin typeface="Gadugi" panose="020B0502040204020203"/>
                <a:cs typeface="Gadugi" panose="020B0502040204020203"/>
                <a:sym typeface="+mn-ea"/>
              </a:rPr>
              <a:t> </a:t>
            </a:r>
            <a:r>
              <a:rPr sz="1800" dirty="0">
                <a:latin typeface="Gadugi" panose="020B0502040204020203"/>
                <a:cs typeface="Gadugi" panose="020B0502040204020203"/>
                <a:sym typeface="+mn-ea"/>
              </a:rPr>
              <a:t>ORM</a:t>
            </a:r>
            <a:r>
              <a:rPr sz="1800" spc="-45" dirty="0">
                <a:latin typeface="Gadugi" panose="020B0502040204020203"/>
                <a:cs typeface="Gadugi" panose="020B0502040204020203"/>
                <a:sym typeface="+mn-ea"/>
              </a:rPr>
              <a:t> </a:t>
            </a:r>
            <a:r>
              <a:rPr sz="1800" dirty="0">
                <a:latin typeface="Gadugi" panose="020B0502040204020203"/>
                <a:cs typeface="Gadugi" panose="020B0502040204020203"/>
                <a:sym typeface="+mn-ea"/>
              </a:rPr>
              <a:t>tool</a:t>
            </a:r>
            <a:r>
              <a:rPr sz="1800" spc="-30" dirty="0">
                <a:latin typeface="Gadugi" panose="020B0502040204020203"/>
                <a:cs typeface="Gadugi" panose="020B0502040204020203"/>
                <a:sym typeface="+mn-ea"/>
              </a:rPr>
              <a:t> </a:t>
            </a:r>
            <a:r>
              <a:rPr sz="1800" dirty="0">
                <a:latin typeface="Gadugi" panose="020B0502040204020203"/>
                <a:cs typeface="Gadugi" panose="020B0502040204020203"/>
                <a:sym typeface="+mn-ea"/>
              </a:rPr>
              <a:t>internally</a:t>
            </a:r>
            <a:r>
              <a:rPr sz="1800" spc="-10" dirty="0">
                <a:latin typeface="Gadugi" panose="020B0502040204020203"/>
                <a:cs typeface="Gadugi" panose="020B0502040204020203"/>
                <a:sym typeface="+mn-ea"/>
              </a:rPr>
              <a:t> </a:t>
            </a:r>
            <a:r>
              <a:rPr sz="1800" dirty="0">
                <a:latin typeface="Gadugi" panose="020B0502040204020203"/>
                <a:cs typeface="Gadugi" panose="020B0502040204020203"/>
                <a:sym typeface="+mn-ea"/>
              </a:rPr>
              <a:t>uses</a:t>
            </a:r>
            <a:r>
              <a:rPr sz="1800" spc="-20" dirty="0">
                <a:latin typeface="Gadugi" panose="020B0502040204020203"/>
                <a:cs typeface="Gadugi" panose="020B0502040204020203"/>
                <a:sym typeface="+mn-ea"/>
              </a:rPr>
              <a:t> </a:t>
            </a:r>
            <a:r>
              <a:rPr sz="1800" dirty="0">
                <a:latin typeface="Gadugi" panose="020B0502040204020203"/>
                <a:cs typeface="Gadugi" panose="020B0502040204020203"/>
                <a:sym typeface="+mn-ea"/>
              </a:rPr>
              <a:t>the</a:t>
            </a:r>
            <a:r>
              <a:rPr sz="1800" spc="-25" dirty="0">
                <a:latin typeface="Gadugi" panose="020B0502040204020203"/>
                <a:cs typeface="Gadugi" panose="020B0502040204020203"/>
                <a:sym typeface="+mn-ea"/>
              </a:rPr>
              <a:t> </a:t>
            </a:r>
            <a:r>
              <a:rPr sz="1800" b="1" dirty="0">
                <a:latin typeface="Gadugi" panose="020B0502040204020203"/>
                <a:cs typeface="Gadugi" panose="020B0502040204020203"/>
                <a:sym typeface="+mn-ea"/>
              </a:rPr>
              <a:t>JDBC</a:t>
            </a:r>
            <a:r>
              <a:rPr sz="1800" b="1" spc="-25" dirty="0">
                <a:latin typeface="Gadugi" panose="020B0502040204020203"/>
                <a:cs typeface="Gadugi" panose="020B0502040204020203"/>
                <a:sym typeface="+mn-ea"/>
              </a:rPr>
              <a:t> </a:t>
            </a:r>
            <a:r>
              <a:rPr sz="1800" b="1" dirty="0">
                <a:latin typeface="Gadugi" panose="020B0502040204020203"/>
                <a:cs typeface="Gadugi" panose="020B0502040204020203"/>
                <a:sym typeface="+mn-ea"/>
              </a:rPr>
              <a:t>API</a:t>
            </a:r>
            <a:r>
              <a:rPr sz="1800" b="1" spc="-45" dirty="0">
                <a:latin typeface="Gadugi" panose="020B0502040204020203"/>
                <a:cs typeface="Gadugi" panose="020B0502040204020203"/>
                <a:sym typeface="+mn-ea"/>
              </a:rPr>
              <a:t> </a:t>
            </a:r>
            <a:r>
              <a:rPr sz="1800" dirty="0">
                <a:latin typeface="Gadugi" panose="020B0502040204020203"/>
                <a:cs typeface="Gadugi" panose="020B0502040204020203"/>
                <a:sym typeface="+mn-ea"/>
              </a:rPr>
              <a:t>to</a:t>
            </a:r>
            <a:r>
              <a:rPr sz="1800" spc="-25" dirty="0">
                <a:latin typeface="Gadugi" panose="020B0502040204020203"/>
                <a:cs typeface="Gadugi" panose="020B0502040204020203"/>
                <a:sym typeface="+mn-ea"/>
              </a:rPr>
              <a:t> </a:t>
            </a:r>
            <a:r>
              <a:rPr sz="1800" dirty="0">
                <a:latin typeface="Gadugi" panose="020B0502040204020203"/>
                <a:cs typeface="Gadugi" panose="020B0502040204020203"/>
                <a:sym typeface="+mn-ea"/>
              </a:rPr>
              <a:t>interact</a:t>
            </a:r>
            <a:r>
              <a:rPr sz="1800" spc="-10" dirty="0">
                <a:latin typeface="Gadugi" panose="020B0502040204020203"/>
                <a:cs typeface="Gadugi" panose="020B0502040204020203"/>
                <a:sym typeface="+mn-ea"/>
              </a:rPr>
              <a:t> </a:t>
            </a:r>
            <a:r>
              <a:rPr sz="1800" dirty="0">
                <a:latin typeface="Gadugi" panose="020B0502040204020203"/>
                <a:cs typeface="Gadugi" panose="020B0502040204020203"/>
                <a:sym typeface="+mn-ea"/>
              </a:rPr>
              <a:t>with</a:t>
            </a:r>
            <a:r>
              <a:rPr sz="1800" spc="-30" dirty="0">
                <a:latin typeface="Gadugi" panose="020B0502040204020203"/>
                <a:cs typeface="Gadugi" panose="020B0502040204020203"/>
                <a:sym typeface="+mn-ea"/>
              </a:rPr>
              <a:t> </a:t>
            </a:r>
            <a:r>
              <a:rPr sz="1800" dirty="0">
                <a:latin typeface="Gadugi" panose="020B0502040204020203"/>
                <a:cs typeface="Gadugi" panose="020B0502040204020203"/>
                <a:sym typeface="+mn-ea"/>
              </a:rPr>
              <a:t>the</a:t>
            </a:r>
            <a:r>
              <a:rPr sz="1800" spc="-30" dirty="0">
                <a:latin typeface="Gadugi" panose="020B0502040204020203"/>
                <a:cs typeface="Gadugi" panose="020B0502040204020203"/>
                <a:sym typeface="+mn-ea"/>
              </a:rPr>
              <a:t> </a:t>
            </a:r>
            <a:r>
              <a:rPr sz="1800" spc="-10" dirty="0">
                <a:latin typeface="Gadugi" panose="020B0502040204020203"/>
                <a:cs typeface="Gadugi" panose="020B0502040204020203"/>
                <a:sym typeface="+mn-ea"/>
              </a:rPr>
              <a:t>database</a:t>
            </a:r>
            <a:endParaRPr sz="1800">
              <a:latin typeface="Gadugi" panose="020B0502040204020203"/>
              <a:cs typeface="Gadugi" panose="020B0502040204020203"/>
            </a:endParaRPr>
          </a:p>
          <a:p>
            <a:pPr marL="342900" indent="-342900">
              <a:buAutoNum type="arabicPeriod"/>
            </a:pPr>
            <a:endParaRPr lang="en-US" sz="1800">
              <a:latin typeface="Gadugi" panose="020B0502040204020203"/>
              <a:cs typeface="Gadugi" panose="020B050204020402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283845"/>
          </a:xfrm>
        </p:spPr>
        <p:txBody>
          <a:bodyPr>
            <a:noAutofit/>
          </a:bodyPr>
          <a:p>
            <a:pPr algn="ctr"/>
            <a:r>
              <a:rPr lang="en-US" sz="2800" b="1">
                <a:solidFill>
                  <a:srgbClr val="FF0000"/>
                </a:solidFill>
              </a:rPr>
              <a:t>Hibernate Framework</a:t>
            </a:r>
            <a:endParaRPr lang="en-US" sz="2800" b="1">
              <a:solidFill>
                <a:srgbClr val="FF0000"/>
              </a:solidFill>
            </a:endParaRPr>
          </a:p>
        </p:txBody>
      </p:sp>
      <p:sp>
        <p:nvSpPr>
          <p:cNvPr id="3" name="Content Placeholder 2"/>
          <p:cNvSpPr>
            <a:spLocks noGrp="1"/>
          </p:cNvSpPr>
          <p:nvPr>
            <p:ph idx="1"/>
          </p:nvPr>
        </p:nvSpPr>
        <p:spPr>
          <a:xfrm>
            <a:off x="97155" y="283845"/>
            <a:ext cx="12095480" cy="6455410"/>
          </a:xfrm>
        </p:spPr>
        <p:txBody>
          <a:bodyPr>
            <a:normAutofit lnSpcReduction="10000"/>
          </a:bodyPr>
          <a:p>
            <a:pPr marL="0" indent="0">
              <a:buNone/>
            </a:pPr>
            <a:r>
              <a:rPr lang="en-US" altLang="en-US" sz="2000" b="1"/>
              <a:t>History And Introdcution</a:t>
            </a:r>
            <a:endParaRPr lang="en-US" altLang="en-US" sz="2000" b="1"/>
          </a:p>
          <a:p>
            <a:pPr marL="0" indent="0">
              <a:buNone/>
            </a:pPr>
            <a:r>
              <a:rPr lang="en-US" altLang="en-US" sz="2000"/>
              <a:t>Hibernate is an Object-Relational Mapping (ORM) framework for Java, used to map Java objects to database tables. It simplifies database operations by allowing developers to interact with databases using Java objects, rather than writing complex SQL queries. Hibernate supports features like caching, lazy loading, and transaction management, making it efficient and scalable. It also provides database independence, meaning code can work with different databases with minimal changes.</a:t>
            </a:r>
            <a:endParaRPr lang="en-US" altLang="en-US" sz="2000"/>
          </a:p>
          <a:p>
            <a:pPr marL="0" indent="0">
              <a:buNone/>
            </a:pPr>
            <a:endParaRPr lang="en-US" altLang="en-US" sz="2000"/>
          </a:p>
          <a:p>
            <a:pPr marL="0" indent="0">
              <a:buNone/>
            </a:pPr>
            <a:r>
              <a:rPr lang="en-US" altLang="en-US" sz="2000"/>
              <a:t>The Hibernate framework was designed and developed by </a:t>
            </a:r>
            <a:r>
              <a:rPr lang="en-US" altLang="en-US" sz="2000" b="1">
                <a:solidFill>
                  <a:srgbClr val="FF0000"/>
                </a:solidFill>
              </a:rPr>
              <a:t>Gavin King in 2001</a:t>
            </a:r>
            <a:r>
              <a:rPr lang="en-US" altLang="en-US" sz="2000">
                <a:solidFill>
                  <a:srgbClr val="FF0000"/>
                </a:solidFill>
              </a:rPr>
              <a:t> </a:t>
            </a:r>
            <a:r>
              <a:rPr lang="en-US" altLang="en-US" sz="2000"/>
              <a:t>as an open-source, high-performance Object-Relational Mapping (ORM) tool for Java applications, created to simplify database persistence by mapping Java objects to relational database tables. </a:t>
            </a:r>
            <a:endParaRPr lang="en-US" altLang="en-US" sz="2000"/>
          </a:p>
          <a:p>
            <a:pPr marL="0" indent="0">
              <a:buNone/>
            </a:pPr>
            <a:endParaRPr lang="en-US" altLang="en-US" sz="2000"/>
          </a:p>
          <a:p>
            <a:pPr marL="0" indent="0">
              <a:buNone/>
            </a:pPr>
            <a:r>
              <a:rPr lang="en-US" altLang="en-US" sz="2000" b="1"/>
              <a:t>Creator: Gavin King. </a:t>
            </a:r>
            <a:endParaRPr lang="en-US" altLang="en-US" sz="2000" b="1"/>
          </a:p>
          <a:p>
            <a:pPr marL="0" indent="0">
              <a:buNone/>
            </a:pPr>
            <a:r>
              <a:rPr lang="en-US" altLang="en-US" sz="2000" b="1"/>
              <a:t>Year: Started in 2001. </a:t>
            </a:r>
            <a:endParaRPr lang="en-US" altLang="en-US" sz="2000" b="1"/>
          </a:p>
          <a:p>
            <a:pPr marL="0" indent="0">
              <a:buNone/>
            </a:pPr>
            <a:endParaRPr lang="en-US" altLang="en-US" sz="2000"/>
          </a:p>
          <a:p>
            <a:pPr marL="0" indent="0">
              <a:buNone/>
            </a:pPr>
            <a:r>
              <a:rPr lang="en-US" altLang="en-US" sz="2000"/>
              <a:t>Purpose: To provide a simpler, more powerful alternative to the complexities of Java's EJB2-style entity beans and manual JDBC operations for database persistence. </a:t>
            </a:r>
            <a:endParaRPr lang="en-US" altLang="en-US" sz="2000"/>
          </a:p>
          <a:p>
            <a:pPr marL="0" indent="0">
              <a:buNone/>
            </a:pPr>
            <a:r>
              <a:rPr lang="en-US" altLang="en-US" sz="2000"/>
              <a:t>Nature: It is an open-source, lightweight, and non-invasive ORM framework. </a:t>
            </a:r>
            <a:endParaRPr lang="en-US" altLang="en-US" sz="2000"/>
          </a:p>
          <a:p>
            <a:pPr marL="0" indent="0">
              <a:buNone/>
            </a:pPr>
            <a:r>
              <a:rPr lang="en-US" altLang="en-US" sz="2000"/>
              <a:t>Functionality: It handles the mapping of Java objects to database tables and facilitates the storage and retrieval of these objects, implementing the Java Persistence API (JPA) specifications. </a:t>
            </a:r>
            <a:endParaRPr lang="en-US" alt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52705"/>
            <a:ext cx="10515600" cy="312420"/>
          </a:xfrm>
        </p:spPr>
        <p:txBody>
          <a:bodyPr>
            <a:noAutofit/>
          </a:bodyPr>
          <a:p>
            <a:pPr algn="ctr"/>
            <a:r>
              <a:rPr lang="en-US" sz="2400" b="1">
                <a:solidFill>
                  <a:srgbClr val="FF0000"/>
                </a:solidFill>
              </a:rPr>
              <a:t>Hibernate Application</a:t>
            </a:r>
            <a:endParaRPr lang="en-US" sz="2400" b="1">
              <a:solidFill>
                <a:srgbClr val="FF0000"/>
              </a:solidFill>
            </a:endParaRPr>
          </a:p>
        </p:txBody>
      </p:sp>
      <p:sp>
        <p:nvSpPr>
          <p:cNvPr id="3" name="Content Placeholder 2"/>
          <p:cNvSpPr>
            <a:spLocks noGrp="1"/>
          </p:cNvSpPr>
          <p:nvPr>
            <p:ph idx="1"/>
          </p:nvPr>
        </p:nvSpPr>
        <p:spPr>
          <a:xfrm>
            <a:off x="140335" y="470535"/>
            <a:ext cx="11623040" cy="6158230"/>
          </a:xfrm>
        </p:spPr>
        <p:txBody>
          <a:bodyPr/>
          <a:p>
            <a:pPr marL="0" indent="0">
              <a:buNone/>
            </a:pPr>
            <a:r>
              <a:rPr lang="en-US" altLang="en-US" sz="2000"/>
              <a:t> list of Hibernate applications:</a:t>
            </a:r>
            <a:endParaRPr lang="en-US" altLang="en-US" sz="2000"/>
          </a:p>
          <a:p>
            <a:pPr marL="514350" indent="-514350">
              <a:buAutoNum type="arabicPeriod"/>
            </a:pPr>
            <a:r>
              <a:rPr lang="en-US" altLang="en-US" sz="2000"/>
              <a:t>Enterprise applications</a:t>
            </a:r>
            <a:endParaRPr lang="en-US" altLang="en-US" sz="2000"/>
          </a:p>
          <a:p>
            <a:pPr marL="514350" indent="-514350">
              <a:buAutoNum type="arabicPeriod"/>
            </a:pPr>
            <a:r>
              <a:rPr lang="en-US" altLang="en-US" sz="2000"/>
              <a:t>Web applications</a:t>
            </a:r>
            <a:endParaRPr lang="en-US" altLang="en-US" sz="2000"/>
          </a:p>
          <a:p>
            <a:pPr marL="514350" indent="-514350">
              <a:buAutoNum type="arabicPeriod"/>
            </a:pPr>
            <a:r>
              <a:rPr lang="en-US" altLang="en-US" sz="2000"/>
              <a:t>Standalone desktop applications</a:t>
            </a:r>
            <a:endParaRPr lang="en-US" altLang="en-US" sz="2000"/>
          </a:p>
          <a:p>
            <a:pPr marL="514350" indent="-514350">
              <a:buAutoNum type="arabicPeriod"/>
            </a:pPr>
            <a:r>
              <a:rPr lang="en-US" altLang="en-US" sz="2000"/>
              <a:t>Distributed systems</a:t>
            </a:r>
            <a:endParaRPr lang="en-US" altLang="en-US" sz="2000"/>
          </a:p>
          <a:p>
            <a:pPr marL="514350" indent="-514350">
              <a:buAutoNum type="arabicPeriod"/>
            </a:pPr>
            <a:r>
              <a:rPr lang="en-US" altLang="en-US" sz="2000"/>
              <a:t>Microservices</a:t>
            </a:r>
            <a:endParaRPr lang="en-US" altLang="en-US" sz="2000"/>
          </a:p>
          <a:p>
            <a:pPr marL="514350" indent="-514350">
              <a:buAutoNum type="arabicPeriod"/>
            </a:pPr>
            <a:r>
              <a:rPr lang="en-US" altLang="en-US" sz="2000"/>
              <a:t>Data persistence applications</a:t>
            </a:r>
            <a:endParaRPr lang="en-US" altLang="en-US" sz="2000"/>
          </a:p>
          <a:p>
            <a:pPr marL="514350" indent="-514350">
              <a:buAutoNum type="arabicPeriod"/>
            </a:pPr>
            <a:r>
              <a:rPr lang="en-US" altLang="en-US" sz="2000"/>
              <a:t>Caching-based applications</a:t>
            </a:r>
            <a:endParaRPr lang="en-US" altLang="en-US" sz="2000"/>
          </a:p>
          <a:p>
            <a:pPr marL="514350" indent="-514350">
              <a:buAutoNum type="arabicPeriod"/>
            </a:pPr>
            <a:r>
              <a:rPr lang="en-US" altLang="en-US" sz="2000"/>
              <a:t>Legacy system modernization</a:t>
            </a:r>
            <a:endParaRPr lang="en-US" altLang="en-US" sz="2000"/>
          </a:p>
          <a:p>
            <a:pPr marL="514350" indent="-514350">
              <a:buAutoNum type="arabicPeriod"/>
            </a:pPr>
            <a:r>
              <a:rPr lang="en-US" altLang="en-US" sz="2000"/>
              <a:t>Rapid application development/prototyping</a:t>
            </a:r>
            <a:endParaRPr lang="en-US" alt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3100" y="98425"/>
            <a:ext cx="9144000" cy="259080"/>
          </a:xfrm>
        </p:spPr>
        <p:txBody>
          <a:bodyPr>
            <a:noAutofit/>
          </a:bodyPr>
          <a:lstStyle/>
          <a:p>
            <a:r>
              <a:rPr lang="en-US" sz="2000" b="1" dirty="0">
                <a:solidFill>
                  <a:srgbClr val="FF0000"/>
                </a:solidFill>
                <a:latin typeface="Cambria" panose="02040503050406030204" charset="0"/>
                <a:cs typeface="Cambria" panose="02040503050406030204" charset="0"/>
              </a:rPr>
              <a:t>Maven Project</a:t>
            </a:r>
            <a:endParaRPr lang="en-US" sz="2000" b="1" dirty="0">
              <a:solidFill>
                <a:srgbClr val="FF0000"/>
              </a:solidFill>
              <a:latin typeface="Cambria" panose="02040503050406030204" charset="0"/>
              <a:cs typeface="Cambria" panose="02040503050406030204" charset="0"/>
            </a:endParaRPr>
          </a:p>
        </p:txBody>
      </p:sp>
      <p:sp>
        <p:nvSpPr>
          <p:cNvPr id="3" name="Subtitle 2"/>
          <p:cNvSpPr>
            <a:spLocks noGrp="1"/>
          </p:cNvSpPr>
          <p:nvPr>
            <p:ph type="subTitle" idx="1"/>
          </p:nvPr>
        </p:nvSpPr>
        <p:spPr>
          <a:xfrm>
            <a:off x="95885" y="358140"/>
            <a:ext cx="11784330" cy="6337935"/>
          </a:xfrm>
        </p:spPr>
        <p:txBody>
          <a:bodyPr/>
          <a:lstStyle/>
          <a:p>
            <a:pPr algn="l"/>
            <a:r>
              <a:rPr lang="en-US" altLang="en-US" sz="1800" b="1"/>
              <a:t> What is a Maven Project in Java?</a:t>
            </a:r>
            <a:endParaRPr lang="en-US" altLang="en-US" sz="1800" b="1"/>
          </a:p>
          <a:p>
            <a:pPr algn="l"/>
            <a:r>
              <a:rPr lang="en-US" altLang="en-US" sz="1800"/>
              <a:t>A Maven project is a Java-based software project that uses Apache Maven as its build automation and dependency management tool.</a:t>
            </a:r>
            <a:endParaRPr lang="en-US" altLang="en-US" sz="1800"/>
          </a:p>
          <a:p>
            <a:pPr algn="l"/>
            <a:r>
              <a:rPr lang="en-US" altLang="en-US" sz="1800"/>
              <a:t>Build your project (compile, package, test)</a:t>
            </a:r>
            <a:endParaRPr lang="en-US" altLang="en-US" sz="1800"/>
          </a:p>
          <a:p>
            <a:pPr algn="l"/>
            <a:r>
              <a:rPr lang="en-US" altLang="en-US" sz="1800"/>
              <a:t>Manage dependencies (like external libraries or frameworks)</a:t>
            </a:r>
            <a:endParaRPr lang="en-US" altLang="en-US" sz="1800"/>
          </a:p>
          <a:p>
            <a:pPr algn="l"/>
            <a:r>
              <a:rPr lang="en-US" altLang="en-US" sz="1800"/>
              <a:t>Standardize project structure</a:t>
            </a:r>
            <a:endParaRPr lang="en-US" altLang="en-US" sz="1800"/>
          </a:p>
          <a:p>
            <a:pPr algn="l"/>
            <a:r>
              <a:rPr lang="en-US" altLang="en-US" sz="1800"/>
              <a:t>Run automated tasks (like testing or code generation)</a:t>
            </a:r>
            <a:endParaRPr lang="en-US" altLang="en-US" sz="1800"/>
          </a:p>
          <a:p>
            <a:pPr algn="l"/>
            <a:endParaRPr lang="en-US" altLang="en-US" sz="1800"/>
          </a:p>
          <a:p>
            <a:pPr algn="l"/>
            <a:r>
              <a:rPr lang="en-US" altLang="en-US" sz="1800"/>
              <a:t>my-project/</a:t>
            </a:r>
            <a:endParaRPr lang="en-US" altLang="en-US" sz="1800"/>
          </a:p>
          <a:p>
            <a:pPr algn="l"/>
            <a:r>
              <a:rPr lang="en-US" altLang="en-US" sz="1800"/>
              <a:t>├── pom.xml              &lt;-- Maven configuration file</a:t>
            </a:r>
            <a:endParaRPr lang="en-US" altLang="en-US" sz="1800"/>
          </a:p>
          <a:p>
            <a:pPr algn="l"/>
            <a:r>
              <a:rPr lang="en-US" altLang="en-US" sz="1800"/>
              <a:t>└── src/</a:t>
            </a:r>
            <a:endParaRPr lang="en-US" altLang="en-US" sz="1800"/>
          </a:p>
          <a:p>
            <a:pPr algn="l"/>
            <a:r>
              <a:rPr lang="en-US" altLang="en-US" sz="1800"/>
              <a:t>    ├── main/</a:t>
            </a:r>
            <a:endParaRPr lang="en-US" altLang="en-US" sz="1800"/>
          </a:p>
          <a:p>
            <a:pPr algn="l"/>
            <a:r>
              <a:rPr lang="en-US" altLang="en-US" sz="1800"/>
              <a:t>    │   └── java/        &lt;-- Your source code</a:t>
            </a:r>
            <a:endParaRPr lang="en-US" altLang="en-US" sz="1800"/>
          </a:p>
          <a:p>
            <a:pPr algn="l"/>
            <a:r>
              <a:rPr lang="en-US" altLang="en-US" sz="1800"/>
              <a:t>    └── test/</a:t>
            </a:r>
            <a:endParaRPr lang="en-US" altLang="en-US" sz="1800"/>
          </a:p>
          <a:p>
            <a:pPr algn="l"/>
            <a:r>
              <a:rPr lang="en-US" altLang="en-US" sz="1800"/>
              <a:t>        └── java/        &lt;-- Unit tests</a:t>
            </a:r>
            <a:endParaRPr lang="en-US" altLang="en-US" sz="1800"/>
          </a:p>
          <a:p>
            <a:pPr algn="l"/>
            <a:endParaRPr lang="en-US" altLang="en-US" sz="1800"/>
          </a:p>
        </p:txBody>
      </p:sp>
      <p:sp>
        <p:nvSpPr>
          <p:cNvPr id="4" name="Text Box 3"/>
          <p:cNvSpPr txBox="1"/>
          <p:nvPr/>
        </p:nvSpPr>
        <p:spPr>
          <a:xfrm>
            <a:off x="5250180" y="2366645"/>
            <a:ext cx="6398895" cy="4328795"/>
          </a:xfrm>
          <a:prstGeom prst="rect">
            <a:avLst/>
          </a:prstGeom>
          <a:noFill/>
        </p:spPr>
        <p:txBody>
          <a:bodyPr wrap="square" rtlCol="0" anchor="t">
            <a:noAutofit/>
          </a:bodyPr>
          <a:p>
            <a:endParaRPr lang="en-US" altLang="en-US"/>
          </a:p>
          <a:p>
            <a:r>
              <a:rPr lang="en-US" altLang="en-US"/>
              <a:t>my-maven-project/</a:t>
            </a:r>
            <a:endParaRPr lang="en-US" altLang="en-US"/>
          </a:p>
          <a:p>
            <a:r>
              <a:rPr lang="en-US" altLang="en-US"/>
              <a:t>├── pom.xml                   &lt;-- Maven configuration file</a:t>
            </a:r>
            <a:endParaRPr lang="en-US" altLang="en-US"/>
          </a:p>
          <a:p>
            <a:r>
              <a:rPr lang="en-US" altLang="en-US"/>
              <a:t>└── src/</a:t>
            </a:r>
            <a:endParaRPr lang="en-US" altLang="en-US"/>
          </a:p>
          <a:p>
            <a:r>
              <a:rPr lang="en-US" altLang="en-US"/>
              <a:t>    ├── main/</a:t>
            </a:r>
            <a:endParaRPr lang="en-US" altLang="en-US"/>
          </a:p>
          <a:p>
            <a:r>
              <a:rPr lang="en-US" altLang="en-US"/>
              <a:t>    │   └── java/</a:t>
            </a:r>
            <a:endParaRPr lang="en-US" altLang="en-US"/>
          </a:p>
          <a:p>
            <a:r>
              <a:rPr lang="en-US" altLang="en-US"/>
              <a:t>    │       └── com/</a:t>
            </a:r>
            <a:endParaRPr lang="en-US" altLang="en-US"/>
          </a:p>
          <a:p>
            <a:r>
              <a:rPr lang="en-US" altLang="en-US"/>
              <a:t>    │           └── example/</a:t>
            </a:r>
            <a:endParaRPr lang="en-US" altLang="en-US"/>
          </a:p>
          <a:p>
            <a:r>
              <a:rPr lang="en-US" altLang="en-US"/>
              <a:t>    │               └── App.java       &lt;-- Your main Java class</a:t>
            </a:r>
            <a:endParaRPr lang="en-US" altLang="en-US"/>
          </a:p>
          <a:p>
            <a:r>
              <a:rPr lang="en-US" altLang="en-US"/>
              <a:t>    └── test/</a:t>
            </a:r>
            <a:endParaRPr lang="en-US" altLang="en-US"/>
          </a:p>
          <a:p>
            <a:r>
              <a:rPr lang="en-US" altLang="en-US"/>
              <a:t>        └── java/</a:t>
            </a:r>
            <a:endParaRPr lang="en-US" altLang="en-US"/>
          </a:p>
          <a:p>
            <a:r>
              <a:rPr lang="en-US" altLang="en-US"/>
              <a:t>            └── com/</a:t>
            </a:r>
            <a:endParaRPr lang="en-US" altLang="en-US"/>
          </a:p>
          <a:p>
            <a:r>
              <a:rPr lang="en-US" altLang="en-US"/>
              <a:t>                └── example/</a:t>
            </a:r>
            <a:endParaRPr lang="en-US" altLang="en-US"/>
          </a:p>
          <a:p>
            <a:r>
              <a:rPr lang="en-US" altLang="en-US"/>
              <a:t>                    └── AppTest.java  &lt;-- Unit test class</a:t>
            </a:r>
            <a:endParaRPr lang="en-US" altLang="en-US"/>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Screenshot (2)"/>
          <p:cNvPicPr>
            <a:picLocks noChangeAspect="1"/>
          </p:cNvPicPr>
          <p:nvPr/>
        </p:nvPicPr>
        <p:blipFill>
          <a:blip r:embed="rId1"/>
          <a:stretch>
            <a:fillRect/>
          </a:stretch>
        </p:blipFill>
        <p:spPr>
          <a:xfrm>
            <a:off x="685800" y="205740"/>
            <a:ext cx="10277475" cy="6065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145415"/>
            <a:ext cx="10515600" cy="417830"/>
          </a:xfrm>
        </p:spPr>
        <p:txBody>
          <a:bodyPr>
            <a:normAutofit fontScale="90000"/>
          </a:bodyPr>
          <a:p>
            <a:r>
              <a:rPr lang="en-US" sz="2400" b="1">
                <a:solidFill>
                  <a:srgbClr val="FF0000"/>
                </a:solidFill>
                <a:latin typeface="Cambria" panose="02040503050406030204" charset="0"/>
                <a:cs typeface="Cambria" panose="02040503050406030204" charset="0"/>
              </a:rPr>
              <a:t>hibernate Architecture</a:t>
            </a:r>
            <a:endParaRPr lang="en-US" sz="24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120015" y="563245"/>
            <a:ext cx="11878310" cy="6198235"/>
          </a:xfrm>
        </p:spPr>
        <p:txBody>
          <a:bodyPr>
            <a:noAutofit/>
          </a:bodyPr>
          <a:p>
            <a:r>
              <a:rPr lang="en-US" altLang="en-US" sz="1600"/>
              <a:t>1. Hibernate Architecture Components:</a:t>
            </a:r>
            <a:endParaRPr lang="en-US" altLang="en-US" sz="1600"/>
          </a:p>
          <a:p>
            <a:pPr marL="0" indent="0">
              <a:buNone/>
            </a:pPr>
            <a:r>
              <a:rPr lang="en-US" altLang="en-US" sz="1600" b="1"/>
              <a:t>Session Factory:</a:t>
            </a:r>
            <a:endParaRPr lang="en-US" altLang="en-US" sz="1600" b="1"/>
          </a:p>
          <a:p>
            <a:r>
              <a:rPr lang="en-US" altLang="en-US" sz="1600"/>
              <a:t>A thread-safe, immutable object that manages connections to the database and creates Sessions. It's a heavyweight object, so it's typically created once at application startup. </a:t>
            </a:r>
            <a:endParaRPr lang="en-US" altLang="en-US" sz="1600"/>
          </a:p>
          <a:p>
            <a:pPr marL="0" indent="0">
              <a:buNone/>
            </a:pPr>
            <a:r>
              <a:rPr lang="en-US" altLang="en-US" sz="1600" b="1"/>
              <a:t>Session:</a:t>
            </a:r>
            <a:endParaRPr lang="en-US" altLang="en-US" sz="1600" b="1"/>
          </a:p>
          <a:p>
            <a:r>
              <a:rPr lang="en-US" altLang="en-US" sz="1600"/>
              <a:t>A short-lived, lightweight object that represents a conversation between the Java application and the database. It's the primary interface for CRUD (Create, Read, Update, Delete) operations. </a:t>
            </a:r>
            <a:endParaRPr lang="en-US" altLang="en-US" sz="1600"/>
          </a:p>
          <a:p>
            <a:pPr marL="0" indent="0">
              <a:buNone/>
            </a:pPr>
            <a:r>
              <a:rPr lang="en-US" altLang="en-US" sz="1600" b="1"/>
              <a:t>Transaction:</a:t>
            </a:r>
            <a:endParaRPr lang="en-US" altLang="en-US" sz="1600" b="1"/>
          </a:p>
          <a:p>
            <a:r>
              <a:rPr lang="en-US" altLang="en-US" sz="1600"/>
              <a:t>Manages database transactions, ensuring data consistency. Hibernate provides both Hibernate Transactions and integration with JTA (Java Transaction API). </a:t>
            </a:r>
            <a:endParaRPr lang="en-US" altLang="en-US" sz="1600"/>
          </a:p>
          <a:p>
            <a:r>
              <a:rPr lang="en-US" altLang="en-US" sz="1600"/>
              <a:t>Query/Criteria API:</a:t>
            </a:r>
            <a:endParaRPr lang="en-US" altLang="en-US" sz="1600"/>
          </a:p>
          <a:p>
            <a:r>
              <a:rPr lang="en-US" altLang="en-US" sz="1600"/>
              <a:t>Allows developers to write queries using Hibernate Query Language (HQL) or Criteria API for more object-oriented querying instead of raw SQL. </a:t>
            </a:r>
            <a:endParaRPr lang="en-US" altLang="en-US" sz="1600"/>
          </a:p>
          <a:p>
            <a:pPr marL="0" indent="0">
              <a:buNone/>
            </a:pPr>
            <a:r>
              <a:rPr lang="en-US" altLang="en-US" sz="1600" b="1"/>
              <a:t>2. Mapping:</a:t>
            </a:r>
            <a:endParaRPr lang="en-US" altLang="en-US" sz="1600" b="1"/>
          </a:p>
          <a:p>
            <a:r>
              <a:rPr lang="en-US" altLang="en-US" sz="1600"/>
              <a:t>Hibernate Mapping Files (hbm.xml) or Annotations:</a:t>
            </a:r>
            <a:endParaRPr lang="en-US" altLang="en-US" sz="1600"/>
          </a:p>
          <a:p>
            <a:r>
              <a:rPr lang="en-US" altLang="en-US" sz="1600"/>
              <a:t>These files or annotations define the mapping between Java objects and database tables. They specify how Hibernate should translate Java objects into SQL statements and vice versa. </a:t>
            </a:r>
            <a:endParaRPr lang="en-US" altLang="en-US" sz="1600"/>
          </a:p>
          <a:p>
            <a:r>
              <a:rPr lang="en-US" altLang="en-US" sz="1600"/>
              <a:t>Database Schema:</a:t>
            </a:r>
            <a:endParaRPr lang="en-US" altLang="en-US" sz="1600"/>
          </a:p>
          <a:p>
            <a:r>
              <a:rPr lang="en-US" altLang="en-US" sz="1600"/>
              <a:t>The database schema (tables, columns, relationships) should be designed to align with the object model defined in the mapping files or annotations. </a:t>
            </a:r>
            <a:endParaRPr lang="en-US" altLang="en-US" sz="1600"/>
          </a:p>
          <a:p>
            <a:endParaRPr lang="en-US" altLang="en-US"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63830" y="199390"/>
            <a:ext cx="11892280" cy="6535420"/>
          </a:xfrm>
        </p:spPr>
        <p:txBody>
          <a:bodyPr>
            <a:noAutofit/>
          </a:bodyPr>
          <a:p>
            <a:pPr marL="0" indent="0">
              <a:buNone/>
            </a:pPr>
            <a:r>
              <a:rPr lang="en-US" altLang="en-US" sz="1700" b="1">
                <a:sym typeface="+mn-ea"/>
              </a:rPr>
              <a:t>3. Data Interaction:</a:t>
            </a:r>
            <a:endParaRPr lang="en-US" altLang="en-US" sz="1700" b="1"/>
          </a:p>
          <a:p>
            <a:r>
              <a:rPr lang="en-US" altLang="en-US" sz="1700">
                <a:sym typeface="+mn-ea"/>
              </a:rPr>
              <a:t>CRUD Operations:</a:t>
            </a:r>
            <a:endParaRPr lang="en-US" altLang="en-US" sz="1700"/>
          </a:p>
          <a:p>
            <a:r>
              <a:rPr lang="en-US" altLang="en-US" sz="1700">
                <a:sym typeface="+mn-ea"/>
              </a:rPr>
              <a:t>Hibernate provides methods like persist(), update(), delete(), get(), and find() to perform CRUD operations on persistent objects. </a:t>
            </a:r>
            <a:endParaRPr lang="en-US" altLang="en-US" sz="1700"/>
          </a:p>
          <a:p>
            <a:r>
              <a:rPr lang="en-US" altLang="en-US" sz="1700">
                <a:sym typeface="+mn-ea"/>
              </a:rPr>
              <a:t>SQL Generation:</a:t>
            </a:r>
            <a:endParaRPr lang="en-US" altLang="en-US" sz="1700"/>
          </a:p>
          <a:p>
            <a:r>
              <a:rPr lang="en-US" altLang="en-US" sz="1700">
                <a:sym typeface="+mn-ea"/>
              </a:rPr>
              <a:t>Hibernate automatically generates the necessary SQL statements based on the mapping and the performed operations. </a:t>
            </a:r>
            <a:endParaRPr lang="en-US" altLang="en-US" sz="1700"/>
          </a:p>
          <a:p>
            <a:r>
              <a:rPr lang="en-US" altLang="en-US" sz="1700">
                <a:sym typeface="+mn-ea"/>
              </a:rPr>
              <a:t>SQL Dialects:</a:t>
            </a:r>
            <a:endParaRPr lang="en-US" altLang="en-US" sz="1700"/>
          </a:p>
          <a:p>
            <a:r>
              <a:rPr lang="en-US" altLang="en-US" sz="1700">
                <a:sym typeface="+mn-ea"/>
              </a:rPr>
              <a:t>Hibernate supports various SQL dialects for different databases, including MySQL, allowing it to generate database-specific SQL. </a:t>
            </a:r>
            <a:endParaRPr lang="en-US" altLang="en-US" sz="1700"/>
          </a:p>
          <a:p>
            <a:pPr marL="0" indent="0">
              <a:buNone/>
            </a:pPr>
            <a:r>
              <a:rPr lang="en-US" altLang="en-US" sz="1700" b="1">
                <a:sym typeface="+mn-ea"/>
              </a:rPr>
              <a:t>4. Configuration:</a:t>
            </a:r>
            <a:endParaRPr lang="en-US" altLang="en-US" sz="1700" b="1"/>
          </a:p>
          <a:p>
            <a:r>
              <a:rPr lang="en-US" altLang="en-US" sz="1700">
                <a:sym typeface="+mn-ea"/>
              </a:rPr>
              <a:t>hibernate.cfg.xml:</a:t>
            </a:r>
            <a:endParaRPr lang="en-US" altLang="en-US" sz="1700"/>
          </a:p>
          <a:p>
            <a:r>
              <a:rPr lang="en-US" altLang="en-US" sz="1700">
                <a:sym typeface="+mn-ea"/>
              </a:rPr>
              <a:t>This file contains database connection details (JDBC URL, username, password), dialect information, and other configuration settings. </a:t>
            </a:r>
            <a:endParaRPr lang="en-US" altLang="en-US" sz="1700"/>
          </a:p>
          <a:p>
            <a:r>
              <a:rPr lang="en-US" altLang="en-US" sz="1700">
                <a:sym typeface="+mn-ea"/>
              </a:rPr>
              <a:t>hbm2ddl.auto:</a:t>
            </a:r>
            <a:endParaRPr lang="en-US" altLang="en-US" sz="1700"/>
          </a:p>
          <a:p>
            <a:r>
              <a:rPr lang="en-US" altLang="en-US" sz="1700">
                <a:sym typeface="+mn-ea"/>
              </a:rPr>
              <a:t>This property in the configuration file controls how Hibernate manages the database schema. Setting it to create will automatically create the schema based on the mapping files, while other options like update will modify the schema if necessary. </a:t>
            </a:r>
            <a:endParaRPr lang="en-US" altLang="en-US" sz="1700"/>
          </a:p>
          <a:p>
            <a:r>
              <a:rPr lang="en-US" altLang="en-US" sz="1700">
                <a:sym typeface="+mn-ea"/>
              </a:rPr>
              <a:t>Example:</a:t>
            </a:r>
            <a:endParaRPr lang="en-US" altLang="en-US" sz="1700"/>
          </a:p>
          <a:p>
            <a:r>
              <a:rPr lang="en-US" altLang="en-US" sz="1700">
                <a:sym typeface="+mn-ea"/>
              </a:rPr>
              <a:t>To illustrate, consider a simple User class and a corresponding User.hbm.xml mapping file</a:t>
            </a:r>
            <a:endParaRPr lang="en-US" altLang="en-US" sz="1700"/>
          </a:p>
          <a:p>
            <a:endParaRPr lang="en-US" altLang="en-US" sz="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3990" y="105410"/>
            <a:ext cx="10515600" cy="365125"/>
          </a:xfrm>
        </p:spPr>
        <p:txBody>
          <a:bodyPr>
            <a:noAutofit/>
          </a:bodyPr>
          <a:p>
            <a:r>
              <a:rPr lang="en-US" altLang="en-US" sz="1800" b="1">
                <a:solidFill>
                  <a:srgbClr val="FF0000"/>
                </a:solidFill>
                <a:latin typeface="Cambria" panose="02040503050406030204" charset="0"/>
                <a:cs typeface="Cambria" panose="02040503050406030204" charset="0"/>
                <a:sym typeface="+mn-ea"/>
              </a:rPr>
              <a:t> What is pom.xml?</a:t>
            </a:r>
            <a:endParaRPr lang="en-US" altLang="en-US" sz="1800" b="1">
              <a:solidFill>
                <a:srgbClr val="FF0000"/>
              </a:solidFill>
              <a:latin typeface="Cambria" panose="02040503050406030204" charset="0"/>
              <a:cs typeface="Cambria" panose="02040503050406030204" charset="0"/>
              <a:sym typeface="+mn-ea"/>
            </a:endParaRPr>
          </a:p>
        </p:txBody>
      </p:sp>
      <p:sp>
        <p:nvSpPr>
          <p:cNvPr id="3" name="Content Placeholder 2"/>
          <p:cNvSpPr>
            <a:spLocks noGrp="1"/>
          </p:cNvSpPr>
          <p:nvPr>
            <p:ph idx="1"/>
          </p:nvPr>
        </p:nvSpPr>
        <p:spPr>
          <a:xfrm>
            <a:off x="173990" y="580390"/>
            <a:ext cx="4725670" cy="6122670"/>
          </a:xfrm>
        </p:spPr>
        <p:txBody>
          <a:bodyPr>
            <a:normAutofit/>
          </a:bodyPr>
          <a:p>
            <a:pPr marL="342900" indent="-342900">
              <a:buAutoNum type="arabicPeriod"/>
            </a:pPr>
            <a:r>
              <a:rPr lang="en-US" altLang="en-US" sz="1800"/>
              <a:t>The pom.xml file is the Project Object Model file. It defines:</a:t>
            </a:r>
            <a:endParaRPr lang="en-US" altLang="en-US" sz="1800"/>
          </a:p>
          <a:p>
            <a:pPr marL="342900" indent="-342900">
              <a:buAutoNum type="arabicPeriod"/>
            </a:pPr>
            <a:r>
              <a:rPr lang="en-US" altLang="en-US" sz="1800"/>
              <a:t>Project info (name, version, etc.)</a:t>
            </a:r>
            <a:endParaRPr lang="en-US" altLang="en-US" sz="1800"/>
          </a:p>
          <a:p>
            <a:pPr marL="342900" indent="-342900">
              <a:buAutoNum type="arabicPeriod"/>
            </a:pPr>
            <a:r>
              <a:rPr lang="en-US" altLang="en-US" sz="1800"/>
              <a:t>Dependencies (libraries your project needs)</a:t>
            </a:r>
            <a:endParaRPr lang="en-US" altLang="en-US" sz="1800"/>
          </a:p>
          <a:p>
            <a:pPr marL="342900" indent="-342900">
              <a:buAutoNum type="arabicPeriod"/>
            </a:pPr>
            <a:r>
              <a:rPr lang="en-US" altLang="en-US" sz="1800"/>
              <a:t>Plugins (tools like compilers, packaging tools)</a:t>
            </a:r>
            <a:endParaRPr lang="en-US" altLang="en-US" sz="1800"/>
          </a:p>
          <a:p>
            <a:pPr marL="342900" indent="-342900">
              <a:buAutoNum type="arabicPeriod"/>
            </a:pPr>
            <a:r>
              <a:rPr lang="en-US" altLang="en-US" sz="1800"/>
              <a:t>Build settings and goals</a:t>
            </a:r>
            <a:endParaRPr lang="en-US" altLang="en-US" sz="1800"/>
          </a:p>
          <a:p>
            <a:pPr marL="0" indent="0">
              <a:buNone/>
            </a:pPr>
            <a:endParaRPr lang="en-US" altLang="en-US" sz="1800"/>
          </a:p>
          <a:p>
            <a:r>
              <a:rPr lang="en-US" altLang="en-US" sz="1800" b="1">
                <a:solidFill>
                  <a:srgbClr val="FF0000"/>
                </a:solidFill>
              </a:rPr>
              <a:t>why USe Maven</a:t>
            </a:r>
            <a:endParaRPr lang="en-US" altLang="en-US" sz="1800"/>
          </a:p>
          <a:p>
            <a:pPr marL="342900" indent="-342900">
              <a:buAutoNum type="arabicPeriod"/>
            </a:pPr>
            <a:r>
              <a:rPr lang="en-US" altLang="en-US" sz="1800"/>
              <a:t>Automatically handles libraries/dependencies</a:t>
            </a:r>
            <a:endParaRPr lang="en-US" altLang="en-US" sz="1800"/>
          </a:p>
          <a:p>
            <a:pPr marL="342900" indent="-342900">
              <a:buAutoNum type="arabicPeriod"/>
            </a:pPr>
            <a:r>
              <a:rPr lang="en-US" altLang="en-US" sz="1800"/>
              <a:t> Enforces a standard project layout</a:t>
            </a:r>
            <a:endParaRPr lang="en-US" altLang="en-US" sz="1800"/>
          </a:p>
          <a:p>
            <a:pPr marL="342900" indent="-342900">
              <a:buAutoNum type="arabicPeriod"/>
            </a:pPr>
            <a:r>
              <a:rPr lang="en-US" altLang="en-US" sz="1800"/>
              <a:t> Easily integrates with IDE tools (like IntelliJ, Eclipse)</a:t>
            </a:r>
            <a:endParaRPr lang="en-US" altLang="en-US" sz="1800"/>
          </a:p>
          <a:p>
            <a:pPr marL="342900" indent="-342900">
              <a:buAutoNum type="arabicPeriod"/>
            </a:pPr>
            <a:r>
              <a:rPr lang="en-US" altLang="en-US" sz="1800"/>
              <a:t> Simplifies build, test, and deployment process</a:t>
            </a:r>
            <a:endParaRPr lang="en-US" altLang="en-US" sz="1800"/>
          </a:p>
          <a:p>
            <a:endParaRPr lang="en-US" altLang="en-US" sz="1800"/>
          </a:p>
          <a:p>
            <a:endParaRPr lang="en-US" altLang="en-US" sz="1800"/>
          </a:p>
        </p:txBody>
      </p:sp>
      <p:sp>
        <p:nvSpPr>
          <p:cNvPr id="4" name="Content Placeholder 2"/>
          <p:cNvSpPr>
            <a:spLocks noGrp="1"/>
          </p:cNvSpPr>
          <p:nvPr/>
        </p:nvSpPr>
        <p:spPr>
          <a:xfrm>
            <a:off x="5207000" y="374650"/>
            <a:ext cx="6840855" cy="63284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altLang="en-US" sz="1600"/>
              <a:t>&lt;project xmlns="http://maven.apache.org/POM/4.0.0" </a:t>
            </a:r>
            <a:endParaRPr lang="en-US" altLang="en-US" sz="1600"/>
          </a:p>
          <a:p>
            <a:pPr marL="0" indent="0" algn="l">
              <a:buNone/>
            </a:pPr>
            <a:r>
              <a:rPr lang="en-US" altLang="en-US" sz="1600"/>
              <a:t>         xmlns:xsi="http://www.w3.org/2001/XMLSchema-instance"</a:t>
            </a:r>
            <a:endParaRPr lang="en-US" altLang="en-US" sz="1600"/>
          </a:p>
          <a:p>
            <a:pPr marL="0" indent="0" algn="l">
              <a:buNone/>
            </a:pPr>
            <a:r>
              <a:rPr lang="en-US" altLang="en-US" sz="1600"/>
              <a:t>         xsi:schemaLocation="http://maven.apache.org/POM/4.0.0 </a:t>
            </a:r>
            <a:endParaRPr lang="en-US" altLang="en-US" sz="1600"/>
          </a:p>
          <a:p>
            <a:pPr marL="0" indent="0" algn="l">
              <a:buNone/>
            </a:pPr>
            <a:r>
              <a:rPr lang="en-US" altLang="en-US" sz="1600"/>
              <a:t>                             http://maven.apache.org/xsd/maven-4.0.0.xsd"&gt;</a:t>
            </a:r>
            <a:endParaRPr lang="en-US" altLang="en-US" sz="1600"/>
          </a:p>
          <a:p>
            <a:pPr marL="0" indent="0" algn="l">
              <a:buNone/>
            </a:pPr>
            <a:r>
              <a:rPr lang="en-US" altLang="en-US" sz="1600"/>
              <a:t>  &lt;modelVersion&gt;4.0.0&lt;/modelVersion&gt;</a:t>
            </a:r>
            <a:endParaRPr lang="en-US" altLang="en-US" sz="1600"/>
          </a:p>
          <a:p>
            <a:pPr marL="0" indent="0" algn="l">
              <a:buNone/>
            </a:pPr>
            <a:r>
              <a:rPr lang="en-US" altLang="en-US" sz="1600"/>
              <a:t>  &lt;groupId&gt;com.example&lt;/groupId&gt;</a:t>
            </a:r>
            <a:endParaRPr lang="en-US" altLang="en-US" sz="1600"/>
          </a:p>
          <a:p>
            <a:pPr marL="0" indent="0" algn="l">
              <a:buNone/>
            </a:pPr>
            <a:r>
              <a:rPr lang="en-US" altLang="en-US" sz="1600"/>
              <a:t>  &lt;artifactId&gt;myproject&lt;/artifactId&gt;</a:t>
            </a:r>
            <a:endParaRPr lang="en-US" altLang="en-US" sz="1600"/>
          </a:p>
          <a:p>
            <a:pPr marL="0" indent="0" algn="l">
              <a:buNone/>
            </a:pPr>
            <a:r>
              <a:rPr lang="en-US" altLang="en-US" sz="1600"/>
              <a:t>  &lt;version&gt;1.0-SNAPSHOT&lt;/version&gt;</a:t>
            </a:r>
            <a:endParaRPr lang="en-US" altLang="en-US" sz="1600"/>
          </a:p>
          <a:p>
            <a:pPr marL="0" indent="0" algn="l">
              <a:buNone/>
            </a:pPr>
            <a:r>
              <a:rPr lang="en-US" altLang="en-US" sz="1600"/>
              <a:t>  &lt;dependencies&gt;</a:t>
            </a:r>
            <a:endParaRPr lang="en-US" altLang="en-US" sz="1600"/>
          </a:p>
          <a:p>
            <a:pPr marL="0" indent="0" algn="l">
              <a:buNone/>
            </a:pPr>
            <a:r>
              <a:rPr lang="en-US" altLang="en-US" sz="1600"/>
              <a:t>    &lt;!-- Example: Add JUnit for testing --&gt;</a:t>
            </a:r>
            <a:endParaRPr lang="en-US" altLang="en-US" sz="1600"/>
          </a:p>
          <a:p>
            <a:pPr marL="0" indent="0" algn="l">
              <a:buNone/>
            </a:pPr>
            <a:r>
              <a:rPr lang="en-US" altLang="en-US" sz="1600"/>
              <a:t>    &lt;dependency&gt;</a:t>
            </a:r>
            <a:endParaRPr lang="en-US" altLang="en-US" sz="1600"/>
          </a:p>
          <a:p>
            <a:pPr marL="0" indent="0" algn="l">
              <a:buNone/>
            </a:pPr>
            <a:r>
              <a:rPr lang="en-US" altLang="en-US" sz="1600"/>
              <a:t>      &lt;groupId&gt;junit&lt;/groupId&gt;</a:t>
            </a:r>
            <a:endParaRPr lang="en-US" altLang="en-US" sz="1600"/>
          </a:p>
          <a:p>
            <a:pPr marL="0" indent="0" algn="l">
              <a:buNone/>
            </a:pPr>
            <a:r>
              <a:rPr lang="en-US" altLang="en-US" sz="1600"/>
              <a:t>      &lt;artifactId&gt;junit&lt;/artifactId&gt;</a:t>
            </a:r>
            <a:endParaRPr lang="en-US" altLang="en-US" sz="1600"/>
          </a:p>
          <a:p>
            <a:pPr marL="0" indent="0" algn="l">
              <a:buNone/>
            </a:pPr>
            <a:r>
              <a:rPr lang="en-US" altLang="en-US" sz="1600"/>
              <a:t>      &lt;version&gt;4.13.2&lt;/version&gt;</a:t>
            </a:r>
            <a:endParaRPr lang="en-US" altLang="en-US" sz="1600"/>
          </a:p>
          <a:p>
            <a:pPr marL="0" indent="0" algn="l">
              <a:buNone/>
            </a:pPr>
            <a:r>
              <a:rPr lang="en-US" altLang="en-US" sz="1600"/>
              <a:t>      &lt;scope&gt;test&lt;/scope&gt;</a:t>
            </a:r>
            <a:endParaRPr lang="en-US" altLang="en-US" sz="1600"/>
          </a:p>
          <a:p>
            <a:pPr marL="0" indent="0" algn="l">
              <a:buNone/>
            </a:pPr>
            <a:r>
              <a:rPr lang="en-US" altLang="en-US" sz="1600"/>
              <a:t>    &lt;/dependency&gt;</a:t>
            </a:r>
            <a:endParaRPr lang="en-US" altLang="en-US" sz="1600"/>
          </a:p>
          <a:p>
            <a:pPr marL="0" indent="0" algn="l">
              <a:buNone/>
            </a:pPr>
            <a:r>
              <a:rPr lang="en-US" altLang="en-US" sz="1600"/>
              <a:t>  &lt;/dependencies&gt;</a:t>
            </a:r>
            <a:endParaRPr lang="en-US" altLang="en-US" sz="1600"/>
          </a:p>
          <a:p>
            <a:pPr marL="0" indent="0" algn="l">
              <a:buNone/>
            </a:pPr>
            <a:r>
              <a:rPr lang="en-US" altLang="en-US" sz="1600"/>
              <a:t>&lt;/project&gt;</a:t>
            </a:r>
            <a:endParaRPr lang="en-US" altLang="en-US" sz="1600"/>
          </a:p>
          <a:p>
            <a:pPr marL="0" indent="0" algn="l">
              <a:buNone/>
            </a:pPr>
            <a:endParaRPr lang="en-US" altLang="en-US" sz="1600"/>
          </a:p>
        </p:txBody>
      </p:sp>
      <p:sp>
        <p:nvSpPr>
          <p:cNvPr id="5" name="Text Box 4"/>
          <p:cNvSpPr txBox="1"/>
          <p:nvPr/>
        </p:nvSpPr>
        <p:spPr>
          <a:xfrm>
            <a:off x="5401945" y="0"/>
            <a:ext cx="6096000" cy="374650"/>
          </a:xfrm>
          <a:prstGeom prst="rect">
            <a:avLst/>
          </a:prstGeom>
          <a:noFill/>
        </p:spPr>
        <p:txBody>
          <a:bodyPr wrap="square" rtlCol="0" anchor="t">
            <a:noAutofit/>
          </a:bodyPr>
          <a:p>
            <a:r>
              <a:rPr lang="en-US" sz="2000" b="1">
                <a:solidFill>
                  <a:srgbClr val="FF0000"/>
                </a:solidFill>
                <a:sym typeface="+mn-ea"/>
              </a:rPr>
              <a:t>pom.xml</a:t>
            </a:r>
            <a:endParaRPr lang="en-US" sz="2000" b="1">
              <a:solidFill>
                <a:srgbClr val="FF0000"/>
              </a:solidFill>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5415" y="105410"/>
            <a:ext cx="10515600" cy="360045"/>
          </a:xfrm>
        </p:spPr>
        <p:txBody>
          <a:bodyPr>
            <a:normAutofit fontScale="90000"/>
          </a:bodyPr>
          <a:p>
            <a:r>
              <a:rPr lang="en-US" sz="2400" b="1">
                <a:solidFill>
                  <a:srgbClr val="FF0000"/>
                </a:solidFill>
              </a:rPr>
              <a:t>what is Dependency/liabrary</a:t>
            </a:r>
            <a:endParaRPr lang="en-US" sz="2400" b="1">
              <a:solidFill>
                <a:srgbClr val="FF0000"/>
              </a:solidFill>
            </a:endParaRPr>
          </a:p>
        </p:txBody>
      </p:sp>
      <p:sp>
        <p:nvSpPr>
          <p:cNvPr id="3" name="Content Placeholder 2"/>
          <p:cNvSpPr>
            <a:spLocks noGrp="1"/>
          </p:cNvSpPr>
          <p:nvPr>
            <p:ph idx="1"/>
          </p:nvPr>
        </p:nvSpPr>
        <p:spPr>
          <a:xfrm>
            <a:off x="-635" y="465455"/>
            <a:ext cx="12061190" cy="6258560"/>
          </a:xfrm>
        </p:spPr>
        <p:txBody>
          <a:bodyPr>
            <a:noAutofit/>
          </a:bodyPr>
          <a:p>
            <a:pPr marL="0" indent="0">
              <a:buNone/>
            </a:pPr>
            <a:r>
              <a:rPr lang="en-US" altLang="en-US" sz="1800"/>
              <a:t>A dependency is an external library or module that your Java project relies on to function properly.</a:t>
            </a:r>
            <a:endParaRPr lang="en-US" altLang="en-US" sz="1800"/>
          </a:p>
          <a:p>
            <a:pPr marL="0" indent="0">
              <a:buNone/>
            </a:pPr>
            <a:r>
              <a:rPr lang="en-US" altLang="en-US" sz="1800"/>
              <a:t>It could be:</a:t>
            </a:r>
            <a:endParaRPr lang="en-US" altLang="en-US" sz="1800"/>
          </a:p>
          <a:p>
            <a:pPr marL="0" indent="0">
              <a:buNone/>
            </a:pPr>
            <a:r>
              <a:rPr lang="en-US" altLang="en-US" sz="1800"/>
              <a:t>A utility library (e.g., Apache Commons)    and A testing framework (e.g., JUnit) and A web framework (e.g., Spring) and  A JSON parser (e.g., Gson or Jackson)</a:t>
            </a:r>
            <a:endParaRPr lang="en-US" altLang="en-US" sz="1800"/>
          </a:p>
          <a:p>
            <a:pPr marL="0" indent="0">
              <a:buNone/>
            </a:pPr>
            <a:r>
              <a:rPr lang="en-US" altLang="en-US" sz="1800"/>
              <a:t>1. Reusability  : You don’t need to write everything from scratch. Just add a dependency and use prebuilt, tested code.</a:t>
            </a:r>
            <a:endParaRPr lang="en-US" altLang="en-US" sz="1800"/>
          </a:p>
          <a:p>
            <a:pPr marL="0" indent="0">
              <a:buNone/>
            </a:pPr>
            <a:r>
              <a:rPr lang="en-US" altLang="en-US" sz="1800"/>
              <a:t>Example: Use Gson to parse JSON instead of writing your own parser.</a:t>
            </a:r>
            <a:endParaRPr lang="en-US" altLang="en-US" sz="1800"/>
          </a:p>
          <a:p>
            <a:pPr marL="0" indent="0">
              <a:buNone/>
            </a:pPr>
            <a:r>
              <a:rPr lang="en-US" altLang="en-US" sz="1800"/>
              <a:t>2.  Saves Time  :  Quickly add powerful features by using ready-made libraries.</a:t>
            </a:r>
            <a:endParaRPr lang="en-US" altLang="en-US" sz="1800"/>
          </a:p>
          <a:p>
            <a:pPr marL="0" indent="0">
              <a:buNone/>
            </a:pPr>
            <a:r>
              <a:rPr lang="en-US" altLang="en-US" sz="1800"/>
              <a:t>3.  Standard Practice    :  Modern Java development depends on libraries. Maven or Gradle automates this process through dependencies.</a:t>
            </a:r>
            <a:endParaRPr lang="en-US" altLang="en-US" sz="1800"/>
          </a:p>
          <a:p>
            <a:pPr marL="0" indent="0">
              <a:buNone/>
            </a:pPr>
            <a:r>
              <a:rPr lang="en-US" altLang="en-US" sz="1800" b="1"/>
              <a:t>&lt;dependency&gt;</a:t>
            </a:r>
            <a:endParaRPr lang="en-US" altLang="en-US" sz="1800" b="1"/>
          </a:p>
          <a:p>
            <a:pPr marL="0" indent="0">
              <a:buNone/>
            </a:pPr>
            <a:r>
              <a:rPr lang="en-US" altLang="en-US" sz="1800" b="1"/>
              <a:t>  &lt;groupId&gt;com.google.code.gson&lt;/groupId&gt;</a:t>
            </a:r>
            <a:endParaRPr lang="en-US" altLang="en-US" sz="1800" b="1"/>
          </a:p>
          <a:p>
            <a:pPr marL="0" indent="0">
              <a:buNone/>
            </a:pPr>
            <a:r>
              <a:rPr lang="en-US" altLang="en-US" sz="1800" b="1"/>
              <a:t>  &lt;artifactId&gt;gson&lt;/artifactId&gt;</a:t>
            </a:r>
            <a:endParaRPr lang="en-US" altLang="en-US" sz="1800" b="1"/>
          </a:p>
          <a:p>
            <a:pPr marL="0" indent="0">
              <a:buNone/>
            </a:pPr>
            <a:r>
              <a:rPr lang="en-US" altLang="en-US" sz="1800" b="1"/>
              <a:t>  &lt;version&gt;2.10.1&lt;/version&gt;</a:t>
            </a:r>
            <a:endParaRPr lang="en-US" altLang="en-US" sz="1800" b="1"/>
          </a:p>
          <a:p>
            <a:pPr marL="0" indent="0">
              <a:buNone/>
            </a:pPr>
            <a:r>
              <a:rPr lang="en-US" altLang="en-US" sz="1800" b="1"/>
              <a:t>&lt;/dependency&gt;</a:t>
            </a:r>
            <a:endParaRPr lang="en-US" altLang="en-US" sz="1800"/>
          </a:p>
          <a:p>
            <a:pPr marL="0" indent="0">
              <a:buNone/>
            </a:pPr>
            <a:r>
              <a:rPr lang="en-US" altLang="en-US" sz="1800"/>
              <a:t>groupId: Organization or author (com.google.code.gson)</a:t>
            </a:r>
            <a:endParaRPr lang="en-US" altLang="en-US" sz="1800"/>
          </a:p>
          <a:p>
            <a:pPr marL="0" indent="0">
              <a:buNone/>
            </a:pPr>
            <a:r>
              <a:rPr lang="en-US" altLang="en-US" sz="1800"/>
              <a:t>artifactId: The name of the library (gson)</a:t>
            </a:r>
            <a:endParaRPr lang="en-US" altLang="en-US" sz="1800"/>
          </a:p>
          <a:p>
            <a:pPr marL="0" indent="0">
              <a:buNone/>
            </a:pPr>
            <a:r>
              <a:rPr lang="en-US" altLang="en-US" sz="1800"/>
              <a:t>version: Which version to use (2.10.1)</a:t>
            </a:r>
            <a:endParaRPr lang="en-US" altLang="en-US" sz="1800"/>
          </a:p>
        </p:txBody>
      </p:sp>
      <p:graphicFrame>
        <p:nvGraphicFramePr>
          <p:cNvPr id="4" name="Table 3"/>
          <p:cNvGraphicFramePr/>
          <p:nvPr>
            <p:custDataLst>
              <p:tags r:id="rId1"/>
            </p:custDataLst>
          </p:nvPr>
        </p:nvGraphicFramePr>
        <p:xfrm>
          <a:off x="5553075" y="3734435"/>
          <a:ext cx="6639560" cy="1802765"/>
        </p:xfrm>
        <a:graphic>
          <a:graphicData uri="http://schemas.openxmlformats.org/drawingml/2006/table">
            <a:tbl>
              <a:tblPr/>
              <a:tblGrid>
                <a:gridCol w="3319780"/>
                <a:gridCol w="3319780"/>
              </a:tblGrid>
              <a:tr h="339725">
                <a:tc>
                  <a:txBody>
                    <a:bodyPr/>
                    <a:p>
                      <a:pPr algn="l"/>
                      <a:r>
                        <a:rPr sz="1600" b="1">
                          <a:latin typeface="Cambria" panose="02040503050406030204" charset="0"/>
                          <a:cs typeface="Cambria" panose="02040503050406030204" charset="0"/>
                        </a:rPr>
                        <a:t>Concept</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1">
                          <a:latin typeface="Cambria" panose="02040503050406030204" charset="0"/>
                          <a:cs typeface="Cambria" panose="02040503050406030204" charset="0"/>
                        </a:rPr>
                        <a:t>Explanation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87680">
                <a:tc>
                  <a:txBody>
                    <a:bodyPr/>
                    <a:p>
                      <a:pPr algn="l"/>
                      <a:r>
                        <a:rPr sz="1600" b="1">
                          <a:latin typeface="Cambria" panose="02040503050406030204" charset="0"/>
                          <a:cs typeface="Cambria" panose="02040503050406030204" charset="0"/>
                        </a:rPr>
                        <a:t>Dependency</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1">
                          <a:latin typeface="Cambria" panose="02040503050406030204" charset="0"/>
                          <a:cs typeface="Cambria" panose="02040503050406030204" charset="0"/>
                        </a:rPr>
                        <a:t>External code/library your project uses</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87680">
                <a:tc>
                  <a:txBody>
                    <a:bodyPr/>
                    <a:p>
                      <a:pPr algn="l"/>
                      <a:r>
                        <a:rPr sz="1600" b="1">
                          <a:latin typeface="Cambria" panose="02040503050406030204" charset="0"/>
                          <a:cs typeface="Cambria" panose="02040503050406030204" charset="0"/>
                        </a:rPr>
                        <a:t>Purpose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1">
                          <a:latin typeface="Cambria" panose="02040503050406030204" charset="0"/>
                          <a:cs typeface="Cambria" panose="02040503050406030204" charset="0"/>
                        </a:rPr>
                        <a:t>Add features, save time, avoid writing boilerplate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487680">
                <a:tc>
                  <a:txBody>
                    <a:bodyPr/>
                    <a:p>
                      <a:pPr algn="l"/>
                      <a:r>
                        <a:rPr sz="1600" b="1">
                          <a:latin typeface="Cambria" panose="02040503050406030204" charset="0"/>
                          <a:cs typeface="Cambria" panose="02040503050406030204" charset="0"/>
                        </a:rPr>
                        <a:t>Used in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1">
                          <a:latin typeface="Cambria" panose="02040503050406030204" charset="0"/>
                          <a:cs typeface="Cambria" panose="02040503050406030204" charset="0"/>
                        </a:rPr>
                        <a:t>pom.xml (Maven), build.gradle (Gradle)</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5824855" y="5900420"/>
            <a:ext cx="6096000" cy="368300"/>
          </a:xfrm>
          <a:prstGeom prst="rect">
            <a:avLst/>
          </a:prstGeom>
          <a:noFill/>
        </p:spPr>
        <p:txBody>
          <a:bodyPr wrap="square" rtlCol="0" anchor="t">
            <a:spAutoFit/>
          </a:bodyPr>
          <a:p>
            <a:r>
              <a:rPr lang="en-US" altLang="en-US" b="1">
                <a:sym typeface="+mn-ea"/>
                <a:hlinkClick r:id="rId2" action="ppaction://hlinkfile">
                  <a:extLst>
                    <a:ext uri="{DAF060AB-1E55-43B9-8AAB-6FB025537F2F}">
                      <wpsdc:hlinkClr xmlns:wpsdc="http://www.wps.cn/officeDocument/2017/drawingmlCustomData" val="0563C1"/>
                      <wpsdc:folHlinkClr xmlns:wpsdc="http://www.wps.cn/officeDocument/2017/drawingmlCustomData" val="954F72"/>
                      <wpsdc:hlinkUnderline xmlns:wpsdc="http://www.wps.cn/officeDocument/2017/drawingmlCustomData" val="1"/>
                    </a:ext>
                  </a:extLst>
                </a:hlinkClick>
              </a:rPr>
              <a:t>https://mvnrepository.com/</a:t>
            </a:r>
            <a:endParaRPr lang="en-US" altLang="en-US" b="1">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473710"/>
          </a:xfrm>
        </p:spPr>
        <p:txBody>
          <a:bodyPr>
            <a:noAutofit/>
          </a:bodyPr>
          <a:p>
            <a:pPr algn="ctr"/>
            <a:r>
              <a:rPr lang="en-US" sz="2400" b="1">
                <a:solidFill>
                  <a:srgbClr val="FF0000"/>
                </a:solidFill>
              </a:rPr>
              <a:t>Imp Project Dependencies</a:t>
            </a:r>
            <a:endParaRPr lang="en-US" sz="2400" b="1">
              <a:solidFill>
                <a:srgbClr val="FF0000"/>
              </a:solidFill>
            </a:endParaRPr>
          </a:p>
        </p:txBody>
      </p:sp>
      <p:sp>
        <p:nvSpPr>
          <p:cNvPr id="3" name="Content Placeholder 2"/>
          <p:cNvSpPr>
            <a:spLocks noGrp="1"/>
          </p:cNvSpPr>
          <p:nvPr>
            <p:ph idx="1"/>
          </p:nvPr>
        </p:nvSpPr>
        <p:spPr>
          <a:xfrm>
            <a:off x="167640" y="719455"/>
            <a:ext cx="11186160" cy="6138545"/>
          </a:xfrm>
        </p:spPr>
        <p:txBody>
          <a:bodyPr>
            <a:noAutofit/>
          </a:bodyPr>
          <a:p>
            <a:pPr marL="0" indent="0">
              <a:buNone/>
            </a:pPr>
            <a:r>
              <a:rPr lang="en-US" altLang="en-US" sz="1800"/>
              <a:t>        &lt;dependency&gt;</a:t>
            </a:r>
            <a:endParaRPr lang="en-US" altLang="en-US" sz="1800"/>
          </a:p>
          <a:p>
            <a:pPr marL="0" indent="0">
              <a:buNone/>
            </a:pPr>
            <a:r>
              <a:rPr lang="en-US" altLang="en-US" sz="1800"/>
              <a:t>            &lt;groupId&gt;org.hibernate&lt;/groupId&gt;</a:t>
            </a:r>
            <a:endParaRPr lang="en-US" altLang="en-US" sz="1800"/>
          </a:p>
          <a:p>
            <a:pPr marL="0" indent="0">
              <a:buNone/>
            </a:pPr>
            <a:r>
              <a:rPr lang="en-US" altLang="en-US" sz="1800"/>
              <a:t>            &lt;artifactId&gt;hibernate-core&lt;/artifactId&gt;    </a:t>
            </a:r>
            <a:endParaRPr lang="en-US" altLang="en-US" sz="1800"/>
          </a:p>
          <a:p>
            <a:pPr marL="0" indent="0">
              <a:buNone/>
            </a:pPr>
            <a:r>
              <a:rPr lang="en-US" altLang="en-US" sz="1800"/>
              <a:t>            &lt;version&gt;5.6.15.Final&lt;/version&gt;</a:t>
            </a:r>
            <a:endParaRPr lang="en-US" altLang="en-US" sz="1800"/>
          </a:p>
          <a:p>
            <a:pPr marL="0" indent="0">
              <a:buNone/>
            </a:pPr>
            <a:r>
              <a:rPr lang="en-US" altLang="en-US" sz="1800"/>
              <a:t>        &lt;/dependency&gt;</a:t>
            </a:r>
            <a:endParaRPr lang="en-US" altLang="en-US" sz="1800"/>
          </a:p>
          <a:p>
            <a:pPr marL="0" indent="0">
              <a:buNone/>
            </a:pPr>
            <a:endParaRPr lang="en-US" altLang="en-US" sz="1800"/>
          </a:p>
          <a:p>
            <a:pPr marL="0" indent="0">
              <a:buNone/>
            </a:pPr>
            <a:endParaRPr lang="en-US" altLang="en-US" sz="1800"/>
          </a:p>
          <a:p>
            <a:pPr marL="0" indent="0">
              <a:buNone/>
            </a:pPr>
            <a:r>
              <a:rPr lang="en-US" altLang="en-US" sz="1800"/>
              <a:t>        &lt;dependency&gt;</a:t>
            </a:r>
            <a:endParaRPr lang="en-US" altLang="en-US" sz="1800"/>
          </a:p>
          <a:p>
            <a:pPr marL="0" indent="0">
              <a:buNone/>
            </a:pPr>
            <a:r>
              <a:rPr lang="en-US" altLang="en-US" sz="1800"/>
              <a:t>            &lt;groupId&gt;mysql&lt;/groupId&gt;</a:t>
            </a:r>
            <a:endParaRPr lang="en-US" altLang="en-US" sz="1800"/>
          </a:p>
          <a:p>
            <a:pPr marL="0" indent="0">
              <a:buNone/>
            </a:pPr>
            <a:r>
              <a:rPr lang="en-US" altLang="en-US" sz="1800"/>
              <a:t>            &lt;artifactId&gt;mysql-connector-java&lt;/artifactId&gt;</a:t>
            </a:r>
            <a:endParaRPr lang="en-US" altLang="en-US" sz="1800"/>
          </a:p>
          <a:p>
            <a:pPr marL="0" indent="0">
              <a:buNone/>
            </a:pPr>
            <a:r>
              <a:rPr lang="en-US" altLang="en-US" sz="1800"/>
              <a:t>            &lt;version&gt;8.0.33&lt;/version&gt;</a:t>
            </a:r>
            <a:endParaRPr lang="en-US" altLang="en-US" sz="1800"/>
          </a:p>
          <a:p>
            <a:pPr marL="0" indent="0">
              <a:buNone/>
            </a:pPr>
            <a:r>
              <a:rPr lang="en-US" altLang="en-US" sz="1800"/>
              <a:t>        &lt;/dependency&gt;</a:t>
            </a:r>
            <a:endParaRPr lang="en-US" altLang="en-US" sz="1800"/>
          </a:p>
          <a:p>
            <a:pPr marL="0" indent="0">
              <a:buNone/>
            </a:pPr>
            <a:endParaRPr lang="en-US" altLang="en-US" sz="1800"/>
          </a:p>
        </p:txBody>
      </p:sp>
      <p:sp>
        <p:nvSpPr>
          <p:cNvPr id="4" name="Text Box 3"/>
          <p:cNvSpPr txBox="1"/>
          <p:nvPr/>
        </p:nvSpPr>
        <p:spPr>
          <a:xfrm>
            <a:off x="5798820" y="3429000"/>
            <a:ext cx="6096000" cy="1651000"/>
          </a:xfrm>
          <a:prstGeom prst="rect">
            <a:avLst/>
          </a:prstGeom>
          <a:noFill/>
        </p:spPr>
        <p:txBody>
          <a:bodyPr wrap="square" rtlCol="0" anchor="t">
            <a:noAutofit/>
          </a:bodyPr>
          <a:p>
            <a:pPr marL="0" indent="0" algn="l">
              <a:buNone/>
            </a:pPr>
            <a:r>
              <a:rPr lang="en-US" altLang="en-US" sz="2000">
                <a:sym typeface="+mn-ea"/>
              </a:rPr>
              <a:t>&lt;dependency&gt;</a:t>
            </a:r>
            <a:endParaRPr lang="en-US" altLang="en-US" sz="2000"/>
          </a:p>
          <a:p>
            <a:pPr marL="0" indent="0" algn="l">
              <a:buNone/>
            </a:pPr>
            <a:r>
              <a:rPr lang="en-US" altLang="en-US" sz="2000">
                <a:sym typeface="+mn-ea"/>
              </a:rPr>
              <a:t>    &lt;groupId&gt;org.jboss.logging&lt;/groupId&gt;</a:t>
            </a:r>
            <a:endParaRPr lang="en-US" altLang="en-US" sz="2000"/>
          </a:p>
          <a:p>
            <a:pPr marL="0" indent="0" algn="l">
              <a:buNone/>
            </a:pPr>
            <a:r>
              <a:rPr lang="en-US" altLang="en-US" sz="2000">
                <a:sym typeface="+mn-ea"/>
              </a:rPr>
              <a:t>    &lt;artifactId&gt;jboss-logging&lt;/artifactId&gt;</a:t>
            </a:r>
            <a:endParaRPr lang="en-US" altLang="en-US" sz="2000"/>
          </a:p>
          <a:p>
            <a:pPr marL="0" indent="0" algn="l">
              <a:buNone/>
            </a:pPr>
            <a:r>
              <a:rPr lang="en-US" altLang="en-US" sz="2000">
                <a:sym typeface="+mn-ea"/>
              </a:rPr>
              <a:t>    &lt;version&gt;3.6.1.Final&lt;/version&gt;</a:t>
            </a:r>
            <a:endParaRPr lang="en-US" altLang="en-US" sz="2000"/>
          </a:p>
          <a:p>
            <a:pPr marL="0" indent="0" algn="l">
              <a:buNone/>
            </a:pPr>
            <a:r>
              <a:rPr lang="en-US" altLang="en-US" sz="2000">
                <a:sym typeface="+mn-ea"/>
              </a:rPr>
              <a:t>&lt;/dependency&gt;</a:t>
            </a:r>
            <a:endParaRPr lang="en-US" altLang="en-US" sz="2000"/>
          </a:p>
          <a:p>
            <a:pPr marL="0" indent="0" algn="l">
              <a:buNone/>
            </a:pPr>
            <a:endParaRPr lang="en-US" altLang="en-US" sz="2000"/>
          </a:p>
        </p:txBody>
      </p:sp>
      <p:sp>
        <p:nvSpPr>
          <p:cNvPr id="5" name="Text Box 4"/>
          <p:cNvSpPr txBox="1"/>
          <p:nvPr/>
        </p:nvSpPr>
        <p:spPr>
          <a:xfrm>
            <a:off x="5977255" y="719455"/>
            <a:ext cx="5658485" cy="1614170"/>
          </a:xfrm>
          <a:prstGeom prst="rect">
            <a:avLst/>
          </a:prstGeom>
          <a:noFill/>
        </p:spPr>
        <p:txBody>
          <a:bodyPr wrap="square" rtlCol="0" anchor="t">
            <a:noAutofit/>
          </a:bodyPr>
          <a:p>
            <a:pPr marL="0" indent="0">
              <a:buNone/>
            </a:pPr>
            <a:r>
              <a:rPr lang="en-US" altLang="en-US">
                <a:sym typeface="+mn-ea"/>
              </a:rPr>
              <a:t>&lt;dependency&gt;</a:t>
            </a:r>
            <a:endParaRPr lang="en-US" altLang="en-US"/>
          </a:p>
          <a:p>
            <a:pPr marL="0" indent="0">
              <a:buNone/>
            </a:pPr>
            <a:r>
              <a:rPr lang="en-US" altLang="en-US">
                <a:sym typeface="+mn-ea"/>
              </a:rPr>
              <a:t>    &lt;groupId&gt;jakarta.persistence&lt;/groupId&gt;</a:t>
            </a:r>
            <a:endParaRPr lang="en-US" altLang="en-US"/>
          </a:p>
          <a:p>
            <a:pPr marL="0" indent="0">
              <a:buNone/>
            </a:pPr>
            <a:r>
              <a:rPr lang="en-US" altLang="en-US">
                <a:sym typeface="+mn-ea"/>
              </a:rPr>
              <a:t>    &lt;artifactId&gt;jakarta.persistence-api&lt;/artifactId&gt;</a:t>
            </a:r>
            <a:endParaRPr lang="en-US" altLang="en-US"/>
          </a:p>
          <a:p>
            <a:pPr marL="0" indent="0">
              <a:buNone/>
            </a:pPr>
            <a:r>
              <a:rPr lang="en-US" altLang="en-US">
                <a:sym typeface="+mn-ea"/>
              </a:rPr>
              <a:t>    &lt;version&gt;3.1.0&lt;/version&gt;</a:t>
            </a:r>
            <a:endParaRPr lang="en-US" altLang="en-US"/>
          </a:p>
          <a:p>
            <a:pPr marL="0" indent="0">
              <a:buNone/>
            </a:pPr>
            <a:r>
              <a:rPr lang="en-US" altLang="en-US">
                <a:sym typeface="+mn-ea"/>
              </a:rPr>
              <a:t>&lt;/dependency&gt;</a:t>
            </a:r>
            <a:endParaRPr lang="en-US" altLang="en-US"/>
          </a:p>
          <a:p>
            <a:pPr marL="0" indent="0">
              <a:buNone/>
            </a:pP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28600" y="294005"/>
            <a:ext cx="10515600" cy="6180455"/>
          </a:xfrm>
        </p:spPr>
        <p:txBody>
          <a:bodyPr/>
          <a:p>
            <a:pPr marL="0" indent="0">
              <a:lnSpc>
                <a:spcPct val="100000"/>
              </a:lnSpc>
              <a:spcBef>
                <a:spcPts val="1225"/>
              </a:spcBef>
              <a:buNone/>
            </a:pPr>
            <a:r>
              <a:rPr sz="1600" b="1" spc="-10" dirty="0">
                <a:solidFill>
                  <a:srgbClr val="BF0000"/>
                </a:solidFill>
                <a:latin typeface="Gadugi" panose="020B0502040204020203"/>
                <a:cs typeface="Gadugi" panose="020B0502040204020203"/>
                <a:sym typeface="+mn-ea"/>
              </a:rPr>
              <a:t>CASCADE</a:t>
            </a:r>
            <a:endParaRPr sz="1600">
              <a:latin typeface="Gadugi" panose="020B0502040204020203"/>
              <a:cs typeface="Gadugi" panose="020B0502040204020203"/>
            </a:endParaRPr>
          </a:p>
          <a:p>
            <a:pPr marL="342900" marR="719455" indent="-342900">
              <a:lnSpc>
                <a:spcPct val="150000"/>
              </a:lnSpc>
              <a:spcBef>
                <a:spcPts val="595"/>
              </a:spcBef>
              <a:buAutoNum type="arabicPeriod"/>
              <a:tabLst>
                <a:tab pos="318135" algn="l"/>
              </a:tabLst>
            </a:pPr>
            <a:r>
              <a:rPr sz="1600" b="1" dirty="0">
                <a:latin typeface="Gadugi" panose="020B0502040204020203"/>
                <a:cs typeface="Gadugi" panose="020B0502040204020203"/>
                <a:sym typeface="+mn-ea"/>
              </a:rPr>
              <a:t>CASCADE:</a:t>
            </a:r>
            <a:r>
              <a:rPr sz="1600" b="1"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It</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is</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20"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feature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provided</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by</a:t>
            </a:r>
            <a:r>
              <a:rPr sz="1600" spc="-5"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hibernate </a:t>
            </a:r>
            <a:r>
              <a:rPr sz="1600" dirty="0">
                <a:latin typeface="Gadugi" panose="020B0502040204020203"/>
                <a:cs typeface="Gadugi" panose="020B0502040204020203"/>
                <a:sym typeface="+mn-ea"/>
              </a:rPr>
              <a:t>to</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automatically</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manage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state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of</a:t>
            </a:r>
            <a:r>
              <a:rPr sz="1600" spc="-30"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mapped entity(non-</a:t>
            </a:r>
            <a:r>
              <a:rPr sz="1600" dirty="0">
                <a:latin typeface="Gadugi" panose="020B0502040204020203"/>
                <a:cs typeface="Gadugi" panose="020B0502040204020203"/>
                <a:sym typeface="+mn-ea"/>
              </a:rPr>
              <a:t>owning</a:t>
            </a:r>
            <a:r>
              <a:rPr sz="1600" spc="5" dirty="0">
                <a:latin typeface="Gadugi" panose="020B0502040204020203"/>
                <a:cs typeface="Gadugi" panose="020B0502040204020203"/>
                <a:sym typeface="+mn-ea"/>
              </a:rPr>
              <a:t> </a:t>
            </a:r>
            <a:r>
              <a:rPr sz="1600" dirty="0">
                <a:latin typeface="Gadugi" panose="020B0502040204020203"/>
                <a:cs typeface="Gadugi" panose="020B0502040204020203"/>
                <a:sym typeface="+mn-ea"/>
              </a:rPr>
              <a:t>side)</a:t>
            </a:r>
            <a:r>
              <a:rPr sz="1600" spc="-15"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,whenever </a:t>
            </a:r>
            <a:r>
              <a:rPr sz="1600" dirty="0">
                <a:latin typeface="Gadugi" panose="020B0502040204020203"/>
                <a:cs typeface="Gadugi" panose="020B0502040204020203"/>
                <a:sym typeface="+mn-ea"/>
              </a:rPr>
              <a:t>the</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state</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of</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owner</a:t>
            </a:r>
            <a:r>
              <a:rPr sz="1600" spc="-10" dirty="0">
                <a:latin typeface="Gadugi" panose="020B0502040204020203"/>
                <a:cs typeface="Gadugi" panose="020B0502040204020203"/>
                <a:sym typeface="+mn-ea"/>
              </a:rPr>
              <a:t> entity(owning</a:t>
            </a:r>
            <a:r>
              <a:rPr sz="1600" dirty="0">
                <a:latin typeface="Gadugi" panose="020B0502040204020203"/>
                <a:cs typeface="Gadugi" panose="020B0502040204020203"/>
                <a:sym typeface="+mn-ea"/>
              </a:rPr>
              <a:t> side)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is</a:t>
            </a:r>
            <a:r>
              <a:rPr sz="1600" spc="-5"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affected.</a:t>
            </a:r>
            <a:endParaRPr sz="1600">
              <a:latin typeface="Gadugi" panose="020B0502040204020203"/>
              <a:cs typeface="Gadugi" panose="020B0502040204020203"/>
            </a:endParaRPr>
          </a:p>
          <a:p>
            <a:pPr marL="0" marR="505460" indent="0">
              <a:lnSpc>
                <a:spcPct val="150000"/>
              </a:lnSpc>
              <a:buNone/>
              <a:tabLst>
                <a:tab pos="318135" algn="l"/>
              </a:tabLst>
            </a:pPr>
            <a:r>
              <a:rPr sz="1600" dirty="0">
                <a:latin typeface="Gadugi" panose="020B0502040204020203"/>
                <a:cs typeface="Gadugi" panose="020B0502040204020203"/>
                <a:sym typeface="+mn-ea"/>
              </a:rPr>
              <a:t>In</a:t>
            </a:r>
            <a:r>
              <a:rPr sz="1600" spc="-50" dirty="0">
                <a:latin typeface="Gadugi" panose="020B0502040204020203"/>
                <a:cs typeface="Gadugi" panose="020B0502040204020203"/>
                <a:sym typeface="+mn-ea"/>
              </a:rPr>
              <a:t> </a:t>
            </a:r>
            <a:r>
              <a:rPr sz="1600" dirty="0">
                <a:latin typeface="Gadugi" panose="020B0502040204020203"/>
                <a:cs typeface="Gadugi" panose="020B0502040204020203"/>
                <a:sym typeface="+mn-ea"/>
              </a:rPr>
              <a:t>other</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words,</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whatever</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modifications</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like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persist,</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merge,</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delete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is</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done</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at</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owning</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side</a:t>
            </a:r>
            <a:r>
              <a:rPr sz="1600" spc="-45" dirty="0">
                <a:latin typeface="Gadugi" panose="020B0502040204020203"/>
                <a:cs typeface="Gadugi" panose="020B0502040204020203"/>
                <a:sym typeface="+mn-ea"/>
              </a:rPr>
              <a:t> </a:t>
            </a:r>
            <a:r>
              <a:rPr sz="1600" dirty="0">
                <a:latin typeface="Gadugi" panose="020B0502040204020203"/>
                <a:cs typeface="Gadugi" panose="020B0502040204020203"/>
                <a:sym typeface="+mn-ea"/>
              </a:rPr>
              <a:t>will</a:t>
            </a:r>
            <a:r>
              <a:rPr sz="1600" spc="-10" dirty="0">
                <a:latin typeface="Gadugi" panose="020B0502040204020203"/>
                <a:cs typeface="Gadugi" panose="020B0502040204020203"/>
                <a:sym typeface="+mn-ea"/>
              </a:rPr>
              <a:t> </a:t>
            </a:r>
            <a:r>
              <a:rPr sz="1600" spc="-25" dirty="0">
                <a:latin typeface="Gadugi" panose="020B0502040204020203"/>
                <a:cs typeface="Gadugi" panose="020B0502040204020203"/>
                <a:sym typeface="+mn-ea"/>
              </a:rPr>
              <a:t>get </a:t>
            </a:r>
            <a:r>
              <a:rPr sz="1600" dirty="0">
                <a:latin typeface="Gadugi" panose="020B0502040204020203"/>
                <a:cs typeface="Gadugi" panose="020B0502040204020203"/>
                <a:sym typeface="+mn-ea"/>
              </a:rPr>
              <a:t>affected</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to</a:t>
            </a:r>
            <a:r>
              <a:rPr sz="1600" spc="-35"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non-</a:t>
            </a:r>
            <a:r>
              <a:rPr sz="1600" dirty="0">
                <a:latin typeface="Gadugi" panose="020B0502040204020203"/>
                <a:cs typeface="Gadugi" panose="020B0502040204020203"/>
                <a:sym typeface="+mn-ea"/>
              </a:rPr>
              <a:t>owning</a:t>
            </a:r>
            <a:r>
              <a:rPr sz="1600" spc="-30" dirty="0">
                <a:latin typeface="Gadugi" panose="020B0502040204020203"/>
                <a:cs typeface="Gadugi" panose="020B0502040204020203"/>
                <a:sym typeface="+mn-ea"/>
              </a:rPr>
              <a:t> </a:t>
            </a:r>
            <a:r>
              <a:rPr sz="1600" spc="-20" dirty="0">
                <a:latin typeface="Gadugi" panose="020B0502040204020203"/>
                <a:cs typeface="Gadugi" panose="020B0502040204020203"/>
                <a:sym typeface="+mn-ea"/>
              </a:rPr>
              <a:t>side.</a:t>
            </a:r>
            <a:endParaRPr sz="1600">
              <a:latin typeface="Gadugi" panose="020B0502040204020203"/>
              <a:cs typeface="Gadugi" panose="020B0502040204020203"/>
            </a:endParaRPr>
          </a:p>
          <a:p>
            <a:pPr marL="0" indent="0">
              <a:lnSpc>
                <a:spcPct val="100000"/>
              </a:lnSpc>
              <a:spcBef>
                <a:spcPts val="545"/>
              </a:spcBef>
              <a:buNone/>
              <a:tabLst>
                <a:tab pos="318135" algn="l"/>
              </a:tabLst>
            </a:pPr>
            <a:r>
              <a:rPr sz="1600" dirty="0">
                <a:latin typeface="Gadugi" panose="020B0502040204020203"/>
                <a:cs typeface="Gadugi" panose="020B0502040204020203"/>
                <a:sym typeface="+mn-ea"/>
              </a:rPr>
              <a:t>Cascading</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is</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done</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only</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at</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owning</a:t>
            </a:r>
            <a:r>
              <a:rPr sz="1600" spc="-30" dirty="0">
                <a:latin typeface="Gadugi" panose="020B0502040204020203"/>
                <a:cs typeface="Gadugi" panose="020B0502040204020203"/>
                <a:sym typeface="+mn-ea"/>
              </a:rPr>
              <a:t> </a:t>
            </a:r>
            <a:r>
              <a:rPr sz="1600" spc="-20" dirty="0">
                <a:latin typeface="Gadugi" panose="020B0502040204020203"/>
                <a:cs typeface="Gadugi" panose="020B0502040204020203"/>
                <a:sym typeface="+mn-ea"/>
              </a:rPr>
              <a:t>side.</a:t>
            </a:r>
            <a:endParaRPr sz="1600">
              <a:latin typeface="Gadugi" panose="020B0502040204020203"/>
              <a:cs typeface="Gadugi" panose="020B0502040204020203"/>
            </a:endParaRPr>
          </a:p>
          <a:p>
            <a:pPr marL="0" indent="0">
              <a:lnSpc>
                <a:spcPct val="100000"/>
              </a:lnSpc>
              <a:spcBef>
                <a:spcPts val="535"/>
              </a:spcBef>
              <a:buNone/>
              <a:tabLst>
                <a:tab pos="318135" algn="l"/>
              </a:tabLst>
            </a:pPr>
            <a:r>
              <a:rPr sz="1600" spc="-50" dirty="0">
                <a:latin typeface="Gadugi" panose="020B0502040204020203"/>
                <a:cs typeface="Gadugi" panose="020B0502040204020203"/>
                <a:sym typeface="+mn-ea"/>
              </a:rPr>
              <a:t>To</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achieve</a:t>
            </a:r>
            <a:r>
              <a:rPr sz="1600" spc="-50" dirty="0">
                <a:latin typeface="Gadugi" panose="020B0502040204020203"/>
                <a:cs typeface="Gadugi" panose="020B0502040204020203"/>
                <a:sym typeface="+mn-ea"/>
              </a:rPr>
              <a:t> </a:t>
            </a:r>
            <a:r>
              <a:rPr sz="1600" dirty="0">
                <a:latin typeface="Gadugi" panose="020B0502040204020203"/>
                <a:cs typeface="Gadugi" panose="020B0502040204020203"/>
                <a:sym typeface="+mn-ea"/>
              </a:rPr>
              <a:t>cascading</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there</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are</a:t>
            </a:r>
            <a:r>
              <a:rPr sz="1600" spc="-40" dirty="0">
                <a:latin typeface="Gadugi" panose="020B0502040204020203"/>
                <a:cs typeface="Gadugi" panose="020B0502040204020203"/>
                <a:sym typeface="+mn-ea"/>
              </a:rPr>
              <a:t> </a:t>
            </a:r>
            <a:r>
              <a:rPr sz="1600" dirty="0">
                <a:latin typeface="Gadugi" panose="020B0502040204020203"/>
                <a:cs typeface="Gadugi" panose="020B0502040204020203"/>
                <a:sym typeface="+mn-ea"/>
              </a:rPr>
              <a:t>some</a:t>
            </a:r>
            <a:r>
              <a:rPr sz="1600" spc="-40" dirty="0">
                <a:latin typeface="Gadugi" panose="020B0502040204020203"/>
                <a:cs typeface="Gadugi" panose="020B0502040204020203"/>
                <a:sym typeface="+mn-ea"/>
              </a:rPr>
              <a:t> </a:t>
            </a:r>
            <a:r>
              <a:rPr sz="1600" dirty="0">
                <a:latin typeface="Gadugi" panose="020B0502040204020203"/>
                <a:cs typeface="Gadugi" panose="020B0502040204020203"/>
                <a:sym typeface="+mn-ea"/>
              </a:rPr>
              <a:t>cascade</a:t>
            </a:r>
            <a:r>
              <a:rPr sz="1600" spc="-45"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types:</a:t>
            </a:r>
            <a:endParaRPr sz="1600">
              <a:latin typeface="Gadugi" panose="020B0502040204020203"/>
              <a:cs typeface="Gadugi" panose="020B0502040204020203"/>
            </a:endParaRPr>
          </a:p>
          <a:p>
            <a:pPr marL="342900" marR="367665" indent="-342900">
              <a:lnSpc>
                <a:spcPct val="150000"/>
              </a:lnSpc>
              <a:spcBef>
                <a:spcPts val="5"/>
              </a:spcBef>
              <a:buAutoNum type="arabicPeriod"/>
              <a:tabLst>
                <a:tab pos="347345" algn="l"/>
              </a:tabLst>
            </a:pPr>
            <a:r>
              <a:rPr sz="1600" b="1" spc="-10" dirty="0">
                <a:latin typeface="Gadugi" panose="020B0502040204020203"/>
                <a:cs typeface="Gadugi" panose="020B0502040204020203"/>
                <a:sym typeface="+mn-ea"/>
              </a:rPr>
              <a:t>CascadeType.PERSIST:</a:t>
            </a:r>
            <a:r>
              <a:rPr sz="1600" b="1" spc="180" dirty="0">
                <a:latin typeface="Gadugi" panose="020B0502040204020203"/>
                <a:cs typeface="Gadugi" panose="020B0502040204020203"/>
                <a:sym typeface="+mn-ea"/>
              </a:rPr>
              <a:t> </a:t>
            </a:r>
            <a:r>
              <a:rPr sz="1600" dirty="0">
                <a:latin typeface="Gadugi" panose="020B0502040204020203"/>
                <a:cs typeface="Gadugi" panose="020B0502040204020203"/>
                <a:sym typeface="+mn-ea"/>
              </a:rPr>
              <a:t>Whenever</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programmer</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saves</a:t>
            </a:r>
            <a:r>
              <a:rPr sz="1600" spc="-4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owning</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side,</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automatically</a:t>
            </a:r>
            <a:r>
              <a:rPr sz="1600" spc="-10" dirty="0">
                <a:latin typeface="Gadugi" panose="020B0502040204020203"/>
                <a:cs typeface="Gadugi" panose="020B0502040204020203"/>
                <a:sym typeface="+mn-ea"/>
              </a:rPr>
              <a:t> non-owning </a:t>
            </a:r>
            <a:r>
              <a:rPr sz="1600" dirty="0">
                <a:latin typeface="Gadugi" panose="020B0502040204020203"/>
                <a:cs typeface="Gadugi" panose="020B0502040204020203"/>
                <a:sym typeface="+mn-ea"/>
              </a:rPr>
              <a:t>side</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will</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also</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be</a:t>
            </a:r>
            <a:r>
              <a:rPr sz="1600" spc="-10" dirty="0">
                <a:latin typeface="Gadugi" panose="020B0502040204020203"/>
                <a:cs typeface="Gadugi" panose="020B0502040204020203"/>
                <a:sym typeface="+mn-ea"/>
              </a:rPr>
              <a:t> saved.</a:t>
            </a:r>
            <a:endParaRPr sz="1600">
              <a:latin typeface="Gadugi" panose="020B0502040204020203"/>
              <a:cs typeface="Gadugi" panose="020B0502040204020203"/>
            </a:endParaRPr>
          </a:p>
          <a:p>
            <a:pPr marL="342900" marR="222250" indent="-342900">
              <a:lnSpc>
                <a:spcPct val="150000"/>
              </a:lnSpc>
              <a:buAutoNum type="arabicPeriod"/>
              <a:tabLst>
                <a:tab pos="347345" algn="l"/>
              </a:tabLst>
            </a:pPr>
            <a:r>
              <a:rPr sz="1600" b="1" spc="-10" dirty="0">
                <a:latin typeface="Gadugi" panose="020B0502040204020203"/>
                <a:cs typeface="Gadugi" panose="020B0502040204020203"/>
                <a:sym typeface="+mn-ea"/>
              </a:rPr>
              <a:t>CascadeType.MERGE:</a:t>
            </a:r>
            <a:r>
              <a:rPr sz="1600" b="1" spc="-40"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a:t>
            </a:r>
            <a:r>
              <a:rPr sz="1600" b="1" spc="190" dirty="0">
                <a:latin typeface="Gadugi" panose="020B0502040204020203"/>
                <a:cs typeface="Gadugi" panose="020B0502040204020203"/>
                <a:sym typeface="+mn-ea"/>
              </a:rPr>
              <a:t> </a:t>
            </a:r>
            <a:r>
              <a:rPr sz="1600" dirty="0">
                <a:latin typeface="Gadugi" panose="020B0502040204020203"/>
                <a:cs typeface="Gadugi" panose="020B0502040204020203"/>
                <a:sym typeface="+mn-ea"/>
              </a:rPr>
              <a:t>Whenever</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programmer</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updates</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owning</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side,</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automatically</a:t>
            </a:r>
            <a:r>
              <a:rPr sz="1600" spc="-15" dirty="0">
                <a:latin typeface="Gadugi" panose="020B0502040204020203"/>
                <a:cs typeface="Gadugi" panose="020B0502040204020203"/>
                <a:sym typeface="+mn-ea"/>
              </a:rPr>
              <a:t> </a:t>
            </a:r>
            <a:r>
              <a:rPr sz="1600" spc="-20" dirty="0">
                <a:latin typeface="Gadugi" panose="020B0502040204020203"/>
                <a:cs typeface="Gadugi" panose="020B0502040204020203"/>
                <a:sym typeface="+mn-ea"/>
              </a:rPr>
              <a:t>non-</a:t>
            </a:r>
            <a:r>
              <a:rPr sz="1600" spc="-10" dirty="0">
                <a:latin typeface="Gadugi" panose="020B0502040204020203"/>
                <a:cs typeface="Gadugi" panose="020B0502040204020203"/>
                <a:sym typeface="+mn-ea"/>
              </a:rPr>
              <a:t>owning </a:t>
            </a:r>
            <a:r>
              <a:rPr sz="1600" dirty="0">
                <a:latin typeface="Gadugi" panose="020B0502040204020203"/>
                <a:cs typeface="Gadugi" panose="020B0502040204020203"/>
                <a:sym typeface="+mn-ea"/>
              </a:rPr>
              <a:t>side</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will</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also</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be</a:t>
            </a:r>
            <a:r>
              <a:rPr sz="1600" spc="-10" dirty="0">
                <a:latin typeface="Gadugi" panose="020B0502040204020203"/>
                <a:cs typeface="Gadugi" panose="020B0502040204020203"/>
                <a:sym typeface="+mn-ea"/>
              </a:rPr>
              <a:t> updated.</a:t>
            </a:r>
            <a:endParaRPr sz="1600">
              <a:latin typeface="Gadugi" panose="020B0502040204020203"/>
              <a:cs typeface="Gadugi" panose="020B0502040204020203"/>
            </a:endParaRPr>
          </a:p>
          <a:p>
            <a:pPr marL="342900" marR="277495" indent="-342900">
              <a:lnSpc>
                <a:spcPct val="150000"/>
              </a:lnSpc>
              <a:buAutoNum type="arabicPeriod"/>
              <a:tabLst>
                <a:tab pos="347345" algn="l"/>
              </a:tabLst>
            </a:pPr>
            <a:r>
              <a:rPr sz="1600" b="1" spc="-10" dirty="0">
                <a:latin typeface="Gadugi" panose="020B0502040204020203"/>
                <a:cs typeface="Gadugi" panose="020B0502040204020203"/>
                <a:sym typeface="+mn-ea"/>
              </a:rPr>
              <a:t>CascadeType.REMOVE:</a:t>
            </a:r>
            <a:r>
              <a:rPr sz="1600" b="1" spc="-45"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Whenever</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programmer</a:t>
            </a:r>
            <a:r>
              <a:rPr sz="1600" spc="-40" dirty="0">
                <a:latin typeface="Gadugi" panose="020B0502040204020203"/>
                <a:cs typeface="Gadugi" panose="020B0502040204020203"/>
                <a:sym typeface="+mn-ea"/>
              </a:rPr>
              <a:t> </a:t>
            </a:r>
            <a:r>
              <a:rPr sz="1600" dirty="0">
                <a:latin typeface="Gadugi" panose="020B0502040204020203"/>
                <a:cs typeface="Gadugi" panose="020B0502040204020203"/>
                <a:sym typeface="+mn-ea"/>
              </a:rPr>
              <a:t>deletes</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owning</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side,</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automatically</a:t>
            </a:r>
            <a:r>
              <a:rPr sz="1600" spc="-20"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non-owning </a:t>
            </a:r>
            <a:r>
              <a:rPr sz="1600" dirty="0">
                <a:latin typeface="Gadugi" panose="020B0502040204020203"/>
                <a:cs typeface="Gadugi" panose="020B0502040204020203"/>
                <a:sym typeface="+mn-ea"/>
              </a:rPr>
              <a:t>side</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will</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also</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be</a:t>
            </a:r>
            <a:r>
              <a:rPr sz="1600" spc="-10" dirty="0">
                <a:latin typeface="Gadugi" panose="020B0502040204020203"/>
                <a:cs typeface="Gadugi" panose="020B0502040204020203"/>
                <a:sym typeface="+mn-ea"/>
              </a:rPr>
              <a:t> deleted.</a:t>
            </a:r>
            <a:endParaRPr sz="1600">
              <a:latin typeface="Gadugi" panose="020B0502040204020203"/>
              <a:cs typeface="Gadugi" panose="020B0502040204020203"/>
            </a:endParaRPr>
          </a:p>
          <a:p>
            <a:pPr marL="342900" indent="-342900">
              <a:lnSpc>
                <a:spcPct val="100000"/>
              </a:lnSpc>
              <a:spcBef>
                <a:spcPts val="535"/>
              </a:spcBef>
              <a:buAutoNum type="arabicPeriod"/>
              <a:tabLst>
                <a:tab pos="347980" algn="l"/>
              </a:tabLst>
            </a:pPr>
            <a:r>
              <a:rPr sz="1600" b="1" spc="-10" dirty="0">
                <a:latin typeface="Gadugi" panose="020B0502040204020203"/>
                <a:cs typeface="Gadugi" panose="020B0502040204020203"/>
                <a:sym typeface="+mn-ea"/>
              </a:rPr>
              <a:t>CascadeType.ALL</a:t>
            </a:r>
            <a:r>
              <a:rPr sz="1600" spc="-10" dirty="0">
                <a:latin typeface="Gadugi" panose="020B0502040204020203"/>
                <a:cs typeface="Gadugi" panose="020B0502040204020203"/>
                <a:sym typeface="+mn-ea"/>
              </a:rPr>
              <a:t>:</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cascade</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type</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all</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is</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shorthand</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for</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all</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of</a:t>
            </a:r>
            <a:r>
              <a:rPr sz="1600" spc="-40"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above</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cascade</a:t>
            </a:r>
            <a:r>
              <a:rPr sz="1600" spc="-20"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operations.</a:t>
            </a:r>
            <a:endParaRPr sz="1600">
              <a:latin typeface="Gadugi" panose="020B0502040204020203"/>
              <a:cs typeface="Gadugi" panose="020B0502040204020203"/>
            </a:endParaRPr>
          </a:p>
          <a:p>
            <a:pPr marL="342900" indent="-342900">
              <a:buAutoNum type="arabicPeriod"/>
            </a:pPr>
            <a:endParaRPr lang="en-US" sz="1600">
              <a:latin typeface="Gadugi" panose="020B0502040204020203"/>
              <a:cs typeface="Gadugi" panose="020B050204020402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37820"/>
          </a:xfrm>
        </p:spPr>
        <p:txBody>
          <a:bodyPr>
            <a:normAutofit fontScale="90000"/>
          </a:bodyPr>
          <a:p>
            <a:pPr algn="ctr"/>
            <a:r>
              <a:rPr lang="en-US" sz="2000" b="1">
                <a:solidFill>
                  <a:srgbClr val="FF0000"/>
                </a:solidFill>
              </a:rPr>
              <a:t>Imp Annotations for hibernate Entity Class</a:t>
            </a:r>
            <a:endParaRPr lang="en-US" sz="2000" b="1">
              <a:solidFill>
                <a:srgbClr val="FF0000"/>
              </a:solidFill>
            </a:endParaRPr>
          </a:p>
        </p:txBody>
      </p:sp>
      <p:sp>
        <p:nvSpPr>
          <p:cNvPr id="3" name="Content Placeholder 2"/>
          <p:cNvSpPr>
            <a:spLocks noGrp="1"/>
          </p:cNvSpPr>
          <p:nvPr>
            <p:ph idx="1"/>
          </p:nvPr>
        </p:nvSpPr>
        <p:spPr>
          <a:xfrm>
            <a:off x="95885" y="337185"/>
            <a:ext cx="12005310" cy="6318250"/>
          </a:xfrm>
        </p:spPr>
        <p:txBody>
          <a:bodyPr>
            <a:noAutofit/>
          </a:bodyPr>
          <a:p>
            <a:pPr marL="0" indent="0">
              <a:buNone/>
            </a:pPr>
            <a:r>
              <a:rPr sz="1800" b="1">
                <a:sym typeface="+mn-ea"/>
              </a:rPr>
              <a:t>Annotations (very short definition):</a:t>
            </a:r>
            <a:endParaRPr sz="1800" b="1">
              <a:sym typeface="+mn-ea"/>
            </a:endParaRPr>
          </a:p>
          <a:p>
            <a:pPr marL="0" indent="0">
              <a:buNone/>
            </a:pPr>
            <a:r>
              <a:rPr sz="1800">
                <a:sym typeface="+mn-ea"/>
              </a:rPr>
              <a:t> Annotations in Java are special markers placed above classes, methods, or fields to provide metadata or instructions to the compiler and frameworks. They help configure behavior without using XML. Hibernate uses annotations like @Entity or @Table to map classes to database tables.</a:t>
            </a:r>
            <a:endParaRPr sz="1800">
              <a:sym typeface="+mn-ea"/>
            </a:endParaRPr>
          </a:p>
          <a:p>
            <a:pPr marL="0" indent="0">
              <a:buNone/>
            </a:pPr>
            <a:r>
              <a:rPr sz="1800">
                <a:sym typeface="+mn-ea"/>
              </a:rPr>
              <a:t>@ symbol:</a:t>
            </a:r>
            <a:endParaRPr sz="1800">
              <a:sym typeface="+mn-ea"/>
            </a:endParaRPr>
          </a:p>
          <a:p>
            <a:pPr marL="0" indent="0">
              <a:buNone/>
            </a:pPr>
            <a:r>
              <a:rPr sz="1800">
                <a:sym typeface="+mn-ea"/>
              </a:rPr>
              <a:t> The @ symbol is used to declare an annotation in Java.</a:t>
            </a:r>
            <a:endParaRPr sz="1800">
              <a:sym typeface="+mn-ea"/>
            </a:endParaRPr>
          </a:p>
          <a:p>
            <a:pPr marL="342900" indent="-342900">
              <a:buAutoNum type="arabicPeriod"/>
            </a:pPr>
            <a:r>
              <a:rPr lang="en-US" sz="1800">
                <a:sym typeface="+mn-ea"/>
              </a:rPr>
              <a:t>@Entity  -&gt; use to mark any class as Entity.</a:t>
            </a:r>
            <a:endParaRPr lang="en-US" sz="1800"/>
          </a:p>
          <a:p>
            <a:pPr marL="342900" indent="-342900">
              <a:buAutoNum type="arabicPeriod"/>
            </a:pPr>
            <a:r>
              <a:rPr lang="en-US" sz="1800">
                <a:sym typeface="+mn-ea"/>
              </a:rPr>
              <a:t>@Table - use to change the table details</a:t>
            </a:r>
            <a:endParaRPr lang="en-US" sz="1800"/>
          </a:p>
          <a:p>
            <a:pPr marL="342900" indent="-342900">
              <a:buAutoNum type="arabicPeriod"/>
            </a:pPr>
            <a:r>
              <a:rPr lang="en-US" sz="1800">
                <a:sym typeface="+mn-ea"/>
              </a:rPr>
              <a:t>@Id -&gt; use to mark column as id (primary key)</a:t>
            </a:r>
            <a:endParaRPr lang="en-US" sz="1800"/>
          </a:p>
          <a:p>
            <a:pPr marL="342900" indent="-342900">
              <a:buAutoNum type="arabicPeriod"/>
            </a:pPr>
            <a:r>
              <a:rPr lang="en-US" sz="1800">
                <a:sym typeface="+mn-ea"/>
              </a:rPr>
              <a:t>@GeneratedValue-hibernate will automatically generates values for that using an internal sequences.Therefore we dont have to see it manually.</a:t>
            </a:r>
            <a:endParaRPr lang="en-US" sz="1800"/>
          </a:p>
          <a:p>
            <a:pPr marL="342900" indent="-342900">
              <a:buAutoNum type="arabicPeriod"/>
            </a:pPr>
            <a:r>
              <a:rPr lang="en-US" sz="1800">
                <a:sym typeface="+mn-ea"/>
              </a:rPr>
              <a:t>@Column -Can be used to specify column mapping. For example , to change column name in the assciated table in database.</a:t>
            </a:r>
            <a:endParaRPr lang="en-US" sz="1800"/>
          </a:p>
          <a:p>
            <a:pPr marL="342900" indent="-342900">
              <a:buAutoNum type="arabicPeriod"/>
            </a:pPr>
            <a:r>
              <a:rPr lang="en-US" sz="1800">
                <a:sym typeface="+mn-ea"/>
              </a:rPr>
              <a:t>@Transient - this tells hibernate not to save this field.</a:t>
            </a:r>
            <a:endParaRPr lang="en-US" sz="1800"/>
          </a:p>
          <a:p>
            <a:pPr marL="342900" indent="-342900">
              <a:buAutoNum type="arabicPeriod"/>
            </a:pPr>
            <a:r>
              <a:rPr lang="en-US" sz="1800">
                <a:sym typeface="+mn-ea"/>
              </a:rPr>
              <a:t>@Temporal- @Temporal over a date field tells hibernate the format in chich the date need to be saved.</a:t>
            </a:r>
            <a:endParaRPr lang="en-US" sz="1800"/>
          </a:p>
          <a:p>
            <a:pPr marL="342900" indent="-342900">
              <a:buAutoNum type="arabicPeriod"/>
            </a:pPr>
            <a:r>
              <a:rPr lang="en-US" sz="1800">
                <a:sym typeface="+mn-ea"/>
              </a:rPr>
              <a:t>@Lob -@lob tells hibernate that this is a large object not a simple oject</a:t>
            </a:r>
            <a:endParaRPr lang="en-US" sz="1800"/>
          </a:p>
          <a:p>
            <a:pPr marL="342900" indent="-342900">
              <a:buAutoNum type="arabicPeriod"/>
            </a:pPr>
            <a:r>
              <a:rPr lang="en-US" sz="1800">
                <a:sym typeface="+mn-ea"/>
              </a:rPr>
              <a:t>@oneToOne, @OneToMany,@manyToone, @joinColumn@jointable</a:t>
            </a:r>
            <a:endParaRPr lang="en-US" sz="1800"/>
          </a:p>
          <a:p>
            <a:endParaRPr lang="en-US" altLang="en-US" sz="1800"/>
          </a:p>
          <a:p>
            <a:endParaRPr lang="en-US" altLang="en-US" sz="1800"/>
          </a:p>
        </p:txBody>
      </p:sp>
      <p:sp>
        <p:nvSpPr>
          <p:cNvPr id="4" name="Text Box 3"/>
          <p:cNvSpPr txBox="1"/>
          <p:nvPr/>
        </p:nvSpPr>
        <p:spPr>
          <a:xfrm>
            <a:off x="7587615" y="1454150"/>
            <a:ext cx="4177030" cy="829945"/>
          </a:xfrm>
          <a:prstGeom prst="rect">
            <a:avLst/>
          </a:prstGeom>
        </p:spPr>
        <p:txBody>
          <a:bodyPr wrap="square">
            <a:spAutoFit/>
          </a:bodyPr>
          <a:p>
            <a:r>
              <a:rPr sz="1600"/>
              <a:t>TemporalType.DATE → only date (yyyy-mm-dd)</a:t>
            </a:r>
            <a:endParaRPr sz="1600"/>
          </a:p>
          <a:p>
            <a:r>
              <a:rPr sz="1600"/>
              <a:t>TemporalType.TIME → only time</a:t>
            </a:r>
            <a:endParaRPr sz="1600"/>
          </a:p>
          <a:p>
            <a:r>
              <a:rPr sz="1600"/>
              <a:t>TemporalType.TIMESTAMP → date + time</a:t>
            </a:r>
            <a:endParaRPr sz="1600"/>
          </a:p>
        </p:txBody>
      </p:sp>
      <p:sp>
        <p:nvSpPr>
          <p:cNvPr id="5" name="Text Box 4"/>
          <p:cNvSpPr txBox="1"/>
          <p:nvPr/>
        </p:nvSpPr>
        <p:spPr>
          <a:xfrm>
            <a:off x="7587615" y="2581275"/>
            <a:ext cx="4513580" cy="1157605"/>
          </a:xfrm>
          <a:prstGeom prst="rect">
            <a:avLst/>
          </a:prstGeom>
          <a:noFill/>
        </p:spPr>
        <p:txBody>
          <a:bodyPr wrap="square" rtlCol="0" anchor="t">
            <a:noAutofit/>
          </a:bodyPr>
          <a:p>
            <a:r>
              <a:rPr lang="en-US" altLang="en-US" sz="1600"/>
              <a:t>@Column(columnDefinition = "TIMESTAMP DEFAULT CURRENT_TIMESTAMP")</a:t>
            </a:r>
            <a:endParaRPr lang="en-US" altLang="en-US" sz="1600"/>
          </a:p>
          <a:p>
            <a:r>
              <a:rPr lang="en-US" altLang="en-US" sz="1600"/>
              <a:t>@Temporal(TemporalType.TIMESTAMP)</a:t>
            </a:r>
            <a:endParaRPr lang="en-US" altLang="en-US" sz="1600"/>
          </a:p>
          <a:p>
            <a:r>
              <a:rPr lang="en-US" altLang="en-US" sz="1600"/>
              <a:t>private Date createdAt;</a:t>
            </a:r>
            <a:endParaRPr lang="en-US" altLang="en-US" sz="1600"/>
          </a:p>
          <a:p>
            <a:endParaRPr lang="en-US" altLang="en-US"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20015" y="104775"/>
            <a:ext cx="12155170" cy="6533515"/>
          </a:xfrm>
        </p:spPr>
        <p:txBody>
          <a:bodyPr>
            <a:noAutofit/>
          </a:bodyPr>
          <a:p>
            <a:pPr>
              <a:lnSpc>
                <a:spcPct val="100000"/>
              </a:lnSpc>
              <a:spcBef>
                <a:spcPts val="560"/>
              </a:spcBef>
            </a:pPr>
            <a:r>
              <a:rPr sz="1600" b="1" u="sng" spc="-10" dirty="0">
                <a:solidFill>
                  <a:srgbClr val="BF0000"/>
                </a:solidFill>
                <a:uFill>
                  <a:solidFill>
                    <a:srgbClr val="BF0000"/>
                  </a:solidFill>
                </a:uFill>
                <a:latin typeface="Gadugi" panose="020B0502040204020203"/>
                <a:cs typeface="Gadugi" panose="020B0502040204020203"/>
                <a:sym typeface="+mn-ea"/>
              </a:rPr>
              <a:t>GENERATED</a:t>
            </a:r>
            <a:r>
              <a:rPr sz="1600" b="1" u="sng" spc="-40" dirty="0">
                <a:solidFill>
                  <a:srgbClr val="BF0000"/>
                </a:solidFill>
                <a:uFill>
                  <a:solidFill>
                    <a:srgbClr val="BF0000"/>
                  </a:solidFill>
                </a:uFill>
                <a:latin typeface="Gadugi" panose="020B0502040204020203"/>
                <a:cs typeface="Gadugi" panose="020B0502040204020203"/>
                <a:sym typeface="+mn-ea"/>
              </a:rPr>
              <a:t> </a:t>
            </a:r>
            <a:r>
              <a:rPr sz="1600" b="1" u="sng" spc="-10" dirty="0">
                <a:solidFill>
                  <a:srgbClr val="BF0000"/>
                </a:solidFill>
                <a:uFill>
                  <a:solidFill>
                    <a:srgbClr val="BF0000"/>
                  </a:solidFill>
                </a:uFill>
                <a:latin typeface="Gadugi" panose="020B0502040204020203"/>
                <a:cs typeface="Gadugi" panose="020B0502040204020203"/>
                <a:sym typeface="+mn-ea"/>
              </a:rPr>
              <a:t>VALUE:</a:t>
            </a:r>
            <a:endParaRPr sz="1600">
              <a:latin typeface="Gadugi" panose="020B0502040204020203"/>
              <a:cs typeface="Gadugi" panose="020B0502040204020203"/>
            </a:endParaRPr>
          </a:p>
          <a:p>
            <a:pPr marL="342900" indent="-342900">
              <a:lnSpc>
                <a:spcPct val="100000"/>
              </a:lnSpc>
              <a:spcBef>
                <a:spcPts val="605"/>
              </a:spcBef>
              <a:buAutoNum type="arabicPeriod"/>
              <a:tabLst>
                <a:tab pos="187325" algn="l"/>
              </a:tabLst>
            </a:pPr>
            <a:r>
              <a:rPr sz="1600" dirty="0">
                <a:latin typeface="Gadugi" panose="020B0502040204020203"/>
                <a:cs typeface="Gadugi" panose="020B0502040204020203"/>
                <a:sym typeface="+mn-ea"/>
              </a:rPr>
              <a:t>Hibernate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supports</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some</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generation</a:t>
            </a:r>
            <a:r>
              <a:rPr sz="1600" spc="-35"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strategies</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to </a:t>
            </a:r>
            <a:r>
              <a:rPr sz="1600" spc="-10" dirty="0">
                <a:latin typeface="Gadugi" panose="020B0502040204020203"/>
                <a:cs typeface="Gadugi" panose="020B0502040204020203"/>
                <a:sym typeface="+mn-ea"/>
              </a:rPr>
              <a:t>generate</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a primary</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key</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in the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database</a:t>
            </a:r>
            <a:r>
              <a:rPr sz="1600" spc="-20"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table.</a:t>
            </a:r>
            <a:endParaRPr sz="1600">
              <a:latin typeface="Gadugi" panose="020B0502040204020203"/>
              <a:cs typeface="Gadugi" panose="020B0502040204020203"/>
            </a:endParaRPr>
          </a:p>
          <a:p>
            <a:pPr marL="342900" marR="180975" indent="-342900">
              <a:lnSpc>
                <a:spcPts val="1540"/>
              </a:lnSpc>
              <a:spcBef>
                <a:spcPts val="120"/>
              </a:spcBef>
              <a:buAutoNum type="arabicPeriod"/>
              <a:tabLst>
                <a:tab pos="187325" algn="l"/>
              </a:tabLst>
            </a:pPr>
            <a:r>
              <a:rPr sz="1600" b="1" spc="-10" dirty="0">
                <a:latin typeface="Gadugi" panose="020B0502040204020203"/>
                <a:cs typeface="Gadugi" panose="020B0502040204020203"/>
                <a:sym typeface="+mn-ea"/>
              </a:rPr>
              <a:t>@GeneratedValue:</a:t>
            </a:r>
            <a:r>
              <a:rPr sz="1600" b="1" spc="-5"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This</a:t>
            </a:r>
            <a:r>
              <a:rPr sz="1600" b="1" spc="-20"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annotation</a:t>
            </a:r>
            <a:r>
              <a:rPr sz="1600" b="1" spc="-20"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is</a:t>
            </a:r>
            <a:r>
              <a:rPr sz="1600" b="1" spc="-5"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used to</a:t>
            </a:r>
            <a:r>
              <a:rPr sz="1600" b="1" spc="-25"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specify</a:t>
            </a:r>
            <a:r>
              <a:rPr sz="1600" b="1" spc="-5"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the</a:t>
            </a:r>
            <a:r>
              <a:rPr sz="1600" b="1" spc="-10"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primary</a:t>
            </a:r>
            <a:r>
              <a:rPr sz="1600" b="1" spc="-10"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key</a:t>
            </a:r>
            <a:r>
              <a:rPr sz="1600" b="1" spc="-5"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generation</a:t>
            </a:r>
            <a:r>
              <a:rPr sz="1600" b="1" spc="-20"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strategy</a:t>
            </a:r>
            <a:r>
              <a:rPr sz="1600" b="1" spc="-5"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to</a:t>
            </a:r>
            <a:r>
              <a:rPr sz="1600" b="1" spc="-30"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use</a:t>
            </a:r>
            <a:r>
              <a:rPr sz="1600" dirty="0">
                <a:latin typeface="Gadugi" panose="020B0502040204020203"/>
                <a:cs typeface="Gadugi" panose="020B0502040204020203"/>
                <a:sym typeface="+mn-ea"/>
              </a:rPr>
              <a:t>.</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i.e</a:t>
            </a:r>
            <a:r>
              <a:rPr sz="1600" spc="-20"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Instructs </a:t>
            </a:r>
            <a:r>
              <a:rPr sz="1600" dirty="0">
                <a:latin typeface="Gadugi" panose="020B0502040204020203"/>
                <a:cs typeface="Gadugi" panose="020B0502040204020203"/>
                <a:sym typeface="+mn-ea"/>
              </a:rPr>
              <a:t>database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to</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generate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a</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value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for</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this field</a:t>
            </a:r>
            <a:r>
              <a:rPr sz="1600" spc="-25"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automatically.</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If</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10" dirty="0">
                <a:latin typeface="Gadugi" panose="020B0502040204020203"/>
                <a:cs typeface="Gadugi" panose="020B0502040204020203"/>
                <a:sym typeface="+mn-ea"/>
              </a:rPr>
              <a:t> strategy</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is not</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specified</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by</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default</a:t>
            </a:r>
            <a:r>
              <a:rPr sz="1600" spc="-5"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AUTO</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will</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be</a:t>
            </a:r>
            <a:r>
              <a:rPr sz="1600" spc="-20" dirty="0">
                <a:latin typeface="Gadugi" panose="020B0502040204020203"/>
                <a:cs typeface="Gadugi" panose="020B0502040204020203"/>
                <a:sym typeface="+mn-ea"/>
              </a:rPr>
              <a:t> used</a:t>
            </a:r>
            <a:endParaRPr sz="1600">
              <a:latin typeface="Gadugi" panose="020B0502040204020203"/>
              <a:cs typeface="Gadugi" panose="020B0502040204020203"/>
            </a:endParaRPr>
          </a:p>
          <a:p>
            <a:pPr marL="342900" indent="-342900">
              <a:lnSpc>
                <a:spcPct val="100000"/>
              </a:lnSpc>
              <a:spcBef>
                <a:spcPts val="365"/>
              </a:spcBef>
              <a:buAutoNum type="arabicPeriod"/>
              <a:tabLst>
                <a:tab pos="187325" algn="l"/>
              </a:tabLst>
            </a:pPr>
            <a:r>
              <a:rPr sz="1600" spc="-10" dirty="0">
                <a:latin typeface="Gadugi" panose="020B0502040204020203"/>
                <a:cs typeface="Gadugi" panose="020B0502040204020203"/>
                <a:sym typeface="+mn-ea"/>
              </a:rPr>
              <a:t>@GeneratedValue</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annotation</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takes</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two</a:t>
            </a:r>
            <a:r>
              <a:rPr sz="1600" spc="-10" dirty="0">
                <a:latin typeface="Gadugi" panose="020B0502040204020203"/>
                <a:cs typeface="Gadugi" panose="020B0502040204020203"/>
                <a:sym typeface="+mn-ea"/>
              </a:rPr>
              <a:t> parameters strategy </a:t>
            </a:r>
            <a:r>
              <a:rPr sz="1600" dirty="0">
                <a:latin typeface="Gadugi" panose="020B0502040204020203"/>
                <a:cs typeface="Gadugi" panose="020B0502040204020203"/>
                <a:sym typeface="+mn-ea"/>
              </a:rPr>
              <a:t>and</a:t>
            </a:r>
            <a:r>
              <a:rPr sz="1600" spc="-5"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generator.</a:t>
            </a:r>
            <a:endParaRPr sz="1600">
              <a:latin typeface="Gadugi" panose="020B0502040204020203"/>
              <a:cs typeface="Gadugi" panose="020B0502040204020203"/>
            </a:endParaRPr>
          </a:p>
          <a:p>
            <a:pPr marL="342900" marR="48895" indent="-342900">
              <a:lnSpc>
                <a:spcPct val="149000"/>
              </a:lnSpc>
              <a:spcBef>
                <a:spcPts val="10"/>
              </a:spcBef>
              <a:buAutoNum type="arabicPeriod"/>
              <a:tabLst>
                <a:tab pos="187325" algn="l"/>
              </a:tabLst>
            </a:pPr>
            <a:r>
              <a:rPr sz="1600" dirty="0">
                <a:latin typeface="Gadugi" panose="020B0502040204020203"/>
                <a:cs typeface="Gadugi" panose="020B0502040204020203"/>
                <a:sym typeface="+mn-ea"/>
              </a:rPr>
              <a:t>If</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we</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want</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to</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automatically</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generate</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primary</a:t>
            </a:r>
            <a:r>
              <a:rPr sz="1600" spc="-40" dirty="0">
                <a:latin typeface="Gadugi" panose="020B0502040204020203"/>
                <a:cs typeface="Gadugi" panose="020B0502040204020203"/>
                <a:sym typeface="+mn-ea"/>
              </a:rPr>
              <a:t> </a:t>
            </a:r>
            <a:r>
              <a:rPr sz="1600" dirty="0">
                <a:latin typeface="Gadugi" panose="020B0502040204020203"/>
                <a:cs typeface="Gadugi" panose="020B0502040204020203"/>
                <a:sym typeface="+mn-ea"/>
              </a:rPr>
              <a:t>key</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value,</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we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can</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add</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25"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@GeneratedValue</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annotation.</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This</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can</a:t>
            </a:r>
            <a:r>
              <a:rPr sz="1600" spc="-10" dirty="0">
                <a:latin typeface="Gadugi" panose="020B0502040204020203"/>
                <a:cs typeface="Gadugi" panose="020B0502040204020203"/>
                <a:sym typeface="+mn-ea"/>
              </a:rPr>
              <a:t> </a:t>
            </a:r>
            <a:r>
              <a:rPr sz="1600" spc="-25" dirty="0">
                <a:latin typeface="Gadugi" panose="020B0502040204020203"/>
                <a:cs typeface="Gadugi" panose="020B0502040204020203"/>
                <a:sym typeface="+mn-ea"/>
              </a:rPr>
              <a:t>use </a:t>
            </a:r>
            <a:r>
              <a:rPr sz="1600" dirty="0">
                <a:latin typeface="Gadugi" panose="020B0502040204020203"/>
                <a:cs typeface="Gadugi" panose="020B0502040204020203"/>
                <a:sym typeface="+mn-ea"/>
              </a:rPr>
              <a:t>four</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generation</a:t>
            </a:r>
            <a:r>
              <a:rPr sz="1600" spc="-45" dirty="0">
                <a:latin typeface="Gadugi" panose="020B0502040204020203"/>
                <a:cs typeface="Gadugi" panose="020B0502040204020203"/>
                <a:sym typeface="+mn-ea"/>
              </a:rPr>
              <a:t> </a:t>
            </a:r>
            <a:r>
              <a:rPr sz="1600" dirty="0">
                <a:latin typeface="Gadugi" panose="020B0502040204020203"/>
                <a:cs typeface="Gadugi" panose="020B0502040204020203"/>
                <a:sym typeface="+mn-ea"/>
              </a:rPr>
              <a:t>types:</a:t>
            </a:r>
            <a:r>
              <a:rPr sz="1600" spc="-25" dirty="0">
                <a:latin typeface="Gadugi" panose="020B0502040204020203"/>
                <a:cs typeface="Gadugi" panose="020B0502040204020203"/>
                <a:sym typeface="+mn-ea"/>
              </a:rPr>
              <a:t> </a:t>
            </a:r>
            <a:r>
              <a:rPr sz="1600" b="1" spc="-20" dirty="0">
                <a:latin typeface="Gadugi" panose="020B0502040204020203"/>
                <a:cs typeface="Gadugi" panose="020B0502040204020203"/>
                <a:sym typeface="+mn-ea"/>
              </a:rPr>
              <a:t>AUTO,</a:t>
            </a:r>
            <a:r>
              <a:rPr sz="1600" b="1" spc="-25" dirty="0">
                <a:latin typeface="Gadugi" panose="020B0502040204020203"/>
                <a:cs typeface="Gadugi" panose="020B0502040204020203"/>
                <a:sym typeface="+mn-ea"/>
              </a:rPr>
              <a:t> </a:t>
            </a:r>
            <a:r>
              <a:rPr sz="1600" b="1" spc="-10" dirty="0">
                <a:latin typeface="Gadugi" panose="020B0502040204020203"/>
                <a:cs typeface="Gadugi" panose="020B0502040204020203"/>
                <a:sym typeface="+mn-ea"/>
              </a:rPr>
              <a:t>IDENTITY,</a:t>
            </a:r>
            <a:r>
              <a:rPr sz="1600" b="1" spc="-25"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SEQUENCE</a:t>
            </a:r>
            <a:r>
              <a:rPr sz="1600" b="1" spc="-35"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and</a:t>
            </a:r>
            <a:r>
              <a:rPr sz="1600" b="1" spc="-40" dirty="0">
                <a:latin typeface="Gadugi" panose="020B0502040204020203"/>
                <a:cs typeface="Gadugi" panose="020B0502040204020203"/>
                <a:sym typeface="+mn-ea"/>
              </a:rPr>
              <a:t> </a:t>
            </a:r>
            <a:r>
              <a:rPr sz="1600" b="1" spc="-10" dirty="0">
                <a:latin typeface="Gadugi" panose="020B0502040204020203"/>
                <a:cs typeface="Gadugi" panose="020B0502040204020203"/>
                <a:sym typeface="+mn-ea"/>
              </a:rPr>
              <a:t>TABLE.</a:t>
            </a:r>
            <a:endParaRPr sz="1600">
              <a:latin typeface="Gadugi" panose="020B0502040204020203"/>
              <a:cs typeface="Gadugi" panose="020B0502040204020203"/>
            </a:endParaRPr>
          </a:p>
          <a:p>
            <a:pPr marL="342900" marR="118110" indent="-342900">
              <a:lnSpc>
                <a:spcPct val="149000"/>
              </a:lnSpc>
              <a:spcBef>
                <a:spcPts val="15"/>
              </a:spcBef>
              <a:buAutoNum type="arabicPeriod"/>
              <a:tabLst>
                <a:tab pos="187325" algn="l"/>
              </a:tabLst>
            </a:pPr>
            <a:r>
              <a:rPr sz="1600" b="1" spc="-10" dirty="0">
                <a:latin typeface="Gadugi" panose="020B0502040204020203"/>
                <a:cs typeface="Gadugi" panose="020B0502040204020203"/>
                <a:sym typeface="+mn-ea"/>
              </a:rPr>
              <a:t>GenerationType.AUTO:</a:t>
            </a:r>
            <a:r>
              <a:rPr sz="1600" b="1"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Indicates</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that</a:t>
            </a:r>
            <a:r>
              <a:rPr sz="1600" spc="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persistence </a:t>
            </a:r>
            <a:r>
              <a:rPr sz="1600" spc="-10" dirty="0">
                <a:latin typeface="Gadugi" panose="020B0502040204020203"/>
                <a:cs typeface="Gadugi" panose="020B0502040204020203"/>
                <a:sym typeface="+mn-ea"/>
              </a:rPr>
              <a:t>provider</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should</a:t>
            </a:r>
            <a:r>
              <a:rPr sz="1600" spc="-5" dirty="0">
                <a:latin typeface="Gadugi" panose="020B0502040204020203"/>
                <a:cs typeface="Gadugi" panose="020B0502040204020203"/>
                <a:sym typeface="+mn-ea"/>
              </a:rPr>
              <a:t> </a:t>
            </a:r>
            <a:r>
              <a:rPr sz="1600" dirty="0">
                <a:latin typeface="Gadugi" panose="020B0502040204020203"/>
                <a:cs typeface="Gadugi" panose="020B0502040204020203"/>
                <a:sym typeface="+mn-ea"/>
              </a:rPr>
              <a:t>pick</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an </a:t>
            </a:r>
            <a:r>
              <a:rPr sz="1600" spc="-10" dirty="0">
                <a:latin typeface="Gadugi" panose="020B0502040204020203"/>
                <a:cs typeface="Gadugi" panose="020B0502040204020203"/>
                <a:sym typeface="+mn-ea"/>
              </a:rPr>
              <a:t>appropriate</a:t>
            </a:r>
            <a:r>
              <a:rPr sz="1600" spc="-30"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strategy </a:t>
            </a:r>
            <a:r>
              <a:rPr sz="1600" dirty="0">
                <a:latin typeface="Gadugi" panose="020B0502040204020203"/>
                <a:cs typeface="Gadugi" panose="020B0502040204020203"/>
                <a:sym typeface="+mn-ea"/>
              </a:rPr>
              <a:t>for</a:t>
            </a:r>
            <a:r>
              <a:rPr sz="1600" spc="-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10"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particular database</a:t>
            </a:r>
            <a:endParaRPr sz="1600">
              <a:latin typeface="Gadugi" panose="020B0502040204020203"/>
              <a:cs typeface="Gadugi" panose="020B0502040204020203"/>
            </a:endParaRPr>
          </a:p>
          <a:p>
            <a:pPr marL="342900" marR="197485" indent="-342900">
              <a:lnSpc>
                <a:spcPct val="149000"/>
              </a:lnSpc>
              <a:spcBef>
                <a:spcPts val="10"/>
              </a:spcBef>
              <a:buAutoNum type="arabicPeriod"/>
              <a:tabLst>
                <a:tab pos="187325" algn="l"/>
              </a:tabLst>
            </a:pPr>
            <a:r>
              <a:rPr sz="1600" b="1" spc="-10" dirty="0">
                <a:latin typeface="Gadugi" panose="020B0502040204020203"/>
                <a:cs typeface="Gadugi" panose="020B0502040204020203"/>
                <a:sym typeface="+mn-ea"/>
              </a:rPr>
              <a:t>GenerationType.</a:t>
            </a:r>
            <a:r>
              <a:rPr sz="1600" b="1" dirty="0">
                <a:latin typeface="Gadugi" panose="020B0502040204020203"/>
                <a:cs typeface="Gadugi" panose="020B0502040204020203"/>
                <a:sym typeface="+mn-ea"/>
              </a:rPr>
              <a:t> </a:t>
            </a:r>
            <a:r>
              <a:rPr sz="1600" b="1" spc="-10" dirty="0">
                <a:latin typeface="Gadugi" panose="020B0502040204020203"/>
                <a:cs typeface="Gadugi" panose="020B0502040204020203"/>
                <a:sym typeface="+mn-ea"/>
              </a:rPr>
              <a:t>IDENTITY:</a:t>
            </a:r>
            <a:r>
              <a:rPr sz="1600" b="1"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Indicates</a:t>
            </a:r>
            <a:r>
              <a:rPr sz="1600" spc="-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that</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persistence</a:t>
            </a:r>
            <a:r>
              <a:rPr sz="1600" spc="-5"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provider</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must</a:t>
            </a:r>
            <a:r>
              <a:rPr sz="1600" spc="-5" dirty="0">
                <a:latin typeface="Gadugi" panose="020B0502040204020203"/>
                <a:cs typeface="Gadugi" panose="020B0502040204020203"/>
                <a:sym typeface="+mn-ea"/>
              </a:rPr>
              <a:t> </a:t>
            </a:r>
            <a:r>
              <a:rPr sz="1600" dirty="0">
                <a:latin typeface="Gadugi" panose="020B0502040204020203"/>
                <a:cs typeface="Gadugi" panose="020B0502040204020203"/>
                <a:sym typeface="+mn-ea"/>
              </a:rPr>
              <a:t>assign</a:t>
            </a:r>
            <a:r>
              <a:rPr sz="1600" spc="-5" dirty="0">
                <a:latin typeface="Gadugi" panose="020B0502040204020203"/>
                <a:cs typeface="Gadugi" panose="020B0502040204020203"/>
                <a:sym typeface="+mn-ea"/>
              </a:rPr>
              <a:t> </a:t>
            </a:r>
            <a:r>
              <a:rPr sz="1600" dirty="0">
                <a:latin typeface="Gadugi" panose="020B0502040204020203"/>
                <a:cs typeface="Gadugi" panose="020B0502040204020203"/>
                <a:sym typeface="+mn-ea"/>
              </a:rPr>
              <a:t>primary</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keys</a:t>
            </a:r>
            <a:r>
              <a:rPr sz="1600" spc="-5" dirty="0">
                <a:latin typeface="Gadugi" panose="020B0502040204020203"/>
                <a:cs typeface="Gadugi" panose="020B0502040204020203"/>
                <a:sym typeface="+mn-ea"/>
              </a:rPr>
              <a:t> </a:t>
            </a:r>
            <a:r>
              <a:rPr sz="1600" dirty="0">
                <a:latin typeface="Gadugi" panose="020B0502040204020203"/>
                <a:cs typeface="Gadugi" panose="020B0502040204020203"/>
                <a:sym typeface="+mn-ea"/>
              </a:rPr>
              <a:t>for</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entity</a:t>
            </a:r>
            <a:r>
              <a:rPr sz="1600" spc="-5" dirty="0">
                <a:latin typeface="Gadugi" panose="020B0502040204020203"/>
                <a:cs typeface="Gadugi" panose="020B0502040204020203"/>
                <a:sym typeface="+mn-ea"/>
              </a:rPr>
              <a:t> </a:t>
            </a:r>
            <a:r>
              <a:rPr sz="1600" dirty="0">
                <a:latin typeface="Gadugi" panose="020B0502040204020203"/>
                <a:cs typeface="Gadugi" panose="020B0502040204020203"/>
                <a:sym typeface="+mn-ea"/>
              </a:rPr>
              <a:t>using</a:t>
            </a:r>
            <a:r>
              <a:rPr sz="1600" spc="5" dirty="0">
                <a:latin typeface="Gadugi" panose="020B0502040204020203"/>
                <a:cs typeface="Gadugi" panose="020B0502040204020203"/>
                <a:sym typeface="+mn-ea"/>
              </a:rPr>
              <a:t> </a:t>
            </a:r>
            <a:r>
              <a:rPr sz="1600" spc="-50" dirty="0">
                <a:latin typeface="Gadugi" panose="020B0502040204020203"/>
                <a:cs typeface="Gadugi" panose="020B0502040204020203"/>
                <a:sym typeface="+mn-ea"/>
              </a:rPr>
              <a:t>a</a:t>
            </a:r>
            <a:r>
              <a:rPr sz="1600" dirty="0">
                <a:latin typeface="Gadugi" panose="020B0502040204020203"/>
                <a:cs typeface="Gadugi" panose="020B0502040204020203"/>
                <a:sym typeface="+mn-ea"/>
              </a:rPr>
              <a:t> database</a:t>
            </a:r>
            <a:r>
              <a:rPr sz="1600" spc="-40" dirty="0">
                <a:latin typeface="Gadugi" panose="020B0502040204020203"/>
                <a:cs typeface="Gadugi" panose="020B0502040204020203"/>
                <a:sym typeface="+mn-ea"/>
              </a:rPr>
              <a:t> </a:t>
            </a:r>
            <a:r>
              <a:rPr sz="1600" dirty="0">
                <a:latin typeface="Gadugi" panose="020B0502040204020203"/>
                <a:cs typeface="Gadugi" panose="020B0502040204020203"/>
                <a:sym typeface="+mn-ea"/>
              </a:rPr>
              <a:t>identity</a:t>
            </a:r>
            <a:r>
              <a:rPr sz="1600" spc="-40"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column</a:t>
            </a:r>
            <a:endParaRPr sz="1600">
              <a:latin typeface="Gadugi" panose="020B0502040204020203"/>
              <a:cs typeface="Gadugi" panose="020B0502040204020203"/>
            </a:endParaRPr>
          </a:p>
          <a:p>
            <a:pPr marL="342900" marR="112395" indent="-342900">
              <a:lnSpc>
                <a:spcPct val="149000"/>
              </a:lnSpc>
              <a:spcBef>
                <a:spcPts val="10"/>
              </a:spcBef>
              <a:buAutoNum type="arabicPeriod"/>
              <a:tabLst>
                <a:tab pos="187325" algn="l"/>
              </a:tabLst>
            </a:pPr>
            <a:r>
              <a:rPr sz="1600" b="1" spc="-10" dirty="0">
                <a:latin typeface="Gadugi" panose="020B0502040204020203"/>
                <a:cs typeface="Gadugi" panose="020B0502040204020203"/>
                <a:sym typeface="+mn-ea"/>
              </a:rPr>
              <a:t>GenerationType.</a:t>
            </a:r>
            <a:r>
              <a:rPr sz="1600" b="1" spc="-5" dirty="0">
                <a:latin typeface="Gadugi" panose="020B0502040204020203"/>
                <a:cs typeface="Gadugi" panose="020B0502040204020203"/>
                <a:sym typeface="+mn-ea"/>
              </a:rPr>
              <a:t> </a:t>
            </a:r>
            <a:r>
              <a:rPr sz="1600" b="1" dirty="0">
                <a:latin typeface="Gadugi" panose="020B0502040204020203"/>
                <a:cs typeface="Gadugi" panose="020B0502040204020203"/>
                <a:sym typeface="+mn-ea"/>
              </a:rPr>
              <a:t>SEQUENCE:</a:t>
            </a:r>
            <a:r>
              <a:rPr sz="1600" b="1" spc="140" dirty="0">
                <a:latin typeface="Gadugi" panose="020B0502040204020203"/>
                <a:cs typeface="Gadugi" panose="020B0502040204020203"/>
                <a:sym typeface="+mn-ea"/>
              </a:rPr>
              <a:t> </a:t>
            </a:r>
            <a:r>
              <a:rPr sz="1600" dirty="0">
                <a:latin typeface="Gadugi" panose="020B0502040204020203"/>
                <a:cs typeface="Gadugi" panose="020B0502040204020203"/>
                <a:sym typeface="+mn-ea"/>
              </a:rPr>
              <a:t>Indicates</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that</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persistence</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provider</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must</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assign</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primary</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keys</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for</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5" dirty="0">
                <a:latin typeface="Gadugi" panose="020B0502040204020203"/>
                <a:cs typeface="Gadugi" panose="020B0502040204020203"/>
                <a:sym typeface="+mn-ea"/>
              </a:rPr>
              <a:t> </a:t>
            </a:r>
            <a:r>
              <a:rPr sz="1600" dirty="0">
                <a:latin typeface="Gadugi" panose="020B0502040204020203"/>
                <a:cs typeface="Gadugi" panose="020B0502040204020203"/>
                <a:sym typeface="+mn-ea"/>
              </a:rPr>
              <a:t>entity</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using</a:t>
            </a:r>
            <a:r>
              <a:rPr sz="1600" spc="-20" dirty="0">
                <a:latin typeface="Gadugi" panose="020B0502040204020203"/>
                <a:cs typeface="Gadugi" panose="020B0502040204020203"/>
                <a:sym typeface="+mn-ea"/>
              </a:rPr>
              <a:t> </a:t>
            </a:r>
            <a:r>
              <a:rPr sz="1600" spc="-50" dirty="0">
                <a:latin typeface="Gadugi" panose="020B0502040204020203"/>
                <a:cs typeface="Gadugi" panose="020B0502040204020203"/>
                <a:sym typeface="+mn-ea"/>
              </a:rPr>
              <a:t>a</a:t>
            </a:r>
            <a:r>
              <a:rPr sz="1600" dirty="0">
                <a:latin typeface="Gadugi" panose="020B0502040204020203"/>
                <a:cs typeface="Gadugi" panose="020B0502040204020203"/>
                <a:sym typeface="+mn-ea"/>
              </a:rPr>
              <a:t> database</a:t>
            </a:r>
            <a:r>
              <a:rPr sz="1600" spc="-60"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sequence</a:t>
            </a:r>
            <a:endParaRPr sz="1600">
              <a:latin typeface="Gadugi" panose="020B0502040204020203"/>
              <a:cs typeface="Gadugi" panose="020B0502040204020203"/>
            </a:endParaRPr>
          </a:p>
          <a:p>
            <a:pPr marL="342900" marR="303530" indent="-342900">
              <a:lnSpc>
                <a:spcPct val="149000"/>
              </a:lnSpc>
              <a:spcBef>
                <a:spcPts val="15"/>
              </a:spcBef>
              <a:buAutoNum type="arabicPeriod"/>
              <a:tabLst>
                <a:tab pos="187325" algn="l"/>
              </a:tabLst>
            </a:pPr>
            <a:r>
              <a:rPr sz="1600" b="1" spc="-10" dirty="0">
                <a:latin typeface="Gadugi" panose="020B0502040204020203"/>
                <a:cs typeface="Gadugi" panose="020B0502040204020203"/>
                <a:sym typeface="+mn-ea"/>
              </a:rPr>
              <a:t>GenerationType.</a:t>
            </a:r>
            <a:r>
              <a:rPr sz="1600" b="1" spc="-5" dirty="0">
                <a:latin typeface="Gadugi" panose="020B0502040204020203"/>
                <a:cs typeface="Gadugi" panose="020B0502040204020203"/>
                <a:sym typeface="+mn-ea"/>
              </a:rPr>
              <a:t> </a:t>
            </a:r>
            <a:r>
              <a:rPr sz="1600" b="1" spc="-10" dirty="0">
                <a:latin typeface="Gadugi" panose="020B0502040204020203"/>
                <a:cs typeface="Gadugi" panose="020B0502040204020203"/>
                <a:sym typeface="+mn-ea"/>
              </a:rPr>
              <a:t>TABLE:</a:t>
            </a:r>
            <a:r>
              <a:rPr sz="1600" b="1" spc="-25" dirty="0">
                <a:latin typeface="Gadugi" panose="020B0502040204020203"/>
                <a:cs typeface="Gadugi" panose="020B0502040204020203"/>
                <a:sym typeface="+mn-ea"/>
              </a:rPr>
              <a:t> </a:t>
            </a:r>
            <a:r>
              <a:rPr sz="1600" dirty="0">
                <a:latin typeface="Gadugi" panose="020B0502040204020203"/>
                <a:cs typeface="Gadugi" panose="020B0502040204020203"/>
                <a:sym typeface="+mn-ea"/>
              </a:rPr>
              <a:t>Indicates</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that</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persistence</a:t>
            </a:r>
            <a:r>
              <a:rPr sz="1600" spc="-10" dirty="0">
                <a:latin typeface="Gadugi" panose="020B0502040204020203"/>
                <a:cs typeface="Gadugi" panose="020B0502040204020203"/>
                <a:sym typeface="+mn-ea"/>
              </a:rPr>
              <a:t> provider</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must</a:t>
            </a:r>
            <a:r>
              <a:rPr sz="1600" spc="-5" dirty="0">
                <a:latin typeface="Gadugi" panose="020B0502040204020203"/>
                <a:cs typeface="Gadugi" panose="020B0502040204020203"/>
                <a:sym typeface="+mn-ea"/>
              </a:rPr>
              <a:t> </a:t>
            </a:r>
            <a:r>
              <a:rPr sz="1600" dirty="0">
                <a:latin typeface="Gadugi" panose="020B0502040204020203"/>
                <a:cs typeface="Gadugi" panose="020B0502040204020203"/>
                <a:sym typeface="+mn-ea"/>
              </a:rPr>
              <a:t>assign</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primary</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keys</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for</a:t>
            </a:r>
            <a:r>
              <a:rPr sz="1600" spc="-15" dirty="0">
                <a:latin typeface="Gadugi" panose="020B0502040204020203"/>
                <a:cs typeface="Gadugi" panose="020B0502040204020203"/>
                <a:sym typeface="+mn-ea"/>
              </a:rPr>
              <a:t> </a:t>
            </a:r>
            <a:r>
              <a:rPr sz="1600" dirty="0">
                <a:latin typeface="Gadugi" panose="020B0502040204020203"/>
                <a:cs typeface="Gadugi" panose="020B0502040204020203"/>
                <a:sym typeface="+mn-ea"/>
              </a:rPr>
              <a:t>the</a:t>
            </a:r>
            <a:r>
              <a:rPr sz="1600" spc="-20" dirty="0">
                <a:latin typeface="Gadugi" panose="020B0502040204020203"/>
                <a:cs typeface="Gadugi" panose="020B0502040204020203"/>
                <a:sym typeface="+mn-ea"/>
              </a:rPr>
              <a:t> </a:t>
            </a:r>
            <a:r>
              <a:rPr sz="1600" dirty="0">
                <a:latin typeface="Gadugi" panose="020B0502040204020203"/>
                <a:cs typeface="Gadugi" panose="020B0502040204020203"/>
                <a:sym typeface="+mn-ea"/>
              </a:rPr>
              <a:t>entity</a:t>
            </a:r>
            <a:r>
              <a:rPr sz="1600" spc="-10" dirty="0">
                <a:latin typeface="Gadugi" panose="020B0502040204020203"/>
                <a:cs typeface="Gadugi" panose="020B0502040204020203"/>
                <a:sym typeface="+mn-ea"/>
              </a:rPr>
              <a:t> </a:t>
            </a:r>
            <a:r>
              <a:rPr sz="1600" dirty="0">
                <a:latin typeface="Gadugi" panose="020B0502040204020203"/>
                <a:cs typeface="Gadugi" panose="020B0502040204020203"/>
                <a:sym typeface="+mn-ea"/>
              </a:rPr>
              <a:t>using</a:t>
            </a:r>
            <a:r>
              <a:rPr sz="1600" spc="5" dirty="0">
                <a:latin typeface="Gadugi" panose="020B0502040204020203"/>
                <a:cs typeface="Gadugi" panose="020B0502040204020203"/>
                <a:sym typeface="+mn-ea"/>
              </a:rPr>
              <a:t> </a:t>
            </a:r>
            <a:r>
              <a:rPr sz="1600" spc="-25" dirty="0">
                <a:latin typeface="Gadugi" panose="020B0502040204020203"/>
                <a:cs typeface="Gadugi" panose="020B0502040204020203"/>
                <a:sym typeface="+mn-ea"/>
              </a:rPr>
              <a:t>an </a:t>
            </a:r>
            <a:r>
              <a:rPr sz="1600" dirty="0">
                <a:latin typeface="Gadugi" panose="020B0502040204020203"/>
                <a:cs typeface="Gadugi" panose="020B0502040204020203"/>
                <a:sym typeface="+mn-ea"/>
              </a:rPr>
              <a:t>underlying</a:t>
            </a:r>
            <a:r>
              <a:rPr sz="1600" spc="-35" dirty="0">
                <a:latin typeface="Gadugi" panose="020B0502040204020203"/>
                <a:cs typeface="Gadugi" panose="020B0502040204020203"/>
                <a:sym typeface="+mn-ea"/>
              </a:rPr>
              <a:t> </a:t>
            </a:r>
            <a:endParaRPr sz="1600" spc="-35" dirty="0">
              <a:latin typeface="Gadugi" panose="020B0502040204020203"/>
              <a:cs typeface="Gadugi" panose="020B0502040204020203"/>
              <a:sym typeface="+mn-ea"/>
            </a:endParaRPr>
          </a:p>
          <a:p>
            <a:pPr marL="0" marR="303530" indent="0">
              <a:lnSpc>
                <a:spcPct val="149000"/>
              </a:lnSpc>
              <a:spcBef>
                <a:spcPts val="15"/>
              </a:spcBef>
              <a:buNone/>
              <a:tabLst>
                <a:tab pos="187325" algn="l"/>
              </a:tabLst>
            </a:pPr>
            <a:r>
              <a:rPr sz="1600" dirty="0">
                <a:latin typeface="Gadugi" panose="020B0502040204020203"/>
                <a:cs typeface="Gadugi" panose="020B0502040204020203"/>
                <a:sym typeface="+mn-ea"/>
              </a:rPr>
              <a:t>database</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table</a:t>
            </a:r>
            <a:r>
              <a:rPr sz="1600" spc="-35" dirty="0">
                <a:latin typeface="Gadugi" panose="020B0502040204020203"/>
                <a:cs typeface="Gadugi" panose="020B0502040204020203"/>
                <a:sym typeface="+mn-ea"/>
              </a:rPr>
              <a:t> </a:t>
            </a:r>
            <a:r>
              <a:rPr sz="1600" dirty="0">
                <a:latin typeface="Gadugi" panose="020B0502040204020203"/>
                <a:cs typeface="Gadugi" panose="020B0502040204020203"/>
                <a:sym typeface="+mn-ea"/>
              </a:rPr>
              <a:t>to</a:t>
            </a:r>
            <a:r>
              <a:rPr sz="1600" spc="-30" dirty="0">
                <a:latin typeface="Gadugi" panose="020B0502040204020203"/>
                <a:cs typeface="Gadugi" panose="020B0502040204020203"/>
                <a:sym typeface="+mn-ea"/>
              </a:rPr>
              <a:t> </a:t>
            </a:r>
            <a:r>
              <a:rPr sz="1600" dirty="0">
                <a:latin typeface="Gadugi" panose="020B0502040204020203"/>
                <a:cs typeface="Gadugi" panose="020B0502040204020203"/>
                <a:sym typeface="+mn-ea"/>
              </a:rPr>
              <a:t>ensure</a:t>
            </a:r>
            <a:r>
              <a:rPr sz="1600" spc="-35" dirty="0">
                <a:latin typeface="Gadugi" panose="020B0502040204020203"/>
                <a:cs typeface="Gadugi" panose="020B0502040204020203"/>
                <a:sym typeface="+mn-ea"/>
              </a:rPr>
              <a:t> </a:t>
            </a:r>
            <a:r>
              <a:rPr sz="1600" spc="-10" dirty="0">
                <a:latin typeface="Gadugi" panose="020B0502040204020203"/>
                <a:cs typeface="Gadugi" panose="020B0502040204020203"/>
                <a:sym typeface="+mn-ea"/>
              </a:rPr>
              <a:t>uniqueness</a:t>
            </a:r>
            <a:endParaRPr sz="1600">
              <a:latin typeface="Gadugi" panose="020B0502040204020203"/>
              <a:cs typeface="Gadugi" panose="020B0502040204020203"/>
            </a:endParaRPr>
          </a:p>
          <a:p>
            <a:r>
              <a:rPr lang="en-US" altLang="en-US" sz="1600">
                <a:sym typeface="+mn-ea"/>
              </a:rPr>
              <a:t>@Entity → Marks this class as a JPA entity</a:t>
            </a:r>
            <a:endParaRPr lang="en-US" altLang="en-US" sz="1600"/>
          </a:p>
          <a:p>
            <a:r>
              <a:rPr lang="en-US" altLang="en-US" sz="1600">
                <a:sym typeface="+mn-ea"/>
              </a:rPr>
              <a:t>@Table(name = "users") → Maps to users table in DB.</a:t>
            </a:r>
            <a:endParaRPr lang="en-US" altLang="en-US" sz="1600"/>
          </a:p>
          <a:p>
            <a:r>
              <a:rPr lang="en-US" altLang="en-US" sz="1600">
                <a:sym typeface="+mn-ea"/>
              </a:rPr>
              <a:t>@Id → Primary key.</a:t>
            </a:r>
            <a:endParaRPr lang="en-US" altLang="en-US" sz="1600"/>
          </a:p>
          <a:p>
            <a:r>
              <a:rPr lang="en-US" altLang="en-US" sz="1600">
                <a:sym typeface="+mn-ea"/>
              </a:rPr>
              <a:t>@GeneratedValue(strategy = GenerationType.IDENTITY) → Auto-generated ID (MySQL/Postgres style).</a:t>
            </a:r>
            <a:endParaRPr lang="en-US" altLang="en-US" sz="1600"/>
          </a:p>
          <a:p>
            <a:r>
              <a:rPr lang="en-US" altLang="en-US" sz="1600">
                <a:sym typeface="+mn-ea"/>
              </a:rPr>
              <a:t>@Column(nullable = false, unique = true) → Ensures column cannot be null and must be unique.</a:t>
            </a:r>
            <a:endParaRPr lang="en-US" altLang="en-US" sz="1600"/>
          </a:p>
          <a:p>
            <a:r>
              <a:rPr lang="en-US" altLang="en-US" sz="1600">
                <a:sym typeface="+mn-ea"/>
              </a:rPr>
              <a:t>nullable = true → Explicitly allows null values.</a:t>
            </a:r>
            <a:endParaRPr lang="en-US" altLang="en-US" sz="160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423545"/>
          </a:xfrm>
        </p:spPr>
        <p:txBody>
          <a:bodyPr>
            <a:noAutofit/>
          </a:bodyPr>
          <a:p>
            <a:pPr algn="ctr"/>
            <a:r>
              <a:rPr lang="en-US" sz="2400" b="1">
                <a:solidFill>
                  <a:srgbClr val="FF0000"/>
                </a:solidFill>
              </a:rPr>
              <a:t>hibernate Configuration File</a:t>
            </a:r>
            <a:endParaRPr lang="en-US" sz="2400" b="1">
              <a:solidFill>
                <a:srgbClr val="FF0000"/>
              </a:solidFill>
            </a:endParaRPr>
          </a:p>
        </p:txBody>
      </p:sp>
      <p:sp>
        <p:nvSpPr>
          <p:cNvPr id="3" name="Content Placeholder 2"/>
          <p:cNvSpPr>
            <a:spLocks noGrp="1"/>
          </p:cNvSpPr>
          <p:nvPr>
            <p:ph idx="1"/>
          </p:nvPr>
        </p:nvSpPr>
        <p:spPr>
          <a:xfrm>
            <a:off x="181610" y="423545"/>
            <a:ext cx="10515600" cy="6273800"/>
          </a:xfrm>
        </p:spPr>
        <p:txBody>
          <a:bodyPr>
            <a:noAutofit/>
          </a:bodyPr>
          <a:p>
            <a:pPr marL="342900" indent="-342900">
              <a:buAutoNum type="arabicPeriod"/>
            </a:pPr>
            <a:r>
              <a:rPr lang="en-US" altLang="en-US" sz="1800">
                <a:latin typeface="Cambria" panose="02040503050406030204" charset="0"/>
                <a:cs typeface="Cambria" panose="02040503050406030204" charset="0"/>
                <a:sym typeface="+mn-ea"/>
              </a:rPr>
              <a:t>A Hibernate configuration file (hibernate.cfg.xml) is an XML file used to set up Hibernate.</a:t>
            </a:r>
            <a:endParaRPr lang="en-US" altLang="en-US" sz="1800">
              <a:latin typeface="Cambria" panose="02040503050406030204" charset="0"/>
              <a:cs typeface="Cambria" panose="02040503050406030204" charset="0"/>
            </a:endParaRPr>
          </a:p>
          <a:p>
            <a:pPr marL="342900" indent="-342900">
              <a:buAutoNum type="arabicPeriod"/>
            </a:pPr>
            <a:r>
              <a:rPr lang="en-US" altLang="en-US" sz="1800">
                <a:latin typeface="Cambria" panose="02040503050406030204" charset="0"/>
                <a:cs typeface="Cambria" panose="02040503050406030204" charset="0"/>
                <a:sym typeface="+mn-ea"/>
              </a:rPr>
              <a:t>It provides database connection details like URL, username, and password.</a:t>
            </a:r>
            <a:endParaRPr lang="en-US" altLang="en-US" sz="1800">
              <a:latin typeface="Cambria" panose="02040503050406030204" charset="0"/>
              <a:cs typeface="Cambria" panose="02040503050406030204" charset="0"/>
            </a:endParaRPr>
          </a:p>
          <a:p>
            <a:pPr marL="342900" indent="-342900">
              <a:buAutoNum type="arabicPeriod"/>
            </a:pPr>
            <a:r>
              <a:rPr lang="en-US" altLang="en-US" sz="1800">
                <a:latin typeface="Cambria" panose="02040503050406030204" charset="0"/>
                <a:cs typeface="Cambria" panose="02040503050406030204" charset="0"/>
                <a:sym typeface="+mn-ea"/>
              </a:rPr>
              <a:t>It specifies the SQL dialect Hibernate should use.</a:t>
            </a:r>
            <a:endParaRPr lang="en-US" altLang="en-US" sz="1800">
              <a:latin typeface="Cambria" panose="02040503050406030204" charset="0"/>
              <a:cs typeface="Cambria" panose="02040503050406030204" charset="0"/>
            </a:endParaRPr>
          </a:p>
          <a:p>
            <a:pPr marL="342900" indent="-342900">
              <a:buAutoNum type="arabicPeriod"/>
            </a:pPr>
            <a:r>
              <a:rPr lang="en-US" altLang="en-US" sz="1800">
                <a:latin typeface="Cambria" panose="02040503050406030204" charset="0"/>
                <a:cs typeface="Cambria" panose="02040503050406030204" charset="0"/>
                <a:sym typeface="+mn-ea"/>
              </a:rPr>
              <a:t>It controls behavior settings such as showing SQL and auto-creating tables.</a:t>
            </a:r>
            <a:endParaRPr lang="en-US" altLang="en-US" sz="1800">
              <a:latin typeface="Cambria" panose="02040503050406030204" charset="0"/>
              <a:cs typeface="Cambria" panose="02040503050406030204" charset="0"/>
            </a:endParaRPr>
          </a:p>
          <a:p>
            <a:pPr marL="342900" indent="-342900">
              <a:buAutoNum type="arabicPeriod"/>
            </a:pPr>
            <a:r>
              <a:rPr lang="en-US" altLang="en-US" sz="1800">
                <a:latin typeface="Cambria" panose="02040503050406030204" charset="0"/>
                <a:cs typeface="Cambria" panose="02040503050406030204" charset="0"/>
                <a:sym typeface="+mn-ea"/>
              </a:rPr>
              <a:t>It registers entity classes or mapping files for ORM.</a:t>
            </a:r>
            <a:endParaRPr lang="en-US" altLang="en-US" sz="1800">
              <a:latin typeface="Cambria" panose="02040503050406030204" charset="0"/>
              <a:cs typeface="Cambria" panose="02040503050406030204" charset="0"/>
            </a:endParaRPr>
          </a:p>
          <a:p>
            <a:pPr marL="342900" indent="-342900">
              <a:buAutoNum type="arabicPeriod"/>
            </a:pPr>
            <a:r>
              <a:rPr lang="en-US" altLang="en-US" sz="1800">
                <a:latin typeface="Cambria" panose="02040503050406030204" charset="0"/>
                <a:cs typeface="Cambria" panose="02040503050406030204" charset="0"/>
                <a:sym typeface="+mn-ea"/>
              </a:rPr>
              <a:t>It keeps configuration separate from Java code for easier maintenance.</a:t>
            </a:r>
            <a:endParaRPr lang="en-US" altLang="en-US" sz="1800">
              <a:latin typeface="Cambria" panose="02040503050406030204" charset="0"/>
              <a:cs typeface="Cambria" panose="02040503050406030204" charset="0"/>
            </a:endParaRPr>
          </a:p>
          <a:p>
            <a:pPr marL="342900" indent="-342900">
              <a:buAutoNum type="arabicPeriod"/>
            </a:pPr>
            <a:r>
              <a:rPr lang="en-US" altLang="en-US" sz="1800">
                <a:latin typeface="Cambria" panose="02040503050406030204" charset="0"/>
                <a:cs typeface="Cambria" panose="02040503050406030204" charset="0"/>
                <a:sym typeface="+mn-ea"/>
              </a:rPr>
              <a:t>Hibernate reads this file at startup to build the SessionFactory.</a:t>
            </a:r>
            <a:endParaRPr lang="en-US" altLang="en-US" sz="1800">
              <a:latin typeface="Cambria" panose="02040503050406030204" charset="0"/>
              <a:cs typeface="Cambria" panose="02040503050406030204" charset="0"/>
            </a:endParaRPr>
          </a:p>
          <a:p>
            <a:pPr marL="342900" indent="-342900">
              <a:buAutoNum type="arabicPeriod"/>
            </a:pPr>
            <a:r>
              <a:rPr lang="en-US" altLang="en-US" sz="1800">
                <a:latin typeface="Cambria" panose="02040503050406030204" charset="0"/>
                <a:cs typeface="Cambria" panose="02040503050406030204" charset="0"/>
                <a:sym typeface="+mn-ea"/>
              </a:rPr>
              <a:t>It allows easy switching between environments (dev/test/prod).</a:t>
            </a:r>
            <a:endParaRPr lang="en-US" altLang="en-US" sz="1800">
              <a:latin typeface="Cambria" panose="02040503050406030204" charset="0"/>
              <a:cs typeface="Cambria" panose="02040503050406030204" charset="0"/>
            </a:endParaRPr>
          </a:p>
          <a:p>
            <a:pPr marL="342900" indent="-342900">
              <a:buAutoNum type="arabicPeriod"/>
            </a:pPr>
            <a:r>
              <a:rPr lang="en-US" altLang="en-US" sz="1800">
                <a:latin typeface="Cambria" panose="02040503050406030204" charset="0"/>
                <a:cs typeface="Cambria" panose="02040503050406030204" charset="0"/>
                <a:sym typeface="+mn-ea"/>
              </a:rPr>
              <a:t>Without this file, Hibernate cannot connect to the database or manage entities.</a:t>
            </a:r>
            <a:endParaRPr lang="en-US" altLang="en-US" sz="1800">
              <a:latin typeface="Cambria" panose="02040503050406030204" charset="0"/>
              <a:cs typeface="Cambria" panose="02040503050406030204" charset="0"/>
            </a:endParaRPr>
          </a:p>
          <a:p>
            <a:pPr marL="342900" indent="-342900">
              <a:buAutoNum type="arabicPeriod"/>
            </a:pPr>
            <a:r>
              <a:rPr lang="en-US" altLang="en-US" sz="1800">
                <a:latin typeface="Cambria" panose="02040503050406030204" charset="0"/>
                <a:cs typeface="Cambria" panose="02040503050406030204" charset="0"/>
                <a:sym typeface="+mn-ea"/>
              </a:rPr>
              <a:t>It serves as the central place for all Hibernate setup settings.</a:t>
            </a:r>
            <a:endParaRPr lang="en-US" altLang="en-US" sz="1800">
              <a:latin typeface="Cambria" panose="02040503050406030204" charset="0"/>
              <a:cs typeface="Cambria" panose="02040503050406030204" charset="0"/>
              <a:sym typeface="+mn-ea"/>
            </a:endParaRPr>
          </a:p>
        </p:txBody>
      </p:sp>
      <p:graphicFrame>
        <p:nvGraphicFramePr>
          <p:cNvPr id="5" name="Table 4"/>
          <p:cNvGraphicFramePr/>
          <p:nvPr>
            <p:custDataLst>
              <p:tags r:id="rId1"/>
            </p:custDataLst>
          </p:nvPr>
        </p:nvGraphicFramePr>
        <p:xfrm>
          <a:off x="191770" y="4368165"/>
          <a:ext cx="10485120" cy="2328545"/>
        </p:xfrm>
        <a:graphic>
          <a:graphicData uri="http://schemas.openxmlformats.org/drawingml/2006/table">
            <a:tbl>
              <a:tblPr/>
              <a:tblGrid>
                <a:gridCol w="5242560"/>
                <a:gridCol w="5242560"/>
              </a:tblGrid>
              <a:tr h="300990">
                <a:tc>
                  <a:txBody>
                    <a:bodyPr/>
                    <a:p>
                      <a:r>
                        <a:rPr sz="1800" b="1">
                          <a:latin typeface="Cambria" panose="02040503050406030204" charset="0"/>
                          <a:cs typeface="Cambria" panose="02040503050406030204" charset="0"/>
                        </a:rPr>
                        <a:t>Use Case</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1">
                          <a:latin typeface="Cambria" panose="02040503050406030204" charset="0"/>
                          <a:cs typeface="Cambria" panose="02040503050406030204" charset="0"/>
                        </a:rPr>
                        <a:t>Explanation</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0990">
                <a:tc>
                  <a:txBody>
                    <a:bodyPr/>
                    <a:p>
                      <a:r>
                        <a:rPr sz="1600" b="0">
                          <a:latin typeface="Cambria" panose="02040503050406030204" charset="0"/>
                          <a:cs typeface="Cambria" panose="02040503050406030204" charset="0"/>
                        </a:rPr>
                        <a:t> Configure database connection</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Set JDBC URL, driver, username, password</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0990">
                <a:tc>
                  <a:txBody>
                    <a:bodyPr/>
                    <a:p>
                      <a:r>
                        <a:rPr sz="1600" b="0">
                          <a:latin typeface="Cambria" panose="02040503050406030204" charset="0"/>
                          <a:cs typeface="Cambria" panose="02040503050406030204" charset="0"/>
                        </a:rPr>
                        <a:t> Specify JPA provider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Like Hibernate, EclipseLink, etc.</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0990">
                <a:tc>
                  <a:txBody>
                    <a:bodyPr/>
                    <a:p>
                      <a:r>
                        <a:rPr sz="1600" b="0">
                          <a:latin typeface="Cambria" panose="02040503050406030204" charset="0"/>
                          <a:cs typeface="Cambria" panose="02040503050406030204" charset="0"/>
                        </a:rPr>
                        <a:t> Register entity classes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Tells JPA which Java classes represent DB tables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522605">
                <a:tc>
                  <a:txBody>
                    <a:bodyPr/>
                    <a:p>
                      <a:r>
                        <a:rPr sz="1600" b="0">
                          <a:latin typeface="Cambria" panose="02040503050406030204" charset="0"/>
                          <a:cs typeface="Cambria" panose="02040503050406030204" charset="0"/>
                        </a:rPr>
                        <a:t> Schema management</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Auto-create/update DB schema using hibernate.hbm2ddl.auto</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0990">
                <a:tc>
                  <a:txBody>
                    <a:bodyPr/>
                    <a:p>
                      <a:r>
                        <a:rPr sz="1600" b="0">
                          <a:latin typeface="Cambria" panose="02040503050406030204" charset="0"/>
                          <a:cs typeface="Cambria" panose="02040503050406030204" charset="0"/>
                        </a:rPr>
                        <a:t> Enable debugging</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Show generated SQL using hibernate.show_sql</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0990">
                <a:tc>
                  <a:txBody>
                    <a:bodyPr/>
                    <a:p>
                      <a:r>
                        <a:rPr sz="1600" b="0">
                          <a:latin typeface="Cambria" panose="02040503050406030204" charset="0"/>
                          <a:cs typeface="Cambria" panose="02040503050406030204" charset="0"/>
                        </a:rPr>
                        <a:t> Multiple databases (optional)</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600" b="0">
                          <a:latin typeface="Cambria" panose="02040503050406030204" charset="0"/>
                          <a:cs typeface="Cambria" panose="02040503050406030204" charset="0"/>
                        </a:rPr>
                        <a:t>Define multiple &lt;persistence-unit&gt; blocks for multiple DBs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247015"/>
          </a:xfrm>
        </p:spPr>
        <p:txBody>
          <a:bodyPr>
            <a:noAutofit/>
          </a:bodyPr>
          <a:p>
            <a:pPr algn="ctr"/>
            <a:r>
              <a:rPr lang="en-US" sz="1800" b="1">
                <a:solidFill>
                  <a:srgbClr val="FF0000"/>
                </a:solidFill>
              </a:rPr>
              <a:t>Hibernate Configuration File</a:t>
            </a:r>
            <a:endParaRPr lang="en-US" sz="1800" b="1">
              <a:solidFill>
                <a:srgbClr val="FF0000"/>
              </a:solidFill>
            </a:endParaRPr>
          </a:p>
        </p:txBody>
      </p:sp>
      <p:sp>
        <p:nvSpPr>
          <p:cNvPr id="3" name="Content Placeholder 2"/>
          <p:cNvSpPr>
            <a:spLocks noGrp="1"/>
          </p:cNvSpPr>
          <p:nvPr>
            <p:ph idx="1"/>
          </p:nvPr>
        </p:nvSpPr>
        <p:spPr>
          <a:xfrm>
            <a:off x="101600" y="247015"/>
            <a:ext cx="12090400" cy="6440805"/>
          </a:xfrm>
        </p:spPr>
        <p:txBody>
          <a:bodyPr>
            <a:noAutofit/>
          </a:bodyPr>
          <a:p>
            <a:pPr marL="0" indent="0" algn="l">
              <a:buNone/>
            </a:pPr>
            <a:r>
              <a:rPr lang="en-US" altLang="en-US" sz="1800">
                <a:latin typeface="Cambria" panose="02040503050406030204" charset="0"/>
                <a:cs typeface="Cambria" panose="02040503050406030204" charset="0"/>
                <a:sym typeface="+mn-ea"/>
              </a:rPr>
              <a:t>&lt;?xml version="1.0" encoding="UTF-8"?&gt;       &lt;!DOCTYPE hibernate-configuration PUBLIC        "-//Hibernate/Hibernate Configuration DTD 5.3//EN"        "http://hibernate.org/dtd/hibernate-configuration-5.3.dtd"&gt;</a:t>
            </a:r>
            <a:endParaRPr lang="en-US" altLang="en-US" sz="1800">
              <a:latin typeface="Cambria" panose="02040503050406030204" charset="0"/>
              <a:cs typeface="Cambria" panose="02040503050406030204" charset="0"/>
            </a:endParaRPr>
          </a:p>
          <a:p>
            <a:pPr marL="0" indent="0" algn="l">
              <a:buNone/>
            </a:pPr>
            <a:r>
              <a:rPr lang="en-US" altLang="en-US" sz="1800">
                <a:latin typeface="Cambria" panose="02040503050406030204" charset="0"/>
                <a:cs typeface="Cambria" panose="02040503050406030204" charset="0"/>
                <a:sym typeface="+mn-ea"/>
              </a:rPr>
              <a:t>&lt;hibernate-configuration&gt;         &lt;session-factory&gt;</a:t>
            </a:r>
            <a:endParaRPr lang="en-US" altLang="en-US" sz="1800">
              <a:latin typeface="Cambria" panose="02040503050406030204" charset="0"/>
              <a:cs typeface="Cambria" panose="02040503050406030204" charset="0"/>
            </a:endParaRPr>
          </a:p>
          <a:p>
            <a:pPr marL="0" indent="0" algn="l">
              <a:buNone/>
            </a:pPr>
            <a:r>
              <a:rPr lang="en-US" altLang="en-US" sz="1800" b="1">
                <a:latin typeface="Cambria" panose="02040503050406030204" charset="0"/>
                <a:cs typeface="Cambria" panose="02040503050406030204" charset="0"/>
                <a:sym typeface="+mn-ea"/>
              </a:rPr>
              <a:t>        &lt;!-- Database connection settings --&gt;</a:t>
            </a:r>
            <a:endParaRPr lang="en-US" altLang="en-US" sz="1800" b="1">
              <a:latin typeface="Cambria" panose="02040503050406030204" charset="0"/>
              <a:cs typeface="Cambria" panose="02040503050406030204" charset="0"/>
            </a:endParaRPr>
          </a:p>
          <a:p>
            <a:pPr marL="0" indent="0" algn="l">
              <a:buNone/>
            </a:pPr>
            <a:r>
              <a:rPr lang="en-US" altLang="en-US" sz="1800">
                <a:latin typeface="Cambria" panose="02040503050406030204" charset="0"/>
                <a:cs typeface="Cambria" panose="02040503050406030204" charset="0"/>
                <a:sym typeface="+mn-ea"/>
              </a:rPr>
              <a:t>        &lt;property name="connection.driver_class"&gt;com.mysql.cj.jdbc.Driver&lt;/property&gt;</a:t>
            </a:r>
            <a:endParaRPr lang="en-US" altLang="en-US" sz="1800">
              <a:latin typeface="Cambria" panose="02040503050406030204" charset="0"/>
              <a:cs typeface="Cambria" panose="02040503050406030204" charset="0"/>
            </a:endParaRPr>
          </a:p>
          <a:p>
            <a:pPr marL="0" indent="0" algn="l">
              <a:buNone/>
            </a:pPr>
            <a:r>
              <a:rPr lang="en-US" altLang="en-US" sz="1800">
                <a:latin typeface="Cambria" panose="02040503050406030204" charset="0"/>
                <a:cs typeface="Cambria" panose="02040503050406030204" charset="0"/>
                <a:sym typeface="+mn-ea"/>
              </a:rPr>
              <a:t>        &lt;property name="connection.url"&gt;jdbc:mysql://localhost:3306/your_database&lt;/property&gt;</a:t>
            </a:r>
            <a:endParaRPr lang="en-US" altLang="en-US" sz="1800">
              <a:latin typeface="Cambria" panose="02040503050406030204" charset="0"/>
              <a:cs typeface="Cambria" panose="02040503050406030204" charset="0"/>
            </a:endParaRPr>
          </a:p>
          <a:p>
            <a:pPr marL="0" indent="0" algn="l">
              <a:buNone/>
            </a:pPr>
            <a:r>
              <a:rPr lang="en-US" altLang="en-US" sz="1800">
                <a:latin typeface="Cambria" panose="02040503050406030204" charset="0"/>
                <a:cs typeface="Cambria" panose="02040503050406030204" charset="0"/>
                <a:sym typeface="+mn-ea"/>
              </a:rPr>
              <a:t>        &lt;property name="connection.username"&gt;root&lt;/property&gt;</a:t>
            </a:r>
            <a:endParaRPr lang="en-US" altLang="en-US" sz="1800">
              <a:latin typeface="Cambria" panose="02040503050406030204" charset="0"/>
              <a:cs typeface="Cambria" panose="02040503050406030204" charset="0"/>
            </a:endParaRPr>
          </a:p>
          <a:p>
            <a:pPr marL="0" indent="0" algn="l">
              <a:buNone/>
            </a:pPr>
            <a:r>
              <a:rPr lang="en-US" altLang="en-US" sz="1800">
                <a:latin typeface="Cambria" panose="02040503050406030204" charset="0"/>
                <a:cs typeface="Cambria" panose="02040503050406030204" charset="0"/>
                <a:sym typeface="+mn-ea"/>
              </a:rPr>
              <a:t>        &lt;property name="connection.password"&gt;root&lt;/property&gt;</a:t>
            </a:r>
            <a:endParaRPr lang="en-US" altLang="en-US" sz="1800">
              <a:latin typeface="Cambria" panose="02040503050406030204" charset="0"/>
              <a:cs typeface="Cambria" panose="02040503050406030204" charset="0"/>
            </a:endParaRPr>
          </a:p>
          <a:p>
            <a:pPr marL="0" indent="0" algn="l">
              <a:buNone/>
            </a:pPr>
            <a:r>
              <a:rPr lang="en-US" altLang="en-US" sz="1800" b="1">
                <a:latin typeface="Cambria" panose="02040503050406030204" charset="0"/>
                <a:cs typeface="Cambria" panose="02040503050406030204" charset="0"/>
                <a:sym typeface="+mn-ea"/>
              </a:rPr>
              <a:t>        &lt;!-- SQL dialect --&gt;</a:t>
            </a:r>
            <a:endParaRPr lang="en-US" altLang="en-US" sz="1800" b="1">
              <a:latin typeface="Cambria" panose="02040503050406030204" charset="0"/>
              <a:cs typeface="Cambria" panose="02040503050406030204" charset="0"/>
            </a:endParaRPr>
          </a:p>
          <a:p>
            <a:pPr marL="0" indent="0" algn="l">
              <a:buNone/>
            </a:pPr>
            <a:r>
              <a:rPr lang="en-US" altLang="en-US" sz="1800">
                <a:latin typeface="Cambria" panose="02040503050406030204" charset="0"/>
                <a:cs typeface="Cambria" panose="02040503050406030204" charset="0"/>
                <a:sym typeface="+mn-ea"/>
              </a:rPr>
              <a:t>        &lt;property name="dialect"&gt;org.hibernate.dialect.MySQL8Dialect&lt;/property&gt;</a:t>
            </a:r>
            <a:endParaRPr lang="en-US" altLang="en-US" sz="1800">
              <a:latin typeface="Cambria" panose="02040503050406030204" charset="0"/>
              <a:cs typeface="Cambria" panose="02040503050406030204" charset="0"/>
            </a:endParaRPr>
          </a:p>
          <a:p>
            <a:pPr marL="0" indent="0" algn="l">
              <a:buNone/>
            </a:pPr>
            <a:r>
              <a:rPr lang="en-US" altLang="en-US" sz="1800" b="1">
                <a:latin typeface="Cambria" panose="02040503050406030204" charset="0"/>
                <a:cs typeface="Cambria" panose="02040503050406030204" charset="0"/>
                <a:sym typeface="+mn-ea"/>
              </a:rPr>
              <a:t>        &lt;!-- Enable SQL output to console --&gt;</a:t>
            </a:r>
            <a:endParaRPr lang="en-US" altLang="en-US" sz="1800" b="1">
              <a:latin typeface="Cambria" panose="02040503050406030204" charset="0"/>
              <a:cs typeface="Cambria" panose="02040503050406030204" charset="0"/>
            </a:endParaRPr>
          </a:p>
          <a:p>
            <a:pPr marL="0" indent="0" algn="l">
              <a:buNone/>
            </a:pPr>
            <a:r>
              <a:rPr lang="en-US" altLang="en-US" sz="1800">
                <a:latin typeface="Cambria" panose="02040503050406030204" charset="0"/>
                <a:cs typeface="Cambria" panose="02040503050406030204" charset="0"/>
                <a:sym typeface="+mn-ea"/>
              </a:rPr>
              <a:t>        &lt;property name="show_sql"&gt;true&lt;/property&gt;</a:t>
            </a:r>
            <a:endParaRPr lang="en-US" altLang="en-US" sz="1800">
              <a:latin typeface="Cambria" panose="02040503050406030204" charset="0"/>
              <a:cs typeface="Cambria" panose="02040503050406030204" charset="0"/>
            </a:endParaRPr>
          </a:p>
          <a:p>
            <a:pPr marL="0" indent="0" algn="l">
              <a:buNone/>
            </a:pPr>
            <a:r>
              <a:rPr lang="en-US" altLang="en-US" sz="1800">
                <a:latin typeface="Cambria" panose="02040503050406030204" charset="0"/>
                <a:cs typeface="Cambria" panose="02040503050406030204" charset="0"/>
                <a:sym typeface="+mn-ea"/>
              </a:rPr>
              <a:t>        &lt;property name="format_sql"&gt;true&lt;/property&gt;</a:t>
            </a:r>
            <a:endParaRPr lang="en-US" altLang="en-US" sz="1800">
              <a:latin typeface="Cambria" panose="02040503050406030204" charset="0"/>
              <a:cs typeface="Cambria" panose="02040503050406030204" charset="0"/>
            </a:endParaRPr>
          </a:p>
          <a:p>
            <a:pPr marL="0" indent="0" algn="l">
              <a:buNone/>
            </a:pPr>
            <a:r>
              <a:rPr lang="en-US" altLang="en-US" sz="1800" b="1">
                <a:latin typeface="Cambria" panose="02040503050406030204" charset="0"/>
                <a:cs typeface="Cambria" panose="02040503050406030204" charset="0"/>
                <a:sym typeface="+mn-ea"/>
              </a:rPr>
              <a:t>        &lt;!-- Auto schema generation --&gt;</a:t>
            </a:r>
            <a:endParaRPr lang="en-US" altLang="en-US" sz="1800" b="1">
              <a:latin typeface="Cambria" panose="02040503050406030204" charset="0"/>
              <a:cs typeface="Cambria" panose="02040503050406030204" charset="0"/>
            </a:endParaRPr>
          </a:p>
          <a:p>
            <a:pPr marL="0" indent="0" algn="l">
              <a:buNone/>
            </a:pPr>
            <a:r>
              <a:rPr lang="en-US" altLang="en-US" sz="1800">
                <a:latin typeface="Cambria" panose="02040503050406030204" charset="0"/>
                <a:cs typeface="Cambria" panose="02040503050406030204" charset="0"/>
                <a:sym typeface="+mn-ea"/>
              </a:rPr>
              <a:t>        &lt;property name="hibernate.hbm2ddl.auto"&gt;update&lt;/property&gt;</a:t>
            </a:r>
            <a:endParaRPr lang="en-US" altLang="en-US" sz="1800">
              <a:latin typeface="Cambria" panose="02040503050406030204" charset="0"/>
              <a:cs typeface="Cambria" panose="02040503050406030204" charset="0"/>
            </a:endParaRPr>
          </a:p>
          <a:p>
            <a:pPr marL="0" indent="0" algn="l">
              <a:buNone/>
            </a:pPr>
            <a:r>
              <a:rPr lang="en-US" altLang="en-US" sz="1800" b="1">
                <a:latin typeface="Cambria" panose="02040503050406030204" charset="0"/>
                <a:cs typeface="Cambria" panose="02040503050406030204" charset="0"/>
                <a:sym typeface="+mn-ea"/>
              </a:rPr>
              <a:t>        &lt;!-- Entity mapping --&gt;</a:t>
            </a:r>
            <a:endParaRPr lang="en-US" altLang="en-US" sz="1800" b="1">
              <a:latin typeface="Cambria" panose="02040503050406030204" charset="0"/>
              <a:cs typeface="Cambria" panose="02040503050406030204" charset="0"/>
            </a:endParaRPr>
          </a:p>
          <a:p>
            <a:pPr marL="0" indent="0" algn="l">
              <a:buNone/>
            </a:pPr>
            <a:r>
              <a:rPr lang="en-US" altLang="en-US" sz="1800">
                <a:latin typeface="Cambria" panose="02040503050406030204" charset="0"/>
                <a:cs typeface="Cambria" panose="02040503050406030204" charset="0"/>
                <a:sym typeface="+mn-ea"/>
              </a:rPr>
              <a:t>        &lt;mapping class="com.example.model.User"/&gt;</a:t>
            </a:r>
            <a:endParaRPr lang="en-US" altLang="en-US" sz="1800">
              <a:latin typeface="Cambria" panose="02040503050406030204" charset="0"/>
              <a:cs typeface="Cambria" panose="02040503050406030204" charset="0"/>
            </a:endParaRPr>
          </a:p>
          <a:p>
            <a:pPr marL="0" indent="0" algn="l">
              <a:buNone/>
            </a:pPr>
            <a:r>
              <a:rPr lang="en-US" altLang="en-US" sz="1800">
                <a:latin typeface="Cambria" panose="02040503050406030204" charset="0"/>
                <a:cs typeface="Cambria" panose="02040503050406030204" charset="0"/>
                <a:sym typeface="+mn-ea"/>
              </a:rPr>
              <a:t>    &lt;/session-factory&gt;   &lt;/hibernate-configuration&gt;</a:t>
            </a:r>
            <a:endParaRPr lang="en-US" altLang="en-US" sz="1800">
              <a:latin typeface="Cambria" panose="02040503050406030204" charset="0"/>
              <a:cs typeface="Cambria" panose="02040503050406030204" charset="0"/>
            </a:endParaRPr>
          </a:p>
          <a:p>
            <a:pPr marL="0" indent="0" algn="l">
              <a:buNone/>
            </a:pPr>
            <a:endParaRPr lang="en-US" altLang="en-US" sz="1800">
              <a:latin typeface="Cambria" panose="02040503050406030204" charset="0"/>
              <a:cs typeface="Cambria" panose="02040503050406030204" charset="0"/>
            </a:endParaRPr>
          </a:p>
          <a:p>
            <a:pPr marL="0" indent="0">
              <a:buNone/>
            </a:pPr>
            <a:endParaRPr lang="en-US" altLang="en-US" sz="1800">
              <a:latin typeface="Cambria" panose="02040503050406030204" charset="0"/>
              <a:cs typeface="Cambria" panose="020405030504060302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73380" y="114300"/>
            <a:ext cx="11610340" cy="6559550"/>
          </a:xfrm>
        </p:spPr>
        <p:txBody>
          <a:bodyPr>
            <a:noAutofit/>
          </a:bodyPr>
          <a:p>
            <a:pPr marL="0" indent="0">
              <a:buNone/>
            </a:pPr>
            <a:r>
              <a:rPr lang="en-US" altLang="en-US" sz="1800"/>
              <a:t>Replace your_db_name with your MySQL database name</a:t>
            </a:r>
            <a:endParaRPr lang="en-US" altLang="en-US" sz="1800"/>
          </a:p>
          <a:p>
            <a:pPr marL="0" indent="0">
              <a:buNone/>
            </a:pPr>
            <a:r>
              <a:rPr lang="en-US" altLang="en-US" sz="1800"/>
              <a:t>your_db_user and your_db_password with actual DB credentials</a:t>
            </a:r>
            <a:endParaRPr lang="en-US" altLang="en-US" sz="1800"/>
          </a:p>
          <a:p>
            <a:pPr marL="0" indent="0">
              <a:buNone/>
            </a:pPr>
            <a:r>
              <a:rPr lang="en-US" altLang="en-US" sz="1800"/>
              <a:t>hibernate.dialect must match your DB (e.g., MySQL8Dialect, PostgreSQLDialect, etc.)</a:t>
            </a:r>
            <a:endParaRPr lang="en-US" altLang="en-US" sz="1800"/>
          </a:p>
          <a:p>
            <a:pPr marL="0" indent="0">
              <a:buNone/>
            </a:pPr>
            <a:r>
              <a:rPr lang="en-US" altLang="en-US" sz="1800"/>
              <a:t>hibernate.hbm2ddl.auto options:</a:t>
            </a:r>
            <a:endParaRPr lang="en-US" altLang="en-US" sz="1800"/>
          </a:p>
          <a:p>
            <a:pPr marL="0" indent="0">
              <a:buNone/>
            </a:pPr>
            <a:r>
              <a:rPr lang="en-US" altLang="en-US" sz="1800"/>
              <a:t>update → Updates schema automatically (safe for dev)</a:t>
            </a:r>
            <a:endParaRPr lang="en-US" altLang="en-US" sz="1800"/>
          </a:p>
          <a:p>
            <a:pPr marL="0" indent="0">
              <a:buNone/>
            </a:pPr>
            <a:r>
              <a:rPr lang="en-US" altLang="en-US" sz="1800"/>
              <a:t>create → Drops and recreates schema every run</a:t>
            </a:r>
            <a:endParaRPr lang="en-US" altLang="en-US" sz="1800"/>
          </a:p>
          <a:p>
            <a:pPr marL="0" indent="0">
              <a:buNone/>
            </a:pPr>
            <a:r>
              <a:rPr lang="en-US" altLang="en-US" sz="1800"/>
              <a:t>validate → Just checks if schema matches, no change</a:t>
            </a:r>
            <a:endParaRPr lang="en-US" altLang="en-US" sz="1800"/>
          </a:p>
          <a:p>
            <a:pPr marL="0" indent="0">
              <a:buNone/>
            </a:pPr>
            <a:r>
              <a:rPr lang="en-US" altLang="en-US" sz="1800"/>
              <a:t>&lt;property name="hibernate.current_session_context_class"&gt;thread&lt;/property&gt;</a:t>
            </a:r>
            <a:endParaRPr lang="en-US" altLang="en-US" sz="1800"/>
          </a:p>
          <a:p>
            <a:pPr marL="0" indent="0">
              <a:buNone/>
            </a:pPr>
            <a:endParaRPr lang="en-US" altLang="en-US" sz="1800"/>
          </a:p>
          <a:p>
            <a:pPr marL="0" indent="0">
              <a:buNone/>
            </a:pPr>
            <a:r>
              <a:rPr lang="en-US" altLang="en-US" sz="1800"/>
              <a:t>@Service</a:t>
            </a:r>
            <a:endParaRPr lang="en-US" altLang="en-US" sz="1800"/>
          </a:p>
          <a:p>
            <a:pPr marL="0" indent="0">
              <a:buNone/>
            </a:pPr>
            <a:r>
              <a:rPr lang="en-US" altLang="en-US" sz="1800"/>
              <a:t>public class ProductService {</a:t>
            </a:r>
            <a:endParaRPr lang="en-US" altLang="en-US" sz="1800"/>
          </a:p>
          <a:p>
            <a:pPr marL="0" indent="0">
              <a:buNone/>
            </a:pPr>
            <a:r>
              <a:rPr lang="en-US" altLang="en-US" sz="1800"/>
              <a:t>    @Autowired</a:t>
            </a:r>
            <a:endParaRPr lang="en-US" altLang="en-US" sz="1800"/>
          </a:p>
          <a:p>
            <a:pPr marL="0" indent="0">
              <a:buNone/>
            </a:pPr>
            <a:r>
              <a:rPr lang="en-US" altLang="en-US" sz="1800"/>
              <a:t>    private SessionFactory sessionFactory;</a:t>
            </a:r>
            <a:endParaRPr lang="en-US" altLang="en-US" sz="1800"/>
          </a:p>
          <a:p>
            <a:pPr marL="0" indent="0">
              <a:buNone/>
            </a:pPr>
            <a:r>
              <a:rPr lang="en-US" altLang="en-US" sz="1800"/>
              <a:t>    @Transactional</a:t>
            </a:r>
            <a:endParaRPr lang="en-US" altLang="en-US" sz="1800"/>
          </a:p>
          <a:p>
            <a:pPr marL="0" indent="0">
              <a:buNone/>
            </a:pPr>
            <a:r>
              <a:rPr lang="en-US" altLang="en-US" sz="1800"/>
              <a:t>    public void save(Product product) {</a:t>
            </a:r>
            <a:endParaRPr lang="en-US" altLang="en-US" sz="1800"/>
          </a:p>
          <a:p>
            <a:pPr marL="0" indent="0">
              <a:buNone/>
            </a:pPr>
            <a:r>
              <a:rPr lang="en-US" altLang="en-US" sz="1800"/>
              <a:t>        sessionFactory.getCurrentSession().save(product);</a:t>
            </a:r>
            <a:endParaRPr lang="en-US" altLang="en-US" sz="1800"/>
          </a:p>
          <a:p>
            <a:pPr marL="0" indent="0">
              <a:buNone/>
            </a:pPr>
            <a:r>
              <a:rPr lang="en-US" altLang="en-US" sz="1800"/>
              <a:t>    }}</a:t>
            </a:r>
            <a:endParaRPr lang="en-US" altLang="en-US" sz="1800"/>
          </a:p>
          <a:p>
            <a:pPr marL="0" indent="0">
              <a:buNone/>
            </a:pPr>
            <a:endParaRPr lang="en-US" altLang="en-US" sz="1800"/>
          </a:p>
        </p:txBody>
      </p:sp>
      <p:sp>
        <p:nvSpPr>
          <p:cNvPr id="2" name="Text Box 1"/>
          <p:cNvSpPr txBox="1"/>
          <p:nvPr/>
        </p:nvSpPr>
        <p:spPr>
          <a:xfrm>
            <a:off x="5306695" y="3319145"/>
            <a:ext cx="6096000" cy="744855"/>
          </a:xfrm>
          <a:prstGeom prst="rect">
            <a:avLst/>
          </a:prstGeom>
          <a:noFill/>
        </p:spPr>
        <p:txBody>
          <a:bodyPr wrap="square" rtlCol="0" anchor="t">
            <a:noAutofit/>
          </a:bodyPr>
          <a:p>
            <a:r>
              <a:rPr lang="en-US" altLang="en-US"/>
              <a:t>Session session = sessionFactory.getCurrentSession();</a:t>
            </a:r>
            <a:endParaRPr lang="en-US" altLang="en-US"/>
          </a:p>
          <a:p>
            <a:r>
              <a:rPr lang="en-US" altLang="en-US"/>
              <a:t>session.save(product);</a:t>
            </a:r>
            <a:endParaRPr lang="en-US" altLang="en-US"/>
          </a:p>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0015" y="130810"/>
            <a:ext cx="10515600" cy="403860"/>
          </a:xfrm>
        </p:spPr>
        <p:txBody>
          <a:bodyPr>
            <a:noAutofit/>
          </a:bodyPr>
          <a:p>
            <a:r>
              <a:rPr lang="en-US" altLang="en-US" sz="2800" b="1">
                <a:solidFill>
                  <a:srgbClr val="FF0000"/>
                </a:solidFill>
                <a:latin typeface="Cambria" panose="02040503050406030204" charset="0"/>
                <a:cs typeface="Cambria" panose="02040503050406030204" charset="0"/>
              </a:rPr>
              <a:t>xml</a:t>
            </a:r>
            <a:endParaRPr lang="en-US" altLang="en-US" sz="28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120015" y="534670"/>
            <a:ext cx="11878310" cy="2198370"/>
          </a:xfrm>
        </p:spPr>
        <p:txBody>
          <a:bodyPr/>
          <a:p>
            <a:r>
              <a:rPr lang="en-US" altLang="en-US" sz="1800">
                <a:latin typeface="Cambria" panose="02040503050406030204" charset="0"/>
                <a:cs typeface="Cambria" panose="02040503050406030204" charset="0"/>
                <a:sym typeface="+mn-ea"/>
              </a:rPr>
              <a:t>XML (eXtensible Markup Language) is a text-based format used to store and transport data in a structured, human-readable, and machine-readable way.</a:t>
            </a:r>
            <a:br>
              <a:rPr lang="en-US" altLang="en-US" sz="1800">
                <a:latin typeface="Cambria" panose="02040503050406030204" charset="0"/>
                <a:cs typeface="Cambria" panose="02040503050406030204" charset="0"/>
                <a:sym typeface="+mn-ea"/>
              </a:rPr>
            </a:br>
            <a:r>
              <a:rPr lang="en-US" altLang="en-US" sz="1800">
                <a:latin typeface="Cambria" panose="02040503050406030204" charset="0"/>
                <a:cs typeface="Cambria" panose="02040503050406030204" charset="0"/>
                <a:sym typeface="+mn-ea"/>
              </a:rPr>
              <a:t>It's similar to HTML but is used for data representation, not display.</a:t>
            </a:r>
            <a:endParaRPr lang="en-US" altLang="en-US" sz="1800">
              <a:latin typeface="Cambria" panose="02040503050406030204" charset="0"/>
              <a:cs typeface="Cambria" panose="02040503050406030204" charset="0"/>
              <a:sym typeface="+mn-ea"/>
            </a:endParaRPr>
          </a:p>
          <a:p>
            <a:r>
              <a:rPr lang="en-US" altLang="en-US" sz="1800">
                <a:latin typeface="Cambria" panose="02040503050406030204" charset="0"/>
                <a:cs typeface="Cambria" panose="02040503050406030204" charset="0"/>
              </a:rPr>
              <a:t>XML uses "tags" to define elements.</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Tags come in opening and closing pairs:</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You can also have self-closing tags:</a:t>
            </a:r>
            <a:endParaRPr lang="en-US" altLang="en-US" sz="1800">
              <a:latin typeface="Cambria" panose="02040503050406030204" charset="0"/>
              <a:cs typeface="Cambria" panose="02040503050406030204" charset="0"/>
            </a:endParaRPr>
          </a:p>
          <a:p>
            <a:endParaRPr lang="en-US" altLang="en-US" sz="1800">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113030" y="2845435"/>
          <a:ext cx="11752580" cy="1866900"/>
        </p:xfrm>
        <a:graphic>
          <a:graphicData uri="http://schemas.openxmlformats.org/drawingml/2006/table">
            <a:tbl>
              <a:tblPr/>
              <a:tblGrid>
                <a:gridCol w="5876290"/>
                <a:gridCol w="5876290"/>
              </a:tblGrid>
              <a:tr h="373380">
                <a:tc>
                  <a:txBody>
                    <a:bodyPr/>
                    <a:p>
                      <a:r>
                        <a:rPr sz="1800" b="1">
                          <a:latin typeface="Cambria" panose="02040503050406030204" charset="0"/>
                          <a:cs typeface="Cambria" panose="02040503050406030204" charset="0"/>
                        </a:rPr>
                        <a:t>Feature</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1">
                          <a:latin typeface="Cambria" panose="02040503050406030204" charset="0"/>
                          <a:cs typeface="Cambria" panose="02040503050406030204" charset="0"/>
                        </a:rPr>
                        <a:t>Description</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73380">
                <a:tc>
                  <a:txBody>
                    <a:bodyPr/>
                    <a:p>
                      <a:r>
                        <a:rPr sz="1800" b="0">
                          <a:latin typeface="Cambria" panose="02040503050406030204" charset="0"/>
                          <a:cs typeface="Cambria" panose="02040503050406030204" charset="0"/>
                        </a:rPr>
                        <a:t>XML</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Markup language for structured data</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73380">
                <a:tc>
                  <a:txBody>
                    <a:bodyPr/>
                    <a:p>
                      <a:r>
                        <a:rPr sz="1800" b="0">
                          <a:latin typeface="Cambria" panose="02040503050406030204" charset="0"/>
                          <a:cs typeface="Cambria" panose="02040503050406030204" charset="0"/>
                        </a:rPr>
                        <a:t>Tags</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Used to define elements, attributes, and structure</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73380">
                <a:tc>
                  <a:txBody>
                    <a:bodyPr/>
                    <a:p>
                      <a:r>
                        <a:rPr sz="1800" b="0">
                          <a:latin typeface="Cambria" panose="02040503050406030204" charset="0"/>
                          <a:cs typeface="Cambria" panose="02040503050406030204" charset="0"/>
                        </a:rPr>
                        <a:t>Hierarchy</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Tree-like structure with nested elements</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73380">
                <a:tc>
                  <a:txBody>
                    <a:bodyPr/>
                    <a:p>
                      <a:r>
                        <a:rPr sz="1800" b="0">
                          <a:latin typeface="Cambria" panose="02040503050406030204" charset="0"/>
                          <a:cs typeface="Cambria" panose="02040503050406030204" charset="0"/>
                        </a:rPr>
                        <a:t>Use Cases</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Config, communication, data storage, and more</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
        <p:nvSpPr>
          <p:cNvPr id="6" name="Text Box 5"/>
          <p:cNvSpPr txBox="1"/>
          <p:nvPr/>
        </p:nvSpPr>
        <p:spPr>
          <a:xfrm>
            <a:off x="120015" y="4973320"/>
            <a:ext cx="11952605" cy="1710690"/>
          </a:xfrm>
          <a:prstGeom prst="rect">
            <a:avLst/>
          </a:prstGeom>
        </p:spPr>
        <p:txBody>
          <a:bodyPr wrap="square">
            <a:noAutofit/>
          </a:bodyPr>
          <a:p>
            <a:r>
              <a:rPr>
                <a:latin typeface="Cambria" panose="02040503050406030204" charset="0"/>
                <a:cs typeface="Cambria" panose="02040503050406030204" charset="0"/>
              </a:rPr>
              <a:t>Configuration files (e.g., persistence.xml, web.xml)</a:t>
            </a:r>
            <a:endParaRPr>
              <a:latin typeface="Cambria" panose="02040503050406030204" charset="0"/>
              <a:cs typeface="Cambria" panose="02040503050406030204" charset="0"/>
            </a:endParaRPr>
          </a:p>
          <a:p>
            <a:r>
              <a:rPr>
                <a:latin typeface="Cambria" panose="02040503050406030204" charset="0"/>
                <a:cs typeface="Cambria" panose="02040503050406030204" charset="0"/>
              </a:rPr>
              <a:t>Data exchange (between systems or over APIs)</a:t>
            </a:r>
            <a:endParaRPr>
              <a:latin typeface="Cambria" panose="02040503050406030204" charset="0"/>
              <a:cs typeface="Cambria" panose="02040503050406030204" charset="0"/>
            </a:endParaRPr>
          </a:p>
          <a:p>
            <a:r>
              <a:rPr>
                <a:latin typeface="Cambria" panose="02040503050406030204" charset="0"/>
                <a:cs typeface="Cambria" panose="02040503050406030204" charset="0"/>
              </a:rPr>
              <a:t>Document structure (e.g., SVG, DOCX internally uses XML)</a:t>
            </a:r>
            <a:endParaRPr>
              <a:latin typeface="Cambria" panose="02040503050406030204" charset="0"/>
              <a:cs typeface="Cambria" panose="02040503050406030204" charset="0"/>
            </a:endParaRPr>
          </a:p>
          <a:p>
            <a:r>
              <a:rPr>
                <a:latin typeface="Cambria" panose="02040503050406030204" charset="0"/>
                <a:cs typeface="Cambria" panose="02040503050406030204" charset="0"/>
              </a:rPr>
              <a:t>Android layout and manifest files</a:t>
            </a:r>
            <a:endParaRPr>
              <a:latin typeface="Cambria" panose="02040503050406030204" charset="0"/>
              <a:cs typeface="Cambria" panose="02040503050406030204" charset="0"/>
            </a:endParaRPr>
          </a:p>
          <a:p>
            <a:r>
              <a:rPr>
                <a:latin typeface="Cambria" panose="02040503050406030204" charset="0"/>
                <a:cs typeface="Cambria" panose="02040503050406030204" charset="0"/>
              </a:rPr>
              <a:t>RSS feeds</a:t>
            </a:r>
            <a:endParaRPr>
              <a:latin typeface="Cambria" panose="02040503050406030204" charset="0"/>
              <a:cs typeface="Cambria" panose="0204050305040603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248920" y="318770"/>
            <a:ext cx="7747635" cy="2212340"/>
          </a:xfrm>
          <a:prstGeom prst="rect">
            <a:avLst/>
          </a:prstGeom>
        </p:spPr>
        <p:txBody>
          <a:bodyPr wrap="square">
            <a:noAutofit/>
          </a:bodyPr>
          <a:p>
            <a:r>
              <a:rPr>
                <a:latin typeface="Cambria" panose="02040503050406030204" charset="0"/>
                <a:cs typeface="Cambria" panose="02040503050406030204" charset="0"/>
              </a:rPr>
              <a:t>No, XML does not have predefined tags.</a:t>
            </a:r>
            <a:endParaRPr>
              <a:latin typeface="Cambria" panose="02040503050406030204" charset="0"/>
              <a:cs typeface="Cambria" panose="02040503050406030204" charset="0"/>
            </a:endParaRPr>
          </a:p>
          <a:p>
            <a:pPr>
              <a:spcAft>
                <a:spcPct val="60000"/>
              </a:spcAft>
            </a:pPr>
            <a:r>
              <a:rPr b="1">
                <a:latin typeface="Cambria" panose="02040503050406030204" charset="0"/>
                <a:cs typeface="Cambria" panose="02040503050406030204" charset="0"/>
              </a:rPr>
              <a:t>Explanation:</a:t>
            </a:r>
            <a:endParaRPr b="1">
              <a:latin typeface="Cambria" panose="02040503050406030204" charset="0"/>
              <a:cs typeface="Cambria" panose="02040503050406030204" charset="0"/>
            </a:endParaRPr>
          </a:p>
          <a:p>
            <a:pPr>
              <a:spcAft>
                <a:spcPct val="60000"/>
              </a:spcAft>
            </a:pPr>
            <a:r>
              <a:rPr>
                <a:latin typeface="Cambria" panose="02040503050406030204" charset="0"/>
                <a:cs typeface="Cambria" panose="02040503050406030204" charset="0"/>
              </a:rPr>
              <a:t>XML is extensible — that’s literally what the "X" stands for in XML.</a:t>
            </a:r>
            <a:endParaRPr>
              <a:latin typeface="Cambria" panose="02040503050406030204" charset="0"/>
              <a:cs typeface="Cambria" panose="02040503050406030204" charset="0"/>
            </a:endParaRPr>
          </a:p>
          <a:p>
            <a:pPr>
              <a:buFont typeface="Arial" panose="020B0604020202020204"/>
              <a:buChar char="•"/>
            </a:pPr>
            <a:r>
              <a:rPr>
                <a:latin typeface="Cambria" panose="02040503050406030204" charset="0"/>
                <a:cs typeface="Cambria" panose="02040503050406030204" charset="0"/>
              </a:rPr>
              <a:t>This means you define your own tags based on your data needs.</a:t>
            </a:r>
            <a:endParaRPr>
              <a:latin typeface="Cambria" panose="02040503050406030204" charset="0"/>
              <a:cs typeface="Cambria" panose="02040503050406030204" charset="0"/>
            </a:endParaRPr>
          </a:p>
          <a:p>
            <a:pPr>
              <a:buFont typeface="Arial" panose="020B0604020202020204"/>
              <a:buChar char="•"/>
            </a:pPr>
            <a:r>
              <a:rPr>
                <a:latin typeface="Cambria" panose="02040503050406030204" charset="0"/>
                <a:cs typeface="Cambria" panose="02040503050406030204" charset="0"/>
              </a:rPr>
              <a:t>XML is not like HTML, which has predefined tags like &lt;div&gt;, &lt;p&gt;, &lt;h1&gt;, etc.</a:t>
            </a:r>
            <a:endParaRPr>
              <a:latin typeface="Cambria" panose="02040503050406030204" charset="0"/>
              <a:cs typeface="Cambria" panose="02040503050406030204" charset="0"/>
            </a:endParaRPr>
          </a:p>
        </p:txBody>
      </p:sp>
      <p:sp>
        <p:nvSpPr>
          <p:cNvPr id="7" name="Text Box 6"/>
          <p:cNvSpPr txBox="1"/>
          <p:nvPr/>
        </p:nvSpPr>
        <p:spPr>
          <a:xfrm>
            <a:off x="7790815" y="548005"/>
            <a:ext cx="3854450" cy="1753235"/>
          </a:xfrm>
          <a:prstGeom prst="rect">
            <a:avLst/>
          </a:prstGeom>
          <a:noFill/>
        </p:spPr>
        <p:txBody>
          <a:bodyPr wrap="square" rtlCol="0" anchor="t">
            <a:spAutoFit/>
          </a:bodyPr>
          <a:p>
            <a:r>
              <a:rPr lang="en-US" altLang="en-US"/>
              <a:t>Example of  XML Lanauge</a:t>
            </a:r>
            <a:endParaRPr lang="en-US" altLang="en-US"/>
          </a:p>
          <a:p>
            <a:r>
              <a:rPr lang="en-US" altLang="en-US"/>
              <a:t>&lt;book&gt;</a:t>
            </a:r>
            <a:endParaRPr lang="en-US" altLang="en-US"/>
          </a:p>
          <a:p>
            <a:r>
              <a:rPr lang="en-US" altLang="en-US"/>
              <a:t>  &lt;title&gt;Effective Java&lt;/title&gt;</a:t>
            </a:r>
            <a:endParaRPr lang="en-US" altLang="en-US"/>
          </a:p>
          <a:p>
            <a:r>
              <a:rPr lang="en-US" altLang="en-US"/>
              <a:t>  &lt;author&gt;Joshua Bloch&lt;/author&gt;</a:t>
            </a:r>
            <a:endParaRPr lang="en-US" altLang="en-US"/>
          </a:p>
          <a:p>
            <a:r>
              <a:rPr lang="en-US" altLang="en-US"/>
              <a:t>  &lt;price&gt;45.00&lt;/price&gt;</a:t>
            </a:r>
            <a:endParaRPr lang="en-US" altLang="en-US"/>
          </a:p>
          <a:p>
            <a:r>
              <a:rPr lang="en-US" altLang="en-US"/>
              <a:t>&lt;/book&gt;</a:t>
            </a:r>
            <a:endParaRPr lang="en-US"/>
          </a:p>
        </p:txBody>
      </p:sp>
      <p:graphicFrame>
        <p:nvGraphicFramePr>
          <p:cNvPr id="2" name="Table 1"/>
          <p:cNvGraphicFramePr/>
          <p:nvPr>
            <p:custDataLst>
              <p:tags r:id="rId1"/>
            </p:custDataLst>
          </p:nvPr>
        </p:nvGraphicFramePr>
        <p:xfrm>
          <a:off x="142875" y="2531110"/>
          <a:ext cx="10610850" cy="1571625"/>
        </p:xfrm>
        <a:graphic>
          <a:graphicData uri="http://schemas.openxmlformats.org/drawingml/2006/table">
            <a:tbl>
              <a:tblPr/>
              <a:tblGrid>
                <a:gridCol w="5305425"/>
                <a:gridCol w="5305425"/>
              </a:tblGrid>
              <a:tr h="314325">
                <a:tc>
                  <a:txBody>
                    <a:bodyPr/>
                    <a:p>
                      <a:pPr algn="ctr"/>
                      <a:r>
                        <a:rPr sz="2000" b="1">
                          <a:latin typeface="Cambria" panose="02040503050406030204" charset="0"/>
                          <a:cs typeface="Cambria" panose="02040503050406030204" charset="0"/>
                        </a:rPr>
                        <a:t>Feature</a:t>
                      </a:r>
                      <a:endParaRPr sz="20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2000" b="1">
                          <a:latin typeface="Cambria" panose="02040503050406030204" charset="0"/>
                          <a:cs typeface="Cambria" panose="02040503050406030204" charset="0"/>
                        </a:rPr>
                        <a:t>Does XML have it?</a:t>
                      </a:r>
                      <a:endParaRPr sz="20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14325">
                <a:tc>
                  <a:txBody>
                    <a:bodyPr/>
                    <a:p>
                      <a:pPr algn="l"/>
                      <a:r>
                        <a:rPr sz="1600" b="1">
                          <a:latin typeface="Cambria" panose="02040503050406030204" charset="0"/>
                          <a:cs typeface="Cambria" panose="02040503050406030204" charset="0"/>
                        </a:rPr>
                        <a:t>Predefined tags</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1">
                          <a:latin typeface="Cambria" panose="02040503050406030204" charset="0"/>
                          <a:cs typeface="Cambria" panose="02040503050406030204" charset="0"/>
                        </a:rPr>
                        <a:t> No</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14325">
                <a:tc>
                  <a:txBody>
                    <a:bodyPr/>
                    <a:p>
                      <a:pPr algn="l"/>
                      <a:r>
                        <a:rPr sz="1600" b="1">
                          <a:latin typeface="Cambria" panose="02040503050406030204" charset="0"/>
                          <a:cs typeface="Cambria" panose="02040503050406030204" charset="0"/>
                        </a:rPr>
                        <a:t>User-defined tags</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1">
                          <a:latin typeface="Cambria" panose="02040503050406030204" charset="0"/>
                          <a:cs typeface="Cambria" panose="02040503050406030204" charset="0"/>
                        </a:rPr>
                        <a:t> Yes</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14325">
                <a:tc>
                  <a:txBody>
                    <a:bodyPr/>
                    <a:p>
                      <a:pPr algn="l"/>
                      <a:r>
                        <a:rPr sz="1600" b="1">
                          <a:latin typeface="Cambria" panose="02040503050406030204" charset="0"/>
                          <a:cs typeface="Cambria" panose="02040503050406030204" charset="0"/>
                        </a:rPr>
                        <a:t>Rules for tag names</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1">
                          <a:latin typeface="Cambria" panose="02040503050406030204" charset="0"/>
                          <a:cs typeface="Cambria" panose="02040503050406030204" charset="0"/>
                        </a:rPr>
                        <a:t> Must follow naming rules (no spaces, start with letter)</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14325">
                <a:tc>
                  <a:txBody>
                    <a:bodyPr/>
                    <a:p>
                      <a:pPr algn="l"/>
                      <a:r>
                        <a:rPr sz="1600" b="1">
                          <a:latin typeface="Cambria" panose="02040503050406030204" charset="0"/>
                          <a:cs typeface="Cambria" panose="02040503050406030204" charset="0"/>
                        </a:rPr>
                        <a:t>Schema/DTD definition</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600" b="1">
                          <a:latin typeface="Cambria" panose="02040503050406030204" charset="0"/>
                          <a:cs typeface="Cambria" panose="02040503050406030204" charset="0"/>
                        </a:rPr>
                        <a:t> Optional, to enforce tag rules</a:t>
                      </a:r>
                      <a:endParaRPr sz="16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
        <p:nvSpPr>
          <p:cNvPr id="3" name="Text Box 2"/>
          <p:cNvSpPr txBox="1"/>
          <p:nvPr/>
        </p:nvSpPr>
        <p:spPr>
          <a:xfrm>
            <a:off x="248920" y="4333240"/>
            <a:ext cx="11692890" cy="1961515"/>
          </a:xfrm>
          <a:prstGeom prst="rect">
            <a:avLst/>
          </a:prstGeom>
          <a:noFill/>
        </p:spPr>
        <p:txBody>
          <a:bodyPr wrap="square" rtlCol="0" anchor="t">
            <a:noAutofit/>
          </a:bodyPr>
          <a:p>
            <a:pPr marL="0" indent="0" algn="ctr">
              <a:buNone/>
            </a:pPr>
            <a:r>
              <a:rPr lang="en-US" altLang="en-US" b="1">
                <a:solidFill>
                  <a:srgbClr val="FF0000"/>
                </a:solidFill>
                <a:sym typeface="+mn-ea"/>
              </a:rPr>
              <a:t> Why Interfaces?</a:t>
            </a:r>
            <a:endParaRPr lang="en-US" altLang="en-US" b="1">
              <a:solidFill>
                <a:srgbClr val="FF0000"/>
              </a:solidFill>
              <a:sym typeface="+mn-ea"/>
            </a:endParaRPr>
          </a:p>
          <a:p>
            <a:pPr marL="0" indent="0" algn="ctr">
              <a:buNone/>
            </a:pPr>
            <a:endParaRPr lang="en-US" altLang="en-US" b="1">
              <a:solidFill>
                <a:srgbClr val="FF0000"/>
              </a:solidFill>
            </a:endParaRPr>
          </a:p>
          <a:p>
            <a:pPr marL="0" indent="0">
              <a:buNone/>
            </a:pPr>
            <a:r>
              <a:rPr lang="en-US" altLang="en-US" sz="2000">
                <a:sym typeface="+mn-ea"/>
              </a:rPr>
              <a:t>Allows for flexibility and pluggability.</a:t>
            </a:r>
            <a:endParaRPr lang="en-US" altLang="en-US" sz="2000"/>
          </a:p>
          <a:p>
            <a:pPr marL="0" indent="0">
              <a:buNone/>
            </a:pPr>
            <a:r>
              <a:rPr lang="en-US" altLang="en-US" sz="2000">
                <a:sym typeface="+mn-ea"/>
              </a:rPr>
              <a:t>You can switch from Hibernate to another JPA provider (like EclipseLink) with minimal changes.</a:t>
            </a:r>
            <a:endParaRPr lang="en-US" altLang="en-US" sz="2000"/>
          </a:p>
          <a:p>
            <a:pPr marL="0" indent="0">
              <a:buNone/>
            </a:pPr>
            <a:r>
              <a:rPr lang="en-US" altLang="en-US" sz="2000">
                <a:sym typeface="+mn-ea"/>
              </a:rPr>
              <a:t>Encourages abstraction and loose coupling.</a:t>
            </a:r>
            <a:endParaRPr lang="en-US" altLang="en-US" sz="200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387350"/>
            <a:ext cx="12004040" cy="6421120"/>
          </a:xfrm>
        </p:spPr>
        <p:txBody>
          <a:bodyPr>
            <a:normAutofit/>
          </a:bodyPr>
          <a:p>
            <a:pPr marL="0" indent="0">
              <a:buNone/>
            </a:pPr>
            <a:r>
              <a:rPr lang="en-US" altLang="en-US" sz="1800"/>
              <a:t> </a:t>
            </a: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r>
              <a:rPr lang="en-US" altLang="en-US" sz="1800"/>
              <a:t>Definition:</a:t>
            </a:r>
            <a:endParaRPr lang="en-US" altLang="en-US" sz="1800"/>
          </a:p>
          <a:p>
            <a:pPr marL="0" indent="0">
              <a:buNone/>
            </a:pPr>
            <a:r>
              <a:rPr lang="en-US" altLang="en-US" sz="1800"/>
              <a:t>SessionFactory is a factory class in Hibernate that is used to create Session objects.</a:t>
            </a:r>
            <a:endParaRPr lang="en-US" altLang="en-US" sz="1800"/>
          </a:p>
          <a:p>
            <a:pPr marL="0" indent="0">
              <a:buNone/>
            </a:pPr>
            <a:r>
              <a:rPr lang="en-US" altLang="en-US" sz="1800"/>
              <a:t>It is a heavy-weight, thread-safe, and immutable object.</a:t>
            </a:r>
            <a:endParaRPr lang="en-US" altLang="en-US" sz="1800"/>
          </a:p>
          <a:p>
            <a:pPr marL="0" indent="0">
              <a:buNone/>
            </a:pPr>
            <a:r>
              <a:rPr lang="en-US" altLang="en-US" sz="1800"/>
              <a:t>It is created only once during application startup (usually).</a:t>
            </a:r>
            <a:endParaRPr lang="en-US" altLang="en-US" sz="1800"/>
          </a:p>
          <a:p>
            <a:pPr marL="0" indent="0">
              <a:buNone/>
            </a:pPr>
            <a:endParaRPr lang="en-US" altLang="en-US" sz="1800"/>
          </a:p>
          <a:p>
            <a:pPr marL="0" indent="0">
              <a:buNone/>
            </a:pPr>
            <a:endParaRPr lang="en-US" altLang="en-US" sz="1800"/>
          </a:p>
        </p:txBody>
      </p:sp>
      <p:graphicFrame>
        <p:nvGraphicFramePr>
          <p:cNvPr id="4" name="Table 3"/>
          <p:cNvGraphicFramePr/>
          <p:nvPr>
            <p:custDataLst>
              <p:tags r:id="rId1"/>
            </p:custDataLst>
          </p:nvPr>
        </p:nvGraphicFramePr>
        <p:xfrm>
          <a:off x="172085" y="4907280"/>
          <a:ext cx="12020550" cy="1950720"/>
        </p:xfrm>
        <a:graphic>
          <a:graphicData uri="http://schemas.openxmlformats.org/drawingml/2006/table">
            <a:tbl>
              <a:tblPr/>
              <a:tblGrid>
                <a:gridCol w="4027170"/>
                <a:gridCol w="7993380"/>
              </a:tblGrid>
              <a:tr h="304800">
                <a:tc>
                  <a:txBody>
                    <a:bodyPr/>
                    <a:p>
                      <a:pPr algn="ctr"/>
                      <a:r>
                        <a:rPr sz="2000" b="1">
                          <a:solidFill>
                            <a:srgbClr val="FF0000"/>
                          </a:solidFill>
                        </a:rPr>
                        <a:t>Feature</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noFill/>
                  </a:tcPr>
                </a:tc>
              </a:tr>
              <a:tr h="274320">
                <a:tc>
                  <a:txBody>
                    <a:bodyPr/>
                    <a:p>
                      <a:r>
                        <a:rPr sz="1800"/>
                        <a:t>Purpose</a:t>
                      </a:r>
                      <a:endParaRPr sz="1800"/>
                    </a:p>
                  </a:txBody>
                  <a:tcPr marL="0" marR="0" marT="0" marB="0" anchor="ctr" anchorCtr="0">
                    <a:lnL>
                      <a:noFill/>
                    </a:lnL>
                    <a:lnR>
                      <a:noFill/>
                    </a:lnR>
                    <a:lnT>
                      <a:noFill/>
                    </a:lnT>
                    <a:lnB>
                      <a:noFill/>
                    </a:lnB>
                    <a:noFill/>
                  </a:tcPr>
                </a:tc>
                <a:tc>
                  <a:txBody>
                    <a:bodyPr/>
                    <a:p>
                      <a:r>
                        <a:rPr sz="1800"/>
                        <a:t>To create and manage multiple Session objects.</a:t>
                      </a:r>
                      <a:endParaRPr sz="1800"/>
                    </a:p>
                  </a:txBody>
                  <a:tcPr marL="0" marR="0" marT="0" marB="0" anchor="ctr" anchorCtr="0">
                    <a:lnL>
                      <a:noFill/>
                    </a:lnL>
                    <a:lnR>
                      <a:noFill/>
                    </a:lnR>
                    <a:lnT>
                      <a:noFill/>
                    </a:lnT>
                    <a:lnB>
                      <a:noFill/>
                    </a:lnB>
                    <a:noFill/>
                  </a:tcPr>
                </a:tc>
              </a:tr>
              <a:tr h="274320">
                <a:tc>
                  <a:txBody>
                    <a:bodyPr/>
                    <a:p>
                      <a:r>
                        <a:rPr sz="1800"/>
                        <a:t>Configuration</a:t>
                      </a:r>
                      <a:endParaRPr sz="1800"/>
                    </a:p>
                  </a:txBody>
                  <a:tcPr marL="0" marR="0" marT="0" marB="0" anchor="ctr" anchorCtr="0">
                    <a:lnL>
                      <a:noFill/>
                    </a:lnL>
                    <a:lnR>
                      <a:noFill/>
                    </a:lnR>
                    <a:lnT>
                      <a:noFill/>
                    </a:lnT>
                    <a:lnB>
                      <a:noFill/>
                    </a:lnB>
                    <a:noFill/>
                  </a:tcPr>
                </a:tc>
                <a:tc>
                  <a:txBody>
                    <a:bodyPr/>
                    <a:p>
                      <a:r>
                        <a:rPr sz="1800"/>
                        <a:t>Built using Configuration class and hibernate.cfg.xml.</a:t>
                      </a:r>
                      <a:endParaRPr sz="1800"/>
                    </a:p>
                  </a:txBody>
                  <a:tcPr marL="0" marR="0" marT="0" marB="0" anchor="ctr" anchorCtr="0">
                    <a:lnL>
                      <a:noFill/>
                    </a:lnL>
                    <a:lnR>
                      <a:noFill/>
                    </a:lnR>
                    <a:lnT>
                      <a:noFill/>
                    </a:lnT>
                    <a:lnB>
                      <a:noFill/>
                    </a:lnB>
                    <a:noFill/>
                  </a:tcPr>
                </a:tc>
              </a:tr>
              <a:tr h="274320">
                <a:tc>
                  <a:txBody>
                    <a:bodyPr/>
                    <a:p>
                      <a:r>
                        <a:rPr sz="1800"/>
                        <a:t>Thread-safe?</a:t>
                      </a:r>
                      <a:endParaRPr sz="1800"/>
                    </a:p>
                  </a:txBody>
                  <a:tcPr marL="0" marR="0" marT="0" marB="0" anchor="ctr" anchorCtr="0">
                    <a:lnL>
                      <a:noFill/>
                    </a:lnL>
                    <a:lnR>
                      <a:noFill/>
                    </a:lnR>
                    <a:lnT>
                      <a:noFill/>
                    </a:lnT>
                    <a:lnB>
                      <a:noFill/>
                    </a:lnB>
                    <a:noFill/>
                  </a:tcPr>
                </a:tc>
                <a:tc>
                  <a:txBody>
                    <a:bodyPr/>
                    <a:p>
                      <a:r>
                        <a:rPr sz="1800"/>
                        <a:t>✅ Yes. Can be shared across threads.</a:t>
                      </a:r>
                      <a:endParaRPr sz="1800"/>
                    </a:p>
                  </a:txBody>
                  <a:tcPr marL="0" marR="0" marT="0" marB="0" anchor="ctr" anchorCtr="0">
                    <a:lnL>
                      <a:noFill/>
                    </a:lnL>
                    <a:lnR>
                      <a:noFill/>
                    </a:lnR>
                    <a:lnT>
                      <a:noFill/>
                    </a:lnT>
                    <a:lnB>
                      <a:noFill/>
                    </a:lnB>
                    <a:noFill/>
                  </a:tcPr>
                </a:tc>
              </a:tr>
              <a:tr h="274320">
                <a:tc>
                  <a:txBody>
                    <a:bodyPr/>
                    <a:p>
                      <a:r>
                        <a:rPr sz="1800"/>
                        <a:t>Expensive?</a:t>
                      </a:r>
                      <a:endParaRPr sz="1800"/>
                    </a:p>
                  </a:txBody>
                  <a:tcPr marL="0" marR="0" marT="0" marB="0" anchor="ctr" anchorCtr="0">
                    <a:lnL>
                      <a:noFill/>
                    </a:lnL>
                    <a:lnR>
                      <a:noFill/>
                    </a:lnR>
                    <a:lnT>
                      <a:noFill/>
                    </a:lnT>
                    <a:lnB>
                      <a:noFill/>
                    </a:lnB>
                    <a:noFill/>
                  </a:tcPr>
                </a:tc>
                <a:tc>
                  <a:txBody>
                    <a:bodyPr/>
                    <a:p>
                      <a:r>
                        <a:rPr sz="1800"/>
                        <a:t>✅ Yes. Creating SessionFactory is costly — do it only once.</a:t>
                      </a:r>
                      <a:endParaRPr sz="1800"/>
                    </a:p>
                  </a:txBody>
                  <a:tcPr marL="0" marR="0" marT="0" marB="0" anchor="ctr" anchorCtr="0">
                    <a:lnL>
                      <a:noFill/>
                    </a:lnL>
                    <a:lnR>
                      <a:noFill/>
                    </a:lnR>
                    <a:lnT>
                      <a:noFill/>
                    </a:lnT>
                    <a:lnB>
                      <a:noFill/>
                    </a:lnB>
                    <a:noFill/>
                  </a:tcPr>
                </a:tc>
              </a:tr>
              <a:tr h="274320">
                <a:tc>
                  <a:txBody>
                    <a:bodyPr/>
                    <a:p>
                      <a:r>
                        <a:rPr sz="1800"/>
                        <a:t>Lifetime</a:t>
                      </a:r>
                      <a:endParaRPr sz="1800"/>
                    </a:p>
                  </a:txBody>
                  <a:tcPr marL="0" marR="0" marT="0" marB="0" anchor="ctr" anchorCtr="0">
                    <a:lnL>
                      <a:noFill/>
                    </a:lnL>
                    <a:lnR>
                      <a:noFill/>
                    </a:lnR>
                    <a:lnT>
                      <a:noFill/>
                    </a:lnT>
                    <a:lnB>
                      <a:noFill/>
                    </a:lnB>
                    <a:noFill/>
                  </a:tcPr>
                </a:tc>
                <a:tc>
                  <a:txBody>
                    <a:bodyPr/>
                    <a:p>
                      <a:r>
                        <a:rPr sz="1800"/>
                        <a:t>Exists for the entire life of the application.</a:t>
                      </a:r>
                      <a:endParaRPr sz="1800"/>
                    </a:p>
                  </a:txBody>
                  <a:tcPr marL="0" marR="0" marT="0" marB="0" anchor="ctr" anchorCtr="0">
                    <a:lnL>
                      <a:noFill/>
                    </a:lnL>
                    <a:lnR>
                      <a:noFill/>
                    </a:lnR>
                    <a:lnT>
                      <a:noFill/>
                    </a:lnT>
                    <a:lnB>
                      <a:noFill/>
                    </a:lnB>
                    <a:noFill/>
                  </a:tcPr>
                </a:tc>
              </a:tr>
              <a:tr h="274320">
                <a:tc>
                  <a:txBody>
                    <a:bodyPr/>
                    <a:p>
                      <a:r>
                        <a:rPr sz="1800"/>
                        <a:t>Internal Use</a:t>
                      </a:r>
                      <a:endParaRPr sz="1800"/>
                    </a:p>
                  </a:txBody>
                  <a:tcPr marL="0" marR="0" marT="0" marB="0" anchor="ctr" anchorCtr="0">
                    <a:lnL>
                      <a:noFill/>
                    </a:lnL>
                    <a:lnR>
                      <a:noFill/>
                    </a:lnR>
                    <a:lnT>
                      <a:noFill/>
                    </a:lnT>
                    <a:lnB>
                      <a:noFill/>
                    </a:lnB>
                    <a:noFill/>
                  </a:tcPr>
                </a:tc>
                <a:tc>
                  <a:txBody>
                    <a:bodyPr/>
                    <a:p>
                      <a:r>
                        <a:rPr sz="1800"/>
                        <a:t>It caches database connection details and entity mappings.</a:t>
                      </a:r>
                      <a:endParaRPr sz="18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2"/>
            </p:custDataLst>
          </p:nvPr>
        </p:nvGraphicFramePr>
        <p:xfrm>
          <a:off x="172085" y="3775710"/>
          <a:ext cx="11635740" cy="1131570"/>
        </p:xfrm>
        <a:graphic>
          <a:graphicData uri="http://schemas.openxmlformats.org/drawingml/2006/table">
            <a:tbl>
              <a:tblPr/>
              <a:tblGrid>
                <a:gridCol w="4545965"/>
                <a:gridCol w="7089775"/>
              </a:tblGrid>
              <a:tr h="274320">
                <a:tc>
                  <a:txBody>
                    <a:bodyPr/>
                    <a:p>
                      <a:pPr algn="l"/>
                      <a:r>
                        <a:rPr sz="1800"/>
                        <a:t>Method</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pPr algn="l"/>
                      <a:r>
                        <a:rPr sz="1800"/>
                        <a:t>Description</a:t>
                      </a:r>
                      <a:endParaRPr sz="1800"/>
                    </a:p>
                  </a:txBody>
                  <a:tcPr marL="0" marR="0" marT="0" marB="0" anchor="ctr" anchorCtr="0">
                    <a:lnL>
                      <a:noFill/>
                    </a:lnL>
                    <a:lnR>
                      <a:noFill/>
                    </a:lnR>
                    <a:lnT>
                      <a:noFill/>
                    </a:lnT>
                    <a:lnB>
                      <a:noFill/>
                    </a:lnB>
                    <a:solidFill>
                      <a:schemeClr val="accent2">
                        <a:lumMod val="20000"/>
                        <a:lumOff val="80000"/>
                      </a:schemeClr>
                    </a:solidFill>
                  </a:tcPr>
                </a:tc>
              </a:tr>
              <a:tr h="249555">
                <a:tc>
                  <a:txBody>
                    <a:bodyPr/>
                    <a:p>
                      <a:pPr algn="l"/>
                      <a:r>
                        <a:rPr sz="1800"/>
                        <a:t>openSession()</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pPr algn="l"/>
                      <a:r>
                        <a:rPr sz="1800"/>
                        <a:t>Opens a new session (not bound to current thread).</a:t>
                      </a:r>
                      <a:endParaRPr sz="1800"/>
                    </a:p>
                  </a:txBody>
                  <a:tcPr marL="0" marR="0" marT="0" marB="0" anchor="ctr" anchorCtr="0">
                    <a:lnL>
                      <a:noFill/>
                    </a:lnL>
                    <a:lnR>
                      <a:noFill/>
                    </a:lnR>
                    <a:lnT>
                      <a:noFill/>
                    </a:lnT>
                    <a:lnB>
                      <a:noFill/>
                    </a:lnB>
                    <a:solidFill>
                      <a:schemeClr val="accent2">
                        <a:lumMod val="20000"/>
                        <a:lumOff val="80000"/>
                      </a:schemeClr>
                    </a:solidFill>
                  </a:tcPr>
                </a:tc>
              </a:tr>
              <a:tr h="308610">
                <a:tc>
                  <a:txBody>
                    <a:bodyPr/>
                    <a:p>
                      <a:pPr algn="l"/>
                      <a:r>
                        <a:rPr sz="1800"/>
                        <a:t>getCurrentSession()</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pPr algn="l"/>
                      <a:r>
                        <a:rPr sz="1800"/>
                        <a:t>Returns session bound to current thread (needs configuration).</a:t>
                      </a:r>
                      <a:endParaRPr sz="1800"/>
                    </a:p>
                  </a:txBody>
                  <a:tcPr marL="0" marR="0" marT="0" marB="0" anchor="ctr" anchorCtr="0">
                    <a:lnL>
                      <a:noFill/>
                    </a:lnL>
                    <a:lnR>
                      <a:noFill/>
                    </a:lnR>
                    <a:lnT>
                      <a:noFill/>
                    </a:lnT>
                    <a:lnB>
                      <a:noFill/>
                    </a:lnB>
                    <a:solidFill>
                      <a:schemeClr val="accent2">
                        <a:lumMod val="20000"/>
                        <a:lumOff val="80000"/>
                      </a:schemeClr>
                    </a:solidFill>
                  </a:tcPr>
                </a:tc>
              </a:tr>
              <a:tr h="274320">
                <a:tc>
                  <a:txBody>
                    <a:bodyPr/>
                    <a:p>
                      <a:pPr algn="l"/>
                      <a:r>
                        <a:rPr sz="1800"/>
                        <a:t>close()</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pPr algn="l"/>
                      <a:r>
                        <a:rPr sz="1800"/>
                        <a:t>Closes the SessionFactory and releases resources.</a:t>
                      </a:r>
                      <a:endParaRPr sz="1800"/>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sp>
        <p:nvSpPr>
          <p:cNvPr id="6" name="Text Box 5"/>
          <p:cNvSpPr txBox="1"/>
          <p:nvPr/>
        </p:nvSpPr>
        <p:spPr>
          <a:xfrm>
            <a:off x="3048000" y="2100580"/>
            <a:ext cx="6096000" cy="368300"/>
          </a:xfrm>
          <a:prstGeom prst="rect">
            <a:avLst/>
          </a:prstGeom>
          <a:noFill/>
        </p:spPr>
        <p:txBody>
          <a:bodyPr wrap="square" rtlCol="0" anchor="t">
            <a:spAutoFit/>
          </a:bodyPr>
          <a:p>
            <a:pPr algn="ctr"/>
            <a:r>
              <a:rPr lang="en-US" altLang="en-US" b="1">
                <a:solidFill>
                  <a:srgbClr val="FF0000"/>
                </a:solidFill>
                <a:sym typeface="+mn-ea"/>
              </a:rPr>
              <a:t>1. What is SessionFactory in Hibernate?</a:t>
            </a:r>
            <a:endParaRPr lang="en-US" altLang="en-US" b="1">
              <a:solidFill>
                <a:srgbClr val="FF0000"/>
              </a:solidFill>
              <a:sym typeface="+mn-ea"/>
            </a:endParaRPr>
          </a:p>
        </p:txBody>
      </p:sp>
      <p:sp>
        <p:nvSpPr>
          <p:cNvPr id="7" name="Text Box 6"/>
          <p:cNvSpPr txBox="1"/>
          <p:nvPr/>
        </p:nvSpPr>
        <p:spPr>
          <a:xfrm>
            <a:off x="635" y="308610"/>
            <a:ext cx="12004040" cy="1791970"/>
          </a:xfrm>
          <a:prstGeom prst="rect">
            <a:avLst/>
          </a:prstGeom>
          <a:noFill/>
        </p:spPr>
        <p:txBody>
          <a:bodyPr wrap="square" rtlCol="0" anchor="t">
            <a:noAutofit/>
          </a:bodyPr>
          <a:p>
            <a:r>
              <a:rPr lang="en-US" altLang="en-US">
                <a:sym typeface="+mn-ea"/>
              </a:rPr>
              <a:t>A factory class in Java is a class that encapsulates the logic for creating and returning objects,  The core purpose of a factory class is to define a static or instance method (the "factory method") that creates and returns objects of different but related types, typically based on input parameters. The client code calls this method to get an object, rather than creating it directly using the new keyword. </a:t>
            </a:r>
            <a:endParaRPr lang="en-US" altLang="en-US"/>
          </a:p>
          <a:p>
            <a:endParaRPr lang="en-US" altLang="en-US"/>
          </a:p>
        </p:txBody>
      </p:sp>
      <p:sp>
        <p:nvSpPr>
          <p:cNvPr id="8" name="Text Box 7"/>
          <p:cNvSpPr txBox="1"/>
          <p:nvPr/>
        </p:nvSpPr>
        <p:spPr>
          <a:xfrm>
            <a:off x="2695575" y="-635"/>
            <a:ext cx="6096000" cy="309880"/>
          </a:xfrm>
          <a:prstGeom prst="rect">
            <a:avLst/>
          </a:prstGeom>
          <a:noFill/>
        </p:spPr>
        <p:txBody>
          <a:bodyPr wrap="square" rtlCol="0" anchor="t">
            <a:noAutofit/>
          </a:bodyPr>
          <a:p>
            <a:pPr algn="ctr"/>
            <a:r>
              <a:rPr lang="en-US" sz="2000" b="1">
                <a:solidFill>
                  <a:srgbClr val="FF0000"/>
                </a:solidFill>
                <a:sym typeface="+mn-ea"/>
              </a:rPr>
              <a:t>Java Factory Class</a:t>
            </a:r>
            <a:endParaRPr lang="en-US" sz="2000" b="1">
              <a:solidFill>
                <a:srgbClr val="FF0000"/>
              </a:solidFill>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45440"/>
          </a:xfrm>
        </p:spPr>
        <p:txBody>
          <a:bodyPr>
            <a:noAutofit/>
          </a:bodyPr>
          <a:p>
            <a:pPr algn="ctr"/>
            <a:r>
              <a:rPr lang="en-US" altLang="en-US" sz="2000" b="1">
                <a:solidFill>
                  <a:srgbClr val="FF0000"/>
                </a:solidFill>
                <a:sym typeface="+mn-ea"/>
              </a:rPr>
              <a:t>2. What is Session in Hibernate?</a:t>
            </a:r>
            <a:endParaRPr lang="en-US" altLang="en-US" sz="2000" b="1">
              <a:solidFill>
                <a:srgbClr val="FF0000"/>
              </a:solidFill>
              <a:sym typeface="+mn-ea"/>
            </a:endParaRPr>
          </a:p>
        </p:txBody>
      </p:sp>
      <p:sp>
        <p:nvSpPr>
          <p:cNvPr id="3" name="Content Placeholder 2"/>
          <p:cNvSpPr>
            <a:spLocks noGrp="1"/>
          </p:cNvSpPr>
          <p:nvPr>
            <p:ph idx="1"/>
          </p:nvPr>
        </p:nvSpPr>
        <p:spPr>
          <a:xfrm>
            <a:off x="0" y="345440"/>
            <a:ext cx="11944350" cy="6303645"/>
          </a:xfrm>
        </p:spPr>
        <p:txBody>
          <a:bodyPr>
            <a:normAutofit/>
          </a:bodyPr>
          <a:p>
            <a:pPr marL="0" indent="0">
              <a:buNone/>
            </a:pPr>
            <a:r>
              <a:rPr lang="en-US" altLang="en-US" sz="1800"/>
              <a:t>Session is an interface that represents a single unit of work with the database.</a:t>
            </a:r>
            <a:endParaRPr lang="en-US" altLang="en-US" sz="1800"/>
          </a:p>
          <a:p>
            <a:pPr marL="0" indent="0">
              <a:buNone/>
            </a:pPr>
            <a:r>
              <a:rPr lang="en-US" altLang="en-US" sz="1800"/>
              <a:t>It is used to create, read, update, and delete objects (CRUD operations).</a:t>
            </a:r>
            <a:endParaRPr lang="en-US" altLang="en-US" sz="1800"/>
          </a:p>
          <a:p>
            <a:pPr marL="0" indent="0">
              <a:buNone/>
            </a:pPr>
            <a:r>
              <a:rPr lang="en-US" altLang="en-US" sz="1800"/>
              <a:t>It is not thread-safe — use it in a single thread only.</a:t>
            </a:r>
            <a:endParaRPr lang="en-US" altLang="en-US" sz="1800"/>
          </a:p>
          <a:p>
            <a:endParaRPr lang="en-US" altLang="en-US" sz="1800"/>
          </a:p>
        </p:txBody>
      </p:sp>
      <p:graphicFrame>
        <p:nvGraphicFramePr>
          <p:cNvPr id="4" name="Table 3"/>
          <p:cNvGraphicFramePr/>
          <p:nvPr>
            <p:custDataLst>
              <p:tags r:id="rId1"/>
            </p:custDataLst>
          </p:nvPr>
        </p:nvGraphicFramePr>
        <p:xfrm>
          <a:off x="113030" y="1499870"/>
          <a:ext cx="11954510" cy="2131060"/>
        </p:xfrm>
        <a:graphic>
          <a:graphicData uri="http://schemas.openxmlformats.org/drawingml/2006/table">
            <a:tbl>
              <a:tblPr/>
              <a:tblGrid>
                <a:gridCol w="3505835"/>
                <a:gridCol w="8448675"/>
              </a:tblGrid>
              <a:tr h="365760">
                <a:tc>
                  <a:txBody>
                    <a:bodyPr/>
                    <a:p>
                      <a:pPr algn="ctr"/>
                      <a:r>
                        <a:rPr sz="2000" b="1">
                          <a:solidFill>
                            <a:srgbClr val="FF0000"/>
                          </a:solidFill>
                        </a:rPr>
                        <a:t>Feature</a:t>
                      </a:r>
                      <a:endParaRPr sz="2000" b="1">
                        <a:solidFill>
                          <a:srgbClr val="FF0000"/>
                        </a:solidFill>
                      </a:endParaRPr>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solidFill>
                      <a:schemeClr val="accent2">
                        <a:lumMod val="40000"/>
                        <a:lumOff val="60000"/>
                      </a:schemeClr>
                    </a:solidFill>
                  </a:tcPr>
                </a:tc>
              </a:tr>
              <a:tr h="274320">
                <a:tc>
                  <a:txBody>
                    <a:bodyPr/>
                    <a:p>
                      <a:r>
                        <a:rPr sz="1800"/>
                        <a:t>Purpose</a:t>
                      </a:r>
                      <a:endParaRPr sz="1800"/>
                    </a:p>
                  </a:txBody>
                  <a:tcPr marL="0" marR="0" marT="0" marB="0" anchor="ctr" anchorCtr="0">
                    <a:lnL>
                      <a:noFill/>
                    </a:lnL>
                    <a:lnR>
                      <a:noFill/>
                    </a:lnR>
                    <a:lnT>
                      <a:noFill/>
                    </a:lnT>
                    <a:lnB>
                      <a:noFill/>
                    </a:lnB>
                    <a:noFill/>
                  </a:tcPr>
                </a:tc>
                <a:tc>
                  <a:txBody>
                    <a:bodyPr/>
                    <a:p>
                      <a:r>
                        <a:rPr sz="1800"/>
                        <a:t>To perform CRUD operations on database entities.</a:t>
                      </a:r>
                      <a:endParaRPr sz="1800"/>
                    </a:p>
                  </a:txBody>
                  <a:tcPr marL="0" marR="0" marT="0" marB="0" anchor="ctr" anchorCtr="0">
                    <a:lnL>
                      <a:noFill/>
                    </a:lnL>
                    <a:lnR>
                      <a:noFill/>
                    </a:lnR>
                    <a:lnT>
                      <a:noFill/>
                    </a:lnT>
                    <a:lnB>
                      <a:noFill/>
                    </a:lnB>
                    <a:noFill/>
                  </a:tcPr>
                </a:tc>
              </a:tr>
              <a:tr h="393700">
                <a:tc>
                  <a:txBody>
                    <a:bodyPr/>
                    <a:p>
                      <a:r>
                        <a:rPr sz="1800"/>
                        <a:t>Created by</a:t>
                      </a:r>
                      <a:endParaRPr sz="1800"/>
                    </a:p>
                  </a:txBody>
                  <a:tcPr marL="0" marR="0" marT="0" marB="0" anchor="ctr" anchorCtr="0">
                    <a:lnL>
                      <a:noFill/>
                    </a:lnL>
                    <a:lnR>
                      <a:noFill/>
                    </a:lnR>
                    <a:lnT>
                      <a:noFill/>
                    </a:lnT>
                    <a:lnB>
                      <a:noFill/>
                    </a:lnB>
                    <a:noFill/>
                  </a:tcPr>
                </a:tc>
                <a:tc>
                  <a:txBody>
                    <a:bodyPr/>
                    <a:p>
                      <a:r>
                        <a:rPr sz="1800"/>
                        <a:t>SessionFactory (via factory.openSession() or factory.getCurrentSession())</a:t>
                      </a:r>
                      <a:endParaRPr sz="1800"/>
                    </a:p>
                  </a:txBody>
                  <a:tcPr marL="0" marR="0" marT="0" marB="0" anchor="ctr" anchorCtr="0">
                    <a:lnL>
                      <a:noFill/>
                    </a:lnL>
                    <a:lnR>
                      <a:noFill/>
                    </a:lnR>
                    <a:lnT>
                      <a:noFill/>
                    </a:lnT>
                    <a:lnB>
                      <a:noFill/>
                    </a:lnB>
                    <a:noFill/>
                  </a:tcPr>
                </a:tc>
              </a:tr>
              <a:tr h="274320">
                <a:tc>
                  <a:txBody>
                    <a:bodyPr/>
                    <a:p>
                      <a:r>
                        <a:rPr sz="1800"/>
                        <a:t>Thread-safe?</a:t>
                      </a:r>
                      <a:endParaRPr sz="1800"/>
                    </a:p>
                  </a:txBody>
                  <a:tcPr marL="0" marR="0" marT="0" marB="0" anchor="ctr" anchorCtr="0">
                    <a:lnL>
                      <a:noFill/>
                    </a:lnL>
                    <a:lnR>
                      <a:noFill/>
                    </a:lnR>
                    <a:lnT>
                      <a:noFill/>
                    </a:lnT>
                    <a:lnB>
                      <a:noFill/>
                    </a:lnB>
                    <a:noFill/>
                  </a:tcPr>
                </a:tc>
                <a:tc>
                  <a:txBody>
                    <a:bodyPr/>
                    <a:p>
                      <a:r>
                        <a:rPr sz="1800"/>
                        <a:t> No. Each thread should use its own session.</a:t>
                      </a:r>
                      <a:endParaRPr sz="1800"/>
                    </a:p>
                  </a:txBody>
                  <a:tcPr marL="0" marR="0" marT="0" marB="0" anchor="ctr" anchorCtr="0">
                    <a:lnL>
                      <a:noFill/>
                    </a:lnL>
                    <a:lnR>
                      <a:noFill/>
                    </a:lnR>
                    <a:lnT>
                      <a:noFill/>
                    </a:lnT>
                    <a:lnB>
                      <a:noFill/>
                    </a:lnB>
                    <a:noFill/>
                  </a:tcPr>
                </a:tc>
              </a:tr>
              <a:tr h="274320">
                <a:tc>
                  <a:txBody>
                    <a:bodyPr/>
                    <a:p>
                      <a:r>
                        <a:rPr sz="1800"/>
                        <a:t>Lifetime</a:t>
                      </a:r>
                      <a:endParaRPr sz="1800"/>
                    </a:p>
                  </a:txBody>
                  <a:tcPr marL="0" marR="0" marT="0" marB="0" anchor="ctr" anchorCtr="0">
                    <a:lnL>
                      <a:noFill/>
                    </a:lnL>
                    <a:lnR>
                      <a:noFill/>
                    </a:lnR>
                    <a:lnT>
                      <a:noFill/>
                    </a:lnT>
                    <a:lnB>
                      <a:noFill/>
                    </a:lnB>
                    <a:noFill/>
                  </a:tcPr>
                </a:tc>
                <a:tc>
                  <a:txBody>
                    <a:bodyPr/>
                    <a:p>
                      <a:r>
                        <a:rPr sz="1800"/>
                        <a:t>Short — per request, per transaction, or per unit of work.</a:t>
                      </a:r>
                      <a:endParaRPr sz="1800"/>
                    </a:p>
                  </a:txBody>
                  <a:tcPr marL="0" marR="0" marT="0" marB="0" anchor="ctr" anchorCtr="0">
                    <a:lnL>
                      <a:noFill/>
                    </a:lnL>
                    <a:lnR>
                      <a:noFill/>
                    </a:lnR>
                    <a:lnT>
                      <a:noFill/>
                    </a:lnT>
                    <a:lnB>
                      <a:noFill/>
                    </a:lnB>
                    <a:noFill/>
                  </a:tcPr>
                </a:tc>
              </a:tr>
              <a:tr h="274320">
                <a:tc>
                  <a:txBody>
                    <a:bodyPr/>
                    <a:p>
                      <a:r>
                        <a:rPr sz="1800"/>
                        <a:t>Manages</a:t>
                      </a:r>
                      <a:endParaRPr sz="1800"/>
                    </a:p>
                  </a:txBody>
                  <a:tcPr marL="0" marR="0" marT="0" marB="0" anchor="ctr" anchorCtr="0">
                    <a:lnL>
                      <a:noFill/>
                    </a:lnL>
                    <a:lnR>
                      <a:noFill/>
                    </a:lnR>
                    <a:lnT>
                      <a:noFill/>
                    </a:lnT>
                    <a:lnB>
                      <a:noFill/>
                    </a:lnB>
                    <a:noFill/>
                  </a:tcPr>
                </a:tc>
                <a:tc>
                  <a:txBody>
                    <a:bodyPr/>
                    <a:p>
                      <a:r>
                        <a:rPr sz="1800"/>
                        <a:t>Object states (Transient, Persistent, Detached).</a:t>
                      </a:r>
                      <a:endParaRPr sz="1800"/>
                    </a:p>
                  </a:txBody>
                  <a:tcPr marL="0" marR="0" marT="0" marB="0" anchor="ctr" anchorCtr="0">
                    <a:lnL>
                      <a:noFill/>
                    </a:lnL>
                    <a:lnR>
                      <a:noFill/>
                    </a:lnR>
                    <a:lnT>
                      <a:noFill/>
                    </a:lnT>
                    <a:lnB>
                      <a:noFill/>
                    </a:lnB>
                    <a:noFill/>
                  </a:tcPr>
                </a:tc>
              </a:tr>
              <a:tr h="274320">
                <a:tc>
                  <a:txBody>
                    <a:bodyPr/>
                    <a:p>
                      <a:r>
                        <a:rPr sz="1800"/>
                        <a:t>Provides</a:t>
                      </a:r>
                      <a:endParaRPr sz="1800"/>
                    </a:p>
                  </a:txBody>
                  <a:tcPr marL="0" marR="0" marT="0" marB="0" anchor="ctr" anchorCtr="0">
                    <a:lnL>
                      <a:noFill/>
                    </a:lnL>
                    <a:lnR>
                      <a:noFill/>
                    </a:lnR>
                    <a:lnT>
                      <a:noFill/>
                    </a:lnT>
                    <a:lnB>
                      <a:noFill/>
                    </a:lnB>
                    <a:noFill/>
                  </a:tcPr>
                </a:tc>
                <a:tc>
                  <a:txBody>
                    <a:bodyPr/>
                    <a:p>
                      <a:r>
                        <a:rPr sz="1800"/>
                        <a:t>Transaction handling, Query execution, Object persistence.</a:t>
                      </a:r>
                      <a:endParaRPr sz="18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2"/>
            </p:custDataLst>
          </p:nvPr>
        </p:nvGraphicFramePr>
        <p:xfrm>
          <a:off x="113030" y="3869055"/>
          <a:ext cx="11831320" cy="2780030"/>
        </p:xfrm>
        <a:graphic>
          <a:graphicData uri="http://schemas.openxmlformats.org/drawingml/2006/table">
            <a:tbl>
              <a:tblPr/>
              <a:tblGrid>
                <a:gridCol w="4719320"/>
                <a:gridCol w="7112000"/>
              </a:tblGrid>
              <a:tr h="444500">
                <a:tc>
                  <a:txBody>
                    <a:bodyPr/>
                    <a:p>
                      <a:pPr algn="ctr"/>
                      <a:r>
                        <a:rPr sz="2000" b="1">
                          <a:solidFill>
                            <a:srgbClr val="FF0000"/>
                          </a:solidFill>
                        </a:rPr>
                        <a:t>Method</a:t>
                      </a:r>
                      <a:endParaRPr sz="2000" b="1">
                        <a:solidFill>
                          <a:srgbClr val="FF0000"/>
                        </a:solidFill>
                      </a:endParaRPr>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solidFill>
                      <a:schemeClr val="accent2">
                        <a:lumMod val="40000"/>
                        <a:lumOff val="60000"/>
                      </a:schemeClr>
                    </a:solidFill>
                  </a:tcPr>
                </a:tc>
              </a:tr>
              <a:tr h="334010">
                <a:tc>
                  <a:txBody>
                    <a:bodyPr/>
                    <a:p>
                      <a:r>
                        <a:rPr sz="1800"/>
                        <a:t>beginTransaction()</a:t>
                      </a:r>
                      <a:endParaRPr sz="1800"/>
                    </a:p>
                  </a:txBody>
                  <a:tcPr marL="0" marR="0" marT="0" marB="0" anchor="ctr" anchorCtr="0">
                    <a:lnL>
                      <a:noFill/>
                    </a:lnL>
                    <a:lnR>
                      <a:noFill/>
                    </a:lnR>
                    <a:lnT>
                      <a:noFill/>
                    </a:lnT>
                    <a:lnB>
                      <a:noFill/>
                    </a:lnB>
                    <a:noFill/>
                  </a:tcPr>
                </a:tc>
                <a:tc>
                  <a:txBody>
                    <a:bodyPr/>
                    <a:p>
                      <a:r>
                        <a:rPr sz="1800"/>
                        <a:t>Starts a new transaction.</a:t>
                      </a:r>
                      <a:endParaRPr sz="1800"/>
                    </a:p>
                  </a:txBody>
                  <a:tcPr marL="0" marR="0" marT="0" marB="0" anchor="ctr" anchorCtr="0">
                    <a:lnL>
                      <a:noFill/>
                    </a:lnL>
                    <a:lnR>
                      <a:noFill/>
                    </a:lnR>
                    <a:lnT>
                      <a:noFill/>
                    </a:lnT>
                    <a:lnB>
                      <a:noFill/>
                    </a:lnB>
                    <a:noFill/>
                  </a:tcPr>
                </a:tc>
              </a:tr>
              <a:tr h="334010">
                <a:tc>
                  <a:txBody>
                    <a:bodyPr/>
                    <a:p>
                      <a:r>
                        <a:rPr sz="1800"/>
                        <a:t>save(Object obj)</a:t>
                      </a:r>
                      <a:endParaRPr sz="1800"/>
                    </a:p>
                  </a:txBody>
                  <a:tcPr marL="0" marR="0" marT="0" marB="0" anchor="ctr" anchorCtr="0">
                    <a:lnL>
                      <a:noFill/>
                    </a:lnL>
                    <a:lnR>
                      <a:noFill/>
                    </a:lnR>
                    <a:lnT>
                      <a:noFill/>
                    </a:lnT>
                    <a:lnB>
                      <a:noFill/>
                    </a:lnB>
                    <a:noFill/>
                  </a:tcPr>
                </a:tc>
                <a:tc>
                  <a:txBody>
                    <a:bodyPr/>
                    <a:p>
                      <a:r>
                        <a:rPr sz="1800"/>
                        <a:t>Saves a new entity.</a:t>
                      </a:r>
                      <a:endParaRPr sz="1800"/>
                    </a:p>
                  </a:txBody>
                  <a:tcPr marL="0" marR="0" marT="0" marB="0" anchor="ctr" anchorCtr="0">
                    <a:lnL>
                      <a:noFill/>
                    </a:lnL>
                    <a:lnR>
                      <a:noFill/>
                    </a:lnR>
                    <a:lnT>
                      <a:noFill/>
                    </a:lnT>
                    <a:lnB>
                      <a:noFill/>
                    </a:lnB>
                    <a:noFill/>
                  </a:tcPr>
                </a:tc>
              </a:tr>
              <a:tr h="333375">
                <a:tc>
                  <a:txBody>
                    <a:bodyPr/>
                    <a:p>
                      <a:r>
                        <a:rPr sz="1800"/>
                        <a:t>update(Object obj)</a:t>
                      </a:r>
                      <a:endParaRPr sz="1800"/>
                    </a:p>
                  </a:txBody>
                  <a:tcPr marL="0" marR="0" marT="0" marB="0" anchor="ctr" anchorCtr="0">
                    <a:lnL>
                      <a:noFill/>
                    </a:lnL>
                    <a:lnR>
                      <a:noFill/>
                    </a:lnR>
                    <a:lnT>
                      <a:noFill/>
                    </a:lnT>
                    <a:lnB>
                      <a:noFill/>
                    </a:lnB>
                    <a:noFill/>
                  </a:tcPr>
                </a:tc>
                <a:tc>
                  <a:txBody>
                    <a:bodyPr/>
                    <a:p>
                      <a:r>
                        <a:rPr sz="1800"/>
                        <a:t>Updates an existing entity.</a:t>
                      </a:r>
                      <a:endParaRPr sz="1800"/>
                    </a:p>
                  </a:txBody>
                  <a:tcPr marL="0" marR="0" marT="0" marB="0" anchor="ctr" anchorCtr="0">
                    <a:lnL>
                      <a:noFill/>
                    </a:lnL>
                    <a:lnR>
                      <a:noFill/>
                    </a:lnR>
                    <a:lnT>
                      <a:noFill/>
                    </a:lnT>
                    <a:lnB>
                      <a:noFill/>
                    </a:lnB>
                    <a:noFill/>
                  </a:tcPr>
                </a:tc>
              </a:tr>
              <a:tr h="333375">
                <a:tc>
                  <a:txBody>
                    <a:bodyPr/>
                    <a:p>
                      <a:r>
                        <a:rPr sz="1800"/>
                        <a:t>delete(Object obj)</a:t>
                      </a:r>
                      <a:endParaRPr sz="1800"/>
                    </a:p>
                  </a:txBody>
                  <a:tcPr marL="0" marR="0" marT="0" marB="0" anchor="ctr" anchorCtr="0">
                    <a:lnL>
                      <a:noFill/>
                    </a:lnL>
                    <a:lnR>
                      <a:noFill/>
                    </a:lnR>
                    <a:lnT>
                      <a:noFill/>
                    </a:lnT>
                    <a:lnB>
                      <a:noFill/>
                    </a:lnB>
                    <a:noFill/>
                  </a:tcPr>
                </a:tc>
                <a:tc>
                  <a:txBody>
                    <a:bodyPr/>
                    <a:p>
                      <a:r>
                        <a:rPr sz="1800"/>
                        <a:t>Deletes an entity.</a:t>
                      </a:r>
                      <a:endParaRPr sz="1800"/>
                    </a:p>
                  </a:txBody>
                  <a:tcPr marL="0" marR="0" marT="0" marB="0" anchor="ctr" anchorCtr="0">
                    <a:lnL>
                      <a:noFill/>
                    </a:lnL>
                    <a:lnR>
                      <a:noFill/>
                    </a:lnR>
                    <a:lnT>
                      <a:noFill/>
                    </a:lnT>
                    <a:lnB>
                      <a:noFill/>
                    </a:lnB>
                    <a:noFill/>
                  </a:tcPr>
                </a:tc>
              </a:tr>
              <a:tr h="333375">
                <a:tc>
                  <a:txBody>
                    <a:bodyPr/>
                    <a:p>
                      <a:r>
                        <a:rPr sz="1800"/>
                        <a:t>get(Class, id)</a:t>
                      </a:r>
                      <a:endParaRPr sz="1800"/>
                    </a:p>
                  </a:txBody>
                  <a:tcPr marL="0" marR="0" marT="0" marB="0" anchor="ctr" anchorCtr="0">
                    <a:lnL>
                      <a:noFill/>
                    </a:lnL>
                    <a:lnR>
                      <a:noFill/>
                    </a:lnR>
                    <a:lnT>
                      <a:noFill/>
                    </a:lnT>
                    <a:lnB>
                      <a:noFill/>
                    </a:lnB>
                    <a:noFill/>
                  </a:tcPr>
                </a:tc>
                <a:tc>
                  <a:txBody>
                    <a:bodyPr/>
                    <a:p>
                      <a:r>
                        <a:rPr sz="1800"/>
                        <a:t>Fetches an entity by primary key (returns null if not found).</a:t>
                      </a:r>
                      <a:endParaRPr sz="1800"/>
                    </a:p>
                  </a:txBody>
                  <a:tcPr marL="0" marR="0" marT="0" marB="0" anchor="ctr" anchorCtr="0">
                    <a:lnL>
                      <a:noFill/>
                    </a:lnL>
                    <a:lnR>
                      <a:noFill/>
                    </a:lnR>
                    <a:lnT>
                      <a:noFill/>
                    </a:lnT>
                    <a:lnB>
                      <a:noFill/>
                    </a:lnB>
                    <a:noFill/>
                  </a:tcPr>
                </a:tc>
              </a:tr>
              <a:tr h="334010">
                <a:tc>
                  <a:txBody>
                    <a:bodyPr/>
                    <a:p>
                      <a:r>
                        <a:rPr sz="1800"/>
                        <a:t>createQuery()</a:t>
                      </a:r>
                      <a:endParaRPr sz="1800"/>
                    </a:p>
                  </a:txBody>
                  <a:tcPr marL="0" marR="0" marT="0" marB="0" anchor="ctr" anchorCtr="0">
                    <a:lnL>
                      <a:noFill/>
                    </a:lnL>
                    <a:lnR>
                      <a:noFill/>
                    </a:lnR>
                    <a:lnT>
                      <a:noFill/>
                    </a:lnT>
                    <a:lnB>
                      <a:noFill/>
                    </a:lnB>
                    <a:noFill/>
                  </a:tcPr>
                </a:tc>
                <a:tc>
                  <a:txBody>
                    <a:bodyPr/>
                    <a:p>
                      <a:r>
                        <a:rPr sz="1800"/>
                        <a:t>For HQL queries.</a:t>
                      </a:r>
                      <a:endParaRPr sz="1800"/>
                    </a:p>
                  </a:txBody>
                  <a:tcPr marL="0" marR="0" marT="0" marB="0" anchor="ctr" anchorCtr="0">
                    <a:lnL>
                      <a:noFill/>
                    </a:lnL>
                    <a:lnR>
                      <a:noFill/>
                    </a:lnR>
                    <a:lnT>
                      <a:noFill/>
                    </a:lnT>
                    <a:lnB>
                      <a:noFill/>
                    </a:lnB>
                    <a:noFill/>
                  </a:tcPr>
                </a:tc>
              </a:tr>
              <a:tr h="333375">
                <a:tc>
                  <a:txBody>
                    <a:bodyPr/>
                    <a:p>
                      <a:r>
                        <a:rPr sz="1800"/>
                        <a:t>close()</a:t>
                      </a:r>
                      <a:endParaRPr sz="1800"/>
                    </a:p>
                  </a:txBody>
                  <a:tcPr marL="0" marR="0" marT="0" marB="0" anchor="ctr" anchorCtr="0">
                    <a:lnL>
                      <a:noFill/>
                    </a:lnL>
                    <a:lnR>
                      <a:noFill/>
                    </a:lnR>
                    <a:lnT>
                      <a:noFill/>
                    </a:lnT>
                    <a:lnB>
                      <a:noFill/>
                    </a:lnB>
                    <a:noFill/>
                  </a:tcPr>
                </a:tc>
                <a:tc>
                  <a:txBody>
                    <a:bodyPr/>
                    <a:p>
                      <a:r>
                        <a:rPr sz="1800"/>
                        <a:t>Closes the session.</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145415"/>
            <a:ext cx="12192000" cy="6712585"/>
          </a:xfrm>
        </p:spPr>
        <p:txBody>
          <a:bodyPr/>
          <a:p>
            <a:pPr marL="0" indent="0">
              <a:buNone/>
            </a:pPr>
            <a:endParaRPr lang="en-US" altLang="en-US" sz="1800"/>
          </a:p>
          <a:p>
            <a:pPr marL="0" indent="0">
              <a:buNone/>
            </a:pPr>
            <a:endParaRPr lang="en-US" altLang="en-US" sz="1800"/>
          </a:p>
        </p:txBody>
      </p:sp>
      <p:sp>
        <p:nvSpPr>
          <p:cNvPr id="2" name="Title 1"/>
          <p:cNvSpPr>
            <a:spLocks noGrp="1"/>
          </p:cNvSpPr>
          <p:nvPr>
            <p:ph type="title"/>
          </p:nvPr>
        </p:nvSpPr>
        <p:spPr>
          <a:xfrm>
            <a:off x="337185" y="-635"/>
            <a:ext cx="11518265" cy="366395"/>
          </a:xfrm>
        </p:spPr>
        <p:txBody>
          <a:bodyPr>
            <a:normAutofit fontScale="90000"/>
          </a:bodyPr>
          <a:p>
            <a:pPr algn="ctr"/>
            <a:r>
              <a:rPr lang="en-US" altLang="en-US" sz="2800" b="1">
                <a:solidFill>
                  <a:srgbClr val="FF0000"/>
                </a:solidFill>
                <a:sym typeface="+mn-ea"/>
              </a:rPr>
              <a:t>buildSessionFactory()</a:t>
            </a:r>
            <a:endParaRPr lang="en-US" altLang="en-US" sz="2800" b="1">
              <a:solidFill>
                <a:srgbClr val="FF0000"/>
              </a:solidFill>
              <a:sym typeface="+mn-ea"/>
            </a:endParaRPr>
          </a:p>
        </p:txBody>
      </p:sp>
      <p:sp>
        <p:nvSpPr>
          <p:cNvPr id="5" name="Text Box 4"/>
          <p:cNvSpPr txBox="1"/>
          <p:nvPr/>
        </p:nvSpPr>
        <p:spPr>
          <a:xfrm>
            <a:off x="147320" y="365125"/>
            <a:ext cx="11708130" cy="1782445"/>
          </a:xfrm>
          <a:prstGeom prst="rect">
            <a:avLst/>
          </a:prstGeom>
          <a:noFill/>
        </p:spPr>
        <p:txBody>
          <a:bodyPr wrap="square" rtlCol="0" anchor="t">
            <a:noAutofit/>
          </a:bodyPr>
          <a:p>
            <a:r>
              <a:rPr lang="en-US" altLang="en-US">
                <a:sym typeface="+mn-ea"/>
              </a:rPr>
              <a:t>buildSessionFactory() is a method used in Hibernate, a popular Java-based Object-Relational Mapping (ORM) framework. It is responsible for creating a SessionFactory object, which is a thread-safe, heavyweight object used to create Session instances for interacting with a database.</a:t>
            </a:r>
            <a:endParaRPr lang="en-US" altLang="en-US"/>
          </a:p>
          <a:p>
            <a:r>
              <a:rPr lang="en-US" altLang="en-US">
                <a:sym typeface="+mn-ea"/>
              </a:rPr>
              <a:t>buildSessionFactory() creates a SessionFactory using configuration settings.</a:t>
            </a:r>
            <a:endParaRPr lang="en-US" altLang="en-US"/>
          </a:p>
          <a:p>
            <a:r>
              <a:rPr lang="en-US" altLang="en-US">
                <a:sym typeface="+mn-ea"/>
              </a:rPr>
              <a:t>Used for setting up Hibernate and establishing how it talks to your database.</a:t>
            </a:r>
            <a:endParaRPr lang="en-US" altLang="en-US"/>
          </a:p>
          <a:p>
            <a:r>
              <a:rPr lang="en-US" altLang="en-US">
                <a:sym typeface="+mn-ea"/>
              </a:rPr>
              <a:t>Deprecated in newer versions in favor of ServiceRegistry.</a:t>
            </a:r>
            <a:endParaRPr lang="en-US" altLang="en-US">
              <a:sym typeface="+mn-ea"/>
            </a:endParaRPr>
          </a:p>
        </p:txBody>
      </p:sp>
      <p:sp>
        <p:nvSpPr>
          <p:cNvPr id="6" name="Text Box 5"/>
          <p:cNvSpPr txBox="1"/>
          <p:nvPr/>
        </p:nvSpPr>
        <p:spPr>
          <a:xfrm>
            <a:off x="337185" y="2147570"/>
            <a:ext cx="4698365" cy="4537075"/>
          </a:xfrm>
          <a:prstGeom prst="rect">
            <a:avLst/>
          </a:prstGeom>
          <a:noFill/>
        </p:spPr>
        <p:txBody>
          <a:bodyPr wrap="square" rtlCol="0" anchor="t">
            <a:noAutofit/>
          </a:bodyPr>
          <a:p>
            <a:pPr marL="0" indent="0">
              <a:buNone/>
            </a:pPr>
            <a:r>
              <a:rPr lang="en-US" altLang="en-US" b="1">
                <a:sym typeface="+mn-ea"/>
              </a:rPr>
              <a:t>// INSERT Product</a:t>
            </a:r>
            <a:endParaRPr lang="en-US" altLang="en-US"/>
          </a:p>
          <a:p>
            <a:pPr marL="0" indent="0">
              <a:buNone/>
            </a:pPr>
            <a:r>
              <a:rPr lang="en-US" altLang="en-US">
                <a:sym typeface="+mn-ea"/>
              </a:rPr>
              <a:t>public class ProductDAO {</a:t>
            </a:r>
            <a:endParaRPr lang="en-US" altLang="en-US"/>
          </a:p>
          <a:p>
            <a:pPr marL="0" indent="0">
              <a:buNone/>
            </a:pPr>
            <a:r>
              <a:rPr lang="en-US" altLang="en-US">
                <a:sym typeface="+mn-ea"/>
              </a:rPr>
              <a:t>    // Creating SessionFactory only once</a:t>
            </a:r>
            <a:endParaRPr lang="en-US" altLang="en-US"/>
          </a:p>
          <a:p>
            <a:pPr marL="0" indent="0">
              <a:buNone/>
            </a:pPr>
            <a:r>
              <a:rPr lang="en-US" altLang="en-US">
                <a:sym typeface="+mn-ea"/>
              </a:rPr>
              <a:t>    private static SessionFactory sessionFactory = new Configuration().configure().buildSessionFactory();</a:t>
            </a:r>
            <a:endParaRPr lang="en-US" altLang="en-US"/>
          </a:p>
          <a:p>
            <a:pPr marL="0" indent="0">
              <a:buNone/>
            </a:pPr>
            <a:r>
              <a:rPr lang="en-US" altLang="en-US" b="1">
                <a:sym typeface="+mn-ea"/>
              </a:rPr>
              <a:t>Session session=sessionFactory.getCurrentSession();</a:t>
            </a:r>
            <a:endParaRPr lang="en-US" altLang="en-US" b="1">
              <a:sym typeface="+mn-ea"/>
            </a:endParaRPr>
          </a:p>
          <a:p>
            <a:pPr marL="0" indent="0">
              <a:buNone/>
            </a:pPr>
            <a:r>
              <a:rPr lang="en-US" altLang="en-US" b="1">
                <a:sym typeface="+mn-ea"/>
              </a:rPr>
              <a:t>	session.beginTransaction();</a:t>
            </a:r>
            <a:endParaRPr lang="en-US" altLang="en-US" b="1">
              <a:sym typeface="+mn-ea"/>
            </a:endParaRPr>
          </a:p>
          <a:p>
            <a:pPr marL="0" indent="0">
              <a:buNone/>
            </a:pPr>
            <a:r>
              <a:rPr lang="en-US" altLang="en-US" b="1">
                <a:sym typeface="+mn-ea"/>
              </a:rPr>
              <a:t>	session.save(collegeStudent);</a:t>
            </a:r>
            <a:endParaRPr lang="en-US" altLang="en-US" b="1">
              <a:sym typeface="+mn-ea"/>
            </a:endParaRPr>
          </a:p>
          <a:p>
            <a:pPr marL="0" indent="0">
              <a:buNone/>
            </a:pPr>
            <a:r>
              <a:rPr lang="en-US" altLang="en-US" b="1">
                <a:sym typeface="+mn-ea"/>
              </a:rPr>
              <a:t>	session.getTransaction().commit();</a:t>
            </a:r>
            <a:endParaRPr lang="en-US" altLang="en-US" b="1">
              <a:sym typeface="+mn-ea"/>
            </a:endParaRPr>
          </a:p>
          <a:p>
            <a:pPr marL="0" indent="0">
              <a:buNone/>
            </a:pPr>
            <a:r>
              <a:rPr lang="en-US" altLang="en-US" b="1">
                <a:sym typeface="+mn-ea"/>
              </a:rPr>
              <a:t>	session.close();</a:t>
            </a:r>
            <a:endParaRPr lang="en-US" altLang="en-US" b="1">
              <a:sym typeface="+mn-ea"/>
            </a:endParaRPr>
          </a:p>
          <a:p>
            <a:pPr marL="0" indent="0">
              <a:buNone/>
            </a:pPr>
            <a:r>
              <a:rPr lang="en-US" altLang="en-US" b="1">
                <a:sym typeface="+mn-ea"/>
              </a:rPr>
              <a:t>System.out.println("Student Saved");   </a:t>
            </a:r>
            <a:endParaRPr lang="en-US" altLang="en-US" b="1"/>
          </a:p>
          <a:p>
            <a:pPr marL="0" indent="0">
              <a:buNone/>
            </a:pPr>
            <a:endParaRPr lang="en-US" altLang="en-US"/>
          </a:p>
          <a:p>
            <a:pPr marL="0" indent="0">
              <a:buNone/>
            </a:pPr>
            <a:endParaRPr lang="en-US" altLang="en-US"/>
          </a:p>
        </p:txBody>
      </p:sp>
      <p:sp>
        <p:nvSpPr>
          <p:cNvPr id="8" name="Text Box 7"/>
          <p:cNvSpPr txBox="1"/>
          <p:nvPr/>
        </p:nvSpPr>
        <p:spPr>
          <a:xfrm>
            <a:off x="5634990" y="2147570"/>
            <a:ext cx="6096000" cy="4523105"/>
          </a:xfrm>
          <a:prstGeom prst="rect">
            <a:avLst/>
          </a:prstGeom>
          <a:noFill/>
        </p:spPr>
        <p:txBody>
          <a:bodyPr wrap="square" rtlCol="0" anchor="t">
            <a:spAutoFit/>
          </a:bodyPr>
          <a:p>
            <a:r>
              <a:rPr lang="en-US" altLang="en-US"/>
              <a:t>public boolean updateStudent(CollegeStudent collegeStudent) {</a:t>
            </a:r>
            <a:endParaRPr lang="en-US" altLang="en-US"/>
          </a:p>
          <a:p>
            <a:r>
              <a:rPr lang="en-US" altLang="en-US"/>
              <a:t>    Session session = sessionFactory.getCurrentSession();</a:t>
            </a:r>
            <a:endParaRPr lang="en-US" altLang="en-US"/>
          </a:p>
          <a:p>
            <a:r>
              <a:rPr lang="en-US" altLang="en-US"/>
              <a:t>    Transaction tx = session.beginTransaction();</a:t>
            </a:r>
            <a:endParaRPr lang="en-US" altLang="en-US"/>
          </a:p>
          <a:p>
            <a:r>
              <a:rPr lang="en-US" altLang="en-US"/>
              <a:t>    CollegeStudent existing = session.get(CollegeStudent.class, collegeStudent.getId());</a:t>
            </a:r>
            <a:endParaRPr lang="en-US" altLang="en-US"/>
          </a:p>
          <a:p>
            <a:r>
              <a:rPr lang="en-US" altLang="en-US"/>
              <a:t>    if (existing == null) {</a:t>
            </a:r>
            <a:endParaRPr lang="en-US" altLang="en-US"/>
          </a:p>
          <a:p>
            <a:r>
              <a:rPr lang="en-US" altLang="en-US"/>
              <a:t>        System.out.println("Cannot update: Student ID " + collegeStudent.getId() + " not found.");</a:t>
            </a:r>
            <a:endParaRPr lang="en-US" altLang="en-US"/>
          </a:p>
          <a:p>
            <a:r>
              <a:rPr lang="en-US" altLang="en-US"/>
              <a:t>        tx.rollback();</a:t>
            </a:r>
            <a:endParaRPr lang="en-US" altLang="en-US"/>
          </a:p>
          <a:p>
            <a:r>
              <a:rPr lang="en-US" altLang="en-US"/>
              <a:t>        return false;</a:t>
            </a:r>
            <a:endParaRPr lang="en-US" altLang="en-US"/>
          </a:p>
          <a:p>
            <a:r>
              <a:rPr lang="en-US" altLang="en-US"/>
              <a:t>    }</a:t>
            </a:r>
            <a:endParaRPr lang="en-US" altLang="en-US"/>
          </a:p>
          <a:p>
            <a:r>
              <a:rPr lang="en-US" altLang="en-US"/>
              <a:t>    session.update(collegeStudent);</a:t>
            </a:r>
            <a:endParaRPr lang="en-US" altLang="en-US"/>
          </a:p>
          <a:p>
            <a:r>
              <a:rPr lang="en-US" altLang="en-US"/>
              <a:t>    tx.commit();</a:t>
            </a:r>
            <a:endParaRPr lang="en-US" altLang="en-US"/>
          </a:p>
          <a:p>
            <a:r>
              <a:rPr lang="en-US" altLang="en-US"/>
              <a:t>    return true;</a:t>
            </a:r>
            <a:endParaRPr lang="en-US" altLang="en-US"/>
          </a:p>
          <a:p>
            <a:r>
              <a:rPr lang="en-US" altLang="en-US"/>
              <a:t>}</a:t>
            </a:r>
            <a:endParaRPr lang="en-US" altLang="en-US"/>
          </a:p>
          <a:p>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14630" y="158750"/>
            <a:ext cx="11803380" cy="6506845"/>
          </a:xfrm>
        </p:spPr>
        <p:txBody>
          <a:bodyPr>
            <a:noAutofit/>
          </a:bodyPr>
          <a:p>
            <a:pPr marL="0" indent="0">
              <a:buNone/>
            </a:pPr>
            <a:r>
              <a:rPr lang="en-US" altLang="en-US" sz="1800">
                <a:sym typeface="+mn-ea"/>
              </a:rPr>
              <a:t>    // </a:t>
            </a:r>
            <a:r>
              <a:rPr lang="en-US" altLang="en-US" sz="1800" b="1">
                <a:sym typeface="+mn-ea"/>
              </a:rPr>
              <a:t> DELETE Product</a:t>
            </a:r>
            <a:endParaRPr lang="en-US" altLang="en-US" sz="1800"/>
          </a:p>
          <a:p>
            <a:pPr marL="0" indent="0">
              <a:buNone/>
            </a:pPr>
            <a:r>
              <a:rPr lang="en-US" altLang="en-US" sz="1800"/>
              <a:t>public Product getProduct(int productId) {</a:t>
            </a:r>
            <a:endParaRPr lang="en-US" altLang="en-US" sz="1800"/>
          </a:p>
          <a:p>
            <a:pPr marL="0" indent="0">
              <a:buNone/>
            </a:pPr>
            <a:r>
              <a:rPr lang="en-US" altLang="en-US" sz="1800"/>
              <a:t>    Session session = sessionFactory.openSession();</a:t>
            </a:r>
            <a:endParaRPr lang="en-US" altLang="en-US" sz="1800"/>
          </a:p>
          <a:p>
            <a:pPr marL="0" indent="0">
              <a:buNone/>
            </a:pPr>
            <a:r>
              <a:rPr lang="en-US" altLang="en-US" sz="1800"/>
              <a:t>    Product product = session.get(Product.class, productId);</a:t>
            </a:r>
            <a:endParaRPr lang="en-US" altLang="en-US" sz="1800"/>
          </a:p>
          <a:p>
            <a:pPr marL="0" indent="0">
              <a:buNone/>
            </a:pPr>
            <a:r>
              <a:rPr lang="en-US" altLang="en-US" sz="1800"/>
              <a:t>    session.close();</a:t>
            </a:r>
            <a:endParaRPr lang="en-US" altLang="en-US" sz="1800"/>
          </a:p>
          <a:p>
            <a:pPr marL="0" indent="0">
              <a:buNone/>
            </a:pPr>
            <a:r>
              <a:rPr lang="en-US" altLang="en-US" sz="1800"/>
              <a:t>    if (product == null) {</a:t>
            </a:r>
            <a:endParaRPr lang="en-US" altLang="en-US" sz="1800"/>
          </a:p>
          <a:p>
            <a:pPr marL="0" indent="0">
              <a:buNone/>
            </a:pPr>
            <a:r>
              <a:rPr lang="en-US" altLang="en-US" sz="1800"/>
              <a:t>        System.out.println("Product with ID " + productId + " not found.");</a:t>
            </a:r>
            <a:endParaRPr lang="en-US" altLang="en-US" sz="1800"/>
          </a:p>
          <a:p>
            <a:pPr marL="0" indent="0">
              <a:buNone/>
            </a:pPr>
            <a:r>
              <a:rPr lang="en-US" altLang="en-US" sz="1800"/>
              <a:t>    }    return product;}</a:t>
            </a:r>
            <a:endParaRPr lang="en-US" altLang="en-US" sz="1800"/>
          </a:p>
          <a:p>
            <a:pPr marL="0" indent="0">
              <a:buNone/>
            </a:pPr>
            <a:r>
              <a:rPr lang="en-US" altLang="en-US" sz="1800"/>
              <a:t>	</a:t>
            </a:r>
            <a:endParaRPr lang="en-US" altLang="en-US" sz="1800"/>
          </a:p>
          <a:p>
            <a:pPr marL="0" indent="0">
              <a:buNone/>
            </a:pPr>
            <a:endParaRPr lang="en-US" altLang="en-US" sz="1800"/>
          </a:p>
          <a:p>
            <a:pPr marL="0" indent="0">
              <a:buNone/>
            </a:pPr>
            <a:endParaRPr lang="en-US" altLang="en-US" sz="1800"/>
          </a:p>
        </p:txBody>
      </p:sp>
      <p:sp>
        <p:nvSpPr>
          <p:cNvPr id="2" name="Text Box 1"/>
          <p:cNvSpPr txBox="1"/>
          <p:nvPr/>
        </p:nvSpPr>
        <p:spPr>
          <a:xfrm>
            <a:off x="6620510" y="158750"/>
            <a:ext cx="5397500" cy="5513070"/>
          </a:xfrm>
          <a:prstGeom prst="rect">
            <a:avLst/>
          </a:prstGeom>
          <a:noFill/>
        </p:spPr>
        <p:txBody>
          <a:bodyPr wrap="square" rtlCol="0" anchor="t">
            <a:noAutofit/>
          </a:bodyPr>
          <a:p>
            <a:pPr marL="0" indent="0">
              <a:buNone/>
            </a:pPr>
            <a:r>
              <a:rPr lang="en-US" altLang="en-US">
                <a:sym typeface="+mn-ea"/>
              </a:rPr>
              <a:t>  public void deleteProduct(int productId) {</a:t>
            </a:r>
            <a:endParaRPr lang="en-US" altLang="en-US">
              <a:sym typeface="+mn-ea"/>
            </a:endParaRPr>
          </a:p>
          <a:p>
            <a:pPr marL="0" indent="0">
              <a:buNone/>
            </a:pPr>
            <a:r>
              <a:rPr lang="en-US" altLang="en-US">
                <a:sym typeface="+mn-ea"/>
              </a:rPr>
              <a:t>Session session=sessionFactory.getCurrentSession();</a:t>
            </a:r>
            <a:endParaRPr lang="en-US" altLang="en-US"/>
          </a:p>
          <a:p>
            <a:pPr marL="0" indent="0">
              <a:buNone/>
            </a:pPr>
            <a:r>
              <a:rPr lang="en-US" altLang="en-US">
                <a:sym typeface="+mn-ea"/>
              </a:rPr>
              <a:t>		Transaction tx=session.beginTransaction();</a:t>
            </a:r>
            <a:endParaRPr lang="en-US" altLang="en-US"/>
          </a:p>
          <a:p>
            <a:pPr marL="0" indent="0">
              <a:buNone/>
            </a:pPr>
            <a:r>
              <a:rPr lang="en-US" altLang="en-US">
                <a:sym typeface="+mn-ea"/>
              </a:rPr>
              <a:t>		CollegeStudent id=session.get(CollegeStudent.class,collegeStudent.getId());</a:t>
            </a:r>
            <a:endParaRPr lang="en-US" altLang="en-US"/>
          </a:p>
          <a:p>
            <a:pPr marL="0" indent="0">
              <a:buNone/>
            </a:pPr>
            <a:r>
              <a:rPr lang="en-US" altLang="en-US">
                <a:sym typeface="+mn-ea"/>
              </a:rPr>
              <a:t>		if(id==null) {</a:t>
            </a:r>
            <a:endParaRPr lang="en-US" altLang="en-US"/>
          </a:p>
          <a:p>
            <a:pPr marL="0" indent="0">
              <a:buNone/>
            </a:pPr>
            <a:r>
              <a:rPr lang="en-US" altLang="en-US">
                <a:sym typeface="+mn-ea"/>
              </a:rPr>
              <a:t>			tx.rollback();</a:t>
            </a:r>
            <a:endParaRPr lang="en-US" altLang="en-US"/>
          </a:p>
          <a:p>
            <a:pPr marL="0" indent="0">
              <a:buNone/>
            </a:pPr>
            <a:r>
              <a:rPr lang="en-US" altLang="en-US">
                <a:sym typeface="+mn-ea"/>
              </a:rPr>
              <a:t>			session.close();</a:t>
            </a:r>
            <a:endParaRPr lang="en-US" altLang="en-US"/>
          </a:p>
          <a:p>
            <a:pPr marL="0" indent="0">
              <a:buNone/>
            </a:pPr>
            <a:r>
              <a:rPr lang="en-US" altLang="en-US">
                <a:sym typeface="+mn-ea"/>
              </a:rPr>
              <a:t>			return false;</a:t>
            </a:r>
            <a:endParaRPr lang="en-US" altLang="en-US"/>
          </a:p>
          <a:p>
            <a:pPr marL="0" indent="0">
              <a:buNone/>
            </a:pPr>
            <a:r>
              <a:rPr lang="en-US" altLang="en-US">
                <a:sym typeface="+mn-ea"/>
              </a:rPr>
              <a:t>		}</a:t>
            </a:r>
            <a:endParaRPr lang="en-US" altLang="en-US"/>
          </a:p>
          <a:p>
            <a:pPr marL="0" indent="0">
              <a:buNone/>
            </a:pPr>
            <a:r>
              <a:rPr lang="en-US" altLang="en-US">
                <a:sym typeface="+mn-ea"/>
              </a:rPr>
              <a:t>		session.delete(id);</a:t>
            </a:r>
            <a:endParaRPr lang="en-US" altLang="en-US"/>
          </a:p>
          <a:p>
            <a:pPr marL="0" indent="0">
              <a:buNone/>
            </a:pPr>
            <a:r>
              <a:rPr lang="en-US" altLang="en-US">
                <a:sym typeface="+mn-ea"/>
              </a:rPr>
              <a:t>		session.getTransaction().commit();</a:t>
            </a:r>
            <a:endParaRPr lang="en-US" altLang="en-US"/>
          </a:p>
          <a:p>
            <a:pPr marL="0" indent="0">
              <a:buNone/>
            </a:pPr>
            <a:r>
              <a:rPr lang="en-US" altLang="en-US">
                <a:sym typeface="+mn-ea"/>
              </a:rPr>
              <a:t>		session.close();</a:t>
            </a:r>
            <a:endParaRPr lang="en-US" altLang="en-US"/>
          </a:p>
          <a:p>
            <a:pPr marL="0" indent="0">
              <a:buNone/>
            </a:pPr>
            <a:r>
              <a:rPr lang="en-US" altLang="en-US">
                <a:sym typeface="+mn-ea"/>
              </a:rPr>
              <a:t>		return true;</a:t>
            </a:r>
            <a:endParaRPr lang="en-US" altLang="en-US"/>
          </a:p>
          <a:p>
            <a:pPr marL="0" indent="0">
              <a:buNone/>
            </a:pPr>
            <a:r>
              <a:rPr lang="en-US" altLang="en-US">
                <a:sym typeface="+mn-ea"/>
              </a:rPr>
              <a:t>}</a:t>
            </a:r>
            <a:endParaRPr lang="en-US" altLang="en-US">
              <a:sym typeface="+mn-ea"/>
            </a:endParaRPr>
          </a:p>
        </p:txBody>
      </p:sp>
      <p:sp>
        <p:nvSpPr>
          <p:cNvPr id="5" name="Text Box 4"/>
          <p:cNvSpPr txBox="1"/>
          <p:nvPr/>
        </p:nvSpPr>
        <p:spPr>
          <a:xfrm>
            <a:off x="214630" y="3992245"/>
            <a:ext cx="6096000" cy="2865755"/>
          </a:xfrm>
          <a:prstGeom prst="rect">
            <a:avLst/>
          </a:prstGeom>
          <a:noFill/>
        </p:spPr>
        <p:txBody>
          <a:bodyPr wrap="square" rtlCol="0" anchor="t">
            <a:noAutofit/>
          </a:bodyPr>
          <a:p>
            <a:pPr marL="0" indent="0">
              <a:buNone/>
            </a:pPr>
            <a:r>
              <a:rPr lang="en-US" altLang="en-US">
                <a:sym typeface="+mn-ea"/>
              </a:rPr>
              <a:t>Session session=sessionFactory.getCurrentSession();</a:t>
            </a:r>
            <a:endParaRPr lang="en-US" altLang="en-US"/>
          </a:p>
          <a:p>
            <a:pPr marL="0" indent="0">
              <a:buNone/>
            </a:pPr>
            <a:r>
              <a:rPr lang="en-US" altLang="en-US">
                <a:sym typeface="+mn-ea"/>
              </a:rPr>
              <a:t>		Transaction tx=session.beginTransaction();</a:t>
            </a:r>
            <a:endParaRPr lang="en-US" altLang="en-US"/>
          </a:p>
          <a:p>
            <a:pPr marL="0" indent="0">
              <a:buNone/>
            </a:pPr>
            <a:r>
              <a:rPr lang="en-US" altLang="en-US">
                <a:sym typeface="+mn-ea"/>
              </a:rPr>
              <a:t>		List&lt;CollegeStudent&gt; collegeStudents=session.createQuery("from CollegeStudent",CollegeStudent.class).list();</a:t>
            </a:r>
            <a:endParaRPr lang="en-US" altLang="en-US"/>
          </a:p>
          <a:p>
            <a:pPr marL="0" indent="0">
              <a:buNone/>
            </a:pPr>
            <a:r>
              <a:rPr lang="en-US" altLang="en-US">
                <a:sym typeface="+mn-ea"/>
              </a:rPr>
              <a:t>		tx.commit();</a:t>
            </a:r>
            <a:endParaRPr lang="en-US" altLang="en-US"/>
          </a:p>
          <a:p>
            <a:pPr marL="0" indent="0">
              <a:buNone/>
            </a:pPr>
            <a:r>
              <a:rPr lang="en-US" altLang="en-US">
                <a:sym typeface="+mn-ea"/>
              </a:rPr>
              <a:t>		session.close();</a:t>
            </a:r>
            <a:endParaRPr lang="en-US" altLang="en-US"/>
          </a:p>
          <a:p>
            <a:pPr marL="0" indent="0">
              <a:buNone/>
            </a:pPr>
            <a:r>
              <a:rPr lang="en-US" altLang="en-US">
                <a:sym typeface="+mn-ea"/>
              </a:rPr>
              <a:t>		return collegeStudents;</a:t>
            </a:r>
            <a:endParaRPr lang="en-US" altLang="en-US"/>
          </a:p>
          <a:p>
            <a:pPr marL="0" indent="0">
              <a:buNone/>
            </a:pPr>
            <a:r>
              <a:rPr lang="en-US" altLang="en-US">
                <a:sym typeface="+mn-ea"/>
              </a:rPr>
              <a:t>	}</a:t>
            </a:r>
            <a:endParaRPr lang="en-US" altLang="en-US">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635"/>
            <a:ext cx="12191365" cy="450215"/>
          </a:xfrm>
        </p:spPr>
        <p:txBody>
          <a:bodyPr>
            <a:noAutofit/>
          </a:bodyPr>
          <a:p>
            <a:pPr algn="ctr"/>
            <a:r>
              <a:rPr lang="en-US" sz="2400" b="1">
                <a:solidFill>
                  <a:srgbClr val="FF0000"/>
                </a:solidFill>
              </a:rPr>
              <a:t>About Display</a:t>
            </a:r>
            <a:endParaRPr lang="en-US" sz="2400" b="1">
              <a:solidFill>
                <a:srgbClr val="FF0000"/>
              </a:solidFill>
            </a:endParaRPr>
          </a:p>
        </p:txBody>
      </p:sp>
      <p:sp>
        <p:nvSpPr>
          <p:cNvPr id="4" name="Text Box 3"/>
          <p:cNvSpPr txBox="1"/>
          <p:nvPr/>
        </p:nvSpPr>
        <p:spPr>
          <a:xfrm>
            <a:off x="0" y="450850"/>
            <a:ext cx="5829300" cy="6309360"/>
          </a:xfrm>
          <a:prstGeom prst="rect">
            <a:avLst/>
          </a:prstGeom>
          <a:noFill/>
        </p:spPr>
        <p:txBody>
          <a:bodyPr wrap="square" rtlCol="0" anchor="t">
            <a:noAutofit/>
          </a:bodyPr>
          <a:p>
            <a:r>
              <a:rPr lang="en-US" altLang="en-US" sz="2000"/>
              <a:t>int mobileid= 1; // example ID</a:t>
            </a:r>
            <a:endParaRPr lang="en-US" altLang="en-US" sz="2000"/>
          </a:p>
          <a:p>
            <a:r>
              <a:rPr lang="en-US" altLang="en-US" sz="2000"/>
              <a:t>session.beginTransaction();</a:t>
            </a:r>
            <a:endParaRPr lang="en-US" altLang="en-US" sz="2000"/>
          </a:p>
          <a:p>
            <a:endParaRPr lang="en-US" altLang="en-US" sz="2000"/>
          </a:p>
          <a:p>
            <a:r>
              <a:rPr lang="en-US" altLang="en-US" sz="2000"/>
              <a:t>MobileDao mbo= session.get(</a:t>
            </a:r>
            <a:r>
              <a:rPr lang="en-US" altLang="en-US" sz="2000">
                <a:sym typeface="+mn-ea"/>
              </a:rPr>
              <a:t>MobileDao </a:t>
            </a:r>
            <a:r>
              <a:rPr lang="en-US" altLang="en-US" sz="2000"/>
              <a:t>.class, </a:t>
            </a:r>
            <a:r>
              <a:rPr lang="en-US" altLang="en-US" sz="2000">
                <a:sym typeface="+mn-ea"/>
              </a:rPr>
              <a:t>mobileid</a:t>
            </a:r>
            <a:r>
              <a:rPr lang="en-US" altLang="en-US" sz="2000"/>
              <a:t>);</a:t>
            </a:r>
            <a:endParaRPr lang="en-US" altLang="en-US" sz="2000"/>
          </a:p>
          <a:p>
            <a:r>
              <a:rPr lang="en-US" altLang="en-US" sz="2000"/>
              <a:t>if (product != null) {</a:t>
            </a:r>
            <a:endParaRPr lang="en-US" altLang="en-US" sz="2000"/>
          </a:p>
          <a:p>
            <a:r>
              <a:rPr lang="en-US" altLang="en-US" sz="2000"/>
              <a:t>    System.out.println("ID: " + </a:t>
            </a:r>
            <a:r>
              <a:rPr lang="en-US" altLang="en-US" sz="2000">
                <a:sym typeface="+mn-ea"/>
              </a:rPr>
              <a:t>mbo</a:t>
            </a:r>
            <a:r>
              <a:rPr lang="en-US" altLang="en-US" sz="2000"/>
              <a:t>.getId());</a:t>
            </a:r>
            <a:endParaRPr lang="en-US" altLang="en-US" sz="2000"/>
          </a:p>
          <a:p>
            <a:r>
              <a:rPr lang="en-US" altLang="en-US" sz="2000"/>
              <a:t>    System.out.println("Name: " + </a:t>
            </a:r>
            <a:r>
              <a:rPr lang="en-US" altLang="en-US" sz="2000">
                <a:sym typeface="+mn-ea"/>
              </a:rPr>
              <a:t>mbo</a:t>
            </a:r>
            <a:r>
              <a:rPr lang="en-US" altLang="en-US" sz="2000"/>
              <a:t>.getName());</a:t>
            </a:r>
            <a:endParaRPr lang="en-US" altLang="en-US" sz="2000"/>
          </a:p>
          <a:p>
            <a:r>
              <a:rPr lang="en-US" altLang="en-US" sz="2000"/>
              <a:t>    System.out.println("Price: " + </a:t>
            </a:r>
            <a:r>
              <a:rPr lang="en-US" altLang="en-US" sz="2000">
                <a:sym typeface="+mn-ea"/>
              </a:rPr>
              <a:t>mbo</a:t>
            </a:r>
            <a:r>
              <a:rPr lang="en-US" altLang="en-US" sz="2000"/>
              <a:t>.getPrice());</a:t>
            </a:r>
            <a:endParaRPr lang="en-US" altLang="en-US" sz="2000"/>
          </a:p>
          <a:p>
            <a:r>
              <a:rPr lang="en-US" altLang="en-US" sz="2000"/>
              <a:t>} else {</a:t>
            </a:r>
            <a:endParaRPr lang="en-US" altLang="en-US" sz="2000"/>
          </a:p>
          <a:p>
            <a:r>
              <a:rPr lang="en-US" altLang="en-US" sz="2000"/>
              <a:t>    System.out.println("Product with ID " + productId + " not found.");</a:t>
            </a:r>
            <a:endParaRPr lang="en-US" altLang="en-US" sz="2000"/>
          </a:p>
          <a:p>
            <a:r>
              <a:rPr lang="en-US" altLang="en-US" sz="2000"/>
              <a:t>}</a:t>
            </a:r>
            <a:endParaRPr lang="en-US" altLang="en-US" sz="2000"/>
          </a:p>
          <a:p>
            <a:r>
              <a:rPr lang="en-US" altLang="en-US" sz="2000"/>
              <a:t>session.getTransaction().commit();</a:t>
            </a:r>
            <a:endParaRPr lang="en-US" altLang="en-US" sz="2000"/>
          </a:p>
          <a:p>
            <a:endParaRPr lang="en-US" altLang="en-US"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27000" y="100330"/>
            <a:ext cx="10515600" cy="6757670"/>
          </a:xfrm>
        </p:spPr>
        <p:txBody>
          <a:bodyPr>
            <a:normAutofit fontScale="65000"/>
          </a:bodyPr>
          <a:p>
            <a:pPr marL="0" indent="0">
              <a:buNone/>
            </a:pPr>
            <a:r>
              <a:rPr lang="en-US" altLang="en-US"/>
              <a:t>SessionFactory factory = cfg.buildSessionFactory();</a:t>
            </a:r>
            <a:endParaRPr lang="en-US" altLang="en-US"/>
          </a:p>
          <a:p>
            <a:pPr marL="0" indent="0">
              <a:buNone/>
            </a:pPr>
            <a:r>
              <a:rPr lang="en-US" altLang="en-US"/>
              <a:t>Session session = factory.getCurrentSession();</a:t>
            </a:r>
            <a:endParaRPr lang="en-US" altLang="en-US"/>
          </a:p>
          <a:p>
            <a:pPr marL="0" indent="0">
              <a:buNone/>
            </a:pPr>
            <a:r>
              <a:rPr lang="en-US" altLang="en-US"/>
              <a:t>try {</a:t>
            </a:r>
            <a:endParaRPr lang="en-US" altLang="en-US"/>
          </a:p>
          <a:p>
            <a:pPr marL="0" indent="0">
              <a:buNone/>
            </a:pPr>
            <a:r>
              <a:rPr lang="en-US" altLang="en-US"/>
              <a:t>    session.beginTransaction();</a:t>
            </a:r>
            <a:endParaRPr lang="en-US" altLang="en-US"/>
          </a:p>
          <a:p>
            <a:pPr marL="0" indent="0">
              <a:buNone/>
            </a:pPr>
            <a:r>
              <a:rPr lang="en-US" altLang="en-US"/>
              <a:t>    List&lt;MobileDto&gt; mob= session.createQuery("from </a:t>
            </a:r>
            <a:r>
              <a:rPr lang="en-US" altLang="en-US">
                <a:sym typeface="+mn-ea"/>
              </a:rPr>
              <a:t>MobileDto</a:t>
            </a:r>
            <a:r>
              <a:rPr lang="en-US" altLang="en-US"/>
              <a:t>", </a:t>
            </a:r>
            <a:r>
              <a:rPr lang="en-US" altLang="en-US">
                <a:sym typeface="+mn-ea"/>
              </a:rPr>
              <a:t>MobileDto</a:t>
            </a:r>
            <a:r>
              <a:rPr lang="en-US" altLang="en-US"/>
              <a:t>.class).getResultList();</a:t>
            </a:r>
            <a:endParaRPr lang="en-US" altLang="en-US"/>
          </a:p>
          <a:p>
            <a:pPr marL="0" indent="0">
              <a:buNone/>
            </a:pPr>
            <a:r>
              <a:rPr lang="en-US" altLang="en-US"/>
              <a:t>    if (</a:t>
            </a:r>
            <a:r>
              <a:rPr lang="en-US" altLang="en-US">
                <a:sym typeface="+mn-ea"/>
              </a:rPr>
              <a:t>mob</a:t>
            </a:r>
            <a:r>
              <a:rPr lang="en-US" altLang="en-US"/>
              <a:t>.isEmpty()) {</a:t>
            </a:r>
            <a:endParaRPr lang="en-US" altLang="en-US"/>
          </a:p>
          <a:p>
            <a:pPr marL="0" indent="0">
              <a:buNone/>
            </a:pPr>
            <a:r>
              <a:rPr lang="en-US" altLang="en-US"/>
              <a:t>        System.out.println("No Mobile record found in the database.");</a:t>
            </a:r>
            <a:endParaRPr lang="en-US" altLang="en-US"/>
          </a:p>
          <a:p>
            <a:pPr marL="0" indent="0">
              <a:buNone/>
            </a:pPr>
            <a:r>
              <a:rPr lang="en-US" altLang="en-US"/>
              <a:t>    } else {</a:t>
            </a:r>
            <a:endParaRPr lang="en-US" altLang="en-US"/>
          </a:p>
          <a:p>
            <a:pPr marL="0" indent="0">
              <a:buNone/>
            </a:pPr>
            <a:r>
              <a:rPr lang="en-US" altLang="en-US"/>
              <a:t>        for (</a:t>
            </a:r>
            <a:r>
              <a:rPr lang="en-US" altLang="en-US">
                <a:sym typeface="+mn-ea"/>
              </a:rPr>
              <a:t>MobileDto    </a:t>
            </a:r>
            <a:r>
              <a:rPr lang="en-US" altLang="en-US"/>
              <a:t>mb1</a:t>
            </a:r>
            <a:r>
              <a:rPr lang="en-US" altLang="en-US"/>
              <a:t>: </a:t>
            </a:r>
            <a:r>
              <a:rPr lang="en-US" altLang="en-US">
                <a:sym typeface="+mn-ea"/>
              </a:rPr>
              <a:t>mob</a:t>
            </a:r>
            <a:r>
              <a:rPr lang="en-US" altLang="en-US"/>
              <a:t>) {</a:t>
            </a:r>
            <a:endParaRPr lang="en-US" altLang="en-US"/>
          </a:p>
          <a:p>
            <a:pPr marL="0" indent="0">
              <a:buNone/>
            </a:pPr>
            <a:r>
              <a:rPr lang="en-US" altLang="en-US"/>
              <a:t>            System.out.println("ID: " + </a:t>
            </a:r>
            <a:r>
              <a:rPr lang="en-US" altLang="en-US">
                <a:sym typeface="+mn-ea"/>
              </a:rPr>
              <a:t>mob</a:t>
            </a:r>
            <a:r>
              <a:rPr lang="en-US" altLang="en-US"/>
              <a:t>.getId());</a:t>
            </a:r>
            <a:endParaRPr lang="en-US" altLang="en-US"/>
          </a:p>
          <a:p>
            <a:pPr marL="0" indent="0">
              <a:buNone/>
            </a:pPr>
            <a:r>
              <a:rPr lang="en-US" altLang="en-US"/>
              <a:t>            System.out.println("Name: " + </a:t>
            </a:r>
            <a:r>
              <a:rPr lang="en-US" altLang="en-US">
                <a:sym typeface="+mn-ea"/>
              </a:rPr>
              <a:t>mob</a:t>
            </a:r>
            <a:r>
              <a:rPr lang="en-US" altLang="en-US"/>
              <a:t>.getName());</a:t>
            </a:r>
            <a:endParaRPr lang="en-US" altLang="en-US"/>
          </a:p>
          <a:p>
            <a:pPr marL="0" indent="0">
              <a:buNone/>
            </a:pPr>
            <a:r>
              <a:rPr lang="en-US" altLang="en-US"/>
              <a:t>            System.out.println("Price: " + </a:t>
            </a:r>
            <a:r>
              <a:rPr lang="en-US" altLang="en-US">
                <a:sym typeface="+mn-ea"/>
              </a:rPr>
              <a:t>mob</a:t>
            </a:r>
            <a:r>
              <a:rPr lang="en-US" altLang="en-US"/>
              <a:t>.getPrice());</a:t>
            </a:r>
            <a:endParaRPr lang="en-US" altLang="en-US"/>
          </a:p>
          <a:p>
            <a:pPr marL="0" indent="0">
              <a:buNone/>
            </a:pPr>
            <a:r>
              <a:rPr lang="en-US" altLang="en-US"/>
              <a:t>            System.out.println("-----------------------------");</a:t>
            </a:r>
            <a:endParaRPr lang="en-US" altLang="en-US"/>
          </a:p>
          <a:p>
            <a:pPr marL="0" indent="0">
              <a:buNone/>
            </a:pPr>
            <a:r>
              <a:rPr lang="en-US" altLang="en-US"/>
              <a:t>        }        }</a:t>
            </a:r>
            <a:endParaRPr lang="en-US" altLang="en-US"/>
          </a:p>
          <a:p>
            <a:pPr marL="0" indent="0">
              <a:buNone/>
            </a:pPr>
            <a:r>
              <a:rPr lang="en-US" altLang="en-US"/>
              <a:t>} catch (Exception e) {</a:t>
            </a:r>
            <a:endParaRPr lang="en-US" altLang="en-US"/>
          </a:p>
          <a:p>
            <a:pPr marL="0" indent="0">
              <a:buNone/>
            </a:pPr>
            <a:r>
              <a:rPr lang="en-US" altLang="en-US"/>
              <a:t>    System.out.println("Error: " + e.getMessage());</a:t>
            </a:r>
            <a:endParaRPr lang="en-US" altLang="en-US"/>
          </a:p>
          <a:p>
            <a:pPr marL="0" indent="0">
              <a:buNone/>
            </a:pPr>
            <a:r>
              <a:rPr lang="en-US" altLang="en-US"/>
              <a:t>}</a:t>
            </a:r>
            <a:endParaRPr lang="en-US" altLang="en-US"/>
          </a:p>
          <a:p>
            <a:pPr marL="0" indent="0">
              <a:buNone/>
            </a:pPr>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99060" y="224155"/>
            <a:ext cx="11952605" cy="3954780"/>
          </a:xfrm>
        </p:spPr>
        <p:txBody>
          <a:bodyPr>
            <a:normAutofit lnSpcReduction="10000"/>
          </a:bodyPr>
          <a:p>
            <a:pPr marL="0" indent="0">
              <a:buNone/>
            </a:pPr>
            <a:r>
              <a:rPr lang="en-US" altLang="en-US" sz="1800" b="1"/>
              <a:t>Definition of One-to-One Mapping</a:t>
            </a:r>
            <a:endParaRPr lang="en-US" altLang="en-US" sz="1800"/>
          </a:p>
          <a:p>
            <a:pPr marL="0" indent="0">
              <a:buNone/>
            </a:pPr>
            <a:r>
              <a:rPr lang="en-US" altLang="en-US" sz="1800"/>
              <a:t>A One-to-One mapping in Hibernate/JPA is a relationship where one entity is associated with exactly one instance of another entity, and vice versa.</a:t>
            </a:r>
            <a:endParaRPr lang="en-US" altLang="en-US" sz="1800"/>
          </a:p>
          <a:p>
            <a:pPr marL="0" indent="0">
              <a:buNone/>
            </a:pPr>
            <a:r>
              <a:rPr lang="en-US" altLang="en-US" sz="1800"/>
              <a:t>Typically implemented using a foreign key in one of the tables.</a:t>
            </a:r>
            <a:endParaRPr lang="en-US" altLang="en-US" sz="1800"/>
          </a:p>
          <a:p>
            <a:pPr marL="0" indent="0">
              <a:buNone/>
            </a:pPr>
            <a:r>
              <a:rPr lang="en-US" altLang="en-US" sz="1800"/>
              <a:t>Can be unidirectional (one entity knows the other) or bidirectional (both entities reference each other).</a:t>
            </a:r>
            <a:endParaRPr lang="en-US" altLang="en-US" sz="1800"/>
          </a:p>
          <a:p>
            <a:pPr marL="0" indent="0">
              <a:buNone/>
            </a:pPr>
            <a:r>
              <a:rPr lang="en-US" altLang="en-US" sz="1800"/>
              <a:t>1. To link two entities where each instance corresponds to exactly one instance of the other.</a:t>
            </a:r>
            <a:endParaRPr lang="en-US" altLang="en-US" sz="1800"/>
          </a:p>
          <a:p>
            <a:pPr marL="0" indent="0">
              <a:buNone/>
            </a:pPr>
            <a:r>
              <a:rPr lang="en-US" altLang="en-US" sz="1800"/>
              <a:t>2. To normalize database tables by splitting entity data logically.</a:t>
            </a:r>
            <a:endParaRPr lang="en-US" altLang="en-US" sz="1800"/>
          </a:p>
          <a:p>
            <a:pPr marL="0" indent="0">
              <a:buNone/>
            </a:pPr>
            <a:r>
              <a:rPr lang="en-US" altLang="en-US" sz="1800"/>
              <a:t>3. To store optional or sensitive data separately (e.g., user profile, employee details).</a:t>
            </a:r>
            <a:endParaRPr lang="en-US" altLang="en-US" sz="1800"/>
          </a:p>
          <a:p>
            <a:pPr marL="0" indent="0">
              <a:buNone/>
            </a:pPr>
            <a:r>
              <a:rPr lang="en-US" altLang="en-US" sz="1800"/>
              <a:t>4. To enforce data integrity at the database level.</a:t>
            </a:r>
            <a:endParaRPr lang="en-US" altLang="en-US" sz="1800"/>
          </a:p>
          <a:p>
            <a:pPr marL="0" indent="0">
              <a:buNone/>
            </a:pPr>
            <a:r>
              <a:rPr lang="en-US" altLang="en-US" sz="1800"/>
              <a:t>5. To allow easy navigation between associated entities in both directions (if bidirectional).</a:t>
            </a:r>
            <a:endParaRPr lang="en-US" altLang="en-US" sz="1800"/>
          </a:p>
          <a:p>
            <a:pPr marL="0" indent="0">
              <a:buNone/>
            </a:pPr>
            <a:r>
              <a:rPr lang="en-US" altLang="en-US" sz="1800"/>
              <a:t>6. To simplify cascading operations like save, update, and delete for associated entities.</a:t>
            </a:r>
            <a:endParaRPr lang="en-US" altLang="en-US" sz="1800"/>
          </a:p>
          <a:p>
            <a:pPr marL="0" indent="0">
              <a:buNone/>
            </a:pPr>
            <a:endParaRPr lang="en-US" altLang="en-US" sz="1800"/>
          </a:p>
          <a:p>
            <a:pPr marL="0" indent="0">
              <a:buNone/>
            </a:pPr>
            <a:endParaRPr lang="en-US" altLang="en-US" sz="1800"/>
          </a:p>
        </p:txBody>
      </p:sp>
      <p:graphicFrame>
        <p:nvGraphicFramePr>
          <p:cNvPr id="4" name="Table 3"/>
          <p:cNvGraphicFramePr/>
          <p:nvPr>
            <p:custDataLst>
              <p:tags r:id="rId1"/>
            </p:custDataLst>
          </p:nvPr>
        </p:nvGraphicFramePr>
        <p:xfrm>
          <a:off x="99060" y="4041140"/>
          <a:ext cx="11689080" cy="1280160"/>
        </p:xfrm>
        <a:graphic>
          <a:graphicData uri="http://schemas.openxmlformats.org/drawingml/2006/table">
            <a:tbl>
              <a:tblPr/>
              <a:tblGrid>
                <a:gridCol w="5365750"/>
                <a:gridCol w="6323330"/>
              </a:tblGrid>
              <a:tr h="213360">
                <a:tc>
                  <a:txBody>
                    <a:bodyPr/>
                    <a:p>
                      <a:pPr algn="ctr"/>
                      <a:r>
                        <a:rPr sz="2000" b="1"/>
                        <a:t>Value</a:t>
                      </a:r>
                      <a:endParaRPr sz="2000" b="1"/>
                    </a:p>
                  </a:txBody>
                  <a:tcPr marL="0" marR="0" marT="0" marB="0" anchor="ctr" anchorCtr="0">
                    <a:lnL>
                      <a:noFill/>
                    </a:lnL>
                    <a:lnR>
                      <a:noFill/>
                    </a:lnR>
                    <a:lnT>
                      <a:noFill/>
                    </a:lnT>
                    <a:lnB>
                      <a:noFill/>
                    </a:lnB>
                    <a:noFill/>
                  </a:tcPr>
                </a:tc>
                <a:tc>
                  <a:txBody>
                    <a:bodyPr/>
                    <a:p>
                      <a:pPr algn="ctr"/>
                      <a:r>
                        <a:rPr sz="2000" b="1"/>
                        <a:t>Action</a:t>
                      </a:r>
                      <a:endParaRPr sz="2000" b="1"/>
                    </a:p>
                  </a:txBody>
                  <a:tcPr marL="0" marR="0" marT="0" marB="0" anchor="ctr" anchorCtr="0">
                    <a:lnL>
                      <a:noFill/>
                    </a:lnL>
                    <a:lnR>
                      <a:noFill/>
                    </a:lnR>
                    <a:lnT>
                      <a:noFill/>
                    </a:lnT>
                    <a:lnB>
                      <a:noFill/>
                    </a:lnB>
                    <a:noFill/>
                  </a:tcPr>
                </a:tc>
              </a:tr>
              <a:tr h="213360">
                <a:tc>
                  <a:txBody>
                    <a:bodyPr/>
                    <a:p>
                      <a:r>
                        <a:rPr sz="1800"/>
                        <a:t>validate</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Validate schema only (NO changes)</a:t>
                      </a:r>
                      <a:endParaRPr sz="1800"/>
                    </a:p>
                  </a:txBody>
                  <a:tcPr marL="0" marR="0" marT="0" marB="0" anchor="ctr" anchorCtr="0">
                    <a:lnL>
                      <a:noFill/>
                    </a:lnL>
                    <a:lnR>
                      <a:noFill/>
                    </a:lnR>
                    <a:lnT>
                      <a:noFill/>
                    </a:lnT>
                    <a:lnB>
                      <a:noFill/>
                    </a:lnB>
                    <a:solidFill>
                      <a:schemeClr val="accent2">
                        <a:lumMod val="20000"/>
                        <a:lumOff val="80000"/>
                      </a:schemeClr>
                    </a:solidFill>
                  </a:tcPr>
                </a:tc>
              </a:tr>
              <a:tr h="213360">
                <a:tc>
                  <a:txBody>
                    <a:bodyPr/>
                    <a:p>
                      <a:r>
                        <a:rPr sz="1800"/>
                        <a:t>update</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Add/update schema automatically</a:t>
                      </a:r>
                      <a:endParaRPr sz="1800"/>
                    </a:p>
                  </a:txBody>
                  <a:tcPr marL="0" marR="0" marT="0" marB="0" anchor="ctr" anchorCtr="0">
                    <a:lnL>
                      <a:noFill/>
                    </a:lnL>
                    <a:lnR>
                      <a:noFill/>
                    </a:lnR>
                    <a:lnT>
                      <a:noFill/>
                    </a:lnT>
                    <a:lnB>
                      <a:noFill/>
                    </a:lnB>
                    <a:solidFill>
                      <a:schemeClr val="accent2">
                        <a:lumMod val="20000"/>
                        <a:lumOff val="80000"/>
                      </a:schemeClr>
                    </a:solidFill>
                  </a:tcPr>
                </a:tc>
              </a:tr>
              <a:tr h="213360">
                <a:tc>
                  <a:txBody>
                    <a:bodyPr/>
                    <a:p>
                      <a:r>
                        <a:rPr sz="1800"/>
                        <a:t>create</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Drop + create schema</a:t>
                      </a:r>
                      <a:endParaRPr sz="1800"/>
                    </a:p>
                  </a:txBody>
                  <a:tcPr marL="0" marR="0" marT="0" marB="0" anchor="ctr" anchorCtr="0">
                    <a:lnL>
                      <a:noFill/>
                    </a:lnL>
                    <a:lnR>
                      <a:noFill/>
                    </a:lnR>
                    <a:lnT>
                      <a:noFill/>
                    </a:lnT>
                    <a:lnB>
                      <a:noFill/>
                    </a:lnB>
                    <a:solidFill>
                      <a:schemeClr val="accent2">
                        <a:lumMod val="20000"/>
                        <a:lumOff val="80000"/>
                      </a:schemeClr>
                    </a:solidFill>
                  </a:tcPr>
                </a:tc>
              </a:tr>
              <a:tr h="213360">
                <a:tc>
                  <a:txBody>
                    <a:bodyPr/>
                    <a:p>
                      <a:r>
                        <a:rPr sz="1800"/>
                        <a:t>create-drop</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Create schema, drop on shutdown</a:t>
                      </a:r>
                      <a:endParaRPr sz="1800"/>
                    </a:p>
                  </a:txBody>
                  <a:tcPr marL="0" marR="0" marT="0" marB="0" anchor="ctr" anchorCtr="0">
                    <a:lnL>
                      <a:noFill/>
                    </a:lnL>
                    <a:lnR>
                      <a:noFill/>
                    </a:lnR>
                    <a:lnT>
                      <a:noFill/>
                    </a:lnT>
                    <a:lnB>
                      <a:noFill/>
                    </a:lnB>
                    <a:solidFill>
                      <a:schemeClr val="accent2">
                        <a:lumMod val="20000"/>
                        <a:lumOff val="80000"/>
                      </a:schemeClr>
                    </a:solidFill>
                  </a:tcPr>
                </a:tc>
              </a:tr>
              <a:tr h="213360">
                <a:tc>
                  <a:txBody>
                    <a:bodyPr/>
                    <a:p>
                      <a:r>
                        <a:rPr sz="1800"/>
                        <a:t>none</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Do nothing</a:t>
                      </a:r>
                      <a:endParaRPr sz="1800"/>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0"/>
            <a:ext cx="12191365" cy="285750"/>
          </a:xfrm>
        </p:spPr>
        <p:txBody>
          <a:bodyPr>
            <a:noAutofit/>
          </a:bodyPr>
          <a:p>
            <a:pPr algn="ctr"/>
            <a:r>
              <a:rPr lang="en-US" sz="2000" b="1">
                <a:solidFill>
                  <a:srgbClr val="FF0000"/>
                </a:solidFill>
              </a:rPr>
              <a:t>Hibernate Java Based Configuration</a:t>
            </a:r>
            <a:endParaRPr lang="en-US" sz="2000" b="1">
              <a:solidFill>
                <a:srgbClr val="FF0000"/>
              </a:solidFill>
            </a:endParaRPr>
          </a:p>
        </p:txBody>
      </p:sp>
      <p:sp>
        <p:nvSpPr>
          <p:cNvPr id="5" name="Text Box 4"/>
          <p:cNvSpPr txBox="1"/>
          <p:nvPr/>
        </p:nvSpPr>
        <p:spPr>
          <a:xfrm>
            <a:off x="-635" y="285750"/>
            <a:ext cx="12073255" cy="6572250"/>
          </a:xfrm>
          <a:prstGeom prst="rect">
            <a:avLst/>
          </a:prstGeom>
          <a:noFill/>
        </p:spPr>
        <p:txBody>
          <a:bodyPr wrap="square" rtlCol="0" anchor="t">
            <a:noAutofit/>
          </a:bodyPr>
          <a:p>
            <a:r>
              <a:rPr lang="en-US" altLang="en-US" sz="2000"/>
              <a:t>privatestaticSessionFactorysessionFactory;</a:t>
            </a:r>
            <a:endParaRPr lang="en-US" altLang="en-US" sz="2000"/>
          </a:p>
          <a:p>
            <a:r>
              <a:rPr lang="en-US" altLang="en-US" sz="2000"/>
              <a:t>publicstaticSessionFactorygetSessionFactory(){</a:t>
            </a:r>
            <a:endParaRPr lang="en-US" altLang="en-US" sz="2000"/>
          </a:p>
          <a:p>
            <a:r>
              <a:rPr lang="en-US" altLang="en-US" sz="2000"/>
              <a:t>if(sessionFactory==null){</a:t>
            </a:r>
            <a:endParaRPr lang="en-US" altLang="en-US" sz="2000"/>
          </a:p>
          <a:p>
            <a:r>
              <a:rPr lang="en-US" altLang="en-US" sz="2000"/>
              <a:t>try{</a:t>
            </a:r>
            <a:endParaRPr lang="en-US" altLang="en-US" sz="2000"/>
          </a:p>
          <a:p>
            <a:r>
              <a:rPr lang="en-US" altLang="en-US" sz="2000"/>
              <a:t>Configurationconfiguration=newConfiguration();</a:t>
            </a:r>
            <a:endParaRPr lang="en-US" altLang="en-US" sz="2000"/>
          </a:p>
          <a:p>
            <a:r>
              <a:rPr lang="en-US" altLang="en-US" sz="2000"/>
              <a:t>configuration.setProperty("hibernate.connection.driver_class","com.mysql.cj.jdbc.Driver");</a:t>
            </a:r>
            <a:endParaRPr lang="en-US" altLang="en-US" sz="2000"/>
          </a:p>
          <a:p>
            <a:r>
              <a:rPr lang="en-US" altLang="en-US" sz="2000"/>
              <a:t>configuration.setProperty("hibernate.connection.url","jdbc:mysql://localhost:3306/Hibernate3pmbatch");</a:t>
            </a:r>
            <a:endParaRPr lang="en-US" altLang="en-US" sz="2000"/>
          </a:p>
          <a:p>
            <a:r>
              <a:rPr lang="en-US" altLang="en-US" sz="2000"/>
              <a:t>configuration.setProperty("hibernate.connection.username","root");</a:t>
            </a:r>
            <a:endParaRPr lang="en-US" altLang="en-US" sz="2000"/>
          </a:p>
          <a:p>
            <a:r>
              <a:rPr lang="en-US" altLang="en-US" sz="2000"/>
              <a:t>configuration.setProperty("hibernate.connection.password","root");</a:t>
            </a:r>
            <a:endParaRPr lang="en-US" altLang="en-US" sz="2000"/>
          </a:p>
          <a:p>
            <a:r>
              <a:rPr lang="en-US" altLang="en-US" sz="2000"/>
              <a:t>configuration.setProperty("hibernate.current_session_context_class","thread");</a:t>
            </a:r>
            <a:endParaRPr lang="en-US" altLang="en-US" sz="2000"/>
          </a:p>
          <a:p>
            <a:r>
              <a:rPr lang="en-US" altLang="en-US" sz="2000"/>
              <a:t>configuration.setProperty("hibernate.dialect","org.hibernate.dialect.MySQL8Dialect");</a:t>
            </a:r>
            <a:endParaRPr lang="en-US" altLang="en-US" sz="2000"/>
          </a:p>
          <a:p>
            <a:r>
              <a:rPr lang="en-US" altLang="en-US" sz="2000"/>
              <a:t>configuration.setProperty("hibernate.show_sql","true");</a:t>
            </a:r>
            <a:endParaRPr lang="en-US" altLang="en-US" sz="2000"/>
          </a:p>
          <a:p>
            <a:r>
              <a:rPr lang="en-US" altLang="en-US" sz="2000"/>
              <a:t>configuration.setProperty("hibernate.hbm2ddl.auto","update");</a:t>
            </a:r>
            <a:endParaRPr lang="en-US" altLang="en-US" sz="2000"/>
          </a:p>
          <a:p>
            <a:r>
              <a:rPr lang="en-US" altLang="en-US" sz="2000"/>
              <a:t>configuration.addAnnotatedClass(BookEntity.class);</a:t>
            </a:r>
            <a:endParaRPr lang="en-US" altLang="en-US" sz="2000"/>
          </a:p>
          <a:p>
            <a:r>
              <a:rPr lang="en-US" altLang="en-US" sz="2000"/>
              <a:t>sessionFactory=configuration.buildSessionFactory();</a:t>
            </a:r>
            <a:endParaRPr lang="en-US" altLang="en-US" sz="2000"/>
          </a:p>
          <a:p>
            <a:r>
              <a:rPr lang="en-US" altLang="en-US" sz="2000"/>
              <a:t>}catch(Exceptione){</a:t>
            </a:r>
            <a:endParaRPr lang="en-US" altLang="en-US" sz="2000"/>
          </a:p>
          <a:p>
            <a:r>
              <a:rPr lang="en-US" altLang="en-US" sz="2000"/>
              <a:t>e.printStackTrace();</a:t>
            </a:r>
            <a:endParaRPr lang="en-US" altLang="en-US" sz="2000"/>
          </a:p>
          <a:p>
            <a:r>
              <a:rPr lang="en-US" altLang="en-US" sz="2000"/>
              <a:t>}</a:t>
            </a:r>
            <a:endParaRPr lang="en-US" altLang="en-US" sz="2000"/>
          </a:p>
          <a:p>
            <a:r>
              <a:rPr lang="en-US" altLang="en-US" sz="2000"/>
              <a:t>}</a:t>
            </a:r>
            <a:endParaRPr lang="en-US" altLang="en-US" sz="2000"/>
          </a:p>
          <a:p>
            <a:r>
              <a:rPr lang="en-US" altLang="en-US" sz="2000"/>
              <a:t>returnsessionFactory;</a:t>
            </a:r>
            <a:endParaRPr lang="en-US" altLang="en-US" sz="2000"/>
          </a:p>
          <a:p>
            <a:r>
              <a:rPr lang="en-US" altLang="en-US" sz="2000"/>
              <a:t>}</a:t>
            </a:r>
            <a:endParaRPr lang="en-US" altLang="en-US" sz="2000"/>
          </a:p>
          <a:p>
            <a:endParaRPr lang="en-US" altLang="en-US" sz="2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5410"/>
            <a:ext cx="10515600" cy="258445"/>
          </a:xfrm>
        </p:spPr>
        <p:txBody>
          <a:bodyPr>
            <a:normAutofit fontScale="90000"/>
          </a:bodyPr>
          <a:p>
            <a:r>
              <a:rPr lang="en-US" sz="2400" b="1">
                <a:solidFill>
                  <a:srgbClr val="FF0000"/>
                </a:solidFill>
              </a:rPr>
              <a:t>OneToMany &amp; ManyToOne Mapping</a:t>
            </a:r>
            <a:endParaRPr lang="en-US" sz="2400" b="1">
              <a:solidFill>
                <a:srgbClr val="FF0000"/>
              </a:solidFill>
            </a:endParaRPr>
          </a:p>
        </p:txBody>
      </p:sp>
      <p:sp>
        <p:nvSpPr>
          <p:cNvPr id="3" name="Content Placeholder 2"/>
          <p:cNvSpPr>
            <a:spLocks noGrp="1"/>
          </p:cNvSpPr>
          <p:nvPr>
            <p:ph idx="1"/>
          </p:nvPr>
        </p:nvSpPr>
        <p:spPr>
          <a:xfrm>
            <a:off x="85090" y="497840"/>
            <a:ext cx="11980545" cy="6157595"/>
          </a:xfrm>
        </p:spPr>
        <p:txBody>
          <a:bodyPr>
            <a:normAutofit/>
          </a:bodyPr>
          <a:p>
            <a:r>
              <a:rPr lang="en-US" altLang="en-US" sz="1800" b="1"/>
              <a:t>@OneToMany Mapping</a:t>
            </a:r>
            <a:endParaRPr lang="en-US" altLang="en-US" sz="1800"/>
          </a:p>
          <a:p>
            <a:pPr marL="0" indent="0">
              <a:buNone/>
            </a:pPr>
            <a:r>
              <a:rPr lang="en-US" altLang="en-US" sz="1800"/>
              <a:t>@OneToMany represents a relationship where one parent entity is related to multiple child entities.</a:t>
            </a:r>
            <a:endParaRPr lang="en-US" altLang="en-US" sz="1800"/>
          </a:p>
          <a:p>
            <a:pPr marL="0" indent="0">
              <a:buNone/>
            </a:pPr>
            <a:r>
              <a:rPr lang="en-US" altLang="en-US" sz="1800"/>
              <a:t>The parent does not hold the foreign key; the child table contains it.</a:t>
            </a:r>
            <a:endParaRPr lang="en-US" altLang="en-US" sz="1800"/>
          </a:p>
          <a:p>
            <a:pPr marL="0" indent="0">
              <a:buNone/>
            </a:pPr>
            <a:r>
              <a:rPr lang="en-US" altLang="en-US" sz="1800"/>
              <a:t>It is usually the inverse side, defined using mappedBy.</a:t>
            </a:r>
            <a:endParaRPr lang="en-US" altLang="en-US" sz="1800"/>
          </a:p>
          <a:p>
            <a:endParaRPr lang="en-US" altLang="en-US" sz="1800"/>
          </a:p>
          <a:p>
            <a:r>
              <a:rPr lang="en-US" altLang="en-US" sz="1800" b="1"/>
              <a:t>@ManyToOne Mapping</a:t>
            </a:r>
            <a:endParaRPr lang="en-US" altLang="en-US" sz="1800"/>
          </a:p>
          <a:p>
            <a:pPr marL="0" indent="0">
              <a:buNone/>
            </a:pPr>
            <a:r>
              <a:rPr lang="en-US" altLang="en-US" sz="1800"/>
              <a:t>@ManyToOne represents a relationship where many child entities are associated with one parent entity.</a:t>
            </a:r>
            <a:endParaRPr lang="en-US" altLang="en-US" sz="1800"/>
          </a:p>
          <a:p>
            <a:pPr marL="0" indent="0">
              <a:buNone/>
            </a:pPr>
            <a:r>
              <a:rPr lang="en-US" altLang="en-US" sz="1800"/>
              <a:t>The child table contains the foreign key column, making this the owning side of the relationship.</a:t>
            </a:r>
            <a:endParaRPr lang="en-US" altLang="en-US" sz="1800"/>
          </a:p>
          <a:p>
            <a:pPr marL="0" indent="0">
              <a:buNone/>
            </a:pPr>
            <a:r>
              <a:rPr lang="en-US" altLang="en-US" sz="1800"/>
              <a:t>Hibernate uses this side to update and manage the relationship.</a:t>
            </a:r>
            <a:endParaRPr lang="en-US" altLang="en-US" sz="1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82550"/>
            <a:ext cx="10515600" cy="323215"/>
          </a:xfrm>
        </p:spPr>
        <p:txBody>
          <a:bodyPr>
            <a:noAutofit/>
          </a:bodyPr>
          <a:p>
            <a:pPr algn="ctr"/>
            <a:r>
              <a:rPr lang="en-US" sz="2000" b="1">
                <a:solidFill>
                  <a:srgbClr val="FF0000"/>
                </a:solidFill>
              </a:rPr>
              <a:t>ManyToManyMapping</a:t>
            </a:r>
            <a:endParaRPr lang="en-US" sz="2000" b="1">
              <a:solidFill>
                <a:srgbClr val="FF0000"/>
              </a:solidFill>
            </a:endParaRPr>
          </a:p>
        </p:txBody>
      </p:sp>
      <p:sp>
        <p:nvSpPr>
          <p:cNvPr id="3" name="Content Placeholder 2"/>
          <p:cNvSpPr>
            <a:spLocks noGrp="1"/>
          </p:cNvSpPr>
          <p:nvPr>
            <p:ph idx="1"/>
          </p:nvPr>
        </p:nvSpPr>
        <p:spPr>
          <a:xfrm>
            <a:off x="153670" y="405765"/>
            <a:ext cx="11898630" cy="6308090"/>
          </a:xfrm>
        </p:spPr>
        <p:txBody>
          <a:bodyPr>
            <a:normAutofit/>
          </a:bodyPr>
          <a:p>
            <a:pPr marL="0" indent="0">
              <a:buNone/>
            </a:pPr>
            <a:r>
              <a:rPr lang="en-US" altLang="en-US" sz="1800"/>
              <a:t>In Hibernate (and JPA), a many-to-many mapping is used when multiple records of one entity are associated with multiple records of another entity. This relationship is represented using a join table.</a:t>
            </a:r>
            <a:endParaRPr lang="en-US" altLang="en-US" sz="1800"/>
          </a:p>
          <a:p>
            <a:pPr marL="0" indent="0">
              <a:buNone/>
            </a:pPr>
            <a:endParaRPr lang="en-US" altLang="en-US" sz="1800"/>
          </a:p>
          <a:p>
            <a:pPr marL="0" indent="0">
              <a:buNone/>
            </a:pPr>
            <a:r>
              <a:rPr lang="en-US" altLang="en-US" sz="1800"/>
              <a:t>What is Many-to-Many Mapping?</a:t>
            </a:r>
            <a:endParaRPr lang="en-US" altLang="en-US" sz="1800"/>
          </a:p>
          <a:p>
            <a:pPr marL="0" indent="0">
              <a:buNone/>
            </a:pPr>
            <a:r>
              <a:rPr lang="en-US" altLang="en-US" sz="1800"/>
              <a:t>A many-to-many relationship occurs when:</a:t>
            </a:r>
            <a:endParaRPr lang="en-US" altLang="en-US" sz="1800"/>
          </a:p>
          <a:p>
            <a:pPr marL="0" indent="0">
              <a:buNone/>
            </a:pPr>
            <a:r>
              <a:rPr lang="en-US" altLang="en-US" sz="1800"/>
              <a:t>One student can enroll in many courses</a:t>
            </a:r>
            <a:endParaRPr lang="en-US" altLang="en-US" sz="1800"/>
          </a:p>
          <a:p>
            <a:pPr marL="0" indent="0">
              <a:buNone/>
            </a:pPr>
            <a:r>
              <a:rPr lang="en-US" altLang="en-US" sz="1800"/>
              <a:t>One course can be taken by many students</a:t>
            </a:r>
            <a:endParaRPr lang="en-US" altLang="en-US" sz="1800"/>
          </a:p>
          <a:p>
            <a:pPr marL="0" indent="0">
              <a:buNone/>
            </a:pPr>
            <a:r>
              <a:rPr lang="en-US" altLang="en-US" sz="1800"/>
              <a:t>Hibernate/JPA uses a join table (e.g., student_course) to store the association.</a:t>
            </a:r>
            <a:endParaRPr lang="en-US" altLang="en-US" sz="1800"/>
          </a:p>
          <a:p>
            <a:pPr marL="0" indent="0">
              <a:buNone/>
            </a:pPr>
            <a:endParaRPr lang="en-US" altLang="en-US" sz="1800"/>
          </a:p>
          <a:p>
            <a:pPr marL="0" indent="0">
              <a:buNone/>
            </a:pPr>
            <a:r>
              <a:rPr lang="en-US" altLang="en-US" sz="1800"/>
              <a:t>A Student can enroll in many Courses, and a Course can have many Students → Many-to-Many.</a:t>
            </a:r>
            <a:endParaRPr lang="en-US" altLang="en-US" sz="1800"/>
          </a:p>
          <a:p>
            <a:pPr marL="0" indent="0">
              <a:buNone/>
            </a:pPr>
            <a:r>
              <a:rPr lang="en-US" altLang="en-US" sz="1800"/>
              <a:t>A Course can have many Teachers, and a Teacher can teach many Courses → Many-to-Many.</a:t>
            </a:r>
            <a:endParaRPr lang="en-US" altLang="en-US" sz="1800"/>
          </a:p>
          <a:p>
            <a:pPr marL="0" indent="0">
              <a:buNone/>
            </a:pPr>
            <a:r>
              <a:rPr lang="en-US" altLang="en-US" sz="1800"/>
              <a:t>@ManyToMany</a:t>
            </a:r>
            <a:endParaRPr lang="en-US" altLang="en-US" sz="1800"/>
          </a:p>
          <a:p>
            <a:pPr marL="0" indent="0">
              <a:buNone/>
            </a:pPr>
            <a:r>
              <a:rPr lang="en-US" altLang="en-US" sz="1800"/>
              <a:t>Problems on</a:t>
            </a:r>
            <a:endParaRPr lang="en-US" altLang="en-US" sz="1800"/>
          </a:p>
          <a:p>
            <a:pPr marL="0" indent="0">
              <a:buNone/>
            </a:pPr>
            <a:r>
              <a:rPr lang="en-US" altLang="en-US" sz="1800"/>
              <a:t>Teacher</a:t>
            </a:r>
            <a:endParaRPr lang="en-US" altLang="en-US" sz="1800"/>
          </a:p>
          <a:p>
            <a:pPr marL="0" indent="0">
              <a:buNone/>
            </a:pPr>
            <a:r>
              <a:rPr lang="en-US" altLang="en-US" sz="1800"/>
              <a:t>Student</a:t>
            </a:r>
            <a:endParaRPr lang="en-US" altLang="en-US" sz="1800"/>
          </a:p>
          <a:p>
            <a:pPr marL="0" indent="0">
              <a:buNone/>
            </a:pPr>
            <a:r>
              <a:rPr lang="en-US" altLang="en-US" sz="1800"/>
              <a:t>Course</a:t>
            </a:r>
            <a:endParaRPr lang="en-US" altLang="en-US" sz="1800"/>
          </a:p>
          <a:p>
            <a:pPr marL="0" indent="0">
              <a:buNone/>
            </a:pPr>
            <a:endParaRPr lang="en-US" altLang="en-US" sz="18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83540"/>
          </a:xfrm>
        </p:spPr>
        <p:txBody>
          <a:bodyPr>
            <a:noAutofit/>
          </a:bodyPr>
          <a:p>
            <a:pPr algn="ctr"/>
            <a:r>
              <a:rPr lang="en-US" sz="2000" b="1">
                <a:solidFill>
                  <a:srgbClr val="FF0000"/>
                </a:solidFill>
              </a:rPr>
              <a:t>Unidirectional And Bidirectional Mapping</a:t>
            </a:r>
            <a:endParaRPr lang="en-US" sz="2000" b="1">
              <a:solidFill>
                <a:srgbClr val="FF0000"/>
              </a:solidFill>
            </a:endParaRPr>
          </a:p>
        </p:txBody>
      </p:sp>
      <p:sp>
        <p:nvSpPr>
          <p:cNvPr id="3" name="Content Placeholder 2"/>
          <p:cNvSpPr>
            <a:spLocks noGrp="1"/>
          </p:cNvSpPr>
          <p:nvPr>
            <p:ph idx="1"/>
          </p:nvPr>
        </p:nvSpPr>
        <p:spPr>
          <a:xfrm>
            <a:off x="194945" y="383540"/>
            <a:ext cx="11884025" cy="6376670"/>
          </a:xfrm>
        </p:spPr>
        <p:txBody>
          <a:bodyPr/>
          <a:p>
            <a:r>
              <a:rPr lang="en-US" altLang="en-US" sz="1800"/>
              <a:t>Unidirectional mapping is a relationship where only one entity maintains and understands the association, allowing navigation in a single direction only.</a:t>
            </a:r>
            <a:endParaRPr lang="en-US" altLang="en-US" sz="1800"/>
          </a:p>
          <a:p>
            <a:r>
              <a:rPr lang="en-US" altLang="en-US" sz="1800"/>
              <a:t>Unidirectional mapping means only one entity knows about the relationship, and the other entity has no idea that the relationship exists.</a:t>
            </a:r>
            <a:endParaRPr lang="en-US" altLang="en-US" sz="1800"/>
          </a:p>
          <a:p>
            <a:pPr marL="0" indent="0">
              <a:buNone/>
            </a:pPr>
            <a:r>
              <a:rPr lang="en-US" altLang="en-US" sz="1800"/>
              <a:t> A → B but B does NOT know A.</a:t>
            </a:r>
            <a:endParaRPr lang="en-US" altLang="en-US" sz="1800"/>
          </a:p>
          <a:p>
            <a:r>
              <a:rPr lang="en-US" altLang="en-US" sz="1800"/>
              <a:t>Bidirectional mapping is a relationship where both entities maintain references to each other, allowing the association to be navigated in both directions, though only one entity owns the actual foreign key in the database.</a:t>
            </a:r>
            <a:endParaRPr lang="en-US" altLang="en-US" sz="1800"/>
          </a:p>
          <a:p>
            <a:r>
              <a:rPr lang="en-US" altLang="en-US" sz="1800"/>
              <a:t>Bidirectional mapping means both entities know each other, and the relationship can be navigated from both sides.</a:t>
            </a:r>
            <a:endParaRPr lang="en-US" altLang="en-US" sz="1800"/>
          </a:p>
          <a:p>
            <a:pPr marL="0" indent="0">
              <a:buNone/>
            </a:pPr>
            <a:r>
              <a:rPr lang="en-US" altLang="en-US" sz="1800"/>
              <a:t>A ↔ B</a:t>
            </a:r>
            <a:endParaRPr lang="en-US" altLang="en-US" sz="1800"/>
          </a:p>
          <a:p>
            <a:endParaRPr lang="en-US" altLang="en-US" sz="1800"/>
          </a:p>
          <a:p>
            <a:endParaRPr lang="en-US" altLang="en-US" sz="1800"/>
          </a:p>
        </p:txBody>
      </p:sp>
      <p:graphicFrame>
        <p:nvGraphicFramePr>
          <p:cNvPr id="4" name="Table 3"/>
          <p:cNvGraphicFramePr/>
          <p:nvPr>
            <p:custDataLst>
              <p:tags r:id="rId1"/>
            </p:custDataLst>
          </p:nvPr>
        </p:nvGraphicFramePr>
        <p:xfrm>
          <a:off x="140335" y="5316220"/>
          <a:ext cx="11938635" cy="1005840"/>
        </p:xfrm>
        <a:graphic>
          <a:graphicData uri="http://schemas.openxmlformats.org/drawingml/2006/table">
            <a:tbl>
              <a:tblPr/>
              <a:tblGrid>
                <a:gridCol w="3979545"/>
                <a:gridCol w="3979545"/>
                <a:gridCol w="3979545"/>
              </a:tblGrid>
              <a:tr h="167640">
                <a:tc>
                  <a:txBody>
                    <a:bodyPr/>
                    <a:p>
                      <a:pPr algn="ctr"/>
                      <a:r>
                        <a:rPr sz="2000" b="1"/>
                        <a:t>Feature</a:t>
                      </a:r>
                      <a:endParaRPr sz="2000" b="1"/>
                    </a:p>
                  </a:txBody>
                  <a:tcPr marL="0" marR="0" marT="0" marB="0" anchor="ctr" anchorCtr="0">
                    <a:lnL>
                      <a:noFill/>
                    </a:lnL>
                    <a:lnR>
                      <a:noFill/>
                    </a:lnR>
                    <a:lnT>
                      <a:noFill/>
                    </a:lnT>
                    <a:lnB>
                      <a:noFill/>
                    </a:lnB>
                    <a:noFill/>
                  </a:tcPr>
                </a:tc>
                <a:tc>
                  <a:txBody>
                    <a:bodyPr/>
                    <a:p>
                      <a:pPr algn="ctr"/>
                      <a:r>
                        <a:rPr sz="2000" b="1"/>
                        <a:t>Unidirectional</a:t>
                      </a:r>
                      <a:endParaRPr sz="2000" b="1"/>
                    </a:p>
                  </a:txBody>
                  <a:tcPr marL="0" marR="0" marT="0" marB="0" anchor="ctr" anchorCtr="0">
                    <a:lnL>
                      <a:noFill/>
                    </a:lnL>
                    <a:lnR>
                      <a:noFill/>
                    </a:lnR>
                    <a:lnT>
                      <a:noFill/>
                    </a:lnT>
                    <a:lnB>
                      <a:noFill/>
                    </a:lnB>
                    <a:noFill/>
                  </a:tcPr>
                </a:tc>
                <a:tc>
                  <a:txBody>
                    <a:bodyPr/>
                    <a:p>
                      <a:pPr algn="ctr"/>
                      <a:r>
                        <a:rPr sz="2000" b="1"/>
                        <a:t>Bidirectional</a:t>
                      </a:r>
                      <a:endParaRPr sz="2000" b="1"/>
                    </a:p>
                  </a:txBody>
                  <a:tcPr marL="0" marR="0" marT="0" marB="0" anchor="ctr" anchorCtr="0">
                    <a:lnL>
                      <a:noFill/>
                    </a:lnL>
                    <a:lnR>
                      <a:noFill/>
                    </a:lnR>
                    <a:lnT>
                      <a:noFill/>
                    </a:lnT>
                    <a:lnB>
                      <a:noFill/>
                    </a:lnB>
                    <a:noFill/>
                  </a:tcPr>
                </a:tc>
              </a:tr>
              <a:tr h="167640">
                <a:tc>
                  <a:txBody>
                    <a:bodyPr/>
                    <a:p>
                      <a:r>
                        <a:rPr sz="1600"/>
                        <a:t>Relation Direction</a:t>
                      </a:r>
                      <a:endParaRPr sz="1600"/>
                    </a:p>
                  </a:txBody>
                  <a:tcPr marL="0" marR="0" marT="0" marB="0" anchor="ctr" anchorCtr="0">
                    <a:lnL>
                      <a:noFill/>
                    </a:lnL>
                    <a:lnR>
                      <a:noFill/>
                    </a:lnR>
                    <a:lnT>
                      <a:noFill/>
                    </a:lnT>
                    <a:lnB>
                      <a:noFill/>
                    </a:lnB>
                    <a:noFill/>
                  </a:tcPr>
                </a:tc>
                <a:tc>
                  <a:txBody>
                    <a:bodyPr/>
                    <a:p>
                      <a:r>
                        <a:rPr sz="1600"/>
                        <a:t>One-way</a:t>
                      </a:r>
                      <a:endParaRPr sz="1600"/>
                    </a:p>
                  </a:txBody>
                  <a:tcPr marL="0" marR="0" marT="0" marB="0" anchor="ctr" anchorCtr="0">
                    <a:lnL>
                      <a:noFill/>
                    </a:lnL>
                    <a:lnR>
                      <a:noFill/>
                    </a:lnR>
                    <a:lnT>
                      <a:noFill/>
                    </a:lnT>
                    <a:lnB>
                      <a:noFill/>
                    </a:lnB>
                    <a:noFill/>
                  </a:tcPr>
                </a:tc>
                <a:tc>
                  <a:txBody>
                    <a:bodyPr/>
                    <a:p>
                      <a:r>
                        <a:rPr sz="1600"/>
                        <a:t>Two-way</a:t>
                      </a:r>
                      <a:endParaRPr sz="1600"/>
                    </a:p>
                  </a:txBody>
                  <a:tcPr marL="0" marR="0" marT="0" marB="0" anchor="ctr" anchorCtr="0">
                    <a:lnL>
                      <a:noFill/>
                    </a:lnL>
                    <a:lnR>
                      <a:noFill/>
                    </a:lnR>
                    <a:lnT>
                      <a:noFill/>
                    </a:lnT>
                    <a:lnB>
                      <a:noFill/>
                    </a:lnB>
                    <a:noFill/>
                  </a:tcPr>
                </a:tc>
              </a:tr>
              <a:tr h="167640">
                <a:tc>
                  <a:txBody>
                    <a:bodyPr/>
                    <a:p>
                      <a:r>
                        <a:rPr sz="1600"/>
                        <a:t>Who knows whom?</a:t>
                      </a:r>
                      <a:endParaRPr sz="1600"/>
                    </a:p>
                  </a:txBody>
                  <a:tcPr marL="0" marR="0" marT="0" marB="0" anchor="ctr" anchorCtr="0">
                    <a:lnL>
                      <a:noFill/>
                    </a:lnL>
                    <a:lnR>
                      <a:noFill/>
                    </a:lnR>
                    <a:lnT>
                      <a:noFill/>
                    </a:lnT>
                    <a:lnB>
                      <a:noFill/>
                    </a:lnB>
                    <a:noFill/>
                  </a:tcPr>
                </a:tc>
                <a:tc>
                  <a:txBody>
                    <a:bodyPr/>
                    <a:p>
                      <a:r>
                        <a:rPr sz="1600"/>
                        <a:t>Only one entity</a:t>
                      </a:r>
                      <a:endParaRPr sz="1600"/>
                    </a:p>
                  </a:txBody>
                  <a:tcPr marL="0" marR="0" marT="0" marB="0" anchor="ctr" anchorCtr="0">
                    <a:lnL>
                      <a:noFill/>
                    </a:lnL>
                    <a:lnR>
                      <a:noFill/>
                    </a:lnR>
                    <a:lnT>
                      <a:noFill/>
                    </a:lnT>
                    <a:lnB>
                      <a:noFill/>
                    </a:lnB>
                    <a:noFill/>
                  </a:tcPr>
                </a:tc>
                <a:tc>
                  <a:txBody>
                    <a:bodyPr/>
                    <a:p>
                      <a:r>
                        <a:rPr sz="1600"/>
                        <a:t>Both entities</a:t>
                      </a:r>
                      <a:endParaRPr sz="1600"/>
                    </a:p>
                  </a:txBody>
                  <a:tcPr marL="0" marR="0" marT="0" marB="0" anchor="ctr" anchorCtr="0">
                    <a:lnL>
                      <a:noFill/>
                    </a:lnL>
                    <a:lnR>
                      <a:noFill/>
                    </a:lnR>
                    <a:lnT>
                      <a:noFill/>
                    </a:lnT>
                    <a:lnB>
                      <a:noFill/>
                    </a:lnB>
                    <a:noFill/>
                  </a:tcPr>
                </a:tc>
              </a:tr>
              <a:tr h="167640">
                <a:tc>
                  <a:txBody>
                    <a:bodyPr/>
                    <a:p>
                      <a:r>
                        <a:rPr sz="1600"/>
                        <a:t>Database FK</a:t>
                      </a:r>
                      <a:endParaRPr sz="1600"/>
                    </a:p>
                  </a:txBody>
                  <a:tcPr marL="0" marR="0" marT="0" marB="0" anchor="ctr" anchorCtr="0">
                    <a:lnL>
                      <a:noFill/>
                    </a:lnL>
                    <a:lnR>
                      <a:noFill/>
                    </a:lnR>
                    <a:lnT>
                      <a:noFill/>
                    </a:lnT>
                    <a:lnB>
                      <a:noFill/>
                    </a:lnB>
                    <a:noFill/>
                  </a:tcPr>
                </a:tc>
                <a:tc>
                  <a:txBody>
                    <a:bodyPr/>
                    <a:p>
                      <a:r>
                        <a:rPr sz="1600"/>
                        <a:t>On owning side only</a:t>
                      </a:r>
                      <a:endParaRPr sz="1600"/>
                    </a:p>
                  </a:txBody>
                  <a:tcPr marL="0" marR="0" marT="0" marB="0" anchor="ctr" anchorCtr="0">
                    <a:lnL>
                      <a:noFill/>
                    </a:lnL>
                    <a:lnR>
                      <a:noFill/>
                    </a:lnR>
                    <a:lnT>
                      <a:noFill/>
                    </a:lnT>
                    <a:lnB>
                      <a:noFill/>
                    </a:lnB>
                    <a:noFill/>
                  </a:tcPr>
                </a:tc>
                <a:tc>
                  <a:txBody>
                    <a:bodyPr/>
                    <a:p>
                      <a:r>
                        <a:rPr sz="1600"/>
                        <a:t>Also only one FK, but both mapped in Java</a:t>
                      </a:r>
                      <a:endParaRPr sz="1600"/>
                    </a:p>
                  </a:txBody>
                  <a:tcPr marL="0" marR="0" marT="0" marB="0" anchor="ctr" anchorCtr="0">
                    <a:lnL>
                      <a:noFill/>
                    </a:lnL>
                    <a:lnR>
                      <a:noFill/>
                    </a:lnR>
                    <a:lnT>
                      <a:noFill/>
                    </a:lnT>
                    <a:lnB>
                      <a:noFill/>
                    </a:lnB>
                    <a:noFill/>
                  </a:tcPr>
                </a:tc>
              </a:tr>
              <a:tr h="167640">
                <a:tc>
                  <a:txBody>
                    <a:bodyPr/>
                    <a:p>
                      <a:r>
                        <a:rPr sz="1600"/>
                        <a:t>Navigation</a:t>
                      </a:r>
                      <a:endParaRPr sz="1600"/>
                    </a:p>
                  </a:txBody>
                  <a:tcPr marL="0" marR="0" marT="0" marB="0" anchor="ctr" anchorCtr="0">
                    <a:lnL>
                      <a:noFill/>
                    </a:lnL>
                    <a:lnR>
                      <a:noFill/>
                    </a:lnR>
                    <a:lnT>
                      <a:noFill/>
                    </a:lnT>
                    <a:lnB>
                      <a:noFill/>
                    </a:lnB>
                    <a:noFill/>
                  </a:tcPr>
                </a:tc>
                <a:tc>
                  <a:txBody>
                    <a:bodyPr/>
                    <a:p>
                      <a:r>
                        <a:rPr sz="1600"/>
                        <a:t>A → B</a:t>
                      </a:r>
                      <a:endParaRPr sz="1600"/>
                    </a:p>
                  </a:txBody>
                  <a:tcPr marL="0" marR="0" marT="0" marB="0" anchor="ctr" anchorCtr="0">
                    <a:lnL>
                      <a:noFill/>
                    </a:lnL>
                    <a:lnR>
                      <a:noFill/>
                    </a:lnR>
                    <a:lnT>
                      <a:noFill/>
                    </a:lnT>
                    <a:lnB>
                      <a:noFill/>
                    </a:lnB>
                    <a:noFill/>
                  </a:tcPr>
                </a:tc>
                <a:tc>
                  <a:txBody>
                    <a:bodyPr/>
                    <a:p>
                      <a:r>
                        <a:rPr sz="1600"/>
                        <a:t>A ↔ B</a:t>
                      </a:r>
                      <a:endParaRPr sz="1600"/>
                    </a:p>
                  </a:txBody>
                  <a:tcPr marL="0" marR="0" marT="0" marB="0" anchor="ctr" anchorCtr="0">
                    <a:lnL>
                      <a:noFill/>
                    </a:lnL>
                    <a:lnR>
                      <a:noFill/>
                    </a:lnR>
                    <a:lnT>
                      <a:noFill/>
                    </a:lnT>
                    <a:lnB>
                      <a:noFill/>
                    </a:lnB>
                    <a:noFill/>
                  </a:tcPr>
                </a:tc>
              </a:tr>
              <a:tr h="167640">
                <a:tc>
                  <a:txBody>
                    <a:bodyPr/>
                    <a:p>
                      <a:r>
                        <a:rPr sz="1600"/>
                        <a:t>Complexity</a:t>
                      </a:r>
                      <a:endParaRPr sz="1600"/>
                    </a:p>
                  </a:txBody>
                  <a:tcPr marL="0" marR="0" marT="0" marB="0" anchor="ctr" anchorCtr="0">
                    <a:lnL>
                      <a:noFill/>
                    </a:lnL>
                    <a:lnR>
                      <a:noFill/>
                    </a:lnR>
                    <a:lnT>
                      <a:noFill/>
                    </a:lnT>
                    <a:lnB>
                      <a:noFill/>
                    </a:lnB>
                    <a:noFill/>
                  </a:tcPr>
                </a:tc>
                <a:tc>
                  <a:txBody>
                    <a:bodyPr/>
                    <a:p>
                      <a:r>
                        <a:rPr sz="1600"/>
                        <a:t>Simple</a:t>
                      </a:r>
                      <a:endParaRPr sz="1600"/>
                    </a:p>
                  </a:txBody>
                  <a:tcPr marL="0" marR="0" marT="0" marB="0" anchor="ctr" anchorCtr="0">
                    <a:lnL>
                      <a:noFill/>
                    </a:lnL>
                    <a:lnR>
                      <a:noFill/>
                    </a:lnR>
                    <a:lnT>
                      <a:noFill/>
                    </a:lnT>
                    <a:lnB>
                      <a:noFill/>
                    </a:lnB>
                    <a:noFill/>
                  </a:tcPr>
                </a:tc>
                <a:tc>
                  <a:txBody>
                    <a:bodyPr/>
                    <a:p>
                      <a:r>
                        <a:rPr sz="1600"/>
                        <a:t>Slightly more complex</a:t>
                      </a:r>
                      <a:endParaRPr sz="16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22580"/>
          </a:xfrm>
        </p:spPr>
        <p:txBody>
          <a:bodyPr>
            <a:normAutofit fontScale="90000"/>
          </a:bodyPr>
          <a:p>
            <a:pPr algn="ctr"/>
            <a:r>
              <a:rPr lang="en-US" sz="3200" b="1">
                <a:solidFill>
                  <a:srgbClr val="FF0000"/>
                </a:solidFill>
              </a:rPr>
              <a:t>hibernate one To One Relation</a:t>
            </a:r>
            <a:endParaRPr lang="en-US" sz="3200" b="1">
              <a:solidFill>
                <a:srgbClr val="FF0000"/>
              </a:solidFill>
            </a:endParaRPr>
          </a:p>
        </p:txBody>
      </p:sp>
      <p:sp>
        <p:nvSpPr>
          <p:cNvPr id="3" name="Content Placeholder 2"/>
          <p:cNvSpPr>
            <a:spLocks noGrp="1"/>
          </p:cNvSpPr>
          <p:nvPr>
            <p:ph idx="1"/>
          </p:nvPr>
        </p:nvSpPr>
        <p:spPr>
          <a:xfrm>
            <a:off x="0" y="322580"/>
            <a:ext cx="12095480" cy="6535420"/>
          </a:xfrm>
        </p:spPr>
        <p:txBody>
          <a:bodyPr>
            <a:noAutofit/>
          </a:bodyPr>
          <a:p>
            <a:pPr marL="0" indent="0">
              <a:buNone/>
            </a:pPr>
            <a:r>
              <a:rPr lang="en-US" altLang="en-US" sz="1800"/>
              <a:t>import javax.persistence.*;</a:t>
            </a:r>
            <a:endParaRPr lang="en-US" altLang="en-US" sz="1800"/>
          </a:p>
          <a:p>
            <a:pPr marL="0" indent="0">
              <a:buNone/>
            </a:pPr>
            <a:r>
              <a:rPr lang="en-US" altLang="en-US" sz="1800"/>
              <a:t>@Entity</a:t>
            </a:r>
            <a:endParaRPr lang="en-US" altLang="en-US" sz="1800"/>
          </a:p>
          <a:p>
            <a:pPr marL="0" indent="0">
              <a:buNone/>
            </a:pPr>
            <a:r>
              <a:rPr lang="en-US" altLang="en-US" sz="1800"/>
              <a:t>@Table(name = "Aadhar")</a:t>
            </a:r>
            <a:endParaRPr lang="en-US" altLang="en-US" sz="1800"/>
          </a:p>
          <a:p>
            <a:pPr marL="0" indent="0">
              <a:buNone/>
            </a:pPr>
            <a:r>
              <a:rPr lang="en-US" altLang="en-US" sz="1800"/>
              <a:t>public class Aadhar {</a:t>
            </a:r>
            <a:endParaRPr lang="en-US" altLang="en-US" sz="1800"/>
          </a:p>
          <a:p>
            <a:pPr marL="0" indent="0">
              <a:buNone/>
            </a:pPr>
            <a:r>
              <a:rPr lang="en-US" altLang="en-US" sz="1800"/>
              <a:t>    @Id</a:t>
            </a:r>
            <a:endParaRPr lang="en-US" altLang="en-US" sz="1800"/>
          </a:p>
          <a:p>
            <a:pPr marL="0" indent="0">
              <a:buNone/>
            </a:pPr>
            <a:r>
              <a:rPr lang="en-US" altLang="en-US" sz="1800"/>
              <a:t>@GeneratedValue(strategy = GenerationType.IDENTITY)</a:t>
            </a:r>
            <a:endParaRPr lang="en-US" altLang="en-US" sz="1800"/>
          </a:p>
          <a:p>
            <a:pPr marL="0" indent="0">
              <a:buNone/>
            </a:pPr>
            <a:r>
              <a:rPr lang="en-US" altLang="en-US" sz="1800"/>
              <a:t>    private int aadharId;</a:t>
            </a:r>
            <a:endParaRPr lang="en-US" altLang="en-US" sz="1800"/>
          </a:p>
          <a:p>
            <a:pPr marL="0" indent="0">
              <a:buNone/>
            </a:pPr>
            <a:r>
              <a:rPr lang="en-US" altLang="en-US" sz="1800"/>
              <a:t>    @Column(nullable = false, unique = true, length = 12)</a:t>
            </a:r>
            <a:endParaRPr lang="en-US" altLang="en-US" sz="1800"/>
          </a:p>
          <a:p>
            <a:pPr marL="0" indent="0">
              <a:buNone/>
            </a:pPr>
            <a:r>
              <a:rPr lang="en-US" altLang="en-US" sz="1800"/>
              <a:t>    private String aadharNumber;</a:t>
            </a: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endParaRPr lang="en-US" altLang="en-US" sz="1800"/>
          </a:p>
        </p:txBody>
      </p:sp>
      <p:sp>
        <p:nvSpPr>
          <p:cNvPr id="4" name="Text Box 3"/>
          <p:cNvSpPr txBox="1"/>
          <p:nvPr/>
        </p:nvSpPr>
        <p:spPr>
          <a:xfrm>
            <a:off x="5300345" y="322580"/>
            <a:ext cx="6795135" cy="6290310"/>
          </a:xfrm>
          <a:prstGeom prst="rect">
            <a:avLst/>
          </a:prstGeom>
          <a:noFill/>
        </p:spPr>
        <p:txBody>
          <a:bodyPr wrap="square" rtlCol="0" anchor="t">
            <a:noAutofit/>
          </a:bodyPr>
          <a:p>
            <a:r>
              <a:rPr lang="en-US" altLang="en-US"/>
              <a:t>import javax.persistence.*;</a:t>
            </a:r>
            <a:endParaRPr lang="en-US" altLang="en-US"/>
          </a:p>
          <a:p>
            <a:endParaRPr lang="en-US" altLang="en-US"/>
          </a:p>
          <a:p>
            <a:r>
              <a:rPr lang="en-US" altLang="en-US"/>
              <a:t>@Entity</a:t>
            </a:r>
            <a:endParaRPr lang="en-US" altLang="en-US"/>
          </a:p>
          <a:p>
            <a:r>
              <a:rPr lang="en-US" altLang="en-US"/>
              <a:t>@Table(name = "Person")</a:t>
            </a:r>
            <a:endParaRPr lang="en-US" altLang="en-US"/>
          </a:p>
          <a:p>
            <a:r>
              <a:rPr lang="en-US" altLang="en-US"/>
              <a:t>public class Person {</a:t>
            </a:r>
            <a:endParaRPr lang="en-US" altLang="en-US"/>
          </a:p>
          <a:p>
            <a:endParaRPr lang="en-US" altLang="en-US"/>
          </a:p>
          <a:p>
            <a:r>
              <a:rPr lang="en-US" altLang="en-US"/>
              <a:t>    @Id</a:t>
            </a:r>
            <a:endParaRPr lang="en-US" altLang="en-US"/>
          </a:p>
          <a:p>
            <a:r>
              <a:rPr lang="en-US" altLang="en-US"/>
              <a:t>    @GeneratedValue(strategy = GenerationType.IDENTITY)</a:t>
            </a:r>
            <a:endParaRPr lang="en-US" altLang="en-US"/>
          </a:p>
          <a:p>
            <a:r>
              <a:rPr lang="en-US" altLang="en-US"/>
              <a:t>    private int personId;</a:t>
            </a:r>
            <a:endParaRPr lang="en-US" altLang="en-US"/>
          </a:p>
          <a:p>
            <a:endParaRPr lang="en-US" altLang="en-US"/>
          </a:p>
          <a:p>
            <a:r>
              <a:rPr lang="en-US" altLang="en-US"/>
              <a:t>    @Column(nullable = false, length = 50)</a:t>
            </a:r>
            <a:endParaRPr lang="en-US" altLang="en-US"/>
          </a:p>
          <a:p>
            <a:r>
              <a:rPr lang="en-US" altLang="en-US"/>
              <a:t>    private String name;</a:t>
            </a:r>
            <a:endParaRPr lang="en-US" altLang="en-US"/>
          </a:p>
          <a:p>
            <a:endParaRPr lang="en-US" altLang="en-US"/>
          </a:p>
          <a:p>
            <a:r>
              <a:rPr lang="en-US" altLang="en-US"/>
              <a:t>    @OneToOne(cascade = CascadeType.ALL)</a:t>
            </a:r>
            <a:endParaRPr lang="en-US" altLang="en-US"/>
          </a:p>
          <a:p>
            <a:endParaRPr lang="en-US" altLang="en-US"/>
          </a:p>
          <a:p>
            <a:r>
              <a:rPr lang="en-US" altLang="en-US"/>
              <a:t>@JoinColumn(name = "aadhar_id", referencedColumnName = "aadharId")  // Foreign key</a:t>
            </a:r>
            <a:endParaRPr lang="en-US" altLang="en-US"/>
          </a:p>
          <a:p>
            <a:endParaRPr lang="en-US" altLang="en-US"/>
          </a:p>
          <a:p>
            <a:r>
              <a:rPr lang="en-US" altLang="en-US"/>
              <a:t>    private Aadhar aadhar;</a:t>
            </a:r>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73355"/>
            <a:ext cx="10515600" cy="490855"/>
          </a:xfrm>
        </p:spPr>
        <p:txBody>
          <a:bodyPr>
            <a:noAutofit/>
          </a:bodyPr>
          <a:p>
            <a:pPr algn="ctr"/>
            <a:r>
              <a:rPr lang="en-US" sz="2400" b="1">
                <a:solidFill>
                  <a:srgbClr val="FF0000"/>
                </a:solidFill>
              </a:rPr>
              <a:t>Image And Date Storing In Hibernate Entity</a:t>
            </a:r>
            <a:endParaRPr lang="en-US" sz="2400" b="1">
              <a:solidFill>
                <a:srgbClr val="FF0000"/>
              </a:solidFill>
            </a:endParaRPr>
          </a:p>
        </p:txBody>
      </p:sp>
      <p:sp>
        <p:nvSpPr>
          <p:cNvPr id="3" name="Content Placeholder 2"/>
          <p:cNvSpPr>
            <a:spLocks noGrp="1"/>
          </p:cNvSpPr>
          <p:nvPr>
            <p:ph idx="1"/>
          </p:nvPr>
        </p:nvSpPr>
        <p:spPr>
          <a:xfrm>
            <a:off x="167640" y="664210"/>
            <a:ext cx="11856085" cy="6102985"/>
          </a:xfrm>
        </p:spPr>
        <p:txBody>
          <a:bodyPr/>
          <a:p>
            <a:pPr marL="0" indent="0">
              <a:buNone/>
            </a:pPr>
            <a:r>
              <a:rPr lang="en-US" altLang="en-US" sz="2400"/>
              <a:t>@Temporal(TemporalType.DATE)</a:t>
            </a:r>
            <a:endParaRPr lang="en-US" altLang="en-US" sz="2400"/>
          </a:p>
          <a:p>
            <a:pPr marL="0" indent="0">
              <a:buNone/>
            </a:pPr>
            <a:r>
              <a:rPr lang="en-US" altLang="en-US" sz="2400"/>
              <a:t>private Date addedDate;</a:t>
            </a:r>
            <a:endParaRPr lang="en-US" altLang="en-US" sz="2400"/>
          </a:p>
          <a:p>
            <a:pPr marL="0" indent="0">
              <a:buNone/>
            </a:pPr>
            <a:r>
              <a:rPr lang="en-US" altLang="en-US" sz="2400"/>
              <a:t>@lob</a:t>
            </a:r>
            <a:endParaRPr lang="en-US" altLang="en-US" sz="2400"/>
          </a:p>
          <a:p>
            <a:pPr marL="0" indent="0">
              <a:buNone/>
            </a:pPr>
            <a:r>
              <a:rPr lang="en-US" altLang="en-US" sz="2400"/>
              <a:t>private byte[] image;</a:t>
            </a:r>
            <a:endParaRPr lang="en-US" altLang="en-US" sz="2400"/>
          </a:p>
          <a:p>
            <a:pPr marL="0" indent="0">
              <a:buNone/>
            </a:pPr>
            <a:endParaRPr lang="en-US" altLang="en-US" sz="2400"/>
          </a:p>
          <a:p>
            <a:pPr marL="0" indent="0">
              <a:buNone/>
            </a:pPr>
            <a:r>
              <a:rPr lang="en-US" altLang="en-US" sz="2400"/>
              <a:t>ad.setAddedDate(new Date());</a:t>
            </a:r>
            <a:endParaRPr lang="en-US" altLang="en-US" sz="2400"/>
          </a:p>
          <a:p>
            <a:pPr marL="0" indent="0">
              <a:buNone/>
            </a:pPr>
            <a:r>
              <a:rPr lang="en-US" altLang="en-US" sz="2400"/>
              <a:t>FileInputStream fis=new FileInputStream("src/main/java/pic/png");</a:t>
            </a:r>
            <a:endParaRPr lang="en-US" altLang="en-US" sz="2400"/>
          </a:p>
          <a:p>
            <a:pPr marL="0" indent="0">
              <a:buNone/>
            </a:pPr>
            <a:r>
              <a:rPr lang="en-US" altLang="en-US" sz="2400"/>
              <a:t>byte[] data=new byte [fis.available()];</a:t>
            </a:r>
            <a:endParaRPr lang="en-US" altLang="en-US" sz="2400"/>
          </a:p>
          <a:p>
            <a:pPr marL="0" indent="0">
              <a:buNone/>
            </a:pPr>
            <a:r>
              <a:rPr lang="en-US" altLang="en-US" sz="2400"/>
              <a:t>fis.read(data);</a:t>
            </a:r>
            <a:endParaRPr lang="en-US" altLang="en-US" sz="2400"/>
          </a:p>
          <a:p>
            <a:pPr marL="0" indent="0">
              <a:buNone/>
            </a:pPr>
            <a:r>
              <a:rPr lang="en-US" altLang="en-US" sz="2400"/>
              <a:t>ad.setImage(data);</a:t>
            </a:r>
            <a:endParaRPr lang="en-US" altLang="en-US" sz="2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461010"/>
          </a:xfrm>
        </p:spPr>
        <p:txBody>
          <a:bodyPr/>
          <a:p>
            <a:pPr algn="ctr"/>
            <a:r>
              <a:rPr lang="en-US" sz="2400" b="1">
                <a:solidFill>
                  <a:srgbClr val="FF0000"/>
                </a:solidFill>
              </a:rPr>
              <a:t>Hibernate </a:t>
            </a:r>
            <a:r>
              <a:rPr lang="en-US" altLang="en-US" sz="2400" b="1">
                <a:solidFill>
                  <a:srgbClr val="FF0000"/>
                </a:solidFill>
                <a:sym typeface="+mn-ea"/>
              </a:rPr>
              <a:t>Embeddable</a:t>
            </a:r>
            <a:endParaRPr lang="en-US" altLang="en-US" sz="2400" b="1">
              <a:solidFill>
                <a:srgbClr val="FF0000"/>
              </a:solidFill>
              <a:sym typeface="+mn-ea"/>
            </a:endParaRPr>
          </a:p>
        </p:txBody>
      </p:sp>
      <p:sp>
        <p:nvSpPr>
          <p:cNvPr id="3" name="Content Placeholder 2"/>
          <p:cNvSpPr>
            <a:spLocks noGrp="1"/>
          </p:cNvSpPr>
          <p:nvPr>
            <p:ph idx="1"/>
          </p:nvPr>
        </p:nvSpPr>
        <p:spPr>
          <a:xfrm>
            <a:off x="222250" y="460375"/>
            <a:ext cx="11830050" cy="6226810"/>
          </a:xfrm>
        </p:spPr>
        <p:txBody>
          <a:bodyPr/>
          <a:p>
            <a:pPr marL="0" indent="0">
              <a:buNone/>
            </a:pPr>
            <a:r>
              <a:rPr lang="en-US" altLang="en-US" sz="1800"/>
              <a:t>1. What is @Embeddable?</a:t>
            </a:r>
            <a:endParaRPr lang="en-US" altLang="en-US" sz="1800"/>
          </a:p>
          <a:p>
            <a:pPr marL="0" indent="0">
              <a:buNone/>
            </a:pPr>
            <a:r>
              <a:rPr lang="en-US" altLang="en-US" sz="1800"/>
              <a:t>In Hibernate (and JPA), @Embeddable is used to define a class whose instances are stored as part of another entity, rather than as a separate entity with its own table. It’s a way to embed a value object inside an entity.</a:t>
            </a:r>
            <a:endParaRPr lang="en-US" altLang="en-US" sz="1800"/>
          </a:p>
          <a:p>
            <a:pPr marL="0" indent="0">
              <a:buNone/>
            </a:pPr>
            <a:r>
              <a:rPr lang="en-US" altLang="en-US" sz="1800"/>
              <a:t> it as a component object that doesn’t have its own identity but is part of another entity.</a:t>
            </a:r>
            <a:endParaRPr lang="en-US" altLang="en-US" sz="1800"/>
          </a:p>
          <a:p>
            <a:pPr marL="0" indent="0">
              <a:buNone/>
            </a:pPr>
            <a:r>
              <a:rPr lang="en-US" altLang="en-US" sz="1800"/>
              <a:t>2. Key Annotations</a:t>
            </a:r>
            <a:endParaRPr lang="en-US" altLang="en-US" sz="1800"/>
          </a:p>
          <a:p>
            <a:pPr marL="0" indent="0">
              <a:buNone/>
            </a:pPr>
            <a:r>
              <a:rPr lang="en-US" altLang="en-US" sz="1800"/>
              <a:t>@Embeddable → placed on the class that will be embedded.</a:t>
            </a:r>
            <a:endParaRPr lang="en-US" altLang="en-US" sz="1800"/>
          </a:p>
          <a:p>
            <a:pPr marL="0" indent="0">
              <a:buNone/>
            </a:pPr>
            <a:r>
              <a:rPr lang="en-US" altLang="en-US" sz="1800"/>
              <a:t>@Embedded → placed on the field in the entity that will hold the embeddable object.</a:t>
            </a:r>
            <a:endParaRPr lang="en-US" altLang="en-US" sz="1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7640" y="118745"/>
            <a:ext cx="11842115" cy="343535"/>
          </a:xfrm>
        </p:spPr>
        <p:txBody>
          <a:bodyPr>
            <a:noAutofit/>
          </a:bodyPr>
          <a:p>
            <a:pPr algn="ctr"/>
            <a:r>
              <a:rPr lang="en-US" sz="2000" b="1">
                <a:solidFill>
                  <a:srgbClr val="FF0000"/>
                </a:solidFill>
              </a:rPr>
              <a:t>Image Date And Image Storing</a:t>
            </a:r>
            <a:endParaRPr lang="en-US" sz="2000" b="1">
              <a:solidFill>
                <a:srgbClr val="FF0000"/>
              </a:solidFill>
            </a:endParaRPr>
          </a:p>
        </p:txBody>
      </p:sp>
      <p:sp>
        <p:nvSpPr>
          <p:cNvPr id="3" name="Content Placeholder 2"/>
          <p:cNvSpPr>
            <a:spLocks noGrp="1"/>
          </p:cNvSpPr>
          <p:nvPr>
            <p:ph idx="1"/>
          </p:nvPr>
        </p:nvSpPr>
        <p:spPr>
          <a:xfrm>
            <a:off x="167640" y="462280"/>
            <a:ext cx="11842115" cy="6254750"/>
          </a:xfrm>
        </p:spPr>
        <p:txBody>
          <a:bodyPr/>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22250" y="0"/>
            <a:ext cx="11706225" cy="6857365"/>
          </a:xfrm>
        </p:spPr>
        <p:txBody>
          <a:bodyPr>
            <a:noAutofit/>
          </a:bodyPr>
          <a:p>
            <a:pPr marL="0" indent="0">
              <a:buNone/>
            </a:pPr>
            <a:endParaRPr lang="en-US" altLang="en-US" sz="1800">
              <a:sym typeface="+mn-ea"/>
            </a:endParaRPr>
          </a:p>
          <a:p>
            <a:pPr marL="342900" indent="-342900">
              <a:buFont typeface="+mj-lt"/>
              <a:buAutoNum type="arabicPeriod"/>
            </a:pPr>
            <a:r>
              <a:rPr lang="en-US" altLang="en-US" sz="1800">
                <a:sym typeface="+mn-ea"/>
              </a:rPr>
              <a:t>CascadeType.ALL ensures that saving the Person will automatically save the associated Aadhar.</a:t>
            </a:r>
            <a:endParaRPr lang="en-US" altLang="en-US" sz="1800"/>
          </a:p>
          <a:p>
            <a:pPr marL="342900" indent="-342900">
              <a:buFont typeface="+mj-lt"/>
              <a:buAutoNum type="arabicPeriod"/>
            </a:pPr>
            <a:r>
              <a:rPr lang="en-US" altLang="en-US" sz="1800">
                <a:sym typeface="+mn-ea"/>
              </a:rPr>
              <a:t>The @JoinColumn in Person defines the foreign key column aadhar_id in the Person table.</a:t>
            </a:r>
            <a:endParaRPr lang="en-US" altLang="en-US" sz="1800"/>
          </a:p>
          <a:p>
            <a:pPr marL="342900" indent="-342900">
              <a:buFont typeface="+mj-lt"/>
              <a:buAutoNum type="arabicPeriod"/>
            </a:pPr>
            <a:r>
              <a:rPr lang="en-US" altLang="en-US" sz="1800">
                <a:sym typeface="+mn-ea"/>
              </a:rPr>
              <a:t>This is a one-to-one mapping from Person → Aadhar. </a:t>
            </a:r>
            <a:endParaRPr lang="en-US" altLang="en-US" sz="1800"/>
          </a:p>
          <a:p>
            <a:pPr marL="0" indent="0">
              <a:buNone/>
            </a:pPr>
            <a:endParaRPr lang="en-US" altLang="en-US" sz="1800">
              <a:sym typeface="+mn-ea"/>
            </a:endParaRPr>
          </a:p>
          <a:p>
            <a:pPr marL="0" indent="0" algn="ctr">
              <a:buNone/>
            </a:pPr>
            <a:r>
              <a:rPr lang="en-US" altLang="en-US" sz="1800" b="1">
                <a:solidFill>
                  <a:srgbClr val="FF0000"/>
                </a:solidFill>
                <a:sym typeface="+mn-ea"/>
              </a:rPr>
              <a:t>hibernate Configuration Mapping Imp</a:t>
            </a:r>
            <a:endParaRPr lang="en-US" altLang="en-US" sz="1800" b="1">
              <a:solidFill>
                <a:srgbClr val="FF0000"/>
              </a:solidFill>
              <a:sym typeface="+mn-ea"/>
            </a:endParaRPr>
          </a:p>
          <a:p>
            <a:pPr marL="0" indent="0">
              <a:buNone/>
            </a:pPr>
            <a:r>
              <a:rPr lang="en-US" altLang="en-US" sz="1800">
                <a:sym typeface="+mn-ea"/>
              </a:rPr>
              <a:t>&lt;mapping class="com.hibernateOrm.Person" /&gt;</a:t>
            </a:r>
            <a:endParaRPr lang="en-US" altLang="en-US" sz="1800"/>
          </a:p>
          <a:p>
            <a:pPr marL="0" indent="0">
              <a:buNone/>
            </a:pPr>
            <a:r>
              <a:rPr lang="en-US" altLang="en-US" sz="1800">
                <a:sym typeface="+mn-ea"/>
              </a:rPr>
              <a:t>&lt;mapping class="com.hibernateOrm.Aadhar" /&gt;</a:t>
            </a:r>
            <a:endParaRPr lang="en-US" altLang="en-US" sz="1800"/>
          </a:p>
          <a:p>
            <a:pPr marL="0" indent="0">
              <a:buNone/>
            </a:pPr>
            <a:r>
              <a:rPr lang="en-US" altLang="en-US" sz="1800">
                <a:sym typeface="+mn-ea"/>
              </a:rPr>
              <a:t>Configuration cfg = new Configuration();</a:t>
            </a:r>
            <a:endParaRPr lang="en-US" altLang="en-US" sz="1800"/>
          </a:p>
          <a:p>
            <a:pPr marL="0" indent="0">
              <a:buNone/>
            </a:pPr>
            <a:r>
              <a:rPr lang="en-US" altLang="en-US" sz="1800">
                <a:sym typeface="+mn-ea"/>
              </a:rPr>
              <a:t>        cfg.configure("hibernate.cfg.xml");</a:t>
            </a:r>
            <a:endParaRPr lang="en-US" altLang="en-US" sz="1800"/>
          </a:p>
          <a:p>
            <a:pPr marL="0" indent="0">
              <a:buNone/>
            </a:pPr>
            <a:r>
              <a:rPr lang="en-US" altLang="en-US" sz="1800">
                <a:sym typeface="+mn-ea"/>
              </a:rPr>
              <a:t>        cfg.addAnnotatedClass(Person.class);</a:t>
            </a:r>
            <a:endParaRPr lang="en-US" altLang="en-US" sz="1800"/>
          </a:p>
          <a:p>
            <a:pPr marL="0" indent="0">
              <a:buNone/>
            </a:pPr>
            <a:r>
              <a:rPr lang="en-US" altLang="en-US" sz="1800">
                <a:sym typeface="+mn-ea"/>
              </a:rPr>
              <a:t>        cfg.addAnnotatedClass(Aadhar.class);</a:t>
            </a:r>
            <a:endParaRPr lang="en-US" altLang="en-US" sz="1800"/>
          </a:p>
          <a:p>
            <a:pPr marL="0" indent="0">
              <a:buNone/>
            </a:pPr>
            <a:r>
              <a:rPr lang="en-US" altLang="en-US" sz="1800">
                <a:sym typeface="+mn-ea"/>
              </a:rPr>
              <a:t>        SessionFactory factory = cfg.buildSessionFactory();</a:t>
            </a:r>
            <a:endParaRPr lang="en-US" altLang="en-US" sz="1800"/>
          </a:p>
          <a:p>
            <a:pPr marL="0" indent="0">
              <a:buNone/>
            </a:pPr>
            <a:r>
              <a:rPr lang="en-US" altLang="en-US" sz="1800">
                <a:sym typeface="+mn-ea"/>
              </a:rPr>
              <a:t>        Session session = factory.getCurrentSession();</a:t>
            </a:r>
            <a:endParaRPr lang="en-US" altLang="en-US" sz="1800"/>
          </a:p>
          <a:p>
            <a:pPr marL="0" indent="0">
              <a:buNone/>
            </a:pPr>
            <a:r>
              <a:rPr lang="en-US" altLang="en-US" sz="1800">
                <a:sym typeface="+mn-ea"/>
              </a:rPr>
              <a:t>     </a:t>
            </a:r>
            <a:endParaRPr lang="en-US" altLang="en-US" sz="1800">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04800" y="0"/>
            <a:ext cx="11775440" cy="6732905"/>
          </a:xfrm>
        </p:spPr>
        <p:txBody>
          <a:bodyPr>
            <a:normAutofit fontScale="70000"/>
          </a:bodyPr>
          <a:p>
            <a:pPr marL="0" indent="0">
              <a:buNone/>
            </a:pPr>
            <a:r>
              <a:rPr lang="en-US" altLang="en-US">
                <a:sym typeface="+mn-ea"/>
              </a:rPr>
              <a:t>try {</a:t>
            </a:r>
            <a:endParaRPr lang="en-US" altLang="en-US"/>
          </a:p>
          <a:p>
            <a:pPr marL="0" indent="0">
              <a:buNone/>
            </a:pPr>
            <a:r>
              <a:rPr lang="en-US" altLang="en-US">
                <a:sym typeface="+mn-ea"/>
              </a:rPr>
              <a:t>            session.beginTransaction();</a:t>
            </a:r>
            <a:endParaRPr lang="en-US" altLang="en-US"/>
          </a:p>
          <a:p>
            <a:pPr marL="0" indent="0">
              <a:buNone/>
            </a:pPr>
            <a:r>
              <a:rPr lang="en-US" altLang="en-US">
                <a:sym typeface="+mn-ea"/>
              </a:rPr>
              <a:t>            // Create Aadhar object</a:t>
            </a:r>
            <a:endParaRPr lang="en-US" altLang="en-US"/>
          </a:p>
          <a:p>
            <a:pPr marL="0" indent="0">
              <a:buNone/>
            </a:pPr>
            <a:r>
              <a:rPr lang="en-US" altLang="en-US">
                <a:sym typeface="+mn-ea"/>
              </a:rPr>
              <a:t>            Aadhar aadhar = new Aadhar("868679486963");</a:t>
            </a:r>
            <a:endParaRPr lang="en-US" altLang="en-US"/>
          </a:p>
          <a:p>
            <a:pPr marL="0" indent="0">
              <a:buNone/>
            </a:pPr>
            <a:r>
              <a:rPr lang="en-US" altLang="en-US">
                <a:sym typeface="+mn-ea"/>
              </a:rPr>
              <a:t>            // Create Person object with Aadhar</a:t>
            </a:r>
            <a:endParaRPr lang="en-US" altLang="en-US"/>
          </a:p>
          <a:p>
            <a:pPr marL="0" indent="0">
              <a:buNone/>
            </a:pPr>
            <a:r>
              <a:rPr lang="en-US" altLang="en-US">
                <a:sym typeface="+mn-ea"/>
              </a:rPr>
              <a:t>            Person person = new Person("Pratik Pawar", aadhar);</a:t>
            </a:r>
            <a:endParaRPr lang="en-US" altLang="en-US"/>
          </a:p>
          <a:p>
            <a:pPr marL="0" indent="0">
              <a:buNone/>
            </a:pPr>
            <a:r>
              <a:rPr lang="en-US" altLang="en-US">
                <a:sym typeface="+mn-ea"/>
              </a:rPr>
              <a:t>            // Save person (aadhar will be saved due to CascadeType.ALL)</a:t>
            </a:r>
            <a:endParaRPr lang="en-US" altLang="en-US"/>
          </a:p>
          <a:p>
            <a:pPr marL="0" indent="0">
              <a:buNone/>
            </a:pPr>
            <a:r>
              <a:rPr lang="en-US" altLang="en-US">
                <a:sym typeface="+mn-ea"/>
              </a:rPr>
              <a:t>            session.save(person);</a:t>
            </a:r>
            <a:endParaRPr lang="en-US" altLang="en-US"/>
          </a:p>
          <a:p>
            <a:pPr marL="0" indent="0">
              <a:buNone/>
            </a:pPr>
            <a:r>
              <a:rPr lang="en-US" altLang="en-US">
                <a:sym typeface="+mn-ea"/>
              </a:rPr>
              <a:t>            session.getTransaction().commit();</a:t>
            </a:r>
            <a:endParaRPr lang="en-US" altLang="en-US"/>
          </a:p>
          <a:p>
            <a:pPr marL="0" indent="0">
              <a:buNone/>
            </a:pPr>
            <a:r>
              <a:rPr lang="en-US" altLang="en-US">
                <a:sym typeface="+mn-ea"/>
              </a:rPr>
              <a:t>            System.out.println("Data Saved successfully.");</a:t>
            </a:r>
            <a:endParaRPr lang="en-US" altLang="en-US"/>
          </a:p>
          <a:p>
            <a:pPr marL="0" indent="0">
              <a:buNone/>
            </a:pPr>
            <a:r>
              <a:rPr lang="en-US" altLang="en-US">
                <a:sym typeface="+mn-ea"/>
              </a:rPr>
              <a:t>        } catch (Exception e) {</a:t>
            </a:r>
            <a:endParaRPr lang="en-US" altLang="en-US"/>
          </a:p>
          <a:p>
            <a:pPr marL="0" indent="0">
              <a:buNone/>
            </a:pPr>
            <a:r>
              <a:rPr lang="en-US" altLang="en-US">
                <a:sym typeface="+mn-ea"/>
              </a:rPr>
              <a:t>            e.printStackTrace();</a:t>
            </a:r>
            <a:endParaRPr lang="en-US" altLang="en-US"/>
          </a:p>
          <a:p>
            <a:pPr marL="0" indent="0">
              <a:buNone/>
            </a:pPr>
            <a:r>
              <a:rPr lang="en-US" altLang="en-US">
                <a:sym typeface="+mn-ea"/>
              </a:rPr>
              <a:t>        } finally {</a:t>
            </a:r>
            <a:endParaRPr lang="en-US" altLang="en-US"/>
          </a:p>
          <a:p>
            <a:pPr marL="0" indent="0">
              <a:buNone/>
            </a:pPr>
            <a:r>
              <a:rPr lang="en-US" altLang="en-US">
                <a:sym typeface="+mn-ea"/>
              </a:rPr>
              <a:t>            session.close();</a:t>
            </a:r>
            <a:endParaRPr lang="en-US" altLang="en-US"/>
          </a:p>
          <a:p>
            <a:pPr marL="0" indent="0">
              <a:buNone/>
            </a:pPr>
            <a:r>
              <a:rPr lang="en-US" altLang="en-US">
                <a:sym typeface="+mn-ea"/>
              </a:rPr>
              <a:t>            factory.close();</a:t>
            </a:r>
            <a:endParaRPr lang="en-US" altLang="en-US"/>
          </a:p>
          <a:p>
            <a:pPr marL="0" indent="0">
              <a:buNone/>
            </a:pPr>
            <a:r>
              <a:rPr lang="en-US" altLang="en-US">
                <a:sym typeface="+mn-ea"/>
              </a:rPr>
              <a:t>        }</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496570"/>
          </a:xfrm>
        </p:spPr>
        <p:txBody>
          <a:bodyPr>
            <a:noAutofit/>
          </a:bodyPr>
          <a:p>
            <a:pPr algn="ctr"/>
            <a:r>
              <a:rPr lang="en-US" sz="2400" b="1">
                <a:solidFill>
                  <a:srgbClr val="FF0000"/>
                </a:solidFill>
                <a:sym typeface="+mn-ea"/>
              </a:rPr>
              <a:t>hibernate one To Many Annotation</a:t>
            </a:r>
            <a:endParaRPr lang="en-US" sz="2400" b="1">
              <a:solidFill>
                <a:srgbClr val="FF0000"/>
              </a:solidFill>
              <a:sym typeface="+mn-ea"/>
            </a:endParaRPr>
          </a:p>
        </p:txBody>
      </p:sp>
      <p:sp>
        <p:nvSpPr>
          <p:cNvPr id="3" name="Content Placeholder 2"/>
          <p:cNvSpPr>
            <a:spLocks noGrp="1"/>
          </p:cNvSpPr>
          <p:nvPr>
            <p:ph idx="1"/>
          </p:nvPr>
        </p:nvSpPr>
        <p:spPr>
          <a:xfrm>
            <a:off x="96520" y="496570"/>
            <a:ext cx="11968480" cy="6183630"/>
          </a:xfrm>
        </p:spPr>
        <p:txBody>
          <a:bodyPr>
            <a:noAutofit/>
          </a:bodyPr>
          <a:p>
            <a:pPr marL="0" indent="0">
              <a:buNone/>
            </a:pPr>
            <a:r>
              <a:rPr lang="en-US" altLang="en-US" sz="1800"/>
              <a:t>Example Scenario:</a:t>
            </a:r>
            <a:endParaRPr lang="en-US" altLang="en-US" sz="1800"/>
          </a:p>
          <a:p>
            <a:pPr marL="0" indent="0">
              <a:buNone/>
            </a:pPr>
            <a:r>
              <a:rPr lang="en-US" altLang="en-US" sz="1800"/>
              <a:t>One Department has many Employees.</a:t>
            </a:r>
            <a:endParaRPr lang="en-US" altLang="en-US" sz="1800"/>
          </a:p>
          <a:p>
            <a:pPr marL="0" indent="0">
              <a:buNone/>
            </a:pPr>
            <a:r>
              <a:rPr lang="en-US" altLang="en-US" sz="1800"/>
              <a:t>Department.java</a:t>
            </a:r>
            <a:endParaRPr lang="en-US" altLang="en-US" sz="1800"/>
          </a:p>
          <a:p>
            <a:pPr marL="0" indent="0">
              <a:buNone/>
            </a:pPr>
            <a:r>
              <a:rPr lang="en-US" altLang="en-US" sz="1800"/>
              <a:t>import jakarta.persistence.*;</a:t>
            </a:r>
            <a:endParaRPr lang="en-US" altLang="en-US" sz="1800"/>
          </a:p>
          <a:p>
            <a:pPr marL="0" indent="0">
              <a:buNone/>
            </a:pPr>
            <a:r>
              <a:rPr lang="en-US" altLang="en-US" sz="1800"/>
              <a:t>import java.util.List;</a:t>
            </a:r>
            <a:endParaRPr lang="en-US" altLang="en-US" sz="1800"/>
          </a:p>
          <a:p>
            <a:pPr marL="0" indent="0">
              <a:buNone/>
            </a:pPr>
            <a:r>
              <a:rPr lang="en-US" altLang="en-US" sz="1800"/>
              <a:t>@Entity</a:t>
            </a:r>
            <a:endParaRPr lang="en-US" altLang="en-US" sz="1800"/>
          </a:p>
          <a:p>
            <a:pPr marL="0" indent="0">
              <a:buNone/>
            </a:pPr>
            <a:r>
              <a:rPr lang="en-US" altLang="en-US" sz="1800"/>
              <a:t>public class Department {</a:t>
            </a:r>
            <a:endParaRPr lang="en-US" altLang="en-US" sz="1800"/>
          </a:p>
          <a:p>
            <a:pPr marL="0" indent="0">
              <a:buNone/>
            </a:pPr>
            <a:r>
              <a:rPr lang="en-US" altLang="en-US" sz="1800"/>
              <a:t>    @Id</a:t>
            </a:r>
            <a:endParaRPr lang="en-US" altLang="en-US" sz="1800"/>
          </a:p>
          <a:p>
            <a:pPr marL="0" indent="0">
              <a:buNone/>
            </a:pPr>
            <a:r>
              <a:rPr lang="en-US" altLang="en-US" sz="1800"/>
              <a:t>    @GeneratedValue(strategy = GenerationType.IDENTITY)</a:t>
            </a:r>
            <a:endParaRPr lang="en-US" altLang="en-US" sz="1800"/>
          </a:p>
          <a:p>
            <a:pPr marL="0" indent="0">
              <a:buNone/>
            </a:pPr>
            <a:r>
              <a:rPr lang="en-US" altLang="en-US" sz="1800"/>
              <a:t>    private Long id;</a:t>
            </a:r>
            <a:endParaRPr lang="en-US" altLang="en-US" sz="1800"/>
          </a:p>
          <a:p>
            <a:pPr marL="0" indent="0">
              <a:buNone/>
            </a:pPr>
            <a:r>
              <a:rPr lang="en-US" altLang="en-US" sz="1800"/>
              <a:t>    private String name;</a:t>
            </a:r>
            <a:endParaRPr lang="en-US" altLang="en-US" sz="1800"/>
          </a:p>
          <a:p>
            <a:pPr marL="0" indent="0">
              <a:buNone/>
            </a:pPr>
            <a:r>
              <a:rPr lang="en-US" altLang="en-US" sz="1800"/>
              <a:t>    @OneToMany(mappedBy = "department", cascade = CascadeType.ALL)</a:t>
            </a:r>
            <a:endParaRPr lang="en-US" altLang="en-US" sz="1800"/>
          </a:p>
          <a:p>
            <a:pPr marL="0" indent="0">
              <a:buNone/>
            </a:pPr>
            <a:r>
              <a:rPr lang="en-US" altLang="en-US" sz="1800"/>
              <a:t>    private List&lt;Employee&gt; employees;</a:t>
            </a:r>
            <a:endParaRPr lang="en-US" altLang="en-US" sz="1800"/>
          </a:p>
          <a:p>
            <a:pPr marL="0" indent="0">
              <a:buNone/>
            </a:pPr>
            <a:r>
              <a:rPr lang="en-US" altLang="en-US" sz="1800"/>
              <a:t>}</a:t>
            </a:r>
            <a:endParaRPr lang="en-US" altLang="en-US" sz="1800"/>
          </a:p>
          <a:p>
            <a:pPr marL="0" indent="0">
              <a:buNone/>
            </a:pPr>
            <a:endParaRPr lang="en-US" altLang="en-US" sz="1800"/>
          </a:p>
          <a:p>
            <a:pPr marL="0" indent="0">
              <a:buNone/>
            </a:pPr>
            <a:endParaRPr lang="en-US" altLang="en-US" sz="1800"/>
          </a:p>
          <a:p>
            <a:pPr marL="0" indent="0">
              <a:buNone/>
            </a:pPr>
            <a:endParaRPr lang="en-US" altLang="en-US" sz="1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389255"/>
          </a:xfrm>
        </p:spPr>
        <p:txBody>
          <a:bodyPr>
            <a:normAutofit fontScale="90000"/>
          </a:bodyPr>
          <a:p>
            <a:pPr algn="ctr"/>
            <a:r>
              <a:rPr lang="en-US" sz="2400" b="1">
                <a:solidFill>
                  <a:srgbClr val="FF0000"/>
                </a:solidFill>
                <a:sym typeface="+mn-ea"/>
              </a:rPr>
              <a:t>hibernate Many To one Annotation</a:t>
            </a:r>
            <a:endParaRPr lang="en-US" sz="2400" b="1">
              <a:solidFill>
                <a:srgbClr val="FF0000"/>
              </a:solidFill>
              <a:sym typeface="+mn-ea"/>
            </a:endParaRPr>
          </a:p>
        </p:txBody>
      </p:sp>
      <p:sp>
        <p:nvSpPr>
          <p:cNvPr id="3" name="Content Placeholder 2"/>
          <p:cNvSpPr>
            <a:spLocks noGrp="1"/>
          </p:cNvSpPr>
          <p:nvPr>
            <p:ph idx="1"/>
          </p:nvPr>
        </p:nvSpPr>
        <p:spPr>
          <a:xfrm>
            <a:off x="635" y="389890"/>
            <a:ext cx="12101830" cy="6343015"/>
          </a:xfrm>
        </p:spPr>
        <p:txBody>
          <a:bodyPr>
            <a:noAutofit/>
          </a:bodyPr>
          <a:p>
            <a:pPr marL="0" indent="0">
              <a:buNone/>
            </a:pPr>
            <a:r>
              <a:rPr lang="en-US" altLang="en-US" sz="1800">
                <a:sym typeface="+mn-ea"/>
              </a:rPr>
              <a:t>Employee.java</a:t>
            </a:r>
            <a:endParaRPr lang="en-US" altLang="en-US" sz="1800"/>
          </a:p>
          <a:p>
            <a:pPr marL="0" indent="0">
              <a:buNone/>
            </a:pPr>
            <a:r>
              <a:rPr lang="en-US" altLang="en-US" sz="1800">
                <a:sym typeface="+mn-ea"/>
              </a:rPr>
              <a:t>import jakarta.persistence.*;</a:t>
            </a:r>
            <a:endParaRPr lang="en-US" altLang="en-US" sz="1800"/>
          </a:p>
          <a:p>
            <a:pPr marL="0" indent="0">
              <a:buNone/>
            </a:pPr>
            <a:r>
              <a:rPr lang="en-US" altLang="en-US" sz="1800">
                <a:sym typeface="+mn-ea"/>
              </a:rPr>
              <a:t>@Entity</a:t>
            </a:r>
            <a:endParaRPr lang="en-US" altLang="en-US" sz="1800"/>
          </a:p>
          <a:p>
            <a:pPr marL="0" indent="0">
              <a:buNone/>
            </a:pPr>
            <a:r>
              <a:rPr lang="en-US" altLang="en-US" sz="1800">
                <a:sym typeface="+mn-ea"/>
              </a:rPr>
              <a:t>public class Employee {</a:t>
            </a:r>
            <a:endParaRPr lang="en-US" altLang="en-US" sz="1800"/>
          </a:p>
          <a:p>
            <a:pPr marL="0" indent="0">
              <a:buNone/>
            </a:pPr>
            <a:r>
              <a:rPr lang="en-US" altLang="en-US" sz="1800">
                <a:sym typeface="+mn-ea"/>
              </a:rPr>
              <a:t>    @Id</a:t>
            </a:r>
            <a:endParaRPr lang="en-US" altLang="en-US" sz="1800"/>
          </a:p>
          <a:p>
            <a:pPr marL="0" indent="0">
              <a:buNone/>
            </a:pPr>
            <a:r>
              <a:rPr lang="en-US" altLang="en-US" sz="1800">
                <a:sym typeface="+mn-ea"/>
              </a:rPr>
              <a:t>    @GeneratedValue(strategy = GenerationType.IDENTITY)</a:t>
            </a:r>
            <a:endParaRPr lang="en-US" altLang="en-US" sz="1800"/>
          </a:p>
          <a:p>
            <a:pPr marL="0" indent="0">
              <a:buNone/>
            </a:pPr>
            <a:r>
              <a:rPr lang="en-US" altLang="en-US" sz="1800">
                <a:sym typeface="+mn-ea"/>
              </a:rPr>
              <a:t>    private Long id;</a:t>
            </a:r>
            <a:endParaRPr lang="en-US" altLang="en-US" sz="1800"/>
          </a:p>
          <a:p>
            <a:pPr marL="0" indent="0">
              <a:buNone/>
            </a:pPr>
            <a:r>
              <a:rPr lang="en-US" altLang="en-US" sz="1800">
                <a:sym typeface="+mn-ea"/>
              </a:rPr>
              <a:t>    private String name;</a:t>
            </a:r>
            <a:endParaRPr lang="en-US" altLang="en-US" sz="1800"/>
          </a:p>
          <a:p>
            <a:pPr marL="0" indent="0">
              <a:buNone/>
            </a:pPr>
            <a:r>
              <a:rPr lang="en-US" altLang="en-US" sz="1800">
                <a:sym typeface="+mn-ea"/>
              </a:rPr>
              <a:t>   @ManyToOne</a:t>
            </a:r>
            <a:endParaRPr lang="en-US" altLang="en-US" sz="1800"/>
          </a:p>
          <a:p>
            <a:pPr marL="0" indent="0">
              <a:buNone/>
            </a:pPr>
            <a:r>
              <a:rPr lang="en-US" altLang="en-US" sz="1800">
                <a:sym typeface="+mn-ea"/>
              </a:rPr>
              <a:t>    @JoinColumn(name = "department_id")</a:t>
            </a:r>
            <a:endParaRPr lang="en-US" altLang="en-US" sz="1800"/>
          </a:p>
          <a:p>
            <a:pPr marL="0" indent="0">
              <a:buNone/>
            </a:pPr>
            <a:r>
              <a:rPr lang="en-US" altLang="en-US" sz="1800">
                <a:sym typeface="+mn-ea"/>
              </a:rPr>
              <a:t>    private Department department;</a:t>
            </a:r>
            <a:endParaRPr lang="en-US" altLang="en-US" sz="1800"/>
          </a:p>
          <a:p>
            <a:pPr marL="0" indent="0">
              <a:buNone/>
            </a:pPr>
            <a:r>
              <a:rPr lang="en-US" altLang="en-US" sz="1800">
                <a:sym typeface="+mn-ea"/>
              </a:rPr>
              <a:t>}</a:t>
            </a:r>
            <a:endParaRPr lang="en-US" altLang="en-US" sz="1800"/>
          </a:p>
          <a:p>
            <a:pPr marL="0" indent="0">
              <a:buNone/>
            </a:pPr>
            <a:r>
              <a:rPr lang="en-US" altLang="en-US" sz="1800">
                <a:sym typeface="+mn-ea"/>
              </a:rPr>
              <a:t>Notes:</a:t>
            </a:r>
            <a:endParaRPr lang="en-US" altLang="en-US" sz="1800"/>
          </a:p>
          <a:p>
            <a:pPr marL="0" indent="0">
              <a:buNone/>
            </a:pPr>
            <a:r>
              <a:rPr lang="en-US" altLang="en-US" sz="1800">
                <a:sym typeface="+mn-ea"/>
              </a:rPr>
              <a:t>@Entity: Marks the class as a Hibernate entity.</a:t>
            </a:r>
            <a:endParaRPr lang="en-US" altLang="en-US" sz="1800"/>
          </a:p>
          <a:p>
            <a:pPr marL="0" indent="0">
              <a:buNone/>
            </a:pPr>
            <a:r>
              <a:rPr lang="en-US" altLang="en-US" sz="1800">
                <a:sym typeface="+mn-ea"/>
              </a:rPr>
              <a:t>@OneToMany(mappedBy = "department"): Refers to the department field in Employee.</a:t>
            </a:r>
            <a:endParaRPr lang="en-US" altLang="en-US" sz="1800"/>
          </a:p>
          <a:p>
            <a:pPr marL="0" indent="0">
              <a:buNone/>
            </a:pPr>
            <a:r>
              <a:rPr lang="en-US" altLang="en-US" sz="1800">
                <a:sym typeface="+mn-ea"/>
              </a:rPr>
              <a:t>@ManyToOne and @JoinColumn: Establish the foreign key on the Employee side.</a:t>
            </a:r>
            <a:endParaRPr lang="en-US" altLang="en-US" sz="1800"/>
          </a:p>
          <a:p>
            <a:pPr marL="0" indent="0">
              <a:buNone/>
            </a:pPr>
            <a:endParaRPr lang="en-US" altLang="en-US" sz="1800"/>
          </a:p>
          <a:p>
            <a:pPr marL="0" indent="0">
              <a:buNone/>
            </a:pPr>
            <a:endParaRPr lang="en-US" altLang="en-US" sz="1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74625" y="104775"/>
            <a:ext cx="11179175" cy="6546850"/>
          </a:xfrm>
        </p:spPr>
        <p:txBody>
          <a:bodyPr>
            <a:normAutofit fontScale="75000"/>
          </a:bodyPr>
          <a:p>
            <a:pPr marL="0" indent="0">
              <a:buNone/>
            </a:pPr>
            <a:r>
              <a:rPr lang="en-US" altLang="en-US">
                <a:sym typeface="+mn-ea"/>
              </a:rPr>
              <a:t> What do @OneToMany and @ManyToOne mean?</a:t>
            </a:r>
            <a:endParaRPr lang="en-US" altLang="en-US"/>
          </a:p>
          <a:p>
            <a:pPr marL="0" indent="0">
              <a:buNone/>
            </a:pPr>
            <a:r>
              <a:rPr lang="en-US" altLang="en-US">
                <a:sym typeface="+mn-ea"/>
              </a:rPr>
              <a:t>These annotations are part of JPA (Java Persistence API), used by Hibernate to define relationships between entities.</a:t>
            </a:r>
            <a:endParaRPr lang="en-US" altLang="en-US"/>
          </a:p>
          <a:p>
            <a:pPr marL="0" indent="0">
              <a:buNone/>
            </a:pPr>
            <a:r>
              <a:rPr lang="en-US" altLang="en-US">
                <a:sym typeface="+mn-ea"/>
              </a:rPr>
              <a:t> Relationship Example:</a:t>
            </a:r>
            <a:endParaRPr lang="en-US" altLang="en-US"/>
          </a:p>
          <a:p>
            <a:pPr marL="0" indent="0">
              <a:buNone/>
            </a:pPr>
            <a:r>
              <a:rPr lang="en-US" altLang="en-US">
                <a:sym typeface="+mn-ea"/>
              </a:rPr>
              <a:t>Think of this example:</a:t>
            </a:r>
            <a:endParaRPr lang="en-US" altLang="en-US"/>
          </a:p>
          <a:p>
            <a:pPr marL="0" indent="0">
              <a:buNone/>
            </a:pPr>
            <a:r>
              <a:rPr lang="en-US" altLang="en-US">
                <a:sym typeface="+mn-ea"/>
              </a:rPr>
              <a:t>One Department has many Employees</a:t>
            </a:r>
            <a:endParaRPr lang="en-US" altLang="en-US"/>
          </a:p>
          <a:p>
            <a:pPr marL="0" indent="0">
              <a:buNone/>
            </a:pPr>
            <a:r>
              <a:rPr lang="en-US" altLang="en-US">
                <a:sym typeface="+mn-ea"/>
              </a:rPr>
              <a:t>Each Employee belongs to one Department</a:t>
            </a:r>
            <a:endParaRPr lang="en-US" altLang="en-US"/>
          </a:p>
          <a:p>
            <a:pPr marL="0" indent="0">
              <a:buNone/>
            </a:pPr>
            <a:r>
              <a:rPr lang="en-US" altLang="en-US">
                <a:sym typeface="+mn-ea"/>
              </a:rPr>
              <a:t>So the relationship is:</a:t>
            </a:r>
            <a:endParaRPr lang="en-US" altLang="en-US"/>
          </a:p>
          <a:p>
            <a:pPr marL="0" indent="0">
              <a:buNone/>
            </a:pPr>
            <a:r>
              <a:rPr lang="en-US" altLang="en-US">
                <a:sym typeface="+mn-ea"/>
              </a:rPr>
              <a:t>Department (1) ↔ (Many) Employee</a:t>
            </a:r>
            <a:endParaRPr lang="en-US" altLang="en-US"/>
          </a:p>
          <a:p>
            <a:pPr marL="0" indent="0">
              <a:buNone/>
            </a:pPr>
            <a:r>
              <a:rPr lang="en-US" altLang="en-US">
                <a:sym typeface="+mn-ea"/>
              </a:rPr>
              <a:t>✅ @ManyToOne</a:t>
            </a:r>
            <a:endParaRPr lang="en-US" altLang="en-US"/>
          </a:p>
          <a:p>
            <a:pPr marL="0" indent="0">
              <a:buNone/>
            </a:pPr>
            <a:r>
              <a:rPr lang="en-US" altLang="en-US">
                <a:sym typeface="+mn-ea"/>
              </a:rPr>
              <a:t> Use:</a:t>
            </a:r>
            <a:endParaRPr lang="en-US" altLang="en-US"/>
          </a:p>
          <a:p>
            <a:pPr marL="0" indent="0">
              <a:buNone/>
            </a:pPr>
            <a:r>
              <a:rPr lang="en-US" altLang="en-US">
                <a:sym typeface="+mn-ea"/>
              </a:rPr>
              <a:t>Used on the child (many-side) of the relationship.</a:t>
            </a:r>
            <a:endParaRPr lang="en-US" altLang="en-US"/>
          </a:p>
          <a:p>
            <a:pPr marL="0" indent="0">
              <a:buNone/>
            </a:pPr>
            <a:r>
              <a:rPr lang="en-US" altLang="en-US">
                <a:sym typeface="+mn-ea"/>
              </a:rPr>
              <a:t> Purpose:</a:t>
            </a:r>
            <a:endParaRPr lang="en-US" altLang="en-US"/>
          </a:p>
          <a:p>
            <a:pPr marL="0" indent="0">
              <a:buNone/>
            </a:pPr>
            <a:r>
              <a:rPr lang="en-US" altLang="en-US">
                <a:sym typeface="+mn-ea"/>
              </a:rPr>
              <a:t>It creates a foreign key column in the child table (Employee) pointing to the parent table (Department).</a:t>
            </a:r>
            <a:endParaRPr lang="en-US" altLang="en-US"/>
          </a:p>
          <a:p>
            <a:pPr marL="0" indent="0">
              <a:buNone/>
            </a:pPr>
            <a:r>
              <a:rPr lang="en-US" altLang="en-US">
                <a:sym typeface="+mn-ea"/>
              </a:rPr>
              <a:t> Example:</a:t>
            </a:r>
            <a:endParaRPr lang="en-US" altLang="en-US"/>
          </a:p>
          <a:p>
            <a:pPr marL="0" indent="0">
              <a:buNone/>
            </a:pP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44805"/>
          </a:xfrm>
        </p:spPr>
        <p:txBody>
          <a:bodyPr>
            <a:noAutofit/>
          </a:bodyPr>
          <a:p>
            <a:pPr algn="ctr"/>
            <a:endParaRPr lang="en-US" sz="2400" b="1">
              <a:solidFill>
                <a:srgbClr val="FF0000"/>
              </a:solidFill>
              <a:sym typeface="+mn-ea"/>
            </a:endParaRPr>
          </a:p>
        </p:txBody>
      </p:sp>
      <p:sp>
        <p:nvSpPr>
          <p:cNvPr id="3" name="Content Placeholder 2"/>
          <p:cNvSpPr>
            <a:spLocks noGrp="1"/>
          </p:cNvSpPr>
          <p:nvPr>
            <p:ph idx="1"/>
          </p:nvPr>
        </p:nvSpPr>
        <p:spPr>
          <a:xfrm>
            <a:off x="156845" y="344805"/>
            <a:ext cx="11908790" cy="6409690"/>
          </a:xfrm>
        </p:spPr>
        <p:txBody>
          <a:bodyPr>
            <a:normAutofit fontScale="60000"/>
          </a:bodyPr>
          <a:p>
            <a:pPr marL="0" indent="0">
              <a:buNone/>
            </a:pPr>
            <a:r>
              <a:rPr lang="en-US" altLang="en-US">
                <a:sym typeface="+mn-ea"/>
              </a:rPr>
              <a:t>@ManyToOne</a:t>
            </a:r>
            <a:endParaRPr lang="en-US" altLang="en-US"/>
          </a:p>
          <a:p>
            <a:pPr marL="0" indent="0">
              <a:buNone/>
            </a:pPr>
            <a:r>
              <a:rPr lang="en-US" altLang="en-US">
                <a:sym typeface="+mn-ea"/>
              </a:rPr>
              <a:t>@JoinColumn(name = "department_id") // foreign key in Employee table</a:t>
            </a:r>
            <a:endParaRPr lang="en-US" altLang="en-US"/>
          </a:p>
          <a:p>
            <a:pPr marL="0" indent="0">
              <a:buNone/>
            </a:pPr>
            <a:r>
              <a:rPr lang="en-US" altLang="en-US">
                <a:sym typeface="+mn-ea"/>
              </a:rPr>
              <a:t>private Department department;</a:t>
            </a:r>
            <a:endParaRPr lang="en-US" altLang="en-US"/>
          </a:p>
          <a:p>
            <a:pPr marL="0" indent="0">
              <a:buNone/>
            </a:pPr>
            <a:r>
              <a:rPr lang="en-US" altLang="en-US">
                <a:sym typeface="+mn-ea"/>
              </a:rPr>
              <a:t>Placed in Employee</a:t>
            </a:r>
            <a:endParaRPr lang="en-US" altLang="en-US"/>
          </a:p>
          <a:p>
            <a:pPr marL="0" indent="0">
              <a:buNone/>
            </a:pPr>
            <a:r>
              <a:rPr lang="en-US" altLang="en-US">
                <a:sym typeface="+mn-ea"/>
              </a:rPr>
              <a:t>Each employee is associated with one department</a:t>
            </a:r>
            <a:endParaRPr lang="en-US" altLang="en-US"/>
          </a:p>
          <a:p>
            <a:pPr marL="0" indent="0">
              <a:buNone/>
            </a:pPr>
            <a:r>
              <a:rPr lang="en-US" altLang="en-US">
                <a:sym typeface="+mn-ea"/>
              </a:rPr>
              <a:t>✅ @OneToMany</a:t>
            </a:r>
            <a:endParaRPr lang="en-US" altLang="en-US"/>
          </a:p>
          <a:p>
            <a:pPr marL="0" indent="0">
              <a:buNone/>
            </a:pPr>
            <a:r>
              <a:rPr lang="en-US" altLang="en-US">
                <a:sym typeface="+mn-ea"/>
              </a:rPr>
              <a:t> Use:</a:t>
            </a:r>
            <a:endParaRPr lang="en-US" altLang="en-US"/>
          </a:p>
          <a:p>
            <a:pPr marL="0" indent="0">
              <a:buNone/>
            </a:pPr>
            <a:r>
              <a:rPr lang="en-US" altLang="en-US">
                <a:sym typeface="+mn-ea"/>
              </a:rPr>
              <a:t>Used on the parent (one-side) of the relationship.</a:t>
            </a:r>
            <a:endParaRPr lang="en-US" altLang="en-US"/>
          </a:p>
          <a:p>
            <a:pPr marL="0" indent="0">
              <a:buNone/>
            </a:pPr>
            <a:r>
              <a:rPr lang="en-US" altLang="en-US">
                <a:sym typeface="+mn-ea"/>
              </a:rPr>
              <a:t> Purpose:</a:t>
            </a:r>
            <a:endParaRPr lang="en-US" altLang="en-US"/>
          </a:p>
          <a:p>
            <a:pPr marL="0" indent="0">
              <a:buNone/>
            </a:pPr>
            <a:r>
              <a:rPr lang="en-US" altLang="en-US">
                <a:sym typeface="+mn-ea"/>
              </a:rPr>
              <a:t>It maps a collection of children (like a list of Employee objects) in the parent (Department), representing all the related records.</a:t>
            </a:r>
            <a:endParaRPr lang="en-US" altLang="en-US"/>
          </a:p>
          <a:p>
            <a:pPr marL="0" indent="0">
              <a:buNone/>
            </a:pPr>
            <a:r>
              <a:rPr lang="en-US" altLang="en-US">
                <a:sym typeface="+mn-ea"/>
              </a:rPr>
              <a:t> Example:</a:t>
            </a:r>
            <a:endParaRPr lang="en-US" altLang="en-US"/>
          </a:p>
          <a:p>
            <a:pPr marL="0" indent="0">
              <a:buNone/>
            </a:pPr>
            <a:r>
              <a:rPr lang="en-US" altLang="en-US">
                <a:sym typeface="+mn-ea"/>
              </a:rPr>
              <a:t>@OneToMany(mappedBy = "department", cascade = CascadeType.ALL)</a:t>
            </a:r>
            <a:endParaRPr lang="en-US" altLang="en-US"/>
          </a:p>
          <a:p>
            <a:pPr marL="0" indent="0">
              <a:buNone/>
            </a:pPr>
            <a:r>
              <a:rPr lang="en-US" altLang="en-US">
                <a:sym typeface="+mn-ea"/>
              </a:rPr>
              <a:t>private List&lt;Employee&gt; employees;</a:t>
            </a:r>
            <a:endParaRPr lang="en-US" altLang="en-US"/>
          </a:p>
          <a:p>
            <a:pPr marL="0" indent="0">
              <a:buNone/>
            </a:pPr>
            <a:r>
              <a:rPr lang="en-US" altLang="en-US">
                <a:sym typeface="+mn-ea"/>
              </a:rPr>
              <a:t>Placed in Department</a:t>
            </a:r>
            <a:endParaRPr lang="en-US" altLang="en-US"/>
          </a:p>
          <a:p>
            <a:pPr marL="0" indent="0">
              <a:buNone/>
            </a:pPr>
            <a:r>
              <a:rPr lang="en-US" altLang="en-US">
                <a:sym typeface="+mn-ea"/>
              </a:rPr>
              <a:t>Represents many employees associated with the department</a:t>
            </a:r>
            <a:endParaRPr lang="en-US" altLang="en-US"/>
          </a:p>
          <a:p>
            <a:pPr marL="0" indent="0">
              <a:buNone/>
            </a:pPr>
            <a:r>
              <a:rPr lang="en-US" altLang="en-US">
                <a:sym typeface="+mn-ea"/>
              </a:rPr>
              <a:t>mappedBy = "department" tells Hibernate:</a:t>
            </a:r>
            <a:endParaRPr lang="en-US" altLang="en-US"/>
          </a:p>
          <a:p>
            <a:pPr marL="0" indent="0">
              <a:buNone/>
            </a:pPr>
            <a:r>
              <a:rPr lang="en-US" altLang="en-US">
                <a:sym typeface="+mn-ea"/>
              </a:rPr>
              <a:t>"The department field in Employee owns the relationship."</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51790"/>
          </a:xfrm>
        </p:spPr>
        <p:txBody>
          <a:bodyPr>
            <a:normAutofit fontScale="90000"/>
          </a:bodyPr>
          <a:p>
            <a:pPr algn="ctr"/>
            <a:r>
              <a:rPr lang="en-US" sz="2400" b="1">
                <a:solidFill>
                  <a:srgbClr val="FF0000"/>
                </a:solidFill>
                <a:sym typeface="+mn-ea"/>
              </a:rPr>
              <a:t>hibernate Many To Many Annotation</a:t>
            </a:r>
            <a:endParaRPr lang="en-US" sz="2400" b="1">
              <a:solidFill>
                <a:srgbClr val="FF0000"/>
              </a:solidFill>
              <a:sym typeface="+mn-ea"/>
            </a:endParaRPr>
          </a:p>
        </p:txBody>
      </p:sp>
      <p:sp>
        <p:nvSpPr>
          <p:cNvPr id="3" name="Content Placeholder 2"/>
          <p:cNvSpPr>
            <a:spLocks noGrp="1"/>
          </p:cNvSpPr>
          <p:nvPr>
            <p:ph idx="1"/>
          </p:nvPr>
        </p:nvSpPr>
        <p:spPr>
          <a:xfrm>
            <a:off x="126365" y="351790"/>
            <a:ext cx="11966575" cy="6317615"/>
          </a:xfrm>
        </p:spPr>
        <p:txBody>
          <a:bodyPr>
            <a:normAutofit/>
          </a:bodyPr>
          <a:p>
            <a:pPr marL="0" indent="0">
              <a:buNone/>
            </a:pPr>
            <a:r>
              <a:rPr lang="en-US" altLang="en-US" sz="1600"/>
              <a:t>//StudentDaoEntity    </a:t>
            </a:r>
            <a:endParaRPr lang="en-US" altLang="en-US" sz="1600"/>
          </a:p>
          <a:p>
            <a:pPr marL="0" indent="0">
              <a:buNone/>
            </a:pPr>
            <a:r>
              <a:rPr lang="en-US" altLang="en-US" sz="1600"/>
              <a:t>	@ManyToMany(cascade = CascadeType.ALL)</a:t>
            </a:r>
            <a:endParaRPr lang="en-US" altLang="en-US" sz="1600"/>
          </a:p>
          <a:p>
            <a:pPr marL="0" indent="0">
              <a:buNone/>
            </a:pPr>
            <a:r>
              <a:rPr lang="en-US" altLang="en-US" sz="1600"/>
              <a:t>    @JoinTable(</a:t>
            </a:r>
            <a:endParaRPr lang="en-US" altLang="en-US" sz="1600"/>
          </a:p>
          <a:p>
            <a:pPr marL="0" indent="0">
              <a:buNone/>
            </a:pPr>
            <a:r>
              <a:rPr lang="en-US" altLang="en-US" sz="1600"/>
              <a:t>        name = "student_course",</a:t>
            </a:r>
            <a:endParaRPr lang="en-US" altLang="en-US" sz="1600"/>
          </a:p>
          <a:p>
            <a:pPr marL="0" indent="0">
              <a:buNone/>
            </a:pPr>
            <a:r>
              <a:rPr lang="en-US" altLang="en-US" sz="1600"/>
              <a:t>        joinColumns = @JoinColumn(name = "student_id"),</a:t>
            </a:r>
            <a:endParaRPr lang="en-US" altLang="en-US" sz="1600"/>
          </a:p>
          <a:p>
            <a:pPr marL="0" indent="0">
              <a:buNone/>
            </a:pPr>
            <a:r>
              <a:rPr lang="en-US" altLang="en-US" sz="1600"/>
              <a:t>        inverseJoinColumns = @JoinColumn(name = "course_id")</a:t>
            </a:r>
            <a:endParaRPr lang="en-US" altLang="en-US" sz="1600"/>
          </a:p>
          <a:p>
            <a:pPr marL="0" indent="0">
              <a:buNone/>
            </a:pPr>
            <a:r>
              <a:rPr lang="en-US" altLang="en-US" sz="1600"/>
              <a:t>    )</a:t>
            </a:r>
            <a:endParaRPr lang="en-US" altLang="en-US" sz="1600"/>
          </a:p>
          <a:p>
            <a:pPr marL="0" indent="0">
              <a:buNone/>
            </a:pPr>
            <a:r>
              <a:rPr lang="en-US" altLang="en-US" sz="1600"/>
              <a:t>    private Set&lt;CourseDaoEntity&gt; courseDaoEntities = new HashSet&lt;&gt;();</a:t>
            </a:r>
            <a:endParaRPr lang="en-US" altLang="en-US" sz="1600"/>
          </a:p>
          <a:p>
            <a:pPr marL="0" indent="0">
              <a:buNone/>
            </a:pPr>
            <a:endParaRPr lang="en-US" altLang="en-US" sz="1600"/>
          </a:p>
          <a:p>
            <a:pPr marL="0" indent="0">
              <a:buNone/>
            </a:pPr>
            <a:endParaRPr lang="en-US" altLang="en-US" sz="1600"/>
          </a:p>
          <a:p>
            <a:pPr marL="0" indent="0">
              <a:buNone/>
            </a:pPr>
            <a:r>
              <a:rPr lang="en-US" altLang="en-US" sz="1600"/>
              <a:t>Setters//getters</a:t>
            </a:r>
            <a:endParaRPr lang="en-US" altLang="en-US" sz="1600"/>
          </a:p>
          <a:p>
            <a:pPr marL="0" indent="0">
              <a:buNone/>
            </a:pPr>
            <a:r>
              <a:rPr lang="en-US" altLang="en-US" sz="1600"/>
              <a:t>//CourseDaoEntity</a:t>
            </a:r>
            <a:endParaRPr lang="en-US" altLang="en-US" sz="1600"/>
          </a:p>
          <a:p>
            <a:pPr marL="0" indent="0">
              <a:buNone/>
            </a:pPr>
            <a:r>
              <a:rPr lang="en-US" altLang="en-US" sz="1600"/>
              <a:t>@ManyToMany(mappedBy = "teacherDaoEntities")</a:t>
            </a:r>
            <a:endParaRPr lang="en-US" altLang="en-US" sz="1600"/>
          </a:p>
          <a:p>
            <a:pPr marL="0" indent="0">
              <a:buNone/>
            </a:pPr>
            <a:r>
              <a:rPr lang="en-US" altLang="en-US" sz="1600"/>
              <a:t>private Set&lt;TeacherDaoEntity&gt; teacherDaoEntities = new HashSet&lt;&gt;();</a:t>
            </a:r>
            <a:endParaRPr lang="en-US" altLang="en-US" sz="1600"/>
          </a:p>
          <a:p>
            <a:pPr marL="0" indent="0">
              <a:buNone/>
            </a:pPr>
            <a:endParaRPr lang="en-US" altLang="en-US" sz="1600"/>
          </a:p>
          <a:p>
            <a:pPr marL="0" indent="0">
              <a:buNone/>
            </a:pPr>
            <a:endParaRPr lang="en-US" altLang="en-US" sz="1600"/>
          </a:p>
        </p:txBody>
      </p:sp>
      <p:sp>
        <p:nvSpPr>
          <p:cNvPr id="4" name="Text Box 3"/>
          <p:cNvSpPr txBox="1"/>
          <p:nvPr/>
        </p:nvSpPr>
        <p:spPr>
          <a:xfrm>
            <a:off x="6213475" y="469265"/>
            <a:ext cx="5762625" cy="5563870"/>
          </a:xfrm>
          <a:prstGeom prst="rect">
            <a:avLst/>
          </a:prstGeom>
        </p:spPr>
        <p:txBody>
          <a:bodyPr>
            <a:noAutofit/>
          </a:bodyPr>
          <a:p>
            <a:endParaRPr sz="1600">
              <a:ln>
                <a:solidFill>
                  <a:schemeClr val="tx1"/>
                </a:solidFill>
              </a:ln>
              <a:solidFill>
                <a:srgbClr val="E6E6FA"/>
              </a:solidFill>
              <a:ea typeface="Consolas" panose="020B0609020204030204"/>
              <a:cs typeface="+mn-lt"/>
            </a:endParaRPr>
          </a:p>
        </p:txBody>
      </p:sp>
      <p:sp>
        <p:nvSpPr>
          <p:cNvPr id="5" name="Text Box 4"/>
          <p:cNvSpPr txBox="1"/>
          <p:nvPr/>
        </p:nvSpPr>
        <p:spPr>
          <a:xfrm>
            <a:off x="6096635" y="572770"/>
            <a:ext cx="5996305" cy="6096635"/>
          </a:xfrm>
          <a:prstGeom prst="rect">
            <a:avLst/>
          </a:prstGeom>
          <a:noFill/>
        </p:spPr>
        <p:txBody>
          <a:bodyPr wrap="square" rtlCol="0" anchor="t">
            <a:noAutofit/>
          </a:bodyPr>
          <a:p>
            <a:pPr marL="0" indent="0">
              <a:buNone/>
            </a:pPr>
            <a:r>
              <a:rPr lang="en-US" altLang="en-US" sz="1600"/>
              <a:t>	//Teacher DaoEntity</a:t>
            </a:r>
            <a:endParaRPr lang="en-US" altLang="en-US" sz="1600"/>
          </a:p>
          <a:p>
            <a:pPr marL="0" indent="0">
              <a:buNone/>
            </a:pPr>
            <a:r>
              <a:rPr lang="en-US" altLang="en-US" sz="1600"/>
              <a:t>    </a:t>
            </a:r>
            <a:endParaRPr lang="en-US" altLang="en-US" sz="1600"/>
          </a:p>
          <a:p>
            <a:pPr marL="0" indent="0">
              <a:buNone/>
            </a:pPr>
            <a:r>
              <a:rPr lang="en-US" altLang="en-US" sz="1600"/>
              <a:t>	// Many-to-Many with Students (owning side in Student)</a:t>
            </a:r>
            <a:endParaRPr lang="en-US" altLang="en-US" sz="1600"/>
          </a:p>
          <a:p>
            <a:pPr marL="0" indent="0">
              <a:buNone/>
            </a:pPr>
            <a:r>
              <a:rPr lang="en-US" altLang="en-US" sz="1600"/>
              <a:t>	    @ManyToMany(mappedBy = "courseDaoEntities") private Set&lt;StudentDaoEntity&gt; studentDaoEntities = new HashSet&lt;&gt;();</a:t>
            </a:r>
            <a:endParaRPr lang="en-US" altLang="en-US" sz="1600"/>
          </a:p>
          <a:p>
            <a:pPr marL="0" indent="0">
              <a:buNone/>
            </a:pPr>
            <a:endParaRPr lang="en-US" altLang="en-US" sz="1600"/>
          </a:p>
          <a:p>
            <a:pPr marL="0" indent="0">
              <a:buNone/>
            </a:pPr>
            <a:r>
              <a:rPr lang="en-US" altLang="en-US" sz="1600"/>
              <a:t>	    // Many-to-Many with Teachers (owning side here in Course)</a:t>
            </a:r>
            <a:endParaRPr lang="en-US" altLang="en-US" sz="1600"/>
          </a:p>
          <a:p>
            <a:pPr marL="0" indent="0">
              <a:buNone/>
            </a:pPr>
            <a:r>
              <a:rPr lang="en-US" altLang="en-US" sz="1600"/>
              <a:t>	    @ManyToMany(cascade = CascadeType.ALL)</a:t>
            </a:r>
            <a:endParaRPr lang="en-US" altLang="en-US" sz="1600"/>
          </a:p>
          <a:p>
            <a:pPr marL="0" indent="0">
              <a:buNone/>
            </a:pPr>
            <a:r>
              <a:rPr lang="en-US" altLang="en-US" sz="1600"/>
              <a:t>	    @JoinTable(</a:t>
            </a:r>
            <a:endParaRPr lang="en-US" altLang="en-US" sz="1600"/>
          </a:p>
          <a:p>
            <a:pPr marL="0" indent="0">
              <a:buNone/>
            </a:pPr>
            <a:r>
              <a:rPr lang="en-US" altLang="en-US" sz="1600"/>
              <a:t>	        name = "course_teacher",</a:t>
            </a:r>
            <a:endParaRPr lang="en-US" altLang="en-US" sz="1600"/>
          </a:p>
          <a:p>
            <a:pPr marL="0" indent="0">
              <a:buNone/>
            </a:pPr>
            <a:r>
              <a:rPr lang="en-US" altLang="en-US" sz="1600"/>
              <a:t>	        joinColumns = @JoinColumn(name = "course_id"),</a:t>
            </a:r>
            <a:endParaRPr lang="en-US" altLang="en-US" sz="1600"/>
          </a:p>
          <a:p>
            <a:pPr marL="0" indent="0">
              <a:buNone/>
            </a:pPr>
            <a:r>
              <a:rPr lang="en-US" altLang="en-US" sz="1600"/>
              <a:t>	        inverseJoinColumns = @JoinColumn(name = "teacher_id")</a:t>
            </a:r>
            <a:endParaRPr lang="en-US" altLang="en-US" sz="1600"/>
          </a:p>
          <a:p>
            <a:pPr marL="0" indent="0">
              <a:buNone/>
            </a:pPr>
            <a:r>
              <a:rPr lang="en-US" altLang="en-US" sz="1600"/>
              <a:t>	    )</a:t>
            </a:r>
            <a:endParaRPr lang="en-US" altLang="en-US" sz="1600"/>
          </a:p>
          <a:p>
            <a:pPr marL="0" indent="0">
              <a:buNone/>
            </a:pPr>
            <a:r>
              <a:rPr lang="en-US" altLang="en-US" sz="1600"/>
              <a:t>	    private Set&lt;TeacherDaoEntity&gt; teacherDaoEntities = new HashSet&lt;&gt;();</a:t>
            </a:r>
            <a:endParaRPr lang="en-US" altLang="en-US" sz="1600"/>
          </a:p>
          <a:p>
            <a:pPr marL="0" indent="0">
              <a:buNone/>
            </a:pPr>
            <a:endParaRPr lang="en-US" altLang="en-US" sz="16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99060" y="100965"/>
            <a:ext cx="12006580" cy="6637020"/>
          </a:xfrm>
        </p:spPr>
        <p:txBody>
          <a:bodyPr/>
          <a:p>
            <a:pPr marL="0" indent="0">
              <a:buNone/>
            </a:pPr>
            <a:r>
              <a:rPr lang="en-US" altLang="en-US" sz="1800"/>
              <a:t>1. Teacher</a:t>
            </a:r>
            <a:endParaRPr lang="en-US" altLang="en-US" sz="1800"/>
          </a:p>
          <a:p>
            <a:pPr marL="0" indent="0">
              <a:buNone/>
            </a:pPr>
            <a:r>
              <a:rPr lang="en-US" altLang="en-US" sz="1800"/>
              <a:t>Must be saved first because Course refers to it.</a:t>
            </a:r>
            <a:endParaRPr lang="en-US" altLang="en-US" sz="1800"/>
          </a:p>
          <a:p>
            <a:pPr marL="0" indent="0">
              <a:buNone/>
            </a:pPr>
            <a:r>
              <a:rPr lang="en-US" altLang="en-US" sz="1800"/>
              <a:t>You can’t assign teachers to a course if the teachers don’t exist yet.</a:t>
            </a:r>
            <a:endParaRPr lang="en-US" altLang="en-US" sz="1800"/>
          </a:p>
          <a:p>
            <a:pPr marL="0" indent="0">
              <a:buNone/>
            </a:pPr>
            <a:r>
              <a:rPr lang="zh-CN" altLang="en-US" sz="1800"/>
              <a:t>🔹</a:t>
            </a:r>
            <a:r>
              <a:rPr lang="en-US" altLang="en-US" sz="1800"/>
              <a:t> 2. Course</a:t>
            </a:r>
            <a:endParaRPr lang="en-US" altLang="en-US" sz="1800"/>
          </a:p>
          <a:p>
            <a:pPr marL="0" indent="0">
              <a:buNone/>
            </a:pPr>
            <a:r>
              <a:rPr lang="en-US" altLang="en-US" sz="1800"/>
              <a:t>Comes second, because:</a:t>
            </a:r>
            <a:endParaRPr lang="en-US" altLang="en-US" sz="1800"/>
          </a:p>
          <a:p>
            <a:pPr marL="0" indent="0">
              <a:buNone/>
            </a:pPr>
            <a:r>
              <a:rPr lang="en-US" altLang="en-US" sz="1800"/>
              <a:t>It links to already saved Teacher.</a:t>
            </a:r>
            <a:endParaRPr lang="en-US" altLang="en-US" sz="1800"/>
          </a:p>
          <a:p>
            <a:pPr marL="0" indent="0">
              <a:buNone/>
            </a:pPr>
            <a:r>
              <a:rPr lang="en-US" altLang="en-US" sz="1800"/>
              <a:t>It will later be linked to Student.</a:t>
            </a:r>
            <a:endParaRPr lang="en-US" altLang="en-US" sz="1800"/>
          </a:p>
          <a:p>
            <a:pPr marL="0" indent="0">
              <a:buNone/>
            </a:pPr>
            <a:r>
              <a:rPr lang="zh-CN" altLang="en-US" sz="1800"/>
              <a:t>🔹</a:t>
            </a:r>
            <a:r>
              <a:rPr lang="en-US" altLang="en-US" sz="1800"/>
              <a:t> 3. Student</a:t>
            </a:r>
            <a:endParaRPr lang="en-US" altLang="en-US" sz="1800"/>
          </a:p>
          <a:p>
            <a:pPr marL="0" indent="0">
              <a:buNone/>
            </a:pPr>
            <a:r>
              <a:rPr lang="en-US" altLang="en-US" sz="1800"/>
              <a:t>Comes last, because:</a:t>
            </a:r>
            <a:endParaRPr lang="en-US" altLang="en-US" sz="1800"/>
          </a:p>
          <a:p>
            <a:pPr marL="0" indent="0">
              <a:buNone/>
            </a:pPr>
            <a:r>
              <a:rPr lang="en-US" altLang="en-US" sz="1800"/>
              <a:t>It links to already saved Course.</a:t>
            </a:r>
            <a:endParaRPr lang="en-US" altLang="en-US" sz="1800"/>
          </a:p>
          <a:p>
            <a:pPr marL="0" indent="0">
              <a:buNone/>
            </a:pPr>
            <a:endParaRPr lang="en-US" altLang="en-US" sz="1800"/>
          </a:p>
          <a:p>
            <a:pPr marL="0" indent="0">
              <a:buNone/>
            </a:pPr>
            <a:endParaRPr lang="en-US" altLang="en-US" sz="1800"/>
          </a:p>
        </p:txBody>
      </p:sp>
      <p:graphicFrame>
        <p:nvGraphicFramePr>
          <p:cNvPr id="2" name="Table 1"/>
          <p:cNvGraphicFramePr/>
          <p:nvPr>
            <p:custDataLst>
              <p:tags r:id="rId1"/>
            </p:custDataLst>
          </p:nvPr>
        </p:nvGraphicFramePr>
        <p:xfrm>
          <a:off x="264795" y="4461510"/>
          <a:ext cx="10485120" cy="1849120"/>
        </p:xfrm>
        <a:graphic>
          <a:graphicData uri="http://schemas.openxmlformats.org/drawingml/2006/table">
            <a:tbl>
              <a:tblPr/>
              <a:tblGrid>
                <a:gridCol w="3495040"/>
                <a:gridCol w="3495040"/>
              </a:tblGrid>
              <a:tr h="462280">
                <a:tc>
                  <a:txBody>
                    <a:bodyPr/>
                    <a:p>
                      <a:r>
                        <a:rPr sz="1600"/>
                        <a:t>Entity</a:t>
                      </a:r>
                      <a:endParaRPr sz="1600"/>
                    </a:p>
                  </a:txBody>
                  <a:tcPr marL="0" marR="0" marT="0" marB="0" anchor="ctr" anchorCtr="0">
                    <a:lnL>
                      <a:noFill/>
                    </a:lnL>
                    <a:lnR>
                      <a:noFill/>
                    </a:lnR>
                    <a:lnT>
                      <a:noFill/>
                    </a:lnT>
                    <a:lnB>
                      <a:noFill/>
                    </a:lnB>
                    <a:noFill/>
                  </a:tcPr>
                </a:tc>
                <a:tc>
                  <a:txBody>
                    <a:bodyPr/>
                    <a:p>
                      <a:r>
                        <a:rPr sz="1600"/>
                        <a:t>Why?</a:t>
                      </a:r>
                      <a:endParaRPr sz="1600"/>
                    </a:p>
                  </a:txBody>
                  <a:tcPr marL="0" marR="0" marT="0" marB="0" anchor="ctr" anchorCtr="0">
                    <a:lnL>
                      <a:noFill/>
                    </a:lnL>
                    <a:lnR>
                      <a:noFill/>
                    </a:lnR>
                    <a:lnT>
                      <a:noFill/>
                    </a:lnT>
                    <a:lnB>
                      <a:noFill/>
                    </a:lnB>
                    <a:noFill/>
                  </a:tcPr>
                </a:tc>
              </a:tr>
              <a:tr h="462280">
                <a:tc>
                  <a:txBody>
                    <a:bodyPr/>
                    <a:p>
                      <a:r>
                        <a:rPr sz="1600"/>
                        <a:t>Teacher</a:t>
                      </a:r>
                      <a:endParaRPr sz="1600"/>
                    </a:p>
                  </a:txBody>
                  <a:tcPr marL="0" marR="0" marT="0" marB="0" anchor="ctr" anchorCtr="0">
                    <a:lnL>
                      <a:noFill/>
                    </a:lnL>
                    <a:lnR>
                      <a:noFill/>
                    </a:lnR>
                    <a:lnT>
                      <a:noFill/>
                    </a:lnT>
                    <a:lnB>
                      <a:noFill/>
                    </a:lnB>
                    <a:noFill/>
                  </a:tcPr>
                </a:tc>
                <a:tc>
                  <a:txBody>
                    <a:bodyPr/>
                    <a:p>
                      <a:r>
                        <a:rPr sz="1600"/>
                        <a:t>Needed by Course</a:t>
                      </a:r>
                      <a:endParaRPr sz="1600"/>
                    </a:p>
                  </a:txBody>
                  <a:tcPr marL="0" marR="0" marT="0" marB="0" anchor="ctr" anchorCtr="0">
                    <a:lnL>
                      <a:noFill/>
                    </a:lnL>
                    <a:lnR>
                      <a:noFill/>
                    </a:lnR>
                    <a:lnT>
                      <a:noFill/>
                    </a:lnT>
                    <a:lnB>
                      <a:noFill/>
                    </a:lnB>
                    <a:noFill/>
                  </a:tcPr>
                </a:tc>
              </a:tr>
              <a:tr h="462280">
                <a:tc>
                  <a:txBody>
                    <a:bodyPr/>
                    <a:p>
                      <a:r>
                        <a:rPr sz="1600"/>
                        <a:t>Course</a:t>
                      </a:r>
                      <a:endParaRPr sz="1600"/>
                    </a:p>
                  </a:txBody>
                  <a:tcPr marL="0" marR="0" marT="0" marB="0" anchor="ctr" anchorCtr="0">
                    <a:lnL>
                      <a:noFill/>
                    </a:lnL>
                    <a:lnR>
                      <a:noFill/>
                    </a:lnR>
                    <a:lnT>
                      <a:noFill/>
                    </a:lnT>
                    <a:lnB>
                      <a:noFill/>
                    </a:lnB>
                    <a:noFill/>
                  </a:tcPr>
                </a:tc>
                <a:tc>
                  <a:txBody>
                    <a:bodyPr/>
                    <a:p>
                      <a:r>
                        <a:rPr sz="1600"/>
                        <a:t>Needs Teacher, needed by Student</a:t>
                      </a:r>
                      <a:endParaRPr sz="1600"/>
                    </a:p>
                  </a:txBody>
                  <a:tcPr marL="0" marR="0" marT="0" marB="0" anchor="ctr" anchorCtr="0">
                    <a:lnL>
                      <a:noFill/>
                    </a:lnL>
                    <a:lnR>
                      <a:noFill/>
                    </a:lnR>
                    <a:lnT>
                      <a:noFill/>
                    </a:lnT>
                    <a:lnB>
                      <a:noFill/>
                    </a:lnB>
                    <a:noFill/>
                  </a:tcPr>
                </a:tc>
              </a:tr>
              <a:tr h="462280">
                <a:tc>
                  <a:txBody>
                    <a:bodyPr/>
                    <a:p>
                      <a:r>
                        <a:rPr sz="1600"/>
                        <a:t>Student</a:t>
                      </a:r>
                      <a:endParaRPr sz="1600"/>
                    </a:p>
                  </a:txBody>
                  <a:tcPr marL="0" marR="0" marT="0" marB="0" anchor="ctr" anchorCtr="0">
                    <a:lnL>
                      <a:noFill/>
                    </a:lnL>
                    <a:lnR>
                      <a:noFill/>
                    </a:lnR>
                    <a:lnT>
                      <a:noFill/>
                    </a:lnT>
                    <a:lnB>
                      <a:noFill/>
                    </a:lnB>
                    <a:noFill/>
                  </a:tcPr>
                </a:tc>
                <a:tc>
                  <a:txBody>
                    <a:bodyPr/>
                    <a:p>
                      <a:r>
                        <a:rPr sz="1600"/>
                        <a:t>Needs Course</a:t>
                      </a:r>
                      <a:endParaRPr sz="16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53035" y="264795"/>
            <a:ext cx="11884025" cy="6391275"/>
          </a:xfrm>
        </p:spPr>
        <p:txBody>
          <a:bodyPr>
            <a:normAutofit fontScale="60000"/>
          </a:bodyPr>
          <a:p>
            <a:pPr marL="0" indent="0">
              <a:buNone/>
            </a:pPr>
            <a:r>
              <a:rPr lang="en-US" altLang="en-US"/>
              <a:t>Course Input and Data Insertion</a:t>
            </a:r>
            <a:endParaRPr lang="en-US" altLang="en-US"/>
          </a:p>
          <a:p>
            <a:pPr marL="0" indent="0">
              <a:buNone/>
            </a:pPr>
            <a:r>
              <a:rPr lang="en-US" altLang="en-US"/>
              <a:t>    CourseDaoEntity courseDaoEntity = new CourseDaoEntity(courseName, courseDuration, courseMark, courseFee);</a:t>
            </a:r>
            <a:endParaRPr lang="en-US" altLang="en-US"/>
          </a:p>
          <a:p>
            <a:pPr marL="0" indent="0">
              <a:buNone/>
            </a:pPr>
            <a:r>
              <a:rPr lang="en-US" altLang="en-US"/>
              <a:t>courseDaoEntity.getTeacherDaoEntities().add(teacherDaoEntity);</a:t>
            </a:r>
            <a:endParaRPr lang="en-US" altLang="en-US"/>
          </a:p>
          <a:p>
            <a:pPr marL="0" indent="0">
              <a:buNone/>
            </a:pPr>
            <a:r>
              <a:rPr lang="en-US" altLang="en-US"/>
              <a:t>  </a:t>
            </a:r>
            <a:endParaRPr lang="en-US" altLang="en-US"/>
          </a:p>
          <a:p>
            <a:pPr marL="0" indent="0">
              <a:buNone/>
            </a:pPr>
            <a:r>
              <a:rPr lang="en-US" altLang="en-US"/>
              <a:t>Student Input and Data Insertion</a:t>
            </a:r>
            <a:endParaRPr lang="en-US" altLang="en-US"/>
          </a:p>
          <a:p>
            <a:pPr marL="0" indent="0">
              <a:buNone/>
            </a:pPr>
            <a:r>
              <a:rPr lang="en-US" altLang="en-US"/>
              <a:t>    StudentDaoEntity studentDaoEntity = new StudentDaoEntity(studentName, studentAge, studentPhone);</a:t>
            </a:r>
            <a:endParaRPr lang="en-US" altLang="en-US"/>
          </a:p>
          <a:p>
            <a:pPr marL="0" indent="0">
              <a:buNone/>
            </a:pPr>
            <a:endParaRPr lang="en-US" altLang="en-US"/>
          </a:p>
          <a:p>
            <a:pPr marL="0" indent="0">
              <a:buNone/>
            </a:pPr>
            <a:r>
              <a:rPr lang="en-US" altLang="en-US"/>
              <a:t>    studentDaoEntity.getCourseDaoEntities().add(courseDaoEntity);</a:t>
            </a:r>
            <a:endParaRPr lang="en-US" altLang="en-US"/>
          </a:p>
          <a:p>
            <a:pPr marL="0" indent="0">
              <a:buNone/>
            </a:pPr>
            <a:r>
              <a:rPr lang="en-US" altLang="en-US"/>
              <a:t>    teacherDaoEntity.getStudentDaoEntities().add(studentDaoEntity);</a:t>
            </a:r>
            <a:endParaRPr lang="en-US" altLang="en-US"/>
          </a:p>
          <a:p>
            <a:pPr marL="0" indent="0">
              <a:buNone/>
            </a:pPr>
            <a:r>
              <a:rPr lang="en-US" altLang="en-US"/>
              <a:t>    </a:t>
            </a:r>
            <a:endParaRPr lang="en-US" altLang="en-US"/>
          </a:p>
          <a:p>
            <a:pPr marL="0" indent="0">
              <a:buNone/>
            </a:pPr>
            <a:r>
              <a:rPr lang="en-US" altLang="en-US"/>
              <a:t>    session.save(teacherDaoEntity);</a:t>
            </a:r>
            <a:endParaRPr lang="en-US" altLang="en-US"/>
          </a:p>
          <a:p>
            <a:pPr marL="0" indent="0">
              <a:buNone/>
            </a:pPr>
            <a:r>
              <a:rPr lang="en-US" altLang="en-US"/>
              <a:t>    session.save(courseDaoEntity); </a:t>
            </a:r>
            <a:endParaRPr lang="en-US" altLang="en-US"/>
          </a:p>
          <a:p>
            <a:pPr marL="0" indent="0">
              <a:buNone/>
            </a:pPr>
            <a:r>
              <a:rPr lang="en-US" altLang="en-US"/>
              <a:t>    session.save(studentDaoEntity);</a:t>
            </a:r>
            <a:endParaRPr lang="en-US" altLang="en-US"/>
          </a:p>
          <a:p>
            <a:pPr marL="0" indent="0">
              <a:buNone/>
            </a:pPr>
            <a:r>
              <a:rPr lang="en-US" altLang="en-US"/>
              <a:t>    session.getTransaction().commit();</a:t>
            </a:r>
            <a:endParaRPr lang="en-US" altLang="en-US"/>
          </a:p>
          <a:p>
            <a:pPr marL="0" indent="0">
              <a:buNone/>
            </a:pPr>
            <a:r>
              <a:rPr lang="en-US" altLang="en-US"/>
              <a:t>    System.out.println("\n All Records Saved Successfully!");    </a:t>
            </a:r>
            <a:endParaRPr lang="en-US" altLang="en-US"/>
          </a:p>
          <a:p>
            <a:pPr marL="0" indent="0">
              <a:buNone/>
            </a:pPr>
            <a:r>
              <a:rPr lang="en-US" altLang="en-US"/>
              <a:t>    sa.close();</a:t>
            </a:r>
            <a:endParaRPr lang="en-US" altLang="en-US"/>
          </a:p>
          <a:p>
            <a:pPr marL="0" indent="0">
              <a:buNone/>
            </a:pPr>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21285"/>
            <a:ext cx="10515600" cy="391160"/>
          </a:xfrm>
        </p:spPr>
        <p:txBody>
          <a:bodyPr>
            <a:normAutofit fontScale="90000"/>
          </a:bodyPr>
          <a:p>
            <a:pPr algn="ctr"/>
            <a:r>
              <a:rPr lang="en-US" sz="2000" b="1">
                <a:solidFill>
                  <a:srgbClr val="FF0000"/>
                </a:solidFill>
              </a:rPr>
              <a:t>hibernate transient and embeed and lob Annotations</a:t>
            </a:r>
            <a:endParaRPr lang="en-US" sz="2000" b="1">
              <a:solidFill>
                <a:srgbClr val="FF0000"/>
              </a:solidFill>
            </a:endParaRPr>
          </a:p>
        </p:txBody>
      </p:sp>
      <p:sp>
        <p:nvSpPr>
          <p:cNvPr id="3" name="Content Placeholder 2"/>
          <p:cNvSpPr>
            <a:spLocks noGrp="1"/>
          </p:cNvSpPr>
          <p:nvPr>
            <p:ph idx="1"/>
          </p:nvPr>
        </p:nvSpPr>
        <p:spPr/>
        <p:txBody>
          <a:bodyPr/>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518795"/>
          </a:xfrm>
        </p:spPr>
        <p:txBody>
          <a:bodyPr>
            <a:normAutofit fontScale="90000"/>
          </a:bodyPr>
          <a:p>
            <a:r>
              <a:rPr lang="en-US" sz="3600"/>
              <a:t>BI Directional</a:t>
            </a:r>
            <a:endParaRPr lang="en-US" sz="3600"/>
          </a:p>
        </p:txBody>
      </p:sp>
      <p:sp>
        <p:nvSpPr>
          <p:cNvPr id="3" name="Content Placeholder 2"/>
          <p:cNvSpPr>
            <a:spLocks noGrp="1"/>
          </p:cNvSpPr>
          <p:nvPr>
            <p:ph idx="1"/>
          </p:nvPr>
        </p:nvSpPr>
        <p:spPr>
          <a:xfrm>
            <a:off x="318135" y="883920"/>
            <a:ext cx="10515600" cy="5974080"/>
          </a:xfrm>
        </p:spPr>
        <p:txBody>
          <a:bodyPr>
            <a:noAutofit/>
          </a:bodyPr>
          <a:p>
            <a:r>
              <a:rPr lang="en-US" altLang="en-US" sz="1800"/>
              <a:t>	    @OneToOne</a:t>
            </a:r>
            <a:endParaRPr lang="en-US" altLang="en-US" sz="1800"/>
          </a:p>
          <a:p>
            <a:r>
              <a:rPr lang="en-US" altLang="en-US" sz="1800"/>
              <a:t>	    @JoinColumn(name = "department_id", unique = true)</a:t>
            </a:r>
            <a:endParaRPr lang="en-US" altLang="en-US" sz="1800"/>
          </a:p>
          <a:p>
            <a:r>
              <a:rPr lang="en-US" altLang="en-US" sz="1800"/>
              <a:t>	    private DepartmentEntity department;</a:t>
            </a:r>
            <a:endParaRPr lang="en-US" altLang="en-US" sz="1800"/>
          </a:p>
          <a:p>
            <a:endParaRPr lang="en-US" altLang="en-US" sz="1800"/>
          </a:p>
          <a:p>
            <a:r>
              <a:rPr lang="en-US" altLang="en-US" sz="1800"/>
              <a:t>	    @OneToOne</a:t>
            </a:r>
            <a:endParaRPr lang="en-US" altLang="en-US" sz="1800"/>
          </a:p>
          <a:p>
            <a:r>
              <a:rPr lang="en-US" altLang="en-US" sz="1800"/>
              <a:t>	    @JoinColumn(name = "employee_id", unique = true)</a:t>
            </a:r>
            <a:endParaRPr lang="en-US" altLang="en-US" sz="1800"/>
          </a:p>
          <a:p>
            <a:r>
              <a:rPr lang="en-US" altLang="en-US" sz="1800"/>
              <a:t>	    private EmployeeEntity employee;</a:t>
            </a:r>
            <a:endParaRPr lang="en-US" altLang="en-US" sz="1800"/>
          </a:p>
          <a:p>
            <a:endParaRPr lang="en-US" altLang="en-US" sz="1800"/>
          </a:p>
          <a:p>
            <a:endParaRPr lang="en-US" altLang="en-US" sz="1800"/>
          </a:p>
        </p:txBody>
      </p:sp>
      <p:sp>
        <p:nvSpPr>
          <p:cNvPr id="4" name="Text Box 3"/>
          <p:cNvSpPr txBox="1"/>
          <p:nvPr/>
        </p:nvSpPr>
        <p:spPr>
          <a:xfrm>
            <a:off x="1767840" y="3510915"/>
            <a:ext cx="9339580" cy="3347085"/>
          </a:xfrm>
          <a:prstGeom prst="rect">
            <a:avLst/>
          </a:prstGeom>
          <a:noFill/>
        </p:spPr>
        <p:txBody>
          <a:bodyPr wrap="square" rtlCol="0" anchor="t">
            <a:noAutofit/>
          </a:bodyPr>
          <a:p>
            <a:r>
              <a:rPr lang="en-US" altLang="en-US" sz="2000">
                <a:sym typeface="+mn-ea"/>
              </a:rPr>
              <a:t> 	</a:t>
            </a:r>
            <a:endParaRPr lang="en-US" altLang="en-US" sz="2000">
              <a:sym typeface="+mn-ea"/>
            </a:endParaRPr>
          </a:p>
          <a:p>
            <a:r>
              <a:rPr lang="en-US" altLang="en-US" sz="2000">
                <a:sym typeface="+mn-ea"/>
              </a:rPr>
              <a:t>EmployeeEntity emp = new EmployeeEntity();</a:t>
            </a:r>
            <a:endParaRPr lang="en-US" altLang="en-US" sz="2000"/>
          </a:p>
          <a:p>
            <a:r>
              <a:rPr lang="en-US" altLang="en-US" sz="2000">
                <a:sym typeface="+mn-ea"/>
              </a:rPr>
              <a:t>    	emp.setEmployeeId(1002);</a:t>
            </a:r>
            <a:endParaRPr lang="en-US" altLang="en-US" sz="2000"/>
          </a:p>
          <a:p>
            <a:r>
              <a:rPr lang="en-US" altLang="en-US" sz="2000">
                <a:sym typeface="+mn-ea"/>
              </a:rPr>
              <a:t>    	emp.setEmployeeName("Viren ");</a:t>
            </a:r>
            <a:endParaRPr lang="en-US" altLang="en-US" sz="2000"/>
          </a:p>
          <a:p>
            <a:r>
              <a:rPr lang="en-US" altLang="en-US" sz="2000">
                <a:sym typeface="+mn-ea"/>
              </a:rPr>
              <a:t>    	DepartmentEntity dept = new DepartmentEntity();</a:t>
            </a:r>
            <a:endParaRPr lang="en-US" altLang="en-US" sz="2000"/>
          </a:p>
          <a:p>
            <a:r>
              <a:rPr lang="en-US" altLang="en-US" sz="2000">
                <a:sym typeface="+mn-ea"/>
              </a:rPr>
              <a:t>    	dept.setDepartmentId(11);</a:t>
            </a:r>
            <a:endParaRPr lang="en-US" altLang="en-US" sz="2000"/>
          </a:p>
          <a:p>
            <a:r>
              <a:rPr lang="en-US" altLang="en-US" sz="2000">
                <a:sym typeface="+mn-ea"/>
              </a:rPr>
              <a:t>    	dept.setDepartmentName("Development");</a:t>
            </a:r>
            <a:endParaRPr lang="en-US" altLang="en-US" sz="2000"/>
          </a:p>
          <a:p>
            <a:r>
              <a:rPr lang="en-US" altLang="en-US" sz="2000">
                <a:sym typeface="+mn-ea"/>
              </a:rPr>
              <a:t>    	session.persist(emp);</a:t>
            </a:r>
            <a:endParaRPr lang="en-US" altLang="en-US" sz="2000"/>
          </a:p>
          <a:p>
            <a:r>
              <a:rPr lang="en-US" altLang="en-US" sz="2000">
                <a:sym typeface="+mn-ea"/>
              </a:rPr>
              <a:t>    	session.persist(dept);</a:t>
            </a:r>
            <a:endParaRPr lang="en-US" altLang="en-US" sz="2000"/>
          </a:p>
          <a:p>
            <a:r>
              <a:rPr lang="en-US" altLang="en-US" sz="2000">
                <a:sym typeface="+mn-ea"/>
              </a:rPr>
              <a:t>    	emp.setDepartment(dept);</a:t>
            </a:r>
            <a:endParaRPr lang="en-US" altLang="en-US" sz="2000"/>
          </a:p>
          <a:p>
            <a:r>
              <a:rPr lang="en-US" altLang="en-US" sz="2000">
                <a:sym typeface="+mn-ea"/>
              </a:rPr>
              <a:t>    	dept.setEmployee(emp);</a:t>
            </a:r>
            <a:endParaRPr lang="en-US" altLang="en-US" sz="2000"/>
          </a:p>
          <a:p>
            <a:r>
              <a:rPr lang="en-US" altLang="en-US" sz="2000">
                <a:sym typeface="+mn-ea"/>
              </a:rPr>
              <a:t>    	session.merge(emp);</a:t>
            </a:r>
            <a:endParaRPr lang="en-US" altLang="en-US" sz="2000"/>
          </a:p>
          <a:p>
            <a:r>
              <a:rPr lang="en-US" altLang="en-US" sz="2000">
                <a:sym typeface="+mn-ea"/>
              </a:rPr>
              <a:t>    	session.merge(dept);</a:t>
            </a:r>
            <a:endParaRPr lang="en-US" altLang="en-US" sz="2000">
              <a:sym typeface="+mn-ea"/>
            </a:endParaRPr>
          </a:p>
        </p:txBody>
      </p:sp>
    </p:spTree>
  </p:cSld>
  <p:clrMapOvr>
    <a:masterClrMapping/>
  </p:clrMapOvr>
</p:sld>
</file>

<file path=ppt/tags/tag1.xml><?xml version="1.0" encoding="utf-8"?>
<p:tagLst xmlns:p="http://schemas.openxmlformats.org/presentationml/2006/main">
  <p:tag name="TABLE_ENDDRAG_ORIGIN_RECT" val="522*141"/>
  <p:tag name="TABLE_ENDDRAG_RECT" val="437*294*522*141"/>
</p:tagLst>
</file>

<file path=ppt/tags/tag2.xml><?xml version="1.0" encoding="utf-8"?>
<p:tagLst xmlns:p="http://schemas.openxmlformats.org/presentationml/2006/main">
  <p:tag name="TABLE_ENDDRAG_ORIGIN_RECT" val="825*183"/>
  <p:tag name="TABLE_ENDDRAG_RECT" val="15*343*825*183"/>
</p:tagLst>
</file>

<file path=ppt/tags/tag3.xml><?xml version="1.0" encoding="utf-8"?>
<p:tagLst xmlns:p="http://schemas.openxmlformats.org/presentationml/2006/main">
  <p:tag name="TABLE_ENDDRAG_ORIGIN_RECT" val="925*146"/>
  <p:tag name="TABLE_ENDDRAG_RECT" val="8*23*925*146"/>
</p:tagLst>
</file>

<file path=ppt/tags/tag4.xml><?xml version="1.0" encoding="utf-8"?>
<p:tagLst xmlns:p="http://schemas.openxmlformats.org/presentationml/2006/main">
  <p:tag name="TABLE_ENDDRAG_ORIGIN_RECT" val="835*123"/>
  <p:tag name="TABLE_ENDDRAG_RECT" val="4*243*835*123"/>
</p:tagLst>
</file>

<file path=ppt/tags/tag5.xml><?xml version="1.0" encoding="utf-8"?>
<p:tagLst xmlns:p="http://schemas.openxmlformats.org/presentationml/2006/main">
  <p:tag name="TABLE_ENDDRAG_ORIGIN_RECT" val="946*135"/>
  <p:tag name="TABLE_ENDDRAG_RECT" val="13*404*946*135"/>
</p:tagLst>
</file>

<file path=ppt/tags/tag6.xml><?xml version="1.0" encoding="utf-8"?>
<p:tagLst xmlns:p="http://schemas.openxmlformats.org/presentationml/2006/main">
  <p:tag name="TABLE_ENDDRAG_ORIGIN_RECT" val="916*76"/>
  <p:tag name="TABLE_ENDDRAG_RECT" val="13*310*916*76"/>
</p:tagLst>
</file>

<file path=ppt/tags/tag7.xml><?xml version="1.0" encoding="utf-8"?>
<p:tagLst xmlns:p="http://schemas.openxmlformats.org/presentationml/2006/main">
  <p:tag name="TABLE_ENDDRAG_ORIGIN_RECT" val="941*164"/>
  <p:tag name="TABLE_ENDDRAG_RECT" val="8*118*941*164"/>
</p:tagLst>
</file>

<file path=ppt/tags/tag8.xml><?xml version="1.0" encoding="utf-8"?>
<p:tagLst xmlns:p="http://schemas.openxmlformats.org/presentationml/2006/main">
  <p:tag name="TABLE_ENDDRAG_ORIGIN_RECT" val="931*218"/>
  <p:tag name="TABLE_ENDDRAG_RECT" val="8*304*931*218"/>
</p:tagLst>
</file>

<file path=ppt/tags/tag9.xml><?xml version="1.0" encoding="utf-8"?>
<p:tagLst xmlns:p="http://schemas.openxmlformats.org/presentationml/2006/main">
  <p:tag name="TABLE_ENDDRAG_ORIGIN_RECT" val="920*100"/>
  <p:tag name="TABLE_ENDDRAG_RECT" val="15*309*920*100"/>
</p:tagLst>
</file>

<file path=ppt/tags/tag10.xml><?xml version="1.0" encoding="utf-8"?>
<p:tagLst xmlns:p="http://schemas.openxmlformats.org/presentationml/2006/main">
  <p:tag name="TABLE_ENDDRAG_ORIGIN_RECT" val="939*69"/>
  <p:tag name="TABLE_ENDDRAG_RECT" val="11*190*939*69"/>
</p:tagLst>
</file>

<file path=ppt/tags/tag11.xml><?xml version="1.0" encoding="utf-8"?>
<p:tagLst xmlns:p="http://schemas.openxmlformats.org/presentationml/2006/main">
  <p:tag name="TABLE_ENDDRAG_ORIGIN_RECT" val="825*145"/>
  <p:tag name="TABLE_ENDDRAG_RECT" val="20*330*825*14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34745</Words>
  <Application>WPS Presentation</Application>
  <PresentationFormat>Widescreen</PresentationFormat>
  <Paragraphs>1110</Paragraphs>
  <Slides>46</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46</vt:i4>
      </vt:variant>
    </vt:vector>
  </HeadingPairs>
  <TitlesOfParts>
    <vt:vector size="61" baseType="lpstr">
      <vt:lpstr>Arial</vt:lpstr>
      <vt:lpstr>SimSun</vt:lpstr>
      <vt:lpstr>Wingdings</vt:lpstr>
      <vt:lpstr>Gadugi</vt:lpstr>
      <vt:lpstr>Calibri</vt:lpstr>
      <vt:lpstr>Times New Roman</vt:lpstr>
      <vt:lpstr>Tahoma</vt:lpstr>
      <vt:lpstr>Cambria</vt:lpstr>
      <vt:lpstr>Calibri Light</vt:lpstr>
      <vt:lpstr>Microsoft YaHei</vt:lpstr>
      <vt:lpstr>Arial Unicode MS</vt:lpstr>
      <vt:lpstr>Arial</vt:lpstr>
      <vt:lpstr>Consolas</vt:lpstr>
      <vt:lpstr>Calibri</vt:lpstr>
      <vt:lpstr>Office Theme</vt:lpstr>
      <vt:lpstr>Syllabus   Of Hibernate</vt:lpstr>
      <vt:lpstr>PowerPoint 演示文稿</vt:lpstr>
      <vt:lpstr>PowerPoint 演示文稿</vt:lpstr>
      <vt:lpstr>Hibernate Framework</vt:lpstr>
      <vt:lpstr>Hibernate Application</vt:lpstr>
      <vt:lpstr>Maven Project</vt:lpstr>
      <vt:lpstr>PowerPoint 演示文稿</vt:lpstr>
      <vt:lpstr>hibernate Architecture</vt:lpstr>
      <vt:lpstr>PowerPoint 演示文稿</vt:lpstr>
      <vt:lpstr> What is pom.xml?</vt:lpstr>
      <vt:lpstr>what is Dependency/liabrary</vt:lpstr>
      <vt:lpstr>Imp Project Dependencies</vt:lpstr>
      <vt:lpstr>PowerPoint 演示文稿</vt:lpstr>
      <vt:lpstr>Imp Annotations for hibernate Entity Class</vt:lpstr>
      <vt:lpstr>PowerPoint 演示文稿</vt:lpstr>
      <vt:lpstr>hibernate Configuration File</vt:lpstr>
      <vt:lpstr>Hibernate Configuration File</vt:lpstr>
      <vt:lpstr>PowerPoint 演示文稿</vt:lpstr>
      <vt:lpstr>xml</vt:lpstr>
      <vt:lpstr>PowerPoint 演示文稿</vt:lpstr>
      <vt:lpstr>PowerPoint 演示文稿</vt:lpstr>
      <vt:lpstr>2. What is Session in Hibernate?</vt:lpstr>
      <vt:lpstr>buildSessionFactory()</vt:lpstr>
      <vt:lpstr>PowerPoint 演示文稿</vt:lpstr>
      <vt:lpstr>About Display</vt:lpstr>
      <vt:lpstr>PowerPoint 演示文稿</vt:lpstr>
      <vt:lpstr>PowerPoint 演示文稿</vt:lpstr>
      <vt:lpstr>PowerPoint 演示文稿</vt:lpstr>
      <vt:lpstr>OneToMany &amp; ManyToOne Mapping</vt:lpstr>
      <vt:lpstr>ManyToManyMapping</vt:lpstr>
      <vt:lpstr>Unidirectional And Bidirectional Mapping</vt:lpstr>
      <vt:lpstr>hibernate one To One Relation</vt:lpstr>
      <vt:lpstr>Image And Date Storing In Hibernate Entity</vt:lpstr>
      <vt:lpstr>Hibernate Embeddable</vt:lpstr>
      <vt:lpstr>Image Date And Image Storing</vt:lpstr>
      <vt:lpstr>PowerPoint 演示文稿</vt:lpstr>
      <vt:lpstr>PowerPoint 演示文稿</vt:lpstr>
      <vt:lpstr>hibernate one To Many Annotation</vt:lpstr>
      <vt:lpstr>hibernate Many To one Annotation</vt:lpstr>
      <vt:lpstr>PowerPoint 演示文稿</vt:lpstr>
      <vt:lpstr>PowerPoint 演示文稿</vt:lpstr>
      <vt:lpstr>hibernate Many To Many Annotation</vt:lpstr>
      <vt:lpstr>PowerPoint 演示文稿</vt:lpstr>
      <vt:lpstr>PowerPoint 演示文稿</vt:lpstr>
      <vt:lpstr>hibernate transient and embeed and lob Annotations</vt:lpstr>
      <vt:lpstr>BI Directional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Maven Project</dc:title>
  <dc:creator/>
  <cp:lastModifiedBy>Nishank Amte</cp:lastModifiedBy>
  <cp:revision>310</cp:revision>
  <dcterms:created xsi:type="dcterms:W3CDTF">2025-07-19T06:01:00Z</dcterms:created>
  <dcterms:modified xsi:type="dcterms:W3CDTF">2026-01-13T10:59:39Z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4A5335ED44AE4EE09E2E8E1969F02D7E_11</vt:lpwstr>
  </property>
  <property fmtid="{D5CDD505-2E9C-101B-9397-08002B2CF9AE}" pid="3" name="KSOProductBuildVer">
    <vt:lpwstr>1033-12.2.0.23196</vt:lpwstr>
  </property>
</Properties>
</file>