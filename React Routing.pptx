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5" r:id="rId8"/>
    <p:sldId id="261" r:id="rId9"/>
    <p:sldId id="266" r:id="rId10"/>
    <p:sldId id="267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410210"/>
          </a:xfrm>
        </p:spPr>
        <p:txBody>
          <a:bodyPr>
            <a:normAutofit fontScale="90000"/>
          </a:bodyPr>
          <a:p>
            <a:r>
              <a:rPr lang="en-US" sz="2800" b="1">
                <a:solidFill>
                  <a:srgbClr val="FF0000"/>
                </a:solidFill>
              </a:rPr>
              <a:t>React Routing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20" y="291465"/>
            <a:ext cx="11795125" cy="6475095"/>
          </a:xfrm>
        </p:spPr>
        <p:txBody>
          <a:bodyPr>
            <a:noAutofit/>
          </a:bodyPr>
          <a:p>
            <a:pPr algn="l"/>
            <a:r>
              <a:rPr lang="en-US" altLang="en-US" sz="1800" b="1">
                <a:latin typeface="Cambria" panose="02040503050406030204" charset="0"/>
                <a:cs typeface="Cambria" panose="02040503050406030204" charset="0"/>
              </a:rPr>
              <a:t> What is Routing in React?</a:t>
            </a:r>
            <a:endParaRPr lang="en-US" altLang="en-US" sz="1800" b="1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Routing in React is the process of navigating between different components or pages in a Single Page Application (SPA) without reloading the entire page.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React doesn't handle routing by default — we typically use a third-party library like React Router.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 b="1">
                <a:latin typeface="Cambria" panose="02040503050406030204" charset="0"/>
                <a:cs typeface="Cambria" panose="02040503050406030204" charset="0"/>
              </a:rPr>
              <a:t> Why Do We Need Routing?</a:t>
            </a:r>
            <a:endParaRPr lang="en-US" altLang="en-US" sz="1800" b="1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To create multi-page experiences (like Home, About, Contact)    To navigate using URLs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To support deep linking and browser navigation (back/forward buttons)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How Many Ways Can We Do Routing in React?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✅ 1. React Router DOM (Most Popular)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The official routing library for React.   Allows dynamic routing based on components and paths.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✅ 2. Manual Routing (Not recommended)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You can manually track the window.location and load components.  Not scalable, lacks features like route params, history, etc.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✅ 3. Using next/router (Next.js)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If you're using Next.js, routing is file-based. React Router DOM – Core Components &amp; Concepts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zh-CN" altLang="en-US" sz="1800">
                <a:latin typeface="Cambria" panose="02040503050406030204" charset="0"/>
                <a:cs typeface="Cambria" panose="02040503050406030204" charset="0"/>
              </a:rPr>
              <a:t>📦</a:t>
            </a: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Installation: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npm install react-router-dom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50" y="0"/>
            <a:ext cx="11042650" cy="315595"/>
          </a:xfrm>
        </p:spPr>
        <p:txBody>
          <a:bodyPr>
            <a:noAutofit/>
          </a:bodyPr>
          <a:p>
            <a:pPr algn="ctr"/>
            <a:r>
              <a:rPr lang="en-US" sz="2800" b="1">
                <a:solidFill>
                  <a:srgbClr val="FF0000"/>
                </a:solidFill>
              </a:rPr>
              <a:t>React </a:t>
            </a:r>
            <a:r>
              <a:rPr lang="en-US" sz="2400" b="1">
                <a:solidFill>
                  <a:srgbClr val="FF0000"/>
                </a:solidFill>
              </a:rPr>
              <a:t>Routing</a:t>
            </a:r>
            <a:endParaRPr lang="en-US" sz="28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20650" y="315595"/>
          <a:ext cx="11730990" cy="1979295"/>
        </p:xfrm>
        <a:graphic>
          <a:graphicData uri="http://schemas.openxmlformats.org/drawingml/2006/table">
            <a:tbl>
              <a:tblPr/>
              <a:tblGrid>
                <a:gridCol w="4927600"/>
                <a:gridCol w="6803390"/>
              </a:tblGrid>
              <a:tr h="309245">
                <a:tc>
                  <a:txBody>
                    <a:bodyPr/>
                    <a:p>
                      <a:pPr algn="ctr"/>
                      <a:r>
                        <a:rPr sz="2000" b="1">
                          <a:latin typeface="Cambria" panose="02040503050406030204" charset="0"/>
                          <a:cs typeface="Cambria" panose="02040503050406030204" charset="0"/>
                        </a:rPr>
                        <a:t>Component</a:t>
                      </a:r>
                      <a:endParaRPr sz="20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latin typeface="Cambria" panose="02040503050406030204" charset="0"/>
                          <a:cs typeface="Cambria" panose="02040503050406030204" charset="0"/>
                        </a:rPr>
                        <a:t>Purpose</a:t>
                      </a:r>
                      <a:endParaRPr sz="20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813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&lt;BrowserRouter&gt;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Wraps your entire app to enable routing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8765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&lt;Routes&gt;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Container for all &lt;Route&gt;s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813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&lt;Route&gt;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Defines a path and its associated component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813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&lt;Link&gt; / &lt;NavLink&gt;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Used to navigate between routes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8765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&lt;Outlet&gt;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Used for nested routing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813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&lt;Navigate&gt;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Programmatically redirect to another route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20650" y="2409825"/>
            <a:ext cx="11730355" cy="4448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600"/>
              <a:t>import { BrowserRouter, Routes, Route, Link } from "react-router-dom";</a:t>
            </a:r>
            <a:endParaRPr lang="en-US" altLang="en-US" sz="1600"/>
          </a:p>
          <a:p>
            <a:r>
              <a:rPr lang="en-US" altLang="en-US" sz="1600"/>
              <a:t>function App() {</a:t>
            </a:r>
            <a:endParaRPr lang="en-US" altLang="en-US" sz="1600"/>
          </a:p>
          <a:p>
            <a:r>
              <a:rPr lang="en-US" altLang="en-US" sz="1600"/>
              <a:t>  return (</a:t>
            </a:r>
            <a:endParaRPr lang="en-US" altLang="en-US" sz="1600"/>
          </a:p>
          <a:p>
            <a:r>
              <a:rPr lang="en-US" altLang="en-US" sz="1600"/>
              <a:t>    &lt;BrowserRouter&gt;</a:t>
            </a:r>
            <a:endParaRPr lang="en-US" altLang="en-US" sz="1600"/>
          </a:p>
          <a:p>
            <a:r>
              <a:rPr lang="en-US" altLang="en-US" sz="1600"/>
              <a:t>      &lt;nav&gt;</a:t>
            </a:r>
            <a:endParaRPr lang="en-US" altLang="en-US" sz="1600"/>
          </a:p>
          <a:p>
            <a:r>
              <a:rPr lang="en-US" altLang="en-US" sz="1600"/>
              <a:t>        &lt;Link to="/"&gt;Home&lt;/Link&gt; | &lt;Link to="/about"&gt;About&lt;/Link&gt;</a:t>
            </a:r>
            <a:endParaRPr lang="en-US" altLang="en-US" sz="1600"/>
          </a:p>
          <a:p>
            <a:r>
              <a:rPr lang="en-US" altLang="en-US" sz="1600"/>
              <a:t>      &lt;/nav&gt;</a:t>
            </a:r>
            <a:endParaRPr lang="en-US" altLang="en-US" sz="1600"/>
          </a:p>
          <a:p>
            <a:r>
              <a:rPr lang="en-US" altLang="en-US" sz="1600"/>
              <a:t>      &lt;Routes&gt;</a:t>
            </a:r>
            <a:endParaRPr lang="en-US" altLang="en-US" sz="1600"/>
          </a:p>
          <a:p>
            <a:r>
              <a:rPr lang="en-US" altLang="en-US" sz="1600"/>
              <a:t>        &lt;Route path="/" element={&lt;Home /&gt;} /&gt;      &lt;Route path="/about" element={&lt;About /&gt;} /&gt;</a:t>
            </a:r>
            <a:endParaRPr lang="en-US" altLang="en-US" sz="1600"/>
          </a:p>
          <a:p>
            <a:r>
              <a:rPr lang="en-US" altLang="en-US" sz="1600"/>
              <a:t>      &lt;/Routes&gt;</a:t>
            </a:r>
            <a:endParaRPr lang="en-US" altLang="en-US" sz="1600"/>
          </a:p>
          <a:p>
            <a:r>
              <a:rPr lang="en-US" altLang="en-US" sz="1600"/>
              <a:t>    &lt;/BrowserRouter&gt;</a:t>
            </a:r>
            <a:endParaRPr lang="en-US" altLang="en-US" sz="1600"/>
          </a:p>
          <a:p>
            <a:r>
              <a:rPr lang="en-US" altLang="en-US" sz="1600"/>
              <a:t>  );    }</a:t>
            </a:r>
            <a:endParaRPr lang="en-US" altLang="en-US" sz="1600"/>
          </a:p>
          <a:p>
            <a:r>
              <a:rPr lang="en-US" altLang="en-US" sz="1600"/>
              <a:t>function Home() {</a:t>
            </a:r>
            <a:endParaRPr lang="en-US" altLang="en-US" sz="1600"/>
          </a:p>
          <a:p>
            <a:r>
              <a:rPr lang="en-US" altLang="en-US" sz="1600"/>
              <a:t>  return &lt;h2&gt;Home Page&lt;/h2&gt;;</a:t>
            </a:r>
            <a:endParaRPr lang="en-US" altLang="en-US" sz="1600"/>
          </a:p>
          <a:p>
            <a:r>
              <a:rPr lang="en-US" altLang="en-US" sz="1600"/>
              <a:t>}</a:t>
            </a:r>
            <a:endParaRPr lang="en-US" altLang="en-US" sz="1600"/>
          </a:p>
          <a:p>
            <a:r>
              <a:rPr lang="en-US" altLang="en-US" sz="1600"/>
              <a:t>function About() {</a:t>
            </a:r>
            <a:endParaRPr lang="en-US" altLang="en-US" sz="1600"/>
          </a:p>
          <a:p>
            <a:r>
              <a:rPr lang="en-US" altLang="en-US" sz="1600"/>
              <a:t>  return &lt;h2&gt;About Page&lt;/h2&gt;;</a:t>
            </a:r>
            <a:endParaRPr lang="en-US" altLang="en-US" sz="1600"/>
          </a:p>
          <a:p>
            <a:r>
              <a:rPr lang="en-US" altLang="en-US" sz="1600"/>
              <a:t>}</a:t>
            </a:r>
            <a:endParaRPr lang="en-US" altLang="en-US" sz="1600"/>
          </a:p>
          <a:p>
            <a:endParaRPr lang="en-US" alt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" y="0"/>
            <a:ext cx="10515600" cy="447040"/>
          </a:xfrm>
        </p:spPr>
        <p:txBody>
          <a:bodyPr>
            <a:noAutofit/>
          </a:bodyPr>
          <a:p>
            <a:r>
              <a:rPr lang="en-US" sz="2000" b="1">
                <a:solidFill>
                  <a:srgbClr val="FF0000"/>
                </a:solidFill>
              </a:rPr>
              <a:t>Key Hook Of React For Routing</a:t>
            </a:r>
            <a:endParaRPr lang="en-US" sz="20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63830" y="447040"/>
          <a:ext cx="11775440" cy="2707005"/>
        </p:xfrm>
        <a:graphic>
          <a:graphicData uri="http://schemas.openxmlformats.org/drawingml/2006/table">
            <a:tbl>
              <a:tblPr/>
              <a:tblGrid>
                <a:gridCol w="5887720"/>
                <a:gridCol w="5887720"/>
              </a:tblGrid>
              <a:tr h="386715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Hook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6715">
                <a:tc>
                  <a:txBody>
                    <a:bodyPr/>
                    <a:p>
                      <a:pPr algn="l"/>
                      <a:r>
                        <a:rPr sz="1800" b="0"/>
                        <a:t>useNavigate()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 b="0"/>
                        <a:t>Navigate programmatically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6715">
                <a:tc>
                  <a:txBody>
                    <a:bodyPr/>
                    <a:p>
                      <a:pPr algn="l"/>
                      <a:r>
                        <a:rPr sz="1800" b="0"/>
                        <a:t>useLocation()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 b="0"/>
                        <a:t>Get current URL/location info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6715">
                <a:tc>
                  <a:txBody>
                    <a:bodyPr/>
                    <a:p>
                      <a:pPr algn="l"/>
                      <a:r>
                        <a:rPr sz="1800" b="0"/>
                        <a:t>useParams()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 b="0"/>
                        <a:t>Get dynamic route parameters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6715">
                <a:tc>
                  <a:txBody>
                    <a:bodyPr/>
                    <a:p>
                      <a:pPr algn="l"/>
                      <a:r>
                        <a:rPr sz="1800" b="0"/>
                        <a:t>useRoutes()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 b="0"/>
                        <a:t>Define routes using config object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6715">
                <a:tc>
                  <a:txBody>
                    <a:bodyPr/>
                    <a:p>
                      <a:pPr algn="l"/>
                      <a:r>
                        <a:rPr sz="1800" b="0"/>
                        <a:t>useMatch()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 b="0"/>
                        <a:t>Match a route pattern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6715">
                <a:tc>
                  <a:txBody>
                    <a:bodyPr/>
                    <a:p>
                      <a:pPr algn="l"/>
                      <a:r>
                        <a:rPr sz="1800" b="0"/>
                        <a:t>useSearchParams()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 b="0"/>
                        <a:t>Work with URL query parameters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163830" y="4054475"/>
          <a:ext cx="11776710" cy="2689860"/>
        </p:xfrm>
        <a:graphic>
          <a:graphicData uri="http://schemas.openxmlformats.org/drawingml/2006/table">
            <a:tbl>
              <a:tblPr/>
              <a:tblGrid>
                <a:gridCol w="4965700"/>
                <a:gridCol w="6811010"/>
              </a:tblGrid>
              <a:tr h="448310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Topic</a:t>
                      </a:r>
                      <a:endParaRPr sz="2000" b="1">
                        <a:solidFill>
                          <a:srgbClr val="FF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Key Info</a:t>
                      </a:r>
                      <a:endParaRPr sz="2000" b="1">
                        <a:solidFill>
                          <a:srgbClr val="FF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8310">
                <a:tc>
                  <a:txBody>
                    <a:bodyPr/>
                    <a:p>
                      <a:r>
                        <a:rPr sz="1600">
                          <a:latin typeface="Cambria" panose="02040503050406030204" charset="0"/>
                          <a:cs typeface="Cambria" panose="02040503050406030204" charset="0"/>
                        </a:rPr>
                        <a:t>Main Library</a:t>
                      </a:r>
                      <a:endParaRPr sz="16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>
                          <a:latin typeface="Cambria" panose="02040503050406030204" charset="0"/>
                          <a:cs typeface="Cambria" panose="02040503050406030204" charset="0"/>
                        </a:rPr>
                        <a:t>react-router-dom</a:t>
                      </a:r>
                      <a:endParaRPr sz="16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8310">
                <a:tc>
                  <a:txBody>
                    <a:bodyPr/>
                    <a:p>
                      <a:r>
                        <a:rPr sz="1600">
                          <a:latin typeface="Cambria" panose="02040503050406030204" charset="0"/>
                          <a:cs typeface="Cambria" panose="02040503050406030204" charset="0"/>
                        </a:rPr>
                        <a:t>Routing Type</a:t>
                      </a:r>
                      <a:endParaRPr sz="16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>
                          <a:latin typeface="Cambria" panose="02040503050406030204" charset="0"/>
                          <a:cs typeface="Cambria" panose="02040503050406030204" charset="0"/>
                        </a:rPr>
                        <a:t>Client-side routing</a:t>
                      </a:r>
                      <a:endParaRPr sz="16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8310">
                <a:tc>
                  <a:txBody>
                    <a:bodyPr/>
                    <a:p>
                      <a:r>
                        <a:rPr sz="1600">
                          <a:latin typeface="Cambria" panose="02040503050406030204" charset="0"/>
                          <a:cs typeface="Cambria" panose="02040503050406030204" charset="0"/>
                        </a:rPr>
                        <a:t>Key Components</a:t>
                      </a:r>
                      <a:endParaRPr sz="16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>
                          <a:latin typeface="Cambria" panose="02040503050406030204" charset="0"/>
                          <a:cs typeface="Cambria" panose="02040503050406030204" charset="0"/>
                        </a:rPr>
                        <a:t>BrowserRouter, Routes, Route, Link, Outlet, Navigate</a:t>
                      </a:r>
                      <a:endParaRPr sz="16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8310">
                <a:tc>
                  <a:txBody>
                    <a:bodyPr/>
                    <a:p>
                      <a:r>
                        <a:rPr sz="1600">
                          <a:latin typeface="Cambria" panose="02040503050406030204" charset="0"/>
                          <a:cs typeface="Cambria" panose="02040503050406030204" charset="0"/>
                        </a:rPr>
                        <a:t>Key Hooks</a:t>
                      </a:r>
                      <a:endParaRPr sz="16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>
                          <a:latin typeface="Cambria" panose="02040503050406030204" charset="0"/>
                          <a:cs typeface="Cambria" panose="02040503050406030204" charset="0"/>
                        </a:rPr>
                        <a:t>useNavigate, useParams, useLocation, useSearchParams</a:t>
                      </a:r>
                      <a:endParaRPr sz="16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8310">
                <a:tc>
                  <a:txBody>
                    <a:bodyPr/>
                    <a:p>
                      <a:r>
                        <a:rPr sz="1600">
                          <a:latin typeface="Cambria" panose="02040503050406030204" charset="0"/>
                          <a:cs typeface="Cambria" panose="02040503050406030204" charset="0"/>
                        </a:rPr>
                        <a:t>Versions</a:t>
                      </a:r>
                      <a:endParaRPr sz="16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>
                          <a:latin typeface="Cambria" panose="02040503050406030204" charset="0"/>
                          <a:cs typeface="Cambria" panose="02040503050406030204" charset="0"/>
                        </a:rPr>
                        <a:t>Latest is v6+ (very different from v5)</a:t>
                      </a:r>
                      <a:endParaRPr sz="16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156210" y="3490595"/>
            <a:ext cx="117824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sz="2000" b="1">
                <a:solidFill>
                  <a:srgbClr val="FF0000"/>
                </a:solidFill>
              </a:rPr>
              <a:t> Summary of Routing in React</a:t>
            </a:r>
            <a:endParaRPr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6205"/>
            <a:ext cx="10515600" cy="417830"/>
          </a:xfrm>
        </p:spPr>
        <p:txBody>
          <a:bodyPr>
            <a:normAutofit fontScale="90000"/>
          </a:bodyPr>
          <a:p>
            <a:r>
              <a:rPr lang="en-US" sz="2800" b="1">
                <a:solidFill>
                  <a:srgbClr val="FF0000"/>
                </a:solidFill>
              </a:rPr>
              <a:t>Example Of React Routing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" y="668020"/>
            <a:ext cx="10881360" cy="5538470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import { useNavigate } from "react-router-dom";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function Home()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const navigate = useNavigate();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const goToAbout = () =&gt;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navigate("/about");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return &lt;button onClick={goToAbout}&gt;Go to About&lt;/button&gt;;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505" y="0"/>
            <a:ext cx="11626215" cy="275590"/>
          </a:xfrm>
        </p:spPr>
        <p:txBody>
          <a:bodyPr>
            <a:normAutofit fontScale="90000"/>
          </a:bodyPr>
          <a:p>
            <a:r>
              <a:rPr lang="en-US" sz="2800" b="1">
                <a:solidFill>
                  <a:srgbClr val="FF0000"/>
                </a:solidFill>
              </a:rPr>
              <a:t>useState And useRef and useEffect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74955"/>
            <a:ext cx="12192000" cy="6702425"/>
          </a:xfrm>
        </p:spPr>
        <p:txBody>
          <a:bodyPr>
            <a:normAutofit fontScale="75000"/>
          </a:bodyPr>
          <a:p>
            <a:pPr marL="0" indent="0">
              <a:buNone/>
            </a:pPr>
            <a:r>
              <a:rPr lang="en-US" altLang="en-US" sz="3200" b="1"/>
              <a:t>useState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 React hook used to create variables that can change over time.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When the state changes, the component re-renders to show the new value.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Example: keep track of input text, button clicks, etc.</a:t>
            </a:r>
            <a:endParaRPr lang="en-US" altLang="en-US"/>
          </a:p>
          <a:p>
            <a:pPr marL="0" indent="0">
              <a:buNone/>
            </a:pPr>
            <a:r>
              <a:rPr lang="zh-CN" altLang="en-US"/>
              <a:t>🔹</a:t>
            </a:r>
            <a:r>
              <a:rPr lang="en-US" altLang="en-US"/>
              <a:t> </a:t>
            </a:r>
            <a:r>
              <a:rPr lang="en-US" altLang="en-US" sz="3200" b="1"/>
              <a:t>useRef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 React hook used to: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Access DOM elements directly (like focusing an input).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Store values that stay the same between renders but do not cause re-render when changed.</a:t>
            </a:r>
            <a:endParaRPr lang="en-US" altLang="en-US"/>
          </a:p>
          <a:p>
            <a:pPr marL="0" indent="0">
              <a:buNone/>
            </a:pPr>
            <a:r>
              <a:rPr lang="zh-CN" altLang="en-US"/>
              <a:t>🔹</a:t>
            </a:r>
            <a:r>
              <a:rPr lang="en-US" altLang="en-US"/>
              <a:t> </a:t>
            </a:r>
            <a:r>
              <a:rPr lang="en-US" altLang="en-US" sz="3200" b="1"/>
              <a:t>useEffect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 React hook used to perform side effects in a component.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Runs after the component renders (or when specific values change).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Examples of side effects: fetching data, setting timers, updating the DOM, focusing an input.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useState → for reactive data (causes re-render).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useRef → for direct DOM access or storing non-reactive data.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useEffect → for running side effects after render.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295" y="258445"/>
            <a:ext cx="11990070" cy="6474460"/>
          </a:xfrm>
        </p:spPr>
        <p:txBody>
          <a:bodyPr/>
          <a:p>
            <a:r>
              <a:rPr lang="en-US" altLang="en-US" sz="2000"/>
              <a:t>useEffect is for reacting to changes. It's like saying:</a:t>
            </a:r>
            <a:endParaRPr lang="en-US" altLang="en-US" sz="2000"/>
          </a:p>
          <a:p>
            <a:r>
              <a:rPr lang="en-US" altLang="en-US" sz="2000"/>
              <a:t>“When this component renders or updates, run this code.”</a:t>
            </a:r>
            <a:endParaRPr lang="en-US" altLang="en-US" sz="2000"/>
          </a:p>
          <a:p>
            <a:r>
              <a:rPr lang="en-US" altLang="en-US" sz="2000"/>
              <a:t>useRef is for storing a box of data that you can keep around, and it doesn’t affect rendering.</a:t>
            </a:r>
            <a:endParaRPr lang="en-US" altLang="en-US" sz="20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01295" y="1764030"/>
          <a:ext cx="11824335" cy="3415665"/>
        </p:xfrm>
        <a:graphic>
          <a:graphicData uri="http://schemas.openxmlformats.org/drawingml/2006/table">
            <a:tbl>
              <a:tblPr/>
              <a:tblGrid>
                <a:gridCol w="3941445"/>
                <a:gridCol w="3941445"/>
                <a:gridCol w="3941445"/>
              </a:tblGrid>
              <a:tr h="426720">
                <a:tc>
                  <a:txBody>
                    <a:bodyPr/>
                    <a:p>
                      <a:pPr algn="ctr"/>
                      <a:r>
                        <a:rPr sz="2000"/>
                        <a:t>Feature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useEffect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useRef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27355">
                <a:tc>
                  <a:txBody>
                    <a:bodyPr/>
                    <a:p>
                      <a:pPr algn="l"/>
                      <a:r>
                        <a:rPr sz="1600"/>
                        <a:t>Purpose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Run side effects (code after render)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Hold a mutable value that doesn’t trigger re-renders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26720">
                <a:tc>
                  <a:txBody>
                    <a:bodyPr/>
                    <a:p>
                      <a:pPr algn="l"/>
                      <a:r>
                        <a:rPr sz="1600"/>
                        <a:t>Runs when?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After render (and on updates if dependencies change)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Not tied to the render cycle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27355">
                <a:tc>
                  <a:txBody>
                    <a:bodyPr/>
                    <a:p>
                      <a:pPr algn="l"/>
                      <a:r>
                        <a:rPr sz="1600"/>
                        <a:t>Triggers re-render?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❌ No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❌ No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853440">
                <a:tc>
                  <a:txBody>
                    <a:bodyPr/>
                    <a:p>
                      <a:pPr algn="l"/>
                      <a:r>
                        <a:rPr sz="1600"/>
                        <a:t>Use case examples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Fetch data, set up subscriptions, DOM listeners, sync with props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Store previous value, access DOM elements, keep mutable variables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27355">
                <a:tc>
                  <a:txBody>
                    <a:bodyPr/>
                    <a:p>
                      <a:pPr algn="l"/>
                      <a:r>
                        <a:rPr sz="1600"/>
                        <a:t>Syntax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useEffect(() =&gt; { ... }, [deps])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const ref = useRef(initialValue)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26720">
                <a:tc>
                  <a:txBody>
                    <a:bodyPr/>
                    <a:p>
                      <a:pPr algn="l"/>
                      <a:r>
                        <a:rPr sz="1600"/>
                        <a:t>Persistent across renders?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✅ Yes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✅ Yes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" y="0"/>
            <a:ext cx="10515600" cy="444500"/>
          </a:xfrm>
        </p:spPr>
        <p:txBody>
          <a:bodyPr>
            <a:normAutofit fontScale="90000"/>
          </a:bodyPr>
          <a:p>
            <a:r>
              <a:rPr lang="en-US" sz="3200" b="1">
                <a:solidFill>
                  <a:srgbClr val="FF0000"/>
                </a:solidFill>
              </a:rPr>
              <a:t>React hooks continued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10" y="444500"/>
            <a:ext cx="10515600" cy="6261735"/>
          </a:xfrm>
        </p:spPr>
        <p:txBody>
          <a:bodyPr/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useEffect → focuses the input automatically when the component loads.</a:t>
            </a:r>
            <a:endParaRPr lang="en-US" altLang="en-US" sz="2000"/>
          </a:p>
          <a:p>
            <a:r>
              <a:rPr lang="en-US" altLang="en-US" sz="2000"/>
              <a:t>useRef →  Directly points to the input element (inputRef.current).</a:t>
            </a:r>
            <a:endParaRPr lang="en-US" altLang="en-US" sz="2000"/>
          </a:p>
          <a:p>
            <a:r>
              <a:rPr lang="en-US" altLang="en-US" sz="2000"/>
              <a:t>Stores character count (charCountRef) without re-rendering.</a:t>
            </a:r>
            <a:endParaRPr lang="en-US" altLang="en-US" sz="2000"/>
          </a:p>
          <a:p>
            <a:r>
              <a:rPr lang="en-US" altLang="en-US" sz="2000"/>
              <a:t>useState → keeps the input text reactive so UI updates as the user types</a:t>
            </a:r>
            <a:endParaRPr lang="en-US" altLang="en-US" sz="20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99390" y="444500"/>
          <a:ext cx="11791950" cy="3215640"/>
        </p:xfrm>
        <a:graphic>
          <a:graphicData uri="http://schemas.openxmlformats.org/drawingml/2006/table">
            <a:tbl>
              <a:tblPr/>
              <a:tblGrid>
                <a:gridCol w="8034655"/>
                <a:gridCol w="3757295"/>
              </a:tblGrid>
              <a:tr h="535940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Scenario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Hook to Use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r>
                        <a:rPr sz="1800"/>
                        <a:t>Want to fetch data when component loads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useEffect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r>
                        <a:rPr sz="1800"/>
                        <a:t>Want to store previous value of a prop or state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useRef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r>
                        <a:rPr sz="1800"/>
                        <a:t>Want to access or modify a DOM element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useRef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r>
                        <a:rPr sz="1800"/>
                        <a:t>Want to run code when a variable changes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useEffect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r>
                        <a:rPr sz="1800"/>
                        <a:t>Want to keep a timer ID or mutable counter that doesn’t trigger re-renders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useRef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1820"/>
          </a:xfrm>
        </p:spPr>
        <p:txBody>
          <a:bodyPr>
            <a:noAutofit/>
          </a:bodyPr>
          <a:p>
            <a:r>
              <a:rPr lang="en-US" sz="2400" b="1">
                <a:solidFill>
                  <a:srgbClr val="FF0000"/>
                </a:solidFill>
                <a:sym typeface="+mn-ea"/>
              </a:rPr>
              <a:t>UseEffect And UseRef Example</a:t>
            </a:r>
            <a:endParaRPr 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890" y="591820"/>
            <a:ext cx="11951970" cy="6131560"/>
          </a:xfrm>
        </p:spPr>
        <p:txBody>
          <a:bodyPr>
            <a:normAutofit fontScale="75000"/>
          </a:bodyPr>
          <a:p>
            <a:pPr marL="0" indent="0">
              <a:buNone/>
            </a:pPr>
            <a:r>
              <a:rPr lang="en-US" altLang="en-US"/>
              <a:t>import React, { useEffect, useRef, useState } from "react";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export default  function InputExample (){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const inputRef=useRef(null); //reference to the input element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const charCountRef=useRef();//to store the character count without rendering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const [value,setValue]=useState("");//to store the input data into the value variable using setvalue function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useEffect(()=&gt;{      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inputRef.current.focus();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},[]);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  const handleChange=(e)=&gt;{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setValue(e.target.value);// Viren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charCountRef.current=e.target.value.length;//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};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315" y="0"/>
            <a:ext cx="10515600" cy="297180"/>
          </a:xfrm>
        </p:spPr>
        <p:txBody>
          <a:bodyPr>
            <a:normAutofit fontScale="90000"/>
          </a:bodyPr>
          <a:p>
            <a:r>
              <a:rPr lang="en-US" sz="2400" b="1">
                <a:solidFill>
                  <a:srgbClr val="FF0000"/>
                </a:solidFill>
              </a:rPr>
              <a:t>UseEffect And UseRef Example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97180"/>
            <a:ext cx="12192635" cy="65614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>
                <a:sym typeface="+mn-ea"/>
              </a:rPr>
              <a:t>return(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&lt;div&gt;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&lt;h3 style={{textAlign:"center", fontSize:"25px",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     backgroundColor:"navy", color:"white",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      borderRadius:"10px"}}&gt;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         React UseRef And UseEffect Example With Input&lt;/h3&gt;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&lt;br /&gt;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&lt;label htmlFor=""&gt; Enter Your Full Name&lt;/label&gt; &lt;br /&gt; &lt;br /&gt;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&lt;input type="text" value={value} ref={inputRef}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 onChange={handleChange}  maxLength={50} 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 placeholder="Enter Full Name" style={{padding:"8px",width:"250px",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  fontFamily:"sans-serif", fontSize:"16px"}} /&gt;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&lt;br /&gt;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&lt;p&gt; Your Full Name: &lt;b&gt; {value}   &lt;/b&gt;            &lt;/p&gt;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&lt;p&gt; Total Character Count (Using &lt;b&gt; Ref&lt;/b&gt;) 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{charCountRef.current}&lt;/p&gt;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&lt;/div&gt;          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};</a:t>
            </a:r>
            <a:endParaRPr lang="en-US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190" y="0"/>
            <a:ext cx="11577320" cy="395605"/>
          </a:xfrm>
        </p:spPr>
        <p:txBody>
          <a:bodyPr>
            <a:normAutofit fontScale="90000"/>
          </a:bodyPr>
          <a:p>
            <a:r>
              <a:rPr lang="en-US" sz="2800" b="1">
                <a:solidFill>
                  <a:srgbClr val="FF0000"/>
                </a:solidFill>
              </a:rPr>
              <a:t>React Hook Continued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" y="395605"/>
            <a:ext cx="12072620" cy="6228715"/>
          </a:xfrm>
        </p:spPr>
        <p:txBody>
          <a:bodyPr/>
          <a:p>
            <a:pPr marL="0" indent="0">
              <a:buNone/>
            </a:pPr>
            <a:r>
              <a:rPr lang="en-US" altLang="en-US" sz="2400"/>
              <a:t>useEffect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Runs after render.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Here it’s used to focus the input automatically when the page loads.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useRef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Two uses: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Access DOM elements (inputRef → .current points to input).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Store values that don’t re-render (countRef keeps track of button clicks silently).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Difference from useState: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useState → causes re-render when updated.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useRef → does NOT cause re-render</a:t>
            </a:r>
            <a:endParaRPr lang="en-US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505" y="120015"/>
            <a:ext cx="10515600" cy="591820"/>
          </a:xfrm>
        </p:spPr>
        <p:txBody>
          <a:bodyPr>
            <a:noAutofit/>
          </a:bodyPr>
          <a:p>
            <a:r>
              <a:rPr lang="en-US" sz="2800" b="1">
                <a:solidFill>
                  <a:srgbClr val="FF0000"/>
                </a:solidFill>
              </a:rPr>
              <a:t>React Project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505" y="711835"/>
            <a:ext cx="11968480" cy="5836920"/>
          </a:xfrm>
        </p:spPr>
        <p:txBody>
          <a:bodyPr>
            <a:normAutofit lnSpcReduction="20000"/>
          </a:bodyPr>
          <a:p>
            <a:r>
              <a:rPr lang="en-US" altLang="en-US" sz="2400"/>
              <a:t>User Interaction Web Portal System (SPA) Routing</a:t>
            </a:r>
            <a:endParaRPr lang="en-US" altLang="en-US" sz="2400"/>
          </a:p>
          <a:p>
            <a:r>
              <a:rPr lang="en-US" altLang="en-US" sz="2400"/>
              <a:t>UIWP</a:t>
            </a:r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i)React Components</a:t>
            </a:r>
            <a:endParaRPr lang="en-US" altLang="en-US" sz="2400"/>
          </a:p>
          <a:p>
            <a:r>
              <a:rPr lang="en-US" altLang="en-US" sz="2400"/>
              <a:t>ii)React States</a:t>
            </a:r>
            <a:endParaRPr lang="en-US" altLang="en-US" sz="2400"/>
          </a:p>
          <a:p>
            <a:r>
              <a:rPr lang="en-US" altLang="en-US" sz="2400"/>
              <a:t>iii)React Hooks</a:t>
            </a:r>
            <a:endParaRPr lang="en-US" altLang="en-US" sz="2400"/>
          </a:p>
          <a:p>
            <a:r>
              <a:rPr lang="en-US" altLang="en-US" sz="2400"/>
              <a:t>iv)React Routing</a:t>
            </a:r>
            <a:endParaRPr lang="en-US" altLang="en-US" sz="2400"/>
          </a:p>
          <a:p>
            <a:r>
              <a:rPr lang="en-US" altLang="en-US" sz="2400"/>
              <a:t>v)React Master Page</a:t>
            </a:r>
            <a:endParaRPr lang="en-US" altLang="en-US" sz="2400"/>
          </a:p>
          <a:p>
            <a:r>
              <a:rPr lang="en-US" altLang="en-US" sz="2400"/>
              <a:t>vi)local data storage (for Database) JSON</a:t>
            </a:r>
            <a:endParaRPr lang="en-US" altLang="en-US" sz="2400"/>
          </a:p>
          <a:p>
            <a:r>
              <a:rPr lang="en-US" altLang="en-US" sz="2400"/>
              <a:t>vii)bootstrap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----------------------------------------------------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1)SPA (single page application ui) using master page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2)local database used for data storing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3)</a:t>
            </a:r>
            <a:endParaRPr lang="en-US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40715"/>
          </a:xfrm>
        </p:spPr>
        <p:txBody>
          <a:bodyPr/>
          <a:p>
            <a:r>
              <a:rPr lang="en-US" sz="2400" b="1">
                <a:solidFill>
                  <a:srgbClr val="FF0000"/>
                </a:solidFill>
              </a:rPr>
              <a:t>Project Details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40715"/>
            <a:ext cx="11854180" cy="6097905"/>
          </a:xfrm>
        </p:spPr>
        <p:txBody>
          <a:bodyPr>
            <a:normAutofit fontScale="50000"/>
          </a:bodyPr>
          <a:p>
            <a:pPr marL="0" indent="0">
              <a:buNone/>
            </a:pPr>
            <a:r>
              <a:rPr lang="en-US"/>
              <a:t>1)</a:t>
            </a:r>
            <a:r>
              <a:rPr lang="en-US" b="1"/>
              <a:t>packages/folder</a:t>
            </a:r>
            <a:endParaRPr lang="en-US"/>
          </a:p>
          <a:p>
            <a:pPr marL="0" indent="0">
              <a:buNone/>
            </a:pPr>
            <a:r>
              <a:rPr lang="en-US"/>
              <a:t>i)components    -&gt; Layout.jsx</a:t>
            </a:r>
            <a:endParaRPr lang="en-US"/>
          </a:p>
          <a:p>
            <a:pPr marL="0" indent="0">
              <a:buNone/>
            </a:pPr>
            <a:r>
              <a:rPr lang="en-US" b="1"/>
              <a:t>ii)pages</a:t>
            </a:r>
            <a:endParaRPr lang="en-US"/>
          </a:p>
          <a:p>
            <a:pPr marL="0" indent="0">
              <a:buNone/>
            </a:pPr>
            <a:r>
              <a:rPr lang="en-US"/>
              <a:t>i)home.jsx</a:t>
            </a:r>
            <a:endParaRPr lang="en-US"/>
          </a:p>
          <a:p>
            <a:pPr marL="0" indent="0">
              <a:buNone/>
            </a:pPr>
            <a:r>
              <a:rPr lang="en-US"/>
              <a:t>ii)about.jsx</a:t>
            </a:r>
            <a:endParaRPr lang="en-US"/>
          </a:p>
          <a:p>
            <a:pPr marL="0" indent="0">
              <a:buNone/>
            </a:pPr>
            <a:r>
              <a:rPr lang="en-US"/>
              <a:t>iii)contact.jsx</a:t>
            </a:r>
            <a:endParaRPr lang="en-US"/>
          </a:p>
          <a:p>
            <a:pPr marL="0" indent="0">
              <a:buNone/>
            </a:pPr>
            <a:r>
              <a:rPr lang="en-US"/>
              <a:t>iv)feedback.jsx</a:t>
            </a:r>
            <a:endParaRPr lang="en-US"/>
          </a:p>
          <a:p>
            <a:pPr marL="0" indent="0">
              <a:buNone/>
            </a:pPr>
            <a:r>
              <a:rPr lang="en-US"/>
              <a:t>v)Register.jsx</a:t>
            </a:r>
            <a:endParaRPr lang="en-US"/>
          </a:p>
          <a:p>
            <a:pPr marL="0" indent="0">
              <a:buNone/>
            </a:pPr>
            <a:r>
              <a:rPr lang="en-US"/>
              <a:t>vi)login.jsx</a:t>
            </a:r>
            <a:endParaRPr lang="en-US"/>
          </a:p>
          <a:p>
            <a:pPr marL="0" indent="0">
              <a:buNone/>
            </a:pPr>
            <a:r>
              <a:rPr lang="en-US"/>
              <a:t>DisplaysUsers.jsx</a:t>
            </a:r>
            <a:endParaRPr lang="en-US"/>
          </a:p>
          <a:p>
            <a:pPr marL="0" indent="0">
              <a:buNone/>
            </a:pPr>
            <a:r>
              <a:rPr lang="en-US"/>
              <a:t>DisplayFeedbacks.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App.jsx</a:t>
            </a:r>
            <a:endParaRPr lang="en-US"/>
          </a:p>
          <a:p>
            <a:pPr marL="0" indent="0">
              <a:buNone/>
            </a:pPr>
            <a:r>
              <a:rPr lang="en-US"/>
              <a:t>main.jsx</a:t>
            </a:r>
            <a:endParaRPr lang="en-US"/>
          </a:p>
          <a:p>
            <a:pPr marL="0" indent="0">
              <a:buNone/>
            </a:pPr>
            <a:r>
              <a:rPr lang="en-US"/>
              <a:t>index.html</a:t>
            </a:r>
            <a:endParaRPr lang="en-US"/>
          </a:p>
          <a:p>
            <a:pPr marL="0" indent="0">
              <a:buNone/>
            </a:pPr>
            <a:r>
              <a:rPr lang="en-US"/>
              <a:t>App.css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iii)utils</a:t>
            </a:r>
            <a:endParaRPr lang="en-US" b="1"/>
          </a:p>
          <a:p>
            <a:pPr marL="0" indent="0">
              <a:buNone/>
            </a:pPr>
            <a:r>
              <a:rPr lang="en-US"/>
              <a:t>i)storage.js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23*155"/>
  <p:tag name="TABLE_ENDDRAG_RECT" val="9*24*923*155"/>
</p:tagLst>
</file>

<file path=ppt/tags/tag2.xml><?xml version="1.0" encoding="utf-8"?>
<p:tagLst xmlns:p="http://schemas.openxmlformats.org/presentationml/2006/main">
  <p:tag name="TABLE_ENDDRAG_ORIGIN_RECT" val="927*212"/>
  <p:tag name="TABLE_ENDDRAG_RECT" val="12*35*927*212"/>
</p:tagLst>
</file>

<file path=ppt/tags/tag3.xml><?xml version="1.0" encoding="utf-8"?>
<p:tagLst xmlns:p="http://schemas.openxmlformats.org/presentationml/2006/main">
  <p:tag name="TABLE_ENDDRAG_ORIGIN_RECT" val="927*211"/>
  <p:tag name="TABLE_ENDDRAG_RECT" val="12*319*927*211"/>
</p:tagLst>
</file>

<file path=ppt/tags/tag4.xml><?xml version="1.0" encoding="utf-8"?>
<p:tagLst xmlns:p="http://schemas.openxmlformats.org/presentationml/2006/main">
  <p:tag name="TABLE_ENDDRAG_ORIGIN_RECT" val="930*268"/>
  <p:tag name="TABLE_ENDDRAG_RECT" val="15*138*931*268"/>
</p:tagLst>
</file>

<file path=ppt/tags/tag5.xml><?xml version="1.0" encoding="utf-8"?>
<p:tagLst xmlns:p="http://schemas.openxmlformats.org/presentationml/2006/main">
  <p:tag name="TABLE_ENDDRAG_ORIGIN_RECT" val="928*253"/>
  <p:tag name="TABLE_ENDDRAG_RECT" val="15*35*928*25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6857</Words>
  <Application>WPS Presentation</Application>
  <PresentationFormat>Widescreen</PresentationFormat>
  <Paragraphs>335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Calibri Light</vt:lpstr>
      <vt:lpstr>Calibri</vt:lpstr>
      <vt:lpstr>Microsoft YaHei</vt:lpstr>
      <vt:lpstr>Arial Unicode MS</vt:lpstr>
      <vt:lpstr>Office Theme</vt:lpstr>
      <vt:lpstr>React Routing</vt:lpstr>
      <vt:lpstr>React Routing</vt:lpstr>
      <vt:lpstr>Key Hook Of React For Routing</vt:lpstr>
      <vt:lpstr>Example Of React Routing</vt:lpstr>
      <vt:lpstr>useState And useRef and useEffect</vt:lpstr>
      <vt:lpstr>PowerPoint 演示文稿</vt:lpstr>
      <vt:lpstr>React hooks continued</vt:lpstr>
      <vt:lpstr>UseEffect And UseRef Example</vt:lpstr>
      <vt:lpstr>UseEffect And UseRef Example</vt:lpstr>
      <vt:lpstr>React Hook Continued</vt:lpstr>
      <vt:lpstr>React Project</vt:lpstr>
      <vt:lpstr>Project Details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Routing</dc:title>
  <dc:creator>UV-user</dc:creator>
  <cp:lastModifiedBy>Nishank Amte</cp:lastModifiedBy>
  <cp:revision>38</cp:revision>
  <dcterms:created xsi:type="dcterms:W3CDTF">2025-08-09T04:21:00Z</dcterms:created>
  <dcterms:modified xsi:type="dcterms:W3CDTF">2025-08-23T09:35:49Z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7B5C370AD4D74313B2412CD6447D50FF_11</vt:lpwstr>
  </property>
  <property fmtid="{D5CDD505-2E9C-101B-9397-08002B2CF9AE}" pid="3" name="KSOProductBuildVer">
    <vt:lpwstr>1033-12.2.0.21931</vt:lpwstr>
  </property>
</Properties>
</file>