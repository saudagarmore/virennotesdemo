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0" r:id="rId3"/>
    <p:sldId id="330" r:id="rId4"/>
    <p:sldId id="311" r:id="rId5"/>
    <p:sldId id="308" r:id="rId6"/>
    <p:sldId id="309" r:id="rId7"/>
    <p:sldId id="305" r:id="rId8"/>
    <p:sldId id="256" r:id="rId9"/>
    <p:sldId id="282" r:id="rId10"/>
    <p:sldId id="257" r:id="rId11"/>
    <p:sldId id="306" r:id="rId12"/>
    <p:sldId id="307" r:id="rId13"/>
    <p:sldId id="258" r:id="rId14"/>
    <p:sldId id="280" r:id="rId15"/>
    <p:sldId id="281" r:id="rId16"/>
    <p:sldId id="259" r:id="rId17"/>
    <p:sldId id="260" r:id="rId18"/>
    <p:sldId id="262" r:id="rId19"/>
    <p:sldId id="265" r:id="rId20"/>
    <p:sldId id="263" r:id="rId21"/>
    <p:sldId id="277" r:id="rId22"/>
    <p:sldId id="313" r:id="rId23"/>
    <p:sldId id="264" r:id="rId24"/>
    <p:sldId id="314" r:id="rId25"/>
    <p:sldId id="269" r:id="rId26"/>
    <p:sldId id="278" r:id="rId27"/>
    <p:sldId id="279" r:id="rId28"/>
    <p:sldId id="316" r:id="rId29"/>
    <p:sldId id="329" r:id="rId30"/>
    <p:sldId id="325" r:id="rId31"/>
    <p:sldId id="326" r:id="rId32"/>
    <p:sldId id="327" r:id="rId33"/>
    <p:sldId id="328" r:id="rId34"/>
    <p:sldId id="275" r:id="rId35"/>
    <p:sldId id="302" r:id="rId36"/>
    <p:sldId id="297" r:id="rId37"/>
    <p:sldId id="303" r:id="rId38"/>
    <p:sldId id="304" r:id="rId39"/>
    <p:sldId id="320" r:id="rId40"/>
    <p:sldId id="322" r:id="rId41"/>
    <p:sldId id="276" r:id="rId42"/>
    <p:sldId id="323" r:id="rId43"/>
    <p:sldId id="324" r:id="rId44"/>
    <p:sldId id="31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www.eclipse.org/" TargetMode="External"/><Relationship Id="rId4" Type="http://schemas.openxmlformats.org/officeDocument/2006/relationships/hyperlink" Target="https://www.jetbrains.com/idea/" TargetMode="External"/><Relationship Id="rId3" Type="http://schemas.openxmlformats.org/officeDocument/2006/relationships/hyperlink" Target="https://adoptium.net/" TargetMode="External"/><Relationship Id="rId2" Type="http://schemas.openxmlformats.org/officeDocument/2006/relationships/tags" Target="../tags/tag10.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18745"/>
            <a:ext cx="10515600" cy="368300"/>
          </a:xfrm>
        </p:spPr>
        <p:txBody>
          <a:bodyPr>
            <a:normAutofit fontScale="90000"/>
          </a:bodyPr>
          <a:p>
            <a:pPr algn="ctr"/>
            <a:r>
              <a:rPr lang="en-US" altLang="en-US" sz="3200" b="1">
                <a:solidFill>
                  <a:srgbClr val="FF0000"/>
                </a:solidFill>
              </a:rPr>
              <a:t> Key Differences</a:t>
            </a:r>
            <a:endParaRPr lang="en-US" altLang="en-US" sz="3200" b="1">
              <a:solidFill>
                <a:srgbClr val="FF0000"/>
              </a:solidFill>
            </a:endParaRPr>
          </a:p>
        </p:txBody>
      </p:sp>
      <p:graphicFrame>
        <p:nvGraphicFramePr>
          <p:cNvPr id="4" name="Table 3"/>
          <p:cNvGraphicFramePr/>
          <p:nvPr>
            <p:custDataLst>
              <p:tags r:id="rId1"/>
            </p:custDataLst>
          </p:nvPr>
        </p:nvGraphicFramePr>
        <p:xfrm>
          <a:off x="155575" y="592455"/>
          <a:ext cx="11880215" cy="3061335"/>
        </p:xfrm>
        <a:graphic>
          <a:graphicData uri="http://schemas.openxmlformats.org/drawingml/2006/table">
            <a:tbl>
              <a:tblPr/>
              <a:tblGrid>
                <a:gridCol w="2385060"/>
                <a:gridCol w="4291965"/>
                <a:gridCol w="5203190"/>
              </a:tblGrid>
              <a:tr h="306070">
                <a:tc>
                  <a:txBody>
                    <a:bodyPr/>
                    <a:p>
                      <a:pPr algn="ctr"/>
                      <a:r>
                        <a:rPr sz="2000" b="1"/>
                        <a:t>Feature</a:t>
                      </a:r>
                      <a:endParaRPr sz="2000" b="1"/>
                    </a:p>
                  </a:txBody>
                  <a:tcPr marL="0" marR="0" marT="0" marB="0" anchor="ctr" anchorCtr="0">
                    <a:lnL>
                      <a:noFill/>
                    </a:lnL>
                    <a:lnR>
                      <a:noFill/>
                    </a:lnR>
                    <a:lnT>
                      <a:noFill/>
                    </a:lnT>
                    <a:lnB>
                      <a:noFill/>
                    </a:lnB>
                    <a:solidFill>
                      <a:schemeClr val="accent4">
                        <a:lumMod val="20000"/>
                        <a:lumOff val="80000"/>
                      </a:schemeClr>
                    </a:solidFill>
                  </a:tcPr>
                </a:tc>
                <a:tc>
                  <a:txBody>
                    <a:bodyPr/>
                    <a:p>
                      <a:pPr algn="ctr"/>
                      <a:r>
                        <a:rPr sz="2000" b="1"/>
                        <a:t>XML-Based</a:t>
                      </a:r>
                      <a:endParaRPr sz="2000" b="1"/>
                    </a:p>
                  </a:txBody>
                  <a:tcPr marL="0" marR="0" marT="0" marB="0" anchor="ctr" anchorCtr="0">
                    <a:lnL>
                      <a:noFill/>
                    </a:lnL>
                    <a:lnR>
                      <a:noFill/>
                    </a:lnR>
                    <a:lnT>
                      <a:noFill/>
                    </a:lnT>
                    <a:lnB>
                      <a:noFill/>
                    </a:lnB>
                    <a:solidFill>
                      <a:schemeClr val="accent4">
                        <a:lumMod val="20000"/>
                        <a:lumOff val="80000"/>
                      </a:schemeClr>
                    </a:solidFill>
                  </a:tcPr>
                </a:tc>
                <a:tc>
                  <a:txBody>
                    <a:bodyPr/>
                    <a:p>
                      <a:pPr algn="ctr"/>
                      <a:r>
                        <a:rPr sz="2000" b="1"/>
                        <a:t>Java-Based</a:t>
                      </a:r>
                      <a:endParaRPr sz="2000" b="1"/>
                    </a:p>
                  </a:txBody>
                  <a:tcPr marL="0" marR="0" marT="0" marB="0" anchor="ctr" anchorCtr="0">
                    <a:lnL>
                      <a:noFill/>
                    </a:lnL>
                    <a:lnR>
                      <a:noFill/>
                    </a:lnR>
                    <a:lnT>
                      <a:noFill/>
                    </a:lnT>
                    <a:lnB>
                      <a:noFill/>
                    </a:lnB>
                    <a:solidFill>
                      <a:schemeClr val="accent4">
                        <a:lumMod val="20000"/>
                        <a:lumOff val="80000"/>
                      </a:schemeClr>
                    </a:solidFill>
                  </a:tcPr>
                </a:tc>
              </a:tr>
              <a:tr h="551180">
                <a:tc>
                  <a:txBody>
                    <a:bodyPr/>
                    <a:p>
                      <a:r>
                        <a:rPr sz="1800"/>
                        <a:t>Type Safety</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Not type-safe (strings for class names, IDs, etc.)</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Type-safe (uses actual Java classes and methods)</a:t>
                      </a:r>
                      <a:endParaRPr sz="1800"/>
                    </a:p>
                  </a:txBody>
                  <a:tcPr marL="0" marR="0" marT="0" marB="0" anchor="ctr" anchorCtr="0">
                    <a:lnL>
                      <a:noFill/>
                    </a:lnL>
                    <a:lnR>
                      <a:noFill/>
                    </a:lnR>
                    <a:lnT>
                      <a:noFill/>
                    </a:lnT>
                    <a:lnB>
                      <a:noFill/>
                    </a:lnB>
                    <a:solidFill>
                      <a:schemeClr val="accent4">
                        <a:lumMod val="20000"/>
                        <a:lumOff val="80000"/>
                      </a:schemeClr>
                    </a:solidFill>
                  </a:tcPr>
                </a:tc>
              </a:tr>
              <a:tr h="275590">
                <a:tc>
                  <a:txBody>
                    <a:bodyPr/>
                    <a:p>
                      <a:r>
                        <a:rPr sz="1800"/>
                        <a:t>Refactoring Support</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Weak (XML doesn’t update with refactor)</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Strong (IDE can refactor Java code easily)</a:t>
                      </a:r>
                      <a:endParaRPr sz="1800"/>
                    </a:p>
                  </a:txBody>
                  <a:tcPr marL="0" marR="0" marT="0" marB="0" anchor="ctr" anchorCtr="0">
                    <a:lnL>
                      <a:noFill/>
                    </a:lnL>
                    <a:lnR>
                      <a:noFill/>
                    </a:lnR>
                    <a:lnT>
                      <a:noFill/>
                    </a:lnT>
                    <a:lnB>
                      <a:noFill/>
                    </a:lnB>
                    <a:solidFill>
                      <a:schemeClr val="accent4">
                        <a:lumMod val="20000"/>
                        <a:lumOff val="80000"/>
                      </a:schemeClr>
                    </a:solidFill>
                  </a:tcPr>
                </a:tc>
              </a:tr>
              <a:tr h="275590">
                <a:tc>
                  <a:txBody>
                    <a:bodyPr/>
                    <a:p>
                      <a:r>
                        <a:rPr sz="1800"/>
                        <a:t>Readability</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Easier for non-developers (declarative)</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Easier for developers (imperative, familiar syntax)</a:t>
                      </a:r>
                      <a:endParaRPr sz="1800"/>
                    </a:p>
                  </a:txBody>
                  <a:tcPr marL="0" marR="0" marT="0" marB="0" anchor="ctr" anchorCtr="0">
                    <a:lnL>
                      <a:noFill/>
                    </a:lnL>
                    <a:lnR>
                      <a:noFill/>
                    </a:lnR>
                    <a:lnT>
                      <a:noFill/>
                    </a:lnT>
                    <a:lnB>
                      <a:noFill/>
                    </a:lnB>
                    <a:solidFill>
                      <a:schemeClr val="accent4">
                        <a:lumMod val="20000"/>
                        <a:lumOff val="80000"/>
                      </a:schemeClr>
                    </a:solidFill>
                  </a:tcPr>
                </a:tc>
              </a:tr>
              <a:tr h="275590">
                <a:tc>
                  <a:txBody>
                    <a:bodyPr/>
                    <a:p>
                      <a:r>
                        <a:rPr sz="1800"/>
                        <a:t>Flexibility</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Static — limited dynamic logic</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Dynamic — can use loops, conditions, etc.</a:t>
                      </a:r>
                      <a:endParaRPr sz="1800"/>
                    </a:p>
                  </a:txBody>
                  <a:tcPr marL="0" marR="0" marT="0" marB="0" anchor="ctr" anchorCtr="0">
                    <a:lnL>
                      <a:noFill/>
                    </a:lnL>
                    <a:lnR>
                      <a:noFill/>
                    </a:lnR>
                    <a:lnT>
                      <a:noFill/>
                    </a:lnT>
                    <a:lnB>
                      <a:noFill/>
                    </a:lnB>
                    <a:solidFill>
                      <a:schemeClr val="accent4">
                        <a:lumMod val="20000"/>
                        <a:lumOff val="80000"/>
                      </a:schemeClr>
                    </a:solidFill>
                  </a:tcPr>
                </a:tc>
              </a:tr>
              <a:tr h="550545">
                <a:tc>
                  <a:txBody>
                    <a:bodyPr/>
                    <a:p>
                      <a:r>
                        <a:rPr sz="1800"/>
                        <a:t>Dependency Injection</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Declared via XML tags (&lt;bean&gt;, &lt;property&gt;)</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Declared via annotations and methods (@Bean, @Autowired)</a:t>
                      </a:r>
                      <a:endParaRPr sz="1800"/>
                    </a:p>
                  </a:txBody>
                  <a:tcPr marL="0" marR="0" marT="0" marB="0" anchor="ctr" anchorCtr="0">
                    <a:lnL>
                      <a:noFill/>
                    </a:lnL>
                    <a:lnR>
                      <a:noFill/>
                    </a:lnR>
                    <a:lnT>
                      <a:noFill/>
                    </a:lnT>
                    <a:lnB>
                      <a:noFill/>
                    </a:lnB>
                    <a:solidFill>
                      <a:schemeClr val="accent4">
                        <a:lumMod val="20000"/>
                        <a:lumOff val="80000"/>
                      </a:schemeClr>
                    </a:solidFill>
                  </a:tcPr>
                </a:tc>
              </a:tr>
              <a:tr h="275590">
                <a:tc>
                  <a:txBody>
                    <a:bodyPr/>
                    <a:p>
                      <a:r>
                        <a:rPr sz="1800"/>
                        <a:t>Externalization</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Easy to modify without recompiling code</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Requires recompilation if configuration changes</a:t>
                      </a:r>
                      <a:endParaRPr sz="1800"/>
                    </a:p>
                  </a:txBody>
                  <a:tcPr marL="0" marR="0" marT="0" marB="0" anchor="ctr" anchorCtr="0">
                    <a:lnL>
                      <a:noFill/>
                    </a:lnL>
                    <a:lnR>
                      <a:noFill/>
                    </a:lnR>
                    <a:lnT>
                      <a:noFill/>
                    </a:lnT>
                    <a:lnB>
                      <a:noFill/>
                    </a:lnB>
                    <a:solidFill>
                      <a:schemeClr val="accent4">
                        <a:lumMod val="20000"/>
                        <a:lumOff val="80000"/>
                      </a:schemeClr>
                    </a:solidFill>
                  </a:tcPr>
                </a:tc>
              </a:tr>
              <a:tr h="551180">
                <a:tc>
                  <a:txBody>
                    <a:bodyPr/>
                    <a:p>
                      <a:r>
                        <a:rPr sz="1800"/>
                        <a:t>Annotation Usage</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Often used with XML config (&lt;context:component-scan&gt;)</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Pure annotation-based configuration possible</a:t>
                      </a:r>
                      <a:endParaRPr sz="1800"/>
                    </a:p>
                  </a:txBody>
                  <a:tcPr marL="0" marR="0" marT="0" marB="0" anchor="ctr" anchorCtr="0">
                    <a:lnL>
                      <a:noFill/>
                    </a:lnL>
                    <a:lnR>
                      <a:noFill/>
                    </a:lnR>
                    <a:lnT>
                      <a:noFill/>
                    </a:lnT>
                    <a:lnB>
                      <a:noFill/>
                    </a:lnB>
                    <a:solidFill>
                      <a:schemeClr val="accent4">
                        <a:lumMod val="20000"/>
                        <a:lumOff val="80000"/>
                      </a:schemeClr>
                    </a:solidFill>
                  </a:tcPr>
                </a:tc>
              </a:tr>
            </a:tbl>
          </a:graphicData>
        </a:graphic>
      </p:graphicFrame>
      <p:graphicFrame>
        <p:nvGraphicFramePr>
          <p:cNvPr id="5" name="Table 4"/>
          <p:cNvGraphicFramePr/>
          <p:nvPr>
            <p:custDataLst>
              <p:tags r:id="rId2"/>
            </p:custDataLst>
          </p:nvPr>
        </p:nvGraphicFramePr>
        <p:xfrm>
          <a:off x="264795" y="4762500"/>
          <a:ext cx="11770995" cy="1946275"/>
        </p:xfrm>
        <a:graphic>
          <a:graphicData uri="http://schemas.openxmlformats.org/drawingml/2006/table">
            <a:tbl>
              <a:tblPr/>
              <a:tblGrid>
                <a:gridCol w="3011805"/>
                <a:gridCol w="8759190"/>
              </a:tblGrid>
              <a:tr h="389255">
                <a:tc>
                  <a:txBody>
                    <a:bodyPr/>
                    <a:p>
                      <a:pPr algn="ctr"/>
                      <a:r>
                        <a:rPr sz="2000" b="1"/>
                        <a:t>Concept</a:t>
                      </a:r>
                      <a:endParaRPr sz="2000" b="1"/>
                    </a:p>
                  </a:txBody>
                  <a:tcPr marL="0" marR="0" marT="0" marB="0" anchor="ctr" anchorCtr="0">
                    <a:lnL>
                      <a:noFill/>
                    </a:lnL>
                    <a:lnR>
                      <a:noFill/>
                    </a:lnR>
                    <a:lnT>
                      <a:noFill/>
                    </a:lnT>
                    <a:lnB>
                      <a:noFill/>
                    </a:lnB>
                    <a:solidFill>
                      <a:schemeClr val="accent4">
                        <a:lumMod val="20000"/>
                        <a:lumOff val="80000"/>
                      </a:schemeClr>
                    </a:solidFill>
                  </a:tcPr>
                </a:tc>
                <a:tc>
                  <a:txBody>
                    <a:bodyPr/>
                    <a:p>
                      <a:pPr algn="ctr"/>
                      <a:r>
                        <a:rPr sz="2000" b="1"/>
                        <a:t>Meaning</a:t>
                      </a:r>
                      <a:endParaRPr sz="2000" b="1"/>
                    </a:p>
                  </a:txBody>
                  <a:tcPr marL="0" marR="0" marT="0" marB="0" anchor="ctr" anchorCtr="0">
                    <a:lnL>
                      <a:noFill/>
                    </a:lnL>
                    <a:lnR>
                      <a:noFill/>
                    </a:lnR>
                    <a:lnT>
                      <a:noFill/>
                    </a:lnT>
                    <a:lnB>
                      <a:noFill/>
                    </a:lnB>
                    <a:solidFill>
                      <a:schemeClr val="accent4">
                        <a:lumMod val="20000"/>
                        <a:lumOff val="80000"/>
                      </a:schemeClr>
                    </a:solidFill>
                  </a:tcPr>
                </a:tc>
              </a:tr>
              <a:tr h="389255">
                <a:tc>
                  <a:txBody>
                    <a:bodyPr/>
                    <a:p>
                      <a:r>
                        <a:rPr sz="1800"/>
                        <a:t>Configuration</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Instructions for Spring on how to create and manage objects (beans).</a:t>
                      </a:r>
                      <a:endParaRPr sz="1800"/>
                    </a:p>
                  </a:txBody>
                  <a:tcPr marL="0" marR="0" marT="0" marB="0" anchor="ctr" anchorCtr="0">
                    <a:lnL>
                      <a:noFill/>
                    </a:lnL>
                    <a:lnR>
                      <a:noFill/>
                    </a:lnR>
                    <a:lnT>
                      <a:noFill/>
                    </a:lnT>
                    <a:lnB>
                      <a:noFill/>
                    </a:lnB>
                    <a:solidFill>
                      <a:schemeClr val="accent4">
                        <a:lumMod val="20000"/>
                        <a:lumOff val="80000"/>
                      </a:schemeClr>
                    </a:solidFill>
                  </a:tcPr>
                </a:tc>
              </a:tr>
              <a:tr h="389255">
                <a:tc>
                  <a:txBody>
                    <a:bodyPr/>
                    <a:p>
                      <a:r>
                        <a:rPr sz="1800"/>
                        <a:t>Purpose</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To wire components together and set up the application context.</a:t>
                      </a:r>
                      <a:endParaRPr sz="1800"/>
                    </a:p>
                  </a:txBody>
                  <a:tcPr marL="0" marR="0" marT="0" marB="0" anchor="ctr" anchorCtr="0">
                    <a:lnL>
                      <a:noFill/>
                    </a:lnL>
                    <a:lnR>
                      <a:noFill/>
                    </a:lnR>
                    <a:lnT>
                      <a:noFill/>
                    </a:lnT>
                    <a:lnB>
                      <a:noFill/>
                    </a:lnB>
                    <a:solidFill>
                      <a:schemeClr val="accent4">
                        <a:lumMod val="20000"/>
                        <a:lumOff val="80000"/>
                      </a:schemeClr>
                    </a:solidFill>
                  </a:tcPr>
                </a:tc>
              </a:tr>
              <a:tr h="389255">
                <a:tc>
                  <a:txBody>
                    <a:bodyPr/>
                    <a:p>
                      <a:r>
                        <a:rPr sz="1800"/>
                        <a:t>Types</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XML-based, Java-based, and annotation-based.</a:t>
                      </a:r>
                      <a:endParaRPr sz="1800"/>
                    </a:p>
                  </a:txBody>
                  <a:tcPr marL="0" marR="0" marT="0" marB="0" anchor="ctr" anchorCtr="0">
                    <a:lnL>
                      <a:noFill/>
                    </a:lnL>
                    <a:lnR>
                      <a:noFill/>
                    </a:lnR>
                    <a:lnT>
                      <a:noFill/>
                    </a:lnT>
                    <a:lnB>
                      <a:noFill/>
                    </a:lnB>
                    <a:solidFill>
                      <a:schemeClr val="accent4">
                        <a:lumMod val="20000"/>
                        <a:lumOff val="80000"/>
                      </a:schemeClr>
                    </a:solidFill>
                  </a:tcPr>
                </a:tc>
              </a:tr>
              <a:tr h="389255">
                <a:tc>
                  <a:txBody>
                    <a:bodyPr/>
                    <a:p>
                      <a:r>
                        <a:rPr sz="1800"/>
                        <a:t>Modern Practice</a:t>
                      </a:r>
                      <a:endParaRPr sz="1800"/>
                    </a:p>
                  </a:txBody>
                  <a:tcPr marL="0" marR="0" marT="0" marB="0" anchor="ctr" anchorCtr="0">
                    <a:lnL>
                      <a:noFill/>
                    </a:lnL>
                    <a:lnR>
                      <a:noFill/>
                    </a:lnR>
                    <a:lnT>
                      <a:noFill/>
                    </a:lnT>
                    <a:lnB>
                      <a:noFill/>
                    </a:lnB>
                    <a:solidFill>
                      <a:schemeClr val="accent4">
                        <a:lumMod val="20000"/>
                        <a:lumOff val="80000"/>
                      </a:schemeClr>
                    </a:solidFill>
                  </a:tcPr>
                </a:tc>
                <a:tc>
                  <a:txBody>
                    <a:bodyPr/>
                    <a:p>
                      <a:r>
                        <a:rPr sz="1800"/>
                        <a:t>Java-based + annotation-based (in Spring Boot).</a:t>
                      </a:r>
                      <a:endParaRPr sz="1800"/>
                    </a:p>
                  </a:txBody>
                  <a:tcPr marL="0" marR="0" marT="0" marB="0" anchor="ctr" anchorCtr="0">
                    <a:lnL>
                      <a:noFill/>
                    </a:lnL>
                    <a:lnR>
                      <a:noFill/>
                    </a:lnR>
                    <a:lnT>
                      <a:noFill/>
                    </a:lnT>
                    <a:lnB>
                      <a:noFill/>
                    </a:lnB>
                    <a:solidFill>
                      <a:schemeClr val="accent4">
                        <a:lumMod val="20000"/>
                        <a:lumOff val="80000"/>
                      </a:schemeClr>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9060" y="-635"/>
            <a:ext cx="11924665" cy="283210"/>
          </a:xfrm>
        </p:spPr>
        <p:txBody>
          <a:bodyPr>
            <a:normAutofit fontScale="90000"/>
          </a:bodyPr>
          <a:p>
            <a:pPr algn="ctr"/>
            <a:r>
              <a:rPr lang="en-US" sz="3200" b="1">
                <a:solidFill>
                  <a:srgbClr val="FF0000"/>
                </a:solidFill>
              </a:rPr>
              <a:t>Prerequisites for this Module</a:t>
            </a:r>
            <a:endParaRPr lang="en-US" sz="3200" b="1">
              <a:solidFill>
                <a:srgbClr val="FF0000"/>
              </a:solidFill>
            </a:endParaRPr>
          </a:p>
        </p:txBody>
      </p:sp>
      <p:sp>
        <p:nvSpPr>
          <p:cNvPr id="3" name="Content Placeholder 2"/>
          <p:cNvSpPr>
            <a:spLocks noGrp="1"/>
          </p:cNvSpPr>
          <p:nvPr>
            <p:ph idx="1"/>
          </p:nvPr>
        </p:nvSpPr>
        <p:spPr>
          <a:xfrm>
            <a:off x="180975" y="282575"/>
            <a:ext cx="11842115" cy="6576060"/>
          </a:xfrm>
        </p:spPr>
        <p:txBody>
          <a:bodyPr/>
          <a:p>
            <a:r>
              <a:rPr lang="en-US" altLang="en-US" sz="2000"/>
              <a:t>Core Java Review</a:t>
            </a:r>
            <a:endParaRPr lang="en-US" altLang="en-US" sz="2000"/>
          </a:p>
          <a:p>
            <a:r>
              <a:rPr lang="en-US" altLang="en-US" sz="2000"/>
              <a:t>OOP principles (Abstraction, Inheritance, Polymorphism, Encapsulation)</a:t>
            </a:r>
            <a:endParaRPr lang="en-US" altLang="en-US" sz="2000"/>
          </a:p>
          <a:p>
            <a:r>
              <a:rPr lang="en-US" altLang="en-US" sz="2000"/>
              <a:t>Interfaces vs Abstract Classes</a:t>
            </a:r>
            <a:endParaRPr lang="en-US" altLang="en-US" sz="2000"/>
          </a:p>
          <a:p>
            <a:r>
              <a:rPr lang="en-US" altLang="en-US" sz="2000"/>
              <a:t>Packages &amp; Access Modifiers</a:t>
            </a:r>
            <a:endParaRPr lang="en-US" altLang="en-US" sz="2000"/>
          </a:p>
          <a:p>
            <a:r>
              <a:rPr lang="en-US" altLang="en-US" sz="2000"/>
              <a:t>Exception Handling</a:t>
            </a:r>
            <a:endParaRPr lang="en-US" altLang="en-US" sz="2000"/>
          </a:p>
          <a:p>
            <a:r>
              <a:rPr lang="en-US" altLang="en-US" sz="2000"/>
              <a:t>Java Collections</a:t>
            </a:r>
            <a:endParaRPr lang="en-US" altLang="en-US" sz="2000"/>
          </a:p>
          <a:p>
            <a:r>
              <a:rPr lang="en-US" altLang="en-US" sz="2000"/>
              <a:t>Build Tools (Basic)</a:t>
            </a:r>
            <a:endParaRPr lang="en-US" altLang="en-US" sz="2000"/>
          </a:p>
          <a:p>
            <a:r>
              <a:rPr lang="en-US" altLang="en-US" sz="2000"/>
              <a:t>Maven basics,Project structure</a:t>
            </a:r>
            <a:endParaRPr lang="en-US" altLang="en-US" sz="2000"/>
          </a:p>
          <a:p>
            <a:r>
              <a:rPr lang="en-US" altLang="en-US" sz="2000"/>
              <a:t>pom.xml </a:t>
            </a:r>
            <a:endParaRPr lang="en-US" alt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66700"/>
          </a:xfrm>
        </p:spPr>
        <p:txBody>
          <a:bodyPr>
            <a:noAutofit/>
          </a:bodyPr>
          <a:p>
            <a:pPr algn="ctr"/>
            <a:r>
              <a:rPr lang="en-US" altLang="en-US" sz="2400" b="1">
                <a:sym typeface="+mn-ea"/>
              </a:rPr>
              <a:t>Configuration </a:t>
            </a:r>
            <a:endParaRPr lang="en-US" altLang="en-US" sz="2400" b="1">
              <a:sym typeface="+mn-ea"/>
            </a:endParaRPr>
          </a:p>
        </p:txBody>
      </p:sp>
      <p:sp>
        <p:nvSpPr>
          <p:cNvPr id="3" name="Content Placeholder 2"/>
          <p:cNvSpPr>
            <a:spLocks noGrp="1"/>
          </p:cNvSpPr>
          <p:nvPr>
            <p:ph idx="1"/>
          </p:nvPr>
        </p:nvSpPr>
        <p:spPr>
          <a:xfrm>
            <a:off x="112395" y="266700"/>
            <a:ext cx="11924665" cy="6322060"/>
          </a:xfrm>
        </p:spPr>
        <p:txBody>
          <a:bodyPr/>
          <a:p>
            <a:pPr marL="0" indent="0">
              <a:buNone/>
            </a:pPr>
            <a:r>
              <a:rPr lang="en-US" altLang="en-US" sz="1800" b="1"/>
              <a:t>Definition:</a:t>
            </a:r>
            <a:endParaRPr lang="en-US" altLang="en-US" sz="1800" b="1"/>
          </a:p>
          <a:p>
            <a:r>
              <a:rPr lang="en-US" altLang="en-US" sz="1800"/>
              <a:t>Configuration means defining how the application should behave — especially how its components (or beans in Spring) are created, connected, and managed.</a:t>
            </a:r>
            <a:endParaRPr lang="en-US" altLang="en-US" sz="1800"/>
          </a:p>
          <a:p>
            <a:r>
              <a:rPr lang="en-US" altLang="en-US" sz="1800"/>
              <a:t>In simpler terms:</a:t>
            </a:r>
            <a:endParaRPr lang="en-US" altLang="en-US" sz="1800"/>
          </a:p>
          <a:p>
            <a:r>
              <a:rPr lang="en-US" altLang="en-US" sz="1800"/>
              <a:t> Configuration tells the framework what objects to create, how to connect them, and what settings to use.</a:t>
            </a:r>
            <a:endParaRPr lang="en-US" altLang="en-US" sz="1800"/>
          </a:p>
        </p:txBody>
      </p:sp>
      <p:graphicFrame>
        <p:nvGraphicFramePr>
          <p:cNvPr id="4" name="Table 3"/>
          <p:cNvGraphicFramePr/>
          <p:nvPr>
            <p:custDataLst>
              <p:tags r:id="rId1"/>
            </p:custDataLst>
          </p:nvPr>
        </p:nvGraphicFramePr>
        <p:xfrm>
          <a:off x="111760" y="2007235"/>
          <a:ext cx="11925300" cy="1755140"/>
        </p:xfrm>
        <a:graphic>
          <a:graphicData uri="http://schemas.openxmlformats.org/drawingml/2006/table">
            <a:tbl>
              <a:tblPr/>
              <a:tblGrid>
                <a:gridCol w="2770505"/>
                <a:gridCol w="3934460"/>
                <a:gridCol w="5220335"/>
              </a:tblGrid>
              <a:tr h="351155">
                <a:tc>
                  <a:txBody>
                    <a:bodyPr/>
                    <a:p>
                      <a:pPr algn="ctr"/>
                      <a:r>
                        <a:rPr sz="1800" b="1"/>
                        <a:t>Aspect</a:t>
                      </a:r>
                      <a:endParaRPr sz="1800" b="1"/>
                    </a:p>
                  </a:txBody>
                  <a:tcPr marL="0" marR="0" marT="0" marB="0" anchor="ctr" anchorCtr="0">
                    <a:lnL>
                      <a:noFill/>
                    </a:lnL>
                    <a:lnR>
                      <a:noFill/>
                    </a:lnR>
                    <a:lnT>
                      <a:noFill/>
                    </a:lnT>
                    <a:lnB>
                      <a:noFill/>
                    </a:lnB>
                    <a:noFill/>
                  </a:tcPr>
                </a:tc>
                <a:tc>
                  <a:txBody>
                    <a:bodyPr/>
                    <a:p>
                      <a:pPr algn="ctr"/>
                      <a:r>
                        <a:rPr sz="1800" b="1"/>
                        <a:t>XML-Based Configuration</a:t>
                      </a:r>
                      <a:endParaRPr sz="1800" b="1"/>
                    </a:p>
                  </a:txBody>
                  <a:tcPr marL="0" marR="0" marT="0" marB="0" anchor="ctr" anchorCtr="0">
                    <a:lnL>
                      <a:noFill/>
                    </a:lnL>
                    <a:lnR>
                      <a:noFill/>
                    </a:lnR>
                    <a:lnT>
                      <a:noFill/>
                    </a:lnT>
                    <a:lnB>
                      <a:noFill/>
                    </a:lnB>
                    <a:noFill/>
                  </a:tcPr>
                </a:tc>
                <a:tc>
                  <a:txBody>
                    <a:bodyPr/>
                    <a:p>
                      <a:pPr algn="ctr"/>
                      <a:r>
                        <a:rPr sz="1800" b="1"/>
                        <a:t>Java-Based Configuration</a:t>
                      </a:r>
                      <a:endParaRPr sz="1800" b="1"/>
                    </a:p>
                  </a:txBody>
                  <a:tcPr marL="0" marR="0" marT="0" marB="0" anchor="ctr" anchorCtr="0">
                    <a:lnL>
                      <a:noFill/>
                    </a:lnL>
                    <a:lnR>
                      <a:noFill/>
                    </a:lnR>
                    <a:lnT>
                      <a:noFill/>
                    </a:lnT>
                    <a:lnB>
                      <a:noFill/>
                    </a:lnB>
                    <a:noFill/>
                  </a:tcPr>
                </a:tc>
              </a:tr>
              <a:tr h="701675">
                <a:tc>
                  <a:txBody>
                    <a:bodyPr/>
                    <a:p>
                      <a:r>
                        <a:rPr sz="1600"/>
                        <a:t>Definition Style</a:t>
                      </a:r>
                      <a:endParaRPr sz="1600"/>
                    </a:p>
                  </a:txBody>
                  <a:tcPr marL="0" marR="0" marT="0" marB="0" anchor="ctr" anchorCtr="0">
                    <a:lnL>
                      <a:noFill/>
                    </a:lnL>
                    <a:lnR>
                      <a:noFill/>
                    </a:lnR>
                    <a:lnT>
                      <a:noFill/>
                    </a:lnT>
                    <a:lnB>
                      <a:noFill/>
                    </a:lnB>
                    <a:noFill/>
                  </a:tcPr>
                </a:tc>
                <a:tc>
                  <a:txBody>
                    <a:bodyPr/>
                    <a:p>
                      <a:r>
                        <a:rPr sz="1600"/>
                        <a:t>Beans and dependencies are defined in XML files (e.g., applicationContext.xml)</a:t>
                      </a:r>
                      <a:endParaRPr sz="1600"/>
                    </a:p>
                  </a:txBody>
                  <a:tcPr marL="0" marR="0" marT="0" marB="0" anchor="ctr" anchorCtr="0">
                    <a:lnL>
                      <a:noFill/>
                    </a:lnL>
                    <a:lnR>
                      <a:noFill/>
                    </a:lnR>
                    <a:lnT>
                      <a:noFill/>
                    </a:lnT>
                    <a:lnB>
                      <a:noFill/>
                    </a:lnB>
                    <a:noFill/>
                  </a:tcPr>
                </a:tc>
                <a:tc>
                  <a:txBody>
                    <a:bodyPr/>
                    <a:p>
                      <a:r>
                        <a:rPr sz="1600"/>
                        <a:t>Beans and dependencies are defined using Java classes and annotations (e.g., @Configuration, @Bean)</a:t>
                      </a:r>
                      <a:endParaRPr sz="1600"/>
                    </a:p>
                  </a:txBody>
                  <a:tcPr marL="0" marR="0" marT="0" marB="0" anchor="ctr" anchorCtr="0">
                    <a:lnL>
                      <a:noFill/>
                    </a:lnL>
                    <a:lnR>
                      <a:noFill/>
                    </a:lnR>
                    <a:lnT>
                      <a:noFill/>
                    </a:lnT>
                    <a:lnB>
                      <a:noFill/>
                    </a:lnB>
                    <a:noFill/>
                  </a:tcPr>
                </a:tc>
              </a:tr>
              <a:tr h="351155">
                <a:tc>
                  <a:txBody>
                    <a:bodyPr/>
                    <a:p>
                      <a:r>
                        <a:rPr sz="1600"/>
                        <a:t>Introduced In</a:t>
                      </a:r>
                      <a:endParaRPr sz="1600"/>
                    </a:p>
                  </a:txBody>
                  <a:tcPr marL="0" marR="0" marT="0" marB="0" anchor="ctr" anchorCtr="0">
                    <a:lnL>
                      <a:noFill/>
                    </a:lnL>
                    <a:lnR>
                      <a:noFill/>
                    </a:lnR>
                    <a:lnT>
                      <a:noFill/>
                    </a:lnT>
                    <a:lnB>
                      <a:noFill/>
                    </a:lnB>
                    <a:noFill/>
                  </a:tcPr>
                </a:tc>
                <a:tc>
                  <a:txBody>
                    <a:bodyPr/>
                    <a:p>
                      <a:r>
                        <a:rPr sz="1600"/>
                        <a:t>Original Spring (early versions)</a:t>
                      </a:r>
                      <a:endParaRPr sz="1600"/>
                    </a:p>
                  </a:txBody>
                  <a:tcPr marL="0" marR="0" marT="0" marB="0" anchor="ctr" anchorCtr="0">
                    <a:lnL>
                      <a:noFill/>
                    </a:lnL>
                    <a:lnR>
                      <a:noFill/>
                    </a:lnR>
                    <a:lnT>
                      <a:noFill/>
                    </a:lnT>
                    <a:lnB>
                      <a:noFill/>
                    </a:lnB>
                    <a:noFill/>
                  </a:tcPr>
                </a:tc>
                <a:tc>
                  <a:txBody>
                    <a:bodyPr/>
                    <a:p>
                      <a:r>
                        <a:rPr sz="1600"/>
                        <a:t>Spring 3.0 and later</a:t>
                      </a:r>
                      <a:endParaRPr sz="1600"/>
                    </a:p>
                  </a:txBody>
                  <a:tcPr marL="0" marR="0" marT="0" marB="0" anchor="ctr" anchorCtr="0">
                    <a:lnL>
                      <a:noFill/>
                    </a:lnL>
                    <a:lnR>
                      <a:noFill/>
                    </a:lnR>
                    <a:lnT>
                      <a:noFill/>
                    </a:lnT>
                    <a:lnB>
                      <a:noFill/>
                    </a:lnB>
                    <a:noFill/>
                  </a:tcPr>
                </a:tc>
              </a:tr>
              <a:tr h="351155">
                <a:tc>
                  <a:txBody>
                    <a:bodyPr/>
                    <a:p>
                      <a:r>
                        <a:rPr sz="1600"/>
                        <a:t>Primary Use Case</a:t>
                      </a:r>
                      <a:endParaRPr sz="1600"/>
                    </a:p>
                  </a:txBody>
                  <a:tcPr marL="0" marR="0" marT="0" marB="0" anchor="ctr" anchorCtr="0">
                    <a:lnL>
                      <a:noFill/>
                    </a:lnL>
                    <a:lnR>
                      <a:noFill/>
                    </a:lnR>
                    <a:lnT>
                      <a:noFill/>
                    </a:lnT>
                    <a:lnB>
                      <a:noFill/>
                    </a:lnB>
                    <a:noFill/>
                  </a:tcPr>
                </a:tc>
                <a:tc>
                  <a:txBody>
                    <a:bodyPr/>
                    <a:p>
                      <a:r>
                        <a:rPr sz="1600"/>
                        <a:t>Externalized, declarative configuration</a:t>
                      </a:r>
                      <a:endParaRPr sz="1600"/>
                    </a:p>
                  </a:txBody>
                  <a:tcPr marL="0" marR="0" marT="0" marB="0" anchor="ctr" anchorCtr="0">
                    <a:lnL>
                      <a:noFill/>
                    </a:lnL>
                    <a:lnR>
                      <a:noFill/>
                    </a:lnR>
                    <a:lnT>
                      <a:noFill/>
                    </a:lnT>
                    <a:lnB>
                      <a:noFill/>
                    </a:lnB>
                    <a:noFill/>
                  </a:tcPr>
                </a:tc>
                <a:tc>
                  <a:txBody>
                    <a:bodyPr/>
                    <a:p>
                      <a:r>
                        <a:rPr sz="1600"/>
                        <a:t>Type-safe, code-centric configuration</a:t>
                      </a:r>
                      <a:endParaRPr sz="16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111760" y="4253230"/>
          <a:ext cx="11703050" cy="2298065"/>
        </p:xfrm>
        <a:graphic>
          <a:graphicData uri="http://schemas.openxmlformats.org/drawingml/2006/table">
            <a:tbl>
              <a:tblPr/>
              <a:tblGrid>
                <a:gridCol w="2945130"/>
                <a:gridCol w="3928745"/>
                <a:gridCol w="4829175"/>
              </a:tblGrid>
              <a:tr h="328295">
                <a:tc>
                  <a:txBody>
                    <a:bodyPr/>
                    <a:p>
                      <a:pPr algn="ctr"/>
                      <a:r>
                        <a:rPr sz="1800" b="1"/>
                        <a:t>Aspect</a:t>
                      </a:r>
                      <a:endParaRPr sz="1800" b="1"/>
                    </a:p>
                  </a:txBody>
                  <a:tcPr marL="0" marR="0" marT="0" marB="0" anchor="ctr" anchorCtr="0">
                    <a:lnL>
                      <a:noFill/>
                    </a:lnL>
                    <a:lnR>
                      <a:noFill/>
                    </a:lnR>
                    <a:lnT>
                      <a:noFill/>
                    </a:lnT>
                    <a:lnB>
                      <a:noFill/>
                    </a:lnB>
                    <a:noFill/>
                  </a:tcPr>
                </a:tc>
                <a:tc>
                  <a:txBody>
                    <a:bodyPr/>
                    <a:p>
                      <a:pPr algn="ctr"/>
                      <a:r>
                        <a:rPr sz="1800" b="1"/>
                        <a:t>Tight Coupling (Java)</a:t>
                      </a:r>
                      <a:endParaRPr sz="1800" b="1"/>
                    </a:p>
                  </a:txBody>
                  <a:tcPr marL="0" marR="0" marT="0" marB="0" anchor="ctr" anchorCtr="0">
                    <a:lnL>
                      <a:noFill/>
                    </a:lnL>
                    <a:lnR>
                      <a:noFill/>
                    </a:lnR>
                    <a:lnT>
                      <a:noFill/>
                    </a:lnT>
                    <a:lnB>
                      <a:noFill/>
                    </a:lnB>
                    <a:noFill/>
                  </a:tcPr>
                </a:tc>
                <a:tc>
                  <a:txBody>
                    <a:bodyPr/>
                    <a:p>
                      <a:pPr algn="ctr"/>
                      <a:r>
                        <a:rPr sz="1800" b="1"/>
                        <a:t>Loose Coupling (Java + Spring)</a:t>
                      </a:r>
                      <a:endParaRPr sz="1800" b="1"/>
                    </a:p>
                  </a:txBody>
                  <a:tcPr marL="0" marR="0" marT="0" marB="0" anchor="ctr" anchorCtr="0">
                    <a:lnL>
                      <a:noFill/>
                    </a:lnL>
                    <a:lnR>
                      <a:noFill/>
                    </a:lnR>
                    <a:lnT>
                      <a:noFill/>
                    </a:lnT>
                    <a:lnB>
                      <a:noFill/>
                    </a:lnB>
                    <a:noFill/>
                  </a:tcPr>
                </a:tc>
              </a:tr>
              <a:tr h="328295">
                <a:tc>
                  <a:txBody>
                    <a:bodyPr/>
                    <a:p>
                      <a:r>
                        <a:rPr sz="1800"/>
                        <a:t>Dependency</a:t>
                      </a:r>
                      <a:endParaRPr sz="1800"/>
                    </a:p>
                  </a:txBody>
                  <a:tcPr marL="0" marR="0" marT="0" marB="0" anchor="ctr" anchorCtr="0">
                    <a:lnL>
                      <a:noFill/>
                    </a:lnL>
                    <a:lnR>
                      <a:noFill/>
                    </a:lnR>
                    <a:lnT>
                      <a:noFill/>
                    </a:lnT>
                    <a:lnB>
                      <a:noFill/>
                    </a:lnB>
                    <a:noFill/>
                  </a:tcPr>
                </a:tc>
                <a:tc>
                  <a:txBody>
                    <a:bodyPr/>
                    <a:p>
                      <a:r>
                        <a:rPr sz="1800"/>
                        <a:t>Directly on concrete class</a:t>
                      </a:r>
                      <a:endParaRPr sz="1800"/>
                    </a:p>
                  </a:txBody>
                  <a:tcPr marL="0" marR="0" marT="0" marB="0" anchor="ctr" anchorCtr="0">
                    <a:lnL>
                      <a:noFill/>
                    </a:lnL>
                    <a:lnR>
                      <a:noFill/>
                    </a:lnR>
                    <a:lnT>
                      <a:noFill/>
                    </a:lnT>
                    <a:lnB>
                      <a:noFill/>
                    </a:lnB>
                    <a:noFill/>
                  </a:tcPr>
                </a:tc>
                <a:tc>
                  <a:txBody>
                    <a:bodyPr/>
                    <a:p>
                      <a:r>
                        <a:rPr sz="1800"/>
                        <a:t>On interface or abstraction</a:t>
                      </a:r>
                      <a:endParaRPr sz="1800"/>
                    </a:p>
                  </a:txBody>
                  <a:tcPr marL="0" marR="0" marT="0" marB="0" anchor="ctr" anchorCtr="0">
                    <a:lnL>
                      <a:noFill/>
                    </a:lnL>
                    <a:lnR>
                      <a:noFill/>
                    </a:lnR>
                    <a:lnT>
                      <a:noFill/>
                    </a:lnT>
                    <a:lnB>
                      <a:noFill/>
                    </a:lnB>
                    <a:noFill/>
                  </a:tcPr>
                </a:tc>
              </a:tr>
              <a:tr h="328295">
                <a:tc>
                  <a:txBody>
                    <a:bodyPr/>
                    <a:p>
                      <a:r>
                        <a:rPr sz="1800"/>
                        <a:t>Object Creation</a:t>
                      </a:r>
                      <a:endParaRPr sz="1800"/>
                    </a:p>
                  </a:txBody>
                  <a:tcPr marL="0" marR="0" marT="0" marB="0" anchor="ctr" anchorCtr="0">
                    <a:lnL>
                      <a:noFill/>
                    </a:lnL>
                    <a:lnR>
                      <a:noFill/>
                    </a:lnR>
                    <a:lnT>
                      <a:noFill/>
                    </a:lnT>
                    <a:lnB>
                      <a:noFill/>
                    </a:lnB>
                    <a:noFill/>
                  </a:tcPr>
                </a:tc>
                <a:tc>
                  <a:txBody>
                    <a:bodyPr/>
                    <a:p>
                      <a:r>
                        <a:rPr sz="1800"/>
                        <a:t>new keyword inside class</a:t>
                      </a:r>
                      <a:endParaRPr sz="1800"/>
                    </a:p>
                  </a:txBody>
                  <a:tcPr marL="0" marR="0" marT="0" marB="0" anchor="ctr" anchorCtr="0">
                    <a:lnL>
                      <a:noFill/>
                    </a:lnL>
                    <a:lnR>
                      <a:noFill/>
                    </a:lnR>
                    <a:lnT>
                      <a:noFill/>
                    </a:lnT>
                    <a:lnB>
                      <a:noFill/>
                    </a:lnB>
                    <a:noFill/>
                  </a:tcPr>
                </a:tc>
                <a:tc>
                  <a:txBody>
                    <a:bodyPr/>
                    <a:p>
                      <a:r>
                        <a:rPr sz="1800"/>
                        <a:t>Injected by Spring DI (@Autowired)</a:t>
                      </a:r>
                      <a:endParaRPr sz="1800"/>
                    </a:p>
                  </a:txBody>
                  <a:tcPr marL="0" marR="0" marT="0" marB="0" anchor="ctr" anchorCtr="0">
                    <a:lnL>
                      <a:noFill/>
                    </a:lnL>
                    <a:lnR>
                      <a:noFill/>
                    </a:lnR>
                    <a:lnT>
                      <a:noFill/>
                    </a:lnT>
                    <a:lnB>
                      <a:noFill/>
                    </a:lnB>
                    <a:noFill/>
                  </a:tcPr>
                </a:tc>
              </a:tr>
              <a:tr h="328295">
                <a:tc>
                  <a:txBody>
                    <a:bodyPr/>
                    <a:p>
                      <a:r>
                        <a:rPr sz="1800"/>
                        <a:t>Flexibility</a:t>
                      </a:r>
                      <a:endParaRPr sz="1800"/>
                    </a:p>
                  </a:txBody>
                  <a:tcPr marL="0" marR="0" marT="0" marB="0" anchor="ctr" anchorCtr="0">
                    <a:lnL>
                      <a:noFill/>
                    </a:lnL>
                    <a:lnR>
                      <a:noFill/>
                    </a:lnR>
                    <a:lnT>
                      <a:noFill/>
                    </a:lnT>
                    <a:lnB>
                      <a:noFill/>
                    </a:lnB>
                    <a:noFill/>
                  </a:tcPr>
                </a:tc>
                <a:tc>
                  <a:txBody>
                    <a:bodyPr/>
                    <a:p>
                      <a:r>
                        <a:rPr sz="1800"/>
                        <a:t>Low</a:t>
                      </a:r>
                      <a:endParaRPr sz="1800"/>
                    </a:p>
                  </a:txBody>
                  <a:tcPr marL="0" marR="0" marT="0" marB="0" anchor="ctr" anchorCtr="0">
                    <a:lnL>
                      <a:noFill/>
                    </a:lnL>
                    <a:lnR>
                      <a:noFill/>
                    </a:lnR>
                    <a:lnT>
                      <a:noFill/>
                    </a:lnT>
                    <a:lnB>
                      <a:noFill/>
                    </a:lnB>
                    <a:noFill/>
                  </a:tcPr>
                </a:tc>
                <a:tc>
                  <a:txBody>
                    <a:bodyPr/>
                    <a:p>
                      <a:r>
                        <a:rPr sz="1800"/>
                        <a:t>High</a:t>
                      </a:r>
                      <a:endParaRPr sz="1800"/>
                    </a:p>
                  </a:txBody>
                  <a:tcPr marL="0" marR="0" marT="0" marB="0" anchor="ctr" anchorCtr="0">
                    <a:lnL>
                      <a:noFill/>
                    </a:lnL>
                    <a:lnR>
                      <a:noFill/>
                    </a:lnR>
                    <a:lnT>
                      <a:noFill/>
                    </a:lnT>
                    <a:lnB>
                      <a:noFill/>
                    </a:lnB>
                    <a:noFill/>
                  </a:tcPr>
                </a:tc>
              </a:tr>
              <a:tr h="328295">
                <a:tc>
                  <a:txBody>
                    <a:bodyPr/>
                    <a:p>
                      <a:r>
                        <a:rPr sz="1800"/>
                        <a:t>Testability</a:t>
                      </a:r>
                      <a:endParaRPr sz="1800"/>
                    </a:p>
                  </a:txBody>
                  <a:tcPr marL="0" marR="0" marT="0" marB="0" anchor="ctr" anchorCtr="0">
                    <a:lnL>
                      <a:noFill/>
                    </a:lnL>
                    <a:lnR>
                      <a:noFill/>
                    </a:lnR>
                    <a:lnT>
                      <a:noFill/>
                    </a:lnT>
                    <a:lnB>
                      <a:noFill/>
                    </a:lnB>
                    <a:noFill/>
                  </a:tcPr>
                </a:tc>
                <a:tc>
                  <a:txBody>
                    <a:bodyPr/>
                    <a:p>
                      <a:r>
                        <a:rPr sz="1800"/>
                        <a:t>Difficult</a:t>
                      </a:r>
                      <a:endParaRPr sz="1800"/>
                    </a:p>
                  </a:txBody>
                  <a:tcPr marL="0" marR="0" marT="0" marB="0" anchor="ctr" anchorCtr="0">
                    <a:lnL>
                      <a:noFill/>
                    </a:lnL>
                    <a:lnR>
                      <a:noFill/>
                    </a:lnR>
                    <a:lnT>
                      <a:noFill/>
                    </a:lnT>
                    <a:lnB>
                      <a:noFill/>
                    </a:lnB>
                    <a:noFill/>
                  </a:tcPr>
                </a:tc>
                <a:tc>
                  <a:txBody>
                    <a:bodyPr/>
                    <a:p>
                      <a:r>
                        <a:rPr sz="1800"/>
                        <a:t>Easy (use mocks)</a:t>
                      </a:r>
                      <a:endParaRPr sz="1800"/>
                    </a:p>
                  </a:txBody>
                  <a:tcPr marL="0" marR="0" marT="0" marB="0" anchor="ctr" anchorCtr="0">
                    <a:lnL>
                      <a:noFill/>
                    </a:lnL>
                    <a:lnR>
                      <a:noFill/>
                    </a:lnR>
                    <a:lnT>
                      <a:noFill/>
                    </a:lnT>
                    <a:lnB>
                      <a:noFill/>
                    </a:lnB>
                    <a:noFill/>
                  </a:tcPr>
                </a:tc>
              </a:tr>
              <a:tr h="328295">
                <a:tc>
                  <a:txBody>
                    <a:bodyPr/>
                    <a:p>
                      <a:r>
                        <a:rPr sz="1800"/>
                        <a:t>Maintenance</a:t>
                      </a:r>
                      <a:endParaRPr sz="1800"/>
                    </a:p>
                  </a:txBody>
                  <a:tcPr marL="0" marR="0" marT="0" marB="0" anchor="ctr" anchorCtr="0">
                    <a:lnL>
                      <a:noFill/>
                    </a:lnL>
                    <a:lnR>
                      <a:noFill/>
                    </a:lnR>
                    <a:lnT>
                      <a:noFill/>
                    </a:lnT>
                    <a:lnB>
                      <a:noFill/>
                    </a:lnB>
                    <a:noFill/>
                  </a:tcPr>
                </a:tc>
                <a:tc>
                  <a:txBody>
                    <a:bodyPr/>
                    <a:p>
                      <a:r>
                        <a:rPr sz="1800"/>
                        <a:t>Hard</a:t>
                      </a:r>
                      <a:endParaRPr sz="1800"/>
                    </a:p>
                  </a:txBody>
                  <a:tcPr marL="0" marR="0" marT="0" marB="0" anchor="ctr" anchorCtr="0">
                    <a:lnL>
                      <a:noFill/>
                    </a:lnL>
                    <a:lnR>
                      <a:noFill/>
                    </a:lnR>
                    <a:lnT>
                      <a:noFill/>
                    </a:lnT>
                    <a:lnB>
                      <a:noFill/>
                    </a:lnB>
                    <a:noFill/>
                  </a:tcPr>
                </a:tc>
                <a:tc>
                  <a:txBody>
                    <a:bodyPr/>
                    <a:p>
                      <a:r>
                        <a:rPr sz="1800"/>
                        <a:t>Easy</a:t>
                      </a:r>
                      <a:endParaRPr sz="1800"/>
                    </a:p>
                  </a:txBody>
                  <a:tcPr marL="0" marR="0" marT="0" marB="0" anchor="ctr" anchorCtr="0">
                    <a:lnL>
                      <a:noFill/>
                    </a:lnL>
                    <a:lnR>
                      <a:noFill/>
                    </a:lnR>
                    <a:lnT>
                      <a:noFill/>
                    </a:lnT>
                    <a:lnB>
                      <a:noFill/>
                    </a:lnB>
                    <a:noFill/>
                  </a:tcPr>
                </a:tc>
              </a:tr>
              <a:tr h="328295">
                <a:tc>
                  <a:txBody>
                    <a:bodyPr/>
                    <a:p>
                      <a:r>
                        <a:rPr sz="1800"/>
                        <a:t>Example</a:t>
                      </a:r>
                      <a:endParaRPr sz="1800"/>
                    </a:p>
                  </a:txBody>
                  <a:tcPr marL="0" marR="0" marT="0" marB="0" anchor="ctr" anchorCtr="0">
                    <a:lnL>
                      <a:noFill/>
                    </a:lnL>
                    <a:lnR>
                      <a:noFill/>
                    </a:lnR>
                    <a:lnT>
                      <a:noFill/>
                    </a:lnT>
                    <a:lnB>
                      <a:noFill/>
                    </a:lnB>
                    <a:noFill/>
                  </a:tcPr>
                </a:tc>
                <a:tc>
                  <a:txBody>
                    <a:bodyPr/>
                    <a:p>
                      <a:r>
                        <a:rPr sz="1800"/>
                        <a:t>Car car = new Engine();</a:t>
                      </a:r>
                      <a:endParaRPr sz="1800"/>
                    </a:p>
                  </a:txBody>
                  <a:tcPr marL="0" marR="0" marT="0" marB="0" anchor="ctr" anchorCtr="0">
                    <a:lnL>
                      <a:noFill/>
                    </a:lnL>
                    <a:lnR>
                      <a:noFill/>
                    </a:lnR>
                    <a:lnT>
                      <a:noFill/>
                    </a:lnT>
                    <a:lnB>
                      <a:noFill/>
                    </a:lnB>
                    <a:noFill/>
                  </a:tcPr>
                </a:tc>
                <a:tc>
                  <a:txBody>
                    <a:bodyPr/>
                    <a:p>
                      <a:r>
                        <a:rPr sz="1800"/>
                        <a:t>Car car = new PetrolEngine(); (injected)</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545465"/>
          </a:xfrm>
        </p:spPr>
        <p:txBody>
          <a:bodyPr/>
          <a:p>
            <a:pPr algn="ctr"/>
            <a:r>
              <a:rPr lang="en-US" altLang="en-US" sz="2000" b="1">
                <a:sym typeface="+mn-ea"/>
              </a:rPr>
              <a:t>Coupling in Java and Spring</a:t>
            </a:r>
            <a:endParaRPr lang="en-US" altLang="en-US" sz="2000" b="1">
              <a:sym typeface="+mn-ea"/>
            </a:endParaRPr>
          </a:p>
        </p:txBody>
      </p:sp>
      <p:sp>
        <p:nvSpPr>
          <p:cNvPr id="3" name="Content Placeholder 2"/>
          <p:cNvSpPr>
            <a:spLocks noGrp="1"/>
          </p:cNvSpPr>
          <p:nvPr>
            <p:ph idx="1"/>
          </p:nvPr>
        </p:nvSpPr>
        <p:spPr>
          <a:xfrm>
            <a:off x="167005" y="404495"/>
            <a:ext cx="12024995" cy="6280785"/>
          </a:xfrm>
        </p:spPr>
        <p:txBody>
          <a:bodyPr>
            <a:normAutofit lnSpcReduction="10000"/>
          </a:bodyPr>
          <a:p>
            <a:r>
              <a:rPr lang="en-US" altLang="en-US" sz="1800" b="1"/>
              <a:t>1. What is Coupling?</a:t>
            </a:r>
            <a:endParaRPr lang="en-US" altLang="en-US" sz="1800"/>
          </a:p>
          <a:p>
            <a:r>
              <a:rPr lang="en-US" altLang="en-US" sz="1800"/>
              <a:t>Coupling in software engineering refers to the degree of dependency between classes or modules.</a:t>
            </a:r>
            <a:endParaRPr lang="en-US" altLang="en-US" sz="1800"/>
          </a:p>
          <a:p>
            <a:r>
              <a:rPr lang="en-US" altLang="en-US" sz="1800"/>
              <a:t>In Java, coupling shows how one class relies on another class to function.</a:t>
            </a:r>
            <a:endParaRPr lang="en-US" altLang="en-US" sz="1800"/>
          </a:p>
          <a:p>
            <a:r>
              <a:rPr lang="en-US" altLang="en-US" sz="1800"/>
              <a:t>In Spring Framework, coupling is minimized using Dependency Injection (DI) and Inversion of Control (IoC), which promotes modular and maintainable applications.</a:t>
            </a:r>
            <a:endParaRPr lang="en-US" altLang="en-US" sz="1800"/>
          </a:p>
          <a:p>
            <a:r>
              <a:rPr lang="en-US" altLang="en-US" sz="1800"/>
              <a:t>Goal: Reduce coupling to achieve a flexible, testable, and scalable system.</a:t>
            </a:r>
            <a:endParaRPr lang="en-US" altLang="en-US" sz="1800"/>
          </a:p>
          <a:p>
            <a:endParaRPr lang="en-US" altLang="en-US" sz="1800"/>
          </a:p>
          <a:p>
            <a:pPr marL="0" indent="0">
              <a:buNone/>
            </a:pPr>
            <a:endParaRPr lang="en-US" altLang="en-US" sz="1800"/>
          </a:p>
        </p:txBody>
      </p:sp>
      <p:sp>
        <p:nvSpPr>
          <p:cNvPr id="4" name="Text Box 3"/>
          <p:cNvSpPr txBox="1"/>
          <p:nvPr/>
        </p:nvSpPr>
        <p:spPr>
          <a:xfrm>
            <a:off x="167005" y="3230245"/>
            <a:ext cx="5575935" cy="3545840"/>
          </a:xfrm>
          <a:prstGeom prst="rect">
            <a:avLst/>
          </a:prstGeom>
          <a:noFill/>
        </p:spPr>
        <p:txBody>
          <a:bodyPr wrap="square" rtlCol="0" anchor="t">
            <a:noAutofit/>
          </a:bodyPr>
          <a:p>
            <a:pPr marL="0" indent="0">
              <a:buNone/>
            </a:pPr>
            <a:r>
              <a:rPr lang="en-US" altLang="en-US">
                <a:sym typeface="+mn-ea"/>
              </a:rPr>
              <a:t>2. Tight Coupling (High Coupling)</a:t>
            </a:r>
            <a:endParaRPr lang="en-US" altLang="en-US" sz="1800"/>
          </a:p>
          <a:p>
            <a:pPr marL="0" indent="0">
              <a:buNone/>
            </a:pPr>
            <a:r>
              <a:rPr lang="en-US" altLang="en-US" b="1">
                <a:sym typeface="+mn-ea"/>
              </a:rPr>
              <a:t>Definition:</a:t>
            </a:r>
            <a:endParaRPr lang="en-US" altLang="en-US" sz="1800" b="1"/>
          </a:p>
          <a:p>
            <a:pPr marL="0" indent="0">
              <a:buNone/>
            </a:pPr>
            <a:r>
              <a:rPr lang="en-US" altLang="en-US">
                <a:sym typeface="+mn-ea"/>
              </a:rPr>
              <a:t>Tight coupling occurs when a Java class directly</a:t>
            </a:r>
            <a:endParaRPr lang="en-US" altLang="en-US" sz="1800"/>
          </a:p>
          <a:p>
            <a:pPr marL="0" indent="0">
              <a:buNone/>
            </a:pPr>
            <a:r>
              <a:rPr lang="en-US" altLang="en-US">
                <a:sym typeface="+mn-ea"/>
              </a:rPr>
              <a:t>depends on another concrete class.</a:t>
            </a:r>
            <a:endParaRPr lang="en-US" altLang="en-US" sz="1800"/>
          </a:p>
          <a:p>
            <a:pPr marL="0" indent="0">
              <a:buNone/>
            </a:pPr>
            <a:r>
              <a:rPr lang="en-US" altLang="en-US">
                <a:sym typeface="+mn-ea"/>
              </a:rPr>
              <a:t>A small change in one class can impact dependent classes.</a:t>
            </a:r>
            <a:endParaRPr lang="en-US" altLang="en-US" sz="1800"/>
          </a:p>
          <a:p>
            <a:pPr marL="0" indent="0">
              <a:buNone/>
            </a:pPr>
            <a:r>
              <a:rPr lang="en-US" altLang="en-US" b="1">
                <a:sym typeface="+mn-ea"/>
              </a:rPr>
              <a:t>Characteristics in Java:</a:t>
            </a:r>
            <a:endParaRPr lang="en-US" altLang="en-US" sz="1800" b="1"/>
          </a:p>
          <a:p>
            <a:pPr marL="285750" indent="-285750">
              <a:buFont typeface="Arial" panose="020B0604020202020204" pitchFamily="34" charset="0"/>
              <a:buChar char="•"/>
            </a:pPr>
            <a:r>
              <a:rPr lang="en-US" altLang="en-US">
                <a:sym typeface="+mn-ea"/>
              </a:rPr>
              <a:t>Direct object creation using new.</a:t>
            </a:r>
            <a:endParaRPr lang="en-US" altLang="en-US" sz="1800"/>
          </a:p>
          <a:p>
            <a:pPr marL="285750" indent="-285750">
              <a:buFont typeface="Arial" panose="020B0604020202020204" pitchFamily="34" charset="0"/>
              <a:buChar char="•"/>
            </a:pPr>
            <a:r>
              <a:rPr lang="en-US" altLang="en-US">
                <a:sym typeface="+mn-ea"/>
              </a:rPr>
              <a:t>Hard-coded dependencies.</a:t>
            </a:r>
            <a:endParaRPr lang="en-US" altLang="en-US" sz="1800"/>
          </a:p>
          <a:p>
            <a:pPr marL="285750" indent="-285750">
              <a:buFont typeface="Arial" panose="020B0604020202020204" pitchFamily="34" charset="0"/>
              <a:buChar char="•"/>
            </a:pPr>
            <a:r>
              <a:rPr lang="en-US" altLang="en-US">
                <a:sym typeface="+mn-ea"/>
              </a:rPr>
              <a:t>Low flexibility and reusability.</a:t>
            </a:r>
            <a:endParaRPr lang="en-US" altLang="en-US" sz="1800"/>
          </a:p>
          <a:p>
            <a:pPr marL="285750" indent="-285750">
              <a:buFont typeface="Arial" panose="020B0604020202020204" pitchFamily="34" charset="0"/>
              <a:buChar char="•"/>
            </a:pPr>
            <a:r>
              <a:rPr lang="en-US" altLang="en-US">
                <a:sym typeface="+mn-ea"/>
              </a:rPr>
              <a:t>Difficult to unit test.</a:t>
            </a:r>
            <a:endParaRPr lang="en-US" altLang="en-US">
              <a:sym typeface="+mn-ea"/>
            </a:endParaRPr>
          </a:p>
        </p:txBody>
      </p:sp>
      <p:sp>
        <p:nvSpPr>
          <p:cNvPr id="5" name="Text Box 4"/>
          <p:cNvSpPr txBox="1"/>
          <p:nvPr/>
        </p:nvSpPr>
        <p:spPr>
          <a:xfrm>
            <a:off x="6198235" y="3230245"/>
            <a:ext cx="5080000" cy="2861945"/>
          </a:xfrm>
          <a:prstGeom prst="rect">
            <a:avLst/>
          </a:prstGeom>
        </p:spPr>
        <p:txBody>
          <a:bodyPr>
            <a:noAutofit/>
          </a:bodyPr>
          <a:p>
            <a:r>
              <a:rPr sz="1600"/>
              <a:t>Hard to change or extend functionality.</a:t>
            </a:r>
            <a:endParaRPr sz="1600"/>
          </a:p>
          <a:p>
            <a:endParaRPr sz="1600"/>
          </a:p>
          <a:p>
            <a:r>
              <a:rPr sz="1600"/>
              <a:t>Low testability (cannot mock Engine easily).</a:t>
            </a:r>
            <a:endParaRPr sz="1600"/>
          </a:p>
          <a:p>
            <a:endParaRPr sz="1600"/>
          </a:p>
          <a:p>
            <a:r>
              <a:rPr sz="1600"/>
              <a:t>Code is rigid and less reusable.</a:t>
            </a:r>
            <a:endParaRPr sz="1600"/>
          </a:p>
          <a:p>
            <a:endParaRPr sz="1600"/>
          </a:p>
          <a:p>
            <a:r>
              <a:rPr lang="en-US" altLang="en-US" sz="1600"/>
              <a:t>Spring Perspective:</a:t>
            </a:r>
            <a:endParaRPr lang="en-US" altLang="en-US" sz="1600"/>
          </a:p>
          <a:p>
            <a:r>
              <a:rPr lang="en-US" altLang="en-US" sz="1600"/>
              <a:t>Spring discourages tight coupling because it reduces flexibility and makes testing difficult.</a:t>
            </a:r>
            <a:endParaRPr lang="en-US" alt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128270"/>
            <a:ext cx="5301615" cy="6191885"/>
          </a:xfrm>
        </p:spPr>
        <p:txBody>
          <a:bodyPr/>
          <a:p>
            <a:pPr marL="0" indent="0">
              <a:buNone/>
            </a:pPr>
            <a:r>
              <a:rPr lang="en-US" altLang="en-US" sz="2000" b="1"/>
              <a:t>Loose Coupling (Low Coupling)</a:t>
            </a:r>
            <a:endParaRPr lang="en-US" altLang="en-US" sz="2000" b="1"/>
          </a:p>
          <a:p>
            <a:pPr marL="0" indent="0">
              <a:buNone/>
            </a:pPr>
            <a:r>
              <a:rPr lang="en-US" altLang="en-US" sz="2000" b="1"/>
              <a:t>Definition:</a:t>
            </a:r>
            <a:endParaRPr lang="en-US" altLang="en-US" sz="2000" b="1"/>
          </a:p>
          <a:p>
            <a:pPr marL="0" indent="0">
              <a:buNone/>
            </a:pPr>
            <a:r>
              <a:rPr lang="en-US" altLang="en-US" sz="2000"/>
              <a:t>Loose coupling occurs when a class depends on abstractions (interfaces) rather than concrete implementations.</a:t>
            </a:r>
            <a:endParaRPr lang="en-US" altLang="en-US" sz="2000"/>
          </a:p>
          <a:p>
            <a:pPr marL="0" indent="0">
              <a:buNone/>
            </a:pPr>
            <a:r>
              <a:rPr lang="en-US" altLang="en-US" sz="2000" b="1"/>
              <a:t>Characteristics in Java:</a:t>
            </a:r>
            <a:endParaRPr lang="en-US" altLang="en-US" sz="2000" b="1"/>
          </a:p>
          <a:p>
            <a:r>
              <a:rPr lang="en-US" altLang="en-US" sz="2000"/>
              <a:t>Depend on interfaces or abstract classes.</a:t>
            </a:r>
            <a:endParaRPr lang="en-US" altLang="en-US" sz="2000"/>
          </a:p>
          <a:p>
            <a:r>
              <a:rPr lang="en-US" altLang="en-US" sz="2000"/>
              <a:t>Use Dependency Injection (DI) to provide objects.</a:t>
            </a:r>
            <a:endParaRPr lang="en-US" altLang="en-US" sz="2000"/>
          </a:p>
          <a:p>
            <a:r>
              <a:rPr lang="en-US" altLang="en-US" sz="2000"/>
              <a:t>Improves testability, maintainability, and reusability.</a:t>
            </a:r>
            <a:endParaRPr lang="en-US" altLang="en-US" sz="2000"/>
          </a:p>
        </p:txBody>
      </p:sp>
      <p:sp>
        <p:nvSpPr>
          <p:cNvPr id="4" name="Text Box 3"/>
          <p:cNvSpPr txBox="1"/>
          <p:nvPr/>
        </p:nvSpPr>
        <p:spPr>
          <a:xfrm>
            <a:off x="5746115" y="128270"/>
            <a:ext cx="6188075" cy="6191885"/>
          </a:xfrm>
          <a:prstGeom prst="rect">
            <a:avLst/>
          </a:prstGeom>
        </p:spPr>
        <p:txBody>
          <a:bodyPr>
            <a:noAutofit/>
          </a:bodyPr>
          <a:p>
            <a:r>
              <a:rPr sz="2000" b="1"/>
              <a:t>Spring Features Enabling Loose Coupling:</a:t>
            </a:r>
            <a:endParaRPr sz="2000" b="1"/>
          </a:p>
          <a:p>
            <a:endParaRPr sz="2000"/>
          </a:p>
          <a:p>
            <a:pPr>
              <a:buAutoNum type="arabicPeriod"/>
            </a:pPr>
            <a:r>
              <a:rPr sz="2000"/>
              <a:t>Dependency Injection (DI): Injects required dependencies rather than creating them in the class.</a:t>
            </a:r>
            <a:endParaRPr sz="2000"/>
          </a:p>
          <a:p>
            <a:pPr>
              <a:buAutoNum type="arabicPeriod"/>
            </a:pPr>
            <a:endParaRPr sz="2000"/>
          </a:p>
          <a:p>
            <a:pPr>
              <a:buAutoNum type="arabicPeriod"/>
            </a:pPr>
            <a:r>
              <a:rPr sz="2000"/>
              <a:t>Inversion of Control (IoC): Spring manages object creation and wiring.</a:t>
            </a:r>
            <a:endParaRPr sz="2000"/>
          </a:p>
          <a:p>
            <a:pPr>
              <a:buAutoNum type="arabicPeriod"/>
            </a:pPr>
            <a:endParaRPr sz="2000"/>
          </a:p>
          <a:p>
            <a:pPr>
              <a:buAutoNum type="arabicPeriod"/>
            </a:pPr>
            <a:r>
              <a:rPr sz="2000"/>
              <a:t>Use of Interfaces and Abstraction: Promotes modular design.</a:t>
            </a:r>
            <a:endParaRPr sz="2000"/>
          </a:p>
          <a:p>
            <a:pPr>
              <a:buAutoNum type="arabicPeriod"/>
            </a:pPr>
            <a:endParaRPr sz="2000"/>
          </a:p>
          <a:p>
            <a:pPr>
              <a:buAutoNum type="arabicPeriod"/>
            </a:pPr>
            <a:r>
              <a:rPr sz="2000"/>
              <a:t>Annotations and Configuration: @Autowired, @Component, @Service, @Repository.</a:t>
            </a:r>
            <a:endParaRPr sz="2000"/>
          </a:p>
          <a:p>
            <a:r>
              <a:rPr sz="2000"/>
              <a:t>Advantages of Loose Coupling:</a:t>
            </a:r>
            <a:endParaRPr sz="2000"/>
          </a:p>
          <a:p>
            <a:endParaRPr sz="2000"/>
          </a:p>
          <a:p>
            <a:pPr>
              <a:buFont typeface="Arial" panose="020B0604020202020204"/>
              <a:buChar char="•"/>
            </a:pPr>
            <a:r>
              <a:rPr sz="2000"/>
              <a:t>Flexible and easy to extend.</a:t>
            </a:r>
            <a:endParaRPr sz="2000"/>
          </a:p>
          <a:p>
            <a:pPr>
              <a:buFont typeface="Arial" panose="020B0604020202020204"/>
              <a:buChar char="•"/>
            </a:pPr>
            <a:r>
              <a:rPr sz="2000"/>
              <a:t>Promotes modular design.</a:t>
            </a:r>
            <a:endParaRPr sz="2000"/>
          </a:p>
          <a:p>
            <a:pPr>
              <a:buFont typeface="Arial" panose="020B0604020202020204"/>
              <a:buChar char="•"/>
            </a:pPr>
            <a:r>
              <a:rPr sz="2000"/>
              <a:t>Better for unit testing (mock dependencies).</a:t>
            </a:r>
            <a:endParaRPr sz="2000"/>
          </a:p>
          <a:p>
            <a:pPr>
              <a:buFont typeface="Arial" panose="020B0604020202020204"/>
              <a:buChar char="•"/>
            </a:pPr>
            <a:r>
              <a:rPr sz="2000"/>
              <a:t>Easier maintenance and scalability.</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01040" y="0"/>
            <a:ext cx="10515600" cy="450215"/>
          </a:xfrm>
        </p:spPr>
        <p:txBody>
          <a:bodyPr>
            <a:noAutofit/>
          </a:bodyPr>
          <a:p>
            <a:pPr algn="ctr"/>
            <a:r>
              <a:rPr lang="en-US" sz="2800" b="1">
                <a:solidFill>
                  <a:srgbClr val="FF0000"/>
                </a:solidFill>
              </a:rPr>
              <a:t>Spring Syllabus</a:t>
            </a:r>
            <a:endParaRPr lang="en-US" sz="2800" b="1">
              <a:solidFill>
                <a:srgbClr val="FF0000"/>
              </a:solidFill>
            </a:endParaRPr>
          </a:p>
        </p:txBody>
      </p:sp>
      <p:sp>
        <p:nvSpPr>
          <p:cNvPr id="3" name="Content Placeholder 2"/>
          <p:cNvSpPr>
            <a:spLocks noGrp="1"/>
          </p:cNvSpPr>
          <p:nvPr>
            <p:ph idx="1"/>
          </p:nvPr>
        </p:nvSpPr>
        <p:spPr>
          <a:xfrm>
            <a:off x="194945" y="450215"/>
            <a:ext cx="11828780" cy="6240780"/>
          </a:xfrm>
        </p:spPr>
        <p:txBody>
          <a:bodyPr/>
          <a:p>
            <a:pPr marL="457200" indent="-457200">
              <a:buAutoNum type="arabicPeriod"/>
            </a:pPr>
            <a:r>
              <a:rPr lang="en-US" altLang="en-US" sz="1800" b="1"/>
              <a:t>Introduction</a:t>
            </a:r>
            <a:endParaRPr lang="en-US" altLang="en-US" sz="1800" b="1"/>
          </a:p>
          <a:p>
            <a:pPr marL="457200" indent="-457200">
              <a:buAutoNum type="arabicPeriod"/>
            </a:pPr>
            <a:r>
              <a:rPr lang="en-US" altLang="en-US" sz="1800" b="1"/>
              <a:t>Spring Basic (features ,application ,uses , spring project)</a:t>
            </a:r>
            <a:endParaRPr lang="en-US" altLang="en-US" sz="1800" b="1"/>
          </a:p>
          <a:p>
            <a:pPr marL="457200" indent="-457200">
              <a:buAutoNum type="arabicPeriod"/>
            </a:pPr>
            <a:r>
              <a:rPr lang="en-US" altLang="en-US" sz="1800" b="1"/>
              <a:t>Spring Bean class </a:t>
            </a:r>
            <a:endParaRPr lang="en-US" altLang="en-US" sz="1800" b="1"/>
          </a:p>
          <a:p>
            <a:pPr marL="457200" indent="-457200">
              <a:buAutoNum type="arabicPeriod"/>
            </a:pPr>
            <a:r>
              <a:rPr lang="en-US" altLang="en-US" sz="1800" b="1"/>
              <a:t>Spring IOC</a:t>
            </a:r>
            <a:endParaRPr lang="en-US" altLang="en-US" sz="1800" b="1"/>
          </a:p>
          <a:p>
            <a:pPr marL="457200" indent="-457200">
              <a:buAutoNum type="arabicPeriod"/>
            </a:pPr>
            <a:r>
              <a:rPr lang="en-US" altLang="en-US" sz="1800" b="1"/>
              <a:t>Spring Dependency injection (setter ,constuctor ,field)</a:t>
            </a:r>
            <a:endParaRPr lang="en-US" altLang="en-US" sz="1800" b="1"/>
          </a:p>
          <a:p>
            <a:pPr marL="457200" indent="-457200">
              <a:buAutoNum type="arabicPeriod"/>
            </a:pPr>
            <a:r>
              <a:rPr lang="en-US" altLang="en-US" sz="1800" b="1"/>
              <a:t>Spring Bean Scope (Singleton , Prototype, Request ,Session, Global-Session)</a:t>
            </a:r>
            <a:endParaRPr lang="en-US" altLang="en-US" sz="1800" b="1"/>
          </a:p>
          <a:p>
            <a:pPr marL="457200" indent="-457200">
              <a:buAutoNum type="arabicPeriod"/>
            </a:pPr>
            <a:r>
              <a:rPr lang="en-US" altLang="en-US" sz="1800" b="1"/>
              <a:t>Spring Auto Wiring</a:t>
            </a:r>
            <a:endParaRPr lang="en-US" altLang="en-US" sz="1800" b="1"/>
          </a:p>
          <a:p>
            <a:pPr marL="457200" indent="-457200">
              <a:buAutoNum type="arabicPeriod"/>
            </a:pPr>
            <a:r>
              <a:rPr lang="en-US" altLang="en-US" sz="1800" b="1"/>
              <a:t>Spring Annotations</a:t>
            </a:r>
            <a:endParaRPr lang="en-US" altLang="en-US" sz="1800" b="1"/>
          </a:p>
          <a:p>
            <a:pPr marL="457200" indent="-457200">
              <a:buAutoNum type="arabicPeriod"/>
            </a:pPr>
            <a:r>
              <a:rPr lang="en-US" altLang="en-US" sz="1800" b="1"/>
              <a:t>Spring Jdbc</a:t>
            </a:r>
            <a:endParaRPr lang="en-US" altLang="en-US" sz="1800" b="1"/>
          </a:p>
          <a:p>
            <a:pPr marL="457200" indent="-457200">
              <a:buAutoNum type="arabicPeriod"/>
            </a:pPr>
            <a:r>
              <a:rPr lang="en-US" altLang="en-US" sz="1800"/>
              <a:t>Spring MVC</a:t>
            </a:r>
            <a:endParaRPr lang="en-US" altLang="en-US" sz="1800"/>
          </a:p>
          <a:p>
            <a:pPr marL="457200" indent="-457200">
              <a:buAutoNum type="arabicPeriod"/>
            </a:pPr>
            <a:r>
              <a:rPr lang="en-US" altLang="en-US" sz="1800"/>
              <a:t>MVC Architecture</a:t>
            </a:r>
            <a:endParaRPr lang="en-US" altLang="en-US" sz="1800"/>
          </a:p>
          <a:p>
            <a:pPr marL="457200" indent="-457200">
              <a:buAutoNum type="arabicPeriod"/>
            </a:pPr>
            <a:r>
              <a:rPr lang="en-US" altLang="en-US" sz="1800"/>
              <a:t>Spring MVC Configuration With Maven Project</a:t>
            </a:r>
            <a:endParaRPr lang="en-US" altLang="en-US" sz="1800"/>
          </a:p>
          <a:p>
            <a:pPr marL="457200" indent="-457200">
              <a:buAutoNum type="arabicPeriod"/>
            </a:pPr>
            <a:r>
              <a:rPr lang="en-US" altLang="en-US" sz="1800"/>
              <a:t>Spring MVC First Web Application</a:t>
            </a:r>
            <a:endParaRPr lang="en-US" altLang="en-US" sz="1800"/>
          </a:p>
          <a:p>
            <a:pPr marL="457200" indent="-457200">
              <a:buAutoNum type="arabicPeriod"/>
            </a:pPr>
            <a:r>
              <a:rPr lang="en-US" altLang="en-US" sz="1800"/>
              <a:t>Spring With Restful Web Services And Mappings</a:t>
            </a:r>
            <a:endParaRPr lang="en-US" altLang="en-US" sz="1800"/>
          </a:p>
          <a:p>
            <a:pPr marL="457200" indent="-457200">
              <a:buAutoNum type="arabicPeriod"/>
            </a:pPr>
            <a:r>
              <a:rPr lang="en-US" altLang="en-US" sz="1800"/>
              <a:t>Spring End.</a:t>
            </a:r>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140970"/>
            <a:ext cx="9144000" cy="454025"/>
          </a:xfrm>
        </p:spPr>
        <p:txBody>
          <a:bodyPr>
            <a:normAutofit fontScale="90000"/>
          </a:bodyPr>
          <a:p>
            <a:r>
              <a:rPr lang="en-US" sz="3200" b="1">
                <a:solidFill>
                  <a:srgbClr val="FF0000"/>
                </a:solidFill>
                <a:latin typeface="Cambria" panose="02040503050406030204" charset="0"/>
                <a:cs typeface="Cambria" panose="02040503050406030204" charset="0"/>
              </a:rPr>
              <a:t>what is Framework</a:t>
            </a:r>
            <a:endParaRPr lang="en-US" sz="3200" b="1">
              <a:solidFill>
                <a:srgbClr val="FF0000"/>
              </a:solidFill>
              <a:latin typeface="Cambria" panose="02040503050406030204" charset="0"/>
              <a:cs typeface="Cambria" panose="02040503050406030204" charset="0"/>
            </a:endParaRPr>
          </a:p>
        </p:txBody>
      </p:sp>
      <p:sp>
        <p:nvSpPr>
          <p:cNvPr id="3" name="Subtitle 2"/>
          <p:cNvSpPr>
            <a:spLocks noGrp="1"/>
          </p:cNvSpPr>
          <p:nvPr>
            <p:ph type="subTitle" idx="1"/>
          </p:nvPr>
        </p:nvSpPr>
        <p:spPr>
          <a:xfrm>
            <a:off x="116840" y="594995"/>
            <a:ext cx="11971020" cy="5992495"/>
          </a:xfrm>
        </p:spPr>
        <p:txBody>
          <a:bodyPr/>
          <a:p>
            <a:pPr algn="l"/>
            <a:r>
              <a:rPr lang="en-US" altLang="en-US" sz="1800">
                <a:latin typeface="Cambria" panose="02040503050406030204" charset="0"/>
                <a:cs typeface="Cambria" panose="02040503050406030204" charset="0"/>
              </a:rPr>
              <a:t>A framework is a structured foundation of reusable code, tools, and guidelines designed to help developers build and organize software applications efficiently.</a:t>
            </a:r>
            <a:endParaRPr lang="en-US" altLang="en-US" sz="1800">
              <a:latin typeface="Cambria" panose="02040503050406030204" charset="0"/>
              <a:cs typeface="Cambria" panose="02040503050406030204" charset="0"/>
            </a:endParaRPr>
          </a:p>
          <a:p>
            <a:pPr algn="l"/>
            <a:r>
              <a:rPr lang="en-US" altLang="en-US" sz="1800">
                <a:latin typeface="Cambria" panose="02040503050406030204" charset="0"/>
                <a:cs typeface="Cambria" panose="02040503050406030204" charset="0"/>
              </a:rPr>
              <a:t>It provides predefined architecture, components, and workflows, allowing developers to focus on implementing application-specific logic rather than reinventing basic functionalities.</a:t>
            </a:r>
            <a:endParaRPr lang="en-US" altLang="en-US" sz="1800">
              <a:latin typeface="Cambria" panose="02040503050406030204" charset="0"/>
              <a:cs typeface="Cambria" panose="02040503050406030204" charset="0"/>
            </a:endParaRPr>
          </a:p>
          <a:p>
            <a:pPr algn="l"/>
            <a:endParaRPr lang="en-US" altLang="en-US" sz="1800">
              <a:latin typeface="Cambria" panose="02040503050406030204" charset="0"/>
              <a:cs typeface="Cambria" panose="02040503050406030204" charset="0"/>
            </a:endParaRPr>
          </a:p>
          <a:p>
            <a:pPr algn="l"/>
            <a:r>
              <a:rPr lang="en-US" altLang="en-US" sz="1800" b="1">
                <a:latin typeface="Cambria" panose="02040503050406030204" charset="0"/>
                <a:cs typeface="Cambria" panose="02040503050406030204" charset="0"/>
              </a:rPr>
              <a:t>Why Use a Framework?</a:t>
            </a:r>
            <a:endParaRPr lang="en-US" altLang="en-US" sz="1800" b="1">
              <a:latin typeface="Cambria" panose="02040503050406030204" charset="0"/>
              <a:cs typeface="Cambria" panose="02040503050406030204" charset="0"/>
            </a:endParaRPr>
          </a:p>
          <a:p>
            <a:pPr algn="l"/>
            <a:r>
              <a:rPr lang="en-US" altLang="en-US" sz="1800">
                <a:latin typeface="Cambria" panose="02040503050406030204" charset="0"/>
                <a:cs typeface="Cambria" panose="02040503050406030204" charset="0"/>
              </a:rPr>
              <a:t>Developers use frameworks because they save time, reduce errors, and enforce best practices when building software.</a:t>
            </a:r>
            <a:endParaRPr lang="en-US" altLang="en-US" sz="1800">
              <a:latin typeface="Cambria" panose="02040503050406030204" charset="0"/>
              <a:cs typeface="Cambria" panose="02040503050406030204" charset="0"/>
            </a:endParaRPr>
          </a:p>
          <a:p>
            <a:pPr algn="l"/>
            <a:r>
              <a:rPr lang="en-US" altLang="en-US" sz="1800">
                <a:latin typeface="Cambria" panose="02040503050406030204" charset="0"/>
                <a:cs typeface="Cambria" panose="02040503050406030204" charset="0"/>
              </a:rPr>
              <a:t>A framework gives you a ready-made structure and set of tools so you don’t have to start every project from scratch.</a:t>
            </a:r>
            <a:endParaRPr lang="en-US" altLang="en-US" sz="1800">
              <a:latin typeface="Cambria" panose="02040503050406030204" charset="0"/>
              <a:cs typeface="Cambria" panose="02040503050406030204" charset="0"/>
            </a:endParaRPr>
          </a:p>
        </p:txBody>
      </p:sp>
      <p:graphicFrame>
        <p:nvGraphicFramePr>
          <p:cNvPr id="5" name="Table 4"/>
          <p:cNvGraphicFramePr/>
          <p:nvPr>
            <p:custDataLst>
              <p:tags r:id="rId1"/>
            </p:custDataLst>
          </p:nvPr>
        </p:nvGraphicFramePr>
        <p:xfrm>
          <a:off x="116205" y="4033520"/>
          <a:ext cx="11971655" cy="2275205"/>
        </p:xfrm>
        <a:graphic>
          <a:graphicData uri="http://schemas.openxmlformats.org/drawingml/2006/table">
            <a:tbl>
              <a:tblPr/>
              <a:tblGrid>
                <a:gridCol w="3144520"/>
                <a:gridCol w="8827135"/>
              </a:tblGrid>
              <a:tr h="325120">
                <a:tc>
                  <a:txBody>
                    <a:bodyPr/>
                    <a:p>
                      <a:pPr algn="ctr"/>
                      <a:r>
                        <a:rPr sz="1800" b="1">
                          <a:latin typeface="Cambria" panose="02040503050406030204" charset="0"/>
                          <a:cs typeface="Cambria" panose="02040503050406030204" charset="0"/>
                        </a:rPr>
                        <a:t>Characteristic</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800" b="1">
                          <a:latin typeface="Cambria" panose="02040503050406030204" charset="0"/>
                          <a:cs typeface="Cambria" panose="02040503050406030204" charset="0"/>
                        </a:rPr>
                        <a:t>Description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25120">
                <a:tc>
                  <a:txBody>
                    <a:bodyPr/>
                    <a:p>
                      <a:r>
                        <a:rPr sz="1800"/>
                        <a:t>Reusability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Provides pre-built components to save development time.</a:t>
                      </a:r>
                      <a:endParaRPr sz="1800"/>
                    </a:p>
                  </a:txBody>
                  <a:tcPr marL="0" marR="0" marT="0" marB="0" anchor="ctr" anchorCtr="0">
                    <a:lnL>
                      <a:noFill/>
                    </a:lnL>
                    <a:lnR>
                      <a:noFill/>
                    </a:lnR>
                    <a:lnT>
                      <a:noFill/>
                    </a:lnT>
                    <a:lnB>
                      <a:noFill/>
                    </a:lnB>
                    <a:solidFill>
                      <a:schemeClr val="accent1">
                        <a:lumMod val="20000"/>
                        <a:lumOff val="80000"/>
                      </a:schemeClr>
                    </a:solidFill>
                  </a:tcPr>
                </a:tc>
              </a:tr>
              <a:tr h="325120">
                <a:tc>
                  <a:txBody>
                    <a:bodyPr/>
                    <a:p>
                      <a:r>
                        <a:rPr sz="1800"/>
                        <a:t>Structure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Enforces a standard way of organizing and writing code.</a:t>
                      </a:r>
                      <a:endParaRPr sz="1800"/>
                    </a:p>
                  </a:txBody>
                  <a:tcPr marL="0" marR="0" marT="0" marB="0" anchor="ctr" anchorCtr="0">
                    <a:lnL>
                      <a:noFill/>
                    </a:lnL>
                    <a:lnR>
                      <a:noFill/>
                    </a:lnR>
                    <a:lnT>
                      <a:noFill/>
                    </a:lnT>
                    <a:lnB>
                      <a:noFill/>
                    </a:lnB>
                    <a:solidFill>
                      <a:schemeClr val="accent1">
                        <a:lumMod val="20000"/>
                        <a:lumOff val="80000"/>
                      </a:schemeClr>
                    </a:solidFill>
                  </a:tcPr>
                </a:tc>
              </a:tr>
              <a:tr h="324485">
                <a:tc>
                  <a:txBody>
                    <a:bodyPr/>
                    <a:p>
                      <a:r>
                        <a:rPr sz="1800"/>
                        <a:t>Extensibility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Allows developers to add or modify components as needed.</a:t>
                      </a:r>
                      <a:endParaRPr sz="1800"/>
                    </a:p>
                  </a:txBody>
                  <a:tcPr marL="0" marR="0" marT="0" marB="0" anchor="ctr" anchorCtr="0">
                    <a:lnL>
                      <a:noFill/>
                    </a:lnL>
                    <a:lnR>
                      <a:noFill/>
                    </a:lnR>
                    <a:lnT>
                      <a:noFill/>
                    </a:lnT>
                    <a:lnB>
                      <a:noFill/>
                    </a:lnB>
                    <a:solidFill>
                      <a:schemeClr val="accent1">
                        <a:lumMod val="20000"/>
                        <a:lumOff val="80000"/>
                      </a:schemeClr>
                    </a:solidFill>
                  </a:tcPr>
                </a:tc>
              </a:tr>
              <a:tr h="325120">
                <a:tc>
                  <a:txBody>
                    <a:bodyPr/>
                    <a:p>
                      <a:r>
                        <a:rPr sz="1800"/>
                        <a:t>Inversion of Control (IoC)</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The framework manages execution flow, calling developer code at appropriate times.</a:t>
                      </a:r>
                      <a:endParaRPr sz="1800"/>
                    </a:p>
                  </a:txBody>
                  <a:tcPr marL="0" marR="0" marT="0" marB="0" anchor="ctr" anchorCtr="0">
                    <a:lnL>
                      <a:noFill/>
                    </a:lnL>
                    <a:lnR>
                      <a:noFill/>
                    </a:lnR>
                    <a:lnT>
                      <a:noFill/>
                    </a:lnT>
                    <a:lnB>
                      <a:noFill/>
                    </a:lnB>
                    <a:solidFill>
                      <a:schemeClr val="accent1">
                        <a:lumMod val="20000"/>
                        <a:lumOff val="80000"/>
                      </a:schemeClr>
                    </a:solidFill>
                  </a:tcPr>
                </a:tc>
              </a:tr>
              <a:tr h="650240">
                <a:tc>
                  <a:txBody>
                    <a:bodyPr/>
                    <a:p>
                      <a:r>
                        <a:rPr sz="1800"/>
                        <a:t>Productivity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Accelerates development by handling common tasks (routing, authentication, database access, etc.).</a:t>
                      </a:r>
                      <a:endParaRPr sz="1800"/>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3350"/>
            <a:ext cx="10515600" cy="448945"/>
          </a:xfrm>
        </p:spPr>
        <p:txBody>
          <a:bodyPr>
            <a:normAutofit fontScale="90000"/>
          </a:bodyPr>
          <a:p>
            <a:r>
              <a:rPr lang="en-US" altLang="en-US" sz="2800" b="1">
                <a:solidFill>
                  <a:srgbClr val="FF0000"/>
                </a:solidFill>
              </a:rPr>
              <a:t>Examples of Frameworks (with Related Technologies)</a:t>
            </a:r>
            <a:endParaRPr lang="en-US" altLang="en-US" sz="2800" b="1">
              <a:solidFill>
                <a:srgbClr val="FF0000"/>
              </a:solidFill>
            </a:endParaRPr>
          </a:p>
        </p:txBody>
      </p:sp>
      <p:graphicFrame>
        <p:nvGraphicFramePr>
          <p:cNvPr id="6" name="Content Placeholder 5"/>
          <p:cNvGraphicFramePr/>
          <p:nvPr>
            <p:ph idx="1"/>
            <p:custDataLst>
              <p:tags r:id="rId1"/>
            </p:custDataLst>
          </p:nvPr>
        </p:nvGraphicFramePr>
        <p:xfrm>
          <a:off x="141605" y="582295"/>
          <a:ext cx="11771630" cy="2727325"/>
        </p:xfrm>
        <a:graphic>
          <a:graphicData uri="http://schemas.openxmlformats.org/drawingml/2006/table">
            <a:tbl>
              <a:tblPr/>
              <a:tblGrid>
                <a:gridCol w="6738620"/>
                <a:gridCol w="5033010"/>
              </a:tblGrid>
              <a:tr h="274320">
                <a:tc>
                  <a:txBody>
                    <a:bodyPr/>
                    <a:p>
                      <a:pPr algn="ctr"/>
                      <a:r>
                        <a:rPr sz="1800" b="1">
                          <a:latin typeface="Cambria" panose="02040503050406030204" charset="0"/>
                          <a:cs typeface="Cambria" panose="02040503050406030204" charset="0"/>
                        </a:rPr>
                        <a:t>Technology Domain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800" b="1">
                          <a:latin typeface="Cambria" panose="02040503050406030204" charset="0"/>
                          <a:cs typeface="Cambria" panose="02040503050406030204" charset="0"/>
                        </a:rPr>
                        <a:t>Framework</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3220">
                <a:tc>
                  <a:txBody>
                    <a:bodyPr/>
                    <a:p>
                      <a:r>
                        <a:rPr sz="1800">
                          <a:latin typeface="Cambria" panose="02040503050406030204" charset="0"/>
                          <a:cs typeface="Cambria" panose="02040503050406030204" charset="0"/>
                        </a:rPr>
                        <a:t>Web Development (Frontend)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React.js</a:t>
                      </a:r>
                      <a:r>
                        <a:rPr lang="en-US" sz="1800">
                          <a:latin typeface="Cambria" panose="02040503050406030204" charset="0"/>
                          <a:cs typeface="Cambria" panose="02040503050406030204" charset="0"/>
                        </a:rPr>
                        <a:t>/Angular</a:t>
                      </a:r>
                      <a:endParaRPr lang="en-US"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3220">
                <a:tc>
                  <a:txBody>
                    <a:bodyPr/>
                    <a:p>
                      <a:r>
                        <a:rPr sz="1800">
                          <a:latin typeface="Cambria" panose="02040503050406030204" charset="0"/>
                          <a:cs typeface="Cambria" panose="02040503050406030204" charset="0"/>
                        </a:rPr>
                        <a:t>Web Development (Backend)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Django (Python)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21310">
                <a:tc>
                  <a:txBody>
                    <a:bodyPr/>
                    <a:p>
                      <a:r>
                        <a:rPr sz="1800">
                          <a:latin typeface="Cambria" panose="02040503050406030204" charset="0"/>
                          <a:cs typeface="Cambria" panose="02040503050406030204" charset="0"/>
                        </a:rPr>
                        <a:t>Mobile App Development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Flutter (Dart)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457835">
                <a:tc>
                  <a:txBody>
                    <a:bodyPr/>
                    <a:p>
                      <a:r>
                        <a:rPr sz="1800">
                          <a:latin typeface="Cambria" panose="02040503050406030204" charset="0"/>
                          <a:cs typeface="Cambria" panose="02040503050406030204" charset="0"/>
                        </a:rPr>
                        <a:t>Enterprise Java Applications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Spring Framework</a:t>
                      </a:r>
                      <a:r>
                        <a:rPr lang="en-US" sz="1800">
                          <a:latin typeface="Cambria" panose="02040503050406030204" charset="0"/>
                          <a:cs typeface="Cambria" panose="02040503050406030204" charset="0"/>
                        </a:rPr>
                        <a:t> /Spring Boot (Java)</a:t>
                      </a:r>
                      <a:endParaRPr lang="en-US"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21310">
                <a:tc>
                  <a:txBody>
                    <a:bodyPr/>
                    <a:p>
                      <a:r>
                        <a:rPr sz="1800">
                          <a:latin typeface="Cambria" panose="02040503050406030204" charset="0"/>
                          <a:cs typeface="Cambria" panose="02040503050406030204" charset="0"/>
                        </a:rPr>
                        <a:t>.NET </a:t>
                      </a:r>
                      <a:r>
                        <a:rPr lang="en-US" sz="1800">
                          <a:latin typeface="Cambria" panose="02040503050406030204" charset="0"/>
                          <a:cs typeface="Cambria" panose="02040503050406030204" charset="0"/>
                        </a:rPr>
                        <a:t>Technology</a:t>
                      </a:r>
                      <a:endParaRPr lang="en-US"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ASP.NET Core</a:t>
                      </a:r>
                      <a:r>
                        <a:rPr lang="en-US" sz="1800">
                          <a:latin typeface="Cambria" panose="02040503050406030204" charset="0"/>
                          <a:cs typeface="Cambria" panose="02040503050406030204" charset="0"/>
                        </a:rPr>
                        <a:t> (C# )</a:t>
                      </a:r>
                      <a:endParaRPr lang="en-US"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21310">
                <a:tc>
                  <a:txBody>
                    <a:bodyPr/>
                    <a:p>
                      <a:r>
                        <a:rPr sz="1800">
                          <a:latin typeface="Cambria" panose="02040503050406030204" charset="0"/>
                          <a:cs typeface="Cambria" panose="02040503050406030204" charset="0"/>
                        </a:rPr>
                        <a:t>Machine Learning / AI</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TensorFlow</a:t>
                      </a:r>
                      <a:r>
                        <a:rPr lang="en-US" sz="1800">
                          <a:latin typeface="Cambria" panose="02040503050406030204" charset="0"/>
                          <a:cs typeface="Cambria" panose="02040503050406030204" charset="0"/>
                        </a:rPr>
                        <a:t> (Python AI)</a:t>
                      </a:r>
                      <a:endParaRPr lang="en-US"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9070" y="0"/>
            <a:ext cx="11174730" cy="347980"/>
          </a:xfrm>
        </p:spPr>
        <p:txBody>
          <a:bodyPr>
            <a:noAutofit/>
          </a:bodyPr>
          <a:p>
            <a:pPr algn="ctr"/>
            <a:r>
              <a:rPr lang="en-US" altLang="en-US" sz="2000" b="1">
                <a:solidFill>
                  <a:srgbClr val="FF0000"/>
                </a:solidFill>
                <a:latin typeface="Cambria" panose="02040503050406030204" charset="0"/>
                <a:cs typeface="Cambria" panose="02040503050406030204" charset="0"/>
                <a:sym typeface="+mn-ea"/>
              </a:rPr>
              <a:t>Introduction to Spring Framework</a:t>
            </a:r>
            <a:endParaRPr lang="en-US" altLang="en-US" sz="20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179070" y="347980"/>
            <a:ext cx="11790045" cy="6021070"/>
          </a:xfrm>
        </p:spPr>
        <p:txBody>
          <a:bodyPr/>
          <a:p>
            <a:pPr marL="0" indent="0">
              <a:buNone/>
            </a:pPr>
            <a:r>
              <a:rPr lang="en-US" altLang="en-US" sz="1800"/>
              <a:t>Spring Framework is a powerful, lightweight, and open-source Java-based framework used to build scalable, enterprise-level applications.</a:t>
            </a:r>
            <a:endParaRPr lang="en-US" altLang="en-US" sz="1800"/>
          </a:p>
          <a:p>
            <a:pPr marL="0" indent="0">
              <a:buNone/>
            </a:pPr>
            <a:r>
              <a:rPr lang="en-US" altLang="en-US" sz="1800"/>
              <a:t>It provides comprehensive infrastructure support for developing Java applications, including web apps, microservices, and APIs.</a:t>
            </a:r>
            <a:endParaRPr lang="en-US" altLang="en-US" sz="1800"/>
          </a:p>
          <a:p>
            <a:pPr marL="0" indent="0">
              <a:buNone/>
            </a:pPr>
            <a:r>
              <a:rPr lang="en-US" altLang="en-US" sz="1800" b="1"/>
              <a:t> Developed by:</a:t>
            </a:r>
            <a:endParaRPr lang="en-US" altLang="en-US" sz="1800" b="1"/>
          </a:p>
          <a:p>
            <a:pPr marL="0" indent="0">
              <a:buNone/>
            </a:pPr>
            <a:r>
              <a:rPr lang="en-US" altLang="en-US" sz="1800"/>
              <a:t>Initially created by </a:t>
            </a:r>
            <a:r>
              <a:rPr lang="en-US" altLang="en-US" sz="1800" b="1"/>
              <a:t>Rod Johnson </a:t>
            </a:r>
            <a:r>
              <a:rPr lang="en-US" altLang="en-US" sz="1800"/>
              <a:t>in 2003.</a:t>
            </a:r>
            <a:endParaRPr lang="en-US" altLang="en-US" sz="1800"/>
          </a:p>
          <a:p>
            <a:pPr marL="0" indent="0">
              <a:buNone/>
            </a:pPr>
            <a:r>
              <a:rPr lang="en-US" altLang="en-US" sz="1800"/>
              <a:t> Core Idea:</a:t>
            </a:r>
            <a:endParaRPr lang="en-US" altLang="en-US" sz="1800"/>
          </a:p>
          <a:p>
            <a:pPr marL="0" indent="0">
              <a:buNone/>
            </a:pPr>
            <a:r>
              <a:rPr lang="en-US" altLang="en-US" sz="1800"/>
              <a:t>Dependency Injection (DI) and Aspect-Oriented Programming (AOP) are at the heart of Spring.</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90805" y="3554095"/>
          <a:ext cx="11981180" cy="2955925"/>
        </p:xfrm>
        <a:graphic>
          <a:graphicData uri="http://schemas.openxmlformats.org/drawingml/2006/table">
            <a:tbl>
              <a:tblPr/>
              <a:tblGrid>
                <a:gridCol w="4554220"/>
                <a:gridCol w="7426960"/>
              </a:tblGrid>
              <a:tr h="305435">
                <a:tc>
                  <a:txBody>
                    <a:bodyPr/>
                    <a:p>
                      <a:pPr algn="ctr"/>
                      <a:r>
                        <a:rPr sz="2400" b="1">
                          <a:latin typeface="Cambria" panose="02040503050406030204" charset="0"/>
                          <a:cs typeface="Cambria" panose="02040503050406030204" charset="0"/>
                        </a:rPr>
                        <a:t>Feature</a:t>
                      </a:r>
                      <a:endParaRPr sz="2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2400" b="1">
                          <a:latin typeface="Cambria" panose="02040503050406030204" charset="0"/>
                          <a:cs typeface="Cambria" panose="02040503050406030204" charset="0"/>
                        </a:rPr>
                        <a:t>Description</a:t>
                      </a:r>
                      <a:endParaRPr sz="2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6070">
                <a:tc>
                  <a:txBody>
                    <a:bodyPr/>
                    <a:p>
                      <a:r>
                        <a:rPr sz="1600" b="1">
                          <a:latin typeface="Cambria" panose="02040503050406030204" charset="0"/>
                          <a:cs typeface="Cambria" panose="02040503050406030204" charset="0"/>
                        </a:rPr>
                        <a:t> Lightweight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1">
                          <a:latin typeface="Cambria" panose="02040503050406030204" charset="0"/>
                          <a:cs typeface="Cambria" panose="02040503050406030204" charset="0"/>
                        </a:rPr>
                        <a:t>Minimal memory footprint; fast startup</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5435">
                <a:tc>
                  <a:txBody>
                    <a:bodyPr/>
                    <a:p>
                      <a:r>
                        <a:rPr sz="1600" b="1">
                          <a:latin typeface="Cambria" panose="02040503050406030204" charset="0"/>
                          <a:cs typeface="Cambria" panose="02040503050406030204" charset="0"/>
                        </a:rPr>
                        <a:t> Dependency Injection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1">
                          <a:latin typeface="Cambria" panose="02040503050406030204" charset="0"/>
                          <a:cs typeface="Cambria" panose="02040503050406030204" charset="0"/>
                        </a:rPr>
                        <a:t>Loose coupling through Inversion of Control (IoC)</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6070">
                <a:tc>
                  <a:txBody>
                    <a:bodyPr/>
                    <a:p>
                      <a:r>
                        <a:rPr sz="1600" b="1">
                          <a:latin typeface="Cambria" panose="02040503050406030204" charset="0"/>
                          <a:cs typeface="Cambria" panose="02040503050406030204" charset="0"/>
                        </a:rPr>
                        <a:t> Modular Architecture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1">
                          <a:latin typeface="Cambria" panose="02040503050406030204" charset="0"/>
                          <a:cs typeface="Cambria" panose="02040503050406030204" charset="0"/>
                        </a:rPr>
                        <a:t>Use only what you need (e.g., Spring MVC, Spring Security)</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509905">
                <a:tc>
                  <a:txBody>
                    <a:bodyPr/>
                    <a:p>
                      <a:r>
                        <a:rPr sz="1600" b="1">
                          <a:latin typeface="Cambria" panose="02040503050406030204" charset="0"/>
                          <a:cs typeface="Cambria" panose="02040503050406030204" charset="0"/>
                        </a:rPr>
                        <a:t> Integration Support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1">
                          <a:latin typeface="Cambria" panose="02040503050406030204" charset="0"/>
                          <a:cs typeface="Cambria" panose="02040503050406030204" charset="0"/>
                        </a:rPr>
                        <a:t>Easily integrates with databases, ORM (Hibernate), messaging, and more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6070">
                <a:tc>
                  <a:txBody>
                    <a:bodyPr/>
                    <a:p>
                      <a:r>
                        <a:rPr sz="1600" b="1">
                          <a:latin typeface="Cambria" panose="02040503050406030204" charset="0"/>
                          <a:cs typeface="Cambria" panose="02040503050406030204" charset="0"/>
                        </a:rPr>
                        <a:t> Aspect-Oriented Programming</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1">
                          <a:latin typeface="Cambria" panose="02040503050406030204" charset="0"/>
                          <a:cs typeface="Cambria" panose="02040503050406030204" charset="0"/>
                        </a:rPr>
                        <a:t>Helps separate cross-cutting concerns like logging, transactions</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5435">
                <a:tc>
                  <a:txBody>
                    <a:bodyPr/>
                    <a:p>
                      <a:r>
                        <a:rPr sz="1600" b="1">
                          <a:latin typeface="Cambria" panose="02040503050406030204" charset="0"/>
                          <a:cs typeface="Cambria" panose="02040503050406030204" charset="0"/>
                        </a:rPr>
                        <a:t> Transaction Management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1">
                          <a:latin typeface="Cambria" panose="02040503050406030204" charset="0"/>
                          <a:cs typeface="Cambria" panose="02040503050406030204" charset="0"/>
                        </a:rPr>
                        <a:t>Declarative transaction management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6070">
                <a:tc>
                  <a:txBody>
                    <a:bodyPr/>
                    <a:p>
                      <a:r>
                        <a:rPr sz="1600" b="1">
                          <a:latin typeface="Cambria" panose="02040503050406030204" charset="0"/>
                          <a:cs typeface="Cambria" panose="02040503050406030204" charset="0"/>
                        </a:rPr>
                        <a:t> Security</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1">
                          <a:latin typeface="Cambria" panose="02040503050406030204" charset="0"/>
                          <a:cs typeface="Cambria" panose="02040503050406030204" charset="0"/>
                        </a:rPr>
                        <a:t>Built-in support with Spring Security</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5435">
                <a:tc>
                  <a:txBody>
                    <a:bodyPr/>
                    <a:p>
                      <a:r>
                        <a:rPr sz="1600" b="1">
                          <a:latin typeface="Cambria" panose="02040503050406030204" charset="0"/>
                          <a:cs typeface="Cambria" panose="02040503050406030204" charset="0"/>
                        </a:rPr>
                        <a:t>Testability</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1">
                          <a:latin typeface="Cambria" panose="02040503050406030204" charset="0"/>
                          <a:cs typeface="Cambria" panose="02040503050406030204" charset="0"/>
                        </a:rPr>
                        <a:t>Easy to write unit and integration tests with JUnit/TestNG</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69570"/>
          </a:xfrm>
        </p:spPr>
        <p:txBody>
          <a:bodyPr>
            <a:normAutofit fontScale="90000"/>
          </a:bodyPr>
          <a:p>
            <a:pPr algn="ctr"/>
            <a:r>
              <a:rPr lang="en-US" sz="2400" b="1">
                <a:solidFill>
                  <a:srgbClr val="FF0000"/>
                </a:solidFill>
              </a:rPr>
              <a:t>Spring Framework </a:t>
            </a:r>
            <a:endParaRPr lang="en-US" sz="2400" b="1">
              <a:solidFill>
                <a:srgbClr val="FF0000"/>
              </a:solidFill>
            </a:endParaRPr>
          </a:p>
        </p:txBody>
      </p:sp>
      <p:graphicFrame>
        <p:nvGraphicFramePr>
          <p:cNvPr id="4" name="Object 3">
            <a:hlinkClick r:id="" action="ppaction://ole?verb="/>
          </p:cNvPr>
          <p:cNvGraphicFramePr>
            <a:graphicFrameLocks noChangeAspect="1"/>
          </p:cNvGraphicFramePr>
          <p:nvPr/>
        </p:nvGraphicFramePr>
        <p:xfrm>
          <a:off x="1453515" y="1878330"/>
          <a:ext cx="1701800" cy="497840"/>
        </p:xfrm>
        <a:graphic>
          <a:graphicData uri="http://schemas.openxmlformats.org/presentationml/2006/ole">
            <mc:AlternateContent xmlns:mc="http://schemas.openxmlformats.org/markup-compatibility/2006">
              <mc:Choice xmlns:v="urn:schemas-microsoft-com:vml" Requires="v">
                <p:oleObj spid="_x0000_s1025" name="" r:id="rId1" imgW="1701800" imgH="497840" progId="Package">
                  <p:embed/>
                </p:oleObj>
              </mc:Choice>
              <mc:Fallback>
                <p:oleObj name="" r:id="rId1" imgW="1701800" imgH="497840" progId="Package">
                  <p:embed/>
                  <p:pic>
                    <p:nvPicPr>
                      <p:cNvPr id="0" name="Picture 1024"/>
                      <p:cNvPicPr/>
                      <p:nvPr/>
                    </p:nvPicPr>
                    <p:blipFill>
                      <a:blip r:embed="rId2"/>
                      <a:stretch>
                        <a:fillRect/>
                      </a:stretch>
                    </p:blipFill>
                    <p:spPr>
                      <a:xfrm>
                        <a:off x="1453515" y="1878330"/>
                        <a:ext cx="1701800" cy="497840"/>
                      </a:xfrm>
                      <a:prstGeom prst="rect">
                        <a:avLst/>
                      </a:prstGeom>
                    </p:spPr>
                  </p:pic>
                </p:oleObj>
              </mc:Fallback>
            </mc:AlternateContent>
          </a:graphicData>
        </a:graphic>
      </p:graphicFrame>
      <p:pic>
        <p:nvPicPr>
          <p:cNvPr id="5" name="Picture 4" descr="spring_architecture"/>
          <p:cNvPicPr>
            <a:picLocks noChangeAspect="1"/>
          </p:cNvPicPr>
          <p:nvPr/>
        </p:nvPicPr>
        <p:blipFill>
          <a:blip r:embed="rId3"/>
          <a:stretch>
            <a:fillRect/>
          </a:stretch>
        </p:blipFill>
        <p:spPr>
          <a:xfrm>
            <a:off x="121285" y="258445"/>
            <a:ext cx="5000625" cy="3455670"/>
          </a:xfrm>
          <a:prstGeom prst="rect">
            <a:avLst/>
          </a:prstGeom>
        </p:spPr>
      </p:pic>
      <p:pic>
        <p:nvPicPr>
          <p:cNvPr id="9" name="Picture 8"/>
          <p:cNvPicPr>
            <a:picLocks noChangeAspect="1"/>
          </p:cNvPicPr>
          <p:nvPr/>
        </p:nvPicPr>
        <p:blipFill>
          <a:blip r:embed="rId4"/>
          <a:stretch>
            <a:fillRect/>
          </a:stretch>
        </p:blipFill>
        <p:spPr>
          <a:xfrm>
            <a:off x="5434330" y="369570"/>
            <a:ext cx="6442710" cy="3194685"/>
          </a:xfrm>
          <a:prstGeom prst="rect">
            <a:avLst/>
          </a:prstGeom>
        </p:spPr>
      </p:pic>
      <p:pic>
        <p:nvPicPr>
          <p:cNvPr id="11" name="Picture 10"/>
          <p:cNvPicPr>
            <a:picLocks noChangeAspect="1"/>
          </p:cNvPicPr>
          <p:nvPr/>
        </p:nvPicPr>
        <p:blipFill>
          <a:blip r:embed="rId5"/>
          <a:stretch>
            <a:fillRect/>
          </a:stretch>
        </p:blipFill>
        <p:spPr>
          <a:xfrm>
            <a:off x="217170" y="3884930"/>
            <a:ext cx="11660505" cy="28473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95885" y="220345"/>
            <a:ext cx="5689600" cy="6315710"/>
          </a:xfrm>
          <a:prstGeom prst="rect">
            <a:avLst/>
          </a:prstGeom>
        </p:spPr>
      </p:pic>
      <p:pic>
        <p:nvPicPr>
          <p:cNvPr id="5" name="Picture 4"/>
          <p:cNvPicPr>
            <a:picLocks noChangeAspect="1"/>
          </p:cNvPicPr>
          <p:nvPr/>
        </p:nvPicPr>
        <p:blipFill>
          <a:blip r:embed="rId2"/>
          <a:stretch>
            <a:fillRect/>
          </a:stretch>
        </p:blipFill>
        <p:spPr>
          <a:xfrm>
            <a:off x="5741035" y="219710"/>
            <a:ext cx="6450965" cy="61550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9225" y="101600"/>
            <a:ext cx="10515600" cy="374650"/>
          </a:xfrm>
        </p:spPr>
        <p:txBody>
          <a:bodyPr>
            <a:noAutofit/>
          </a:bodyPr>
          <a:p>
            <a:r>
              <a:rPr lang="en-US" altLang="en-US" sz="2000" b="1">
                <a:solidFill>
                  <a:srgbClr val="FF0000"/>
                </a:solidFill>
                <a:latin typeface="Cambria" panose="02040503050406030204" charset="0"/>
                <a:cs typeface="Cambria" panose="02040503050406030204" charset="0"/>
                <a:sym typeface="+mn-ea"/>
              </a:rPr>
              <a:t>Applications of Spring Framework</a:t>
            </a:r>
            <a:endParaRPr lang="en-US" altLang="en-US" sz="20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149225" y="476250"/>
            <a:ext cx="11878310" cy="6289040"/>
          </a:xfrm>
        </p:spPr>
        <p:txBody>
          <a:bodyPr/>
          <a:p>
            <a:r>
              <a:rPr lang="en-US" altLang="en-US" sz="1600">
                <a:latin typeface="Cambria" panose="02040503050406030204" charset="0"/>
                <a:cs typeface="Cambria" panose="02040503050406030204" charset="0"/>
              </a:rPr>
              <a:t>Spring can be used to develop:</a:t>
            </a:r>
            <a:endParaRPr lang="en-US" altLang="en-US" sz="1600">
              <a:latin typeface="Cambria" panose="02040503050406030204" charset="0"/>
              <a:cs typeface="Cambria" panose="02040503050406030204" charset="0"/>
            </a:endParaRPr>
          </a:p>
          <a:p>
            <a:pPr marL="342900" indent="-342900">
              <a:buFont typeface="+mj-lt"/>
              <a:buAutoNum type="arabicPeriod"/>
            </a:pPr>
            <a:r>
              <a:rPr lang="en-US" altLang="en-US" sz="1600">
                <a:latin typeface="Cambria" panose="02040503050406030204" charset="0"/>
                <a:cs typeface="Cambria" panose="02040503050406030204" charset="0"/>
              </a:rPr>
              <a:t> Web Applications (with Spring MVC)</a:t>
            </a:r>
            <a:endParaRPr lang="en-US" altLang="en-US" sz="1600">
              <a:latin typeface="Cambria" panose="02040503050406030204" charset="0"/>
              <a:cs typeface="Cambria" panose="02040503050406030204" charset="0"/>
            </a:endParaRPr>
          </a:p>
          <a:p>
            <a:pPr marL="342900" indent="-342900">
              <a:buFont typeface="+mj-lt"/>
              <a:buAutoNum type="arabicPeriod"/>
            </a:pPr>
            <a:r>
              <a:rPr lang="en-US" altLang="en-US" sz="1600">
                <a:latin typeface="Cambria" panose="02040503050406030204" charset="0"/>
                <a:cs typeface="Cambria" panose="02040503050406030204" charset="0"/>
              </a:rPr>
              <a:t> RESTful APIs</a:t>
            </a:r>
            <a:endParaRPr lang="en-US" altLang="en-US" sz="1600">
              <a:latin typeface="Cambria" panose="02040503050406030204" charset="0"/>
              <a:cs typeface="Cambria" panose="02040503050406030204" charset="0"/>
            </a:endParaRPr>
          </a:p>
          <a:p>
            <a:pPr marL="342900" indent="-342900">
              <a:buFont typeface="+mj-lt"/>
              <a:buAutoNum type="arabicPeriod"/>
            </a:pPr>
            <a:r>
              <a:rPr lang="en-US" altLang="en-US" sz="1600">
                <a:latin typeface="Cambria" panose="02040503050406030204" charset="0"/>
                <a:cs typeface="Cambria" panose="02040503050406030204" charset="0"/>
              </a:rPr>
              <a:t> Microservices (using Spring Boot &amp; Spring Cloud)</a:t>
            </a:r>
            <a:endParaRPr lang="en-US" altLang="en-US" sz="1600">
              <a:latin typeface="Cambria" panose="02040503050406030204" charset="0"/>
              <a:cs typeface="Cambria" panose="02040503050406030204" charset="0"/>
            </a:endParaRPr>
          </a:p>
          <a:p>
            <a:pPr marL="342900" indent="-342900">
              <a:buFont typeface="+mj-lt"/>
              <a:buAutoNum type="arabicPeriod"/>
            </a:pPr>
            <a:r>
              <a:rPr lang="en-US" altLang="en-US" sz="1600">
                <a:latin typeface="Cambria" panose="02040503050406030204" charset="0"/>
                <a:cs typeface="Cambria" panose="02040503050406030204" charset="0"/>
              </a:rPr>
              <a:t> Enterprise Applications</a:t>
            </a:r>
            <a:endParaRPr lang="en-US" altLang="en-US" sz="1600">
              <a:latin typeface="Cambria" panose="02040503050406030204" charset="0"/>
              <a:cs typeface="Cambria" panose="02040503050406030204" charset="0"/>
            </a:endParaRPr>
          </a:p>
          <a:p>
            <a:pPr marL="342900" indent="-342900">
              <a:buFont typeface="+mj-lt"/>
              <a:buAutoNum type="arabicPeriod"/>
            </a:pPr>
            <a:r>
              <a:rPr lang="en-US" altLang="en-US" sz="1600">
                <a:latin typeface="Cambria" panose="02040503050406030204" charset="0"/>
                <a:cs typeface="Cambria" panose="02040503050406030204" charset="0"/>
              </a:rPr>
              <a:t> Batch Applications (Spring Batch)</a:t>
            </a:r>
            <a:endParaRPr lang="en-US" altLang="en-US" sz="1600">
              <a:latin typeface="Cambria" panose="02040503050406030204" charset="0"/>
              <a:cs typeface="Cambria" panose="02040503050406030204" charset="0"/>
            </a:endParaRPr>
          </a:p>
          <a:p>
            <a:pPr marL="342900" indent="-342900">
              <a:buFont typeface="+mj-lt"/>
              <a:buAutoNum type="arabicPeriod"/>
            </a:pPr>
            <a:r>
              <a:rPr lang="en-US" altLang="en-US" sz="1600">
                <a:latin typeface="Cambria" panose="02040503050406030204" charset="0"/>
                <a:cs typeface="Cambria" panose="02040503050406030204" charset="0"/>
              </a:rPr>
              <a:t> Security-focused apps (with Spring Security)</a:t>
            </a:r>
            <a:endParaRPr lang="en-US" altLang="en-US" sz="1600">
              <a:latin typeface="Cambria" panose="02040503050406030204" charset="0"/>
              <a:cs typeface="Cambria" panose="02040503050406030204" charset="0"/>
            </a:endParaRPr>
          </a:p>
          <a:p>
            <a:pPr marL="342900" indent="-342900">
              <a:buFont typeface="+mj-lt"/>
              <a:buAutoNum type="arabicPeriod"/>
            </a:pPr>
            <a:r>
              <a:rPr lang="en-US" altLang="en-US" sz="1600">
                <a:latin typeface="Cambria" panose="02040503050406030204" charset="0"/>
                <a:cs typeface="Cambria" panose="02040503050406030204" charset="0"/>
              </a:rPr>
              <a:t>Cloud-based apps (Spring Cloud integration with AWS, Azure, etc.)</a:t>
            </a:r>
            <a:endParaRPr lang="en-US" altLang="en-US" sz="1600">
              <a:latin typeface="Cambria" panose="02040503050406030204" charset="0"/>
              <a:cs typeface="Cambria" panose="02040503050406030204" charset="0"/>
            </a:endParaRPr>
          </a:p>
          <a:p>
            <a:pPr marL="342900" indent="-342900">
              <a:buFont typeface="+mj-lt"/>
              <a:buAutoNum type="arabicPeriod"/>
            </a:pPr>
            <a:r>
              <a:rPr lang="en-US" altLang="en-US" sz="1600">
                <a:latin typeface="Cambria" panose="02040503050406030204" charset="0"/>
                <a:cs typeface="Cambria" panose="02040503050406030204" charset="0"/>
              </a:rPr>
              <a:t>Data-driven apps (with Spring Data JPA, JDBC)</a:t>
            </a:r>
            <a:endParaRPr lang="en-US" altLang="en-US" sz="1600">
              <a:latin typeface="Cambria" panose="02040503050406030204" charset="0"/>
              <a:cs typeface="Cambria" panose="02040503050406030204" charset="0"/>
            </a:endParaRPr>
          </a:p>
          <a:p>
            <a:endParaRPr lang="en-US" altLang="en-US" sz="1600">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149225" y="3660775"/>
          <a:ext cx="11878310" cy="3103880"/>
        </p:xfrm>
        <a:graphic>
          <a:graphicData uri="http://schemas.openxmlformats.org/drawingml/2006/table">
            <a:tbl>
              <a:tblPr/>
              <a:tblGrid>
                <a:gridCol w="5939155"/>
                <a:gridCol w="5939155"/>
              </a:tblGrid>
              <a:tr h="387985">
                <a:tc>
                  <a:txBody>
                    <a:bodyPr/>
                    <a:p>
                      <a:pPr algn="ctr"/>
                      <a:r>
                        <a:rPr sz="1600" b="1">
                          <a:latin typeface="Cambria" panose="02040503050406030204" charset="0"/>
                          <a:cs typeface="Cambria" panose="02040503050406030204" charset="0"/>
                        </a:rPr>
                        <a:t>Reason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Explanation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87985">
                <a:tc>
                  <a:txBody>
                    <a:bodyPr/>
                    <a:p>
                      <a:r>
                        <a:rPr sz="1400" b="1">
                          <a:latin typeface="Cambria" panose="02040503050406030204" charset="0"/>
                          <a:cs typeface="Cambria" panose="02040503050406030204" charset="0"/>
                        </a:rPr>
                        <a:t>🔹 Loose Coupling</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400" b="1">
                          <a:latin typeface="Cambria" panose="02040503050406030204" charset="0"/>
                          <a:cs typeface="Cambria" panose="02040503050406030204" charset="0"/>
                        </a:rPr>
                        <a:t>Through Dependency Injection</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87985">
                <a:tc>
                  <a:txBody>
                    <a:bodyPr/>
                    <a:p>
                      <a:r>
                        <a:rPr sz="1400" b="1">
                          <a:latin typeface="Cambria" panose="02040503050406030204" charset="0"/>
                          <a:cs typeface="Cambria" panose="02040503050406030204" charset="0"/>
                        </a:rPr>
                        <a:t>🔹 Fast Development with Spring Boot</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400" b="1">
                          <a:latin typeface="Cambria" panose="02040503050406030204" charset="0"/>
                          <a:cs typeface="Cambria" panose="02040503050406030204" charset="0"/>
                        </a:rPr>
                        <a:t>Spring Boot reduces boilerplate code, auto-configuration</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87985">
                <a:tc>
                  <a:txBody>
                    <a:bodyPr/>
                    <a:p>
                      <a:r>
                        <a:rPr sz="1400" b="1">
                          <a:latin typeface="Cambria" panose="02040503050406030204" charset="0"/>
                          <a:cs typeface="Cambria" panose="02040503050406030204" charset="0"/>
                        </a:rPr>
                        <a:t>🔹 Huge Ecosystem</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400" b="1">
                          <a:latin typeface="Cambria" panose="02040503050406030204" charset="0"/>
                          <a:cs typeface="Cambria" panose="02040503050406030204" charset="0"/>
                        </a:rPr>
                        <a:t>Covers everything from web to messaging to security</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87985">
                <a:tc>
                  <a:txBody>
                    <a:bodyPr/>
                    <a:p>
                      <a:r>
                        <a:rPr sz="1400" b="1">
                          <a:latin typeface="Cambria" panose="02040503050406030204" charset="0"/>
                          <a:cs typeface="Cambria" panose="02040503050406030204" charset="0"/>
                        </a:rPr>
                        <a:t>🔹 Community and Documentation</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400" b="1">
                          <a:latin typeface="Cambria" panose="02040503050406030204" charset="0"/>
                          <a:cs typeface="Cambria" panose="02040503050406030204" charset="0"/>
                        </a:rPr>
                        <a:t>Strong community support and rich documentation</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87985">
                <a:tc>
                  <a:txBody>
                    <a:bodyPr/>
                    <a:p>
                      <a:r>
                        <a:rPr sz="1400" b="1">
                          <a:latin typeface="Cambria" panose="02040503050406030204" charset="0"/>
                          <a:cs typeface="Cambria" panose="02040503050406030204" charset="0"/>
                        </a:rPr>
                        <a:t>🔹 Testable and Maintainable</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400" b="1">
                          <a:latin typeface="Cambria" panose="02040503050406030204" charset="0"/>
                          <a:cs typeface="Cambria" panose="02040503050406030204" charset="0"/>
                        </a:rPr>
                        <a:t>Built-in support for testing and clean architecture</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87985">
                <a:tc>
                  <a:txBody>
                    <a:bodyPr/>
                    <a:p>
                      <a:r>
                        <a:rPr sz="1400" b="1">
                          <a:latin typeface="Cambria" panose="02040503050406030204" charset="0"/>
                          <a:cs typeface="Cambria" panose="02040503050406030204" charset="0"/>
                        </a:rPr>
                        <a:t>🔹 Flexible Configuration</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400" b="1">
                          <a:latin typeface="Cambria" panose="02040503050406030204" charset="0"/>
                          <a:cs typeface="Cambria" panose="02040503050406030204" charset="0"/>
                        </a:rPr>
                        <a:t>Supports annotations, XML, and Java-based configurations</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87985">
                <a:tc>
                  <a:txBody>
                    <a:bodyPr/>
                    <a:p>
                      <a:r>
                        <a:rPr sz="1400" b="1">
                          <a:latin typeface="Cambria" panose="02040503050406030204" charset="0"/>
                          <a:cs typeface="Cambria" panose="02040503050406030204" charset="0"/>
                        </a:rPr>
                        <a:t>🔹 Integration Ready</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400" b="1">
                          <a:latin typeface="Cambria" panose="02040503050406030204" charset="0"/>
                          <a:cs typeface="Cambria" panose="02040503050406030204" charset="0"/>
                        </a:rPr>
                        <a:t>Works well with databases, Kafka, JMS, Hibernate, etc.</a:t>
                      </a:r>
                      <a:endParaRPr sz="14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192405"/>
            <a:ext cx="12192000" cy="450850"/>
          </a:xfrm>
        </p:spPr>
        <p:txBody>
          <a:bodyPr>
            <a:noAutofit/>
          </a:bodyPr>
          <a:p>
            <a:r>
              <a:rPr lang="en-US" sz="2400" b="1">
                <a:solidFill>
                  <a:srgbClr val="FF0000"/>
                </a:solidFill>
                <a:latin typeface="Cambria" panose="02040503050406030204" charset="0"/>
                <a:cs typeface="Cambria" panose="02040503050406030204" charset="0"/>
              </a:rPr>
              <a:t>Why Spring Framework</a:t>
            </a:r>
            <a:endParaRPr lang="en-US" sz="24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834390"/>
            <a:ext cx="12192000" cy="5810885"/>
          </a:xfrm>
        </p:spPr>
        <p:txBody>
          <a:bodyPr>
            <a:noAutofit/>
          </a:bodyPr>
          <a:p>
            <a:pPr marL="0" indent="0">
              <a:buNone/>
            </a:pPr>
            <a:r>
              <a:rPr lang="en-US" altLang="en-US" sz="1800">
                <a:latin typeface="Cambria" panose="02040503050406030204" charset="0"/>
                <a:cs typeface="Cambria" panose="02040503050406030204" charset="0"/>
              </a:rPr>
              <a:t>Why Use Spring Framework (Core)</a:t>
            </a:r>
            <a:endParaRPr lang="en-US" altLang="en-US" sz="1800">
              <a:latin typeface="Cambria" panose="02040503050406030204" charset="0"/>
              <a:cs typeface="Cambria" panose="02040503050406030204" charset="0"/>
            </a:endParaRPr>
          </a:p>
          <a:p>
            <a:pPr marL="342900" indent="-342900">
              <a:buAutoNum type="arabicPeriod"/>
            </a:pPr>
            <a:r>
              <a:rPr lang="en-US" altLang="en-US" sz="1800" b="1">
                <a:latin typeface="Cambria" panose="02040503050406030204" charset="0"/>
                <a:cs typeface="Cambria" panose="02040503050406030204" charset="0"/>
              </a:rPr>
              <a:t>Dependency Injection (DI)</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Allows automatic wiring of components, reducing tight coupling.  Makes code more modular, reusable, and easier to manag</a:t>
            </a:r>
            <a:endParaRPr lang="en-US" altLang="en-US" sz="1800">
              <a:latin typeface="Cambria" panose="02040503050406030204" charset="0"/>
              <a:cs typeface="Cambria" panose="02040503050406030204" charset="0"/>
            </a:endParaRPr>
          </a:p>
          <a:p>
            <a:pPr marL="0" indent="0">
              <a:buNone/>
            </a:pPr>
            <a:r>
              <a:rPr lang="en-US" altLang="en-US" sz="1800" b="1">
                <a:latin typeface="Cambria" panose="02040503050406030204" charset="0"/>
                <a:cs typeface="Cambria" panose="02040503050406030204" charset="0"/>
              </a:rPr>
              <a:t>2.   </a:t>
            </a:r>
            <a:r>
              <a:rPr lang="en-US" altLang="en-US" sz="1800" b="1">
                <a:latin typeface="Cambria" panose="02040503050406030204" charset="0"/>
                <a:cs typeface="Cambria" panose="02040503050406030204" charset="0"/>
              </a:rPr>
              <a:t>Inversion of Control (IoC)</a:t>
            </a:r>
            <a:endParaRPr lang="en-US" altLang="en-US" sz="1800" b="1">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Objects are created and managed by the Spring container. Promotes better control and flexibility in application design.</a:t>
            </a:r>
            <a:endParaRPr lang="en-US" altLang="en-US" sz="1800">
              <a:latin typeface="Cambria" panose="02040503050406030204" charset="0"/>
              <a:cs typeface="Cambria" panose="02040503050406030204" charset="0"/>
            </a:endParaRPr>
          </a:p>
          <a:p>
            <a:pPr marL="0" indent="0">
              <a:buNone/>
            </a:pPr>
            <a:r>
              <a:rPr lang="en-US" altLang="en-US" sz="1800" b="1">
                <a:latin typeface="Cambria" panose="02040503050406030204" charset="0"/>
                <a:cs typeface="Cambria" panose="02040503050406030204" charset="0"/>
              </a:rPr>
              <a:t>3.    Aspect-Oriented Programming (AOP)</a:t>
            </a:r>
            <a:endParaRPr lang="en-US" altLang="en-US" sz="1800" b="1">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Separates cross-cutting concerns like logging, security, and transactions. Keeps business logic clean and focused.</a:t>
            </a:r>
            <a:endParaRPr lang="en-US" altLang="en-US" sz="1800">
              <a:latin typeface="Cambria" panose="02040503050406030204" charset="0"/>
              <a:cs typeface="Cambria" panose="02040503050406030204" charset="0"/>
            </a:endParaRPr>
          </a:p>
          <a:p>
            <a:pPr marL="0" indent="0">
              <a:buNone/>
            </a:pPr>
            <a:r>
              <a:rPr lang="en-US" altLang="en-US" sz="1800" b="1">
                <a:latin typeface="Cambria" panose="02040503050406030204" charset="0"/>
                <a:cs typeface="Cambria" panose="02040503050406030204" charset="0"/>
              </a:rPr>
              <a:t>4.    Transaction Management</a:t>
            </a:r>
            <a:endParaRPr lang="en-US" altLang="en-US" sz="1800" b="1">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Provides a consistent way to manage transactions across different platforms. Supports both programmatic and declarative approaches (e.g., @Transactional).</a:t>
            </a:r>
            <a:endParaRPr lang="en-US" altLang="en-US" sz="1800">
              <a:latin typeface="Cambria" panose="02040503050406030204" charset="0"/>
              <a:cs typeface="Cambria" panose="02040503050406030204" charset="0"/>
            </a:endParaRPr>
          </a:p>
          <a:p>
            <a:pPr marL="0" indent="0">
              <a:buNone/>
            </a:pPr>
            <a:r>
              <a:rPr lang="en-US" altLang="en-US" sz="1800" b="1">
                <a:latin typeface="Cambria" panose="02040503050406030204" charset="0"/>
                <a:cs typeface="Cambria" panose="02040503050406030204" charset="0"/>
              </a:rPr>
              <a:t>5.   Spring MVC</a:t>
            </a:r>
            <a:endParaRPr lang="en-US" altLang="en-US" sz="1800" b="1">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A web framework for building clean and maintainable web apps. Based on the Model-View-Controller (MVC) design pattern.</a:t>
            </a:r>
            <a:endParaRPr lang="en-US" altLang="en-US" sz="1800">
              <a:latin typeface="Cambria" panose="02040503050406030204" charset="0"/>
              <a:cs typeface="Cambria" panose="02040503050406030204" charset="0"/>
            </a:endParaRPr>
          </a:p>
          <a:p>
            <a:pPr marL="0" indent="0">
              <a:buNone/>
            </a:pPr>
            <a:r>
              <a:rPr lang="en-US" altLang="en-US" sz="1800" b="1">
                <a:sym typeface="+mn-ea"/>
              </a:rPr>
              <a:t>6.   Integration Support</a:t>
            </a:r>
            <a:endParaRPr lang="en-US" altLang="en-US" sz="1800" b="1"/>
          </a:p>
          <a:p>
            <a:pPr marL="0" indent="0">
              <a:buNone/>
            </a:pPr>
            <a:r>
              <a:rPr lang="en-US" altLang="en-US" sz="1800">
                <a:sym typeface="+mn-ea"/>
              </a:rPr>
              <a:t>Easily integrates with JDBC, Hibernate, JMS, JPA, mail, and other technologies. Simplifies configuration and communication between different systems.</a:t>
            </a:r>
            <a:endParaRPr lang="en-US" altLang="en-US" sz="1800">
              <a:latin typeface="Cambria" panose="02040503050406030204" charset="0"/>
              <a:cs typeface="Cambria" panose="02040503050406030204" charset="0"/>
            </a:endParaRPr>
          </a:p>
          <a:p>
            <a:pPr marL="0" indent="0">
              <a:buNone/>
            </a:pPr>
            <a:endParaRPr lang="en-US" altLang="en-US" sz="1800">
              <a:latin typeface="Cambria" panose="02040503050406030204" charset="0"/>
              <a:cs typeface="Cambria" panose="02040503050406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280035"/>
            <a:ext cx="12044680" cy="6287135"/>
          </a:xfrm>
        </p:spPr>
        <p:txBody>
          <a:bodyPr/>
          <a:p>
            <a:pPr marL="0" indent="0">
              <a:buNone/>
            </a:pPr>
            <a:r>
              <a:rPr lang="en-US" altLang="en-US" sz="1800" b="1">
                <a:sym typeface="+mn-ea"/>
              </a:rPr>
              <a:t>7. Flexible Configuration</a:t>
            </a:r>
            <a:endParaRPr lang="en-US" altLang="en-US" sz="1800" b="1"/>
          </a:p>
          <a:p>
            <a:pPr marL="0" indent="0">
              <a:buNone/>
            </a:pPr>
            <a:r>
              <a:rPr lang="en-US" altLang="en-US" sz="1800">
                <a:sym typeface="+mn-ea"/>
              </a:rPr>
              <a:t>Supports XML, annotation-based, and Java-based configurations. Developers can choose the approach that fits their project best.</a:t>
            </a:r>
            <a:endParaRPr lang="en-US" altLang="en-US" sz="1800"/>
          </a:p>
          <a:p>
            <a:pPr marL="0" indent="0">
              <a:buNone/>
            </a:pPr>
            <a:r>
              <a:rPr lang="en-US" altLang="en-US" sz="1800" b="1">
                <a:sym typeface="+mn-ea"/>
              </a:rPr>
              <a:t>8.  Testability</a:t>
            </a:r>
            <a:endParaRPr lang="en-US" altLang="en-US" sz="1800" b="1"/>
          </a:p>
          <a:p>
            <a:pPr marL="0" indent="0">
              <a:buNone/>
            </a:pPr>
            <a:r>
              <a:rPr lang="en-US" altLang="en-US" sz="1800">
                <a:sym typeface="+mn-ea"/>
              </a:rPr>
              <a:t>Encourages writing POJOs that are easy to mock and test. Works well with testing frameworks like JUnit and Mockito.</a:t>
            </a:r>
            <a:endParaRPr lang="en-US" altLang="en-US" sz="1800"/>
          </a:p>
          <a:p>
            <a:pPr marL="0" indent="0">
              <a:buNone/>
            </a:pPr>
            <a:r>
              <a:rPr lang="en-US" altLang="en-US" sz="1800" b="1">
                <a:sym typeface="+mn-ea"/>
              </a:rPr>
              <a:t>9. Modular Architecture</a:t>
            </a:r>
            <a:endParaRPr lang="en-US" altLang="en-US" sz="1800" b="1"/>
          </a:p>
          <a:p>
            <a:pPr marL="0" indent="0">
              <a:buNone/>
            </a:pPr>
            <a:r>
              <a:rPr lang="en-US" altLang="en-US" sz="1800">
                <a:sym typeface="+mn-ea"/>
              </a:rPr>
              <a:t>You can use only the required modules like Core, AOP, or MVC.  Helps keep the application lightweight and focused.</a:t>
            </a:r>
            <a:endParaRPr lang="en-US" altLang="en-US" sz="1800"/>
          </a:p>
          <a:p>
            <a:pPr marL="0" indent="0">
              <a:buNone/>
            </a:pPr>
            <a:r>
              <a:rPr lang="en-US" altLang="en-US" sz="1800" b="1">
                <a:sym typeface="+mn-ea"/>
              </a:rPr>
              <a:t>10. Enterprise-Ready</a:t>
            </a:r>
            <a:endParaRPr lang="en-US" altLang="en-US" sz="1800" b="1"/>
          </a:p>
          <a:p>
            <a:pPr marL="0" indent="0">
              <a:buNone/>
            </a:pPr>
            <a:r>
              <a:rPr lang="en-US" altLang="en-US" sz="1800">
                <a:sym typeface="+mn-ea"/>
              </a:rPr>
              <a:t>Proven in large, complex, and mission-critical applications. Backed by a large community and enterprise-level support.</a:t>
            </a:r>
            <a:endParaRPr lang="en-US" altLang="en-US" sz="1800"/>
          </a:p>
          <a:p>
            <a:endParaRPr lang="en-US" alt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3830" y="0"/>
            <a:ext cx="10515600" cy="345440"/>
          </a:xfrm>
        </p:spPr>
        <p:txBody>
          <a:bodyPr>
            <a:noAutofit/>
          </a:bodyPr>
          <a:p>
            <a:r>
              <a:rPr lang="en-US" sz="2400" b="1">
                <a:solidFill>
                  <a:srgbClr val="FF0000"/>
                </a:solidFill>
                <a:latin typeface="Cambria" panose="02040503050406030204" charset="0"/>
                <a:cs typeface="Cambria" panose="02040503050406030204" charset="0"/>
              </a:rPr>
              <a:t>Spring New Project</a:t>
            </a:r>
            <a:endParaRPr lang="en-US" sz="2400" b="1">
              <a:solidFill>
                <a:srgbClr val="FF0000"/>
              </a:solidFill>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163830" y="3089275"/>
          <a:ext cx="11833860" cy="3133725"/>
        </p:xfrm>
        <a:graphic>
          <a:graphicData uri="http://schemas.openxmlformats.org/drawingml/2006/table">
            <a:tbl>
              <a:tblPr/>
              <a:tblGrid>
                <a:gridCol w="3944620"/>
                <a:gridCol w="3944620"/>
                <a:gridCol w="3944620"/>
              </a:tblGrid>
              <a:tr h="626745">
                <a:tc>
                  <a:txBody>
                    <a:bodyPr/>
                    <a:p>
                      <a:pPr algn="ctr"/>
                      <a:r>
                        <a:rPr sz="1800" b="1">
                          <a:solidFill>
                            <a:schemeClr val="tx1"/>
                          </a:solidFill>
                        </a:rPr>
                        <a:t>Method</a:t>
                      </a:r>
                      <a:endParaRPr sz="1800" b="1">
                        <a:solidFill>
                          <a:schemeClr val="tx1"/>
                        </a:solidFill>
                      </a:endParaRPr>
                    </a:p>
                  </a:txBody>
                  <a:tcPr marL="0" marR="0" marT="0" marB="0" anchor="ctr" anchorCtr="0">
                    <a:lnL>
                      <a:noFill/>
                    </a:lnL>
                    <a:lnR>
                      <a:noFill/>
                    </a:lnR>
                    <a:lnT>
                      <a:noFill/>
                    </a:lnT>
                    <a:lnB>
                      <a:noFill/>
                    </a:lnB>
                    <a:noFill/>
                  </a:tcPr>
                </a:tc>
                <a:tc>
                  <a:txBody>
                    <a:bodyPr/>
                    <a:p>
                      <a:pPr algn="ctr"/>
                      <a:r>
                        <a:rPr sz="1800" b="1">
                          <a:solidFill>
                            <a:schemeClr val="tx1"/>
                          </a:solidFill>
                        </a:rPr>
                        <a:t>Best For</a:t>
                      </a:r>
                      <a:endParaRPr sz="1800" b="1">
                        <a:solidFill>
                          <a:schemeClr val="tx1"/>
                        </a:solidFill>
                      </a:endParaRPr>
                    </a:p>
                  </a:txBody>
                  <a:tcPr marL="0" marR="0" marT="0" marB="0" anchor="ctr" anchorCtr="0">
                    <a:lnL>
                      <a:noFill/>
                    </a:lnL>
                    <a:lnR>
                      <a:noFill/>
                    </a:lnR>
                    <a:lnT>
                      <a:noFill/>
                    </a:lnT>
                    <a:lnB>
                      <a:noFill/>
                    </a:lnB>
                    <a:noFill/>
                  </a:tcPr>
                </a:tc>
                <a:tc>
                  <a:txBody>
                    <a:bodyPr/>
                    <a:p>
                      <a:pPr algn="ctr"/>
                      <a:r>
                        <a:rPr sz="1800" b="1">
                          <a:solidFill>
                            <a:schemeClr val="tx1"/>
                          </a:solidFill>
                        </a:rPr>
                        <a:t>Tools Needed</a:t>
                      </a:r>
                      <a:endParaRPr sz="1800" b="1">
                        <a:solidFill>
                          <a:schemeClr val="tx1"/>
                        </a:solidFill>
                      </a:endParaRPr>
                    </a:p>
                  </a:txBody>
                  <a:tcPr marL="0" marR="0" marT="0" marB="0" anchor="ctr" anchorCtr="0">
                    <a:lnL>
                      <a:noFill/>
                    </a:lnL>
                    <a:lnR>
                      <a:noFill/>
                    </a:lnR>
                    <a:lnT>
                      <a:noFill/>
                    </a:lnT>
                    <a:lnB>
                      <a:noFill/>
                    </a:lnB>
                    <a:noFill/>
                  </a:tcPr>
                </a:tc>
              </a:tr>
              <a:tr h="626745">
                <a:tc>
                  <a:txBody>
                    <a:bodyPr/>
                    <a:p>
                      <a:pPr algn="l"/>
                      <a:r>
                        <a:rPr sz="1800" b="0"/>
                        <a:t>Spring Initializr</a:t>
                      </a:r>
                      <a:endParaRPr sz="1800" b="0"/>
                    </a:p>
                  </a:txBody>
                  <a:tcPr marL="0" marR="0" marT="0" marB="0" anchor="ctr" anchorCtr="0">
                    <a:lnL>
                      <a:noFill/>
                    </a:lnL>
                    <a:lnR>
                      <a:noFill/>
                    </a:lnR>
                    <a:lnT>
                      <a:noFill/>
                    </a:lnT>
                    <a:lnB>
                      <a:noFill/>
                    </a:lnB>
                    <a:noFill/>
                  </a:tcPr>
                </a:tc>
                <a:tc>
                  <a:txBody>
                    <a:bodyPr/>
                    <a:p>
                      <a:pPr algn="l"/>
                      <a:r>
                        <a:rPr sz="1800" b="0"/>
                        <a:t>Beginners &amp; Fast setup</a:t>
                      </a:r>
                      <a:endParaRPr sz="1800" b="0"/>
                    </a:p>
                  </a:txBody>
                  <a:tcPr marL="0" marR="0" marT="0" marB="0" anchor="ctr" anchorCtr="0">
                    <a:lnL>
                      <a:noFill/>
                    </a:lnL>
                    <a:lnR>
                      <a:noFill/>
                    </a:lnR>
                    <a:lnT>
                      <a:noFill/>
                    </a:lnT>
                    <a:lnB>
                      <a:noFill/>
                    </a:lnB>
                    <a:noFill/>
                  </a:tcPr>
                </a:tc>
                <a:tc>
                  <a:txBody>
                    <a:bodyPr/>
                    <a:p>
                      <a:pPr algn="l"/>
                      <a:r>
                        <a:rPr sz="1800" b="0"/>
                        <a:t>Browser</a:t>
                      </a:r>
                      <a:endParaRPr sz="1800" b="0"/>
                    </a:p>
                  </a:txBody>
                  <a:tcPr marL="0" marR="0" marT="0" marB="0" anchor="ctr" anchorCtr="0">
                    <a:lnL>
                      <a:noFill/>
                    </a:lnL>
                    <a:lnR>
                      <a:noFill/>
                    </a:lnR>
                    <a:lnT>
                      <a:noFill/>
                    </a:lnT>
                    <a:lnB>
                      <a:noFill/>
                    </a:lnB>
                    <a:noFill/>
                  </a:tcPr>
                </a:tc>
              </a:tr>
              <a:tr h="626745">
                <a:tc>
                  <a:txBody>
                    <a:bodyPr/>
                    <a:p>
                      <a:pPr algn="l"/>
                      <a:r>
                        <a:rPr sz="1800" b="0"/>
                        <a:t>IntelliJ/Eclipse/STS</a:t>
                      </a:r>
                      <a:endParaRPr sz="1800" b="0"/>
                    </a:p>
                  </a:txBody>
                  <a:tcPr marL="0" marR="0" marT="0" marB="0" anchor="ctr" anchorCtr="0">
                    <a:lnL>
                      <a:noFill/>
                    </a:lnL>
                    <a:lnR>
                      <a:noFill/>
                    </a:lnR>
                    <a:lnT>
                      <a:noFill/>
                    </a:lnT>
                    <a:lnB>
                      <a:noFill/>
                    </a:lnB>
                    <a:noFill/>
                  </a:tcPr>
                </a:tc>
                <a:tc>
                  <a:txBody>
                    <a:bodyPr/>
                    <a:p>
                      <a:pPr algn="l"/>
                      <a:r>
                        <a:rPr sz="1800" b="0"/>
                        <a:t>Developers using IDE</a:t>
                      </a:r>
                      <a:endParaRPr sz="1800" b="0"/>
                    </a:p>
                  </a:txBody>
                  <a:tcPr marL="0" marR="0" marT="0" marB="0" anchor="ctr" anchorCtr="0">
                    <a:lnL>
                      <a:noFill/>
                    </a:lnL>
                    <a:lnR>
                      <a:noFill/>
                    </a:lnR>
                    <a:lnT>
                      <a:noFill/>
                    </a:lnT>
                    <a:lnB>
                      <a:noFill/>
                    </a:lnB>
                    <a:noFill/>
                  </a:tcPr>
                </a:tc>
                <a:tc>
                  <a:txBody>
                    <a:bodyPr/>
                    <a:p>
                      <a:pPr algn="l"/>
                      <a:r>
                        <a:rPr sz="1800" b="0"/>
                        <a:t>IntelliJ/Eclipse/STS</a:t>
                      </a:r>
                      <a:endParaRPr sz="1800" b="0"/>
                    </a:p>
                  </a:txBody>
                  <a:tcPr marL="0" marR="0" marT="0" marB="0" anchor="ctr" anchorCtr="0">
                    <a:lnL>
                      <a:noFill/>
                    </a:lnL>
                    <a:lnR>
                      <a:noFill/>
                    </a:lnR>
                    <a:lnT>
                      <a:noFill/>
                    </a:lnT>
                    <a:lnB>
                      <a:noFill/>
                    </a:lnB>
                    <a:noFill/>
                  </a:tcPr>
                </a:tc>
              </a:tr>
              <a:tr h="626745">
                <a:tc>
                  <a:txBody>
                    <a:bodyPr/>
                    <a:p>
                      <a:pPr algn="l"/>
                      <a:r>
                        <a:rPr sz="1800" b="0"/>
                        <a:t>Manual Setup</a:t>
                      </a:r>
                      <a:endParaRPr sz="1800" b="0"/>
                    </a:p>
                  </a:txBody>
                  <a:tcPr marL="0" marR="0" marT="0" marB="0" anchor="ctr" anchorCtr="0">
                    <a:lnL>
                      <a:noFill/>
                    </a:lnL>
                    <a:lnR>
                      <a:noFill/>
                    </a:lnR>
                    <a:lnT>
                      <a:noFill/>
                    </a:lnT>
                    <a:lnB>
                      <a:noFill/>
                    </a:lnB>
                    <a:noFill/>
                  </a:tcPr>
                </a:tc>
                <a:tc>
                  <a:txBody>
                    <a:bodyPr/>
                    <a:p>
                      <a:pPr algn="l"/>
                      <a:r>
                        <a:rPr sz="1800" b="0"/>
                        <a:t>Advanced customization (rare today)</a:t>
                      </a:r>
                      <a:endParaRPr sz="1800" b="0"/>
                    </a:p>
                  </a:txBody>
                  <a:tcPr marL="0" marR="0" marT="0" marB="0" anchor="ctr" anchorCtr="0">
                    <a:lnL>
                      <a:noFill/>
                    </a:lnL>
                    <a:lnR>
                      <a:noFill/>
                    </a:lnR>
                    <a:lnT>
                      <a:noFill/>
                    </a:lnT>
                    <a:lnB>
                      <a:noFill/>
                    </a:lnB>
                    <a:noFill/>
                  </a:tcPr>
                </a:tc>
                <a:tc>
                  <a:txBody>
                    <a:bodyPr/>
                    <a:p>
                      <a:pPr algn="l"/>
                      <a:r>
                        <a:rPr sz="1800" b="0"/>
                        <a:t>Maven/Gradle</a:t>
                      </a:r>
                      <a:endParaRPr sz="1800" b="0"/>
                    </a:p>
                  </a:txBody>
                  <a:tcPr marL="0" marR="0" marT="0" marB="0" anchor="ctr" anchorCtr="0">
                    <a:lnL>
                      <a:noFill/>
                    </a:lnL>
                    <a:lnR>
                      <a:noFill/>
                    </a:lnR>
                    <a:lnT>
                      <a:noFill/>
                    </a:lnT>
                    <a:lnB>
                      <a:noFill/>
                    </a:lnB>
                    <a:noFill/>
                  </a:tcPr>
                </a:tc>
              </a:tr>
              <a:tr h="626745">
                <a:tc>
                  <a:txBody>
                    <a:bodyPr/>
                    <a:p>
                      <a:pPr algn="l"/>
                      <a:r>
                        <a:rPr sz="1800" b="0"/>
                        <a:t>Spring CLI</a:t>
                      </a:r>
                      <a:endParaRPr sz="1800" b="0"/>
                    </a:p>
                  </a:txBody>
                  <a:tcPr marL="0" marR="0" marT="0" marB="0" anchor="ctr" anchorCtr="0">
                    <a:lnL>
                      <a:noFill/>
                    </a:lnL>
                    <a:lnR>
                      <a:noFill/>
                    </a:lnR>
                    <a:lnT>
                      <a:noFill/>
                    </a:lnT>
                    <a:lnB>
                      <a:noFill/>
                    </a:lnB>
                    <a:noFill/>
                  </a:tcPr>
                </a:tc>
                <a:tc>
                  <a:txBody>
                    <a:bodyPr/>
                    <a:p>
                      <a:pPr algn="l"/>
                      <a:r>
                        <a:rPr sz="1800" b="0"/>
                        <a:t>Fast project setup from terminal</a:t>
                      </a:r>
                      <a:endParaRPr sz="1800" b="0"/>
                    </a:p>
                  </a:txBody>
                  <a:tcPr marL="0" marR="0" marT="0" marB="0" anchor="ctr" anchorCtr="0">
                    <a:lnL>
                      <a:noFill/>
                    </a:lnL>
                    <a:lnR>
                      <a:noFill/>
                    </a:lnR>
                    <a:lnT>
                      <a:noFill/>
                    </a:lnT>
                    <a:lnB>
                      <a:noFill/>
                    </a:lnB>
                    <a:noFill/>
                  </a:tcPr>
                </a:tc>
                <a:tc>
                  <a:txBody>
                    <a:bodyPr/>
                    <a:p>
                      <a:pPr algn="l"/>
                      <a:r>
                        <a:rPr sz="1800" b="0"/>
                        <a:t>Spring CLI installed</a:t>
                      </a:r>
                      <a:endParaRPr sz="1800" b="0"/>
                    </a:p>
                  </a:txBody>
                  <a:tcPr marL="0" marR="0" marT="0" marB="0" anchor="ctr" anchorCtr="0">
                    <a:lnL>
                      <a:noFill/>
                    </a:lnL>
                    <a:lnR>
                      <a:noFill/>
                    </a:lnR>
                    <a:lnT>
                      <a:noFill/>
                    </a:lnT>
                    <a:lnB>
                      <a:noFill/>
                    </a:lnB>
                    <a:noFill/>
                  </a:tcPr>
                </a:tc>
              </a:tr>
            </a:tbl>
          </a:graphicData>
        </a:graphic>
      </p:graphicFrame>
      <p:graphicFrame>
        <p:nvGraphicFramePr>
          <p:cNvPr id="6" name="Table 5"/>
          <p:cNvGraphicFramePr/>
          <p:nvPr>
            <p:custDataLst>
              <p:tags r:id="rId2"/>
            </p:custDataLst>
          </p:nvPr>
        </p:nvGraphicFramePr>
        <p:xfrm>
          <a:off x="163830" y="492125"/>
          <a:ext cx="11569065" cy="2089150"/>
        </p:xfrm>
        <a:graphic>
          <a:graphicData uri="http://schemas.openxmlformats.org/drawingml/2006/table">
            <a:tbl>
              <a:tblPr/>
              <a:tblGrid>
                <a:gridCol w="3856355"/>
                <a:gridCol w="3856355"/>
                <a:gridCol w="3856355"/>
              </a:tblGrid>
              <a:tr h="417830">
                <a:tc>
                  <a:txBody>
                    <a:bodyPr/>
                    <a:p>
                      <a:pPr algn="ctr"/>
                      <a:r>
                        <a:rPr sz="1800" b="1"/>
                        <a:t>Tool</a:t>
                      </a:r>
                      <a:endParaRPr sz="1800" b="1"/>
                    </a:p>
                  </a:txBody>
                  <a:tcPr marL="0" marR="0" marT="0" marB="0" anchor="ctr" anchorCtr="0">
                    <a:lnL>
                      <a:noFill/>
                    </a:lnL>
                    <a:lnR>
                      <a:noFill/>
                    </a:lnR>
                    <a:lnT>
                      <a:noFill/>
                    </a:lnT>
                    <a:lnB>
                      <a:noFill/>
                    </a:lnB>
                    <a:noFill/>
                  </a:tcPr>
                </a:tc>
                <a:tc>
                  <a:txBody>
                    <a:bodyPr/>
                    <a:p>
                      <a:pPr algn="ctr"/>
                      <a:r>
                        <a:rPr sz="1800" b="1"/>
                        <a:t>Description</a:t>
                      </a:r>
                      <a:endParaRPr sz="1800" b="1"/>
                    </a:p>
                  </a:txBody>
                  <a:tcPr marL="0" marR="0" marT="0" marB="0" anchor="ctr" anchorCtr="0">
                    <a:lnL>
                      <a:noFill/>
                    </a:lnL>
                    <a:lnR>
                      <a:noFill/>
                    </a:lnR>
                    <a:lnT>
                      <a:noFill/>
                    </a:lnT>
                    <a:lnB>
                      <a:noFill/>
                    </a:lnB>
                    <a:noFill/>
                  </a:tcPr>
                </a:tc>
                <a:tc>
                  <a:txBody>
                    <a:bodyPr/>
                    <a:p>
                      <a:pPr algn="ctr"/>
                      <a:r>
                        <a:rPr sz="1800" b="1"/>
                        <a:t>Download Link</a:t>
                      </a:r>
                      <a:endParaRPr sz="1800" b="1"/>
                    </a:p>
                  </a:txBody>
                  <a:tcPr marL="0" marR="0" marT="0" marB="0" anchor="ctr" anchorCtr="0">
                    <a:lnL>
                      <a:noFill/>
                    </a:lnL>
                    <a:lnR>
                      <a:noFill/>
                    </a:lnR>
                    <a:lnT>
                      <a:noFill/>
                    </a:lnT>
                    <a:lnB>
                      <a:noFill/>
                    </a:lnB>
                    <a:noFill/>
                  </a:tcPr>
                </a:tc>
              </a:tr>
              <a:tr h="417830">
                <a:tc>
                  <a:txBody>
                    <a:bodyPr/>
                    <a:p>
                      <a:pPr algn="l"/>
                      <a:r>
                        <a:rPr sz="1600" b="0">
                          <a:latin typeface="Cambria" panose="02040503050406030204" charset="0"/>
                          <a:cs typeface="Cambria" panose="02040503050406030204" charset="0"/>
                        </a:rPr>
                        <a:t>Java JDK (17+)</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Required for compiling Java</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hlinkClick r:id="rId3"/>
                        </a:rPr>
                        <a:t>https://adoptium.net/</a:t>
                      </a:r>
                      <a:endParaRPr sz="1600" b="0">
                        <a:latin typeface="Cambria" panose="02040503050406030204" charset="0"/>
                        <a:cs typeface="Cambria" panose="02040503050406030204" charset="0"/>
                        <a:hlinkClick r:id="rId3"/>
                      </a:endParaRPr>
                    </a:p>
                  </a:txBody>
                  <a:tcPr marL="0" marR="0" marT="0" marB="0" anchor="ctr" anchorCtr="0">
                    <a:lnL>
                      <a:noFill/>
                    </a:lnL>
                    <a:lnR>
                      <a:noFill/>
                    </a:lnR>
                    <a:lnT>
                      <a:noFill/>
                    </a:lnT>
                    <a:lnB>
                      <a:noFill/>
                    </a:lnB>
                    <a:noFill/>
                  </a:tcPr>
                </a:tc>
              </a:tr>
              <a:tr h="417830">
                <a:tc>
                  <a:txBody>
                    <a:bodyPr/>
                    <a:p>
                      <a:pPr algn="l"/>
                      <a:r>
                        <a:rPr sz="1600" b="0">
                          <a:latin typeface="Cambria" panose="02040503050406030204" charset="0"/>
                          <a:cs typeface="Cambria" panose="02040503050406030204" charset="0"/>
                        </a:rPr>
                        <a:t>IDE (IntelliJ / Eclipse / STS)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For writing and running code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IntelliJ: </a:t>
                      </a:r>
                      <a:r>
                        <a:rPr sz="1600" b="0">
                          <a:latin typeface="Cambria" panose="02040503050406030204" charset="0"/>
                          <a:cs typeface="Cambria" panose="02040503050406030204" charset="0"/>
                          <a:hlinkClick r:id="rId4"/>
                        </a:rPr>
                        <a:t>jetbrains.com</a:t>
                      </a:r>
                      <a:r>
                        <a:rPr sz="1600" b="0">
                          <a:latin typeface="Cambria" panose="02040503050406030204" charset="0"/>
                          <a:cs typeface="Cambria" panose="02040503050406030204" charset="0"/>
                        </a:rPr>
                        <a:t> Eclipse: </a:t>
                      </a:r>
                      <a:r>
                        <a:rPr sz="1600" b="0">
                          <a:latin typeface="Cambria" panose="02040503050406030204" charset="0"/>
                          <a:cs typeface="Cambria" panose="02040503050406030204" charset="0"/>
                          <a:hlinkClick r:id="rId5"/>
                        </a:rPr>
                        <a:t>eclipse.org</a:t>
                      </a:r>
                      <a:endParaRPr sz="1600" b="0">
                        <a:latin typeface="Cambria" panose="02040503050406030204" charset="0"/>
                        <a:cs typeface="Cambria" panose="02040503050406030204" charset="0"/>
                        <a:hlinkClick r:id="rId5"/>
                      </a:endParaRPr>
                    </a:p>
                  </a:txBody>
                  <a:tcPr marL="0" marR="0" marT="0" marB="0" anchor="ctr" anchorCtr="0">
                    <a:lnL>
                      <a:noFill/>
                    </a:lnL>
                    <a:lnR>
                      <a:noFill/>
                    </a:lnR>
                    <a:lnT>
                      <a:noFill/>
                    </a:lnT>
                    <a:lnB>
                      <a:noFill/>
                    </a:lnB>
                    <a:noFill/>
                  </a:tcPr>
                </a:tc>
              </a:tr>
              <a:tr h="417830">
                <a:tc>
                  <a:txBody>
                    <a:bodyPr/>
                    <a:p>
                      <a:pPr algn="l"/>
                      <a:r>
                        <a:rPr sz="1600" b="0">
                          <a:latin typeface="Cambria" panose="02040503050406030204" charset="0"/>
                          <a:cs typeface="Cambria" panose="02040503050406030204" charset="0"/>
                        </a:rPr>
                        <a:t>Maven or Gradle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Build tool (Spring Initializr handles this)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Usually included with IDE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17830">
                <a:tc>
                  <a:txBody>
                    <a:bodyPr/>
                    <a:p>
                      <a:pPr algn="l"/>
                      <a:r>
                        <a:rPr sz="1600" b="0">
                          <a:latin typeface="Cambria" panose="02040503050406030204" charset="0"/>
                          <a:cs typeface="Cambria" panose="02040503050406030204" charset="0"/>
                        </a:rPr>
                        <a:t>Spring Boot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Framework for building Spring apps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Generated via Spring Initializr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06680" y="0"/>
          <a:ext cx="11964670" cy="6858000"/>
        </p:xfrm>
        <a:graphic>
          <a:graphicData uri="http://schemas.openxmlformats.org/drawingml/2006/table">
            <a:tbl>
              <a:tblPr/>
              <a:tblGrid>
                <a:gridCol w="5982335"/>
                <a:gridCol w="5982335"/>
              </a:tblGrid>
              <a:tr h="453390">
                <a:tc>
                  <a:txBody>
                    <a:bodyPr/>
                    <a:p>
                      <a:r>
                        <a:rPr sz="1800" b="1">
                          <a:latin typeface="Cambria" panose="02040503050406030204" charset="0"/>
                          <a:cs typeface="Cambria" panose="02040503050406030204" charset="0"/>
                        </a:rPr>
                        <a:t>Folder / File</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1">
                          <a:latin typeface="Cambria" panose="02040503050406030204" charset="0"/>
                          <a:cs typeface="Cambria" panose="02040503050406030204" charset="0"/>
                        </a:rPr>
                        <a:t>Purpose</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2755">
                <a:tc>
                  <a:txBody>
                    <a:bodyPr/>
                    <a:p>
                      <a:r>
                        <a:rPr sz="1600" b="0">
                          <a:latin typeface="Cambria" panose="02040503050406030204" charset="0"/>
                          <a:cs typeface="Cambria" panose="02040503050406030204" charset="0"/>
                        </a:rPr>
                        <a:t>src/main/java</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Main application source code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513715">
                <a:tc>
                  <a:txBody>
                    <a:bodyPr/>
                    <a:p>
                      <a:r>
                        <a:rPr sz="1600" b="0">
                          <a:latin typeface="Cambria" panose="02040503050406030204" charset="0"/>
                          <a:cs typeface="Cambria" panose="02040503050406030204" charset="0"/>
                        </a:rPr>
                        <a:t>└── com.example.demo</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Your base package (matches your group/artifact from Spring Initializr)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2755">
                <a:tc>
                  <a:txBody>
                    <a:bodyPr/>
                    <a:p>
                      <a:r>
                        <a:rPr sz="1600" b="0">
                          <a:latin typeface="Cambria" panose="02040503050406030204" charset="0"/>
                          <a:cs typeface="Cambria" panose="02040503050406030204" charset="0"/>
                        </a:rPr>
                        <a:t>├── DemoApplication.java</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Entry point for the Spring Boot app (@SpringBootApplication)</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3390">
                <a:tc>
                  <a:txBody>
                    <a:bodyPr/>
                    <a:p>
                      <a:r>
                        <a:rPr sz="1600" b="0">
                          <a:latin typeface="Cambria" panose="02040503050406030204" charset="0"/>
                          <a:cs typeface="Cambria" panose="02040503050406030204" charset="0"/>
                        </a:rPr>
                        <a:t>├── controller/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Contains REST controllers (@RestController)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3390">
                <a:tc>
                  <a:txBody>
                    <a:bodyPr/>
                    <a:p>
                      <a:r>
                        <a:rPr sz="1600" b="0">
                          <a:latin typeface="Cambria" panose="02040503050406030204" charset="0"/>
                          <a:cs typeface="Cambria" panose="02040503050406030204" charset="0"/>
                        </a:rPr>
                        <a:t>├── service/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Business logic layer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2755">
                <a:tc>
                  <a:txBody>
                    <a:bodyPr/>
                    <a:p>
                      <a:r>
                        <a:rPr sz="1600" b="0">
                          <a:latin typeface="Cambria" panose="02040503050406030204" charset="0"/>
                          <a:cs typeface="Cambria" panose="02040503050406030204" charset="0"/>
                        </a:rPr>
                        <a:t>├── repository/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DAO layer (interfaces extending JpaRepository, etc.)</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4025">
                <a:tc>
                  <a:txBody>
                    <a:bodyPr/>
                    <a:p>
                      <a:r>
                        <a:rPr sz="1600" b="0">
                          <a:latin typeface="Cambria" panose="02040503050406030204" charset="0"/>
                          <a:cs typeface="Cambria" panose="02040503050406030204" charset="0"/>
                        </a:rPr>
                        <a:t>└── model/ or entity/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Java classes representing database tables (entities)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2755">
                <a:tc>
                  <a:txBody>
                    <a:bodyPr/>
                    <a:p>
                      <a:r>
                        <a:rPr sz="1600" b="0">
                          <a:latin typeface="Cambria" panose="02040503050406030204" charset="0"/>
                          <a:cs typeface="Cambria" panose="02040503050406030204" charset="0"/>
                        </a:rPr>
                        <a:t>src/main/resources/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Contains configuration and static files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3390">
                <a:tc>
                  <a:txBody>
                    <a:bodyPr/>
                    <a:p>
                      <a:r>
                        <a:rPr sz="1600" b="0">
                          <a:latin typeface="Cambria" panose="02040503050406030204" charset="0"/>
                          <a:cs typeface="Cambria" panose="02040503050406030204" charset="0"/>
                        </a:rPr>
                        <a:t>├── application.properties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Main config file for the project (DB, port, etc.)</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2755">
                <a:tc>
                  <a:txBody>
                    <a:bodyPr/>
                    <a:p>
                      <a:r>
                        <a:rPr sz="1600" b="0">
                          <a:latin typeface="Cambria" panose="02040503050406030204" charset="0"/>
                          <a:cs typeface="Cambria" panose="02040503050406030204" charset="0"/>
                        </a:rPr>
                        <a:t>├── static/</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Static files like CSS, JS, images (served automatically)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3390">
                <a:tc>
                  <a:txBody>
                    <a:bodyPr/>
                    <a:p>
                      <a:r>
                        <a:rPr sz="1600" b="0">
                          <a:latin typeface="Cambria" panose="02040503050406030204" charset="0"/>
                          <a:cs typeface="Cambria" panose="02040503050406030204" charset="0"/>
                        </a:rPr>
                        <a:t>├── templates/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Thymeleaf or other template files for web views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3390">
                <a:tc>
                  <a:txBody>
                    <a:bodyPr/>
                    <a:p>
                      <a:r>
                        <a:rPr sz="1600" b="0">
                          <a:latin typeface="Cambria" panose="02040503050406030204" charset="0"/>
                          <a:cs typeface="Cambria" panose="02040503050406030204" charset="0"/>
                        </a:rPr>
                        <a:t>└── banner.txt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Custom banner shown on app startup (optional)</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2755">
                <a:tc>
                  <a:txBody>
                    <a:bodyPr/>
                    <a:p>
                      <a:r>
                        <a:rPr sz="1600" b="0">
                          <a:latin typeface="Cambria" panose="02040503050406030204" charset="0"/>
                          <a:cs typeface="Cambria" panose="02040503050406030204" charset="0"/>
                        </a:rPr>
                        <a:t>src/test/java/</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Unit and integration test classes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3390">
                <a:tc>
                  <a:txBody>
                    <a:bodyPr/>
                    <a:p>
                      <a:r>
                        <a:rPr sz="1600" b="0">
                          <a:latin typeface="Cambria" panose="02040503050406030204" charset="0"/>
                          <a:cs typeface="Cambria" panose="02040503050406030204" charset="0"/>
                        </a:rPr>
                        <a:t>pom.xml / build.gradle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Dependency management and build file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298450"/>
          </a:xfrm>
          <a:solidFill>
            <a:schemeClr val="bg1"/>
          </a:solidFill>
        </p:spPr>
        <p:txBody>
          <a:bodyPr>
            <a:noAutofit/>
          </a:bodyPr>
          <a:p>
            <a:r>
              <a:rPr lang="en-US" sz="2400" b="1">
                <a:solidFill>
                  <a:srgbClr val="FF0000"/>
                </a:solidFill>
              </a:rPr>
              <a:t>Project Folder Imp</a:t>
            </a:r>
            <a:endParaRPr lang="en-US" sz="2400" b="1">
              <a:solidFill>
                <a:srgbClr val="FF0000"/>
              </a:solidFill>
            </a:endParaRPr>
          </a:p>
        </p:txBody>
      </p:sp>
      <p:sp>
        <p:nvSpPr>
          <p:cNvPr id="3" name="Content Placeholder 2"/>
          <p:cNvSpPr>
            <a:spLocks noGrp="1"/>
          </p:cNvSpPr>
          <p:nvPr>
            <p:ph idx="1"/>
          </p:nvPr>
        </p:nvSpPr>
        <p:spPr>
          <a:xfrm>
            <a:off x="193675" y="297815"/>
            <a:ext cx="10515600" cy="6377305"/>
          </a:xfrm>
        </p:spPr>
        <p:txBody>
          <a:bodyPr>
            <a:noAutofit/>
          </a:bodyPr>
          <a:p>
            <a:r>
              <a:rPr lang="en-US" altLang="en-US" sz="1800">
                <a:latin typeface="Cambria" panose="02040503050406030204" charset="0"/>
                <a:cs typeface="Cambria" panose="02040503050406030204" charset="0"/>
              </a:rPr>
              <a:t>com.example.demo</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controller     // Handles HTTP requests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service        // Business logic</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repository     // Database access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model          // POJOs / Entities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dto            // Data Transfer Objects (optional)</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config         // Configuration classes (security, beans)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DemoApplication.java</a:t>
            </a:r>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Server config</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server.port=8080</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 Database config (e.g., MySQL)</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spring.datasource.url=jdbc:mysql://localhost:3306/mydb</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spring.datasource.username=root</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spring.datasource.password=yourpassword</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spring.jpa.hibernate.ddl-auto=update</a:t>
            </a:r>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650" y="101600"/>
            <a:ext cx="11233150" cy="344170"/>
          </a:xfrm>
        </p:spPr>
        <p:txBody>
          <a:bodyPr>
            <a:normAutofit fontScale="90000"/>
          </a:bodyPr>
          <a:p>
            <a:r>
              <a:rPr lang="en-US" altLang="en-US" sz="2800" b="1">
                <a:solidFill>
                  <a:srgbClr val="FF0000"/>
                </a:solidFill>
                <a:latin typeface="Cambria" panose="02040503050406030204" charset="0"/>
                <a:cs typeface="Cambria" panose="02040503050406030204" charset="0"/>
              </a:rPr>
              <a:t>Spring Annotations</a:t>
            </a:r>
            <a:endParaRPr lang="en-US" altLang="en-US" sz="28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20650" y="535940"/>
            <a:ext cx="11936730" cy="4351655"/>
          </a:xfrm>
        </p:spPr>
        <p:txBody>
          <a:bodyPr/>
          <a:p>
            <a:r>
              <a:rPr lang="en-US" altLang="en-US" sz="1800">
                <a:sym typeface="+mn-ea"/>
              </a:rPr>
              <a:t>3. What are Spring Annotations?</a:t>
            </a:r>
            <a:br>
              <a:rPr lang="en-US" altLang="en-US" sz="1800">
                <a:sym typeface="+mn-ea"/>
              </a:rPr>
            </a:br>
            <a:r>
              <a:rPr lang="en-US" altLang="en-US" sz="1800">
                <a:sym typeface="+mn-ea"/>
              </a:rPr>
              <a:t>Spring Annotations are metadata used to define and configure Spring Beans without XML.</a:t>
            </a:r>
            <a:endParaRPr lang="en-US" altLang="en-US" sz="1800"/>
          </a:p>
          <a:p>
            <a:endParaRPr lang="en-US" altLang="en-US" sz="1800"/>
          </a:p>
        </p:txBody>
      </p:sp>
      <p:graphicFrame>
        <p:nvGraphicFramePr>
          <p:cNvPr id="4" name="Table 3"/>
          <p:cNvGraphicFramePr/>
          <p:nvPr>
            <p:custDataLst>
              <p:tags r:id="rId1"/>
            </p:custDataLst>
          </p:nvPr>
        </p:nvGraphicFramePr>
        <p:xfrm>
          <a:off x="120650" y="1149985"/>
          <a:ext cx="11936730" cy="3594100"/>
        </p:xfrm>
        <a:graphic>
          <a:graphicData uri="http://schemas.openxmlformats.org/drawingml/2006/table">
            <a:tbl>
              <a:tblPr/>
              <a:tblGrid>
                <a:gridCol w="5968365"/>
                <a:gridCol w="5968365"/>
              </a:tblGrid>
              <a:tr h="359410">
                <a:tc>
                  <a:txBody>
                    <a:bodyPr/>
                    <a:p>
                      <a:pPr algn="ctr"/>
                      <a:r>
                        <a:rPr sz="1800" b="1">
                          <a:latin typeface="Cambria" panose="02040503050406030204" charset="0"/>
                          <a:cs typeface="Cambria" panose="02040503050406030204" charset="0"/>
                        </a:rPr>
                        <a:t>Annotation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1800" b="1">
                          <a:latin typeface="Cambria" panose="02040503050406030204" charset="0"/>
                          <a:cs typeface="Cambria" panose="02040503050406030204" charset="0"/>
                        </a:rPr>
                        <a:t>Description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a:t>
                      </a:r>
                      <a:r>
                        <a:rPr sz="1600" b="1">
                          <a:latin typeface="Cambria" panose="02040503050406030204" charset="0"/>
                          <a:cs typeface="Cambria" panose="02040503050406030204" charset="0"/>
                        </a:rPr>
                        <a:t>Component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Generic stereotype for any Spring-managed bean</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@Service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Marks business/service layer bean</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@Repository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Marks DAO layer bean (also handles exceptions)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@Controller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Used in Spring MVC to handle web requests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@RestController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Combines @Controller + @ResponseBody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@Autowired</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Automatically injects dependencies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@Configuration</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Declares a configuration class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@Bean</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Defines a bean in a config class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59410">
                <a:tc>
                  <a:txBody>
                    <a:bodyPr/>
                    <a:p>
                      <a:r>
                        <a:rPr sz="1600" b="0">
                          <a:latin typeface="Cambria" panose="02040503050406030204" charset="0"/>
                          <a:cs typeface="Cambria" panose="02040503050406030204" charset="0"/>
                        </a:rPr>
                        <a:t>@Value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Injects values from properties file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
        <p:nvSpPr>
          <p:cNvPr id="5" name="Text Box 4"/>
          <p:cNvSpPr txBox="1"/>
          <p:nvPr/>
        </p:nvSpPr>
        <p:spPr>
          <a:xfrm>
            <a:off x="120650" y="4827905"/>
            <a:ext cx="2842895" cy="1781810"/>
          </a:xfrm>
          <a:prstGeom prst="rect">
            <a:avLst/>
          </a:prstGeom>
          <a:noFill/>
        </p:spPr>
        <p:txBody>
          <a:bodyPr wrap="square" rtlCol="0" anchor="t">
            <a:noAutofit/>
          </a:bodyPr>
          <a:p>
            <a:r>
              <a:rPr lang="en-US" altLang="en-US"/>
              <a:t>@Service</a:t>
            </a:r>
            <a:endParaRPr lang="en-US" altLang="en-US"/>
          </a:p>
          <a:p>
            <a:r>
              <a:rPr lang="en-US" altLang="en-US"/>
              <a:t>public class UserService {</a:t>
            </a:r>
            <a:endParaRPr lang="en-US" altLang="en-US"/>
          </a:p>
          <a:p>
            <a:r>
              <a:rPr lang="en-US" altLang="en-US"/>
              <a:t>    public String getUser() {</a:t>
            </a:r>
            <a:endParaRPr lang="en-US" altLang="en-US"/>
          </a:p>
          <a:p>
            <a:r>
              <a:rPr lang="en-US" altLang="en-US"/>
              <a:t>        return "Vire More";</a:t>
            </a:r>
            <a:endParaRPr lang="en-US" altLang="en-US"/>
          </a:p>
          <a:p>
            <a:r>
              <a:rPr lang="en-US" altLang="en-US"/>
              <a:t>    }</a:t>
            </a:r>
            <a:endParaRPr lang="en-US" altLang="en-US"/>
          </a:p>
          <a:p>
            <a:r>
              <a:rPr lang="en-US" altLang="en-US"/>
              <a:t>}</a:t>
            </a:r>
            <a:endParaRPr lang="en-US" altLang="en-US"/>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3830" y="0"/>
            <a:ext cx="10515600" cy="299085"/>
          </a:xfrm>
        </p:spPr>
        <p:txBody>
          <a:bodyPr>
            <a:noAutofit/>
          </a:bodyPr>
          <a:p>
            <a:r>
              <a:rPr lang="en-US" altLang="en-US" sz="2000" b="1">
                <a:solidFill>
                  <a:srgbClr val="FF0000"/>
                </a:solidFill>
                <a:latin typeface="Cambria" panose="02040503050406030204" charset="0"/>
                <a:cs typeface="Cambria" panose="02040503050406030204" charset="0"/>
                <a:sym typeface="+mn-ea"/>
              </a:rPr>
              <a:t>1. What is a Spring Bean?</a:t>
            </a:r>
            <a:endParaRPr lang="en-US" altLang="en-US" sz="20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0" y="401955"/>
            <a:ext cx="12012295" cy="6455410"/>
          </a:xfrm>
        </p:spPr>
        <p:txBody>
          <a:bodyPr/>
          <a:p>
            <a:pPr marL="0" indent="0">
              <a:buNone/>
            </a:pPr>
            <a:r>
              <a:rPr lang="en-US" altLang="en-US" sz="1600"/>
              <a:t>A Spring Bean is simply a Java class/object that is managed by the Spring Container.</a:t>
            </a:r>
            <a:endParaRPr lang="en-US" altLang="en-US" sz="1600"/>
          </a:p>
          <a:p>
            <a:pPr marL="0" indent="0">
              <a:buNone/>
            </a:pPr>
            <a:r>
              <a:rPr lang="zh-CN" altLang="en-US" sz="1600"/>
              <a:t>🔹</a:t>
            </a:r>
            <a:r>
              <a:rPr lang="en-US" altLang="en-US" sz="1600"/>
              <a:t> Key Points:</a:t>
            </a:r>
            <a:endParaRPr lang="en-US" altLang="en-US" sz="1600"/>
          </a:p>
          <a:p>
            <a:pPr marL="0" indent="0">
              <a:buNone/>
            </a:pPr>
            <a:r>
              <a:rPr lang="en-US" altLang="en-US" sz="1600"/>
              <a:t>Beans are created, initialized, configured, and managed by Spring.</a:t>
            </a:r>
            <a:endParaRPr lang="en-US" altLang="en-US" sz="1600"/>
          </a:p>
          <a:p>
            <a:pPr marL="0" indent="0">
              <a:buNone/>
            </a:pPr>
            <a:r>
              <a:rPr lang="en-US" altLang="en-US" sz="1600"/>
              <a:t>Beans are usually defined using annotations like @Component, @Service, @Repository, or in XML.</a:t>
            </a:r>
            <a:endParaRPr lang="en-US" altLang="en-US" sz="1600"/>
          </a:p>
          <a:p>
            <a:pPr marL="0" indent="0">
              <a:buNone/>
            </a:pPr>
            <a:r>
              <a:rPr lang="en-US" altLang="en-US" sz="1600"/>
              <a:t>@Component</a:t>
            </a:r>
            <a:endParaRPr lang="en-US" altLang="en-US" sz="1600"/>
          </a:p>
          <a:p>
            <a:pPr marL="0" indent="0">
              <a:buNone/>
            </a:pPr>
            <a:r>
              <a:rPr lang="en-US" altLang="en-US" sz="1600"/>
              <a:t>public class MyBean {</a:t>
            </a:r>
            <a:endParaRPr lang="en-US" altLang="en-US" sz="1600"/>
          </a:p>
          <a:p>
            <a:pPr marL="0" indent="0">
              <a:buNone/>
            </a:pPr>
            <a:r>
              <a:rPr lang="en-US" altLang="en-US" sz="1600"/>
              <a:t>    public void sayHello() {</a:t>
            </a:r>
            <a:endParaRPr lang="en-US" altLang="en-US" sz="1600"/>
          </a:p>
          <a:p>
            <a:pPr marL="0" indent="0">
              <a:buNone/>
            </a:pPr>
            <a:r>
              <a:rPr lang="en-US" altLang="en-US" sz="1600"/>
              <a:t>        System.out.println("Hello from Spring Bean!");</a:t>
            </a:r>
            <a:endParaRPr lang="en-US" altLang="en-US" sz="1600"/>
          </a:p>
          <a:p>
            <a:pPr marL="0" indent="0">
              <a:buNone/>
            </a:pPr>
            <a:r>
              <a:rPr lang="en-US" altLang="en-US" sz="1600"/>
              <a:t>    }     }</a:t>
            </a:r>
            <a:endParaRPr lang="en-US" altLang="en-US" sz="1600"/>
          </a:p>
          <a:p>
            <a:pPr marL="0" indent="0">
              <a:buNone/>
            </a:pPr>
            <a:r>
              <a:rPr lang="en-US" altLang="en-US" sz="1600" b="1">
                <a:solidFill>
                  <a:srgbClr val="FF0000"/>
                </a:solidFill>
                <a:latin typeface="Cambria" panose="02040503050406030204" charset="0"/>
                <a:cs typeface="Cambria" panose="02040503050406030204" charset="0"/>
              </a:rPr>
              <a:t>2. What is Spring Container?</a:t>
            </a:r>
            <a:endParaRPr lang="en-US" altLang="en-US" sz="1600" b="1">
              <a:solidFill>
                <a:srgbClr val="FF0000"/>
              </a:solidFill>
              <a:latin typeface="Cambria" panose="02040503050406030204" charset="0"/>
              <a:cs typeface="Cambria" panose="02040503050406030204" charset="0"/>
            </a:endParaRPr>
          </a:p>
          <a:p>
            <a:pPr marL="0" indent="0">
              <a:buNone/>
            </a:pPr>
            <a:r>
              <a:rPr lang="en-US" altLang="en-US" sz="1600"/>
              <a:t>The Spring Container is the core part of the Spring Framework that is responsible for:</a:t>
            </a:r>
            <a:endParaRPr lang="en-US" altLang="en-US" sz="1600"/>
          </a:p>
          <a:p>
            <a:pPr marL="0" indent="0">
              <a:buNone/>
            </a:pPr>
            <a:r>
              <a:rPr lang="en-US" altLang="en-US" sz="1600"/>
              <a:t>Creating objects (beans)</a:t>
            </a:r>
            <a:endParaRPr lang="en-US" altLang="en-US" sz="1600"/>
          </a:p>
          <a:p>
            <a:pPr marL="0" indent="0">
              <a:buNone/>
            </a:pPr>
            <a:r>
              <a:rPr lang="en-US" altLang="en-US" sz="1600"/>
              <a:t>Managing dependencies (Dependency Injection)</a:t>
            </a:r>
            <a:endParaRPr lang="en-US" altLang="en-US" sz="1600"/>
          </a:p>
          <a:p>
            <a:pPr marL="0" indent="0">
              <a:buNone/>
            </a:pPr>
            <a:r>
              <a:rPr lang="en-US" altLang="en-US" sz="1600"/>
              <a:t>Wiring beans together</a:t>
            </a:r>
            <a:endParaRPr lang="en-US" altLang="en-US" sz="1600"/>
          </a:p>
          <a:p>
            <a:pPr marL="0" indent="0">
              <a:buNone/>
            </a:pPr>
            <a:r>
              <a:rPr lang="en-US" altLang="en-US" sz="1600"/>
              <a:t>Managing their life cycle</a:t>
            </a:r>
            <a:endParaRPr lang="en-US" altLang="en-US" sz="1600"/>
          </a:p>
          <a:p>
            <a:pPr marL="0" indent="0">
              <a:buNone/>
            </a:pPr>
            <a:endParaRPr lang="en-US" altLang="en-US" sz="1600"/>
          </a:p>
        </p:txBody>
      </p:sp>
      <p:graphicFrame>
        <p:nvGraphicFramePr>
          <p:cNvPr id="4" name="Table 3"/>
          <p:cNvGraphicFramePr/>
          <p:nvPr>
            <p:custDataLst>
              <p:tags r:id="rId1"/>
            </p:custDataLst>
          </p:nvPr>
        </p:nvGraphicFramePr>
        <p:xfrm>
          <a:off x="635" y="5595620"/>
          <a:ext cx="12012295" cy="1261745"/>
        </p:xfrm>
        <a:graphic>
          <a:graphicData uri="http://schemas.openxmlformats.org/drawingml/2006/table">
            <a:tbl>
              <a:tblPr/>
              <a:tblGrid>
                <a:gridCol w="4876800"/>
                <a:gridCol w="7135495"/>
              </a:tblGrid>
              <a:tr h="375920">
                <a:tc>
                  <a:txBody>
                    <a:bodyPr/>
                    <a:p>
                      <a:r>
                        <a:rPr sz="1600"/>
                        <a:t>Container Type</a:t>
                      </a:r>
                      <a:endParaRPr sz="1600"/>
                    </a:p>
                  </a:txBody>
                  <a:tcPr marL="0" marR="0" marT="0" marB="0" anchor="ctr" anchorCtr="0">
                    <a:lnL>
                      <a:noFill/>
                    </a:lnL>
                    <a:lnR>
                      <a:noFill/>
                    </a:lnR>
                    <a:lnT>
                      <a:noFill/>
                    </a:lnT>
                    <a:lnB>
                      <a:noFill/>
                    </a:lnB>
                    <a:noFill/>
                  </a:tcPr>
                </a:tc>
                <a:tc>
                  <a:txBody>
                    <a:bodyPr/>
                    <a:p>
                      <a:r>
                        <a:rPr sz="1600"/>
                        <a:t>Description</a:t>
                      </a:r>
                      <a:endParaRPr sz="1600"/>
                    </a:p>
                  </a:txBody>
                  <a:tcPr marL="0" marR="0" marT="0" marB="0" anchor="ctr" anchorCtr="0">
                    <a:lnL>
                      <a:noFill/>
                    </a:lnL>
                    <a:lnR>
                      <a:noFill/>
                    </a:lnR>
                    <a:lnT>
                      <a:noFill/>
                    </a:lnT>
                    <a:lnB>
                      <a:noFill/>
                    </a:lnB>
                    <a:noFill/>
                  </a:tcPr>
                </a:tc>
              </a:tr>
              <a:tr h="374650">
                <a:tc>
                  <a:txBody>
                    <a:bodyPr/>
                    <a:p>
                      <a:r>
                        <a:rPr sz="1600"/>
                        <a:t>BeanFactory</a:t>
                      </a:r>
                      <a:endParaRPr sz="1600"/>
                    </a:p>
                  </a:txBody>
                  <a:tcPr marL="0" marR="0" marT="0" marB="0" anchor="ctr" anchorCtr="0">
                    <a:lnL>
                      <a:noFill/>
                    </a:lnL>
                    <a:lnR>
                      <a:noFill/>
                    </a:lnR>
                    <a:lnT>
                      <a:noFill/>
                    </a:lnT>
                    <a:lnB>
                      <a:noFill/>
                    </a:lnB>
                    <a:noFill/>
                  </a:tcPr>
                </a:tc>
                <a:tc>
                  <a:txBody>
                    <a:bodyPr/>
                    <a:p>
                      <a:r>
                        <a:rPr sz="1600"/>
                        <a:t>Lightweight container; lazy loading</a:t>
                      </a:r>
                      <a:endParaRPr sz="1600"/>
                    </a:p>
                  </a:txBody>
                  <a:tcPr marL="0" marR="0" marT="0" marB="0" anchor="ctr" anchorCtr="0">
                    <a:lnL>
                      <a:noFill/>
                    </a:lnL>
                    <a:lnR>
                      <a:noFill/>
                    </a:lnR>
                    <a:lnT>
                      <a:noFill/>
                    </a:lnT>
                    <a:lnB>
                      <a:noFill/>
                    </a:lnB>
                    <a:noFill/>
                  </a:tcPr>
                </a:tc>
              </a:tr>
              <a:tr h="511175">
                <a:tc>
                  <a:txBody>
                    <a:bodyPr/>
                    <a:p>
                      <a:r>
                        <a:rPr sz="1600"/>
                        <a:t>ApplicationContext</a:t>
                      </a:r>
                      <a:endParaRPr sz="1600"/>
                    </a:p>
                  </a:txBody>
                  <a:tcPr marL="0" marR="0" marT="0" marB="0" anchor="ctr" anchorCtr="0">
                    <a:lnL>
                      <a:noFill/>
                    </a:lnL>
                    <a:lnR>
                      <a:noFill/>
                    </a:lnR>
                    <a:lnT>
                      <a:noFill/>
                    </a:lnT>
                    <a:lnB>
                      <a:noFill/>
                    </a:lnB>
                    <a:noFill/>
                  </a:tcPr>
                </a:tc>
                <a:tc>
                  <a:txBody>
                    <a:bodyPr/>
                    <a:p>
                      <a:r>
                        <a:rPr sz="1600"/>
                        <a:t>Most commonly used; supports advanced features (events, i18n)</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410" y="0"/>
            <a:ext cx="10515600" cy="405130"/>
          </a:xfrm>
        </p:spPr>
        <p:txBody>
          <a:bodyPr>
            <a:noAutofit/>
          </a:bodyPr>
          <a:p>
            <a:r>
              <a:rPr lang="en-US" sz="2000" b="1">
                <a:solidFill>
                  <a:srgbClr val="FF0000"/>
                </a:solidFill>
                <a:latin typeface="Cambria" panose="02040503050406030204" charset="0"/>
                <a:cs typeface="Cambria" panose="02040503050406030204" charset="0"/>
              </a:rPr>
              <a:t>Spring Container</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05410" y="405130"/>
            <a:ext cx="12086590" cy="6453505"/>
          </a:xfrm>
        </p:spPr>
        <p:txBody>
          <a:bodyPr>
            <a:normAutofit/>
          </a:bodyPr>
          <a:p>
            <a:r>
              <a:rPr lang="en-US" altLang="en-US" sz="1800">
                <a:latin typeface="Cambria" panose="02040503050406030204" charset="0"/>
                <a:cs typeface="Cambria" panose="02040503050406030204" charset="0"/>
              </a:rPr>
              <a:t>The Spring Container is the core component of the Spring Framework that is responsible for creating, configuring, and managing the lifecycle of application objects, known as beans, using Dependency Injection (DI).</a:t>
            </a:r>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It uses Inversion of Control (IoC) — meaning the control of object creation is inverted from your code to the container.</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It manages objects (called beans) in a Spring application.</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It uses Inversion of Control (IoC) to inject dependencies automatically.</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It reads configuration from Java classes, annotations, or XML files.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It provides a runtime environment for Spring-managed components.</a:t>
            </a:r>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a:p>
            <a:pPr marL="0" indent="0">
              <a:buNone/>
            </a:pPr>
            <a:r>
              <a:rPr lang="en-US" altLang="en-US" sz="1800" b="1">
                <a:latin typeface="Cambria" panose="02040503050406030204" charset="0"/>
                <a:cs typeface="Cambria" panose="02040503050406030204" charset="0"/>
              </a:rPr>
              <a:t>Uses of Containers</a:t>
            </a:r>
            <a:endParaRPr lang="en-US" altLang="en-US" sz="1800" b="1">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In Any Spring-Based Application:</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 Core (basic DI)</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 MVC (web applications)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 Boot (microservices)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 Data JPA (repositories)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Spring Security (auth/security)</a:t>
            </a:r>
            <a:endParaRPr lang="en-US" altLang="en-US" sz="1800">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3769995" y="3364865"/>
          <a:ext cx="8126095" cy="3356610"/>
        </p:xfrm>
        <a:graphic>
          <a:graphicData uri="http://schemas.openxmlformats.org/drawingml/2006/table">
            <a:tbl>
              <a:tblPr/>
              <a:tblGrid>
                <a:gridCol w="1977390"/>
                <a:gridCol w="6148705"/>
              </a:tblGrid>
              <a:tr h="559435">
                <a:tc>
                  <a:txBody>
                    <a:bodyPr/>
                    <a:p>
                      <a:pPr algn="ctr"/>
                      <a:r>
                        <a:rPr sz="1600" b="1"/>
                        <a:t>Reason</a:t>
                      </a:r>
                      <a:endParaRPr sz="1600" b="1"/>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600" b="1"/>
                        <a:t>Description</a:t>
                      </a:r>
                      <a:endParaRPr sz="1600" b="1"/>
                    </a:p>
                  </a:txBody>
                  <a:tcPr marL="0" marR="0" marT="0" marB="0" anchor="ctr" anchorCtr="0">
                    <a:lnL>
                      <a:noFill/>
                    </a:lnL>
                    <a:lnR>
                      <a:noFill/>
                    </a:lnR>
                    <a:lnT>
                      <a:noFill/>
                    </a:lnT>
                    <a:lnB>
                      <a:noFill/>
                    </a:lnB>
                    <a:solidFill>
                      <a:schemeClr val="accent2">
                        <a:lumMod val="40000"/>
                        <a:lumOff val="60000"/>
                      </a:schemeClr>
                    </a:solidFill>
                  </a:tcPr>
                </a:tc>
              </a:tr>
              <a:tr h="559435">
                <a:tc>
                  <a:txBody>
                    <a:bodyPr/>
                    <a:p>
                      <a:pPr algn="l"/>
                      <a:r>
                        <a:rPr sz="1600" b="1"/>
                        <a:t>Dependency Injection</a:t>
                      </a:r>
                      <a:endParaRPr sz="1600" b="1"/>
                    </a:p>
                  </a:txBody>
                  <a:tcPr marL="0" marR="0" marT="0" marB="0" anchor="ctr" anchorCtr="0">
                    <a:lnL>
                      <a:noFill/>
                    </a:lnL>
                    <a:lnR>
                      <a:noFill/>
                    </a:lnR>
                    <a:lnT>
                      <a:noFill/>
                    </a:lnT>
                    <a:lnB>
                      <a:noFill/>
                    </a:lnB>
                    <a:solidFill>
                      <a:schemeClr val="accent5">
                        <a:lumMod val="40000"/>
                        <a:lumOff val="60000"/>
                      </a:schemeClr>
                    </a:solidFill>
                  </a:tcPr>
                </a:tc>
                <a:tc>
                  <a:txBody>
                    <a:bodyPr/>
                    <a:p>
                      <a:pPr algn="l"/>
                      <a:r>
                        <a:rPr sz="1600" b="1"/>
                        <a:t>Automatically wires dependencies between classes.</a:t>
                      </a:r>
                      <a:endParaRPr sz="1600" b="1"/>
                    </a:p>
                  </a:txBody>
                  <a:tcPr marL="0" marR="0" marT="0" marB="0" anchor="ctr" anchorCtr="0">
                    <a:lnL>
                      <a:noFill/>
                    </a:lnL>
                    <a:lnR>
                      <a:noFill/>
                    </a:lnR>
                    <a:lnT>
                      <a:noFill/>
                    </a:lnT>
                    <a:lnB>
                      <a:noFill/>
                    </a:lnB>
                    <a:solidFill>
                      <a:schemeClr val="accent5">
                        <a:lumMod val="40000"/>
                        <a:lumOff val="60000"/>
                      </a:schemeClr>
                    </a:solidFill>
                  </a:tcPr>
                </a:tc>
              </a:tr>
              <a:tr h="559435">
                <a:tc>
                  <a:txBody>
                    <a:bodyPr/>
                    <a:p>
                      <a:pPr algn="l"/>
                      <a:r>
                        <a:rPr sz="1600" b="1"/>
                        <a:t>Loose Coupling</a:t>
                      </a:r>
                      <a:endParaRPr sz="1600" b="1"/>
                    </a:p>
                  </a:txBody>
                  <a:tcPr marL="0" marR="0" marT="0" marB="0" anchor="ctr" anchorCtr="0">
                    <a:lnL>
                      <a:noFill/>
                    </a:lnL>
                    <a:lnR>
                      <a:noFill/>
                    </a:lnR>
                    <a:lnT>
                      <a:noFill/>
                    </a:lnT>
                    <a:lnB>
                      <a:noFill/>
                    </a:lnB>
                    <a:solidFill>
                      <a:schemeClr val="accent5">
                        <a:lumMod val="40000"/>
                        <a:lumOff val="60000"/>
                      </a:schemeClr>
                    </a:solidFill>
                  </a:tcPr>
                </a:tc>
                <a:tc>
                  <a:txBody>
                    <a:bodyPr/>
                    <a:p>
                      <a:pPr algn="l"/>
                      <a:r>
                        <a:rPr sz="1600" b="1"/>
                        <a:t>Promotes modular, testable, and maintainable code.</a:t>
                      </a:r>
                      <a:endParaRPr sz="1600" b="1"/>
                    </a:p>
                  </a:txBody>
                  <a:tcPr marL="0" marR="0" marT="0" marB="0" anchor="ctr" anchorCtr="0">
                    <a:lnL>
                      <a:noFill/>
                    </a:lnL>
                    <a:lnR>
                      <a:noFill/>
                    </a:lnR>
                    <a:lnT>
                      <a:noFill/>
                    </a:lnT>
                    <a:lnB>
                      <a:noFill/>
                    </a:lnB>
                    <a:solidFill>
                      <a:schemeClr val="accent5">
                        <a:lumMod val="40000"/>
                        <a:lumOff val="60000"/>
                      </a:schemeClr>
                    </a:solidFill>
                  </a:tcPr>
                </a:tc>
              </a:tr>
              <a:tr h="559435">
                <a:tc>
                  <a:txBody>
                    <a:bodyPr/>
                    <a:p>
                      <a:pPr algn="l"/>
                      <a:r>
                        <a:rPr sz="1600" b="1"/>
                        <a:t>Centralized Configuration</a:t>
                      </a:r>
                      <a:endParaRPr sz="1600" b="1"/>
                    </a:p>
                  </a:txBody>
                  <a:tcPr marL="0" marR="0" marT="0" marB="0" anchor="ctr" anchorCtr="0">
                    <a:lnL>
                      <a:noFill/>
                    </a:lnL>
                    <a:lnR>
                      <a:noFill/>
                    </a:lnR>
                    <a:lnT>
                      <a:noFill/>
                    </a:lnT>
                    <a:lnB>
                      <a:noFill/>
                    </a:lnB>
                    <a:solidFill>
                      <a:schemeClr val="accent5">
                        <a:lumMod val="40000"/>
                        <a:lumOff val="60000"/>
                      </a:schemeClr>
                    </a:solidFill>
                  </a:tcPr>
                </a:tc>
                <a:tc>
                  <a:txBody>
                    <a:bodyPr/>
                    <a:p>
                      <a:pPr algn="l"/>
                      <a:r>
                        <a:rPr sz="1600" b="1"/>
                        <a:t>Beans and services are configured in one place (XML, annotations, or Java config).</a:t>
                      </a:r>
                      <a:endParaRPr sz="1600" b="1"/>
                    </a:p>
                  </a:txBody>
                  <a:tcPr marL="0" marR="0" marT="0" marB="0" anchor="ctr" anchorCtr="0">
                    <a:lnL>
                      <a:noFill/>
                    </a:lnL>
                    <a:lnR>
                      <a:noFill/>
                    </a:lnR>
                    <a:lnT>
                      <a:noFill/>
                    </a:lnT>
                    <a:lnB>
                      <a:noFill/>
                    </a:lnB>
                    <a:solidFill>
                      <a:schemeClr val="accent5">
                        <a:lumMod val="40000"/>
                        <a:lumOff val="60000"/>
                      </a:schemeClr>
                    </a:solidFill>
                  </a:tcPr>
                </a:tc>
              </a:tr>
              <a:tr h="559435">
                <a:tc>
                  <a:txBody>
                    <a:bodyPr/>
                    <a:p>
                      <a:pPr algn="l"/>
                      <a:r>
                        <a:rPr sz="1600" b="1"/>
                        <a:t>Lifecycle Management</a:t>
                      </a:r>
                      <a:endParaRPr sz="1600" b="1"/>
                    </a:p>
                  </a:txBody>
                  <a:tcPr marL="0" marR="0" marT="0" marB="0" anchor="ctr" anchorCtr="0">
                    <a:lnL>
                      <a:noFill/>
                    </a:lnL>
                    <a:lnR>
                      <a:noFill/>
                    </a:lnR>
                    <a:lnT>
                      <a:noFill/>
                    </a:lnT>
                    <a:lnB>
                      <a:noFill/>
                    </a:lnB>
                    <a:solidFill>
                      <a:schemeClr val="accent5">
                        <a:lumMod val="40000"/>
                        <a:lumOff val="60000"/>
                      </a:schemeClr>
                    </a:solidFill>
                  </a:tcPr>
                </a:tc>
                <a:tc>
                  <a:txBody>
                    <a:bodyPr/>
                    <a:p>
                      <a:pPr algn="l"/>
                      <a:r>
                        <a:rPr sz="1600" b="1"/>
                        <a:t>Automatically manages object lifecycle (init, destroy, singleton/prototype).</a:t>
                      </a:r>
                      <a:endParaRPr sz="1600" b="1"/>
                    </a:p>
                  </a:txBody>
                  <a:tcPr marL="0" marR="0" marT="0" marB="0" anchor="ctr" anchorCtr="0">
                    <a:lnL>
                      <a:noFill/>
                    </a:lnL>
                    <a:lnR>
                      <a:noFill/>
                    </a:lnR>
                    <a:lnT>
                      <a:noFill/>
                    </a:lnT>
                    <a:lnB>
                      <a:noFill/>
                    </a:lnB>
                    <a:solidFill>
                      <a:schemeClr val="accent5">
                        <a:lumMod val="40000"/>
                        <a:lumOff val="60000"/>
                      </a:schemeClr>
                    </a:solidFill>
                  </a:tcPr>
                </a:tc>
              </a:tr>
              <a:tr h="559435">
                <a:tc>
                  <a:txBody>
                    <a:bodyPr/>
                    <a:p>
                      <a:pPr algn="l"/>
                      <a:r>
                        <a:rPr sz="1600" b="1"/>
                        <a:t>AOP Integration</a:t>
                      </a:r>
                      <a:endParaRPr sz="1600" b="1"/>
                    </a:p>
                  </a:txBody>
                  <a:tcPr marL="0" marR="0" marT="0" marB="0" anchor="ctr" anchorCtr="0">
                    <a:lnL>
                      <a:noFill/>
                    </a:lnL>
                    <a:lnR>
                      <a:noFill/>
                    </a:lnR>
                    <a:lnT>
                      <a:noFill/>
                    </a:lnT>
                    <a:lnB>
                      <a:noFill/>
                    </a:lnB>
                    <a:solidFill>
                      <a:schemeClr val="accent5">
                        <a:lumMod val="40000"/>
                        <a:lumOff val="60000"/>
                      </a:schemeClr>
                    </a:solidFill>
                  </a:tcPr>
                </a:tc>
                <a:tc>
                  <a:txBody>
                    <a:bodyPr/>
                    <a:p>
                      <a:pPr algn="l"/>
                      <a:r>
                        <a:rPr sz="1600" b="1"/>
                        <a:t>Makes it easy to apply cross-cutting concerns (logging, security, transactions).</a:t>
                      </a:r>
                      <a:endParaRPr sz="1600" b="1"/>
                    </a:p>
                  </a:txBody>
                  <a:tcPr marL="0" marR="0" marT="0" marB="0" anchor="ctr" anchorCtr="0">
                    <a:lnL>
                      <a:noFill/>
                    </a:lnL>
                    <a:lnR>
                      <a:noFill/>
                    </a:lnR>
                    <a:lnT>
                      <a:noFill/>
                    </a:lnT>
                    <a:lnB>
                      <a:noFill/>
                    </a:lnB>
                    <a:solidFill>
                      <a:schemeClr val="accent5">
                        <a:lumMod val="40000"/>
                        <a:lumOff val="60000"/>
                      </a:schemeClr>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01295"/>
            <a:ext cx="10515600" cy="438150"/>
          </a:xfrm>
        </p:spPr>
        <p:txBody>
          <a:bodyPr>
            <a:normAutofit fontScale="90000"/>
          </a:bodyPr>
          <a:p>
            <a:pPr algn="ctr"/>
            <a:r>
              <a:rPr lang="en-US" sz="2400" b="1">
                <a:solidFill>
                  <a:srgbClr val="FF0000"/>
                </a:solidFill>
              </a:rPr>
              <a:t>Spring Application Context Container</a:t>
            </a:r>
            <a:endParaRPr lang="en-US" sz="2400" b="1">
              <a:solidFill>
                <a:srgbClr val="FF0000"/>
              </a:solidFill>
            </a:endParaRPr>
          </a:p>
        </p:txBody>
      </p:sp>
      <p:sp>
        <p:nvSpPr>
          <p:cNvPr id="3" name="Content Placeholder 2"/>
          <p:cNvSpPr>
            <a:spLocks noGrp="1"/>
          </p:cNvSpPr>
          <p:nvPr>
            <p:ph idx="1"/>
          </p:nvPr>
        </p:nvSpPr>
        <p:spPr>
          <a:xfrm>
            <a:off x="249555" y="744220"/>
            <a:ext cx="11761470" cy="5967095"/>
          </a:xfrm>
        </p:spPr>
        <p:txBody>
          <a:bodyPr>
            <a:normAutofit lnSpcReduction="20000"/>
          </a:bodyPr>
          <a:p>
            <a:pPr marL="0" indent="0" algn="l">
              <a:buNone/>
            </a:pPr>
            <a:r>
              <a:rPr lang="en-US" altLang="en-US" sz="1800"/>
              <a:t>ApplicationContext applicationContext=new ClassPathXmlApplicationContext("com/ConstructorInject/Test.xml");//xml Declaration</a:t>
            </a:r>
            <a:endParaRPr lang="en-US" altLang="en-US" sz="1800"/>
          </a:p>
          <a:p>
            <a:pPr marL="0" indent="0" algn="l">
              <a:buNone/>
            </a:pPr>
            <a:r>
              <a:rPr lang="en-US" altLang="en-US" sz="1800"/>
              <a:t>Book bookmain=(Book)applicationContext.getBean("bookinfo");//Bean Calling</a:t>
            </a:r>
            <a:endParaRPr lang="en-US" altLang="en-US" sz="1800"/>
          </a:p>
          <a:p>
            <a:pPr marL="0" indent="0" algn="l">
              <a:buNone/>
            </a:pPr>
            <a:endParaRPr lang="en-US" altLang="en-US" sz="1800"/>
          </a:p>
          <a:p>
            <a:pPr marL="0" indent="0" algn="l">
              <a:buNone/>
            </a:pPr>
            <a:r>
              <a:rPr lang="en-US" altLang="en-US" sz="1800"/>
              <a:t>Constructor injection</a:t>
            </a:r>
            <a:endParaRPr lang="en-US" altLang="en-US" sz="1800"/>
          </a:p>
          <a:p>
            <a:pPr marL="0" indent="0" algn="l">
              <a:buNone/>
            </a:pPr>
            <a:r>
              <a:rPr lang="en-US" altLang="en-US" sz="1800"/>
              <a:t>	&lt;bean id="bookinfo" class="com.ConstructorInject.Book"&gt;</a:t>
            </a:r>
            <a:endParaRPr lang="en-US" altLang="en-US" sz="1800"/>
          </a:p>
          <a:p>
            <a:pPr marL="0" indent="0" algn="l">
              <a:buNone/>
            </a:pPr>
            <a:r>
              <a:rPr lang="en-US" altLang="en-US" sz="1800"/>
              <a:t>		&lt;constructor-arg value="101" /&gt;</a:t>
            </a:r>
            <a:endParaRPr lang="en-US" altLang="en-US" sz="1800"/>
          </a:p>
          <a:p>
            <a:pPr marL="0" indent="0" algn="l">
              <a:buNone/>
            </a:pPr>
            <a:r>
              <a:rPr lang="en-US" altLang="en-US" sz="1800"/>
              <a:t>		&lt;constructor-arg value="java" /&gt;</a:t>
            </a:r>
            <a:endParaRPr lang="en-US" altLang="en-US" sz="1800"/>
          </a:p>
          <a:p>
            <a:pPr marL="0" indent="0" algn="l">
              <a:buNone/>
            </a:pPr>
            <a:r>
              <a:rPr lang="en-US" altLang="en-US" sz="1800"/>
              <a:t>	&lt;/bean&gt;</a:t>
            </a:r>
            <a:endParaRPr lang="en-US" altLang="en-US" sz="1800"/>
          </a:p>
          <a:p>
            <a:pPr marL="0" indent="0" algn="l">
              <a:buNone/>
            </a:pPr>
            <a:r>
              <a:rPr lang="en-US" altLang="en-US" sz="1800"/>
              <a:t>Setter inejction:</a:t>
            </a:r>
            <a:endParaRPr lang="en-US" altLang="en-US" sz="1800"/>
          </a:p>
          <a:p>
            <a:pPr marL="0" indent="0" algn="l">
              <a:buNone/>
            </a:pPr>
            <a:r>
              <a:rPr lang="en-US" altLang="en-US" sz="1800"/>
              <a:t>&lt;bean id="empobj" class="com.setterinject.Emp"&gt;</a:t>
            </a:r>
            <a:endParaRPr lang="en-US" altLang="en-US" sz="1800"/>
          </a:p>
          <a:p>
            <a:pPr marL="0" indent="0" algn="l">
              <a:buNone/>
            </a:pPr>
            <a:r>
              <a:rPr lang="en-US" altLang="en-US" sz="1800"/>
              <a:t>		&lt;property name="eid"&gt;</a:t>
            </a:r>
            <a:endParaRPr lang="en-US" altLang="en-US" sz="1800"/>
          </a:p>
          <a:p>
            <a:pPr marL="0" indent="0" algn="l">
              <a:buNone/>
            </a:pPr>
            <a:r>
              <a:rPr lang="en-US" altLang="en-US" sz="1800"/>
              <a:t>		&lt;value&gt;201&lt;/value&gt;</a:t>
            </a:r>
            <a:endParaRPr lang="en-US" altLang="en-US" sz="1800"/>
          </a:p>
          <a:p>
            <a:pPr marL="0" indent="0" algn="l">
              <a:buNone/>
            </a:pPr>
            <a:r>
              <a:rPr lang="en-US" altLang="en-US" sz="1800"/>
              <a:t>		&lt;/property&gt;</a:t>
            </a:r>
            <a:endParaRPr lang="en-US" altLang="en-US" sz="1800"/>
          </a:p>
          <a:p>
            <a:pPr marL="0" indent="0" algn="l">
              <a:buNone/>
            </a:pPr>
            <a:r>
              <a:rPr lang="en-US" altLang="en-US" sz="1800"/>
              <a:t>		&lt;property name="empname"&gt;</a:t>
            </a:r>
            <a:endParaRPr lang="en-US" altLang="en-US" sz="1800"/>
          </a:p>
          <a:p>
            <a:pPr marL="0" indent="0" algn="l">
              <a:buNone/>
            </a:pPr>
            <a:r>
              <a:rPr lang="en-US" altLang="en-US" sz="1800"/>
              <a:t>		&lt;value&gt;Saudagar More&lt;/value&gt;</a:t>
            </a:r>
            <a:endParaRPr lang="en-US" altLang="en-US" sz="1800"/>
          </a:p>
          <a:p>
            <a:pPr marL="0" indent="0" algn="l">
              <a:buNone/>
            </a:pPr>
            <a:r>
              <a:rPr lang="en-US" altLang="en-US" sz="1800"/>
              <a:t>		&lt;/property&gt;</a:t>
            </a:r>
            <a:endParaRPr lang="en-US" altLang="en-US" sz="1800"/>
          </a:p>
          <a:p>
            <a:pPr marL="0" indent="0" algn="l">
              <a:buNone/>
            </a:pPr>
            <a:r>
              <a:rPr lang="en-US" altLang="en-US" sz="1800"/>
              <a:t>	&lt;/bean&gt;</a:t>
            </a:r>
            <a:endParaRPr lang="en-US" altLang="en-US" sz="1800"/>
          </a:p>
        </p:txBody>
      </p:sp>
      <p:sp>
        <p:nvSpPr>
          <p:cNvPr id="4" name="Text Box 3"/>
          <p:cNvSpPr txBox="1"/>
          <p:nvPr/>
        </p:nvSpPr>
        <p:spPr>
          <a:xfrm>
            <a:off x="7277735" y="2976245"/>
            <a:ext cx="4617720" cy="2306955"/>
          </a:xfrm>
          <a:prstGeom prst="rect">
            <a:avLst/>
          </a:prstGeom>
          <a:noFill/>
        </p:spPr>
        <p:txBody>
          <a:bodyPr wrap="square" rtlCol="0" anchor="t">
            <a:spAutoFit/>
          </a:bodyPr>
          <a:p>
            <a:r>
              <a:rPr lang="en-US" altLang="en-US" b="1"/>
              <a:t>Dependency Required</a:t>
            </a:r>
            <a:endParaRPr lang="en-US" altLang="en-US" b="1"/>
          </a:p>
          <a:p>
            <a:endParaRPr lang="en-US" altLang="en-US"/>
          </a:p>
          <a:p>
            <a:r>
              <a:rPr lang="en-US" altLang="en-US"/>
              <a:t>spring bean 6.2.6</a:t>
            </a:r>
            <a:endParaRPr lang="en-US" altLang="en-US"/>
          </a:p>
          <a:p>
            <a:r>
              <a:rPr lang="en-US" altLang="en-US"/>
              <a:t>context 6.2.6</a:t>
            </a:r>
            <a:endParaRPr lang="en-US" altLang="en-US"/>
          </a:p>
          <a:p>
            <a:r>
              <a:rPr lang="en-US" altLang="en-US"/>
              <a:t>core   6.2.6</a:t>
            </a:r>
            <a:endParaRPr lang="en-US" altLang="en-US"/>
          </a:p>
          <a:p>
            <a:r>
              <a:rPr lang="en-US" altLang="en-US"/>
              <a:t>expression 6.2.6</a:t>
            </a:r>
            <a:endParaRPr lang="en-US" altLang="en-US"/>
          </a:p>
          <a:p>
            <a:r>
              <a:rPr lang="en-US" altLang="en-US"/>
              <a:t>logging 1.2</a:t>
            </a:r>
            <a:endParaRPr lang="en-US" altLang="en-US"/>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9860" y="174625"/>
            <a:ext cx="10515600" cy="492125"/>
          </a:xfrm>
        </p:spPr>
        <p:txBody>
          <a:bodyPr>
            <a:normAutofit fontScale="90000"/>
          </a:bodyPr>
          <a:p>
            <a:r>
              <a:rPr lang="en-US" sz="3200" b="1">
                <a:solidFill>
                  <a:srgbClr val="FF0000"/>
                </a:solidFill>
              </a:rPr>
              <a:t>difference between spring two basic container</a:t>
            </a:r>
            <a:endParaRPr lang="en-US" sz="3200" b="1">
              <a:solidFill>
                <a:srgbClr val="FF0000"/>
              </a:solidFill>
            </a:endParaRPr>
          </a:p>
        </p:txBody>
      </p:sp>
      <p:sp>
        <p:nvSpPr>
          <p:cNvPr id="3" name="Content Placeholder 2"/>
          <p:cNvSpPr>
            <a:spLocks noGrp="1"/>
          </p:cNvSpPr>
          <p:nvPr>
            <p:ph idx="1"/>
          </p:nvPr>
        </p:nvSpPr>
        <p:spPr>
          <a:xfrm>
            <a:off x="149860" y="829310"/>
            <a:ext cx="11848465" cy="4351655"/>
          </a:xfrm>
        </p:spPr>
        <p:txBody>
          <a:bodyPr/>
          <a:p>
            <a:r>
              <a:rPr lang="en-US" altLang="en-US" sz="1800"/>
              <a:t>ApplicationContext context = new AnnotationConfigApplicationContext(AppConfig.class);</a:t>
            </a:r>
            <a:endParaRPr lang="en-US" altLang="en-US" sz="1800"/>
          </a:p>
          <a:p>
            <a:r>
              <a:rPr lang="en-US" altLang="en-US" sz="1800"/>
              <a:t>MyBean bean = context.getBean(MyBean.class);</a:t>
            </a:r>
            <a:endParaRPr lang="en-US" altLang="en-US" sz="1800"/>
          </a:p>
          <a:p>
            <a:r>
              <a:rPr lang="en-US" altLang="en-US" sz="1800"/>
              <a:t>bean.sayHello();</a:t>
            </a:r>
            <a:endParaRPr lang="en-US" altLang="en-US" sz="1800"/>
          </a:p>
          <a:p>
            <a:endParaRPr lang="en-US" altLang="en-US" sz="1800"/>
          </a:p>
        </p:txBody>
      </p:sp>
      <p:graphicFrame>
        <p:nvGraphicFramePr>
          <p:cNvPr id="4" name="Table 3"/>
          <p:cNvGraphicFramePr/>
          <p:nvPr>
            <p:custDataLst>
              <p:tags r:id="rId1"/>
            </p:custDataLst>
          </p:nvPr>
        </p:nvGraphicFramePr>
        <p:xfrm>
          <a:off x="101600" y="1971675"/>
          <a:ext cx="11896725" cy="3595370"/>
        </p:xfrm>
        <a:graphic>
          <a:graphicData uri="http://schemas.openxmlformats.org/drawingml/2006/table">
            <a:tbl>
              <a:tblPr/>
              <a:tblGrid>
                <a:gridCol w="3578860"/>
                <a:gridCol w="3677920"/>
                <a:gridCol w="4639945"/>
              </a:tblGrid>
              <a:tr h="276860">
                <a:tc>
                  <a:txBody>
                    <a:bodyPr/>
                    <a:p>
                      <a:pPr algn="ctr"/>
                      <a:r>
                        <a:rPr sz="2000" b="1">
                          <a:latin typeface="Cambria" panose="02040503050406030204" charset="0"/>
                          <a:cs typeface="Cambria" panose="02040503050406030204" charset="0"/>
                        </a:rPr>
                        <a:t>Feature</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2000" b="1">
                          <a:latin typeface="Cambria" panose="02040503050406030204" charset="0"/>
                          <a:cs typeface="Cambria" panose="02040503050406030204" charset="0"/>
                        </a:rPr>
                        <a:t>BeanFactory</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2000" b="1">
                          <a:latin typeface="Cambria" panose="02040503050406030204" charset="0"/>
                          <a:cs typeface="Cambria" panose="02040503050406030204" charset="0"/>
                        </a:rPr>
                        <a:t>ApplicationContext</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553085">
                <a:tc>
                  <a:txBody>
                    <a:bodyPr/>
                    <a:p>
                      <a:r>
                        <a:rPr sz="1800">
                          <a:latin typeface="Cambria" panose="02040503050406030204" charset="0"/>
                          <a:cs typeface="Cambria" panose="02040503050406030204" charset="0"/>
                        </a:rPr>
                        <a:t>Initialization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Lazy (beans are created on first use)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Eager (beans are created at startup by default)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553085">
                <a:tc>
                  <a:txBody>
                    <a:bodyPr/>
                    <a:p>
                      <a:r>
                        <a:rPr sz="1800">
                          <a:latin typeface="Cambria" panose="02040503050406030204" charset="0"/>
                          <a:cs typeface="Cambria" panose="02040503050406030204" charset="0"/>
                        </a:rPr>
                        <a:t>Performance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Slightly better for small apps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Preferred for enterprise-level applications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553085">
                <a:tc>
                  <a:txBody>
                    <a:bodyPr/>
                    <a:p>
                      <a:r>
                        <a:rPr sz="1800">
                          <a:latin typeface="Cambria" panose="02040503050406030204" charset="0"/>
                          <a:cs typeface="Cambria" panose="02040503050406030204" charset="0"/>
                        </a:rPr>
                        <a:t>Event Handling</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Not supported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 Supported (ApplicationEventPublisher)</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76225">
                <a:tc>
                  <a:txBody>
                    <a:bodyPr/>
                    <a:p>
                      <a:r>
                        <a:rPr sz="1800">
                          <a:latin typeface="Cambria" panose="02040503050406030204" charset="0"/>
                          <a:cs typeface="Cambria" panose="02040503050406030204" charset="0"/>
                        </a:rPr>
                        <a:t>Internationalization (i18n)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 Not supported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 Supported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553085">
                <a:tc>
                  <a:txBody>
                    <a:bodyPr/>
                    <a:p>
                      <a:r>
                        <a:rPr sz="1800">
                          <a:latin typeface="Cambria" panose="02040503050406030204" charset="0"/>
                          <a:cs typeface="Cambria" panose="02040503050406030204" charset="0"/>
                        </a:rPr>
                        <a:t>Auto Bean Registration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 Not automatic</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 Supports auto-detection of beans (@ComponentScan)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76860">
                <a:tc>
                  <a:txBody>
                    <a:bodyPr/>
                    <a:p>
                      <a:r>
                        <a:rPr sz="1800">
                          <a:latin typeface="Cambria" panose="02040503050406030204" charset="0"/>
                          <a:cs typeface="Cambria" panose="02040503050406030204" charset="0"/>
                        </a:rPr>
                        <a:t>Annotation Support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Limited or manual</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Full annotation and Java config support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76225">
                <a:tc>
                  <a:txBody>
                    <a:bodyPr/>
                    <a:p>
                      <a:r>
                        <a:rPr sz="1800">
                          <a:latin typeface="Cambria" panose="02040503050406030204" charset="0"/>
                          <a:cs typeface="Cambria" panose="02040503050406030204" charset="0"/>
                        </a:rPr>
                        <a:t>AOP and Features like Spring EL</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 Manual or limited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 Fully supported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76860">
                <a:tc>
                  <a:txBody>
                    <a:bodyPr/>
                    <a:p>
                      <a:r>
                        <a:rPr sz="1800">
                          <a:latin typeface="Cambria" panose="02040503050406030204" charset="0"/>
                          <a:cs typeface="Cambria" panose="02040503050406030204" charset="0"/>
                        </a:rPr>
                        <a:t>Used in Spring Boot?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Rarely used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 Default in Spring Boot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
        <p:nvSpPr>
          <p:cNvPr id="5" name="Text Box 4"/>
          <p:cNvSpPr txBox="1"/>
          <p:nvPr/>
        </p:nvSpPr>
        <p:spPr>
          <a:xfrm>
            <a:off x="101600" y="6208395"/>
            <a:ext cx="11849735" cy="337185"/>
          </a:xfrm>
          <a:prstGeom prst="rect">
            <a:avLst/>
          </a:prstGeom>
        </p:spPr>
        <p:txBody>
          <a:bodyPr wrap="square">
            <a:spAutoFit/>
          </a:bodyPr>
          <a:p>
            <a:r>
              <a:rPr sz="1600"/>
              <a:t>✅ ApplicationContext is a superset of BeanFactory and is the preferred container in almost all modern Spring applications.</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00" y="-107950"/>
            <a:ext cx="12065000" cy="323215"/>
          </a:xfrm>
        </p:spPr>
        <p:txBody>
          <a:bodyPr>
            <a:normAutofit fontScale="90000"/>
          </a:bodyPr>
          <a:p>
            <a:pPr algn="ctr"/>
            <a:r>
              <a:rPr lang="en-US" altLang="en-US" sz="2400" b="1">
                <a:solidFill>
                  <a:srgbClr val="FF0000"/>
                </a:solidFill>
                <a:sym typeface="+mn-ea"/>
              </a:rPr>
              <a:t>Why spring-context?</a:t>
            </a:r>
            <a:endParaRPr lang="en-US" altLang="en-US" sz="2400" b="1">
              <a:solidFill>
                <a:srgbClr val="FF0000"/>
              </a:solidFill>
              <a:sym typeface="+mn-ea"/>
            </a:endParaRPr>
          </a:p>
        </p:txBody>
      </p:sp>
      <p:sp>
        <p:nvSpPr>
          <p:cNvPr id="3" name="Content Placeholder 2"/>
          <p:cNvSpPr>
            <a:spLocks noGrp="1"/>
          </p:cNvSpPr>
          <p:nvPr>
            <p:ph idx="1"/>
          </p:nvPr>
        </p:nvSpPr>
        <p:spPr>
          <a:xfrm>
            <a:off x="-635" y="215265"/>
            <a:ext cx="12066905" cy="6550025"/>
          </a:xfrm>
        </p:spPr>
        <p:txBody>
          <a:bodyPr/>
          <a:p>
            <a:pPr marL="342900" indent="-342900">
              <a:buAutoNum type="arabicPeriod"/>
            </a:pPr>
            <a:r>
              <a:rPr lang="en-US" altLang="en-US" sz="1800"/>
              <a:t>It includes all core modules needed for:</a:t>
            </a:r>
            <a:endParaRPr lang="en-US" altLang="en-US" sz="1800"/>
          </a:p>
          <a:p>
            <a:pPr marL="342900" indent="-342900">
              <a:buAutoNum type="arabicPeriod"/>
            </a:pPr>
            <a:r>
              <a:rPr lang="en-US" altLang="en-US" sz="1800"/>
              <a:t>Bean creation</a:t>
            </a:r>
            <a:endParaRPr lang="en-US" altLang="en-US" sz="1800"/>
          </a:p>
          <a:p>
            <a:pPr marL="342900" indent="-342900">
              <a:buAutoNum type="arabicPeriod"/>
            </a:pPr>
            <a:r>
              <a:rPr lang="en-US" altLang="en-US" sz="1800"/>
              <a:t>Setter and constructor injection</a:t>
            </a:r>
            <a:endParaRPr lang="en-US" altLang="en-US" sz="1800"/>
          </a:p>
          <a:p>
            <a:pPr marL="342900" indent="-342900">
              <a:buAutoNum type="arabicPeriod"/>
            </a:pPr>
            <a:r>
              <a:rPr lang="en-US" altLang="en-US" sz="1800"/>
              <a:t>ApplicationContext</a:t>
            </a:r>
            <a:endParaRPr lang="en-US" altLang="en-US" sz="1800"/>
          </a:p>
          <a:p>
            <a:pPr marL="342900" indent="-342900">
              <a:buAutoNum type="arabicPeriod"/>
            </a:pPr>
            <a:r>
              <a:rPr lang="en-US" altLang="en-US" sz="1800"/>
              <a:t>XML or annotation-based configuration</a:t>
            </a:r>
            <a:endParaRPr lang="en-US" altLang="en-US" sz="1800"/>
          </a:p>
        </p:txBody>
      </p:sp>
      <p:sp>
        <p:nvSpPr>
          <p:cNvPr id="4" name="Text Box 3"/>
          <p:cNvSpPr txBox="1"/>
          <p:nvPr/>
        </p:nvSpPr>
        <p:spPr>
          <a:xfrm>
            <a:off x="4394200" y="215265"/>
            <a:ext cx="7672070" cy="1814830"/>
          </a:xfrm>
          <a:prstGeom prst="rect">
            <a:avLst/>
          </a:prstGeom>
        </p:spPr>
        <p:txBody>
          <a:bodyPr wrap="square">
            <a:spAutoFit/>
          </a:bodyPr>
          <a:p>
            <a:r>
              <a:rPr sz="1600">
                <a:solidFill>
                  <a:srgbClr val="808080"/>
                </a:solidFill>
                <a:latin typeface="Consolas" panose="020B0609020204030204"/>
                <a:ea typeface="Consolas" panose="020B0609020204030204"/>
              </a:rPr>
              <a:t>&lt;</a:t>
            </a:r>
            <a:r>
              <a:rPr sz="1600" b="1" u="sng">
                <a:solidFill>
                  <a:srgbClr val="03A8D8"/>
                </a:solidFill>
                <a:latin typeface="Consolas" panose="020B0609020204030204"/>
                <a:ea typeface="Consolas" panose="020B0609020204030204"/>
              </a:rPr>
              <a:t>beans</a:t>
            </a:r>
            <a:r>
              <a:rPr sz="1600">
                <a:solidFill>
                  <a:srgbClr val="A7EC21"/>
                </a:solidFill>
                <a:latin typeface="Consolas" panose="020B0609020204030204"/>
                <a:ea typeface="Consolas" panose="020B0609020204030204"/>
              </a:rPr>
              <a:t>xmlns</a:t>
            </a:r>
            <a:r>
              <a:rPr sz="1600">
                <a:solidFill>
                  <a:srgbClr val="52CA11"/>
                </a:solidFill>
                <a:latin typeface="Consolas" panose="020B0609020204030204"/>
                <a:ea typeface="Consolas" panose="020B0609020204030204"/>
              </a:rPr>
              <a:t>=</a:t>
            </a:r>
            <a:r>
              <a:rPr sz="1600" i="1">
                <a:solidFill>
                  <a:srgbClr val="17C694"/>
                </a:solidFill>
                <a:latin typeface="Consolas" panose="020B0609020204030204"/>
                <a:ea typeface="Consolas" panose="020B0609020204030204"/>
              </a:rPr>
              <a:t>"http://www.springframework.org/schema/beans"</a:t>
            </a:r>
            <a:endParaRPr sz="1600" i="1">
              <a:solidFill>
                <a:srgbClr val="17C694"/>
              </a:solidFill>
              <a:latin typeface="Consolas" panose="020B0609020204030204"/>
              <a:ea typeface="Consolas" panose="020B0609020204030204"/>
            </a:endParaRPr>
          </a:p>
          <a:p>
            <a:r>
              <a:rPr sz="1600">
                <a:solidFill>
                  <a:srgbClr val="A7EC21"/>
                </a:solidFill>
                <a:latin typeface="Consolas" panose="020B0609020204030204"/>
                <a:ea typeface="Consolas" panose="020B0609020204030204"/>
              </a:rPr>
              <a:t>xmlns:xsi</a:t>
            </a:r>
            <a:r>
              <a:rPr sz="1600">
                <a:solidFill>
                  <a:srgbClr val="52CA11"/>
                </a:solidFill>
                <a:latin typeface="Consolas" panose="020B0609020204030204"/>
                <a:ea typeface="Consolas" panose="020B0609020204030204"/>
              </a:rPr>
              <a:t>=</a:t>
            </a:r>
            <a:r>
              <a:rPr sz="1600" i="1">
                <a:solidFill>
                  <a:srgbClr val="17C694"/>
                </a:solidFill>
                <a:latin typeface="Consolas" panose="020B0609020204030204"/>
                <a:ea typeface="Consolas" panose="020B0609020204030204"/>
              </a:rPr>
              <a:t>"http://www.w3.org/2001/XMLSchema-instance"</a:t>
            </a:r>
            <a:endParaRPr sz="1600" i="1">
              <a:solidFill>
                <a:srgbClr val="17C694"/>
              </a:solidFill>
              <a:latin typeface="Consolas" panose="020B0609020204030204"/>
              <a:ea typeface="Consolas" panose="020B0609020204030204"/>
            </a:endParaRPr>
          </a:p>
          <a:p>
            <a:r>
              <a:rPr sz="1600">
                <a:solidFill>
                  <a:srgbClr val="A7EC21"/>
                </a:solidFill>
                <a:latin typeface="Consolas" panose="020B0609020204030204"/>
                <a:ea typeface="Consolas" panose="020B0609020204030204"/>
              </a:rPr>
              <a:t>xmlns:context</a:t>
            </a:r>
            <a:r>
              <a:rPr sz="1600">
                <a:solidFill>
                  <a:srgbClr val="52CA11"/>
                </a:solidFill>
                <a:latin typeface="Consolas" panose="020B0609020204030204"/>
                <a:ea typeface="Consolas" panose="020B0609020204030204"/>
              </a:rPr>
              <a:t>=</a:t>
            </a:r>
            <a:r>
              <a:rPr sz="1600" i="1">
                <a:solidFill>
                  <a:srgbClr val="17C694"/>
                </a:solidFill>
                <a:latin typeface="Consolas" panose="020B0609020204030204"/>
                <a:ea typeface="Consolas" panose="020B0609020204030204"/>
              </a:rPr>
              <a:t>"http://www.springframework.org/schema/context"</a:t>
            </a:r>
            <a:endParaRPr sz="1600" i="1">
              <a:solidFill>
                <a:srgbClr val="17C694"/>
              </a:solidFill>
              <a:latin typeface="Consolas" panose="020B0609020204030204"/>
              <a:ea typeface="Consolas" panose="020B0609020204030204"/>
            </a:endParaRPr>
          </a:p>
          <a:p>
            <a:r>
              <a:rPr sz="1600">
                <a:solidFill>
                  <a:srgbClr val="A7EC21"/>
                </a:solidFill>
                <a:latin typeface="Consolas" panose="020B0609020204030204"/>
                <a:ea typeface="Consolas" panose="020B0609020204030204"/>
              </a:rPr>
              <a:t>xsi:schemaLocation</a:t>
            </a:r>
            <a:r>
              <a:rPr sz="1600">
                <a:solidFill>
                  <a:srgbClr val="52CA11"/>
                </a:solidFill>
                <a:latin typeface="Consolas" panose="020B0609020204030204"/>
                <a:ea typeface="Consolas" panose="020B0609020204030204"/>
              </a:rPr>
              <a:t>=</a:t>
            </a:r>
            <a:r>
              <a:rPr sz="1600" i="1">
                <a:solidFill>
                  <a:srgbClr val="17C694"/>
                </a:solidFill>
                <a:latin typeface="Consolas" panose="020B0609020204030204"/>
                <a:ea typeface="Consolas" panose="020B0609020204030204"/>
              </a:rPr>
              <a:t>"http://www.springframework.org/schema/beans </a:t>
            </a:r>
            <a:endParaRPr sz="1600" i="1">
              <a:solidFill>
                <a:srgbClr val="17C694"/>
              </a:solidFill>
              <a:latin typeface="Consolas" panose="020B0609020204030204"/>
              <a:ea typeface="Consolas" panose="020B0609020204030204"/>
            </a:endParaRPr>
          </a:p>
          <a:p>
            <a:r>
              <a:rPr sz="1600" i="1" u="sng">
                <a:solidFill>
                  <a:srgbClr val="17C694"/>
                </a:solidFill>
                <a:latin typeface="Consolas" panose="020B0609020204030204"/>
                <a:ea typeface="Consolas" panose="020B0609020204030204"/>
              </a:rPr>
              <a:t>http://www.springframework.org/schema/beans/spring-beans.xsd</a:t>
            </a:r>
            <a:endParaRPr sz="1600" i="1" u="sng">
              <a:solidFill>
                <a:srgbClr val="17C694"/>
              </a:solidFill>
              <a:latin typeface="Consolas" panose="020B0609020204030204"/>
              <a:ea typeface="Consolas" panose="020B0609020204030204"/>
            </a:endParaRPr>
          </a:p>
          <a:p>
            <a:r>
              <a:rPr sz="1600" i="1">
                <a:solidFill>
                  <a:srgbClr val="17C694"/>
                </a:solidFill>
                <a:latin typeface="Consolas" panose="020B0609020204030204"/>
                <a:ea typeface="Consolas" panose="020B0609020204030204"/>
              </a:rPr>
              <a:t> http://www.springframework.org/schema/context </a:t>
            </a:r>
            <a:endParaRPr sz="1600" i="1">
              <a:solidFill>
                <a:srgbClr val="17C694"/>
              </a:solidFill>
              <a:latin typeface="Consolas" panose="020B0609020204030204"/>
              <a:ea typeface="Consolas" panose="020B0609020204030204"/>
            </a:endParaRPr>
          </a:p>
          <a:p>
            <a:r>
              <a:rPr sz="1600" i="1">
                <a:solidFill>
                  <a:srgbClr val="17C694"/>
                </a:solidFill>
                <a:latin typeface="Consolas" panose="020B0609020204030204"/>
                <a:ea typeface="Consolas" panose="020B0609020204030204"/>
              </a:rPr>
              <a:t> http://www.springframework.org/schema/context/spring-context.xsd"</a:t>
            </a:r>
            <a:r>
              <a:rPr sz="1600">
                <a:solidFill>
                  <a:srgbClr val="808080"/>
                </a:solidFill>
                <a:latin typeface="Consolas" panose="020B0609020204030204"/>
                <a:ea typeface="Consolas" panose="020B0609020204030204"/>
              </a:rPr>
              <a:t>&gt;</a:t>
            </a:r>
            <a:endParaRPr sz="1600">
              <a:solidFill>
                <a:srgbClr val="808080"/>
              </a:solidFill>
              <a:latin typeface="Consolas" panose="020B0609020204030204"/>
              <a:ea typeface="Consolas" panose="020B0609020204030204"/>
            </a:endParaRPr>
          </a:p>
        </p:txBody>
      </p:sp>
      <p:sp>
        <p:nvSpPr>
          <p:cNvPr id="5" name="Content Placeholder 2"/>
          <p:cNvSpPr>
            <a:spLocks noGrp="1"/>
          </p:cNvSpPr>
          <p:nvPr/>
        </p:nvSpPr>
        <p:spPr>
          <a:xfrm>
            <a:off x="-635" y="2570480"/>
            <a:ext cx="12066270" cy="270256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a:t>Dependency Injection is a design pattern used in Spring to achieve loose coupling between objects. Instead of a class creating its own dependencies, they are injected by the Spring container.</a:t>
            </a:r>
            <a:endParaRPr lang="en-US" altLang="en-US" sz="1800"/>
          </a:p>
          <a:p>
            <a:r>
              <a:rPr lang="en-US" altLang="en-US" sz="1800"/>
              <a:t>“Don't call us, we'll call you” — Instead of objects creating their dependencies, Spring injects them automatically.</a:t>
            </a:r>
            <a:endParaRPr lang="en-US" altLang="en-US" sz="1800"/>
          </a:p>
          <a:p>
            <a:r>
              <a:rPr lang="en-US" altLang="en-US" sz="1800" b="1"/>
              <a:t>Why Use Dependency Injection?</a:t>
            </a:r>
            <a:endParaRPr lang="en-US" altLang="en-US" sz="1800" b="1"/>
          </a:p>
          <a:p>
            <a:r>
              <a:rPr lang="en-US" altLang="en-US" sz="1800"/>
              <a:t>Promotes loose coupling</a:t>
            </a:r>
            <a:endParaRPr lang="en-US" altLang="en-US" sz="1800"/>
          </a:p>
          <a:p>
            <a:r>
              <a:rPr lang="en-US" altLang="en-US" sz="1800"/>
              <a:t>Improves testability</a:t>
            </a:r>
            <a:endParaRPr lang="en-US" altLang="en-US" sz="1800"/>
          </a:p>
          <a:p>
            <a:r>
              <a:rPr lang="en-US" altLang="en-US" sz="1800"/>
              <a:t>Supports modular and flexible design</a:t>
            </a:r>
            <a:endParaRPr lang="en-US" altLang="en-US" sz="1800"/>
          </a:p>
          <a:p>
            <a:r>
              <a:rPr lang="en-US" altLang="en-US" sz="1800"/>
              <a:t>Reduces boilerplate code</a:t>
            </a:r>
            <a:endParaRPr lang="en-US" altLang="en-US" sz="1800"/>
          </a:p>
          <a:p>
            <a:endParaRPr lang="en-US" altLang="en-US" sz="1800"/>
          </a:p>
          <a:p>
            <a:endParaRPr lang="en-US" altLang="en-US" sz="1800"/>
          </a:p>
        </p:txBody>
      </p:sp>
      <p:sp>
        <p:nvSpPr>
          <p:cNvPr id="6" name="Title 1"/>
          <p:cNvSpPr>
            <a:spLocks noGrp="1"/>
          </p:cNvSpPr>
          <p:nvPr/>
        </p:nvSpPr>
        <p:spPr>
          <a:xfrm>
            <a:off x="127000" y="2216785"/>
            <a:ext cx="10515600" cy="353695"/>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1800" b="1">
                <a:solidFill>
                  <a:srgbClr val="FF0000"/>
                </a:solidFill>
                <a:latin typeface="Cambria" panose="02040503050406030204" charset="0"/>
                <a:cs typeface="Cambria" panose="02040503050406030204" charset="0"/>
                <a:sym typeface="+mn-ea"/>
              </a:rPr>
              <a:t> What is Dependency Injection (DI) in Spring?</a:t>
            </a:r>
            <a:endParaRPr lang="en-US" altLang="en-US" sz="1800" b="1">
              <a:solidFill>
                <a:srgbClr val="FF0000"/>
              </a:solidFill>
              <a:latin typeface="Cambria" panose="02040503050406030204" charset="0"/>
              <a:cs typeface="Cambria" panose="02040503050406030204" charset="0"/>
              <a:sym typeface="+mn-ea"/>
            </a:endParaRPr>
          </a:p>
        </p:txBody>
      </p:sp>
      <p:graphicFrame>
        <p:nvGraphicFramePr>
          <p:cNvPr id="7" name="Table 6"/>
          <p:cNvGraphicFramePr/>
          <p:nvPr>
            <p:custDataLst>
              <p:tags r:id="rId1"/>
            </p:custDataLst>
          </p:nvPr>
        </p:nvGraphicFramePr>
        <p:xfrm>
          <a:off x="127000" y="5273040"/>
          <a:ext cx="11921490" cy="1567180"/>
        </p:xfrm>
        <a:graphic>
          <a:graphicData uri="http://schemas.openxmlformats.org/drawingml/2006/table">
            <a:tbl>
              <a:tblPr/>
              <a:tblGrid>
                <a:gridCol w="4641850"/>
                <a:gridCol w="7279640"/>
              </a:tblGrid>
              <a:tr h="391795">
                <a:tc>
                  <a:txBody>
                    <a:bodyPr/>
                    <a:p>
                      <a:r>
                        <a:rPr sz="1800" b="1">
                          <a:latin typeface="Cambria" panose="02040503050406030204" charset="0"/>
                          <a:cs typeface="Cambria" panose="02040503050406030204" charset="0"/>
                        </a:rPr>
                        <a:t>Type</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800" b="1">
                          <a:latin typeface="Cambria" panose="02040503050406030204" charset="0"/>
                          <a:cs typeface="Cambria" panose="02040503050406030204" charset="0"/>
                        </a:rPr>
                        <a:t>Description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91795">
                <a:tc>
                  <a:txBody>
                    <a:bodyPr/>
                    <a:p>
                      <a:r>
                        <a:rPr sz="1600" b="1">
                          <a:latin typeface="Cambria" panose="02040503050406030204" charset="0"/>
                          <a:cs typeface="Cambria" panose="02040503050406030204" charset="0"/>
                        </a:rPr>
                        <a:t>1️ Constructor Injection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1">
                          <a:latin typeface="Cambria" panose="02040503050406030204" charset="0"/>
                          <a:cs typeface="Cambria" panose="02040503050406030204" charset="0"/>
                        </a:rPr>
                        <a:t>Dependencies are passed via the constructor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91795">
                <a:tc>
                  <a:txBody>
                    <a:bodyPr/>
                    <a:p>
                      <a:r>
                        <a:rPr sz="1600" b="1">
                          <a:latin typeface="Cambria" panose="02040503050406030204" charset="0"/>
                          <a:cs typeface="Cambria" panose="02040503050406030204" charset="0"/>
                        </a:rPr>
                        <a:t>2️ Setter Injection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1">
                          <a:latin typeface="Cambria" panose="02040503050406030204" charset="0"/>
                          <a:cs typeface="Cambria" panose="02040503050406030204" charset="0"/>
                        </a:rPr>
                        <a:t>Dependencies are set via public setter methods</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91795">
                <a:tc>
                  <a:txBody>
                    <a:bodyPr/>
                    <a:p>
                      <a:r>
                        <a:rPr sz="1600" b="1">
                          <a:latin typeface="Cambria" panose="02040503050406030204" charset="0"/>
                          <a:cs typeface="Cambria" panose="02040503050406030204" charset="0"/>
                        </a:rPr>
                        <a:t>3️ Field Injection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1">
                          <a:latin typeface="Cambria" panose="02040503050406030204" charset="0"/>
                          <a:cs typeface="Cambria" panose="02040503050406030204" charset="0"/>
                        </a:rPr>
                        <a:t>Dependencies are injected directly into fields using @Autowired</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4465" y="116205"/>
            <a:ext cx="10588625" cy="389890"/>
          </a:xfrm>
        </p:spPr>
        <p:txBody>
          <a:bodyPr>
            <a:noAutofit/>
          </a:bodyPr>
          <a:p>
            <a:r>
              <a:rPr lang="en-US" sz="2000" b="1">
                <a:solidFill>
                  <a:srgbClr val="FF0000"/>
                </a:solidFill>
                <a:latin typeface="Cambria" panose="02040503050406030204" charset="0"/>
                <a:cs typeface="Cambria" panose="02040503050406030204" charset="0"/>
              </a:rPr>
              <a:t>Constructor Injection</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64465" y="506095"/>
            <a:ext cx="11863705" cy="6351270"/>
          </a:xfrm>
        </p:spPr>
        <p:txBody>
          <a:bodyPr>
            <a:normAutofit/>
          </a:bodyPr>
          <a:p>
            <a:pPr marL="0" indent="0">
              <a:buNone/>
            </a:pPr>
            <a:r>
              <a:rPr lang="en-US" altLang="en-US" sz="1800"/>
              <a:t>In Constructor Injection, Spring injects the dependencies through the class constructor at the time of bean creation.</a:t>
            </a:r>
            <a:endParaRPr lang="en-US" altLang="en-US" sz="1800"/>
          </a:p>
          <a:p>
            <a:pPr marL="0" indent="0">
              <a:buNone/>
            </a:pPr>
            <a:r>
              <a:rPr lang="en-US" altLang="en-US" sz="1800"/>
              <a:t>@Component</a:t>
            </a:r>
            <a:endParaRPr lang="en-US" altLang="en-US" sz="1800"/>
          </a:p>
          <a:p>
            <a:pPr marL="0" indent="0">
              <a:buNone/>
            </a:pPr>
            <a:r>
              <a:rPr lang="en-US" altLang="en-US" sz="1800"/>
              <a:t>public class CarService {</a:t>
            </a:r>
            <a:endParaRPr lang="en-US" altLang="en-US" sz="1800"/>
          </a:p>
          <a:p>
            <a:pPr marL="0" indent="0">
              <a:buNone/>
            </a:pPr>
            <a:r>
              <a:rPr lang="en-US" altLang="en-US" sz="1800"/>
              <a:t>    private final Engine engine;</a:t>
            </a:r>
            <a:endParaRPr lang="en-US" altLang="en-US" sz="1800"/>
          </a:p>
          <a:p>
            <a:pPr marL="0" indent="0">
              <a:buNone/>
            </a:pPr>
            <a:r>
              <a:rPr lang="en-US" altLang="en-US" sz="1800"/>
              <a:t>    // Constructor</a:t>
            </a:r>
            <a:endParaRPr lang="en-US" altLang="en-US" sz="1800"/>
          </a:p>
          <a:p>
            <a:pPr marL="0" indent="0">
              <a:buNone/>
            </a:pPr>
            <a:r>
              <a:rPr lang="en-US" altLang="en-US" sz="1800"/>
              <a:t>    @Autowired</a:t>
            </a:r>
            <a:endParaRPr lang="en-US" altLang="en-US" sz="1800"/>
          </a:p>
          <a:p>
            <a:pPr marL="0" indent="0">
              <a:buNone/>
            </a:pPr>
            <a:r>
              <a:rPr lang="en-US" altLang="en-US" sz="1800"/>
              <a:t>    public CarService(Engine engine) {</a:t>
            </a:r>
            <a:endParaRPr lang="en-US" altLang="en-US" sz="1800"/>
          </a:p>
          <a:p>
            <a:pPr marL="0" indent="0">
              <a:buNone/>
            </a:pPr>
            <a:r>
              <a:rPr lang="en-US" altLang="en-US" sz="1800"/>
              <a:t>        this.engine = engine;</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1800"/>
              <a:t>Advantages</a:t>
            </a:r>
            <a:endParaRPr lang="en-US" altLang="en-US" sz="1800"/>
          </a:p>
          <a:p>
            <a:pPr marL="0" indent="0">
              <a:buNone/>
            </a:pPr>
            <a:r>
              <a:rPr lang="en-US" altLang="en-US" sz="1800"/>
              <a:t>Immutable dependencies (can't change after creation)</a:t>
            </a:r>
            <a:endParaRPr lang="en-US" altLang="en-US" sz="1800"/>
          </a:p>
          <a:p>
            <a:pPr marL="0" indent="0">
              <a:buNone/>
            </a:pPr>
            <a:r>
              <a:rPr lang="en-US" altLang="en-US" sz="1800"/>
              <a:t>Recommended by Spring (especially with @Autowired optional from Spring 4.3+)</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1101705" cy="375920"/>
          </a:xfrm>
        </p:spPr>
        <p:txBody>
          <a:bodyPr>
            <a:normAutofit fontScale="90000"/>
          </a:bodyPr>
          <a:p>
            <a:r>
              <a:rPr lang="en-US" sz="2000" b="1">
                <a:solidFill>
                  <a:srgbClr val="FF0000"/>
                </a:solidFill>
                <a:latin typeface="Cambria" panose="02040503050406030204" charset="0"/>
                <a:cs typeface="Cambria" panose="02040503050406030204" charset="0"/>
              </a:rPr>
              <a:t>Spring Setter Injection</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507365"/>
            <a:ext cx="12192000" cy="6350635"/>
          </a:xfrm>
        </p:spPr>
        <p:txBody>
          <a:bodyPr/>
          <a:p>
            <a:pPr marL="0" indent="0">
              <a:buNone/>
            </a:pPr>
            <a:r>
              <a:rPr lang="en-US" altLang="en-US" sz="1800"/>
              <a:t>Definition:</a:t>
            </a:r>
            <a:endParaRPr lang="en-US" altLang="en-US" sz="1800"/>
          </a:p>
          <a:p>
            <a:pPr marL="0" indent="0">
              <a:buNone/>
            </a:pPr>
            <a:r>
              <a:rPr lang="en-US" altLang="en-US" sz="1800"/>
              <a:t>In Setter Injection, Spring injects the dependency using setter methods after the bean is constructed.</a:t>
            </a:r>
            <a:endParaRPr lang="en-US" altLang="en-US" sz="1800"/>
          </a:p>
          <a:p>
            <a:pPr marL="0" indent="0">
              <a:buNone/>
            </a:pPr>
            <a:r>
              <a:rPr lang="zh-CN" altLang="en-US" sz="1800"/>
              <a:t>🔹</a:t>
            </a:r>
            <a:r>
              <a:rPr lang="en-US" altLang="en-US" sz="1800"/>
              <a:t> Example:</a:t>
            </a:r>
            <a:endParaRPr lang="en-US" altLang="en-US" sz="1800"/>
          </a:p>
          <a:p>
            <a:pPr marL="0" indent="0">
              <a:buNone/>
            </a:pPr>
            <a:r>
              <a:rPr lang="en-US" altLang="en-US" sz="1800"/>
              <a:t>@Component</a:t>
            </a:r>
            <a:endParaRPr lang="en-US" altLang="en-US" sz="1800"/>
          </a:p>
          <a:p>
            <a:pPr marL="0" indent="0">
              <a:buNone/>
            </a:pPr>
            <a:r>
              <a:rPr lang="en-US" altLang="en-US" sz="1800"/>
              <a:t>public class CarService {</a:t>
            </a:r>
            <a:endParaRPr lang="en-US" altLang="en-US" sz="1800"/>
          </a:p>
          <a:p>
            <a:pPr marL="0" indent="0">
              <a:buNone/>
            </a:pPr>
            <a:r>
              <a:rPr lang="en-US" altLang="en-US" sz="1800"/>
              <a:t>    private Engine engine;</a:t>
            </a:r>
            <a:endParaRPr lang="en-US" altLang="en-US" sz="1800"/>
          </a:p>
          <a:p>
            <a:pPr marL="0" indent="0">
              <a:buNone/>
            </a:pPr>
            <a:r>
              <a:rPr lang="en-US" altLang="en-US" sz="1800"/>
              <a:t>    // Setter method</a:t>
            </a:r>
            <a:endParaRPr lang="en-US" altLang="en-US" sz="1800"/>
          </a:p>
          <a:p>
            <a:pPr marL="0" indent="0">
              <a:buNone/>
            </a:pPr>
            <a:r>
              <a:rPr lang="en-US" altLang="en-US" sz="1800"/>
              <a:t>    @Autowired</a:t>
            </a:r>
            <a:endParaRPr lang="en-US" altLang="en-US" sz="1800"/>
          </a:p>
          <a:p>
            <a:pPr marL="0" indent="0">
              <a:buNone/>
            </a:pPr>
            <a:r>
              <a:rPr lang="en-US" altLang="en-US" sz="1800"/>
              <a:t>    public void setEngine(Engine engine) {</a:t>
            </a:r>
            <a:endParaRPr lang="en-US" altLang="en-US" sz="1800"/>
          </a:p>
          <a:p>
            <a:pPr marL="0" indent="0">
              <a:buNone/>
            </a:pPr>
            <a:r>
              <a:rPr lang="en-US" altLang="en-US" sz="1800"/>
              <a:t>        this.engine = engine;</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2000" b="1"/>
              <a:t>Advantages</a:t>
            </a:r>
            <a:endParaRPr lang="en-US" altLang="en-US" sz="2000" b="1"/>
          </a:p>
          <a:p>
            <a:pPr marL="0" indent="0">
              <a:buNone/>
            </a:pPr>
            <a:r>
              <a:rPr lang="en-US" altLang="en-US" sz="1800"/>
              <a:t>Useful for optional dependencies</a:t>
            </a:r>
            <a:endParaRPr lang="en-US" altLang="en-US" sz="1800"/>
          </a:p>
          <a:p>
            <a:pPr marL="0" indent="0">
              <a:buNone/>
            </a:pPr>
            <a:r>
              <a:rPr lang="en-US" altLang="en-US" sz="1800"/>
              <a:t>Allows for reconfiguration after object creation</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83540"/>
          </a:xfrm>
        </p:spPr>
        <p:txBody>
          <a:bodyPr>
            <a:noAutofit/>
          </a:bodyPr>
          <a:p>
            <a:pPr algn="ctr"/>
            <a:r>
              <a:rPr lang="en-US" sz="2800" b="1">
                <a:solidFill>
                  <a:srgbClr val="FF0000"/>
                </a:solidFill>
              </a:rPr>
              <a:t>Field Injection</a:t>
            </a:r>
            <a:endParaRPr lang="en-US" sz="2800" b="1">
              <a:solidFill>
                <a:srgbClr val="FF0000"/>
              </a:solidFill>
            </a:endParaRPr>
          </a:p>
        </p:txBody>
      </p:sp>
      <p:sp>
        <p:nvSpPr>
          <p:cNvPr id="3" name="Content Placeholder 2"/>
          <p:cNvSpPr>
            <a:spLocks noGrp="1"/>
          </p:cNvSpPr>
          <p:nvPr>
            <p:ph idx="1"/>
          </p:nvPr>
        </p:nvSpPr>
        <p:spPr>
          <a:xfrm>
            <a:off x="120015" y="382905"/>
            <a:ext cx="12072620" cy="6474460"/>
          </a:xfrm>
        </p:spPr>
        <p:txBody>
          <a:bodyPr/>
          <a:p>
            <a:pPr marL="0" indent="0" algn="ctr">
              <a:buNone/>
            </a:pPr>
            <a:r>
              <a:rPr lang="en-US" altLang="en-US" sz="2400" b="1"/>
              <a:t>3. Field Injection</a:t>
            </a:r>
            <a:endParaRPr lang="en-US" altLang="en-US" sz="2400" b="1"/>
          </a:p>
          <a:p>
            <a:pPr marL="0" indent="0">
              <a:buNone/>
            </a:pPr>
            <a:r>
              <a:rPr lang="en-US" altLang="en-US" sz="1800" b="1"/>
              <a:t>Definition:</a:t>
            </a:r>
            <a:endParaRPr lang="en-US" altLang="en-US" sz="1800" b="1"/>
          </a:p>
          <a:p>
            <a:pPr marL="0" indent="0">
              <a:buNone/>
            </a:pPr>
            <a:r>
              <a:rPr lang="en-US" altLang="en-US" sz="1800"/>
              <a:t>In Field Injection, Spring injects the dependency directly into the field using @Autowired.</a:t>
            </a:r>
            <a:endParaRPr lang="en-US" altLang="en-US" sz="1800"/>
          </a:p>
          <a:p>
            <a:pPr marL="0" indent="0">
              <a:buNone/>
            </a:pPr>
            <a:r>
              <a:rPr lang="zh-CN" altLang="en-US" sz="1800"/>
              <a:t>🔹</a:t>
            </a:r>
            <a:r>
              <a:rPr lang="en-US" altLang="en-US" sz="1800"/>
              <a:t> Example:</a:t>
            </a:r>
            <a:endParaRPr lang="en-US" altLang="en-US" sz="1800"/>
          </a:p>
          <a:p>
            <a:pPr marL="0" indent="0">
              <a:buNone/>
            </a:pPr>
            <a:r>
              <a:rPr lang="en-US" altLang="en-US" sz="1800"/>
              <a:t>@Component</a:t>
            </a:r>
            <a:endParaRPr lang="en-US" altLang="en-US" sz="1800"/>
          </a:p>
          <a:p>
            <a:pPr marL="0" indent="0">
              <a:buNone/>
            </a:pPr>
            <a:r>
              <a:rPr lang="en-US" altLang="en-US" sz="1800"/>
              <a:t>public class CarService {</a:t>
            </a:r>
            <a:endParaRPr lang="en-US" altLang="en-US" sz="1800"/>
          </a:p>
          <a:p>
            <a:pPr marL="0" indent="0">
              <a:buNone/>
            </a:pPr>
            <a:r>
              <a:rPr lang="en-US" altLang="en-US" sz="1800"/>
              <a:t>    @Autowired</a:t>
            </a:r>
            <a:endParaRPr lang="en-US" altLang="en-US" sz="1800"/>
          </a:p>
          <a:p>
            <a:pPr marL="0" indent="0">
              <a:buNone/>
            </a:pPr>
            <a:r>
              <a:rPr lang="en-US" altLang="en-US" sz="1800"/>
              <a:t>    private Engine engine;</a:t>
            </a:r>
            <a:endParaRPr lang="en-US" altLang="en-US" sz="1800"/>
          </a:p>
          <a:p>
            <a:pPr marL="0" indent="0">
              <a:buNone/>
            </a:pPr>
            <a:r>
              <a:rPr lang="en-US" altLang="en-US" sz="1800"/>
              <a:t>}</a:t>
            </a:r>
            <a:endParaRPr lang="en-US" altLang="en-US" sz="1800"/>
          </a:p>
          <a:p>
            <a:pPr marL="0" indent="0">
              <a:buNone/>
            </a:pPr>
            <a:endParaRPr lang="en-US" altLang="en-US" sz="1800"/>
          </a:p>
          <a:p>
            <a:pPr marL="0" indent="0">
              <a:buNone/>
            </a:pPr>
            <a:r>
              <a:rPr lang="en-US" altLang="en-US" sz="1800"/>
              <a:t> Advantages:</a:t>
            </a:r>
            <a:endParaRPr lang="en-US" altLang="en-US" sz="1800"/>
          </a:p>
          <a:p>
            <a:pPr marL="0" indent="0">
              <a:buNone/>
            </a:pPr>
            <a:r>
              <a:rPr lang="en-US" altLang="en-US" sz="1800"/>
              <a:t>Less boilerplate code</a:t>
            </a:r>
            <a:endParaRPr lang="en-US" altLang="en-US" sz="1800"/>
          </a:p>
          <a:p>
            <a:pPr marL="0" indent="0">
              <a:buNone/>
            </a:pPr>
            <a:r>
              <a:rPr lang="en-US" altLang="en-US" sz="1800"/>
              <a:t>Very simple to use</a:t>
            </a:r>
            <a:endParaRPr lang="en-US" altLang="en-US" sz="1800"/>
          </a:p>
          <a:p>
            <a:pPr marL="0" indent="0">
              <a:buNone/>
            </a:pPr>
            <a:r>
              <a:rPr lang="en-US" altLang="en-US" sz="1800"/>
              <a:t> Disadvantages:</a:t>
            </a:r>
            <a:endParaRPr lang="en-US" altLang="en-US" sz="1800"/>
          </a:p>
          <a:p>
            <a:pPr marL="0" indent="0">
              <a:buNone/>
            </a:pPr>
            <a:r>
              <a:rPr lang="en-US" altLang="en-US" sz="1800"/>
              <a:t>Harder to test</a:t>
            </a:r>
            <a:endParaRPr lang="en-US" altLang="en-US" sz="1800"/>
          </a:p>
          <a:p>
            <a:pPr marL="0" indent="0">
              <a:buNone/>
            </a:pPr>
            <a:r>
              <a:rPr lang="en-US" altLang="en-US" sz="1800"/>
              <a:t>Not recommended for production-level code (makes code less maintainable)</a:t>
            </a:r>
            <a:endParaRPr lang="en-US" altLang="en-US" sz="1800"/>
          </a:p>
        </p:txBody>
      </p:sp>
      <p:graphicFrame>
        <p:nvGraphicFramePr>
          <p:cNvPr id="4" name="Table 3"/>
          <p:cNvGraphicFramePr/>
          <p:nvPr>
            <p:custDataLst>
              <p:tags r:id="rId1"/>
            </p:custDataLst>
          </p:nvPr>
        </p:nvGraphicFramePr>
        <p:xfrm>
          <a:off x="3799840" y="1783715"/>
          <a:ext cx="8282940" cy="1838325"/>
        </p:xfrm>
        <a:graphic>
          <a:graphicData uri="http://schemas.openxmlformats.org/drawingml/2006/table">
            <a:tbl>
              <a:tblPr/>
              <a:tblGrid>
                <a:gridCol w="1395730"/>
                <a:gridCol w="1504950"/>
                <a:gridCol w="1546860"/>
                <a:gridCol w="1590675"/>
                <a:gridCol w="2244725"/>
              </a:tblGrid>
              <a:tr h="363855">
                <a:tc>
                  <a:txBody>
                    <a:bodyPr/>
                    <a:p>
                      <a:pPr algn="ctr"/>
                      <a:r>
                        <a:rPr sz="1600" b="0">
                          <a:latin typeface="Cambria" panose="02040503050406030204" charset="0"/>
                          <a:cs typeface="Cambria" panose="02040503050406030204" charset="0"/>
                        </a:rPr>
                        <a:t>Injection Type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Injected Via</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Best For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Pros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Cons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491490">
                <a:tc>
                  <a:txBody>
                    <a:bodyPr/>
                    <a:p>
                      <a:pPr algn="ctr"/>
                      <a:r>
                        <a:rPr sz="1600" b="0">
                          <a:latin typeface="Cambria" panose="02040503050406030204" charset="0"/>
                          <a:cs typeface="Cambria" panose="02040503050406030204" charset="0"/>
                        </a:rPr>
                        <a:t>Constructor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Constructor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Mandatory dependencies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Immutable, testable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More code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491490">
                <a:tc>
                  <a:txBody>
                    <a:bodyPr/>
                    <a:p>
                      <a:pPr algn="ctr"/>
                      <a:r>
                        <a:rPr sz="1600" b="0">
                          <a:latin typeface="Cambria" panose="02040503050406030204" charset="0"/>
                          <a:cs typeface="Cambria" panose="02040503050406030204" charset="0"/>
                        </a:rPr>
                        <a:t>Setter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Setter Method</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Optional dependencies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Flexible, configurable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Mutable, can forget to call</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491490">
                <a:tc>
                  <a:txBody>
                    <a:bodyPr/>
                    <a:p>
                      <a:pPr algn="ctr"/>
                      <a:r>
                        <a:rPr sz="1600" b="0">
                          <a:latin typeface="Cambria" panose="02040503050406030204" charset="0"/>
                          <a:cs typeface="Cambria" panose="02040503050406030204" charset="0"/>
                        </a:rPr>
                        <a:t>Field</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Field</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Simple projects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Clean code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0">
                          <a:latin typeface="Cambria" panose="02040503050406030204" charset="0"/>
                          <a:cs typeface="Cambria" panose="02040503050406030204" charset="0"/>
                        </a:rPr>
                        <a:t>Harder to test, discouraged</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95605"/>
          </a:xfrm>
        </p:spPr>
        <p:txBody>
          <a:bodyPr>
            <a:noAutofit/>
          </a:bodyPr>
          <a:p>
            <a:pPr algn="ctr"/>
            <a:r>
              <a:rPr lang="en-US" sz="2400" b="1">
                <a:solidFill>
                  <a:srgbClr val="FF0000"/>
                </a:solidFill>
              </a:rPr>
              <a:t>Spring Autowiring</a:t>
            </a:r>
            <a:endParaRPr lang="en-US" sz="2400" b="1">
              <a:solidFill>
                <a:srgbClr val="FF0000"/>
              </a:solidFill>
            </a:endParaRPr>
          </a:p>
        </p:txBody>
      </p:sp>
      <p:sp>
        <p:nvSpPr>
          <p:cNvPr id="3" name="Content Placeholder 2"/>
          <p:cNvSpPr>
            <a:spLocks noGrp="1"/>
          </p:cNvSpPr>
          <p:nvPr>
            <p:ph idx="1"/>
          </p:nvPr>
        </p:nvSpPr>
        <p:spPr>
          <a:xfrm>
            <a:off x="184785" y="395605"/>
            <a:ext cx="11884025" cy="6309360"/>
          </a:xfrm>
        </p:spPr>
        <p:txBody>
          <a:bodyPr/>
          <a:p>
            <a:r>
              <a:rPr lang="en-US" altLang="en-US" sz="1800"/>
              <a:t>Autowiring in Spring is a feature that automatically injects dependencies into a Spring bean without needing to explicitly define them in the configuration file (like applicationContext.xml) or annotate them manually.</a:t>
            </a:r>
            <a:endParaRPr lang="en-US" altLang="en-US" sz="1800"/>
          </a:p>
          <a:p>
            <a:r>
              <a:rPr lang="en-US" altLang="en-US" sz="1800"/>
              <a:t>It tells Spring:</a:t>
            </a:r>
            <a:endParaRPr lang="en-US" altLang="en-US" sz="1800"/>
          </a:p>
          <a:p>
            <a:r>
              <a:rPr lang="en-US" altLang="en-US" sz="1800"/>
              <a:t>“Find the right bean that matches this dependency and inject it automatically.”</a:t>
            </a:r>
            <a:endParaRPr lang="en-US" altLang="en-US" sz="1800"/>
          </a:p>
        </p:txBody>
      </p:sp>
      <p:graphicFrame>
        <p:nvGraphicFramePr>
          <p:cNvPr id="4" name="Table 3"/>
          <p:cNvGraphicFramePr/>
          <p:nvPr>
            <p:custDataLst>
              <p:tags r:id="rId1"/>
            </p:custDataLst>
          </p:nvPr>
        </p:nvGraphicFramePr>
        <p:xfrm>
          <a:off x="143510" y="1838325"/>
          <a:ext cx="11885295" cy="1590675"/>
        </p:xfrm>
        <a:graphic>
          <a:graphicData uri="http://schemas.openxmlformats.org/drawingml/2006/table">
            <a:tbl>
              <a:tblPr/>
              <a:tblGrid>
                <a:gridCol w="3961765"/>
                <a:gridCol w="3961765"/>
                <a:gridCol w="3961765"/>
              </a:tblGrid>
              <a:tr h="318135">
                <a:tc>
                  <a:txBody>
                    <a:bodyPr/>
                    <a:p>
                      <a:pPr algn="ctr"/>
                      <a:r>
                        <a:rPr sz="2000" b="1"/>
                        <a:t>Concept</a:t>
                      </a:r>
                      <a:endParaRPr sz="2000" b="1"/>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2000" b="1"/>
                        <a:t>Annotation</a:t>
                      </a:r>
                      <a:endParaRPr sz="2000" b="1"/>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2000" b="1"/>
                        <a:t>Description</a:t>
                      </a:r>
                      <a:endParaRPr sz="2000" b="1"/>
                    </a:p>
                  </a:txBody>
                  <a:tcPr marL="0" marR="0" marT="0" marB="0" anchor="ctr" anchorCtr="0">
                    <a:lnL>
                      <a:noFill/>
                    </a:lnL>
                    <a:lnR>
                      <a:noFill/>
                    </a:lnR>
                    <a:lnT>
                      <a:noFill/>
                    </a:lnT>
                    <a:lnB>
                      <a:noFill/>
                    </a:lnB>
                    <a:solidFill>
                      <a:schemeClr val="accent1">
                        <a:lumMod val="20000"/>
                        <a:lumOff val="80000"/>
                      </a:schemeClr>
                    </a:solidFill>
                  </a:tcPr>
                </a:tc>
              </a:tr>
              <a:tr h="318135">
                <a:tc>
                  <a:txBody>
                    <a:bodyPr/>
                    <a:p>
                      <a:r>
                        <a:rPr sz="1600"/>
                        <a:t>Component Scanning</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@ComponentScan</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Automatically detects beans</a:t>
                      </a:r>
                      <a:endParaRPr sz="1600"/>
                    </a:p>
                  </a:txBody>
                  <a:tcPr marL="0" marR="0" marT="0" marB="0" anchor="ctr" anchorCtr="0">
                    <a:lnL>
                      <a:noFill/>
                    </a:lnL>
                    <a:lnR>
                      <a:noFill/>
                    </a:lnR>
                    <a:lnT>
                      <a:noFill/>
                    </a:lnT>
                    <a:lnB>
                      <a:noFill/>
                    </a:lnB>
                    <a:solidFill>
                      <a:schemeClr val="accent1">
                        <a:lumMod val="20000"/>
                        <a:lumOff val="80000"/>
                      </a:schemeClr>
                    </a:solidFill>
                  </a:tcPr>
                </a:tc>
              </a:tr>
              <a:tr h="318135">
                <a:tc>
                  <a:txBody>
                    <a:bodyPr/>
                    <a:p>
                      <a:r>
                        <a:rPr sz="1600"/>
                        <a:t>Bean Definition</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@Component</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Marks a class as a Spring bean</a:t>
                      </a:r>
                      <a:endParaRPr sz="1600"/>
                    </a:p>
                  </a:txBody>
                  <a:tcPr marL="0" marR="0" marT="0" marB="0" anchor="ctr" anchorCtr="0">
                    <a:lnL>
                      <a:noFill/>
                    </a:lnL>
                    <a:lnR>
                      <a:noFill/>
                    </a:lnR>
                    <a:lnT>
                      <a:noFill/>
                    </a:lnT>
                    <a:lnB>
                      <a:noFill/>
                    </a:lnB>
                    <a:solidFill>
                      <a:schemeClr val="accent1">
                        <a:lumMod val="20000"/>
                        <a:lumOff val="80000"/>
                      </a:schemeClr>
                    </a:solidFill>
                  </a:tcPr>
                </a:tc>
              </a:tr>
              <a:tr h="318135">
                <a:tc>
                  <a:txBody>
                    <a:bodyPr/>
                    <a:p>
                      <a:r>
                        <a:rPr sz="1600"/>
                        <a:t>Constructor Injection</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@Autowired on constructor</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Injects dependency via constructor</a:t>
                      </a:r>
                      <a:endParaRPr sz="1600"/>
                    </a:p>
                  </a:txBody>
                  <a:tcPr marL="0" marR="0" marT="0" marB="0" anchor="ctr" anchorCtr="0">
                    <a:lnL>
                      <a:noFill/>
                    </a:lnL>
                    <a:lnR>
                      <a:noFill/>
                    </a:lnR>
                    <a:lnT>
                      <a:noFill/>
                    </a:lnT>
                    <a:lnB>
                      <a:noFill/>
                    </a:lnB>
                    <a:solidFill>
                      <a:schemeClr val="accent1">
                        <a:lumMod val="20000"/>
                        <a:lumOff val="80000"/>
                      </a:schemeClr>
                    </a:solidFill>
                  </a:tcPr>
                </a:tc>
              </a:tr>
              <a:tr h="318135">
                <a:tc>
                  <a:txBody>
                    <a:bodyPr/>
                    <a:p>
                      <a:r>
                        <a:rPr sz="1600"/>
                        <a:t>Setter Injection</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@Autowired on setter</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Injects dependency via setter</a:t>
                      </a:r>
                      <a:endParaRPr sz="1600"/>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
        <p:nvSpPr>
          <p:cNvPr id="5" name="Text Box 4"/>
          <p:cNvSpPr txBox="1"/>
          <p:nvPr/>
        </p:nvSpPr>
        <p:spPr>
          <a:xfrm>
            <a:off x="143510" y="3569970"/>
            <a:ext cx="5080000" cy="923290"/>
          </a:xfrm>
          <a:prstGeom prst="rect">
            <a:avLst/>
          </a:prstGeom>
        </p:spPr>
        <p:txBody>
          <a:bodyPr>
            <a:spAutoFit/>
          </a:bodyPr>
          <a:p>
            <a:pPr>
              <a:spcAft>
                <a:spcPct val="60000"/>
              </a:spcAft>
            </a:pPr>
            <a:r>
              <a:rPr sz="2200" b="1"/>
              <a:t>1. @Autowired</a:t>
            </a:r>
            <a:endParaRPr sz="2200" b="1"/>
          </a:p>
          <a:p>
            <a:pPr>
              <a:spcAft>
                <a:spcPct val="60000"/>
              </a:spcAft>
            </a:pPr>
            <a:r>
              <a:rPr sz="1600"/>
              <a:t>The main annotation used for autowiring dependencies.</a:t>
            </a:r>
            <a:endParaRPr sz="1600"/>
          </a:p>
        </p:txBody>
      </p:sp>
      <p:graphicFrame>
        <p:nvGraphicFramePr>
          <p:cNvPr id="6" name="Table 5"/>
          <p:cNvGraphicFramePr/>
          <p:nvPr>
            <p:custDataLst>
              <p:tags r:id="rId2"/>
            </p:custDataLst>
          </p:nvPr>
        </p:nvGraphicFramePr>
        <p:xfrm>
          <a:off x="184785" y="4634230"/>
          <a:ext cx="11844020" cy="1631950"/>
        </p:xfrm>
        <a:graphic>
          <a:graphicData uri="http://schemas.openxmlformats.org/drawingml/2006/table">
            <a:tbl>
              <a:tblPr/>
              <a:tblGrid>
                <a:gridCol w="5169535"/>
                <a:gridCol w="6674485"/>
              </a:tblGrid>
              <a:tr h="326390">
                <a:tc>
                  <a:txBody>
                    <a:bodyPr/>
                    <a:p>
                      <a:pPr algn="ctr"/>
                      <a:r>
                        <a:rPr sz="1800" b="1">
                          <a:latin typeface="Cambria" panose="02040503050406030204" charset="0"/>
                          <a:cs typeface="Cambria" panose="02040503050406030204" charset="0"/>
                        </a:rPr>
                        <a:t>Annotation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800" b="1">
                          <a:latin typeface="Cambria" panose="02040503050406030204" charset="0"/>
                          <a:cs typeface="Cambria" panose="02040503050406030204" charset="0"/>
                        </a:rPr>
                        <a:t>Purpose</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26390">
                <a:tc>
                  <a:txBody>
                    <a:bodyPr/>
                    <a:p>
                      <a:r>
                        <a:rPr sz="1800">
                          <a:latin typeface="Cambria" panose="02040503050406030204" charset="0"/>
                          <a:cs typeface="Cambria" panose="02040503050406030204" charset="0"/>
                        </a:rPr>
                        <a:t>@Autowired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Automatically injects dependencies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26390">
                <a:tc>
                  <a:txBody>
                    <a:bodyPr/>
                    <a:p>
                      <a:r>
                        <a:rPr sz="1800">
                          <a:latin typeface="Cambria" panose="02040503050406030204" charset="0"/>
                          <a:cs typeface="Cambria" panose="02040503050406030204" charset="0"/>
                        </a:rPr>
                        <a:t>@Component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Marks a class as a Spring-managed bean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26390">
                <a:tc>
                  <a:txBody>
                    <a:bodyPr/>
                    <a:p>
                      <a:r>
                        <a:rPr sz="1800">
                          <a:latin typeface="Cambria" panose="02040503050406030204" charset="0"/>
                          <a:cs typeface="Cambria" panose="02040503050406030204" charset="0"/>
                        </a:rPr>
                        <a:t>@Qualifier</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Specifies which bean to inject when multiple exist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26390">
                <a:tc>
                  <a:txBody>
                    <a:bodyPr/>
                    <a:p>
                      <a:r>
                        <a:rPr sz="1800">
                          <a:latin typeface="Cambria" panose="02040503050406030204" charset="0"/>
                          <a:cs typeface="Cambria" panose="02040503050406030204" charset="0"/>
                        </a:rPr>
                        <a:t>@Primary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Marks one implementation as the default choice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
        <p:nvSpPr>
          <p:cNvPr id="7" name="Text Box 6"/>
          <p:cNvSpPr txBox="1"/>
          <p:nvPr/>
        </p:nvSpPr>
        <p:spPr>
          <a:xfrm>
            <a:off x="143510" y="6504623"/>
            <a:ext cx="5080000" cy="337185"/>
          </a:xfrm>
          <a:prstGeom prst="rect">
            <a:avLst/>
          </a:prstGeom>
        </p:spPr>
        <p:txBody>
          <a:bodyPr>
            <a:spAutoFit/>
          </a:bodyPr>
          <a:p>
            <a:r>
              <a:rPr sz="1600"/>
              <a:t>@Value("someValue") injects values directly into fields.</a:t>
            </a:r>
            <a:endParaRPr sz="16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4615" y="0"/>
            <a:ext cx="11970385" cy="341630"/>
          </a:xfrm>
        </p:spPr>
        <p:txBody>
          <a:bodyPr>
            <a:noAutofit/>
          </a:bodyPr>
          <a:p>
            <a:pPr algn="ctr"/>
            <a:r>
              <a:rPr lang="en-US" sz="2400" b="1">
                <a:solidFill>
                  <a:srgbClr val="FF0000"/>
                </a:solidFill>
              </a:rPr>
              <a:t>Spring With Scope</a:t>
            </a:r>
            <a:endParaRPr lang="en-US" sz="2400" b="1">
              <a:solidFill>
                <a:srgbClr val="FF0000"/>
              </a:solidFill>
            </a:endParaRPr>
          </a:p>
        </p:txBody>
      </p:sp>
      <p:sp>
        <p:nvSpPr>
          <p:cNvPr id="3" name="Content Placeholder 2"/>
          <p:cNvSpPr>
            <a:spLocks noGrp="1"/>
          </p:cNvSpPr>
          <p:nvPr>
            <p:ph idx="1"/>
          </p:nvPr>
        </p:nvSpPr>
        <p:spPr>
          <a:xfrm>
            <a:off x="95250" y="423545"/>
            <a:ext cx="12557760" cy="6434455"/>
          </a:xfrm>
        </p:spPr>
        <p:txBody>
          <a:bodyPr>
            <a:noAutofit/>
          </a:bodyPr>
          <a:p>
            <a:r>
              <a:rPr lang="en-US" altLang="en-US" sz="1600">
                <a:sym typeface="+mn-ea"/>
              </a:rPr>
              <a:t>In Spring Framework, scope defines how long a bean lives and how many instances of it are created.  Here are the commonly used Spring bean scopes:</a:t>
            </a:r>
            <a:endParaRPr lang="en-US" altLang="en-US" sz="1600"/>
          </a:p>
          <a:p>
            <a:pPr marL="0" indent="0">
              <a:buNone/>
            </a:pPr>
            <a:r>
              <a:rPr lang="en-US" altLang="en-US" sz="1600" b="1"/>
              <a:t>1. Singleton (default)</a:t>
            </a:r>
            <a:endParaRPr lang="en-US" altLang="en-US" sz="1600" b="1"/>
          </a:p>
          <a:p>
            <a:pPr marL="0" indent="0">
              <a:buNone/>
            </a:pPr>
            <a:r>
              <a:rPr lang="en-US" altLang="en-US" sz="1600"/>
              <a:t>One instance per Spring container</a:t>
            </a:r>
            <a:endParaRPr lang="en-US" altLang="en-US" sz="1600"/>
          </a:p>
          <a:p>
            <a:pPr marL="0" indent="0">
              <a:buNone/>
            </a:pPr>
            <a:r>
              <a:rPr lang="en-US" altLang="en-US" sz="1600"/>
              <a:t>The same bean is returned every time it is requested.</a:t>
            </a:r>
            <a:endParaRPr lang="en-US" altLang="en-US" sz="1600"/>
          </a:p>
          <a:p>
            <a:pPr marL="0" indent="0">
              <a:buNone/>
            </a:pPr>
            <a:r>
              <a:rPr lang="en-US" altLang="en-US" sz="1600"/>
              <a:t>Most commonly used.</a:t>
            </a:r>
            <a:endParaRPr lang="en-US" altLang="en-US" sz="1600"/>
          </a:p>
          <a:p>
            <a:pPr marL="0" indent="0">
              <a:buNone/>
            </a:pPr>
            <a:r>
              <a:rPr lang="en-US" altLang="en-US" sz="1600"/>
              <a:t>@Scope("singleton")</a:t>
            </a:r>
            <a:endParaRPr lang="en-US" altLang="en-US" sz="1600"/>
          </a:p>
          <a:p>
            <a:pPr marL="0" indent="0">
              <a:buNone/>
            </a:pPr>
            <a:r>
              <a:rPr lang="en-US" altLang="en-US" sz="1600" b="1"/>
              <a:t>2. Prototype</a:t>
            </a:r>
            <a:endParaRPr lang="en-US" altLang="en-US" sz="1600" b="1"/>
          </a:p>
          <a:p>
            <a:pPr marL="0" indent="0">
              <a:buNone/>
            </a:pPr>
            <a:r>
              <a:rPr lang="en-US" altLang="en-US" sz="1600"/>
              <a:t>A new bean instance is created every time it is requested.</a:t>
            </a:r>
            <a:endParaRPr lang="en-US" altLang="en-US" sz="1600"/>
          </a:p>
          <a:p>
            <a:pPr marL="0" indent="0">
              <a:buNone/>
            </a:pPr>
            <a:r>
              <a:rPr lang="en-US" altLang="en-US" sz="1600"/>
              <a:t>Useful for stateful or short-lived objects.</a:t>
            </a:r>
            <a:endParaRPr lang="en-US" altLang="en-US" sz="1600"/>
          </a:p>
          <a:p>
            <a:pPr marL="0" indent="0">
              <a:buNone/>
            </a:pPr>
            <a:r>
              <a:rPr lang="en-US" altLang="en-US" sz="1600"/>
              <a:t>@Scope("prototype")</a:t>
            </a:r>
            <a:endParaRPr lang="en-US" altLang="en-US" sz="1600"/>
          </a:p>
          <a:p>
            <a:pPr marL="0" indent="0">
              <a:buNone/>
            </a:pPr>
            <a:r>
              <a:rPr lang="en-US" altLang="en-US" sz="1600" b="1"/>
              <a:t>3. Request (Web Applications)</a:t>
            </a:r>
            <a:endParaRPr lang="en-US" altLang="en-US" sz="1600" b="1"/>
          </a:p>
          <a:p>
            <a:pPr marL="0" indent="0">
              <a:buNone/>
            </a:pPr>
            <a:r>
              <a:rPr lang="en-US" altLang="en-US" sz="1600"/>
              <a:t>One bean instance per HTTP request.</a:t>
            </a:r>
            <a:endParaRPr lang="en-US" altLang="en-US" sz="1600"/>
          </a:p>
          <a:p>
            <a:pPr marL="0" indent="0">
              <a:buNone/>
            </a:pPr>
            <a:r>
              <a:rPr lang="en-US" altLang="en-US" sz="1600"/>
              <a:t>Only valid in a web-aware Spring application.</a:t>
            </a:r>
            <a:endParaRPr lang="en-US" altLang="en-US" sz="1600"/>
          </a:p>
          <a:p>
            <a:pPr marL="0" indent="0">
              <a:buNone/>
            </a:pPr>
            <a:r>
              <a:rPr lang="en-US" altLang="en-US" sz="1600"/>
              <a:t>@Scope(value = WebApplicationContext.SCOPE_REQUEST)</a:t>
            </a:r>
            <a:endParaRPr lang="en-US" altLang="en-US" sz="1600"/>
          </a:p>
          <a:p>
            <a:pPr marL="0" indent="0">
              <a:buNone/>
            </a:pPr>
            <a:r>
              <a:rPr lang="en-US" sz="1600"/>
              <a:t>session (used in spring web mvc</a:t>
            </a:r>
            <a:endParaRPr lang="en-US" sz="1600"/>
          </a:p>
          <a:p>
            <a:pPr marL="0" indent="0">
              <a:buNone/>
            </a:pPr>
            <a:r>
              <a:rPr lang="en-US" altLang="en-US" sz="1600" b="1"/>
              <a:t>4.</a:t>
            </a:r>
            <a:r>
              <a:rPr lang="en-US" altLang="en-US" sz="1600"/>
              <a:t> </a:t>
            </a:r>
            <a:r>
              <a:rPr lang="en-US" altLang="en-US" sz="1600" b="1"/>
              <a:t>Session</a:t>
            </a:r>
            <a:endParaRPr lang="en-US" altLang="en-US" sz="1600"/>
          </a:p>
          <a:p>
            <a:pPr marL="0" indent="0">
              <a:buNone/>
            </a:pPr>
            <a:r>
              <a:rPr lang="en-US" altLang="en-US" sz="1600"/>
              <a:t>One bean instance per HTTP session.</a:t>
            </a:r>
            <a:endParaRPr lang="en-US" altLang="en-US" sz="1600"/>
          </a:p>
          <a:p>
            <a:pPr marL="0" indent="0">
              <a:buNone/>
            </a:pPr>
            <a:r>
              <a:rPr lang="en-US" altLang="en-US" sz="1600"/>
              <a:t>@Scope(value = WebApplicationContext.SCOPE_SESSION)</a:t>
            </a:r>
            <a:endParaRPr lang="en-US" altLang="en-US" sz="16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0975" y="0"/>
            <a:ext cx="11884025" cy="350520"/>
          </a:xfrm>
        </p:spPr>
        <p:txBody>
          <a:bodyPr>
            <a:normAutofit fontScale="90000"/>
          </a:bodyPr>
          <a:p>
            <a:pPr algn="ctr"/>
            <a:r>
              <a:rPr lang="en-US" sz="2000" b="1">
                <a:solidFill>
                  <a:srgbClr val="FF0000"/>
                </a:solidFill>
              </a:rPr>
              <a:t>Spring With JDBC</a:t>
            </a:r>
            <a:endParaRPr lang="en-US" sz="2000" b="1">
              <a:solidFill>
                <a:srgbClr val="FF0000"/>
              </a:solidFill>
            </a:endParaRPr>
          </a:p>
        </p:txBody>
      </p:sp>
      <p:sp>
        <p:nvSpPr>
          <p:cNvPr id="3" name="Content Placeholder 2"/>
          <p:cNvSpPr>
            <a:spLocks noGrp="1"/>
          </p:cNvSpPr>
          <p:nvPr>
            <p:ph idx="1"/>
          </p:nvPr>
        </p:nvSpPr>
        <p:spPr>
          <a:xfrm>
            <a:off x="180975" y="350520"/>
            <a:ext cx="11884025" cy="6158230"/>
          </a:xfrm>
        </p:spPr>
        <p:txBody>
          <a:bodyPr>
            <a:noAutofit/>
          </a:bodyPr>
          <a:p>
            <a:pPr marL="0" indent="0">
              <a:buNone/>
            </a:pPr>
            <a:r>
              <a:rPr lang="en-US" altLang="en-US" sz="2000" b="1"/>
              <a:t>What is JDBC?</a:t>
            </a:r>
            <a:endParaRPr lang="en-US" altLang="en-US" sz="2000" b="1"/>
          </a:p>
          <a:p>
            <a:r>
              <a:rPr lang="en-US" altLang="en-US" sz="1600"/>
              <a:t>JDBC (Java Database Connectivity) is an application programming interface (API) that defines how a client may access a database. It is a data access technology used for Java database connectivity. It provides methods to query and update data in a database and is oriented toward relational databases. JDBC offers a natural Java interface for working with SQL. JDBC is needed to provide a "Pure Java" solution for application development. JDBC API uses JDBC drivers to connect with the database. </a:t>
            </a:r>
            <a:endParaRPr lang="en-US" altLang="en-US" sz="1600"/>
          </a:p>
          <a:p>
            <a:r>
              <a:rPr lang="en-US" altLang="en-US" sz="1600"/>
              <a:t>Data Access using Spring JDBC Template</a:t>
            </a:r>
            <a:endParaRPr lang="en-US" altLang="en-US" sz="1600"/>
          </a:p>
          <a:p>
            <a:r>
              <a:rPr lang="en-US" altLang="en-US" sz="1600"/>
              <a:t>There are a number of options for selecting an approach to form the basis for your JDBC database access. Spring framework provides the following approaches for JDBC database access:</a:t>
            </a:r>
            <a:endParaRPr lang="en-US" altLang="en-US" sz="1600"/>
          </a:p>
          <a:p>
            <a:endParaRPr lang="en-US" altLang="en-US" sz="1600"/>
          </a:p>
          <a:p>
            <a:r>
              <a:rPr lang="en-US" altLang="en-US" sz="1600" b="1"/>
              <a:t>JdbcTemplate</a:t>
            </a:r>
            <a:endParaRPr lang="en-US" altLang="en-US" sz="1600"/>
          </a:p>
          <a:p>
            <a:r>
              <a:rPr lang="en-US" altLang="en-US" sz="1600"/>
              <a:t>NamedParameterJdbcTemplate</a:t>
            </a:r>
            <a:endParaRPr lang="en-US" altLang="en-US" sz="1600"/>
          </a:p>
          <a:p>
            <a:r>
              <a:rPr lang="en-US" altLang="en-US" sz="1600"/>
              <a:t>SimpleJdbcTemplate</a:t>
            </a:r>
            <a:endParaRPr lang="en-US" altLang="en-US" sz="1600"/>
          </a:p>
          <a:p>
            <a:r>
              <a:rPr lang="en-US" altLang="en-US" sz="1600"/>
              <a:t>SimpleJdbcInsert and SimpleJdbcCall</a:t>
            </a:r>
            <a:endParaRPr lang="en-US" altLang="en-US" sz="1600"/>
          </a:p>
          <a:p>
            <a:r>
              <a:rPr lang="en-US" altLang="en-US" sz="1600" b="1"/>
              <a:t>1. JDBC Template</a:t>
            </a:r>
            <a:endParaRPr lang="en-US" altLang="en-US" sz="1600" b="1"/>
          </a:p>
          <a:p>
            <a:r>
              <a:rPr lang="en-US" altLang="en-US" sz="1600"/>
              <a:t>JdbcTemplate is a central class in the JDBC core package that simplifies the use of JDBC and helps to avoid common errors. It internally uses JDBC API and eliminates a lot of problems with JDBC API. It executes SQL queries or updates, initiating iteration over ResultSets and catching JDBC exceptions and translating them to the generic. It executes core JDBC workflow, leaving application code to provide SQL and extract results. It handles the exception and provides the informative exception messages with the help of exception classes defined in the org.springframework.dao package.</a:t>
            </a:r>
            <a:endParaRPr lang="en-US" altLang="en-US" sz="1600"/>
          </a:p>
          <a:p>
            <a:endParaRPr lang="en-US" altLang="en-US" sz="1600"/>
          </a:p>
          <a:p>
            <a:r>
              <a:rPr lang="en-US" altLang="en-US" sz="1600"/>
              <a:t>The common methods of spring JdbcTemplate class:</a:t>
            </a:r>
            <a:endParaRPr lang="en-US" altLang="en-US" sz="16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12192000" cy="6631305"/>
          </a:xfrm>
        </p:spPr>
        <p:txBody>
          <a:bodyPr>
            <a:normAutofit/>
          </a:bodyPr>
          <a:p>
            <a:pPr marL="0" indent="0" algn="ctr">
              <a:buNone/>
            </a:pPr>
            <a:r>
              <a:rPr lang="en-US" altLang="en-US" sz="2400" b="1">
                <a:solidFill>
                  <a:srgbClr val="FF0000"/>
                </a:solidFill>
              </a:rPr>
              <a:t>DataSource in Spring</a:t>
            </a:r>
            <a:endParaRPr lang="en-US" altLang="en-US" sz="2400" b="1">
              <a:solidFill>
                <a:srgbClr val="FF0000"/>
              </a:solidFill>
            </a:endParaRPr>
          </a:p>
          <a:p>
            <a:pPr marL="0" indent="0">
              <a:buNone/>
            </a:pPr>
            <a:r>
              <a:rPr lang="en-US" altLang="en-US" sz="1800"/>
              <a:t>Spring doesn’t reinvent JDBC — it uses the standard javax.sql.DataSource interface.</a:t>
            </a:r>
            <a:endParaRPr lang="en-US" altLang="en-US" sz="1800"/>
          </a:p>
          <a:p>
            <a:pPr marL="0" indent="0">
              <a:buNone/>
            </a:pPr>
            <a:r>
              <a:rPr lang="en-US" altLang="en-US" sz="1800"/>
              <a:t>In a Spring app, a DataSource bean is how you tell Spring how to connect to your database.</a:t>
            </a:r>
            <a:endParaRPr lang="en-US" altLang="en-US" sz="1800"/>
          </a:p>
          <a:p>
            <a:pPr marL="0" indent="0">
              <a:buNone/>
            </a:pPr>
            <a:endParaRPr lang="en-US" altLang="en-US" sz="1800"/>
          </a:p>
          <a:p>
            <a:pPr marL="0" indent="0">
              <a:buNone/>
            </a:pPr>
            <a:r>
              <a:rPr lang="en-US" altLang="en-US" sz="1800"/>
              <a:t> it is a standard Java interface (javax.sql.DataSource) provided by the JDBC API for establishing connections to a physical data source, such as a database. Spring, or any other framework that uses JDBC, relies on implementations of this interface to acquire database connections.</a:t>
            </a:r>
            <a:endParaRPr lang="en-US" altLang="en-US" sz="1800"/>
          </a:p>
          <a:p>
            <a:pPr marL="0" indent="0">
              <a:buNone/>
            </a:pPr>
            <a:endParaRPr lang="en-US" altLang="en-US" sz="1800"/>
          </a:p>
          <a:p>
            <a:pPr marL="0" indent="0">
              <a:buNone/>
            </a:pPr>
            <a:r>
              <a:rPr lang="en-US" altLang="en-US" sz="1800"/>
              <a:t>Once configured, this DataSource is </a:t>
            </a:r>
            <a:endParaRPr lang="en-US" altLang="en-US" sz="1800"/>
          </a:p>
          <a:p>
            <a:pPr marL="0" indent="0">
              <a:buNone/>
            </a:pPr>
            <a:r>
              <a:rPr lang="en-US" altLang="en-US" sz="1800"/>
              <a:t>injected into components like:</a:t>
            </a:r>
            <a:endParaRPr lang="en-US" altLang="en-US" sz="1800"/>
          </a:p>
          <a:p>
            <a:pPr marL="0" indent="0">
              <a:buNone/>
            </a:pPr>
            <a:endParaRPr lang="en-US" altLang="en-US" sz="1800"/>
          </a:p>
          <a:p>
            <a:pPr marL="0" indent="0">
              <a:buNone/>
            </a:pPr>
            <a:r>
              <a:rPr lang="en-US" altLang="en-US" sz="1800"/>
              <a:t>JdbcTemplate</a:t>
            </a:r>
            <a:endParaRPr lang="en-US" altLang="en-US" sz="1800"/>
          </a:p>
          <a:p>
            <a:pPr marL="0" indent="0">
              <a:buNone/>
            </a:pPr>
            <a:endParaRPr lang="en-US" altLang="en-US" sz="1800"/>
          </a:p>
          <a:p>
            <a:pPr marL="0" indent="0">
              <a:buNone/>
            </a:pPr>
            <a:r>
              <a:rPr lang="en-US" altLang="en-US" sz="1800"/>
              <a:t>EntityManagerFactory (for JPA/Hibernate)</a:t>
            </a:r>
            <a:endParaRPr lang="en-US" altLang="en-US" sz="1800"/>
          </a:p>
        </p:txBody>
      </p:sp>
      <p:sp>
        <p:nvSpPr>
          <p:cNvPr id="4" name="Text Box 3"/>
          <p:cNvSpPr txBox="1"/>
          <p:nvPr/>
        </p:nvSpPr>
        <p:spPr>
          <a:xfrm>
            <a:off x="4185285" y="2242820"/>
            <a:ext cx="8006715" cy="3437890"/>
          </a:xfrm>
          <a:prstGeom prst="rect">
            <a:avLst/>
          </a:prstGeom>
          <a:solidFill>
            <a:schemeClr val="accent1">
              <a:lumMod val="20000"/>
              <a:lumOff val="80000"/>
            </a:schemeClr>
          </a:solidFill>
        </p:spPr>
        <p:txBody>
          <a:bodyPr wrap="square" rtlCol="0" anchor="t">
            <a:noAutofit/>
          </a:bodyPr>
          <a:p>
            <a:r>
              <a:rPr lang="en-US" altLang="en-US"/>
              <a:t>@Repository  // detected by @ComponentScan</a:t>
            </a:r>
            <a:endParaRPr lang="en-US" altLang="en-US"/>
          </a:p>
          <a:p>
            <a:r>
              <a:rPr lang="en-US" altLang="en-US"/>
              <a:t>public class EmployeeDaoImpl implements EmployeeDao {</a:t>
            </a:r>
            <a:endParaRPr lang="en-US" altLang="en-US"/>
          </a:p>
          <a:p>
            <a:endParaRPr lang="en-US" altLang="en-US"/>
          </a:p>
          <a:p>
            <a:r>
              <a:rPr lang="en-US" altLang="en-US"/>
              <a:t>    @Autowired</a:t>
            </a:r>
            <a:endParaRPr lang="en-US" altLang="en-US"/>
          </a:p>
          <a:p>
            <a:r>
              <a:rPr lang="en-US" altLang="en-US"/>
              <a:t>    private JdbcTemplate jdbcTemplate;</a:t>
            </a:r>
            <a:endParaRPr lang="en-US" altLang="en-US"/>
          </a:p>
          <a:p>
            <a:endParaRPr lang="en-US" altLang="en-US"/>
          </a:p>
          <a:p>
            <a:r>
              <a:rPr lang="en-US" altLang="en-US"/>
              <a:t>    @Override</a:t>
            </a:r>
            <a:endParaRPr lang="en-US" altLang="en-US"/>
          </a:p>
          <a:p>
            <a:r>
              <a:rPr lang="en-US" altLang="en-US"/>
              <a:t>    public int save(Employee emp) {</a:t>
            </a:r>
            <a:endParaRPr lang="en-US" altLang="en-US"/>
          </a:p>
          <a:p>
            <a:r>
              <a:rPr lang="en-US" altLang="en-US"/>
              <a:t>        String sql = "INSERT INTO employee (id, name, salary) VALUES (?, ?, ?)";</a:t>
            </a:r>
            <a:endParaRPr lang="en-US" altLang="en-US"/>
          </a:p>
          <a:p>
            <a:r>
              <a:rPr lang="en-US" altLang="en-US"/>
              <a:t>        return jdbcTemplate.update(sql, emp.getId(), emp.getName(), emp.getSalary());</a:t>
            </a:r>
            <a:endParaRPr lang="en-US" altLang="en-US"/>
          </a:p>
          <a:p>
            <a:r>
              <a:rPr lang="en-US" altLang="en-US"/>
              <a:t>    }</a:t>
            </a:r>
            <a:endParaRPr lang="en-US" altLang="en-US"/>
          </a:p>
          <a:p>
            <a:r>
              <a:rPr lang="en-US" altLang="en-US"/>
              <a:t>}</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635"/>
            <a:ext cx="6449695" cy="6711950"/>
          </a:xfrm>
        </p:spPr>
        <p:txBody>
          <a:bodyPr>
            <a:normAutofit/>
          </a:bodyPr>
          <a:p>
            <a:pPr marL="0" indent="0" algn="ctr">
              <a:buNone/>
            </a:pPr>
            <a:r>
              <a:rPr lang="en-US" altLang="en-US" sz="2400" b="1">
                <a:solidFill>
                  <a:srgbClr val="FF0000"/>
                </a:solidFill>
              </a:rPr>
              <a:t>DriverManagerDataSource</a:t>
            </a:r>
            <a:endParaRPr lang="en-US" altLang="en-US" sz="2400" b="1">
              <a:solidFill>
                <a:srgbClr val="FF0000"/>
              </a:solidFill>
            </a:endParaRPr>
          </a:p>
          <a:p>
            <a:pPr marL="0" indent="0">
              <a:buNone/>
            </a:pPr>
            <a:r>
              <a:rPr lang="en-US" altLang="en-US" sz="1800"/>
              <a:t>DriverManagerDataSource is a simple implementation of the DataSource interface that does not provide connection pooling.</a:t>
            </a:r>
            <a:endParaRPr lang="en-US" altLang="en-US" sz="1800"/>
          </a:p>
          <a:p>
            <a:pPr marL="0" indent="0">
              <a:buNone/>
            </a:pPr>
            <a:endParaRPr lang="en-US" altLang="en-US" sz="1800"/>
          </a:p>
          <a:p>
            <a:pPr marL="0" indent="0">
              <a:buNone/>
            </a:pPr>
            <a:r>
              <a:rPr lang="en-US" altLang="en-US" sz="1800"/>
              <a:t>public class DriverManagerDataSource extends AbstractDriverBasedDataSource. Simple implementation of the standard JDBC DataSource interface, configuring the plain old JDBC DriverManager via bean properties, and returning a new Connection from every getConnection call.</a:t>
            </a:r>
            <a:endParaRPr lang="en-US" altLang="en-US" sz="1800"/>
          </a:p>
          <a:p>
            <a:pPr marL="0" indent="0">
              <a:buNone/>
            </a:pPr>
            <a:r>
              <a:rPr lang="en-US" altLang="en-US" sz="1800"/>
              <a:t>It’s mainly used for:</a:t>
            </a:r>
            <a:endParaRPr lang="en-US" altLang="en-US" sz="1800"/>
          </a:p>
          <a:p>
            <a:pPr marL="0" indent="0">
              <a:buNone/>
            </a:pPr>
            <a:endParaRPr lang="en-US" altLang="en-US" sz="1800"/>
          </a:p>
          <a:p>
            <a:pPr marL="0" indent="0">
              <a:buNone/>
            </a:pPr>
            <a:r>
              <a:rPr lang="en-US" altLang="en-US" sz="1800"/>
              <a:t>Testing or local development</a:t>
            </a:r>
            <a:endParaRPr lang="en-US" altLang="en-US" sz="1800"/>
          </a:p>
          <a:p>
            <a:pPr marL="0" indent="0">
              <a:buNone/>
            </a:pPr>
            <a:endParaRPr lang="en-US" altLang="en-US" sz="1800"/>
          </a:p>
          <a:p>
            <a:pPr marL="0" indent="0">
              <a:buNone/>
            </a:pPr>
            <a:r>
              <a:rPr lang="en-US" altLang="en-US" sz="1800"/>
              <a:t>Small apps that don’t need high performance</a:t>
            </a:r>
            <a:endParaRPr lang="en-US" altLang="en-US" sz="1800"/>
          </a:p>
          <a:p>
            <a:pPr marL="0" indent="0">
              <a:buNone/>
            </a:pPr>
            <a:endParaRPr lang="en-US" altLang="en-US" sz="1800"/>
          </a:p>
          <a:p>
            <a:pPr marL="0" indent="0">
              <a:buNone/>
            </a:pPr>
            <a:r>
              <a:rPr lang="en-US" altLang="en-US" sz="1800"/>
              <a:t>@Bean</a:t>
            </a:r>
            <a:endParaRPr lang="en-US" altLang="en-US" sz="1800"/>
          </a:p>
          <a:p>
            <a:pPr marL="0" indent="0">
              <a:buNone/>
            </a:pPr>
            <a:r>
              <a:rPr lang="en-US" altLang="en-US" sz="1800"/>
              <a:t>@Repository</a:t>
            </a:r>
            <a:endParaRPr lang="en-US" altLang="en-US" sz="1800"/>
          </a:p>
        </p:txBody>
      </p:sp>
      <p:sp>
        <p:nvSpPr>
          <p:cNvPr id="4" name="Text Box 3"/>
          <p:cNvSpPr txBox="1"/>
          <p:nvPr/>
        </p:nvSpPr>
        <p:spPr>
          <a:xfrm>
            <a:off x="6327775" y="635"/>
            <a:ext cx="5692775" cy="6498590"/>
          </a:xfrm>
          <a:prstGeom prst="rect">
            <a:avLst/>
          </a:prstGeom>
          <a:solidFill>
            <a:schemeClr val="accent1">
              <a:lumMod val="20000"/>
              <a:lumOff val="80000"/>
            </a:schemeClr>
          </a:solidFill>
        </p:spPr>
        <p:txBody>
          <a:bodyPr wrap="square" rtlCol="0" anchor="t">
            <a:noAutofit/>
          </a:bodyPr>
          <a:p>
            <a:r>
              <a:rPr lang="en-US" altLang="en-US"/>
              <a:t>@Configuration</a:t>
            </a:r>
            <a:endParaRPr lang="en-US" altLang="en-US"/>
          </a:p>
          <a:p>
            <a:r>
              <a:rPr lang="en-US" altLang="en-US"/>
              <a:t>@ComponentScan(basePackages = "com.example") // will detect @Repository classes</a:t>
            </a:r>
            <a:endParaRPr lang="en-US" altLang="en-US"/>
          </a:p>
          <a:p>
            <a:r>
              <a:rPr lang="en-US" altLang="en-US"/>
              <a:t>public class AppConfig {</a:t>
            </a:r>
            <a:endParaRPr lang="en-US" altLang="en-US"/>
          </a:p>
          <a:p>
            <a:endParaRPr lang="en-US" altLang="en-US"/>
          </a:p>
          <a:p>
            <a:r>
              <a:rPr lang="en-US" altLang="en-US"/>
              <a:t>    @Bean</a:t>
            </a:r>
            <a:endParaRPr lang="en-US" altLang="en-US"/>
          </a:p>
          <a:p>
            <a:r>
              <a:rPr lang="en-US" altLang="en-US"/>
              <a:t>    public DataSource dataSource() {</a:t>
            </a:r>
            <a:endParaRPr lang="en-US" altLang="en-US"/>
          </a:p>
          <a:p>
            <a:r>
              <a:rPr lang="en-US" altLang="en-US"/>
              <a:t>        DriverManagerDataSource ds = new DriverManagerDataSource();</a:t>
            </a:r>
            <a:endParaRPr lang="en-US" altLang="en-US"/>
          </a:p>
          <a:p>
            <a:r>
              <a:rPr lang="en-US" altLang="en-US"/>
              <a:t>        ds.setDriverClassName("com.mysql.cj.jdbc.Driver");</a:t>
            </a:r>
            <a:endParaRPr lang="en-US" altLang="en-US"/>
          </a:p>
          <a:p>
            <a:r>
              <a:rPr lang="en-US" altLang="en-US"/>
              <a:t>        ds.setUrl("jdbc:mysql://localhost:3306/testdb");</a:t>
            </a:r>
            <a:endParaRPr lang="en-US" altLang="en-US"/>
          </a:p>
          <a:p>
            <a:r>
              <a:rPr lang="en-US" altLang="en-US"/>
              <a:t>        ds.setUsername("root");</a:t>
            </a:r>
            <a:endParaRPr lang="en-US" altLang="en-US"/>
          </a:p>
          <a:p>
            <a:r>
              <a:rPr lang="en-US" altLang="en-US"/>
              <a:t>        ds.setPassword("root");</a:t>
            </a:r>
            <a:endParaRPr lang="en-US" altLang="en-US"/>
          </a:p>
          <a:p>
            <a:r>
              <a:rPr lang="en-US" altLang="en-US"/>
              <a:t>        return ds;</a:t>
            </a:r>
            <a:endParaRPr lang="en-US" altLang="en-US"/>
          </a:p>
          <a:p>
            <a:r>
              <a:rPr lang="en-US" altLang="en-US"/>
              <a:t>    }</a:t>
            </a:r>
            <a:endParaRPr lang="en-US" altLang="en-US"/>
          </a:p>
          <a:p>
            <a:endParaRPr lang="en-US" altLang="en-US"/>
          </a:p>
          <a:p>
            <a:r>
              <a:rPr lang="en-US" altLang="en-US"/>
              <a:t>    @Bean</a:t>
            </a:r>
            <a:endParaRPr lang="en-US" altLang="en-US"/>
          </a:p>
          <a:p>
            <a:r>
              <a:rPr lang="en-US" altLang="en-US"/>
              <a:t>    public JdbcTemplate jdbcTemplate(DataSource ds) {</a:t>
            </a:r>
            <a:endParaRPr lang="en-US" altLang="en-US"/>
          </a:p>
          <a:p>
            <a:r>
              <a:rPr lang="en-US" altLang="en-US"/>
              <a:t>        return new JdbcTemplate(ds);</a:t>
            </a:r>
            <a:endParaRPr lang="en-US" altLang="en-US"/>
          </a:p>
          <a:p>
            <a:r>
              <a:rPr lang="en-US" altLang="en-US"/>
              <a:t>    }</a:t>
            </a:r>
            <a:endParaRPr lang="en-US" altLang="en-US"/>
          </a:p>
          <a:p>
            <a:r>
              <a:rPr lang="en-US" altLang="en-US"/>
              <a:t>}</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05435" y="224155"/>
            <a:ext cx="11048365" cy="6445885"/>
          </a:xfrm>
        </p:spPr>
        <p:txBody>
          <a:bodyPr>
            <a:noAutofit/>
          </a:bodyPr>
          <a:p>
            <a:pPr marL="0" indent="0">
              <a:buNone/>
            </a:pPr>
            <a:r>
              <a:rPr lang="en-US" altLang="en-US" sz="1800"/>
              <a:t>	public Map&lt;String,Object&gt; fetchByIdAsMap(int id);</a:t>
            </a:r>
            <a:endParaRPr lang="en-US" altLang="en-US" sz="1800"/>
          </a:p>
          <a:p>
            <a:pPr marL="0" indent="0">
              <a:buNone/>
            </a:pPr>
            <a:r>
              <a:rPr lang="en-US" altLang="en-US" sz="1800"/>
              <a:t>	public List&lt;Map&lt;String,Object&gt;&gt; FetchAllDetails();</a:t>
            </a:r>
            <a:endParaRPr lang="en-US" altLang="en-US" sz="1800"/>
          </a:p>
          <a:p>
            <a:pPr marL="0" indent="0">
              <a:buNone/>
            </a:pPr>
            <a:endParaRPr lang="en-US" altLang="en-US" sz="1800"/>
          </a:p>
          <a:p>
            <a:pPr marL="0" indent="0">
              <a:buNone/>
            </a:pPr>
            <a:r>
              <a:rPr lang="en-US" altLang="en-US" sz="1800"/>
              <a:t>	@Override</a:t>
            </a:r>
            <a:endParaRPr lang="en-US" altLang="en-US" sz="1800"/>
          </a:p>
          <a:p>
            <a:pPr marL="0" indent="0">
              <a:buNone/>
            </a:pPr>
            <a:r>
              <a:rPr lang="en-US" altLang="en-US" sz="1800"/>
              <a:t>	public Map&lt;String, Object&gt; fetchByIdAsMap(int id) {</a:t>
            </a:r>
            <a:endParaRPr lang="en-US" altLang="en-US" sz="1800"/>
          </a:p>
          <a:p>
            <a:pPr marL="0" indent="0">
              <a:buNone/>
            </a:pPr>
            <a:r>
              <a:rPr lang="en-US" altLang="en-US" sz="1800"/>
              <a:t>		return jdbcTemplate.queryForMap("select * from book where bid=?" , id);</a:t>
            </a:r>
            <a:endParaRPr lang="en-US" altLang="en-US" sz="1800"/>
          </a:p>
          <a:p>
            <a:pPr marL="0" indent="0">
              <a:buNone/>
            </a:pPr>
            <a:r>
              <a:rPr lang="en-US" altLang="en-US" sz="1800"/>
              <a:t>	}</a:t>
            </a:r>
            <a:endParaRPr lang="en-US" altLang="en-US" sz="1800"/>
          </a:p>
          <a:p>
            <a:pPr marL="0" indent="0">
              <a:buNone/>
            </a:pPr>
            <a:r>
              <a:rPr lang="en-US" altLang="en-US" sz="1800"/>
              <a:t>	@Override</a:t>
            </a:r>
            <a:endParaRPr lang="en-US" altLang="en-US" sz="1800"/>
          </a:p>
          <a:p>
            <a:pPr marL="0" indent="0">
              <a:buNone/>
            </a:pPr>
            <a:r>
              <a:rPr lang="en-US" altLang="en-US" sz="1800"/>
              <a:t>	public List&lt;Map&lt;String, Object&gt;&gt; FetchAllDetails() {</a:t>
            </a:r>
            <a:endParaRPr lang="en-US" altLang="en-US" sz="1800"/>
          </a:p>
          <a:p>
            <a:pPr marL="0" indent="0">
              <a:buNone/>
            </a:pPr>
            <a:r>
              <a:rPr lang="en-US" altLang="en-US" sz="1800"/>
              <a:t>		return jdbcTemplate.queryForList("select * from book");</a:t>
            </a:r>
            <a:endParaRPr lang="en-US" altLang="en-US" sz="1800"/>
          </a:p>
          <a:p>
            <a:pPr marL="0" indent="0">
              <a:buNone/>
            </a:pPr>
            <a:r>
              <a:rPr lang="en-US" altLang="en-US" sz="1800"/>
              <a:t>	}</a:t>
            </a:r>
            <a:endParaRPr lang="en-US" altLang="en-US" sz="1800"/>
          </a:p>
          <a:p>
            <a:pPr marL="0" indent="0">
              <a:buNone/>
            </a:pPr>
            <a:r>
              <a:rPr lang="en-US" altLang="en-US" sz="1800"/>
              <a:t>		Map&lt;String, Object&gt; productData = bookDao.fetchByIdAsMap(1);</a:t>
            </a:r>
            <a:endParaRPr lang="en-US" altLang="en-US" sz="1800"/>
          </a:p>
          <a:p>
            <a:pPr marL="0" indent="0">
              <a:buNone/>
            </a:pPr>
            <a:r>
              <a:rPr lang="en-US" altLang="en-US" sz="1800"/>
              <a:t>		int id = (int) productData.get("bid");</a:t>
            </a:r>
            <a:endParaRPr lang="en-US" altLang="en-US" sz="1800"/>
          </a:p>
          <a:p>
            <a:pPr marL="0" indent="0">
              <a:buNone/>
            </a:pPr>
            <a:r>
              <a:rPr lang="en-US" altLang="en-US" sz="1800"/>
              <a:t>	</a:t>
            </a:r>
            <a:endParaRPr lang="en-US" altLang="en-US" sz="1800"/>
          </a:p>
          <a:p>
            <a:pPr marL="0" indent="0">
              <a:buNone/>
            </a:pPr>
            <a:r>
              <a:rPr lang="en-US" altLang="en-US" sz="1800"/>
              <a:t>		List&lt;Map&lt;String, Object&gt;&gt; bookdata=bookDao.FetchAllDetails();</a:t>
            </a:r>
            <a:endParaRPr lang="en-US" altLang="en-US" sz="1800"/>
          </a:p>
          <a:p>
            <a:pPr marL="0" indent="0">
              <a:buNone/>
            </a:pPr>
            <a:r>
              <a:rPr lang="en-US" altLang="en-US" sz="1800"/>
              <a:t>		for(Map&lt;String, Object&gt; data:bookdata) {</a:t>
            </a:r>
            <a:endParaRPr lang="en-US" altLang="en-US" sz="1800"/>
          </a:p>
          <a:p>
            <a:pPr marL="0" indent="0">
              <a:buNone/>
            </a:pPr>
            <a:r>
              <a:rPr lang="en-US" altLang="en-US" sz="1800"/>
              <a:t>			int id = (int) data.get("bid");</a:t>
            </a:r>
            <a:endParaRPr lang="en-US" altLang="en-US" sz="1800"/>
          </a:p>
          <a:p>
            <a:pPr marL="0" indent="0">
              <a:buNone/>
            </a:pPr>
            <a:r>
              <a:rPr lang="en-US" altLang="en-US" sz="1800"/>
              <a:t>}</a:t>
            </a:r>
            <a:endParaRPr lang="en-US" altLang="en-US" sz="1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5255" y="0"/>
            <a:ext cx="10515600" cy="287020"/>
          </a:xfrm>
        </p:spPr>
        <p:txBody>
          <a:bodyPr>
            <a:noAutofit/>
          </a:bodyPr>
          <a:p>
            <a:pPr algn="ctr"/>
            <a:r>
              <a:rPr lang="en-US" altLang="en-US" sz="2400" b="1">
                <a:solidFill>
                  <a:srgbClr val="FF0000"/>
                </a:solidFill>
                <a:latin typeface="Cambria" panose="02040503050406030204" charset="0"/>
                <a:cs typeface="Cambria" panose="02040503050406030204" charset="0"/>
                <a:sym typeface="+mn-ea"/>
              </a:rPr>
              <a:t>Spring MVC </a:t>
            </a:r>
            <a:endParaRPr lang="en-US" altLang="en-US" sz="24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635" y="286385"/>
            <a:ext cx="12359640" cy="6571615"/>
          </a:xfrm>
        </p:spPr>
        <p:txBody>
          <a:bodyPr>
            <a:noAutofit/>
          </a:bodyPr>
          <a:p>
            <a:pPr marL="0" indent="0">
              <a:buNone/>
            </a:pPr>
            <a:r>
              <a:rPr lang="en-US" altLang="en-US" sz="1800"/>
              <a:t>Sprin MVC is Sub Framework of Java. Spring MVC is a web framework within the Spring Framework that follows the Model–View–Controller (MVC) architectural pattern. It’s used to build Java-based, flexible, testable, and loosely coupled web applications.</a:t>
            </a:r>
            <a:endParaRPr lang="en-US" altLang="en-US" sz="1800"/>
          </a:p>
          <a:p>
            <a:pPr marL="0" indent="0">
              <a:buNone/>
            </a:pPr>
            <a:endParaRPr lang="en-US" altLang="en-US" sz="1800"/>
          </a:p>
          <a:p>
            <a:pPr marL="0" indent="0">
              <a:buNone/>
            </a:pPr>
            <a:r>
              <a:rPr lang="en-US" altLang="en-US" sz="1800"/>
              <a:t>Spring MVC (Model-View-Controller) is a part of the Spring Framework used to build web applications (including REST APIs).</a:t>
            </a:r>
            <a:endParaRPr lang="en-US" altLang="en-US" sz="1800"/>
          </a:p>
          <a:p>
            <a:pPr marL="0" indent="0">
              <a:buNone/>
            </a:pPr>
            <a:r>
              <a:rPr lang="en-US" altLang="en-US" sz="1800"/>
              <a:t>It separates an application into three layers:</a:t>
            </a:r>
            <a:endParaRPr lang="en-US" altLang="en-US" sz="1800"/>
          </a:p>
          <a:p>
            <a:pPr marL="0" indent="0">
              <a:buNone/>
            </a:pPr>
            <a:endParaRPr lang="en-US" altLang="en-US" sz="1800"/>
          </a:p>
          <a:p>
            <a:pPr marL="0" indent="0">
              <a:buNone/>
            </a:pPr>
            <a:r>
              <a:rPr lang="en-US" altLang="en-US" sz="1800" b="1"/>
              <a:t>How Spring MVC Works (Request Flow)</a:t>
            </a:r>
            <a:endParaRPr lang="en-US" altLang="en-US" sz="1800" b="1"/>
          </a:p>
          <a:p>
            <a:pPr marL="342900" indent="-342900">
              <a:buAutoNum type="arabicPeriod"/>
            </a:pPr>
            <a:r>
              <a:rPr lang="en-US" altLang="en-US" sz="1800"/>
              <a:t>Client sends a request → /users/list</a:t>
            </a:r>
            <a:endParaRPr lang="en-US" altLang="en-US" sz="1800"/>
          </a:p>
          <a:p>
            <a:pPr marL="342900" indent="-342900">
              <a:buAutoNum type="arabicPeriod"/>
            </a:pPr>
            <a:r>
              <a:rPr lang="en-US" altLang="en-US" sz="1800"/>
              <a:t>Request goes to DispatcherServlet (front controller)</a:t>
            </a:r>
            <a:endParaRPr lang="en-US" altLang="en-US" sz="1800"/>
          </a:p>
          <a:p>
            <a:pPr marL="342900" indent="-342900">
              <a:buAutoNum type="arabicPeriod"/>
            </a:pPr>
            <a:r>
              <a:rPr lang="en-US" altLang="en-US" sz="1800"/>
              <a:t>DispatcherServlet uses HandlerMapping to find the correct controller</a:t>
            </a:r>
            <a:endParaRPr lang="en-US" altLang="en-US" sz="1800"/>
          </a:p>
          <a:p>
            <a:pPr marL="342900" indent="-342900">
              <a:buAutoNum type="arabicPeriod"/>
            </a:pPr>
            <a:r>
              <a:rPr lang="en-US" altLang="en-US" sz="1800"/>
              <a:t>Controller processes the request and returns a ModelAndView</a:t>
            </a:r>
            <a:endParaRPr lang="en-US" altLang="en-US" sz="1800"/>
          </a:p>
          <a:p>
            <a:pPr marL="342900" indent="-342900">
              <a:buAutoNum type="arabicPeriod"/>
            </a:pPr>
            <a:r>
              <a:rPr lang="en-US" altLang="en-US" sz="1800"/>
              <a:t>DispatcherServlet sends the model to ViewResolver</a:t>
            </a:r>
            <a:endParaRPr lang="en-US" altLang="en-US" sz="1800"/>
          </a:p>
          <a:p>
            <a:pPr marL="342900" indent="-342900">
              <a:buAutoNum type="arabicPeriod"/>
            </a:pPr>
            <a:r>
              <a:rPr lang="en-US" altLang="en-US" sz="1800"/>
              <a:t>ViewResolver selects the right view (e.g., JSP/Thymeleaf)</a:t>
            </a:r>
            <a:endParaRPr lang="en-US" altLang="en-US" sz="1800"/>
          </a:p>
          <a:p>
            <a:pPr marL="342900" indent="-342900">
              <a:buAutoNum type="arabicPeriod"/>
            </a:pPr>
            <a:r>
              <a:rPr lang="en-US" altLang="en-US" sz="1800"/>
              <a:t>View is rendered and returned to the user</a:t>
            </a:r>
            <a:endParaRPr lang="en-US" altLang="en-US" sz="1800"/>
          </a:p>
          <a:p>
            <a:pPr marL="342900" indent="-342900">
              <a:buAutoNum type="arabicPeriod"/>
            </a:pPr>
            <a:endParaRPr lang="en-US" altLang="en-US" sz="1800"/>
          </a:p>
          <a:p>
            <a:pPr marL="0" indent="0">
              <a:buNone/>
            </a:pPr>
            <a:r>
              <a:rPr lang="en-US" altLang="en-US" sz="1800" b="1">
                <a:sym typeface="+mn-ea"/>
              </a:rPr>
              <a:t>Model</a:t>
            </a:r>
            <a:r>
              <a:rPr lang="en-US" altLang="en-US" sz="1800">
                <a:sym typeface="+mn-ea"/>
              </a:rPr>
              <a:t>: Represents data (like Java classes or database entities).</a:t>
            </a:r>
            <a:endParaRPr lang="en-US" altLang="en-US" sz="1800"/>
          </a:p>
          <a:p>
            <a:pPr marL="0" indent="0">
              <a:buNone/>
            </a:pPr>
            <a:r>
              <a:rPr lang="en-US" altLang="en-US" sz="1800" b="1">
                <a:sym typeface="+mn-ea"/>
              </a:rPr>
              <a:t>View</a:t>
            </a:r>
            <a:r>
              <a:rPr lang="en-US" altLang="en-US" sz="1800">
                <a:sym typeface="+mn-ea"/>
              </a:rPr>
              <a:t>: Represents UI (like JSP, Thymeleaf, HTML).</a:t>
            </a:r>
            <a:endParaRPr lang="en-US" altLang="en-US" sz="1800"/>
          </a:p>
          <a:p>
            <a:pPr marL="0" indent="0">
              <a:buNone/>
            </a:pPr>
            <a:r>
              <a:rPr lang="en-US" altLang="en-US" sz="1800" b="1">
                <a:sym typeface="+mn-ea"/>
              </a:rPr>
              <a:t>Controller</a:t>
            </a:r>
            <a:r>
              <a:rPr lang="en-US" altLang="en-US" sz="1800">
                <a:sym typeface="+mn-ea"/>
              </a:rPr>
              <a:t>: Handles HTTP requests and business logic.</a:t>
            </a:r>
            <a:endParaRPr lang="en-US" altLang="en-US" sz="1800"/>
          </a:p>
          <a:p>
            <a:pPr marL="0" indent="0">
              <a:buNone/>
            </a:pPr>
            <a:r>
              <a:rPr lang="en-US" altLang="en-US" sz="1800">
                <a:sym typeface="+mn-ea"/>
              </a:rPr>
              <a:t>Spring MVC follows the classic request-response model using DispatcherServlet.</a:t>
            </a:r>
            <a:endParaRPr lang="en-US" altLang="en-US" sz="1800"/>
          </a:p>
          <a:p>
            <a:pPr marL="0" indent="0">
              <a:buNone/>
            </a:pPr>
            <a:endParaRPr lang="en-US" altLang="en-US"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12037695" cy="7023100"/>
          </a:xfrm>
        </p:spPr>
        <p:txBody>
          <a:bodyPr>
            <a:noAutofit/>
          </a:bodyPr>
          <a:p>
            <a:pPr marL="0" indent="0">
              <a:buNone/>
            </a:pPr>
            <a:r>
              <a:rPr lang="en-US" altLang="en-US" sz="1600" b="1">
                <a:sym typeface="+mn-ea"/>
              </a:rPr>
              <a:t> Spring MVC Architecture</a:t>
            </a:r>
            <a:endParaRPr lang="en-US" altLang="en-US" sz="1600" b="1"/>
          </a:p>
          <a:p>
            <a:pPr marL="0" indent="0">
              <a:buNone/>
            </a:pPr>
            <a:r>
              <a:rPr lang="en-US" altLang="en-US" sz="1600">
                <a:sym typeface="+mn-ea"/>
              </a:rPr>
              <a:t>Here's how a Spring MVC request flows:</a:t>
            </a:r>
            <a:endParaRPr lang="en-US" altLang="en-US" sz="1600"/>
          </a:p>
          <a:p>
            <a:pPr marL="0" indent="0">
              <a:buNone/>
            </a:pPr>
            <a:r>
              <a:rPr lang="en-US" altLang="en-US" sz="1600">
                <a:sym typeface="+mn-ea"/>
              </a:rPr>
              <a:t>[Client] → [DispatcherServlet] → </a:t>
            </a:r>
            <a:endParaRPr lang="en-US" altLang="en-US" sz="1600"/>
          </a:p>
          <a:p>
            <a:pPr marL="0" indent="0">
              <a:buNone/>
            </a:pPr>
            <a:r>
              <a:rPr lang="en-US" altLang="en-US" sz="1600">
                <a:sym typeface="+mn-ea"/>
              </a:rPr>
              <a:t>[Controller] → [Service] → [DAO]</a:t>
            </a:r>
            <a:endParaRPr lang="en-US" altLang="en-US" sz="1600"/>
          </a:p>
          <a:p>
            <a:pPr marL="0" indent="0">
              <a:buNone/>
            </a:pPr>
            <a:r>
              <a:rPr lang="en-US" altLang="en-US" sz="1600">
                <a:sym typeface="+mn-ea"/>
              </a:rPr>
              <a:t>                              ↓</a:t>
            </a:r>
            <a:endParaRPr lang="en-US" altLang="en-US" sz="1600"/>
          </a:p>
          <a:p>
            <a:pPr marL="0" indent="0">
              <a:buNone/>
            </a:pPr>
            <a:r>
              <a:rPr lang="en-US" altLang="en-US" sz="1600">
                <a:sym typeface="+mn-ea"/>
              </a:rPr>
              <a:t>                         [ViewResolver]</a:t>
            </a:r>
            <a:endParaRPr lang="en-US" altLang="en-US" sz="1600"/>
          </a:p>
          <a:p>
            <a:pPr marL="0" indent="0">
              <a:buNone/>
            </a:pPr>
            <a:r>
              <a:rPr lang="en-US" altLang="en-US" sz="1600">
                <a:sym typeface="+mn-ea"/>
              </a:rPr>
              <a:t>                              ↓</a:t>
            </a:r>
            <a:endParaRPr lang="en-US" altLang="en-US" sz="1600"/>
          </a:p>
          <a:p>
            <a:pPr marL="0" indent="0">
              <a:buNone/>
            </a:pPr>
            <a:r>
              <a:rPr lang="en-US" altLang="en-US" sz="1600">
                <a:sym typeface="+mn-ea"/>
              </a:rPr>
              <a:t>                          [View (JSP/HTML)]</a:t>
            </a:r>
            <a:endParaRPr lang="en-US" altLang="en-US" sz="1600"/>
          </a:p>
          <a:p>
            <a:pPr marL="0" indent="0">
              <a:buNone/>
            </a:pPr>
            <a:r>
              <a:rPr lang="en-US" altLang="en-US" sz="1600" b="1"/>
              <a:t>Advantages of Spring MVC Framework</a:t>
            </a:r>
            <a:endParaRPr lang="en-US" altLang="en-US" sz="1600" b="1"/>
          </a:p>
          <a:p>
            <a:pPr marL="457200" indent="-457200">
              <a:buAutoNum type="arabicPeriod"/>
            </a:pPr>
            <a:r>
              <a:rPr lang="en-US" altLang="en-US" sz="1600"/>
              <a:t>Uses a lightweight servlet container for the development and deployment of applications.</a:t>
            </a:r>
            <a:endParaRPr lang="en-US" altLang="en-US" sz="1600"/>
          </a:p>
          <a:p>
            <a:pPr marL="457200" indent="-457200">
              <a:buAutoNum type="arabicPeriod"/>
            </a:pPr>
            <a:r>
              <a:rPr lang="en-US" altLang="en-US" sz="1600"/>
              <a:t>Enables rapid and parallel development.</a:t>
            </a:r>
            <a:endParaRPr lang="en-US" altLang="en-US" sz="1600"/>
          </a:p>
          <a:p>
            <a:pPr marL="457200" indent="-457200">
              <a:buAutoNum type="arabicPeriod"/>
            </a:pPr>
            <a:r>
              <a:rPr lang="en-US" altLang="en-US" sz="1600"/>
              <a:t>Facilitates fast application development.</a:t>
            </a:r>
            <a:endParaRPr lang="en-US" altLang="en-US" sz="1600"/>
          </a:p>
          <a:p>
            <a:pPr marL="457200" indent="-457200">
              <a:buAutoNum type="arabicPeriod"/>
            </a:pPr>
            <a:r>
              <a:rPr lang="en-US" altLang="en-US" sz="1600"/>
              <a:t>Allows multiple developers to work together efficiently.</a:t>
            </a:r>
            <a:endParaRPr lang="en-US" altLang="en-US" sz="1600"/>
          </a:p>
          <a:p>
            <a:pPr marL="457200" indent="-457200">
              <a:buAutoNum type="arabicPeriod"/>
            </a:pPr>
            <a:r>
              <a:rPr lang="en-US" altLang="en-US" sz="1600"/>
              <a:t>Makes updating the application easier.</a:t>
            </a:r>
            <a:endParaRPr lang="en-US" altLang="en-US" sz="1600"/>
          </a:p>
          <a:p>
            <a:pPr marL="457200" indent="-457200">
              <a:buAutoNum type="arabicPeriod"/>
            </a:pPr>
            <a:r>
              <a:rPr lang="en-US" altLang="en-US" sz="1600"/>
              <a:t>Enhances debugging due to multiple levels in the application.</a:t>
            </a:r>
            <a:endParaRPr lang="en-US" altLang="en-US" sz="1600" b="1"/>
          </a:p>
          <a:p>
            <a:pPr marL="0" indent="0">
              <a:buNone/>
            </a:pPr>
            <a:r>
              <a:rPr lang="en-US" altLang="en-US" sz="1600" b="1"/>
              <a:t>Disadvantages of Spring MVC Framework</a:t>
            </a:r>
            <a:endParaRPr lang="en-US" altLang="en-US" sz="1600" b="1"/>
          </a:p>
          <a:p>
            <a:pPr marL="457200" indent="-457200">
              <a:buAutoNum type="arabicPeriod"/>
            </a:pPr>
            <a:r>
              <a:rPr lang="en-US" altLang="en-US" sz="1600"/>
              <a:t>It has high complexity when developing applications using this pattern.</a:t>
            </a:r>
            <a:endParaRPr lang="en-US" altLang="en-US" sz="1600"/>
          </a:p>
          <a:p>
            <a:pPr marL="457200" indent="-457200">
              <a:buAutoNum type="arabicPeriod"/>
            </a:pPr>
            <a:r>
              <a:rPr lang="en-US" altLang="en-US" sz="1600"/>
              <a:t>It is not suitable for small applications as it may affect performance and design.</a:t>
            </a:r>
            <a:endParaRPr lang="en-US" altLang="en-US" sz="1600"/>
          </a:p>
          <a:p>
            <a:pPr marL="457200" indent="-457200">
              <a:buAutoNum type="arabicPeriod"/>
            </a:pPr>
            <a:endParaRPr lang="en-US" altLang="en-US" sz="1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79730"/>
          </a:xfrm>
        </p:spPr>
        <p:txBody>
          <a:bodyPr>
            <a:noAutofit/>
          </a:bodyPr>
          <a:p>
            <a:pPr algn="ctr"/>
            <a:r>
              <a:rPr lang="en-US" sz="2400" b="1">
                <a:solidFill>
                  <a:srgbClr val="FF0000"/>
                </a:solidFill>
              </a:rPr>
              <a:t>DispatcherServlet</a:t>
            </a:r>
            <a:endParaRPr lang="en-US" sz="2400" b="1">
              <a:solidFill>
                <a:srgbClr val="FF0000"/>
              </a:solidFill>
            </a:endParaRPr>
          </a:p>
        </p:txBody>
      </p:sp>
      <p:sp>
        <p:nvSpPr>
          <p:cNvPr id="3" name="Content Placeholder 2"/>
          <p:cNvSpPr>
            <a:spLocks noGrp="1"/>
          </p:cNvSpPr>
          <p:nvPr>
            <p:ph idx="1"/>
          </p:nvPr>
        </p:nvSpPr>
        <p:spPr>
          <a:xfrm>
            <a:off x="106045" y="379730"/>
            <a:ext cx="11979275" cy="6478270"/>
          </a:xfrm>
        </p:spPr>
        <p:txBody>
          <a:bodyPr/>
          <a:p>
            <a:pPr marL="457200" indent="-457200">
              <a:buAutoNum type="arabicPeriod"/>
            </a:pPr>
            <a:r>
              <a:rPr lang="en-US" altLang="en-US" sz="1800"/>
              <a:t>The DispatcherServlet is the central component of Spring MVC:</a:t>
            </a:r>
            <a:endParaRPr lang="en-US" altLang="en-US" sz="1800"/>
          </a:p>
          <a:p>
            <a:pPr marL="457200" indent="-457200">
              <a:buAutoNum type="arabicPeriod"/>
            </a:pPr>
            <a:r>
              <a:rPr lang="en-US" altLang="en-US" sz="1800"/>
              <a:t>Acts as the Front Controller for all HTTP requests.</a:t>
            </a:r>
            <a:endParaRPr lang="en-US" altLang="en-US" sz="1800"/>
          </a:p>
          <a:p>
            <a:pPr marL="457200" indent="-457200">
              <a:buAutoNum type="arabicPeriod"/>
            </a:pPr>
            <a:r>
              <a:rPr lang="en-US" altLang="en-US" sz="1800"/>
              <a:t>Determines the appropriate controller to handle a request.</a:t>
            </a:r>
            <a:endParaRPr lang="en-US" altLang="en-US" sz="1800"/>
          </a:p>
          <a:p>
            <a:pPr marL="457200" indent="-457200">
              <a:buAutoNum type="arabicPeriod"/>
            </a:pPr>
            <a:r>
              <a:rPr lang="en-US" altLang="en-US" sz="1800"/>
              <a:t>Dispatches the request to the selected controller.</a:t>
            </a:r>
            <a:endParaRPr lang="en-US" altLang="en-US" sz="1800"/>
          </a:p>
          <a:p>
            <a:pPr marL="457200" indent="-457200">
              <a:buAutoNum type="arabicPeriod"/>
            </a:pPr>
            <a:r>
              <a:rPr lang="en-US" altLang="en-US" sz="1800"/>
              <a:t>Resolves the view using the View Resolver and renders the response.</a:t>
            </a:r>
            <a:endParaRPr lang="en-US" altLang="en-US" sz="1800"/>
          </a:p>
          <a:p>
            <a:pPr marL="457200" indent="-457200">
              <a:buAutoNum type="arabicPeriod"/>
            </a:pPr>
            <a:endParaRPr lang="en-US" altLang="en-US" sz="1800"/>
          </a:p>
          <a:p>
            <a:pPr marL="457200" indent="-457200">
              <a:buAutoNum type="arabicPeriod"/>
            </a:pPr>
            <a:endParaRPr lang="en-US" altLang="en-US" sz="1800"/>
          </a:p>
          <a:p>
            <a:pPr marL="457200" indent="-457200">
              <a:buAutoNum type="arabicPeriod"/>
            </a:pPr>
            <a:endParaRPr lang="en-US" altLang="en-US" sz="1800"/>
          </a:p>
          <a:p>
            <a:pPr marL="457200" indent="-457200">
              <a:buAutoNum type="arabicPeriod"/>
            </a:pPr>
            <a:endParaRPr lang="en-US" altLang="en-US" sz="1800"/>
          </a:p>
          <a:p>
            <a:pPr marL="457200" indent="-457200">
              <a:buAutoNum type="arabicPeriod"/>
            </a:pPr>
            <a:endParaRPr lang="en-US" altLang="en-US" sz="1800"/>
          </a:p>
          <a:p>
            <a:pPr marL="457200" indent="-457200">
              <a:buAutoNum type="arabicPeriod"/>
            </a:pPr>
            <a:endParaRPr lang="en-US" altLang="en-US" sz="1800"/>
          </a:p>
          <a:p>
            <a:pPr marL="457200" indent="-457200">
              <a:buAutoNum type="arabicPeriod"/>
            </a:pPr>
            <a:endParaRPr lang="en-US" altLang="en-US" sz="1800"/>
          </a:p>
          <a:p>
            <a:pPr marL="457200" indent="-457200">
              <a:buAutoNum type="arabicPeriod"/>
            </a:pPr>
            <a:endParaRPr lang="en-US" altLang="en-US" sz="1800"/>
          </a:p>
          <a:p>
            <a:pPr marL="457200" indent="-457200">
              <a:buAutoNum type="arabicPeriod"/>
            </a:pPr>
            <a:r>
              <a:rPr lang="en-US" altLang="en-US" sz="1800"/>
              <a:t>DispatcherServlet intercepts incoming requests.</a:t>
            </a:r>
            <a:endParaRPr lang="en-US" altLang="en-US" sz="1800"/>
          </a:p>
          <a:p>
            <a:pPr marL="457200" indent="-457200">
              <a:buAutoNum type="arabicPeriod"/>
            </a:pPr>
            <a:r>
              <a:rPr lang="en-US" altLang="en-US" sz="1800"/>
              <a:t>Retrieves the handler mapping and forwards the request to the controller.</a:t>
            </a:r>
            <a:endParaRPr lang="en-US" altLang="en-US" sz="1800"/>
          </a:p>
          <a:p>
            <a:pPr marL="457200" indent="-457200">
              <a:buAutoNum type="arabicPeriod"/>
            </a:pPr>
            <a:r>
              <a:rPr lang="en-US" altLang="en-US" sz="1800"/>
              <a:t>The controller processes the request and returns a ModelAndView object.</a:t>
            </a:r>
            <a:endParaRPr lang="en-US" altLang="en-US" sz="1800"/>
          </a:p>
          <a:p>
            <a:pPr marL="457200" indent="-457200">
              <a:buAutoNum type="arabicPeriod"/>
            </a:pPr>
            <a:r>
              <a:rPr lang="en-US" altLang="en-US" sz="1800"/>
              <a:t>DispatcherServlet uses the view resolver to render the appropriate view.</a:t>
            </a:r>
            <a:endParaRPr lang="en-US" altLang="en-US" sz="1800"/>
          </a:p>
        </p:txBody>
      </p:sp>
      <p:pic>
        <p:nvPicPr>
          <p:cNvPr id="4" name="Picture 3" descr="springdispatcherservlet"/>
          <p:cNvPicPr>
            <a:picLocks noChangeAspect="1"/>
          </p:cNvPicPr>
          <p:nvPr/>
        </p:nvPicPr>
        <p:blipFill>
          <a:blip r:embed="rId1"/>
          <a:stretch>
            <a:fillRect/>
          </a:stretch>
        </p:blipFill>
        <p:spPr>
          <a:xfrm>
            <a:off x="106680" y="2231390"/>
            <a:ext cx="8106410" cy="3052445"/>
          </a:xfrm>
          <a:prstGeom prst="rect">
            <a:avLst/>
          </a:prstGeom>
        </p:spPr>
      </p:pic>
      <p:pic>
        <p:nvPicPr>
          <p:cNvPr id="5" name="Picture 4" descr="springarchitecture"/>
          <p:cNvPicPr>
            <a:picLocks noChangeAspect="1"/>
          </p:cNvPicPr>
          <p:nvPr/>
        </p:nvPicPr>
        <p:blipFill>
          <a:blip r:embed="rId2"/>
          <a:stretch>
            <a:fillRect/>
          </a:stretch>
        </p:blipFill>
        <p:spPr>
          <a:xfrm>
            <a:off x="7223125" y="379730"/>
            <a:ext cx="4862195" cy="338264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104775" y="0"/>
            <a:ext cx="4849495" cy="4799965"/>
          </a:xfrm>
          <a:prstGeom prst="rect">
            <a:avLst/>
          </a:prstGeom>
          <a:noFill/>
        </p:spPr>
        <p:txBody>
          <a:bodyPr wrap="square" rtlCol="0" anchor="t">
            <a:spAutoFit/>
          </a:bodyPr>
          <a:p>
            <a:r>
              <a:rPr lang="en-US" altLang="en-US" b="1"/>
              <a:t>spring Mvc Dependency for pom.xml</a:t>
            </a:r>
            <a:endParaRPr lang="en-US" altLang="en-US" b="1"/>
          </a:p>
          <a:p>
            <a:r>
              <a:rPr lang="en-US" altLang="en-US"/>
              <a:t>&lt;dependencies&gt;</a:t>
            </a:r>
            <a:endParaRPr lang="en-US" altLang="en-US"/>
          </a:p>
          <a:p>
            <a:r>
              <a:rPr lang="en-US" altLang="en-US"/>
              <a:t>    &lt;!-- Spring Web MVC --&gt;</a:t>
            </a:r>
            <a:endParaRPr lang="en-US" altLang="en-US"/>
          </a:p>
          <a:p>
            <a:r>
              <a:rPr lang="en-US" altLang="en-US"/>
              <a:t>    &lt;dependency&gt;</a:t>
            </a:r>
            <a:endParaRPr lang="en-US" altLang="en-US"/>
          </a:p>
          <a:p>
            <a:r>
              <a:rPr lang="en-US" altLang="en-US"/>
              <a:t>        &lt;groupId&gt;org.springframework&lt;/groupId&gt;</a:t>
            </a:r>
            <a:endParaRPr lang="en-US" altLang="en-US"/>
          </a:p>
          <a:p>
            <a:r>
              <a:rPr lang="en-US" altLang="en-US"/>
              <a:t>        &lt;artifactId&gt;spring-webmvc&lt;/artifactId&gt;</a:t>
            </a:r>
            <a:endParaRPr lang="en-US" altLang="en-US"/>
          </a:p>
          <a:p>
            <a:r>
              <a:rPr lang="en-US" altLang="en-US"/>
              <a:t>        &lt;version&gt;5.3.30&lt;/version&gt;</a:t>
            </a:r>
            <a:endParaRPr lang="en-US" altLang="en-US"/>
          </a:p>
          <a:p>
            <a:r>
              <a:rPr lang="en-US" altLang="en-US"/>
              <a:t>    &lt;/dependency&gt;</a:t>
            </a:r>
            <a:endParaRPr lang="en-US" altLang="en-US"/>
          </a:p>
          <a:p>
            <a:endParaRPr lang="en-US" altLang="en-US"/>
          </a:p>
          <a:p>
            <a:r>
              <a:rPr lang="en-US" altLang="en-US"/>
              <a:t>    &lt;!-- Jakarta Servlet API --&gt;</a:t>
            </a:r>
            <a:endParaRPr lang="en-US" altLang="en-US"/>
          </a:p>
          <a:p>
            <a:r>
              <a:rPr lang="en-US" altLang="en-US"/>
              <a:t>    &lt;dependency&gt;</a:t>
            </a:r>
            <a:endParaRPr lang="en-US" altLang="en-US"/>
          </a:p>
          <a:p>
            <a:r>
              <a:rPr lang="en-US" altLang="en-US"/>
              <a:t>        &lt;groupId&gt;jakarta.servlet&lt;/groupId&gt;</a:t>
            </a:r>
            <a:endParaRPr lang="en-US" altLang="en-US"/>
          </a:p>
          <a:p>
            <a:r>
              <a:rPr lang="en-US" altLang="en-US"/>
              <a:t>        &lt;artifactId&gt;jakarta.servlet-api&lt;/artifactId&gt;</a:t>
            </a:r>
            <a:endParaRPr lang="en-US" altLang="en-US"/>
          </a:p>
          <a:p>
            <a:r>
              <a:rPr lang="en-US" altLang="en-US"/>
              <a:t>        &lt;version&gt;5.0.0&lt;/version&gt;</a:t>
            </a:r>
            <a:endParaRPr lang="en-US" altLang="en-US"/>
          </a:p>
          <a:p>
            <a:r>
              <a:rPr lang="en-US" altLang="en-US"/>
              <a:t>        &lt;scope&gt;provided&lt;/scope&gt;</a:t>
            </a:r>
            <a:endParaRPr lang="en-US" altLang="en-US"/>
          </a:p>
          <a:p>
            <a:r>
              <a:rPr lang="en-US" altLang="en-US"/>
              <a:t>    &lt;/dependency&gt;</a:t>
            </a:r>
            <a:endParaRPr lang="en-US" altLang="en-US"/>
          </a:p>
          <a:p>
            <a:r>
              <a:rPr lang="en-US" altLang="en-US"/>
              <a:t>&lt;/dependencies&gt;</a:t>
            </a:r>
            <a:endParaRPr lang="en-US"/>
          </a:p>
        </p:txBody>
      </p:sp>
      <p:sp>
        <p:nvSpPr>
          <p:cNvPr id="6" name="Text Box 5"/>
          <p:cNvSpPr txBox="1"/>
          <p:nvPr/>
        </p:nvSpPr>
        <p:spPr>
          <a:xfrm>
            <a:off x="4558030" y="59055"/>
            <a:ext cx="7633335" cy="4740910"/>
          </a:xfrm>
          <a:prstGeom prst="rect">
            <a:avLst/>
          </a:prstGeom>
          <a:noFill/>
        </p:spPr>
        <p:txBody>
          <a:bodyPr wrap="square" rtlCol="0" anchor="t">
            <a:noAutofit/>
          </a:bodyPr>
          <a:p>
            <a:r>
              <a:rPr lang="en-US" altLang="en-US" b="1"/>
              <a:t>Web.xml</a:t>
            </a:r>
            <a:endParaRPr lang="en-US" altLang="en-US"/>
          </a:p>
          <a:p>
            <a:r>
              <a:rPr lang="en-US" altLang="en-US"/>
              <a:t>&lt;web-app&gt;</a:t>
            </a:r>
            <a:endParaRPr lang="en-US" altLang="en-US"/>
          </a:p>
          <a:p>
            <a:r>
              <a:rPr lang="en-US" altLang="en-US"/>
              <a:t>    &lt;display-name&gt;SpringMVC&lt;/display-name&gt;</a:t>
            </a:r>
            <a:endParaRPr lang="en-US" altLang="en-US"/>
          </a:p>
          <a:p>
            <a:r>
              <a:rPr lang="en-US" altLang="en-US"/>
              <a:t>    &lt;servlet&gt;         </a:t>
            </a:r>
            <a:endParaRPr lang="en-US" altLang="en-US"/>
          </a:p>
          <a:p>
            <a:r>
              <a:rPr lang="en-US" altLang="en-US"/>
              <a:t>&lt;servlet-name&gt;spring&lt;/servlet-name&gt;</a:t>
            </a:r>
            <a:endParaRPr lang="en-US" altLang="en-US"/>
          </a:p>
          <a:p>
            <a:r>
              <a:rPr lang="en-US" altLang="en-US"/>
              <a:t>  &lt;servlet-class&gt;org.springframework.web.servlet.DispatcherServlet</a:t>
            </a:r>
            <a:endParaRPr lang="en-US" altLang="en-US"/>
          </a:p>
          <a:p>
            <a:r>
              <a:rPr lang="en-US" altLang="en-US"/>
              <a:t>&lt;/servlet-class&gt;</a:t>
            </a:r>
            <a:endParaRPr lang="en-US" altLang="en-US"/>
          </a:p>
          <a:p>
            <a:r>
              <a:rPr lang="en-US" altLang="en-US"/>
              <a:t>        &lt;load-on-startup&gt;1&lt;/load-on-startup&gt;</a:t>
            </a:r>
            <a:endParaRPr lang="en-US" altLang="en-US"/>
          </a:p>
          <a:p>
            <a:r>
              <a:rPr lang="en-US" altLang="en-US"/>
              <a:t>    &lt;/servlet&gt;</a:t>
            </a:r>
            <a:endParaRPr lang="en-US" altLang="en-US"/>
          </a:p>
          <a:p>
            <a:endParaRPr lang="en-US" altLang="en-US"/>
          </a:p>
          <a:p>
            <a:r>
              <a:rPr lang="en-US" altLang="en-US"/>
              <a:t>    &lt;servlet-mapping&gt; </a:t>
            </a:r>
            <a:endParaRPr lang="en-US" altLang="en-US"/>
          </a:p>
          <a:p>
            <a:r>
              <a:rPr lang="en-US" altLang="en-US"/>
              <a:t>        &lt;servlet-name&gt;spring&lt;/servlet-name&gt;</a:t>
            </a:r>
            <a:endParaRPr lang="en-US" altLang="en-US"/>
          </a:p>
          <a:p>
            <a:r>
              <a:rPr lang="en-US" altLang="en-US"/>
              <a:t>        &lt;url-pattern&gt;/&lt;/url-pattern&gt;</a:t>
            </a:r>
            <a:endParaRPr lang="en-US" altLang="en-US"/>
          </a:p>
          <a:p>
            <a:r>
              <a:rPr lang="en-US" altLang="en-US"/>
              <a:t>    &lt;/servlet-mapping&gt;</a:t>
            </a:r>
            <a:endParaRPr lang="en-US" altLang="en-US"/>
          </a:p>
          <a:p>
            <a:r>
              <a:rPr lang="en-US" altLang="en-US"/>
              <a:t>&lt;/web-app&gt;</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91820" y="0"/>
            <a:ext cx="10515600" cy="382905"/>
          </a:xfrm>
        </p:spPr>
        <p:txBody>
          <a:bodyPr>
            <a:noAutofit/>
          </a:bodyPr>
          <a:p>
            <a:r>
              <a:rPr lang="en-US" sz="2800" b="1">
                <a:solidFill>
                  <a:srgbClr val="FF0000"/>
                </a:solidFill>
              </a:rPr>
              <a:t>spring-servlet.xml</a:t>
            </a:r>
            <a:endParaRPr lang="en-US" sz="2800" b="1">
              <a:solidFill>
                <a:srgbClr val="FF0000"/>
              </a:solidFill>
            </a:endParaRPr>
          </a:p>
        </p:txBody>
      </p:sp>
      <p:sp>
        <p:nvSpPr>
          <p:cNvPr id="3" name="Content Placeholder 2"/>
          <p:cNvSpPr>
            <a:spLocks noGrp="1"/>
          </p:cNvSpPr>
          <p:nvPr>
            <p:ph idx="1"/>
          </p:nvPr>
        </p:nvSpPr>
        <p:spPr>
          <a:xfrm>
            <a:off x="181610" y="382905"/>
            <a:ext cx="11734165" cy="6363970"/>
          </a:xfrm>
        </p:spPr>
        <p:txBody>
          <a:bodyPr>
            <a:normAutofit fontScale="65000"/>
          </a:bodyPr>
          <a:p>
            <a:pPr marL="0" indent="0">
              <a:buNone/>
            </a:pPr>
            <a:r>
              <a:rPr lang="en-US" altLang="en-US"/>
              <a:t>&lt;beans xmlns="http://www.springframework.org/schema/beans"</a:t>
            </a:r>
            <a:endParaRPr lang="en-US" altLang="en-US"/>
          </a:p>
          <a:p>
            <a:pPr marL="0" indent="0">
              <a:buNone/>
            </a:pPr>
            <a:r>
              <a:rPr lang="en-US" altLang="en-US"/>
              <a:t>       xmlns:context="http://www.springframework.org/schema/context"</a:t>
            </a:r>
            <a:endParaRPr lang="en-US" altLang="en-US"/>
          </a:p>
          <a:p>
            <a:pPr marL="0" indent="0">
              <a:buNone/>
            </a:pPr>
            <a:r>
              <a:rPr lang="en-US" altLang="en-US"/>
              <a:t>       xmlns:mvc="http://www.springframework.org/schema/mvc"</a:t>
            </a:r>
            <a:endParaRPr lang="en-US" altLang="en-US"/>
          </a:p>
          <a:p>
            <a:pPr marL="0" indent="0">
              <a:buNone/>
            </a:pPr>
            <a:r>
              <a:rPr lang="en-US" altLang="en-US"/>
              <a:t>       xmlns:xsi="http://www.w3.org/2001/XMLSchema-instance"</a:t>
            </a:r>
            <a:endParaRPr lang="en-US" altLang="en-US"/>
          </a:p>
          <a:p>
            <a:pPr marL="0" indent="0">
              <a:buNone/>
            </a:pPr>
            <a:r>
              <a:rPr lang="en-US" altLang="en-US"/>
              <a:t>       xsi:schemaLocation="http://www.springframework.org/schema/beans </a:t>
            </a:r>
            <a:endParaRPr lang="en-US" altLang="en-US"/>
          </a:p>
          <a:p>
            <a:pPr marL="0" indent="0">
              <a:buNone/>
            </a:pPr>
            <a:r>
              <a:rPr lang="en-US" altLang="en-US"/>
              <a:t>                           http://www.springframework.org/schema/beans/spring-beans.xsd</a:t>
            </a:r>
            <a:endParaRPr lang="en-US" altLang="en-US"/>
          </a:p>
          <a:p>
            <a:pPr marL="0" indent="0">
              <a:buNone/>
            </a:pPr>
            <a:r>
              <a:rPr lang="en-US" altLang="en-US"/>
              <a:t>                           http://www.springframework.org/schema/context </a:t>
            </a:r>
            <a:endParaRPr lang="en-US" altLang="en-US"/>
          </a:p>
          <a:p>
            <a:pPr marL="0" indent="0">
              <a:buNone/>
            </a:pPr>
            <a:r>
              <a:rPr lang="en-US" altLang="en-US"/>
              <a:t>                           http://www.springframework.org/schema/context/spring-context.xsd</a:t>
            </a:r>
            <a:endParaRPr lang="en-US" altLang="en-US"/>
          </a:p>
          <a:p>
            <a:pPr marL="0" indent="0">
              <a:buNone/>
            </a:pPr>
            <a:r>
              <a:rPr lang="en-US" altLang="en-US"/>
              <a:t>                           http://www.springframework.org/schema/mvc </a:t>
            </a:r>
            <a:endParaRPr lang="en-US" altLang="en-US"/>
          </a:p>
          <a:p>
            <a:pPr marL="0" indent="0">
              <a:buNone/>
            </a:pPr>
            <a:r>
              <a:rPr lang="en-US" altLang="en-US"/>
              <a:t>                           http://www.springframework.org/schema/mvc/spring-mvc.xsd"&gt;</a:t>
            </a:r>
            <a:endParaRPr lang="en-US" altLang="en-US"/>
          </a:p>
          <a:p>
            <a:pPr marL="0" indent="0">
              <a:buNone/>
            </a:pPr>
            <a:r>
              <a:rPr lang="en-US" altLang="en-US"/>
              <a:t>    &lt;context:component-scan base-package="com.Test.controller"/&gt;</a:t>
            </a:r>
            <a:endParaRPr lang="en-US" altLang="en-US"/>
          </a:p>
          <a:p>
            <a:pPr marL="0" indent="0">
              <a:buNone/>
            </a:pPr>
            <a:r>
              <a:rPr lang="en-US" altLang="en-US"/>
              <a:t>    &lt;mvc:annotation-driven/&gt;</a:t>
            </a:r>
            <a:endParaRPr lang="en-US" altLang="en-US"/>
          </a:p>
          <a:p>
            <a:pPr marL="0" indent="0">
              <a:buNone/>
            </a:pPr>
            <a:r>
              <a:rPr lang="en-US" altLang="en-US"/>
              <a:t>    &lt;bean class="org.springframework.web.servlet.view.InternalResourceViewResolver"&gt;</a:t>
            </a:r>
            <a:endParaRPr lang="en-US" altLang="en-US"/>
          </a:p>
          <a:p>
            <a:pPr marL="0" indent="0">
              <a:buNone/>
            </a:pPr>
            <a:r>
              <a:rPr lang="en-US" altLang="en-US"/>
              <a:t>        &lt;property name="prefix" value="/WEB-INF/views/"/&gt;</a:t>
            </a:r>
            <a:endParaRPr lang="en-US" altLang="en-US"/>
          </a:p>
          <a:p>
            <a:pPr marL="0" indent="0">
              <a:buNone/>
            </a:pPr>
            <a:r>
              <a:rPr lang="en-US" altLang="en-US"/>
              <a:t>        &lt;property name="suffix" value=".jsp"/&gt;</a:t>
            </a:r>
            <a:endParaRPr lang="en-US" altLang="en-US"/>
          </a:p>
          <a:p>
            <a:pPr marL="0" indent="0">
              <a:buNone/>
            </a:pPr>
            <a:r>
              <a:rPr lang="en-US" altLang="en-US"/>
              <a:t>    &lt;/bean&gt;</a:t>
            </a:r>
            <a:endParaRPr lang="en-US" altLang="en-US"/>
          </a:p>
          <a:p>
            <a:pPr marL="0" indent="0">
              <a:buNone/>
            </a:pPr>
            <a:r>
              <a:rPr lang="en-US" altLang="en-US"/>
              <a:t>&lt;/beans&gt;</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0975" y="0"/>
            <a:ext cx="11172825" cy="410210"/>
          </a:xfrm>
        </p:spPr>
        <p:txBody>
          <a:bodyPr>
            <a:noAutofit/>
          </a:bodyPr>
          <a:p>
            <a:pPr algn="ctr"/>
            <a:r>
              <a:rPr lang="en-US" sz="2400" b="1">
                <a:solidFill>
                  <a:srgbClr val="FF0000"/>
                </a:solidFill>
              </a:rPr>
              <a:t>viewResolver</a:t>
            </a:r>
            <a:endParaRPr lang="en-US" sz="2400" b="1">
              <a:solidFill>
                <a:srgbClr val="FF0000"/>
              </a:solidFill>
            </a:endParaRPr>
          </a:p>
        </p:txBody>
      </p:sp>
      <p:sp>
        <p:nvSpPr>
          <p:cNvPr id="3" name="Content Placeholder 2"/>
          <p:cNvSpPr>
            <a:spLocks noGrp="1"/>
          </p:cNvSpPr>
          <p:nvPr>
            <p:ph idx="1"/>
          </p:nvPr>
        </p:nvSpPr>
        <p:spPr>
          <a:xfrm>
            <a:off x="0" y="410210"/>
            <a:ext cx="12731115" cy="6309360"/>
          </a:xfrm>
        </p:spPr>
        <p:txBody>
          <a:bodyPr>
            <a:noAutofit/>
          </a:bodyPr>
          <a:p>
            <a:pPr marL="0" indent="0">
              <a:buNone/>
            </a:pPr>
            <a:r>
              <a:rPr lang="en-US" altLang="en-US" sz="2000"/>
              <a:t>ViewResolver is an interface in Spring MVC whose job is to resolve view names into actual view files (JSP, Thymeleaf, HTML, etc.).</a:t>
            </a:r>
            <a:endParaRPr lang="en-US" altLang="en-US" sz="2000"/>
          </a:p>
          <a:p>
            <a:pPr marL="0" indent="0">
              <a:buNone/>
            </a:pPr>
            <a:r>
              <a:rPr lang="en-US" altLang="en-US" sz="2000"/>
              <a:t>InternalResourceViewResolver is a class,InternalResourceViewResolver is a Spring MVC view resolver used mainly for JSP views. It resolves logical view names (returned by controllers) to actual JSP files located inside a configured folder.</a:t>
            </a:r>
            <a:endParaRPr lang="en-US" altLang="en-US" sz="2000"/>
          </a:p>
          <a:p>
            <a:pPr marL="0" indent="0">
              <a:buNone/>
            </a:pPr>
            <a:r>
              <a:rPr lang="en-US" altLang="en-US" sz="2000"/>
              <a:t>This resolver works with JSP files and uses InternalResourceView or JstlView.</a:t>
            </a:r>
            <a:endParaRPr lang="en-US" altLang="en-US" sz="2000"/>
          </a:p>
          <a:p>
            <a:pPr marL="0" indent="0">
              <a:buNone/>
            </a:pPr>
            <a:r>
              <a:rPr lang="en-US" altLang="en-US" sz="2000"/>
              <a:t>return "home";</a:t>
            </a:r>
            <a:endParaRPr lang="en-US" altLang="en-US" sz="2000"/>
          </a:p>
          <a:p>
            <a:pPr marL="0" indent="0">
              <a:buNone/>
            </a:pPr>
            <a:r>
              <a:rPr lang="en-US" altLang="en-US" sz="2000"/>
              <a:t>/WEB-INF/views/home.jsp</a:t>
            </a:r>
            <a:endParaRPr lang="en-US" altLang="en-US" sz="2000"/>
          </a:p>
          <a:p>
            <a:pPr marL="0" indent="0">
              <a:buNone/>
            </a:pPr>
            <a:r>
              <a:rPr lang="en-US" altLang="en-US" sz="2000" b="1"/>
              <a:t>what is prefix and suffix</a:t>
            </a:r>
            <a:endParaRPr lang="en-US" altLang="en-US" sz="2000" b="1"/>
          </a:p>
          <a:p>
            <a:pPr marL="0" indent="0">
              <a:buNone/>
            </a:pPr>
            <a:r>
              <a:rPr lang="en-US" altLang="en-US" sz="2000"/>
              <a:t>Spring MVC, the prefix and suffix in a ViewResolver (like InternalResourceViewResolver) are used to build the full path of a view file (such as a JSP) based on the logical view name returned from a controller.</a:t>
            </a:r>
            <a:endParaRPr lang="en-US" altLang="en-US" sz="2000"/>
          </a:p>
          <a:p>
            <a:pPr marL="0" indent="0">
              <a:buNone/>
            </a:pPr>
            <a:r>
              <a:rPr lang="en-US" altLang="en-US" sz="2000"/>
              <a:t>The prefix is the folder path where your view files are located.</a:t>
            </a:r>
            <a:endParaRPr lang="en-US" altLang="en-US" sz="2000"/>
          </a:p>
          <a:p>
            <a:pPr marL="0" indent="0">
              <a:buNone/>
            </a:pPr>
            <a:r>
              <a:rPr lang="en-US" altLang="en-US" sz="2000"/>
              <a:t>resolver.setPrefix("/WEB-INF/views/");</a:t>
            </a:r>
            <a:endParaRPr lang="en-US" altLang="en-US" sz="2000"/>
          </a:p>
          <a:p>
            <a:pPr marL="0" indent="0">
              <a:buNone/>
            </a:pPr>
            <a:endParaRPr lang="en-US" altLang="en-US" sz="2000"/>
          </a:p>
          <a:p>
            <a:pPr marL="0" indent="0">
              <a:buNone/>
            </a:pPr>
            <a:r>
              <a:rPr lang="en-US" altLang="en-US" sz="2000"/>
              <a:t>The suffix is the file extension of your view files.</a:t>
            </a:r>
            <a:endParaRPr lang="en-US" altLang="en-US" sz="2000"/>
          </a:p>
          <a:p>
            <a:pPr marL="0" indent="0">
              <a:buNone/>
            </a:pPr>
            <a:r>
              <a:rPr lang="en-US" altLang="en-US" sz="2000"/>
              <a:t>resolver.setSuffix(".jsp");</a:t>
            </a:r>
            <a:endParaRPr lang="en-US" altLang="en-US" sz="2000"/>
          </a:p>
          <a:p>
            <a:pPr marL="0" indent="0">
              <a:buNone/>
            </a:pPr>
            <a:r>
              <a:rPr lang="en-US" altLang="en-US" sz="2000"/>
              <a:t>prefix + viewName + suffix   /   /WEB-INF/views/ + home + .jsp</a:t>
            </a:r>
            <a:endParaRPr lang="en-US" altLang="en-US" sz="2000"/>
          </a:p>
          <a:p>
            <a:pPr marL="0" indent="0">
              <a:buNone/>
            </a:pPr>
            <a:endParaRPr lang="en-US" altLang="en-US" sz="2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67640" y="237490"/>
            <a:ext cx="10515600" cy="4351338"/>
          </a:xfrm>
        </p:spPr>
        <p:txBody>
          <a:bodyPr/>
          <a:p>
            <a:pPr marL="0" indent="0">
              <a:buNone/>
            </a:pPr>
            <a:endParaRPr lang="en-US" altLang="en-US" sz="1800"/>
          </a:p>
          <a:p>
            <a:pPr marL="0" indent="0">
              <a:buNone/>
            </a:pPr>
            <a:r>
              <a:rPr lang="en-US" altLang="en-US" sz="1800"/>
              <a:t>@Controller</a:t>
            </a:r>
            <a:endParaRPr lang="en-US" altLang="en-US" sz="1800"/>
          </a:p>
          <a:p>
            <a:pPr marL="0" indent="0">
              <a:buNone/>
            </a:pPr>
            <a:r>
              <a:rPr lang="en-US" altLang="en-US" sz="1800"/>
              <a:t>public class HomeController {</a:t>
            </a:r>
            <a:endParaRPr lang="en-US" altLang="en-US" sz="1800"/>
          </a:p>
          <a:p>
            <a:pPr marL="0" indent="0">
              <a:buNone/>
            </a:pPr>
            <a:r>
              <a:rPr lang="en-US" altLang="en-US" sz="1800"/>
              <a:t>	@RequestMapping("/")</a:t>
            </a:r>
            <a:endParaRPr lang="en-US" altLang="en-US" sz="1800"/>
          </a:p>
          <a:p>
            <a:pPr marL="0" indent="0">
              <a:buNone/>
            </a:pPr>
            <a:r>
              <a:rPr lang="en-US" altLang="en-US" sz="1800"/>
              <a:t>	public String home() {</a:t>
            </a:r>
            <a:endParaRPr lang="en-US" altLang="en-US" sz="1800"/>
          </a:p>
          <a:p>
            <a:pPr marL="0" indent="0">
              <a:buNone/>
            </a:pPr>
            <a:r>
              <a:rPr lang="en-US" altLang="en-US" sz="1800"/>
              <a:t>		return "index";</a:t>
            </a:r>
            <a:endParaRPr lang="en-US" altLang="en-US" sz="1800"/>
          </a:p>
          <a:p>
            <a:pPr marL="0" indent="0">
              <a:buNone/>
            </a:pPr>
            <a:r>
              <a:rPr lang="en-US" altLang="en-US" sz="1800"/>
              <a:t>	}</a:t>
            </a:r>
            <a:endParaRPr lang="en-US" altLang="en-US" sz="1800"/>
          </a:p>
          <a:p>
            <a:pPr marL="0" indent="0">
              <a:buNone/>
            </a:pPr>
            <a:endParaRPr lang="en-US" altLang="en-US" sz="1800"/>
          </a:p>
          <a:p>
            <a:pPr marL="0" indent="0">
              <a:buNone/>
            </a:pPr>
            <a:r>
              <a:rPr lang="en-US" altLang="en-US" sz="1800"/>
              <a:t>method=Requestmethod.post</a:t>
            </a:r>
            <a:endParaRPr lang="en-US" altLang="en-US" sz="1800"/>
          </a:p>
          <a:p>
            <a:pPr marL="0" indent="0">
              <a:buNone/>
            </a:pPr>
            <a:r>
              <a:rPr lang="en-US" altLang="en-US" sz="1800"/>
              <a:t>@requestparam(“name”) String name;</a:t>
            </a:r>
            <a:endParaRPr lang="en-US" altLang="en-US" sz="1800"/>
          </a:p>
          <a:p>
            <a:pPr marL="0" indent="0">
              <a:buNone/>
            </a:pPr>
            <a:r>
              <a:rPr lang="en-US" altLang="en-US" sz="1800"/>
              <a:t>model.attattribute(“name”,name)</a:t>
            </a:r>
            <a:endParaRPr lang="en-US" altLang="en-US"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8280" y="116205"/>
            <a:ext cx="10515600" cy="417830"/>
          </a:xfrm>
        </p:spPr>
        <p:txBody>
          <a:bodyPr>
            <a:normAutofit fontScale="90000"/>
          </a:bodyPr>
          <a:p>
            <a:r>
              <a:rPr lang="en-US" sz="2800" b="1">
                <a:solidFill>
                  <a:srgbClr val="FF0000"/>
                </a:solidFill>
              </a:rPr>
              <a:t>Spring MVC Annotation</a:t>
            </a:r>
            <a:endParaRPr lang="en-US" sz="2800" b="1">
              <a:solidFill>
                <a:srgbClr val="FF0000"/>
              </a:solidFill>
            </a:endParaRPr>
          </a:p>
        </p:txBody>
      </p:sp>
      <p:graphicFrame>
        <p:nvGraphicFramePr>
          <p:cNvPr id="4" name="Table 3"/>
          <p:cNvGraphicFramePr/>
          <p:nvPr>
            <p:custDataLst>
              <p:tags r:id="rId1"/>
            </p:custDataLst>
          </p:nvPr>
        </p:nvGraphicFramePr>
        <p:xfrm>
          <a:off x="208280" y="534035"/>
          <a:ext cx="11564620" cy="1878330"/>
        </p:xfrm>
        <a:graphic>
          <a:graphicData uri="http://schemas.openxmlformats.org/drawingml/2006/table">
            <a:tbl>
              <a:tblPr/>
              <a:tblGrid>
                <a:gridCol w="5782310"/>
                <a:gridCol w="5782310"/>
              </a:tblGrid>
              <a:tr h="313055">
                <a:tc>
                  <a:txBody>
                    <a:bodyPr/>
                    <a:p>
                      <a:pPr algn="ctr"/>
                      <a:r>
                        <a:rPr sz="1800" b="1">
                          <a:solidFill>
                            <a:srgbClr val="FF0000"/>
                          </a:solidFill>
                          <a:latin typeface="Cambria" panose="02040503050406030204" charset="0"/>
                          <a:cs typeface="Cambria" panose="02040503050406030204" charset="0"/>
                        </a:rPr>
                        <a:t>Component</a:t>
                      </a:r>
                      <a:endParaRPr sz="18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1800" b="1">
                          <a:solidFill>
                            <a:srgbClr val="FF0000"/>
                          </a:solidFill>
                          <a:latin typeface="Cambria" panose="02040503050406030204" charset="0"/>
                          <a:cs typeface="Cambria" panose="02040503050406030204" charset="0"/>
                        </a:rPr>
                        <a:t>Role</a:t>
                      </a:r>
                      <a:endParaRPr sz="18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13055">
                <a:tc>
                  <a:txBody>
                    <a:bodyPr/>
                    <a:p>
                      <a:r>
                        <a:rPr sz="1800">
                          <a:latin typeface="Cambria" panose="02040503050406030204" charset="0"/>
                          <a:cs typeface="Cambria" panose="02040503050406030204" charset="0"/>
                        </a:rPr>
                        <a:t>DispatcherServlet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800">
                          <a:latin typeface="Cambria" panose="02040503050406030204" charset="0"/>
                          <a:cs typeface="Cambria" panose="02040503050406030204" charset="0"/>
                        </a:rPr>
                        <a:t>Main front controller that handles all HTTP requests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13055">
                <a:tc>
                  <a:txBody>
                    <a:bodyPr/>
                    <a:p>
                      <a:r>
                        <a:rPr sz="1800">
                          <a:latin typeface="Cambria" panose="02040503050406030204" charset="0"/>
                          <a:cs typeface="Cambria" panose="02040503050406030204" charset="0"/>
                        </a:rPr>
                        <a:t>Controller</a:t>
                      </a:r>
                      <a:r>
                        <a:rPr lang="en-US" sz="1800">
                          <a:latin typeface="Cambria" panose="02040503050406030204" charset="0"/>
                          <a:cs typeface="Cambria" panose="02040503050406030204" charset="0"/>
                        </a:rPr>
                        <a:t>---</a:t>
                      </a:r>
                      <a:endParaRPr lang="en-US"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800">
                          <a:latin typeface="Cambria" panose="02040503050406030204" charset="0"/>
                          <a:cs typeface="Cambria" panose="02040503050406030204" charset="0"/>
                        </a:rPr>
                        <a:t>Java class to handle request methods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13055">
                <a:tc>
                  <a:txBody>
                    <a:bodyPr/>
                    <a:p>
                      <a:r>
                        <a:rPr sz="1800">
                          <a:latin typeface="Cambria" panose="02040503050406030204" charset="0"/>
                          <a:cs typeface="Cambria" panose="02040503050406030204" charset="0"/>
                        </a:rPr>
                        <a:t>ViewResolver</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800">
                          <a:latin typeface="Cambria" panose="02040503050406030204" charset="0"/>
                          <a:cs typeface="Cambria" panose="02040503050406030204" charset="0"/>
                        </a:rPr>
                        <a:t>Decides which view (HTML/JSP) to render</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13055">
                <a:tc>
                  <a:txBody>
                    <a:bodyPr/>
                    <a:p>
                      <a:r>
                        <a:rPr sz="1800">
                          <a:latin typeface="Cambria" panose="02040503050406030204" charset="0"/>
                          <a:cs typeface="Cambria" panose="02040503050406030204" charset="0"/>
                        </a:rPr>
                        <a:t>Model</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800">
                          <a:latin typeface="Cambria" panose="02040503050406030204" charset="0"/>
                          <a:cs typeface="Cambria" panose="02040503050406030204" charset="0"/>
                        </a:rPr>
                        <a:t>Contains data passed from controller to view</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13055">
                <a:tc>
                  <a:txBody>
                    <a:bodyPr/>
                    <a:p>
                      <a:r>
                        <a:rPr sz="1800">
                          <a:latin typeface="Cambria" panose="02040503050406030204" charset="0"/>
                          <a:cs typeface="Cambria" panose="02040503050406030204" charset="0"/>
                        </a:rPr>
                        <a:t>HandlerMapping</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800">
                          <a:latin typeface="Cambria" panose="02040503050406030204" charset="0"/>
                          <a:cs typeface="Cambria" panose="02040503050406030204" charset="0"/>
                        </a:rPr>
                        <a:t>Maps URL patterns to controller methods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graphicFrame>
        <p:nvGraphicFramePr>
          <p:cNvPr id="5" name="Table 4"/>
          <p:cNvGraphicFramePr/>
          <p:nvPr>
            <p:custDataLst>
              <p:tags r:id="rId2"/>
            </p:custDataLst>
          </p:nvPr>
        </p:nvGraphicFramePr>
        <p:xfrm>
          <a:off x="0" y="2611120"/>
          <a:ext cx="11953240" cy="3272155"/>
        </p:xfrm>
        <a:graphic>
          <a:graphicData uri="http://schemas.openxmlformats.org/drawingml/2006/table">
            <a:tbl>
              <a:tblPr/>
              <a:tblGrid>
                <a:gridCol w="5976620"/>
                <a:gridCol w="5976620"/>
              </a:tblGrid>
              <a:tr h="481330">
                <a:tc>
                  <a:txBody>
                    <a:bodyPr/>
                    <a:p>
                      <a:pPr algn="ctr"/>
                      <a:r>
                        <a:rPr sz="2000" b="1"/>
                        <a:t>Annotation</a:t>
                      </a:r>
                      <a:endParaRPr sz="2000" b="1"/>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2000" b="1"/>
                        <a:t>Description</a:t>
                      </a:r>
                      <a:endParaRPr sz="2000" b="1"/>
                    </a:p>
                  </a:txBody>
                  <a:tcPr marL="0" marR="0" marT="0" marB="0" anchor="ctr" anchorCtr="0">
                    <a:lnL>
                      <a:noFill/>
                    </a:lnL>
                    <a:lnR>
                      <a:noFill/>
                    </a:lnR>
                    <a:lnT>
                      <a:noFill/>
                    </a:lnT>
                    <a:lnB>
                      <a:noFill/>
                    </a:lnB>
                    <a:solidFill>
                      <a:schemeClr val="accent1">
                        <a:lumMod val="20000"/>
                        <a:lumOff val="80000"/>
                      </a:schemeClr>
                    </a:solidFill>
                  </a:tcPr>
                </a:tc>
              </a:tr>
              <a:tr h="348615">
                <a:tc>
                  <a:txBody>
                    <a:bodyPr/>
                    <a:p>
                      <a:r>
                        <a:rPr sz="1800"/>
                        <a:t>@Controller</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Marks a class as a Spring MVC controller</a:t>
                      </a:r>
                      <a:endParaRPr sz="1800"/>
                    </a:p>
                  </a:txBody>
                  <a:tcPr marL="0" marR="0" marT="0" marB="0" anchor="ctr" anchorCtr="0">
                    <a:lnL>
                      <a:noFill/>
                    </a:lnL>
                    <a:lnR>
                      <a:noFill/>
                    </a:lnR>
                    <a:lnT>
                      <a:noFill/>
                    </a:lnT>
                    <a:lnB>
                      <a:noFill/>
                    </a:lnB>
                    <a:solidFill>
                      <a:schemeClr val="accent1">
                        <a:lumMod val="20000"/>
                        <a:lumOff val="80000"/>
                      </a:schemeClr>
                    </a:solidFill>
                  </a:tcPr>
                </a:tc>
              </a:tr>
              <a:tr h="348615">
                <a:tc>
                  <a:txBody>
                    <a:bodyPr/>
                    <a:p>
                      <a:r>
                        <a:rPr sz="1800"/>
                        <a:t>@RestController</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Combines @Controller + @ResponseBody</a:t>
                      </a:r>
                      <a:endParaRPr sz="1800"/>
                    </a:p>
                  </a:txBody>
                  <a:tcPr marL="0" marR="0" marT="0" marB="0" anchor="ctr" anchorCtr="0">
                    <a:lnL>
                      <a:noFill/>
                    </a:lnL>
                    <a:lnR>
                      <a:noFill/>
                    </a:lnR>
                    <a:lnT>
                      <a:noFill/>
                    </a:lnT>
                    <a:lnB>
                      <a:noFill/>
                    </a:lnB>
                    <a:solidFill>
                      <a:schemeClr val="accent1">
                        <a:lumMod val="20000"/>
                        <a:lumOff val="80000"/>
                      </a:schemeClr>
                    </a:solidFill>
                  </a:tcPr>
                </a:tc>
              </a:tr>
              <a:tr h="349250">
                <a:tc>
                  <a:txBody>
                    <a:bodyPr/>
                    <a:p>
                      <a:r>
                        <a:rPr sz="1800"/>
                        <a:t>@RequestMapping</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Maps URLs to methods (GET, POST, etc.)</a:t>
                      </a:r>
                      <a:endParaRPr sz="1800"/>
                    </a:p>
                  </a:txBody>
                  <a:tcPr marL="0" marR="0" marT="0" marB="0" anchor="ctr" anchorCtr="0">
                    <a:lnL>
                      <a:noFill/>
                    </a:lnL>
                    <a:lnR>
                      <a:noFill/>
                    </a:lnR>
                    <a:lnT>
                      <a:noFill/>
                    </a:lnT>
                    <a:lnB>
                      <a:noFill/>
                    </a:lnB>
                    <a:solidFill>
                      <a:schemeClr val="accent1">
                        <a:lumMod val="20000"/>
                        <a:lumOff val="80000"/>
                      </a:schemeClr>
                    </a:solidFill>
                  </a:tcPr>
                </a:tc>
              </a:tr>
              <a:tr h="348615">
                <a:tc>
                  <a:txBody>
                    <a:bodyPr/>
                    <a:p>
                      <a:r>
                        <a:rPr sz="1800"/>
                        <a:t>@GetMapping, etc.</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Shortcuts for HTTP methods (GET, POST, etc.)</a:t>
                      </a:r>
                      <a:endParaRPr sz="1800"/>
                    </a:p>
                  </a:txBody>
                  <a:tcPr marL="0" marR="0" marT="0" marB="0" anchor="ctr" anchorCtr="0">
                    <a:lnL>
                      <a:noFill/>
                    </a:lnL>
                    <a:lnR>
                      <a:noFill/>
                    </a:lnR>
                    <a:lnT>
                      <a:noFill/>
                    </a:lnT>
                    <a:lnB>
                      <a:noFill/>
                    </a:lnB>
                    <a:solidFill>
                      <a:schemeClr val="accent1">
                        <a:lumMod val="20000"/>
                        <a:lumOff val="80000"/>
                      </a:schemeClr>
                    </a:solidFill>
                  </a:tcPr>
                </a:tc>
              </a:tr>
              <a:tr h="349250">
                <a:tc>
                  <a:txBody>
                    <a:bodyPr/>
                    <a:p>
                      <a:r>
                        <a:rPr sz="1800"/>
                        <a:t>@ModelAttribute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Binds form values to model objects</a:t>
                      </a:r>
                      <a:endParaRPr sz="1800"/>
                    </a:p>
                  </a:txBody>
                  <a:tcPr marL="0" marR="0" marT="0" marB="0" anchor="ctr" anchorCtr="0">
                    <a:lnL>
                      <a:noFill/>
                    </a:lnL>
                    <a:lnR>
                      <a:noFill/>
                    </a:lnR>
                    <a:lnT>
                      <a:noFill/>
                    </a:lnT>
                    <a:lnB>
                      <a:noFill/>
                    </a:lnB>
                    <a:solidFill>
                      <a:schemeClr val="accent1">
                        <a:lumMod val="20000"/>
                        <a:lumOff val="80000"/>
                      </a:schemeClr>
                    </a:solidFill>
                  </a:tcPr>
                </a:tc>
              </a:tr>
              <a:tr h="348615">
                <a:tc>
                  <a:txBody>
                    <a:bodyPr/>
                    <a:p>
                      <a:r>
                        <a:rPr sz="1800"/>
                        <a:t>@PathVariable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Binds URL segments to method parameters</a:t>
                      </a:r>
                      <a:endParaRPr sz="1800"/>
                    </a:p>
                  </a:txBody>
                  <a:tcPr marL="0" marR="0" marT="0" marB="0" anchor="ctr" anchorCtr="0">
                    <a:lnL>
                      <a:noFill/>
                    </a:lnL>
                    <a:lnR>
                      <a:noFill/>
                    </a:lnR>
                    <a:lnT>
                      <a:noFill/>
                    </a:lnT>
                    <a:lnB>
                      <a:noFill/>
                    </a:lnB>
                    <a:solidFill>
                      <a:schemeClr val="accent1">
                        <a:lumMod val="20000"/>
                        <a:lumOff val="80000"/>
                      </a:schemeClr>
                    </a:solidFill>
                  </a:tcPr>
                </a:tc>
              </a:tr>
              <a:tr h="349250">
                <a:tc>
                  <a:txBody>
                    <a:bodyPr/>
                    <a:p>
                      <a:r>
                        <a:rPr sz="1800"/>
                        <a:t>@RequestParam</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Binds request query parameters</a:t>
                      </a:r>
                      <a:endParaRPr sz="1800"/>
                    </a:p>
                  </a:txBody>
                  <a:tcPr marL="0" marR="0" marT="0" marB="0" anchor="ctr" anchorCtr="0">
                    <a:lnL>
                      <a:noFill/>
                    </a:lnL>
                    <a:lnR>
                      <a:noFill/>
                    </a:lnR>
                    <a:lnT>
                      <a:noFill/>
                    </a:lnT>
                    <a:lnB>
                      <a:noFill/>
                    </a:lnB>
                    <a:solidFill>
                      <a:schemeClr val="accent1">
                        <a:lumMod val="20000"/>
                        <a:lumOff val="80000"/>
                      </a:schemeClr>
                    </a:solidFill>
                  </a:tcPr>
                </a:tc>
              </a:tr>
              <a:tr h="348615">
                <a:tc>
                  <a:txBody>
                    <a:bodyPr/>
                    <a:p>
                      <a:r>
                        <a:rPr sz="1800"/>
                        <a:t>@ResponseBody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Sends return value directly as response</a:t>
                      </a:r>
                      <a:endParaRPr sz="1800"/>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21640"/>
          </a:xfrm>
        </p:spPr>
        <p:txBody>
          <a:bodyPr>
            <a:noAutofit/>
          </a:bodyPr>
          <a:p>
            <a:pPr algn="ctr"/>
            <a:r>
              <a:rPr lang="en-US" sz="2400" b="1">
                <a:solidFill>
                  <a:srgbClr val="FF0000"/>
                </a:solidFill>
              </a:rPr>
              <a:t>java Based Configuration</a:t>
            </a:r>
            <a:endParaRPr lang="en-US" sz="2400" b="1">
              <a:solidFill>
                <a:srgbClr val="FF0000"/>
              </a:solidFill>
            </a:endParaRPr>
          </a:p>
        </p:txBody>
      </p:sp>
      <p:graphicFrame>
        <p:nvGraphicFramePr>
          <p:cNvPr id="4" name="Table 3"/>
          <p:cNvGraphicFramePr/>
          <p:nvPr>
            <p:custDataLst>
              <p:tags r:id="rId1"/>
            </p:custDataLst>
          </p:nvPr>
        </p:nvGraphicFramePr>
        <p:xfrm>
          <a:off x="0" y="421005"/>
          <a:ext cx="11663680" cy="1645920"/>
        </p:xfrm>
        <a:graphic>
          <a:graphicData uri="http://schemas.openxmlformats.org/drawingml/2006/table">
            <a:tbl>
              <a:tblPr/>
              <a:tblGrid>
                <a:gridCol w="5831840"/>
                <a:gridCol w="5831840"/>
              </a:tblGrid>
              <a:tr h="274320">
                <a:tc>
                  <a:txBody>
                    <a:bodyPr/>
                    <a:p>
                      <a:r>
                        <a:rPr sz="1800"/>
                        <a:t>Component</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Purpose</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WebAppInitializer</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Replaces web.xml; initializes Spring MVC</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WebConfig</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Java-based Spring MVC config</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@EnableWebMvc</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Enables MVC defaults</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@ComponentScan</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Finds controllers</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ViewResolver</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Maps return strings to JSP pages</a:t>
                      </a:r>
                      <a:endParaRPr sz="1800"/>
                    </a:p>
                  </a:txBody>
                  <a:tcPr marL="0" marR="0" marT="0" marB="0" anchor="ctr" anchorCtr="0">
                    <a:lnL>
                      <a:noFill/>
                    </a:lnL>
                    <a:lnR>
                      <a:noFill/>
                    </a:lnR>
                    <a:lnT>
                      <a:noFill/>
                    </a:lnT>
                    <a:lnB>
                      <a:noFill/>
                    </a:lnB>
                    <a:solidFill>
                      <a:schemeClr val="accent2">
                        <a:lumMod val="40000"/>
                        <a:lumOff val="60000"/>
                      </a:schemeClr>
                    </a:solidFill>
                  </a:tcPr>
                </a:tc>
              </a:tr>
            </a:tbl>
          </a:graphicData>
        </a:graphic>
      </p:graphicFrame>
      <p:sp>
        <p:nvSpPr>
          <p:cNvPr id="5" name="Text Box 4"/>
          <p:cNvSpPr txBox="1"/>
          <p:nvPr/>
        </p:nvSpPr>
        <p:spPr>
          <a:xfrm>
            <a:off x="0" y="2341245"/>
            <a:ext cx="5452745" cy="4246245"/>
          </a:xfrm>
          <a:prstGeom prst="rect">
            <a:avLst/>
          </a:prstGeom>
          <a:noFill/>
        </p:spPr>
        <p:txBody>
          <a:bodyPr wrap="square" rtlCol="0" anchor="t">
            <a:spAutoFit/>
          </a:bodyPr>
          <a:p>
            <a:r>
              <a:rPr lang="en-US" altLang="en-US"/>
              <a:t>@Configuration</a:t>
            </a:r>
            <a:endParaRPr lang="en-US" altLang="en-US"/>
          </a:p>
          <a:p>
            <a:r>
              <a:rPr lang="en-US" altLang="en-US"/>
              <a:t>@EnableWebMvc</a:t>
            </a:r>
            <a:endParaRPr lang="en-US" altLang="en-US"/>
          </a:p>
          <a:p>
            <a:r>
              <a:rPr lang="en-US" altLang="en-US"/>
              <a:t>@ComponentScan(basePackages = "com.example")</a:t>
            </a:r>
            <a:endParaRPr lang="en-US" altLang="en-US"/>
          </a:p>
          <a:p>
            <a:r>
              <a:rPr lang="en-US" altLang="en-US"/>
              <a:t>public class WebConfig implements WebMvcConfigurer {</a:t>
            </a:r>
            <a:endParaRPr lang="en-US" altLang="en-US"/>
          </a:p>
          <a:p>
            <a:endParaRPr lang="en-US" altLang="en-US"/>
          </a:p>
          <a:p>
            <a:r>
              <a:rPr lang="en-US" altLang="en-US"/>
              <a:t>    @Override</a:t>
            </a:r>
            <a:endParaRPr lang="en-US" altLang="en-US"/>
          </a:p>
          <a:p>
            <a:r>
              <a:rPr lang="en-US" altLang="en-US"/>
              <a:t>    public void configureViewResolvers(ViewResolverRegistry registry) {</a:t>
            </a:r>
            <a:endParaRPr lang="en-US" altLang="en-US"/>
          </a:p>
          <a:p>
            <a:r>
              <a:rPr lang="en-US" altLang="en-US"/>
              <a:t>        InternalResourceViewResolver resolver = new InternalResourceViewResolver();</a:t>
            </a:r>
            <a:endParaRPr lang="en-US" altLang="en-US"/>
          </a:p>
          <a:p>
            <a:r>
              <a:rPr lang="en-US" altLang="en-US"/>
              <a:t>        resolver.setPrefix("/WEB-INF/views/");</a:t>
            </a:r>
            <a:endParaRPr lang="en-US" altLang="en-US"/>
          </a:p>
          <a:p>
            <a:r>
              <a:rPr lang="en-US" altLang="en-US"/>
              <a:t>        resolver.setSuffix(".jsp");</a:t>
            </a:r>
            <a:endParaRPr lang="en-US" altLang="en-US"/>
          </a:p>
          <a:p>
            <a:r>
              <a:rPr lang="en-US" altLang="en-US"/>
              <a:t>        registry.viewResolver(resolver);</a:t>
            </a:r>
            <a:endParaRPr lang="en-US" altLang="en-US"/>
          </a:p>
          <a:p>
            <a:r>
              <a:rPr lang="en-US" altLang="en-US"/>
              <a:t>    }</a:t>
            </a:r>
            <a:endParaRPr lang="en-US" altLang="en-US"/>
          </a:p>
          <a:p>
            <a:r>
              <a:rPr lang="en-US" altLang="en-US"/>
              <a:t>}</a:t>
            </a:r>
            <a:endParaRPr lang="en-US"/>
          </a:p>
        </p:txBody>
      </p:sp>
      <p:sp>
        <p:nvSpPr>
          <p:cNvPr id="6" name="Text Box 5"/>
          <p:cNvSpPr txBox="1"/>
          <p:nvPr/>
        </p:nvSpPr>
        <p:spPr>
          <a:xfrm>
            <a:off x="5826760" y="2149475"/>
            <a:ext cx="6096000" cy="4799965"/>
          </a:xfrm>
          <a:prstGeom prst="rect">
            <a:avLst/>
          </a:prstGeom>
          <a:noFill/>
        </p:spPr>
        <p:txBody>
          <a:bodyPr wrap="square" rtlCol="0" anchor="t">
            <a:spAutoFit/>
          </a:bodyPr>
          <a:p>
            <a:r>
              <a:rPr lang="en-US" altLang="en-US"/>
              <a:t>public class MyWebAppInitializer implements WebApplicationInitializer {</a:t>
            </a:r>
            <a:endParaRPr lang="en-US" altLang="en-US"/>
          </a:p>
          <a:p>
            <a:endParaRPr lang="en-US" altLang="en-US"/>
          </a:p>
          <a:p>
            <a:r>
              <a:rPr lang="en-US" altLang="en-US"/>
              <a:t>    @Override</a:t>
            </a:r>
            <a:endParaRPr lang="en-US" altLang="en-US"/>
          </a:p>
          <a:p>
            <a:r>
              <a:rPr lang="en-US" altLang="en-US"/>
              <a:t>    public void onStartup(ServletContext container) throws ServletException {</a:t>
            </a:r>
            <a:endParaRPr lang="en-US" altLang="en-US"/>
          </a:p>
          <a:p>
            <a:endParaRPr lang="en-US" altLang="en-US"/>
          </a:p>
          <a:p>
            <a:r>
              <a:rPr lang="en-US" altLang="en-US"/>
              <a:t>        AnnotationConfigWebApplicationContext context = new AnnotationConfigWebApplicationContext();</a:t>
            </a:r>
            <a:endParaRPr lang="en-US" altLang="en-US"/>
          </a:p>
          <a:p>
            <a:r>
              <a:rPr lang="en-US" altLang="en-US"/>
              <a:t>        context.register(WebConfig.class);</a:t>
            </a:r>
            <a:endParaRPr lang="en-US" altLang="en-US"/>
          </a:p>
          <a:p>
            <a:r>
              <a:rPr lang="en-US" altLang="en-US"/>
              <a:t>        ServletRegistration.Dynamic dispatcher =</a:t>
            </a:r>
            <a:endParaRPr lang="en-US" altLang="en-US"/>
          </a:p>
          <a:p>
            <a:r>
              <a:rPr lang="en-US" altLang="en-US"/>
              <a:t>                container.addServlet("dispatcher", new DispatcherServlet(context));</a:t>
            </a:r>
            <a:endParaRPr lang="en-US" altLang="en-US"/>
          </a:p>
          <a:p>
            <a:r>
              <a:rPr lang="en-US" altLang="en-US"/>
              <a:t>        dispatcher.setLoadOnStartup(1);</a:t>
            </a:r>
            <a:endParaRPr lang="en-US" altLang="en-US"/>
          </a:p>
          <a:p>
            <a:r>
              <a:rPr lang="en-US" altLang="en-US"/>
              <a:t>        dispatcher.addMapping("/");</a:t>
            </a:r>
            <a:endParaRPr lang="en-US" altLang="en-US"/>
          </a:p>
          <a:p>
            <a:r>
              <a:rPr lang="en-US" altLang="en-US"/>
              <a:t>    }</a:t>
            </a:r>
            <a:endParaRPr lang="en-US" altLang="en-US"/>
          </a:p>
          <a:p>
            <a:r>
              <a:rPr lang="en-US" altLang="en-US"/>
              <a:t>}</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532130"/>
          </a:xfrm>
        </p:spPr>
        <p:txBody>
          <a:bodyPr/>
          <a:p>
            <a:pPr algn="ctr"/>
            <a:r>
              <a:rPr lang="en-US" sz="2400" b="1">
                <a:solidFill>
                  <a:srgbClr val="FF0000"/>
                </a:solidFill>
              </a:rPr>
              <a:t>Dependencies for spring java based configuration</a:t>
            </a:r>
            <a:endParaRPr lang="en-US" sz="2400" b="1">
              <a:solidFill>
                <a:srgbClr val="FF0000"/>
              </a:solidFill>
            </a:endParaRPr>
          </a:p>
        </p:txBody>
      </p:sp>
      <p:sp>
        <p:nvSpPr>
          <p:cNvPr id="3" name="Content Placeholder 2"/>
          <p:cNvSpPr>
            <a:spLocks noGrp="1"/>
          </p:cNvSpPr>
          <p:nvPr>
            <p:ph idx="1"/>
          </p:nvPr>
        </p:nvSpPr>
        <p:spPr>
          <a:xfrm>
            <a:off x="180975" y="429260"/>
            <a:ext cx="11828780" cy="6322060"/>
          </a:xfrm>
        </p:spPr>
        <p:txBody>
          <a:bodyPr>
            <a:normAutofit fontScale="60000"/>
          </a:bodyPr>
          <a:p>
            <a:pPr marL="0" indent="0">
              <a:buNone/>
            </a:pPr>
            <a:r>
              <a:rPr lang="en-US" altLang="en-US"/>
              <a:t>&lt;dependencies&gt;</a:t>
            </a:r>
            <a:endParaRPr lang="en-US" altLang="en-US"/>
          </a:p>
          <a:p>
            <a:pPr marL="0" indent="0">
              <a:buNone/>
            </a:pPr>
            <a:r>
              <a:rPr lang="en-US" altLang="en-US"/>
              <a:t>    &lt;!-- Spring MVC --&gt;</a:t>
            </a:r>
            <a:endParaRPr lang="en-US" altLang="en-US"/>
          </a:p>
          <a:p>
            <a:pPr marL="0" indent="0">
              <a:buNone/>
            </a:pPr>
            <a:r>
              <a:rPr lang="en-US" altLang="en-US"/>
              <a:t>    &lt;dependency&gt;</a:t>
            </a:r>
            <a:endParaRPr lang="en-US" altLang="en-US"/>
          </a:p>
          <a:p>
            <a:pPr marL="0" indent="0">
              <a:buNone/>
            </a:pPr>
            <a:r>
              <a:rPr lang="en-US" altLang="en-US"/>
              <a:t>        &lt;groupId&gt;org.springframework&lt;/groupId&gt;</a:t>
            </a:r>
            <a:endParaRPr lang="en-US" altLang="en-US"/>
          </a:p>
          <a:p>
            <a:pPr marL="0" indent="0">
              <a:buNone/>
            </a:pPr>
            <a:r>
              <a:rPr lang="en-US" altLang="en-US"/>
              <a:t>        &lt;artifactId&gt;spring-webmvc&lt;/artifactId&gt;</a:t>
            </a:r>
            <a:endParaRPr lang="en-US" altLang="en-US"/>
          </a:p>
          <a:p>
            <a:pPr marL="0" indent="0">
              <a:buNone/>
            </a:pPr>
            <a:r>
              <a:rPr lang="en-US" altLang="en-US"/>
              <a:t>        &lt;version&gt;5.3.39&lt;/version&gt;</a:t>
            </a:r>
            <a:endParaRPr lang="en-US" altLang="en-US"/>
          </a:p>
          <a:p>
            <a:pPr marL="0" indent="0">
              <a:buNone/>
            </a:pPr>
            <a:r>
              <a:rPr lang="en-US" altLang="en-US"/>
              <a:t>    &lt;/dependency&gt;</a:t>
            </a:r>
            <a:endParaRPr lang="en-US" altLang="en-US"/>
          </a:p>
          <a:p>
            <a:pPr marL="0" indent="0">
              <a:buNone/>
            </a:pPr>
            <a:endParaRPr lang="en-US" altLang="en-US"/>
          </a:p>
          <a:p>
            <a:pPr marL="0" indent="0">
              <a:buNone/>
            </a:pPr>
            <a:r>
              <a:rPr lang="en-US" altLang="en-US"/>
              <a:t>    &lt;!-- Servlet API --&gt;</a:t>
            </a:r>
            <a:endParaRPr lang="en-US" altLang="en-US"/>
          </a:p>
          <a:p>
            <a:pPr marL="0" indent="0">
              <a:buNone/>
            </a:pPr>
            <a:r>
              <a:rPr lang="en-US" altLang="en-US"/>
              <a:t>    &lt;dependency&gt;</a:t>
            </a:r>
            <a:endParaRPr lang="en-US" altLang="en-US"/>
          </a:p>
          <a:p>
            <a:pPr marL="0" indent="0">
              <a:buNone/>
            </a:pPr>
            <a:r>
              <a:rPr lang="en-US" altLang="en-US"/>
              <a:t>        &lt;groupId&gt;jakarta.servlet&lt;/groupId&gt;</a:t>
            </a:r>
            <a:endParaRPr lang="en-US" altLang="en-US"/>
          </a:p>
          <a:p>
            <a:pPr marL="0" indent="0">
              <a:buNone/>
            </a:pPr>
            <a:r>
              <a:rPr lang="en-US" altLang="en-US"/>
              <a:t>        &lt;artifactId&gt;jakarta.servlet-api&lt;/artifactId&gt;</a:t>
            </a:r>
            <a:endParaRPr lang="en-US" altLang="en-US"/>
          </a:p>
          <a:p>
            <a:pPr marL="0" indent="0">
              <a:buNone/>
            </a:pPr>
            <a:r>
              <a:rPr lang="en-US" altLang="en-US"/>
              <a:t>        &lt;version&gt;5.0.0&lt;/version&gt;</a:t>
            </a:r>
            <a:endParaRPr lang="en-US" altLang="en-US"/>
          </a:p>
          <a:p>
            <a:pPr marL="0" indent="0">
              <a:buNone/>
            </a:pPr>
            <a:r>
              <a:rPr lang="en-US" altLang="en-US"/>
              <a:t>        &lt;scope&gt;provided&lt;/scope&gt;</a:t>
            </a:r>
            <a:endParaRPr lang="en-US" altLang="en-US"/>
          </a:p>
          <a:p>
            <a:pPr marL="0" indent="0">
              <a:buNone/>
            </a:pPr>
            <a:r>
              <a:rPr lang="en-US" altLang="en-US"/>
              <a:t>    &lt;/dependency&gt;</a:t>
            </a:r>
            <a:endParaRPr lang="en-US" altLang="en-US"/>
          </a:p>
          <a:p>
            <a:pPr marL="0" indent="0">
              <a:buNone/>
            </a:pPr>
            <a:r>
              <a:rPr lang="en-US" altLang="en-US"/>
              <a:t>&lt;/dependencies&gt;</a:t>
            </a:r>
            <a:endParaRPr lang="en-US" altLang="en-US"/>
          </a:p>
          <a:p>
            <a:pPr marL="0" indent="0">
              <a:buNone/>
            </a:pPr>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7800" y="0"/>
            <a:ext cx="11353800" cy="340995"/>
          </a:xfrm>
        </p:spPr>
        <p:txBody>
          <a:bodyPr>
            <a:normAutofit fontScale="90000"/>
          </a:bodyPr>
          <a:p>
            <a:pPr algn="ctr"/>
            <a:r>
              <a:rPr lang="en-US" altLang="en-US" sz="2000" b="1">
                <a:solidFill>
                  <a:srgbClr val="FF0000"/>
                </a:solidFill>
                <a:sym typeface="+mn-ea"/>
              </a:rPr>
              <a:t>What is @ModelAttribute in Spring MVC?</a:t>
            </a:r>
            <a:endParaRPr lang="en-US" altLang="en-US" sz="2000" b="1">
              <a:solidFill>
                <a:srgbClr val="FF0000"/>
              </a:solidFill>
              <a:sym typeface="+mn-ea"/>
            </a:endParaRPr>
          </a:p>
        </p:txBody>
      </p:sp>
      <p:sp>
        <p:nvSpPr>
          <p:cNvPr id="3" name="Content Placeholder 2"/>
          <p:cNvSpPr>
            <a:spLocks noGrp="1"/>
          </p:cNvSpPr>
          <p:nvPr>
            <p:ph idx="1"/>
          </p:nvPr>
        </p:nvSpPr>
        <p:spPr>
          <a:xfrm>
            <a:off x="635" y="340360"/>
            <a:ext cx="12020550" cy="6517640"/>
          </a:xfrm>
        </p:spPr>
        <p:txBody>
          <a:bodyPr>
            <a:normAutofit lnSpcReduction="20000"/>
          </a:bodyPr>
          <a:p>
            <a:pPr marL="0" indent="0">
              <a:buNone/>
            </a:pPr>
            <a:r>
              <a:rPr lang="en-US" altLang="en-US" sz="1800"/>
              <a:t>&lt;% page isELIgnored=”false” %&gt;</a:t>
            </a:r>
            <a:endParaRPr lang="en-US" altLang="en-US" sz="1800"/>
          </a:p>
          <a:p>
            <a:pPr marL="0" indent="0">
              <a:buNone/>
            </a:pPr>
            <a:endParaRPr lang="en-US" altLang="en-US" sz="1800"/>
          </a:p>
          <a:p>
            <a:pPr marL="0" indent="0">
              <a:buNone/>
            </a:pPr>
            <a:r>
              <a:rPr lang="en-US" altLang="en-US" sz="1800"/>
              <a:t>@ModelAttribute is an annotation used in controllers to:</a:t>
            </a:r>
            <a:endParaRPr lang="en-US" altLang="en-US" sz="1800"/>
          </a:p>
          <a:p>
            <a:pPr marL="0" indent="0">
              <a:buNone/>
            </a:pPr>
            <a:r>
              <a:rPr lang="en-US" altLang="en-US" sz="1800"/>
              <a:t>1 Bind form data (HTTP request parameters) to a Java object</a:t>
            </a:r>
            <a:endParaRPr lang="en-US" altLang="en-US" sz="1800"/>
          </a:p>
          <a:p>
            <a:pPr marL="0" indent="0">
              <a:buNone/>
            </a:pPr>
            <a:r>
              <a:rPr lang="en-US" altLang="en-US" sz="1800"/>
              <a:t>2 Add that object to the Model so it can be used in the View (JSP/HTML)</a:t>
            </a:r>
            <a:endParaRPr lang="en-US" altLang="en-US" sz="1800"/>
          </a:p>
          <a:p>
            <a:pPr marL="0" indent="0">
              <a:buNone/>
            </a:pPr>
            <a:r>
              <a:rPr lang="en-US" altLang="en-US" sz="1800"/>
              <a:t>3 Pre-populate common data for all controllers (optional)</a:t>
            </a:r>
            <a:endParaRPr lang="en-US" altLang="en-US" sz="1800"/>
          </a:p>
          <a:p>
            <a:pPr marL="0" indent="0">
              <a:buNone/>
            </a:pPr>
            <a:endParaRPr lang="en-US" altLang="en-US" sz="1800"/>
          </a:p>
          <a:p>
            <a:pPr marL="0" indent="0">
              <a:buNone/>
            </a:pPr>
            <a:r>
              <a:rPr lang="en-US" altLang="en-US" sz="1800"/>
              <a:t>1. To automatically bind form data to a Java bean</a:t>
            </a:r>
            <a:endParaRPr lang="en-US" altLang="en-US" sz="1800"/>
          </a:p>
          <a:p>
            <a:pPr marL="0" indent="0">
              <a:buNone/>
            </a:pPr>
            <a:r>
              <a:rPr lang="en-US" altLang="en-US" sz="1800"/>
              <a:t>Instead of writing:</a:t>
            </a:r>
            <a:endParaRPr lang="en-US" altLang="en-US" sz="1800"/>
          </a:p>
          <a:p>
            <a:pPr marL="0" indent="0">
              <a:buNone/>
            </a:pPr>
            <a:r>
              <a:rPr lang="en-US" altLang="en-US" sz="1800"/>
              <a:t>String name = request.getParameter("name");</a:t>
            </a:r>
            <a:endParaRPr lang="en-US" altLang="en-US" sz="1800"/>
          </a:p>
          <a:p>
            <a:pPr marL="0" indent="0">
              <a:buNone/>
            </a:pPr>
            <a:r>
              <a:rPr lang="en-US" altLang="en-US" sz="1800"/>
              <a:t>int age = Integer.parseInt(request.getParameter("age"));</a:t>
            </a:r>
            <a:endParaRPr lang="en-US" altLang="en-US" sz="1800"/>
          </a:p>
          <a:p>
            <a:pPr marL="0" indent="0">
              <a:buNone/>
            </a:pPr>
            <a:r>
              <a:rPr lang="en-US" altLang="en-US" sz="1800"/>
              <a:t>public String save(@ModelAttribute User user)</a:t>
            </a:r>
            <a:endParaRPr lang="en-US" altLang="en-US" sz="1800"/>
          </a:p>
          <a:p>
            <a:pPr marL="0" indent="0">
              <a:buNone/>
            </a:pPr>
            <a:endParaRPr lang="en-US" altLang="en-US" sz="1800"/>
          </a:p>
          <a:p>
            <a:pPr marL="0" indent="0">
              <a:buNone/>
            </a:pPr>
            <a:r>
              <a:rPr lang="en-US" altLang="en-US" sz="1800"/>
              <a:t>Spring will fill the User object automatically using form field names.</a:t>
            </a:r>
            <a:endParaRPr lang="en-US" altLang="en-US" sz="1800"/>
          </a:p>
          <a:p>
            <a:pPr marL="0" indent="0">
              <a:buNone/>
            </a:pPr>
            <a:r>
              <a:rPr lang="en-US" altLang="en-US" sz="1800"/>
              <a:t> 2. To reduce boilerplate (less code)</a:t>
            </a:r>
            <a:endParaRPr lang="en-US" altLang="en-US" sz="1800"/>
          </a:p>
          <a:p>
            <a:pPr marL="0" indent="0">
              <a:buNone/>
            </a:pPr>
            <a:r>
              <a:rPr lang="en-US" altLang="en-US" sz="1800"/>
              <a:t>It avoids manual parsing and request handling.</a:t>
            </a:r>
            <a:endParaRPr lang="en-US" altLang="en-US" sz="1800"/>
          </a:p>
          <a:p>
            <a:pPr marL="0" indent="0">
              <a:buNone/>
            </a:pPr>
            <a:r>
              <a:rPr lang="en-US" altLang="en-US" sz="1800"/>
              <a:t> 3. To pass model data to the view automatically</a:t>
            </a:r>
            <a:endParaRPr lang="en-US" altLang="en-US" sz="1800"/>
          </a:p>
          <a:p>
            <a:pPr marL="0" indent="0">
              <a:buNone/>
            </a:pPr>
            <a:r>
              <a:rPr lang="en-US" altLang="en-US" sz="1800"/>
              <a:t>Any @ModelAttribute object is placed into the model so JSP/HTML can access it.</a:t>
            </a:r>
            <a:endParaRPr lang="en-US" altLang="en-US" sz="1800"/>
          </a:p>
          <a:p>
            <a:pPr marL="0" indent="0">
              <a:buNone/>
            </a:pPr>
            <a:r>
              <a:rPr lang="en-US" altLang="en-US" sz="1800"/>
              <a:t> 4. To provide common data for multiple pages</a:t>
            </a:r>
            <a:endParaRPr lang="en-US" altLang="en-US" sz="1800"/>
          </a:p>
          <a:p>
            <a:pPr marL="0" indent="0">
              <a:buNone/>
            </a:pPr>
            <a:r>
              <a:rPr lang="en-US" altLang="en-US" sz="1800"/>
              <a:t>You can use @ModelAttribute on a method to add data to the model before every request handler runs.</a:t>
            </a:r>
            <a:endParaRPr lang="en-US" altLang="en-US" sz="1800"/>
          </a:p>
        </p:txBody>
      </p:sp>
    </p:spTree>
  </p:cSld>
  <p:clrMapOvr>
    <a:masterClrMapping/>
  </p:clrMapOvr>
</p:sld>
</file>

<file path=ppt/tags/tag1.xml><?xml version="1.0" encoding="utf-8"?>
<p:tagLst xmlns:p="http://schemas.openxmlformats.org/presentationml/2006/main">
  <p:tag name="TABLE_ENDDRAG_ORIGIN_RECT" val="935*241"/>
  <p:tag name="TABLE_ENDDRAG_RECT" val="12*46*935*241"/>
</p:tagLst>
</file>

<file path=ppt/tags/tag2.xml><?xml version="1.0" encoding="utf-8"?>
<p:tagLst xmlns:p="http://schemas.openxmlformats.org/presentationml/2006/main">
  <p:tag name="TABLE_ENDDRAG_ORIGIN_RECT" val="926*153"/>
  <p:tag name="TABLE_ENDDRAG_RECT" val="20*375*926*153"/>
</p:tagLst>
</file>

<file path=ppt/tags/tag3.xml><?xml version="1.0" encoding="utf-8"?>
<p:tagLst xmlns:p="http://schemas.openxmlformats.org/presentationml/2006/main">
  <p:tag name="TABLE_ENDDRAG_ORIGIN_RECT" val="938*138"/>
  <p:tag name="TABLE_ENDDRAG_RECT" val="8*171*939*138"/>
</p:tagLst>
</file>

<file path=ppt/tags/tag4.xml><?xml version="1.0" encoding="utf-8"?>
<p:tagLst xmlns:p="http://schemas.openxmlformats.org/presentationml/2006/main">
  <p:tag name="TABLE_ENDDRAG_ORIGIN_RECT" val="921*180"/>
  <p:tag name="TABLE_ENDDRAG_RECT" val="25*21*921*180"/>
</p:tagLst>
</file>

<file path=ppt/tags/tag5.xml><?xml version="1.0" encoding="utf-8"?>
<p:tagLst xmlns:p="http://schemas.openxmlformats.org/presentationml/2006/main">
  <p:tag name="TABLE_ENDDRAG_ORIGIN_RECT" val="942*179"/>
  <p:tag name="TABLE_ENDDRAG_RECT" val="9*348*942*179"/>
</p:tagLst>
</file>

<file path=ppt/tags/tag6.xml><?xml version="1.0" encoding="utf-8"?>
<p:tagLst xmlns:p="http://schemas.openxmlformats.org/presentationml/2006/main">
  <p:tag name="TABLE_ENDDRAG_ORIGIN_RECT" val="926*211"/>
  <p:tag name="TABLE_ENDDRAG_RECT" val="11*45*926*211"/>
</p:tagLst>
</file>

<file path=ppt/tags/tag7.xml><?xml version="1.0" encoding="utf-8"?>
<p:tagLst xmlns:p="http://schemas.openxmlformats.org/presentationml/2006/main">
  <p:tag name="TABLE_ENDDRAG_ORIGIN_RECT" val="943*232"/>
  <p:tag name="TABLE_ENDDRAG_RECT" val="7*290*943*232"/>
</p:tagLst>
</file>

<file path=ppt/tags/tag8.xml><?xml version="1.0" encoding="utf-8"?>
<p:tagLst xmlns:p="http://schemas.openxmlformats.org/presentationml/2006/main">
  <p:tag name="TABLE_ENDDRAG_ORIGIN_RECT" val="935*244"/>
  <p:tag name="TABLE_ENDDRAG_RECT" val="11*288*935*244"/>
</p:tagLst>
</file>

<file path=ppt/tags/tag9.xml><?xml version="1.0" encoding="utf-8"?>
<p:tagLst xmlns:p="http://schemas.openxmlformats.org/presentationml/2006/main">
  <p:tag name="TABLE_ENDDRAG_ORIGIN_RECT" val="931*246"/>
  <p:tag name="TABLE_ENDDRAG_RECT" val="0*284*931*246"/>
</p:tagLst>
</file>

<file path=ppt/tags/tag10.xml><?xml version="1.0" encoding="utf-8"?>
<p:tagLst xmlns:p="http://schemas.openxmlformats.org/presentationml/2006/main">
  <p:tag name="TABLE_ENDDRAG_ORIGIN_RECT" val="910*164"/>
  <p:tag name="TABLE_ENDDRAG_RECT" val="12*85*910*164"/>
</p:tagLst>
</file>

<file path=ppt/tags/tag11.xml><?xml version="1.0" encoding="utf-8"?>
<p:tagLst xmlns:p="http://schemas.openxmlformats.org/presentationml/2006/main">
  <p:tag name="TABLE_ENDDRAG_ORIGIN_RECT" val="942*539"/>
  <p:tag name="TABLE_ENDDRAG_RECT" val="8*0*942*540"/>
</p:tagLst>
</file>

<file path=ppt/tags/tag12.xml><?xml version="1.0" encoding="utf-8"?>
<p:tagLst xmlns:p="http://schemas.openxmlformats.org/presentationml/2006/main">
  <p:tag name="TABLE_ENDDRAG_ORIGIN_RECT" val="939*282"/>
  <p:tag name="TABLE_ENDDRAG_RECT" val="9*90*939*282"/>
</p:tagLst>
</file>

<file path=ppt/tags/tag13.xml><?xml version="1.0" encoding="utf-8"?>
<p:tagLst xmlns:p="http://schemas.openxmlformats.org/presentationml/2006/main">
  <p:tag name="TABLE_ENDDRAG_ORIGIN_RECT" val="945*99"/>
  <p:tag name="TABLE_ENDDRAG_RECT" val="0*440*945*99"/>
</p:tagLst>
</file>

<file path=ppt/tags/tag14.xml><?xml version="1.0" encoding="utf-8"?>
<p:tagLst xmlns:p="http://schemas.openxmlformats.org/presentationml/2006/main">
  <p:tag name="TABLE_ENDDRAG_ORIGIN_RECT" val="627*264"/>
  <p:tag name="TABLE_ENDDRAG_RECT" val="323*261*627*264"/>
</p:tagLst>
</file>

<file path=ppt/tags/tag15.xml><?xml version="1.0" encoding="utf-8"?>
<p:tagLst xmlns:p="http://schemas.openxmlformats.org/presentationml/2006/main">
  <p:tag name="TABLE_ENDDRAG_ORIGIN_RECT" val="936*283"/>
  <p:tag name="TABLE_ENDDRAG_RECT" val="0*166*936*283"/>
</p:tagLst>
</file>

<file path=ppt/tags/tag16.xml><?xml version="1.0" encoding="utf-8"?>
<p:tagLst xmlns:p="http://schemas.openxmlformats.org/presentationml/2006/main">
  <p:tag name="TABLE_ENDDRAG_ORIGIN_RECT" val="938*123"/>
  <p:tag name="TABLE_ENDDRAG_RECT" val="10*287*938*123"/>
</p:tagLst>
</file>

<file path=ppt/tags/tag17.xml><?xml version="1.0" encoding="utf-8"?>
<p:tagLst xmlns:p="http://schemas.openxmlformats.org/presentationml/2006/main">
  <p:tag name="TABLE_ENDDRAG_ORIGIN_RECT" val="652*144"/>
  <p:tag name="TABLE_ENDDRAG_RECT" val="299*140*652*144"/>
</p:tagLst>
</file>

<file path=ppt/tags/tag18.xml><?xml version="1.0" encoding="utf-8"?>
<p:tagLst xmlns:p="http://schemas.openxmlformats.org/presentationml/2006/main">
  <p:tag name="TABLE_ENDDRAG_ORIGIN_RECT" val="935*125"/>
  <p:tag name="TABLE_ENDDRAG_RECT" val="14*237*935*125"/>
</p:tagLst>
</file>

<file path=ppt/tags/tag19.xml><?xml version="1.0" encoding="utf-8"?>
<p:tagLst xmlns:p="http://schemas.openxmlformats.org/presentationml/2006/main">
  <p:tag name="TABLE_ENDDRAG_ORIGIN_RECT" val="932*128"/>
  <p:tag name="TABLE_ENDDRAG_RECT" val="14*364*932*128"/>
</p:tagLst>
</file>

<file path=ppt/tags/tag20.xml><?xml version="1.0" encoding="utf-8"?>
<p:tagLst xmlns:p="http://schemas.openxmlformats.org/presentationml/2006/main">
  <p:tag name="TABLE_ENDDRAG_ORIGIN_RECT" val="910*147"/>
  <p:tag name="TABLE_ENDDRAG_RECT" val="16*42*910*147"/>
</p:tagLst>
</file>

<file path=ppt/tags/tag21.xml><?xml version="1.0" encoding="utf-8"?>
<p:tagLst xmlns:p="http://schemas.openxmlformats.org/presentationml/2006/main">
  <p:tag name="TABLE_ENDDRAG_ORIGIN_RECT" val="941*257"/>
  <p:tag name="TABLE_ENDDRAG_RECT" val="0*205*941*257"/>
</p:tagLst>
</file>

<file path=ppt/tags/tag22.xml><?xml version="1.0" encoding="utf-8"?>
<p:tagLst xmlns:p="http://schemas.openxmlformats.org/presentationml/2006/main">
  <p:tag name="TABLE_ENDDRAG_ORIGIN_RECT" val="918*110"/>
  <p:tag name="TABLE_ENDDRAG_RECT" val="10*43*918*11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33251</Words>
  <Application>WPS Presentation</Application>
  <PresentationFormat>Widescreen</PresentationFormat>
  <Paragraphs>1394</Paragraphs>
  <Slides>43</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5" baseType="lpstr">
      <vt:lpstr>Arial</vt:lpstr>
      <vt:lpstr>SimSun</vt:lpstr>
      <vt:lpstr>Wingdings</vt:lpstr>
      <vt:lpstr>Arial</vt:lpstr>
      <vt:lpstr>Cambria</vt:lpstr>
      <vt:lpstr>Calibri Light</vt:lpstr>
      <vt:lpstr>Calibri</vt:lpstr>
      <vt:lpstr>Microsoft YaHei</vt:lpstr>
      <vt:lpstr>Arial Unicode MS</vt:lpstr>
      <vt:lpstr>Consolas</vt:lpstr>
      <vt:lpstr>Office Theme</vt:lpstr>
      <vt:lpstr>Package</vt:lpstr>
      <vt:lpstr> Key Differences</vt:lpstr>
      <vt:lpstr>Prerequisites for this Module</vt:lpstr>
      <vt:lpstr>Configuration </vt:lpstr>
      <vt:lpstr>Coupling in Java and Spring</vt:lpstr>
      <vt:lpstr>PowerPoint 演示文稿</vt:lpstr>
      <vt:lpstr>Spring Syllabus</vt:lpstr>
      <vt:lpstr>what is Framework</vt:lpstr>
      <vt:lpstr>Examples of Frameworks (with Related Technologies)</vt:lpstr>
      <vt:lpstr>Introduction to Spring Framework</vt:lpstr>
      <vt:lpstr>Spring Framework </vt:lpstr>
      <vt:lpstr>PowerPoint 演示文稿</vt:lpstr>
      <vt:lpstr>Applications of Spring Framework</vt:lpstr>
      <vt:lpstr>Why Spring Framework</vt:lpstr>
      <vt:lpstr>PowerPoint 演示文稿</vt:lpstr>
      <vt:lpstr>Spring New Project</vt:lpstr>
      <vt:lpstr>PowerPoint 演示文稿</vt:lpstr>
      <vt:lpstr>Project Folder Imp</vt:lpstr>
      <vt:lpstr>Spring Annotations</vt:lpstr>
      <vt:lpstr>1. What is a Spring Bean?</vt:lpstr>
      <vt:lpstr>Spring Container</vt:lpstr>
      <vt:lpstr>Spring Application Context Container</vt:lpstr>
      <vt:lpstr>difference between spring two basic container</vt:lpstr>
      <vt:lpstr>Why spring-context?</vt:lpstr>
      <vt:lpstr>Constructor Injection</vt:lpstr>
      <vt:lpstr>Spring Setter Injection</vt:lpstr>
      <vt:lpstr>Field Injection</vt:lpstr>
      <vt:lpstr>Spring Autowiring</vt:lpstr>
      <vt:lpstr>Spring With Scope</vt:lpstr>
      <vt:lpstr>Spring With JDBC</vt:lpstr>
      <vt:lpstr>PowerPoint 演示文稿</vt:lpstr>
      <vt:lpstr>PowerPoint 演示文稿</vt:lpstr>
      <vt:lpstr>PowerPoint 演示文稿</vt:lpstr>
      <vt:lpstr>Spring MVC </vt:lpstr>
      <vt:lpstr>PowerPoint 演示文稿</vt:lpstr>
      <vt:lpstr>DispatcherServlet</vt:lpstr>
      <vt:lpstr>PowerPoint 演示文稿</vt:lpstr>
      <vt:lpstr>spring-servlet.xml</vt:lpstr>
      <vt:lpstr>viewResolver</vt:lpstr>
      <vt:lpstr>PowerPoint 演示文稿</vt:lpstr>
      <vt:lpstr>Spring MVC Annotation</vt:lpstr>
      <vt:lpstr>java Based Configuration</vt:lpstr>
      <vt:lpstr>Dependencies for spring java based configuration</vt:lpstr>
      <vt:lpstr>What is @ModelAttribute in Spring MVC?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Framework</dc:title>
  <dc:creator>UV-user</dc:creator>
  <cp:lastModifiedBy>Nishank Amte</cp:lastModifiedBy>
  <cp:revision>411</cp:revision>
  <dcterms:created xsi:type="dcterms:W3CDTF">2025-07-20T05:20:00Z</dcterms:created>
  <dcterms:modified xsi:type="dcterms:W3CDTF">2026-01-30T12:15:41Z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A8401F6DEE17453F91FFB766E7A2BD39_11</vt:lpwstr>
  </property>
  <property fmtid="{D5CDD505-2E9C-101B-9397-08002B2CF9AE}" pid="3" name="KSOProductBuildVer">
    <vt:lpwstr>1033-12.2.0.23196</vt:lpwstr>
  </property>
</Properties>
</file>