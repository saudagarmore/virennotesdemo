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8" r:id="rId11"/>
    <p:sldId id="270" r:id="rId12"/>
    <p:sldId id="271" r:id="rId13"/>
    <p:sldId id="272" r:id="rId14"/>
    <p:sldId id="263" r:id="rId15"/>
    <p:sldId id="264" r:id="rId16"/>
    <p:sldId id="265" r:id="rId17"/>
    <p:sldId id="266" r:id="rId18"/>
    <p:sldId id="267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3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" y="2820035"/>
            <a:ext cx="11951335" cy="608330"/>
          </a:xfrm>
        </p:spPr>
        <p:txBody>
          <a:bodyPr anchor="t" anchorCtr="0">
            <a:noAutofit/>
          </a:bodyPr>
          <a:p>
            <a:pPr marL="0" indent="0" algn="ctr">
              <a:lnSpc>
                <a:spcPct val="80000"/>
              </a:lnSpc>
            </a:pPr>
            <a:r>
              <a:rPr lang="en-US" b="1">
                <a:solidFill>
                  <a:srgbClr val="FF0000"/>
                </a:solidFill>
              </a:rPr>
              <a:t>DEVOPS AND AWS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7700" y="0"/>
            <a:ext cx="9144000" cy="384810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</a:rPr>
              <a:t>Linux Basic Commands</a:t>
            </a:r>
            <a:endParaRPr 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07315" y="384810"/>
          <a:ext cx="12084685" cy="6339840"/>
        </p:xfrm>
        <a:graphic>
          <a:graphicData uri="http://schemas.openxmlformats.org/drawingml/2006/table">
            <a:tbl>
              <a:tblPr/>
              <a:tblGrid>
                <a:gridCol w="3294380"/>
                <a:gridCol w="4996815"/>
                <a:gridCol w="3793490"/>
              </a:tblGrid>
              <a:tr h="304800">
                <a:tc>
                  <a:txBody>
                    <a:bodyPr/>
                    <a:p>
                      <a:pPr algn="ctr"/>
                      <a:r>
                        <a:rPr sz="2000" b="1"/>
                        <a:t>Command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Use / Description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000" b="1"/>
                        <a:t>Example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ls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List files and directories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ls -l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cd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Change directory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cd /home/user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pwd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Print current directory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pwd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mkdir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Create a new directory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mkdir test_dir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rmdir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Remove an empty directory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rmdir test_dir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rm</a:t>
                      </a:r>
                      <a:r>
                        <a:rPr lang="en-US" sz="1800" b="1">
                          <a:solidFill>
                            <a:srgbClr val="FF0000"/>
                          </a:solidFill>
                        </a:rPr>
                        <a:t>/rd</a:t>
                      </a:r>
                      <a:endParaRPr lang="en-US"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Remove files or directories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rm file.txtrm -r dir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cp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Copy files or directories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cp file1.txt file2.txt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mv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Move or rename files/directories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mv old.txt new.txt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touch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Create an empty file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touch example.txt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find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Search for files/directories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find /home -name "file.txt"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cat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View contents of a file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cat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more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View file page by page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more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less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View file page by page (with backward/forward)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less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head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Display first N lines of a file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head -n 5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tail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Display last N lines of a file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tail -n 5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nano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Text editor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nano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vim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Text editor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vim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grep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Search text patterns in files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grep "root" /etc/passwd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/>
                        <a:t>uname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system information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uname -a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top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real-time processes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top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htop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Interactive process viewer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htop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 b="1">
                          <a:solidFill>
                            <a:srgbClr val="FF0000"/>
                          </a:solidFill>
                        </a:rPr>
                        <a:t>df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disk space usage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df -h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95885" y="85725"/>
          <a:ext cx="11955145" cy="6659880"/>
        </p:xfrm>
        <a:graphic>
          <a:graphicData uri="http://schemas.openxmlformats.org/drawingml/2006/table">
            <a:tbl>
              <a:tblPr/>
              <a:tblGrid>
                <a:gridCol w="2319020"/>
                <a:gridCol w="4956810"/>
                <a:gridCol w="4679315"/>
              </a:tblGrid>
              <a:tr h="277495">
                <a:tc>
                  <a:txBody>
                    <a:bodyPr/>
                    <a:p>
                      <a:r>
                        <a:rPr sz="1800"/>
                        <a:t>du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directory/file space usage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du -sh /home/user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free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Display memory usage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free -h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uptime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system uptime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uptime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chmod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Change file permissions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chmod 644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chown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Change file owner/group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chown user:group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useradd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Add a new user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sudo useradd newuser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passwd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Change user password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passwd username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whoami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current logged-in user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whoami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sudo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Execute command as superuser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sudo apt update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ping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Test network connectivity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ping google.com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curl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Download or transfer data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curl https://example.com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wget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Download files from web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wget https://example.com/file.txt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ifconfig / ip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network interfaces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ifconfigip addr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ssh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Connect to remote server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ssh user@server.com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scp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Copy files between hosts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scp file.txt user@server:/path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apt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Debian/Ubuntu package manager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sudo apt install vim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dpkg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Debian package tool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dpkg -i package.deb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yum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RedHat/CentOS package manager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sudo yum install vim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dnf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Fedora/RedHat package manager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sudo dnf install vim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rpm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RedHat package tool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rpm -ivh package.rpm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zip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Compress files/directories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zip archive.zip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unzip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Extract zip files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unzip archive.zip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tar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Archive files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tar -cvf archive.tar file.txttar -xvf archive.tar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7495">
                <a:tc>
                  <a:txBody>
                    <a:bodyPr/>
                    <a:p>
                      <a:r>
                        <a:rPr sz="1800"/>
                        <a:t>gzip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Compress files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gzip file.txt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5090" y="141605"/>
          <a:ext cx="11980545" cy="2194560"/>
        </p:xfrm>
        <a:graphic>
          <a:graphicData uri="http://schemas.openxmlformats.org/drawingml/2006/table">
            <a:tbl>
              <a:tblPr/>
              <a:tblGrid>
                <a:gridCol w="2323465"/>
                <a:gridCol w="4967605"/>
                <a:gridCol w="4689475"/>
              </a:tblGrid>
              <a:tr h="274320">
                <a:tc>
                  <a:txBody>
                    <a:bodyPr/>
                    <a:p>
                      <a:r>
                        <a:rPr sz="1800"/>
                        <a:t>ps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running processes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ps aux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kill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Terminate a process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kill 1234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killall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Terminate processes by name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killall firefox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systemctl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Manage system services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sudo systemctl restart apache2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echo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Print text or variables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echo "Hello"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export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Set environment variable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export MY_VAR="Hello"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date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Show current date/time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date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320">
                <a:tc>
                  <a:txBody>
                    <a:bodyPr/>
                    <a:p>
                      <a:r>
                        <a:rPr sz="1800"/>
                        <a:t>cal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Display calendar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cal 2025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85090" y="2690495"/>
            <a:ext cx="1840230" cy="1434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/>
              <a:t>$ git ls-files</a:t>
            </a:r>
            <a:endParaRPr lang="en-US" altLang="en-US"/>
          </a:p>
          <a:p>
            <a:r>
              <a:rPr lang="en-US" altLang="en-US"/>
              <a:t>about.html</a:t>
            </a:r>
            <a:endParaRPr lang="en-US" altLang="en-US"/>
          </a:p>
          <a:p>
            <a:r>
              <a:rPr lang="en-US" altLang="en-US"/>
              <a:t>hello.txt</a:t>
            </a:r>
            <a:endParaRPr lang="en-US" altLang="en-US"/>
          </a:p>
          <a:p>
            <a:r>
              <a:rPr lang="en-US" altLang="en-US"/>
              <a:t>index.html</a:t>
            </a:r>
            <a:endParaRPr lang="en-US" altLang="en-US"/>
          </a:p>
          <a:p>
            <a:r>
              <a:rPr lang="en-US" altLang="en-US"/>
              <a:t>git ls-files | wc -l</a:t>
            </a:r>
            <a:endParaRPr lang="en-US" altLang="en-US"/>
          </a:p>
          <a:p>
            <a:endParaRPr lang="en-US" altLang="en-US"/>
          </a:p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5090" y="447929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/>
              <a:t>&gt;git remote add origin https://github.com/SaudagarMore/MyDemoApp.git</a:t>
            </a:r>
            <a:endParaRPr lang="en-US" altLang="en-US"/>
          </a:p>
          <a:p>
            <a:r>
              <a:rPr lang="en-US" altLang="en-US"/>
              <a:t>&gt;git remote -v</a:t>
            </a:r>
            <a:endParaRPr lang="en-US" altLang="en-US"/>
          </a:p>
          <a:p>
            <a:r>
              <a:rPr lang="en-US" altLang="en-US"/>
              <a:t>git push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0"/>
            <a:ext cx="10515600" cy="341630"/>
          </a:xfrm>
        </p:spPr>
        <p:txBody>
          <a:bodyPr>
            <a:noAutofit/>
          </a:bodyPr>
          <a:p>
            <a:pPr algn="ctr"/>
            <a:r>
              <a:rPr lang="en-US" sz="2000" b="1"/>
              <a:t>Git Imp Commands And Git Hub Version Control System</a:t>
            </a:r>
            <a:endParaRPr lang="en-US" sz="2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030" y="260350"/>
            <a:ext cx="11706860" cy="6048375"/>
          </a:xfrm>
        </p:spPr>
        <p:txBody>
          <a:bodyPr/>
          <a:p>
            <a:r>
              <a:rPr lang="en-US" altLang="en-US" sz="1800" b="1"/>
              <a:t>1. Basic Setup Commands</a:t>
            </a:r>
            <a:endParaRPr lang="en-US" altLang="en-US" sz="1800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3030" y="535305"/>
          <a:ext cx="11896725" cy="1696085"/>
        </p:xfrm>
        <a:graphic>
          <a:graphicData uri="http://schemas.openxmlformats.org/drawingml/2006/table">
            <a:tbl>
              <a:tblPr/>
              <a:tblGrid>
                <a:gridCol w="3965575"/>
                <a:gridCol w="3965575"/>
                <a:gridCol w="3965575"/>
              </a:tblGrid>
              <a:tr h="282575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Definition / 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p>
                      <a:r>
                        <a:rPr sz="1600"/>
                        <a:t>git --version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Check installed Git version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--version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83210">
                <a:tc>
                  <a:txBody>
                    <a:bodyPr/>
                    <a:p>
                      <a:r>
                        <a:rPr sz="1600"/>
                        <a:t>git config --global user.name "Your Name"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Set your username globally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config --global user.name "John Doe"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65150">
                <a:tc>
                  <a:txBody>
                    <a:bodyPr/>
                    <a:p>
                      <a:r>
                        <a:rPr sz="1600"/>
                        <a:t>git config --global user.email "your@email.com"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Set email globally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config --global user.email "john@gmail.com"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p>
                      <a:r>
                        <a:rPr sz="1600"/>
                        <a:t>git config --global -e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Edit global Git config file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13030" y="2640330"/>
          <a:ext cx="11984355" cy="1684020"/>
        </p:xfrm>
        <a:graphic>
          <a:graphicData uri="http://schemas.openxmlformats.org/drawingml/2006/table">
            <a:tbl>
              <a:tblPr/>
              <a:tblGrid>
                <a:gridCol w="3994785"/>
                <a:gridCol w="3994785"/>
                <a:gridCol w="3994785"/>
              </a:tblGrid>
              <a:tr h="243840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Definition / 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git init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Initialize a new local repo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init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64820">
                <a:tc>
                  <a:txBody>
                    <a:bodyPr/>
                    <a:p>
                      <a:r>
                        <a:rPr sz="1600"/>
                        <a:t>git clone &lt;repo-url&gt;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Copy a remote GitHub repo to local machine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clone https://github.com/user/project.git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git remote -v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Show remote repository URLs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87680">
                <a:tc>
                  <a:txBody>
                    <a:bodyPr/>
                    <a:p>
                      <a:r>
                        <a:rPr sz="1600"/>
                        <a:t>git remote add origin &lt;url&gt;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Link local repo to GitHub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remote add origin https://github.com/user/repo.git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113030" y="225139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b="1"/>
              <a:t>2. Repository Initialization</a:t>
            </a:r>
            <a:endParaRPr b="1"/>
          </a:p>
        </p:txBody>
      </p:sp>
      <p:graphicFrame>
        <p:nvGraphicFramePr>
          <p:cNvPr id="8" name="Table 7"/>
          <p:cNvGraphicFramePr/>
          <p:nvPr>
            <p:custDataLst>
              <p:tags r:id="rId3"/>
            </p:custDataLst>
          </p:nvPr>
        </p:nvGraphicFramePr>
        <p:xfrm>
          <a:off x="113030" y="4733290"/>
          <a:ext cx="11984355" cy="2133600"/>
        </p:xfrm>
        <a:graphic>
          <a:graphicData uri="http://schemas.openxmlformats.org/drawingml/2006/table">
            <a:tbl>
              <a:tblPr/>
              <a:tblGrid>
                <a:gridCol w="3994785"/>
                <a:gridCol w="3994785"/>
                <a:gridCol w="3994785"/>
              </a:tblGrid>
              <a:tr h="304800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Definition / 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600"/>
                        <a:t>git status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View changed/unstaged files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status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600"/>
                        <a:t>git add &lt;file&gt;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Stage a file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add index.html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600"/>
                        <a:t>git add 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Stage all files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add 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600"/>
                        <a:t>git rm &lt;file&gt;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Remove file from repo + working directory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rm test.txt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r>
                        <a:rPr sz="1600"/>
                        <a:t>git rm --cached &lt;file&gt;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Remove from Git tracking only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rm --cached secret.txt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git restore --staged </a:t>
                      </a:r>
                      <a:endParaRPr 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remove form local repo</a:t>
                      </a:r>
                      <a:endParaRPr 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600"/>
                        <a:t>git restore --staged index.html</a:t>
                      </a:r>
                      <a:endParaRPr 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113030" y="43446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b="1">
                <a:sym typeface="+mn-ea"/>
              </a:rPr>
              <a:t>3. File Tracking &amp; Staging</a:t>
            </a:r>
            <a:endParaRPr lang="en-US" altLang="en-US" b="1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56845" y="368300"/>
          <a:ext cx="11938635" cy="1724025"/>
        </p:xfrm>
        <a:graphic>
          <a:graphicData uri="http://schemas.openxmlformats.org/drawingml/2006/table">
            <a:tbl>
              <a:tblPr/>
              <a:tblGrid>
                <a:gridCol w="3979545"/>
                <a:gridCol w="3979545"/>
                <a:gridCol w="3979545"/>
              </a:tblGrid>
              <a:tr h="344805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Definition / 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4805">
                <a:tc>
                  <a:txBody>
                    <a:bodyPr/>
                    <a:p>
                      <a:r>
                        <a:rPr sz="1600"/>
                        <a:t>git commit -m "message"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Create a commit with message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commit -m "Initial commit"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4805">
                <a:tc>
                  <a:txBody>
                    <a:bodyPr/>
                    <a:p>
                      <a:r>
                        <a:rPr sz="1600"/>
                        <a:t>git commit -am "message"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Add + commit tracked files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commit -am "Fix bug"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4805">
                <a:tc>
                  <a:txBody>
                    <a:bodyPr/>
                    <a:p>
                      <a:r>
                        <a:rPr sz="1600"/>
                        <a:t>git log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Show commit history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log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4805">
                <a:tc>
                  <a:txBody>
                    <a:bodyPr/>
                    <a:p>
                      <a:r>
                        <a:rPr sz="1600"/>
                        <a:t>git log --oneline --graph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Pretty view of commits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56845" y="-317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b="1"/>
              <a:t>4. Commit Commands</a:t>
            </a:r>
            <a:endParaRPr b="1"/>
          </a:p>
        </p:txBody>
      </p:sp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156845" y="2637155"/>
          <a:ext cx="11936730" cy="1724660"/>
        </p:xfrm>
        <a:graphic>
          <a:graphicData uri="http://schemas.openxmlformats.org/drawingml/2006/table">
            <a:tbl>
              <a:tblPr/>
              <a:tblGrid>
                <a:gridCol w="3978910"/>
                <a:gridCol w="3978910"/>
                <a:gridCol w="3978910"/>
              </a:tblGrid>
              <a:tr h="246380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Definition / 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6380">
                <a:tc>
                  <a:txBody>
                    <a:bodyPr/>
                    <a:p>
                      <a:r>
                        <a:rPr sz="1600"/>
                        <a:t>git branch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List branches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branch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6380">
                <a:tc>
                  <a:txBody>
                    <a:bodyPr/>
                    <a:p>
                      <a:r>
                        <a:rPr sz="1600"/>
                        <a:t>git branch &lt;name&gt;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Create new branch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branch feature-ui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6380">
                <a:tc>
                  <a:txBody>
                    <a:bodyPr/>
                    <a:p>
                      <a:r>
                        <a:rPr sz="1600"/>
                        <a:t>git checkout &lt;branch&gt;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Switch branch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checkout main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6380">
                <a:tc>
                  <a:txBody>
                    <a:bodyPr/>
                    <a:p>
                      <a:r>
                        <a:rPr sz="1600"/>
                        <a:t>git checkout -b &lt;branch&gt;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Create + switch branch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checkout -b dev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6380">
                <a:tc>
                  <a:txBody>
                    <a:bodyPr/>
                    <a:p>
                      <a:r>
                        <a:rPr sz="1600"/>
                        <a:t>git merge &lt;branch&gt;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Merge branch into current branch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merge dev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6380">
                <a:tc>
                  <a:txBody>
                    <a:bodyPr/>
                    <a:p>
                      <a:r>
                        <a:rPr sz="1600"/>
                        <a:t>git branch -d &lt;branch&gt;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Delete branch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branch -d feature-ui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56845" y="217900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b="1"/>
              <a:t>5. Branching &amp; Merging</a:t>
            </a:r>
            <a:endParaRPr b="1"/>
          </a:p>
        </p:txBody>
      </p:sp>
      <p:graphicFrame>
        <p:nvGraphicFramePr>
          <p:cNvPr id="9" name="Table 8"/>
          <p:cNvGraphicFramePr/>
          <p:nvPr>
            <p:custDataLst>
              <p:tags r:id="rId3"/>
            </p:custDataLst>
          </p:nvPr>
        </p:nvGraphicFramePr>
        <p:xfrm>
          <a:off x="156845" y="4857750"/>
          <a:ext cx="11936730" cy="1916430"/>
        </p:xfrm>
        <a:graphic>
          <a:graphicData uri="http://schemas.openxmlformats.org/drawingml/2006/table">
            <a:tbl>
              <a:tblPr/>
              <a:tblGrid>
                <a:gridCol w="3978910"/>
                <a:gridCol w="3978910"/>
                <a:gridCol w="3978910"/>
              </a:tblGrid>
              <a:tr h="319405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Definition / 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600"/>
                        <a:t>git push -u origin main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Push first time to GitHub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push -u origin main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600"/>
                        <a:t>git push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Push local commits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600"/>
                        <a:t>git fetch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Fetch updates without merging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600"/>
                        <a:t>git pull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Fetch + merge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pull origin main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19405">
                <a:tc>
                  <a:txBody>
                    <a:bodyPr/>
                    <a:p>
                      <a:r>
                        <a:rPr sz="1600"/>
                        <a:t>git remote set-url origin &lt;url&gt;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Change GitHub repo link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156845" y="44408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6. Push &amp; Pull (GitHub)</a:t>
            </a:r>
            <a:endParaRPr sz="1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90" y="90170"/>
            <a:ext cx="10515600" cy="6506210"/>
          </a:xfrm>
        </p:spPr>
        <p:txBody>
          <a:bodyPr/>
          <a:p>
            <a:r>
              <a:rPr lang="en-US" altLang="en-US" sz="2000" b="1"/>
              <a:t>7. Undo / Fix Commands</a:t>
            </a:r>
            <a:endParaRPr lang="en-US" altLang="en-US" sz="2000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04470" y="558165"/>
          <a:ext cx="11921490" cy="1706880"/>
        </p:xfrm>
        <a:graphic>
          <a:graphicData uri="http://schemas.openxmlformats.org/drawingml/2006/table">
            <a:tbl>
              <a:tblPr/>
              <a:tblGrid>
                <a:gridCol w="3973830"/>
                <a:gridCol w="3973830"/>
                <a:gridCol w="3973830"/>
              </a:tblGrid>
              <a:tr h="243840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git restore &lt;file&gt;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Restore file to last commit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restore hello.js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87960">
                <a:tc>
                  <a:txBody>
                    <a:bodyPr/>
                    <a:p>
                      <a:r>
                        <a:rPr sz="1600"/>
                        <a:t>git restore --staged &lt;file&gt;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Unstage file (remove from staging area)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restore --staged main.py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git reset --soft HEAD~1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Undo last commit (keep changes staged)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git reset --hard HEAD~1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Delete last commit completely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87680">
                <a:tc>
                  <a:txBody>
                    <a:bodyPr/>
                    <a:p>
                      <a:r>
                        <a:rPr sz="1600"/>
                        <a:t>git revert &lt;commit-id&gt;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Create a new commit undoing a previous commit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git revert 4t7de9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204470" y="2602230"/>
          <a:ext cx="11921490" cy="1730375"/>
        </p:xfrm>
        <a:graphic>
          <a:graphicData uri="http://schemas.openxmlformats.org/drawingml/2006/table">
            <a:tbl>
              <a:tblPr/>
              <a:tblGrid>
                <a:gridCol w="3973830"/>
                <a:gridCol w="3973830"/>
                <a:gridCol w="3973830"/>
              </a:tblGrid>
              <a:tr h="346075"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Definition / 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6075">
                <a:tc>
                  <a:txBody>
                    <a:bodyPr/>
                    <a:p>
                      <a:r>
                        <a:rPr sz="1600"/>
                        <a:t>git stash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Save uncommitted work temporarily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6075">
                <a:tc>
                  <a:txBody>
                    <a:bodyPr/>
                    <a:p>
                      <a:r>
                        <a:rPr sz="1600"/>
                        <a:t>git stash list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Show saved stashes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6075">
                <a:tc>
                  <a:txBody>
                    <a:bodyPr/>
                    <a:p>
                      <a:r>
                        <a:rPr sz="1600"/>
                        <a:t>git stash apply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Reapply last stash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6075">
                <a:tc>
                  <a:txBody>
                    <a:bodyPr/>
                    <a:p>
                      <a:r>
                        <a:rPr sz="1600"/>
                        <a:t>git stash drop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Delete a stash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73990" y="22647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8. Stash Commands</a:t>
            </a:r>
            <a:endParaRPr sz="1600" b="1"/>
          </a:p>
        </p:txBody>
      </p:sp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204470" y="4847590"/>
          <a:ext cx="11921490" cy="731520"/>
        </p:xfrm>
        <a:graphic>
          <a:graphicData uri="http://schemas.openxmlformats.org/drawingml/2006/table">
            <a:tbl>
              <a:tblPr/>
              <a:tblGrid>
                <a:gridCol w="3973830"/>
                <a:gridCol w="3973830"/>
                <a:gridCol w="3973830"/>
              </a:tblGrid>
              <a:tr h="243840">
                <a:tc>
                  <a:txBody>
                    <a:bodyPr/>
                    <a:p>
                      <a:r>
                        <a:rPr sz="1600"/>
                        <a:t>Command / Action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Use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Example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gh auth login (GitHub CLI)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Login to GitHub from terminal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—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Personal Access Token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Required for HTTPS push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create on GitHub → use as password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73990" y="44129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sz="1600" b="1"/>
              <a:t>9. GitHub Authentication</a:t>
            </a:r>
            <a:endParaRPr sz="16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965"/>
            <a:ext cx="10515600" cy="4351338"/>
          </a:xfrm>
        </p:spPr>
        <p:txBody>
          <a:bodyPr/>
          <a:p>
            <a:r>
              <a:rPr lang="en-US" altLang="en-US" sz="2000" b="1"/>
              <a:t>Full Local → GitHub Workflow Example (Step-by-Step)</a:t>
            </a:r>
            <a:endParaRPr lang="en-US" altLang="en-US" sz="2000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41605" y="638175"/>
          <a:ext cx="11894820" cy="1778000"/>
        </p:xfrm>
        <a:graphic>
          <a:graphicData uri="http://schemas.openxmlformats.org/drawingml/2006/table">
            <a:tbl>
              <a:tblPr/>
              <a:tblGrid>
                <a:gridCol w="2199005"/>
                <a:gridCol w="4937125"/>
                <a:gridCol w="4758690"/>
              </a:tblGrid>
              <a:tr h="254000">
                <a:tc>
                  <a:txBody>
                    <a:bodyPr/>
                    <a:p>
                      <a:r>
                        <a:rPr sz="1600"/>
                        <a:t>Step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Command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Purpose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r>
                        <a:rPr sz="1600"/>
                        <a:t>1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git init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Create new repo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r>
                        <a:rPr sz="1600"/>
                        <a:t>2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git add 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Stage all files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r>
                        <a:rPr sz="1600"/>
                        <a:t>3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git commit -m "First commit"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Save changes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r>
                        <a:rPr sz="1600"/>
                        <a:t>4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git branch -M main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Make main as default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r>
                        <a:rPr sz="1600"/>
                        <a:t>5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git remote add origin &lt;github-url&gt;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Connect to GitHub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4000">
                <a:tc>
                  <a:txBody>
                    <a:bodyPr/>
                    <a:p>
                      <a:r>
                        <a:rPr sz="1600"/>
                        <a:t>6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git push -u origin main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600"/>
                        <a:t>Upload to GitHub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35"/>
            <a:ext cx="10515600" cy="193675"/>
          </a:xfrm>
        </p:spPr>
        <p:txBody>
          <a:bodyPr>
            <a:noAutofit/>
          </a:bodyPr>
          <a:p>
            <a:pPr algn="ctr"/>
            <a:r>
              <a:rPr lang="en-US" sz="2400" b="1">
                <a:solidFill>
                  <a:srgbClr val="FF0000"/>
                </a:solidFill>
              </a:rPr>
              <a:t>Docker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93675"/>
            <a:ext cx="12043410" cy="6535420"/>
          </a:xfrm>
        </p:spPr>
        <p:txBody>
          <a:bodyPr/>
          <a:p>
            <a:pPr algn="ctr"/>
            <a:r>
              <a:rPr lang="en-US" altLang="en-US" sz="1800" b="1"/>
              <a:t>1. Docker Installation &amp; Version</a:t>
            </a:r>
            <a:endParaRPr lang="en-US" altLang="en-US" sz="1800" b="1"/>
          </a:p>
          <a:p>
            <a:pPr algn="ctr"/>
            <a:endParaRPr lang="en-US" altLang="en-US" sz="1800" b="1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2710" y="627380"/>
          <a:ext cx="11949430" cy="1005840"/>
        </p:xfrm>
        <a:graphic>
          <a:graphicData uri="http://schemas.openxmlformats.org/drawingml/2006/table">
            <a:tbl>
              <a:tblPr/>
              <a:tblGrid>
                <a:gridCol w="5974715"/>
                <a:gridCol w="5974715"/>
              </a:tblGrid>
              <a:tr h="274320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 b="1"/>
                        <a:t>docker --version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/>
                        <a:t>Show Docker version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 b="1"/>
                        <a:t>docker info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/>
                        <a:t>Detailed system-wide info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 b="1"/>
                        <a:t>docker version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/>
                        <a:t>Show client &amp; server version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2"/>
            </p:custDataLst>
          </p:nvPr>
        </p:nvGraphicFramePr>
        <p:xfrm>
          <a:off x="92710" y="2057400"/>
          <a:ext cx="11949430" cy="2225040"/>
        </p:xfrm>
        <a:graphic>
          <a:graphicData uri="http://schemas.openxmlformats.org/drawingml/2006/table">
            <a:tbl>
              <a:tblPr/>
              <a:tblGrid>
                <a:gridCol w="5974715"/>
                <a:gridCol w="5974715"/>
              </a:tblGrid>
              <a:tr h="278130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/>
                      <a:r>
                        <a:rPr sz="1600" b="1"/>
                        <a:t>docker pull &lt;image&gt;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 b="1"/>
                        <a:t>Download image from registry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/>
                      <a:r>
                        <a:rPr sz="1600" b="1"/>
                        <a:t>docker images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 b="1"/>
                        <a:t>List all local images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/>
                      <a:r>
                        <a:rPr sz="1600"/>
                        <a:t>docker rmi &lt;image&gt;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Remove an image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/>
                      <a:r>
                        <a:rPr sz="1600"/>
                        <a:t>docker rmi -f &lt;image&gt;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Force remove image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/>
                      <a:r>
                        <a:rPr sz="1600"/>
                        <a:t>docker image prune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Remove unused images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/>
                      <a:r>
                        <a:rPr sz="1600"/>
                        <a:t>docker image inspect &lt;image&gt;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Show image metadata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78130">
                <a:tc>
                  <a:txBody>
                    <a:bodyPr/>
                    <a:p>
                      <a:pPr algn="l"/>
                      <a:r>
                        <a:rPr sz="1600"/>
                        <a:t>docker tag &lt;src&gt; &lt;target&gt;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Tag an image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92710" y="1663700"/>
            <a:ext cx="11950065" cy="303530"/>
          </a:xfrm>
          <a:prstGeom prst="rect">
            <a:avLst/>
          </a:prstGeom>
        </p:spPr>
        <p:txBody>
          <a:bodyPr wrap="square">
            <a:noAutofit/>
          </a:bodyPr>
          <a:p>
            <a:pPr algn="ctr">
              <a:spcAft>
                <a:spcPct val="60000"/>
              </a:spcAft>
            </a:pPr>
            <a:r>
              <a:rPr b="1"/>
              <a:t>2. Docker Images</a:t>
            </a:r>
            <a:endParaRPr b="1"/>
          </a:p>
        </p:txBody>
      </p:sp>
      <p:graphicFrame>
        <p:nvGraphicFramePr>
          <p:cNvPr id="8" name="Table 7"/>
          <p:cNvGraphicFramePr/>
          <p:nvPr>
            <p:custDataLst>
              <p:tags r:id="rId3"/>
            </p:custDataLst>
          </p:nvPr>
        </p:nvGraphicFramePr>
        <p:xfrm>
          <a:off x="92710" y="4806315"/>
          <a:ext cx="11949430" cy="1771650"/>
        </p:xfrm>
        <a:graphic>
          <a:graphicData uri="http://schemas.openxmlformats.org/drawingml/2006/table">
            <a:tbl>
              <a:tblPr/>
              <a:tblGrid>
                <a:gridCol w="5974715"/>
                <a:gridCol w="5974715"/>
              </a:tblGrid>
              <a:tr h="295275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p>
                      <a:r>
                        <a:rPr sz="1600"/>
                        <a:t>docker volume create &lt;vol&gt;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Create volume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p>
                      <a:r>
                        <a:rPr sz="1600"/>
                        <a:t>docker volume ls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List volumes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p>
                      <a:r>
                        <a:rPr sz="1600"/>
                        <a:t>docker volume inspect &lt;vol&gt;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Details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p>
                      <a:r>
                        <a:rPr sz="1600"/>
                        <a:t>docker volume rm &lt;vol&gt;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Remove volume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95275">
                <a:tc>
                  <a:txBody>
                    <a:bodyPr/>
                    <a:p>
                      <a:r>
                        <a:rPr sz="1600"/>
                        <a:t>docker volume prune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Remove unused volumes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92710" y="4373245"/>
            <a:ext cx="11950065" cy="35560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b="1"/>
              <a:t>6. Docker Volumes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ontent Placeholder 6"/>
          <p:cNvGraphicFramePr/>
          <p:nvPr>
            <p:ph idx="1"/>
            <p:custDataLst>
              <p:tags r:id="rId1"/>
            </p:custDataLst>
          </p:nvPr>
        </p:nvGraphicFramePr>
        <p:xfrm>
          <a:off x="85725" y="304800"/>
          <a:ext cx="11939270" cy="4145280"/>
        </p:xfrm>
        <a:graphic>
          <a:graphicData uri="http://schemas.openxmlformats.org/drawingml/2006/table">
            <a:tbl>
              <a:tblPr/>
              <a:tblGrid>
                <a:gridCol w="5380990"/>
                <a:gridCol w="6558280"/>
              </a:tblGrid>
              <a:tr h="243840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run &lt;image&gt;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Run a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 b="1"/>
                        <a:t>docker run -it &lt;image&gt;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/>
                        <a:t>Run in interactive mode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run -d &lt;image&gt;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Run in detached mode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run --name &lt;name&gt; &lt;img&gt;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Run with a custom name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run -p &lt;host:container&gt;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Map ports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run -v &lt;host:container&gt;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Mount volume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 b="1"/>
                        <a:t>docker ps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/>
                        <a:t>List running containers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 b="1"/>
                        <a:t>docker ps -a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 b="1"/>
                        <a:t>List all containers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stop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Stop running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start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Start a stopped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restart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Restart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kill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Force stop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rm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Remove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rm -f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Force remove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inspect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Container metadata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43840">
                <a:tc>
                  <a:txBody>
                    <a:bodyPr/>
                    <a:p>
                      <a:r>
                        <a:rPr sz="1600"/>
                        <a:t>docker rename old new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Rename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80975" y="-78740"/>
            <a:ext cx="11844020" cy="28638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b="1"/>
              <a:t>3. Docker Containers</a:t>
            </a:r>
            <a:endParaRPr b="1"/>
          </a:p>
        </p:txBody>
      </p:sp>
      <p:sp>
        <p:nvSpPr>
          <p:cNvPr id="5" name="Text Box 4"/>
          <p:cNvSpPr txBox="1"/>
          <p:nvPr/>
        </p:nvSpPr>
        <p:spPr>
          <a:xfrm>
            <a:off x="85725" y="4479290"/>
            <a:ext cx="11939270" cy="436245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b="1"/>
              <a:t>4. Container Management</a:t>
            </a:r>
            <a:endParaRPr b="1"/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14300" y="4883785"/>
          <a:ext cx="11908790" cy="1973580"/>
        </p:xfrm>
        <a:graphic>
          <a:graphicData uri="http://schemas.openxmlformats.org/drawingml/2006/table">
            <a:tbl>
              <a:tblPr/>
              <a:tblGrid>
                <a:gridCol w="5954395"/>
                <a:gridCol w="5954395"/>
              </a:tblGrid>
              <a:tr h="281940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r>
                        <a:rPr sz="1600"/>
                        <a:t>docker logs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Show logs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r>
                        <a:rPr sz="1600"/>
                        <a:t>docker logs -f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Follow logs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r>
                        <a:rPr sz="1600"/>
                        <a:t>docker exec -it &lt;container&gt; bash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Exec into container shell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r>
                        <a:rPr sz="1600"/>
                        <a:t>docker exec &lt;container&gt; &lt;cmd&gt;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Run command inside container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r>
                        <a:rPr sz="1600"/>
                        <a:t>docker top &lt;container&gt;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View processes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r>
                        <a:rPr sz="1600"/>
                        <a:t>docker stats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Resource usage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13665" y="342265"/>
          <a:ext cx="11979910" cy="1033780"/>
        </p:xfrm>
        <a:graphic>
          <a:graphicData uri="http://schemas.openxmlformats.org/drawingml/2006/table">
            <a:tbl>
              <a:tblPr/>
              <a:tblGrid>
                <a:gridCol w="5989955"/>
                <a:gridCol w="5989955"/>
              </a:tblGrid>
              <a:tr h="258445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build -t &lt;tag&gt; 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Build image from Dockerfile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build -f &lt;file&gt; 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Use custom Dockerfile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build --no-cache -t &lt;tag&gt; .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Build without cache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113665" y="0"/>
            <a:ext cx="12078335" cy="34290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p>
            <a:pPr algn="ctr"/>
            <a:r>
              <a:rPr b="1"/>
              <a:t>5. Docker Build</a:t>
            </a:r>
            <a:endParaRPr b="1"/>
          </a:p>
        </p:txBody>
      </p:sp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113665" y="1863090"/>
          <a:ext cx="12105640" cy="1550670"/>
        </p:xfrm>
        <a:graphic>
          <a:graphicData uri="http://schemas.openxmlformats.org/drawingml/2006/table">
            <a:tbl>
              <a:tblPr/>
              <a:tblGrid>
                <a:gridCol w="6052820"/>
                <a:gridCol w="6052820"/>
              </a:tblGrid>
              <a:tr h="258445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network ls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List networks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network create &lt;name&gt;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Create network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network rm &lt;name&gt;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Remove network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network inspect &lt;name&gt;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Inspect network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network prune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Remove unused networks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13665" y="1484630"/>
            <a:ext cx="12078335" cy="2762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p>
            <a:pPr algn="ctr">
              <a:spcAft>
                <a:spcPct val="60000"/>
              </a:spcAft>
            </a:pPr>
            <a:r>
              <a:rPr b="1"/>
              <a:t>7. Docker Networks</a:t>
            </a:r>
            <a:endParaRPr b="1"/>
          </a:p>
        </p:txBody>
      </p:sp>
      <p:graphicFrame>
        <p:nvGraphicFramePr>
          <p:cNvPr id="9" name="Table 8"/>
          <p:cNvGraphicFramePr/>
          <p:nvPr>
            <p:custDataLst>
              <p:tags r:id="rId3"/>
            </p:custDataLst>
          </p:nvPr>
        </p:nvGraphicFramePr>
        <p:xfrm>
          <a:off x="113030" y="3895090"/>
          <a:ext cx="12105640" cy="1292225"/>
        </p:xfrm>
        <a:graphic>
          <a:graphicData uri="http://schemas.openxmlformats.org/drawingml/2006/table">
            <a:tbl>
              <a:tblPr/>
              <a:tblGrid>
                <a:gridCol w="6052820"/>
                <a:gridCol w="6052820"/>
              </a:tblGrid>
              <a:tr h="258445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login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Login to registry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logout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Logout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push &lt;image&gt;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Push image to registry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58445">
                <a:tc>
                  <a:txBody>
                    <a:bodyPr/>
                    <a:p>
                      <a:pPr algn="l"/>
                      <a:r>
                        <a:rPr sz="1600"/>
                        <a:t>docker pull &lt;image&gt;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Pull image from registry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113665" y="3481705"/>
            <a:ext cx="12105005" cy="3340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p>
            <a:pPr algn="ctr"/>
            <a:r>
              <a:rPr b="1"/>
              <a:t>8. Docker Hub &amp; Registry</a:t>
            </a:r>
            <a:endParaRPr b="1"/>
          </a:p>
        </p:txBody>
      </p:sp>
      <p:graphicFrame>
        <p:nvGraphicFramePr>
          <p:cNvPr id="11" name="Table 10"/>
          <p:cNvGraphicFramePr/>
          <p:nvPr>
            <p:custDataLst>
              <p:tags r:id="rId4"/>
            </p:custDataLst>
          </p:nvPr>
        </p:nvGraphicFramePr>
        <p:xfrm>
          <a:off x="113665" y="5669280"/>
          <a:ext cx="12105640" cy="1144270"/>
        </p:xfrm>
        <a:graphic>
          <a:graphicData uri="http://schemas.openxmlformats.org/drawingml/2006/table">
            <a:tbl>
              <a:tblPr/>
              <a:tblGrid>
                <a:gridCol w="6052820"/>
                <a:gridCol w="6052820"/>
              </a:tblGrid>
              <a:tr h="299085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pPr algn="l"/>
                      <a:r>
                        <a:rPr sz="1600"/>
                        <a:t>docker system df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Disk usage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305">
                <a:tc>
                  <a:txBody>
                    <a:bodyPr/>
                    <a:p>
                      <a:pPr algn="l"/>
                      <a:r>
                        <a:rPr sz="1600"/>
                        <a:t>docker system prune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Remove unused data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pPr algn="l"/>
                      <a:r>
                        <a:rPr sz="1600"/>
                        <a:t>docker system prune -a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sz="1600"/>
                        <a:t>Remove ALL unused images &amp; containers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Text Box 11"/>
          <p:cNvSpPr txBox="1"/>
          <p:nvPr/>
        </p:nvSpPr>
        <p:spPr>
          <a:xfrm>
            <a:off x="113665" y="5281295"/>
            <a:ext cx="11980545" cy="31178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p>
            <a:pPr algn="ctr"/>
            <a:r>
              <a:rPr b="1"/>
              <a:t>9. Docker System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68910" y="567055"/>
          <a:ext cx="11758930" cy="2371725"/>
        </p:xfrm>
        <a:graphic>
          <a:graphicData uri="http://schemas.openxmlformats.org/drawingml/2006/table">
            <a:tbl>
              <a:tblPr/>
              <a:tblGrid>
                <a:gridCol w="5879465"/>
                <a:gridCol w="5879465"/>
              </a:tblGrid>
              <a:tr h="263525">
                <a:tc>
                  <a:txBody>
                    <a:bodyPr/>
                    <a:p>
                      <a:pPr algn="ctr"/>
                      <a:r>
                        <a:rPr sz="1800" b="1"/>
                        <a:t>Command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Description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up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Start services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up -d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Start in background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down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Stop &amp; remove services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stop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Stop only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start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Start only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ps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List compose containers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logs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Show logs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263525">
                <a:tc>
                  <a:txBody>
                    <a:bodyPr/>
                    <a:p>
                      <a:r>
                        <a:rPr sz="1600"/>
                        <a:t>docker compose build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r>
                        <a:rPr sz="1600"/>
                        <a:t>Build services</a:t>
                      </a:r>
                      <a:endParaRPr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168910" y="85090"/>
            <a:ext cx="11855450" cy="36830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b="1"/>
              <a:t>10. Docker Compose (Important)</a:t>
            </a:r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960" y="0"/>
            <a:ext cx="10515600" cy="553720"/>
          </a:xfrm>
        </p:spPr>
        <p:txBody>
          <a:bodyPr>
            <a:noAutofit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AWS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553720"/>
            <a:ext cx="11802745" cy="6076315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17830"/>
          </a:xfrm>
        </p:spPr>
        <p:txBody>
          <a:bodyPr>
            <a:noAutofit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Kubernates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85" y="417830"/>
            <a:ext cx="11856720" cy="6302375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0"/>
            <a:ext cx="10515600" cy="338455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CI/CD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10" y="581660"/>
            <a:ext cx="11938635" cy="6113145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35"/>
            <a:ext cx="10515600" cy="335280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Jenkins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685" y="456565"/>
            <a:ext cx="11856720" cy="6303645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349885"/>
          </a:xfrm>
        </p:spPr>
        <p:txBody>
          <a:bodyPr>
            <a:normAutofit fontScale="90000"/>
          </a:bodyPr>
          <a:p>
            <a:pPr algn="ctr"/>
            <a:r>
              <a:rPr lang="en-US" sz="2800" b="1">
                <a:solidFill>
                  <a:srgbClr val="FF0000"/>
                </a:solidFill>
              </a:rPr>
              <a:t>Terraform</a:t>
            </a:r>
            <a:endParaRPr lang="en-US" sz="28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965" y="456565"/>
            <a:ext cx="11504295" cy="6153785"/>
          </a:xfrm>
        </p:spPr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365" cy="295910"/>
          </a:xfrm>
        </p:spPr>
        <p:txBody>
          <a:bodyPr>
            <a:normAutofit fontScale="90000"/>
          </a:bodyPr>
          <a:p>
            <a:pPr algn="ctr"/>
            <a:r>
              <a:rPr lang="en-US" sz="2400" b="1">
                <a:solidFill>
                  <a:srgbClr val="FF0000"/>
                </a:solidFill>
                <a:sym typeface="+mn-ea"/>
              </a:rPr>
              <a:t>Ansible</a:t>
            </a:r>
            <a:endParaRPr lang="en-US" sz="2400" b="1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51*451"/>
  <p:tag name="TABLE_ENDDRAG_RECT" val="8*30*951*451"/>
</p:tagLst>
</file>

<file path=ppt/tags/tag2.xml><?xml version="1.0" encoding="utf-8"?>
<p:tagLst xmlns:p="http://schemas.openxmlformats.org/presentationml/2006/main">
  <p:tag name="TABLE_ENDDRAG_ORIGIN_RECT" val="941*523"/>
  <p:tag name="TABLE_ENDDRAG_RECT" val="7*6*941*523"/>
</p:tagLst>
</file>

<file path=ppt/tags/tag3.xml><?xml version="1.0" encoding="utf-8"?>
<p:tagLst xmlns:p="http://schemas.openxmlformats.org/presentationml/2006/main">
  <p:tag name="TABLE_ENDDRAG_ORIGIN_RECT" val="943*166"/>
  <p:tag name="TABLE_ENDDRAG_RECT" val="6*11*943*166"/>
</p:tagLst>
</file>

<file path=ppt/tags/tag4.xml><?xml version="1.0" encoding="utf-8"?>
<p:tagLst xmlns:p="http://schemas.openxmlformats.org/presentationml/2006/main">
  <p:tag name="TABLE_ENDDRAG_ORIGIN_RECT" val="936*133"/>
  <p:tag name="TABLE_ENDDRAG_RECT" val="8*59*936*133"/>
</p:tagLst>
</file>

<file path=ppt/tags/tag5.xml><?xml version="1.0" encoding="utf-8"?>
<p:tagLst xmlns:p="http://schemas.openxmlformats.org/presentationml/2006/main">
  <p:tag name="TABLE_ENDDRAG_ORIGIN_RECT" val="943*132"/>
  <p:tag name="TABLE_ENDDRAG_RECT" val="8*222*943*132"/>
</p:tagLst>
</file>

<file path=ppt/tags/tag6.xml><?xml version="1.0" encoding="utf-8"?>
<p:tagLst xmlns:p="http://schemas.openxmlformats.org/presentationml/2006/main">
  <p:tag name="TABLE_ENDDRAG_ORIGIN_RECT" val="943*144"/>
  <p:tag name="TABLE_ENDDRAG_RECT" val="8*393*943*144"/>
</p:tagLst>
</file>

<file path=ppt/tags/tag7.xml><?xml version="1.0" encoding="utf-8"?>
<p:tagLst xmlns:p="http://schemas.openxmlformats.org/presentationml/2006/main">
  <p:tag name="TABLE_ENDDRAG_ORIGIN_RECT" val="947*128"/>
  <p:tag name="TABLE_ENDDRAG_RECT" val="12*29*947*128"/>
</p:tagLst>
</file>

<file path=ppt/tags/tag8.xml><?xml version="1.0" encoding="utf-8"?>
<p:tagLst xmlns:p="http://schemas.openxmlformats.org/presentationml/2006/main">
  <p:tag name="TABLE_ENDDRAG_ORIGIN_RECT" val="939*135"/>
  <p:tag name="TABLE_ENDDRAG_RECT" val="12*207*939*135"/>
</p:tagLst>
</file>

<file path=ppt/tags/tag9.xml><?xml version="1.0" encoding="utf-8"?>
<p:tagLst xmlns:p="http://schemas.openxmlformats.org/presentationml/2006/main">
  <p:tag name="TABLE_ENDDRAG_ORIGIN_RECT" val="939*150"/>
  <p:tag name="TABLE_ENDDRAG_RECT" val="12*382*939*150"/>
</p:tagLst>
</file>

<file path=ppt/tags/tag10.xml><?xml version="1.0" encoding="utf-8"?>
<p:tagLst xmlns:p="http://schemas.openxmlformats.org/presentationml/2006/main">
  <p:tag name="TABLE_ENDDRAG_ORIGIN_RECT" val="938*131"/>
  <p:tag name="TABLE_ENDDRAG_RECT" val="13*54*938*131"/>
</p:tagLst>
</file>

<file path=ppt/tags/tag11.xml><?xml version="1.0" encoding="utf-8"?>
<p:tagLst xmlns:p="http://schemas.openxmlformats.org/presentationml/2006/main">
  <p:tag name="TABLE_ENDDRAG_ORIGIN_RECT" val="938*136"/>
  <p:tag name="TABLE_ENDDRAG_RECT" val="16*204*938*136"/>
</p:tagLst>
</file>

<file path=ppt/tags/tag12.xml><?xml version="1.0" encoding="utf-8"?>
<p:tagLst xmlns:p="http://schemas.openxmlformats.org/presentationml/2006/main">
  <p:tag name="TABLE_ENDDRAG_ORIGIN_RECT" val="938*44"/>
  <p:tag name="TABLE_ENDDRAG_RECT" val="16*381*938*44"/>
</p:tagLst>
</file>

<file path=ppt/tags/tag13.xml><?xml version="1.0" encoding="utf-8"?>
<p:tagLst xmlns:p="http://schemas.openxmlformats.org/presentationml/2006/main">
  <p:tag name="TABLE_ENDDRAG_ORIGIN_RECT" val="936*139"/>
  <p:tag name="TABLE_ENDDRAG_RECT" val="11*50*936*139"/>
</p:tagLst>
</file>

<file path=ppt/tags/tag14.xml><?xml version="1.0" encoding="utf-8"?>
<p:tagLst xmlns:p="http://schemas.openxmlformats.org/presentationml/2006/main">
  <p:tag name="TABLE_ENDDRAG_ORIGIN_RECT" val="940*78"/>
  <p:tag name="TABLE_ENDDRAG_RECT" val="7*49*940*78"/>
</p:tagLst>
</file>

<file path=ppt/tags/tag15.xml><?xml version="1.0" encoding="utf-8"?>
<p:tagLst xmlns:p="http://schemas.openxmlformats.org/presentationml/2006/main">
  <p:tag name="TABLE_ENDDRAG_ORIGIN_RECT" val="940*174"/>
  <p:tag name="TABLE_ENDDRAG_RECT" val="7*174*940*174"/>
</p:tagLst>
</file>

<file path=ppt/tags/tag16.xml><?xml version="1.0" encoding="utf-8"?>
<p:tagLst xmlns:p="http://schemas.openxmlformats.org/presentationml/2006/main">
  <p:tag name="TABLE_ENDDRAG_ORIGIN_RECT" val="940*139"/>
  <p:tag name="TABLE_ENDDRAG_RECT" val="7*400*940*139"/>
</p:tagLst>
</file>

<file path=ppt/tags/tag17.xml><?xml version="1.0" encoding="utf-8"?>
<p:tagLst xmlns:p="http://schemas.openxmlformats.org/presentationml/2006/main">
  <p:tag name="TABLE_ENDDRAG_ORIGIN_RECT" val="940*259"/>
  <p:tag name="TABLE_ENDDRAG_RECT" val="6*24*940*259"/>
</p:tagLst>
</file>

<file path=ppt/tags/tag18.xml><?xml version="1.0" encoding="utf-8"?>
<p:tagLst xmlns:p="http://schemas.openxmlformats.org/presentationml/2006/main">
  <p:tag name="TABLE_ENDDRAG_ORIGIN_RECT" val="937*155"/>
  <p:tag name="TABLE_ENDDRAG_RECT" val="9*384*937*155"/>
</p:tagLst>
</file>

<file path=ppt/tags/tag19.xml><?xml version="1.0" encoding="utf-8"?>
<p:tagLst xmlns:p="http://schemas.openxmlformats.org/presentationml/2006/main">
  <p:tag name="TABLE_ENDDRAG_ORIGIN_RECT" val="931*82"/>
  <p:tag name="TABLE_ENDDRAG_RECT" val="8*27*931*82"/>
</p:tagLst>
</file>

<file path=ppt/tags/tag20.xml><?xml version="1.0" encoding="utf-8"?>
<p:tagLst xmlns:p="http://schemas.openxmlformats.org/presentationml/2006/main">
  <p:tag name="TABLE_ENDDRAG_ORIGIN_RECT" val="940*119"/>
  <p:tag name="TABLE_ENDDRAG_RECT" val="8*146*940*119"/>
</p:tagLst>
</file>

<file path=ppt/tags/tag21.xml><?xml version="1.0" encoding="utf-8"?>
<p:tagLst xmlns:p="http://schemas.openxmlformats.org/presentationml/2006/main">
  <p:tag name="TABLE_ENDDRAG_ORIGIN_RECT" val="940*97"/>
  <p:tag name="TABLE_ENDDRAG_RECT" val="8*306*940*97"/>
</p:tagLst>
</file>

<file path=ppt/tags/tag22.xml><?xml version="1.0" encoding="utf-8"?>
<p:tagLst xmlns:p="http://schemas.openxmlformats.org/presentationml/2006/main">
  <p:tag name="TABLE_ENDDRAG_ORIGIN_RECT" val="953*90"/>
  <p:tag name="TABLE_ENDDRAG_RECT" val="8*446*953*90"/>
</p:tagLst>
</file>

<file path=ppt/tags/tag23.xml><?xml version="1.0" encoding="utf-8"?>
<p:tagLst xmlns:p="http://schemas.openxmlformats.org/presentationml/2006/main">
  <p:tag name="TABLE_ENDDRAG_ORIGIN_RECT" val="925*186"/>
  <p:tag name="TABLE_ENDDRAG_RECT" val="13*44*925*18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8530</Words>
  <Application>WPS Presentation</Application>
  <PresentationFormat>Widescreen</PresentationFormat>
  <Paragraphs>1019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DEVOPS AND AWS</vt:lpstr>
      <vt:lpstr>Linux Basic Commands</vt:lpstr>
      <vt:lpstr>PowerPoint 演示文稿</vt:lpstr>
      <vt:lpstr>PowerPoint 演示文稿</vt:lpstr>
      <vt:lpstr>Git Imp Commands And Git Hub Version Control System</vt:lpstr>
      <vt:lpstr>PowerPoint 演示文稿</vt:lpstr>
      <vt:lpstr>PowerPoint 演示文稿</vt:lpstr>
      <vt:lpstr>PowerPoint 演示文稿</vt:lpstr>
      <vt:lpstr>Docker</vt:lpstr>
      <vt:lpstr>PowerPoint 演示文稿</vt:lpstr>
      <vt:lpstr>PowerPoint 演示文稿</vt:lpstr>
      <vt:lpstr>PowerPoint 演示文稿</vt:lpstr>
      <vt:lpstr>AWS</vt:lpstr>
      <vt:lpstr>Kubernates</vt:lpstr>
      <vt:lpstr>CI/CD</vt:lpstr>
      <vt:lpstr>Jenkins</vt:lpstr>
      <vt:lpstr>Terraform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UV-user</dc:creator>
  <cp:lastModifiedBy>Nishank Amte</cp:lastModifiedBy>
  <cp:revision>79</cp:revision>
  <dcterms:created xsi:type="dcterms:W3CDTF">2025-07-23T00:59:00Z</dcterms:created>
  <dcterms:modified xsi:type="dcterms:W3CDTF">2026-01-05T02:26:41Z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FD2109C281664FBDB55D752B138BF24C_11</vt:lpwstr>
  </property>
  <property fmtid="{D5CDD505-2E9C-101B-9397-08002B2CF9AE}" pid="3" name="KSOProductBuildVer">
    <vt:lpwstr>1033-12.2.0.23196</vt:lpwstr>
  </property>
</Properties>
</file>