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75" r:id="rId3"/>
    <p:sldId id="257" r:id="rId4"/>
    <p:sldId id="258" r:id="rId5"/>
    <p:sldId id="259" r:id="rId6"/>
    <p:sldId id="260" r:id="rId7"/>
    <p:sldId id="261" r:id="rId8"/>
    <p:sldId id="262" r:id="rId9"/>
    <p:sldId id="264" r:id="rId10"/>
    <p:sldId id="265" r:id="rId11"/>
    <p:sldId id="273" r:id="rId12"/>
    <p:sldId id="274" r:id="rId13"/>
    <p:sldId id="276" r:id="rId14"/>
    <p:sldId id="266" r:id="rId15"/>
    <p:sldId id="277" r:id="rId16"/>
    <p:sldId id="267" r:id="rId17"/>
    <p:sldId id="270" r:id="rId18"/>
    <p:sldId id="271"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405130"/>
          </a:xfrm>
        </p:spPr>
        <p:txBody>
          <a:bodyPr>
            <a:noAutofit/>
          </a:bodyPr>
          <a:p>
            <a:pPr algn="ctr"/>
            <a:r>
              <a:rPr lang="en-US" sz="2400" b="1">
                <a:solidFill>
                  <a:srgbClr val="FF0000"/>
                </a:solidFill>
              </a:rPr>
              <a:t>Spring Boot Syllabus</a:t>
            </a:r>
            <a:endParaRPr lang="en-US" sz="2400" b="1">
              <a:solidFill>
                <a:srgbClr val="FF0000"/>
              </a:solidFill>
            </a:endParaRPr>
          </a:p>
        </p:txBody>
      </p:sp>
      <p:sp>
        <p:nvSpPr>
          <p:cNvPr id="3" name="Content Placeholder 2"/>
          <p:cNvSpPr>
            <a:spLocks noGrp="1"/>
          </p:cNvSpPr>
          <p:nvPr>
            <p:ph idx="1"/>
          </p:nvPr>
        </p:nvSpPr>
        <p:spPr>
          <a:xfrm>
            <a:off x="98425" y="405130"/>
            <a:ext cx="11911330" cy="6309360"/>
          </a:xfrm>
        </p:spPr>
        <p:txBody>
          <a:bodyPr/>
          <a:p>
            <a:pPr marL="342900" indent="-342900">
              <a:buAutoNum type="arabicPeriod"/>
            </a:pPr>
            <a:r>
              <a:rPr lang="en-US" sz="1800" b="1">
                <a:solidFill>
                  <a:srgbClr val="FF0000"/>
                </a:solidFill>
              </a:rPr>
              <a:t>Spring Boot Introduction</a:t>
            </a:r>
            <a:endParaRPr lang="en-US" sz="1800" b="1">
              <a:solidFill>
                <a:srgbClr val="FF0000"/>
              </a:solidFill>
            </a:endParaRPr>
          </a:p>
          <a:p>
            <a:pPr marL="342900" indent="-342900">
              <a:buAutoNum type="arabicPeriod"/>
            </a:pPr>
            <a:r>
              <a:rPr lang="en-US" sz="1800" b="1">
                <a:solidFill>
                  <a:srgbClr val="FF0000"/>
                </a:solidFill>
              </a:rPr>
              <a:t>Spring Boot Dependecy Injection (1)</a:t>
            </a:r>
            <a:endParaRPr lang="en-US" sz="1800" b="1">
              <a:solidFill>
                <a:srgbClr val="FF0000"/>
              </a:solidFill>
            </a:endParaRPr>
          </a:p>
          <a:p>
            <a:pPr marL="342900" indent="-342900">
              <a:buAutoNum type="arabicPeriod"/>
            </a:pPr>
            <a:r>
              <a:rPr lang="en-US" sz="1800" b="1">
                <a:solidFill>
                  <a:srgbClr val="FF0000"/>
                </a:solidFill>
              </a:rPr>
              <a:t>Spring Boot web </a:t>
            </a:r>
            <a:endParaRPr lang="en-US" sz="1800" b="1">
              <a:solidFill>
                <a:srgbClr val="FF0000"/>
              </a:solidFill>
            </a:endParaRPr>
          </a:p>
          <a:p>
            <a:pPr marL="342900" indent="-342900">
              <a:buAutoNum type="arabicPeriod"/>
            </a:pPr>
            <a:r>
              <a:rPr lang="en-US" sz="1800" b="1">
                <a:solidFill>
                  <a:srgbClr val="FF0000"/>
                </a:solidFill>
              </a:rPr>
              <a:t>Spring Boot Web MVC</a:t>
            </a:r>
            <a:endParaRPr lang="en-US" sz="1800" b="1">
              <a:solidFill>
                <a:srgbClr val="FF0000"/>
              </a:solidFill>
            </a:endParaRPr>
          </a:p>
          <a:p>
            <a:pPr marL="342900" indent="-342900">
              <a:buAutoNum type="arabicPeriod"/>
            </a:pPr>
            <a:r>
              <a:rPr lang="en-US" sz="1800"/>
              <a:t>Spring Boot Mapping for Web Api</a:t>
            </a:r>
            <a:endParaRPr lang="en-US" sz="1800"/>
          </a:p>
          <a:p>
            <a:pPr marL="342900" indent="-342900">
              <a:buAutoNum type="arabicPeriod"/>
            </a:pPr>
            <a:r>
              <a:rPr lang="en-US" sz="1800"/>
              <a:t>Spring Boot Jpa With All Crud Operations</a:t>
            </a:r>
            <a:endParaRPr lang="en-US" sz="1800"/>
          </a:p>
          <a:p>
            <a:pPr marL="342900" indent="-342900">
              <a:buAutoNum type="arabicPeriod"/>
            </a:pPr>
            <a:r>
              <a:rPr lang="en-US" sz="1800"/>
              <a:t>Spring Boot Api Development</a:t>
            </a:r>
            <a:endParaRPr lang="en-US" sz="1800"/>
          </a:p>
          <a:p>
            <a:pPr marL="342900" indent="-342900">
              <a:buAutoNum type="arabicPeriod"/>
            </a:pPr>
            <a:r>
              <a:rPr lang="en-US" sz="1800"/>
              <a:t>Spring Boot Postman Api Testing</a:t>
            </a:r>
            <a:endParaRPr lang="en-US" sz="1800"/>
          </a:p>
          <a:p>
            <a:pPr marL="342900" indent="-342900">
              <a:buAutoNum type="arabicPeriod"/>
            </a:pPr>
            <a:r>
              <a:rPr lang="en-US" sz="1800"/>
              <a:t>Spring Boot Api Testing On Postman</a:t>
            </a:r>
            <a:endParaRPr lang="en-US" sz="1800"/>
          </a:p>
          <a:p>
            <a:pPr marL="342900" indent="-342900">
              <a:buAutoNum type="arabicPeriod"/>
            </a:pPr>
            <a:r>
              <a:rPr lang="en-US" sz="1800"/>
              <a:t>Spring Boot Security</a:t>
            </a:r>
            <a:endParaRPr lang="en-US" sz="1800"/>
          </a:p>
          <a:p>
            <a:pPr marL="342900" indent="-342900">
              <a:buAutoNum type="arabicPeriod"/>
            </a:pPr>
            <a:r>
              <a:rPr lang="en-US" sz="1800"/>
              <a:t>Microservices with Spring Boot.</a:t>
            </a:r>
            <a:endParaRPr lang="en-US" sz="1800"/>
          </a:p>
          <a:p>
            <a:pPr marL="342900" indent="-342900">
              <a:buAutoNum type="arabicPeriod"/>
            </a:pPr>
            <a:endParaRPr 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5410" y="116205"/>
            <a:ext cx="10515600" cy="477520"/>
          </a:xfrm>
        </p:spPr>
        <p:txBody>
          <a:bodyPr/>
          <a:p>
            <a:r>
              <a:rPr lang="en-US" altLang="en-US" sz="2400" b="1">
                <a:solidFill>
                  <a:srgbClr val="FF0000"/>
                </a:solidFill>
                <a:latin typeface="Cambria" panose="02040503050406030204" charset="0"/>
                <a:cs typeface="Cambria" panose="02040503050406030204" charset="0"/>
                <a:sym typeface="+mn-ea"/>
              </a:rPr>
              <a:t>What is Spring Boot?</a:t>
            </a:r>
            <a:endParaRPr lang="en-US" altLang="en-US" sz="2400" b="1">
              <a:solidFill>
                <a:srgbClr val="FF0000"/>
              </a:solidFill>
              <a:latin typeface="Cambria" panose="02040503050406030204" charset="0"/>
              <a:cs typeface="Cambria" panose="02040503050406030204" charset="0"/>
              <a:sym typeface="+mn-ea"/>
            </a:endParaRPr>
          </a:p>
        </p:txBody>
      </p:sp>
      <p:sp>
        <p:nvSpPr>
          <p:cNvPr id="3" name="Content Placeholder 2"/>
          <p:cNvSpPr>
            <a:spLocks noGrp="1"/>
          </p:cNvSpPr>
          <p:nvPr>
            <p:ph idx="1"/>
          </p:nvPr>
        </p:nvSpPr>
        <p:spPr>
          <a:xfrm>
            <a:off x="105410" y="593725"/>
            <a:ext cx="11665585" cy="6080760"/>
          </a:xfrm>
        </p:spPr>
        <p:txBody>
          <a:bodyPr/>
          <a:p>
            <a:r>
              <a:rPr lang="en-US" altLang="en-US" sz="1800"/>
              <a:t>Spring Boot is a framework that provides pre-configured templates, tools, and embedded servers to develop Spring-based applications quickly without extensive XML configuration.</a:t>
            </a:r>
            <a:endParaRPr lang="en-US" altLang="en-US" sz="1800"/>
          </a:p>
          <a:p>
            <a:r>
              <a:rPr lang="en-US" altLang="en-US" sz="1800"/>
              <a:t>It is part of the Spring ecosystem and is primarily used to create microservices, web applications, REST APIs, and enterprise applications.</a:t>
            </a:r>
            <a:endParaRPr lang="en-US" altLang="en-US" sz="1800"/>
          </a:p>
          <a:p>
            <a:r>
              <a:rPr lang="en-US" altLang="en-US" sz="1800"/>
              <a:t>Spring Boot is an extension of the Spring Framework that makes it easy to create standalone, production-ready, and spring-based applications with minimal effort.</a:t>
            </a:r>
            <a:endParaRPr lang="en-US" altLang="en-US" sz="1800"/>
          </a:p>
          <a:p>
            <a:r>
              <a:rPr lang="en-US" altLang="en-US" sz="1800"/>
              <a:t> "Spring Boot is opinionated Spring" — it makes decisions for you to save setup time.</a:t>
            </a:r>
            <a:endParaRPr lang="en-US" altLang="en-US" sz="1800"/>
          </a:p>
          <a:p>
            <a:r>
              <a:rPr lang="en-US" altLang="en-US" sz="1800"/>
              <a:t> Developed By:</a:t>
            </a:r>
            <a:endParaRPr lang="en-US" altLang="en-US" sz="1800"/>
          </a:p>
          <a:p>
            <a:r>
              <a:rPr lang="en-US" altLang="en-US" sz="1800"/>
              <a:t>Pivotal Team (part of the Spring team)</a:t>
            </a:r>
            <a:endParaRPr lang="en-US" altLang="en-US" sz="1800"/>
          </a:p>
          <a:p>
            <a:r>
              <a:rPr lang="en-US" altLang="en-US" sz="1800"/>
              <a:t>First released in 2014 by developers at VMware</a:t>
            </a:r>
            <a:endParaRPr lang="en-US" altLang="en-US" sz="1800"/>
          </a:p>
          <a:p>
            <a:endParaRPr lang="en-US" altLang="en-US" sz="1800"/>
          </a:p>
          <a:p>
            <a:endParaRPr lang="en-US" altLang="en-US" sz="1800"/>
          </a:p>
        </p:txBody>
      </p:sp>
      <p:graphicFrame>
        <p:nvGraphicFramePr>
          <p:cNvPr id="4" name="Table 3"/>
          <p:cNvGraphicFramePr/>
          <p:nvPr>
            <p:custDataLst>
              <p:tags r:id="rId1"/>
            </p:custDataLst>
          </p:nvPr>
        </p:nvGraphicFramePr>
        <p:xfrm>
          <a:off x="105410" y="3988435"/>
          <a:ext cx="11936730" cy="2686050"/>
        </p:xfrm>
        <a:graphic>
          <a:graphicData uri="http://schemas.openxmlformats.org/drawingml/2006/table">
            <a:tbl>
              <a:tblPr/>
              <a:tblGrid>
                <a:gridCol w="4253230"/>
                <a:gridCol w="7683500"/>
              </a:tblGrid>
              <a:tr h="298450">
                <a:tc>
                  <a:txBody>
                    <a:bodyPr/>
                    <a:p>
                      <a:pPr algn="ctr"/>
                      <a:r>
                        <a:rPr sz="2000" b="1">
                          <a:latin typeface="Cambria" panose="02040503050406030204" charset="0"/>
                          <a:cs typeface="Cambria" panose="02040503050406030204" charset="0"/>
                        </a:rPr>
                        <a:t>Feature</a:t>
                      </a:r>
                      <a:endParaRPr sz="20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c>
                  <a:txBody>
                    <a:bodyPr/>
                    <a:p>
                      <a:pPr algn="ctr"/>
                      <a:r>
                        <a:rPr sz="2000" b="1">
                          <a:latin typeface="Cambria" panose="02040503050406030204" charset="0"/>
                          <a:cs typeface="Cambria" panose="02040503050406030204" charset="0"/>
                        </a:rPr>
                        <a:t>Description</a:t>
                      </a:r>
                      <a:endParaRPr sz="2000" b="1">
                        <a:latin typeface="Cambria" panose="02040503050406030204" charset="0"/>
                        <a:cs typeface="Cambria" panose="02040503050406030204" charset="0"/>
                      </a:endParaRPr>
                    </a:p>
                  </a:txBody>
                  <a:tcPr marL="0" marR="0" marT="0" marB="0" anchor="ctr" anchorCtr="0">
                    <a:lnL>
                      <a:noFill/>
                    </a:lnL>
                    <a:lnR>
                      <a:noFill/>
                    </a:lnR>
                    <a:lnT>
                      <a:noFill/>
                    </a:lnT>
                    <a:lnB>
                      <a:noFill/>
                    </a:lnB>
                    <a:noFill/>
                  </a:tcPr>
                </a:tc>
              </a:tr>
              <a:tr h="298450">
                <a:tc>
                  <a:txBody>
                    <a:bodyPr/>
                    <a:p>
                      <a:r>
                        <a:rPr sz="1600" b="0">
                          <a:latin typeface="Cambria" panose="02040503050406030204" charset="0"/>
                          <a:cs typeface="Cambria" panose="02040503050406030204" charset="0"/>
                        </a:rPr>
                        <a:t> Auto Configuration</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Automatically configures beans based on the classpath</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298450">
                <a:tc>
                  <a:txBody>
                    <a:bodyPr/>
                    <a:p>
                      <a:r>
                        <a:rPr sz="1600" b="0">
                          <a:latin typeface="Cambria" panose="02040503050406030204" charset="0"/>
                          <a:cs typeface="Cambria" panose="02040503050406030204" charset="0"/>
                        </a:rPr>
                        <a:t> Starter Dependencies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Simplified dependency management (spring-boot-starter-web, etc.)</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298450">
                <a:tc>
                  <a:txBody>
                    <a:bodyPr/>
                    <a:p>
                      <a:r>
                        <a:rPr sz="1600" b="0">
                          <a:latin typeface="Cambria" panose="02040503050406030204" charset="0"/>
                          <a:cs typeface="Cambria" panose="02040503050406030204" charset="0"/>
                        </a:rPr>
                        <a:t> Embedded Server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Comes with embedded Tomcat, Jetty, or Netty</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298450">
                <a:tc>
                  <a:txBody>
                    <a:bodyPr/>
                    <a:p>
                      <a:r>
                        <a:rPr sz="1600" b="0">
                          <a:latin typeface="Cambria" panose="02040503050406030204" charset="0"/>
                          <a:cs typeface="Cambria" panose="02040503050406030204" charset="0"/>
                        </a:rPr>
                        <a:t> Spring Boot CLI</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Command-line tool to create/run Spring apps quickly</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298450">
                <a:tc>
                  <a:txBody>
                    <a:bodyPr/>
                    <a:p>
                      <a:r>
                        <a:rPr sz="1600" b="0">
                          <a:latin typeface="Cambria" panose="02040503050406030204" charset="0"/>
                          <a:cs typeface="Cambria" panose="02040503050406030204" charset="0"/>
                        </a:rPr>
                        <a:t> Actuator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Provides endpoints for monitoring (health, metrics, etc.)</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298450">
                <a:tc>
                  <a:txBody>
                    <a:bodyPr/>
                    <a:p>
                      <a:r>
                        <a:rPr sz="1600" b="0">
                          <a:latin typeface="Cambria" panose="02040503050406030204" charset="0"/>
                          <a:cs typeface="Cambria" panose="02040503050406030204" charset="0"/>
                        </a:rPr>
                        <a:t> Easy Microservice Support</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Integrated with Spring Cloud for building distributed systems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298450">
                <a:tc>
                  <a:txBody>
                    <a:bodyPr/>
                    <a:p>
                      <a:r>
                        <a:rPr sz="1600" b="0">
                          <a:latin typeface="Cambria" panose="02040503050406030204" charset="0"/>
                          <a:cs typeface="Cambria" panose="02040503050406030204" charset="0"/>
                        </a:rPr>
                        <a:t> DevTools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Hot reloading for faster development</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298450">
                <a:tc>
                  <a:txBody>
                    <a:bodyPr/>
                    <a:p>
                      <a:r>
                        <a:rPr sz="1600" b="0">
                          <a:latin typeface="Cambria" panose="02040503050406030204" charset="0"/>
                          <a:cs typeface="Cambria" panose="02040503050406030204" charset="0"/>
                        </a:rPr>
                        <a:t> Testing Support</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b="0">
                          <a:latin typeface="Cambria" panose="02040503050406030204" charset="0"/>
                          <a:cs typeface="Cambria" panose="02040503050406030204" charset="0"/>
                        </a:rPr>
                        <a:t>Built-in JUnit and mock testing tools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Table 2"/>
          <p:cNvGraphicFramePr/>
          <p:nvPr>
            <p:custDataLst>
              <p:tags r:id="rId1"/>
            </p:custDataLst>
          </p:nvPr>
        </p:nvGraphicFramePr>
        <p:xfrm>
          <a:off x="96520" y="392430"/>
          <a:ext cx="11998960" cy="6322060"/>
        </p:xfrm>
        <a:graphic>
          <a:graphicData uri="http://schemas.openxmlformats.org/drawingml/2006/table">
            <a:tbl>
              <a:tblPr/>
              <a:tblGrid>
                <a:gridCol w="2022475"/>
                <a:gridCol w="4279900"/>
                <a:gridCol w="5696585"/>
              </a:tblGrid>
              <a:tr h="410210">
                <a:tc>
                  <a:txBody>
                    <a:bodyPr/>
                    <a:p>
                      <a:pPr algn="ctr"/>
                      <a:r>
                        <a:rPr sz="2000" b="1">
                          <a:latin typeface="Cambria" panose="02040503050406030204" charset="0"/>
                          <a:cs typeface="Cambria" panose="02040503050406030204" charset="0"/>
                        </a:rPr>
                        <a:t>Aspect</a:t>
                      </a:r>
                      <a:endParaRPr sz="20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pPr algn="ctr"/>
                      <a:r>
                        <a:rPr sz="2000" b="1">
                          <a:latin typeface="Cambria" panose="02040503050406030204" charset="0"/>
                          <a:cs typeface="Cambria" panose="02040503050406030204" charset="0"/>
                        </a:rPr>
                        <a:t>Spring Framework</a:t>
                      </a:r>
                      <a:endParaRPr sz="20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pPr algn="ctr"/>
                      <a:r>
                        <a:rPr sz="2000" b="1">
                          <a:latin typeface="Cambria" panose="02040503050406030204" charset="0"/>
                          <a:cs typeface="Cambria" panose="02040503050406030204" charset="0"/>
                        </a:rPr>
                        <a:t>Spring Boot</a:t>
                      </a:r>
                      <a:endParaRPr sz="20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657860">
                <a:tc>
                  <a:txBody>
                    <a:bodyPr/>
                    <a:p>
                      <a:r>
                        <a:rPr sz="1600">
                          <a:latin typeface="Cambria" panose="02040503050406030204" charset="0"/>
                          <a:cs typeface="Cambria" panose="02040503050406030204" charset="0"/>
                        </a:rPr>
                        <a:t>Definition</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A comprehensive framework for enterprise Java development.</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A framework built on top of Spring to simplify development and configuration.</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655320">
                <a:tc>
                  <a:txBody>
                    <a:bodyPr/>
                    <a:p>
                      <a:r>
                        <a:rPr sz="1600">
                          <a:latin typeface="Cambria" panose="02040503050406030204" charset="0"/>
                          <a:cs typeface="Cambria" panose="02040503050406030204" charset="0"/>
                        </a:rPr>
                        <a:t>Configuration</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Requires extensive XML or Java-based configuration.</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Provides auto-configuration and embedded defaults to reduce manual setup.</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657225">
                <a:tc>
                  <a:txBody>
                    <a:bodyPr/>
                    <a:p>
                      <a:r>
                        <a:rPr sz="1600">
                          <a:latin typeface="Cambria" panose="02040503050406030204" charset="0"/>
                          <a:cs typeface="Cambria" panose="02040503050406030204" charset="0"/>
                        </a:rPr>
                        <a:t>Dependency Management</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Developers must manually manage dependencies.</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Uses Spring Boot Starters to manage dependencies automatically.</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657225">
                <a:tc>
                  <a:txBody>
                    <a:bodyPr/>
                    <a:p>
                      <a:r>
                        <a:rPr sz="1600">
                          <a:latin typeface="Cambria" panose="02040503050406030204" charset="0"/>
                          <a:cs typeface="Cambria" panose="02040503050406030204" charset="0"/>
                        </a:rPr>
                        <a:t>Deployment</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Requires deploying WAR files to an external server (Tomcat, Jetty, etc.).</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Can run standalone with embedded servers (Tomcat, Jetty, Undertow).</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656590">
                <a:tc>
                  <a:txBody>
                    <a:bodyPr/>
                    <a:p>
                      <a:r>
                        <a:rPr sz="1600">
                          <a:latin typeface="Cambria" panose="02040503050406030204" charset="0"/>
                          <a:cs typeface="Cambria" panose="02040503050406030204" charset="0"/>
                        </a:rPr>
                        <a:t>Setup Complexity</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Setup is time-consuming due to configuration overhead.</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Setup is very simple — often requires only one annotation (@SpringBootApplication).</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657860">
                <a:tc>
                  <a:txBody>
                    <a:bodyPr/>
                    <a:p>
                      <a:r>
                        <a:rPr sz="1600">
                          <a:latin typeface="Cambria" panose="02040503050406030204" charset="0"/>
                          <a:cs typeface="Cambria" panose="02040503050406030204" charset="0"/>
                        </a:rPr>
                        <a:t>XML Configuration</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Commonly uses XML configuration files.</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Avoids XML — relies mostly on annotations and Java-based configuration.</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655320">
                <a:tc>
                  <a:txBody>
                    <a:bodyPr/>
                    <a:p>
                      <a:r>
                        <a:rPr sz="1600">
                          <a:latin typeface="Cambria" panose="02040503050406030204" charset="0"/>
                          <a:cs typeface="Cambria" panose="02040503050406030204" charset="0"/>
                        </a:rPr>
                        <a:t>Build Tools Integration</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Works with Maven/Gradle, but needs explicit configurations.</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Deep integration with Maven/Gradle; automatically configures build settings.</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657860">
                <a:tc>
                  <a:txBody>
                    <a:bodyPr/>
                    <a:p>
                      <a:r>
                        <a:rPr sz="1600">
                          <a:latin typeface="Cambria" panose="02040503050406030204" charset="0"/>
                          <a:cs typeface="Cambria" panose="02040503050406030204" charset="0"/>
                        </a:rPr>
                        <a:t>Production-Ready Features</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Does not provide built-in monitoring or metrics tools.</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Comes with Spring Boot Actuator for monitoring, health checks, and metrics.</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656590">
                <a:tc>
                  <a:txBody>
                    <a:bodyPr/>
                    <a:p>
                      <a:r>
                        <a:rPr sz="1600">
                          <a:latin typeface="Cambria" panose="02040503050406030204" charset="0"/>
                          <a:cs typeface="Cambria" panose="02040503050406030204" charset="0"/>
                        </a:rPr>
                        <a:t>Focus</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Provides a flexible foundation for various kinds of applications.</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r>
                        <a:rPr sz="1600">
                          <a:latin typeface="Cambria" panose="02040503050406030204" charset="0"/>
                          <a:cs typeface="Cambria" panose="02040503050406030204" charset="0"/>
                        </a:rPr>
                        <a:t>Focuses on rapid application development and microservices.</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sp>
        <p:nvSpPr>
          <p:cNvPr id="7" name="Text Box 6"/>
          <p:cNvSpPr txBox="1"/>
          <p:nvPr/>
        </p:nvSpPr>
        <p:spPr>
          <a:xfrm>
            <a:off x="95885" y="24130"/>
            <a:ext cx="6096000" cy="368300"/>
          </a:xfrm>
          <a:prstGeom prst="rect">
            <a:avLst/>
          </a:prstGeom>
          <a:noFill/>
        </p:spPr>
        <p:txBody>
          <a:bodyPr wrap="square" rtlCol="0" anchor="t">
            <a:spAutoFit/>
          </a:bodyPr>
          <a:p>
            <a:r>
              <a:rPr lang="en-US" b="1">
                <a:latin typeface="Cambria" panose="02040503050406030204" charset="0"/>
                <a:cs typeface="Cambria" panose="02040503050406030204" charset="0"/>
                <a:sym typeface="+mn-ea"/>
              </a:rPr>
              <a:t>Difference Between Spring And Spring boot Framework</a:t>
            </a:r>
            <a:endParaRPr lang="en-US" b="1">
              <a:latin typeface="Cambria" panose="02040503050406030204" charset="0"/>
              <a:cs typeface="Cambria" panose="0204050305040603020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470535"/>
          </a:xfrm>
        </p:spPr>
        <p:txBody>
          <a:bodyPr>
            <a:normAutofit fontScale="90000"/>
          </a:bodyPr>
          <a:p>
            <a:pPr algn="ctr"/>
            <a:r>
              <a:rPr lang="en-US" sz="3200" b="1">
                <a:solidFill>
                  <a:srgbClr val="FF0000"/>
                </a:solidFill>
              </a:rPr>
              <a:t>Advantages Of Spring Boot</a:t>
            </a:r>
            <a:endParaRPr lang="en-US" sz="3200" b="1">
              <a:solidFill>
                <a:srgbClr val="FF0000"/>
              </a:solidFill>
            </a:endParaRPr>
          </a:p>
        </p:txBody>
      </p:sp>
      <p:sp>
        <p:nvSpPr>
          <p:cNvPr id="3" name="Content Placeholder 2"/>
          <p:cNvSpPr>
            <a:spLocks noGrp="1"/>
          </p:cNvSpPr>
          <p:nvPr>
            <p:ph idx="1"/>
          </p:nvPr>
        </p:nvSpPr>
        <p:spPr>
          <a:xfrm>
            <a:off x="348615" y="470535"/>
            <a:ext cx="11843385" cy="5514340"/>
          </a:xfrm>
        </p:spPr>
        <p:txBody>
          <a:bodyPr/>
          <a:p>
            <a:pPr marL="457200" indent="-457200">
              <a:buAutoNum type="arabicPeriod"/>
            </a:pPr>
            <a:r>
              <a:rPr lang="en-US" altLang="en-US" sz="2000"/>
              <a:t>Faster Development: Minimal configuration and ready-to-use templates reduce development time.</a:t>
            </a:r>
            <a:endParaRPr lang="en-US" altLang="en-US" sz="2000"/>
          </a:p>
          <a:p>
            <a:pPr marL="457200" indent="-457200">
              <a:buAutoNum type="arabicPeriod"/>
            </a:pPr>
            <a:r>
              <a:rPr lang="en-US" altLang="en-US" sz="2000"/>
              <a:t>Reduced Boilerplate Code: Less XML or annotation configuration required.</a:t>
            </a:r>
            <a:endParaRPr lang="en-US" altLang="en-US" sz="2000"/>
          </a:p>
          <a:p>
            <a:pPr marL="457200" indent="-457200">
              <a:buAutoNum type="arabicPeriod"/>
            </a:pPr>
            <a:r>
              <a:rPr lang="en-US" altLang="en-US" sz="2000"/>
              <a:t>Easy Deployment: Embedded servers make it easy to run applications anywhere.</a:t>
            </a:r>
            <a:endParaRPr lang="en-US" altLang="en-US" sz="2000"/>
          </a:p>
          <a:p>
            <a:pPr marL="457200" indent="-457200">
              <a:buAutoNum type="arabicPeriod"/>
            </a:pPr>
            <a:r>
              <a:rPr lang="en-US" altLang="en-US" sz="2000"/>
              <a:t>Microservices Friendly: Ideal for building modular and independent microservices.</a:t>
            </a:r>
            <a:endParaRPr lang="en-US" altLang="en-US" sz="2000"/>
          </a:p>
          <a:p>
            <a:pPr marL="457200" indent="-457200">
              <a:buAutoNum type="arabicPeriod"/>
            </a:pPr>
            <a:r>
              <a:rPr lang="en-US" altLang="en-US" sz="2000"/>
              <a:t>Strong Community Support: Part of the Spring ecosystem with extensive documentation and tutorials.</a:t>
            </a:r>
            <a:endParaRPr lang="en-US" altLang="en-US" sz="2000"/>
          </a:p>
        </p:txBody>
      </p:sp>
      <p:graphicFrame>
        <p:nvGraphicFramePr>
          <p:cNvPr id="4" name="Table 3"/>
          <p:cNvGraphicFramePr/>
          <p:nvPr>
            <p:custDataLst>
              <p:tags r:id="rId1"/>
            </p:custDataLst>
          </p:nvPr>
        </p:nvGraphicFramePr>
        <p:xfrm>
          <a:off x="179070" y="2914015"/>
          <a:ext cx="11892280" cy="2969895"/>
        </p:xfrm>
        <a:graphic>
          <a:graphicData uri="http://schemas.openxmlformats.org/drawingml/2006/table">
            <a:tbl>
              <a:tblPr/>
              <a:tblGrid>
                <a:gridCol w="4002405"/>
                <a:gridCol w="7889875"/>
              </a:tblGrid>
              <a:tr h="411480">
                <a:tc>
                  <a:txBody>
                    <a:bodyPr/>
                    <a:p>
                      <a:pPr algn="ctr"/>
                      <a:r>
                        <a:rPr sz="1800" b="1">
                          <a:latin typeface="Cambria" panose="02040503050406030204" charset="0"/>
                          <a:cs typeface="Cambria" panose="02040503050406030204" charset="0"/>
                        </a:rPr>
                        <a:t>Reason</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pPr algn="ctr"/>
                      <a:r>
                        <a:rPr sz="1800" b="1">
                          <a:latin typeface="Cambria" panose="02040503050406030204" charset="0"/>
                          <a:cs typeface="Cambria" panose="02040503050406030204" charset="0"/>
                        </a:rPr>
                        <a:t>Benefit</a:t>
                      </a:r>
                      <a:endParaRPr sz="1800" b="1">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65125">
                <a:tc>
                  <a:txBody>
                    <a:bodyPr/>
                    <a:p>
                      <a:pPr algn="l"/>
                      <a:r>
                        <a:rPr sz="1600" b="0">
                          <a:latin typeface="Cambria" panose="02040503050406030204" charset="0"/>
                          <a:cs typeface="Cambria" panose="02040503050406030204" charset="0"/>
                        </a:rPr>
                        <a:t> Rapid development</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pPr algn="l"/>
                      <a:r>
                        <a:rPr sz="1600" b="0">
                          <a:latin typeface="Cambria" panose="02040503050406030204" charset="0"/>
                          <a:cs typeface="Cambria" panose="02040503050406030204" charset="0"/>
                        </a:rPr>
                        <a:t>Saves time on setup/config</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65760">
                <a:tc>
                  <a:txBody>
                    <a:bodyPr/>
                    <a:p>
                      <a:pPr algn="l"/>
                      <a:r>
                        <a:rPr sz="1600" b="0">
                          <a:latin typeface="Cambria" panose="02040503050406030204" charset="0"/>
                          <a:cs typeface="Cambria" panose="02040503050406030204" charset="0"/>
                        </a:rPr>
                        <a:t> Built-in best practices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pPr algn="l"/>
                      <a:r>
                        <a:rPr sz="1600" b="0">
                          <a:latin typeface="Cambria" panose="02040503050406030204" charset="0"/>
                          <a:cs typeface="Cambria" panose="02040503050406030204" charset="0"/>
                        </a:rPr>
                        <a:t>Follows Spring conventions automatically</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65760">
                <a:tc>
                  <a:txBody>
                    <a:bodyPr/>
                    <a:p>
                      <a:pPr algn="l"/>
                      <a:r>
                        <a:rPr sz="1600" b="0">
                          <a:latin typeface="Cambria" panose="02040503050406030204" charset="0"/>
                          <a:cs typeface="Cambria" panose="02040503050406030204" charset="0"/>
                        </a:rPr>
                        <a:t> Auto dependency management</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pPr algn="l"/>
                      <a:r>
                        <a:rPr sz="1600" b="0">
                          <a:latin typeface="Cambria" panose="02040503050406030204" charset="0"/>
                          <a:cs typeface="Cambria" panose="02040503050406030204" charset="0"/>
                        </a:rPr>
                        <a:t>Uses Spring Starters to reduce version conflicts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65125">
                <a:tc>
                  <a:txBody>
                    <a:bodyPr/>
                    <a:p>
                      <a:pPr algn="l"/>
                      <a:r>
                        <a:rPr sz="1600" b="0">
                          <a:latin typeface="Cambria" panose="02040503050406030204" charset="0"/>
                          <a:cs typeface="Cambria" panose="02040503050406030204" charset="0"/>
                        </a:rPr>
                        <a:t> Runs anywhere</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pPr algn="l"/>
                      <a:r>
                        <a:rPr sz="1600" b="0">
                          <a:latin typeface="Cambria" panose="02040503050406030204" charset="0"/>
                          <a:cs typeface="Cambria" panose="02040503050406030204" charset="0"/>
                        </a:rPr>
                        <a:t>Easily deployable JAR/WAR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65125">
                <a:tc>
                  <a:txBody>
                    <a:bodyPr/>
                    <a:p>
                      <a:pPr algn="l"/>
                      <a:r>
                        <a:rPr sz="1600" b="0">
                          <a:latin typeface="Cambria" panose="02040503050406030204" charset="0"/>
                          <a:cs typeface="Cambria" panose="02040503050406030204" charset="0"/>
                        </a:rPr>
                        <a:t> Less configuration</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pPr algn="l"/>
                      <a:r>
                        <a:rPr sz="1600" b="0">
                          <a:latin typeface="Cambria" panose="02040503050406030204" charset="0"/>
                          <a:cs typeface="Cambria" panose="02040503050406030204" charset="0"/>
                        </a:rPr>
                        <a:t>No XML, less Java config</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66395">
                <a:tc>
                  <a:txBody>
                    <a:bodyPr/>
                    <a:p>
                      <a:pPr algn="l"/>
                      <a:r>
                        <a:rPr sz="1600" b="0">
                          <a:latin typeface="Cambria" panose="02040503050406030204" charset="0"/>
                          <a:cs typeface="Cambria" panose="02040503050406030204" charset="0"/>
                        </a:rPr>
                        <a:t> Easy deployment</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pPr algn="l"/>
                      <a:r>
                        <a:rPr sz="1600" b="0">
                          <a:latin typeface="Cambria" panose="02040503050406030204" charset="0"/>
                          <a:cs typeface="Cambria" panose="02040503050406030204" charset="0"/>
                        </a:rPr>
                        <a:t>Just run: java -jar yourapp.jar</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r h="365125">
                <a:tc>
                  <a:txBody>
                    <a:bodyPr/>
                    <a:p>
                      <a:pPr algn="l"/>
                      <a:r>
                        <a:rPr sz="1600" b="0">
                          <a:latin typeface="Cambria" panose="02040503050406030204" charset="0"/>
                          <a:cs typeface="Cambria" panose="02040503050406030204" charset="0"/>
                        </a:rPr>
                        <a:t>Cloud-ready</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c>
                  <a:txBody>
                    <a:bodyPr/>
                    <a:p>
                      <a:pPr algn="l"/>
                      <a:r>
                        <a:rPr sz="1600" b="0">
                          <a:latin typeface="Cambria" panose="02040503050406030204" charset="0"/>
                          <a:cs typeface="Cambria" panose="02040503050406030204" charset="0"/>
                        </a:rPr>
                        <a:t>Perfect for microservices, works well with Docker/Kubernetes</a:t>
                      </a:r>
                      <a:endParaRPr sz="1600" b="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sp>
        <p:nvSpPr>
          <p:cNvPr id="5" name="Title 1"/>
          <p:cNvSpPr>
            <a:spLocks noGrp="1"/>
          </p:cNvSpPr>
          <p:nvPr/>
        </p:nvSpPr>
        <p:spPr>
          <a:xfrm>
            <a:off x="179070" y="2629535"/>
            <a:ext cx="11174730" cy="2844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a:solidFill>
                  <a:srgbClr val="FF0000"/>
                </a:solidFill>
                <a:latin typeface="Cambria" panose="02040503050406030204" charset="0"/>
                <a:cs typeface="Cambria" panose="02040503050406030204" charset="0"/>
              </a:rPr>
              <a:t>why use spring Boot</a:t>
            </a:r>
            <a:endParaRPr lang="en-US" sz="1800" b="1">
              <a:solidFill>
                <a:srgbClr val="FF0000"/>
              </a:solidFill>
              <a:latin typeface="Cambria" panose="02040503050406030204" charset="0"/>
              <a:cs typeface="Cambria" panose="0204050305040603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0805" y="0"/>
            <a:ext cx="11262995" cy="345440"/>
          </a:xfrm>
        </p:spPr>
        <p:txBody>
          <a:bodyPr>
            <a:normAutofit fontScale="90000"/>
          </a:bodyPr>
          <a:p>
            <a:r>
              <a:rPr lang="en-US" sz="2800" b="1">
                <a:solidFill>
                  <a:srgbClr val="FF0000"/>
                </a:solidFill>
                <a:latin typeface="Cambria" panose="02040503050406030204" charset="0"/>
                <a:cs typeface="Cambria" panose="02040503050406030204" charset="0"/>
              </a:rPr>
              <a:t>Applications of spring boot</a:t>
            </a:r>
            <a:endParaRPr lang="en-US" sz="2800" b="1">
              <a:solidFill>
                <a:srgbClr val="FF0000"/>
              </a:solidFill>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90805" y="472440"/>
          <a:ext cx="11906250" cy="2357120"/>
        </p:xfrm>
        <a:graphic>
          <a:graphicData uri="http://schemas.openxmlformats.org/drawingml/2006/table">
            <a:tbl>
              <a:tblPr/>
              <a:tblGrid>
                <a:gridCol w="5352415"/>
                <a:gridCol w="6553835"/>
              </a:tblGrid>
              <a:tr h="294640">
                <a:tc>
                  <a:txBody>
                    <a:bodyPr/>
                    <a:p>
                      <a:pPr algn="ctr"/>
                      <a:r>
                        <a:rPr sz="1800" b="1"/>
                        <a:t>Application Type</a:t>
                      </a:r>
                      <a:endParaRPr sz="1800" b="1"/>
                    </a:p>
                  </a:txBody>
                  <a:tcPr marL="0" marR="0" marT="0" marB="0" anchor="ctr" anchorCtr="0">
                    <a:lnL>
                      <a:noFill/>
                    </a:lnL>
                    <a:lnR>
                      <a:noFill/>
                    </a:lnR>
                    <a:lnT>
                      <a:noFill/>
                    </a:lnT>
                    <a:lnB>
                      <a:noFill/>
                    </a:lnB>
                    <a:noFill/>
                  </a:tcPr>
                </a:tc>
                <a:tc>
                  <a:txBody>
                    <a:bodyPr/>
                    <a:p>
                      <a:pPr algn="ctr"/>
                      <a:r>
                        <a:rPr sz="1800" b="1"/>
                        <a:t>Description</a:t>
                      </a:r>
                      <a:endParaRPr sz="1800" b="1"/>
                    </a:p>
                  </a:txBody>
                  <a:tcPr marL="0" marR="0" marT="0" marB="0" anchor="ctr" anchorCtr="0">
                    <a:lnL>
                      <a:noFill/>
                    </a:lnL>
                    <a:lnR>
                      <a:noFill/>
                    </a:lnR>
                    <a:lnT>
                      <a:noFill/>
                    </a:lnT>
                    <a:lnB>
                      <a:noFill/>
                    </a:lnB>
                    <a:noFill/>
                  </a:tcPr>
                </a:tc>
              </a:tr>
              <a:tr h="294640">
                <a:tc>
                  <a:txBody>
                    <a:bodyPr/>
                    <a:p>
                      <a:pPr algn="l"/>
                      <a:r>
                        <a:rPr sz="1800" b="0"/>
                        <a:t>REST APIs</a:t>
                      </a:r>
                      <a:endParaRPr sz="1800" b="0"/>
                    </a:p>
                  </a:txBody>
                  <a:tcPr marL="0" marR="0" marT="0" marB="0" anchor="ctr" anchorCtr="0">
                    <a:lnL>
                      <a:noFill/>
                    </a:lnL>
                    <a:lnR>
                      <a:noFill/>
                    </a:lnR>
                    <a:lnT>
                      <a:noFill/>
                    </a:lnT>
                    <a:lnB>
                      <a:noFill/>
                    </a:lnB>
                    <a:noFill/>
                  </a:tcPr>
                </a:tc>
                <a:tc>
                  <a:txBody>
                    <a:bodyPr/>
                    <a:p>
                      <a:pPr algn="l"/>
                      <a:r>
                        <a:rPr sz="1800" b="0"/>
                        <a:t>Most common use (Spring Web + Spring Boot)</a:t>
                      </a:r>
                      <a:endParaRPr sz="1800" b="0"/>
                    </a:p>
                  </a:txBody>
                  <a:tcPr marL="0" marR="0" marT="0" marB="0" anchor="ctr" anchorCtr="0">
                    <a:lnL>
                      <a:noFill/>
                    </a:lnL>
                    <a:lnR>
                      <a:noFill/>
                    </a:lnR>
                    <a:lnT>
                      <a:noFill/>
                    </a:lnT>
                    <a:lnB>
                      <a:noFill/>
                    </a:lnB>
                    <a:noFill/>
                  </a:tcPr>
                </a:tc>
              </a:tr>
              <a:tr h="294640">
                <a:tc>
                  <a:txBody>
                    <a:bodyPr/>
                    <a:p>
                      <a:pPr algn="l"/>
                      <a:r>
                        <a:rPr sz="1800" b="0"/>
                        <a:t>Microservices</a:t>
                      </a:r>
                      <a:endParaRPr sz="1800" b="0"/>
                    </a:p>
                  </a:txBody>
                  <a:tcPr marL="0" marR="0" marT="0" marB="0" anchor="ctr" anchorCtr="0">
                    <a:lnL>
                      <a:noFill/>
                    </a:lnL>
                    <a:lnR>
                      <a:noFill/>
                    </a:lnR>
                    <a:lnT>
                      <a:noFill/>
                    </a:lnT>
                    <a:lnB>
                      <a:noFill/>
                    </a:lnB>
                    <a:noFill/>
                  </a:tcPr>
                </a:tc>
                <a:tc>
                  <a:txBody>
                    <a:bodyPr/>
                    <a:p>
                      <a:pPr algn="l"/>
                      <a:r>
                        <a:rPr sz="1800" b="0"/>
                        <a:t>With Spring Cloud + Spring Boot</a:t>
                      </a:r>
                      <a:endParaRPr sz="1800" b="0"/>
                    </a:p>
                  </a:txBody>
                  <a:tcPr marL="0" marR="0" marT="0" marB="0" anchor="ctr" anchorCtr="0">
                    <a:lnL>
                      <a:noFill/>
                    </a:lnL>
                    <a:lnR>
                      <a:noFill/>
                    </a:lnR>
                    <a:lnT>
                      <a:noFill/>
                    </a:lnT>
                    <a:lnB>
                      <a:noFill/>
                    </a:lnB>
                    <a:noFill/>
                  </a:tcPr>
                </a:tc>
              </a:tr>
              <a:tr h="294640">
                <a:tc>
                  <a:txBody>
                    <a:bodyPr/>
                    <a:p>
                      <a:pPr algn="l"/>
                      <a:r>
                        <a:rPr sz="1800" b="0"/>
                        <a:t>Web Applications</a:t>
                      </a:r>
                      <a:endParaRPr sz="1800" b="0"/>
                    </a:p>
                  </a:txBody>
                  <a:tcPr marL="0" marR="0" marT="0" marB="0" anchor="ctr" anchorCtr="0">
                    <a:lnL>
                      <a:noFill/>
                    </a:lnL>
                    <a:lnR>
                      <a:noFill/>
                    </a:lnR>
                    <a:lnT>
                      <a:noFill/>
                    </a:lnT>
                    <a:lnB>
                      <a:noFill/>
                    </a:lnB>
                    <a:noFill/>
                  </a:tcPr>
                </a:tc>
                <a:tc>
                  <a:txBody>
                    <a:bodyPr/>
                    <a:p>
                      <a:pPr algn="l"/>
                      <a:r>
                        <a:rPr sz="1800" b="0"/>
                        <a:t>Using Spring MVC and Thymeleaf</a:t>
                      </a:r>
                      <a:endParaRPr sz="1800" b="0"/>
                    </a:p>
                  </a:txBody>
                  <a:tcPr marL="0" marR="0" marT="0" marB="0" anchor="ctr" anchorCtr="0">
                    <a:lnL>
                      <a:noFill/>
                    </a:lnL>
                    <a:lnR>
                      <a:noFill/>
                    </a:lnR>
                    <a:lnT>
                      <a:noFill/>
                    </a:lnT>
                    <a:lnB>
                      <a:noFill/>
                    </a:lnB>
                    <a:noFill/>
                  </a:tcPr>
                </a:tc>
              </a:tr>
              <a:tr h="294640">
                <a:tc>
                  <a:txBody>
                    <a:bodyPr/>
                    <a:p>
                      <a:pPr algn="l"/>
                      <a:r>
                        <a:rPr sz="1800" b="0"/>
                        <a:t>Command-Line Applications</a:t>
                      </a:r>
                      <a:endParaRPr sz="1800" b="0"/>
                    </a:p>
                  </a:txBody>
                  <a:tcPr marL="0" marR="0" marT="0" marB="0" anchor="ctr" anchorCtr="0">
                    <a:lnL>
                      <a:noFill/>
                    </a:lnL>
                    <a:lnR>
                      <a:noFill/>
                    </a:lnR>
                    <a:lnT>
                      <a:noFill/>
                    </a:lnT>
                    <a:lnB>
                      <a:noFill/>
                    </a:lnB>
                    <a:noFill/>
                  </a:tcPr>
                </a:tc>
                <a:tc>
                  <a:txBody>
                    <a:bodyPr/>
                    <a:p>
                      <a:pPr algn="l"/>
                      <a:r>
                        <a:rPr sz="1800" b="0"/>
                        <a:t>Standalone Spring apps with no UI</a:t>
                      </a:r>
                      <a:endParaRPr sz="1800" b="0"/>
                    </a:p>
                  </a:txBody>
                  <a:tcPr marL="0" marR="0" marT="0" marB="0" anchor="ctr" anchorCtr="0">
                    <a:lnL>
                      <a:noFill/>
                    </a:lnL>
                    <a:lnR>
                      <a:noFill/>
                    </a:lnR>
                    <a:lnT>
                      <a:noFill/>
                    </a:lnT>
                    <a:lnB>
                      <a:noFill/>
                    </a:lnB>
                    <a:noFill/>
                  </a:tcPr>
                </a:tc>
              </a:tr>
              <a:tr h="294640">
                <a:tc>
                  <a:txBody>
                    <a:bodyPr/>
                    <a:p>
                      <a:pPr algn="l"/>
                      <a:r>
                        <a:rPr sz="1800" b="0"/>
                        <a:t>Enterprise Applications</a:t>
                      </a:r>
                      <a:endParaRPr sz="1800" b="0"/>
                    </a:p>
                  </a:txBody>
                  <a:tcPr marL="0" marR="0" marT="0" marB="0" anchor="ctr" anchorCtr="0">
                    <a:lnL>
                      <a:noFill/>
                    </a:lnL>
                    <a:lnR>
                      <a:noFill/>
                    </a:lnR>
                    <a:lnT>
                      <a:noFill/>
                    </a:lnT>
                    <a:lnB>
                      <a:noFill/>
                    </a:lnB>
                    <a:noFill/>
                  </a:tcPr>
                </a:tc>
                <a:tc>
                  <a:txBody>
                    <a:bodyPr/>
                    <a:p>
                      <a:pPr algn="l"/>
                      <a:r>
                        <a:rPr sz="1800" b="0"/>
                        <a:t>Scalable backend services</a:t>
                      </a:r>
                      <a:endParaRPr sz="1800" b="0"/>
                    </a:p>
                  </a:txBody>
                  <a:tcPr marL="0" marR="0" marT="0" marB="0" anchor="ctr" anchorCtr="0">
                    <a:lnL>
                      <a:noFill/>
                    </a:lnL>
                    <a:lnR>
                      <a:noFill/>
                    </a:lnR>
                    <a:lnT>
                      <a:noFill/>
                    </a:lnT>
                    <a:lnB>
                      <a:noFill/>
                    </a:lnB>
                    <a:noFill/>
                  </a:tcPr>
                </a:tc>
              </a:tr>
              <a:tr h="294640">
                <a:tc>
                  <a:txBody>
                    <a:bodyPr/>
                    <a:p>
                      <a:pPr algn="l"/>
                      <a:r>
                        <a:rPr sz="1800" b="0"/>
                        <a:t>Batch Processing</a:t>
                      </a:r>
                      <a:endParaRPr sz="1800" b="0"/>
                    </a:p>
                  </a:txBody>
                  <a:tcPr marL="0" marR="0" marT="0" marB="0" anchor="ctr" anchorCtr="0">
                    <a:lnL>
                      <a:noFill/>
                    </a:lnL>
                    <a:lnR>
                      <a:noFill/>
                    </a:lnR>
                    <a:lnT>
                      <a:noFill/>
                    </a:lnT>
                    <a:lnB>
                      <a:noFill/>
                    </a:lnB>
                    <a:noFill/>
                  </a:tcPr>
                </a:tc>
                <a:tc>
                  <a:txBody>
                    <a:bodyPr/>
                    <a:p>
                      <a:pPr algn="l"/>
                      <a:r>
                        <a:rPr sz="1800" b="0"/>
                        <a:t>Spring Batch + Boot for jobs</a:t>
                      </a:r>
                      <a:endParaRPr sz="1800" b="0"/>
                    </a:p>
                  </a:txBody>
                  <a:tcPr marL="0" marR="0" marT="0" marB="0" anchor="ctr" anchorCtr="0">
                    <a:lnL>
                      <a:noFill/>
                    </a:lnL>
                    <a:lnR>
                      <a:noFill/>
                    </a:lnR>
                    <a:lnT>
                      <a:noFill/>
                    </a:lnT>
                    <a:lnB>
                      <a:noFill/>
                    </a:lnB>
                    <a:noFill/>
                  </a:tcPr>
                </a:tc>
              </a:tr>
              <a:tr h="294640">
                <a:tc>
                  <a:txBody>
                    <a:bodyPr/>
                    <a:p>
                      <a:pPr algn="l"/>
                      <a:r>
                        <a:rPr sz="1800" b="0"/>
                        <a:t>Cloud-Native Apps</a:t>
                      </a:r>
                      <a:endParaRPr sz="1800" b="0"/>
                    </a:p>
                  </a:txBody>
                  <a:tcPr marL="0" marR="0" marT="0" marB="0" anchor="ctr" anchorCtr="0">
                    <a:lnL>
                      <a:noFill/>
                    </a:lnL>
                    <a:lnR>
                      <a:noFill/>
                    </a:lnR>
                    <a:lnT>
                      <a:noFill/>
                    </a:lnT>
                    <a:lnB>
                      <a:noFill/>
                    </a:lnB>
                    <a:noFill/>
                  </a:tcPr>
                </a:tc>
                <a:tc>
                  <a:txBody>
                    <a:bodyPr/>
                    <a:p>
                      <a:pPr algn="l"/>
                      <a:r>
                        <a:rPr sz="1800" b="0"/>
                        <a:t>Works with AWS, Azure, GCP via Spring Cloud</a:t>
                      </a:r>
                      <a:endParaRPr sz="1800" b="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155" y="-635"/>
            <a:ext cx="10515600" cy="245110"/>
          </a:xfrm>
        </p:spPr>
        <p:txBody>
          <a:bodyPr>
            <a:normAutofit fontScale="90000"/>
          </a:bodyPr>
          <a:p>
            <a:pPr algn="ctr"/>
            <a:r>
              <a:rPr lang="en-US" sz="2000" b="1">
                <a:solidFill>
                  <a:srgbClr val="FF0000"/>
                </a:solidFill>
              </a:rPr>
              <a:t>Spring Boot Annonations</a:t>
            </a:r>
            <a:endParaRPr lang="en-US" sz="2000" b="1">
              <a:solidFill>
                <a:srgbClr val="FF0000"/>
              </a:solidFill>
            </a:endParaRPr>
          </a:p>
        </p:txBody>
      </p:sp>
      <p:graphicFrame>
        <p:nvGraphicFramePr>
          <p:cNvPr id="4" name="Table 3"/>
          <p:cNvGraphicFramePr/>
          <p:nvPr>
            <p:custDataLst>
              <p:tags r:id="rId1"/>
            </p:custDataLst>
          </p:nvPr>
        </p:nvGraphicFramePr>
        <p:xfrm>
          <a:off x="96520" y="244475"/>
          <a:ext cx="11999595" cy="6503670"/>
        </p:xfrm>
        <a:graphic>
          <a:graphicData uri="http://schemas.openxmlformats.org/drawingml/2006/table">
            <a:tbl>
              <a:tblPr/>
              <a:tblGrid>
                <a:gridCol w="1475740"/>
                <a:gridCol w="2735580"/>
                <a:gridCol w="7788275"/>
              </a:tblGrid>
              <a:tr h="285750">
                <a:tc>
                  <a:txBody>
                    <a:bodyPr/>
                    <a:p>
                      <a:pPr algn="ctr"/>
                      <a:r>
                        <a:rPr sz="1600" b="1"/>
                        <a:t>Category</a:t>
                      </a:r>
                      <a:endParaRPr sz="1600" b="1"/>
                    </a:p>
                  </a:txBody>
                  <a:tcPr marL="0" marR="0" marT="0" marB="0" anchor="ctr" anchorCtr="0">
                    <a:lnL>
                      <a:noFill/>
                    </a:lnL>
                    <a:lnR>
                      <a:noFill/>
                    </a:lnR>
                    <a:lnT>
                      <a:noFill/>
                    </a:lnT>
                    <a:lnB>
                      <a:noFill/>
                    </a:lnB>
                    <a:solidFill>
                      <a:schemeClr val="accent4">
                        <a:lumMod val="20000"/>
                        <a:lumOff val="80000"/>
                      </a:schemeClr>
                    </a:solidFill>
                  </a:tcPr>
                </a:tc>
                <a:tc>
                  <a:txBody>
                    <a:bodyPr/>
                    <a:p>
                      <a:pPr algn="ctr"/>
                      <a:r>
                        <a:rPr sz="1600" b="1"/>
                        <a:t>Annotation</a:t>
                      </a:r>
                      <a:endParaRPr sz="1600" b="1"/>
                    </a:p>
                  </a:txBody>
                  <a:tcPr marL="0" marR="0" marT="0" marB="0" anchor="ctr" anchorCtr="0">
                    <a:lnL>
                      <a:noFill/>
                    </a:lnL>
                    <a:lnR>
                      <a:noFill/>
                    </a:lnR>
                    <a:lnT>
                      <a:noFill/>
                    </a:lnT>
                    <a:lnB>
                      <a:noFill/>
                    </a:lnB>
                    <a:solidFill>
                      <a:schemeClr val="accent4">
                        <a:lumMod val="20000"/>
                        <a:lumOff val="80000"/>
                      </a:schemeClr>
                    </a:solidFill>
                  </a:tcPr>
                </a:tc>
                <a:tc>
                  <a:txBody>
                    <a:bodyPr/>
                    <a:p>
                      <a:pPr algn="ctr"/>
                      <a:r>
                        <a:rPr sz="1600" b="1"/>
                        <a:t>Purpose / Usage</a:t>
                      </a:r>
                      <a:endParaRPr sz="1600" b="1"/>
                    </a:p>
                  </a:txBody>
                  <a:tcPr marL="0" marR="0" marT="0" marB="0" anchor="ctr" anchorCtr="0">
                    <a:lnL>
                      <a:noFill/>
                    </a:lnL>
                    <a:lnR>
                      <a:noFill/>
                    </a:lnR>
                    <a:lnT>
                      <a:noFill/>
                    </a:lnT>
                    <a:lnB>
                      <a:noFill/>
                    </a:lnB>
                    <a:solidFill>
                      <a:schemeClr val="accent4">
                        <a:lumMod val="20000"/>
                        <a:lumOff val="80000"/>
                      </a:schemeClr>
                    </a:solidFill>
                  </a:tcPr>
                </a:tc>
              </a:tr>
              <a:tr h="551815">
                <a:tc>
                  <a:txBody>
                    <a:bodyPr/>
                    <a:p>
                      <a:r>
                        <a:rPr sz="1600"/>
                        <a:t>Basic / Core</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@SpringBootApplication</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Marks the main Spring Boot class; enables auto-configuration, component scanning, and configuration.</a:t>
                      </a:r>
                      <a:endParaRPr sz="1600"/>
                    </a:p>
                  </a:txBody>
                  <a:tcPr marL="0" marR="0" marT="0" marB="0" anchor="ctr" anchorCtr="0">
                    <a:lnL>
                      <a:noFill/>
                    </a:lnL>
                    <a:lnR>
                      <a:noFill/>
                    </a:lnR>
                    <a:lnT>
                      <a:noFill/>
                    </a:lnT>
                    <a:lnB>
                      <a:noFill/>
                    </a:lnB>
                    <a:solidFill>
                      <a:schemeClr val="accent4">
                        <a:lumMod val="20000"/>
                        <a:lumOff val="80000"/>
                      </a:schemeClr>
                    </a:solidFill>
                  </a:tcPr>
                </a:tc>
              </a:tr>
              <a:tr h="274955">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@Component</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Marks a class as a Spring-managed bean/component.</a:t>
                      </a:r>
                      <a:endParaRPr sz="1600"/>
                    </a:p>
                  </a:txBody>
                  <a:tcPr marL="0" marR="0" marT="0" marB="0" anchor="ctr" anchorCtr="0">
                    <a:lnL>
                      <a:noFill/>
                    </a:lnL>
                    <a:lnR>
                      <a:noFill/>
                    </a:lnR>
                    <a:lnT>
                      <a:noFill/>
                    </a:lnT>
                    <a:lnB>
                      <a:noFill/>
                    </a:lnB>
                    <a:solidFill>
                      <a:schemeClr val="accent4">
                        <a:lumMod val="20000"/>
                        <a:lumOff val="80000"/>
                      </a:schemeClr>
                    </a:solidFill>
                  </a:tcPr>
                </a:tc>
              </a:tr>
              <a:tr h="275590">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@Service</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Marks a service class for business logic.</a:t>
                      </a:r>
                      <a:endParaRPr sz="1600"/>
                    </a:p>
                  </a:txBody>
                  <a:tcPr marL="0" marR="0" marT="0" marB="0" anchor="ctr" anchorCtr="0">
                    <a:lnL>
                      <a:noFill/>
                    </a:lnL>
                    <a:lnR>
                      <a:noFill/>
                    </a:lnR>
                    <a:lnT>
                      <a:noFill/>
                    </a:lnT>
                    <a:lnB>
                      <a:noFill/>
                    </a:lnB>
                    <a:solidFill>
                      <a:schemeClr val="accent4">
                        <a:lumMod val="20000"/>
                        <a:lumOff val="80000"/>
                      </a:schemeClr>
                    </a:solidFill>
                  </a:tcPr>
                </a:tc>
              </a:tr>
              <a:tr h="276225">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@Repository</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Marks a DAO class; enables exception translation.</a:t>
                      </a:r>
                      <a:endParaRPr sz="1600"/>
                    </a:p>
                  </a:txBody>
                  <a:tcPr marL="0" marR="0" marT="0" marB="0" anchor="ctr" anchorCtr="0">
                    <a:lnL>
                      <a:noFill/>
                    </a:lnL>
                    <a:lnR>
                      <a:noFill/>
                    </a:lnR>
                    <a:lnT>
                      <a:noFill/>
                    </a:lnT>
                    <a:lnB>
                      <a:noFill/>
                    </a:lnB>
                    <a:solidFill>
                      <a:schemeClr val="accent4">
                        <a:lumMod val="20000"/>
                        <a:lumOff val="80000"/>
                      </a:schemeClr>
                    </a:solidFill>
                  </a:tcPr>
                </a:tc>
              </a:tr>
              <a:tr h="275590">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@Controller</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Marks a web controller class (MVC).</a:t>
                      </a:r>
                      <a:endParaRPr sz="1600"/>
                    </a:p>
                  </a:txBody>
                  <a:tcPr marL="0" marR="0" marT="0" marB="0" anchor="ctr" anchorCtr="0">
                    <a:lnL>
                      <a:noFill/>
                    </a:lnL>
                    <a:lnR>
                      <a:noFill/>
                    </a:lnR>
                    <a:lnT>
                      <a:noFill/>
                    </a:lnT>
                    <a:lnB>
                      <a:noFill/>
                    </a:lnB>
                    <a:solidFill>
                      <a:schemeClr val="accent4">
                        <a:lumMod val="20000"/>
                        <a:lumOff val="80000"/>
                      </a:schemeClr>
                    </a:solidFill>
                  </a:tcPr>
                </a:tc>
              </a:tr>
              <a:tr h="382270">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@RestController</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Combines @Controller + @ResponseBody; used for REST APIs.</a:t>
                      </a:r>
                      <a:endParaRPr sz="1600"/>
                    </a:p>
                  </a:txBody>
                  <a:tcPr marL="0" marR="0" marT="0" marB="0" anchor="ctr" anchorCtr="0">
                    <a:lnL>
                      <a:noFill/>
                    </a:lnL>
                    <a:lnR>
                      <a:noFill/>
                    </a:lnR>
                    <a:lnT>
                      <a:noFill/>
                    </a:lnT>
                    <a:lnB>
                      <a:noFill/>
                    </a:lnB>
                    <a:solidFill>
                      <a:schemeClr val="accent4">
                        <a:lumMod val="20000"/>
                        <a:lumOff val="80000"/>
                      </a:schemeClr>
                    </a:solidFill>
                  </a:tcPr>
                </a:tc>
              </a:tr>
              <a:tr h="276225">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@Autowired</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Injects bean dependencies automatically.</a:t>
                      </a:r>
                      <a:endParaRPr sz="1600"/>
                    </a:p>
                  </a:txBody>
                  <a:tcPr marL="0" marR="0" marT="0" marB="0" anchor="ctr" anchorCtr="0">
                    <a:lnL>
                      <a:noFill/>
                    </a:lnL>
                    <a:lnR>
                      <a:noFill/>
                    </a:lnR>
                    <a:lnT>
                      <a:noFill/>
                    </a:lnT>
                    <a:lnB>
                      <a:noFill/>
                    </a:lnB>
                    <a:solidFill>
                      <a:schemeClr val="accent4">
                        <a:lumMod val="20000"/>
                        <a:lumOff val="80000"/>
                      </a:schemeClr>
                    </a:solidFill>
                  </a:tcPr>
                </a:tc>
              </a:tr>
              <a:tr h="275590">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@Qualifier</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Specifies which bean to inject when multiple beans exist.</a:t>
                      </a:r>
                      <a:endParaRPr sz="1600"/>
                    </a:p>
                  </a:txBody>
                  <a:tcPr marL="0" marR="0" marT="0" marB="0" anchor="ctr" anchorCtr="0">
                    <a:lnL>
                      <a:noFill/>
                    </a:lnL>
                    <a:lnR>
                      <a:noFill/>
                    </a:lnR>
                    <a:lnT>
                      <a:noFill/>
                    </a:lnT>
                    <a:lnB>
                      <a:noFill/>
                    </a:lnB>
                    <a:solidFill>
                      <a:schemeClr val="accent4">
                        <a:lumMod val="20000"/>
                        <a:lumOff val="80000"/>
                      </a:schemeClr>
                    </a:solidFill>
                  </a:tcPr>
                </a:tc>
              </a:tr>
              <a:tr h="383540">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@Value</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Injects property values from application.properties or application.yml.</a:t>
                      </a:r>
                      <a:endParaRPr sz="1600"/>
                    </a:p>
                  </a:txBody>
                  <a:tcPr marL="0" marR="0" marT="0" marB="0" anchor="ctr" anchorCtr="0">
                    <a:lnL>
                      <a:noFill/>
                    </a:lnL>
                    <a:lnR>
                      <a:noFill/>
                    </a:lnR>
                    <a:lnT>
                      <a:noFill/>
                    </a:lnT>
                    <a:lnB>
                      <a:noFill/>
                    </a:lnB>
                    <a:solidFill>
                      <a:schemeClr val="accent4">
                        <a:lumMod val="20000"/>
                        <a:lumOff val="80000"/>
                      </a:schemeClr>
                    </a:solidFill>
                  </a:tcPr>
                </a:tc>
              </a:tr>
              <a:tr h="274955">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@Configuration</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Marks a class as a source of bean definitions.</a:t>
                      </a:r>
                      <a:endParaRPr sz="1600"/>
                    </a:p>
                  </a:txBody>
                  <a:tcPr marL="0" marR="0" marT="0" marB="0" anchor="ctr" anchorCtr="0">
                    <a:lnL>
                      <a:noFill/>
                    </a:lnL>
                    <a:lnR>
                      <a:noFill/>
                    </a:lnR>
                    <a:lnT>
                      <a:noFill/>
                    </a:lnT>
                    <a:lnB>
                      <a:noFill/>
                    </a:lnB>
                    <a:solidFill>
                      <a:schemeClr val="accent4">
                        <a:lumMod val="20000"/>
                        <a:lumOff val="80000"/>
                      </a:schemeClr>
                    </a:solidFill>
                  </a:tcPr>
                </a:tc>
              </a:tr>
              <a:tr h="275590">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@Bean</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Declares a bean inside a configuration class.</a:t>
                      </a:r>
                      <a:endParaRPr sz="1600"/>
                    </a:p>
                  </a:txBody>
                  <a:tcPr marL="0" marR="0" marT="0" marB="0" anchor="ctr" anchorCtr="0">
                    <a:lnL>
                      <a:noFill/>
                    </a:lnL>
                    <a:lnR>
                      <a:noFill/>
                    </a:lnR>
                    <a:lnT>
                      <a:noFill/>
                    </a:lnT>
                    <a:lnB>
                      <a:noFill/>
                    </a:lnB>
                    <a:solidFill>
                      <a:schemeClr val="accent4">
                        <a:lumMod val="20000"/>
                        <a:lumOff val="80000"/>
                      </a:schemeClr>
                    </a:solidFill>
                  </a:tcPr>
                </a:tc>
              </a:tr>
              <a:tr h="383540">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@Primary</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Marks a bean as the primary candidate when multiple beans exist.</a:t>
                      </a:r>
                      <a:endParaRPr sz="1600"/>
                    </a:p>
                  </a:txBody>
                  <a:tcPr marL="0" marR="0" marT="0" marB="0" anchor="ctr" anchorCtr="0">
                    <a:lnL>
                      <a:noFill/>
                    </a:lnL>
                    <a:lnR>
                      <a:noFill/>
                    </a:lnR>
                    <a:lnT>
                      <a:noFill/>
                    </a:lnT>
                    <a:lnB>
                      <a:noFill/>
                    </a:lnB>
                    <a:solidFill>
                      <a:schemeClr val="accent4">
                        <a:lumMod val="20000"/>
                        <a:lumOff val="80000"/>
                      </a:schemeClr>
                    </a:solidFill>
                  </a:tcPr>
                </a:tc>
              </a:tr>
              <a:tr h="382905">
                <a:tc>
                  <a:txBody>
                    <a:bodyPr/>
                    <a:p>
                      <a:r>
                        <a:rPr sz="1600"/>
                        <a:t>MVC / Web</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@RequestMapping</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Maps HTTP requests to handler methods (class or method level).</a:t>
                      </a:r>
                      <a:endParaRPr sz="1600"/>
                    </a:p>
                  </a:txBody>
                  <a:tcPr marL="0" marR="0" marT="0" marB="0" anchor="ctr" anchorCtr="0">
                    <a:lnL>
                      <a:noFill/>
                    </a:lnL>
                    <a:lnR>
                      <a:noFill/>
                    </a:lnR>
                    <a:lnT>
                      <a:noFill/>
                    </a:lnT>
                    <a:lnB>
                      <a:noFill/>
                    </a:lnB>
                    <a:solidFill>
                      <a:schemeClr val="accent4">
                        <a:lumMod val="20000"/>
                        <a:lumOff val="80000"/>
                      </a:schemeClr>
                    </a:solidFill>
                  </a:tcPr>
                </a:tc>
              </a:tr>
              <a:tr h="275590">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@GetMapping</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Handles HTTP GET requests.</a:t>
                      </a:r>
                      <a:endParaRPr sz="1600"/>
                    </a:p>
                  </a:txBody>
                  <a:tcPr marL="0" marR="0" marT="0" marB="0" anchor="ctr" anchorCtr="0">
                    <a:lnL>
                      <a:noFill/>
                    </a:lnL>
                    <a:lnR>
                      <a:noFill/>
                    </a:lnR>
                    <a:lnT>
                      <a:noFill/>
                    </a:lnT>
                    <a:lnB>
                      <a:noFill/>
                    </a:lnB>
                    <a:solidFill>
                      <a:schemeClr val="accent4">
                        <a:lumMod val="20000"/>
                        <a:lumOff val="80000"/>
                      </a:schemeClr>
                    </a:solidFill>
                  </a:tcPr>
                </a:tc>
              </a:tr>
              <a:tr h="276225">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@PostMapping</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Handles HTTP POST requests.</a:t>
                      </a:r>
                      <a:endParaRPr sz="1600"/>
                    </a:p>
                  </a:txBody>
                  <a:tcPr marL="0" marR="0" marT="0" marB="0" anchor="ctr" anchorCtr="0">
                    <a:lnL>
                      <a:noFill/>
                    </a:lnL>
                    <a:lnR>
                      <a:noFill/>
                    </a:lnR>
                    <a:lnT>
                      <a:noFill/>
                    </a:lnT>
                    <a:lnB>
                      <a:noFill/>
                    </a:lnB>
                    <a:solidFill>
                      <a:schemeClr val="accent4">
                        <a:lumMod val="20000"/>
                        <a:lumOff val="80000"/>
                      </a:schemeClr>
                    </a:solidFill>
                  </a:tcPr>
                </a:tc>
              </a:tr>
              <a:tr h="274955">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@PutMapping</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Handles HTTP PUT requests.</a:t>
                      </a:r>
                      <a:endParaRPr sz="1600"/>
                    </a:p>
                  </a:txBody>
                  <a:tcPr marL="0" marR="0" marT="0" marB="0" anchor="ctr" anchorCtr="0">
                    <a:lnL>
                      <a:noFill/>
                    </a:lnL>
                    <a:lnR>
                      <a:noFill/>
                    </a:lnR>
                    <a:lnT>
                      <a:noFill/>
                    </a:lnT>
                    <a:lnB>
                      <a:noFill/>
                    </a:lnB>
                    <a:solidFill>
                      <a:schemeClr val="accent4">
                        <a:lumMod val="20000"/>
                        <a:lumOff val="80000"/>
                      </a:schemeClr>
                    </a:solidFill>
                  </a:tcPr>
                </a:tc>
              </a:tr>
              <a:tr h="275590">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@DeleteMapping</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Handles HTTP DELETE requests.</a:t>
                      </a:r>
                      <a:endParaRPr sz="1600"/>
                    </a:p>
                  </a:txBody>
                  <a:tcPr marL="0" marR="0" marT="0" marB="0" anchor="ctr" anchorCtr="0">
                    <a:lnL>
                      <a:noFill/>
                    </a:lnL>
                    <a:lnR>
                      <a:noFill/>
                    </a:lnR>
                    <a:lnT>
                      <a:noFill/>
                    </a:lnT>
                    <a:lnB>
                      <a:noFill/>
                    </a:lnB>
                    <a:solidFill>
                      <a:schemeClr val="accent4">
                        <a:lumMod val="20000"/>
                        <a:lumOff val="80000"/>
                      </a:schemeClr>
                    </a:solidFill>
                  </a:tcPr>
                </a:tc>
              </a:tr>
              <a:tr h="275590">
                <a:tc>
                  <a:txBody>
                    <a:bodyPr/>
                    <a:p>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@PatchMapping</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Handles HTTP PATCH requests.</a:t>
                      </a:r>
                      <a:endParaRPr sz="1600"/>
                    </a:p>
                  </a:txBody>
                  <a:tcPr marL="0" marR="0" marT="0" marB="0" anchor="ctr" anchorCtr="0">
                    <a:lnL>
                      <a:noFill/>
                    </a:lnL>
                    <a:lnR>
                      <a:noFill/>
                    </a:lnR>
                    <a:lnT>
                      <a:noFill/>
                    </a:lnT>
                    <a:lnB>
                      <a:noFill/>
                    </a:lnB>
                    <a:solidFill>
                      <a:schemeClr val="accent4">
                        <a:lumMod val="20000"/>
                        <a:lumOff val="80000"/>
                      </a:schemeClr>
                    </a:solidFill>
                  </a:tcPr>
                </a:tc>
              </a:tr>
              <a:tr h="274955">
                <a:tc>
                  <a:txBody>
                    <a:bodyPr/>
                    <a:p>
                      <a:pPr>
                        <a:buNone/>
                      </a:pPr>
                      <a:endParaRPr lang="en-US"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@PathVariable</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Binds URI template variables to method parameters.</a:t>
                      </a:r>
                      <a:endParaRPr sz="1600"/>
                    </a:p>
                  </a:txBody>
                  <a:tcPr marL="0" marR="0" marT="0" marB="0" anchor="ctr" anchorCtr="0">
                    <a:lnL>
                      <a:noFill/>
                    </a:lnL>
                    <a:lnR>
                      <a:noFill/>
                    </a:lnR>
                    <a:lnT>
                      <a:noFill/>
                    </a:lnT>
                    <a:lnB>
                      <a:noFill/>
                    </a:lnB>
                    <a:solidFill>
                      <a:schemeClr val="accent4">
                        <a:lumMod val="20000"/>
                        <a:lumOff val="80000"/>
                      </a:schemeClr>
                    </a:solidFill>
                  </a:tcPr>
                </a:tc>
              </a:tr>
              <a:tr h="276225">
                <a:tc>
                  <a:txBody>
                    <a:bodyPr/>
                    <a:p>
                      <a:pPr>
                        <a:buNone/>
                      </a:pPr>
                      <a:endParaRPr lang="en-US"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@RequestParam</a:t>
                      </a:r>
                      <a:endParaRPr sz="1600"/>
                    </a:p>
                  </a:txBody>
                  <a:tcPr marL="0" marR="0" marT="0" marB="0" anchor="ctr" anchorCtr="0">
                    <a:lnL>
                      <a:noFill/>
                    </a:lnL>
                    <a:lnR>
                      <a:noFill/>
                    </a:lnR>
                    <a:lnT>
                      <a:noFill/>
                    </a:lnT>
                    <a:lnB>
                      <a:noFill/>
                    </a:lnB>
                    <a:solidFill>
                      <a:schemeClr val="accent4">
                        <a:lumMod val="20000"/>
                        <a:lumOff val="80000"/>
                      </a:schemeClr>
                    </a:solidFill>
                  </a:tcPr>
                </a:tc>
                <a:tc>
                  <a:txBody>
                    <a:bodyPr/>
                    <a:p>
                      <a:r>
                        <a:rPr sz="1600"/>
                        <a:t>Binds query parameters to method parameters.</a:t>
                      </a:r>
                      <a:endParaRPr sz="1600"/>
                    </a:p>
                  </a:txBody>
                  <a:tcPr marL="0" marR="0" marT="0" marB="0" anchor="ctr" anchorCtr="0">
                    <a:lnL>
                      <a:noFill/>
                    </a:lnL>
                    <a:lnR>
                      <a:noFill/>
                    </a:lnR>
                    <a:lnT>
                      <a:noFill/>
                    </a:lnT>
                    <a:lnB>
                      <a:noFill/>
                    </a:lnB>
                    <a:solidFill>
                      <a:schemeClr val="accent4">
                        <a:lumMod val="20000"/>
                        <a:lumOff val="80000"/>
                      </a:schemeClr>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Content Placeholder 3"/>
          <p:cNvGraphicFramePr/>
          <p:nvPr>
            <p:ph idx="1"/>
            <p:custDataLst>
              <p:tags r:id="rId1"/>
            </p:custDataLst>
          </p:nvPr>
        </p:nvGraphicFramePr>
        <p:xfrm>
          <a:off x="0" y="1771650"/>
          <a:ext cx="12192635" cy="5097780"/>
        </p:xfrm>
        <a:graphic>
          <a:graphicData uri="http://schemas.openxmlformats.org/drawingml/2006/table">
            <a:tbl>
              <a:tblPr/>
              <a:tblGrid>
                <a:gridCol w="2244725"/>
                <a:gridCol w="3418840"/>
                <a:gridCol w="6529070"/>
              </a:tblGrid>
              <a:tr h="283210">
                <a:tc>
                  <a:txBody>
                    <a:bodyPr/>
                    <a:p>
                      <a:r>
                        <a:rPr sz="1600"/>
                        <a:t>JDBC</a:t>
                      </a:r>
                      <a:endParaRPr sz="1600"/>
                    </a:p>
                  </a:txBody>
                  <a:tcPr marL="0" marR="0" marT="0" marB="0" anchor="ctr" anchorCtr="0">
                    <a:lnL>
                      <a:noFill/>
                    </a:lnL>
                    <a:lnR>
                      <a:noFill/>
                    </a:lnR>
                    <a:lnT>
                      <a:noFill/>
                    </a:lnT>
                    <a:lnB>
                      <a:noFill/>
                    </a:lnB>
                    <a:solidFill>
                      <a:schemeClr val="accent2">
                        <a:lumMod val="20000"/>
                        <a:lumOff val="80000"/>
                      </a:schemeClr>
                    </a:solidFill>
                  </a:tcPr>
                </a:tc>
                <a:tc>
                  <a:txBody>
                    <a:bodyPr/>
                    <a:p>
                      <a:r>
                        <a:rPr sz="1600"/>
                        <a:t>@Repository</a:t>
                      </a:r>
                      <a:endParaRPr sz="1600"/>
                    </a:p>
                  </a:txBody>
                  <a:tcPr marL="0" marR="0" marT="0" marB="0" anchor="ctr" anchorCtr="0">
                    <a:lnL>
                      <a:noFill/>
                    </a:lnL>
                    <a:lnR>
                      <a:noFill/>
                    </a:lnR>
                    <a:lnT>
                      <a:noFill/>
                    </a:lnT>
                    <a:lnB>
                      <a:noFill/>
                    </a:lnB>
                    <a:noFill/>
                  </a:tcPr>
                </a:tc>
                <a:tc>
                  <a:txBody>
                    <a:bodyPr/>
                    <a:p>
                      <a:r>
                        <a:rPr sz="1600"/>
                        <a:t>Marks DAO classes; integrates exception translation.</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@Autowired</a:t>
                      </a:r>
                      <a:endParaRPr sz="1600"/>
                    </a:p>
                  </a:txBody>
                  <a:tcPr marL="0" marR="0" marT="0" marB="0" anchor="ctr" anchorCtr="0">
                    <a:lnL>
                      <a:noFill/>
                    </a:lnL>
                    <a:lnR>
                      <a:noFill/>
                    </a:lnR>
                    <a:lnT>
                      <a:noFill/>
                    </a:lnT>
                    <a:lnB>
                      <a:noFill/>
                    </a:lnB>
                    <a:noFill/>
                  </a:tcPr>
                </a:tc>
                <a:tc>
                  <a:txBody>
                    <a:bodyPr/>
                    <a:p>
                      <a:r>
                        <a:rPr sz="1600"/>
                        <a:t>Injects JdbcTemplate or DataSource.</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@Qualifier</a:t>
                      </a:r>
                      <a:endParaRPr sz="1600"/>
                    </a:p>
                  </a:txBody>
                  <a:tcPr marL="0" marR="0" marT="0" marB="0" anchor="ctr" anchorCtr="0">
                    <a:lnL>
                      <a:noFill/>
                    </a:lnL>
                    <a:lnR>
                      <a:noFill/>
                    </a:lnR>
                    <a:lnT>
                      <a:noFill/>
                    </a:lnT>
                    <a:lnB>
                      <a:noFill/>
                    </a:lnB>
                    <a:noFill/>
                  </a:tcPr>
                </a:tc>
                <a:tc>
                  <a:txBody>
                    <a:bodyPr/>
                    <a:p>
                      <a:r>
                        <a:rPr sz="1600"/>
                        <a:t>Specifies which bean to inject if multiple exist.</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@Transactional</a:t>
                      </a:r>
                      <a:endParaRPr sz="1600"/>
                    </a:p>
                  </a:txBody>
                  <a:tcPr marL="0" marR="0" marT="0" marB="0" anchor="ctr" anchorCtr="0">
                    <a:lnL>
                      <a:noFill/>
                    </a:lnL>
                    <a:lnR>
                      <a:noFill/>
                    </a:lnR>
                    <a:lnT>
                      <a:noFill/>
                    </a:lnT>
                    <a:lnB>
                      <a:noFill/>
                    </a:lnB>
                    <a:noFill/>
                  </a:tcPr>
                </a:tc>
                <a:tc>
                  <a:txBody>
                    <a:bodyPr/>
                    <a:p>
                      <a:r>
                        <a:rPr sz="1600"/>
                        <a:t>Manages database transactions at class or method level.</a:t>
                      </a:r>
                      <a:endParaRPr sz="1600"/>
                    </a:p>
                  </a:txBody>
                  <a:tcPr marL="0" marR="0" marT="0" marB="0" anchor="ctr" anchorCtr="0">
                    <a:lnL>
                      <a:noFill/>
                    </a:lnL>
                    <a:lnR>
                      <a:noFill/>
                    </a:lnR>
                    <a:lnT>
                      <a:noFill/>
                    </a:lnT>
                    <a:lnB>
                      <a:noFill/>
                    </a:lnB>
                    <a:noFill/>
                  </a:tcPr>
                </a:tc>
              </a:tr>
              <a:tr h="283210">
                <a:tc>
                  <a:txBody>
                    <a:bodyPr/>
                    <a:p>
                      <a:r>
                        <a:rPr sz="1600"/>
                        <a:t>JPA / Hibernate</a:t>
                      </a:r>
                      <a:endParaRPr sz="1600"/>
                    </a:p>
                  </a:txBody>
                  <a:tcPr marL="0" marR="0" marT="0" marB="0" anchor="ctr" anchorCtr="0">
                    <a:lnL>
                      <a:noFill/>
                    </a:lnL>
                    <a:lnR>
                      <a:noFill/>
                    </a:lnR>
                    <a:lnT>
                      <a:noFill/>
                    </a:lnT>
                    <a:lnB>
                      <a:noFill/>
                    </a:lnB>
                    <a:solidFill>
                      <a:schemeClr val="accent2">
                        <a:lumMod val="20000"/>
                        <a:lumOff val="80000"/>
                      </a:schemeClr>
                    </a:solidFill>
                  </a:tcPr>
                </a:tc>
                <a:tc>
                  <a:txBody>
                    <a:bodyPr/>
                    <a:p>
                      <a:r>
                        <a:rPr sz="1600"/>
                        <a:t>@Entity</a:t>
                      </a:r>
                      <a:endParaRPr sz="1600"/>
                    </a:p>
                  </a:txBody>
                  <a:tcPr marL="0" marR="0" marT="0" marB="0" anchor="ctr" anchorCtr="0">
                    <a:lnL>
                      <a:noFill/>
                    </a:lnL>
                    <a:lnR>
                      <a:noFill/>
                    </a:lnR>
                    <a:lnT>
                      <a:noFill/>
                    </a:lnT>
                    <a:lnB>
                      <a:noFill/>
                    </a:lnB>
                    <a:noFill/>
                  </a:tcPr>
                </a:tc>
                <a:tc>
                  <a:txBody>
                    <a:bodyPr/>
                    <a:p>
                      <a:r>
                        <a:rPr sz="1600"/>
                        <a:t>Marks a class as a JPA entity (database table).</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@Table</a:t>
                      </a:r>
                      <a:endParaRPr sz="1600"/>
                    </a:p>
                  </a:txBody>
                  <a:tcPr marL="0" marR="0" marT="0" marB="0" anchor="ctr" anchorCtr="0">
                    <a:lnL>
                      <a:noFill/>
                    </a:lnL>
                    <a:lnR>
                      <a:noFill/>
                    </a:lnR>
                    <a:lnT>
                      <a:noFill/>
                    </a:lnT>
                    <a:lnB>
                      <a:noFill/>
                    </a:lnB>
                    <a:noFill/>
                  </a:tcPr>
                </a:tc>
                <a:tc>
                  <a:txBody>
                    <a:bodyPr/>
                    <a:p>
                      <a:r>
                        <a:rPr sz="1600"/>
                        <a:t>Maps an entity to a specific table.</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@Id</a:t>
                      </a:r>
                      <a:endParaRPr sz="1600"/>
                    </a:p>
                  </a:txBody>
                  <a:tcPr marL="0" marR="0" marT="0" marB="0" anchor="ctr" anchorCtr="0">
                    <a:lnL>
                      <a:noFill/>
                    </a:lnL>
                    <a:lnR>
                      <a:noFill/>
                    </a:lnR>
                    <a:lnT>
                      <a:noFill/>
                    </a:lnT>
                    <a:lnB>
                      <a:noFill/>
                    </a:lnB>
                    <a:noFill/>
                  </a:tcPr>
                </a:tc>
                <a:tc>
                  <a:txBody>
                    <a:bodyPr/>
                    <a:p>
                      <a:r>
                        <a:rPr sz="1600"/>
                        <a:t>Marks the primary key of an entity.</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@GeneratedValue</a:t>
                      </a:r>
                      <a:endParaRPr sz="1600"/>
                    </a:p>
                  </a:txBody>
                  <a:tcPr marL="0" marR="0" marT="0" marB="0" anchor="ctr" anchorCtr="0">
                    <a:lnL>
                      <a:noFill/>
                    </a:lnL>
                    <a:lnR>
                      <a:noFill/>
                    </a:lnR>
                    <a:lnT>
                      <a:noFill/>
                    </a:lnT>
                    <a:lnB>
                      <a:noFill/>
                    </a:lnB>
                    <a:noFill/>
                  </a:tcPr>
                </a:tc>
                <a:tc>
                  <a:txBody>
                    <a:bodyPr/>
                    <a:p>
                      <a:r>
                        <a:rPr sz="1600"/>
                        <a:t>Auto-generates primary key values.</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@Column</a:t>
                      </a:r>
                      <a:endParaRPr sz="1600"/>
                    </a:p>
                  </a:txBody>
                  <a:tcPr marL="0" marR="0" marT="0" marB="0" anchor="ctr" anchorCtr="0">
                    <a:lnL>
                      <a:noFill/>
                    </a:lnL>
                    <a:lnR>
                      <a:noFill/>
                    </a:lnR>
                    <a:lnT>
                      <a:noFill/>
                    </a:lnT>
                    <a:lnB>
                      <a:noFill/>
                    </a:lnB>
                    <a:noFill/>
                  </a:tcPr>
                </a:tc>
                <a:tc>
                  <a:txBody>
                    <a:bodyPr/>
                    <a:p>
                      <a:r>
                        <a:rPr sz="1600"/>
                        <a:t>Maps a field to a database column.</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@Transient</a:t>
                      </a:r>
                      <a:endParaRPr sz="1600"/>
                    </a:p>
                  </a:txBody>
                  <a:tcPr marL="0" marR="0" marT="0" marB="0" anchor="ctr" anchorCtr="0">
                    <a:lnL>
                      <a:noFill/>
                    </a:lnL>
                    <a:lnR>
                      <a:noFill/>
                    </a:lnR>
                    <a:lnT>
                      <a:noFill/>
                    </a:lnT>
                    <a:lnB>
                      <a:noFill/>
                    </a:lnB>
                    <a:noFill/>
                  </a:tcPr>
                </a:tc>
                <a:tc>
                  <a:txBody>
                    <a:bodyPr/>
                    <a:p>
                      <a:r>
                        <a:rPr sz="1600"/>
                        <a:t>Marks a field to be ignored by JPA.</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@OneToOne</a:t>
                      </a:r>
                      <a:endParaRPr sz="1600"/>
                    </a:p>
                  </a:txBody>
                  <a:tcPr marL="0" marR="0" marT="0" marB="0" anchor="ctr" anchorCtr="0">
                    <a:lnL>
                      <a:noFill/>
                    </a:lnL>
                    <a:lnR>
                      <a:noFill/>
                    </a:lnR>
                    <a:lnT>
                      <a:noFill/>
                    </a:lnT>
                    <a:lnB>
                      <a:noFill/>
                    </a:lnB>
                    <a:noFill/>
                  </a:tcPr>
                </a:tc>
                <a:tc>
                  <a:txBody>
                    <a:bodyPr/>
                    <a:p>
                      <a:r>
                        <a:rPr sz="1600"/>
                        <a:t>Defines a one-to-one relationship.</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@OneToMany</a:t>
                      </a:r>
                      <a:endParaRPr sz="1600"/>
                    </a:p>
                  </a:txBody>
                  <a:tcPr marL="0" marR="0" marT="0" marB="0" anchor="ctr" anchorCtr="0">
                    <a:lnL>
                      <a:noFill/>
                    </a:lnL>
                    <a:lnR>
                      <a:noFill/>
                    </a:lnR>
                    <a:lnT>
                      <a:noFill/>
                    </a:lnT>
                    <a:lnB>
                      <a:noFill/>
                    </a:lnB>
                    <a:noFill/>
                  </a:tcPr>
                </a:tc>
                <a:tc>
                  <a:txBody>
                    <a:bodyPr/>
                    <a:p>
                      <a:r>
                        <a:rPr sz="1600"/>
                        <a:t>Defines a one-to-many relationship.</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@ManyToOne</a:t>
                      </a:r>
                      <a:endParaRPr sz="1600"/>
                    </a:p>
                  </a:txBody>
                  <a:tcPr marL="0" marR="0" marT="0" marB="0" anchor="ctr" anchorCtr="0">
                    <a:lnL>
                      <a:noFill/>
                    </a:lnL>
                    <a:lnR>
                      <a:noFill/>
                    </a:lnR>
                    <a:lnT>
                      <a:noFill/>
                    </a:lnT>
                    <a:lnB>
                      <a:noFill/>
                    </a:lnB>
                    <a:noFill/>
                  </a:tcPr>
                </a:tc>
                <a:tc>
                  <a:txBody>
                    <a:bodyPr/>
                    <a:p>
                      <a:r>
                        <a:rPr sz="1600"/>
                        <a:t>Defines a many-to-one relationship.</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@ManyToMany</a:t>
                      </a:r>
                      <a:endParaRPr sz="1600"/>
                    </a:p>
                  </a:txBody>
                  <a:tcPr marL="0" marR="0" marT="0" marB="0" anchor="ctr" anchorCtr="0">
                    <a:lnL>
                      <a:noFill/>
                    </a:lnL>
                    <a:lnR>
                      <a:noFill/>
                    </a:lnR>
                    <a:lnT>
                      <a:noFill/>
                    </a:lnT>
                    <a:lnB>
                      <a:noFill/>
                    </a:lnB>
                    <a:noFill/>
                  </a:tcPr>
                </a:tc>
                <a:tc>
                  <a:txBody>
                    <a:bodyPr/>
                    <a:p>
                      <a:r>
                        <a:rPr sz="1600"/>
                        <a:t>Defines a many-to-many relationship.</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@JoinColumn</a:t>
                      </a:r>
                      <a:endParaRPr sz="1600"/>
                    </a:p>
                  </a:txBody>
                  <a:tcPr marL="0" marR="0" marT="0" marB="0" anchor="ctr" anchorCtr="0">
                    <a:lnL>
                      <a:noFill/>
                    </a:lnL>
                    <a:lnR>
                      <a:noFill/>
                    </a:lnR>
                    <a:lnT>
                      <a:noFill/>
                    </a:lnT>
                    <a:lnB>
                      <a:noFill/>
                    </a:lnB>
                    <a:noFill/>
                  </a:tcPr>
                </a:tc>
                <a:tc>
                  <a:txBody>
                    <a:bodyPr/>
                    <a:p>
                      <a:r>
                        <a:rPr sz="1600"/>
                        <a:t>Specifies the foreign key column.</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@JoinTable</a:t>
                      </a:r>
                      <a:endParaRPr sz="1600"/>
                    </a:p>
                  </a:txBody>
                  <a:tcPr marL="0" marR="0" marT="0" marB="0" anchor="ctr" anchorCtr="0">
                    <a:lnL>
                      <a:noFill/>
                    </a:lnL>
                    <a:lnR>
                      <a:noFill/>
                    </a:lnR>
                    <a:lnT>
                      <a:noFill/>
                    </a:lnT>
                    <a:lnB>
                      <a:noFill/>
                    </a:lnB>
                    <a:noFill/>
                  </a:tcPr>
                </a:tc>
                <a:tc>
                  <a:txBody>
                    <a:bodyPr/>
                    <a:p>
                      <a:r>
                        <a:rPr sz="1600"/>
                        <a:t>Specifies the join table for many-to-many relationships.</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@Transactional</a:t>
                      </a:r>
                      <a:endParaRPr sz="1600"/>
                    </a:p>
                  </a:txBody>
                  <a:tcPr marL="0" marR="0" marT="0" marB="0" anchor="ctr" anchorCtr="0">
                    <a:lnL>
                      <a:noFill/>
                    </a:lnL>
                    <a:lnR>
                      <a:noFill/>
                    </a:lnR>
                    <a:lnT>
                      <a:noFill/>
                    </a:lnT>
                    <a:lnB>
                      <a:noFill/>
                    </a:lnB>
                    <a:noFill/>
                  </a:tcPr>
                </a:tc>
                <a:tc>
                  <a:txBody>
                    <a:bodyPr/>
                    <a:p>
                      <a:r>
                        <a:rPr sz="1600"/>
                        <a:t>Manages JPA transactions.</a:t>
                      </a:r>
                      <a:endParaRPr sz="1600"/>
                    </a:p>
                  </a:txBody>
                  <a:tcPr marL="0" marR="0" marT="0" marB="0" anchor="ctr" anchorCtr="0">
                    <a:lnL>
                      <a:noFill/>
                    </a:lnL>
                    <a:lnR>
                      <a:noFill/>
                    </a:lnR>
                    <a:lnT>
                      <a:noFill/>
                    </a:lnT>
                    <a:lnB>
                      <a:noFill/>
                    </a:lnB>
                    <a:noFill/>
                  </a:tcPr>
                </a:tc>
              </a:tr>
              <a:tr h="283210">
                <a:tc>
                  <a:txBody>
                    <a:bodyPr/>
                    <a:p>
                      <a:endParaRPr sz="1600"/>
                    </a:p>
                  </a:txBody>
                  <a:tcPr marL="0" marR="0" marT="0" marB="0" anchor="ctr" anchorCtr="0">
                    <a:lnL>
                      <a:noFill/>
                    </a:lnL>
                    <a:lnR>
                      <a:noFill/>
                    </a:lnR>
                    <a:lnT>
                      <a:noFill/>
                    </a:lnT>
                    <a:lnB>
                      <a:noFill/>
                    </a:lnB>
                    <a:noFill/>
                  </a:tcPr>
                </a:tc>
                <a:tc>
                  <a:txBody>
                    <a:bodyPr/>
                    <a:p>
                      <a:r>
                        <a:rPr sz="1600"/>
                        <a:t>@Repository</a:t>
                      </a:r>
                      <a:endParaRPr sz="1600"/>
                    </a:p>
                  </a:txBody>
                  <a:tcPr marL="0" marR="0" marT="0" marB="0" anchor="ctr" anchorCtr="0">
                    <a:lnL>
                      <a:noFill/>
                    </a:lnL>
                    <a:lnR>
                      <a:noFill/>
                    </a:lnR>
                    <a:lnT>
                      <a:noFill/>
                    </a:lnT>
                    <a:lnB>
                      <a:noFill/>
                    </a:lnB>
                    <a:noFill/>
                  </a:tcPr>
                </a:tc>
                <a:tc>
                  <a:txBody>
                    <a:bodyPr/>
                    <a:p>
                      <a:r>
                        <a:rPr sz="1600"/>
                        <a:t>Marks DAO classes for JPA; supports exception translation.</a:t>
                      </a:r>
                      <a:endParaRPr sz="1600"/>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2"/>
            </p:custDataLst>
          </p:nvPr>
        </p:nvGraphicFramePr>
        <p:xfrm>
          <a:off x="176530" y="-1270"/>
          <a:ext cx="11891645" cy="1654175"/>
        </p:xfrm>
        <a:graphic>
          <a:graphicData uri="http://schemas.openxmlformats.org/drawingml/2006/table">
            <a:tbl>
              <a:tblPr/>
              <a:tblGrid>
                <a:gridCol w="4125595"/>
                <a:gridCol w="7766050"/>
              </a:tblGrid>
              <a:tr h="330835">
                <a:tc>
                  <a:txBody>
                    <a:bodyPr/>
                    <a:p>
                      <a:r>
                        <a:rPr sz="1600"/>
                        <a:t>@RequestBody</a:t>
                      </a:r>
                      <a:endParaRPr sz="1600"/>
                    </a:p>
                  </a:txBody>
                  <a:tcPr marL="0" marR="0" marT="0" marB="0" anchor="ctr" anchorCtr="0">
                    <a:lnL>
                      <a:noFill/>
                    </a:lnL>
                    <a:lnR>
                      <a:noFill/>
                    </a:lnR>
                    <a:lnT>
                      <a:noFill/>
                    </a:lnT>
                    <a:lnB>
                      <a:noFill/>
                    </a:lnB>
                    <a:noFill/>
                  </a:tcPr>
                </a:tc>
                <a:tc>
                  <a:txBody>
                    <a:bodyPr/>
                    <a:p>
                      <a:r>
                        <a:rPr sz="1600"/>
                        <a:t>Binds HTTP request body to a Java object.</a:t>
                      </a:r>
                      <a:endParaRPr sz="1600"/>
                    </a:p>
                  </a:txBody>
                  <a:tcPr marL="0" marR="0" marT="0" marB="0" anchor="ctr" anchorCtr="0">
                    <a:lnL>
                      <a:noFill/>
                    </a:lnL>
                    <a:lnR>
                      <a:noFill/>
                    </a:lnR>
                    <a:lnT>
                      <a:noFill/>
                    </a:lnT>
                    <a:lnB>
                      <a:noFill/>
                    </a:lnB>
                    <a:noFill/>
                  </a:tcPr>
                </a:tc>
              </a:tr>
              <a:tr h="330835">
                <a:tc>
                  <a:txBody>
                    <a:bodyPr/>
                    <a:p>
                      <a:r>
                        <a:rPr sz="1600"/>
                        <a:t>@ResponseBody</a:t>
                      </a:r>
                      <a:endParaRPr sz="1600"/>
                    </a:p>
                  </a:txBody>
                  <a:tcPr marL="0" marR="0" marT="0" marB="0" anchor="ctr" anchorCtr="0">
                    <a:lnL>
                      <a:noFill/>
                    </a:lnL>
                    <a:lnR>
                      <a:noFill/>
                    </a:lnR>
                    <a:lnT>
                      <a:noFill/>
                    </a:lnT>
                    <a:lnB>
                      <a:noFill/>
                    </a:lnB>
                    <a:noFill/>
                  </a:tcPr>
                </a:tc>
                <a:tc>
                  <a:txBody>
                    <a:bodyPr/>
                    <a:p>
                      <a:r>
                        <a:rPr sz="1600"/>
                        <a:t>Sends the return value as HTTP response body.</a:t>
                      </a:r>
                      <a:endParaRPr sz="1600"/>
                    </a:p>
                  </a:txBody>
                  <a:tcPr marL="0" marR="0" marT="0" marB="0" anchor="ctr" anchorCtr="0">
                    <a:lnL>
                      <a:noFill/>
                    </a:lnL>
                    <a:lnR>
                      <a:noFill/>
                    </a:lnR>
                    <a:lnT>
                      <a:noFill/>
                    </a:lnT>
                    <a:lnB>
                      <a:noFill/>
                    </a:lnB>
                    <a:noFill/>
                  </a:tcPr>
                </a:tc>
              </a:tr>
              <a:tr h="330835">
                <a:tc>
                  <a:txBody>
                    <a:bodyPr/>
                    <a:p>
                      <a:r>
                        <a:rPr sz="1600"/>
                        <a:t>@ModelAttribute</a:t>
                      </a:r>
                      <a:endParaRPr sz="1600"/>
                    </a:p>
                  </a:txBody>
                  <a:tcPr marL="0" marR="0" marT="0" marB="0" anchor="ctr" anchorCtr="0">
                    <a:lnL>
                      <a:noFill/>
                    </a:lnL>
                    <a:lnR>
                      <a:noFill/>
                    </a:lnR>
                    <a:lnT>
                      <a:noFill/>
                    </a:lnT>
                    <a:lnB>
                      <a:noFill/>
                    </a:lnB>
                    <a:noFill/>
                  </a:tcPr>
                </a:tc>
                <a:tc>
                  <a:txBody>
                    <a:bodyPr/>
                    <a:p>
                      <a:r>
                        <a:rPr sz="1600"/>
                        <a:t>Binds request parameters to a model object.</a:t>
                      </a:r>
                      <a:endParaRPr sz="1600"/>
                    </a:p>
                  </a:txBody>
                  <a:tcPr marL="0" marR="0" marT="0" marB="0" anchor="ctr" anchorCtr="0">
                    <a:lnL>
                      <a:noFill/>
                    </a:lnL>
                    <a:lnR>
                      <a:noFill/>
                    </a:lnR>
                    <a:lnT>
                      <a:noFill/>
                    </a:lnT>
                    <a:lnB>
                      <a:noFill/>
                    </a:lnB>
                    <a:noFill/>
                  </a:tcPr>
                </a:tc>
              </a:tr>
              <a:tr h="330835">
                <a:tc>
                  <a:txBody>
                    <a:bodyPr/>
                    <a:p>
                      <a:r>
                        <a:rPr sz="1600"/>
                        <a:t>@SessionAttributes</a:t>
                      </a:r>
                      <a:endParaRPr sz="1600"/>
                    </a:p>
                  </a:txBody>
                  <a:tcPr marL="0" marR="0" marT="0" marB="0" anchor="ctr" anchorCtr="0">
                    <a:lnL>
                      <a:noFill/>
                    </a:lnL>
                    <a:lnR>
                      <a:noFill/>
                    </a:lnR>
                    <a:lnT>
                      <a:noFill/>
                    </a:lnT>
                    <a:lnB>
                      <a:noFill/>
                    </a:lnB>
                    <a:noFill/>
                  </a:tcPr>
                </a:tc>
                <a:tc>
                  <a:txBody>
                    <a:bodyPr/>
                    <a:p>
                      <a:r>
                        <a:rPr sz="1600"/>
                        <a:t>Specifies session-scoped model attributes.</a:t>
                      </a:r>
                      <a:endParaRPr sz="1600"/>
                    </a:p>
                  </a:txBody>
                  <a:tcPr marL="0" marR="0" marT="0" marB="0" anchor="ctr" anchorCtr="0">
                    <a:lnL>
                      <a:noFill/>
                    </a:lnL>
                    <a:lnR>
                      <a:noFill/>
                    </a:lnR>
                    <a:lnT>
                      <a:noFill/>
                    </a:lnT>
                    <a:lnB>
                      <a:noFill/>
                    </a:lnB>
                    <a:noFill/>
                  </a:tcPr>
                </a:tc>
              </a:tr>
              <a:tr h="330835">
                <a:tc>
                  <a:txBody>
                    <a:bodyPr/>
                    <a:p>
                      <a:r>
                        <a:rPr sz="1600"/>
                        <a:t>@ExceptionHandler</a:t>
                      </a:r>
                      <a:endParaRPr sz="1600"/>
                    </a:p>
                  </a:txBody>
                  <a:tcPr marL="0" marR="0" marT="0" marB="0" anchor="ctr" anchorCtr="0">
                    <a:lnL>
                      <a:noFill/>
                    </a:lnL>
                    <a:lnR>
                      <a:noFill/>
                    </a:lnR>
                    <a:lnT>
                      <a:noFill/>
                    </a:lnT>
                    <a:lnB>
                      <a:noFill/>
                    </a:lnB>
                    <a:noFill/>
                  </a:tcPr>
                </a:tc>
                <a:tc>
                  <a:txBody>
                    <a:bodyPr/>
                    <a:p>
                      <a:r>
                        <a:rPr sz="1600"/>
                        <a:t>Handles exceptions thrown in controller methods.</a:t>
                      </a:r>
                      <a:endParaRPr sz="16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57480" y="0"/>
            <a:ext cx="11892915" cy="404495"/>
          </a:xfrm>
        </p:spPr>
        <p:txBody>
          <a:bodyPr>
            <a:normAutofit fontScale="90000"/>
          </a:bodyPr>
          <a:p>
            <a:pPr algn="ctr"/>
            <a:r>
              <a:rPr lang="en-US" sz="2800" b="1">
                <a:solidFill>
                  <a:srgbClr val="FF0000"/>
                </a:solidFill>
              </a:rPr>
              <a:t>Application.Properties</a:t>
            </a:r>
            <a:endParaRPr lang="en-US" sz="2800" b="1">
              <a:solidFill>
                <a:srgbClr val="FF0000"/>
              </a:solidFill>
            </a:endParaRPr>
          </a:p>
        </p:txBody>
      </p:sp>
      <p:sp>
        <p:nvSpPr>
          <p:cNvPr id="3" name="Content Placeholder 2"/>
          <p:cNvSpPr>
            <a:spLocks noGrp="1"/>
          </p:cNvSpPr>
          <p:nvPr>
            <p:ph idx="1"/>
          </p:nvPr>
        </p:nvSpPr>
        <p:spPr>
          <a:xfrm>
            <a:off x="157480" y="404495"/>
            <a:ext cx="11893550" cy="6250305"/>
          </a:xfrm>
        </p:spPr>
        <p:txBody>
          <a:bodyPr>
            <a:normAutofit/>
          </a:bodyPr>
          <a:p>
            <a:pPr marL="342900" indent="-342900">
              <a:buAutoNum type="arabicPeriod"/>
            </a:pPr>
            <a:r>
              <a:rPr lang="en-US" altLang="en-US" sz="1800"/>
              <a:t>application.properties is a configuration file in Spring Boot that allows you to externalize your application’s configuration — meaning you don’t have to hardcode values inside your Java code.</a:t>
            </a:r>
            <a:endParaRPr lang="en-US" altLang="en-US" sz="1800"/>
          </a:p>
          <a:p>
            <a:pPr marL="342900" indent="-342900">
              <a:buAutoNum type="arabicPeriod"/>
            </a:pPr>
            <a:r>
              <a:rPr lang="en-US" altLang="en-US" sz="1800"/>
              <a:t>It’s used to define:</a:t>
            </a:r>
            <a:endParaRPr lang="en-US" altLang="en-US" sz="1800"/>
          </a:p>
          <a:p>
            <a:pPr marL="342900" indent="-342900">
              <a:buAutoNum type="arabicPeriod"/>
            </a:pPr>
            <a:r>
              <a:rPr lang="en-US" altLang="en-US" sz="1800"/>
              <a:t>Server settings</a:t>
            </a:r>
            <a:endParaRPr lang="en-US" altLang="en-US" sz="1800"/>
          </a:p>
          <a:p>
            <a:pPr marL="342900" indent="-342900">
              <a:buAutoNum type="arabicPeriod"/>
            </a:pPr>
            <a:r>
              <a:rPr lang="en-US" altLang="en-US" sz="1800"/>
              <a:t>Database connection details</a:t>
            </a:r>
            <a:endParaRPr lang="en-US" altLang="en-US" sz="1800"/>
          </a:p>
          <a:p>
            <a:pPr marL="342900" indent="-342900">
              <a:buAutoNum type="arabicPeriod"/>
            </a:pPr>
            <a:r>
              <a:rPr lang="en-US" altLang="en-US" sz="1800"/>
              <a:t>ogging configurations</a:t>
            </a:r>
            <a:endParaRPr lang="en-US" altLang="en-US" sz="1800"/>
          </a:p>
          <a:p>
            <a:pPr marL="342900" indent="-342900">
              <a:buAutoNum type="arabicPeriod"/>
            </a:pPr>
            <a:r>
              <a:rPr lang="en-US" altLang="en-US" sz="1800"/>
              <a:t>Spring application behavior</a:t>
            </a:r>
            <a:endParaRPr lang="en-US" altLang="en-US" sz="1800"/>
          </a:p>
          <a:p>
            <a:pPr marL="342900" indent="-342900">
              <a:buAutoNum type="arabicPeriod"/>
            </a:pPr>
            <a:r>
              <a:rPr lang="en-US" altLang="en-US" sz="1800"/>
              <a:t>Custom application variables</a:t>
            </a:r>
            <a:endParaRPr lang="en-US" altLang="en-US" sz="1800"/>
          </a:p>
          <a:p>
            <a:pPr marL="342900" indent="-342900">
              <a:buAutoNum type="arabicPeriod"/>
            </a:pPr>
            <a:r>
              <a:rPr lang="en-US" altLang="en-US" sz="1800" b="1"/>
              <a:t>location of Application Properties file  -&gt;src/main/resources/application.properties</a:t>
            </a:r>
            <a:endParaRPr lang="en-US" altLang="en-US" sz="1800" b="1"/>
          </a:p>
          <a:p>
            <a:pPr marL="342900" indent="-342900">
              <a:buAutoNum type="arabicPeriod"/>
            </a:pPr>
            <a:endParaRPr lang="en-US" altLang="en-US" sz="1800"/>
          </a:p>
          <a:p>
            <a:pPr marL="342900" indent="-342900">
              <a:buAutoNum type="arabicPeriod"/>
            </a:pPr>
            <a:endParaRPr lang="en-US" altLang="en-US" sz="1800"/>
          </a:p>
        </p:txBody>
      </p:sp>
      <p:graphicFrame>
        <p:nvGraphicFramePr>
          <p:cNvPr id="4" name="Table 3"/>
          <p:cNvGraphicFramePr/>
          <p:nvPr>
            <p:custDataLst>
              <p:tags r:id="rId1"/>
            </p:custDataLst>
          </p:nvPr>
        </p:nvGraphicFramePr>
        <p:xfrm>
          <a:off x="280035" y="3846195"/>
          <a:ext cx="11770995" cy="2809240"/>
        </p:xfrm>
        <a:graphic>
          <a:graphicData uri="http://schemas.openxmlformats.org/drawingml/2006/table">
            <a:tbl>
              <a:tblPr/>
              <a:tblGrid>
                <a:gridCol w="5241290"/>
                <a:gridCol w="6529705"/>
              </a:tblGrid>
              <a:tr h="351155">
                <a:tc>
                  <a:txBody>
                    <a:bodyPr/>
                    <a:p>
                      <a:pPr algn="ctr"/>
                      <a:r>
                        <a:rPr sz="2000" b="1"/>
                        <a:t>Aspect</a:t>
                      </a:r>
                      <a:endParaRPr sz="2000" b="1"/>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b="1"/>
                        <a:t>Details</a:t>
                      </a:r>
                      <a:endParaRPr sz="2000" b="1"/>
                    </a:p>
                  </a:txBody>
                  <a:tcPr marL="0" marR="0" marT="0" marB="0" anchor="ctr" anchorCtr="0">
                    <a:lnL>
                      <a:noFill/>
                    </a:lnL>
                    <a:lnR>
                      <a:noFill/>
                    </a:lnR>
                    <a:lnT>
                      <a:noFill/>
                    </a:lnT>
                    <a:lnB>
                      <a:noFill/>
                    </a:lnB>
                    <a:solidFill>
                      <a:schemeClr val="accent2">
                        <a:lumMod val="40000"/>
                        <a:lumOff val="60000"/>
                      </a:schemeClr>
                    </a:solidFill>
                  </a:tcPr>
                </a:tc>
              </a:tr>
              <a:tr h="351155">
                <a:tc>
                  <a:txBody>
                    <a:bodyPr/>
                    <a:p>
                      <a:r>
                        <a:rPr sz="1800"/>
                        <a:t>File name</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application.properties</a:t>
                      </a:r>
                      <a:endParaRPr sz="1800"/>
                    </a:p>
                  </a:txBody>
                  <a:tcPr marL="0" marR="0" marT="0" marB="0" anchor="ctr" anchorCtr="0">
                    <a:lnL>
                      <a:noFill/>
                    </a:lnL>
                    <a:lnR>
                      <a:noFill/>
                    </a:lnR>
                    <a:lnT>
                      <a:noFill/>
                    </a:lnT>
                    <a:lnB>
                      <a:noFill/>
                    </a:lnB>
                    <a:solidFill>
                      <a:schemeClr val="accent2">
                        <a:lumMod val="40000"/>
                        <a:lumOff val="60000"/>
                      </a:schemeClr>
                    </a:solidFill>
                  </a:tcPr>
                </a:tc>
              </a:tr>
              <a:tr h="351155">
                <a:tc>
                  <a:txBody>
                    <a:bodyPr/>
                    <a:p>
                      <a:r>
                        <a:rPr sz="1800"/>
                        <a:t>Location</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src/main/resources/</a:t>
                      </a:r>
                      <a:endParaRPr sz="1800"/>
                    </a:p>
                  </a:txBody>
                  <a:tcPr marL="0" marR="0" marT="0" marB="0" anchor="ctr" anchorCtr="0">
                    <a:lnL>
                      <a:noFill/>
                    </a:lnL>
                    <a:lnR>
                      <a:noFill/>
                    </a:lnR>
                    <a:lnT>
                      <a:noFill/>
                    </a:lnT>
                    <a:lnB>
                      <a:noFill/>
                    </a:lnB>
                    <a:solidFill>
                      <a:schemeClr val="accent2">
                        <a:lumMod val="40000"/>
                        <a:lumOff val="60000"/>
                      </a:schemeClr>
                    </a:solidFill>
                  </a:tcPr>
                </a:tc>
              </a:tr>
              <a:tr h="351155">
                <a:tc>
                  <a:txBody>
                    <a:bodyPr/>
                    <a:p>
                      <a:r>
                        <a:rPr sz="1800"/>
                        <a:t>Format</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Key-value pairs</a:t>
                      </a:r>
                      <a:endParaRPr sz="1800"/>
                    </a:p>
                  </a:txBody>
                  <a:tcPr marL="0" marR="0" marT="0" marB="0" anchor="ctr" anchorCtr="0">
                    <a:lnL>
                      <a:noFill/>
                    </a:lnL>
                    <a:lnR>
                      <a:noFill/>
                    </a:lnR>
                    <a:lnT>
                      <a:noFill/>
                    </a:lnT>
                    <a:lnB>
                      <a:noFill/>
                    </a:lnB>
                    <a:solidFill>
                      <a:schemeClr val="accent2">
                        <a:lumMod val="40000"/>
                        <a:lumOff val="60000"/>
                      </a:schemeClr>
                    </a:solidFill>
                  </a:tcPr>
                </a:tc>
              </a:tr>
              <a:tr h="351155">
                <a:tc>
                  <a:txBody>
                    <a:bodyPr/>
                    <a:p>
                      <a:r>
                        <a:rPr sz="1800"/>
                        <a:t>Alternative</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application.yml</a:t>
                      </a:r>
                      <a:endParaRPr sz="1800"/>
                    </a:p>
                  </a:txBody>
                  <a:tcPr marL="0" marR="0" marT="0" marB="0" anchor="ctr" anchorCtr="0">
                    <a:lnL>
                      <a:noFill/>
                    </a:lnL>
                    <a:lnR>
                      <a:noFill/>
                    </a:lnR>
                    <a:lnT>
                      <a:noFill/>
                    </a:lnT>
                    <a:lnB>
                      <a:noFill/>
                    </a:lnB>
                    <a:solidFill>
                      <a:schemeClr val="accent2">
                        <a:lumMod val="40000"/>
                        <a:lumOff val="60000"/>
                      </a:schemeClr>
                    </a:solidFill>
                  </a:tcPr>
                </a:tc>
              </a:tr>
              <a:tr h="351155">
                <a:tc>
                  <a:txBody>
                    <a:bodyPr/>
                    <a:p>
                      <a:r>
                        <a:rPr sz="1800"/>
                        <a:t>Purpose</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Configure application behavior externally</a:t>
                      </a:r>
                      <a:endParaRPr sz="1800"/>
                    </a:p>
                  </a:txBody>
                  <a:tcPr marL="0" marR="0" marT="0" marB="0" anchor="ctr" anchorCtr="0">
                    <a:lnL>
                      <a:noFill/>
                    </a:lnL>
                    <a:lnR>
                      <a:noFill/>
                    </a:lnR>
                    <a:lnT>
                      <a:noFill/>
                    </a:lnT>
                    <a:lnB>
                      <a:noFill/>
                    </a:lnB>
                    <a:solidFill>
                      <a:schemeClr val="accent2">
                        <a:lumMod val="40000"/>
                        <a:lumOff val="60000"/>
                      </a:schemeClr>
                    </a:solidFill>
                  </a:tcPr>
                </a:tc>
              </a:tr>
              <a:tr h="351155">
                <a:tc>
                  <a:txBody>
                    <a:bodyPr/>
                    <a:p>
                      <a:r>
                        <a:rPr sz="1800"/>
                        <a:t>Supports Profiles</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Yes (application-dev.properties)</a:t>
                      </a:r>
                      <a:endParaRPr sz="1800"/>
                    </a:p>
                  </a:txBody>
                  <a:tcPr marL="0" marR="0" marT="0" marB="0" anchor="ctr" anchorCtr="0">
                    <a:lnL>
                      <a:noFill/>
                    </a:lnL>
                    <a:lnR>
                      <a:noFill/>
                    </a:lnR>
                    <a:lnT>
                      <a:noFill/>
                    </a:lnT>
                    <a:lnB>
                      <a:noFill/>
                    </a:lnB>
                    <a:solidFill>
                      <a:schemeClr val="accent2">
                        <a:lumMod val="40000"/>
                        <a:lumOff val="60000"/>
                      </a:schemeClr>
                    </a:solidFill>
                  </a:tcPr>
                </a:tc>
              </a:tr>
              <a:tr h="351155">
                <a:tc>
                  <a:txBody>
                    <a:bodyPr/>
                    <a:p>
                      <a:r>
                        <a:rPr sz="1800"/>
                        <a:t>Access in code</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@Value or @ConfigurationProperties</a:t>
                      </a:r>
                      <a:endParaRPr sz="1800"/>
                    </a:p>
                  </a:txBody>
                  <a:tcPr marL="0" marR="0" marT="0" marB="0" anchor="ctr" anchorCtr="0">
                    <a:lnL>
                      <a:noFill/>
                    </a:lnL>
                    <a:lnR>
                      <a:noFill/>
                    </a:lnR>
                    <a:lnT>
                      <a:noFill/>
                    </a:lnT>
                    <a:lnB>
                      <a:noFill/>
                    </a:lnB>
                    <a:solidFill>
                      <a:schemeClr val="accent2">
                        <a:lumMod val="40000"/>
                        <a:lumOff val="60000"/>
                      </a:schemeClr>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70205"/>
          </a:xfrm>
        </p:spPr>
        <p:txBody>
          <a:bodyPr>
            <a:normAutofit fontScale="90000"/>
          </a:bodyPr>
          <a:p>
            <a:pPr algn="ctr"/>
            <a:r>
              <a:rPr lang="en-US" altLang="en-US" sz="2800" b="1">
                <a:solidFill>
                  <a:srgbClr val="FF0000"/>
                </a:solidFill>
              </a:rPr>
              <a:t>Common Uses and Examples</a:t>
            </a:r>
            <a:endParaRPr lang="en-US" altLang="en-US" sz="2800" b="1">
              <a:solidFill>
                <a:srgbClr val="FF0000"/>
              </a:solidFill>
            </a:endParaRPr>
          </a:p>
        </p:txBody>
      </p:sp>
      <p:graphicFrame>
        <p:nvGraphicFramePr>
          <p:cNvPr id="4" name="Table 3"/>
          <p:cNvGraphicFramePr/>
          <p:nvPr>
            <p:custDataLst>
              <p:tags r:id="rId1"/>
            </p:custDataLst>
          </p:nvPr>
        </p:nvGraphicFramePr>
        <p:xfrm>
          <a:off x="81915" y="370205"/>
          <a:ext cx="11990705" cy="5267325"/>
        </p:xfrm>
        <a:graphic>
          <a:graphicData uri="http://schemas.openxmlformats.org/drawingml/2006/table">
            <a:tbl>
              <a:tblPr/>
              <a:tblGrid>
                <a:gridCol w="2537460"/>
                <a:gridCol w="3458210"/>
                <a:gridCol w="2442845"/>
                <a:gridCol w="3552190"/>
              </a:tblGrid>
              <a:tr h="274320">
                <a:tc>
                  <a:txBody>
                    <a:bodyPr/>
                    <a:p>
                      <a:pPr algn="ctr"/>
                      <a:r>
                        <a:rPr sz="1800" b="1"/>
                        <a:t>Category</a:t>
                      </a:r>
                      <a:endParaRPr sz="1800" b="1"/>
                    </a:p>
                  </a:txBody>
                  <a:tcPr marL="0" marR="0" marT="0" marB="0" anchor="ctr" anchorCtr="0">
                    <a:lnL>
                      <a:noFill/>
                    </a:lnL>
                    <a:lnR>
                      <a:noFill/>
                    </a:lnR>
                    <a:lnT>
                      <a:noFill/>
                    </a:lnT>
                    <a:lnB>
                      <a:noFill/>
                    </a:lnB>
                    <a:noFill/>
                  </a:tcPr>
                </a:tc>
                <a:tc>
                  <a:txBody>
                    <a:bodyPr/>
                    <a:p>
                      <a:pPr algn="ctr"/>
                      <a:r>
                        <a:rPr sz="1800" b="1"/>
                        <a:t>Property Key</a:t>
                      </a:r>
                      <a:endParaRPr sz="1800" b="1"/>
                    </a:p>
                  </a:txBody>
                  <a:tcPr marL="0" marR="0" marT="0" marB="0" anchor="ctr" anchorCtr="0">
                    <a:lnL>
                      <a:noFill/>
                    </a:lnL>
                    <a:lnR>
                      <a:noFill/>
                    </a:lnR>
                    <a:lnT>
                      <a:noFill/>
                    </a:lnT>
                    <a:lnB>
                      <a:noFill/>
                    </a:lnB>
                    <a:noFill/>
                  </a:tcPr>
                </a:tc>
                <a:tc>
                  <a:txBody>
                    <a:bodyPr/>
                    <a:p>
                      <a:pPr algn="ctr"/>
                      <a:r>
                        <a:rPr sz="1800" b="1"/>
                        <a:t>Example Value</a:t>
                      </a:r>
                      <a:endParaRPr sz="1800" b="1"/>
                    </a:p>
                  </a:txBody>
                  <a:tcPr marL="0" marR="0" marT="0" marB="0" anchor="ctr" anchorCtr="0">
                    <a:lnL>
                      <a:noFill/>
                    </a:lnL>
                    <a:lnR>
                      <a:noFill/>
                    </a:lnR>
                    <a:lnT>
                      <a:noFill/>
                    </a:lnT>
                    <a:lnB>
                      <a:noFill/>
                    </a:lnB>
                    <a:noFill/>
                  </a:tcPr>
                </a:tc>
                <a:tc>
                  <a:txBody>
                    <a:bodyPr/>
                    <a:p>
                      <a:pPr algn="ctr"/>
                      <a:r>
                        <a:rPr sz="1800" b="1"/>
                        <a:t>Description</a:t>
                      </a:r>
                      <a:endParaRPr sz="1800" b="1"/>
                    </a:p>
                  </a:txBody>
                  <a:tcPr marL="0" marR="0" marT="0" marB="0" anchor="ctr" anchorCtr="0">
                    <a:lnL>
                      <a:noFill/>
                    </a:lnL>
                    <a:lnR>
                      <a:noFill/>
                    </a:lnR>
                    <a:lnT>
                      <a:noFill/>
                    </a:lnT>
                    <a:lnB>
                      <a:noFill/>
                    </a:lnB>
                    <a:noFill/>
                  </a:tcPr>
                </a:tc>
              </a:tr>
              <a:tr h="548640">
                <a:tc>
                  <a:txBody>
                    <a:bodyPr/>
                    <a:p>
                      <a:r>
                        <a:rPr sz="1800"/>
                        <a:t>Server Settings</a:t>
                      </a:r>
                      <a:endParaRPr sz="1800"/>
                    </a:p>
                  </a:txBody>
                  <a:tcPr marL="0" marR="0" marT="0" marB="0" anchor="ctr" anchorCtr="0">
                    <a:lnL>
                      <a:noFill/>
                    </a:lnL>
                    <a:lnR>
                      <a:noFill/>
                    </a:lnR>
                    <a:lnT>
                      <a:noFill/>
                    </a:lnT>
                    <a:lnB>
                      <a:noFill/>
                    </a:lnB>
                    <a:noFill/>
                  </a:tcPr>
                </a:tc>
                <a:tc>
                  <a:txBody>
                    <a:bodyPr/>
                    <a:p>
                      <a:r>
                        <a:rPr sz="1800"/>
                        <a:t>server.port</a:t>
                      </a:r>
                      <a:endParaRPr sz="1800"/>
                    </a:p>
                  </a:txBody>
                  <a:tcPr marL="0" marR="0" marT="0" marB="0" anchor="ctr" anchorCtr="0">
                    <a:lnL>
                      <a:noFill/>
                    </a:lnL>
                    <a:lnR>
                      <a:noFill/>
                    </a:lnR>
                    <a:lnT>
                      <a:noFill/>
                    </a:lnT>
                    <a:lnB>
                      <a:noFill/>
                    </a:lnB>
                    <a:noFill/>
                  </a:tcPr>
                </a:tc>
                <a:tc>
                  <a:txBody>
                    <a:bodyPr/>
                    <a:p>
                      <a:r>
                        <a:rPr sz="1800"/>
                        <a:t>8081</a:t>
                      </a:r>
                      <a:endParaRPr sz="1800"/>
                    </a:p>
                  </a:txBody>
                  <a:tcPr marL="0" marR="0" marT="0" marB="0" anchor="ctr" anchorCtr="0">
                    <a:lnL>
                      <a:noFill/>
                    </a:lnL>
                    <a:lnR>
                      <a:noFill/>
                    </a:lnR>
                    <a:lnT>
                      <a:noFill/>
                    </a:lnT>
                    <a:lnB>
                      <a:noFill/>
                    </a:lnB>
                    <a:noFill/>
                  </a:tcPr>
                </a:tc>
                <a:tc>
                  <a:txBody>
                    <a:bodyPr/>
                    <a:p>
                      <a:r>
                        <a:rPr sz="1800"/>
                        <a:t>Changes the default port (default: 8080).</a:t>
                      </a:r>
                      <a:endParaRPr sz="1800"/>
                    </a:p>
                  </a:txBody>
                  <a:tcPr marL="0" marR="0" marT="0" marB="0" anchor="ctr" anchorCtr="0">
                    <a:lnL>
                      <a:noFill/>
                    </a:lnL>
                    <a:lnR>
                      <a:noFill/>
                    </a:lnR>
                    <a:lnT>
                      <a:noFill/>
                    </a:lnT>
                    <a:lnB>
                      <a:noFill/>
                    </a:lnB>
                    <a:noFill/>
                  </a:tcPr>
                </a:tc>
              </a:tr>
              <a:tr h="548640">
                <a:tc>
                  <a:txBody>
                    <a:bodyPr/>
                    <a:p>
                      <a:endParaRPr sz="1800"/>
                    </a:p>
                  </a:txBody>
                  <a:tcPr marL="0" marR="0" marT="0" marB="0" anchor="ctr" anchorCtr="0">
                    <a:lnL>
                      <a:noFill/>
                    </a:lnL>
                    <a:lnR>
                      <a:noFill/>
                    </a:lnR>
                    <a:lnT>
                      <a:noFill/>
                    </a:lnT>
                    <a:lnB>
                      <a:noFill/>
                    </a:lnB>
                    <a:noFill/>
                  </a:tcPr>
                </a:tc>
                <a:tc>
                  <a:txBody>
                    <a:bodyPr/>
                    <a:p>
                      <a:r>
                        <a:rPr sz="1800"/>
                        <a:t>server.servlet.context-path</a:t>
                      </a:r>
                      <a:endParaRPr sz="1800"/>
                    </a:p>
                  </a:txBody>
                  <a:tcPr marL="0" marR="0" marT="0" marB="0" anchor="ctr" anchorCtr="0">
                    <a:lnL>
                      <a:noFill/>
                    </a:lnL>
                    <a:lnR>
                      <a:noFill/>
                    </a:lnR>
                    <a:lnT>
                      <a:noFill/>
                    </a:lnT>
                    <a:lnB>
                      <a:noFill/>
                    </a:lnB>
                    <a:noFill/>
                  </a:tcPr>
                </a:tc>
                <a:tc>
                  <a:txBody>
                    <a:bodyPr/>
                    <a:p>
                      <a:r>
                        <a:rPr sz="1800"/>
                        <a:t>/api</a:t>
                      </a:r>
                      <a:endParaRPr sz="1800"/>
                    </a:p>
                  </a:txBody>
                  <a:tcPr marL="0" marR="0" marT="0" marB="0" anchor="ctr" anchorCtr="0">
                    <a:lnL>
                      <a:noFill/>
                    </a:lnL>
                    <a:lnR>
                      <a:noFill/>
                    </a:lnR>
                    <a:lnT>
                      <a:noFill/>
                    </a:lnT>
                    <a:lnB>
                      <a:noFill/>
                    </a:lnB>
                    <a:noFill/>
                  </a:tcPr>
                </a:tc>
                <a:tc>
                  <a:txBody>
                    <a:bodyPr/>
                    <a:p>
                      <a:r>
                        <a:rPr sz="1800"/>
                        <a:t>Sets the base URL path for all endpoints.</a:t>
                      </a:r>
                      <a:endParaRPr sz="1800"/>
                    </a:p>
                  </a:txBody>
                  <a:tcPr marL="0" marR="0" marT="0" marB="0" anchor="ctr" anchorCtr="0">
                    <a:lnL>
                      <a:noFill/>
                    </a:lnL>
                    <a:lnR>
                      <a:noFill/>
                    </a:lnR>
                    <a:lnT>
                      <a:noFill/>
                    </a:lnT>
                    <a:lnB>
                      <a:noFill/>
                    </a:lnB>
                    <a:noFill/>
                  </a:tcPr>
                </a:tc>
              </a:tr>
              <a:tr h="548640">
                <a:tc>
                  <a:txBody>
                    <a:bodyPr/>
                    <a:p>
                      <a:r>
                        <a:rPr sz="1800"/>
                        <a:t>Database (JPA/Hibernate)</a:t>
                      </a:r>
                      <a:endParaRPr sz="1800"/>
                    </a:p>
                  </a:txBody>
                  <a:tcPr marL="0" marR="0" marT="0" marB="0" anchor="ctr" anchorCtr="0">
                    <a:lnL>
                      <a:noFill/>
                    </a:lnL>
                    <a:lnR>
                      <a:noFill/>
                    </a:lnR>
                    <a:lnT>
                      <a:noFill/>
                    </a:lnT>
                    <a:lnB>
                      <a:noFill/>
                    </a:lnB>
                    <a:noFill/>
                  </a:tcPr>
                </a:tc>
                <a:tc>
                  <a:txBody>
                    <a:bodyPr/>
                    <a:p>
                      <a:r>
                        <a:rPr sz="1800"/>
                        <a:t>spring.datasource.url</a:t>
                      </a:r>
                      <a:endParaRPr sz="1800"/>
                    </a:p>
                  </a:txBody>
                  <a:tcPr marL="0" marR="0" marT="0" marB="0" anchor="ctr" anchorCtr="0">
                    <a:lnL>
                      <a:noFill/>
                    </a:lnL>
                    <a:lnR>
                      <a:noFill/>
                    </a:lnR>
                    <a:lnT>
                      <a:noFill/>
                    </a:lnT>
                    <a:lnB>
                      <a:noFill/>
                    </a:lnB>
                    <a:noFill/>
                  </a:tcPr>
                </a:tc>
                <a:tc>
                  <a:txBody>
                    <a:bodyPr/>
                    <a:p>
                      <a:r>
                        <a:rPr sz="1800"/>
                        <a:t>jdbc:mysql://localhost:3306/testdb</a:t>
                      </a:r>
                      <a:endParaRPr sz="1800"/>
                    </a:p>
                  </a:txBody>
                  <a:tcPr marL="0" marR="0" marT="0" marB="0" anchor="ctr" anchorCtr="0">
                    <a:lnL>
                      <a:noFill/>
                    </a:lnL>
                    <a:lnR>
                      <a:noFill/>
                    </a:lnR>
                    <a:lnT>
                      <a:noFill/>
                    </a:lnT>
                    <a:lnB>
                      <a:noFill/>
                    </a:lnB>
                    <a:noFill/>
                  </a:tcPr>
                </a:tc>
                <a:tc>
                  <a:txBody>
                    <a:bodyPr/>
                    <a:p>
                      <a:r>
                        <a:rPr sz="1800"/>
                        <a:t>Database connection URL.</a:t>
                      </a:r>
                      <a:endParaRPr sz="1800"/>
                    </a:p>
                  </a:txBody>
                  <a:tcPr marL="0" marR="0" marT="0" marB="0" anchor="ctr" anchorCtr="0">
                    <a:lnL>
                      <a:noFill/>
                    </a:lnL>
                    <a:lnR>
                      <a:noFill/>
                    </a:lnR>
                    <a:lnT>
                      <a:noFill/>
                    </a:lnT>
                    <a:lnB>
                      <a:noFill/>
                    </a:lnB>
                    <a:noFill/>
                  </a:tcPr>
                </a:tc>
              </a:tr>
              <a:tr h="274320">
                <a:tc>
                  <a:txBody>
                    <a:bodyPr/>
                    <a:p>
                      <a:endParaRPr sz="1800"/>
                    </a:p>
                  </a:txBody>
                  <a:tcPr marL="0" marR="0" marT="0" marB="0" anchor="ctr" anchorCtr="0">
                    <a:lnL>
                      <a:noFill/>
                    </a:lnL>
                    <a:lnR>
                      <a:noFill/>
                    </a:lnR>
                    <a:lnT>
                      <a:noFill/>
                    </a:lnT>
                    <a:lnB>
                      <a:noFill/>
                    </a:lnB>
                    <a:noFill/>
                  </a:tcPr>
                </a:tc>
                <a:tc>
                  <a:txBody>
                    <a:bodyPr/>
                    <a:p>
                      <a:r>
                        <a:rPr sz="1800"/>
                        <a:t>spring.datasource.username</a:t>
                      </a:r>
                      <a:endParaRPr sz="1800"/>
                    </a:p>
                  </a:txBody>
                  <a:tcPr marL="0" marR="0" marT="0" marB="0" anchor="ctr" anchorCtr="0">
                    <a:lnL>
                      <a:noFill/>
                    </a:lnL>
                    <a:lnR>
                      <a:noFill/>
                    </a:lnR>
                    <a:lnT>
                      <a:noFill/>
                    </a:lnT>
                    <a:lnB>
                      <a:noFill/>
                    </a:lnB>
                    <a:noFill/>
                  </a:tcPr>
                </a:tc>
                <a:tc>
                  <a:txBody>
                    <a:bodyPr/>
                    <a:p>
                      <a:r>
                        <a:rPr sz="1800"/>
                        <a:t>root</a:t>
                      </a:r>
                      <a:endParaRPr sz="1800"/>
                    </a:p>
                  </a:txBody>
                  <a:tcPr marL="0" marR="0" marT="0" marB="0" anchor="ctr" anchorCtr="0">
                    <a:lnL>
                      <a:noFill/>
                    </a:lnL>
                    <a:lnR>
                      <a:noFill/>
                    </a:lnR>
                    <a:lnT>
                      <a:noFill/>
                    </a:lnT>
                    <a:lnB>
                      <a:noFill/>
                    </a:lnB>
                    <a:noFill/>
                  </a:tcPr>
                </a:tc>
                <a:tc>
                  <a:txBody>
                    <a:bodyPr/>
                    <a:p>
                      <a:r>
                        <a:rPr sz="1800"/>
                        <a:t>DB username.</a:t>
                      </a:r>
                      <a:endParaRPr sz="1800"/>
                    </a:p>
                  </a:txBody>
                  <a:tcPr marL="0" marR="0" marT="0" marB="0" anchor="ctr" anchorCtr="0">
                    <a:lnL>
                      <a:noFill/>
                    </a:lnL>
                    <a:lnR>
                      <a:noFill/>
                    </a:lnR>
                    <a:lnT>
                      <a:noFill/>
                    </a:lnT>
                    <a:lnB>
                      <a:noFill/>
                    </a:lnB>
                    <a:noFill/>
                  </a:tcPr>
                </a:tc>
              </a:tr>
              <a:tr h="274320">
                <a:tc>
                  <a:txBody>
                    <a:bodyPr/>
                    <a:p>
                      <a:endParaRPr sz="1800"/>
                    </a:p>
                  </a:txBody>
                  <a:tcPr marL="0" marR="0" marT="0" marB="0" anchor="ctr" anchorCtr="0">
                    <a:lnL>
                      <a:noFill/>
                    </a:lnL>
                    <a:lnR>
                      <a:noFill/>
                    </a:lnR>
                    <a:lnT>
                      <a:noFill/>
                    </a:lnT>
                    <a:lnB>
                      <a:noFill/>
                    </a:lnB>
                    <a:noFill/>
                  </a:tcPr>
                </a:tc>
                <a:tc>
                  <a:txBody>
                    <a:bodyPr/>
                    <a:p>
                      <a:r>
                        <a:rPr sz="1800"/>
                        <a:t>spring.datasource.password</a:t>
                      </a:r>
                      <a:endParaRPr sz="1800"/>
                    </a:p>
                  </a:txBody>
                  <a:tcPr marL="0" marR="0" marT="0" marB="0" anchor="ctr" anchorCtr="0">
                    <a:lnL>
                      <a:noFill/>
                    </a:lnL>
                    <a:lnR>
                      <a:noFill/>
                    </a:lnR>
                    <a:lnT>
                      <a:noFill/>
                    </a:lnT>
                    <a:lnB>
                      <a:noFill/>
                    </a:lnB>
                    <a:noFill/>
                  </a:tcPr>
                </a:tc>
                <a:tc>
                  <a:txBody>
                    <a:bodyPr/>
                    <a:p>
                      <a:r>
                        <a:rPr sz="1800"/>
                        <a:t>12345</a:t>
                      </a:r>
                      <a:endParaRPr sz="1800"/>
                    </a:p>
                  </a:txBody>
                  <a:tcPr marL="0" marR="0" marT="0" marB="0" anchor="ctr" anchorCtr="0">
                    <a:lnL>
                      <a:noFill/>
                    </a:lnL>
                    <a:lnR>
                      <a:noFill/>
                    </a:lnR>
                    <a:lnT>
                      <a:noFill/>
                    </a:lnT>
                    <a:lnB>
                      <a:noFill/>
                    </a:lnB>
                    <a:noFill/>
                  </a:tcPr>
                </a:tc>
                <a:tc>
                  <a:txBody>
                    <a:bodyPr/>
                    <a:p>
                      <a:r>
                        <a:rPr sz="1800"/>
                        <a:t>DB password.</a:t>
                      </a:r>
                      <a:endParaRPr sz="1800"/>
                    </a:p>
                  </a:txBody>
                  <a:tcPr marL="0" marR="0" marT="0" marB="0" anchor="ctr" anchorCtr="0">
                    <a:lnL>
                      <a:noFill/>
                    </a:lnL>
                    <a:lnR>
                      <a:noFill/>
                    </a:lnR>
                    <a:lnT>
                      <a:noFill/>
                    </a:lnT>
                    <a:lnB>
                      <a:noFill/>
                    </a:lnB>
                    <a:noFill/>
                  </a:tcPr>
                </a:tc>
              </a:tr>
              <a:tr h="274320">
                <a:tc>
                  <a:txBody>
                    <a:bodyPr/>
                    <a:p>
                      <a:endParaRPr sz="1800"/>
                    </a:p>
                  </a:txBody>
                  <a:tcPr marL="0" marR="0" marT="0" marB="0" anchor="ctr" anchorCtr="0">
                    <a:lnL>
                      <a:noFill/>
                    </a:lnL>
                    <a:lnR>
                      <a:noFill/>
                    </a:lnR>
                    <a:lnT>
                      <a:noFill/>
                    </a:lnT>
                    <a:lnB>
                      <a:noFill/>
                    </a:lnB>
                    <a:noFill/>
                  </a:tcPr>
                </a:tc>
                <a:tc>
                  <a:txBody>
                    <a:bodyPr/>
                    <a:p>
                      <a:r>
                        <a:rPr sz="1800"/>
                        <a:t>spring.jpa.hibernate.ddl-auto</a:t>
                      </a:r>
                      <a:endParaRPr sz="1800"/>
                    </a:p>
                  </a:txBody>
                  <a:tcPr marL="0" marR="0" marT="0" marB="0" anchor="ctr" anchorCtr="0">
                    <a:lnL>
                      <a:noFill/>
                    </a:lnL>
                    <a:lnR>
                      <a:noFill/>
                    </a:lnR>
                    <a:lnT>
                      <a:noFill/>
                    </a:lnT>
                    <a:lnB>
                      <a:noFill/>
                    </a:lnB>
                    <a:noFill/>
                  </a:tcPr>
                </a:tc>
                <a:tc>
                  <a:txBody>
                    <a:bodyPr/>
                    <a:p>
                      <a:r>
                        <a:rPr sz="1800"/>
                        <a:t>update</a:t>
                      </a:r>
                      <a:endParaRPr sz="1800"/>
                    </a:p>
                  </a:txBody>
                  <a:tcPr marL="0" marR="0" marT="0" marB="0" anchor="ctr" anchorCtr="0">
                    <a:lnL>
                      <a:noFill/>
                    </a:lnL>
                    <a:lnR>
                      <a:noFill/>
                    </a:lnR>
                    <a:lnT>
                      <a:noFill/>
                    </a:lnT>
                    <a:lnB>
                      <a:noFill/>
                    </a:lnB>
                    <a:noFill/>
                  </a:tcPr>
                </a:tc>
                <a:tc>
                  <a:txBody>
                    <a:bodyPr/>
                    <a:p>
                      <a:r>
                        <a:rPr sz="1800"/>
                        <a:t>Auto schema update/create.</a:t>
                      </a:r>
                      <a:endParaRPr sz="1800"/>
                    </a:p>
                  </a:txBody>
                  <a:tcPr marL="0" marR="0" marT="0" marB="0" anchor="ctr" anchorCtr="0">
                    <a:lnL>
                      <a:noFill/>
                    </a:lnL>
                    <a:lnR>
                      <a:noFill/>
                    </a:lnR>
                    <a:lnT>
                      <a:noFill/>
                    </a:lnT>
                    <a:lnB>
                      <a:noFill/>
                    </a:lnB>
                    <a:noFill/>
                  </a:tcPr>
                </a:tc>
              </a:tr>
              <a:tr h="274320">
                <a:tc>
                  <a:txBody>
                    <a:bodyPr/>
                    <a:p>
                      <a:endParaRPr sz="1800"/>
                    </a:p>
                  </a:txBody>
                  <a:tcPr marL="0" marR="0" marT="0" marB="0" anchor="ctr" anchorCtr="0">
                    <a:lnL>
                      <a:noFill/>
                    </a:lnL>
                    <a:lnR>
                      <a:noFill/>
                    </a:lnR>
                    <a:lnT>
                      <a:noFill/>
                    </a:lnT>
                    <a:lnB>
                      <a:noFill/>
                    </a:lnB>
                    <a:noFill/>
                  </a:tcPr>
                </a:tc>
                <a:tc>
                  <a:txBody>
                    <a:bodyPr/>
                    <a:p>
                      <a:r>
                        <a:rPr sz="1800"/>
                        <a:t>spring.jpa.show-sql</a:t>
                      </a:r>
                      <a:endParaRPr sz="1800"/>
                    </a:p>
                  </a:txBody>
                  <a:tcPr marL="0" marR="0" marT="0" marB="0" anchor="ctr" anchorCtr="0">
                    <a:lnL>
                      <a:noFill/>
                    </a:lnL>
                    <a:lnR>
                      <a:noFill/>
                    </a:lnR>
                    <a:lnT>
                      <a:noFill/>
                    </a:lnT>
                    <a:lnB>
                      <a:noFill/>
                    </a:lnB>
                    <a:noFill/>
                  </a:tcPr>
                </a:tc>
                <a:tc>
                  <a:txBody>
                    <a:bodyPr/>
                    <a:p>
                      <a:r>
                        <a:rPr sz="1800"/>
                        <a:t>true</a:t>
                      </a:r>
                      <a:endParaRPr sz="1800"/>
                    </a:p>
                  </a:txBody>
                  <a:tcPr marL="0" marR="0" marT="0" marB="0" anchor="ctr" anchorCtr="0">
                    <a:lnL>
                      <a:noFill/>
                    </a:lnL>
                    <a:lnR>
                      <a:noFill/>
                    </a:lnR>
                    <a:lnT>
                      <a:noFill/>
                    </a:lnT>
                    <a:lnB>
                      <a:noFill/>
                    </a:lnB>
                    <a:noFill/>
                  </a:tcPr>
                </a:tc>
                <a:tc>
                  <a:txBody>
                    <a:bodyPr/>
                    <a:p>
                      <a:r>
                        <a:rPr sz="1800"/>
                        <a:t>Show SQL queries in logs.</a:t>
                      </a:r>
                      <a:endParaRPr sz="1800"/>
                    </a:p>
                  </a:txBody>
                  <a:tcPr marL="0" marR="0" marT="0" marB="0" anchor="ctr" anchorCtr="0">
                    <a:lnL>
                      <a:noFill/>
                    </a:lnL>
                    <a:lnR>
                      <a:noFill/>
                    </a:lnR>
                    <a:lnT>
                      <a:noFill/>
                    </a:lnT>
                    <a:lnB>
                      <a:noFill/>
                    </a:lnB>
                    <a:noFill/>
                  </a:tcPr>
                </a:tc>
              </a:tr>
              <a:tr h="274320">
                <a:tc>
                  <a:txBody>
                    <a:bodyPr/>
                    <a:p>
                      <a:r>
                        <a:rPr sz="1800"/>
                        <a:t>Logging</a:t>
                      </a:r>
                      <a:endParaRPr sz="1800"/>
                    </a:p>
                  </a:txBody>
                  <a:tcPr marL="0" marR="0" marT="0" marB="0" anchor="ctr" anchorCtr="0">
                    <a:lnL>
                      <a:noFill/>
                    </a:lnL>
                    <a:lnR>
                      <a:noFill/>
                    </a:lnR>
                    <a:lnT>
                      <a:noFill/>
                    </a:lnT>
                    <a:lnB>
                      <a:noFill/>
                    </a:lnB>
                    <a:noFill/>
                  </a:tcPr>
                </a:tc>
                <a:tc>
                  <a:txBody>
                    <a:bodyPr/>
                    <a:p>
                      <a:r>
                        <a:rPr sz="1800"/>
                        <a:t>logging.level.root</a:t>
                      </a:r>
                      <a:endParaRPr sz="1800"/>
                    </a:p>
                  </a:txBody>
                  <a:tcPr marL="0" marR="0" marT="0" marB="0" anchor="ctr" anchorCtr="0">
                    <a:lnL>
                      <a:noFill/>
                    </a:lnL>
                    <a:lnR>
                      <a:noFill/>
                    </a:lnR>
                    <a:lnT>
                      <a:noFill/>
                    </a:lnT>
                    <a:lnB>
                      <a:noFill/>
                    </a:lnB>
                    <a:noFill/>
                  </a:tcPr>
                </a:tc>
                <a:tc>
                  <a:txBody>
                    <a:bodyPr/>
                    <a:p>
                      <a:r>
                        <a:rPr sz="1800"/>
                        <a:t>INFO</a:t>
                      </a:r>
                      <a:endParaRPr sz="1800"/>
                    </a:p>
                  </a:txBody>
                  <a:tcPr marL="0" marR="0" marT="0" marB="0" anchor="ctr" anchorCtr="0">
                    <a:lnL>
                      <a:noFill/>
                    </a:lnL>
                    <a:lnR>
                      <a:noFill/>
                    </a:lnR>
                    <a:lnT>
                      <a:noFill/>
                    </a:lnT>
                    <a:lnB>
                      <a:noFill/>
                    </a:lnB>
                    <a:noFill/>
                  </a:tcPr>
                </a:tc>
                <a:tc>
                  <a:txBody>
                    <a:bodyPr/>
                    <a:p>
                      <a:r>
                        <a:rPr sz="1800"/>
                        <a:t>Sets log level globally.</a:t>
                      </a:r>
                      <a:endParaRPr sz="1800"/>
                    </a:p>
                  </a:txBody>
                  <a:tcPr marL="0" marR="0" marT="0" marB="0" anchor="ctr" anchorCtr="0">
                    <a:lnL>
                      <a:noFill/>
                    </a:lnL>
                    <a:lnR>
                      <a:noFill/>
                    </a:lnR>
                    <a:lnT>
                      <a:noFill/>
                    </a:lnT>
                    <a:lnB>
                      <a:noFill/>
                    </a:lnB>
                    <a:noFill/>
                  </a:tcPr>
                </a:tc>
              </a:tr>
              <a:tr h="329565">
                <a:tc>
                  <a:txBody>
                    <a:bodyPr/>
                    <a:p>
                      <a:endParaRPr sz="1800"/>
                    </a:p>
                  </a:txBody>
                  <a:tcPr marL="0" marR="0" marT="0" marB="0" anchor="ctr" anchorCtr="0">
                    <a:lnL>
                      <a:noFill/>
                    </a:lnL>
                    <a:lnR>
                      <a:noFill/>
                    </a:lnR>
                    <a:lnT>
                      <a:noFill/>
                    </a:lnT>
                    <a:lnB>
                      <a:noFill/>
                    </a:lnB>
                    <a:noFill/>
                  </a:tcPr>
                </a:tc>
                <a:tc>
                  <a:txBody>
                    <a:bodyPr/>
                    <a:p>
                      <a:r>
                        <a:rPr sz="1800"/>
                        <a:t>logging.level.org.springframework</a:t>
                      </a:r>
                      <a:endParaRPr sz="1800"/>
                    </a:p>
                  </a:txBody>
                  <a:tcPr marL="0" marR="0" marT="0" marB="0" anchor="ctr" anchorCtr="0">
                    <a:lnL>
                      <a:noFill/>
                    </a:lnL>
                    <a:lnR>
                      <a:noFill/>
                    </a:lnR>
                    <a:lnT>
                      <a:noFill/>
                    </a:lnT>
                    <a:lnB>
                      <a:noFill/>
                    </a:lnB>
                    <a:noFill/>
                  </a:tcPr>
                </a:tc>
                <a:tc>
                  <a:txBody>
                    <a:bodyPr/>
                    <a:p>
                      <a:r>
                        <a:rPr sz="1800"/>
                        <a:t>DEBUG</a:t>
                      </a:r>
                      <a:endParaRPr sz="1800"/>
                    </a:p>
                  </a:txBody>
                  <a:tcPr marL="0" marR="0" marT="0" marB="0" anchor="ctr" anchorCtr="0">
                    <a:lnL>
                      <a:noFill/>
                    </a:lnL>
                    <a:lnR>
                      <a:noFill/>
                    </a:lnR>
                    <a:lnT>
                      <a:noFill/>
                    </a:lnT>
                    <a:lnB>
                      <a:noFill/>
                    </a:lnB>
                    <a:noFill/>
                  </a:tcPr>
                </a:tc>
                <a:tc>
                  <a:txBody>
                    <a:bodyPr/>
                    <a:p>
                      <a:r>
                        <a:rPr sz="1800"/>
                        <a:t>Sets log level for specific packages.</a:t>
                      </a:r>
                      <a:endParaRPr sz="1800"/>
                    </a:p>
                  </a:txBody>
                  <a:tcPr marL="0" marR="0" marT="0" marB="0" anchor="ctr" anchorCtr="0">
                    <a:lnL>
                      <a:noFill/>
                    </a:lnL>
                    <a:lnR>
                      <a:noFill/>
                    </a:lnR>
                    <a:lnT>
                      <a:noFill/>
                    </a:lnT>
                    <a:lnB>
                      <a:noFill/>
                    </a:lnB>
                    <a:noFill/>
                  </a:tcPr>
                </a:tc>
              </a:tr>
              <a:tr h="274320">
                <a:tc>
                  <a:txBody>
                    <a:bodyPr/>
                    <a:p>
                      <a:endParaRPr sz="1800"/>
                    </a:p>
                  </a:txBody>
                  <a:tcPr marL="0" marR="0" marT="0" marB="0" anchor="ctr" anchorCtr="0">
                    <a:lnL>
                      <a:noFill/>
                    </a:lnL>
                    <a:lnR>
                      <a:noFill/>
                    </a:lnR>
                    <a:lnT>
                      <a:noFill/>
                    </a:lnT>
                    <a:lnB>
                      <a:noFill/>
                    </a:lnB>
                    <a:noFill/>
                  </a:tcPr>
                </a:tc>
                <a:tc>
                  <a:txBody>
                    <a:bodyPr/>
                    <a:p>
                      <a:r>
                        <a:rPr sz="1800"/>
                        <a:t>logging.file.name</a:t>
                      </a:r>
                      <a:endParaRPr sz="1800"/>
                    </a:p>
                  </a:txBody>
                  <a:tcPr marL="0" marR="0" marT="0" marB="0" anchor="ctr" anchorCtr="0">
                    <a:lnL>
                      <a:noFill/>
                    </a:lnL>
                    <a:lnR>
                      <a:noFill/>
                    </a:lnR>
                    <a:lnT>
                      <a:noFill/>
                    </a:lnT>
                    <a:lnB>
                      <a:noFill/>
                    </a:lnB>
                    <a:noFill/>
                  </a:tcPr>
                </a:tc>
                <a:tc>
                  <a:txBody>
                    <a:bodyPr/>
                    <a:p>
                      <a:r>
                        <a:rPr sz="1800"/>
                        <a:t>app.log</a:t>
                      </a:r>
                      <a:endParaRPr sz="1800"/>
                    </a:p>
                  </a:txBody>
                  <a:tcPr marL="0" marR="0" marT="0" marB="0" anchor="ctr" anchorCtr="0">
                    <a:lnL>
                      <a:noFill/>
                    </a:lnL>
                    <a:lnR>
                      <a:noFill/>
                    </a:lnR>
                    <a:lnT>
                      <a:noFill/>
                    </a:lnT>
                    <a:lnB>
                      <a:noFill/>
                    </a:lnB>
                    <a:noFill/>
                  </a:tcPr>
                </a:tc>
                <a:tc>
                  <a:txBody>
                    <a:bodyPr/>
                    <a:p>
                      <a:r>
                        <a:rPr sz="1800"/>
                        <a:t>Saves logs to a file.</a:t>
                      </a:r>
                      <a:endParaRPr sz="1800"/>
                    </a:p>
                  </a:txBody>
                  <a:tcPr marL="0" marR="0" marT="0" marB="0" anchor="ctr" anchorCtr="0">
                    <a:lnL>
                      <a:noFill/>
                    </a:lnL>
                    <a:lnR>
                      <a:noFill/>
                    </a:lnR>
                    <a:lnT>
                      <a:noFill/>
                    </a:lnT>
                    <a:lnB>
                      <a:noFill/>
                    </a:lnB>
                    <a:noFill/>
                  </a:tcPr>
                </a:tc>
              </a:tr>
              <a:tr h="548640">
                <a:tc>
                  <a:txBody>
                    <a:bodyPr/>
                    <a:p>
                      <a:r>
                        <a:rPr sz="1800"/>
                        <a:t>Spring Profiles</a:t>
                      </a:r>
                      <a:endParaRPr sz="1800"/>
                    </a:p>
                  </a:txBody>
                  <a:tcPr marL="0" marR="0" marT="0" marB="0" anchor="ctr" anchorCtr="0">
                    <a:lnL>
                      <a:noFill/>
                    </a:lnL>
                    <a:lnR>
                      <a:noFill/>
                    </a:lnR>
                    <a:lnT>
                      <a:noFill/>
                    </a:lnT>
                    <a:lnB>
                      <a:noFill/>
                    </a:lnB>
                    <a:noFill/>
                  </a:tcPr>
                </a:tc>
                <a:tc>
                  <a:txBody>
                    <a:bodyPr/>
                    <a:p>
                      <a:r>
                        <a:rPr sz="1800"/>
                        <a:t>spring.profiles.active</a:t>
                      </a:r>
                      <a:endParaRPr sz="1800"/>
                    </a:p>
                  </a:txBody>
                  <a:tcPr marL="0" marR="0" marT="0" marB="0" anchor="ctr" anchorCtr="0">
                    <a:lnL>
                      <a:noFill/>
                    </a:lnL>
                    <a:lnR>
                      <a:noFill/>
                    </a:lnR>
                    <a:lnT>
                      <a:noFill/>
                    </a:lnT>
                    <a:lnB>
                      <a:noFill/>
                    </a:lnB>
                    <a:noFill/>
                  </a:tcPr>
                </a:tc>
                <a:tc>
                  <a:txBody>
                    <a:bodyPr/>
                    <a:p>
                      <a:r>
                        <a:rPr sz="1800"/>
                        <a:t>dev</a:t>
                      </a:r>
                      <a:endParaRPr sz="1800"/>
                    </a:p>
                  </a:txBody>
                  <a:tcPr marL="0" marR="0" marT="0" marB="0" anchor="ctr" anchorCtr="0">
                    <a:lnL>
                      <a:noFill/>
                    </a:lnL>
                    <a:lnR>
                      <a:noFill/>
                    </a:lnR>
                    <a:lnT>
                      <a:noFill/>
                    </a:lnT>
                    <a:lnB>
                      <a:noFill/>
                    </a:lnB>
                    <a:noFill/>
                  </a:tcPr>
                </a:tc>
                <a:tc>
                  <a:txBody>
                    <a:bodyPr/>
                    <a:p>
                      <a:r>
                        <a:rPr sz="1800"/>
                        <a:t>Activates a specific environment profile.</a:t>
                      </a:r>
                      <a:endParaRPr sz="1800"/>
                    </a:p>
                  </a:txBody>
                  <a:tcPr marL="0" marR="0" marT="0" marB="0" anchor="ctr" anchorCtr="0">
                    <a:lnL>
                      <a:noFill/>
                    </a:lnL>
                    <a:lnR>
                      <a:noFill/>
                    </a:lnR>
                    <a:lnT>
                      <a:noFill/>
                    </a:lnT>
                    <a:lnB>
                      <a:noFill/>
                    </a:lnB>
                    <a:noFill/>
                  </a:tcPr>
                </a:tc>
              </a:tr>
              <a:tr h="548640">
                <a:tc>
                  <a:txBody>
                    <a:bodyPr/>
                    <a:p>
                      <a:r>
                        <a:rPr sz="1800"/>
                        <a:t>Thymeleaf (Template Engine)</a:t>
                      </a:r>
                      <a:endParaRPr sz="1800"/>
                    </a:p>
                  </a:txBody>
                  <a:tcPr marL="0" marR="0" marT="0" marB="0" anchor="ctr" anchorCtr="0">
                    <a:lnL>
                      <a:noFill/>
                    </a:lnL>
                    <a:lnR>
                      <a:noFill/>
                    </a:lnR>
                    <a:lnT>
                      <a:noFill/>
                    </a:lnT>
                    <a:lnB>
                      <a:noFill/>
                    </a:lnB>
                    <a:noFill/>
                  </a:tcPr>
                </a:tc>
                <a:tc>
                  <a:txBody>
                    <a:bodyPr/>
                    <a:p>
                      <a:r>
                        <a:rPr sz="1800"/>
                        <a:t>spring.thymeleaf.cache</a:t>
                      </a:r>
                      <a:endParaRPr sz="1800"/>
                    </a:p>
                  </a:txBody>
                  <a:tcPr marL="0" marR="0" marT="0" marB="0" anchor="ctr" anchorCtr="0">
                    <a:lnL>
                      <a:noFill/>
                    </a:lnL>
                    <a:lnR>
                      <a:noFill/>
                    </a:lnR>
                    <a:lnT>
                      <a:noFill/>
                    </a:lnT>
                    <a:lnB>
                      <a:noFill/>
                    </a:lnB>
                    <a:noFill/>
                  </a:tcPr>
                </a:tc>
                <a:tc>
                  <a:txBody>
                    <a:bodyPr/>
                    <a:p>
                      <a:r>
                        <a:rPr sz="1800"/>
                        <a:t>false</a:t>
                      </a:r>
                      <a:endParaRPr sz="1800"/>
                    </a:p>
                  </a:txBody>
                  <a:tcPr marL="0" marR="0" marT="0" marB="0" anchor="ctr" anchorCtr="0">
                    <a:lnL>
                      <a:noFill/>
                    </a:lnL>
                    <a:lnR>
                      <a:noFill/>
                    </a:lnR>
                    <a:lnT>
                      <a:noFill/>
                    </a:lnT>
                    <a:lnB>
                      <a:noFill/>
                    </a:lnB>
                    <a:noFill/>
                  </a:tcPr>
                </a:tc>
                <a:tc>
                  <a:txBody>
                    <a:bodyPr/>
                    <a:p>
                      <a:r>
                        <a:rPr sz="1800"/>
                        <a:t>Disables caching for development.</a:t>
                      </a:r>
                      <a:endParaRPr sz="1800"/>
                    </a:p>
                  </a:txBody>
                  <a:tcPr marL="0" marR="0" marT="0" marB="0" anchor="ctr" anchorCtr="0">
                    <a:lnL>
                      <a:noFill/>
                    </a:lnL>
                    <a:lnR>
                      <a:noFill/>
                    </a:lnR>
                    <a:lnT>
                      <a:noFill/>
                    </a:lnT>
                    <a:lnB>
                      <a:noFill/>
                    </a:lnB>
                    <a:noFill/>
                  </a:tcPr>
                </a:tc>
              </a:tr>
              <a:tr h="274320">
                <a:tc>
                  <a:txBody>
                    <a:bodyPr/>
                    <a:p>
                      <a:r>
                        <a:rPr sz="1800"/>
                        <a:t>Custom Properties</a:t>
                      </a:r>
                      <a:endParaRPr sz="1800"/>
                    </a:p>
                  </a:txBody>
                  <a:tcPr marL="0" marR="0" marT="0" marB="0" anchor="ctr" anchorCtr="0">
                    <a:lnL>
                      <a:noFill/>
                    </a:lnL>
                    <a:lnR>
                      <a:noFill/>
                    </a:lnR>
                    <a:lnT>
                      <a:noFill/>
                    </a:lnT>
                    <a:lnB>
                      <a:noFill/>
                    </a:lnB>
                    <a:noFill/>
                  </a:tcPr>
                </a:tc>
                <a:tc>
                  <a:txBody>
                    <a:bodyPr/>
                    <a:p>
                      <a:r>
                        <a:rPr sz="1800"/>
                        <a:t>app.title</a:t>
                      </a:r>
                      <a:endParaRPr sz="1800"/>
                    </a:p>
                  </a:txBody>
                  <a:tcPr marL="0" marR="0" marT="0" marB="0" anchor="ctr" anchorCtr="0">
                    <a:lnL>
                      <a:noFill/>
                    </a:lnL>
                    <a:lnR>
                      <a:noFill/>
                    </a:lnR>
                    <a:lnT>
                      <a:noFill/>
                    </a:lnT>
                    <a:lnB>
                      <a:noFill/>
                    </a:lnB>
                    <a:noFill/>
                  </a:tcPr>
                </a:tc>
                <a:tc>
                  <a:txBody>
                    <a:bodyPr/>
                    <a:p>
                      <a:r>
                        <a:rPr sz="1800"/>
                        <a:t>My Spring App</a:t>
                      </a:r>
                      <a:endParaRPr sz="1800"/>
                    </a:p>
                  </a:txBody>
                  <a:tcPr marL="0" marR="0" marT="0" marB="0" anchor="ctr" anchorCtr="0">
                    <a:lnL>
                      <a:noFill/>
                    </a:lnL>
                    <a:lnR>
                      <a:noFill/>
                    </a:lnR>
                    <a:lnT>
                      <a:noFill/>
                    </a:lnT>
                    <a:lnB>
                      <a:noFill/>
                    </a:lnB>
                    <a:noFill/>
                  </a:tcPr>
                </a:tc>
                <a:tc>
                  <a:txBody>
                    <a:bodyPr/>
                    <a:p>
                      <a:r>
                        <a:rPr sz="1800"/>
                        <a:t>Define your own custom keys.</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6365" y="0"/>
            <a:ext cx="11966575" cy="405130"/>
          </a:xfrm>
        </p:spPr>
        <p:txBody>
          <a:bodyPr>
            <a:normAutofit fontScale="90000"/>
          </a:bodyPr>
          <a:p>
            <a:pPr algn="ctr"/>
            <a:r>
              <a:rPr lang="en-US" sz="2800" b="1">
                <a:solidFill>
                  <a:srgbClr val="FF0000"/>
                </a:solidFill>
              </a:rPr>
              <a:t>Spring Boot Project</a:t>
            </a:r>
            <a:endParaRPr lang="en-US" sz="2800" b="1">
              <a:solidFill>
                <a:srgbClr val="FF0000"/>
              </a:solidFill>
            </a:endParaRPr>
          </a:p>
        </p:txBody>
      </p:sp>
      <p:sp>
        <p:nvSpPr>
          <p:cNvPr id="3" name="Content Placeholder 2"/>
          <p:cNvSpPr>
            <a:spLocks noGrp="1"/>
          </p:cNvSpPr>
          <p:nvPr>
            <p:ph idx="1"/>
          </p:nvPr>
        </p:nvSpPr>
        <p:spPr>
          <a:xfrm>
            <a:off x="125730" y="501015"/>
            <a:ext cx="11844020" cy="6186170"/>
          </a:xfrm>
        </p:spPr>
        <p:txBody>
          <a:bodyPr/>
          <a:p>
            <a:pPr marL="0" indent="0">
              <a:buNone/>
            </a:pPr>
            <a:r>
              <a:rPr lang="en-US" sz="2400"/>
              <a:t>1)install STS (Spring Tool Suite) from eclipse.</a:t>
            </a:r>
            <a:endParaRPr lang="en-US" sz="2400"/>
          </a:p>
          <a:p>
            <a:pPr marL="0" indent="0">
              <a:buNone/>
            </a:pPr>
            <a:r>
              <a:rPr lang="en-US" sz="2400"/>
              <a:t>2)create project using Spring IO from official website of spring initializer</a:t>
            </a:r>
            <a:endParaRPr lang="en-US" sz="2400"/>
          </a:p>
          <a:p>
            <a:pPr marL="0" indent="0">
              <a:buNone/>
            </a:pPr>
            <a:r>
              <a:rPr lang="en-US" sz="2400"/>
              <a:t>3)using Java Maven Project select Maven WebApp/quickstart</a:t>
            </a:r>
            <a:endParaRPr lang="en-US" sz="2400"/>
          </a:p>
          <a:p>
            <a:pPr marL="0" indent="0">
              <a:buNone/>
            </a:pPr>
            <a:r>
              <a:rPr lang="en-US" sz="2400"/>
              <a:t>4)Using Intellij Idea IDE..</a:t>
            </a:r>
            <a:endParaRPr lang="en-US" sz="2400"/>
          </a:p>
          <a:p>
            <a:pPr marL="0" indent="0">
              <a:buNone/>
            </a:pPr>
            <a:endParaRPr 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92075"/>
            <a:ext cx="10515600" cy="396240"/>
          </a:xfrm>
        </p:spPr>
        <p:txBody>
          <a:bodyPr>
            <a:normAutofit fontScale="90000"/>
          </a:bodyPr>
          <a:p>
            <a:pPr algn="ctr"/>
            <a:r>
              <a:rPr lang="en-US" sz="2400" b="1">
                <a:solidFill>
                  <a:srgbClr val="FF0000"/>
                </a:solidFill>
              </a:rPr>
              <a:t>Spring Boot Dependency Injection (java Based)</a:t>
            </a:r>
            <a:endParaRPr lang="en-US" sz="2400" b="1">
              <a:solidFill>
                <a:srgbClr val="FF0000"/>
              </a:solidFill>
            </a:endParaRPr>
          </a:p>
        </p:txBody>
      </p:sp>
      <p:sp>
        <p:nvSpPr>
          <p:cNvPr id="3" name="Content Placeholder 2"/>
          <p:cNvSpPr>
            <a:spLocks noGrp="1"/>
          </p:cNvSpPr>
          <p:nvPr>
            <p:ph idx="1"/>
          </p:nvPr>
        </p:nvSpPr>
        <p:spPr>
          <a:xfrm>
            <a:off x="140970" y="488315"/>
            <a:ext cx="11884025" cy="6172200"/>
          </a:xfrm>
        </p:spPr>
        <p:txBody>
          <a:bodyPr>
            <a:noAutofit/>
          </a:bodyPr>
          <a:p>
            <a:pPr marL="0" indent="0">
              <a:buNone/>
            </a:pPr>
            <a:r>
              <a:rPr lang="en-US" altLang="en-US" sz="1800" b="1"/>
              <a:t>1. @SpringBootApplication</a:t>
            </a:r>
            <a:endParaRPr lang="en-US" altLang="en-US" sz="1800" b="1"/>
          </a:p>
          <a:p>
            <a:pPr marL="0" indent="0">
              <a:buNone/>
            </a:pPr>
            <a:r>
              <a:rPr lang="en-US" altLang="en-US" sz="1800"/>
              <a:t>This is an annotation. It tells Spring Boot that this is the starting point of your application.</a:t>
            </a:r>
            <a:endParaRPr lang="en-US" altLang="en-US" sz="1800"/>
          </a:p>
          <a:p>
            <a:pPr marL="0" indent="0">
              <a:buNone/>
            </a:pPr>
            <a:r>
              <a:rPr lang="en-US" altLang="en-US" sz="1800"/>
              <a:t>It combines 3 annotations:</a:t>
            </a:r>
            <a:endParaRPr lang="en-US" altLang="en-US" sz="1800"/>
          </a:p>
          <a:p>
            <a:pPr marL="0" indent="0">
              <a:buNone/>
            </a:pPr>
            <a:r>
              <a:rPr lang="en-US" altLang="en-US" sz="1800"/>
              <a:t>@Configuration → allows defining beans.</a:t>
            </a:r>
            <a:endParaRPr lang="en-US" altLang="en-US" sz="1800"/>
          </a:p>
          <a:p>
            <a:pPr marL="0" indent="0">
              <a:buNone/>
            </a:pPr>
            <a:r>
              <a:rPr lang="en-US" altLang="en-US" sz="1800"/>
              <a:t>@EnableAutoConfiguration → automatically configures Spring based on dependencies.</a:t>
            </a:r>
            <a:endParaRPr lang="en-US" altLang="en-US" sz="1800"/>
          </a:p>
          <a:p>
            <a:pPr marL="0" indent="0">
              <a:buNone/>
            </a:pPr>
            <a:r>
              <a:rPr lang="en-US" altLang="en-US" sz="1800"/>
              <a:t>@ComponentScan → automatically scans for Spring components in the same package and subpackages.</a:t>
            </a:r>
            <a:endParaRPr lang="en-US" altLang="en-US" sz="1800"/>
          </a:p>
          <a:p>
            <a:pPr marL="0" indent="0">
              <a:buNone/>
            </a:pPr>
            <a:endParaRPr lang="en-US" altLang="en-US" sz="1800"/>
          </a:p>
          <a:p>
            <a:pPr marL="0" indent="0">
              <a:buNone/>
            </a:pPr>
            <a:r>
              <a:rPr lang="en-US" altLang="en-US" sz="1800" b="1"/>
              <a:t>SpringApplication.run(MyApplication.class, args);</a:t>
            </a:r>
            <a:endParaRPr lang="en-US" altLang="en-US" sz="1800" b="1"/>
          </a:p>
          <a:p>
            <a:pPr marL="0" indent="0">
              <a:buNone/>
            </a:pPr>
            <a:r>
              <a:rPr lang="en-US" altLang="en-US" sz="1800"/>
              <a:t>This line starts the Spring Boot application.</a:t>
            </a:r>
            <a:endParaRPr lang="en-US" altLang="en-US" sz="1800"/>
          </a:p>
          <a:p>
            <a:pPr marL="0" indent="0">
              <a:buNone/>
            </a:pPr>
            <a:r>
              <a:rPr lang="en-US" altLang="en-US" sz="1800"/>
              <a:t>It performs:</a:t>
            </a:r>
            <a:endParaRPr lang="en-US" altLang="en-US" sz="1800"/>
          </a:p>
          <a:p>
            <a:pPr marL="0" indent="0">
              <a:buNone/>
            </a:pPr>
            <a:r>
              <a:rPr lang="en-US" altLang="en-US" sz="1800"/>
              <a:t>Creates and starts the Spring application context.</a:t>
            </a:r>
            <a:endParaRPr lang="en-US" altLang="en-US" sz="1800"/>
          </a:p>
          <a:p>
            <a:pPr marL="0" indent="0">
              <a:buNone/>
            </a:pPr>
            <a:r>
              <a:rPr lang="en-US" altLang="en-US" sz="1800"/>
              <a:t>Performs auto-configuration.</a:t>
            </a:r>
            <a:endParaRPr lang="en-US" altLang="en-US" sz="1800"/>
          </a:p>
          <a:p>
            <a:pPr marL="0" indent="0">
              <a:buNone/>
            </a:pPr>
            <a:r>
              <a:rPr lang="en-US" altLang="en-US" sz="1800"/>
              <a:t>Scans for components.</a:t>
            </a:r>
            <a:endParaRPr lang="en-US" altLang="en-US" sz="1800"/>
          </a:p>
          <a:p>
            <a:pPr marL="0" indent="0">
              <a:buNone/>
            </a:pPr>
            <a:r>
              <a:rPr lang="en-US" altLang="en-US" sz="1800"/>
              <a:t>Starts the embedded server (Tomcat by default).</a:t>
            </a:r>
            <a:endParaRPr lang="en-US" altLang="en-US" sz="1800"/>
          </a:p>
          <a:p>
            <a:pPr marL="0" indent="0">
              <a:buNone/>
            </a:pPr>
            <a:r>
              <a:rPr lang="en-US" altLang="en-US" sz="1800"/>
              <a:t>Runs the application until you stop it.</a:t>
            </a:r>
            <a:endParaRPr lang="en-US" altLang="en-US" sz="1800"/>
          </a:p>
          <a:p>
            <a:pPr marL="0" indent="0">
              <a:buNone/>
            </a:pPr>
            <a:endParaRPr lang="en-US"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23240" y="0"/>
            <a:ext cx="10515600" cy="335915"/>
          </a:xfrm>
        </p:spPr>
        <p:txBody>
          <a:bodyPr>
            <a:noAutofit/>
          </a:bodyPr>
          <a:p>
            <a:pPr algn="ctr"/>
            <a:r>
              <a:rPr lang="en-US" sz="2000" b="1">
                <a:solidFill>
                  <a:srgbClr val="FF0000"/>
                </a:solidFill>
              </a:rPr>
              <a:t>Spring Boot MVC</a:t>
            </a:r>
            <a:endParaRPr lang="en-US" sz="2000" b="1">
              <a:solidFill>
                <a:srgbClr val="FF0000"/>
              </a:solidFill>
            </a:endParaRPr>
          </a:p>
        </p:txBody>
      </p:sp>
      <p:sp>
        <p:nvSpPr>
          <p:cNvPr id="3" name="Content Placeholder 2"/>
          <p:cNvSpPr>
            <a:spLocks noGrp="1"/>
          </p:cNvSpPr>
          <p:nvPr>
            <p:ph idx="1"/>
          </p:nvPr>
        </p:nvSpPr>
        <p:spPr>
          <a:xfrm>
            <a:off x="235585" y="335915"/>
            <a:ext cx="11774805" cy="6363335"/>
          </a:xfrm>
        </p:spPr>
        <p:txBody>
          <a:bodyPr>
            <a:normAutofit fontScale="65000"/>
          </a:bodyPr>
          <a:p>
            <a:pPr marL="0" indent="0">
              <a:buNone/>
            </a:pPr>
            <a:r>
              <a:rPr lang="en-US" altLang="en-US" b="1"/>
              <a:t>What is Spring Boot Web MVC?</a:t>
            </a:r>
            <a:endParaRPr lang="en-US" altLang="en-US"/>
          </a:p>
          <a:p>
            <a:pPr marL="0" indent="0">
              <a:buNone/>
            </a:pPr>
            <a:r>
              <a:rPr lang="en-US" altLang="en-US"/>
              <a:t>Spring Web MVC is the web framework inside Spring.</a:t>
            </a:r>
            <a:endParaRPr lang="en-US" altLang="en-US"/>
          </a:p>
          <a:p>
            <a:pPr marL="0" indent="0">
              <a:buNone/>
            </a:pPr>
            <a:r>
              <a:rPr lang="en-US" altLang="en-US"/>
              <a:t>Spring Boot makes configuring it much easier by auto-configuring common components so you can start building applications quickly.</a:t>
            </a:r>
            <a:endParaRPr lang="en-US" altLang="en-US"/>
          </a:p>
          <a:p>
            <a:pPr marL="0" indent="0">
              <a:buNone/>
            </a:pPr>
            <a:r>
              <a:rPr lang="en-US" altLang="en-US"/>
              <a:t>Use it to build:</a:t>
            </a:r>
            <a:endParaRPr lang="en-US" altLang="en-US"/>
          </a:p>
          <a:p>
            <a:pPr marL="0" indent="0">
              <a:buNone/>
            </a:pPr>
            <a:r>
              <a:rPr lang="en-US" altLang="en-US"/>
              <a:t>REST APIs</a:t>
            </a:r>
            <a:endParaRPr lang="en-US" altLang="en-US"/>
          </a:p>
          <a:p>
            <a:pPr marL="0" indent="0">
              <a:buNone/>
            </a:pPr>
            <a:r>
              <a:rPr lang="en-US" altLang="en-US"/>
              <a:t>Web pages (Thymeleaf, FreeMarker, etc.)</a:t>
            </a:r>
            <a:endParaRPr lang="en-US" altLang="en-US"/>
          </a:p>
          <a:p>
            <a:pPr marL="0" indent="0">
              <a:buNone/>
            </a:pPr>
            <a:r>
              <a:rPr lang="en-US" altLang="en-US"/>
              <a:t>Traditional MVC web apps</a:t>
            </a:r>
            <a:endParaRPr lang="en-US" altLang="en-US"/>
          </a:p>
          <a:p>
            <a:pPr marL="0" indent="0">
              <a:buNone/>
            </a:pPr>
            <a:r>
              <a:rPr lang="en-US" altLang="en-US"/>
              <a:t>1. Add Dependency (Maven)</a:t>
            </a:r>
            <a:endParaRPr lang="en-US" altLang="en-US"/>
          </a:p>
          <a:p>
            <a:pPr marL="0" indent="0">
              <a:buNone/>
            </a:pPr>
            <a:r>
              <a:rPr lang="en-US" altLang="en-US"/>
              <a:t>&lt;dependency&gt;</a:t>
            </a:r>
            <a:endParaRPr lang="en-US" altLang="en-US"/>
          </a:p>
          <a:p>
            <a:pPr marL="0" indent="0">
              <a:buNone/>
            </a:pPr>
            <a:r>
              <a:rPr lang="en-US" altLang="en-US"/>
              <a:t>  &lt;groupId&gt;org.springframework.boot&lt;/groupId&gt;</a:t>
            </a:r>
            <a:endParaRPr lang="en-US" altLang="en-US"/>
          </a:p>
          <a:p>
            <a:pPr marL="0" indent="0">
              <a:buNone/>
            </a:pPr>
            <a:r>
              <a:rPr lang="en-US" altLang="en-US"/>
              <a:t>  &lt;artifactId&gt;spring-boot-starter-web&lt;/artifactId&gt;</a:t>
            </a:r>
            <a:endParaRPr lang="en-US" altLang="en-US"/>
          </a:p>
          <a:p>
            <a:pPr marL="0" indent="0">
              <a:buNone/>
            </a:pPr>
            <a:r>
              <a:rPr lang="en-US" altLang="en-US"/>
              <a:t>&lt;/dependency&gt;</a:t>
            </a:r>
            <a:endParaRPr lang="en-US" altLang="en-US"/>
          </a:p>
          <a:p>
            <a:pPr marL="0" indent="0">
              <a:buNone/>
            </a:pPr>
            <a:r>
              <a:rPr lang="en-US" altLang="en-US"/>
              <a:t>This includes:</a:t>
            </a:r>
            <a:endParaRPr lang="en-US" altLang="en-US"/>
          </a:p>
          <a:p>
            <a:pPr marL="0" indent="0">
              <a:buNone/>
            </a:pPr>
            <a:r>
              <a:rPr lang="en-US" altLang="en-US"/>
              <a:t>Spring MVC</a:t>
            </a:r>
            <a:endParaRPr lang="en-US" altLang="en-US"/>
          </a:p>
          <a:p>
            <a:pPr marL="0" indent="0">
              <a:buNone/>
            </a:pPr>
            <a:r>
              <a:rPr lang="en-US" altLang="en-US"/>
              <a:t>Embedded Tomcat</a:t>
            </a:r>
            <a:endParaRPr lang="en-US" altLang="en-US"/>
          </a:p>
          <a:p>
            <a:pPr marL="0" indent="0">
              <a:buNone/>
            </a:pPr>
            <a:r>
              <a:rPr lang="en-US" altLang="en-US"/>
              <a:t>JSON via Jackson</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360680"/>
          </a:xfrm>
        </p:spPr>
        <p:txBody>
          <a:bodyPr>
            <a:normAutofit fontScale="90000"/>
          </a:bodyPr>
          <a:p>
            <a:pPr algn="ctr"/>
            <a:r>
              <a:rPr lang="en-US" sz="2400" b="1">
                <a:solidFill>
                  <a:srgbClr val="FF0000"/>
                </a:solidFill>
              </a:rPr>
              <a:t>Spring Boot JPA</a:t>
            </a:r>
            <a:endParaRPr lang="en-US" sz="2400" b="1">
              <a:solidFill>
                <a:srgbClr val="FF0000"/>
              </a:solidFill>
            </a:endParaRPr>
          </a:p>
        </p:txBody>
      </p:sp>
      <p:sp>
        <p:nvSpPr>
          <p:cNvPr id="3" name="Content Placeholder 2"/>
          <p:cNvSpPr>
            <a:spLocks noGrp="1"/>
          </p:cNvSpPr>
          <p:nvPr>
            <p:ph idx="1"/>
          </p:nvPr>
        </p:nvSpPr>
        <p:spPr>
          <a:xfrm>
            <a:off x="0" y="360045"/>
            <a:ext cx="12037695" cy="6403975"/>
          </a:xfrm>
        </p:spPr>
        <p:txBody>
          <a:bodyPr>
            <a:noAutofit/>
          </a:bodyPr>
          <a:p>
            <a:r>
              <a:rPr lang="en-US" altLang="en-US" sz="1800" b="1"/>
              <a:t>1. What Is JPA?</a:t>
            </a:r>
            <a:endParaRPr lang="en-US" altLang="en-US" sz="1800" b="1"/>
          </a:p>
          <a:p>
            <a:r>
              <a:rPr lang="en-US" altLang="en-US" sz="1800"/>
              <a:t>JPA (Java Persistence API)</a:t>
            </a:r>
            <a:endParaRPr lang="en-US" altLang="en-US" sz="1800"/>
          </a:p>
          <a:p>
            <a:r>
              <a:rPr lang="en-US" altLang="en-US" sz="1800"/>
              <a:t>JPA is a specification (not a framework) in Java that defines how to map Java objects to database tables and how to manage data persistence.</a:t>
            </a:r>
            <a:endParaRPr lang="en-US" altLang="en-US" sz="1800"/>
          </a:p>
          <a:p>
            <a:r>
              <a:rPr lang="en-US" altLang="en-US" sz="1800"/>
              <a:t>It’s part of Jakarta EE (formerly Java EE).  JPA lets you store Java objects in a database without writing SQL manually.</a:t>
            </a:r>
            <a:endParaRPr lang="en-US" altLang="en-US" sz="1800"/>
          </a:p>
          <a:p>
            <a:pPr marL="0" indent="0">
              <a:buNone/>
            </a:pPr>
            <a:r>
              <a:rPr lang="en-US" altLang="en-US" sz="1800" b="1"/>
              <a:t> What Is Spring Data JPA?</a:t>
            </a:r>
            <a:endParaRPr lang="en-US" altLang="en-US" sz="1800"/>
          </a:p>
          <a:p>
            <a:pPr marL="342900" indent="-342900">
              <a:buAutoNum type="arabicPeriod"/>
            </a:pPr>
            <a:r>
              <a:rPr lang="en-US" altLang="en-US" sz="1800"/>
              <a:t>Spring Data JPA is a Spring project that makes it easier to use JPA by removing boilerplate code.</a:t>
            </a:r>
            <a:endParaRPr lang="en-US" altLang="en-US" sz="1800"/>
          </a:p>
          <a:p>
            <a:pPr marL="342900" indent="-342900">
              <a:buAutoNum type="arabicPeriod"/>
            </a:pPr>
            <a:r>
              <a:rPr lang="en-US" altLang="en-US" sz="1800"/>
              <a:t>It provides:</a:t>
            </a:r>
            <a:endParaRPr lang="en-US" altLang="en-US" sz="1800"/>
          </a:p>
          <a:p>
            <a:pPr marL="342900" indent="-342900">
              <a:buAutoNum type="arabicPeriod"/>
            </a:pPr>
            <a:r>
              <a:rPr lang="en-US" altLang="en-US" sz="1800"/>
              <a:t>Automatic implementation of repositories</a:t>
            </a:r>
            <a:endParaRPr lang="en-US" altLang="en-US" sz="1800"/>
          </a:p>
          <a:p>
            <a:pPr marL="342900" indent="-342900">
              <a:buAutoNum type="arabicPeriod"/>
            </a:pPr>
            <a:r>
              <a:rPr lang="en-US" altLang="en-US" sz="1800"/>
              <a:t>Query generation by method name</a:t>
            </a:r>
            <a:endParaRPr lang="en-US" altLang="en-US" sz="1800"/>
          </a:p>
          <a:p>
            <a:pPr marL="342900" indent="-342900">
              <a:buAutoNum type="arabicPeriod"/>
            </a:pPr>
            <a:r>
              <a:rPr lang="en-US" altLang="en-US" sz="1800"/>
              <a:t>Pagination and sorting</a:t>
            </a:r>
            <a:endParaRPr lang="en-US" altLang="en-US" sz="1800"/>
          </a:p>
          <a:p>
            <a:pPr marL="342900" indent="-342900">
              <a:buAutoNum type="arabicPeriod"/>
            </a:pPr>
            <a:r>
              <a:rPr lang="en-US" altLang="en-US" sz="1800"/>
              <a:t>Integration with Spring Boot</a:t>
            </a:r>
            <a:endParaRPr lang="en-US" altLang="en-US" sz="1800"/>
          </a:p>
          <a:p>
            <a:pPr marL="342900" indent="-342900">
              <a:buAutoNum type="arabicPeriod"/>
            </a:pPr>
            <a:r>
              <a:rPr lang="en-US" altLang="en-US" sz="1800"/>
              <a:t>Spring Data JPA uses JPA under the hood, but makes your life much easier.</a:t>
            </a:r>
            <a:endParaRPr lang="en-US" altLang="en-US" sz="1800"/>
          </a:p>
          <a:p>
            <a:pPr marL="0" indent="0">
              <a:buNone/>
            </a:pPr>
            <a:r>
              <a:rPr lang="en-US" altLang="en-US" sz="1800" b="1"/>
              <a:t> 3. What Is a JPA Repository?</a:t>
            </a:r>
            <a:endParaRPr lang="en-US" altLang="en-US" sz="1800"/>
          </a:p>
          <a:p>
            <a:r>
              <a:rPr lang="en-US" altLang="en-US" sz="1800"/>
              <a:t>A JPA Repository is an interface provided by Spring Data JPA that helps you perform CRUD (Create, Read, Update, Delete) operations on entities — without writing SQL or even method bodies.</a:t>
            </a:r>
            <a:endParaRPr lang="en-US" altLang="en-US" sz="1800"/>
          </a:p>
          <a:p>
            <a:endParaRPr lang="en-US" altLang="en-US" sz="1800"/>
          </a:p>
          <a:p>
            <a:r>
              <a:rPr lang="en-US" altLang="en-US" sz="1800"/>
              <a:t>public interface StudentRepository extends JpaRepository&lt;Student, Long&gt; { }</a:t>
            </a:r>
            <a:endParaRPr lang="en-US" altLang="en-US"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08280" y="141605"/>
            <a:ext cx="11884025" cy="6583045"/>
          </a:xfrm>
        </p:spPr>
        <p:txBody>
          <a:bodyPr>
            <a:normAutofit fontScale="90000" lnSpcReduction="20000"/>
          </a:bodyPr>
          <a:p>
            <a:pPr marL="0" indent="0">
              <a:buNone/>
            </a:pPr>
            <a:r>
              <a:rPr lang="en-US" altLang="en-US" sz="1800"/>
              <a:t>Spring Boot Data JPA is a Spring Boot module that makes it easy to work with relational databases using JPA (Java Persistence API). It reduces boilerplate code for database operations and integrates seamlessly with Spring Boot’s auto-configuration.</a:t>
            </a:r>
            <a:endParaRPr lang="en-US" altLang="en-US" sz="1800"/>
          </a:p>
          <a:p>
            <a:pPr marL="0" indent="0">
              <a:buNone/>
            </a:pPr>
            <a:r>
              <a:rPr lang="en-US" altLang="en-US" sz="1800"/>
              <a:t>Spring Data JPA:</a:t>
            </a:r>
            <a:endParaRPr lang="en-US" altLang="en-US" sz="1800"/>
          </a:p>
          <a:p>
            <a:pPr marL="0" indent="0">
              <a:buNone/>
            </a:pPr>
            <a:endParaRPr lang="en-US" altLang="en-US" sz="1800"/>
          </a:p>
          <a:p>
            <a:pPr marL="0" indent="0">
              <a:buNone/>
            </a:pPr>
            <a:r>
              <a:rPr lang="en-US" altLang="en-US" sz="1800"/>
              <a:t>Provides a repository abstraction for CRUD operations.</a:t>
            </a:r>
            <a:endParaRPr lang="en-US" altLang="en-US" sz="1800"/>
          </a:p>
          <a:p>
            <a:pPr marL="0" indent="0">
              <a:buNone/>
            </a:pPr>
            <a:r>
              <a:rPr lang="en-US" altLang="en-US" sz="1800"/>
              <a:t>Creates queries automatically based on method names.</a:t>
            </a:r>
            <a:endParaRPr lang="en-US" altLang="en-US" sz="1800"/>
          </a:p>
          <a:p>
            <a:pPr marL="0" indent="0">
              <a:buNone/>
            </a:pPr>
            <a:r>
              <a:rPr lang="en-US" altLang="en-US" sz="1800"/>
              <a:t>Supports custom JPQL/SQL queries.</a:t>
            </a:r>
            <a:endParaRPr lang="en-US" altLang="en-US" sz="1800"/>
          </a:p>
          <a:p>
            <a:pPr marL="0" indent="0">
              <a:buNone/>
            </a:pPr>
            <a:r>
              <a:rPr lang="en-US" altLang="en-US" sz="1800"/>
              <a:t>Works with Hibernate by default.</a:t>
            </a:r>
            <a:endParaRPr lang="en-US" altLang="en-US" sz="1800"/>
          </a:p>
          <a:p>
            <a:pPr marL="0" indent="0">
              <a:buNone/>
            </a:pPr>
            <a:endParaRPr lang="en-US" altLang="en-US" sz="1800"/>
          </a:p>
          <a:p>
            <a:pPr marL="0" indent="0">
              <a:buNone/>
            </a:pPr>
            <a:r>
              <a:rPr lang="en-US" altLang="en-US" sz="1800"/>
              <a:t> &lt;dependency&gt;</a:t>
            </a:r>
            <a:endParaRPr lang="en-US" altLang="en-US" sz="1800"/>
          </a:p>
          <a:p>
            <a:pPr marL="0" indent="0">
              <a:buNone/>
            </a:pPr>
            <a:r>
              <a:rPr lang="en-US" altLang="en-US" sz="1800"/>
              <a:t>        &lt;groupId&gt;org.springframework.boot&lt;/groupId&gt;</a:t>
            </a:r>
            <a:endParaRPr lang="en-US" altLang="en-US" sz="1800"/>
          </a:p>
          <a:p>
            <a:pPr marL="0" indent="0">
              <a:buNone/>
            </a:pPr>
            <a:r>
              <a:rPr lang="en-US" altLang="en-US" sz="1800"/>
              <a:t>        &lt;artifactId&gt;spring-boot-starter-data-jpa&lt;/artifactId&gt;</a:t>
            </a:r>
            <a:endParaRPr lang="en-US" altLang="en-US" sz="1800"/>
          </a:p>
          <a:p>
            <a:pPr marL="0" indent="0">
              <a:buNone/>
            </a:pPr>
            <a:r>
              <a:rPr lang="en-US" altLang="en-US" sz="1800"/>
              <a:t>    &lt;/dependency&gt;</a:t>
            </a:r>
            <a:endParaRPr lang="en-US" altLang="en-US" sz="1800"/>
          </a:p>
          <a:p>
            <a:pPr marL="0" indent="0">
              <a:buNone/>
            </a:pPr>
            <a:endParaRPr lang="en-US" altLang="en-US" sz="1800"/>
          </a:p>
          <a:p>
            <a:pPr marL="0" indent="0">
              <a:buNone/>
            </a:pPr>
            <a:r>
              <a:rPr lang="en-US" altLang="en-US" sz="1800"/>
              <a:t>spring.application.name=SpringBootJpa</a:t>
            </a:r>
            <a:endParaRPr lang="en-US" altLang="en-US" sz="1800"/>
          </a:p>
          <a:p>
            <a:pPr marL="0" indent="0">
              <a:buNone/>
            </a:pPr>
            <a:r>
              <a:rPr lang="en-US" altLang="en-US" sz="1800"/>
              <a:t>spring.datasource.url=jdbc:mysql://localhost:3306/db_name</a:t>
            </a:r>
            <a:endParaRPr lang="en-US" altLang="en-US" sz="1800"/>
          </a:p>
          <a:p>
            <a:pPr marL="0" indent="0">
              <a:buNone/>
            </a:pPr>
            <a:r>
              <a:rPr lang="en-US" altLang="en-US" sz="1800"/>
              <a:t>spring.datasource.username=root</a:t>
            </a:r>
            <a:endParaRPr lang="en-US" altLang="en-US" sz="1800"/>
          </a:p>
          <a:p>
            <a:pPr marL="0" indent="0">
              <a:buNone/>
            </a:pPr>
            <a:r>
              <a:rPr lang="en-US" altLang="en-US" sz="1800"/>
              <a:t>spring.datasource.password=root</a:t>
            </a:r>
            <a:endParaRPr lang="en-US" altLang="en-US" sz="1800"/>
          </a:p>
          <a:p>
            <a:pPr marL="0" indent="0">
              <a:buNone/>
            </a:pPr>
            <a:endParaRPr lang="en-US" altLang="en-US" sz="1800"/>
          </a:p>
          <a:p>
            <a:pPr marL="0" indent="0">
              <a:buNone/>
            </a:pPr>
            <a:r>
              <a:rPr lang="en-US" altLang="en-US" sz="1800"/>
              <a:t>spring.jpa.hibernate.ddl-auto=update</a:t>
            </a:r>
            <a:endParaRPr lang="en-US" altLang="en-US" sz="1800"/>
          </a:p>
          <a:p>
            <a:pPr marL="0" indent="0">
              <a:buNone/>
            </a:pPr>
            <a:r>
              <a:rPr lang="en-US" altLang="en-US" sz="1800"/>
              <a:t>spring.jpa.show-sql=true</a:t>
            </a:r>
            <a:endParaRPr lang="en-US" altLang="en-US" sz="1800"/>
          </a:p>
          <a:p>
            <a:pPr marL="0" indent="0">
              <a:buNone/>
            </a:pPr>
            <a:r>
              <a:rPr lang="en-US" altLang="en-US" sz="1800"/>
              <a:t>#spring.jpa.properties.hibernate.dialect=org.hibernate.dialect.MySQL8Dialect</a:t>
            </a:r>
            <a:endParaRPr lang="en-US" altLang="en-US"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22960" y="0"/>
            <a:ext cx="10515600" cy="410210"/>
          </a:xfrm>
        </p:spPr>
        <p:txBody>
          <a:bodyPr>
            <a:noAutofit/>
          </a:bodyPr>
          <a:p>
            <a:pPr algn="ctr"/>
            <a:r>
              <a:rPr lang="en-US" sz="2400" b="1">
                <a:solidFill>
                  <a:srgbClr val="FF0000"/>
                </a:solidFill>
              </a:rPr>
              <a:t>Jpa Repository Methods For Crud Operations</a:t>
            </a:r>
            <a:endParaRPr lang="en-US" sz="2400" b="1">
              <a:solidFill>
                <a:srgbClr val="FF0000"/>
              </a:solidFill>
            </a:endParaRPr>
          </a:p>
        </p:txBody>
      </p:sp>
      <p:graphicFrame>
        <p:nvGraphicFramePr>
          <p:cNvPr id="4" name="Table 3"/>
          <p:cNvGraphicFramePr/>
          <p:nvPr>
            <p:custDataLst>
              <p:tags r:id="rId1"/>
            </p:custDataLst>
          </p:nvPr>
        </p:nvGraphicFramePr>
        <p:xfrm>
          <a:off x="168910" y="410210"/>
          <a:ext cx="11894820" cy="3747770"/>
        </p:xfrm>
        <a:graphic>
          <a:graphicData uri="http://schemas.openxmlformats.org/drawingml/2006/table">
            <a:tbl>
              <a:tblPr/>
              <a:tblGrid>
                <a:gridCol w="5947410"/>
                <a:gridCol w="5947410"/>
              </a:tblGrid>
              <a:tr h="288290">
                <a:tc>
                  <a:txBody>
                    <a:bodyPr/>
                    <a:p>
                      <a:r>
                        <a:rPr sz="1600"/>
                        <a:t>Method</a:t>
                      </a:r>
                      <a:endParaRPr sz="1600"/>
                    </a:p>
                  </a:txBody>
                  <a:tcPr marL="0" marR="0" marT="0" marB="0" anchor="ctr" anchorCtr="0">
                    <a:lnL>
                      <a:noFill/>
                    </a:lnL>
                    <a:lnR>
                      <a:noFill/>
                    </a:lnR>
                    <a:lnT>
                      <a:noFill/>
                    </a:lnT>
                    <a:lnB>
                      <a:noFill/>
                    </a:lnB>
                    <a:noFill/>
                  </a:tcPr>
                </a:tc>
                <a:tc>
                  <a:txBody>
                    <a:bodyPr/>
                    <a:p>
                      <a:r>
                        <a:rPr sz="1600"/>
                        <a:t>Description</a:t>
                      </a:r>
                      <a:endParaRPr sz="1600"/>
                    </a:p>
                  </a:txBody>
                  <a:tcPr marL="0" marR="0" marT="0" marB="0" anchor="ctr" anchorCtr="0">
                    <a:lnL>
                      <a:noFill/>
                    </a:lnL>
                    <a:lnR>
                      <a:noFill/>
                    </a:lnR>
                    <a:lnT>
                      <a:noFill/>
                    </a:lnT>
                    <a:lnB>
                      <a:noFill/>
                    </a:lnB>
                    <a:noFill/>
                  </a:tcPr>
                </a:tc>
              </a:tr>
              <a:tr h="288290">
                <a:tc>
                  <a:txBody>
                    <a:bodyPr/>
                    <a:p>
                      <a:r>
                        <a:rPr sz="1600"/>
                        <a:t>save(S entity)</a:t>
                      </a:r>
                      <a:endParaRPr sz="1600"/>
                    </a:p>
                  </a:txBody>
                  <a:tcPr marL="0" marR="0" marT="0" marB="0" anchor="ctr" anchorCtr="0">
                    <a:lnL>
                      <a:noFill/>
                    </a:lnL>
                    <a:lnR>
                      <a:noFill/>
                    </a:lnR>
                    <a:lnT>
                      <a:noFill/>
                    </a:lnT>
                    <a:lnB>
                      <a:noFill/>
                    </a:lnB>
                    <a:noFill/>
                  </a:tcPr>
                </a:tc>
                <a:tc>
                  <a:txBody>
                    <a:bodyPr/>
                    <a:p>
                      <a:r>
                        <a:rPr sz="1600"/>
                        <a:t>Saves (inserts or updates) a single entity</a:t>
                      </a:r>
                      <a:endParaRPr sz="1600"/>
                    </a:p>
                  </a:txBody>
                  <a:tcPr marL="0" marR="0" marT="0" marB="0" anchor="ctr" anchorCtr="0">
                    <a:lnL>
                      <a:noFill/>
                    </a:lnL>
                    <a:lnR>
                      <a:noFill/>
                    </a:lnR>
                    <a:lnT>
                      <a:noFill/>
                    </a:lnT>
                    <a:lnB>
                      <a:noFill/>
                    </a:lnB>
                    <a:noFill/>
                  </a:tcPr>
                </a:tc>
              </a:tr>
              <a:tr h="288290">
                <a:tc>
                  <a:txBody>
                    <a:bodyPr/>
                    <a:p>
                      <a:r>
                        <a:rPr sz="1600"/>
                        <a:t>saveAll(Iterable&lt;S&gt; entities)</a:t>
                      </a:r>
                      <a:endParaRPr sz="1600"/>
                    </a:p>
                  </a:txBody>
                  <a:tcPr marL="0" marR="0" marT="0" marB="0" anchor="ctr" anchorCtr="0">
                    <a:lnL>
                      <a:noFill/>
                    </a:lnL>
                    <a:lnR>
                      <a:noFill/>
                    </a:lnR>
                    <a:lnT>
                      <a:noFill/>
                    </a:lnT>
                    <a:lnB>
                      <a:noFill/>
                    </a:lnB>
                    <a:noFill/>
                  </a:tcPr>
                </a:tc>
                <a:tc>
                  <a:txBody>
                    <a:bodyPr/>
                    <a:p>
                      <a:r>
                        <a:rPr sz="1600"/>
                        <a:t>Saves multiple entities</a:t>
                      </a:r>
                      <a:endParaRPr sz="1600"/>
                    </a:p>
                  </a:txBody>
                  <a:tcPr marL="0" marR="0" marT="0" marB="0" anchor="ctr" anchorCtr="0">
                    <a:lnL>
                      <a:noFill/>
                    </a:lnL>
                    <a:lnR>
                      <a:noFill/>
                    </a:lnR>
                    <a:lnT>
                      <a:noFill/>
                    </a:lnT>
                    <a:lnB>
                      <a:noFill/>
                    </a:lnB>
                    <a:noFill/>
                  </a:tcPr>
                </a:tc>
              </a:tr>
              <a:tr h="288290">
                <a:tc>
                  <a:txBody>
                    <a:bodyPr/>
                    <a:p>
                      <a:r>
                        <a:rPr sz="1600"/>
                        <a:t>findById(ID id)</a:t>
                      </a:r>
                      <a:endParaRPr sz="1600"/>
                    </a:p>
                  </a:txBody>
                  <a:tcPr marL="0" marR="0" marT="0" marB="0" anchor="ctr" anchorCtr="0">
                    <a:lnL>
                      <a:noFill/>
                    </a:lnL>
                    <a:lnR>
                      <a:noFill/>
                    </a:lnR>
                    <a:lnT>
                      <a:noFill/>
                    </a:lnT>
                    <a:lnB>
                      <a:noFill/>
                    </a:lnB>
                    <a:noFill/>
                  </a:tcPr>
                </a:tc>
                <a:tc>
                  <a:txBody>
                    <a:bodyPr/>
                    <a:p>
                      <a:r>
                        <a:rPr sz="1600"/>
                        <a:t>Finds an entity by its primary key</a:t>
                      </a:r>
                      <a:endParaRPr sz="1600"/>
                    </a:p>
                  </a:txBody>
                  <a:tcPr marL="0" marR="0" marT="0" marB="0" anchor="ctr" anchorCtr="0">
                    <a:lnL>
                      <a:noFill/>
                    </a:lnL>
                    <a:lnR>
                      <a:noFill/>
                    </a:lnR>
                    <a:lnT>
                      <a:noFill/>
                    </a:lnT>
                    <a:lnB>
                      <a:noFill/>
                    </a:lnB>
                    <a:noFill/>
                  </a:tcPr>
                </a:tc>
              </a:tr>
              <a:tr h="288290">
                <a:tc>
                  <a:txBody>
                    <a:bodyPr/>
                    <a:p>
                      <a:r>
                        <a:rPr sz="1600"/>
                        <a:t>existsById(ID id)</a:t>
                      </a:r>
                      <a:endParaRPr sz="1600"/>
                    </a:p>
                  </a:txBody>
                  <a:tcPr marL="0" marR="0" marT="0" marB="0" anchor="ctr" anchorCtr="0">
                    <a:lnL>
                      <a:noFill/>
                    </a:lnL>
                    <a:lnR>
                      <a:noFill/>
                    </a:lnR>
                    <a:lnT>
                      <a:noFill/>
                    </a:lnT>
                    <a:lnB>
                      <a:noFill/>
                    </a:lnB>
                    <a:noFill/>
                  </a:tcPr>
                </a:tc>
                <a:tc>
                  <a:txBody>
                    <a:bodyPr/>
                    <a:p>
                      <a:r>
                        <a:rPr sz="1600"/>
                        <a:t>Checks if an entity exists by its ID</a:t>
                      </a:r>
                      <a:endParaRPr sz="1600"/>
                    </a:p>
                  </a:txBody>
                  <a:tcPr marL="0" marR="0" marT="0" marB="0" anchor="ctr" anchorCtr="0">
                    <a:lnL>
                      <a:noFill/>
                    </a:lnL>
                    <a:lnR>
                      <a:noFill/>
                    </a:lnR>
                    <a:lnT>
                      <a:noFill/>
                    </a:lnT>
                    <a:lnB>
                      <a:noFill/>
                    </a:lnB>
                    <a:noFill/>
                  </a:tcPr>
                </a:tc>
              </a:tr>
              <a:tr h="288290">
                <a:tc>
                  <a:txBody>
                    <a:bodyPr/>
                    <a:p>
                      <a:r>
                        <a:rPr sz="1600"/>
                        <a:t>findAll()</a:t>
                      </a:r>
                      <a:endParaRPr sz="1600"/>
                    </a:p>
                  </a:txBody>
                  <a:tcPr marL="0" marR="0" marT="0" marB="0" anchor="ctr" anchorCtr="0">
                    <a:lnL>
                      <a:noFill/>
                    </a:lnL>
                    <a:lnR>
                      <a:noFill/>
                    </a:lnR>
                    <a:lnT>
                      <a:noFill/>
                    </a:lnT>
                    <a:lnB>
                      <a:noFill/>
                    </a:lnB>
                    <a:noFill/>
                  </a:tcPr>
                </a:tc>
                <a:tc>
                  <a:txBody>
                    <a:bodyPr/>
                    <a:p>
                      <a:r>
                        <a:rPr sz="1600"/>
                        <a:t>Returns all entities</a:t>
                      </a:r>
                      <a:endParaRPr sz="1600"/>
                    </a:p>
                  </a:txBody>
                  <a:tcPr marL="0" marR="0" marT="0" marB="0" anchor="ctr" anchorCtr="0">
                    <a:lnL>
                      <a:noFill/>
                    </a:lnL>
                    <a:lnR>
                      <a:noFill/>
                    </a:lnR>
                    <a:lnT>
                      <a:noFill/>
                    </a:lnT>
                    <a:lnB>
                      <a:noFill/>
                    </a:lnB>
                    <a:noFill/>
                  </a:tcPr>
                </a:tc>
              </a:tr>
              <a:tr h="288290">
                <a:tc>
                  <a:txBody>
                    <a:bodyPr/>
                    <a:p>
                      <a:r>
                        <a:rPr sz="1600"/>
                        <a:t>findAllById(Iterable&lt;ID&gt; ids)</a:t>
                      </a:r>
                      <a:endParaRPr sz="1600"/>
                    </a:p>
                  </a:txBody>
                  <a:tcPr marL="0" marR="0" marT="0" marB="0" anchor="ctr" anchorCtr="0">
                    <a:lnL>
                      <a:noFill/>
                    </a:lnL>
                    <a:lnR>
                      <a:noFill/>
                    </a:lnR>
                    <a:lnT>
                      <a:noFill/>
                    </a:lnT>
                    <a:lnB>
                      <a:noFill/>
                    </a:lnB>
                    <a:noFill/>
                  </a:tcPr>
                </a:tc>
                <a:tc>
                  <a:txBody>
                    <a:bodyPr/>
                    <a:p>
                      <a:r>
                        <a:rPr sz="1600"/>
                        <a:t>Returns all entities by their IDs</a:t>
                      </a:r>
                      <a:endParaRPr sz="1600"/>
                    </a:p>
                  </a:txBody>
                  <a:tcPr marL="0" marR="0" marT="0" marB="0" anchor="ctr" anchorCtr="0">
                    <a:lnL>
                      <a:noFill/>
                    </a:lnL>
                    <a:lnR>
                      <a:noFill/>
                    </a:lnR>
                    <a:lnT>
                      <a:noFill/>
                    </a:lnT>
                    <a:lnB>
                      <a:noFill/>
                    </a:lnB>
                    <a:noFill/>
                  </a:tcPr>
                </a:tc>
              </a:tr>
              <a:tr h="288290">
                <a:tc>
                  <a:txBody>
                    <a:bodyPr/>
                    <a:p>
                      <a:r>
                        <a:rPr sz="1600"/>
                        <a:t>count()</a:t>
                      </a:r>
                      <a:endParaRPr sz="1600"/>
                    </a:p>
                  </a:txBody>
                  <a:tcPr marL="0" marR="0" marT="0" marB="0" anchor="ctr" anchorCtr="0">
                    <a:lnL>
                      <a:noFill/>
                    </a:lnL>
                    <a:lnR>
                      <a:noFill/>
                    </a:lnR>
                    <a:lnT>
                      <a:noFill/>
                    </a:lnT>
                    <a:lnB>
                      <a:noFill/>
                    </a:lnB>
                    <a:noFill/>
                  </a:tcPr>
                </a:tc>
                <a:tc>
                  <a:txBody>
                    <a:bodyPr/>
                    <a:p>
                      <a:r>
                        <a:rPr sz="1600"/>
                        <a:t>Returns total number of entities</a:t>
                      </a:r>
                      <a:endParaRPr sz="1600"/>
                    </a:p>
                  </a:txBody>
                  <a:tcPr marL="0" marR="0" marT="0" marB="0" anchor="ctr" anchorCtr="0">
                    <a:lnL>
                      <a:noFill/>
                    </a:lnL>
                    <a:lnR>
                      <a:noFill/>
                    </a:lnR>
                    <a:lnT>
                      <a:noFill/>
                    </a:lnT>
                    <a:lnB>
                      <a:noFill/>
                    </a:lnB>
                    <a:noFill/>
                  </a:tcPr>
                </a:tc>
              </a:tr>
              <a:tr h="288290">
                <a:tc>
                  <a:txBody>
                    <a:bodyPr/>
                    <a:p>
                      <a:r>
                        <a:rPr sz="1600"/>
                        <a:t>deleteById(ID id)</a:t>
                      </a:r>
                      <a:endParaRPr sz="1600"/>
                    </a:p>
                  </a:txBody>
                  <a:tcPr marL="0" marR="0" marT="0" marB="0" anchor="ctr" anchorCtr="0">
                    <a:lnL>
                      <a:noFill/>
                    </a:lnL>
                    <a:lnR>
                      <a:noFill/>
                    </a:lnR>
                    <a:lnT>
                      <a:noFill/>
                    </a:lnT>
                    <a:lnB>
                      <a:noFill/>
                    </a:lnB>
                    <a:noFill/>
                  </a:tcPr>
                </a:tc>
                <a:tc>
                  <a:txBody>
                    <a:bodyPr/>
                    <a:p>
                      <a:r>
                        <a:rPr sz="1600"/>
                        <a:t>Deletes an entity by its ID</a:t>
                      </a:r>
                      <a:endParaRPr sz="1600"/>
                    </a:p>
                  </a:txBody>
                  <a:tcPr marL="0" marR="0" marT="0" marB="0" anchor="ctr" anchorCtr="0">
                    <a:lnL>
                      <a:noFill/>
                    </a:lnL>
                    <a:lnR>
                      <a:noFill/>
                    </a:lnR>
                    <a:lnT>
                      <a:noFill/>
                    </a:lnT>
                    <a:lnB>
                      <a:noFill/>
                    </a:lnB>
                    <a:noFill/>
                  </a:tcPr>
                </a:tc>
              </a:tr>
              <a:tr h="288290">
                <a:tc>
                  <a:txBody>
                    <a:bodyPr/>
                    <a:p>
                      <a:r>
                        <a:rPr sz="1600"/>
                        <a:t>delete(T entity)</a:t>
                      </a:r>
                      <a:endParaRPr sz="1600"/>
                    </a:p>
                  </a:txBody>
                  <a:tcPr marL="0" marR="0" marT="0" marB="0" anchor="ctr" anchorCtr="0">
                    <a:lnL>
                      <a:noFill/>
                    </a:lnL>
                    <a:lnR>
                      <a:noFill/>
                    </a:lnR>
                    <a:lnT>
                      <a:noFill/>
                    </a:lnT>
                    <a:lnB>
                      <a:noFill/>
                    </a:lnB>
                    <a:noFill/>
                  </a:tcPr>
                </a:tc>
                <a:tc>
                  <a:txBody>
                    <a:bodyPr/>
                    <a:p>
                      <a:r>
                        <a:rPr sz="1600"/>
                        <a:t>Deletes a specific entity</a:t>
                      </a:r>
                      <a:endParaRPr sz="1600"/>
                    </a:p>
                  </a:txBody>
                  <a:tcPr marL="0" marR="0" marT="0" marB="0" anchor="ctr" anchorCtr="0">
                    <a:lnL>
                      <a:noFill/>
                    </a:lnL>
                    <a:lnR>
                      <a:noFill/>
                    </a:lnR>
                    <a:lnT>
                      <a:noFill/>
                    </a:lnT>
                    <a:lnB>
                      <a:noFill/>
                    </a:lnB>
                    <a:noFill/>
                  </a:tcPr>
                </a:tc>
              </a:tr>
              <a:tr h="288290">
                <a:tc>
                  <a:txBody>
                    <a:bodyPr/>
                    <a:p>
                      <a:r>
                        <a:rPr sz="1600"/>
                        <a:t>deleteAllById(Iterable&lt;? extends ID&gt; ids)</a:t>
                      </a:r>
                      <a:endParaRPr sz="1600"/>
                    </a:p>
                  </a:txBody>
                  <a:tcPr marL="0" marR="0" marT="0" marB="0" anchor="ctr" anchorCtr="0">
                    <a:lnL>
                      <a:noFill/>
                    </a:lnL>
                    <a:lnR>
                      <a:noFill/>
                    </a:lnR>
                    <a:lnT>
                      <a:noFill/>
                    </a:lnT>
                    <a:lnB>
                      <a:noFill/>
                    </a:lnB>
                    <a:noFill/>
                  </a:tcPr>
                </a:tc>
                <a:tc>
                  <a:txBody>
                    <a:bodyPr/>
                    <a:p>
                      <a:r>
                        <a:rPr sz="1600"/>
                        <a:t>Deletes multiple entities by IDs</a:t>
                      </a:r>
                      <a:endParaRPr sz="1600"/>
                    </a:p>
                  </a:txBody>
                  <a:tcPr marL="0" marR="0" marT="0" marB="0" anchor="ctr" anchorCtr="0">
                    <a:lnL>
                      <a:noFill/>
                    </a:lnL>
                    <a:lnR>
                      <a:noFill/>
                    </a:lnR>
                    <a:lnT>
                      <a:noFill/>
                    </a:lnT>
                    <a:lnB>
                      <a:noFill/>
                    </a:lnB>
                    <a:noFill/>
                  </a:tcPr>
                </a:tc>
              </a:tr>
              <a:tr h="288290">
                <a:tc>
                  <a:txBody>
                    <a:bodyPr/>
                    <a:p>
                      <a:r>
                        <a:rPr sz="1600"/>
                        <a:t>deleteAll(Iterable&lt;? extends T&gt; entities)</a:t>
                      </a:r>
                      <a:endParaRPr sz="1600"/>
                    </a:p>
                  </a:txBody>
                  <a:tcPr marL="0" marR="0" marT="0" marB="0" anchor="ctr" anchorCtr="0">
                    <a:lnL>
                      <a:noFill/>
                    </a:lnL>
                    <a:lnR>
                      <a:noFill/>
                    </a:lnR>
                    <a:lnT>
                      <a:noFill/>
                    </a:lnT>
                    <a:lnB>
                      <a:noFill/>
                    </a:lnB>
                    <a:noFill/>
                  </a:tcPr>
                </a:tc>
                <a:tc>
                  <a:txBody>
                    <a:bodyPr/>
                    <a:p>
                      <a:r>
                        <a:rPr sz="1600"/>
                        <a:t>Deletes multiple entities</a:t>
                      </a:r>
                      <a:endParaRPr sz="1600"/>
                    </a:p>
                  </a:txBody>
                  <a:tcPr marL="0" marR="0" marT="0" marB="0" anchor="ctr" anchorCtr="0">
                    <a:lnL>
                      <a:noFill/>
                    </a:lnL>
                    <a:lnR>
                      <a:noFill/>
                    </a:lnR>
                    <a:lnT>
                      <a:noFill/>
                    </a:lnT>
                    <a:lnB>
                      <a:noFill/>
                    </a:lnB>
                    <a:noFill/>
                  </a:tcPr>
                </a:tc>
              </a:tr>
              <a:tr h="288290">
                <a:tc>
                  <a:txBody>
                    <a:bodyPr/>
                    <a:p>
                      <a:r>
                        <a:rPr sz="1600"/>
                        <a:t>deleteAll()</a:t>
                      </a:r>
                      <a:endParaRPr sz="1600"/>
                    </a:p>
                  </a:txBody>
                  <a:tcPr marL="0" marR="0" marT="0" marB="0" anchor="ctr" anchorCtr="0">
                    <a:lnL>
                      <a:noFill/>
                    </a:lnL>
                    <a:lnR>
                      <a:noFill/>
                    </a:lnR>
                    <a:lnT>
                      <a:noFill/>
                    </a:lnT>
                    <a:lnB>
                      <a:noFill/>
                    </a:lnB>
                    <a:noFill/>
                  </a:tcPr>
                </a:tc>
                <a:tc>
                  <a:txBody>
                    <a:bodyPr/>
                    <a:p>
                      <a:r>
                        <a:rPr sz="1600"/>
                        <a:t>Deletes all records from the table</a:t>
                      </a:r>
                      <a:endParaRPr sz="16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3600"/>
              <a:t>Spring Boot Security</a:t>
            </a:r>
            <a:endParaRPr lang="en-US" sz="3600"/>
          </a:p>
        </p:txBody>
      </p:sp>
      <p:sp>
        <p:nvSpPr>
          <p:cNvPr id="3" name="Content Placeholder 2"/>
          <p:cNvSpPr>
            <a:spLocks noGrp="1"/>
          </p:cNvSpPr>
          <p:nvPr>
            <p:ph idx="1"/>
          </p:nvPr>
        </p:nvSpPr>
        <p:spPr/>
        <p:txBody>
          <a:bodyPr/>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38430"/>
            <a:ext cx="10515600" cy="539115"/>
          </a:xfrm>
        </p:spPr>
        <p:txBody>
          <a:bodyPr>
            <a:normAutofit fontScale="90000"/>
          </a:bodyPr>
          <a:p>
            <a:pPr algn="ctr"/>
            <a:r>
              <a:rPr lang="en-US" sz="3200" b="1">
                <a:solidFill>
                  <a:srgbClr val="FF0000"/>
                </a:solidFill>
              </a:rPr>
              <a:t>Microservices</a:t>
            </a:r>
            <a:endParaRPr lang="en-US" sz="3200" b="1">
              <a:solidFill>
                <a:srgbClr val="FF0000"/>
              </a:solidFill>
            </a:endParaRPr>
          </a:p>
        </p:txBody>
      </p:sp>
      <p:sp>
        <p:nvSpPr>
          <p:cNvPr id="3" name="Content Placeholder 2"/>
          <p:cNvSpPr>
            <a:spLocks noGrp="1"/>
          </p:cNvSpPr>
          <p:nvPr>
            <p:ph idx="1"/>
          </p:nvPr>
        </p:nvSpPr>
        <p:spPr/>
        <p:txBody>
          <a:bodyPr/>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511175"/>
          </a:xfrm>
        </p:spPr>
        <p:txBody>
          <a:bodyPr>
            <a:noAutofit/>
          </a:bodyPr>
          <a:p>
            <a:pPr algn="ctr"/>
            <a:r>
              <a:rPr lang="en-US" sz="2400" b="1">
                <a:solidFill>
                  <a:srgbClr val="FF0000"/>
                </a:solidFill>
              </a:rPr>
              <a:t>Postman</a:t>
            </a:r>
            <a:endParaRPr lang="en-US" sz="2400" b="1">
              <a:solidFill>
                <a:srgbClr val="FF0000"/>
              </a:solidFill>
            </a:endParaRPr>
          </a:p>
        </p:txBody>
      </p:sp>
      <p:sp>
        <p:nvSpPr>
          <p:cNvPr id="3" name="Content Placeholder 2"/>
          <p:cNvSpPr>
            <a:spLocks noGrp="1"/>
          </p:cNvSpPr>
          <p:nvPr>
            <p:ph idx="1"/>
          </p:nvPr>
        </p:nvSpPr>
        <p:spPr/>
        <p:txBody>
          <a:bodyPr/>
          <a:p>
            <a:endParaRPr lang="en-US"/>
          </a:p>
        </p:txBody>
      </p:sp>
    </p:spTree>
  </p:cSld>
  <p:clrMapOvr>
    <a:masterClrMapping/>
  </p:clrMapOvr>
</p:sld>
</file>

<file path=ppt/tags/tag1.xml><?xml version="1.0" encoding="utf-8"?>
<p:tagLst xmlns:p="http://schemas.openxmlformats.org/presentationml/2006/main">
  <p:tag name="TABLE_ENDDRAG_ORIGIN_RECT" val="939*211"/>
  <p:tag name="TABLE_ENDDRAG_RECT" val="8*210*939*211"/>
</p:tagLst>
</file>

<file path=ppt/tags/tag2.xml><?xml version="1.0" encoding="utf-8"?>
<p:tagLst xmlns:p="http://schemas.openxmlformats.org/presentationml/2006/main">
  <p:tag name="TABLE_ENDDRAG_ORIGIN_RECT" val="944*497"/>
  <p:tag name="TABLE_ENDDRAG_RECT" val="7*30*944*497"/>
</p:tagLst>
</file>

<file path=ppt/tags/tag3.xml><?xml version="1.0" encoding="utf-8"?>
<p:tagLst xmlns:p="http://schemas.openxmlformats.org/presentationml/2006/main">
  <p:tag name="TABLE_ENDDRAG_ORIGIN_RECT" val="936*233"/>
  <p:tag name="TABLE_ENDDRAG_RECT" val="14*229*936*233"/>
</p:tagLst>
</file>

<file path=ppt/tags/tag4.xml><?xml version="1.0" encoding="utf-8"?>
<p:tagLst xmlns:p="http://schemas.openxmlformats.org/presentationml/2006/main">
  <p:tag name="TABLE_ENDDRAG_ORIGIN_RECT" val="937*185"/>
  <p:tag name="TABLE_ENDDRAG_RECT" val="7*37*937*185"/>
</p:tagLst>
</file>

<file path=ppt/tags/tag5.xml><?xml version="1.0" encoding="utf-8"?>
<p:tagLst xmlns:p="http://schemas.openxmlformats.org/presentationml/2006/main">
  <p:tag name="TABLE_ENDDRAG_ORIGIN_RECT" val="944*512"/>
  <p:tag name="TABLE_ENDDRAG_RECT" val="7*19*944*512"/>
</p:tagLst>
</file>

<file path=ppt/tags/tag6.xml><?xml version="1.0" encoding="utf-8"?>
<p:tagLst xmlns:p="http://schemas.openxmlformats.org/presentationml/2006/main">
  <p:tag name="TABLE_ENDDRAG_ORIGIN_RECT" val="960*400"/>
  <p:tag name="TABLE_ENDDRAG_RECT" val="0*140*960*400"/>
</p:tagLst>
</file>

<file path=ppt/tags/tag7.xml><?xml version="1.0" encoding="utf-8"?>
<p:tagLst xmlns:p="http://schemas.openxmlformats.org/presentationml/2006/main">
  <p:tag name="TABLE_ENDDRAG_ORIGIN_RECT" val="950*130"/>
  <p:tag name="TABLE_ENDDRAG_RECT" val="0*0*950*130"/>
</p:tagLst>
</file>

<file path=ppt/tags/tag8.xml><?xml version="1.0" encoding="utf-8"?>
<p:tagLst xmlns:p="http://schemas.openxmlformats.org/presentationml/2006/main">
  <p:tag name="TABLE_ENDDRAG_ORIGIN_RECT" val="926*221"/>
  <p:tag name="TABLE_ENDDRAG_RECT" val="22*302*926*221"/>
</p:tagLst>
</file>

<file path=ppt/tags/tag9.xml><?xml version="1.0" encoding="utf-8"?>
<p:tagLst xmlns:p="http://schemas.openxmlformats.org/presentationml/2006/main">
  <p:tag name="TABLE_ENDDRAG_ORIGIN_RECT" val="944*376"/>
  <p:tag name="TABLE_ENDDRAG_RECT" val="6*29*944*376"/>
</p:tagLst>
</file>

<file path=ppt/tags/tag10.xml><?xml version="1.0" encoding="utf-8"?>
<p:tagLst xmlns:p="http://schemas.openxmlformats.org/presentationml/2006/main">
  <p:tag name="TABLE_ENDDRAG_ORIGIN_RECT" val="936*294"/>
  <p:tag name="TABLE_ENDDRAG_RECT" val="13*32*936*29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12221</Words>
  <Application>WPS Presentation</Application>
  <PresentationFormat>Widescreen</PresentationFormat>
  <Paragraphs>681</Paragraphs>
  <Slides>18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SimSun</vt:lpstr>
      <vt:lpstr>Wingdings</vt:lpstr>
      <vt:lpstr>Cambria</vt:lpstr>
      <vt:lpstr>Calibri Light</vt:lpstr>
      <vt:lpstr>Calibri</vt:lpstr>
      <vt:lpstr>Microsoft YaHei</vt:lpstr>
      <vt:lpstr>Arial Unicode MS</vt:lpstr>
      <vt:lpstr>Office Theme</vt:lpstr>
      <vt:lpstr>Spring Boot Syllabus</vt:lpstr>
      <vt:lpstr>What is Spring Boot?</vt:lpstr>
      <vt:lpstr>PowerPoint 演示文稿</vt:lpstr>
      <vt:lpstr>Advantages Of Spring Boot</vt:lpstr>
      <vt:lpstr>Applications of spring boot</vt:lpstr>
      <vt:lpstr>Spring Boot Annonations</vt:lpstr>
      <vt:lpstr>PowerPoint 演示文稿</vt:lpstr>
      <vt:lpstr>Application.Properties</vt:lpstr>
      <vt:lpstr>Common Uses and Examples</vt:lpstr>
      <vt:lpstr>Spring Boot Project</vt:lpstr>
      <vt:lpstr>Spring Boot Dependency Injection (java Based)</vt:lpstr>
      <vt:lpstr>Spring Boot MVC</vt:lpstr>
      <vt:lpstr>Spring Boot JPA</vt:lpstr>
      <vt:lpstr>PowerPoint 演示文稿</vt:lpstr>
      <vt:lpstr>Jpa Repository Methods For Crud Operations</vt:lpstr>
      <vt:lpstr>Spring Boot Security</vt:lpstr>
      <vt:lpstr>Microservices</vt:lpstr>
      <vt:lpstr>Postman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Nishank Amte</cp:lastModifiedBy>
  <cp:revision>39</cp:revision>
  <dcterms:created xsi:type="dcterms:W3CDTF">2025-07-23T00:59:00Z</dcterms:created>
  <dcterms:modified xsi:type="dcterms:W3CDTF">2025-12-08T04:33:18Z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C6E8244EDCAB4F9FA9E7216A2ACD59A5_11</vt:lpwstr>
  </property>
  <property fmtid="{D5CDD505-2E9C-101B-9397-08002B2CF9AE}" pid="3" name="KSOProductBuildVer">
    <vt:lpwstr>1033-12.2.0.23155</vt:lpwstr>
  </property>
</Properties>
</file>