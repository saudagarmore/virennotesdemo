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7" r:id="rId10"/>
    <p:sldId id="263" r:id="rId11"/>
    <p:sldId id="264" r:id="rId12"/>
    <p:sldId id="265" r:id="rId13"/>
    <p:sldId id="266" r:id="rId14"/>
    <p:sldId id="268" r:id="rId15"/>
    <p:sldId id="272" r:id="rId16"/>
    <p:sldId id="273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362585"/>
          </a:xfrm>
        </p:spPr>
        <p:txBody>
          <a:bodyPr>
            <a:normAutofit fontScale="90000"/>
          </a:bodyPr>
          <a:p>
            <a:r>
              <a:rPr lang="en-US" sz="2800" b="1">
                <a:solidFill>
                  <a:srgbClr val="FF0000"/>
                </a:solidFill>
              </a:rPr>
              <a:t>Java Multithreading</a:t>
            </a:r>
            <a:endParaRPr lang="en-US" sz="2800" b="1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890" y="362585"/>
            <a:ext cx="12056110" cy="6495415"/>
          </a:xfrm>
        </p:spPr>
        <p:txBody>
          <a:bodyPr>
            <a:noAutofit/>
          </a:bodyPr>
          <a:p>
            <a:pPr algn="l"/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What is Multithreading?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algn="l"/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 1. What is Multithreading in Java?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algn="l"/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Multithreading is a programming technique that allows concurrent execution of two or more threads for maximum CPU utilization.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algn="l"/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A thread is a lightweight subprocess, the smallest unit of execution.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algn="l"/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Java provides built-in support for multithreading using the java.lang.Thread class.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algn="l"/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algn="l"/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 Why use multithreading?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algn="l"/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Better CPU utilization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algn="l"/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Faster program execution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algn="l"/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Enables multitasking (e.g., a game can play sound and receive input at the same time)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algn="l"/>
            <a:r>
              <a:rPr lang="zh-CN" altLang="en-US" sz="1800">
                <a:sym typeface="+mn-ea"/>
              </a:rPr>
              <a:t>🔹</a:t>
            </a:r>
            <a:r>
              <a:rPr lang="en-US" altLang="en-US" sz="1800">
                <a:sym typeface="+mn-ea"/>
              </a:rPr>
              <a:t> 2. Types of Threads in Java</a:t>
            </a:r>
            <a:endParaRPr lang="en-US" altLang="en-US" sz="1800"/>
          </a:p>
          <a:p>
            <a:pPr algn="l"/>
            <a:r>
              <a:rPr lang="en-US" altLang="en-US" sz="1800">
                <a:sym typeface="+mn-ea"/>
              </a:rPr>
              <a:t>There are two main types of threads:</a:t>
            </a:r>
            <a:endParaRPr lang="en-US" altLang="en-US" sz="1800">
              <a:sym typeface="+mn-ea"/>
            </a:endParaRPr>
          </a:p>
          <a:p>
            <a:pPr algn="l"/>
            <a:endParaRPr lang="en-US" altLang="en-US" sz="1800"/>
          </a:p>
          <a:p>
            <a:pPr algn="l"/>
            <a:r>
              <a:rPr lang="en-US" altLang="en-US" sz="1800">
                <a:sym typeface="+mn-ea"/>
              </a:rPr>
              <a:t>1. User Threads</a:t>
            </a:r>
            <a:endParaRPr lang="en-US" altLang="en-US" sz="1800"/>
          </a:p>
          <a:p>
            <a:pPr algn="l"/>
            <a:r>
              <a:rPr lang="en-US" altLang="en-US" sz="1800">
                <a:sym typeface="+mn-ea"/>
              </a:rPr>
              <a:t>Created by the programmer    Keep running until they finish or are terminated JVM keeps running as long as there is any user thread alive</a:t>
            </a:r>
            <a:endParaRPr lang="en-US" altLang="en-US" sz="1800"/>
          </a:p>
          <a:p>
            <a:pPr algn="l"/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algn="l"/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algn="l"/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680" y="34290"/>
            <a:ext cx="10515600" cy="330835"/>
          </a:xfrm>
        </p:spPr>
        <p:txBody>
          <a:bodyPr>
            <a:normAutofit fontScale="90000"/>
          </a:bodyPr>
          <a:p>
            <a:r>
              <a:rPr lang="en-US" sz="2400" b="1">
                <a:solidFill>
                  <a:srgbClr val="FF0000"/>
                </a:solidFill>
              </a:rPr>
              <a:t>Java MultiThreading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015" y="519430"/>
            <a:ext cx="11870690" cy="4351655"/>
          </a:xfrm>
        </p:spPr>
        <p:txBody>
          <a:bodyPr/>
          <a:p>
            <a:pPr marL="0" indent="0">
              <a:buNone/>
            </a:pPr>
            <a:r>
              <a:rPr lang="en-US" altLang="en-US" sz="1800">
                <a:sym typeface="+mn-ea"/>
              </a:rPr>
              <a:t>2. Daemon Threads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Low-priority threads used for background tasks (e.g., garbage collection)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Automatically terminated when all user threads finish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Set a thread as daemon: thread.setDaemon(true); (must be done before starting the thread)</a:t>
            </a:r>
            <a:endParaRPr lang="en-US" altLang="en-US" sz="1800">
              <a:sym typeface="+mn-ea"/>
            </a:endParaRPr>
          </a:p>
          <a:p>
            <a:pPr marL="0" indent="0">
              <a:buNone/>
            </a:pPr>
            <a:r>
              <a:rPr lang="en-US" altLang="en-US" sz="1800"/>
              <a:t>1. Thread Lifecycle in Java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A thread in Java goes through several stages in its lifecycle:</a:t>
            </a:r>
            <a:endParaRPr lang="en-US" altLang="en-US" sz="1800">
              <a:sym typeface="+mn-ea"/>
            </a:endParaRPr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635" y="2821305"/>
          <a:ext cx="11990070" cy="3059430"/>
        </p:xfrm>
        <a:graphic>
          <a:graphicData uri="http://schemas.openxmlformats.org/drawingml/2006/table">
            <a:tbl>
              <a:tblPr/>
              <a:tblGrid>
                <a:gridCol w="3109595"/>
                <a:gridCol w="8880475"/>
              </a:tblGrid>
              <a:tr h="340360">
                <a:tc>
                  <a:txBody>
                    <a:bodyPr/>
                    <a:p>
                      <a:pPr algn="ctr"/>
                      <a:r>
                        <a:rPr sz="2000" b="1">
                          <a:latin typeface="Cambria" panose="02040503050406030204" charset="0"/>
                          <a:cs typeface="Cambria" panose="02040503050406030204" charset="0"/>
                        </a:rPr>
                        <a:t>State</a:t>
                      </a:r>
                      <a:endParaRPr sz="2000" b="1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>
                          <a:latin typeface="Cambria" panose="02040503050406030204" charset="0"/>
                          <a:cs typeface="Cambria" panose="02040503050406030204" charset="0"/>
                        </a:rPr>
                        <a:t>Description</a:t>
                      </a:r>
                      <a:endParaRPr sz="2000" b="1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</a:tr>
              <a:tr h="339725">
                <a:tc>
                  <a:txBody>
                    <a:bodyPr/>
                    <a:p>
                      <a:r>
                        <a:rPr sz="1800" b="0">
                          <a:latin typeface="Cambria" panose="02040503050406030204" charset="0"/>
                          <a:cs typeface="Cambria" panose="02040503050406030204" charset="0"/>
                        </a:rPr>
                        <a:t>New</a:t>
                      </a:r>
                      <a:endParaRPr sz="1800" b="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0">
                          <a:latin typeface="Cambria" panose="02040503050406030204" charset="0"/>
                          <a:cs typeface="Cambria" panose="02040503050406030204" charset="0"/>
                        </a:rPr>
                        <a:t>Thread is created but not yet started (new Thread() called)</a:t>
                      </a:r>
                      <a:endParaRPr sz="1800" b="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39725">
                <a:tc>
                  <a:txBody>
                    <a:bodyPr/>
                    <a:p>
                      <a:r>
                        <a:rPr sz="1800" b="0">
                          <a:latin typeface="Cambria" panose="02040503050406030204" charset="0"/>
                          <a:cs typeface="Cambria" panose="02040503050406030204" charset="0"/>
                        </a:rPr>
                        <a:t>Runnable</a:t>
                      </a:r>
                      <a:endParaRPr sz="1800" b="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0">
                          <a:latin typeface="Cambria" panose="02040503050406030204" charset="0"/>
                          <a:cs typeface="Cambria" panose="02040503050406030204" charset="0"/>
                        </a:rPr>
                        <a:t>start() is called; the thread is ready to run (but may not run immediately)</a:t>
                      </a:r>
                      <a:endParaRPr sz="1800" b="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39725">
                <a:tc>
                  <a:txBody>
                    <a:bodyPr/>
                    <a:p>
                      <a:r>
                        <a:rPr sz="1800" b="0">
                          <a:latin typeface="Cambria" panose="02040503050406030204" charset="0"/>
                          <a:cs typeface="Cambria" panose="02040503050406030204" charset="0"/>
                        </a:rPr>
                        <a:t>Running</a:t>
                      </a:r>
                      <a:endParaRPr sz="1800" b="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0">
                          <a:latin typeface="Cambria" panose="02040503050406030204" charset="0"/>
                          <a:cs typeface="Cambria" panose="02040503050406030204" charset="0"/>
                        </a:rPr>
                        <a:t>Thread is picked by the CPU and is currently executing</a:t>
                      </a:r>
                      <a:endParaRPr sz="1800" b="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680085">
                <a:tc>
                  <a:txBody>
                    <a:bodyPr/>
                    <a:p>
                      <a:r>
                        <a:rPr sz="1800" b="0">
                          <a:latin typeface="Cambria" panose="02040503050406030204" charset="0"/>
                          <a:cs typeface="Cambria" panose="02040503050406030204" charset="0"/>
                        </a:rPr>
                        <a:t>Blocked</a:t>
                      </a:r>
                      <a:endParaRPr sz="1800" b="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0">
                          <a:latin typeface="Cambria" panose="02040503050406030204" charset="0"/>
                          <a:cs typeface="Cambria" panose="02040503050406030204" charset="0"/>
                        </a:rPr>
                        <a:t>Waiting for a monitor lock (e.g., trying to enter a synchronized block held by another thread)</a:t>
                      </a:r>
                      <a:endParaRPr sz="1800" b="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39725">
                <a:tc>
                  <a:txBody>
                    <a:bodyPr/>
                    <a:p>
                      <a:r>
                        <a:rPr sz="1800" b="0">
                          <a:latin typeface="Cambria" panose="02040503050406030204" charset="0"/>
                          <a:cs typeface="Cambria" panose="02040503050406030204" charset="0"/>
                        </a:rPr>
                        <a:t>Waiting</a:t>
                      </a:r>
                      <a:endParaRPr sz="1800" b="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0">
                          <a:latin typeface="Cambria" panose="02040503050406030204" charset="0"/>
                          <a:cs typeface="Cambria" panose="02040503050406030204" charset="0"/>
                        </a:rPr>
                        <a:t>Thread is waiting indefinitely for another thread to perform a task (wait())</a:t>
                      </a:r>
                      <a:endParaRPr sz="1800" b="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39725">
                <a:tc>
                  <a:txBody>
                    <a:bodyPr/>
                    <a:p>
                      <a:r>
                        <a:rPr sz="1800" b="0">
                          <a:latin typeface="Cambria" panose="02040503050406030204" charset="0"/>
                          <a:cs typeface="Cambria" panose="02040503050406030204" charset="0"/>
                        </a:rPr>
                        <a:t>Timed Waiting</a:t>
                      </a:r>
                      <a:endParaRPr sz="1800" b="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0">
                          <a:latin typeface="Cambria" panose="02040503050406030204" charset="0"/>
                          <a:cs typeface="Cambria" panose="02040503050406030204" charset="0"/>
                        </a:rPr>
                        <a:t>Waiting for a limited time (sleep(), join(timeout))</a:t>
                      </a:r>
                      <a:endParaRPr sz="1800" b="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40360">
                <a:tc>
                  <a:txBody>
                    <a:bodyPr/>
                    <a:p>
                      <a:r>
                        <a:rPr sz="1800" b="0">
                          <a:latin typeface="Cambria" panose="02040503050406030204" charset="0"/>
                          <a:cs typeface="Cambria" panose="02040503050406030204" charset="0"/>
                        </a:rPr>
                        <a:t>Terminated (Dead)</a:t>
                      </a:r>
                      <a:endParaRPr sz="1800" b="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0">
                          <a:latin typeface="Cambria" panose="02040503050406030204" charset="0"/>
                          <a:cs typeface="Cambria" panose="02040503050406030204" charset="0"/>
                        </a:rPr>
                        <a:t>Thread has finished execution or was stopped due to an error</a:t>
                      </a:r>
                      <a:endParaRPr sz="1800" b="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120015" y="5880735"/>
            <a:ext cx="11662410" cy="9779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/>
              <a:t>NEW -&gt; start() -&gt; RUNNABLE -&gt; RUNNING -&gt; TERMINATED</a:t>
            </a:r>
            <a:endParaRPr lang="en-US" altLang="en-US"/>
          </a:p>
          <a:p>
            <a:r>
              <a:rPr lang="en-US" altLang="en-US"/>
              <a:t>                 ↑            ↓</a:t>
            </a:r>
            <a:endParaRPr lang="en-US" altLang="en-US"/>
          </a:p>
          <a:p>
            <a:r>
              <a:rPr lang="en-US" altLang="en-US"/>
              <a:t>                WAITING / BLOCKED / TIMED WAITING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0"/>
            <a:ext cx="10515600" cy="364490"/>
          </a:xfrm>
        </p:spPr>
        <p:txBody>
          <a:bodyPr>
            <a:normAutofit fontScale="90000"/>
          </a:bodyPr>
          <a:p>
            <a:r>
              <a:rPr lang="en-US" sz="3200" b="1">
                <a:solidFill>
                  <a:srgbClr val="FF0000"/>
                </a:solidFill>
              </a:rPr>
              <a:t>Difference Between Thread And Runnable</a:t>
            </a:r>
            <a:endParaRPr lang="en-US" sz="3200" b="1">
              <a:solidFill>
                <a:srgbClr val="FF0000"/>
              </a:solidFill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0" y="364490"/>
          <a:ext cx="12192000" cy="3064510"/>
        </p:xfrm>
        <a:graphic>
          <a:graphicData uri="http://schemas.openxmlformats.org/drawingml/2006/table">
            <a:tbl>
              <a:tblPr/>
              <a:tblGrid>
                <a:gridCol w="1894205"/>
                <a:gridCol w="3863975"/>
                <a:gridCol w="6433820"/>
              </a:tblGrid>
              <a:tr h="486410">
                <a:tc>
                  <a:txBody>
                    <a:bodyPr/>
                    <a:p>
                      <a:pPr algn="ctr"/>
                      <a:r>
                        <a:rPr sz="2000" b="1">
                          <a:latin typeface="Cambria" panose="02040503050406030204" charset="0"/>
                          <a:cs typeface="Cambria" panose="02040503050406030204" charset="0"/>
                        </a:rPr>
                        <a:t>Feature</a:t>
                      </a:r>
                      <a:endParaRPr sz="2000" b="1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>
                          <a:latin typeface="Cambria" panose="02040503050406030204" charset="0"/>
                          <a:cs typeface="Cambria" panose="02040503050406030204" charset="0"/>
                        </a:rPr>
                        <a:t>Thread Class</a:t>
                      </a:r>
                      <a:endParaRPr sz="2000" b="1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>
                          <a:latin typeface="Cambria" panose="02040503050406030204" charset="0"/>
                          <a:cs typeface="Cambria" panose="02040503050406030204" charset="0"/>
                        </a:rPr>
                        <a:t>Runnable Interface</a:t>
                      </a:r>
                      <a:endParaRPr sz="2000" b="1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87045">
                <a:tc>
                  <a:txBody>
                    <a:bodyPr/>
                    <a:p>
                      <a:r>
                        <a:rPr sz="2000">
                          <a:latin typeface="Cambria" panose="02040503050406030204" charset="0"/>
                          <a:cs typeface="Cambria" panose="02040503050406030204" charset="0"/>
                        </a:rPr>
                        <a:t>Type</a:t>
                      </a:r>
                      <a:endParaRPr sz="20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>
                          <a:latin typeface="Cambria" panose="02040503050406030204" charset="0"/>
                          <a:cs typeface="Cambria" panose="02040503050406030204" charset="0"/>
                        </a:rPr>
                        <a:t>Concrete class</a:t>
                      </a:r>
                      <a:endParaRPr sz="20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>
                          <a:latin typeface="Cambria" panose="02040503050406030204" charset="0"/>
                          <a:cs typeface="Cambria" panose="02040503050406030204" charset="0"/>
                        </a:rPr>
                        <a:t>Functional interface (run())</a:t>
                      </a:r>
                      <a:endParaRPr sz="20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31190">
                <a:tc>
                  <a:txBody>
                    <a:bodyPr/>
                    <a:p>
                      <a:r>
                        <a:rPr sz="2000">
                          <a:latin typeface="Cambria" panose="02040503050406030204" charset="0"/>
                          <a:cs typeface="Cambria" panose="02040503050406030204" charset="0"/>
                        </a:rPr>
                        <a:t>Inheritance</a:t>
                      </a:r>
                      <a:endParaRPr sz="20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>
                          <a:latin typeface="Cambria" panose="02040503050406030204" charset="0"/>
                          <a:cs typeface="Cambria" panose="02040503050406030204" charset="0"/>
                        </a:rPr>
                        <a:t>Requires extending Thread (single inheritance)</a:t>
                      </a:r>
                      <a:endParaRPr sz="20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>
                          <a:latin typeface="Cambria" panose="02040503050406030204" charset="0"/>
                          <a:cs typeface="Cambria" panose="02040503050406030204" charset="0"/>
                        </a:rPr>
                        <a:t>Can be implemented alongside other classes</a:t>
                      </a:r>
                      <a:endParaRPr sz="20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6410">
                <a:tc>
                  <a:txBody>
                    <a:bodyPr/>
                    <a:p>
                      <a:r>
                        <a:rPr sz="2000">
                          <a:latin typeface="Cambria" panose="02040503050406030204" charset="0"/>
                          <a:cs typeface="Cambria" panose="02040503050406030204" charset="0"/>
                        </a:rPr>
                        <a:t>Reusability</a:t>
                      </a:r>
                      <a:endParaRPr sz="20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>
                          <a:latin typeface="Cambria" panose="02040503050406030204" charset="0"/>
                          <a:cs typeface="Cambria" panose="02040503050406030204" charset="0"/>
                        </a:rPr>
                        <a:t>Less reusable (tied to one thread)</a:t>
                      </a:r>
                      <a:endParaRPr sz="20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>
                          <a:latin typeface="Cambria" panose="02040503050406030204" charset="0"/>
                          <a:cs typeface="Cambria" panose="02040503050406030204" charset="0"/>
                        </a:rPr>
                        <a:t>More reusable (can be passed to multiple threads)</a:t>
                      </a:r>
                      <a:endParaRPr sz="20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7045">
                <a:tc>
                  <a:txBody>
                    <a:bodyPr/>
                    <a:p>
                      <a:r>
                        <a:rPr sz="2000">
                          <a:latin typeface="Cambria" panose="02040503050406030204" charset="0"/>
                          <a:cs typeface="Cambria" panose="02040503050406030204" charset="0"/>
                        </a:rPr>
                        <a:t>Preferred in</a:t>
                      </a:r>
                      <a:endParaRPr sz="20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>
                          <a:latin typeface="Cambria" panose="02040503050406030204" charset="0"/>
                          <a:cs typeface="Cambria" panose="02040503050406030204" charset="0"/>
                        </a:rPr>
                        <a:t>Simple cases</a:t>
                      </a:r>
                      <a:endParaRPr sz="20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>
                          <a:latin typeface="Cambria" panose="02040503050406030204" charset="0"/>
                          <a:cs typeface="Cambria" panose="02040503050406030204" charset="0"/>
                        </a:rPr>
                        <a:t>Real-world, scalable applications</a:t>
                      </a:r>
                      <a:endParaRPr sz="20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6410">
                <a:tc>
                  <a:txBody>
                    <a:bodyPr/>
                    <a:p>
                      <a:r>
                        <a:rPr sz="2000">
                          <a:latin typeface="Cambria" panose="02040503050406030204" charset="0"/>
                          <a:cs typeface="Cambria" panose="02040503050406030204" charset="0"/>
                        </a:rPr>
                        <a:t>Example Usage</a:t>
                      </a:r>
                      <a:endParaRPr sz="20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>
                          <a:latin typeface="Cambria" panose="02040503050406030204" charset="0"/>
                          <a:cs typeface="Cambria" panose="02040503050406030204" charset="0"/>
                        </a:rPr>
                        <a:t>class MyThread extends Thread</a:t>
                      </a:r>
                      <a:endParaRPr sz="20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>
                          <a:latin typeface="Cambria" panose="02040503050406030204" charset="0"/>
                          <a:cs typeface="Cambria" panose="02040503050406030204" charset="0"/>
                        </a:rPr>
                        <a:t>class MyRunnable implements Runnable</a:t>
                      </a:r>
                      <a:endParaRPr sz="20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825" y="0"/>
            <a:ext cx="10956290" cy="673100"/>
          </a:xfrm>
        </p:spPr>
        <p:txBody>
          <a:bodyPr/>
          <a:p>
            <a:r>
              <a:rPr lang="en-US" sz="3200" b="1">
                <a:solidFill>
                  <a:srgbClr val="FF0000"/>
                </a:solidFill>
              </a:rPr>
              <a:t>Thread First Programme</a:t>
            </a:r>
            <a:endParaRPr lang="en-US" sz="32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825" y="673100"/>
            <a:ext cx="10515600" cy="6184265"/>
          </a:xfrm>
        </p:spPr>
        <p:txBody>
          <a:bodyPr/>
          <a:p>
            <a:pPr marL="0" indent="0">
              <a:buNone/>
            </a:pPr>
            <a:r>
              <a:rPr lang="en-US" altLang="en-US" sz="2000"/>
              <a:t>class MyThread extends Thread {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public void run() {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    System.out.println("Thread running using Thread class.");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}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}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public class Main {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public static void main(String[] args) {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    MyThread t1 = new MyThread();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    t1.start(); // starts the thread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}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}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11480"/>
          </a:xfrm>
        </p:spPr>
        <p:txBody>
          <a:bodyPr>
            <a:normAutofit fontScale="90000"/>
          </a:bodyPr>
          <a:p>
            <a:r>
              <a:rPr lang="en-US" sz="2400" b="1">
                <a:solidFill>
                  <a:srgbClr val="FF0000"/>
                </a:solidFill>
              </a:rPr>
              <a:t>Runnable Interface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11480"/>
            <a:ext cx="10515600" cy="6326505"/>
          </a:xfrm>
        </p:spPr>
        <p:txBody>
          <a:bodyPr/>
          <a:p>
            <a:pPr marL="0" indent="0">
              <a:buNone/>
            </a:pPr>
            <a:r>
              <a:rPr lang="en-US" altLang="en-US" sz="2000"/>
              <a:t>class MyRunnable implements Runnable {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public void run() {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    System.out.println("Thread running using Runnable interface.");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}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}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public class Main {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public static void main(String[] args) {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    Thread t1 = new Thread(new MyRunnable());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    t1.start();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}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}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0"/>
            <a:ext cx="10515600" cy="282575"/>
          </a:xfrm>
        </p:spPr>
        <p:txBody>
          <a:bodyPr>
            <a:noAutofit/>
          </a:bodyPr>
          <a:p>
            <a:r>
              <a:rPr lang="en-US" sz="2000" b="1">
                <a:solidFill>
                  <a:srgbClr val="FF0000"/>
                </a:solidFill>
              </a:rPr>
              <a:t>Another Example</a:t>
            </a:r>
            <a:endParaRPr lang="en-US" sz="20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785" y="281940"/>
            <a:ext cx="11641455" cy="657606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600"/>
              <a:t>// Step 1: Define a class that implements Runnable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class Task1 implements Runnable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public void run() {          for(int i = 1; i &lt;= 5; i++) {               System.out.println("Task 1 - Count: " + i);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    try {                        Thread.sleep(500); // Sleep for 0.5 seconds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    } catch (InterruptedException e)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        System.out.println("Task 1 Interrupted");                  }            }       }   }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// Step 2: Another class implementing Runnable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class Task2 implements Runnable {  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public void run() {           for(int i = 1; i &lt;= 5; i++) {               System.out.println("Task 2 - Count: " + i);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    try {                  Thread.sleep(500); // Sleep for 0.5 seconds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    } catch (InterruptedException e) {                   System.out.println("Task 2 Interrupted");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    }           }       }   }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// Step 3: Main class to start the threads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public class Main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public static void main(String[] args)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Thread t1 = new Thread(new Task1());          Thread t2 = new Thread(new Task2());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t1.start(); // Start thread 1           t2.start(); // Start thread 2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}    }</a:t>
            </a:r>
            <a:endParaRPr lang="en-US" altLang="en-US" sz="1600"/>
          </a:p>
          <a:p>
            <a:pPr marL="0" indent="0">
              <a:buNone/>
            </a:pPr>
            <a:endParaRPr lang="en-US" altLang="en-US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35"/>
            <a:ext cx="10515600" cy="582295"/>
          </a:xfrm>
        </p:spPr>
        <p:txBody>
          <a:bodyPr>
            <a:noAutofit/>
          </a:bodyPr>
          <a:p>
            <a:r>
              <a:rPr lang="en-US" altLang="en-US" sz="2800" b="1">
                <a:solidFill>
                  <a:srgbClr val="FF0000"/>
                </a:solidFill>
                <a:sym typeface="+mn-ea"/>
              </a:rPr>
              <a:t>What is Thread Priority in Java?</a:t>
            </a:r>
            <a:endParaRPr lang="en-US" altLang="en-US" sz="28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700" y="582930"/>
            <a:ext cx="12052300" cy="5953125"/>
          </a:xfrm>
        </p:spPr>
        <p:txBody>
          <a:bodyPr/>
          <a:p>
            <a:pPr marL="0" indent="0">
              <a:buNone/>
            </a:pPr>
            <a:r>
              <a:rPr lang="en-US" altLang="en-US" sz="2000"/>
              <a:t>In Java, thread priority is a value that hints to the thread scheduler about the importance of a thread relative to others. It affects the order in which threads are scheduled for execution, but does not guarantee it (as scheduling is OS-dependent).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Key Points: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Each thread in Java has a priority, an integer between 1 and 10.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Higher priority threads are more likely to be executed before lower priority ones.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The Java thread scheduler uses priorities as a hint, not a strict rule.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Java defines 3 standard priority constants: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70180" y="3662045"/>
          <a:ext cx="11854815" cy="2108200"/>
        </p:xfrm>
        <a:graphic>
          <a:graphicData uri="http://schemas.openxmlformats.org/drawingml/2006/table">
            <a:tbl>
              <a:tblPr/>
              <a:tblGrid>
                <a:gridCol w="3951605"/>
                <a:gridCol w="3951605"/>
                <a:gridCol w="3951605"/>
              </a:tblGrid>
              <a:tr h="527050"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</a:rPr>
                        <a:t>Constant</a:t>
                      </a:r>
                      <a:endParaRPr sz="20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</a:rPr>
                        <a:t>Value</a:t>
                      </a:r>
                      <a:endParaRPr sz="20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</a:rPr>
                        <a:t>Description</a:t>
                      </a:r>
                      <a:endParaRPr sz="20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527050">
                <a:tc>
                  <a:txBody>
                    <a:bodyPr/>
                    <a:p>
                      <a:r>
                        <a:rPr sz="2000"/>
                        <a:t>Thread.MIN_PRIORITY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1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Lowest possible priority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527050">
                <a:tc>
                  <a:txBody>
                    <a:bodyPr/>
                    <a:p>
                      <a:r>
                        <a:rPr sz="2000"/>
                        <a:t>Thread.NORM_PRIORITY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5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Default priority (normal)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527050">
                <a:tc>
                  <a:txBody>
                    <a:bodyPr/>
                    <a:p>
                      <a:r>
                        <a:rPr sz="2000"/>
                        <a:t>Thread.MAX_PRIORITY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10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Highest possible priority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160" y="0"/>
            <a:ext cx="10515600" cy="677481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600"/>
              <a:t>public class MultiThreading extends Thread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	public static void car_mahindra()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	System.out.println("Welcome To Mahindra");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}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public static void car_tata()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	System.out.println("Welcome To Tata");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}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public static void car_maruti() {   		System.out.println("Welcome To Maruti");	}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	public void run() { 		if (Thread.currentThread().getName().equals("Mahindra"))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		car_mahindra();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	}else if (Thread.currentThread().getName().equals("Tata"))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		car_tata();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	}else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		car_maruti();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	}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}	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public static void main(String[] args)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MultiThreading m1 = new MultiThreading(); MultiThreading m2 = new MultiThreading();  MultiThreading m3 = new MultiThreading();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	m2.setPriority(10);	 		m1.setName("Mahindra");		m2.setName("Tata");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	m3.setName("Maruti");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	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	m1.start();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	m2.start();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	m3.start();</a:t>
            </a:r>
            <a:endParaRPr lang="en-US" altLang="en-US" sz="1600"/>
          </a:p>
          <a:p>
            <a:pPr marL="0" indent="0">
              <a:buNone/>
            </a:pP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}</a:t>
            </a:r>
            <a:endParaRPr lang="en-US" altLang="en-US" sz="1600"/>
          </a:p>
          <a:p>
            <a:pPr marL="0" indent="0">
              <a:buNone/>
            </a:pPr>
            <a:endParaRPr lang="en-US" altLang="en-US" sz="1600"/>
          </a:p>
          <a:p>
            <a:pPr marL="0" indent="0">
              <a:buNone/>
            </a:pPr>
            <a:endParaRPr lang="en-US" altLang="en-US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945" y="-635"/>
            <a:ext cx="11500485" cy="685863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600"/>
              <a:t>Thread t1 = new Thread();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t1.setPriority(Thread.MAX_PRIORITY);     // Set priority to 10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System.out.println(t1.getPriority());    // Output: 10</a:t>
            </a:r>
            <a:endParaRPr lang="en-US" altLang="en-US" sz="1600"/>
          </a:p>
          <a:p>
            <a:pPr marL="0" indent="0">
              <a:buNone/>
            </a:pP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public class ThreadPriorityExample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public static void main(String[] args)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Thread high = new Thread(() -&gt;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    for (int i = 0; i &lt; 3; i++)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        System.out.println("High priority thread");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    }           });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Thread low = new Thread(() -&gt;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    for (int i = 0; i &lt; 3; i++)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        System.out.println("Low priority thread");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    }            });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high.setPriority(Thread.MAX_PRIORITY); // 10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low.setPriority(Thread.MIN_PRIORITY);  // 1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low.start();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high.start();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}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}</a:t>
            </a:r>
            <a:endParaRPr lang="en-US" altLang="en-US" sz="1600"/>
          </a:p>
          <a:p>
            <a:pPr marL="0" indent="0">
              <a:buNone/>
            </a:pPr>
            <a:endParaRPr lang="en-US" altLang="en-US" sz="1600"/>
          </a:p>
          <a:p>
            <a:pPr marL="0" indent="0">
              <a:buNone/>
            </a:pPr>
            <a:endParaRPr lang="en-US" altLang="en-US"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20" y="0"/>
            <a:ext cx="10515600" cy="672973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200"/>
              <a:t>// Task 1: Print numbers from 1 to 5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class NumberPrinter implements Runnable {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 public void run() {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     for (int i = 1; i &lt;= 5; i++) {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         System.out.println("NumberPrinter - " + i + " | Thread: " + Thread.currentThread().getName());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         try {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             Thread.sleep(500); // Pause to simulate some work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         } catch (InterruptedException e) {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             System.out.println("NumberPrinter interrupted");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         }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     }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 }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}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// Task 2: Print alphabets from A to E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class AlphabetPrinter implements Runnable {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 public void run() {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     for (char c = 'A'; c &lt;= 'E'; c++) {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         System.out.println("AlphabetPrinter - " + c + " | Thread: " + Thread.currentThread().getName());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         try {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             Thread.sleep(700); // Pause to simulate some work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         } catch (InterruptedException e) {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             System.out.println("AlphabetPrinter interrupted");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         }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     }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 }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}</a:t>
            </a:r>
            <a:endParaRPr lang="en-US" altLang="en-US" sz="1200"/>
          </a:p>
          <a:p>
            <a:pPr marL="0" indent="0">
              <a:buNone/>
            </a:pPr>
            <a:endParaRPr lang="en-US" altLang="en-US" sz="1200"/>
          </a:p>
          <a:p>
            <a:pPr marL="0" indent="0">
              <a:buNone/>
            </a:pPr>
            <a:endParaRPr lang="en-US" altLang="en-US"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125" y="106045"/>
            <a:ext cx="11419205" cy="6659880"/>
          </a:xfrm>
        </p:spPr>
        <p:txBody>
          <a:bodyPr>
            <a:normAutofit fontScale="55000"/>
          </a:bodyPr>
          <a:p>
            <a:pPr marL="0" indent="0">
              <a:buNone/>
            </a:pPr>
            <a:r>
              <a:rPr lang="en-US" altLang="en-US">
                <a:sym typeface="+mn-ea"/>
              </a:rPr>
              <a:t>// Task 3: Print a message 3 times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class MessagePrinter implements Runnable {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public void run() {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for (int i = 1; i &lt;= 3; i++) {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    System.out.println("MessagePrinter - Hello World! | Thread: " + Thread.currentThread().getName());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    try {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        Thread.sleep(600);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    } catch (InterruptedException e) {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        System.out.println("MessagePrinter interrupted");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    }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}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}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}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// Main class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public class MultiThreadExample {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public static void main(String[] args) {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// Create task objects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Runnable task1 = new NumberPrinter();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Runnable task2 = new AlphabetPrinter();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Runnable task3 = new MessagePrinter();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775" y="374650"/>
            <a:ext cx="10515600" cy="6048375"/>
          </a:xfrm>
        </p:spPr>
        <p:txBody>
          <a:bodyPr/>
          <a:p>
            <a:pPr marL="0" indent="0">
              <a:buNone/>
            </a:pPr>
            <a:r>
              <a:rPr lang="en-US" altLang="en-US" sz="1800">
                <a:sym typeface="+mn-ea"/>
              </a:rPr>
              <a:t>        // Create threads for each task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        Thread thread1 = new Thread(task1, "Thread-1");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        Thread thread2 = new Thread(task2, "Thread-2");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        Thread thread3 = new Thread(task3, "Thread-3");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        // Start threads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        thread1.start();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        thread2.start();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        thread3.start();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        // Main thread message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        System.out.println("Main thread finished starting all tasks.");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    }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}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endParaRPr lang="en-US" sz="1800"/>
          </a:p>
          <a:p>
            <a:endParaRPr lang="en-US"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" y="0"/>
            <a:ext cx="11843385" cy="3160395"/>
          </a:xfrm>
        </p:spPr>
        <p:txBody>
          <a:bodyPr>
            <a:noAutofit/>
          </a:bodyPr>
          <a:p>
            <a:r>
              <a:rPr lang="en-US" altLang="en-US" sz="2000" b="1"/>
              <a:t>What is Synchronization in Multithreading</a:t>
            </a:r>
            <a:endParaRPr lang="en-US" altLang="en-US" sz="1800"/>
          </a:p>
          <a:p>
            <a:r>
              <a:rPr lang="en-US" altLang="en-US" sz="1800"/>
              <a:t>Synchronization in Java is a mechanism that ensures that only one thread can access a shared resource (like a variable or method) at a time. It helps prevent data inconsistency and race conditions when multiple threads try to read/write shared data simultaneously.</a:t>
            </a:r>
            <a:endParaRPr lang="en-US" altLang="en-US" sz="1800"/>
          </a:p>
          <a:p>
            <a:r>
              <a:rPr lang="en-US" altLang="en-US" sz="2000" b="1"/>
              <a:t> Why Use Synchronization?</a:t>
            </a:r>
            <a:endParaRPr lang="en-US" altLang="en-US" sz="2000" b="1"/>
          </a:p>
          <a:p>
            <a:r>
              <a:rPr lang="en-US" altLang="en-US" sz="1800"/>
              <a:t>When multiple threads access shared data without control, they may:</a:t>
            </a:r>
            <a:endParaRPr lang="en-US" altLang="en-US" sz="1800"/>
          </a:p>
          <a:p>
            <a:r>
              <a:rPr lang="en-US" altLang="en-US" sz="1800"/>
              <a:t>Corrupt the data</a:t>
            </a:r>
            <a:endParaRPr lang="en-US" altLang="en-US" sz="1800"/>
          </a:p>
          <a:p>
            <a:r>
              <a:rPr lang="en-US" altLang="en-US" sz="1800"/>
              <a:t>Cause unexpected behavior (e.g., incorrect output, crashing)</a:t>
            </a:r>
            <a:endParaRPr lang="en-US" altLang="en-US" sz="1800"/>
          </a:p>
          <a:p>
            <a:r>
              <a:rPr lang="en-US" altLang="en-US" sz="1800"/>
              <a:t>Break the program logic</a:t>
            </a:r>
            <a:endParaRPr lang="en-US" altLang="en-US" sz="1800"/>
          </a:p>
          <a:p>
            <a:endParaRPr lang="en-US" altLang="en-US" sz="1800"/>
          </a:p>
          <a:p>
            <a:endParaRPr lang="en-US" altLang="en-US" sz="1800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86360" y="4688205"/>
          <a:ext cx="11964035" cy="2051050"/>
        </p:xfrm>
        <a:graphic>
          <a:graphicData uri="http://schemas.openxmlformats.org/drawingml/2006/table">
            <a:tbl>
              <a:tblPr/>
              <a:tblGrid>
                <a:gridCol w="4991100"/>
                <a:gridCol w="6972935"/>
              </a:tblGrid>
              <a:tr h="410210">
                <a:tc>
                  <a:txBody>
                    <a:bodyPr/>
                    <a:p>
                      <a:pPr algn="ctr"/>
                      <a:r>
                        <a:rPr sz="1800" b="1"/>
                        <a:t>Advantage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/>
                        <a:t>Explanation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10210">
                <a:tc>
                  <a:txBody>
                    <a:bodyPr/>
                    <a:p>
                      <a:pPr algn="l"/>
                      <a:r>
                        <a:rPr sz="1800" b="0"/>
                        <a:t>Thread safety</a:t>
                      </a:r>
                      <a:endParaRPr sz="18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00" b="0"/>
                        <a:t>Only one thread accesses critical code at a time</a:t>
                      </a:r>
                      <a:endParaRPr sz="18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10210">
                <a:tc>
                  <a:txBody>
                    <a:bodyPr/>
                    <a:p>
                      <a:pPr algn="l"/>
                      <a:r>
                        <a:rPr sz="1800" b="0"/>
                        <a:t> Data consistency</a:t>
                      </a:r>
                      <a:endParaRPr sz="18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00" b="0"/>
                        <a:t>Prevents data from being changed unexpectedly</a:t>
                      </a:r>
                      <a:endParaRPr sz="18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10210">
                <a:tc>
                  <a:txBody>
                    <a:bodyPr/>
                    <a:p>
                      <a:pPr algn="l"/>
                      <a:r>
                        <a:rPr sz="1800" b="0"/>
                        <a:t> Avoids race conditions</a:t>
                      </a:r>
                      <a:endParaRPr sz="18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00" b="0"/>
                        <a:t>Ensures predictable and correct execution</a:t>
                      </a:r>
                      <a:endParaRPr sz="18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10210">
                <a:tc>
                  <a:txBody>
                    <a:bodyPr/>
                    <a:p>
                      <a:pPr algn="l"/>
                      <a:r>
                        <a:rPr sz="1800" b="0"/>
                        <a:t> Easy to implement</a:t>
                      </a:r>
                      <a:endParaRPr sz="18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00" b="0"/>
                        <a:t>Java provides synchronized keyword for easy use</a:t>
                      </a:r>
                      <a:endParaRPr sz="18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Text Box 1"/>
          <p:cNvSpPr txBox="1"/>
          <p:nvPr/>
        </p:nvSpPr>
        <p:spPr>
          <a:xfrm>
            <a:off x="137795" y="3159760"/>
            <a:ext cx="11912600" cy="143446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sz="1600"/>
              <a:t>Methods synchronization</a:t>
            </a:r>
            <a:r>
              <a:rPr lang="en-US" sz="1600"/>
              <a:t>                               	                                             </a:t>
            </a:r>
            <a:r>
              <a:rPr sz="1600"/>
              <a:t>Synchronized code blocks</a:t>
            </a:r>
            <a:endParaRPr sz="1600"/>
          </a:p>
          <a:p>
            <a:r>
              <a:rPr sz="1600"/>
              <a:t>Intrinsic locks (monitors)</a:t>
            </a:r>
            <a:r>
              <a:rPr lang="en-US" sz="1600"/>
              <a:t>                                			     </a:t>
            </a:r>
            <a:r>
              <a:rPr sz="1600"/>
              <a:t>Shared resource protection (critical sections)</a:t>
            </a:r>
            <a:endParaRPr sz="1600"/>
          </a:p>
          <a:p>
            <a:r>
              <a:rPr sz="1600"/>
              <a:t>wait(), notify(), and notifyAll() for thread communication</a:t>
            </a:r>
            <a:r>
              <a:rPr lang="en-US" sz="1600"/>
              <a:t>                       </a:t>
            </a:r>
            <a:r>
              <a:rPr sz="1600"/>
              <a:t>Deadlock and lock ordering</a:t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975" y="149225"/>
            <a:ext cx="11172825" cy="660209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800"/>
              <a:t>class Counter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private int count = 0;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public synchronized  void increment()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    count++;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}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public int getCount()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    return count;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}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}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public class ThreadApp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public static void main(String[] args)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	Counter counter = new Counter();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	Thread t1 = new Thread(() -&gt;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        for (int i = 0; i &lt; 1000; i++)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            counter.increment();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        }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    });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020" y="279400"/>
            <a:ext cx="11446510" cy="636333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800">
                <a:sym typeface="+mn-ea"/>
              </a:rPr>
              <a:t>        Thread t2 = new Thread(() -&gt;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            for (int i = 0; i &lt; 1000; i++)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                counter.increment();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            }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        });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       t1.start();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       t2.start();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        try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            t1.join();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            t2.join();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        } catch (InterruptedException e)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            e.printStackTrace();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        }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        System.out.println("Final count: " + counter.getCount());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    }    }</a:t>
            </a:r>
            <a:endParaRPr lang="en-US" altLang="en-US" sz="1800"/>
          </a:p>
          <a:p>
            <a:endParaRPr lang="en-US" altLang="en-US" sz="1800"/>
          </a:p>
        </p:txBody>
      </p:sp>
      <p:sp>
        <p:nvSpPr>
          <p:cNvPr id="4" name="Text Box 3"/>
          <p:cNvSpPr txBox="1"/>
          <p:nvPr/>
        </p:nvSpPr>
        <p:spPr>
          <a:xfrm>
            <a:off x="213995" y="6155055"/>
            <a:ext cx="1179068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altLang="en-US" sz="2000">
                <a:sym typeface="+mn-ea"/>
              </a:rPr>
              <a:t> synchronized keyword ensures that only one thread at a time can run deposit() method.</a:t>
            </a:r>
            <a:endParaRPr lang="en-US" altLang="en-US" sz="2000"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" y="635"/>
            <a:ext cx="11719560" cy="673735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600"/>
              <a:t>class Bank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int balance = 0;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void deposit(int amount)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balance += amount;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System.out.println("Deposited " + amount + ", Balance: " + balance);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}     }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class Customer extends Thread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Bank bank;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Customer(Bank bank)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this.bank = bank;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}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public void run()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for (int i = 0; i &lt; 5; i++)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    bank.deposit(100);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}       }   }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public class NoSyncExample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public static void main(String[] args)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Bank bank = new Bank();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Customer c1 = new Customer(bank);         Customer c2 = new Customer(bank);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c1.start();         c2.start();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}   	}</a:t>
            </a:r>
            <a:endParaRPr lang="en-US" altLang="en-US" sz="1600"/>
          </a:p>
          <a:p>
            <a:pPr marL="0" indent="0">
              <a:buNone/>
            </a:pPr>
            <a:endParaRPr lang="en-US" altLang="en-US"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945" y="635"/>
            <a:ext cx="11856720" cy="666940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600"/>
              <a:t>class Bank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int balance = 0;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synchronized void deposit(int amount)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balance += amount;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System.out.println("Deposited " + amount + ", Balance: " + balance + " | Thread: " + Thread.currentThread().getName());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}      }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class Customer extends Thread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Bank bank;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Customer(Bank bank)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this.bank = bank;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}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public void run()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for (int i = 0; i &lt; 5; i++)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    bank.deposit(100);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}        }   }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public class SyncExample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public static void main(String[] args)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Bank bank = new Bank();            Customer c1 = new Customer(bank);             Customer c2 = new Customer(bank);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c1.setName("Customer-1");            c2.setName("Customer-2");           c1.start();           c2.start();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}   }</a:t>
            </a:r>
            <a:endParaRPr lang="en-US" altLang="en-US" sz="1600"/>
          </a:p>
          <a:p>
            <a:pPr marL="0" indent="0">
              <a:buNone/>
            </a:pPr>
            <a:endParaRPr lang="en-US" altLang="en-US" sz="16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944*240"/>
  <p:tag name="TABLE_ENDDRAG_RECT" val="0*232*944*240"/>
</p:tagLst>
</file>

<file path=ppt/tags/tag2.xml><?xml version="1.0" encoding="utf-8"?>
<p:tagLst xmlns:p="http://schemas.openxmlformats.org/presentationml/2006/main">
  <p:tag name="TABLE_ENDDRAG_ORIGIN_RECT" val="960*241"/>
  <p:tag name="TABLE_ENDDRAG_RECT" val="0*28*960*241"/>
</p:tagLst>
</file>

<file path=ppt/tags/tag3.xml><?xml version="1.0" encoding="utf-8"?>
<p:tagLst xmlns:p="http://schemas.openxmlformats.org/presentationml/2006/main">
  <p:tag name="TABLE_ENDDRAG_ORIGIN_RECT" val="933*165"/>
  <p:tag name="TABLE_ENDDRAG_RECT" val="13*288*933*165"/>
</p:tagLst>
</file>

<file path=ppt/tags/tag4.xml><?xml version="1.0" encoding="utf-8"?>
<p:tagLst xmlns:p="http://schemas.openxmlformats.org/presentationml/2006/main">
  <p:tag name="TABLE_ENDDRAG_ORIGIN_RECT" val="942*161"/>
  <p:tag name="TABLE_ENDDRAG_RECT" val="6*369*942*16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11567</Words>
  <Application>WPS Presentation</Application>
  <PresentationFormat>Widescreen</PresentationFormat>
  <Paragraphs>435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Arial</vt:lpstr>
      <vt:lpstr>SimSun</vt:lpstr>
      <vt:lpstr>Wingdings</vt:lpstr>
      <vt:lpstr>Cambria</vt:lpstr>
      <vt:lpstr>Calibri Light</vt:lpstr>
      <vt:lpstr>Calibri</vt:lpstr>
      <vt:lpstr>Microsoft YaHei</vt:lpstr>
      <vt:lpstr>Arial Unicode MS</vt:lpstr>
      <vt:lpstr>Office Theme</vt:lpstr>
      <vt:lpstr>Java Multithreading</vt:lpstr>
      <vt:lpstr>Java MultiThreading</vt:lpstr>
      <vt:lpstr>Difference Between Thread And Runnable</vt:lpstr>
      <vt:lpstr>Thread First Programme</vt:lpstr>
      <vt:lpstr>Runnable Interface</vt:lpstr>
      <vt:lpstr>Another Example</vt:lpstr>
      <vt:lpstr>What is Thread Priority in Java?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Multithreading</dc:title>
  <dc:creator>UV-user</dc:creator>
  <cp:lastModifiedBy>Nishank Amte</cp:lastModifiedBy>
  <cp:revision>61</cp:revision>
  <dcterms:created xsi:type="dcterms:W3CDTF">2025-08-08T03:49:00Z</dcterms:created>
  <dcterms:modified xsi:type="dcterms:W3CDTF">2025-09-20T11:26:19Z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5CE663D6D9BD4680B2AD707D03AC7C86_11</vt:lpwstr>
  </property>
  <property fmtid="{D5CDD505-2E9C-101B-9397-08002B2CF9AE}" pid="3" name="KSOProductBuildVer">
    <vt:lpwstr>1033-12.2.0.22549</vt:lpwstr>
  </property>
</Properties>
</file>