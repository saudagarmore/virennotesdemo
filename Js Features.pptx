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1"/>
  </p:notesMasterIdLst>
  <p:sldIdLst>
    <p:sldId id="312" r:id="rId3"/>
    <p:sldId id="256" r:id="rId4"/>
    <p:sldId id="257" r:id="rId5"/>
    <p:sldId id="258" r:id="rId6"/>
    <p:sldId id="259" r:id="rId7"/>
    <p:sldId id="260" r:id="rId8"/>
    <p:sldId id="261" r:id="rId9"/>
    <p:sldId id="262" r:id="rId10"/>
    <p:sldId id="263" r:id="rId11"/>
    <p:sldId id="264" r:id="rId12"/>
    <p:sldId id="265" r:id="rId13"/>
    <p:sldId id="267" r:id="rId14"/>
    <p:sldId id="315" r:id="rId15"/>
    <p:sldId id="268" r:id="rId16"/>
    <p:sldId id="314" r:id="rId17"/>
    <p:sldId id="269" r:id="rId18"/>
    <p:sldId id="271" r:id="rId19"/>
    <p:sldId id="272" r:id="rId20"/>
    <p:sldId id="273" r:id="rId21"/>
    <p:sldId id="274" r:id="rId22"/>
    <p:sldId id="319" r:id="rId23"/>
    <p:sldId id="275" r:id="rId24"/>
    <p:sldId id="316" r:id="rId25"/>
    <p:sldId id="317" r:id="rId26"/>
    <p:sldId id="318" r:id="rId27"/>
    <p:sldId id="276" r:id="rId28"/>
    <p:sldId id="277" r:id="rId29"/>
    <p:sldId id="320" r:id="rId30"/>
    <p:sldId id="278" r:id="rId31"/>
    <p:sldId id="321" r:id="rId32"/>
    <p:sldId id="280" r:id="rId33"/>
    <p:sldId id="281" r:id="rId34"/>
    <p:sldId id="282" r:id="rId35"/>
    <p:sldId id="283" r:id="rId36"/>
    <p:sldId id="322" r:id="rId37"/>
    <p:sldId id="285" r:id="rId38"/>
    <p:sldId id="286" r:id="rId39"/>
    <p:sldId id="289" r:id="rId40"/>
    <p:sldId id="291" r:id="rId41"/>
    <p:sldId id="290" r:id="rId42"/>
    <p:sldId id="326" r:id="rId43"/>
    <p:sldId id="292" r:id="rId44"/>
    <p:sldId id="296" r:id="rId45"/>
    <p:sldId id="297" r:id="rId46"/>
    <p:sldId id="299" r:id="rId47"/>
    <p:sldId id="325" r:id="rId48"/>
    <p:sldId id="327" r:id="rId49"/>
    <p:sldId id="300" r:id="rId50"/>
    <p:sldId id="306" r:id="rId51"/>
    <p:sldId id="305" r:id="rId52"/>
    <p:sldId id="303" r:id="rId53"/>
    <p:sldId id="302" r:id="rId54"/>
    <p:sldId id="304" r:id="rId55"/>
    <p:sldId id="307" r:id="rId56"/>
    <p:sldId id="308" r:id="rId57"/>
    <p:sldId id="309" r:id="rId58"/>
    <p:sldId id="310" r:id="rId59"/>
    <p:sldId id="311"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6" userDrawn="1">
          <p15:clr>
            <a:srgbClr val="A4A3A4"/>
          </p15:clr>
        </p15:guide>
        <p15:guide id="2" pos="38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26"/>
        <p:guide pos="38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notesMaster" Target="notesMasters/notesMaster1.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0" y="88900"/>
            <a:ext cx="12037695" cy="6540500"/>
          </a:xfrm>
        </p:spPr>
        <p:txBody>
          <a:bodyPr>
            <a:noAutofit/>
          </a:bodyPr>
          <a:p>
            <a:pPr marL="0" indent="0">
              <a:buNone/>
            </a:pPr>
            <a:r>
              <a:rPr lang="en-US" altLang="en-US" sz="2400" b="1"/>
              <a:t>JS Syllabus</a:t>
            </a:r>
            <a:endParaRPr lang="en-US" altLang="en-US" sz="2400" b="1"/>
          </a:p>
          <a:p>
            <a:pPr marL="0" indent="0">
              <a:buNone/>
            </a:pPr>
            <a:r>
              <a:rPr lang="en-US" altLang="en-US" sz="2000" b="1">
                <a:solidFill>
                  <a:srgbClr val="FF0000"/>
                </a:solidFill>
              </a:rPr>
              <a:t>1)Introduction Of Js</a:t>
            </a:r>
            <a:endParaRPr lang="en-US" altLang="en-US" sz="2000" b="1">
              <a:solidFill>
                <a:srgbClr val="FF0000"/>
              </a:solidFill>
            </a:endParaRPr>
          </a:p>
          <a:p>
            <a:pPr marL="0" indent="0">
              <a:buNone/>
            </a:pPr>
            <a:r>
              <a:rPr lang="en-US" altLang="en-US" sz="2000" b="1">
                <a:solidFill>
                  <a:srgbClr val="FF0000"/>
                </a:solidFill>
              </a:rPr>
              <a:t>2)Variables And Datatypes</a:t>
            </a:r>
            <a:endParaRPr lang="en-US" altLang="en-US" sz="2000" b="1">
              <a:solidFill>
                <a:srgbClr val="FF0000"/>
              </a:solidFill>
            </a:endParaRPr>
          </a:p>
          <a:p>
            <a:pPr marL="0" indent="0">
              <a:buNone/>
            </a:pPr>
            <a:r>
              <a:rPr lang="en-US" altLang="en-US" sz="2000" b="1">
                <a:solidFill>
                  <a:srgbClr val="FF0000"/>
                </a:solidFill>
              </a:rPr>
              <a:t>3)JS And Html communication</a:t>
            </a:r>
            <a:endParaRPr lang="en-US" altLang="en-US" sz="2000" b="1">
              <a:solidFill>
                <a:srgbClr val="FF0000"/>
              </a:solidFill>
            </a:endParaRPr>
          </a:p>
          <a:p>
            <a:pPr marL="0" indent="0">
              <a:buNone/>
            </a:pPr>
            <a:r>
              <a:rPr lang="en-US" altLang="en-US" sz="2000" b="1">
                <a:solidFill>
                  <a:srgbClr val="FF0000"/>
                </a:solidFill>
              </a:rPr>
              <a:t>4)Difference Between Var/let/const</a:t>
            </a:r>
            <a:endParaRPr lang="en-US" altLang="en-US" sz="2000" b="1">
              <a:solidFill>
                <a:srgbClr val="FF0000"/>
              </a:solidFill>
            </a:endParaRPr>
          </a:p>
          <a:p>
            <a:pPr marL="0" indent="0">
              <a:buNone/>
            </a:pPr>
            <a:r>
              <a:rPr lang="en-US" altLang="en-US" sz="2000" b="1">
                <a:solidFill>
                  <a:srgbClr val="FF0000"/>
                </a:solidFill>
              </a:rPr>
              <a:t>5) jsOperators</a:t>
            </a:r>
            <a:endParaRPr lang="en-US" altLang="en-US" sz="2000" b="1">
              <a:solidFill>
                <a:srgbClr val="FF0000"/>
              </a:solidFill>
            </a:endParaRPr>
          </a:p>
          <a:p>
            <a:pPr marL="0" indent="0">
              <a:buNone/>
            </a:pPr>
            <a:r>
              <a:rPr lang="en-US" altLang="en-US" sz="2000" b="1">
                <a:solidFill>
                  <a:srgbClr val="FF0000"/>
                </a:solidFill>
              </a:rPr>
              <a:t>6)Control Structures</a:t>
            </a:r>
            <a:endParaRPr lang="en-US" altLang="en-US" sz="2000" b="1">
              <a:solidFill>
                <a:srgbClr val="FF0000"/>
              </a:solidFill>
            </a:endParaRPr>
          </a:p>
          <a:p>
            <a:pPr marL="0" indent="0">
              <a:buNone/>
            </a:pPr>
            <a:r>
              <a:rPr lang="en-US" altLang="en-US" sz="2000" b="1">
                <a:solidFill>
                  <a:srgbClr val="FF0000"/>
                </a:solidFill>
              </a:rPr>
              <a:t>if,if-else,nesting if-else,ladder if-else</a:t>
            </a:r>
            <a:endParaRPr lang="en-US" altLang="en-US" sz="2000" b="1">
              <a:solidFill>
                <a:srgbClr val="FF0000"/>
              </a:solidFill>
            </a:endParaRPr>
          </a:p>
          <a:p>
            <a:pPr marL="0" indent="0">
              <a:buNone/>
            </a:pPr>
            <a:r>
              <a:rPr lang="en-US" altLang="en-US" sz="2000" b="1">
                <a:solidFill>
                  <a:srgbClr val="FF0000"/>
                </a:solidFill>
              </a:rPr>
              <a:t>switch,for,while,do-while,break,continue</a:t>
            </a:r>
            <a:endParaRPr lang="en-US" altLang="en-US" sz="2000" b="1"/>
          </a:p>
          <a:p>
            <a:pPr marL="0" indent="0">
              <a:buNone/>
            </a:pPr>
            <a:r>
              <a:rPr lang="en-US" altLang="en-US" sz="2000" b="1">
                <a:solidFill>
                  <a:srgbClr val="FF0000"/>
                </a:solidFill>
              </a:rPr>
              <a:t>7)Function &amp; importance of function</a:t>
            </a:r>
            <a:endParaRPr lang="en-US" altLang="en-US" sz="2000" b="1">
              <a:solidFill>
                <a:srgbClr val="FF0000"/>
              </a:solidFill>
            </a:endParaRPr>
          </a:p>
          <a:p>
            <a:pPr marL="0" indent="0">
              <a:buNone/>
            </a:pPr>
            <a:r>
              <a:rPr lang="en-US" altLang="en-US" sz="2000" b="1">
                <a:solidFill>
                  <a:srgbClr val="FF0000"/>
                </a:solidFill>
                <a:sym typeface="+mn-ea"/>
              </a:rPr>
              <a:t>8)Array and its methods</a:t>
            </a:r>
            <a:endParaRPr lang="en-US" altLang="en-US" sz="2000" b="1">
              <a:solidFill>
                <a:srgbClr val="FF0000"/>
              </a:solidFill>
              <a:sym typeface="+mn-ea"/>
            </a:endParaRPr>
          </a:p>
          <a:p>
            <a:pPr marL="0" indent="0">
              <a:buNone/>
            </a:pPr>
            <a:r>
              <a:rPr lang="en-US" altLang="en-US" sz="2000" b="1">
                <a:solidFill>
                  <a:srgbClr val="FF0000"/>
                </a:solidFill>
                <a:sym typeface="+mn-ea"/>
              </a:rPr>
              <a:t>9)Arrow Function</a:t>
            </a:r>
            <a:endParaRPr lang="en-US" altLang="en-US" sz="2000" b="1">
              <a:solidFill>
                <a:srgbClr val="FF0000"/>
              </a:solidFill>
            </a:endParaRPr>
          </a:p>
          <a:p>
            <a:pPr marL="0" indent="0">
              <a:buNone/>
            </a:pPr>
            <a:r>
              <a:rPr lang="en-US" altLang="en-US" sz="2000" b="1">
                <a:solidFill>
                  <a:srgbClr val="FF0000"/>
                </a:solidFill>
              </a:rPr>
              <a:t>10)String and its function.</a:t>
            </a:r>
            <a:endParaRPr lang="en-US" altLang="en-US" sz="2000" b="1">
              <a:solidFill>
                <a:srgbClr val="FF0000"/>
              </a:solidFill>
            </a:endParaRPr>
          </a:p>
          <a:p>
            <a:pPr marL="0" indent="0">
              <a:buNone/>
            </a:pPr>
            <a:r>
              <a:rPr lang="en-US" altLang="en-US" sz="2000" b="1">
                <a:solidFill>
                  <a:srgbClr val="FF0000"/>
                </a:solidFill>
              </a:rPr>
              <a:t>11)</a:t>
            </a:r>
            <a:r>
              <a:rPr lang="en-US" altLang="en-US" sz="2000" b="1">
                <a:solidFill>
                  <a:srgbClr val="FF0000"/>
                </a:solidFill>
                <a:sym typeface="+mn-ea"/>
              </a:rPr>
              <a:t>iterators and generators</a:t>
            </a:r>
            <a:endParaRPr lang="en-US" altLang="en-US" sz="2000" b="1">
              <a:solidFill>
                <a:srgbClr val="FF0000"/>
              </a:solidFill>
            </a:endParaRPr>
          </a:p>
          <a:p>
            <a:pPr marL="0" indent="0">
              <a:buNone/>
            </a:pPr>
            <a:endParaRPr lang="en-US" altLang="en-US" sz="2000" b="1">
              <a:solidFill>
                <a:srgbClr val="FF0000"/>
              </a:solidFill>
            </a:endParaRPr>
          </a:p>
        </p:txBody>
      </p:sp>
      <p:sp>
        <p:nvSpPr>
          <p:cNvPr id="4" name="Text Box 3"/>
          <p:cNvSpPr txBox="1"/>
          <p:nvPr/>
        </p:nvSpPr>
        <p:spPr>
          <a:xfrm>
            <a:off x="4701540" y="581660"/>
            <a:ext cx="7336790" cy="2997835"/>
          </a:xfrm>
          <a:prstGeom prst="rect">
            <a:avLst/>
          </a:prstGeom>
          <a:noFill/>
        </p:spPr>
        <p:txBody>
          <a:bodyPr wrap="square" rtlCol="0" anchor="t">
            <a:noAutofit/>
          </a:bodyPr>
          <a:p>
            <a:pPr marL="0" indent="0">
              <a:buNone/>
            </a:pPr>
            <a:r>
              <a:rPr lang="en-US" altLang="en-US" sz="2000" b="1">
                <a:solidFill>
                  <a:srgbClr val="FF0000"/>
                </a:solidFill>
                <a:sym typeface="+mn-ea"/>
              </a:rPr>
              <a:t>12)classes and objects,properties,methods this keyword,super</a:t>
            </a:r>
            <a:endParaRPr lang="en-US" altLang="en-US" sz="2000" b="1">
              <a:solidFill>
                <a:srgbClr val="FF0000"/>
              </a:solidFill>
            </a:endParaRPr>
          </a:p>
          <a:p>
            <a:pPr marL="0" indent="0">
              <a:buNone/>
            </a:pPr>
            <a:r>
              <a:rPr lang="en-US" altLang="en-US" sz="2000" b="1">
                <a:solidFill>
                  <a:srgbClr val="FF0000"/>
                </a:solidFill>
                <a:sym typeface="+mn-ea"/>
              </a:rPr>
              <a:t>13)inheritance</a:t>
            </a:r>
            <a:endParaRPr lang="en-US" altLang="en-US" sz="2000" b="1">
              <a:solidFill>
                <a:srgbClr val="FF0000"/>
              </a:solidFill>
            </a:endParaRPr>
          </a:p>
          <a:p>
            <a:pPr marL="0" indent="0">
              <a:buNone/>
            </a:pPr>
            <a:r>
              <a:rPr lang="en-US" altLang="en-US" sz="2000" b="1">
                <a:solidFill>
                  <a:srgbClr val="FF0000"/>
                </a:solidFill>
                <a:sym typeface="+mn-ea"/>
              </a:rPr>
              <a:t>14)JS DOM, VDOM</a:t>
            </a:r>
            <a:endParaRPr lang="en-US" altLang="en-US" sz="2000" b="1">
              <a:solidFill>
                <a:srgbClr val="FF0000"/>
              </a:solidFill>
            </a:endParaRPr>
          </a:p>
          <a:p>
            <a:pPr marL="0" indent="0">
              <a:buNone/>
            </a:pPr>
            <a:r>
              <a:rPr lang="en-US" altLang="en-US" sz="2000" b="1">
                <a:solidFill>
                  <a:srgbClr val="FF0000"/>
                </a:solidFill>
                <a:sym typeface="+mn-ea"/>
              </a:rPr>
              <a:t>15)JS BOM</a:t>
            </a:r>
            <a:endParaRPr lang="en-US" altLang="en-US" sz="2000" b="1">
              <a:solidFill>
                <a:srgbClr val="FF0000"/>
              </a:solidFill>
            </a:endParaRPr>
          </a:p>
          <a:p>
            <a:pPr marL="0" indent="0">
              <a:buNone/>
            </a:pPr>
            <a:r>
              <a:rPr lang="en-US" altLang="en-US" sz="2000" b="1">
                <a:solidFill>
                  <a:srgbClr val="FF0000"/>
                </a:solidFill>
                <a:sym typeface="+mn-ea"/>
              </a:rPr>
              <a:t>16)Async</a:t>
            </a:r>
            <a:endParaRPr lang="en-US" altLang="en-US" sz="2000" b="1">
              <a:solidFill>
                <a:srgbClr val="FF0000"/>
              </a:solidFill>
            </a:endParaRPr>
          </a:p>
          <a:p>
            <a:pPr marL="0" indent="0">
              <a:buNone/>
            </a:pPr>
            <a:r>
              <a:rPr lang="en-US" altLang="en-US" sz="2000" b="1">
                <a:solidFill>
                  <a:srgbClr val="FF0000"/>
                </a:solidFill>
                <a:sym typeface="+mn-ea"/>
              </a:rPr>
              <a:t>17)Await</a:t>
            </a:r>
            <a:endParaRPr lang="en-US" altLang="en-US" sz="2000" b="1">
              <a:solidFill>
                <a:srgbClr val="FF0000"/>
              </a:solidFill>
            </a:endParaRPr>
          </a:p>
          <a:p>
            <a:pPr marL="0" indent="0">
              <a:buNone/>
            </a:pPr>
            <a:r>
              <a:rPr lang="en-US" altLang="en-US" sz="2000" b="1">
                <a:solidFill>
                  <a:srgbClr val="FF0000"/>
                </a:solidFill>
                <a:sym typeface="+mn-ea"/>
              </a:rPr>
              <a:t>18)CallBack</a:t>
            </a:r>
            <a:endParaRPr lang="en-US" altLang="en-US" sz="2000" b="1">
              <a:solidFill>
                <a:srgbClr val="FF0000"/>
              </a:solidFill>
            </a:endParaRPr>
          </a:p>
          <a:p>
            <a:pPr marL="0" indent="0">
              <a:buNone/>
            </a:pPr>
            <a:r>
              <a:rPr lang="en-US" altLang="en-US" sz="2000" b="1">
                <a:solidFill>
                  <a:srgbClr val="FF0000"/>
                </a:solidFill>
                <a:sym typeface="+mn-ea"/>
              </a:rPr>
              <a:t>19)Promises</a:t>
            </a:r>
            <a:endParaRPr lang="en-US" altLang="en-US" sz="2000" b="1">
              <a:solidFill>
                <a:srgbClr val="FF0000"/>
              </a:solidFill>
              <a:sym typeface="+mn-ea"/>
            </a:endParaRPr>
          </a:p>
          <a:p>
            <a:pPr marL="0" indent="0">
              <a:buNone/>
            </a:pPr>
            <a:r>
              <a:rPr lang="en-US" altLang="en-US" sz="2000">
                <a:sym typeface="+mn-ea"/>
              </a:rPr>
              <a:t>20)WebStorage/SessionStorage/Cookies.</a:t>
            </a:r>
            <a:endParaRPr lang="en-US" altLang="en-US" sz="2000">
              <a:sym typeface="+mn-ea"/>
            </a:endParaRPr>
          </a:p>
          <a:p>
            <a:pPr marL="0" indent="0">
              <a:buNone/>
            </a:pPr>
            <a:endParaRPr lang="en-US" altLang="en-US" sz="2000">
              <a:sym typeface="+mn-ea"/>
            </a:endParaRPr>
          </a:p>
          <a:p>
            <a:pPr marL="0" indent="0">
              <a:buNone/>
            </a:pPr>
            <a:endParaRPr lang="en-US" altLang="en-US" sz="200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100330" y="0"/>
            <a:ext cx="11936095" cy="322580"/>
          </a:xfrm>
        </p:spPr>
        <p:txBody>
          <a:bodyPr>
            <a:noAutofit/>
          </a:bodyPr>
          <a:p>
            <a:r>
              <a:rPr lang="en-US" sz="2400" b="1">
                <a:solidFill>
                  <a:srgbClr val="FF0000"/>
                </a:solidFill>
              </a:rPr>
              <a:t>Js Features</a:t>
            </a:r>
            <a:endParaRPr lang="en-US" sz="2400" b="1">
              <a:solidFill>
                <a:srgbClr val="FF0000"/>
              </a:solidFill>
            </a:endParaRPr>
          </a:p>
        </p:txBody>
      </p:sp>
      <p:sp>
        <p:nvSpPr>
          <p:cNvPr id="3" name="Subtitle 2"/>
          <p:cNvSpPr>
            <a:spLocks noGrp="1"/>
          </p:cNvSpPr>
          <p:nvPr>
            <p:ph type="subTitle" idx="1"/>
          </p:nvPr>
        </p:nvSpPr>
        <p:spPr>
          <a:xfrm>
            <a:off x="182880" y="322580"/>
            <a:ext cx="11853545" cy="6372225"/>
          </a:xfrm>
        </p:spPr>
        <p:txBody>
          <a:bodyPr>
            <a:noAutofit/>
          </a:bodyPr>
          <a:p>
            <a:pPr algn="l"/>
            <a:r>
              <a:rPr lang="en-US" altLang="en-US" sz="2000"/>
              <a:t>Key Features of JavaScript</a:t>
            </a:r>
            <a:endParaRPr lang="en-US" altLang="en-US" sz="2000"/>
          </a:p>
          <a:p>
            <a:pPr algn="l"/>
            <a:r>
              <a:rPr lang="en-US" altLang="en-US" sz="2000" b="1"/>
              <a:t>Lightweight &amp; Interpreted</a:t>
            </a:r>
            <a:endParaRPr lang="en-US" altLang="en-US" sz="2000" b="1"/>
          </a:p>
          <a:p>
            <a:pPr algn="l"/>
            <a:r>
              <a:rPr lang="en-US" altLang="en-US" sz="2000"/>
              <a:t>JavaScript runs directly in the browser without the need for compilation.</a:t>
            </a:r>
            <a:endParaRPr lang="en-US" altLang="en-US" sz="2000"/>
          </a:p>
          <a:p>
            <a:pPr algn="l"/>
            <a:r>
              <a:rPr lang="en-US" altLang="en-US" sz="2000" b="1"/>
              <a:t>Client-Side Scripting</a:t>
            </a:r>
            <a:endParaRPr lang="en-US" altLang="en-US" sz="2000" b="1"/>
          </a:p>
          <a:p>
            <a:pPr algn="l"/>
            <a:r>
              <a:rPr lang="en-US" altLang="en-US" sz="2000"/>
              <a:t>Mostly runs on the client (browser), enabling dynamic web pages.</a:t>
            </a:r>
            <a:endParaRPr lang="en-US" altLang="en-US" sz="2000"/>
          </a:p>
          <a:p>
            <a:pPr algn="l"/>
            <a:r>
              <a:rPr lang="en-US" altLang="en-US" sz="2000" b="1"/>
              <a:t>Dynamically Typed</a:t>
            </a:r>
            <a:endParaRPr lang="en-US" altLang="en-US" sz="2000" b="1"/>
          </a:p>
          <a:p>
            <a:pPr algn="l"/>
            <a:r>
              <a:rPr lang="en-US" altLang="en-US" sz="2000"/>
              <a:t>No need to declare variable types — types are determined at runtime.</a:t>
            </a:r>
            <a:endParaRPr lang="en-US" altLang="en-US" sz="2000"/>
          </a:p>
          <a:p>
            <a:pPr algn="l"/>
            <a:r>
              <a:rPr lang="en-US" altLang="en-US" sz="2000" b="1"/>
              <a:t>Object-Oriented</a:t>
            </a:r>
            <a:endParaRPr lang="en-US" altLang="en-US" sz="2000" b="1"/>
          </a:p>
          <a:p>
            <a:pPr algn="l"/>
            <a:r>
              <a:rPr lang="en-US" altLang="en-US" sz="2000"/>
              <a:t>Supports objects, prototypes, and inheritance (via prototypes).</a:t>
            </a:r>
            <a:endParaRPr lang="en-US" altLang="en-US" sz="2000"/>
          </a:p>
          <a:p>
            <a:pPr algn="l"/>
            <a:r>
              <a:rPr lang="en-US" altLang="en-US" sz="2000" b="1"/>
              <a:t>Event-Driven</a:t>
            </a:r>
            <a:endParaRPr lang="en-US" altLang="en-US" sz="2000" b="1"/>
          </a:p>
          <a:p>
            <a:pPr algn="l"/>
            <a:r>
              <a:rPr lang="en-US" altLang="en-US" sz="2000"/>
              <a:t>Responds to user actions (clicks, inputs, etc.) using event listeners.</a:t>
            </a:r>
            <a:endParaRPr lang="en-US" altLang="en-US" sz="2000"/>
          </a:p>
          <a:p>
            <a:pPr algn="l"/>
            <a:endParaRPr lang="en-US" altLang="en-US"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26365" y="100965"/>
            <a:ext cx="12066270" cy="6665595"/>
          </a:xfrm>
        </p:spPr>
        <p:txBody>
          <a:bodyPr>
            <a:noAutofit/>
          </a:bodyPr>
          <a:p>
            <a:pPr marL="0" indent="0" algn="l">
              <a:buNone/>
            </a:pPr>
            <a:r>
              <a:rPr lang="en-US" altLang="en-US" sz="1800" b="1">
                <a:sym typeface="+mn-ea"/>
              </a:rPr>
              <a:t>First-Class Functions</a:t>
            </a:r>
            <a:endParaRPr lang="en-US" altLang="en-US" sz="1800" b="1"/>
          </a:p>
          <a:p>
            <a:pPr marL="0" indent="0" algn="l">
              <a:buNone/>
            </a:pPr>
            <a:r>
              <a:rPr lang="en-US" altLang="en-US" sz="1800">
                <a:sym typeface="+mn-ea"/>
              </a:rPr>
              <a:t>Functions are treated like variables — they can be passed, returned, and stored.</a:t>
            </a:r>
            <a:endParaRPr lang="en-US" altLang="en-US" sz="1800"/>
          </a:p>
          <a:p>
            <a:pPr marL="0" indent="0" algn="l">
              <a:buNone/>
            </a:pPr>
            <a:r>
              <a:rPr lang="en-US" altLang="en-US" sz="1800" b="1">
                <a:sym typeface="+mn-ea"/>
              </a:rPr>
              <a:t>Asynchronous Programming</a:t>
            </a:r>
            <a:endParaRPr lang="en-US" altLang="en-US" sz="1800" b="1"/>
          </a:p>
          <a:p>
            <a:pPr marL="0" indent="0" algn="l">
              <a:buNone/>
            </a:pPr>
            <a:r>
              <a:rPr lang="en-US" altLang="en-US" sz="1800">
                <a:sym typeface="+mn-ea"/>
              </a:rPr>
              <a:t>Supports async features like callbacks, promises, and async/await for non-blocking code.</a:t>
            </a:r>
            <a:endParaRPr lang="en-US" altLang="en-US" sz="1800"/>
          </a:p>
          <a:p>
            <a:pPr marL="0" indent="0" algn="l">
              <a:buNone/>
            </a:pPr>
            <a:r>
              <a:rPr lang="en-US" altLang="en-US" sz="1800" b="1">
                <a:sym typeface="+mn-ea"/>
              </a:rPr>
              <a:t>Cross-Platform</a:t>
            </a:r>
            <a:endParaRPr lang="en-US" altLang="en-US" sz="1800" b="1"/>
          </a:p>
          <a:p>
            <a:pPr marL="0" indent="0" algn="l">
              <a:buNone/>
            </a:pPr>
            <a:r>
              <a:rPr lang="en-US" altLang="en-US" sz="1800">
                <a:sym typeface="+mn-ea"/>
              </a:rPr>
              <a:t>Works in all major browsers and across platforms (Windows, macOS, Linux).</a:t>
            </a:r>
            <a:endParaRPr lang="en-US" altLang="en-US" sz="1800"/>
          </a:p>
          <a:p>
            <a:pPr marL="0" indent="0" algn="l">
              <a:buNone/>
            </a:pPr>
            <a:r>
              <a:rPr lang="en-US" altLang="en-US" sz="1800" b="1">
                <a:sym typeface="+mn-ea"/>
              </a:rPr>
              <a:t>DOM Manipulation</a:t>
            </a:r>
            <a:endParaRPr lang="en-US" altLang="en-US" sz="1800" b="1"/>
          </a:p>
          <a:p>
            <a:pPr marL="0" indent="0" algn="l">
              <a:buNone/>
            </a:pPr>
            <a:r>
              <a:rPr lang="en-US" altLang="en-US" sz="1800">
                <a:sym typeface="+mn-ea"/>
              </a:rPr>
              <a:t>Can dynamically access and change HTML and CSS in a web page.</a:t>
            </a:r>
            <a:endParaRPr lang="en-US" altLang="en-US" sz="1800"/>
          </a:p>
          <a:p>
            <a:pPr marL="0" indent="0" algn="l">
              <a:buNone/>
            </a:pPr>
            <a:r>
              <a:rPr lang="en-US" altLang="en-US" sz="1800" b="1">
                <a:sym typeface="+mn-ea"/>
              </a:rPr>
              <a:t>Support for Modern Features</a:t>
            </a:r>
            <a:endParaRPr lang="en-US" altLang="en-US" sz="1800" b="1"/>
          </a:p>
          <a:p>
            <a:pPr marL="0" indent="0" algn="l">
              <a:buNone/>
            </a:pPr>
            <a:r>
              <a:rPr lang="en-US" altLang="en-US" sz="1800">
                <a:sym typeface="+mn-ea"/>
              </a:rPr>
              <a:t>With ES6+ (ECMAScript 2015 and later), JavaScript now includes:</a:t>
            </a:r>
            <a:endParaRPr lang="en-US" altLang="en-US" sz="1800"/>
          </a:p>
          <a:p>
            <a:pPr marL="0" indent="0" algn="l">
              <a:buNone/>
            </a:pPr>
            <a:r>
              <a:rPr lang="en-US" altLang="en-US" sz="1800">
                <a:sym typeface="+mn-ea"/>
              </a:rPr>
              <a:t>let, const</a:t>
            </a:r>
            <a:endParaRPr lang="en-US" altLang="en-US" sz="1800"/>
          </a:p>
          <a:p>
            <a:pPr marL="0" indent="0" algn="l">
              <a:buNone/>
            </a:pPr>
            <a:r>
              <a:rPr lang="en-US" altLang="en-US" sz="1800">
                <a:sym typeface="+mn-ea"/>
              </a:rPr>
              <a:t>Arrow functions (=&gt;)</a:t>
            </a:r>
            <a:endParaRPr lang="en-US" altLang="en-US" sz="1800"/>
          </a:p>
          <a:p>
            <a:pPr marL="0" indent="0" algn="l">
              <a:buNone/>
            </a:pPr>
            <a:r>
              <a:rPr lang="en-US" altLang="en-US" sz="1800">
                <a:sym typeface="+mn-ea"/>
              </a:rPr>
              <a:t>Classes</a:t>
            </a:r>
            <a:endParaRPr lang="en-US" altLang="en-US" sz="1800"/>
          </a:p>
          <a:p>
            <a:pPr marL="0" indent="0" algn="l">
              <a:buNone/>
            </a:pPr>
            <a:r>
              <a:rPr lang="en-US" altLang="en-US" sz="1800">
                <a:sym typeface="+mn-ea"/>
              </a:rPr>
              <a:t>Modules</a:t>
            </a:r>
            <a:endParaRPr lang="en-US" altLang="en-US" sz="1800"/>
          </a:p>
          <a:p>
            <a:pPr marL="0" indent="0" algn="l">
              <a:buNone/>
            </a:pPr>
            <a:r>
              <a:rPr lang="en-US" altLang="en-US" sz="1800">
                <a:sym typeface="+mn-ea"/>
              </a:rPr>
              <a:t>Destructuring</a:t>
            </a:r>
            <a:endParaRPr lang="en-US" altLang="en-US" sz="1800"/>
          </a:p>
          <a:p>
            <a:pPr marL="0" indent="0" algn="l">
              <a:buNone/>
            </a:pPr>
            <a:r>
              <a:rPr lang="en-US" altLang="en-US" sz="1800">
                <a:sym typeface="+mn-ea"/>
              </a:rPr>
              <a:t>Template literals</a:t>
            </a:r>
            <a:endParaRPr lang="en-US" altLang="en-US" sz="1800"/>
          </a:p>
          <a:p>
            <a:pPr marL="0" indent="0" algn="l">
              <a:buNone/>
            </a:pPr>
            <a:r>
              <a:rPr lang="en-US" altLang="en-US" sz="1800">
                <a:sym typeface="+mn-ea"/>
              </a:rPr>
              <a:t>Spread/rest operators</a:t>
            </a:r>
            <a:endParaRPr lang="en-US" altLang="en-US" sz="1800"/>
          </a:p>
          <a:p>
            <a:pPr marL="0" indent="0">
              <a:buNone/>
            </a:pPr>
            <a:endParaRPr lang="en-US" altLang="en-US"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35"/>
            <a:ext cx="10515600" cy="376555"/>
          </a:xfrm>
        </p:spPr>
        <p:txBody>
          <a:bodyPr>
            <a:normAutofit fontScale="90000"/>
          </a:bodyPr>
          <a:p>
            <a:pPr algn="ctr"/>
            <a:r>
              <a:rPr lang="en-US" sz="2800" b="1">
                <a:solidFill>
                  <a:srgbClr val="FF0000"/>
                </a:solidFill>
              </a:rPr>
              <a:t>Js Variables And Datatypes</a:t>
            </a:r>
            <a:endParaRPr lang="en-US" sz="2800" b="1">
              <a:solidFill>
                <a:srgbClr val="FF0000"/>
              </a:solidFill>
            </a:endParaRPr>
          </a:p>
        </p:txBody>
      </p:sp>
      <p:sp>
        <p:nvSpPr>
          <p:cNvPr id="3" name="Content Placeholder 2"/>
          <p:cNvSpPr>
            <a:spLocks noGrp="1"/>
          </p:cNvSpPr>
          <p:nvPr>
            <p:ph idx="1"/>
          </p:nvPr>
        </p:nvSpPr>
        <p:spPr>
          <a:xfrm>
            <a:off x="194945" y="377190"/>
            <a:ext cx="11761470" cy="6212840"/>
          </a:xfrm>
        </p:spPr>
        <p:txBody>
          <a:bodyPr/>
          <a:p>
            <a:pPr marL="0" indent="0">
              <a:buNone/>
            </a:pPr>
            <a:r>
              <a:rPr lang="en-US" altLang="en-US" sz="1800" b="1"/>
              <a:t> Variable (in JavaScript):</a:t>
            </a:r>
            <a:endParaRPr lang="en-US" altLang="en-US" sz="1800" b="1"/>
          </a:p>
          <a:p>
            <a:pPr marL="0" indent="0">
              <a:buNone/>
            </a:pPr>
            <a:r>
              <a:rPr lang="en-US" altLang="en-US" sz="1800"/>
              <a:t>A variable is a container used to store data values. It acts as a named reference to a value that can be used and modified in a program. Variables are declared using var, let, or const.</a:t>
            </a:r>
            <a:endParaRPr lang="en-US" altLang="en-US" sz="1800"/>
          </a:p>
          <a:p>
            <a:pPr marL="0" indent="0">
              <a:buNone/>
            </a:pPr>
            <a:endParaRPr lang="en-US" altLang="en-US" sz="1800"/>
          </a:p>
          <a:p>
            <a:pPr marL="0" indent="0">
              <a:buNone/>
            </a:pPr>
            <a:r>
              <a:rPr lang="en-US" altLang="en-US" sz="1800" b="1"/>
              <a:t> Data Type (in JavaScript):</a:t>
            </a:r>
            <a:endParaRPr lang="en-US" altLang="en-US" sz="1800" b="1"/>
          </a:p>
          <a:p>
            <a:pPr marL="0" indent="0">
              <a:buNone/>
            </a:pPr>
            <a:r>
              <a:rPr lang="en-US" altLang="en-US" sz="1800"/>
              <a:t>A data type defines the kind of value a variable can hold, such as a number, string, or boolean. JavaScript has dynamic typing, meaning the data type is determined at runtime based on the value assigned.</a:t>
            </a:r>
            <a:endParaRPr lang="en-US" altLang="en-US" sz="1800"/>
          </a:p>
        </p:txBody>
      </p:sp>
      <p:graphicFrame>
        <p:nvGraphicFramePr>
          <p:cNvPr id="4" name="Table 3"/>
          <p:cNvGraphicFramePr/>
          <p:nvPr>
            <p:custDataLst>
              <p:tags r:id="rId1"/>
            </p:custDataLst>
          </p:nvPr>
        </p:nvGraphicFramePr>
        <p:xfrm>
          <a:off x="59690" y="2926080"/>
          <a:ext cx="12133580" cy="2967990"/>
        </p:xfrm>
        <a:graphic>
          <a:graphicData uri="http://schemas.openxmlformats.org/drawingml/2006/table">
            <a:tbl>
              <a:tblPr/>
              <a:tblGrid>
                <a:gridCol w="3033395"/>
                <a:gridCol w="3033395"/>
                <a:gridCol w="3033395"/>
                <a:gridCol w="3033395"/>
              </a:tblGrid>
              <a:tr h="494665">
                <a:tc>
                  <a:txBody>
                    <a:bodyPr/>
                    <a:p>
                      <a:pPr algn="ctr"/>
                      <a:r>
                        <a:rPr sz="2400" b="1">
                          <a:solidFill>
                            <a:srgbClr val="FF0000"/>
                          </a:solidFill>
                        </a:rPr>
                        <a:t>Feature</a:t>
                      </a:r>
                      <a:endParaRPr sz="2400" b="1">
                        <a:solidFill>
                          <a:srgbClr val="FF0000"/>
                        </a:solidFill>
                      </a:endParaRPr>
                    </a:p>
                  </a:txBody>
                  <a:tcPr marL="0" marR="0" marT="0" marB="0" anchor="ctr" anchorCtr="0">
                    <a:lnL>
                      <a:noFill/>
                    </a:lnL>
                    <a:lnR>
                      <a:noFill/>
                    </a:lnR>
                    <a:lnT>
                      <a:noFill/>
                    </a:lnT>
                    <a:lnB>
                      <a:noFill/>
                    </a:lnB>
                    <a:solidFill>
                      <a:schemeClr val="accent1">
                        <a:lumMod val="60000"/>
                        <a:lumOff val="40000"/>
                      </a:schemeClr>
                    </a:solidFill>
                  </a:tcPr>
                </a:tc>
                <a:tc>
                  <a:txBody>
                    <a:bodyPr/>
                    <a:p>
                      <a:pPr algn="ctr"/>
                      <a:r>
                        <a:rPr sz="2400" b="1">
                          <a:solidFill>
                            <a:srgbClr val="FF0000"/>
                          </a:solidFill>
                        </a:rPr>
                        <a:t>var</a:t>
                      </a:r>
                      <a:endParaRPr sz="2400" b="1">
                        <a:solidFill>
                          <a:srgbClr val="FF0000"/>
                        </a:solidFill>
                      </a:endParaRPr>
                    </a:p>
                  </a:txBody>
                  <a:tcPr marL="0" marR="0" marT="0" marB="0" anchor="ctr" anchorCtr="0">
                    <a:lnL>
                      <a:noFill/>
                    </a:lnL>
                    <a:lnR>
                      <a:noFill/>
                    </a:lnR>
                    <a:lnT>
                      <a:noFill/>
                    </a:lnT>
                    <a:lnB>
                      <a:noFill/>
                    </a:lnB>
                    <a:solidFill>
                      <a:schemeClr val="accent1">
                        <a:lumMod val="60000"/>
                        <a:lumOff val="40000"/>
                      </a:schemeClr>
                    </a:solidFill>
                  </a:tcPr>
                </a:tc>
                <a:tc>
                  <a:txBody>
                    <a:bodyPr/>
                    <a:p>
                      <a:pPr algn="ctr"/>
                      <a:r>
                        <a:rPr sz="2400" b="1">
                          <a:solidFill>
                            <a:srgbClr val="FF0000"/>
                          </a:solidFill>
                        </a:rPr>
                        <a:t>let</a:t>
                      </a:r>
                      <a:endParaRPr sz="2400" b="1">
                        <a:solidFill>
                          <a:srgbClr val="FF0000"/>
                        </a:solidFill>
                      </a:endParaRPr>
                    </a:p>
                  </a:txBody>
                  <a:tcPr marL="0" marR="0" marT="0" marB="0" anchor="ctr" anchorCtr="0">
                    <a:lnL>
                      <a:noFill/>
                    </a:lnL>
                    <a:lnR>
                      <a:noFill/>
                    </a:lnR>
                    <a:lnT>
                      <a:noFill/>
                    </a:lnT>
                    <a:lnB>
                      <a:noFill/>
                    </a:lnB>
                    <a:solidFill>
                      <a:schemeClr val="accent1">
                        <a:lumMod val="60000"/>
                        <a:lumOff val="40000"/>
                      </a:schemeClr>
                    </a:solidFill>
                  </a:tcPr>
                </a:tc>
                <a:tc>
                  <a:txBody>
                    <a:bodyPr/>
                    <a:p>
                      <a:pPr algn="ctr"/>
                      <a:r>
                        <a:rPr sz="2400" b="1">
                          <a:solidFill>
                            <a:srgbClr val="FF0000"/>
                          </a:solidFill>
                        </a:rPr>
                        <a:t>const</a:t>
                      </a:r>
                      <a:endParaRPr sz="2400" b="1">
                        <a:solidFill>
                          <a:srgbClr val="FF0000"/>
                        </a:solidFill>
                      </a:endParaRPr>
                    </a:p>
                  </a:txBody>
                  <a:tcPr marL="0" marR="0" marT="0" marB="0" anchor="ctr" anchorCtr="0">
                    <a:lnL>
                      <a:noFill/>
                    </a:lnL>
                    <a:lnR>
                      <a:noFill/>
                    </a:lnR>
                    <a:lnT>
                      <a:noFill/>
                    </a:lnT>
                    <a:lnB>
                      <a:noFill/>
                    </a:lnB>
                    <a:solidFill>
                      <a:schemeClr val="accent1">
                        <a:lumMod val="60000"/>
                        <a:lumOff val="40000"/>
                      </a:schemeClr>
                    </a:solidFill>
                  </a:tcPr>
                </a:tc>
              </a:tr>
              <a:tr h="494665">
                <a:tc>
                  <a:txBody>
                    <a:bodyPr/>
                    <a:p>
                      <a:r>
                        <a:rPr sz="2000"/>
                        <a:t>Scope</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Function-scoped</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Block-scoped ({})</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Block-scoped ({})</a:t>
                      </a:r>
                      <a:endParaRPr sz="2000"/>
                    </a:p>
                  </a:txBody>
                  <a:tcPr marL="0" marR="0" marT="0" marB="0" anchor="ctr" anchorCtr="0">
                    <a:lnL>
                      <a:noFill/>
                    </a:lnL>
                    <a:lnR>
                      <a:noFill/>
                    </a:lnR>
                    <a:lnT>
                      <a:noFill/>
                    </a:lnT>
                    <a:lnB>
                      <a:noFill/>
                    </a:lnB>
                    <a:solidFill>
                      <a:schemeClr val="accent1">
                        <a:lumMod val="60000"/>
                        <a:lumOff val="40000"/>
                      </a:schemeClr>
                    </a:solidFill>
                  </a:tcPr>
                </a:tc>
              </a:tr>
              <a:tr h="494665">
                <a:tc>
                  <a:txBody>
                    <a:bodyPr/>
                    <a:p>
                      <a:r>
                        <a:rPr sz="2000"/>
                        <a:t>Hoisting</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Yes (initialized as undefined)</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Yes (but not initialized)</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Yes (but not initialized)</a:t>
                      </a:r>
                      <a:endParaRPr sz="2000"/>
                    </a:p>
                  </a:txBody>
                  <a:tcPr marL="0" marR="0" marT="0" marB="0" anchor="ctr" anchorCtr="0">
                    <a:lnL>
                      <a:noFill/>
                    </a:lnL>
                    <a:lnR>
                      <a:noFill/>
                    </a:lnR>
                    <a:lnT>
                      <a:noFill/>
                    </a:lnT>
                    <a:lnB>
                      <a:noFill/>
                    </a:lnB>
                    <a:solidFill>
                      <a:schemeClr val="accent1">
                        <a:lumMod val="60000"/>
                        <a:lumOff val="40000"/>
                      </a:schemeClr>
                    </a:solidFill>
                  </a:tcPr>
                </a:tc>
              </a:tr>
              <a:tr h="494665">
                <a:tc>
                  <a:txBody>
                    <a:bodyPr/>
                    <a:p>
                      <a:r>
                        <a:rPr sz="2000"/>
                        <a:t>Re-declaration</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Allowed</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Not allowed in same scope</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Not allowed</a:t>
                      </a:r>
                      <a:endParaRPr sz="2000"/>
                    </a:p>
                  </a:txBody>
                  <a:tcPr marL="0" marR="0" marT="0" marB="0" anchor="ctr" anchorCtr="0">
                    <a:lnL>
                      <a:noFill/>
                    </a:lnL>
                    <a:lnR>
                      <a:noFill/>
                    </a:lnR>
                    <a:lnT>
                      <a:noFill/>
                    </a:lnT>
                    <a:lnB>
                      <a:noFill/>
                    </a:lnB>
                    <a:solidFill>
                      <a:schemeClr val="accent1">
                        <a:lumMod val="60000"/>
                        <a:lumOff val="40000"/>
                      </a:schemeClr>
                    </a:solidFill>
                  </a:tcPr>
                </a:tc>
              </a:tr>
              <a:tr h="494665">
                <a:tc>
                  <a:txBody>
                    <a:bodyPr/>
                    <a:p>
                      <a:r>
                        <a:rPr sz="2000"/>
                        <a:t>Re-assignment</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Allowed</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Allowed</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Not allowed</a:t>
                      </a:r>
                      <a:endParaRPr sz="2000"/>
                    </a:p>
                  </a:txBody>
                  <a:tcPr marL="0" marR="0" marT="0" marB="0" anchor="ctr" anchorCtr="0">
                    <a:lnL>
                      <a:noFill/>
                    </a:lnL>
                    <a:lnR>
                      <a:noFill/>
                    </a:lnR>
                    <a:lnT>
                      <a:noFill/>
                    </a:lnT>
                    <a:lnB>
                      <a:noFill/>
                    </a:lnB>
                    <a:solidFill>
                      <a:schemeClr val="accent1">
                        <a:lumMod val="60000"/>
                        <a:lumOff val="40000"/>
                      </a:schemeClr>
                    </a:solidFill>
                  </a:tcPr>
                </a:tc>
              </a:tr>
              <a:tr h="494665">
                <a:tc>
                  <a:txBody>
                    <a:bodyPr/>
                    <a:p>
                      <a:r>
                        <a:rPr sz="2000"/>
                        <a:t>Use case</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Old code (ES5 and before)</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Modern JS (ES6+)</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Constants, fixed values</a:t>
                      </a:r>
                      <a:endParaRPr sz="2000"/>
                    </a:p>
                  </a:txBody>
                  <a:tcPr marL="0" marR="0" marT="0" marB="0" anchor="ctr" anchorCtr="0">
                    <a:lnL>
                      <a:noFill/>
                    </a:lnL>
                    <a:lnR>
                      <a:noFill/>
                    </a:lnR>
                    <a:lnT>
                      <a:noFill/>
                    </a:lnT>
                    <a:lnB>
                      <a:noFill/>
                    </a:lnB>
                    <a:solidFill>
                      <a:schemeClr val="accent1">
                        <a:lumMod val="60000"/>
                        <a:lumOff val="40000"/>
                      </a:schemeClr>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5725" y="114935"/>
            <a:ext cx="10515600" cy="6742430"/>
          </a:xfrm>
        </p:spPr>
        <p:txBody>
          <a:bodyPr>
            <a:noAutofit/>
          </a:bodyPr>
          <a:p>
            <a:pPr marL="0" indent="0">
              <a:buNone/>
            </a:pPr>
            <a:r>
              <a:rPr lang="en-US" altLang="en-US" sz="1600"/>
              <a:t>// var</a:t>
            </a:r>
            <a:endParaRPr lang="en-US" altLang="en-US" sz="1600"/>
          </a:p>
          <a:p>
            <a:pPr marL="0" indent="0">
              <a:buNone/>
            </a:pPr>
            <a:r>
              <a:rPr lang="en-US" altLang="en-US" sz="1600"/>
              <a:t>var a = 10;</a:t>
            </a:r>
            <a:endParaRPr lang="en-US" altLang="en-US" sz="1600"/>
          </a:p>
          <a:p>
            <a:pPr marL="0" indent="0">
              <a:buNone/>
            </a:pPr>
            <a:r>
              <a:rPr lang="en-US" altLang="en-US" sz="1600"/>
              <a:t>var a = 20; //  allowed</a:t>
            </a:r>
            <a:endParaRPr lang="en-US" altLang="en-US" sz="1600"/>
          </a:p>
          <a:p>
            <a:pPr marL="0" indent="0">
              <a:buNone/>
            </a:pPr>
            <a:endParaRPr lang="en-US" altLang="en-US" sz="1600"/>
          </a:p>
          <a:p>
            <a:pPr marL="0" indent="0">
              <a:buNone/>
            </a:pPr>
            <a:r>
              <a:rPr lang="en-US" altLang="en-US" sz="1600"/>
              <a:t>// let</a:t>
            </a:r>
            <a:endParaRPr lang="en-US" altLang="en-US" sz="1600"/>
          </a:p>
          <a:p>
            <a:pPr marL="0" indent="0">
              <a:buNone/>
            </a:pPr>
            <a:r>
              <a:rPr lang="en-US" altLang="en-US" sz="1600"/>
              <a:t>let b = 10;</a:t>
            </a:r>
            <a:endParaRPr lang="en-US" altLang="en-US" sz="1600"/>
          </a:p>
          <a:p>
            <a:pPr marL="0" indent="0">
              <a:buNone/>
            </a:pPr>
            <a:r>
              <a:rPr lang="en-US" altLang="en-US" sz="1600"/>
              <a:t>// let b = 20;  Error: Identifier 'b' has already been declared</a:t>
            </a:r>
            <a:endParaRPr lang="en-US" altLang="en-US" sz="1600"/>
          </a:p>
          <a:p>
            <a:pPr marL="0" indent="0">
              <a:buNone/>
            </a:pPr>
            <a:endParaRPr lang="en-US" altLang="en-US" sz="1600"/>
          </a:p>
          <a:p>
            <a:pPr marL="0" indent="0">
              <a:buNone/>
            </a:pPr>
            <a:r>
              <a:rPr lang="en-US" altLang="en-US" sz="1600"/>
              <a:t>// const</a:t>
            </a:r>
            <a:endParaRPr lang="en-US" altLang="en-US" sz="1600"/>
          </a:p>
          <a:p>
            <a:pPr marL="0" indent="0">
              <a:buNone/>
            </a:pPr>
            <a:r>
              <a:rPr lang="en-US" altLang="en-US" sz="1600"/>
              <a:t>const c = 10;</a:t>
            </a:r>
            <a:endParaRPr lang="en-US" altLang="en-US" sz="1600"/>
          </a:p>
          <a:p>
            <a:pPr marL="0" indent="0">
              <a:buNone/>
            </a:pPr>
            <a:r>
              <a:rPr lang="en-US" altLang="en-US" sz="1600"/>
              <a:t>c = 20; //  Error: Assignment to constant variable.</a:t>
            </a:r>
            <a:endParaRPr lang="en-US" altLang="en-US" sz="1600"/>
          </a:p>
          <a:p>
            <a:pPr marL="0" indent="0">
              <a:buNone/>
            </a:pPr>
            <a:endParaRPr lang="en-US" altLang="en-US" sz="1600"/>
          </a:p>
          <a:p>
            <a:pPr marL="0" indent="0">
              <a:buNone/>
            </a:pPr>
            <a:r>
              <a:rPr lang="en-US" altLang="en-US" sz="1600"/>
              <a:t>Why JavaScript Uses var, let, const Instead of Data Types Like int, float, etc.</a:t>
            </a:r>
            <a:endParaRPr lang="en-US" altLang="en-US" sz="1600"/>
          </a:p>
          <a:p>
            <a:pPr marL="0" indent="0">
              <a:buNone/>
            </a:pPr>
            <a:r>
              <a:rPr lang="en-US" altLang="en-US" sz="1600"/>
              <a:t>JavaScript is a dynamically typed language, which means:</a:t>
            </a:r>
            <a:endParaRPr lang="en-US" altLang="en-US" sz="1600"/>
          </a:p>
          <a:p>
            <a:pPr marL="0" indent="0">
              <a:buNone/>
            </a:pPr>
            <a:r>
              <a:rPr lang="en-US" altLang="en-US" sz="1600"/>
              <a:t>You don't have to declare the type of variable (int, float, etc.).</a:t>
            </a:r>
            <a:endParaRPr lang="en-US" altLang="en-US" sz="1600"/>
          </a:p>
          <a:p>
            <a:pPr marL="0" indent="0">
              <a:buNone/>
            </a:pPr>
            <a:r>
              <a:rPr lang="en-US" altLang="en-US" sz="1600"/>
              <a:t>The type is determined automatically at runtime based on the value assigned.</a:t>
            </a:r>
            <a:endParaRPr lang="en-US" altLang="en-US" sz="1600"/>
          </a:p>
          <a:p>
            <a:pPr marL="0" indent="0">
              <a:buNone/>
            </a:pPr>
            <a:r>
              <a:rPr lang="en-US" altLang="en-US" sz="1600"/>
              <a:t>let x = 5;       // number</a:t>
            </a:r>
            <a:endParaRPr lang="en-US" altLang="en-US" sz="1600"/>
          </a:p>
          <a:p>
            <a:pPr marL="0" indent="0">
              <a:buNone/>
            </a:pPr>
            <a:r>
              <a:rPr lang="en-US" altLang="en-US" sz="1600"/>
              <a:t>x = "hello";     // now it's a string</a:t>
            </a:r>
            <a:endParaRPr lang="en-US" altLang="en-US" sz="1600"/>
          </a:p>
          <a:p>
            <a:pPr marL="0" indent="0">
              <a:buNone/>
            </a:pPr>
            <a:r>
              <a:rPr lang="en-US" altLang="en-US" sz="1600"/>
              <a:t>x = true;        // now it's a boolean</a:t>
            </a:r>
            <a:endParaRPr lang="en-US" altLang="en-US" sz="1600"/>
          </a:p>
          <a:p>
            <a:pPr marL="0" indent="0">
              <a:buNone/>
            </a:pPr>
            <a:endParaRPr lang="en-US" altLang="en-US" sz="1600"/>
          </a:p>
          <a:p>
            <a:pPr marL="0" indent="0">
              <a:buNone/>
            </a:pPr>
            <a:endParaRPr lang="en-US" altLang="en-US"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309245"/>
          </a:xfrm>
        </p:spPr>
        <p:txBody>
          <a:bodyPr>
            <a:noAutofit/>
          </a:bodyPr>
          <a:p>
            <a:pPr algn="ctr"/>
            <a:r>
              <a:rPr lang="en-US" sz="2400" b="1">
                <a:solidFill>
                  <a:srgbClr val="FF0000"/>
                </a:solidFill>
              </a:rPr>
              <a:t>JS Datatypes</a:t>
            </a:r>
            <a:endParaRPr lang="en-US" sz="2400" b="1">
              <a:solidFill>
                <a:srgbClr val="FF0000"/>
              </a:solidFill>
            </a:endParaRPr>
          </a:p>
        </p:txBody>
      </p:sp>
      <p:sp>
        <p:nvSpPr>
          <p:cNvPr id="3" name="Content Placeholder 2"/>
          <p:cNvSpPr>
            <a:spLocks noGrp="1"/>
          </p:cNvSpPr>
          <p:nvPr>
            <p:ph idx="1"/>
          </p:nvPr>
        </p:nvSpPr>
        <p:spPr>
          <a:xfrm>
            <a:off x="0" y="418465"/>
            <a:ext cx="12105640" cy="6292850"/>
          </a:xfrm>
        </p:spPr>
        <p:txBody>
          <a:bodyPr>
            <a:normAutofit lnSpcReduction="20000"/>
          </a:bodyPr>
          <a:p>
            <a:pPr marL="0" indent="0">
              <a:buNone/>
            </a:pPr>
            <a:r>
              <a:rPr lang="en-US" altLang="en-US" sz="1600"/>
              <a:t>JavaScript has 8 basic data types:</a:t>
            </a:r>
            <a:endParaRPr lang="en-US" altLang="en-US" sz="1600"/>
          </a:p>
          <a:p>
            <a:pPr marL="0" indent="0">
              <a:buNone/>
            </a:pPr>
            <a:endParaRPr lang="en-US" altLang="en-US" sz="1600"/>
          </a:p>
          <a:p>
            <a:pPr marL="0" indent="0">
              <a:buNone/>
            </a:pPr>
            <a:r>
              <a:rPr lang="zh-CN" altLang="en-US" sz="1600"/>
              <a:t>🔹</a:t>
            </a:r>
            <a:r>
              <a:rPr lang="en-US" altLang="en-US" sz="1600"/>
              <a:t> </a:t>
            </a:r>
            <a:r>
              <a:rPr lang="en-US" altLang="en-US" sz="1600" b="1"/>
              <a:t>Primitive Types:</a:t>
            </a:r>
            <a:endParaRPr lang="en-US" altLang="en-US" sz="1600"/>
          </a:p>
          <a:p>
            <a:pPr marL="0" indent="0">
              <a:buNone/>
            </a:pPr>
            <a:r>
              <a:rPr lang="en-US" altLang="en-US" sz="1600"/>
              <a:t>Number – e.g., 42, 3.14 int </a:t>
            </a:r>
            <a:endParaRPr lang="en-US" altLang="en-US" sz="1600"/>
          </a:p>
          <a:p>
            <a:pPr marL="0" indent="0">
              <a:buNone/>
            </a:pPr>
            <a:r>
              <a:rPr lang="en-US" altLang="en-US" sz="1600"/>
              <a:t>String – e.g., "hello", 'world' String </a:t>
            </a:r>
            <a:endParaRPr lang="en-US" altLang="en-US" sz="1600"/>
          </a:p>
          <a:p>
            <a:pPr marL="0" indent="0">
              <a:buNone/>
            </a:pPr>
            <a:r>
              <a:rPr lang="en-US" altLang="en-US" sz="1600"/>
              <a:t>Boolean – true or false</a:t>
            </a:r>
            <a:endParaRPr lang="en-US" altLang="en-US" sz="1600"/>
          </a:p>
          <a:p>
            <a:pPr marL="0" indent="0">
              <a:buNone/>
            </a:pPr>
            <a:r>
              <a:rPr lang="en-US" altLang="en-US" sz="1600"/>
              <a:t>Undefined – a variable declared but not assigned</a:t>
            </a:r>
            <a:endParaRPr lang="en-US" altLang="en-US" sz="1600"/>
          </a:p>
          <a:p>
            <a:pPr marL="0" indent="0">
              <a:buNone/>
            </a:pPr>
            <a:r>
              <a:rPr lang="en-US" altLang="en-US" sz="1600"/>
              <a:t>Null – intentionally empty</a:t>
            </a:r>
            <a:endParaRPr lang="en-US" altLang="en-US" sz="1600"/>
          </a:p>
          <a:p>
            <a:pPr marL="0" indent="0">
              <a:buNone/>
            </a:pPr>
            <a:r>
              <a:rPr lang="en-US" altLang="en-US" sz="1600"/>
              <a:t>BigInt – for large integers  long </a:t>
            </a:r>
            <a:endParaRPr lang="en-US" altLang="en-US" sz="1600"/>
          </a:p>
          <a:p>
            <a:pPr marL="0" indent="0">
              <a:buNone/>
            </a:pPr>
            <a:r>
              <a:rPr lang="en-US" altLang="en-US" sz="1600"/>
              <a:t>Symbol – for unique identifiers   </a:t>
            </a:r>
            <a:endParaRPr lang="en-US" altLang="en-US" sz="1600"/>
          </a:p>
          <a:p>
            <a:pPr marL="0" indent="0">
              <a:buNone/>
            </a:pPr>
            <a:endParaRPr lang="zh-CN" altLang="en-US" sz="1600"/>
          </a:p>
          <a:p>
            <a:pPr marL="0" indent="0">
              <a:buNone/>
            </a:pPr>
            <a:r>
              <a:rPr lang="zh-CN" altLang="en-US" sz="1600"/>
              <a:t>🔹</a:t>
            </a:r>
            <a:r>
              <a:rPr lang="en-US" altLang="en-US" sz="1600"/>
              <a:t> </a:t>
            </a:r>
            <a:r>
              <a:rPr lang="en-US" altLang="en-US" sz="1600" b="1"/>
              <a:t>Non-Primitive Type:</a:t>
            </a:r>
            <a:endParaRPr lang="en-US" altLang="en-US" sz="1600"/>
          </a:p>
          <a:p>
            <a:pPr marL="0" indent="0">
              <a:buNone/>
            </a:pPr>
            <a:r>
              <a:rPr lang="en-US" altLang="en-US" sz="1600"/>
              <a:t>Object – arrays, functions, objects, etc.</a:t>
            </a:r>
            <a:endParaRPr lang="en-US" altLang="en-US" sz="1600"/>
          </a:p>
          <a:p>
            <a:pPr marL="0" indent="0">
              <a:buNone/>
            </a:pPr>
            <a:endParaRPr lang="en-US" altLang="en-US" sz="1600"/>
          </a:p>
          <a:p>
            <a:pPr marL="0" indent="0">
              <a:buNone/>
            </a:pPr>
            <a:r>
              <a:rPr lang="en-US" altLang="en-US" sz="1600"/>
              <a:t>let name = "viren";        // string</a:t>
            </a:r>
            <a:endParaRPr lang="en-US" altLang="en-US" sz="1600"/>
          </a:p>
          <a:p>
            <a:pPr marL="0" indent="0">
              <a:buNone/>
            </a:pPr>
            <a:r>
              <a:rPr lang="en-US" altLang="en-US" sz="1600"/>
              <a:t>const age = 30;            // number</a:t>
            </a:r>
            <a:endParaRPr lang="en-US" altLang="en-US" sz="1600"/>
          </a:p>
          <a:p>
            <a:pPr marL="0" indent="0">
              <a:buNone/>
            </a:pPr>
            <a:r>
              <a:rPr lang="en-US" altLang="en-US" sz="1600"/>
              <a:t>var isStudent = true;      // boolean</a:t>
            </a:r>
            <a:endParaRPr lang="en-US" altLang="en-US" sz="1600"/>
          </a:p>
          <a:p>
            <a:pPr marL="0" indent="0">
              <a:buNone/>
            </a:pPr>
            <a:r>
              <a:rPr lang="en-US" altLang="en-US" sz="1600"/>
              <a:t>let x;                     // undefined</a:t>
            </a:r>
            <a:endParaRPr lang="en-US" altLang="en-US" sz="1600"/>
          </a:p>
          <a:p>
            <a:pPr marL="0" indent="0">
              <a:buNone/>
            </a:pPr>
            <a:r>
              <a:rPr lang="en-US" altLang="en-US" sz="1600"/>
              <a:t>let data = null;           // null</a:t>
            </a:r>
            <a:endParaRPr lang="en-US" altLang="en-US" sz="1600"/>
          </a:p>
          <a:p>
            <a:pPr marL="0" indent="0">
              <a:buNone/>
            </a:pPr>
            <a:endParaRPr lang="en-US" altLang="en-US" sz="16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99695" y="100965"/>
            <a:ext cx="11993880" cy="6555105"/>
          </a:xfrm>
        </p:spPr>
        <p:txBody>
          <a:bodyPr/>
          <a:p>
            <a:r>
              <a:rPr lang="en-US" altLang="en-US" sz="1800"/>
              <a:t>Use let for general-purpose variables.</a:t>
            </a:r>
            <a:endParaRPr lang="en-US" altLang="en-US" sz="1800"/>
          </a:p>
          <a:p>
            <a:r>
              <a:rPr lang="en-US" altLang="en-US" sz="1800"/>
              <a:t>Use const when the value shouldn't change.</a:t>
            </a:r>
            <a:endParaRPr lang="en-US" altLang="en-US" sz="1800"/>
          </a:p>
          <a:p>
            <a:r>
              <a:rPr lang="en-US" altLang="en-US" sz="1800"/>
              <a:t>Avoid var in modern code (use let or const instead).</a:t>
            </a:r>
            <a:endParaRPr lang="en-US" altLang="en-US" sz="1800"/>
          </a:p>
          <a:p>
            <a:r>
              <a:rPr lang="en-US" altLang="en-US" sz="1800"/>
              <a:t>JavaScript does not require type declaration (int, float, etc.) — it's dynamically typed.</a:t>
            </a:r>
            <a:endParaRPr lang="en-US" altLang="en-US" sz="1800"/>
          </a:p>
        </p:txBody>
      </p:sp>
      <p:graphicFrame>
        <p:nvGraphicFramePr>
          <p:cNvPr id="4" name="Table 3"/>
          <p:cNvGraphicFramePr/>
          <p:nvPr>
            <p:custDataLst>
              <p:tags r:id="rId1"/>
            </p:custDataLst>
          </p:nvPr>
        </p:nvGraphicFramePr>
        <p:xfrm>
          <a:off x="99695" y="1642745"/>
          <a:ext cx="11744325" cy="1752600"/>
        </p:xfrm>
        <a:graphic>
          <a:graphicData uri="http://schemas.openxmlformats.org/drawingml/2006/table">
            <a:tbl>
              <a:tblPr/>
              <a:tblGrid>
                <a:gridCol w="3914775"/>
                <a:gridCol w="3914775"/>
                <a:gridCol w="3914775"/>
              </a:tblGrid>
              <a:tr h="438150">
                <a:tc>
                  <a:txBody>
                    <a:bodyPr/>
                    <a:p>
                      <a:pPr algn="ctr"/>
                      <a:r>
                        <a:rPr sz="1800" b="1">
                          <a:solidFill>
                            <a:srgbClr val="FF0000"/>
                          </a:solidFill>
                        </a:rPr>
                        <a:t>Method</a:t>
                      </a:r>
                      <a:endParaRPr sz="1800" b="1">
                        <a:solidFill>
                          <a:srgbClr val="FF0000"/>
                        </a:solidFill>
                      </a:endParaRPr>
                    </a:p>
                  </a:txBody>
                  <a:tcPr marL="0" marR="0" marT="0" marB="0" anchor="ctr" anchorCtr="0">
                    <a:lnL>
                      <a:noFill/>
                    </a:lnL>
                    <a:lnR>
                      <a:noFill/>
                    </a:lnR>
                    <a:lnT>
                      <a:noFill/>
                    </a:lnT>
                    <a:lnB>
                      <a:noFill/>
                    </a:lnB>
                    <a:solidFill>
                      <a:schemeClr val="accent1">
                        <a:lumMod val="60000"/>
                        <a:lumOff val="40000"/>
                      </a:schemeClr>
                    </a:solidFill>
                  </a:tcPr>
                </a:tc>
                <a:tc>
                  <a:txBody>
                    <a:bodyPr/>
                    <a:p>
                      <a:pPr algn="ctr"/>
                      <a:r>
                        <a:rPr sz="1800" b="1">
                          <a:solidFill>
                            <a:srgbClr val="FF0000"/>
                          </a:solidFill>
                        </a:rPr>
                        <a:t>Fixes Type?</a:t>
                      </a:r>
                      <a:endParaRPr sz="1800" b="1">
                        <a:solidFill>
                          <a:srgbClr val="FF0000"/>
                        </a:solidFill>
                      </a:endParaRPr>
                    </a:p>
                  </a:txBody>
                  <a:tcPr marL="0" marR="0" marT="0" marB="0" anchor="ctr" anchorCtr="0">
                    <a:lnL>
                      <a:noFill/>
                    </a:lnL>
                    <a:lnR>
                      <a:noFill/>
                    </a:lnR>
                    <a:lnT>
                      <a:noFill/>
                    </a:lnT>
                    <a:lnB>
                      <a:noFill/>
                    </a:lnB>
                    <a:solidFill>
                      <a:schemeClr val="accent1">
                        <a:lumMod val="60000"/>
                        <a:lumOff val="40000"/>
                      </a:schemeClr>
                    </a:solidFill>
                  </a:tcPr>
                </a:tc>
                <a:tc>
                  <a:txBody>
                    <a:bodyPr/>
                    <a:p>
                      <a:pPr algn="ctr"/>
                      <a:r>
                        <a:rPr sz="1800" b="1">
                          <a:solidFill>
                            <a:srgbClr val="FF0000"/>
                          </a:solidFill>
                        </a:rPr>
                        <a:t>Notes</a:t>
                      </a:r>
                      <a:endParaRPr sz="1800" b="1">
                        <a:solidFill>
                          <a:srgbClr val="FF0000"/>
                        </a:solidFill>
                      </a:endParaRPr>
                    </a:p>
                  </a:txBody>
                  <a:tcPr marL="0" marR="0" marT="0" marB="0" anchor="ctr" anchorCtr="0">
                    <a:lnL>
                      <a:noFill/>
                    </a:lnL>
                    <a:lnR>
                      <a:noFill/>
                    </a:lnR>
                    <a:lnT>
                      <a:noFill/>
                    </a:lnT>
                    <a:lnB>
                      <a:noFill/>
                    </a:lnB>
                    <a:solidFill>
                      <a:schemeClr val="accent1">
                        <a:lumMod val="60000"/>
                        <a:lumOff val="40000"/>
                      </a:schemeClr>
                    </a:solidFill>
                  </a:tcPr>
                </a:tc>
              </a:tr>
              <a:tr h="438150">
                <a:tc>
                  <a:txBody>
                    <a:bodyPr/>
                    <a:p>
                      <a:pPr algn="l"/>
                      <a:r>
                        <a:rPr sz="1600"/>
                        <a:t>const</a:t>
                      </a:r>
                      <a:endParaRPr sz="1600"/>
                    </a:p>
                  </a:txBody>
                  <a:tcPr marL="0" marR="0" marT="0" marB="0" anchor="ctr" anchorCtr="0">
                    <a:lnL>
                      <a:noFill/>
                    </a:lnL>
                    <a:lnR>
                      <a:noFill/>
                    </a:lnR>
                    <a:lnT>
                      <a:noFill/>
                    </a:lnT>
                    <a:lnB>
                      <a:noFill/>
                    </a:lnB>
                    <a:solidFill>
                      <a:schemeClr val="accent1">
                        <a:lumMod val="60000"/>
                        <a:lumOff val="40000"/>
                      </a:schemeClr>
                    </a:solidFill>
                  </a:tcPr>
                </a:tc>
                <a:tc>
                  <a:txBody>
                    <a:bodyPr/>
                    <a:p>
                      <a:pPr algn="l"/>
                      <a:r>
                        <a:rPr sz="1600"/>
                        <a:t> (value/type won't change)</a:t>
                      </a:r>
                      <a:endParaRPr sz="1600"/>
                    </a:p>
                  </a:txBody>
                  <a:tcPr marL="0" marR="0" marT="0" marB="0" anchor="ctr" anchorCtr="0">
                    <a:lnL>
                      <a:noFill/>
                    </a:lnL>
                    <a:lnR>
                      <a:noFill/>
                    </a:lnR>
                    <a:lnT>
                      <a:noFill/>
                    </a:lnT>
                    <a:lnB>
                      <a:noFill/>
                    </a:lnB>
                    <a:solidFill>
                      <a:schemeClr val="accent1">
                        <a:lumMod val="60000"/>
                        <a:lumOff val="40000"/>
                      </a:schemeClr>
                    </a:solidFill>
                  </a:tcPr>
                </a:tc>
                <a:tc>
                  <a:txBody>
                    <a:bodyPr/>
                    <a:p>
                      <a:pPr algn="l"/>
                      <a:r>
                        <a:rPr sz="1600"/>
                        <a:t>Can't reassign</a:t>
                      </a:r>
                      <a:endParaRPr sz="1600"/>
                    </a:p>
                  </a:txBody>
                  <a:tcPr marL="0" marR="0" marT="0" marB="0" anchor="ctr" anchorCtr="0">
                    <a:lnL>
                      <a:noFill/>
                    </a:lnL>
                    <a:lnR>
                      <a:noFill/>
                    </a:lnR>
                    <a:lnT>
                      <a:noFill/>
                    </a:lnT>
                    <a:lnB>
                      <a:noFill/>
                    </a:lnB>
                    <a:solidFill>
                      <a:schemeClr val="accent1">
                        <a:lumMod val="60000"/>
                        <a:lumOff val="40000"/>
                      </a:schemeClr>
                    </a:solidFill>
                  </a:tcPr>
                </a:tc>
              </a:tr>
              <a:tr h="438150">
                <a:tc>
                  <a:txBody>
                    <a:bodyPr/>
                    <a:p>
                      <a:pPr algn="l"/>
                      <a:r>
                        <a:rPr sz="1600"/>
                        <a:t>Manual typeof check</a:t>
                      </a:r>
                      <a:endParaRPr sz="1600"/>
                    </a:p>
                  </a:txBody>
                  <a:tcPr marL="0" marR="0" marT="0" marB="0" anchor="ctr" anchorCtr="0">
                    <a:lnL>
                      <a:noFill/>
                    </a:lnL>
                    <a:lnR>
                      <a:noFill/>
                    </a:lnR>
                    <a:lnT>
                      <a:noFill/>
                    </a:lnT>
                    <a:lnB>
                      <a:noFill/>
                    </a:lnB>
                    <a:solidFill>
                      <a:schemeClr val="accent1">
                        <a:lumMod val="60000"/>
                        <a:lumOff val="40000"/>
                      </a:schemeClr>
                    </a:solidFill>
                  </a:tcPr>
                </a:tc>
                <a:tc>
                  <a:txBody>
                    <a:bodyPr/>
                    <a:p>
                      <a:pPr algn="l"/>
                      <a:r>
                        <a:rPr sz="1600"/>
                        <a:t> (with effort)</a:t>
                      </a:r>
                      <a:endParaRPr sz="1600"/>
                    </a:p>
                  </a:txBody>
                  <a:tcPr marL="0" marR="0" marT="0" marB="0" anchor="ctr" anchorCtr="0">
                    <a:lnL>
                      <a:noFill/>
                    </a:lnL>
                    <a:lnR>
                      <a:noFill/>
                    </a:lnR>
                    <a:lnT>
                      <a:noFill/>
                    </a:lnT>
                    <a:lnB>
                      <a:noFill/>
                    </a:lnB>
                    <a:solidFill>
                      <a:schemeClr val="accent1">
                        <a:lumMod val="60000"/>
                        <a:lumOff val="40000"/>
                      </a:schemeClr>
                    </a:solidFill>
                  </a:tcPr>
                </a:tc>
                <a:tc>
                  <a:txBody>
                    <a:bodyPr/>
                    <a:p>
                      <a:pPr algn="l"/>
                      <a:r>
                        <a:rPr sz="1600"/>
                        <a:t>Still flexible</a:t>
                      </a:r>
                      <a:endParaRPr sz="1600"/>
                    </a:p>
                  </a:txBody>
                  <a:tcPr marL="0" marR="0" marT="0" marB="0" anchor="ctr" anchorCtr="0">
                    <a:lnL>
                      <a:noFill/>
                    </a:lnL>
                    <a:lnR>
                      <a:noFill/>
                    </a:lnR>
                    <a:lnT>
                      <a:noFill/>
                    </a:lnT>
                    <a:lnB>
                      <a:noFill/>
                    </a:lnB>
                    <a:solidFill>
                      <a:schemeClr val="accent1">
                        <a:lumMod val="60000"/>
                        <a:lumOff val="40000"/>
                      </a:schemeClr>
                    </a:solidFill>
                  </a:tcPr>
                </a:tc>
              </a:tr>
              <a:tr h="438150">
                <a:tc>
                  <a:txBody>
                    <a:bodyPr/>
                    <a:p>
                      <a:pPr algn="l"/>
                      <a:r>
                        <a:rPr sz="1600"/>
                        <a:t>TypeScript</a:t>
                      </a:r>
                      <a:endParaRPr sz="1600"/>
                    </a:p>
                  </a:txBody>
                  <a:tcPr marL="0" marR="0" marT="0" marB="0" anchor="ctr" anchorCtr="0">
                    <a:lnL>
                      <a:noFill/>
                    </a:lnL>
                    <a:lnR>
                      <a:noFill/>
                    </a:lnR>
                    <a:lnT>
                      <a:noFill/>
                    </a:lnT>
                    <a:lnB>
                      <a:noFill/>
                    </a:lnB>
                    <a:solidFill>
                      <a:schemeClr val="accent1">
                        <a:lumMod val="60000"/>
                        <a:lumOff val="40000"/>
                      </a:schemeClr>
                    </a:solidFill>
                  </a:tcPr>
                </a:tc>
                <a:tc>
                  <a:txBody>
                    <a:bodyPr/>
                    <a:p>
                      <a:pPr algn="l"/>
                      <a:r>
                        <a:rPr sz="1600"/>
                        <a:t>✅✅✅</a:t>
                      </a:r>
                      <a:endParaRPr sz="1600"/>
                    </a:p>
                  </a:txBody>
                  <a:tcPr marL="0" marR="0" marT="0" marB="0" anchor="ctr" anchorCtr="0">
                    <a:lnL>
                      <a:noFill/>
                    </a:lnL>
                    <a:lnR>
                      <a:noFill/>
                    </a:lnR>
                    <a:lnT>
                      <a:noFill/>
                    </a:lnT>
                    <a:lnB>
                      <a:noFill/>
                    </a:lnB>
                    <a:solidFill>
                      <a:schemeClr val="accent1">
                        <a:lumMod val="60000"/>
                        <a:lumOff val="40000"/>
                      </a:schemeClr>
                    </a:solidFill>
                  </a:tcPr>
                </a:tc>
                <a:tc>
                  <a:txBody>
                    <a:bodyPr/>
                    <a:p>
                      <a:pPr algn="l"/>
                      <a:r>
                        <a:rPr sz="1600"/>
                        <a:t>Best way to enforce fixed types</a:t>
                      </a:r>
                      <a:endParaRPr sz="1600"/>
                    </a:p>
                  </a:txBody>
                  <a:tcPr marL="0" marR="0" marT="0" marB="0" anchor="ctr" anchorCtr="0">
                    <a:lnL>
                      <a:noFill/>
                    </a:lnL>
                    <a:lnR>
                      <a:noFill/>
                    </a:lnR>
                    <a:lnT>
                      <a:noFill/>
                    </a:lnT>
                    <a:lnB>
                      <a:noFill/>
                    </a:lnB>
                    <a:solidFill>
                      <a:schemeClr val="accent1">
                        <a:lumMod val="60000"/>
                        <a:lumOff val="40000"/>
                      </a:schemeClr>
                    </a:solidFill>
                  </a:tcPr>
                </a:tc>
              </a:tr>
            </a:tbl>
          </a:graphicData>
        </a:graphic>
      </p:graphicFrame>
      <p:sp>
        <p:nvSpPr>
          <p:cNvPr id="6" name="Text Box 5"/>
          <p:cNvSpPr txBox="1"/>
          <p:nvPr/>
        </p:nvSpPr>
        <p:spPr>
          <a:xfrm>
            <a:off x="100330" y="3527425"/>
            <a:ext cx="11344275" cy="1171575"/>
          </a:xfrm>
          <a:prstGeom prst="rect">
            <a:avLst/>
          </a:prstGeom>
        </p:spPr>
        <p:txBody>
          <a:bodyPr wrap="square">
            <a:noAutofit/>
          </a:bodyPr>
          <a:p>
            <a:r>
              <a:rPr sz="1600"/>
              <a:t> </a:t>
            </a:r>
            <a:r>
              <a:rPr lang="en-US" altLang="en-US" sz="1600">
                <a:sym typeface="+mn-ea"/>
              </a:rPr>
              <a:t>console.log(typeof x); // Output: "number"</a:t>
            </a:r>
            <a:endParaRPr lang="en-US" altLang="en-US" sz="1600"/>
          </a:p>
          <a:p>
            <a:r>
              <a:rPr sz="1600"/>
              <a:t>Yes, you can assign number values to variables.</a:t>
            </a:r>
            <a:endParaRPr sz="1600"/>
          </a:p>
          <a:p>
            <a:r>
              <a:rPr sz="1600"/>
              <a:t> No, you can't enforce number type in plain JavaScript.</a:t>
            </a:r>
            <a:endParaRPr sz="1600"/>
          </a:p>
          <a:p>
            <a:r>
              <a:rPr sz="1600"/>
              <a:t> Use typeof to check, or use TypeScript for strict typing.</a:t>
            </a:r>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2192635" cy="323215"/>
          </a:xfrm>
        </p:spPr>
        <p:txBody>
          <a:bodyPr>
            <a:noAutofit/>
          </a:bodyPr>
          <a:p>
            <a:pPr algn="ctr"/>
            <a:r>
              <a:rPr lang="en-US" altLang="en-US" sz="2400" b="1">
                <a:solidFill>
                  <a:srgbClr val="FF0000"/>
                </a:solidFill>
                <a:sym typeface="+mn-ea"/>
              </a:rPr>
              <a:t>What is Scripting?</a:t>
            </a:r>
            <a:endParaRPr lang="en-US" altLang="en-US" sz="2400" b="1">
              <a:solidFill>
                <a:srgbClr val="FF0000"/>
              </a:solidFill>
              <a:sym typeface="+mn-ea"/>
            </a:endParaRPr>
          </a:p>
        </p:txBody>
      </p:sp>
      <p:sp>
        <p:nvSpPr>
          <p:cNvPr id="3" name="Content Placeholder 2"/>
          <p:cNvSpPr>
            <a:spLocks noGrp="1"/>
          </p:cNvSpPr>
          <p:nvPr>
            <p:ph idx="1"/>
          </p:nvPr>
        </p:nvSpPr>
        <p:spPr>
          <a:xfrm>
            <a:off x="0" y="323215"/>
            <a:ext cx="12191365" cy="6306185"/>
          </a:xfrm>
        </p:spPr>
        <p:txBody>
          <a:bodyPr>
            <a:noAutofit/>
          </a:bodyPr>
          <a:p>
            <a:pPr marL="0" indent="0">
              <a:buNone/>
            </a:pPr>
            <a:r>
              <a:rPr lang="en-US" altLang="en-US" sz="1800"/>
              <a:t>A script is program code that doesn’t need pre-processing (e.g. compiling) before  being run. In the context of a Web browser, scripting usually refers to program code </a:t>
            </a:r>
            <a:endParaRPr lang="en-US" altLang="en-US" sz="1800"/>
          </a:p>
          <a:p>
            <a:pPr marL="0" indent="0">
              <a:buNone/>
            </a:pPr>
            <a:r>
              <a:rPr lang="en-US" altLang="en-US" sz="1800"/>
              <a:t>written in JavaScript that is executed by the browser when a page is loaded, or in  response to an event triggered by the user. Scripting can make Web pages more dynamic. For example, without reloading a new  version of a page it may allow modifications to the content of that page, or allow  content to be added to or sent from that page. The former has been called DHTML  (Dynamic HTML), and the latter AJAX (Asynchronous JavaScript and XML).</a:t>
            </a:r>
            <a:endParaRPr lang="en-US" altLang="en-US" sz="1800"/>
          </a:p>
          <a:p>
            <a:pPr marL="0" indent="0">
              <a:buNone/>
            </a:pPr>
            <a:endParaRPr lang="en-US" altLang="en-US" sz="1800"/>
          </a:p>
          <a:p>
            <a:pPr marL="0" indent="0">
              <a:buNone/>
            </a:pPr>
            <a:r>
              <a:rPr lang="en-US" altLang="en-US" sz="1800" b="1"/>
              <a:t>Types of script:Scripts are classified into the following two types.</a:t>
            </a:r>
            <a:endParaRPr lang="en-US" altLang="en-US" sz="1800" b="1"/>
          </a:p>
          <a:p>
            <a:pPr marL="0" indent="0">
              <a:buNone/>
            </a:pPr>
            <a:r>
              <a:rPr lang="en-US" altLang="en-US" sz="1800"/>
              <a:t> Client-side script</a:t>
            </a:r>
            <a:endParaRPr lang="en-US" altLang="en-US" sz="1800"/>
          </a:p>
          <a:p>
            <a:pPr marL="0" indent="0">
              <a:buNone/>
            </a:pPr>
            <a:r>
              <a:rPr lang="en-US" altLang="en-US" sz="1800"/>
              <a:t> Server-side script</a:t>
            </a:r>
            <a:endParaRPr lang="en-US" altLang="en-US" sz="1800"/>
          </a:p>
          <a:p>
            <a:pPr marL="0" indent="0">
              <a:buNone/>
            </a:pPr>
            <a:r>
              <a:rPr lang="en-US" altLang="en-US" sz="1800"/>
              <a:t>Client-sidescript: These scripts are getting executed within the web Browser  (client). Here we don’t need any software. These scripts are used for client-side </a:t>
            </a:r>
            <a:endParaRPr lang="en-US" altLang="en-US" sz="1800"/>
          </a:p>
          <a:p>
            <a:pPr marL="0" indent="0">
              <a:buNone/>
            </a:pPr>
            <a:r>
              <a:rPr lang="en-US" altLang="en-US" sz="1800"/>
              <a:t>validations (data verification &amp; data validations)</a:t>
            </a:r>
            <a:endParaRPr lang="en-US" altLang="en-US" sz="1800"/>
          </a:p>
          <a:p>
            <a:pPr marL="0" indent="0">
              <a:buNone/>
            </a:pPr>
            <a:r>
              <a:rPr lang="en-US" altLang="en-US" sz="1800"/>
              <a:t>Ex: JavaScript, VBScript, typescript, etc…</a:t>
            </a:r>
            <a:endParaRPr lang="en-US" altLang="en-US" sz="1800"/>
          </a:p>
          <a:p>
            <a:pPr marL="0" indent="0">
              <a:buNone/>
            </a:pPr>
            <a:r>
              <a:rPr lang="en-US" altLang="en-US" sz="1800"/>
              <a:t>Server-side script: A script which executes in server machine with support of the </a:t>
            </a:r>
            <a:endParaRPr lang="en-US" altLang="en-US" sz="1800"/>
          </a:p>
          <a:p>
            <a:pPr marL="0" indent="0">
              <a:buNone/>
            </a:pPr>
            <a:r>
              <a:rPr lang="en-US" altLang="en-US" sz="1800"/>
              <a:t>web-server/app-server software’s like IIS(Internet information services), Tomcat, </a:t>
            </a:r>
            <a:endParaRPr lang="en-US" altLang="en-US" sz="1800"/>
          </a:p>
          <a:p>
            <a:pPr marL="0" indent="0">
              <a:buNone/>
            </a:pPr>
            <a:r>
              <a:rPr lang="en-US" altLang="en-US" sz="1800"/>
              <a:t>JBOSS, etc.These scripts are used for server-sidevalidations (authentication &amp; </a:t>
            </a:r>
            <a:endParaRPr lang="en-US" altLang="en-US" sz="1800"/>
          </a:p>
          <a:p>
            <a:pPr marL="0" indent="0">
              <a:buNone/>
            </a:pPr>
            <a:r>
              <a:rPr lang="en-US" altLang="en-US" sz="1800"/>
              <a:t>authorization).</a:t>
            </a:r>
            <a:endParaRPr lang="en-US" altLang="en-US" sz="1800"/>
          </a:p>
          <a:p>
            <a:pPr marL="0" indent="0">
              <a:buNone/>
            </a:pPr>
            <a:r>
              <a:rPr lang="en-US" altLang="en-US" sz="1800"/>
              <a:t>Ex:php, jsp, asp.net, nodeJS, cgi, perletc…</a:t>
            </a:r>
            <a:endParaRPr lang="en-US" altLang="en-US" sz="1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35" y="12700"/>
            <a:ext cx="12191365" cy="438785"/>
          </a:xfrm>
        </p:spPr>
        <p:txBody>
          <a:bodyPr>
            <a:noAutofit/>
          </a:bodyPr>
          <a:p>
            <a:pPr algn="ctr"/>
            <a:r>
              <a:rPr lang="en-US" sz="2400" b="1">
                <a:solidFill>
                  <a:srgbClr val="FF0000"/>
                </a:solidFill>
              </a:rPr>
              <a:t>Js Operators</a:t>
            </a:r>
            <a:endParaRPr lang="en-US" sz="2400" b="1">
              <a:solidFill>
                <a:srgbClr val="FF0000"/>
              </a:solidFill>
            </a:endParaRPr>
          </a:p>
        </p:txBody>
      </p:sp>
      <p:graphicFrame>
        <p:nvGraphicFramePr>
          <p:cNvPr id="4" name="Table 3"/>
          <p:cNvGraphicFramePr/>
          <p:nvPr>
            <p:custDataLst>
              <p:tags r:id="rId1"/>
            </p:custDataLst>
          </p:nvPr>
        </p:nvGraphicFramePr>
        <p:xfrm>
          <a:off x="235585" y="1046480"/>
          <a:ext cx="11744325" cy="2743200"/>
        </p:xfrm>
        <a:graphic>
          <a:graphicData uri="http://schemas.openxmlformats.org/drawingml/2006/table">
            <a:tbl>
              <a:tblPr/>
              <a:tblGrid>
                <a:gridCol w="3914775"/>
                <a:gridCol w="3914775"/>
                <a:gridCol w="3914775"/>
              </a:tblGrid>
              <a:tr h="304800">
                <a:tc>
                  <a:txBody>
                    <a:bodyPr/>
                    <a:p>
                      <a:r>
                        <a:rPr sz="2000"/>
                        <a:t>Operator</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Description</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Example (a = 5, b = 2)</a:t>
                      </a:r>
                      <a:endParaRPr sz="2000"/>
                    </a:p>
                  </a:txBody>
                  <a:tcPr marL="0" marR="0" marT="0" marB="0" anchor="ctr" anchorCtr="0">
                    <a:lnL>
                      <a:noFill/>
                    </a:lnL>
                    <a:lnR>
                      <a:noFill/>
                    </a:lnR>
                    <a:lnT>
                      <a:noFill/>
                    </a:lnT>
                    <a:lnB>
                      <a:noFill/>
                    </a:lnB>
                    <a:solidFill>
                      <a:schemeClr val="accent1">
                        <a:lumMod val="60000"/>
                        <a:lumOff val="40000"/>
                      </a:schemeClr>
                    </a:solidFill>
                  </a:tcPr>
                </a:tc>
              </a:tr>
              <a:tr h="304800">
                <a:tc>
                  <a:txBody>
                    <a:bodyPr/>
                    <a:p>
                      <a:r>
                        <a:rPr sz="2000"/>
                        <a:t>+</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Addition</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a + b → 7</a:t>
                      </a:r>
                      <a:endParaRPr sz="2000"/>
                    </a:p>
                  </a:txBody>
                  <a:tcPr marL="0" marR="0" marT="0" marB="0" anchor="ctr" anchorCtr="0">
                    <a:lnL>
                      <a:noFill/>
                    </a:lnL>
                    <a:lnR>
                      <a:noFill/>
                    </a:lnR>
                    <a:lnT>
                      <a:noFill/>
                    </a:lnT>
                    <a:lnB>
                      <a:noFill/>
                    </a:lnB>
                    <a:solidFill>
                      <a:schemeClr val="accent1">
                        <a:lumMod val="60000"/>
                        <a:lumOff val="40000"/>
                      </a:schemeClr>
                    </a:solidFill>
                  </a:tcPr>
                </a:tc>
              </a:tr>
              <a:tr h="304800">
                <a:tc>
                  <a:txBody>
                    <a:bodyPr/>
                    <a:p>
                      <a:r>
                        <a:rPr sz="2000"/>
                        <a:t>-</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Subtraction</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a - b → 3</a:t>
                      </a:r>
                      <a:endParaRPr sz="2000"/>
                    </a:p>
                  </a:txBody>
                  <a:tcPr marL="0" marR="0" marT="0" marB="0" anchor="ctr" anchorCtr="0">
                    <a:lnL>
                      <a:noFill/>
                    </a:lnL>
                    <a:lnR>
                      <a:noFill/>
                    </a:lnR>
                    <a:lnT>
                      <a:noFill/>
                    </a:lnT>
                    <a:lnB>
                      <a:noFill/>
                    </a:lnB>
                    <a:solidFill>
                      <a:schemeClr val="accent1">
                        <a:lumMod val="60000"/>
                        <a:lumOff val="40000"/>
                      </a:schemeClr>
                    </a:solidFill>
                  </a:tcPr>
                </a:tc>
              </a:tr>
              <a:tr h="304800">
                <a:tc>
                  <a:txBody>
                    <a:bodyPr/>
                    <a:p>
                      <a:r>
                        <a:rPr sz="2000"/>
                        <a:t>*</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Multiplication</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a * b → 10</a:t>
                      </a:r>
                      <a:endParaRPr sz="2000"/>
                    </a:p>
                  </a:txBody>
                  <a:tcPr marL="0" marR="0" marT="0" marB="0" anchor="ctr" anchorCtr="0">
                    <a:lnL>
                      <a:noFill/>
                    </a:lnL>
                    <a:lnR>
                      <a:noFill/>
                    </a:lnR>
                    <a:lnT>
                      <a:noFill/>
                    </a:lnT>
                    <a:lnB>
                      <a:noFill/>
                    </a:lnB>
                    <a:solidFill>
                      <a:schemeClr val="accent1">
                        <a:lumMod val="60000"/>
                        <a:lumOff val="40000"/>
                      </a:schemeClr>
                    </a:solidFill>
                  </a:tcPr>
                </a:tc>
              </a:tr>
              <a:tr h="304800">
                <a:tc>
                  <a:txBody>
                    <a:bodyPr/>
                    <a:p>
                      <a:r>
                        <a:rPr sz="2000"/>
                        <a:t>/</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Division</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a / b → 2.5</a:t>
                      </a:r>
                      <a:endParaRPr sz="2000"/>
                    </a:p>
                  </a:txBody>
                  <a:tcPr marL="0" marR="0" marT="0" marB="0" anchor="ctr" anchorCtr="0">
                    <a:lnL>
                      <a:noFill/>
                    </a:lnL>
                    <a:lnR>
                      <a:noFill/>
                    </a:lnR>
                    <a:lnT>
                      <a:noFill/>
                    </a:lnT>
                    <a:lnB>
                      <a:noFill/>
                    </a:lnB>
                    <a:solidFill>
                      <a:schemeClr val="accent1">
                        <a:lumMod val="60000"/>
                        <a:lumOff val="40000"/>
                      </a:schemeClr>
                    </a:solidFill>
                  </a:tcPr>
                </a:tc>
              </a:tr>
              <a:tr h="304800">
                <a:tc>
                  <a:txBody>
                    <a:bodyPr/>
                    <a:p>
                      <a:r>
                        <a:rPr sz="2000"/>
                        <a:t>%</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Modulus (Remainder)</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a % b → 1</a:t>
                      </a:r>
                      <a:endParaRPr sz="2000"/>
                    </a:p>
                  </a:txBody>
                  <a:tcPr marL="0" marR="0" marT="0" marB="0" anchor="ctr" anchorCtr="0">
                    <a:lnL>
                      <a:noFill/>
                    </a:lnL>
                    <a:lnR>
                      <a:noFill/>
                    </a:lnR>
                    <a:lnT>
                      <a:noFill/>
                    </a:lnT>
                    <a:lnB>
                      <a:noFill/>
                    </a:lnB>
                    <a:solidFill>
                      <a:schemeClr val="accent1">
                        <a:lumMod val="60000"/>
                        <a:lumOff val="40000"/>
                      </a:schemeClr>
                    </a:solidFill>
                  </a:tcPr>
                </a:tc>
              </a:tr>
              <a:tr h="304800">
                <a:tc>
                  <a:txBody>
                    <a:bodyPr/>
                    <a:p>
                      <a:r>
                        <a:rPr sz="2000"/>
                        <a:t>**</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Exponentiation</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a ** b → 25</a:t>
                      </a:r>
                      <a:endParaRPr sz="2000"/>
                    </a:p>
                  </a:txBody>
                  <a:tcPr marL="0" marR="0" marT="0" marB="0" anchor="ctr" anchorCtr="0">
                    <a:lnL>
                      <a:noFill/>
                    </a:lnL>
                    <a:lnR>
                      <a:noFill/>
                    </a:lnR>
                    <a:lnT>
                      <a:noFill/>
                    </a:lnT>
                    <a:lnB>
                      <a:noFill/>
                    </a:lnB>
                    <a:solidFill>
                      <a:schemeClr val="accent1">
                        <a:lumMod val="60000"/>
                        <a:lumOff val="40000"/>
                      </a:schemeClr>
                    </a:solidFill>
                  </a:tcPr>
                </a:tc>
              </a:tr>
              <a:tr h="304800">
                <a:tc>
                  <a:txBody>
                    <a:bodyPr/>
                    <a:p>
                      <a:r>
                        <a:rPr sz="2000"/>
                        <a:t>++</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Increment</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a++ or ++a</a:t>
                      </a:r>
                      <a:endParaRPr sz="2000"/>
                    </a:p>
                  </a:txBody>
                  <a:tcPr marL="0" marR="0" marT="0" marB="0" anchor="ctr" anchorCtr="0">
                    <a:lnL>
                      <a:noFill/>
                    </a:lnL>
                    <a:lnR>
                      <a:noFill/>
                    </a:lnR>
                    <a:lnT>
                      <a:noFill/>
                    </a:lnT>
                    <a:lnB>
                      <a:noFill/>
                    </a:lnB>
                    <a:solidFill>
                      <a:schemeClr val="accent1">
                        <a:lumMod val="60000"/>
                        <a:lumOff val="40000"/>
                      </a:schemeClr>
                    </a:solidFill>
                  </a:tcPr>
                </a:tc>
              </a:tr>
              <a:tr h="304800">
                <a:tc>
                  <a:txBody>
                    <a:bodyPr/>
                    <a:p>
                      <a:r>
                        <a:rPr sz="2000"/>
                        <a:t>--</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Decrement</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a-- or --a</a:t>
                      </a:r>
                      <a:endParaRPr sz="2000"/>
                    </a:p>
                  </a:txBody>
                  <a:tcPr marL="0" marR="0" marT="0" marB="0" anchor="ctr" anchorCtr="0">
                    <a:lnL>
                      <a:noFill/>
                    </a:lnL>
                    <a:lnR>
                      <a:noFill/>
                    </a:lnR>
                    <a:lnT>
                      <a:noFill/>
                    </a:lnT>
                    <a:lnB>
                      <a:noFill/>
                    </a:lnB>
                    <a:solidFill>
                      <a:schemeClr val="accent1">
                        <a:lumMod val="60000"/>
                        <a:lumOff val="40000"/>
                      </a:schemeClr>
                    </a:solidFill>
                  </a:tcPr>
                </a:tc>
              </a:tr>
            </a:tbl>
          </a:graphicData>
        </a:graphic>
      </p:graphicFrame>
      <p:graphicFrame>
        <p:nvGraphicFramePr>
          <p:cNvPr id="5" name="Table 4"/>
          <p:cNvGraphicFramePr/>
          <p:nvPr>
            <p:custDataLst>
              <p:tags r:id="rId2"/>
            </p:custDataLst>
          </p:nvPr>
        </p:nvGraphicFramePr>
        <p:xfrm>
          <a:off x="100965" y="4278630"/>
          <a:ext cx="11879580" cy="2540000"/>
        </p:xfrm>
        <a:graphic>
          <a:graphicData uri="http://schemas.openxmlformats.org/drawingml/2006/table">
            <a:tbl>
              <a:tblPr/>
              <a:tblGrid>
                <a:gridCol w="3959860"/>
                <a:gridCol w="3959860"/>
                <a:gridCol w="3959860"/>
              </a:tblGrid>
              <a:tr h="317500">
                <a:tc>
                  <a:txBody>
                    <a:bodyPr/>
                    <a:p>
                      <a:r>
                        <a:rPr sz="1600"/>
                        <a:t>Operator</a:t>
                      </a:r>
                      <a:endParaRPr sz="1600"/>
                    </a:p>
                  </a:txBody>
                  <a:tcPr marL="0" marR="0" marT="0" marB="0" anchor="ctr" anchorCtr="0">
                    <a:lnL>
                      <a:noFill/>
                    </a:lnL>
                    <a:lnR>
                      <a:noFill/>
                    </a:lnR>
                    <a:lnT>
                      <a:noFill/>
                    </a:lnT>
                    <a:lnB>
                      <a:noFill/>
                    </a:lnB>
                    <a:solidFill>
                      <a:schemeClr val="accent1">
                        <a:lumMod val="60000"/>
                        <a:lumOff val="40000"/>
                      </a:schemeClr>
                    </a:solidFill>
                  </a:tcPr>
                </a:tc>
                <a:tc>
                  <a:txBody>
                    <a:bodyPr/>
                    <a:p>
                      <a:r>
                        <a:rPr sz="1600"/>
                        <a:t>Description</a:t>
                      </a:r>
                      <a:endParaRPr sz="1600"/>
                    </a:p>
                  </a:txBody>
                  <a:tcPr marL="0" marR="0" marT="0" marB="0" anchor="ctr" anchorCtr="0">
                    <a:lnL>
                      <a:noFill/>
                    </a:lnL>
                    <a:lnR>
                      <a:noFill/>
                    </a:lnR>
                    <a:lnT>
                      <a:noFill/>
                    </a:lnT>
                    <a:lnB>
                      <a:noFill/>
                    </a:lnB>
                    <a:solidFill>
                      <a:schemeClr val="accent1">
                        <a:lumMod val="60000"/>
                        <a:lumOff val="40000"/>
                      </a:schemeClr>
                    </a:solidFill>
                  </a:tcPr>
                </a:tc>
                <a:tc>
                  <a:txBody>
                    <a:bodyPr/>
                    <a:p>
                      <a:r>
                        <a:rPr sz="1600"/>
                        <a:t>Example</a:t>
                      </a:r>
                      <a:endParaRPr sz="1600"/>
                    </a:p>
                  </a:txBody>
                  <a:tcPr marL="0" marR="0" marT="0" marB="0" anchor="ctr" anchorCtr="0">
                    <a:lnL>
                      <a:noFill/>
                    </a:lnL>
                    <a:lnR>
                      <a:noFill/>
                    </a:lnR>
                    <a:lnT>
                      <a:noFill/>
                    </a:lnT>
                    <a:lnB>
                      <a:noFill/>
                    </a:lnB>
                    <a:solidFill>
                      <a:schemeClr val="accent1">
                        <a:lumMod val="60000"/>
                        <a:lumOff val="40000"/>
                      </a:schemeClr>
                    </a:solidFill>
                  </a:tcPr>
                </a:tc>
              </a:tr>
              <a:tr h="317500">
                <a:tc>
                  <a:txBody>
                    <a:bodyPr/>
                    <a:p>
                      <a:r>
                        <a:rPr sz="1600"/>
                        <a:t>=</a:t>
                      </a:r>
                      <a:endParaRPr sz="1600"/>
                    </a:p>
                  </a:txBody>
                  <a:tcPr marL="0" marR="0" marT="0" marB="0" anchor="ctr" anchorCtr="0">
                    <a:lnL>
                      <a:noFill/>
                    </a:lnL>
                    <a:lnR>
                      <a:noFill/>
                    </a:lnR>
                    <a:lnT>
                      <a:noFill/>
                    </a:lnT>
                    <a:lnB>
                      <a:noFill/>
                    </a:lnB>
                    <a:solidFill>
                      <a:schemeClr val="accent1">
                        <a:lumMod val="60000"/>
                        <a:lumOff val="40000"/>
                      </a:schemeClr>
                    </a:solidFill>
                  </a:tcPr>
                </a:tc>
                <a:tc>
                  <a:txBody>
                    <a:bodyPr/>
                    <a:p>
                      <a:r>
                        <a:rPr sz="1600"/>
                        <a:t>Assignment</a:t>
                      </a:r>
                      <a:endParaRPr sz="1600"/>
                    </a:p>
                  </a:txBody>
                  <a:tcPr marL="0" marR="0" marT="0" marB="0" anchor="ctr" anchorCtr="0">
                    <a:lnL>
                      <a:noFill/>
                    </a:lnL>
                    <a:lnR>
                      <a:noFill/>
                    </a:lnR>
                    <a:lnT>
                      <a:noFill/>
                    </a:lnT>
                    <a:lnB>
                      <a:noFill/>
                    </a:lnB>
                    <a:solidFill>
                      <a:schemeClr val="accent1">
                        <a:lumMod val="60000"/>
                        <a:lumOff val="40000"/>
                      </a:schemeClr>
                    </a:solidFill>
                  </a:tcPr>
                </a:tc>
                <a:tc>
                  <a:txBody>
                    <a:bodyPr/>
                    <a:p>
                      <a:r>
                        <a:rPr sz="1600"/>
                        <a:t>x = 10</a:t>
                      </a:r>
                      <a:endParaRPr sz="1600"/>
                    </a:p>
                  </a:txBody>
                  <a:tcPr marL="0" marR="0" marT="0" marB="0" anchor="ctr" anchorCtr="0">
                    <a:lnL>
                      <a:noFill/>
                    </a:lnL>
                    <a:lnR>
                      <a:noFill/>
                    </a:lnR>
                    <a:lnT>
                      <a:noFill/>
                    </a:lnT>
                    <a:lnB>
                      <a:noFill/>
                    </a:lnB>
                    <a:solidFill>
                      <a:schemeClr val="accent1">
                        <a:lumMod val="60000"/>
                        <a:lumOff val="40000"/>
                      </a:schemeClr>
                    </a:solidFill>
                  </a:tcPr>
                </a:tc>
              </a:tr>
              <a:tr h="317500">
                <a:tc>
                  <a:txBody>
                    <a:bodyPr/>
                    <a:p>
                      <a:r>
                        <a:rPr sz="1600"/>
                        <a:t>+=</a:t>
                      </a:r>
                      <a:endParaRPr sz="1600"/>
                    </a:p>
                  </a:txBody>
                  <a:tcPr marL="0" marR="0" marT="0" marB="0" anchor="ctr" anchorCtr="0">
                    <a:lnL>
                      <a:noFill/>
                    </a:lnL>
                    <a:lnR>
                      <a:noFill/>
                    </a:lnR>
                    <a:lnT>
                      <a:noFill/>
                    </a:lnT>
                    <a:lnB>
                      <a:noFill/>
                    </a:lnB>
                    <a:solidFill>
                      <a:schemeClr val="accent1">
                        <a:lumMod val="60000"/>
                        <a:lumOff val="40000"/>
                      </a:schemeClr>
                    </a:solidFill>
                  </a:tcPr>
                </a:tc>
                <a:tc>
                  <a:txBody>
                    <a:bodyPr/>
                    <a:p>
                      <a:r>
                        <a:rPr sz="1600"/>
                        <a:t>Add and assign</a:t>
                      </a:r>
                      <a:endParaRPr sz="1600"/>
                    </a:p>
                  </a:txBody>
                  <a:tcPr marL="0" marR="0" marT="0" marB="0" anchor="ctr" anchorCtr="0">
                    <a:lnL>
                      <a:noFill/>
                    </a:lnL>
                    <a:lnR>
                      <a:noFill/>
                    </a:lnR>
                    <a:lnT>
                      <a:noFill/>
                    </a:lnT>
                    <a:lnB>
                      <a:noFill/>
                    </a:lnB>
                    <a:solidFill>
                      <a:schemeClr val="accent1">
                        <a:lumMod val="60000"/>
                        <a:lumOff val="40000"/>
                      </a:schemeClr>
                    </a:solidFill>
                  </a:tcPr>
                </a:tc>
                <a:tc>
                  <a:txBody>
                    <a:bodyPr/>
                    <a:p>
                      <a:r>
                        <a:rPr sz="1600"/>
                        <a:t>x += 5 → x = x + 5</a:t>
                      </a:r>
                      <a:endParaRPr sz="1600"/>
                    </a:p>
                  </a:txBody>
                  <a:tcPr marL="0" marR="0" marT="0" marB="0" anchor="ctr" anchorCtr="0">
                    <a:lnL>
                      <a:noFill/>
                    </a:lnL>
                    <a:lnR>
                      <a:noFill/>
                    </a:lnR>
                    <a:lnT>
                      <a:noFill/>
                    </a:lnT>
                    <a:lnB>
                      <a:noFill/>
                    </a:lnB>
                    <a:solidFill>
                      <a:schemeClr val="accent1">
                        <a:lumMod val="60000"/>
                        <a:lumOff val="40000"/>
                      </a:schemeClr>
                    </a:solidFill>
                  </a:tcPr>
                </a:tc>
              </a:tr>
              <a:tr h="317500">
                <a:tc>
                  <a:txBody>
                    <a:bodyPr/>
                    <a:p>
                      <a:r>
                        <a:rPr sz="1600"/>
                        <a:t>-=</a:t>
                      </a:r>
                      <a:endParaRPr sz="1600"/>
                    </a:p>
                  </a:txBody>
                  <a:tcPr marL="0" marR="0" marT="0" marB="0" anchor="ctr" anchorCtr="0">
                    <a:lnL>
                      <a:noFill/>
                    </a:lnL>
                    <a:lnR>
                      <a:noFill/>
                    </a:lnR>
                    <a:lnT>
                      <a:noFill/>
                    </a:lnT>
                    <a:lnB>
                      <a:noFill/>
                    </a:lnB>
                    <a:solidFill>
                      <a:schemeClr val="accent1">
                        <a:lumMod val="60000"/>
                        <a:lumOff val="40000"/>
                      </a:schemeClr>
                    </a:solidFill>
                  </a:tcPr>
                </a:tc>
                <a:tc>
                  <a:txBody>
                    <a:bodyPr/>
                    <a:p>
                      <a:r>
                        <a:rPr sz="1600"/>
                        <a:t>Subtract and assign</a:t>
                      </a:r>
                      <a:endParaRPr sz="1600"/>
                    </a:p>
                  </a:txBody>
                  <a:tcPr marL="0" marR="0" marT="0" marB="0" anchor="ctr" anchorCtr="0">
                    <a:lnL>
                      <a:noFill/>
                    </a:lnL>
                    <a:lnR>
                      <a:noFill/>
                    </a:lnR>
                    <a:lnT>
                      <a:noFill/>
                    </a:lnT>
                    <a:lnB>
                      <a:noFill/>
                    </a:lnB>
                    <a:solidFill>
                      <a:schemeClr val="accent1">
                        <a:lumMod val="60000"/>
                        <a:lumOff val="40000"/>
                      </a:schemeClr>
                    </a:solidFill>
                  </a:tcPr>
                </a:tc>
                <a:tc>
                  <a:txBody>
                    <a:bodyPr/>
                    <a:p>
                      <a:r>
                        <a:rPr sz="1600"/>
                        <a:t>x -= 5</a:t>
                      </a:r>
                      <a:endParaRPr sz="1600"/>
                    </a:p>
                  </a:txBody>
                  <a:tcPr marL="0" marR="0" marT="0" marB="0" anchor="ctr" anchorCtr="0">
                    <a:lnL>
                      <a:noFill/>
                    </a:lnL>
                    <a:lnR>
                      <a:noFill/>
                    </a:lnR>
                    <a:lnT>
                      <a:noFill/>
                    </a:lnT>
                    <a:lnB>
                      <a:noFill/>
                    </a:lnB>
                    <a:solidFill>
                      <a:schemeClr val="accent1">
                        <a:lumMod val="60000"/>
                        <a:lumOff val="40000"/>
                      </a:schemeClr>
                    </a:solidFill>
                  </a:tcPr>
                </a:tc>
              </a:tr>
              <a:tr h="317500">
                <a:tc>
                  <a:txBody>
                    <a:bodyPr/>
                    <a:p>
                      <a:r>
                        <a:rPr sz="1600"/>
                        <a:t>*=</a:t>
                      </a:r>
                      <a:endParaRPr sz="1600"/>
                    </a:p>
                  </a:txBody>
                  <a:tcPr marL="0" marR="0" marT="0" marB="0" anchor="ctr" anchorCtr="0">
                    <a:lnL>
                      <a:noFill/>
                    </a:lnL>
                    <a:lnR>
                      <a:noFill/>
                    </a:lnR>
                    <a:lnT>
                      <a:noFill/>
                    </a:lnT>
                    <a:lnB>
                      <a:noFill/>
                    </a:lnB>
                    <a:solidFill>
                      <a:schemeClr val="accent1">
                        <a:lumMod val="60000"/>
                        <a:lumOff val="40000"/>
                      </a:schemeClr>
                    </a:solidFill>
                  </a:tcPr>
                </a:tc>
                <a:tc>
                  <a:txBody>
                    <a:bodyPr/>
                    <a:p>
                      <a:r>
                        <a:rPr sz="1600"/>
                        <a:t>Multiply and assign</a:t>
                      </a:r>
                      <a:endParaRPr sz="1600"/>
                    </a:p>
                  </a:txBody>
                  <a:tcPr marL="0" marR="0" marT="0" marB="0" anchor="ctr" anchorCtr="0">
                    <a:lnL>
                      <a:noFill/>
                    </a:lnL>
                    <a:lnR>
                      <a:noFill/>
                    </a:lnR>
                    <a:lnT>
                      <a:noFill/>
                    </a:lnT>
                    <a:lnB>
                      <a:noFill/>
                    </a:lnB>
                    <a:solidFill>
                      <a:schemeClr val="accent1">
                        <a:lumMod val="60000"/>
                        <a:lumOff val="40000"/>
                      </a:schemeClr>
                    </a:solidFill>
                  </a:tcPr>
                </a:tc>
                <a:tc>
                  <a:txBody>
                    <a:bodyPr/>
                    <a:p>
                      <a:r>
                        <a:rPr sz="1600"/>
                        <a:t>x *= 5</a:t>
                      </a:r>
                      <a:endParaRPr sz="1600"/>
                    </a:p>
                  </a:txBody>
                  <a:tcPr marL="0" marR="0" marT="0" marB="0" anchor="ctr" anchorCtr="0">
                    <a:lnL>
                      <a:noFill/>
                    </a:lnL>
                    <a:lnR>
                      <a:noFill/>
                    </a:lnR>
                    <a:lnT>
                      <a:noFill/>
                    </a:lnT>
                    <a:lnB>
                      <a:noFill/>
                    </a:lnB>
                    <a:solidFill>
                      <a:schemeClr val="accent1">
                        <a:lumMod val="60000"/>
                        <a:lumOff val="40000"/>
                      </a:schemeClr>
                    </a:solidFill>
                  </a:tcPr>
                </a:tc>
              </a:tr>
              <a:tr h="317500">
                <a:tc>
                  <a:txBody>
                    <a:bodyPr/>
                    <a:p>
                      <a:r>
                        <a:rPr sz="1600"/>
                        <a:t>/=</a:t>
                      </a:r>
                      <a:endParaRPr sz="1600"/>
                    </a:p>
                  </a:txBody>
                  <a:tcPr marL="0" marR="0" marT="0" marB="0" anchor="ctr" anchorCtr="0">
                    <a:lnL>
                      <a:noFill/>
                    </a:lnL>
                    <a:lnR>
                      <a:noFill/>
                    </a:lnR>
                    <a:lnT>
                      <a:noFill/>
                    </a:lnT>
                    <a:lnB>
                      <a:noFill/>
                    </a:lnB>
                    <a:solidFill>
                      <a:schemeClr val="accent1">
                        <a:lumMod val="60000"/>
                        <a:lumOff val="40000"/>
                      </a:schemeClr>
                    </a:solidFill>
                  </a:tcPr>
                </a:tc>
                <a:tc>
                  <a:txBody>
                    <a:bodyPr/>
                    <a:p>
                      <a:r>
                        <a:rPr sz="1600"/>
                        <a:t>Divide and assign</a:t>
                      </a:r>
                      <a:endParaRPr sz="1600"/>
                    </a:p>
                  </a:txBody>
                  <a:tcPr marL="0" marR="0" marT="0" marB="0" anchor="ctr" anchorCtr="0">
                    <a:lnL>
                      <a:noFill/>
                    </a:lnL>
                    <a:lnR>
                      <a:noFill/>
                    </a:lnR>
                    <a:lnT>
                      <a:noFill/>
                    </a:lnT>
                    <a:lnB>
                      <a:noFill/>
                    </a:lnB>
                    <a:solidFill>
                      <a:schemeClr val="accent1">
                        <a:lumMod val="60000"/>
                        <a:lumOff val="40000"/>
                      </a:schemeClr>
                    </a:solidFill>
                  </a:tcPr>
                </a:tc>
                <a:tc>
                  <a:txBody>
                    <a:bodyPr/>
                    <a:p>
                      <a:r>
                        <a:rPr sz="1600"/>
                        <a:t>x /= 5</a:t>
                      </a:r>
                      <a:endParaRPr sz="1600"/>
                    </a:p>
                  </a:txBody>
                  <a:tcPr marL="0" marR="0" marT="0" marB="0" anchor="ctr" anchorCtr="0">
                    <a:lnL>
                      <a:noFill/>
                    </a:lnL>
                    <a:lnR>
                      <a:noFill/>
                    </a:lnR>
                    <a:lnT>
                      <a:noFill/>
                    </a:lnT>
                    <a:lnB>
                      <a:noFill/>
                    </a:lnB>
                    <a:solidFill>
                      <a:schemeClr val="accent1">
                        <a:lumMod val="60000"/>
                        <a:lumOff val="40000"/>
                      </a:schemeClr>
                    </a:solidFill>
                  </a:tcPr>
                </a:tc>
              </a:tr>
              <a:tr h="317500">
                <a:tc>
                  <a:txBody>
                    <a:bodyPr/>
                    <a:p>
                      <a:r>
                        <a:rPr sz="1600"/>
                        <a:t>%=</a:t>
                      </a:r>
                      <a:endParaRPr sz="1600"/>
                    </a:p>
                  </a:txBody>
                  <a:tcPr marL="0" marR="0" marT="0" marB="0" anchor="ctr" anchorCtr="0">
                    <a:lnL>
                      <a:noFill/>
                    </a:lnL>
                    <a:lnR>
                      <a:noFill/>
                    </a:lnR>
                    <a:lnT>
                      <a:noFill/>
                    </a:lnT>
                    <a:lnB>
                      <a:noFill/>
                    </a:lnB>
                    <a:solidFill>
                      <a:schemeClr val="accent1">
                        <a:lumMod val="60000"/>
                        <a:lumOff val="40000"/>
                      </a:schemeClr>
                    </a:solidFill>
                  </a:tcPr>
                </a:tc>
                <a:tc>
                  <a:txBody>
                    <a:bodyPr/>
                    <a:p>
                      <a:r>
                        <a:rPr sz="1600"/>
                        <a:t>Modulus and assign</a:t>
                      </a:r>
                      <a:endParaRPr sz="1600"/>
                    </a:p>
                  </a:txBody>
                  <a:tcPr marL="0" marR="0" marT="0" marB="0" anchor="ctr" anchorCtr="0">
                    <a:lnL>
                      <a:noFill/>
                    </a:lnL>
                    <a:lnR>
                      <a:noFill/>
                    </a:lnR>
                    <a:lnT>
                      <a:noFill/>
                    </a:lnT>
                    <a:lnB>
                      <a:noFill/>
                    </a:lnB>
                    <a:solidFill>
                      <a:schemeClr val="accent1">
                        <a:lumMod val="60000"/>
                        <a:lumOff val="40000"/>
                      </a:schemeClr>
                    </a:solidFill>
                  </a:tcPr>
                </a:tc>
                <a:tc>
                  <a:txBody>
                    <a:bodyPr/>
                    <a:p>
                      <a:r>
                        <a:rPr sz="1600"/>
                        <a:t>x %= 5</a:t>
                      </a:r>
                      <a:endParaRPr sz="1600"/>
                    </a:p>
                  </a:txBody>
                  <a:tcPr marL="0" marR="0" marT="0" marB="0" anchor="ctr" anchorCtr="0">
                    <a:lnL>
                      <a:noFill/>
                    </a:lnL>
                    <a:lnR>
                      <a:noFill/>
                    </a:lnR>
                    <a:lnT>
                      <a:noFill/>
                    </a:lnT>
                    <a:lnB>
                      <a:noFill/>
                    </a:lnB>
                    <a:solidFill>
                      <a:schemeClr val="accent1">
                        <a:lumMod val="60000"/>
                        <a:lumOff val="40000"/>
                      </a:schemeClr>
                    </a:solidFill>
                  </a:tcPr>
                </a:tc>
              </a:tr>
              <a:tr h="317500">
                <a:tc>
                  <a:txBody>
                    <a:bodyPr/>
                    <a:p>
                      <a:r>
                        <a:rPr sz="1600"/>
                        <a:t>**=</a:t>
                      </a:r>
                      <a:endParaRPr sz="1600"/>
                    </a:p>
                  </a:txBody>
                  <a:tcPr marL="0" marR="0" marT="0" marB="0" anchor="ctr" anchorCtr="0">
                    <a:lnL>
                      <a:noFill/>
                    </a:lnL>
                    <a:lnR>
                      <a:noFill/>
                    </a:lnR>
                    <a:lnT>
                      <a:noFill/>
                    </a:lnT>
                    <a:lnB>
                      <a:noFill/>
                    </a:lnB>
                    <a:solidFill>
                      <a:schemeClr val="accent1">
                        <a:lumMod val="60000"/>
                        <a:lumOff val="40000"/>
                      </a:schemeClr>
                    </a:solidFill>
                  </a:tcPr>
                </a:tc>
                <a:tc>
                  <a:txBody>
                    <a:bodyPr/>
                    <a:p>
                      <a:r>
                        <a:rPr sz="1600"/>
                        <a:t>Exponentiate and assign</a:t>
                      </a:r>
                      <a:endParaRPr sz="1600"/>
                    </a:p>
                  </a:txBody>
                  <a:tcPr marL="0" marR="0" marT="0" marB="0" anchor="ctr" anchorCtr="0">
                    <a:lnL>
                      <a:noFill/>
                    </a:lnL>
                    <a:lnR>
                      <a:noFill/>
                    </a:lnR>
                    <a:lnT>
                      <a:noFill/>
                    </a:lnT>
                    <a:lnB>
                      <a:noFill/>
                    </a:lnB>
                    <a:solidFill>
                      <a:schemeClr val="accent1">
                        <a:lumMod val="60000"/>
                        <a:lumOff val="40000"/>
                      </a:schemeClr>
                    </a:solidFill>
                  </a:tcPr>
                </a:tc>
                <a:tc>
                  <a:txBody>
                    <a:bodyPr/>
                    <a:p>
                      <a:r>
                        <a:rPr sz="1600"/>
                        <a:t>x **= 2</a:t>
                      </a:r>
                      <a:endParaRPr sz="1600"/>
                    </a:p>
                  </a:txBody>
                  <a:tcPr marL="0" marR="0" marT="0" marB="0" anchor="ctr" anchorCtr="0">
                    <a:lnL>
                      <a:noFill/>
                    </a:lnL>
                    <a:lnR>
                      <a:noFill/>
                    </a:lnR>
                    <a:lnT>
                      <a:noFill/>
                    </a:lnT>
                    <a:lnB>
                      <a:noFill/>
                    </a:lnB>
                    <a:solidFill>
                      <a:schemeClr val="accent1">
                        <a:lumMod val="60000"/>
                        <a:lumOff val="40000"/>
                      </a:schemeClr>
                    </a:solidFill>
                  </a:tcPr>
                </a:tc>
              </a:tr>
            </a:tbl>
          </a:graphicData>
        </a:graphic>
      </p:graphicFrame>
      <p:sp>
        <p:nvSpPr>
          <p:cNvPr id="6" name="Text Box 5"/>
          <p:cNvSpPr txBox="1"/>
          <p:nvPr/>
        </p:nvSpPr>
        <p:spPr>
          <a:xfrm>
            <a:off x="100965" y="3790315"/>
            <a:ext cx="4064000" cy="398780"/>
          </a:xfrm>
          <a:prstGeom prst="rect">
            <a:avLst/>
          </a:prstGeom>
          <a:noFill/>
        </p:spPr>
        <p:txBody>
          <a:bodyPr wrap="square" rtlCol="0">
            <a:spAutoFit/>
          </a:bodyPr>
          <a:p>
            <a:r>
              <a:rPr lang="en-US" sz="2000" b="1">
                <a:solidFill>
                  <a:srgbClr val="FF0000"/>
                </a:solidFill>
              </a:rPr>
              <a:t>Assignment Operators</a:t>
            </a:r>
            <a:endParaRPr lang="en-US" sz="2000" b="1">
              <a:solidFill>
                <a:srgbClr val="FF0000"/>
              </a:solidFill>
            </a:endParaRPr>
          </a:p>
        </p:txBody>
      </p:sp>
      <p:sp>
        <p:nvSpPr>
          <p:cNvPr id="7" name="Text Box 6"/>
          <p:cNvSpPr txBox="1"/>
          <p:nvPr/>
        </p:nvSpPr>
        <p:spPr>
          <a:xfrm>
            <a:off x="235585" y="647065"/>
            <a:ext cx="4064000" cy="398780"/>
          </a:xfrm>
          <a:prstGeom prst="rect">
            <a:avLst/>
          </a:prstGeom>
          <a:noFill/>
        </p:spPr>
        <p:txBody>
          <a:bodyPr wrap="square" rtlCol="0">
            <a:spAutoFit/>
          </a:bodyPr>
          <a:p>
            <a:r>
              <a:rPr lang="en-US" sz="2000" b="1">
                <a:solidFill>
                  <a:srgbClr val="FF0000"/>
                </a:solidFill>
              </a:rPr>
              <a:t>Arithmatic Operators</a:t>
            </a:r>
            <a:endParaRPr lang="en-US" sz="2000" b="1">
              <a:solidFill>
                <a:srgbClr val="FF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Table 3"/>
          <p:cNvGraphicFramePr/>
          <p:nvPr>
            <p:custDataLst>
              <p:tags r:id="rId1"/>
            </p:custDataLst>
          </p:nvPr>
        </p:nvGraphicFramePr>
        <p:xfrm>
          <a:off x="100330" y="1055370"/>
          <a:ext cx="11871960" cy="2743200"/>
        </p:xfrm>
        <a:graphic>
          <a:graphicData uri="http://schemas.openxmlformats.org/drawingml/2006/table">
            <a:tbl>
              <a:tblPr/>
              <a:tblGrid>
                <a:gridCol w="3957320"/>
                <a:gridCol w="3957320"/>
                <a:gridCol w="3957320"/>
              </a:tblGrid>
              <a:tr h="304800">
                <a:tc>
                  <a:txBody>
                    <a:bodyPr/>
                    <a:p>
                      <a:r>
                        <a:rPr sz="2000"/>
                        <a:t>Operator</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Description</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Example</a:t>
                      </a:r>
                      <a:endParaRPr sz="2000"/>
                    </a:p>
                  </a:txBody>
                  <a:tcPr marL="0" marR="0" marT="0" marB="0" anchor="ctr" anchorCtr="0">
                    <a:lnL>
                      <a:noFill/>
                    </a:lnL>
                    <a:lnR>
                      <a:noFill/>
                    </a:lnR>
                    <a:lnT>
                      <a:noFill/>
                    </a:lnT>
                    <a:lnB>
                      <a:noFill/>
                    </a:lnB>
                    <a:solidFill>
                      <a:schemeClr val="accent1">
                        <a:lumMod val="60000"/>
                        <a:lumOff val="40000"/>
                      </a:schemeClr>
                    </a:solidFill>
                  </a:tcPr>
                </a:tc>
              </a:tr>
              <a:tr h="304800">
                <a:tc>
                  <a:txBody>
                    <a:bodyPr/>
                    <a:p>
                      <a:r>
                        <a:rPr sz="2000"/>
                        <a:t>==</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Equal to (loose)</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5 == '5' → true</a:t>
                      </a:r>
                      <a:endParaRPr sz="2000"/>
                    </a:p>
                  </a:txBody>
                  <a:tcPr marL="0" marR="0" marT="0" marB="0" anchor="ctr" anchorCtr="0">
                    <a:lnL>
                      <a:noFill/>
                    </a:lnL>
                    <a:lnR>
                      <a:noFill/>
                    </a:lnR>
                    <a:lnT>
                      <a:noFill/>
                    </a:lnT>
                    <a:lnB>
                      <a:noFill/>
                    </a:lnB>
                    <a:solidFill>
                      <a:schemeClr val="accent1">
                        <a:lumMod val="60000"/>
                        <a:lumOff val="40000"/>
                      </a:schemeClr>
                    </a:solidFill>
                  </a:tcPr>
                </a:tc>
              </a:tr>
              <a:tr h="304800">
                <a:tc>
                  <a:txBody>
                    <a:bodyPr/>
                    <a:p>
                      <a:r>
                        <a:rPr sz="2000"/>
                        <a:t>===</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Strict equal to</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5 === '5' → false</a:t>
                      </a:r>
                      <a:endParaRPr sz="2000"/>
                    </a:p>
                  </a:txBody>
                  <a:tcPr marL="0" marR="0" marT="0" marB="0" anchor="ctr" anchorCtr="0">
                    <a:lnL>
                      <a:noFill/>
                    </a:lnL>
                    <a:lnR>
                      <a:noFill/>
                    </a:lnR>
                    <a:lnT>
                      <a:noFill/>
                    </a:lnT>
                    <a:lnB>
                      <a:noFill/>
                    </a:lnB>
                    <a:solidFill>
                      <a:schemeClr val="accent1">
                        <a:lumMod val="60000"/>
                        <a:lumOff val="40000"/>
                      </a:schemeClr>
                    </a:solidFill>
                  </a:tcPr>
                </a:tc>
              </a:tr>
              <a:tr h="304800">
                <a:tc>
                  <a:txBody>
                    <a:bodyPr/>
                    <a:p>
                      <a:r>
                        <a:rPr sz="2000"/>
                        <a:t>!=</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Not equal (loose)</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5 != '5' → false</a:t>
                      </a:r>
                      <a:endParaRPr sz="2000"/>
                    </a:p>
                  </a:txBody>
                  <a:tcPr marL="0" marR="0" marT="0" marB="0" anchor="ctr" anchorCtr="0">
                    <a:lnL>
                      <a:noFill/>
                    </a:lnL>
                    <a:lnR>
                      <a:noFill/>
                    </a:lnR>
                    <a:lnT>
                      <a:noFill/>
                    </a:lnT>
                    <a:lnB>
                      <a:noFill/>
                    </a:lnB>
                    <a:solidFill>
                      <a:schemeClr val="accent1">
                        <a:lumMod val="60000"/>
                        <a:lumOff val="40000"/>
                      </a:schemeClr>
                    </a:solidFill>
                  </a:tcPr>
                </a:tc>
              </a:tr>
              <a:tr h="304800">
                <a:tc>
                  <a:txBody>
                    <a:bodyPr/>
                    <a:p>
                      <a:r>
                        <a:rPr sz="2000"/>
                        <a:t>!==</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Strict not equal</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5 !== '5' → true</a:t>
                      </a:r>
                      <a:endParaRPr sz="2000"/>
                    </a:p>
                  </a:txBody>
                  <a:tcPr marL="0" marR="0" marT="0" marB="0" anchor="ctr" anchorCtr="0">
                    <a:lnL>
                      <a:noFill/>
                    </a:lnL>
                    <a:lnR>
                      <a:noFill/>
                    </a:lnR>
                    <a:lnT>
                      <a:noFill/>
                    </a:lnT>
                    <a:lnB>
                      <a:noFill/>
                    </a:lnB>
                    <a:solidFill>
                      <a:schemeClr val="accent1">
                        <a:lumMod val="60000"/>
                        <a:lumOff val="40000"/>
                      </a:schemeClr>
                    </a:solidFill>
                  </a:tcPr>
                </a:tc>
              </a:tr>
              <a:tr h="304800">
                <a:tc>
                  <a:txBody>
                    <a:bodyPr/>
                    <a:p>
                      <a:r>
                        <a:rPr sz="2000"/>
                        <a:t>&gt;</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Greater than</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5 &gt; 3 → true</a:t>
                      </a:r>
                      <a:endParaRPr sz="2000"/>
                    </a:p>
                  </a:txBody>
                  <a:tcPr marL="0" marR="0" marT="0" marB="0" anchor="ctr" anchorCtr="0">
                    <a:lnL>
                      <a:noFill/>
                    </a:lnL>
                    <a:lnR>
                      <a:noFill/>
                    </a:lnR>
                    <a:lnT>
                      <a:noFill/>
                    </a:lnT>
                    <a:lnB>
                      <a:noFill/>
                    </a:lnB>
                    <a:solidFill>
                      <a:schemeClr val="accent1">
                        <a:lumMod val="60000"/>
                        <a:lumOff val="40000"/>
                      </a:schemeClr>
                    </a:solidFill>
                  </a:tcPr>
                </a:tc>
              </a:tr>
              <a:tr h="304800">
                <a:tc>
                  <a:txBody>
                    <a:bodyPr/>
                    <a:p>
                      <a:r>
                        <a:rPr sz="2000"/>
                        <a:t>&lt;</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Less than</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5 &lt; 3 → false</a:t>
                      </a:r>
                      <a:endParaRPr sz="2000"/>
                    </a:p>
                  </a:txBody>
                  <a:tcPr marL="0" marR="0" marT="0" marB="0" anchor="ctr" anchorCtr="0">
                    <a:lnL>
                      <a:noFill/>
                    </a:lnL>
                    <a:lnR>
                      <a:noFill/>
                    </a:lnR>
                    <a:lnT>
                      <a:noFill/>
                    </a:lnT>
                    <a:lnB>
                      <a:noFill/>
                    </a:lnB>
                    <a:solidFill>
                      <a:schemeClr val="accent1">
                        <a:lumMod val="60000"/>
                        <a:lumOff val="40000"/>
                      </a:schemeClr>
                    </a:solidFill>
                  </a:tcPr>
                </a:tc>
              </a:tr>
              <a:tr h="304800">
                <a:tc>
                  <a:txBody>
                    <a:bodyPr/>
                    <a:p>
                      <a:r>
                        <a:rPr sz="2000"/>
                        <a:t>&gt;=</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Greater than or equal to</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5 &gt;= 5 → true</a:t>
                      </a:r>
                      <a:endParaRPr sz="2000"/>
                    </a:p>
                  </a:txBody>
                  <a:tcPr marL="0" marR="0" marT="0" marB="0" anchor="ctr" anchorCtr="0">
                    <a:lnL>
                      <a:noFill/>
                    </a:lnL>
                    <a:lnR>
                      <a:noFill/>
                    </a:lnR>
                    <a:lnT>
                      <a:noFill/>
                    </a:lnT>
                    <a:lnB>
                      <a:noFill/>
                    </a:lnB>
                    <a:solidFill>
                      <a:schemeClr val="accent1">
                        <a:lumMod val="60000"/>
                        <a:lumOff val="40000"/>
                      </a:schemeClr>
                    </a:solidFill>
                  </a:tcPr>
                </a:tc>
              </a:tr>
              <a:tr h="304800">
                <a:tc>
                  <a:txBody>
                    <a:bodyPr/>
                    <a:p>
                      <a:r>
                        <a:rPr sz="2000"/>
                        <a:t>&lt;=</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Less than or equal to</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5 &lt;= 4 → false</a:t>
                      </a:r>
                      <a:endParaRPr sz="2000"/>
                    </a:p>
                  </a:txBody>
                  <a:tcPr marL="0" marR="0" marT="0" marB="0" anchor="ctr" anchorCtr="0">
                    <a:lnL>
                      <a:noFill/>
                    </a:lnL>
                    <a:lnR>
                      <a:noFill/>
                    </a:lnR>
                    <a:lnT>
                      <a:noFill/>
                    </a:lnT>
                    <a:lnB>
                      <a:noFill/>
                    </a:lnB>
                    <a:solidFill>
                      <a:schemeClr val="accent1">
                        <a:lumMod val="60000"/>
                        <a:lumOff val="40000"/>
                      </a:schemeClr>
                    </a:solidFill>
                  </a:tcPr>
                </a:tc>
              </a:tr>
            </a:tbl>
          </a:graphicData>
        </a:graphic>
      </p:graphicFrame>
      <p:sp>
        <p:nvSpPr>
          <p:cNvPr id="5" name="Text Box 4"/>
          <p:cNvSpPr txBox="1"/>
          <p:nvPr/>
        </p:nvSpPr>
        <p:spPr>
          <a:xfrm>
            <a:off x="212725" y="545465"/>
            <a:ext cx="4064000" cy="398780"/>
          </a:xfrm>
          <a:prstGeom prst="rect">
            <a:avLst/>
          </a:prstGeom>
          <a:noFill/>
        </p:spPr>
        <p:txBody>
          <a:bodyPr wrap="square" rtlCol="0">
            <a:spAutoFit/>
          </a:bodyPr>
          <a:p>
            <a:r>
              <a:rPr lang="en-US" sz="2000" b="1">
                <a:solidFill>
                  <a:srgbClr val="FF0000"/>
                </a:solidFill>
              </a:rPr>
              <a:t>Relational Operators</a:t>
            </a:r>
            <a:endParaRPr lang="en-US" sz="2000" b="1">
              <a:solidFill>
                <a:srgbClr val="FF0000"/>
              </a:solidFill>
            </a:endParaRPr>
          </a:p>
        </p:txBody>
      </p:sp>
      <p:graphicFrame>
        <p:nvGraphicFramePr>
          <p:cNvPr id="6" name="Table 5"/>
          <p:cNvGraphicFramePr/>
          <p:nvPr>
            <p:custDataLst>
              <p:tags r:id="rId2"/>
            </p:custDataLst>
          </p:nvPr>
        </p:nvGraphicFramePr>
        <p:xfrm>
          <a:off x="212725" y="4533900"/>
          <a:ext cx="11298555" cy="2057400"/>
        </p:xfrm>
        <a:graphic>
          <a:graphicData uri="http://schemas.openxmlformats.org/drawingml/2006/table">
            <a:tbl>
              <a:tblPr/>
              <a:tblGrid>
                <a:gridCol w="3766185"/>
                <a:gridCol w="3766185"/>
                <a:gridCol w="3766185"/>
              </a:tblGrid>
              <a:tr h="514350">
                <a:tc>
                  <a:txBody>
                    <a:bodyPr/>
                    <a:p>
                      <a:r>
                        <a:rPr sz="1800"/>
                        <a:t>Operator</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Description</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Example</a:t>
                      </a:r>
                      <a:endParaRPr sz="1800"/>
                    </a:p>
                  </a:txBody>
                  <a:tcPr marL="0" marR="0" marT="0" marB="0" anchor="ctr" anchorCtr="0">
                    <a:lnL>
                      <a:noFill/>
                    </a:lnL>
                    <a:lnR>
                      <a:noFill/>
                    </a:lnR>
                    <a:lnT>
                      <a:noFill/>
                    </a:lnT>
                    <a:lnB>
                      <a:noFill/>
                    </a:lnB>
                    <a:solidFill>
                      <a:schemeClr val="accent1">
                        <a:lumMod val="60000"/>
                        <a:lumOff val="40000"/>
                      </a:schemeClr>
                    </a:solidFill>
                  </a:tcPr>
                </a:tc>
              </a:tr>
              <a:tr h="514350">
                <a:tc>
                  <a:txBody>
                    <a:bodyPr/>
                    <a:p>
                      <a:r>
                        <a:rPr sz="1800"/>
                        <a:t>&amp;&amp;</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Logical AND</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true &amp;&amp; false → false</a:t>
                      </a:r>
                      <a:endParaRPr sz="1800"/>
                    </a:p>
                  </a:txBody>
                  <a:tcPr marL="0" marR="0" marT="0" marB="0" anchor="ctr" anchorCtr="0">
                    <a:lnL>
                      <a:noFill/>
                    </a:lnL>
                    <a:lnR>
                      <a:noFill/>
                    </a:lnR>
                    <a:lnT>
                      <a:noFill/>
                    </a:lnT>
                    <a:lnB>
                      <a:noFill/>
                    </a:lnB>
                    <a:solidFill>
                      <a:schemeClr val="accent1">
                        <a:lumMod val="60000"/>
                        <a:lumOff val="40000"/>
                      </a:schemeClr>
                    </a:solidFill>
                  </a:tcPr>
                </a:tc>
              </a:tr>
              <a:tr h="514350">
                <a:tc>
                  <a:txBody>
                    <a:bodyPr/>
                    <a:p>
                      <a:r>
                        <a:rPr sz="1800"/>
                        <a:t>!</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Logical NOT</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!true → false</a:t>
                      </a:r>
                      <a:endParaRPr sz="1800"/>
                    </a:p>
                  </a:txBody>
                  <a:tcPr marL="0" marR="0" marT="0" marB="0" anchor="ctr" anchorCtr="0">
                    <a:lnL>
                      <a:noFill/>
                    </a:lnL>
                    <a:lnR>
                      <a:noFill/>
                    </a:lnR>
                    <a:lnT>
                      <a:noFill/>
                    </a:lnT>
                    <a:lnB>
                      <a:noFill/>
                    </a:lnB>
                    <a:solidFill>
                      <a:schemeClr val="accent1">
                        <a:lumMod val="60000"/>
                        <a:lumOff val="40000"/>
                      </a:schemeClr>
                    </a:solidFill>
                  </a:tcPr>
                </a:tc>
              </a:tr>
              <a:tr h="514350">
                <a:tc>
                  <a:txBody>
                    <a:bodyPr/>
                    <a:p>
                      <a:pPr>
                        <a:buNone/>
                      </a:pPr>
                      <a:r>
                        <a:rPr lang="en-US" sz="1800"/>
                        <a:t>||</a:t>
                      </a:r>
                      <a:endParaRPr lang="en-US" sz="1800"/>
                    </a:p>
                  </a:txBody>
                  <a:tcPr marL="0" marR="0" marT="0" marB="0" anchor="ctr" anchorCtr="0">
                    <a:lnL>
                      <a:noFill/>
                    </a:lnL>
                    <a:lnR>
                      <a:noFill/>
                    </a:lnR>
                    <a:lnT>
                      <a:noFill/>
                    </a:lnT>
                    <a:lnB>
                      <a:noFill/>
                    </a:lnB>
                    <a:solidFill>
                      <a:schemeClr val="accent1">
                        <a:lumMod val="60000"/>
                        <a:lumOff val="40000"/>
                      </a:schemeClr>
                    </a:solidFill>
                  </a:tcPr>
                </a:tc>
                <a:tc>
                  <a:txBody>
                    <a:bodyPr/>
                    <a:p>
                      <a:pPr>
                        <a:buNone/>
                      </a:pPr>
                      <a:r>
                        <a:rPr lang="en-US" sz="1800"/>
                        <a:t>Logical OR</a:t>
                      </a:r>
                      <a:endParaRPr lang="en-US" sz="1800"/>
                    </a:p>
                  </a:txBody>
                  <a:tcPr marL="0" marR="0" marT="0" marB="0" anchor="ctr" anchorCtr="0">
                    <a:lnL>
                      <a:noFill/>
                    </a:lnL>
                    <a:lnR>
                      <a:noFill/>
                    </a:lnR>
                    <a:lnT>
                      <a:noFill/>
                    </a:lnT>
                    <a:lnB>
                      <a:noFill/>
                    </a:lnB>
                    <a:solidFill>
                      <a:schemeClr val="accent1">
                        <a:lumMod val="60000"/>
                        <a:lumOff val="40000"/>
                      </a:schemeClr>
                    </a:solidFill>
                  </a:tcPr>
                </a:tc>
                <a:tc>
                  <a:txBody>
                    <a:bodyPr/>
                    <a:p>
                      <a:pPr>
                        <a:buNone/>
                      </a:pPr>
                      <a:r>
                        <a:rPr lang="en-US" sz="1800"/>
                        <a:t>true || true -&gt;true</a:t>
                      </a:r>
                      <a:endParaRPr lang="en-US" sz="1800"/>
                    </a:p>
                  </a:txBody>
                  <a:tcPr marL="0" marR="0" marT="0" marB="0" anchor="ctr" anchorCtr="0">
                    <a:lnL>
                      <a:noFill/>
                    </a:lnL>
                    <a:lnR>
                      <a:noFill/>
                    </a:lnR>
                    <a:lnT>
                      <a:noFill/>
                    </a:lnT>
                    <a:lnB>
                      <a:noFill/>
                    </a:lnB>
                    <a:solidFill>
                      <a:schemeClr val="accent1">
                        <a:lumMod val="60000"/>
                        <a:lumOff val="40000"/>
                      </a:schemeClr>
                    </a:solidFill>
                  </a:tcPr>
                </a:tc>
              </a:tr>
            </a:tbl>
          </a:graphicData>
        </a:graphic>
      </p:graphicFrame>
      <p:sp>
        <p:nvSpPr>
          <p:cNvPr id="7" name="Text Box 6"/>
          <p:cNvSpPr txBox="1"/>
          <p:nvPr/>
        </p:nvSpPr>
        <p:spPr>
          <a:xfrm>
            <a:off x="212725" y="4134485"/>
            <a:ext cx="4064000" cy="398780"/>
          </a:xfrm>
          <a:prstGeom prst="rect">
            <a:avLst/>
          </a:prstGeom>
          <a:noFill/>
        </p:spPr>
        <p:txBody>
          <a:bodyPr wrap="square" rtlCol="0">
            <a:spAutoFit/>
          </a:bodyPr>
          <a:p>
            <a:r>
              <a:rPr lang="en-US" sz="2000" b="1">
                <a:solidFill>
                  <a:srgbClr val="FF0000"/>
                </a:solidFill>
              </a:rPr>
              <a:t>Logical Opeators</a:t>
            </a:r>
            <a:endParaRPr lang="en-US" sz="2000" b="1">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Table 3"/>
          <p:cNvGraphicFramePr/>
          <p:nvPr>
            <p:custDataLst>
              <p:tags r:id="rId1"/>
            </p:custDataLst>
          </p:nvPr>
        </p:nvGraphicFramePr>
        <p:xfrm>
          <a:off x="227330" y="609600"/>
          <a:ext cx="11553825" cy="1198245"/>
        </p:xfrm>
        <a:graphic>
          <a:graphicData uri="http://schemas.openxmlformats.org/drawingml/2006/table">
            <a:tbl>
              <a:tblPr/>
              <a:tblGrid>
                <a:gridCol w="3851275"/>
                <a:gridCol w="3851275"/>
                <a:gridCol w="3851275"/>
              </a:tblGrid>
              <a:tr h="399415">
                <a:tc>
                  <a:txBody>
                    <a:bodyPr/>
                    <a:p>
                      <a:r>
                        <a:rPr sz="1800"/>
                        <a:t>Operator</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Description</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Example</a:t>
                      </a:r>
                      <a:endParaRPr sz="1800"/>
                    </a:p>
                  </a:txBody>
                  <a:tcPr marL="0" marR="0" marT="0" marB="0" anchor="ctr" anchorCtr="0">
                    <a:lnL>
                      <a:noFill/>
                    </a:lnL>
                    <a:lnR>
                      <a:noFill/>
                    </a:lnR>
                    <a:lnT>
                      <a:noFill/>
                    </a:lnT>
                    <a:lnB>
                      <a:noFill/>
                    </a:lnB>
                    <a:solidFill>
                      <a:schemeClr val="accent1">
                        <a:lumMod val="60000"/>
                        <a:lumOff val="40000"/>
                      </a:schemeClr>
                    </a:solidFill>
                  </a:tcPr>
                </a:tc>
              </a:tr>
              <a:tr h="399415">
                <a:tc>
                  <a:txBody>
                    <a:bodyPr/>
                    <a:p>
                      <a:r>
                        <a:rPr sz="1800"/>
                        <a:t>+</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Concatenation</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"Hello" + " World" → "Hello World"</a:t>
                      </a:r>
                      <a:endParaRPr sz="1800"/>
                    </a:p>
                  </a:txBody>
                  <a:tcPr marL="0" marR="0" marT="0" marB="0" anchor="ctr" anchorCtr="0">
                    <a:lnL>
                      <a:noFill/>
                    </a:lnL>
                    <a:lnR>
                      <a:noFill/>
                    </a:lnR>
                    <a:lnT>
                      <a:noFill/>
                    </a:lnT>
                    <a:lnB>
                      <a:noFill/>
                    </a:lnB>
                    <a:solidFill>
                      <a:schemeClr val="accent1">
                        <a:lumMod val="60000"/>
                        <a:lumOff val="40000"/>
                      </a:schemeClr>
                    </a:solidFill>
                  </a:tcPr>
                </a:tc>
              </a:tr>
              <a:tr h="399415">
                <a:tc>
                  <a:txBody>
                    <a:bodyPr/>
                    <a:p>
                      <a:r>
                        <a:rPr sz="1800"/>
                        <a:t>+=</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Concatenation assignment</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str += "!"</a:t>
                      </a:r>
                      <a:endParaRPr sz="1800"/>
                    </a:p>
                  </a:txBody>
                  <a:tcPr marL="0" marR="0" marT="0" marB="0" anchor="ctr" anchorCtr="0">
                    <a:lnL>
                      <a:noFill/>
                    </a:lnL>
                    <a:lnR>
                      <a:noFill/>
                    </a:lnR>
                    <a:lnT>
                      <a:noFill/>
                    </a:lnT>
                    <a:lnB>
                      <a:noFill/>
                    </a:lnB>
                    <a:solidFill>
                      <a:schemeClr val="accent1">
                        <a:lumMod val="60000"/>
                        <a:lumOff val="40000"/>
                      </a:schemeClr>
                    </a:solidFill>
                  </a:tcPr>
                </a:tc>
              </a:tr>
            </a:tbl>
          </a:graphicData>
        </a:graphic>
      </p:graphicFrame>
      <p:sp>
        <p:nvSpPr>
          <p:cNvPr id="5" name="Text Box 4"/>
          <p:cNvSpPr txBox="1"/>
          <p:nvPr/>
        </p:nvSpPr>
        <p:spPr>
          <a:xfrm>
            <a:off x="339090" y="0"/>
            <a:ext cx="4064000" cy="373380"/>
          </a:xfrm>
          <a:prstGeom prst="rect">
            <a:avLst/>
          </a:prstGeom>
          <a:noFill/>
        </p:spPr>
        <p:txBody>
          <a:bodyPr wrap="square" rtlCol="0">
            <a:noAutofit/>
          </a:bodyPr>
          <a:p>
            <a:r>
              <a:rPr lang="en-US" sz="2400" b="1">
                <a:solidFill>
                  <a:srgbClr val="FF0000"/>
                </a:solidFill>
              </a:rPr>
              <a:t>Concatination operators</a:t>
            </a:r>
            <a:endParaRPr lang="en-US" sz="2400" b="1">
              <a:solidFill>
                <a:srgbClr val="FF0000"/>
              </a:solidFill>
            </a:endParaRPr>
          </a:p>
        </p:txBody>
      </p:sp>
      <p:graphicFrame>
        <p:nvGraphicFramePr>
          <p:cNvPr id="6" name="Table 5"/>
          <p:cNvGraphicFramePr/>
          <p:nvPr>
            <p:custDataLst>
              <p:tags r:id="rId2"/>
            </p:custDataLst>
          </p:nvPr>
        </p:nvGraphicFramePr>
        <p:xfrm>
          <a:off x="222885" y="2564130"/>
          <a:ext cx="11969115" cy="1051560"/>
        </p:xfrm>
        <a:graphic>
          <a:graphicData uri="http://schemas.openxmlformats.org/drawingml/2006/table">
            <a:tbl>
              <a:tblPr/>
              <a:tblGrid>
                <a:gridCol w="3989705"/>
                <a:gridCol w="3989705"/>
                <a:gridCol w="3989705"/>
              </a:tblGrid>
              <a:tr h="350520">
                <a:tc>
                  <a:txBody>
                    <a:bodyPr/>
                    <a:p>
                      <a:r>
                        <a:rPr sz="2000"/>
                        <a:t>Operator</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Description</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Example</a:t>
                      </a:r>
                      <a:endParaRPr sz="2000"/>
                    </a:p>
                  </a:txBody>
                  <a:tcPr marL="0" marR="0" marT="0" marB="0" anchor="ctr" anchorCtr="0">
                    <a:lnL>
                      <a:noFill/>
                    </a:lnL>
                    <a:lnR>
                      <a:noFill/>
                    </a:lnR>
                    <a:lnT>
                      <a:noFill/>
                    </a:lnT>
                    <a:lnB>
                      <a:noFill/>
                    </a:lnB>
                    <a:solidFill>
                      <a:schemeClr val="accent1">
                        <a:lumMod val="60000"/>
                        <a:lumOff val="40000"/>
                      </a:schemeClr>
                    </a:solidFill>
                  </a:tcPr>
                </a:tc>
              </a:tr>
              <a:tr h="350520">
                <a:tc>
                  <a:txBody>
                    <a:bodyPr/>
                    <a:p>
                      <a:r>
                        <a:rPr sz="2000"/>
                        <a:t>typeof</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Returns type of variable</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typeof 42 → 'number'</a:t>
                      </a:r>
                      <a:endParaRPr sz="2000"/>
                    </a:p>
                  </a:txBody>
                  <a:tcPr marL="0" marR="0" marT="0" marB="0" anchor="ctr" anchorCtr="0">
                    <a:lnL>
                      <a:noFill/>
                    </a:lnL>
                    <a:lnR>
                      <a:noFill/>
                    </a:lnR>
                    <a:lnT>
                      <a:noFill/>
                    </a:lnT>
                    <a:lnB>
                      <a:noFill/>
                    </a:lnB>
                    <a:solidFill>
                      <a:schemeClr val="accent1">
                        <a:lumMod val="60000"/>
                        <a:lumOff val="40000"/>
                      </a:schemeClr>
                    </a:solidFill>
                  </a:tcPr>
                </a:tc>
              </a:tr>
              <a:tr h="350520">
                <a:tc>
                  <a:txBody>
                    <a:bodyPr/>
                    <a:p>
                      <a:r>
                        <a:rPr sz="2000"/>
                        <a:t>instanceof</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Checks object type</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obj instanceof MyClass</a:t>
                      </a:r>
                      <a:endParaRPr sz="2000"/>
                    </a:p>
                  </a:txBody>
                  <a:tcPr marL="0" marR="0" marT="0" marB="0" anchor="ctr" anchorCtr="0">
                    <a:lnL>
                      <a:noFill/>
                    </a:lnL>
                    <a:lnR>
                      <a:noFill/>
                    </a:lnR>
                    <a:lnT>
                      <a:noFill/>
                    </a:lnT>
                    <a:lnB>
                      <a:noFill/>
                    </a:lnB>
                    <a:solidFill>
                      <a:schemeClr val="accent1">
                        <a:lumMod val="60000"/>
                        <a:lumOff val="40000"/>
                      </a:schemeClr>
                    </a:solidFill>
                  </a:tcPr>
                </a:tc>
              </a:tr>
            </a:tbl>
          </a:graphicData>
        </a:graphic>
      </p:graphicFrame>
      <p:sp>
        <p:nvSpPr>
          <p:cNvPr id="7" name="Text Box 6"/>
          <p:cNvSpPr txBox="1"/>
          <p:nvPr/>
        </p:nvSpPr>
        <p:spPr>
          <a:xfrm>
            <a:off x="227330" y="1979295"/>
            <a:ext cx="3936365" cy="335280"/>
          </a:xfrm>
          <a:prstGeom prst="rect">
            <a:avLst/>
          </a:prstGeom>
          <a:noFill/>
        </p:spPr>
        <p:txBody>
          <a:bodyPr wrap="square" rtlCol="0">
            <a:noAutofit/>
          </a:bodyPr>
          <a:p>
            <a:r>
              <a:rPr lang="en-US" sz="2400" b="1">
                <a:solidFill>
                  <a:srgbClr val="FF0000"/>
                </a:solidFill>
              </a:rPr>
              <a:t>Type Operators</a:t>
            </a:r>
            <a:endParaRPr lang="en-US" sz="2400" b="1">
              <a:solidFill>
                <a:srgbClr val="FF0000"/>
              </a:solidFill>
            </a:endParaRPr>
          </a:p>
        </p:txBody>
      </p:sp>
      <p:sp>
        <p:nvSpPr>
          <p:cNvPr id="8" name="Text Box 7"/>
          <p:cNvSpPr txBox="1"/>
          <p:nvPr/>
        </p:nvSpPr>
        <p:spPr>
          <a:xfrm>
            <a:off x="222885" y="4531995"/>
            <a:ext cx="6096000" cy="358775"/>
          </a:xfrm>
          <a:prstGeom prst="rect">
            <a:avLst/>
          </a:prstGeom>
          <a:noFill/>
        </p:spPr>
        <p:txBody>
          <a:bodyPr wrap="square" rtlCol="0" anchor="t">
            <a:noAutofit/>
          </a:bodyPr>
          <a:p>
            <a:r>
              <a:rPr lang="en-US" altLang="en-US" sz="2400"/>
              <a:t>condition ? valueIfTrue : valueIfFalse</a:t>
            </a:r>
            <a:endParaRPr lang="en-US" altLang="en-US" sz="2400"/>
          </a:p>
          <a:p>
            <a:endParaRPr lang="en-US" altLang="en-US" sz="2400"/>
          </a:p>
        </p:txBody>
      </p:sp>
      <p:sp>
        <p:nvSpPr>
          <p:cNvPr id="9" name="Text Box 8"/>
          <p:cNvSpPr txBox="1"/>
          <p:nvPr/>
        </p:nvSpPr>
        <p:spPr>
          <a:xfrm>
            <a:off x="222885" y="3865245"/>
            <a:ext cx="4064000" cy="460375"/>
          </a:xfrm>
          <a:prstGeom prst="rect">
            <a:avLst/>
          </a:prstGeom>
          <a:noFill/>
        </p:spPr>
        <p:txBody>
          <a:bodyPr wrap="square" rtlCol="0">
            <a:spAutoFit/>
          </a:bodyPr>
          <a:p>
            <a:r>
              <a:rPr lang="en-US" sz="2400" b="1">
                <a:solidFill>
                  <a:srgbClr val="FF0000"/>
                </a:solidFill>
              </a:rPr>
              <a:t>Turnary Operator</a:t>
            </a:r>
            <a:endParaRPr lang="en-US" sz="2400" b="1">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5790" y="0"/>
            <a:ext cx="10515600" cy="267335"/>
          </a:xfrm>
        </p:spPr>
        <p:txBody>
          <a:bodyPr>
            <a:noAutofit/>
          </a:bodyPr>
          <a:p>
            <a:pPr algn="ctr"/>
            <a:r>
              <a:rPr lang="en-US" sz="3200" b="1">
                <a:solidFill>
                  <a:srgbClr val="FF0000"/>
                </a:solidFill>
              </a:rPr>
              <a:t>Js Arrays</a:t>
            </a:r>
            <a:endParaRPr lang="en-US" sz="3200" b="1">
              <a:solidFill>
                <a:srgbClr val="FF0000"/>
              </a:solidFill>
            </a:endParaRPr>
          </a:p>
        </p:txBody>
      </p:sp>
      <p:sp>
        <p:nvSpPr>
          <p:cNvPr id="3" name="Content Placeholder 2"/>
          <p:cNvSpPr>
            <a:spLocks noGrp="1"/>
          </p:cNvSpPr>
          <p:nvPr>
            <p:ph idx="1"/>
          </p:nvPr>
        </p:nvSpPr>
        <p:spPr>
          <a:xfrm>
            <a:off x="0" y="266700"/>
            <a:ext cx="12192000" cy="6590665"/>
          </a:xfrm>
        </p:spPr>
        <p:txBody>
          <a:bodyPr>
            <a:normAutofit/>
          </a:bodyPr>
          <a:p>
            <a:pPr marL="0" indent="0">
              <a:buNone/>
            </a:pPr>
            <a:r>
              <a:rPr lang="en-US" altLang="en-US" sz="1800" b="1"/>
              <a:t>Definition of Array:</a:t>
            </a:r>
            <a:endParaRPr lang="en-US" altLang="en-US" sz="1800" b="1"/>
          </a:p>
          <a:p>
            <a:pPr marL="0" indent="0">
              <a:buNone/>
            </a:pPr>
            <a:r>
              <a:rPr lang="en-US" altLang="en-US" sz="1800"/>
              <a:t>An array is a data structure used to store multiple values in a single variable, instead of declaring separate variables for each value.</a:t>
            </a:r>
            <a:endParaRPr lang="en-US" altLang="en-US" sz="1800"/>
          </a:p>
          <a:p>
            <a:pPr marL="0" indent="0">
              <a:buNone/>
            </a:pPr>
            <a:r>
              <a:rPr lang="en-US" altLang="en-US" sz="1800"/>
              <a:t>Arrays can hold values of any type: numbers, strings, objects, even other arrays.</a:t>
            </a:r>
            <a:endParaRPr lang="en-US" altLang="en-US" sz="1800"/>
          </a:p>
          <a:p>
            <a:pPr marL="0" indent="0">
              <a:buNone/>
            </a:pPr>
            <a:r>
              <a:rPr lang="en-US" altLang="en-US" sz="1800"/>
              <a:t>Values in an array are ordered and can be accessed using an index, starting from 0.</a:t>
            </a:r>
            <a:endParaRPr lang="en-US" altLang="en-US" sz="1800"/>
          </a:p>
          <a:p>
            <a:pPr marL="0" indent="0">
              <a:buNone/>
            </a:pPr>
            <a:r>
              <a:rPr lang="en-US" altLang="en-US" sz="1800"/>
              <a:t>let colors = ["red", "green", "blue"];</a:t>
            </a:r>
            <a:endParaRPr lang="en-US" altLang="en-US" sz="1800"/>
          </a:p>
          <a:p>
            <a:pPr marL="0" indent="0">
              <a:buNone/>
            </a:pPr>
            <a:r>
              <a:rPr lang="en-US" altLang="en-US" sz="1800"/>
              <a:t>console.log(colors[0]); // "red"</a:t>
            </a:r>
            <a:endParaRPr lang="en-US" altLang="en-US" sz="1800"/>
          </a:p>
          <a:p>
            <a:pPr marL="0" indent="0">
              <a:buNone/>
            </a:pPr>
            <a:r>
              <a:rPr lang="en-US" altLang="en-US" sz="1800"/>
              <a:t>Types of Arrays (in JavaScript)</a:t>
            </a:r>
            <a:endParaRPr lang="en-US" altLang="en-US" sz="1800"/>
          </a:p>
          <a:p>
            <a:pPr marL="0" indent="0">
              <a:buNone/>
            </a:pPr>
            <a:r>
              <a:rPr lang="en-US" altLang="en-US" sz="1800"/>
              <a:t>JavaScript technically has one array type (Array), but based on usage and structure, we can classify arrays into types:</a:t>
            </a:r>
            <a:endParaRPr lang="en-US" altLang="en-US" sz="1800"/>
          </a:p>
          <a:p>
            <a:pPr marL="0" indent="0">
              <a:buNone/>
            </a:pPr>
            <a:r>
              <a:rPr lang="en-US" altLang="en-US" sz="1800" b="1"/>
              <a:t>1. Single-Dimensional Array</a:t>
            </a:r>
            <a:endParaRPr lang="en-US" altLang="en-US" sz="1800" b="1"/>
          </a:p>
          <a:p>
            <a:pPr marL="0" indent="0">
              <a:buNone/>
            </a:pPr>
            <a:r>
              <a:rPr lang="en-US" altLang="en-US" sz="1800"/>
              <a:t>A simple, flat list of elements.</a:t>
            </a:r>
            <a:endParaRPr lang="en-US" altLang="en-US" sz="1800"/>
          </a:p>
          <a:p>
            <a:pPr marL="0" indent="0">
              <a:buNone/>
            </a:pPr>
            <a:r>
              <a:rPr lang="en-US" altLang="en-US" sz="1800"/>
              <a:t>let fruits = ["apple", "banana", "cherry"];</a:t>
            </a:r>
            <a:endParaRPr lang="en-US" altLang="en-US" sz="1800"/>
          </a:p>
          <a:p>
            <a:pPr marL="0" indent="0">
              <a:buNone/>
            </a:pPr>
            <a:endParaRPr lang="en-US" altLang="en-US" sz="1800"/>
          </a:p>
        </p:txBody>
      </p:sp>
      <p:sp>
        <p:nvSpPr>
          <p:cNvPr id="4" name="Text Box 3"/>
          <p:cNvSpPr txBox="1"/>
          <p:nvPr/>
        </p:nvSpPr>
        <p:spPr>
          <a:xfrm>
            <a:off x="0" y="4349115"/>
            <a:ext cx="12045950" cy="2507615"/>
          </a:xfrm>
          <a:prstGeom prst="rect">
            <a:avLst/>
          </a:prstGeom>
          <a:noFill/>
        </p:spPr>
        <p:txBody>
          <a:bodyPr wrap="square" rtlCol="0" anchor="t">
            <a:noAutofit/>
          </a:bodyPr>
          <a:p>
            <a:pPr marL="0" indent="0">
              <a:buNone/>
            </a:pPr>
            <a:r>
              <a:rPr lang="en-US" altLang="en-US" b="1">
                <a:sym typeface="+mn-ea"/>
              </a:rPr>
              <a:t>2. Multi-Dimensional Array</a:t>
            </a:r>
            <a:endParaRPr lang="en-US" altLang="en-US" b="1"/>
          </a:p>
          <a:p>
            <a:pPr marL="0" indent="0">
              <a:buNone/>
            </a:pPr>
            <a:r>
              <a:rPr lang="en-US" altLang="en-US">
                <a:sym typeface="+mn-ea"/>
              </a:rPr>
              <a:t>An array containing other arrays (arrays of arrays).</a:t>
            </a:r>
            <a:endParaRPr lang="en-US" altLang="en-US"/>
          </a:p>
          <a:p>
            <a:pPr marL="0" indent="0">
              <a:buNone/>
            </a:pPr>
            <a:r>
              <a:rPr lang="en-US" altLang="en-US">
                <a:sym typeface="+mn-ea"/>
              </a:rPr>
              <a:t>Often used for matrices or tables.</a:t>
            </a:r>
            <a:endParaRPr lang="en-US" altLang="en-US"/>
          </a:p>
          <a:p>
            <a:pPr marL="0" indent="0">
              <a:buNone/>
            </a:pPr>
            <a:r>
              <a:rPr lang="en-US" altLang="en-US">
                <a:sym typeface="+mn-ea"/>
              </a:rPr>
              <a:t>let matrix = [</a:t>
            </a:r>
            <a:endParaRPr lang="en-US" altLang="en-US"/>
          </a:p>
          <a:p>
            <a:pPr marL="0" indent="0">
              <a:buNone/>
            </a:pPr>
            <a:r>
              <a:rPr lang="en-US" altLang="en-US">
                <a:sym typeface="+mn-ea"/>
              </a:rPr>
              <a:t>  [1, 2],</a:t>
            </a:r>
            <a:endParaRPr lang="en-US" altLang="en-US"/>
          </a:p>
          <a:p>
            <a:pPr marL="0" indent="0">
              <a:buNone/>
            </a:pPr>
            <a:r>
              <a:rPr lang="en-US" altLang="en-US">
                <a:sym typeface="+mn-ea"/>
              </a:rPr>
              <a:t>  [3, 4],</a:t>
            </a:r>
            <a:endParaRPr lang="en-US" altLang="en-US"/>
          </a:p>
          <a:p>
            <a:pPr marL="0" indent="0">
              <a:buNone/>
            </a:pPr>
            <a:r>
              <a:rPr lang="en-US" altLang="en-US">
                <a:sym typeface="+mn-ea"/>
              </a:rPr>
              <a:t>  [5, 6]</a:t>
            </a:r>
            <a:endParaRPr lang="en-US" altLang="en-US"/>
          </a:p>
          <a:p>
            <a:pPr marL="0" indent="0">
              <a:buNone/>
            </a:pPr>
            <a:r>
              <a:rPr lang="en-US" altLang="en-US">
                <a:sym typeface="+mn-ea"/>
              </a:rPr>
              <a:t>];</a:t>
            </a:r>
            <a:endParaRPr lang="en-US" altLang="en-US">
              <a:sym typeface="+mn-ea"/>
            </a:endParaRPr>
          </a:p>
          <a:p>
            <a:pPr marL="0" indent="0">
              <a:buNone/>
            </a:pPr>
            <a:r>
              <a:rPr lang="en-US" altLang="en-US">
                <a:sym typeface="+mn-ea"/>
              </a:rPr>
              <a:t>console.log(matrix[1][0]); // 3</a:t>
            </a:r>
            <a:endParaRPr lang="en-US" altLang="en-US"/>
          </a:p>
          <a:p>
            <a:pPr marL="0" indent="0">
              <a:buNone/>
            </a:pPr>
            <a:endParaRPr lang="en-US" altLang="en-US">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0" y="0"/>
            <a:ext cx="4984750" cy="1955800"/>
          </a:xfrm>
          <a:prstGeom prst="rect">
            <a:avLst/>
          </a:prstGeom>
        </p:spPr>
        <p:txBody>
          <a:bodyPr wrap="square">
            <a:spAutoFit/>
          </a:bodyPr>
          <a:p>
            <a:pPr>
              <a:spcAft>
                <a:spcPct val="60000"/>
              </a:spcAft>
            </a:pPr>
            <a:r>
              <a:rPr b="1"/>
              <a:t>3</a:t>
            </a:r>
            <a:r>
              <a:rPr lang="en-US" b="1"/>
              <a:t>.</a:t>
            </a:r>
            <a:r>
              <a:rPr b="1"/>
              <a:t>Multi-Dimensional Array</a:t>
            </a:r>
            <a:endParaRPr b="1"/>
          </a:p>
          <a:p>
            <a:r>
              <a:t>Array with more than two levels.</a:t>
            </a:r>
          </a:p>
          <a:p>
            <a:r>
              <a:t>let data = [
  [[1, 2], [3, 4]],
  [[5, 6], [7, 8]]
];</a:t>
            </a:r>
          </a:p>
        </p:txBody>
      </p:sp>
      <p:sp>
        <p:nvSpPr>
          <p:cNvPr id="5" name="Text Box 4"/>
          <p:cNvSpPr txBox="1"/>
          <p:nvPr/>
        </p:nvSpPr>
        <p:spPr>
          <a:xfrm>
            <a:off x="0" y="2098675"/>
            <a:ext cx="4984115" cy="1124585"/>
          </a:xfrm>
          <a:prstGeom prst="rect">
            <a:avLst/>
          </a:prstGeom>
        </p:spPr>
        <p:txBody>
          <a:bodyPr wrap="square">
            <a:spAutoFit/>
          </a:bodyPr>
          <a:p>
            <a:pPr>
              <a:spcAft>
                <a:spcPct val="60000"/>
              </a:spcAft>
            </a:pPr>
            <a:r>
              <a:rPr b="1"/>
              <a:t>4</a:t>
            </a:r>
            <a:r>
              <a:rPr lang="en-US" b="1"/>
              <a:t>.</a:t>
            </a:r>
            <a:r>
              <a:rPr b="1"/>
              <a:t> Homogeneous Array</a:t>
            </a:r>
            <a:endParaRPr b="1"/>
          </a:p>
          <a:p>
            <a:r>
              <a:t>All elements are of the same data type.</a:t>
            </a:r>
          </a:p>
          <a:p>
            <a:r>
              <a:t>let marks = [80, 90, 75];</a:t>
            </a:r>
          </a:p>
        </p:txBody>
      </p:sp>
      <p:sp>
        <p:nvSpPr>
          <p:cNvPr id="6" name="Text Box 5"/>
          <p:cNvSpPr txBox="1"/>
          <p:nvPr/>
        </p:nvSpPr>
        <p:spPr>
          <a:xfrm>
            <a:off x="0" y="3223260"/>
            <a:ext cx="5080000" cy="1955800"/>
          </a:xfrm>
          <a:prstGeom prst="rect">
            <a:avLst/>
          </a:prstGeom>
        </p:spPr>
        <p:txBody>
          <a:bodyPr>
            <a:spAutoFit/>
          </a:bodyPr>
          <a:p>
            <a:pPr>
              <a:spcAft>
                <a:spcPct val="60000"/>
              </a:spcAft>
            </a:pPr>
            <a:r>
              <a:rPr lang="en-US" b="1"/>
              <a:t>5.</a:t>
            </a:r>
            <a:r>
              <a:rPr b="1"/>
              <a:t> Array of Objects</a:t>
            </a:r>
            <a:endParaRPr b="1"/>
          </a:p>
          <a:p>
            <a:r>
              <a:t>Each element is an object.</a:t>
            </a:r>
          </a:p>
          <a:p>
            <a:r>
              <a:t>let students = [
  { name: "A", age: 20 },
  { name: "B", age: 21 }
];</a:t>
            </a:r>
          </a:p>
        </p:txBody>
      </p:sp>
      <p:sp>
        <p:nvSpPr>
          <p:cNvPr id="7" name="Text Box 6"/>
          <p:cNvSpPr txBox="1"/>
          <p:nvPr/>
        </p:nvSpPr>
        <p:spPr>
          <a:xfrm>
            <a:off x="111125" y="5271135"/>
            <a:ext cx="5080000" cy="1608455"/>
          </a:xfrm>
          <a:prstGeom prst="rect">
            <a:avLst/>
          </a:prstGeom>
        </p:spPr>
        <p:txBody>
          <a:bodyPr>
            <a:noAutofit/>
          </a:bodyPr>
          <a:p>
            <a:pPr>
              <a:spcAft>
                <a:spcPct val="60000"/>
              </a:spcAft>
            </a:pPr>
            <a:r>
              <a:rPr lang="en-US" b="1"/>
              <a:t>6.</a:t>
            </a:r>
            <a:r>
              <a:rPr b="1"/>
              <a:t> Typed Arrays (Advanced)</a:t>
            </a:r>
            <a:endParaRPr b="1"/>
          </a:p>
          <a:p>
            <a:r>
              <a:t>Arrays with fixed data types (used in performance tasks).</a:t>
            </a:r>
          </a:p>
          <a:p>
            <a:r>
              <a:t>let typed = newInt32Array([10, 20, 30]);</a:t>
            </a:r>
          </a:p>
        </p:txBody>
      </p:sp>
      <p:sp>
        <p:nvSpPr>
          <p:cNvPr id="8" name="Text Box 7"/>
          <p:cNvSpPr txBox="1"/>
          <p:nvPr/>
        </p:nvSpPr>
        <p:spPr>
          <a:xfrm>
            <a:off x="6746875" y="0"/>
            <a:ext cx="5445125" cy="1675765"/>
          </a:xfrm>
          <a:prstGeom prst="rect">
            <a:avLst/>
          </a:prstGeom>
          <a:noFill/>
        </p:spPr>
        <p:txBody>
          <a:bodyPr wrap="square" rtlCol="0" anchor="t">
            <a:noAutofit/>
          </a:bodyPr>
          <a:p>
            <a:pPr marL="0" indent="0">
              <a:buNone/>
            </a:pPr>
            <a:r>
              <a:rPr lang="en-US" altLang="en-US" b="1">
                <a:sym typeface="+mn-ea"/>
              </a:rPr>
              <a:t>7. Mixed-Type Array</a:t>
            </a:r>
            <a:endParaRPr lang="en-US" altLang="en-US" sz="1800" b="1"/>
          </a:p>
          <a:p>
            <a:pPr marL="0" indent="0">
              <a:buNone/>
            </a:pPr>
            <a:r>
              <a:rPr lang="en-US" altLang="en-US">
                <a:sym typeface="+mn-ea"/>
              </a:rPr>
              <a:t>JavaScript allows arrays to contain values of different types.</a:t>
            </a:r>
            <a:endParaRPr lang="en-US" altLang="en-US" sz="1800"/>
          </a:p>
          <a:p>
            <a:pPr marL="0" indent="0">
              <a:buNone/>
            </a:pPr>
            <a:r>
              <a:rPr lang="en-US" altLang="en-US">
                <a:sym typeface="+mn-ea"/>
              </a:rPr>
              <a:t>let mixed = [1, "hello", true, null];</a:t>
            </a:r>
            <a:endParaRPr lang="en-US" altLang="en-US">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315335" y="0"/>
            <a:ext cx="6096000" cy="398780"/>
          </a:xfrm>
          <a:prstGeom prst="rect">
            <a:avLst/>
          </a:prstGeom>
          <a:noFill/>
        </p:spPr>
        <p:txBody>
          <a:bodyPr wrap="square" rtlCol="0" anchor="t">
            <a:spAutoFit/>
          </a:bodyPr>
          <a:p>
            <a:r>
              <a:rPr lang="en-US" sz="2000" b="1">
                <a:solidFill>
                  <a:srgbClr val="FF0000"/>
                </a:solidFill>
                <a:sym typeface="+mn-ea"/>
              </a:rPr>
              <a:t>Js Array Predefined Methods Imp</a:t>
            </a:r>
            <a:endParaRPr lang="en-US" sz="2000" b="1">
              <a:solidFill>
                <a:srgbClr val="FF0000"/>
              </a:solidFill>
              <a:sym typeface="+mn-ea"/>
            </a:endParaRPr>
          </a:p>
        </p:txBody>
      </p:sp>
      <p:graphicFrame>
        <p:nvGraphicFramePr>
          <p:cNvPr id="5" name="Table 4"/>
          <p:cNvGraphicFramePr/>
          <p:nvPr>
            <p:custDataLst>
              <p:tags r:id="rId1"/>
            </p:custDataLst>
          </p:nvPr>
        </p:nvGraphicFramePr>
        <p:xfrm>
          <a:off x="142875" y="398780"/>
          <a:ext cx="12192000" cy="2499360"/>
        </p:xfrm>
        <a:graphic>
          <a:graphicData uri="http://schemas.openxmlformats.org/drawingml/2006/table">
            <a:tbl>
              <a:tblPr/>
              <a:tblGrid>
                <a:gridCol w="3365500"/>
                <a:gridCol w="4762500"/>
                <a:gridCol w="4064000"/>
              </a:tblGrid>
              <a:tr h="304800">
                <a:tc>
                  <a:txBody>
                    <a:bodyPr/>
                    <a:p>
                      <a:pPr algn="ctr"/>
                      <a:r>
                        <a:rPr sz="2000" b="1">
                          <a:solidFill>
                            <a:srgbClr val="FF0000"/>
                          </a:solidFill>
                        </a:rPr>
                        <a:t>Method</a:t>
                      </a:r>
                      <a:endParaRPr sz="2000" b="1">
                        <a:solidFill>
                          <a:srgbClr val="FF0000"/>
                        </a:solidFill>
                      </a:endParaRPr>
                    </a:p>
                  </a:txBody>
                  <a:tcPr marL="0" marR="0" marT="0" marB="0" anchor="ctr" anchorCtr="0">
                    <a:lnL>
                      <a:noFill/>
                    </a:lnL>
                    <a:lnR>
                      <a:noFill/>
                    </a:lnR>
                    <a:lnT>
                      <a:noFill/>
                    </a:lnT>
                    <a:lnB>
                      <a:noFill/>
                    </a:lnB>
                    <a:noFill/>
                  </a:tcPr>
                </a:tc>
                <a:tc>
                  <a:txBody>
                    <a:bodyPr/>
                    <a:p>
                      <a:pPr algn="ctr"/>
                      <a:r>
                        <a:rPr sz="2000" b="1">
                          <a:solidFill>
                            <a:srgbClr val="FF0000"/>
                          </a:solidFill>
                        </a:rPr>
                        <a:t>Description</a:t>
                      </a:r>
                      <a:endParaRPr sz="2000" b="1">
                        <a:solidFill>
                          <a:srgbClr val="FF0000"/>
                        </a:solidFill>
                      </a:endParaRPr>
                    </a:p>
                  </a:txBody>
                  <a:tcPr marL="0" marR="0" marT="0" marB="0" anchor="ctr" anchorCtr="0">
                    <a:lnL>
                      <a:noFill/>
                    </a:lnL>
                    <a:lnR>
                      <a:noFill/>
                    </a:lnR>
                    <a:lnT>
                      <a:noFill/>
                    </a:lnT>
                    <a:lnB>
                      <a:noFill/>
                    </a:lnB>
                    <a:noFill/>
                  </a:tcPr>
                </a:tc>
                <a:tc>
                  <a:txBody>
                    <a:bodyPr/>
                    <a:p>
                      <a:pPr algn="ctr"/>
                      <a:r>
                        <a:rPr sz="2000" b="1">
                          <a:solidFill>
                            <a:srgbClr val="FF0000"/>
                          </a:solidFill>
                        </a:rPr>
                        <a:t>Returns</a:t>
                      </a:r>
                      <a:endParaRPr sz="2000" b="1">
                        <a:solidFill>
                          <a:srgbClr val="FF0000"/>
                        </a:solidFill>
                      </a:endParaRPr>
                    </a:p>
                  </a:txBody>
                  <a:tcPr marL="0" marR="0" marT="0" marB="0" anchor="ctr" anchorCtr="0">
                    <a:lnL>
                      <a:noFill/>
                    </a:lnL>
                    <a:lnR>
                      <a:noFill/>
                    </a:lnR>
                    <a:lnT>
                      <a:noFill/>
                    </a:lnT>
                    <a:lnB>
                      <a:noFill/>
                    </a:lnB>
                    <a:noFill/>
                  </a:tcPr>
                </a:tc>
              </a:tr>
              <a:tr h="274320">
                <a:tc>
                  <a:txBody>
                    <a:bodyPr/>
                    <a:p>
                      <a:r>
                        <a:rPr sz="2000" b="1">
                          <a:solidFill>
                            <a:schemeClr val="accent4"/>
                          </a:solidFill>
                        </a:rPr>
                        <a:t>push()</a:t>
                      </a:r>
                      <a:endParaRPr sz="2000" b="1">
                        <a:solidFill>
                          <a:schemeClr val="accent4"/>
                        </a:solidFill>
                      </a:endParaRPr>
                    </a:p>
                  </a:txBody>
                  <a:tcPr marL="0" marR="0" marT="0" marB="0" anchor="ctr" anchorCtr="0">
                    <a:lnL>
                      <a:noFill/>
                    </a:lnL>
                    <a:lnR>
                      <a:noFill/>
                    </a:lnR>
                    <a:lnT>
                      <a:noFill/>
                    </a:lnT>
                    <a:lnB>
                      <a:noFill/>
                    </a:lnB>
                    <a:noFill/>
                  </a:tcPr>
                </a:tc>
                <a:tc>
                  <a:txBody>
                    <a:bodyPr/>
                    <a:p>
                      <a:r>
                        <a:rPr sz="2000"/>
                        <a:t>Adds element(s) to end</a:t>
                      </a:r>
                      <a:endParaRPr sz="2000"/>
                    </a:p>
                  </a:txBody>
                  <a:tcPr marL="0" marR="0" marT="0" marB="0" anchor="ctr" anchorCtr="0">
                    <a:lnL>
                      <a:noFill/>
                    </a:lnL>
                    <a:lnR>
                      <a:noFill/>
                    </a:lnR>
                    <a:lnT>
                      <a:noFill/>
                    </a:lnT>
                    <a:lnB>
                      <a:noFill/>
                    </a:lnB>
                    <a:noFill/>
                  </a:tcPr>
                </a:tc>
                <a:tc>
                  <a:txBody>
                    <a:bodyPr/>
                    <a:p>
                      <a:r>
                        <a:rPr sz="2000"/>
                        <a:t>New length</a:t>
                      </a:r>
                      <a:endParaRPr sz="2000"/>
                    </a:p>
                  </a:txBody>
                  <a:tcPr marL="0" marR="0" marT="0" marB="0" anchor="ctr" anchorCtr="0">
                    <a:lnL>
                      <a:noFill/>
                    </a:lnL>
                    <a:lnR>
                      <a:noFill/>
                    </a:lnR>
                    <a:lnT>
                      <a:noFill/>
                    </a:lnT>
                    <a:lnB>
                      <a:noFill/>
                    </a:lnB>
                    <a:noFill/>
                  </a:tcPr>
                </a:tc>
              </a:tr>
              <a:tr h="274320">
                <a:tc>
                  <a:txBody>
                    <a:bodyPr/>
                    <a:p>
                      <a:r>
                        <a:rPr sz="2000" b="1">
                          <a:solidFill>
                            <a:schemeClr val="accent4"/>
                          </a:solidFill>
                        </a:rPr>
                        <a:t>pop()</a:t>
                      </a:r>
                      <a:endParaRPr sz="2000" b="1">
                        <a:solidFill>
                          <a:schemeClr val="accent4"/>
                        </a:solidFill>
                      </a:endParaRPr>
                    </a:p>
                  </a:txBody>
                  <a:tcPr marL="0" marR="0" marT="0" marB="0" anchor="ctr" anchorCtr="0">
                    <a:lnL>
                      <a:noFill/>
                    </a:lnL>
                    <a:lnR>
                      <a:noFill/>
                    </a:lnR>
                    <a:lnT>
                      <a:noFill/>
                    </a:lnT>
                    <a:lnB>
                      <a:noFill/>
                    </a:lnB>
                    <a:noFill/>
                  </a:tcPr>
                </a:tc>
                <a:tc>
                  <a:txBody>
                    <a:bodyPr/>
                    <a:p>
                      <a:r>
                        <a:rPr sz="2000"/>
                        <a:t>Removes last element</a:t>
                      </a:r>
                      <a:endParaRPr sz="2000"/>
                    </a:p>
                  </a:txBody>
                  <a:tcPr marL="0" marR="0" marT="0" marB="0" anchor="ctr" anchorCtr="0">
                    <a:lnL>
                      <a:noFill/>
                    </a:lnL>
                    <a:lnR>
                      <a:noFill/>
                    </a:lnR>
                    <a:lnT>
                      <a:noFill/>
                    </a:lnT>
                    <a:lnB>
                      <a:noFill/>
                    </a:lnB>
                    <a:noFill/>
                  </a:tcPr>
                </a:tc>
                <a:tc>
                  <a:txBody>
                    <a:bodyPr/>
                    <a:p>
                      <a:r>
                        <a:rPr sz="2000"/>
                        <a:t>Removed element</a:t>
                      </a:r>
                      <a:endParaRPr sz="2000"/>
                    </a:p>
                  </a:txBody>
                  <a:tcPr marL="0" marR="0" marT="0" marB="0" anchor="ctr" anchorCtr="0">
                    <a:lnL>
                      <a:noFill/>
                    </a:lnL>
                    <a:lnR>
                      <a:noFill/>
                    </a:lnR>
                    <a:lnT>
                      <a:noFill/>
                    </a:lnT>
                    <a:lnB>
                      <a:noFill/>
                    </a:lnB>
                    <a:noFill/>
                  </a:tcPr>
                </a:tc>
              </a:tr>
              <a:tr h="274320">
                <a:tc>
                  <a:txBody>
                    <a:bodyPr/>
                    <a:p>
                      <a:r>
                        <a:rPr sz="2000" b="1">
                          <a:solidFill>
                            <a:schemeClr val="accent4"/>
                          </a:solidFill>
                        </a:rPr>
                        <a:t>unshift()</a:t>
                      </a:r>
                      <a:endParaRPr sz="2000" b="1">
                        <a:solidFill>
                          <a:schemeClr val="accent4"/>
                        </a:solidFill>
                      </a:endParaRPr>
                    </a:p>
                  </a:txBody>
                  <a:tcPr marL="0" marR="0" marT="0" marB="0" anchor="ctr" anchorCtr="0">
                    <a:lnL>
                      <a:noFill/>
                    </a:lnL>
                    <a:lnR>
                      <a:noFill/>
                    </a:lnR>
                    <a:lnT>
                      <a:noFill/>
                    </a:lnT>
                    <a:lnB>
                      <a:noFill/>
                    </a:lnB>
                    <a:noFill/>
                  </a:tcPr>
                </a:tc>
                <a:tc>
                  <a:txBody>
                    <a:bodyPr/>
                    <a:p>
                      <a:r>
                        <a:rPr sz="2000"/>
                        <a:t>Adds element(s) to start</a:t>
                      </a:r>
                      <a:endParaRPr sz="2000"/>
                    </a:p>
                  </a:txBody>
                  <a:tcPr marL="0" marR="0" marT="0" marB="0" anchor="ctr" anchorCtr="0">
                    <a:lnL>
                      <a:noFill/>
                    </a:lnL>
                    <a:lnR>
                      <a:noFill/>
                    </a:lnR>
                    <a:lnT>
                      <a:noFill/>
                    </a:lnT>
                    <a:lnB>
                      <a:noFill/>
                    </a:lnB>
                    <a:noFill/>
                  </a:tcPr>
                </a:tc>
                <a:tc>
                  <a:txBody>
                    <a:bodyPr/>
                    <a:p>
                      <a:r>
                        <a:rPr sz="2000"/>
                        <a:t>New length</a:t>
                      </a:r>
                      <a:endParaRPr sz="2000"/>
                    </a:p>
                  </a:txBody>
                  <a:tcPr marL="0" marR="0" marT="0" marB="0" anchor="ctr" anchorCtr="0">
                    <a:lnL>
                      <a:noFill/>
                    </a:lnL>
                    <a:lnR>
                      <a:noFill/>
                    </a:lnR>
                    <a:lnT>
                      <a:noFill/>
                    </a:lnT>
                    <a:lnB>
                      <a:noFill/>
                    </a:lnB>
                    <a:noFill/>
                  </a:tcPr>
                </a:tc>
              </a:tr>
              <a:tr h="274320">
                <a:tc>
                  <a:txBody>
                    <a:bodyPr/>
                    <a:p>
                      <a:r>
                        <a:rPr sz="2000" b="1">
                          <a:solidFill>
                            <a:schemeClr val="accent4"/>
                          </a:solidFill>
                        </a:rPr>
                        <a:t>shift()</a:t>
                      </a:r>
                      <a:endParaRPr sz="2000" b="1">
                        <a:solidFill>
                          <a:schemeClr val="accent4"/>
                        </a:solidFill>
                      </a:endParaRPr>
                    </a:p>
                  </a:txBody>
                  <a:tcPr marL="0" marR="0" marT="0" marB="0" anchor="ctr" anchorCtr="0">
                    <a:lnL>
                      <a:noFill/>
                    </a:lnL>
                    <a:lnR>
                      <a:noFill/>
                    </a:lnR>
                    <a:lnT>
                      <a:noFill/>
                    </a:lnT>
                    <a:lnB>
                      <a:noFill/>
                    </a:lnB>
                    <a:noFill/>
                  </a:tcPr>
                </a:tc>
                <a:tc>
                  <a:txBody>
                    <a:bodyPr/>
                    <a:p>
                      <a:r>
                        <a:rPr sz="2000"/>
                        <a:t>Removes first element</a:t>
                      </a:r>
                      <a:endParaRPr sz="2000"/>
                    </a:p>
                  </a:txBody>
                  <a:tcPr marL="0" marR="0" marT="0" marB="0" anchor="ctr" anchorCtr="0">
                    <a:lnL>
                      <a:noFill/>
                    </a:lnL>
                    <a:lnR>
                      <a:noFill/>
                    </a:lnR>
                    <a:lnT>
                      <a:noFill/>
                    </a:lnT>
                    <a:lnB>
                      <a:noFill/>
                    </a:lnB>
                    <a:noFill/>
                  </a:tcPr>
                </a:tc>
                <a:tc>
                  <a:txBody>
                    <a:bodyPr/>
                    <a:p>
                      <a:r>
                        <a:rPr sz="2000"/>
                        <a:t>Removed element</a:t>
                      </a:r>
                      <a:endParaRPr sz="2000"/>
                    </a:p>
                  </a:txBody>
                  <a:tcPr marL="0" marR="0" marT="0" marB="0" anchor="ctr" anchorCtr="0">
                    <a:lnL>
                      <a:noFill/>
                    </a:lnL>
                    <a:lnR>
                      <a:noFill/>
                    </a:lnR>
                    <a:lnT>
                      <a:noFill/>
                    </a:lnT>
                    <a:lnB>
                      <a:noFill/>
                    </a:lnB>
                    <a:noFill/>
                  </a:tcPr>
                </a:tc>
              </a:tr>
              <a:tr h="274320">
                <a:tc>
                  <a:txBody>
                    <a:bodyPr/>
                    <a:p>
                      <a:r>
                        <a:rPr sz="2000" b="1">
                          <a:solidFill>
                            <a:schemeClr val="accent4"/>
                          </a:solidFill>
                        </a:rPr>
                        <a:t>sort()</a:t>
                      </a:r>
                      <a:endParaRPr sz="2000" b="1">
                        <a:solidFill>
                          <a:schemeClr val="accent4"/>
                        </a:solidFill>
                      </a:endParaRPr>
                    </a:p>
                  </a:txBody>
                  <a:tcPr marL="0" marR="0" marT="0" marB="0" anchor="ctr" anchorCtr="0">
                    <a:lnL>
                      <a:noFill/>
                    </a:lnL>
                    <a:lnR>
                      <a:noFill/>
                    </a:lnR>
                    <a:lnT>
                      <a:noFill/>
                    </a:lnT>
                    <a:lnB>
                      <a:noFill/>
                    </a:lnB>
                    <a:noFill/>
                  </a:tcPr>
                </a:tc>
                <a:tc>
                  <a:txBody>
                    <a:bodyPr/>
                    <a:p>
                      <a:r>
                        <a:rPr sz="2000"/>
                        <a:t>Sorts elements</a:t>
                      </a:r>
                      <a:endParaRPr sz="2000"/>
                    </a:p>
                  </a:txBody>
                  <a:tcPr marL="0" marR="0" marT="0" marB="0" anchor="ctr" anchorCtr="0">
                    <a:lnL>
                      <a:noFill/>
                    </a:lnL>
                    <a:lnR>
                      <a:noFill/>
                    </a:lnR>
                    <a:lnT>
                      <a:noFill/>
                    </a:lnT>
                    <a:lnB>
                      <a:noFill/>
                    </a:lnB>
                    <a:noFill/>
                  </a:tcPr>
                </a:tc>
                <a:tc>
                  <a:txBody>
                    <a:bodyPr/>
                    <a:p>
                      <a:r>
                        <a:rPr sz="2000"/>
                        <a:t>Sorted array</a:t>
                      </a:r>
                      <a:endParaRPr sz="2000"/>
                    </a:p>
                  </a:txBody>
                  <a:tcPr marL="0" marR="0" marT="0" marB="0" anchor="ctr" anchorCtr="0">
                    <a:lnL>
                      <a:noFill/>
                    </a:lnL>
                    <a:lnR>
                      <a:noFill/>
                    </a:lnR>
                    <a:lnT>
                      <a:noFill/>
                    </a:lnT>
                    <a:lnB>
                      <a:noFill/>
                    </a:lnB>
                    <a:noFill/>
                  </a:tcPr>
                </a:tc>
              </a:tr>
              <a:tr h="274320">
                <a:tc>
                  <a:txBody>
                    <a:bodyPr/>
                    <a:p>
                      <a:r>
                        <a:rPr sz="2000" b="1">
                          <a:solidFill>
                            <a:schemeClr val="accent4"/>
                          </a:solidFill>
                        </a:rPr>
                        <a:t>reverse()</a:t>
                      </a:r>
                      <a:endParaRPr sz="2000" b="1">
                        <a:solidFill>
                          <a:schemeClr val="accent4"/>
                        </a:solidFill>
                      </a:endParaRPr>
                    </a:p>
                  </a:txBody>
                  <a:tcPr marL="0" marR="0" marT="0" marB="0" anchor="ctr" anchorCtr="0">
                    <a:lnL>
                      <a:noFill/>
                    </a:lnL>
                    <a:lnR>
                      <a:noFill/>
                    </a:lnR>
                    <a:lnT>
                      <a:noFill/>
                    </a:lnT>
                    <a:lnB>
                      <a:noFill/>
                    </a:lnB>
                    <a:noFill/>
                  </a:tcPr>
                </a:tc>
                <a:tc>
                  <a:txBody>
                    <a:bodyPr/>
                    <a:p>
                      <a:r>
                        <a:rPr sz="2000"/>
                        <a:t>Reverses array</a:t>
                      </a:r>
                      <a:endParaRPr sz="2000"/>
                    </a:p>
                  </a:txBody>
                  <a:tcPr marL="0" marR="0" marT="0" marB="0" anchor="ctr" anchorCtr="0">
                    <a:lnL>
                      <a:noFill/>
                    </a:lnL>
                    <a:lnR>
                      <a:noFill/>
                    </a:lnR>
                    <a:lnT>
                      <a:noFill/>
                    </a:lnT>
                    <a:lnB>
                      <a:noFill/>
                    </a:lnB>
                    <a:noFill/>
                  </a:tcPr>
                </a:tc>
                <a:tc>
                  <a:txBody>
                    <a:bodyPr/>
                    <a:p>
                      <a:r>
                        <a:rPr sz="2000"/>
                        <a:t>Reversed array</a:t>
                      </a:r>
                      <a:endParaRPr sz="2000"/>
                    </a:p>
                  </a:txBody>
                  <a:tcPr marL="0" marR="0" marT="0" marB="0" anchor="ctr" anchorCtr="0">
                    <a:lnL>
                      <a:noFill/>
                    </a:lnL>
                    <a:lnR>
                      <a:noFill/>
                    </a:lnR>
                    <a:lnT>
                      <a:noFill/>
                    </a:lnT>
                    <a:lnB>
                      <a:noFill/>
                    </a:lnB>
                    <a:noFill/>
                  </a:tcPr>
                </a:tc>
              </a:tr>
              <a:tr h="274320">
                <a:tc>
                  <a:txBody>
                    <a:bodyPr/>
                    <a:p>
                      <a:r>
                        <a:rPr sz="2000" b="1">
                          <a:solidFill>
                            <a:schemeClr val="accent4"/>
                          </a:solidFill>
                        </a:rPr>
                        <a:t>fill()</a:t>
                      </a:r>
                      <a:endParaRPr sz="2000" b="1">
                        <a:solidFill>
                          <a:schemeClr val="accent4"/>
                        </a:solidFill>
                      </a:endParaRPr>
                    </a:p>
                  </a:txBody>
                  <a:tcPr marL="0" marR="0" marT="0" marB="0" anchor="ctr" anchorCtr="0">
                    <a:lnL>
                      <a:noFill/>
                    </a:lnL>
                    <a:lnR>
                      <a:noFill/>
                    </a:lnR>
                    <a:lnT>
                      <a:noFill/>
                    </a:lnT>
                    <a:lnB>
                      <a:noFill/>
                    </a:lnB>
                    <a:noFill/>
                  </a:tcPr>
                </a:tc>
                <a:tc>
                  <a:txBody>
                    <a:bodyPr/>
                    <a:p>
                      <a:r>
                        <a:rPr sz="2000"/>
                        <a:t>Fills array with value</a:t>
                      </a:r>
                      <a:endParaRPr sz="2000"/>
                    </a:p>
                  </a:txBody>
                  <a:tcPr marL="0" marR="0" marT="0" marB="0" anchor="ctr" anchorCtr="0">
                    <a:lnL>
                      <a:noFill/>
                    </a:lnL>
                    <a:lnR>
                      <a:noFill/>
                    </a:lnR>
                    <a:lnT>
                      <a:noFill/>
                    </a:lnT>
                    <a:lnB>
                      <a:noFill/>
                    </a:lnB>
                    <a:noFill/>
                  </a:tcPr>
                </a:tc>
                <a:tc>
                  <a:txBody>
                    <a:bodyPr/>
                    <a:p>
                      <a:r>
                        <a:rPr sz="2000"/>
                        <a:t>Modified array</a:t>
                      </a:r>
                      <a:endParaRPr sz="2000"/>
                    </a:p>
                  </a:txBody>
                  <a:tcPr marL="0" marR="0" marT="0" marB="0" anchor="ctr" anchorCtr="0">
                    <a:lnL>
                      <a:noFill/>
                    </a:lnL>
                    <a:lnR>
                      <a:noFill/>
                    </a:lnR>
                    <a:lnT>
                      <a:noFill/>
                    </a:lnT>
                    <a:lnB>
                      <a:noFill/>
                    </a:lnB>
                    <a:noFill/>
                  </a:tcPr>
                </a:tc>
              </a:tr>
            </a:tbl>
          </a:graphicData>
        </a:graphic>
      </p:graphicFrame>
      <p:graphicFrame>
        <p:nvGraphicFramePr>
          <p:cNvPr id="6" name="Table 5"/>
          <p:cNvGraphicFramePr/>
          <p:nvPr>
            <p:custDataLst>
              <p:tags r:id="rId2"/>
            </p:custDataLst>
          </p:nvPr>
        </p:nvGraphicFramePr>
        <p:xfrm>
          <a:off x="143510" y="2957195"/>
          <a:ext cx="12048490" cy="2545080"/>
        </p:xfrm>
        <a:graphic>
          <a:graphicData uri="http://schemas.openxmlformats.org/drawingml/2006/table">
            <a:tbl>
              <a:tblPr/>
              <a:tblGrid>
                <a:gridCol w="3578860"/>
                <a:gridCol w="4453890"/>
                <a:gridCol w="4015740"/>
              </a:tblGrid>
              <a:tr h="411480">
                <a:tc>
                  <a:txBody>
                    <a:bodyPr/>
                    <a:p>
                      <a:r>
                        <a:rPr sz="2000" b="1">
                          <a:solidFill>
                            <a:schemeClr val="accent4"/>
                          </a:solidFill>
                        </a:rPr>
                        <a:t>concat()</a:t>
                      </a:r>
                      <a:endParaRPr sz="2000" b="1">
                        <a:solidFill>
                          <a:schemeClr val="accent4"/>
                        </a:solidFill>
                      </a:endParaRPr>
                    </a:p>
                  </a:txBody>
                  <a:tcPr marL="0" marR="0" marT="0" marB="0" anchor="ctr" anchorCtr="0">
                    <a:lnL>
                      <a:noFill/>
                    </a:lnL>
                    <a:lnR>
                      <a:noFill/>
                    </a:lnR>
                    <a:lnT>
                      <a:noFill/>
                    </a:lnT>
                    <a:lnB>
                      <a:noFill/>
                    </a:lnB>
                    <a:noFill/>
                  </a:tcPr>
                </a:tc>
                <a:tc>
                  <a:txBody>
                    <a:bodyPr/>
                    <a:p>
                      <a:r>
                        <a:rPr sz="2000"/>
                        <a:t>Merges arrays</a:t>
                      </a:r>
                      <a:endParaRPr sz="2000"/>
                    </a:p>
                  </a:txBody>
                  <a:tcPr marL="0" marR="0" marT="0" marB="0" anchor="ctr" anchorCtr="0">
                    <a:lnL>
                      <a:noFill/>
                    </a:lnL>
                    <a:lnR>
                      <a:noFill/>
                    </a:lnR>
                    <a:lnT>
                      <a:noFill/>
                    </a:lnT>
                    <a:lnB>
                      <a:noFill/>
                    </a:lnB>
                    <a:noFill/>
                  </a:tcPr>
                </a:tc>
                <a:tc>
                  <a:txBody>
                    <a:bodyPr/>
                    <a:p>
                      <a:r>
                        <a:rPr sz="2000"/>
                        <a:t>New array</a:t>
                      </a:r>
                      <a:endParaRPr sz="2000"/>
                    </a:p>
                  </a:txBody>
                  <a:tcPr marL="0" marR="0" marT="0" marB="0" anchor="ctr" anchorCtr="0">
                    <a:lnL>
                      <a:noFill/>
                    </a:lnL>
                    <a:lnR>
                      <a:noFill/>
                    </a:lnR>
                    <a:lnT>
                      <a:noFill/>
                    </a:lnT>
                    <a:lnB>
                      <a:noFill/>
                    </a:lnB>
                    <a:noFill/>
                  </a:tcPr>
                </a:tc>
              </a:tr>
              <a:tr h="304800">
                <a:tc>
                  <a:txBody>
                    <a:bodyPr/>
                    <a:p>
                      <a:r>
                        <a:rPr sz="2000" b="1">
                          <a:solidFill>
                            <a:schemeClr val="accent4"/>
                          </a:solidFill>
                        </a:rPr>
                        <a:t>slice()</a:t>
                      </a:r>
                      <a:endParaRPr sz="2000" b="1">
                        <a:solidFill>
                          <a:schemeClr val="accent4"/>
                        </a:solidFill>
                      </a:endParaRPr>
                    </a:p>
                  </a:txBody>
                  <a:tcPr marL="0" marR="0" marT="0" marB="0" anchor="ctr" anchorCtr="0">
                    <a:lnL>
                      <a:noFill/>
                    </a:lnL>
                    <a:lnR>
                      <a:noFill/>
                    </a:lnR>
                    <a:lnT>
                      <a:noFill/>
                    </a:lnT>
                    <a:lnB>
                      <a:noFill/>
                    </a:lnB>
                    <a:noFill/>
                  </a:tcPr>
                </a:tc>
                <a:tc>
                  <a:txBody>
                    <a:bodyPr/>
                    <a:p>
                      <a:r>
                        <a:rPr sz="2000"/>
                        <a:t>Extracts portion</a:t>
                      </a:r>
                      <a:endParaRPr sz="2000"/>
                    </a:p>
                  </a:txBody>
                  <a:tcPr marL="0" marR="0" marT="0" marB="0" anchor="ctr" anchorCtr="0">
                    <a:lnL>
                      <a:noFill/>
                    </a:lnL>
                    <a:lnR>
                      <a:noFill/>
                    </a:lnR>
                    <a:lnT>
                      <a:noFill/>
                    </a:lnT>
                    <a:lnB>
                      <a:noFill/>
                    </a:lnB>
                    <a:noFill/>
                  </a:tcPr>
                </a:tc>
                <a:tc>
                  <a:txBody>
                    <a:bodyPr/>
                    <a:p>
                      <a:r>
                        <a:rPr sz="2000"/>
                        <a:t>New array</a:t>
                      </a:r>
                      <a:endParaRPr sz="2000"/>
                    </a:p>
                  </a:txBody>
                  <a:tcPr marL="0" marR="0" marT="0" marB="0" anchor="ctr" anchorCtr="0">
                    <a:lnL>
                      <a:noFill/>
                    </a:lnL>
                    <a:lnR>
                      <a:noFill/>
                    </a:lnR>
                    <a:lnT>
                      <a:noFill/>
                    </a:lnT>
                    <a:lnB>
                      <a:noFill/>
                    </a:lnB>
                    <a:noFill/>
                  </a:tcPr>
                </a:tc>
              </a:tr>
              <a:tr h="304800">
                <a:tc>
                  <a:txBody>
                    <a:bodyPr/>
                    <a:p>
                      <a:r>
                        <a:rPr sz="2000" b="1">
                          <a:solidFill>
                            <a:schemeClr val="accent4"/>
                          </a:solidFill>
                        </a:rPr>
                        <a:t>join()</a:t>
                      </a:r>
                      <a:endParaRPr sz="2000" b="1">
                        <a:solidFill>
                          <a:schemeClr val="accent4"/>
                        </a:solidFill>
                      </a:endParaRPr>
                    </a:p>
                  </a:txBody>
                  <a:tcPr marL="0" marR="0" marT="0" marB="0" anchor="ctr" anchorCtr="0">
                    <a:lnL>
                      <a:noFill/>
                    </a:lnL>
                    <a:lnR>
                      <a:noFill/>
                    </a:lnR>
                    <a:lnT>
                      <a:noFill/>
                    </a:lnT>
                    <a:lnB>
                      <a:noFill/>
                    </a:lnB>
                    <a:noFill/>
                  </a:tcPr>
                </a:tc>
                <a:tc>
                  <a:txBody>
                    <a:bodyPr/>
                    <a:p>
                      <a:r>
                        <a:rPr sz="2000"/>
                        <a:t>Joins elements into string</a:t>
                      </a:r>
                      <a:endParaRPr sz="2000"/>
                    </a:p>
                  </a:txBody>
                  <a:tcPr marL="0" marR="0" marT="0" marB="0" anchor="ctr" anchorCtr="0">
                    <a:lnL>
                      <a:noFill/>
                    </a:lnL>
                    <a:lnR>
                      <a:noFill/>
                    </a:lnR>
                    <a:lnT>
                      <a:noFill/>
                    </a:lnT>
                    <a:lnB>
                      <a:noFill/>
                    </a:lnB>
                    <a:noFill/>
                  </a:tcPr>
                </a:tc>
                <a:tc>
                  <a:txBody>
                    <a:bodyPr/>
                    <a:p>
                      <a:r>
                        <a:rPr sz="2000"/>
                        <a:t>String</a:t>
                      </a:r>
                      <a:endParaRPr sz="2000"/>
                    </a:p>
                  </a:txBody>
                  <a:tcPr marL="0" marR="0" marT="0" marB="0" anchor="ctr" anchorCtr="0">
                    <a:lnL>
                      <a:noFill/>
                    </a:lnL>
                    <a:lnR>
                      <a:noFill/>
                    </a:lnR>
                    <a:lnT>
                      <a:noFill/>
                    </a:lnT>
                    <a:lnB>
                      <a:noFill/>
                    </a:lnB>
                    <a:noFill/>
                  </a:tcPr>
                </a:tc>
              </a:tr>
              <a:tr h="304800">
                <a:tc>
                  <a:txBody>
                    <a:bodyPr/>
                    <a:p>
                      <a:r>
                        <a:rPr sz="2000" b="1">
                          <a:solidFill>
                            <a:schemeClr val="accent4"/>
                          </a:solidFill>
                        </a:rPr>
                        <a:t>toString()</a:t>
                      </a:r>
                      <a:endParaRPr sz="2000" b="1">
                        <a:solidFill>
                          <a:schemeClr val="accent4"/>
                        </a:solidFill>
                      </a:endParaRPr>
                    </a:p>
                  </a:txBody>
                  <a:tcPr marL="0" marR="0" marT="0" marB="0" anchor="ctr" anchorCtr="0">
                    <a:lnL>
                      <a:noFill/>
                    </a:lnL>
                    <a:lnR>
                      <a:noFill/>
                    </a:lnR>
                    <a:lnT>
                      <a:noFill/>
                    </a:lnT>
                    <a:lnB>
                      <a:noFill/>
                    </a:lnB>
                    <a:noFill/>
                  </a:tcPr>
                </a:tc>
                <a:tc>
                  <a:txBody>
                    <a:bodyPr/>
                    <a:p>
                      <a:r>
                        <a:rPr sz="2000"/>
                        <a:t>Converts array to string</a:t>
                      </a:r>
                      <a:endParaRPr sz="2000"/>
                    </a:p>
                  </a:txBody>
                  <a:tcPr marL="0" marR="0" marT="0" marB="0" anchor="ctr" anchorCtr="0">
                    <a:lnL>
                      <a:noFill/>
                    </a:lnL>
                    <a:lnR>
                      <a:noFill/>
                    </a:lnR>
                    <a:lnT>
                      <a:noFill/>
                    </a:lnT>
                    <a:lnB>
                      <a:noFill/>
                    </a:lnB>
                    <a:noFill/>
                  </a:tcPr>
                </a:tc>
                <a:tc>
                  <a:txBody>
                    <a:bodyPr/>
                    <a:p>
                      <a:r>
                        <a:rPr sz="2000"/>
                        <a:t>String</a:t>
                      </a:r>
                      <a:endParaRPr sz="2000"/>
                    </a:p>
                  </a:txBody>
                  <a:tcPr marL="0" marR="0" marT="0" marB="0" anchor="ctr" anchorCtr="0">
                    <a:lnL>
                      <a:noFill/>
                    </a:lnL>
                    <a:lnR>
                      <a:noFill/>
                    </a:lnR>
                    <a:lnT>
                      <a:noFill/>
                    </a:lnT>
                    <a:lnB>
                      <a:noFill/>
                    </a:lnB>
                    <a:noFill/>
                  </a:tcPr>
                </a:tc>
              </a:tr>
              <a:tr h="304800">
                <a:tc>
                  <a:txBody>
                    <a:bodyPr/>
                    <a:p>
                      <a:r>
                        <a:rPr sz="2000" b="1">
                          <a:solidFill>
                            <a:schemeClr val="accent4"/>
                          </a:solidFill>
                        </a:rPr>
                        <a:t>indexOf()</a:t>
                      </a:r>
                      <a:endParaRPr sz="2000" b="1">
                        <a:solidFill>
                          <a:schemeClr val="accent4"/>
                        </a:solidFill>
                      </a:endParaRPr>
                    </a:p>
                  </a:txBody>
                  <a:tcPr marL="0" marR="0" marT="0" marB="0" anchor="ctr" anchorCtr="0">
                    <a:lnL>
                      <a:noFill/>
                    </a:lnL>
                    <a:lnR>
                      <a:noFill/>
                    </a:lnR>
                    <a:lnT>
                      <a:noFill/>
                    </a:lnT>
                    <a:lnB>
                      <a:noFill/>
                    </a:lnB>
                    <a:noFill/>
                  </a:tcPr>
                </a:tc>
                <a:tc>
                  <a:txBody>
                    <a:bodyPr/>
                    <a:p>
                      <a:r>
                        <a:rPr sz="2000"/>
                        <a:t>First index of element</a:t>
                      </a:r>
                      <a:endParaRPr sz="2000"/>
                    </a:p>
                  </a:txBody>
                  <a:tcPr marL="0" marR="0" marT="0" marB="0" anchor="ctr" anchorCtr="0">
                    <a:lnL>
                      <a:noFill/>
                    </a:lnL>
                    <a:lnR>
                      <a:noFill/>
                    </a:lnR>
                    <a:lnT>
                      <a:noFill/>
                    </a:lnT>
                    <a:lnB>
                      <a:noFill/>
                    </a:lnB>
                    <a:noFill/>
                  </a:tcPr>
                </a:tc>
                <a:tc>
                  <a:txBody>
                    <a:bodyPr/>
                    <a:p>
                      <a:r>
                        <a:rPr sz="2000"/>
                        <a:t>Index / -1</a:t>
                      </a:r>
                      <a:endParaRPr sz="2000"/>
                    </a:p>
                  </a:txBody>
                  <a:tcPr marL="0" marR="0" marT="0" marB="0" anchor="ctr" anchorCtr="0">
                    <a:lnL>
                      <a:noFill/>
                    </a:lnL>
                    <a:lnR>
                      <a:noFill/>
                    </a:lnR>
                    <a:lnT>
                      <a:noFill/>
                    </a:lnT>
                    <a:lnB>
                      <a:noFill/>
                    </a:lnB>
                    <a:noFill/>
                  </a:tcPr>
                </a:tc>
              </a:tr>
              <a:tr h="304800">
                <a:tc>
                  <a:txBody>
                    <a:bodyPr/>
                    <a:p>
                      <a:r>
                        <a:rPr sz="2000" b="1">
                          <a:solidFill>
                            <a:schemeClr val="accent4"/>
                          </a:solidFill>
                        </a:rPr>
                        <a:t>lastIndexOf()</a:t>
                      </a:r>
                      <a:endParaRPr sz="2000" b="1">
                        <a:solidFill>
                          <a:schemeClr val="accent4"/>
                        </a:solidFill>
                      </a:endParaRPr>
                    </a:p>
                  </a:txBody>
                  <a:tcPr marL="0" marR="0" marT="0" marB="0" anchor="ctr" anchorCtr="0">
                    <a:lnL>
                      <a:noFill/>
                    </a:lnL>
                    <a:lnR>
                      <a:noFill/>
                    </a:lnR>
                    <a:lnT>
                      <a:noFill/>
                    </a:lnT>
                    <a:lnB>
                      <a:noFill/>
                    </a:lnB>
                    <a:noFill/>
                  </a:tcPr>
                </a:tc>
                <a:tc>
                  <a:txBody>
                    <a:bodyPr/>
                    <a:p>
                      <a:r>
                        <a:rPr sz="2000"/>
                        <a:t>Last index of element</a:t>
                      </a:r>
                      <a:endParaRPr sz="2000"/>
                    </a:p>
                  </a:txBody>
                  <a:tcPr marL="0" marR="0" marT="0" marB="0" anchor="ctr" anchorCtr="0">
                    <a:lnL>
                      <a:noFill/>
                    </a:lnL>
                    <a:lnR>
                      <a:noFill/>
                    </a:lnR>
                    <a:lnT>
                      <a:noFill/>
                    </a:lnT>
                    <a:lnB>
                      <a:noFill/>
                    </a:lnB>
                    <a:noFill/>
                  </a:tcPr>
                </a:tc>
                <a:tc>
                  <a:txBody>
                    <a:bodyPr/>
                    <a:p>
                      <a:r>
                        <a:rPr sz="2000"/>
                        <a:t>Index / -1</a:t>
                      </a:r>
                      <a:endParaRPr sz="2000"/>
                    </a:p>
                  </a:txBody>
                  <a:tcPr marL="0" marR="0" marT="0" marB="0" anchor="ctr" anchorCtr="0">
                    <a:lnL>
                      <a:noFill/>
                    </a:lnL>
                    <a:lnR>
                      <a:noFill/>
                    </a:lnR>
                    <a:lnT>
                      <a:noFill/>
                    </a:lnT>
                    <a:lnB>
                      <a:noFill/>
                    </a:lnB>
                    <a:noFill/>
                  </a:tcPr>
                </a:tc>
              </a:tr>
              <a:tr h="304800">
                <a:tc>
                  <a:txBody>
                    <a:bodyPr/>
                    <a:p>
                      <a:r>
                        <a:rPr sz="2000" b="1">
                          <a:solidFill>
                            <a:schemeClr val="accent4"/>
                          </a:solidFill>
                        </a:rPr>
                        <a:t>includes()</a:t>
                      </a:r>
                      <a:endParaRPr sz="2000" b="1">
                        <a:solidFill>
                          <a:schemeClr val="accent4"/>
                        </a:solidFill>
                      </a:endParaRPr>
                    </a:p>
                  </a:txBody>
                  <a:tcPr marL="0" marR="0" marT="0" marB="0" anchor="ctr" anchorCtr="0">
                    <a:lnL>
                      <a:noFill/>
                    </a:lnL>
                    <a:lnR>
                      <a:noFill/>
                    </a:lnR>
                    <a:lnT>
                      <a:noFill/>
                    </a:lnT>
                    <a:lnB>
                      <a:noFill/>
                    </a:lnB>
                    <a:noFill/>
                  </a:tcPr>
                </a:tc>
                <a:tc>
                  <a:txBody>
                    <a:bodyPr/>
                    <a:p>
                      <a:r>
                        <a:rPr sz="2000"/>
                        <a:t>Checks existence</a:t>
                      </a:r>
                      <a:endParaRPr sz="2000"/>
                    </a:p>
                  </a:txBody>
                  <a:tcPr marL="0" marR="0" marT="0" marB="0" anchor="ctr" anchorCtr="0">
                    <a:lnL>
                      <a:noFill/>
                    </a:lnL>
                    <a:lnR>
                      <a:noFill/>
                    </a:lnR>
                    <a:lnT>
                      <a:noFill/>
                    </a:lnT>
                    <a:lnB>
                      <a:noFill/>
                    </a:lnB>
                    <a:noFill/>
                  </a:tcPr>
                </a:tc>
                <a:tc>
                  <a:txBody>
                    <a:bodyPr/>
                    <a:p>
                      <a:r>
                        <a:rPr sz="2000"/>
                        <a:t>Boolean</a:t>
                      </a:r>
                      <a:endParaRPr sz="2000"/>
                    </a:p>
                  </a:txBody>
                  <a:tcPr marL="0" marR="0" marT="0" marB="0" anchor="ctr" anchorCtr="0">
                    <a:lnL>
                      <a:noFill/>
                    </a:lnL>
                    <a:lnR>
                      <a:noFill/>
                    </a:lnR>
                    <a:lnT>
                      <a:noFill/>
                    </a:lnT>
                    <a:lnB>
                      <a:noFill/>
                    </a:lnB>
                    <a:noFill/>
                  </a:tcPr>
                </a:tc>
              </a:tr>
              <a:tr h="304800">
                <a:tc>
                  <a:txBody>
                    <a:bodyPr/>
                    <a:p>
                      <a:r>
                        <a:rPr sz="2000" b="1">
                          <a:solidFill>
                            <a:schemeClr val="accent4"/>
                          </a:solidFill>
                        </a:rPr>
                        <a:t>at()</a:t>
                      </a:r>
                      <a:endParaRPr sz="2000" b="1">
                        <a:solidFill>
                          <a:schemeClr val="accent4"/>
                        </a:solidFill>
                      </a:endParaRPr>
                    </a:p>
                  </a:txBody>
                  <a:tcPr marL="0" marR="0" marT="0" marB="0" anchor="ctr" anchorCtr="0">
                    <a:lnL>
                      <a:noFill/>
                    </a:lnL>
                    <a:lnR>
                      <a:noFill/>
                    </a:lnR>
                    <a:lnT>
                      <a:noFill/>
                    </a:lnT>
                    <a:lnB>
                      <a:noFill/>
                    </a:lnB>
                    <a:noFill/>
                  </a:tcPr>
                </a:tc>
                <a:tc>
                  <a:txBody>
                    <a:bodyPr/>
                    <a:p>
                      <a:r>
                        <a:rPr sz="2000"/>
                        <a:t>Gets element by index</a:t>
                      </a:r>
                      <a:endParaRPr sz="2000"/>
                    </a:p>
                  </a:txBody>
                  <a:tcPr marL="0" marR="0" marT="0" marB="0" anchor="ctr" anchorCtr="0">
                    <a:lnL>
                      <a:noFill/>
                    </a:lnL>
                    <a:lnR>
                      <a:noFill/>
                    </a:lnR>
                    <a:lnT>
                      <a:noFill/>
                    </a:lnT>
                    <a:lnB>
                      <a:noFill/>
                    </a:lnB>
                    <a:noFill/>
                  </a:tcPr>
                </a:tc>
                <a:tc>
                  <a:txBody>
                    <a:bodyPr/>
                    <a:p>
                      <a:r>
                        <a:rPr sz="2000"/>
                        <a:t>Element</a:t>
                      </a:r>
                      <a:endParaRPr sz="20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Table 4"/>
          <p:cNvGraphicFramePr/>
          <p:nvPr>
            <p:custDataLst>
              <p:tags r:id="rId1"/>
            </p:custDataLst>
          </p:nvPr>
        </p:nvGraphicFramePr>
        <p:xfrm>
          <a:off x="0" y="0"/>
          <a:ext cx="12192000" cy="3017520"/>
        </p:xfrm>
        <a:graphic>
          <a:graphicData uri="http://schemas.openxmlformats.org/drawingml/2006/table">
            <a:tbl>
              <a:tblPr/>
              <a:tblGrid>
                <a:gridCol w="2343785"/>
                <a:gridCol w="5784215"/>
                <a:gridCol w="4064000"/>
              </a:tblGrid>
              <a:tr h="274320">
                <a:tc>
                  <a:txBody>
                    <a:bodyPr/>
                    <a:p>
                      <a:pPr algn="ctr"/>
                      <a:r>
                        <a:rPr sz="2400" b="1">
                          <a:solidFill>
                            <a:srgbClr val="FF0000"/>
                          </a:solidFill>
                        </a:rPr>
                        <a:t>Method</a:t>
                      </a:r>
                      <a:endParaRPr sz="2400" b="1">
                        <a:solidFill>
                          <a:srgbClr val="FF0000"/>
                        </a:solidFill>
                      </a:endParaRPr>
                    </a:p>
                  </a:txBody>
                  <a:tcPr marL="0" marR="0" marT="0" marB="0" anchor="ctr" anchorCtr="0">
                    <a:lnL>
                      <a:noFill/>
                    </a:lnL>
                    <a:lnR>
                      <a:noFill/>
                    </a:lnR>
                    <a:lnT>
                      <a:noFill/>
                    </a:lnT>
                    <a:lnB>
                      <a:noFill/>
                    </a:lnB>
                    <a:noFill/>
                  </a:tcPr>
                </a:tc>
                <a:tc>
                  <a:txBody>
                    <a:bodyPr/>
                    <a:p>
                      <a:pPr algn="ctr"/>
                      <a:r>
                        <a:rPr sz="2400" b="1">
                          <a:solidFill>
                            <a:srgbClr val="FF0000"/>
                          </a:solidFill>
                        </a:rPr>
                        <a:t>Description</a:t>
                      </a:r>
                      <a:endParaRPr sz="2400" b="1">
                        <a:solidFill>
                          <a:srgbClr val="FF0000"/>
                        </a:solidFill>
                      </a:endParaRPr>
                    </a:p>
                  </a:txBody>
                  <a:tcPr marL="0" marR="0" marT="0" marB="0" anchor="ctr" anchorCtr="0">
                    <a:lnL>
                      <a:noFill/>
                    </a:lnL>
                    <a:lnR>
                      <a:noFill/>
                    </a:lnR>
                    <a:lnT>
                      <a:noFill/>
                    </a:lnT>
                    <a:lnB>
                      <a:noFill/>
                    </a:lnB>
                    <a:noFill/>
                  </a:tcPr>
                </a:tc>
                <a:tc>
                  <a:txBody>
                    <a:bodyPr/>
                    <a:p>
                      <a:pPr algn="ctr"/>
                      <a:r>
                        <a:rPr sz="2400" b="1">
                          <a:solidFill>
                            <a:srgbClr val="FF0000"/>
                          </a:solidFill>
                        </a:rPr>
                        <a:t>Returns</a:t>
                      </a:r>
                      <a:endParaRPr sz="2400" b="1">
                        <a:solidFill>
                          <a:srgbClr val="FF0000"/>
                        </a:solidFill>
                      </a:endParaRPr>
                    </a:p>
                  </a:txBody>
                  <a:tcPr marL="0" marR="0" marT="0" marB="0" anchor="ctr" anchorCtr="0">
                    <a:lnL>
                      <a:noFill/>
                    </a:lnL>
                    <a:lnR>
                      <a:noFill/>
                    </a:lnR>
                    <a:lnT>
                      <a:noFill/>
                    </a:lnT>
                    <a:lnB>
                      <a:noFill/>
                    </a:lnB>
                    <a:noFill/>
                  </a:tcPr>
                </a:tc>
              </a:tr>
              <a:tr h="274320">
                <a:tc>
                  <a:txBody>
                    <a:bodyPr/>
                    <a:p>
                      <a:r>
                        <a:rPr sz="2000">
                          <a:solidFill>
                            <a:srgbClr val="FF0000"/>
                          </a:solidFill>
                        </a:rPr>
                        <a:t>forEach()</a:t>
                      </a:r>
                      <a:endParaRPr sz="2000">
                        <a:solidFill>
                          <a:srgbClr val="FF0000"/>
                        </a:solidFill>
                      </a:endParaRPr>
                    </a:p>
                  </a:txBody>
                  <a:tcPr marL="0" marR="0" marT="0" marB="0" anchor="ctr" anchorCtr="0">
                    <a:lnL>
                      <a:noFill/>
                    </a:lnL>
                    <a:lnR>
                      <a:noFill/>
                    </a:lnR>
                    <a:lnT>
                      <a:noFill/>
                    </a:lnT>
                    <a:lnB>
                      <a:noFill/>
                    </a:lnB>
                    <a:noFill/>
                  </a:tcPr>
                </a:tc>
                <a:tc>
                  <a:txBody>
                    <a:bodyPr/>
                    <a:p>
                      <a:r>
                        <a:rPr sz="2000"/>
                        <a:t>Executes function for each element</a:t>
                      </a:r>
                      <a:endParaRPr sz="2000"/>
                    </a:p>
                  </a:txBody>
                  <a:tcPr marL="0" marR="0" marT="0" marB="0" anchor="ctr" anchorCtr="0">
                    <a:lnL>
                      <a:noFill/>
                    </a:lnL>
                    <a:lnR>
                      <a:noFill/>
                    </a:lnR>
                    <a:lnT>
                      <a:noFill/>
                    </a:lnT>
                    <a:lnB>
                      <a:noFill/>
                    </a:lnB>
                    <a:noFill/>
                  </a:tcPr>
                </a:tc>
                <a:tc>
                  <a:txBody>
                    <a:bodyPr/>
                    <a:p>
                      <a:r>
                        <a:rPr sz="2000"/>
                        <a:t>undefined</a:t>
                      </a:r>
                      <a:endParaRPr sz="2000"/>
                    </a:p>
                  </a:txBody>
                  <a:tcPr marL="0" marR="0" marT="0" marB="0" anchor="ctr" anchorCtr="0">
                    <a:lnL>
                      <a:noFill/>
                    </a:lnL>
                    <a:lnR>
                      <a:noFill/>
                    </a:lnR>
                    <a:lnT>
                      <a:noFill/>
                    </a:lnT>
                    <a:lnB>
                      <a:noFill/>
                    </a:lnB>
                    <a:noFill/>
                  </a:tcPr>
                </a:tc>
              </a:tr>
              <a:tr h="274320">
                <a:tc>
                  <a:txBody>
                    <a:bodyPr/>
                    <a:p>
                      <a:r>
                        <a:rPr sz="2000">
                          <a:solidFill>
                            <a:srgbClr val="FF0000"/>
                          </a:solidFill>
                        </a:rPr>
                        <a:t>map()</a:t>
                      </a:r>
                      <a:endParaRPr sz="2000">
                        <a:solidFill>
                          <a:srgbClr val="FF0000"/>
                        </a:solidFill>
                      </a:endParaRPr>
                    </a:p>
                  </a:txBody>
                  <a:tcPr marL="0" marR="0" marT="0" marB="0" anchor="ctr" anchorCtr="0">
                    <a:lnL>
                      <a:noFill/>
                    </a:lnL>
                    <a:lnR>
                      <a:noFill/>
                    </a:lnR>
                    <a:lnT>
                      <a:noFill/>
                    </a:lnT>
                    <a:lnB>
                      <a:noFill/>
                    </a:lnB>
                    <a:noFill/>
                  </a:tcPr>
                </a:tc>
                <a:tc>
                  <a:txBody>
                    <a:bodyPr/>
                    <a:p>
                      <a:r>
                        <a:rPr sz="2000"/>
                        <a:t>Transforms elements</a:t>
                      </a:r>
                      <a:endParaRPr sz="2000"/>
                    </a:p>
                  </a:txBody>
                  <a:tcPr marL="0" marR="0" marT="0" marB="0" anchor="ctr" anchorCtr="0">
                    <a:lnL>
                      <a:noFill/>
                    </a:lnL>
                    <a:lnR>
                      <a:noFill/>
                    </a:lnR>
                    <a:lnT>
                      <a:noFill/>
                    </a:lnT>
                    <a:lnB>
                      <a:noFill/>
                    </a:lnB>
                    <a:noFill/>
                  </a:tcPr>
                </a:tc>
                <a:tc>
                  <a:txBody>
                    <a:bodyPr/>
                    <a:p>
                      <a:r>
                        <a:rPr sz="2000"/>
                        <a:t>New array</a:t>
                      </a:r>
                      <a:endParaRPr sz="2000"/>
                    </a:p>
                  </a:txBody>
                  <a:tcPr marL="0" marR="0" marT="0" marB="0" anchor="ctr" anchorCtr="0">
                    <a:lnL>
                      <a:noFill/>
                    </a:lnL>
                    <a:lnR>
                      <a:noFill/>
                    </a:lnR>
                    <a:lnT>
                      <a:noFill/>
                    </a:lnT>
                    <a:lnB>
                      <a:noFill/>
                    </a:lnB>
                    <a:noFill/>
                  </a:tcPr>
                </a:tc>
              </a:tr>
              <a:tr h="304800">
                <a:tc>
                  <a:txBody>
                    <a:bodyPr/>
                    <a:p>
                      <a:r>
                        <a:rPr sz="2000">
                          <a:solidFill>
                            <a:srgbClr val="FF0000"/>
                          </a:solidFill>
                        </a:rPr>
                        <a:t>filter()</a:t>
                      </a:r>
                      <a:endParaRPr sz="2000">
                        <a:solidFill>
                          <a:srgbClr val="FF0000"/>
                        </a:solidFill>
                      </a:endParaRPr>
                    </a:p>
                  </a:txBody>
                  <a:tcPr marL="0" marR="0" marT="0" marB="0" anchor="ctr" anchorCtr="0">
                    <a:lnL>
                      <a:noFill/>
                    </a:lnL>
                    <a:lnR>
                      <a:noFill/>
                    </a:lnR>
                    <a:lnT>
                      <a:noFill/>
                    </a:lnT>
                    <a:lnB>
                      <a:noFill/>
                    </a:lnB>
                    <a:noFill/>
                  </a:tcPr>
                </a:tc>
                <a:tc>
                  <a:txBody>
                    <a:bodyPr/>
                    <a:p>
                      <a:r>
                        <a:rPr sz="2000"/>
                        <a:t>Filters elements</a:t>
                      </a:r>
                      <a:endParaRPr sz="2000"/>
                    </a:p>
                  </a:txBody>
                  <a:tcPr marL="0" marR="0" marT="0" marB="0" anchor="ctr" anchorCtr="0">
                    <a:lnL>
                      <a:noFill/>
                    </a:lnL>
                    <a:lnR>
                      <a:noFill/>
                    </a:lnR>
                    <a:lnT>
                      <a:noFill/>
                    </a:lnT>
                    <a:lnB>
                      <a:noFill/>
                    </a:lnB>
                    <a:noFill/>
                  </a:tcPr>
                </a:tc>
                <a:tc>
                  <a:txBody>
                    <a:bodyPr/>
                    <a:p>
                      <a:r>
                        <a:rPr sz="2000"/>
                        <a:t>New array</a:t>
                      </a:r>
                      <a:endParaRPr sz="2000"/>
                    </a:p>
                  </a:txBody>
                  <a:tcPr marL="0" marR="0" marT="0" marB="0" anchor="ctr" anchorCtr="0">
                    <a:lnL>
                      <a:noFill/>
                    </a:lnL>
                    <a:lnR>
                      <a:noFill/>
                    </a:lnR>
                    <a:lnT>
                      <a:noFill/>
                    </a:lnT>
                    <a:lnB>
                      <a:noFill/>
                    </a:lnB>
                    <a:noFill/>
                  </a:tcPr>
                </a:tc>
              </a:tr>
              <a:tr h="274320">
                <a:tc>
                  <a:txBody>
                    <a:bodyPr/>
                    <a:p>
                      <a:r>
                        <a:rPr sz="2000">
                          <a:solidFill>
                            <a:srgbClr val="FF0000"/>
                          </a:solidFill>
                        </a:rPr>
                        <a:t>some()</a:t>
                      </a:r>
                      <a:endParaRPr sz="2000">
                        <a:solidFill>
                          <a:srgbClr val="FF0000"/>
                        </a:solidFill>
                      </a:endParaRPr>
                    </a:p>
                  </a:txBody>
                  <a:tcPr marL="0" marR="0" marT="0" marB="0" anchor="ctr" anchorCtr="0">
                    <a:lnL>
                      <a:noFill/>
                    </a:lnL>
                    <a:lnR>
                      <a:noFill/>
                    </a:lnR>
                    <a:lnT>
                      <a:noFill/>
                    </a:lnT>
                    <a:lnB>
                      <a:noFill/>
                    </a:lnB>
                    <a:noFill/>
                  </a:tcPr>
                </a:tc>
                <a:tc>
                  <a:txBody>
                    <a:bodyPr/>
                    <a:p>
                      <a:r>
                        <a:rPr sz="2000"/>
                        <a:t>Tests if any element passes</a:t>
                      </a:r>
                      <a:endParaRPr sz="2000"/>
                    </a:p>
                  </a:txBody>
                  <a:tcPr marL="0" marR="0" marT="0" marB="0" anchor="ctr" anchorCtr="0">
                    <a:lnL>
                      <a:noFill/>
                    </a:lnL>
                    <a:lnR>
                      <a:noFill/>
                    </a:lnR>
                    <a:lnT>
                      <a:noFill/>
                    </a:lnT>
                    <a:lnB>
                      <a:noFill/>
                    </a:lnB>
                    <a:noFill/>
                  </a:tcPr>
                </a:tc>
                <a:tc>
                  <a:txBody>
                    <a:bodyPr/>
                    <a:p>
                      <a:r>
                        <a:rPr sz="2000"/>
                        <a:t>Boolean</a:t>
                      </a:r>
                      <a:endParaRPr sz="2000"/>
                    </a:p>
                  </a:txBody>
                  <a:tcPr marL="0" marR="0" marT="0" marB="0" anchor="ctr" anchorCtr="0">
                    <a:lnL>
                      <a:noFill/>
                    </a:lnL>
                    <a:lnR>
                      <a:noFill/>
                    </a:lnR>
                    <a:lnT>
                      <a:noFill/>
                    </a:lnT>
                    <a:lnB>
                      <a:noFill/>
                    </a:lnB>
                    <a:noFill/>
                  </a:tcPr>
                </a:tc>
              </a:tr>
              <a:tr h="274320">
                <a:tc>
                  <a:txBody>
                    <a:bodyPr/>
                    <a:p>
                      <a:r>
                        <a:rPr sz="2000">
                          <a:solidFill>
                            <a:srgbClr val="FF0000"/>
                          </a:solidFill>
                        </a:rPr>
                        <a:t>every()</a:t>
                      </a:r>
                      <a:endParaRPr sz="2000">
                        <a:solidFill>
                          <a:srgbClr val="FF0000"/>
                        </a:solidFill>
                      </a:endParaRPr>
                    </a:p>
                  </a:txBody>
                  <a:tcPr marL="0" marR="0" marT="0" marB="0" anchor="ctr" anchorCtr="0">
                    <a:lnL>
                      <a:noFill/>
                    </a:lnL>
                    <a:lnR>
                      <a:noFill/>
                    </a:lnR>
                    <a:lnT>
                      <a:noFill/>
                    </a:lnT>
                    <a:lnB>
                      <a:noFill/>
                    </a:lnB>
                    <a:noFill/>
                  </a:tcPr>
                </a:tc>
                <a:tc>
                  <a:txBody>
                    <a:bodyPr/>
                    <a:p>
                      <a:r>
                        <a:rPr sz="2000"/>
                        <a:t>Tests if all elements pass</a:t>
                      </a:r>
                      <a:endParaRPr sz="2000"/>
                    </a:p>
                  </a:txBody>
                  <a:tcPr marL="0" marR="0" marT="0" marB="0" anchor="ctr" anchorCtr="0">
                    <a:lnL>
                      <a:noFill/>
                    </a:lnL>
                    <a:lnR>
                      <a:noFill/>
                    </a:lnR>
                    <a:lnT>
                      <a:noFill/>
                    </a:lnT>
                    <a:lnB>
                      <a:noFill/>
                    </a:lnB>
                    <a:noFill/>
                  </a:tcPr>
                </a:tc>
                <a:tc>
                  <a:txBody>
                    <a:bodyPr/>
                    <a:p>
                      <a:r>
                        <a:rPr sz="2000"/>
                        <a:t>Boolean</a:t>
                      </a:r>
                      <a:endParaRPr sz="2000"/>
                    </a:p>
                  </a:txBody>
                  <a:tcPr marL="0" marR="0" marT="0" marB="0" anchor="ctr" anchorCtr="0">
                    <a:lnL>
                      <a:noFill/>
                    </a:lnL>
                    <a:lnR>
                      <a:noFill/>
                    </a:lnR>
                    <a:lnT>
                      <a:noFill/>
                    </a:lnT>
                    <a:lnB>
                      <a:noFill/>
                    </a:lnB>
                    <a:noFill/>
                  </a:tcPr>
                </a:tc>
              </a:tr>
              <a:tr h="274320">
                <a:tc>
                  <a:txBody>
                    <a:bodyPr/>
                    <a:p>
                      <a:r>
                        <a:rPr sz="2000"/>
                        <a:t>find()</a:t>
                      </a:r>
                      <a:endParaRPr sz="2000"/>
                    </a:p>
                  </a:txBody>
                  <a:tcPr marL="0" marR="0" marT="0" marB="0" anchor="ctr" anchorCtr="0">
                    <a:lnL>
                      <a:noFill/>
                    </a:lnL>
                    <a:lnR>
                      <a:noFill/>
                    </a:lnR>
                    <a:lnT>
                      <a:noFill/>
                    </a:lnT>
                    <a:lnB>
                      <a:noFill/>
                    </a:lnB>
                    <a:noFill/>
                  </a:tcPr>
                </a:tc>
                <a:tc>
                  <a:txBody>
                    <a:bodyPr/>
                    <a:p>
                      <a:r>
                        <a:rPr sz="2000"/>
                        <a:t>Finds first match</a:t>
                      </a:r>
                      <a:endParaRPr sz="2000"/>
                    </a:p>
                  </a:txBody>
                  <a:tcPr marL="0" marR="0" marT="0" marB="0" anchor="ctr" anchorCtr="0">
                    <a:lnL>
                      <a:noFill/>
                    </a:lnL>
                    <a:lnR>
                      <a:noFill/>
                    </a:lnR>
                    <a:lnT>
                      <a:noFill/>
                    </a:lnT>
                    <a:lnB>
                      <a:noFill/>
                    </a:lnB>
                    <a:noFill/>
                  </a:tcPr>
                </a:tc>
                <a:tc>
                  <a:txBody>
                    <a:bodyPr/>
                    <a:p>
                      <a:r>
                        <a:rPr sz="2000"/>
                        <a:t>Element / undefined</a:t>
                      </a:r>
                      <a:endParaRPr sz="2000"/>
                    </a:p>
                  </a:txBody>
                  <a:tcPr marL="0" marR="0" marT="0" marB="0" anchor="ctr" anchorCtr="0">
                    <a:lnL>
                      <a:noFill/>
                    </a:lnL>
                    <a:lnR>
                      <a:noFill/>
                    </a:lnR>
                    <a:lnT>
                      <a:noFill/>
                    </a:lnT>
                    <a:lnB>
                      <a:noFill/>
                    </a:lnB>
                    <a:noFill/>
                  </a:tcPr>
                </a:tc>
              </a:tr>
              <a:tr h="274320">
                <a:tc>
                  <a:txBody>
                    <a:bodyPr/>
                    <a:p>
                      <a:r>
                        <a:rPr sz="2000"/>
                        <a:t>findIndex()</a:t>
                      </a:r>
                      <a:endParaRPr sz="2000"/>
                    </a:p>
                  </a:txBody>
                  <a:tcPr marL="0" marR="0" marT="0" marB="0" anchor="ctr" anchorCtr="0">
                    <a:lnL>
                      <a:noFill/>
                    </a:lnL>
                    <a:lnR>
                      <a:noFill/>
                    </a:lnR>
                    <a:lnT>
                      <a:noFill/>
                    </a:lnT>
                    <a:lnB>
                      <a:noFill/>
                    </a:lnB>
                    <a:noFill/>
                  </a:tcPr>
                </a:tc>
                <a:tc>
                  <a:txBody>
                    <a:bodyPr/>
                    <a:p>
                      <a:r>
                        <a:rPr sz="2000"/>
                        <a:t>Finds index of match</a:t>
                      </a:r>
                      <a:endParaRPr sz="2000"/>
                    </a:p>
                  </a:txBody>
                  <a:tcPr marL="0" marR="0" marT="0" marB="0" anchor="ctr" anchorCtr="0">
                    <a:lnL>
                      <a:noFill/>
                    </a:lnL>
                    <a:lnR>
                      <a:noFill/>
                    </a:lnR>
                    <a:lnT>
                      <a:noFill/>
                    </a:lnT>
                    <a:lnB>
                      <a:noFill/>
                    </a:lnB>
                    <a:noFill/>
                  </a:tcPr>
                </a:tc>
                <a:tc>
                  <a:txBody>
                    <a:bodyPr/>
                    <a:p>
                      <a:r>
                        <a:rPr sz="2000"/>
                        <a:t>Index / -1</a:t>
                      </a:r>
                      <a:endParaRPr sz="2000"/>
                    </a:p>
                  </a:txBody>
                  <a:tcPr marL="0" marR="0" marT="0" marB="0" anchor="ctr" anchorCtr="0">
                    <a:lnL>
                      <a:noFill/>
                    </a:lnL>
                    <a:lnR>
                      <a:noFill/>
                    </a:lnR>
                    <a:lnT>
                      <a:noFill/>
                    </a:lnT>
                    <a:lnB>
                      <a:noFill/>
                    </a:lnB>
                    <a:noFill/>
                  </a:tcPr>
                </a:tc>
              </a:tr>
            </a:tbl>
          </a:graphicData>
        </a:graphic>
      </p:graphicFrame>
      <p:graphicFrame>
        <p:nvGraphicFramePr>
          <p:cNvPr id="6" name="Table 5"/>
          <p:cNvGraphicFramePr/>
          <p:nvPr>
            <p:custDataLst>
              <p:tags r:id="rId2"/>
            </p:custDataLst>
          </p:nvPr>
        </p:nvGraphicFramePr>
        <p:xfrm>
          <a:off x="0" y="2683510"/>
          <a:ext cx="12192000" cy="787400"/>
        </p:xfrm>
        <a:graphic>
          <a:graphicData uri="http://schemas.openxmlformats.org/drawingml/2006/table">
            <a:tbl>
              <a:tblPr/>
              <a:tblGrid>
                <a:gridCol w="3818255"/>
                <a:gridCol w="4309745"/>
                <a:gridCol w="4064000"/>
              </a:tblGrid>
              <a:tr h="196850">
                <a:tc>
                  <a:txBody>
                    <a:bodyPr/>
                    <a:p>
                      <a:r>
                        <a:rPr sz="2000">
                          <a:solidFill>
                            <a:srgbClr val="FF0000"/>
                          </a:solidFill>
                        </a:rPr>
                        <a:t>keys()</a:t>
                      </a:r>
                      <a:endParaRPr sz="2000">
                        <a:solidFill>
                          <a:srgbClr val="FF0000"/>
                        </a:solidFill>
                      </a:endParaRPr>
                    </a:p>
                  </a:txBody>
                  <a:tcPr marL="0" marR="0" marT="0" marB="0" anchor="ctr" anchorCtr="0">
                    <a:lnL>
                      <a:noFill/>
                    </a:lnL>
                    <a:lnR>
                      <a:noFill/>
                    </a:lnR>
                    <a:lnT>
                      <a:noFill/>
                    </a:lnT>
                    <a:lnB>
                      <a:noFill/>
                    </a:lnB>
                    <a:noFill/>
                  </a:tcPr>
                </a:tc>
                <a:tc>
                  <a:txBody>
                    <a:bodyPr/>
                    <a:p>
                      <a:r>
                        <a:rPr sz="2000"/>
                        <a:t>Array keys iterator</a:t>
                      </a:r>
                      <a:endParaRPr sz="2000"/>
                    </a:p>
                  </a:txBody>
                  <a:tcPr marL="0" marR="0" marT="0" marB="0" anchor="ctr" anchorCtr="0">
                    <a:lnL>
                      <a:noFill/>
                    </a:lnL>
                    <a:lnR>
                      <a:noFill/>
                    </a:lnR>
                    <a:lnT>
                      <a:noFill/>
                    </a:lnT>
                    <a:lnB>
                      <a:noFill/>
                    </a:lnB>
                    <a:noFill/>
                  </a:tcPr>
                </a:tc>
                <a:tc>
                  <a:txBody>
                    <a:bodyPr/>
                    <a:p>
                      <a:r>
                        <a:rPr sz="2000"/>
                        <a:t>Iterator</a:t>
                      </a:r>
                      <a:endParaRPr sz="2000"/>
                    </a:p>
                  </a:txBody>
                  <a:tcPr marL="0" marR="0" marT="0" marB="0" anchor="ctr" anchorCtr="0">
                    <a:lnL>
                      <a:noFill/>
                    </a:lnL>
                    <a:lnR>
                      <a:noFill/>
                    </a:lnR>
                    <a:lnT>
                      <a:noFill/>
                    </a:lnT>
                    <a:lnB>
                      <a:noFill/>
                    </a:lnB>
                    <a:noFill/>
                  </a:tcPr>
                </a:tc>
              </a:tr>
              <a:tr h="196850">
                <a:tc>
                  <a:txBody>
                    <a:bodyPr/>
                    <a:p>
                      <a:r>
                        <a:rPr sz="2000">
                          <a:solidFill>
                            <a:srgbClr val="FF0000"/>
                          </a:solidFill>
                        </a:rPr>
                        <a:t>values()</a:t>
                      </a:r>
                      <a:endParaRPr sz="2000">
                        <a:solidFill>
                          <a:srgbClr val="FF0000"/>
                        </a:solidFill>
                      </a:endParaRPr>
                    </a:p>
                  </a:txBody>
                  <a:tcPr marL="0" marR="0" marT="0" marB="0" anchor="ctr" anchorCtr="0">
                    <a:lnL>
                      <a:noFill/>
                    </a:lnL>
                    <a:lnR>
                      <a:noFill/>
                    </a:lnR>
                    <a:lnT>
                      <a:noFill/>
                    </a:lnT>
                    <a:lnB>
                      <a:noFill/>
                    </a:lnB>
                    <a:noFill/>
                  </a:tcPr>
                </a:tc>
                <a:tc>
                  <a:txBody>
                    <a:bodyPr/>
                    <a:p>
                      <a:r>
                        <a:rPr sz="2000"/>
                        <a:t>Array values iterator</a:t>
                      </a:r>
                      <a:endParaRPr sz="2000"/>
                    </a:p>
                  </a:txBody>
                  <a:tcPr marL="0" marR="0" marT="0" marB="0" anchor="ctr" anchorCtr="0">
                    <a:lnL>
                      <a:noFill/>
                    </a:lnL>
                    <a:lnR>
                      <a:noFill/>
                    </a:lnR>
                    <a:lnT>
                      <a:noFill/>
                    </a:lnT>
                    <a:lnB>
                      <a:noFill/>
                    </a:lnB>
                    <a:noFill/>
                  </a:tcPr>
                </a:tc>
                <a:tc>
                  <a:txBody>
                    <a:bodyPr/>
                    <a:p>
                      <a:r>
                        <a:rPr sz="2000"/>
                        <a:t>Iterator</a:t>
                      </a:r>
                      <a:endParaRPr sz="2000"/>
                    </a:p>
                  </a:txBody>
                  <a:tcPr marL="0" marR="0" marT="0" marB="0" anchor="ctr" anchorCtr="0">
                    <a:lnL>
                      <a:noFill/>
                    </a:lnL>
                    <a:lnR>
                      <a:noFill/>
                    </a:lnR>
                    <a:lnT>
                      <a:noFill/>
                    </a:lnT>
                    <a:lnB>
                      <a:noFill/>
                    </a:lnB>
                    <a:noFill/>
                  </a:tcPr>
                </a:tc>
              </a:tr>
              <a:tr h="196850">
                <a:tc>
                  <a:txBody>
                    <a:bodyPr/>
                    <a:p>
                      <a:r>
                        <a:rPr sz="2000">
                          <a:solidFill>
                            <a:srgbClr val="FF0000"/>
                          </a:solidFill>
                        </a:rPr>
                        <a:t>entries()</a:t>
                      </a:r>
                      <a:endParaRPr sz="2000">
                        <a:solidFill>
                          <a:srgbClr val="FF0000"/>
                        </a:solidFill>
                      </a:endParaRPr>
                    </a:p>
                  </a:txBody>
                  <a:tcPr marL="0" marR="0" marT="0" marB="0" anchor="ctr" anchorCtr="0">
                    <a:lnL>
                      <a:noFill/>
                    </a:lnL>
                    <a:lnR>
                      <a:noFill/>
                    </a:lnR>
                    <a:lnT>
                      <a:noFill/>
                    </a:lnT>
                    <a:lnB>
                      <a:noFill/>
                    </a:lnB>
                    <a:noFill/>
                  </a:tcPr>
                </a:tc>
                <a:tc>
                  <a:txBody>
                    <a:bodyPr/>
                    <a:p>
                      <a:r>
                        <a:rPr sz="2000"/>
                        <a:t>Key-value pairs</a:t>
                      </a:r>
                      <a:endParaRPr sz="2000"/>
                    </a:p>
                  </a:txBody>
                  <a:tcPr marL="0" marR="0" marT="0" marB="0" anchor="ctr" anchorCtr="0">
                    <a:lnL>
                      <a:noFill/>
                    </a:lnL>
                    <a:lnR>
                      <a:noFill/>
                    </a:lnR>
                    <a:lnT>
                      <a:noFill/>
                    </a:lnT>
                    <a:lnB>
                      <a:noFill/>
                    </a:lnB>
                    <a:noFill/>
                  </a:tcPr>
                </a:tc>
                <a:tc>
                  <a:txBody>
                    <a:bodyPr/>
                    <a:p>
                      <a:r>
                        <a:rPr sz="2000"/>
                        <a:t>Iterator</a:t>
                      </a:r>
                      <a:endParaRPr sz="2000"/>
                    </a:p>
                  </a:txBody>
                  <a:tcPr marL="0" marR="0" marT="0" marB="0" anchor="ctr" anchorCtr="0">
                    <a:lnL>
                      <a:noFill/>
                    </a:lnL>
                    <a:lnR>
                      <a:noFill/>
                    </a:lnR>
                    <a:lnT>
                      <a:noFill/>
                    </a:lnT>
                    <a:lnB>
                      <a:noFill/>
                    </a:lnB>
                    <a:noFill/>
                  </a:tcPr>
                </a:tc>
              </a:tr>
            </a:tbl>
          </a:graphicData>
        </a:graphic>
      </p:graphicFrame>
      <p:graphicFrame>
        <p:nvGraphicFramePr>
          <p:cNvPr id="7" name="Table 6"/>
          <p:cNvGraphicFramePr/>
          <p:nvPr>
            <p:custDataLst>
              <p:tags r:id="rId3"/>
            </p:custDataLst>
          </p:nvPr>
        </p:nvGraphicFramePr>
        <p:xfrm>
          <a:off x="0" y="3782060"/>
          <a:ext cx="12192000" cy="673100"/>
        </p:xfrm>
        <a:graphic>
          <a:graphicData uri="http://schemas.openxmlformats.org/drawingml/2006/table">
            <a:tbl>
              <a:tblPr/>
              <a:tblGrid>
                <a:gridCol w="4064000"/>
                <a:gridCol w="4064000"/>
                <a:gridCol w="4064000"/>
              </a:tblGrid>
              <a:tr h="168275">
                <a:tc>
                  <a:txBody>
                    <a:bodyPr/>
                    <a:p>
                      <a:r>
                        <a:rPr sz="2000">
                          <a:solidFill>
                            <a:srgbClr val="FF0000"/>
                          </a:solidFill>
                        </a:rPr>
                        <a:t>Array.isArray()</a:t>
                      </a:r>
                      <a:endParaRPr sz="2000">
                        <a:solidFill>
                          <a:srgbClr val="FF0000"/>
                        </a:solidFill>
                      </a:endParaRPr>
                    </a:p>
                  </a:txBody>
                  <a:tcPr marL="0" marR="0" marT="0" marB="0" anchor="ctr" anchorCtr="0">
                    <a:lnL>
                      <a:noFill/>
                    </a:lnL>
                    <a:lnR>
                      <a:noFill/>
                    </a:lnR>
                    <a:lnT>
                      <a:noFill/>
                    </a:lnT>
                    <a:lnB>
                      <a:noFill/>
                    </a:lnB>
                    <a:noFill/>
                  </a:tcPr>
                </a:tc>
                <a:tc>
                  <a:txBody>
                    <a:bodyPr/>
                    <a:p>
                      <a:r>
                        <a:rPr sz="2000"/>
                        <a:t>Checks if value is array</a:t>
                      </a:r>
                      <a:endParaRPr sz="2000"/>
                    </a:p>
                  </a:txBody>
                  <a:tcPr marL="0" marR="0" marT="0" marB="0" anchor="ctr" anchorCtr="0">
                    <a:lnL>
                      <a:noFill/>
                    </a:lnL>
                    <a:lnR>
                      <a:noFill/>
                    </a:lnR>
                    <a:lnT>
                      <a:noFill/>
                    </a:lnT>
                    <a:lnB>
                      <a:noFill/>
                    </a:lnB>
                    <a:noFill/>
                  </a:tcPr>
                </a:tc>
                <a:tc>
                  <a:txBody>
                    <a:bodyPr/>
                    <a:p>
                      <a:r>
                        <a:rPr sz="2000"/>
                        <a:t>Boolean</a:t>
                      </a:r>
                      <a:endParaRPr sz="2000"/>
                    </a:p>
                  </a:txBody>
                  <a:tcPr marL="0" marR="0" marT="0" marB="0" anchor="ctr" anchorCtr="0">
                    <a:lnL>
                      <a:noFill/>
                    </a:lnL>
                    <a:lnR>
                      <a:noFill/>
                    </a:lnR>
                    <a:lnT>
                      <a:noFill/>
                    </a:lnT>
                    <a:lnB>
                      <a:noFill/>
                    </a:lnB>
                    <a:noFill/>
                  </a:tcPr>
                </a:tc>
              </a:tr>
              <a:tr h="168275">
                <a:tc>
                  <a:txBody>
                    <a:bodyPr/>
                    <a:p>
                      <a:r>
                        <a:rPr sz="2000">
                          <a:solidFill>
                            <a:srgbClr val="FF0000"/>
                          </a:solidFill>
                        </a:rPr>
                        <a:t>Array.from()</a:t>
                      </a:r>
                      <a:endParaRPr sz="2000">
                        <a:solidFill>
                          <a:srgbClr val="FF0000"/>
                        </a:solidFill>
                      </a:endParaRPr>
                    </a:p>
                  </a:txBody>
                  <a:tcPr marL="0" marR="0" marT="0" marB="0" anchor="ctr" anchorCtr="0">
                    <a:lnL>
                      <a:noFill/>
                    </a:lnL>
                    <a:lnR>
                      <a:noFill/>
                    </a:lnR>
                    <a:lnT>
                      <a:noFill/>
                    </a:lnT>
                    <a:lnB>
                      <a:noFill/>
                    </a:lnB>
                    <a:noFill/>
                  </a:tcPr>
                </a:tc>
                <a:tc>
                  <a:txBody>
                    <a:bodyPr/>
                    <a:p>
                      <a:r>
                        <a:rPr sz="2000"/>
                        <a:t>Creates array from iterable</a:t>
                      </a:r>
                      <a:endParaRPr sz="2000"/>
                    </a:p>
                  </a:txBody>
                  <a:tcPr marL="0" marR="0" marT="0" marB="0" anchor="ctr" anchorCtr="0">
                    <a:lnL>
                      <a:noFill/>
                    </a:lnL>
                    <a:lnR>
                      <a:noFill/>
                    </a:lnR>
                    <a:lnT>
                      <a:noFill/>
                    </a:lnT>
                    <a:lnB>
                      <a:noFill/>
                    </a:lnB>
                    <a:noFill/>
                  </a:tcPr>
                </a:tc>
                <a:tc>
                  <a:txBody>
                    <a:bodyPr/>
                    <a:p>
                      <a:r>
                        <a:rPr sz="2000"/>
                        <a:t>New array</a:t>
                      </a:r>
                      <a:endParaRPr sz="2000"/>
                    </a:p>
                  </a:txBody>
                  <a:tcPr marL="0" marR="0" marT="0" marB="0" anchor="ctr" anchorCtr="0">
                    <a:lnL>
                      <a:noFill/>
                    </a:lnL>
                    <a:lnR>
                      <a:noFill/>
                    </a:lnR>
                    <a:lnT>
                      <a:noFill/>
                    </a:lnT>
                    <a:lnB>
                      <a:noFill/>
                    </a:lnB>
                    <a:noFill/>
                  </a:tcPr>
                </a:tc>
              </a:tr>
              <a:tr h="168275">
                <a:tc>
                  <a:txBody>
                    <a:bodyPr/>
                    <a:p>
                      <a:r>
                        <a:rPr sz="2000">
                          <a:solidFill>
                            <a:srgbClr val="FF0000"/>
                          </a:solidFill>
                        </a:rPr>
                        <a:t>Array.of()</a:t>
                      </a:r>
                      <a:endParaRPr sz="2000">
                        <a:solidFill>
                          <a:srgbClr val="FF0000"/>
                        </a:solidFill>
                      </a:endParaRPr>
                    </a:p>
                  </a:txBody>
                  <a:tcPr marL="0" marR="0" marT="0" marB="0" anchor="ctr" anchorCtr="0">
                    <a:lnL>
                      <a:noFill/>
                    </a:lnL>
                    <a:lnR>
                      <a:noFill/>
                    </a:lnR>
                    <a:lnT>
                      <a:noFill/>
                    </a:lnT>
                    <a:lnB>
                      <a:noFill/>
                    </a:lnB>
                    <a:noFill/>
                  </a:tcPr>
                </a:tc>
                <a:tc>
                  <a:txBody>
                    <a:bodyPr/>
                    <a:p>
                      <a:r>
                        <a:rPr sz="2000"/>
                        <a:t>Creates array from arguments</a:t>
                      </a:r>
                      <a:endParaRPr sz="2000"/>
                    </a:p>
                  </a:txBody>
                  <a:tcPr marL="0" marR="0" marT="0" marB="0" anchor="ctr" anchorCtr="0">
                    <a:lnL>
                      <a:noFill/>
                    </a:lnL>
                    <a:lnR>
                      <a:noFill/>
                    </a:lnR>
                    <a:lnT>
                      <a:noFill/>
                    </a:lnT>
                    <a:lnB>
                      <a:noFill/>
                    </a:lnB>
                    <a:noFill/>
                  </a:tcPr>
                </a:tc>
                <a:tc>
                  <a:txBody>
                    <a:bodyPr/>
                    <a:p>
                      <a:r>
                        <a:rPr sz="2000"/>
                        <a:t>New array</a:t>
                      </a:r>
                      <a:endParaRPr sz="2000"/>
                    </a:p>
                  </a:txBody>
                  <a:tcPr marL="0" marR="0" marT="0" marB="0" anchor="ctr" anchorCtr="0">
                    <a:lnL>
                      <a:noFill/>
                    </a:lnL>
                    <a:lnR>
                      <a:noFill/>
                    </a:lnR>
                    <a:lnT>
                      <a:noFill/>
                    </a:lnT>
                    <a:lnB>
                      <a:noFill/>
                    </a:lnB>
                    <a:noFill/>
                  </a:tcPr>
                </a:tc>
              </a:tr>
            </a:tbl>
          </a:graphicData>
        </a:graphic>
      </p:graphicFrame>
      <p:graphicFrame>
        <p:nvGraphicFramePr>
          <p:cNvPr id="8" name="Table 7"/>
          <p:cNvGraphicFramePr/>
          <p:nvPr>
            <p:custDataLst>
              <p:tags r:id="rId4"/>
            </p:custDataLst>
          </p:nvPr>
        </p:nvGraphicFramePr>
        <p:xfrm>
          <a:off x="0" y="4880610"/>
          <a:ext cx="12091035" cy="368300"/>
        </p:xfrm>
        <a:graphic>
          <a:graphicData uri="http://schemas.openxmlformats.org/drawingml/2006/table">
            <a:tbl>
              <a:tblPr/>
              <a:tblGrid>
                <a:gridCol w="4030345"/>
                <a:gridCol w="4030345"/>
                <a:gridCol w="4030345"/>
              </a:tblGrid>
              <a:tr h="368300">
                <a:tc>
                  <a:txBody>
                    <a:bodyPr/>
                    <a:p>
                      <a:r>
                        <a:rPr sz="2000">
                          <a:solidFill>
                            <a:srgbClr val="FF0000"/>
                          </a:solidFill>
                        </a:rPr>
                        <a:t>length</a:t>
                      </a:r>
                      <a:endParaRPr sz="2000">
                        <a:solidFill>
                          <a:srgbClr val="FF0000"/>
                        </a:solidFill>
                      </a:endParaRPr>
                    </a:p>
                  </a:txBody>
                  <a:tcPr marL="0" marR="0" marT="0" marB="0" anchor="ctr" anchorCtr="0">
                    <a:lnL>
                      <a:noFill/>
                    </a:lnL>
                    <a:lnR>
                      <a:noFill/>
                    </a:lnR>
                    <a:lnT>
                      <a:noFill/>
                    </a:lnT>
                    <a:lnB>
                      <a:noFill/>
                    </a:lnB>
                    <a:noFill/>
                  </a:tcPr>
                </a:tc>
                <a:tc>
                  <a:txBody>
                    <a:bodyPr/>
                    <a:p>
                      <a:r>
                        <a:rPr sz="2000"/>
                        <a:t>Number of elements</a:t>
                      </a:r>
                      <a:endParaRPr sz="2000"/>
                    </a:p>
                  </a:txBody>
                  <a:tcPr marL="0" marR="0" marT="0" marB="0" anchor="ctr" anchorCtr="0">
                    <a:lnL>
                      <a:noFill/>
                    </a:lnL>
                    <a:lnR>
                      <a:noFill/>
                    </a:lnR>
                    <a:lnT>
                      <a:noFill/>
                    </a:lnT>
                    <a:lnB>
                      <a:noFill/>
                    </a:lnB>
                    <a:noFill/>
                  </a:tcPr>
                </a:tc>
                <a:tc>
                  <a:txBody>
                    <a:bodyPr/>
                    <a:p>
                      <a:r>
                        <a:rPr sz="2000"/>
                        <a:t>Number</a:t>
                      </a:r>
                      <a:endParaRPr sz="20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35" y="-635"/>
            <a:ext cx="6365240" cy="6857365"/>
          </a:xfrm>
          <a:prstGeom prst="rect">
            <a:avLst/>
          </a:prstGeom>
          <a:noFill/>
        </p:spPr>
        <p:txBody>
          <a:bodyPr wrap="square" rtlCol="0" anchor="t">
            <a:noAutofit/>
          </a:bodyPr>
          <a:p>
            <a:r>
              <a:rPr lang="en-US" altLang="en-US"/>
              <a:t>// ORIGINAL ARRAYS</a:t>
            </a:r>
            <a:endParaRPr lang="en-US" altLang="en-US"/>
          </a:p>
          <a:p>
            <a:r>
              <a:rPr lang="en-US" altLang="en-US"/>
              <a:t>let arr = [1, 2, 3];</a:t>
            </a:r>
            <a:endParaRPr lang="en-US" altLang="en-US"/>
          </a:p>
          <a:p>
            <a:r>
              <a:rPr lang="en-US" altLang="en-US"/>
              <a:t>let letters = ["a", "b", "c"];</a:t>
            </a:r>
            <a:endParaRPr lang="en-US" altLang="en-US"/>
          </a:p>
          <a:p>
            <a:endParaRPr lang="en-US" altLang="en-US"/>
          </a:p>
          <a:p>
            <a:r>
              <a:rPr lang="en-US" altLang="en-US">
                <a:solidFill>
                  <a:srgbClr val="FF0000"/>
                </a:solidFill>
              </a:rPr>
              <a:t>// 1. Array.isArray()</a:t>
            </a:r>
            <a:endParaRPr lang="en-US" altLang="en-US">
              <a:solidFill>
                <a:srgbClr val="FF0000"/>
              </a:solidFill>
            </a:endParaRPr>
          </a:p>
          <a:p>
            <a:r>
              <a:rPr lang="en-US" altLang="en-US">
                <a:solidFill>
                  <a:srgbClr val="FF0000"/>
                </a:solidFill>
              </a:rPr>
              <a:t>console.log(Array.isArray(arr));     // Output: true</a:t>
            </a:r>
            <a:endParaRPr lang="en-US" altLang="en-US">
              <a:solidFill>
                <a:srgbClr val="FF0000"/>
              </a:solidFill>
            </a:endParaRPr>
          </a:p>
          <a:p>
            <a:endParaRPr lang="en-US" altLang="en-US">
              <a:solidFill>
                <a:srgbClr val="FF0000"/>
              </a:solidFill>
            </a:endParaRPr>
          </a:p>
          <a:p>
            <a:r>
              <a:rPr lang="en-US" altLang="en-US">
                <a:solidFill>
                  <a:srgbClr val="FF0000"/>
                </a:solidFill>
              </a:rPr>
              <a:t>// 3. Array.of()</a:t>
            </a:r>
            <a:endParaRPr lang="en-US" altLang="en-US">
              <a:solidFill>
                <a:srgbClr val="FF0000"/>
              </a:solidFill>
            </a:endParaRPr>
          </a:p>
          <a:p>
            <a:r>
              <a:rPr lang="en-US" altLang="en-US">
                <a:solidFill>
                  <a:srgbClr val="FF0000"/>
                </a:solidFill>
              </a:rPr>
              <a:t>console.log(Array.of(1, 2, 3)); // Output: [1, 2, 3]</a:t>
            </a:r>
            <a:endParaRPr lang="en-US" altLang="en-US">
              <a:solidFill>
                <a:srgbClr val="FF0000"/>
              </a:solidFill>
            </a:endParaRPr>
          </a:p>
          <a:p>
            <a:endParaRPr lang="en-US" altLang="en-US"/>
          </a:p>
          <a:p>
            <a:r>
              <a:rPr lang="en-US" altLang="en-US">
                <a:solidFill>
                  <a:srgbClr val="FF0000"/>
                </a:solidFill>
              </a:rPr>
              <a:t>// 4. keys()</a:t>
            </a:r>
            <a:endParaRPr lang="en-US" altLang="en-US">
              <a:solidFill>
                <a:srgbClr val="FF0000"/>
              </a:solidFill>
            </a:endParaRPr>
          </a:p>
          <a:p>
            <a:r>
              <a:rPr lang="en-US" altLang="en-US">
                <a:solidFill>
                  <a:srgbClr val="FF0000"/>
                </a:solidFill>
              </a:rPr>
              <a:t>for (let key of arr.keys()) {    console.log(key);   }  // Output: 0,1,2</a:t>
            </a:r>
            <a:endParaRPr lang="en-US" altLang="en-US">
              <a:solidFill>
                <a:srgbClr val="FF0000"/>
              </a:solidFill>
            </a:endParaRPr>
          </a:p>
          <a:p>
            <a:endParaRPr lang="en-US" altLang="en-US">
              <a:solidFill>
                <a:srgbClr val="FF0000"/>
              </a:solidFill>
            </a:endParaRPr>
          </a:p>
          <a:p>
            <a:r>
              <a:rPr lang="en-US" altLang="en-US">
                <a:solidFill>
                  <a:srgbClr val="FF0000"/>
                </a:solidFill>
              </a:rPr>
              <a:t>// 5. values()</a:t>
            </a:r>
            <a:endParaRPr lang="en-US" altLang="en-US">
              <a:solidFill>
                <a:srgbClr val="FF0000"/>
              </a:solidFill>
            </a:endParaRPr>
          </a:p>
          <a:p>
            <a:r>
              <a:rPr lang="en-US" altLang="en-US">
                <a:solidFill>
                  <a:srgbClr val="FF0000"/>
                </a:solidFill>
              </a:rPr>
              <a:t>for (let value of arr.values()) {   console.log(value); }</a:t>
            </a:r>
            <a:endParaRPr lang="en-US" altLang="en-US">
              <a:solidFill>
                <a:srgbClr val="FF0000"/>
              </a:solidFill>
            </a:endParaRPr>
          </a:p>
          <a:p>
            <a:r>
              <a:rPr lang="en-US" altLang="en-US">
                <a:solidFill>
                  <a:srgbClr val="FF0000"/>
                </a:solidFill>
              </a:rPr>
              <a:t>// Output:  1 , 2, 3</a:t>
            </a:r>
            <a:endParaRPr lang="en-US" altLang="en-US">
              <a:solidFill>
                <a:srgbClr val="FF0000"/>
              </a:solidFill>
            </a:endParaRPr>
          </a:p>
          <a:p>
            <a:endParaRPr lang="en-US" altLang="en-US">
              <a:solidFill>
                <a:srgbClr val="FF0000"/>
              </a:solidFill>
            </a:endParaRPr>
          </a:p>
          <a:p>
            <a:r>
              <a:rPr lang="en-US" altLang="en-US">
                <a:solidFill>
                  <a:srgbClr val="FF0000"/>
                </a:solidFill>
              </a:rPr>
              <a:t>// 6. entries()</a:t>
            </a:r>
            <a:endParaRPr lang="en-US" altLang="en-US">
              <a:solidFill>
                <a:srgbClr val="FF0000"/>
              </a:solidFill>
            </a:endParaRPr>
          </a:p>
          <a:p>
            <a:r>
              <a:rPr lang="en-US" altLang="en-US">
                <a:solidFill>
                  <a:srgbClr val="FF0000"/>
                </a:solidFill>
              </a:rPr>
              <a:t>for (let [index, value] of arr.entries()) {   console.log(index, value);</a:t>
            </a:r>
            <a:endParaRPr lang="en-US" altLang="en-US">
              <a:solidFill>
                <a:srgbClr val="FF0000"/>
              </a:solidFill>
            </a:endParaRPr>
          </a:p>
          <a:p>
            <a:r>
              <a:rPr lang="en-US" altLang="en-US">
                <a:solidFill>
                  <a:srgbClr val="FF0000"/>
                </a:solidFill>
              </a:rPr>
              <a:t>}// Output: // 0 1  1 2  2 3</a:t>
            </a:r>
            <a:endParaRPr lang="en-US" altLang="en-US">
              <a:solidFill>
                <a:srgbClr val="FF0000"/>
              </a:solidFill>
            </a:endParaRPr>
          </a:p>
          <a:p>
            <a:endParaRPr lang="en-US" altLang="en-US">
              <a:solidFill>
                <a:srgbClr val="FF0000"/>
              </a:solidFill>
            </a:endParaRPr>
          </a:p>
          <a:p>
            <a:r>
              <a:rPr lang="en-US" altLang="en-US">
                <a:solidFill>
                  <a:srgbClr val="FF0000"/>
                </a:solidFill>
              </a:rPr>
              <a:t>// 7. fill()</a:t>
            </a:r>
            <a:endParaRPr lang="en-US" altLang="en-US">
              <a:solidFill>
                <a:srgbClr val="FF0000"/>
              </a:solidFill>
            </a:endParaRPr>
          </a:p>
          <a:p>
            <a:r>
              <a:rPr lang="en-US" altLang="en-US">
                <a:solidFill>
                  <a:srgbClr val="FF0000"/>
                </a:solidFill>
              </a:rPr>
              <a:t>let fillArr = [1, 2, 3];</a:t>
            </a:r>
            <a:endParaRPr lang="en-US" altLang="en-US">
              <a:solidFill>
                <a:srgbClr val="FF0000"/>
              </a:solidFill>
            </a:endParaRPr>
          </a:p>
          <a:p>
            <a:r>
              <a:rPr lang="en-US" altLang="en-US">
                <a:solidFill>
                  <a:srgbClr val="FF0000"/>
                </a:solidFill>
              </a:rPr>
              <a:t>fillArr.fill(0);</a:t>
            </a:r>
            <a:endParaRPr lang="en-US" altLang="en-US">
              <a:solidFill>
                <a:srgbClr val="FF0000"/>
              </a:solidFill>
            </a:endParaRPr>
          </a:p>
          <a:p>
            <a:r>
              <a:rPr lang="en-US" altLang="en-US">
                <a:solidFill>
                  <a:srgbClr val="FF0000"/>
                </a:solidFill>
              </a:rPr>
              <a:t>console.log(fillArr); // Output: [0, 0, 0]</a:t>
            </a:r>
            <a:endParaRPr lang="en-US" altLang="en-US">
              <a:solidFill>
                <a:srgbClr val="FF0000"/>
              </a:solidFill>
            </a:endParaRPr>
          </a:p>
          <a:p>
            <a:endParaRPr lang="en-US" altLang="en-US"/>
          </a:p>
          <a:p>
            <a:endParaRPr lang="en-US"/>
          </a:p>
        </p:txBody>
      </p:sp>
      <p:sp>
        <p:nvSpPr>
          <p:cNvPr id="4" name="Text Box 3"/>
          <p:cNvSpPr txBox="1"/>
          <p:nvPr/>
        </p:nvSpPr>
        <p:spPr>
          <a:xfrm>
            <a:off x="6365240" y="-236855"/>
            <a:ext cx="5984875" cy="7094220"/>
          </a:xfrm>
          <a:prstGeom prst="rect">
            <a:avLst/>
          </a:prstGeom>
          <a:noFill/>
        </p:spPr>
        <p:txBody>
          <a:bodyPr wrap="square" rtlCol="0" anchor="t">
            <a:noAutofit/>
          </a:bodyPr>
          <a:p>
            <a:endParaRPr lang="en-US" altLang="en-US">
              <a:sym typeface="+mn-ea"/>
            </a:endParaRPr>
          </a:p>
          <a:p>
            <a:r>
              <a:rPr lang="en-US" altLang="en-US">
                <a:solidFill>
                  <a:srgbClr val="FF0000"/>
                </a:solidFill>
                <a:sym typeface="+mn-ea"/>
              </a:rPr>
              <a:t>// 8. forEach()</a:t>
            </a:r>
            <a:endParaRPr lang="en-US" altLang="en-US">
              <a:solidFill>
                <a:srgbClr val="FF0000"/>
              </a:solidFill>
            </a:endParaRPr>
          </a:p>
          <a:p>
            <a:r>
              <a:rPr lang="en-US" altLang="en-US">
                <a:solidFill>
                  <a:srgbClr val="FF0000"/>
                </a:solidFill>
                <a:sym typeface="+mn-ea"/>
              </a:rPr>
              <a:t>arr.forEach(num =&gt; {  console.log(num);});// Output: // 1 ,2, 3</a:t>
            </a:r>
            <a:endParaRPr lang="en-US" altLang="en-US">
              <a:solidFill>
                <a:srgbClr val="FF0000"/>
              </a:solidFill>
            </a:endParaRPr>
          </a:p>
          <a:p>
            <a:endParaRPr lang="en-US" altLang="en-US">
              <a:solidFill>
                <a:srgbClr val="FF0000"/>
              </a:solidFill>
            </a:endParaRPr>
          </a:p>
          <a:p>
            <a:r>
              <a:rPr lang="en-US" altLang="en-US">
                <a:solidFill>
                  <a:srgbClr val="FF0000"/>
                </a:solidFill>
                <a:sym typeface="+mn-ea"/>
              </a:rPr>
              <a:t>// 9. map()</a:t>
            </a:r>
            <a:endParaRPr lang="en-US" altLang="en-US">
              <a:solidFill>
                <a:srgbClr val="FF0000"/>
              </a:solidFill>
            </a:endParaRPr>
          </a:p>
          <a:p>
            <a:r>
              <a:rPr lang="en-US" altLang="en-US">
                <a:solidFill>
                  <a:srgbClr val="FF0000"/>
                </a:solidFill>
                <a:sym typeface="+mn-ea"/>
              </a:rPr>
              <a:t>let mapArr = arr.map(num =&gt; num * 2);console.log(mapArr);</a:t>
            </a:r>
            <a:endParaRPr lang="en-US" altLang="en-US">
              <a:solidFill>
                <a:srgbClr val="FF0000"/>
              </a:solidFill>
            </a:endParaRPr>
          </a:p>
          <a:p>
            <a:r>
              <a:rPr lang="en-US" altLang="en-US">
                <a:solidFill>
                  <a:srgbClr val="FF0000"/>
                </a:solidFill>
                <a:sym typeface="+mn-ea"/>
              </a:rPr>
              <a:t>// Output: [2, 4, 6]</a:t>
            </a:r>
            <a:endParaRPr lang="en-US" altLang="en-US">
              <a:solidFill>
                <a:srgbClr val="FF0000"/>
              </a:solidFill>
            </a:endParaRPr>
          </a:p>
          <a:p>
            <a:endParaRPr lang="en-US" altLang="en-US">
              <a:solidFill>
                <a:srgbClr val="FF0000"/>
              </a:solidFill>
            </a:endParaRPr>
          </a:p>
          <a:p>
            <a:r>
              <a:rPr lang="en-US" altLang="en-US">
                <a:solidFill>
                  <a:srgbClr val="FF0000"/>
                </a:solidFill>
                <a:sym typeface="+mn-ea"/>
              </a:rPr>
              <a:t>// 10. filter()</a:t>
            </a:r>
            <a:endParaRPr lang="en-US" altLang="en-US">
              <a:solidFill>
                <a:srgbClr val="FF0000"/>
              </a:solidFill>
            </a:endParaRPr>
          </a:p>
          <a:p>
            <a:r>
              <a:rPr lang="en-US" altLang="en-US">
                <a:solidFill>
                  <a:srgbClr val="FF0000"/>
                </a:solidFill>
                <a:sym typeface="+mn-ea"/>
              </a:rPr>
              <a:t>let filterArr = [1, 2, 3, 4].filter(num =&gt; num % 2 === 0);</a:t>
            </a:r>
            <a:endParaRPr lang="en-US" altLang="en-US">
              <a:solidFill>
                <a:srgbClr val="FF0000"/>
              </a:solidFill>
            </a:endParaRPr>
          </a:p>
          <a:p>
            <a:r>
              <a:rPr lang="en-US" altLang="en-US">
                <a:solidFill>
                  <a:srgbClr val="FF0000"/>
                </a:solidFill>
                <a:sym typeface="+mn-ea"/>
              </a:rPr>
              <a:t>console.log(filterArr);// Output: [2, 4]</a:t>
            </a:r>
            <a:endParaRPr lang="en-US" altLang="en-US">
              <a:solidFill>
                <a:srgbClr val="FF0000"/>
              </a:solidFill>
            </a:endParaRPr>
          </a:p>
          <a:p>
            <a:endParaRPr lang="en-US" altLang="en-US">
              <a:solidFill>
                <a:srgbClr val="FF0000"/>
              </a:solidFill>
            </a:endParaRPr>
          </a:p>
          <a:p>
            <a:r>
              <a:rPr lang="en-US" altLang="en-US">
                <a:solidFill>
                  <a:srgbClr val="FF0000"/>
                </a:solidFill>
                <a:sym typeface="+mn-ea"/>
              </a:rPr>
              <a:t>// 11. some()</a:t>
            </a:r>
            <a:endParaRPr lang="en-US" altLang="en-US">
              <a:solidFill>
                <a:srgbClr val="FF0000"/>
              </a:solidFill>
            </a:endParaRPr>
          </a:p>
          <a:p>
            <a:r>
              <a:rPr lang="en-US" altLang="en-US">
                <a:solidFill>
                  <a:srgbClr val="FF0000"/>
                </a:solidFill>
                <a:sym typeface="+mn-ea"/>
              </a:rPr>
              <a:t>console.log([1, 2, 3].some(num =&gt; num &gt; 2));// Output: true</a:t>
            </a:r>
            <a:endParaRPr lang="en-US" altLang="en-US">
              <a:solidFill>
                <a:srgbClr val="FF0000"/>
              </a:solidFill>
            </a:endParaRPr>
          </a:p>
          <a:p>
            <a:endParaRPr lang="en-US" altLang="en-US">
              <a:solidFill>
                <a:srgbClr val="FF0000"/>
              </a:solidFill>
            </a:endParaRPr>
          </a:p>
          <a:p>
            <a:r>
              <a:rPr lang="en-US" altLang="en-US">
                <a:solidFill>
                  <a:srgbClr val="FF0000"/>
                </a:solidFill>
                <a:sym typeface="+mn-ea"/>
              </a:rPr>
              <a:t>// 12. every()</a:t>
            </a:r>
            <a:endParaRPr lang="en-US" altLang="en-US">
              <a:solidFill>
                <a:srgbClr val="FF0000"/>
              </a:solidFill>
            </a:endParaRPr>
          </a:p>
          <a:p>
            <a:r>
              <a:rPr lang="en-US" altLang="en-US">
                <a:solidFill>
                  <a:srgbClr val="FF0000"/>
                </a:solidFill>
                <a:sym typeface="+mn-ea"/>
              </a:rPr>
              <a:t>console.log([1, 2, 3].every(num =&gt; num &gt; 0));// Output: true</a:t>
            </a:r>
            <a:endParaRPr lang="en-US" altLang="en-US">
              <a:solidFill>
                <a:srgbClr val="FF0000"/>
              </a:solidFill>
            </a:endParaRPr>
          </a:p>
          <a:p>
            <a:endParaRPr lang="en-US" altLang="en-US"/>
          </a:p>
          <a:p>
            <a:r>
              <a:rPr lang="en-US" altLang="en-US">
                <a:sym typeface="+mn-ea"/>
              </a:rPr>
              <a:t>/</a:t>
            </a:r>
            <a:r>
              <a:rPr lang="en-US" altLang="en-US">
                <a:solidFill>
                  <a:srgbClr val="FF0000"/>
                </a:solidFill>
                <a:sym typeface="+mn-ea"/>
              </a:rPr>
              <a:t>/ 13. join()</a:t>
            </a:r>
            <a:endParaRPr lang="en-US" altLang="en-US">
              <a:solidFill>
                <a:srgbClr val="FF0000"/>
              </a:solidFill>
            </a:endParaRPr>
          </a:p>
          <a:p>
            <a:r>
              <a:rPr lang="en-US" altLang="en-US">
                <a:solidFill>
                  <a:srgbClr val="FF0000"/>
                </a:solidFill>
                <a:sym typeface="+mn-ea"/>
              </a:rPr>
              <a:t>console.log(letters.join("-"));// Output: "a-b-c"</a:t>
            </a:r>
            <a:endParaRPr lang="en-US" altLang="en-US">
              <a:solidFill>
                <a:srgbClr val="FF0000"/>
              </a:solidFill>
            </a:endParaRPr>
          </a:p>
          <a:p>
            <a:endParaRPr lang="en-US" altLang="en-US">
              <a:solidFill>
                <a:srgbClr val="FF0000"/>
              </a:solidFill>
            </a:endParaRPr>
          </a:p>
          <a:p>
            <a:r>
              <a:rPr lang="en-US" altLang="en-US">
                <a:solidFill>
                  <a:srgbClr val="FF0000"/>
                </a:solidFill>
                <a:sym typeface="+mn-ea"/>
              </a:rPr>
              <a:t>// 14. toString()</a:t>
            </a:r>
            <a:endParaRPr lang="en-US" altLang="en-US">
              <a:solidFill>
                <a:srgbClr val="FF0000"/>
              </a:solidFill>
            </a:endParaRPr>
          </a:p>
          <a:p>
            <a:r>
              <a:rPr lang="en-US" altLang="en-US">
                <a:solidFill>
                  <a:srgbClr val="FF0000"/>
                </a:solidFill>
                <a:sym typeface="+mn-ea"/>
              </a:rPr>
              <a:t>console.log(arr.toString());// Output: "1,2,3"</a:t>
            </a:r>
            <a:endParaRPr lang="en-US" altLang="en-US">
              <a:solidFill>
                <a:srgbClr val="FF0000"/>
              </a:solidFill>
              <a:sym typeface="+mn-ea"/>
            </a:endParaRPr>
          </a:p>
          <a:p>
            <a:endParaRPr lang="en-US" altLang="en-US">
              <a:sym typeface="+mn-ea"/>
            </a:endParaRPr>
          </a:p>
          <a:p>
            <a:r>
              <a:rPr lang="en-US" altLang="en-US">
                <a:solidFill>
                  <a:srgbClr val="FF0000"/>
                </a:solidFill>
                <a:sym typeface="+mn-ea"/>
              </a:rPr>
              <a:t>// 2. Array.from()</a:t>
            </a:r>
            <a:endParaRPr lang="en-US" altLang="en-US">
              <a:solidFill>
                <a:srgbClr val="FF0000"/>
              </a:solidFill>
            </a:endParaRPr>
          </a:p>
          <a:p>
            <a:r>
              <a:rPr lang="en-US" altLang="en-US">
                <a:solidFill>
                  <a:srgbClr val="FF0000"/>
                </a:solidFill>
                <a:sym typeface="+mn-ea"/>
              </a:rPr>
              <a:t>console.log(Array.from("abc")); // Output: ["a", "b", "c"]</a:t>
            </a:r>
            <a:endParaRPr lang="en-US" altLang="en-US">
              <a:solidFill>
                <a:srgbClr val="FF0000"/>
              </a:solidFill>
            </a:endParaRPr>
          </a:p>
          <a:p>
            <a:endParaRPr lang="en-US" altLang="en-US">
              <a:solidFill>
                <a:srgbClr val="FF0000"/>
              </a:solidFill>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5725" y="0"/>
            <a:ext cx="11911330" cy="353695"/>
          </a:xfrm>
        </p:spPr>
        <p:txBody>
          <a:bodyPr>
            <a:normAutofit fontScale="90000"/>
          </a:bodyPr>
          <a:p>
            <a:pPr algn="ctr"/>
            <a:r>
              <a:rPr lang="en-US" sz="2800" b="1">
                <a:solidFill>
                  <a:srgbClr val="FF0000"/>
                </a:solidFill>
              </a:rPr>
              <a:t>Js Arrow Function</a:t>
            </a:r>
            <a:endParaRPr lang="en-US" sz="2800" b="1">
              <a:solidFill>
                <a:srgbClr val="FF0000"/>
              </a:solidFill>
            </a:endParaRPr>
          </a:p>
        </p:txBody>
      </p:sp>
      <p:sp>
        <p:nvSpPr>
          <p:cNvPr id="3" name="Content Placeholder 2"/>
          <p:cNvSpPr>
            <a:spLocks noGrp="1"/>
          </p:cNvSpPr>
          <p:nvPr>
            <p:ph idx="1"/>
          </p:nvPr>
        </p:nvSpPr>
        <p:spPr>
          <a:xfrm>
            <a:off x="85725" y="426085"/>
            <a:ext cx="11911330" cy="2426970"/>
          </a:xfrm>
        </p:spPr>
        <p:txBody>
          <a:bodyPr/>
          <a:p>
            <a:r>
              <a:rPr lang="en-US" altLang="en-US" sz="2000">
                <a:sym typeface="+mn-ea"/>
              </a:rPr>
              <a:t>JavaScript Arrow Functions</a:t>
            </a:r>
            <a:endParaRPr lang="en-US" altLang="en-US" sz="2000"/>
          </a:p>
          <a:p>
            <a:r>
              <a:rPr lang="en-US" altLang="en-US" sz="2000">
                <a:sym typeface="+mn-ea"/>
              </a:rPr>
              <a:t>Arrow functions (=&gt;) are a shorter and cleaner way to write functions in JavaScript.</a:t>
            </a:r>
            <a:endParaRPr lang="en-US" altLang="en-US" sz="2000"/>
          </a:p>
          <a:p>
            <a:endParaRPr lang="en-US" altLang="en-US" sz="2000"/>
          </a:p>
        </p:txBody>
      </p:sp>
      <p:graphicFrame>
        <p:nvGraphicFramePr>
          <p:cNvPr id="4" name="Table 3"/>
          <p:cNvGraphicFramePr/>
          <p:nvPr>
            <p:custDataLst>
              <p:tags r:id="rId1"/>
            </p:custDataLst>
          </p:nvPr>
        </p:nvGraphicFramePr>
        <p:xfrm>
          <a:off x="264795" y="1261110"/>
          <a:ext cx="10485120" cy="1615440"/>
        </p:xfrm>
        <a:graphic>
          <a:graphicData uri="http://schemas.openxmlformats.org/drawingml/2006/table">
            <a:tbl>
              <a:tblPr/>
              <a:tblGrid>
                <a:gridCol w="5242560"/>
                <a:gridCol w="5242560"/>
              </a:tblGrid>
              <a:tr h="269240">
                <a:tc>
                  <a:txBody>
                    <a:bodyPr/>
                    <a:p>
                      <a:pPr algn="ctr"/>
                      <a:r>
                        <a:rPr sz="2000" b="1"/>
                        <a:t>Scenario</a:t>
                      </a:r>
                      <a:endParaRPr sz="2000" b="1"/>
                    </a:p>
                  </a:txBody>
                  <a:tcPr marL="0" marR="0" marT="0" marB="0" anchor="ctr" anchorCtr="0">
                    <a:lnL>
                      <a:noFill/>
                    </a:lnL>
                    <a:lnR>
                      <a:noFill/>
                    </a:lnR>
                    <a:lnT>
                      <a:noFill/>
                    </a:lnT>
                    <a:lnB>
                      <a:noFill/>
                    </a:lnB>
                    <a:noFill/>
                  </a:tcPr>
                </a:tc>
                <a:tc>
                  <a:txBody>
                    <a:bodyPr/>
                    <a:p>
                      <a:pPr algn="ctr"/>
                      <a:r>
                        <a:rPr sz="2000" b="1"/>
                        <a:t>Arrow Function Example</a:t>
                      </a:r>
                      <a:endParaRPr sz="2000" b="1"/>
                    </a:p>
                  </a:txBody>
                  <a:tcPr marL="0" marR="0" marT="0" marB="0" anchor="ctr" anchorCtr="0">
                    <a:lnL>
                      <a:noFill/>
                    </a:lnL>
                    <a:lnR>
                      <a:noFill/>
                    </a:lnR>
                    <a:lnT>
                      <a:noFill/>
                    </a:lnT>
                    <a:lnB>
                      <a:noFill/>
                    </a:lnB>
                    <a:noFill/>
                  </a:tcPr>
                </a:tc>
              </a:tr>
              <a:tr h="269240">
                <a:tc>
                  <a:txBody>
                    <a:bodyPr/>
                    <a:p>
                      <a:r>
                        <a:rPr sz="1600"/>
                        <a:t>No parameters</a:t>
                      </a:r>
                      <a:endParaRPr sz="1600"/>
                    </a:p>
                  </a:txBody>
                  <a:tcPr marL="0" marR="0" marT="0" marB="0" anchor="ctr" anchorCtr="0">
                    <a:lnL>
                      <a:noFill/>
                    </a:lnL>
                    <a:lnR>
                      <a:noFill/>
                    </a:lnR>
                    <a:lnT>
                      <a:noFill/>
                    </a:lnT>
                    <a:lnB>
                      <a:noFill/>
                    </a:lnB>
                    <a:noFill/>
                  </a:tcPr>
                </a:tc>
                <a:tc>
                  <a:txBody>
                    <a:bodyPr/>
                    <a:p>
                      <a:r>
                        <a:rPr sz="1600"/>
                        <a:t>() =&gt; console.log("Hello")</a:t>
                      </a:r>
                      <a:endParaRPr sz="1600"/>
                    </a:p>
                  </a:txBody>
                  <a:tcPr marL="0" marR="0" marT="0" marB="0" anchor="ctr" anchorCtr="0">
                    <a:lnL>
                      <a:noFill/>
                    </a:lnL>
                    <a:lnR>
                      <a:noFill/>
                    </a:lnR>
                    <a:lnT>
                      <a:noFill/>
                    </a:lnT>
                    <a:lnB>
                      <a:noFill/>
                    </a:lnB>
                    <a:noFill/>
                  </a:tcPr>
                </a:tc>
              </a:tr>
              <a:tr h="269240">
                <a:tc>
                  <a:txBody>
                    <a:bodyPr/>
                    <a:p>
                      <a:r>
                        <a:rPr sz="1600"/>
                        <a:t>One parameter</a:t>
                      </a:r>
                      <a:endParaRPr sz="1600"/>
                    </a:p>
                  </a:txBody>
                  <a:tcPr marL="0" marR="0" marT="0" marB="0" anchor="ctr" anchorCtr="0">
                    <a:lnL>
                      <a:noFill/>
                    </a:lnL>
                    <a:lnR>
                      <a:noFill/>
                    </a:lnR>
                    <a:lnT>
                      <a:noFill/>
                    </a:lnT>
                    <a:lnB>
                      <a:noFill/>
                    </a:lnB>
                    <a:noFill/>
                  </a:tcPr>
                </a:tc>
                <a:tc>
                  <a:txBody>
                    <a:bodyPr/>
                    <a:p>
                      <a:r>
                        <a:rPr sz="1600"/>
                        <a:t>x =&gt; x * 2</a:t>
                      </a:r>
                      <a:endParaRPr sz="1600"/>
                    </a:p>
                  </a:txBody>
                  <a:tcPr marL="0" marR="0" marT="0" marB="0" anchor="ctr" anchorCtr="0">
                    <a:lnL>
                      <a:noFill/>
                    </a:lnL>
                    <a:lnR>
                      <a:noFill/>
                    </a:lnR>
                    <a:lnT>
                      <a:noFill/>
                    </a:lnT>
                    <a:lnB>
                      <a:noFill/>
                    </a:lnB>
                    <a:noFill/>
                  </a:tcPr>
                </a:tc>
              </a:tr>
              <a:tr h="269240">
                <a:tc>
                  <a:txBody>
                    <a:bodyPr/>
                    <a:p>
                      <a:r>
                        <a:rPr sz="1600"/>
                        <a:t>Multiple parameters</a:t>
                      </a:r>
                      <a:endParaRPr sz="1600"/>
                    </a:p>
                  </a:txBody>
                  <a:tcPr marL="0" marR="0" marT="0" marB="0" anchor="ctr" anchorCtr="0">
                    <a:lnL>
                      <a:noFill/>
                    </a:lnL>
                    <a:lnR>
                      <a:noFill/>
                    </a:lnR>
                    <a:lnT>
                      <a:noFill/>
                    </a:lnT>
                    <a:lnB>
                      <a:noFill/>
                    </a:lnB>
                    <a:noFill/>
                  </a:tcPr>
                </a:tc>
                <a:tc>
                  <a:txBody>
                    <a:bodyPr/>
                    <a:p>
                      <a:r>
                        <a:rPr sz="1600"/>
                        <a:t>(a, b) =&gt; a + b</a:t>
                      </a:r>
                      <a:endParaRPr sz="1600"/>
                    </a:p>
                  </a:txBody>
                  <a:tcPr marL="0" marR="0" marT="0" marB="0" anchor="ctr" anchorCtr="0">
                    <a:lnL>
                      <a:noFill/>
                    </a:lnL>
                    <a:lnR>
                      <a:noFill/>
                    </a:lnR>
                    <a:lnT>
                      <a:noFill/>
                    </a:lnT>
                    <a:lnB>
                      <a:noFill/>
                    </a:lnB>
                    <a:noFill/>
                  </a:tcPr>
                </a:tc>
              </a:tr>
              <a:tr h="269240">
                <a:tc>
                  <a:txBody>
                    <a:bodyPr/>
                    <a:p>
                      <a:r>
                        <a:rPr sz="1600"/>
                        <a:t>With block &amp; return</a:t>
                      </a:r>
                      <a:endParaRPr sz="1600"/>
                    </a:p>
                  </a:txBody>
                  <a:tcPr marL="0" marR="0" marT="0" marB="0" anchor="ctr" anchorCtr="0">
                    <a:lnL>
                      <a:noFill/>
                    </a:lnL>
                    <a:lnR>
                      <a:noFill/>
                    </a:lnR>
                    <a:lnT>
                      <a:noFill/>
                    </a:lnT>
                    <a:lnB>
                      <a:noFill/>
                    </a:lnB>
                    <a:noFill/>
                  </a:tcPr>
                </a:tc>
                <a:tc>
                  <a:txBody>
                    <a:bodyPr/>
                    <a:p>
                      <a:r>
                        <a:rPr sz="1600"/>
                        <a:t>(a, b) =&gt; { return a + b; }</a:t>
                      </a:r>
                      <a:endParaRPr sz="1600"/>
                    </a:p>
                  </a:txBody>
                  <a:tcPr marL="0" marR="0" marT="0" marB="0" anchor="ctr" anchorCtr="0">
                    <a:lnL>
                      <a:noFill/>
                    </a:lnL>
                    <a:lnR>
                      <a:noFill/>
                    </a:lnR>
                    <a:lnT>
                      <a:noFill/>
                    </a:lnT>
                    <a:lnB>
                      <a:noFill/>
                    </a:lnB>
                    <a:noFill/>
                  </a:tcPr>
                </a:tc>
              </a:tr>
              <a:tr h="269240">
                <a:tc>
                  <a:txBody>
                    <a:bodyPr/>
                    <a:p>
                      <a:r>
                        <a:rPr sz="1600">
                          <a:solidFill>
                            <a:srgbClr val="FF0000"/>
                          </a:solidFill>
                        </a:rPr>
                        <a:t>Returning an object</a:t>
                      </a:r>
                      <a:endParaRPr sz="1600">
                        <a:solidFill>
                          <a:srgbClr val="FF0000"/>
                        </a:solidFill>
                      </a:endParaRPr>
                    </a:p>
                  </a:txBody>
                  <a:tcPr marL="0" marR="0" marT="0" marB="0" anchor="ctr" anchorCtr="0">
                    <a:lnL>
                      <a:noFill/>
                    </a:lnL>
                    <a:lnR>
                      <a:noFill/>
                    </a:lnR>
                    <a:lnT>
                      <a:noFill/>
                    </a:lnT>
                    <a:lnB>
                      <a:noFill/>
                    </a:lnB>
                    <a:noFill/>
                  </a:tcPr>
                </a:tc>
                <a:tc>
                  <a:txBody>
                    <a:bodyPr/>
                    <a:p>
                      <a:r>
                        <a:rPr sz="1600">
                          <a:solidFill>
                            <a:srgbClr val="FF0000"/>
                          </a:solidFill>
                        </a:rPr>
                        <a:t>() =&gt; ({ name: "John" })</a:t>
                      </a:r>
                      <a:endParaRPr sz="1600">
                        <a:solidFill>
                          <a:srgbClr val="FF0000"/>
                        </a:solidFill>
                      </a:endParaRPr>
                    </a:p>
                  </a:txBody>
                  <a:tcPr marL="0" marR="0" marT="0" marB="0" anchor="ctr" anchorCtr="0">
                    <a:lnL>
                      <a:noFill/>
                    </a:lnL>
                    <a:lnR>
                      <a:noFill/>
                    </a:lnR>
                    <a:lnT>
                      <a:noFill/>
                    </a:lnT>
                    <a:lnB>
                      <a:noFill/>
                    </a:lnB>
                    <a:noFill/>
                  </a:tcPr>
                </a:tc>
              </a:tr>
            </a:tbl>
          </a:graphicData>
        </a:graphic>
      </p:graphicFrame>
      <p:sp>
        <p:nvSpPr>
          <p:cNvPr id="5" name="Text Box 4"/>
          <p:cNvSpPr txBox="1"/>
          <p:nvPr/>
        </p:nvSpPr>
        <p:spPr>
          <a:xfrm>
            <a:off x="168910" y="2926080"/>
            <a:ext cx="9764395" cy="3841750"/>
          </a:xfrm>
          <a:prstGeom prst="rect">
            <a:avLst/>
          </a:prstGeom>
          <a:noFill/>
        </p:spPr>
        <p:txBody>
          <a:bodyPr wrap="square" rtlCol="0" anchor="t">
            <a:noAutofit/>
          </a:bodyPr>
          <a:p>
            <a:r>
              <a:rPr lang="en-US" altLang="en-US"/>
              <a:t>// 1. No parameter</a:t>
            </a:r>
            <a:endParaRPr lang="en-US" altLang="en-US"/>
          </a:p>
          <a:p>
            <a:r>
              <a:rPr lang="en-US" altLang="en-US"/>
              <a:t>const greet = () =&gt; console.log("Hello!");</a:t>
            </a:r>
            <a:endParaRPr lang="en-US" altLang="en-US"/>
          </a:p>
          <a:p>
            <a:r>
              <a:rPr lang="en-US" altLang="en-US"/>
              <a:t>greet(); // Hello!</a:t>
            </a:r>
            <a:endParaRPr lang="en-US" altLang="en-US"/>
          </a:p>
          <a:p>
            <a:r>
              <a:rPr lang="en-US" altLang="en-US"/>
              <a:t>// 2. One parameter</a:t>
            </a:r>
            <a:endParaRPr lang="en-US" altLang="en-US"/>
          </a:p>
          <a:p>
            <a:r>
              <a:rPr lang="en-US" altLang="en-US"/>
              <a:t>const square = x =&gt; x * x;</a:t>
            </a:r>
            <a:endParaRPr lang="en-US" altLang="en-US"/>
          </a:p>
          <a:p>
            <a:r>
              <a:rPr lang="en-US" altLang="en-US"/>
              <a:t>console.log(square(5)); // 25</a:t>
            </a:r>
            <a:endParaRPr lang="en-US" altLang="en-US"/>
          </a:p>
          <a:p>
            <a:r>
              <a:rPr lang="en-US" altLang="en-US"/>
              <a:t>// 3. Multiple parameters</a:t>
            </a:r>
            <a:endParaRPr lang="en-US" altLang="en-US"/>
          </a:p>
          <a:p>
            <a:r>
              <a:rPr lang="en-US" altLang="en-US"/>
              <a:t>const multiply = (a, b) =&gt; a * b;</a:t>
            </a:r>
            <a:endParaRPr lang="en-US" altLang="en-US"/>
          </a:p>
          <a:p>
            <a:r>
              <a:rPr lang="en-US" altLang="en-US"/>
              <a:t>console.log(multiply(3, 4)); // 12</a:t>
            </a:r>
            <a:endParaRPr lang="en-US" altLang="en-US"/>
          </a:p>
          <a:p>
            <a:r>
              <a:rPr lang="en-US" altLang="en-US"/>
              <a:t>// 4. Returning an object</a:t>
            </a:r>
            <a:endParaRPr lang="en-US" altLang="en-US"/>
          </a:p>
          <a:p>
            <a:r>
              <a:rPr lang="en-US" altLang="en-US"/>
              <a:t>const getUser = () =&gt; ({ name: "Alice", age: 25 });</a:t>
            </a:r>
            <a:endParaRPr lang="en-US" altLang="en-US"/>
          </a:p>
          <a:p>
            <a:r>
              <a:rPr lang="en-US" altLang="en-US"/>
              <a:t>console.log(getUser()); // { name: "Alice", age: 25 }</a:t>
            </a:r>
            <a:endParaRPr lang="en-US" altLang="en-US"/>
          </a:p>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22250" y="0"/>
            <a:ext cx="11859260" cy="6670040"/>
          </a:xfrm>
        </p:spPr>
        <p:txBody>
          <a:bodyPr/>
          <a:p>
            <a:pPr marL="0" indent="0">
              <a:buNone/>
            </a:pPr>
            <a:r>
              <a:rPr lang="en-US" altLang="en-US" sz="2000" b="1">
                <a:solidFill>
                  <a:srgbClr val="FF0000"/>
                </a:solidFill>
              </a:rPr>
              <a:t>Why Use Array Function In Js.</a:t>
            </a:r>
            <a:endParaRPr lang="en-US" altLang="en-US" sz="2000"/>
          </a:p>
          <a:p>
            <a:pPr marL="457200" indent="-457200">
              <a:buFont typeface="+mj-lt"/>
              <a:buAutoNum type="arabicPeriod"/>
            </a:pPr>
            <a:r>
              <a:rPr lang="en-US" altLang="en-US" sz="2000"/>
              <a:t>Shorter Syntax – Arrow functions use a concise =&gt; notation, making code cleaner.</a:t>
            </a:r>
            <a:endParaRPr lang="en-US" altLang="en-US" sz="2000"/>
          </a:p>
          <a:p>
            <a:pPr marL="457200" indent="-457200">
              <a:buFont typeface="+mj-lt"/>
              <a:buAutoNum type="arabicPeriod"/>
            </a:pPr>
            <a:r>
              <a:rPr lang="en-US" altLang="en-US" sz="2000"/>
              <a:t>No this Binding – They inherit this from the surrounding (lexical) scope, unlike regular functions.</a:t>
            </a:r>
            <a:endParaRPr lang="en-US" altLang="en-US" sz="2000"/>
          </a:p>
          <a:p>
            <a:pPr marL="457200" indent="-457200">
              <a:buFont typeface="+mj-lt"/>
              <a:buAutoNum type="arabicPeriod"/>
            </a:pPr>
            <a:r>
              <a:rPr lang="en-US" altLang="en-US" sz="2000"/>
              <a:t>Not for Constructors – Arrow functions cannot be used as constructors and don’t have a prototype.</a:t>
            </a:r>
            <a:endParaRPr lang="en-US" altLang="en-US" sz="2000"/>
          </a:p>
          <a:p>
            <a:pPr marL="457200" indent="-457200">
              <a:buFont typeface="+mj-lt"/>
              <a:buAutoNum type="arabicPeriod"/>
            </a:pPr>
            <a:r>
              <a:rPr lang="en-US" altLang="en-US" sz="2000"/>
              <a:t>No arguments Object – Arrow functions do not have their own arguments; use rest parameters (...args) instead.</a:t>
            </a:r>
            <a:endParaRPr lang="en-US" altLang="en-US" sz="2000"/>
          </a:p>
          <a:p>
            <a:pPr marL="457200" indent="-457200">
              <a:buFont typeface="+mj-lt"/>
              <a:buAutoNum type="arabicPeriod"/>
            </a:pPr>
            <a:r>
              <a:rPr lang="en-US" altLang="en-US" sz="2000"/>
              <a:t>Ideal for Callbacks – They are great for inline functions, especially as callbacks in methods like .map(), .forEach(), etc.</a:t>
            </a:r>
            <a:endParaRPr lang="en-US" altLang="en-US" sz="2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349885"/>
          </a:xfrm>
        </p:spPr>
        <p:txBody>
          <a:bodyPr>
            <a:normAutofit fontScale="90000"/>
          </a:bodyPr>
          <a:p>
            <a:pPr algn="ctr"/>
            <a:r>
              <a:rPr lang="en-US" sz="3600" b="1">
                <a:solidFill>
                  <a:srgbClr val="FF0000"/>
                </a:solidFill>
              </a:rPr>
              <a:t>js Strings</a:t>
            </a:r>
            <a:endParaRPr lang="en-US" sz="3600" b="1">
              <a:solidFill>
                <a:srgbClr val="FF0000"/>
              </a:solidFill>
            </a:endParaRPr>
          </a:p>
        </p:txBody>
      </p:sp>
      <p:sp>
        <p:nvSpPr>
          <p:cNvPr id="3" name="Content Placeholder 2"/>
          <p:cNvSpPr>
            <a:spLocks noGrp="1"/>
          </p:cNvSpPr>
          <p:nvPr>
            <p:ph idx="1"/>
          </p:nvPr>
        </p:nvSpPr>
        <p:spPr>
          <a:xfrm>
            <a:off x="127635" y="349885"/>
            <a:ext cx="11869420" cy="6336665"/>
          </a:xfrm>
        </p:spPr>
        <p:txBody>
          <a:bodyPr>
            <a:normAutofit lnSpcReduction="10000"/>
          </a:bodyPr>
          <a:p>
            <a:pPr marL="0" indent="0">
              <a:buNone/>
            </a:pPr>
            <a:r>
              <a:rPr lang="en-US" altLang="en-US" sz="2000"/>
              <a:t>In JavaScript:</a:t>
            </a:r>
            <a:endParaRPr lang="en-US" altLang="en-US" sz="2000"/>
          </a:p>
          <a:p>
            <a:pPr marL="0" indent="0">
              <a:buNone/>
            </a:pPr>
            <a:r>
              <a:rPr lang="en-US" altLang="en-US" sz="2000"/>
              <a:t>A string is a sequence of characters (letters, digits, symbols).</a:t>
            </a:r>
            <a:endParaRPr lang="en-US" altLang="en-US" sz="2000"/>
          </a:p>
          <a:p>
            <a:pPr marL="0" indent="0">
              <a:buNone/>
            </a:pPr>
            <a:r>
              <a:rPr lang="en-US" altLang="en-US" sz="2000"/>
              <a:t>Strings are immutable — once created, they cannot be changed.</a:t>
            </a:r>
            <a:endParaRPr lang="en-US" altLang="en-US" sz="2000"/>
          </a:p>
          <a:p>
            <a:pPr marL="0" indent="0">
              <a:buNone/>
            </a:pPr>
            <a:r>
              <a:rPr lang="en-US" altLang="en-US" sz="2000"/>
              <a:t>Strings can be defined using:</a:t>
            </a:r>
            <a:endParaRPr lang="en-US" altLang="en-US" sz="2000"/>
          </a:p>
          <a:p>
            <a:pPr marL="0" indent="0">
              <a:buNone/>
            </a:pPr>
            <a:r>
              <a:rPr lang="en-US" altLang="en-US" sz="2000"/>
              <a:t>Double quotes: "Hello"</a:t>
            </a:r>
            <a:endParaRPr lang="en-US" altLang="en-US" sz="2000"/>
          </a:p>
          <a:p>
            <a:pPr marL="0" indent="0">
              <a:buNone/>
            </a:pPr>
            <a:r>
              <a:rPr lang="en-US" altLang="en-US" sz="2000"/>
              <a:t>Single quotes: 'World'</a:t>
            </a:r>
            <a:endParaRPr lang="en-US" altLang="en-US" sz="2000"/>
          </a:p>
          <a:p>
            <a:pPr marL="0" indent="0">
              <a:buNone/>
            </a:pPr>
            <a:r>
              <a:rPr lang="en-US" altLang="en-US" sz="2000"/>
              <a:t>**Backticks ()** for template literals: Hello ${name} ``</a:t>
            </a:r>
            <a:endParaRPr lang="en-US" altLang="en-US" sz="2000"/>
          </a:p>
          <a:p>
            <a:pPr marL="0" indent="0">
              <a:buNone/>
            </a:pPr>
            <a:r>
              <a:rPr lang="en-US" altLang="en-US" sz="2000" b="1"/>
              <a:t>Important Points About JavaScript Strings</a:t>
            </a:r>
            <a:endParaRPr lang="en-US" altLang="en-US" sz="2000"/>
          </a:p>
          <a:p>
            <a:pPr marL="0" indent="0">
              <a:buNone/>
            </a:pPr>
            <a:r>
              <a:rPr lang="en-US" altLang="en-US" sz="2000"/>
              <a:t>Strings are primitive types, but JavaScript wraps them with a String object when using string methods.</a:t>
            </a:r>
            <a:endParaRPr lang="en-US" altLang="en-US" sz="2000"/>
          </a:p>
          <a:p>
            <a:pPr marL="0" indent="0">
              <a:buNone/>
            </a:pPr>
            <a:r>
              <a:rPr lang="en-US" altLang="en-US" sz="2000"/>
              <a:t>Strings are immutable — methods return a new string instead of changing the original.</a:t>
            </a:r>
            <a:endParaRPr lang="en-US" altLang="en-US" sz="2000"/>
          </a:p>
          <a:p>
            <a:pPr marL="0" indent="0">
              <a:buNone/>
            </a:pPr>
            <a:r>
              <a:rPr lang="en-US" altLang="en-US" sz="2000"/>
              <a:t>Template literals (using backticks `) allow for multi-line strings and variable interpolation.</a:t>
            </a:r>
            <a:endParaRPr lang="en-US" altLang="en-US" sz="2000"/>
          </a:p>
          <a:p>
            <a:pPr marL="0" indent="0">
              <a:buNone/>
            </a:pPr>
            <a:r>
              <a:rPr lang="en-US" altLang="en-US" sz="2000"/>
              <a:t>Escape sequences like \n, \t, \\, \" are used to format strings.</a:t>
            </a:r>
            <a:endParaRPr lang="en-US" altLang="en-US" sz="2000"/>
          </a:p>
          <a:p>
            <a:pPr marL="0" indent="0">
              <a:buNone/>
            </a:pPr>
            <a:r>
              <a:rPr lang="en-US" altLang="en-US" sz="2000"/>
              <a:t>Unicode support: JS strings are Unicode, so they support international characters and emojis.</a:t>
            </a:r>
            <a:endParaRPr lang="en-US" altLang="en-US" sz="2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01675" y="105410"/>
            <a:ext cx="10515600" cy="394970"/>
          </a:xfrm>
        </p:spPr>
        <p:txBody>
          <a:bodyPr>
            <a:normAutofit fontScale="90000"/>
          </a:bodyPr>
          <a:p>
            <a:r>
              <a:rPr lang="en-US" sz="2800" b="1">
                <a:solidFill>
                  <a:srgbClr val="FF0000"/>
                </a:solidFill>
              </a:rPr>
              <a:t>JS Imp Methods</a:t>
            </a:r>
            <a:endParaRPr lang="en-US" sz="2800" b="1">
              <a:solidFill>
                <a:srgbClr val="FF0000"/>
              </a:solidFill>
            </a:endParaRPr>
          </a:p>
        </p:txBody>
      </p:sp>
      <p:graphicFrame>
        <p:nvGraphicFramePr>
          <p:cNvPr id="4" name="Table 3"/>
          <p:cNvGraphicFramePr/>
          <p:nvPr>
            <p:custDataLst>
              <p:tags r:id="rId1"/>
            </p:custDataLst>
          </p:nvPr>
        </p:nvGraphicFramePr>
        <p:xfrm>
          <a:off x="114300" y="581660"/>
          <a:ext cx="11826240" cy="3881120"/>
        </p:xfrm>
        <a:graphic>
          <a:graphicData uri="http://schemas.openxmlformats.org/drawingml/2006/table">
            <a:tbl>
              <a:tblPr/>
              <a:tblGrid>
                <a:gridCol w="3942080"/>
                <a:gridCol w="3942080"/>
                <a:gridCol w="3942080"/>
              </a:tblGrid>
              <a:tr h="321310">
                <a:tc>
                  <a:txBody>
                    <a:bodyPr/>
                    <a:p>
                      <a:pPr algn="ctr"/>
                      <a:r>
                        <a:rPr sz="2400" b="1">
                          <a:solidFill>
                            <a:srgbClr val="FF0000"/>
                          </a:solidFill>
                        </a:rPr>
                        <a:t>Method</a:t>
                      </a:r>
                      <a:endParaRPr sz="2400" b="1">
                        <a:solidFill>
                          <a:srgbClr val="FF0000"/>
                        </a:solidFill>
                      </a:endParaRPr>
                    </a:p>
                  </a:txBody>
                  <a:tcPr marL="0" marR="0" marT="0" marB="0" anchor="ctr" anchorCtr="0">
                    <a:lnL>
                      <a:noFill/>
                    </a:lnL>
                    <a:lnR>
                      <a:noFill/>
                    </a:lnR>
                    <a:lnT>
                      <a:noFill/>
                    </a:lnT>
                    <a:lnB>
                      <a:noFill/>
                    </a:lnB>
                    <a:solidFill>
                      <a:schemeClr val="accent1">
                        <a:lumMod val="60000"/>
                        <a:lumOff val="40000"/>
                      </a:schemeClr>
                    </a:solidFill>
                  </a:tcPr>
                </a:tc>
                <a:tc>
                  <a:txBody>
                    <a:bodyPr/>
                    <a:p>
                      <a:pPr algn="ctr"/>
                      <a:r>
                        <a:rPr sz="2400" b="1">
                          <a:solidFill>
                            <a:srgbClr val="FF0000"/>
                          </a:solidFill>
                        </a:rPr>
                        <a:t>Description</a:t>
                      </a:r>
                      <a:endParaRPr sz="2400" b="1">
                        <a:solidFill>
                          <a:srgbClr val="FF0000"/>
                        </a:solidFill>
                      </a:endParaRPr>
                    </a:p>
                  </a:txBody>
                  <a:tcPr marL="0" marR="0" marT="0" marB="0" anchor="ctr" anchorCtr="0">
                    <a:lnL>
                      <a:noFill/>
                    </a:lnL>
                    <a:lnR>
                      <a:noFill/>
                    </a:lnR>
                    <a:lnT>
                      <a:noFill/>
                    </a:lnT>
                    <a:lnB>
                      <a:noFill/>
                    </a:lnB>
                    <a:solidFill>
                      <a:schemeClr val="accent1">
                        <a:lumMod val="60000"/>
                        <a:lumOff val="40000"/>
                      </a:schemeClr>
                    </a:solidFill>
                  </a:tcPr>
                </a:tc>
                <a:tc>
                  <a:txBody>
                    <a:bodyPr/>
                    <a:p>
                      <a:pPr algn="ctr"/>
                      <a:r>
                        <a:rPr sz="2400" b="1">
                          <a:solidFill>
                            <a:srgbClr val="FF0000"/>
                          </a:solidFill>
                        </a:rPr>
                        <a:t>Example</a:t>
                      </a:r>
                      <a:endParaRPr sz="2400" b="1">
                        <a:solidFill>
                          <a:srgbClr val="FF0000"/>
                        </a:solidFill>
                      </a:endParaRPr>
                    </a:p>
                  </a:txBody>
                  <a:tcPr marL="0" marR="0" marT="0" marB="0" anchor="ctr" anchorCtr="0">
                    <a:lnL>
                      <a:noFill/>
                    </a:lnL>
                    <a:lnR>
                      <a:noFill/>
                    </a:lnR>
                    <a:lnT>
                      <a:noFill/>
                    </a:lnT>
                    <a:lnB>
                      <a:noFill/>
                    </a:lnB>
                    <a:solidFill>
                      <a:schemeClr val="accent1">
                        <a:lumMod val="60000"/>
                        <a:lumOff val="40000"/>
                      </a:schemeClr>
                    </a:solidFill>
                  </a:tcPr>
                </a:tc>
              </a:tr>
              <a:tr h="335280">
                <a:tc>
                  <a:txBody>
                    <a:bodyPr/>
                    <a:p>
                      <a:r>
                        <a:rPr sz="2000" b="1">
                          <a:solidFill>
                            <a:schemeClr val="accent2"/>
                          </a:solidFill>
                        </a:rPr>
                        <a:t>length</a:t>
                      </a:r>
                      <a:endParaRPr sz="2000" b="1">
                        <a:solidFill>
                          <a:schemeClr val="accent2"/>
                        </a:solidFill>
                      </a:endParaRPr>
                    </a:p>
                  </a:txBody>
                  <a:tcPr marL="0" marR="0" marT="0" marB="0" anchor="ctr" anchorCtr="0">
                    <a:lnL>
                      <a:noFill/>
                    </a:lnL>
                    <a:lnR>
                      <a:noFill/>
                    </a:lnR>
                    <a:lnT>
                      <a:noFill/>
                    </a:lnT>
                    <a:lnB>
                      <a:noFill/>
                    </a:lnB>
                    <a:solidFill>
                      <a:schemeClr val="accent1">
                        <a:lumMod val="60000"/>
                        <a:lumOff val="40000"/>
                      </a:schemeClr>
                    </a:solidFill>
                  </a:tcPr>
                </a:tc>
                <a:tc>
                  <a:txBody>
                    <a:bodyPr/>
                    <a:p>
                      <a:r>
                        <a:rPr sz="2000"/>
                        <a:t>Returns the length of the string</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"hello".length → 5</a:t>
                      </a:r>
                      <a:endParaRPr sz="2000"/>
                    </a:p>
                  </a:txBody>
                  <a:tcPr marL="0" marR="0" marT="0" marB="0" anchor="ctr" anchorCtr="0">
                    <a:lnL>
                      <a:noFill/>
                    </a:lnL>
                    <a:lnR>
                      <a:noFill/>
                    </a:lnR>
                    <a:lnT>
                      <a:noFill/>
                    </a:lnT>
                    <a:lnB>
                      <a:noFill/>
                    </a:lnB>
                    <a:solidFill>
                      <a:schemeClr val="accent1">
                        <a:lumMod val="60000"/>
                        <a:lumOff val="40000"/>
                      </a:schemeClr>
                    </a:solidFill>
                  </a:tcPr>
                </a:tc>
              </a:tr>
              <a:tr h="321310">
                <a:tc>
                  <a:txBody>
                    <a:bodyPr/>
                    <a:p>
                      <a:r>
                        <a:rPr sz="2000" b="1">
                          <a:solidFill>
                            <a:schemeClr val="accent2"/>
                          </a:solidFill>
                        </a:rPr>
                        <a:t>charAt(index)</a:t>
                      </a:r>
                      <a:endParaRPr sz="2000" b="1">
                        <a:solidFill>
                          <a:schemeClr val="accent2"/>
                        </a:solidFill>
                      </a:endParaRPr>
                    </a:p>
                  </a:txBody>
                  <a:tcPr marL="0" marR="0" marT="0" marB="0" anchor="ctr" anchorCtr="0">
                    <a:lnL>
                      <a:noFill/>
                    </a:lnL>
                    <a:lnR>
                      <a:noFill/>
                    </a:lnR>
                    <a:lnT>
                      <a:noFill/>
                    </a:lnT>
                    <a:lnB>
                      <a:noFill/>
                    </a:lnB>
                    <a:solidFill>
                      <a:schemeClr val="accent1">
                        <a:lumMod val="60000"/>
                        <a:lumOff val="40000"/>
                      </a:schemeClr>
                    </a:solidFill>
                  </a:tcPr>
                </a:tc>
                <a:tc>
                  <a:txBody>
                    <a:bodyPr/>
                    <a:p>
                      <a:r>
                        <a:rPr sz="2000"/>
                        <a:t>Returns character at given index</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"hello".charAt(1) → 'e'"</a:t>
                      </a:r>
                      <a:endParaRPr sz="2000"/>
                    </a:p>
                  </a:txBody>
                  <a:tcPr marL="0" marR="0" marT="0" marB="0" anchor="ctr" anchorCtr="0">
                    <a:lnL>
                      <a:noFill/>
                    </a:lnL>
                    <a:lnR>
                      <a:noFill/>
                    </a:lnR>
                    <a:lnT>
                      <a:noFill/>
                    </a:lnT>
                    <a:lnB>
                      <a:noFill/>
                    </a:lnB>
                    <a:solidFill>
                      <a:schemeClr val="accent1">
                        <a:lumMod val="60000"/>
                        <a:lumOff val="40000"/>
                      </a:schemeClr>
                    </a:solidFill>
                  </a:tcPr>
                </a:tc>
              </a:tr>
              <a:tr h="321310">
                <a:tc>
                  <a:txBody>
                    <a:bodyPr/>
                    <a:p>
                      <a:r>
                        <a:rPr sz="2000" b="1">
                          <a:solidFill>
                            <a:schemeClr val="accent2"/>
                          </a:solidFill>
                        </a:rPr>
                        <a:t>substring(start, end)</a:t>
                      </a:r>
                      <a:endParaRPr sz="2000" b="1">
                        <a:solidFill>
                          <a:schemeClr val="accent2"/>
                        </a:solidFill>
                      </a:endParaRPr>
                    </a:p>
                  </a:txBody>
                  <a:tcPr marL="0" marR="0" marT="0" marB="0" anchor="ctr" anchorCtr="0">
                    <a:lnL>
                      <a:noFill/>
                    </a:lnL>
                    <a:lnR>
                      <a:noFill/>
                    </a:lnR>
                    <a:lnT>
                      <a:noFill/>
                    </a:lnT>
                    <a:lnB>
                      <a:noFill/>
                    </a:lnB>
                    <a:solidFill>
                      <a:schemeClr val="accent1">
                        <a:lumMod val="60000"/>
                        <a:lumOff val="40000"/>
                      </a:schemeClr>
                    </a:solidFill>
                  </a:tcPr>
                </a:tc>
                <a:tc>
                  <a:txBody>
                    <a:bodyPr/>
                    <a:p>
                      <a:r>
                        <a:rPr sz="2000"/>
                        <a:t>Extracts characters between indexes</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"hello".substring(1, 4) → 'ell'"</a:t>
                      </a:r>
                      <a:endParaRPr sz="2000"/>
                    </a:p>
                  </a:txBody>
                  <a:tcPr marL="0" marR="0" marT="0" marB="0" anchor="ctr" anchorCtr="0">
                    <a:lnL>
                      <a:noFill/>
                    </a:lnL>
                    <a:lnR>
                      <a:noFill/>
                    </a:lnR>
                    <a:lnT>
                      <a:noFill/>
                    </a:lnT>
                    <a:lnB>
                      <a:noFill/>
                    </a:lnB>
                    <a:solidFill>
                      <a:schemeClr val="accent1">
                        <a:lumMod val="60000"/>
                        <a:lumOff val="40000"/>
                      </a:schemeClr>
                    </a:solidFill>
                  </a:tcPr>
                </a:tc>
              </a:tr>
              <a:tr h="321310">
                <a:tc>
                  <a:txBody>
                    <a:bodyPr/>
                    <a:p>
                      <a:r>
                        <a:rPr sz="2000" b="1">
                          <a:solidFill>
                            <a:schemeClr val="accent2"/>
                          </a:solidFill>
                        </a:rPr>
                        <a:t>slice(start, end)</a:t>
                      </a:r>
                      <a:endParaRPr sz="2000" b="1">
                        <a:solidFill>
                          <a:schemeClr val="accent2"/>
                        </a:solidFill>
                      </a:endParaRPr>
                    </a:p>
                  </a:txBody>
                  <a:tcPr marL="0" marR="0" marT="0" marB="0" anchor="ctr" anchorCtr="0">
                    <a:lnL>
                      <a:noFill/>
                    </a:lnL>
                    <a:lnR>
                      <a:noFill/>
                    </a:lnR>
                    <a:lnT>
                      <a:noFill/>
                    </a:lnT>
                    <a:lnB>
                      <a:noFill/>
                    </a:lnB>
                    <a:solidFill>
                      <a:schemeClr val="accent1">
                        <a:lumMod val="60000"/>
                        <a:lumOff val="40000"/>
                      </a:schemeClr>
                    </a:solidFill>
                  </a:tcPr>
                </a:tc>
                <a:tc>
                  <a:txBody>
                    <a:bodyPr/>
                    <a:p>
                      <a:r>
                        <a:rPr sz="2000"/>
                        <a:t>Similar to substring (supports negative index)</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"hello".slice(-3) → 'llo'"</a:t>
                      </a:r>
                      <a:endParaRPr sz="2000"/>
                    </a:p>
                  </a:txBody>
                  <a:tcPr marL="0" marR="0" marT="0" marB="0" anchor="ctr" anchorCtr="0">
                    <a:lnL>
                      <a:noFill/>
                    </a:lnL>
                    <a:lnR>
                      <a:noFill/>
                    </a:lnR>
                    <a:lnT>
                      <a:noFill/>
                    </a:lnT>
                    <a:lnB>
                      <a:noFill/>
                    </a:lnB>
                    <a:solidFill>
                      <a:schemeClr val="accent1">
                        <a:lumMod val="60000"/>
                        <a:lumOff val="40000"/>
                      </a:schemeClr>
                    </a:solidFill>
                  </a:tcPr>
                </a:tc>
              </a:tr>
              <a:tr h="321310">
                <a:tc>
                  <a:txBody>
                    <a:bodyPr/>
                    <a:p>
                      <a:r>
                        <a:rPr sz="2000" b="1">
                          <a:solidFill>
                            <a:schemeClr val="accent2"/>
                          </a:solidFill>
                        </a:rPr>
                        <a:t>toUpperCase()</a:t>
                      </a:r>
                      <a:endParaRPr sz="2000" b="1">
                        <a:solidFill>
                          <a:schemeClr val="accent2"/>
                        </a:solidFill>
                      </a:endParaRPr>
                    </a:p>
                  </a:txBody>
                  <a:tcPr marL="0" marR="0" marT="0" marB="0" anchor="ctr" anchorCtr="0">
                    <a:lnL>
                      <a:noFill/>
                    </a:lnL>
                    <a:lnR>
                      <a:noFill/>
                    </a:lnR>
                    <a:lnT>
                      <a:noFill/>
                    </a:lnT>
                    <a:lnB>
                      <a:noFill/>
                    </a:lnB>
                    <a:solidFill>
                      <a:schemeClr val="accent1">
                        <a:lumMod val="60000"/>
                        <a:lumOff val="40000"/>
                      </a:schemeClr>
                    </a:solidFill>
                  </a:tcPr>
                </a:tc>
                <a:tc>
                  <a:txBody>
                    <a:bodyPr/>
                    <a:p>
                      <a:r>
                        <a:rPr sz="2000"/>
                        <a:t>Converts to uppercase</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"hello".toUpperCase() → 'HELLO'"</a:t>
                      </a:r>
                      <a:endParaRPr sz="2000"/>
                    </a:p>
                  </a:txBody>
                  <a:tcPr marL="0" marR="0" marT="0" marB="0" anchor="ctr" anchorCtr="0">
                    <a:lnL>
                      <a:noFill/>
                    </a:lnL>
                    <a:lnR>
                      <a:noFill/>
                    </a:lnR>
                    <a:lnT>
                      <a:noFill/>
                    </a:lnT>
                    <a:lnB>
                      <a:noFill/>
                    </a:lnB>
                    <a:solidFill>
                      <a:schemeClr val="accent1">
                        <a:lumMod val="60000"/>
                        <a:lumOff val="40000"/>
                      </a:schemeClr>
                    </a:solidFill>
                  </a:tcPr>
                </a:tc>
              </a:tr>
              <a:tr h="321310">
                <a:tc>
                  <a:txBody>
                    <a:bodyPr/>
                    <a:p>
                      <a:r>
                        <a:rPr sz="2000" b="1">
                          <a:solidFill>
                            <a:schemeClr val="accent2"/>
                          </a:solidFill>
                        </a:rPr>
                        <a:t>toLowerCase()</a:t>
                      </a:r>
                      <a:endParaRPr sz="2000" b="1">
                        <a:solidFill>
                          <a:schemeClr val="accent2"/>
                        </a:solidFill>
                      </a:endParaRPr>
                    </a:p>
                  </a:txBody>
                  <a:tcPr marL="0" marR="0" marT="0" marB="0" anchor="ctr" anchorCtr="0">
                    <a:lnL>
                      <a:noFill/>
                    </a:lnL>
                    <a:lnR>
                      <a:noFill/>
                    </a:lnR>
                    <a:lnT>
                      <a:noFill/>
                    </a:lnT>
                    <a:lnB>
                      <a:noFill/>
                    </a:lnB>
                    <a:solidFill>
                      <a:schemeClr val="accent1">
                        <a:lumMod val="60000"/>
                        <a:lumOff val="40000"/>
                      </a:schemeClr>
                    </a:solidFill>
                  </a:tcPr>
                </a:tc>
                <a:tc>
                  <a:txBody>
                    <a:bodyPr/>
                    <a:p>
                      <a:r>
                        <a:rPr sz="2000"/>
                        <a:t>Converts to lowercase</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"HELLO".toLowerCase() → 'hello'"</a:t>
                      </a:r>
                      <a:endParaRPr sz="2000"/>
                    </a:p>
                  </a:txBody>
                  <a:tcPr marL="0" marR="0" marT="0" marB="0" anchor="ctr" anchorCtr="0">
                    <a:lnL>
                      <a:noFill/>
                    </a:lnL>
                    <a:lnR>
                      <a:noFill/>
                    </a:lnR>
                    <a:lnT>
                      <a:noFill/>
                    </a:lnT>
                    <a:lnB>
                      <a:noFill/>
                    </a:lnB>
                    <a:solidFill>
                      <a:schemeClr val="accent1">
                        <a:lumMod val="60000"/>
                        <a:lumOff val="40000"/>
                      </a:schemeClr>
                    </a:solidFill>
                  </a:tcPr>
                </a:tc>
              </a:tr>
              <a:tr h="321310">
                <a:tc>
                  <a:txBody>
                    <a:bodyPr/>
                    <a:p>
                      <a:r>
                        <a:rPr sz="2000">
                          <a:solidFill>
                            <a:schemeClr val="accent2"/>
                          </a:solidFill>
                        </a:rPr>
                        <a:t>includes(substring)</a:t>
                      </a:r>
                      <a:endParaRPr sz="2000">
                        <a:solidFill>
                          <a:schemeClr val="accent2"/>
                        </a:solidFill>
                      </a:endParaRPr>
                    </a:p>
                  </a:txBody>
                  <a:tcPr marL="0" marR="0" marT="0" marB="0" anchor="ctr" anchorCtr="0">
                    <a:lnL>
                      <a:noFill/>
                    </a:lnL>
                    <a:lnR>
                      <a:noFill/>
                    </a:lnR>
                    <a:lnT>
                      <a:noFill/>
                    </a:lnT>
                    <a:lnB>
                      <a:noFill/>
                    </a:lnB>
                    <a:solidFill>
                      <a:schemeClr val="accent1">
                        <a:lumMod val="60000"/>
                        <a:lumOff val="40000"/>
                      </a:schemeClr>
                    </a:solidFill>
                  </a:tcPr>
                </a:tc>
                <a:tc>
                  <a:txBody>
                    <a:bodyPr/>
                    <a:p>
                      <a:r>
                        <a:rPr sz="2000"/>
                        <a:t>Checks if string contains substring</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"hello".includes("el") → true</a:t>
                      </a:r>
                      <a:endParaRPr sz="2000"/>
                    </a:p>
                  </a:txBody>
                  <a:tcPr marL="0" marR="0" marT="0" marB="0" anchor="ctr" anchorCtr="0">
                    <a:lnL>
                      <a:noFill/>
                    </a:lnL>
                    <a:lnR>
                      <a:noFill/>
                    </a:lnR>
                    <a:lnT>
                      <a:noFill/>
                    </a:lnT>
                    <a:lnB>
                      <a:noFill/>
                    </a:lnB>
                    <a:solidFill>
                      <a:schemeClr val="accent1">
                        <a:lumMod val="60000"/>
                        <a:lumOff val="40000"/>
                      </a:schemeClr>
                    </a:solidFill>
                  </a:tcPr>
                </a:tc>
              </a:tr>
              <a:tr h="321310">
                <a:tc>
                  <a:txBody>
                    <a:bodyPr/>
                    <a:p>
                      <a:r>
                        <a:rPr sz="2000">
                          <a:solidFill>
                            <a:schemeClr val="accent2"/>
                          </a:solidFill>
                        </a:rPr>
                        <a:t>indexOf(substring)</a:t>
                      </a:r>
                      <a:endParaRPr sz="2000">
                        <a:solidFill>
                          <a:schemeClr val="accent2"/>
                        </a:solidFill>
                      </a:endParaRPr>
                    </a:p>
                  </a:txBody>
                  <a:tcPr marL="0" marR="0" marT="0" marB="0" anchor="ctr" anchorCtr="0">
                    <a:lnL>
                      <a:noFill/>
                    </a:lnL>
                    <a:lnR>
                      <a:noFill/>
                    </a:lnR>
                    <a:lnT>
                      <a:noFill/>
                    </a:lnT>
                    <a:lnB>
                      <a:noFill/>
                    </a:lnB>
                    <a:solidFill>
                      <a:schemeClr val="accent1">
                        <a:lumMod val="60000"/>
                        <a:lumOff val="40000"/>
                      </a:schemeClr>
                    </a:solidFill>
                  </a:tcPr>
                </a:tc>
                <a:tc>
                  <a:txBody>
                    <a:bodyPr/>
                    <a:p>
                      <a:r>
                        <a:rPr sz="2000"/>
                        <a:t>Finds index of first match</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"hello".indexOf("l") → 2</a:t>
                      </a:r>
                      <a:endParaRPr sz="2000"/>
                    </a:p>
                  </a:txBody>
                  <a:tcPr marL="0" marR="0" marT="0" marB="0" anchor="ctr" anchorCtr="0">
                    <a:lnL>
                      <a:noFill/>
                    </a:lnL>
                    <a:lnR>
                      <a:noFill/>
                    </a:lnR>
                    <a:lnT>
                      <a:noFill/>
                    </a:lnT>
                    <a:lnB>
                      <a:noFill/>
                    </a:lnB>
                    <a:solidFill>
                      <a:schemeClr val="accent1">
                        <a:lumMod val="60000"/>
                        <a:lumOff val="40000"/>
                      </a:schemeClr>
                    </a:solidFill>
                  </a:tcPr>
                </a:tc>
              </a:tr>
              <a:tr h="321310">
                <a:tc>
                  <a:txBody>
                    <a:bodyPr/>
                    <a:p>
                      <a:r>
                        <a:rPr sz="2000">
                          <a:solidFill>
                            <a:schemeClr val="accent2"/>
                          </a:solidFill>
                        </a:rPr>
                        <a:t>replace(find, replace)</a:t>
                      </a:r>
                      <a:endParaRPr sz="2000">
                        <a:solidFill>
                          <a:schemeClr val="accent2"/>
                        </a:solidFill>
                      </a:endParaRPr>
                    </a:p>
                  </a:txBody>
                  <a:tcPr marL="0" marR="0" marT="0" marB="0" anchor="ctr" anchorCtr="0">
                    <a:lnL>
                      <a:noFill/>
                    </a:lnL>
                    <a:lnR>
                      <a:noFill/>
                    </a:lnR>
                    <a:lnT>
                      <a:noFill/>
                    </a:lnT>
                    <a:lnB>
                      <a:noFill/>
                    </a:lnB>
                    <a:solidFill>
                      <a:schemeClr val="accent1">
                        <a:lumMod val="60000"/>
                        <a:lumOff val="40000"/>
                      </a:schemeClr>
                    </a:solidFill>
                  </a:tcPr>
                </a:tc>
                <a:tc>
                  <a:txBody>
                    <a:bodyPr/>
                    <a:p>
                      <a:r>
                        <a:rPr sz="2000"/>
                        <a:t>Replaces part of the string</a:t>
                      </a:r>
                      <a:endParaRPr sz="2000"/>
                    </a:p>
                  </a:txBody>
                  <a:tcPr marL="0" marR="0" marT="0" marB="0" anchor="ctr" anchorCtr="0">
                    <a:lnL>
                      <a:noFill/>
                    </a:lnL>
                    <a:lnR>
                      <a:noFill/>
                    </a:lnR>
                    <a:lnT>
                      <a:noFill/>
                    </a:lnT>
                    <a:lnB>
                      <a:noFill/>
                    </a:lnB>
                    <a:solidFill>
                      <a:schemeClr val="accent1">
                        <a:lumMod val="60000"/>
                        <a:lumOff val="40000"/>
                      </a:schemeClr>
                    </a:solidFill>
                  </a:tcPr>
                </a:tc>
                <a:tc>
                  <a:txBody>
                    <a:bodyPr/>
                    <a:p>
                      <a:r>
                        <a:rPr sz="2000"/>
                        <a:t>"hello".replace("l", "r") → 'herlo'"</a:t>
                      </a:r>
                      <a:endParaRPr sz="2000"/>
                    </a:p>
                  </a:txBody>
                  <a:tcPr marL="0" marR="0" marT="0" marB="0" anchor="ctr" anchorCtr="0">
                    <a:lnL>
                      <a:noFill/>
                    </a:lnL>
                    <a:lnR>
                      <a:noFill/>
                    </a:lnR>
                    <a:lnT>
                      <a:noFill/>
                    </a:lnT>
                    <a:lnB>
                      <a:noFill/>
                    </a:lnB>
                    <a:solidFill>
                      <a:schemeClr val="accent1">
                        <a:lumMod val="60000"/>
                        <a:lumOff val="40000"/>
                      </a:schemeClr>
                    </a:solidFill>
                  </a:tcPr>
                </a:tc>
              </a:tr>
              <a:tr h="321310">
                <a:tc>
                  <a:txBody>
                    <a:bodyPr/>
                    <a:p>
                      <a:r>
                        <a:rPr sz="2000">
                          <a:solidFill>
                            <a:schemeClr val="accent2"/>
                          </a:solidFill>
                        </a:rPr>
                        <a:t>trim()</a:t>
                      </a:r>
                      <a:endParaRPr sz="2000">
                        <a:solidFill>
                          <a:schemeClr val="accent2"/>
                        </a:solidFill>
                      </a:endParaRPr>
                    </a:p>
                  </a:txBody>
                  <a:tcPr marL="0" marR="0" marT="0" marB="0" anchor="ctr" anchorCtr="0">
                    <a:lnL>
                      <a:noFill/>
                    </a:lnL>
                    <a:lnR>
                      <a:noFill/>
                    </a:lnR>
                    <a:lnT>
                      <a:noFill/>
                    </a:lnT>
                    <a:lnB>
                      <a:noFill/>
                    </a:lnB>
                    <a:solidFill>
                      <a:schemeClr val="accent1">
                        <a:lumMod val="60000"/>
                        <a:lumOff val="40000"/>
                      </a:schemeClr>
                    </a:solidFill>
                  </a:tcPr>
                </a:tc>
                <a:tc>
                  <a:txBody>
                    <a:bodyPr/>
                    <a:p>
                      <a:r>
                        <a:rPr sz="2000">
                          <a:solidFill>
                            <a:srgbClr val="FF0000"/>
                          </a:solidFill>
                        </a:rPr>
                        <a:t>Removes whitespace from both ends</a:t>
                      </a:r>
                      <a:endParaRPr sz="2000">
                        <a:solidFill>
                          <a:srgbClr val="FF0000"/>
                        </a:solidFill>
                      </a:endParaRPr>
                    </a:p>
                  </a:txBody>
                  <a:tcPr marL="0" marR="0" marT="0" marB="0" anchor="ctr" anchorCtr="0">
                    <a:lnL>
                      <a:noFill/>
                    </a:lnL>
                    <a:lnR>
                      <a:noFill/>
                    </a:lnR>
                    <a:lnT>
                      <a:noFill/>
                    </a:lnT>
                    <a:lnB>
                      <a:noFill/>
                    </a:lnB>
                    <a:solidFill>
                      <a:schemeClr val="accent1">
                        <a:lumMod val="60000"/>
                        <a:lumOff val="40000"/>
                      </a:schemeClr>
                    </a:solidFill>
                  </a:tcPr>
                </a:tc>
                <a:tc>
                  <a:txBody>
                    <a:bodyPr/>
                    <a:p>
                      <a:r>
                        <a:rPr sz="2000">
                          <a:solidFill>
                            <a:srgbClr val="FF0000"/>
                          </a:solidFill>
                        </a:rPr>
                        <a:t>" hello ".trim() → 'hello'"</a:t>
                      </a:r>
                      <a:endParaRPr sz="2000">
                        <a:solidFill>
                          <a:srgbClr val="FF0000"/>
                        </a:solidFill>
                      </a:endParaRPr>
                    </a:p>
                  </a:txBody>
                  <a:tcPr marL="0" marR="0" marT="0" marB="0" anchor="ctr" anchorCtr="0">
                    <a:lnL>
                      <a:noFill/>
                    </a:lnL>
                    <a:lnR>
                      <a:noFill/>
                    </a:lnR>
                    <a:lnT>
                      <a:noFill/>
                    </a:lnT>
                    <a:lnB>
                      <a:noFill/>
                    </a:lnB>
                    <a:solidFill>
                      <a:schemeClr val="accent1">
                        <a:lumMod val="60000"/>
                        <a:lumOff val="40000"/>
                      </a:schemeClr>
                    </a:solidFill>
                  </a:tcPr>
                </a:tc>
              </a:tr>
            </a:tbl>
          </a:graphicData>
        </a:graphic>
      </p:graphicFrame>
      <p:sp>
        <p:nvSpPr>
          <p:cNvPr id="5" name="Text Box 4"/>
          <p:cNvSpPr txBox="1"/>
          <p:nvPr/>
        </p:nvSpPr>
        <p:spPr>
          <a:xfrm>
            <a:off x="114300" y="4485640"/>
            <a:ext cx="12077700" cy="2306955"/>
          </a:xfrm>
          <a:prstGeom prst="rect">
            <a:avLst/>
          </a:prstGeom>
          <a:noFill/>
        </p:spPr>
        <p:txBody>
          <a:bodyPr wrap="square" rtlCol="0" anchor="t">
            <a:spAutoFit/>
          </a:bodyPr>
          <a:p>
            <a:r>
              <a:rPr lang="en-US" altLang="en-US">
                <a:sym typeface="+mn-ea"/>
              </a:rPr>
              <a:t>&lt;script&gt;</a:t>
            </a:r>
            <a:endParaRPr lang="en-US" altLang="en-US"/>
          </a:p>
          <a:p>
            <a:r>
              <a:rPr lang="en-US" altLang="en-US">
                <a:sym typeface="+mn-ea"/>
              </a:rPr>
              <a:t>  let str = "  Hello World!  ";</a:t>
            </a:r>
            <a:endParaRPr lang="en-US" altLang="en-US"/>
          </a:p>
          <a:p>
            <a:r>
              <a:rPr lang="en-US" altLang="en-US">
                <a:sym typeface="+mn-ea"/>
              </a:rPr>
              <a:t>  let output = "";</a:t>
            </a:r>
            <a:endParaRPr lang="en-US" altLang="en-US"/>
          </a:p>
          <a:p>
            <a:r>
              <a:rPr lang="en-US" altLang="en-US">
                <a:sym typeface="+mn-ea"/>
              </a:rPr>
              <a:t>  // 1. length</a:t>
            </a:r>
            <a:endParaRPr lang="en-US" altLang="en-US"/>
          </a:p>
          <a:p>
            <a:r>
              <a:rPr lang="en-US" altLang="en-US">
                <a:sym typeface="+mn-ea"/>
              </a:rPr>
              <a:t>  output += "1. Length: " + str.length + "\n"; // 16 (includes spaces)</a:t>
            </a:r>
            <a:endParaRPr lang="en-US" altLang="en-US"/>
          </a:p>
          <a:p>
            <a:r>
              <a:rPr lang="en-US" altLang="en-US">
                <a:sym typeface="+mn-ea"/>
              </a:rPr>
              <a:t>  // 2. charAt()</a:t>
            </a:r>
            <a:endParaRPr lang="en-US" altLang="en-US"/>
          </a:p>
          <a:p>
            <a:r>
              <a:rPr lang="en-US" altLang="en-US">
                <a:sym typeface="+mn-ea"/>
              </a:rPr>
              <a:t>  output += "2. charAt(6): " + str.charAt(6) + "\n"; // 'W'</a:t>
            </a:r>
            <a:endParaRPr lang="en-US" altLang="en-US"/>
          </a:p>
          <a:p>
            <a:endParaRPr lang="en-US" altLang="en-US">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62890" y="224155"/>
            <a:ext cx="10515600" cy="6322695"/>
          </a:xfrm>
        </p:spPr>
        <p:txBody>
          <a:bodyPr>
            <a:noAutofit/>
          </a:bodyPr>
          <a:p>
            <a:pPr marL="0" indent="0">
              <a:buNone/>
            </a:pPr>
            <a:r>
              <a:rPr lang="en-US" altLang="en-US" sz="1400"/>
              <a:t>1)length</a:t>
            </a:r>
            <a:endParaRPr lang="en-US" altLang="en-US" sz="1400"/>
          </a:p>
          <a:p>
            <a:pPr marL="0" indent="0">
              <a:buNone/>
            </a:pPr>
            <a:r>
              <a:rPr lang="en-US" altLang="en-US" sz="1400"/>
              <a:t>2)charAt(index)</a:t>
            </a:r>
            <a:endParaRPr lang="en-US" altLang="en-US" sz="1400"/>
          </a:p>
          <a:p>
            <a:pPr marL="0" indent="0">
              <a:buNone/>
            </a:pPr>
            <a:r>
              <a:rPr lang="en-US" altLang="en-US" sz="1400"/>
              <a:t>3)substring(start, end)</a:t>
            </a:r>
            <a:endParaRPr lang="en-US" altLang="en-US" sz="1400"/>
          </a:p>
          <a:p>
            <a:pPr marL="0" indent="0">
              <a:buNone/>
            </a:pPr>
            <a:r>
              <a:rPr lang="en-US" altLang="en-US" sz="1400"/>
              <a:t>4)slice(start, end)</a:t>
            </a:r>
            <a:endParaRPr lang="en-US" altLang="en-US" sz="1400"/>
          </a:p>
          <a:p>
            <a:pPr marL="0" indent="0">
              <a:buNone/>
            </a:pPr>
            <a:r>
              <a:rPr lang="en-US" altLang="en-US" sz="1400"/>
              <a:t>5)toUpperCase()</a:t>
            </a:r>
            <a:endParaRPr lang="en-US" altLang="en-US" sz="1400"/>
          </a:p>
          <a:p>
            <a:pPr marL="0" indent="0">
              <a:buNone/>
            </a:pPr>
            <a:r>
              <a:rPr lang="en-US" altLang="en-US" sz="1400"/>
              <a:t>6)toLowerCase()</a:t>
            </a:r>
            <a:endParaRPr lang="en-US" altLang="en-US" sz="1400"/>
          </a:p>
          <a:p>
            <a:pPr marL="0" indent="0">
              <a:buNone/>
            </a:pPr>
            <a:r>
              <a:rPr lang="en-US" altLang="en-US" sz="1400"/>
              <a:t>7)includes(substring)</a:t>
            </a:r>
            <a:endParaRPr lang="en-US" altLang="en-US" sz="1400"/>
          </a:p>
          <a:p>
            <a:pPr marL="0" indent="0">
              <a:buNone/>
            </a:pPr>
            <a:r>
              <a:rPr lang="en-US" altLang="en-US" sz="1400"/>
              <a:t>8)indexOf(substring)</a:t>
            </a:r>
            <a:endParaRPr lang="en-US" altLang="en-US" sz="1400"/>
          </a:p>
          <a:p>
            <a:pPr marL="0" indent="0">
              <a:buNone/>
            </a:pPr>
            <a:r>
              <a:rPr lang="en-US" altLang="en-US" sz="1400"/>
              <a:t>9)replace(find, replace)</a:t>
            </a:r>
            <a:endParaRPr lang="en-US" altLang="en-US" sz="1400"/>
          </a:p>
          <a:p>
            <a:pPr marL="0" indent="0">
              <a:buNone/>
            </a:pPr>
            <a:r>
              <a:rPr lang="en-US" altLang="en-US" sz="1400"/>
              <a:t>10)trim()</a:t>
            </a:r>
            <a:endParaRPr lang="en-US" altLang="en-US" sz="1400"/>
          </a:p>
          <a:p>
            <a:pPr marL="0" indent="0">
              <a:buNone/>
            </a:pPr>
            <a:r>
              <a:rPr lang="en-US" altLang="en-US" sz="1400"/>
              <a:t>15)trimStart()</a:t>
            </a:r>
            <a:endParaRPr lang="en-US" altLang="en-US" sz="1400"/>
          </a:p>
          <a:p>
            <a:pPr marL="0" indent="0">
              <a:buNone/>
            </a:pPr>
            <a:r>
              <a:rPr lang="en-US" altLang="en-US" sz="1400"/>
              <a:t>16)trimEnd()</a:t>
            </a:r>
            <a:endParaRPr lang="en-US" altLang="en-US" sz="1400"/>
          </a:p>
          <a:p>
            <a:pPr marL="0" indent="0">
              <a:buNone/>
            </a:pPr>
            <a:r>
              <a:rPr lang="en-US" altLang="en-US" sz="1400"/>
              <a:t>11)concat() -&gt;contact two string.</a:t>
            </a:r>
            <a:endParaRPr lang="en-US" altLang="en-US" sz="1400"/>
          </a:p>
          <a:p>
            <a:pPr marL="0" indent="0">
              <a:buNone/>
            </a:pPr>
            <a:r>
              <a:rPr lang="en-US" altLang="en-US" sz="1400"/>
              <a:t>12)split() -&gt;split string</a:t>
            </a:r>
            <a:endParaRPr lang="en-US" altLang="en-US" sz="1400"/>
          </a:p>
          <a:p>
            <a:pPr marL="0" indent="0">
              <a:buNone/>
            </a:pPr>
            <a:r>
              <a:rPr lang="en-US" altLang="en-US" sz="1400"/>
              <a:t>13)padStart() -&gt;add Extra Padding Of Start String</a:t>
            </a:r>
            <a:endParaRPr lang="en-US" altLang="en-US" sz="1400"/>
          </a:p>
          <a:p>
            <a:pPr marL="0" indent="0">
              <a:buNone/>
            </a:pPr>
            <a:r>
              <a:rPr lang="en-US" altLang="en-US" sz="1400"/>
              <a:t>14)padEnd()</a:t>
            </a:r>
            <a:endParaRPr lang="en-US" altLang="en-US" sz="1400"/>
          </a:p>
          <a:p>
            <a:pPr marL="0" indent="0">
              <a:buNone/>
            </a:pPr>
            <a:r>
              <a:rPr lang="en-US" altLang="en-US" sz="1400"/>
              <a:t>17)search() -&gt;find A character /word into/from string</a:t>
            </a:r>
            <a:endParaRPr lang="en-US" altLang="en-US" sz="1400"/>
          </a:p>
          <a:p>
            <a:pPr marL="0" indent="0">
              <a:buNone/>
            </a:pPr>
            <a:r>
              <a:rPr lang="en-US" altLang="en-US" sz="1400"/>
              <a:t>18)toString() -&gt;create new string from alreday created string</a:t>
            </a:r>
            <a:endParaRPr lang="en-US" altLang="en-US" sz="1400"/>
          </a:p>
          <a:p>
            <a:pPr marL="0" indent="0">
              <a:buNone/>
            </a:pPr>
            <a:r>
              <a:rPr lang="en-US" altLang="en-US" sz="1400"/>
              <a:t>19)repeat() -&gt;repeat string.</a:t>
            </a:r>
            <a:endParaRPr lang="en-US" altLang="en-US" sz="14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25730" y="144780"/>
            <a:ext cx="11228070" cy="6713220"/>
          </a:xfrm>
        </p:spPr>
        <p:txBody>
          <a:bodyPr>
            <a:normAutofit fontScale="65000"/>
          </a:bodyPr>
          <a:p>
            <a:pPr marL="0" indent="0">
              <a:buNone/>
            </a:pPr>
            <a:r>
              <a:rPr lang="en-US" altLang="en-US">
                <a:sym typeface="+mn-ea"/>
              </a:rPr>
              <a:t>  // 3. substring()</a:t>
            </a:r>
            <a:endParaRPr lang="en-US" altLang="en-US"/>
          </a:p>
          <a:p>
            <a:pPr marL="0" indent="0">
              <a:buNone/>
            </a:pPr>
            <a:r>
              <a:rPr lang="en-US" altLang="en-US">
                <a:sym typeface="+mn-ea"/>
              </a:rPr>
              <a:t>  output += "3. substring(2, 7): " + str.substring(2, 7) + "\n"; // 'Hello'</a:t>
            </a:r>
            <a:endParaRPr lang="en-US" altLang="en-US">
              <a:sym typeface="+mn-ea"/>
            </a:endParaRPr>
          </a:p>
          <a:p>
            <a:pPr marL="0" indent="0">
              <a:buNone/>
            </a:pPr>
            <a:r>
              <a:rPr lang="en-US" altLang="en-US"/>
              <a:t>  // 4. slice()</a:t>
            </a:r>
            <a:endParaRPr lang="en-US" altLang="en-US"/>
          </a:p>
          <a:p>
            <a:pPr marL="0" indent="0">
              <a:buNone/>
            </a:pPr>
            <a:r>
              <a:rPr lang="en-US" altLang="en-US"/>
              <a:t>  output += "4. slice(-6): " + str.slice(-6) + "\n"; // 'ld!  '</a:t>
            </a:r>
            <a:endParaRPr lang="en-US" altLang="en-US"/>
          </a:p>
          <a:p>
            <a:pPr marL="0" indent="0">
              <a:buNone/>
            </a:pPr>
            <a:r>
              <a:rPr lang="en-US" altLang="en-US"/>
              <a:t>  // 5. toUpperCase()</a:t>
            </a:r>
            <a:endParaRPr lang="en-US" altLang="en-US"/>
          </a:p>
          <a:p>
            <a:pPr marL="0" indent="0">
              <a:buNone/>
            </a:pPr>
            <a:r>
              <a:rPr lang="en-US" altLang="en-US"/>
              <a:t>  output += "5. toUpperCase(): " + str.toUpperCase() + "\n"; // '  HELLO WORLD!  '</a:t>
            </a:r>
            <a:endParaRPr lang="en-US" altLang="en-US"/>
          </a:p>
          <a:p>
            <a:pPr marL="0" indent="0">
              <a:buNone/>
            </a:pPr>
            <a:r>
              <a:rPr lang="en-US" altLang="en-US"/>
              <a:t>  // 6. toLowerCase()</a:t>
            </a:r>
            <a:endParaRPr lang="en-US" altLang="en-US"/>
          </a:p>
          <a:p>
            <a:pPr marL="0" indent="0">
              <a:buNone/>
            </a:pPr>
            <a:r>
              <a:rPr lang="en-US" altLang="en-US"/>
              <a:t>  output += "6. toLowerCase(): " + str.toLowerCase() + "\n"; // '  hello world!  '</a:t>
            </a:r>
            <a:endParaRPr lang="en-US" altLang="en-US"/>
          </a:p>
          <a:p>
            <a:pPr marL="0" indent="0">
              <a:buNone/>
            </a:pPr>
            <a:r>
              <a:rPr lang="en-US" altLang="en-US"/>
              <a:t>  // 7. includes()</a:t>
            </a:r>
            <a:endParaRPr lang="en-US" altLang="en-US"/>
          </a:p>
          <a:p>
            <a:pPr marL="0" indent="0">
              <a:buNone/>
            </a:pPr>
            <a:r>
              <a:rPr lang="en-US" altLang="en-US"/>
              <a:t>  output += "7. includes('World'): " + str.includes("World") + "\n"; // true</a:t>
            </a:r>
            <a:endParaRPr lang="en-US" altLang="en-US"/>
          </a:p>
          <a:p>
            <a:pPr marL="0" indent="0">
              <a:buNone/>
            </a:pPr>
            <a:r>
              <a:rPr lang="en-US" altLang="en-US"/>
              <a:t>  // 8. indexOf()</a:t>
            </a:r>
            <a:endParaRPr lang="en-US" altLang="en-US"/>
          </a:p>
          <a:p>
            <a:pPr marL="0" indent="0">
              <a:buNone/>
            </a:pPr>
            <a:r>
              <a:rPr lang="en-US" altLang="en-US"/>
              <a:t>  output += "8. indexOf('o'): " + str.indexOf("o") + "\n"; // 5</a:t>
            </a:r>
            <a:endParaRPr lang="en-US" altLang="en-US"/>
          </a:p>
          <a:p>
            <a:pPr marL="0" indent="0">
              <a:buNone/>
            </a:pPr>
            <a:r>
              <a:rPr lang="en-US" altLang="en-US"/>
              <a:t>  // 9. replace()</a:t>
            </a:r>
            <a:endParaRPr lang="en-US" altLang="en-US"/>
          </a:p>
          <a:p>
            <a:pPr marL="0" indent="0">
              <a:buNone/>
            </a:pPr>
            <a:r>
              <a:rPr lang="en-US" altLang="en-US"/>
              <a:t>  output += "9. replace('World', 'JavaScript'): " + str.replace("World", "JavaScript") + "\n"; // '  Hello JavaScript!  '</a:t>
            </a:r>
            <a:endParaRPr lang="en-US" altLang="en-US"/>
          </a:p>
          <a:p>
            <a:pPr marL="0" indent="0">
              <a:buNone/>
            </a:pPr>
            <a:r>
              <a:rPr lang="en-US" altLang="en-US"/>
              <a:t>  // 10. trim()</a:t>
            </a:r>
            <a:endParaRPr lang="en-US" altLang="en-US"/>
          </a:p>
          <a:p>
            <a:pPr marL="0" indent="0">
              <a:buNone/>
            </a:pPr>
            <a:r>
              <a:rPr lang="en-US" altLang="en-US"/>
              <a:t>  output += "10. trim(): '" + str.trim() + "'\n"; // 'Hello World!'</a:t>
            </a:r>
            <a:endParaRPr lang="en-US" altLang="en-US"/>
          </a:p>
          <a:p>
            <a:pPr marL="0" indent="0">
              <a:buNone/>
            </a:pPr>
            <a:r>
              <a:rPr lang="en-US" altLang="en-US"/>
              <a:t>  document.getElementById("output").textContent = output;</a:t>
            </a:r>
            <a:endParaRPr lang="en-US" altLang="en-US"/>
          </a:p>
          <a:p>
            <a:pPr marL="0" indent="0">
              <a:buNone/>
            </a:pPr>
            <a:r>
              <a:rPr lang="en-US" altLang="en-US"/>
              <a:t>&lt;/script&gt;</a:t>
            </a:r>
            <a:endParaRPr lang="en-US" altLang="en-US"/>
          </a:p>
          <a:p>
            <a:pPr marL="0" indent="0">
              <a:buNone/>
            </a:pPr>
            <a:endParaRPr lang="en-US"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295275"/>
          </a:xfrm>
        </p:spPr>
        <p:txBody>
          <a:bodyPr>
            <a:noAutofit/>
          </a:bodyPr>
          <a:p>
            <a:pPr algn="ctr"/>
            <a:r>
              <a:rPr lang="en-US" sz="2000" b="1">
                <a:solidFill>
                  <a:srgbClr val="FF0000"/>
                </a:solidFill>
              </a:rPr>
              <a:t>js Iterators </a:t>
            </a:r>
            <a:r>
              <a:rPr lang="en-US" sz="2000" b="1">
                <a:solidFill>
                  <a:srgbClr val="FF0000"/>
                </a:solidFill>
              </a:rPr>
              <a:t>And generators</a:t>
            </a:r>
            <a:endParaRPr lang="en-US" sz="2000" b="1">
              <a:solidFill>
                <a:srgbClr val="FF0000"/>
              </a:solidFill>
            </a:endParaRPr>
          </a:p>
        </p:txBody>
      </p:sp>
      <p:sp>
        <p:nvSpPr>
          <p:cNvPr id="3" name="Content Placeholder 2"/>
          <p:cNvSpPr>
            <a:spLocks noGrp="1"/>
          </p:cNvSpPr>
          <p:nvPr>
            <p:ph idx="1"/>
          </p:nvPr>
        </p:nvSpPr>
        <p:spPr>
          <a:xfrm>
            <a:off x="635" y="295275"/>
            <a:ext cx="12096750" cy="6196330"/>
          </a:xfrm>
        </p:spPr>
        <p:txBody>
          <a:bodyPr>
            <a:noAutofit/>
          </a:bodyPr>
          <a:p>
            <a:pPr marL="0" indent="0">
              <a:buNone/>
            </a:pPr>
            <a:r>
              <a:rPr lang="en-US" altLang="en-US" sz="1600"/>
              <a:t>In JavaScript, iterators and generators are advanced features that allow you to work with sequences of data more flexibly and lazily (on demand). Let's break both down clearly:</a:t>
            </a:r>
            <a:endParaRPr lang="en-US" altLang="en-US" sz="1600"/>
          </a:p>
          <a:p>
            <a:pPr marL="0" indent="0">
              <a:buNone/>
            </a:pPr>
            <a:r>
              <a:rPr lang="en-US" altLang="en-US" sz="1600"/>
              <a:t>Iterators</a:t>
            </a:r>
            <a:endParaRPr lang="en-US" altLang="en-US" sz="1600"/>
          </a:p>
          <a:p>
            <a:pPr marL="0" indent="0">
              <a:buNone/>
            </a:pPr>
            <a:r>
              <a:rPr lang="en-US" altLang="en-US" sz="1600"/>
              <a:t>An iterator is an object that defines a sequence and returns a value one at a time when its .next() method is called.</a:t>
            </a:r>
            <a:endParaRPr lang="en-US" altLang="en-US" sz="1600"/>
          </a:p>
          <a:p>
            <a:pPr marL="0" indent="0">
              <a:buNone/>
            </a:pPr>
            <a:r>
              <a:rPr lang="en-US" altLang="en-US" sz="1800" b="1"/>
              <a:t>Key Concepts</a:t>
            </a:r>
            <a:endParaRPr lang="en-US" altLang="en-US" sz="1600"/>
          </a:p>
          <a:p>
            <a:pPr marL="0" indent="0">
              <a:buNone/>
            </a:pPr>
            <a:r>
              <a:rPr lang="en-US" altLang="en-US" sz="1600"/>
              <a:t>An object is an iterator when it implements a .next() method that returns an object with:</a:t>
            </a:r>
            <a:endParaRPr lang="en-US" altLang="en-US" sz="1600"/>
          </a:p>
          <a:p>
            <a:pPr marL="0" indent="0">
              <a:buNone/>
            </a:pPr>
            <a:r>
              <a:rPr lang="en-US" altLang="en-US" sz="1600"/>
              <a:t>{</a:t>
            </a:r>
            <a:endParaRPr lang="en-US" altLang="en-US" sz="1600"/>
          </a:p>
          <a:p>
            <a:pPr marL="0" indent="0">
              <a:buNone/>
            </a:pPr>
            <a:r>
              <a:rPr lang="en-US" altLang="en-US" sz="1600"/>
              <a:t>  value: &lt;any&gt;,</a:t>
            </a:r>
            <a:endParaRPr lang="en-US" altLang="en-US" sz="1600"/>
          </a:p>
          <a:p>
            <a:pPr marL="0" indent="0">
              <a:buNone/>
            </a:pPr>
            <a:r>
              <a:rPr lang="en-US" altLang="en-US" sz="1600"/>
              <a:t>  done: &lt;boolean&gt;</a:t>
            </a:r>
            <a:endParaRPr lang="en-US" altLang="en-US" sz="1600"/>
          </a:p>
          <a:p>
            <a:pPr marL="0" indent="0">
              <a:buNone/>
            </a:pPr>
            <a:r>
              <a:rPr lang="en-US" altLang="en-US" sz="1600"/>
              <a:t>}</a:t>
            </a:r>
            <a:endParaRPr lang="en-US" altLang="en-US" sz="1600"/>
          </a:p>
          <a:p>
            <a:pPr marL="0" indent="0">
              <a:buNone/>
            </a:pPr>
            <a:r>
              <a:rPr lang="en-US" altLang="en-US" sz="1600"/>
              <a:t>value: the current value being yielded -&gt;</a:t>
            </a:r>
            <a:endParaRPr lang="en-US" altLang="en-US" sz="1600"/>
          </a:p>
          <a:p>
            <a:pPr marL="0" indent="0">
              <a:buNone/>
            </a:pPr>
            <a:r>
              <a:rPr lang="en-US" altLang="en-US" sz="1600"/>
              <a:t>done: true when the iteration is finished -&gt;</a:t>
            </a:r>
            <a:endParaRPr lang="en-US" altLang="en-US" sz="1600"/>
          </a:p>
          <a:p>
            <a:pPr marL="0" indent="0">
              <a:buNone/>
            </a:pPr>
            <a:endParaRPr lang="en-US" altLang="en-US" sz="1600"/>
          </a:p>
        </p:txBody>
      </p:sp>
      <p:graphicFrame>
        <p:nvGraphicFramePr>
          <p:cNvPr id="4" name="Table 3"/>
          <p:cNvGraphicFramePr/>
          <p:nvPr>
            <p:custDataLst>
              <p:tags r:id="rId1"/>
            </p:custDataLst>
          </p:nvPr>
        </p:nvGraphicFramePr>
        <p:xfrm>
          <a:off x="1270" y="4544695"/>
          <a:ext cx="12096115" cy="1553210"/>
        </p:xfrm>
        <a:graphic>
          <a:graphicData uri="http://schemas.openxmlformats.org/drawingml/2006/table">
            <a:tbl>
              <a:tblPr/>
              <a:tblGrid>
                <a:gridCol w="3628390"/>
                <a:gridCol w="8467725"/>
              </a:tblGrid>
              <a:tr h="365760">
                <a:tc>
                  <a:txBody>
                    <a:bodyPr/>
                    <a:p>
                      <a:pPr algn="ctr"/>
                      <a:r>
                        <a:rPr sz="2400" b="1">
                          <a:solidFill>
                            <a:srgbClr val="FF0000"/>
                          </a:solidFill>
                        </a:rPr>
                        <a:t>Feature</a:t>
                      </a:r>
                      <a:endParaRPr sz="2400" b="1">
                        <a:solidFill>
                          <a:srgbClr val="FF0000"/>
                        </a:solidFill>
                      </a:endParaRPr>
                    </a:p>
                  </a:txBody>
                  <a:tcPr marL="0" marR="0" marT="0" marB="0" anchor="ctr" anchorCtr="0">
                    <a:lnL>
                      <a:noFill/>
                    </a:lnL>
                    <a:lnR>
                      <a:noFill/>
                    </a:lnR>
                    <a:lnT>
                      <a:noFill/>
                    </a:lnT>
                    <a:lnB>
                      <a:noFill/>
                    </a:lnB>
                    <a:noFill/>
                  </a:tcPr>
                </a:tc>
                <a:tc>
                  <a:txBody>
                    <a:bodyPr/>
                    <a:p>
                      <a:pPr algn="ctr"/>
                      <a:r>
                        <a:rPr sz="2400" b="1">
                          <a:solidFill>
                            <a:srgbClr val="FF0000"/>
                          </a:solidFill>
                        </a:rPr>
                        <a:t>Use Case</a:t>
                      </a:r>
                      <a:endParaRPr sz="2400" b="1">
                        <a:solidFill>
                          <a:srgbClr val="FF0000"/>
                        </a:solidFill>
                      </a:endParaRPr>
                    </a:p>
                  </a:txBody>
                  <a:tcPr marL="0" marR="0" marT="0" marB="0" anchor="ctr" anchorCtr="0">
                    <a:lnL>
                      <a:noFill/>
                    </a:lnL>
                    <a:lnR>
                      <a:noFill/>
                    </a:lnR>
                    <a:lnT>
                      <a:noFill/>
                    </a:lnT>
                    <a:lnB>
                      <a:noFill/>
                    </a:lnB>
                    <a:noFill/>
                  </a:tcPr>
                </a:tc>
              </a:tr>
              <a:tr h="347980">
                <a:tc>
                  <a:txBody>
                    <a:bodyPr/>
                    <a:p>
                      <a:r>
                        <a:rPr sz="1600"/>
                        <a:t>Iterators</a:t>
                      </a:r>
                      <a:endParaRPr sz="1600"/>
                    </a:p>
                  </a:txBody>
                  <a:tcPr marL="0" marR="0" marT="0" marB="0" anchor="ctr" anchorCtr="0">
                    <a:lnL>
                      <a:noFill/>
                    </a:lnL>
                    <a:lnR>
                      <a:noFill/>
                    </a:lnR>
                    <a:lnT>
                      <a:noFill/>
                    </a:lnT>
                    <a:lnB>
                      <a:noFill/>
                    </a:lnB>
                    <a:noFill/>
                  </a:tcPr>
                </a:tc>
                <a:tc>
                  <a:txBody>
                    <a:bodyPr/>
                    <a:p>
                      <a:r>
                        <a:rPr sz="1600"/>
                        <a:t>When you want custom control over iteration behavior</a:t>
                      </a:r>
                      <a:endParaRPr sz="1600"/>
                    </a:p>
                  </a:txBody>
                  <a:tcPr marL="0" marR="0" marT="0" marB="0" anchor="ctr" anchorCtr="0">
                    <a:lnL>
                      <a:noFill/>
                    </a:lnL>
                    <a:lnR>
                      <a:noFill/>
                    </a:lnR>
                    <a:lnT>
                      <a:noFill/>
                    </a:lnT>
                    <a:lnB>
                      <a:noFill/>
                    </a:lnB>
                    <a:noFill/>
                  </a:tcPr>
                </a:tc>
              </a:tr>
              <a:tr h="347980">
                <a:tc>
                  <a:txBody>
                    <a:bodyPr/>
                    <a:p>
                      <a:r>
                        <a:rPr sz="1600"/>
                        <a:t>Generators</a:t>
                      </a:r>
                      <a:endParaRPr sz="1600"/>
                    </a:p>
                  </a:txBody>
                  <a:tcPr marL="0" marR="0" marT="0" marB="0" anchor="ctr" anchorCtr="0">
                    <a:lnL>
                      <a:noFill/>
                    </a:lnL>
                    <a:lnR>
                      <a:noFill/>
                    </a:lnR>
                    <a:lnT>
                      <a:noFill/>
                    </a:lnT>
                    <a:lnB>
                      <a:noFill/>
                    </a:lnB>
                    <a:noFill/>
                  </a:tcPr>
                </a:tc>
                <a:tc>
                  <a:txBody>
                    <a:bodyPr/>
                    <a:p>
                      <a:r>
                        <a:rPr sz="1600"/>
                        <a:t>When you need simpler, cleaner syntax for creating iterators</a:t>
                      </a:r>
                      <a:endParaRPr sz="1600"/>
                    </a:p>
                  </a:txBody>
                  <a:tcPr marL="0" marR="0" marT="0" marB="0" anchor="ctr" anchorCtr="0">
                    <a:lnL>
                      <a:noFill/>
                    </a:lnL>
                    <a:lnR>
                      <a:noFill/>
                    </a:lnR>
                    <a:lnT>
                      <a:noFill/>
                    </a:lnT>
                    <a:lnB>
                      <a:noFill/>
                    </a:lnB>
                    <a:noFill/>
                  </a:tcPr>
                </a:tc>
              </a:tr>
              <a:tr h="491490">
                <a:tc>
                  <a:txBody>
                    <a:bodyPr/>
                    <a:p>
                      <a:endParaRPr sz="1600"/>
                    </a:p>
                  </a:txBody>
                  <a:tcPr marL="0" marR="0" marT="0" marB="0" anchor="ctr" anchorCtr="0">
                    <a:lnL>
                      <a:noFill/>
                    </a:lnL>
                    <a:lnR>
                      <a:noFill/>
                    </a:lnR>
                    <a:lnT>
                      <a:noFill/>
                    </a:lnT>
                    <a:lnB>
                      <a:noFill/>
                    </a:lnB>
                    <a:noFill/>
                  </a:tcPr>
                </a:tc>
                <a:tc>
                  <a:txBody>
                    <a:bodyPr/>
                    <a:p>
                      <a:r>
                        <a:rPr sz="1600"/>
                        <a:t>Good for things like data streams, lazy loading, or async operations</a:t>
                      </a:r>
                      <a:endParaRPr sz="16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1353800" cy="351790"/>
          </a:xfrm>
        </p:spPr>
        <p:txBody>
          <a:bodyPr>
            <a:normAutofit fontScale="90000"/>
          </a:bodyPr>
          <a:p>
            <a:pPr algn="ctr"/>
            <a:r>
              <a:rPr lang="en-US" altLang="en-US" sz="2800" b="1">
                <a:solidFill>
                  <a:srgbClr val="FF0000"/>
                </a:solidFill>
                <a:sym typeface="+mn-ea"/>
              </a:rPr>
              <a:t>Example of Iterators</a:t>
            </a:r>
            <a:endParaRPr lang="en-US" altLang="en-US" sz="2800" b="1">
              <a:solidFill>
                <a:srgbClr val="FF0000"/>
              </a:solidFill>
              <a:sym typeface="+mn-ea"/>
            </a:endParaRPr>
          </a:p>
        </p:txBody>
      </p:sp>
      <p:sp>
        <p:nvSpPr>
          <p:cNvPr id="3" name="Content Placeholder 2"/>
          <p:cNvSpPr>
            <a:spLocks noGrp="1"/>
          </p:cNvSpPr>
          <p:nvPr>
            <p:ph idx="1"/>
          </p:nvPr>
        </p:nvSpPr>
        <p:spPr>
          <a:xfrm>
            <a:off x="154305" y="351790"/>
            <a:ext cx="11924665" cy="6157595"/>
          </a:xfrm>
        </p:spPr>
        <p:txBody>
          <a:bodyPr>
            <a:normAutofit fontScale="70000"/>
          </a:bodyPr>
          <a:p>
            <a:pPr marL="0" indent="0">
              <a:buNone/>
            </a:pPr>
            <a:r>
              <a:rPr lang="en-US" altLang="en-US">
                <a:sym typeface="+mn-ea"/>
              </a:rPr>
              <a:t>const myIterator = {</a:t>
            </a:r>
            <a:endParaRPr lang="en-US" altLang="en-US"/>
          </a:p>
          <a:p>
            <a:pPr marL="0" indent="0">
              <a:buNone/>
            </a:pPr>
            <a:r>
              <a:rPr lang="en-US" altLang="en-US">
                <a:sym typeface="+mn-ea"/>
              </a:rPr>
              <a:t>  data: [10, 20, 30,40,50,60,70,80],</a:t>
            </a:r>
            <a:endParaRPr lang="en-US" altLang="en-US"/>
          </a:p>
          <a:p>
            <a:pPr marL="0" indent="0">
              <a:buNone/>
            </a:pPr>
            <a:r>
              <a:rPr lang="en-US" altLang="en-US">
                <a:sym typeface="+mn-ea"/>
              </a:rPr>
              <a:t>  index: 0,</a:t>
            </a:r>
            <a:endParaRPr lang="en-US" altLang="en-US"/>
          </a:p>
          <a:p>
            <a:pPr marL="0" indent="0">
              <a:buNone/>
            </a:pPr>
            <a:r>
              <a:rPr lang="en-US" altLang="en-US">
                <a:sym typeface="+mn-ea"/>
              </a:rPr>
              <a:t>  next() {</a:t>
            </a:r>
            <a:endParaRPr lang="en-US" altLang="en-US"/>
          </a:p>
          <a:p>
            <a:pPr marL="0" indent="0">
              <a:buNone/>
            </a:pPr>
            <a:r>
              <a:rPr lang="en-US" altLang="en-US">
                <a:sym typeface="+mn-ea"/>
              </a:rPr>
              <a:t>    if (this.index &lt; this.data.length) {//0&lt;7</a:t>
            </a:r>
            <a:endParaRPr lang="en-US" altLang="en-US"/>
          </a:p>
          <a:p>
            <a:pPr marL="0" indent="0">
              <a:buNone/>
            </a:pPr>
            <a:r>
              <a:rPr lang="en-US" altLang="en-US">
                <a:sym typeface="+mn-ea"/>
              </a:rPr>
              <a:t>      return { value: this.data[this.index++], done: false };</a:t>
            </a:r>
            <a:endParaRPr lang="en-US" altLang="en-US"/>
          </a:p>
          <a:p>
            <a:pPr marL="0" indent="0">
              <a:buNone/>
            </a:pPr>
            <a:r>
              <a:rPr lang="en-US" altLang="en-US">
                <a:sym typeface="+mn-ea"/>
              </a:rPr>
              <a:t>    } else {</a:t>
            </a:r>
            <a:endParaRPr lang="en-US" altLang="en-US"/>
          </a:p>
          <a:p>
            <a:pPr marL="0" indent="0">
              <a:buNone/>
            </a:pPr>
            <a:r>
              <a:rPr lang="en-US" altLang="en-US">
                <a:sym typeface="+mn-ea"/>
              </a:rPr>
              <a:t>      return { value: undefined, done: true };</a:t>
            </a:r>
            <a:endParaRPr lang="en-US" altLang="en-US"/>
          </a:p>
          <a:p>
            <a:pPr marL="0" indent="0">
              <a:buNone/>
            </a:pPr>
            <a:r>
              <a:rPr lang="en-US" altLang="en-US">
                <a:sym typeface="+mn-ea"/>
              </a:rPr>
              <a:t>    }</a:t>
            </a:r>
            <a:endParaRPr lang="en-US" altLang="en-US"/>
          </a:p>
          <a:p>
            <a:pPr marL="0" indent="0">
              <a:buNone/>
            </a:pPr>
            <a:r>
              <a:rPr lang="en-US" altLang="en-US">
                <a:sym typeface="+mn-ea"/>
              </a:rPr>
              <a:t>  }</a:t>
            </a:r>
            <a:endParaRPr lang="en-US" altLang="en-US"/>
          </a:p>
          <a:p>
            <a:pPr marL="0" indent="0">
              <a:buNone/>
            </a:pPr>
            <a:r>
              <a:rPr lang="en-US" altLang="en-US">
                <a:sym typeface="+mn-ea"/>
              </a:rPr>
              <a:t>};</a:t>
            </a:r>
            <a:endParaRPr lang="en-US" altLang="en-US"/>
          </a:p>
          <a:p>
            <a:pPr marL="0" indent="0">
              <a:buNone/>
            </a:pPr>
            <a:r>
              <a:rPr lang="en-US" altLang="en-US">
                <a:sym typeface="+mn-ea"/>
              </a:rPr>
              <a:t>console.log(myIterator.next()); // { value: 10, done: false }</a:t>
            </a:r>
            <a:endParaRPr lang="en-US" altLang="en-US"/>
          </a:p>
          <a:p>
            <a:pPr marL="0" indent="0">
              <a:buNone/>
            </a:pPr>
            <a:r>
              <a:rPr lang="en-US" altLang="en-US">
                <a:sym typeface="+mn-ea"/>
              </a:rPr>
              <a:t>console.log(myIterator.next()); // { value: 20, done: false }</a:t>
            </a:r>
            <a:endParaRPr lang="en-US" altLang="en-US"/>
          </a:p>
          <a:p>
            <a:pPr marL="0" indent="0">
              <a:buNone/>
            </a:pPr>
            <a:r>
              <a:rPr lang="en-US" altLang="en-US">
                <a:sym typeface="+mn-ea"/>
              </a:rPr>
              <a:t>console.log(myIterator.next()); // { value: 30, done: false }</a:t>
            </a:r>
            <a:endParaRPr lang="en-US" altLang="en-US"/>
          </a:p>
          <a:p>
            <a:pPr marL="0" indent="0">
              <a:buNone/>
            </a:pPr>
            <a:r>
              <a:rPr lang="en-US" altLang="en-US">
                <a:sym typeface="+mn-ea"/>
              </a:rPr>
              <a:t>console.log(myIterator.next()); // { value: undefined, done: true }</a:t>
            </a:r>
            <a:endParaRPr lang="en-US" altLang="en-US"/>
          </a:p>
          <a:p>
            <a:pPr marL="0" indent="0">
              <a:buNone/>
            </a:pPr>
            <a:endParaRPr lang="en-US" altLang="en-US"/>
          </a:p>
          <a:p>
            <a:pPr marL="0" indent="0">
              <a:buNone/>
            </a:pPr>
            <a:endParaRPr lang="en-US" altLang="en-US"/>
          </a:p>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296545"/>
          </a:xfrm>
        </p:spPr>
        <p:txBody>
          <a:bodyPr>
            <a:noAutofit/>
          </a:bodyPr>
          <a:p>
            <a:pPr algn="ctr"/>
            <a:r>
              <a:rPr lang="en-US" altLang="en-US" sz="2800" b="1">
                <a:solidFill>
                  <a:srgbClr val="FF0000"/>
                </a:solidFill>
                <a:sym typeface="+mn-ea"/>
              </a:rPr>
              <a:t>️ Generators</a:t>
            </a:r>
            <a:endParaRPr lang="en-US" altLang="en-US" sz="2800" b="1">
              <a:solidFill>
                <a:srgbClr val="FF0000"/>
              </a:solidFill>
              <a:sym typeface="+mn-ea"/>
            </a:endParaRPr>
          </a:p>
        </p:txBody>
      </p:sp>
      <p:sp>
        <p:nvSpPr>
          <p:cNvPr id="3" name="Content Placeholder 2"/>
          <p:cNvSpPr>
            <a:spLocks noGrp="1"/>
          </p:cNvSpPr>
          <p:nvPr>
            <p:ph idx="1"/>
          </p:nvPr>
        </p:nvSpPr>
        <p:spPr>
          <a:xfrm>
            <a:off x="168910" y="296545"/>
            <a:ext cx="11896725" cy="6405245"/>
          </a:xfrm>
        </p:spPr>
        <p:txBody>
          <a:bodyPr>
            <a:noAutofit/>
          </a:bodyPr>
          <a:p>
            <a:pPr marL="0" indent="0">
              <a:buNone/>
            </a:pPr>
            <a:r>
              <a:rPr lang="en-US" altLang="en-US" sz="1600">
                <a:sym typeface="+mn-ea"/>
              </a:rPr>
              <a:t>A generator is a special type of function that makes it easier to write iterators. It can pause and resume its execution using the yield keyword.</a:t>
            </a:r>
            <a:endParaRPr lang="en-US" altLang="en-US" sz="1600"/>
          </a:p>
          <a:p>
            <a:pPr marL="0" indent="0">
              <a:buNone/>
            </a:pPr>
            <a:r>
              <a:rPr lang="en-US" altLang="en-US" sz="1600" b="1">
                <a:sym typeface="+mn-ea"/>
              </a:rPr>
              <a:t> Syntax</a:t>
            </a:r>
            <a:endParaRPr lang="en-US" altLang="en-US" sz="1600" b="1"/>
          </a:p>
          <a:p>
            <a:pPr marL="0" indent="0">
              <a:buNone/>
            </a:pPr>
            <a:r>
              <a:rPr lang="en-US" altLang="en-US" sz="1600">
                <a:sym typeface="+mn-ea"/>
              </a:rPr>
              <a:t>function* generatorFunction() {</a:t>
            </a:r>
            <a:endParaRPr lang="en-US" altLang="en-US" sz="1600"/>
          </a:p>
          <a:p>
            <a:pPr marL="0" indent="0">
              <a:buNone/>
            </a:pPr>
            <a:r>
              <a:rPr lang="en-US" altLang="en-US" sz="1600">
                <a:sym typeface="+mn-ea"/>
              </a:rPr>
              <a:t>  yield 1;</a:t>
            </a:r>
            <a:endParaRPr lang="en-US" altLang="en-US" sz="1600"/>
          </a:p>
          <a:p>
            <a:pPr marL="0" indent="0">
              <a:buNone/>
            </a:pPr>
            <a:r>
              <a:rPr lang="en-US" altLang="en-US" sz="1600">
                <a:sym typeface="+mn-ea"/>
              </a:rPr>
              <a:t>  yield 2;</a:t>
            </a:r>
            <a:endParaRPr lang="en-US" altLang="en-US" sz="1600"/>
          </a:p>
          <a:p>
            <a:pPr marL="0" indent="0">
              <a:buNone/>
            </a:pPr>
            <a:r>
              <a:rPr lang="en-US" altLang="en-US" sz="1600">
                <a:sym typeface="+mn-ea"/>
              </a:rPr>
              <a:t>  yield 3;</a:t>
            </a:r>
            <a:endParaRPr lang="en-US" altLang="en-US" sz="1600"/>
          </a:p>
          <a:p>
            <a:pPr marL="0" indent="0">
              <a:buNone/>
            </a:pPr>
            <a:r>
              <a:rPr lang="en-US" altLang="en-US" sz="1600">
                <a:sym typeface="+mn-ea"/>
              </a:rPr>
              <a:t>}</a:t>
            </a:r>
            <a:endParaRPr lang="en-US" altLang="en-US" sz="1600"/>
          </a:p>
          <a:p>
            <a:pPr marL="0" indent="0">
              <a:buNone/>
            </a:pPr>
            <a:r>
              <a:rPr lang="en-US" altLang="en-US" sz="1600">
                <a:sym typeface="+mn-ea"/>
              </a:rPr>
              <a:t> Example</a:t>
            </a:r>
            <a:endParaRPr lang="en-US" altLang="en-US" sz="1600"/>
          </a:p>
          <a:p>
            <a:pPr marL="0" indent="0">
              <a:buNone/>
            </a:pPr>
            <a:r>
              <a:rPr lang="en-US" altLang="en-US" sz="1600">
                <a:sym typeface="+mn-ea"/>
              </a:rPr>
              <a:t>function* numbers() {</a:t>
            </a:r>
            <a:endParaRPr lang="en-US" altLang="en-US" sz="1600"/>
          </a:p>
          <a:p>
            <a:pPr marL="0" indent="0">
              <a:buNone/>
            </a:pPr>
            <a:r>
              <a:rPr lang="en-US" altLang="en-US" sz="1600">
                <a:sym typeface="+mn-ea"/>
              </a:rPr>
              <a:t>  yield 10;</a:t>
            </a:r>
            <a:endParaRPr lang="en-US" altLang="en-US" sz="1600"/>
          </a:p>
          <a:p>
            <a:pPr marL="0" indent="0">
              <a:buNone/>
            </a:pPr>
            <a:r>
              <a:rPr lang="en-US" altLang="en-US" sz="1600">
                <a:sym typeface="+mn-ea"/>
              </a:rPr>
              <a:t>  yield 20;</a:t>
            </a:r>
            <a:endParaRPr lang="en-US" altLang="en-US" sz="1600"/>
          </a:p>
          <a:p>
            <a:pPr marL="0" indent="0">
              <a:buNone/>
            </a:pPr>
            <a:r>
              <a:rPr lang="en-US" altLang="en-US" sz="1600">
                <a:sym typeface="+mn-ea"/>
              </a:rPr>
              <a:t>  yield 30;</a:t>
            </a:r>
            <a:endParaRPr lang="en-US" altLang="en-US" sz="1600"/>
          </a:p>
          <a:p>
            <a:pPr marL="0" indent="0">
              <a:buNone/>
            </a:pPr>
            <a:r>
              <a:rPr lang="en-US" altLang="en-US" sz="1600">
                <a:sym typeface="+mn-ea"/>
              </a:rPr>
              <a:t>}</a:t>
            </a:r>
            <a:endParaRPr lang="en-US" altLang="en-US" sz="1600"/>
          </a:p>
          <a:p>
            <a:pPr marL="0" indent="0">
              <a:buNone/>
            </a:pPr>
            <a:r>
              <a:rPr lang="en-US" altLang="en-US" sz="1600">
                <a:sym typeface="+mn-ea"/>
              </a:rPr>
              <a:t>const gen = numbers();</a:t>
            </a:r>
            <a:endParaRPr lang="en-US" altLang="en-US" sz="1600"/>
          </a:p>
          <a:p>
            <a:pPr marL="0" indent="0">
              <a:buNone/>
            </a:pPr>
            <a:r>
              <a:rPr lang="en-US" altLang="en-US" sz="1600">
                <a:sym typeface="+mn-ea"/>
              </a:rPr>
              <a:t>console.log(gen.next()); // { value: 10, done: false }</a:t>
            </a:r>
            <a:endParaRPr lang="en-US" altLang="en-US" sz="1600"/>
          </a:p>
          <a:p>
            <a:pPr marL="0" indent="0">
              <a:buNone/>
            </a:pPr>
            <a:r>
              <a:rPr lang="en-US" altLang="en-US" sz="1600">
                <a:sym typeface="+mn-ea"/>
              </a:rPr>
              <a:t>console.log(gen.next()); // { value: 20, done: false }</a:t>
            </a:r>
            <a:endParaRPr lang="en-US" altLang="en-US" sz="1600"/>
          </a:p>
          <a:p>
            <a:pPr marL="0" indent="0">
              <a:buNone/>
            </a:pPr>
            <a:r>
              <a:rPr lang="en-US" altLang="en-US" sz="1600">
                <a:sym typeface="+mn-ea"/>
              </a:rPr>
              <a:t>console.log(gen.next()); // { value: 30, done: false }</a:t>
            </a:r>
            <a:endParaRPr lang="en-US" altLang="en-US" sz="1600"/>
          </a:p>
          <a:p>
            <a:pPr marL="0" indent="0">
              <a:buNone/>
            </a:pPr>
            <a:r>
              <a:rPr lang="en-US" altLang="en-US" sz="1600">
                <a:sym typeface="+mn-ea"/>
              </a:rPr>
              <a:t>console.log(gen.next()); // { value: undefined, done: true }</a:t>
            </a:r>
            <a:endParaRPr lang="en-US" altLang="en-US" sz="1600"/>
          </a:p>
          <a:p>
            <a:pPr marL="0" indent="0">
              <a:buNone/>
            </a:pPr>
            <a:r>
              <a:rPr lang="en-US" altLang="en-US" sz="1600">
                <a:sym typeface="+mn-ea"/>
              </a:rPr>
              <a:t>Generators are iterable themselves, so you can use them in a for...of loop:</a:t>
            </a:r>
            <a:endParaRPr lang="en-US" altLang="en-US" sz="1600"/>
          </a:p>
          <a:p>
            <a:pPr marL="0" indent="0">
              <a:buNone/>
            </a:pPr>
            <a:r>
              <a:rPr lang="en-US" altLang="en-US" sz="1600">
                <a:sym typeface="+mn-ea"/>
              </a:rPr>
              <a:t>for (const num of numbers()) {</a:t>
            </a:r>
            <a:endParaRPr lang="en-US" altLang="en-US" sz="1600"/>
          </a:p>
          <a:p>
            <a:pPr marL="0" indent="0">
              <a:buNone/>
            </a:pPr>
            <a:r>
              <a:rPr lang="en-US" altLang="en-US" sz="1600">
                <a:sym typeface="+mn-ea"/>
              </a:rPr>
              <a:t>  console.log(num); // 10, 20, 30</a:t>
            </a:r>
            <a:endParaRPr lang="en-US" altLang="en-US" sz="1600"/>
          </a:p>
          <a:p>
            <a:pPr marL="0" indent="0">
              <a:buNone/>
            </a:pPr>
            <a:r>
              <a:rPr lang="en-US" altLang="en-US" sz="1600">
                <a:sym typeface="+mn-ea"/>
              </a:rPr>
              <a:t>}</a:t>
            </a:r>
            <a:endParaRPr lang="en-US" altLang="en-US" sz="1600">
              <a:sym typeface="+mn-ea"/>
            </a:endParaRPr>
          </a:p>
        </p:txBody>
      </p:sp>
      <p:sp>
        <p:nvSpPr>
          <p:cNvPr id="4" name="Text Box 3"/>
          <p:cNvSpPr txBox="1"/>
          <p:nvPr/>
        </p:nvSpPr>
        <p:spPr>
          <a:xfrm>
            <a:off x="3364230" y="1111885"/>
            <a:ext cx="5080000" cy="1322070"/>
          </a:xfrm>
          <a:prstGeom prst="rect">
            <a:avLst/>
          </a:prstGeom>
        </p:spPr>
        <p:txBody>
          <a:bodyPr>
            <a:spAutoFit/>
          </a:bodyPr>
          <a:p>
            <a:r>
              <a:rPr sz="1600"/>
              <a:t>function* → generator function</a:t>
            </a:r>
            <a:endParaRPr sz="1600"/>
          </a:p>
          <a:p>
            <a:endParaRPr sz="1600"/>
          </a:p>
          <a:p>
            <a:r>
              <a:rPr sz="1600"/>
              <a:t>yield → pause + return value</a:t>
            </a:r>
            <a:endParaRPr sz="1600"/>
          </a:p>
          <a:p>
            <a:endParaRPr sz="1600"/>
          </a:p>
          <a:p>
            <a:r>
              <a:rPr sz="1600"/>
              <a:t>.next() → get next value</a:t>
            </a:r>
            <a:endParaRPr sz="16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2192635" cy="337820"/>
          </a:xfrm>
        </p:spPr>
        <p:txBody>
          <a:bodyPr>
            <a:noAutofit/>
          </a:bodyPr>
          <a:p>
            <a:pPr algn="ctr"/>
            <a:r>
              <a:rPr lang="en-US" sz="2800" b="1">
                <a:solidFill>
                  <a:srgbClr val="FF0000"/>
                </a:solidFill>
              </a:rPr>
              <a:t>JS</a:t>
            </a:r>
            <a:r>
              <a:rPr lang="en-US" sz="2800" b="1"/>
              <a:t> </a:t>
            </a:r>
            <a:r>
              <a:rPr lang="en-US" sz="2800" b="1">
                <a:solidFill>
                  <a:srgbClr val="FF0000"/>
                </a:solidFill>
              </a:rPr>
              <a:t>DOM</a:t>
            </a:r>
            <a:endParaRPr lang="en-US" sz="2800" b="1">
              <a:solidFill>
                <a:srgbClr val="FF0000"/>
              </a:solidFill>
            </a:endParaRPr>
          </a:p>
        </p:txBody>
      </p:sp>
      <p:sp>
        <p:nvSpPr>
          <p:cNvPr id="3" name="Content Placeholder 2"/>
          <p:cNvSpPr>
            <a:spLocks noGrp="1"/>
          </p:cNvSpPr>
          <p:nvPr>
            <p:ph idx="1"/>
          </p:nvPr>
        </p:nvSpPr>
        <p:spPr>
          <a:xfrm>
            <a:off x="113030" y="337820"/>
            <a:ext cx="11870690" cy="6376670"/>
          </a:xfrm>
        </p:spPr>
        <p:txBody>
          <a:bodyPr>
            <a:noAutofit/>
          </a:bodyPr>
          <a:p>
            <a:pPr marL="0" indent="0">
              <a:buNone/>
            </a:pPr>
            <a:r>
              <a:rPr lang="en-US" altLang="en-US" sz="1800" b="1"/>
              <a:t>What is DOM in JavaScript?</a:t>
            </a:r>
            <a:endParaRPr lang="en-US" altLang="en-US" sz="1800" b="1"/>
          </a:p>
          <a:p>
            <a:pPr marL="0" indent="0">
              <a:buNone/>
            </a:pPr>
            <a:r>
              <a:rPr lang="en-US" altLang="en-US" sz="1800"/>
              <a:t>The DOM (Document Object Model) is a programming interface for HTML and XML documents. It represents the structure of a webpage as a tree of objects, which can be accessed and manipulated using JavaScript.</a:t>
            </a:r>
            <a:endParaRPr lang="en-US" altLang="en-US" sz="1800"/>
          </a:p>
          <a:p>
            <a:pPr marL="0" indent="0">
              <a:buNone/>
            </a:pPr>
            <a:endParaRPr lang="en-US" altLang="en-US" sz="1800"/>
          </a:p>
          <a:p>
            <a:pPr marL="0" indent="0">
              <a:buNone/>
            </a:pPr>
            <a:r>
              <a:rPr lang="en-US" altLang="en-US" sz="1800" b="1"/>
              <a:t> Important Points about DOM:</a:t>
            </a:r>
            <a:endParaRPr lang="en-US" altLang="en-US" sz="1800" b="1"/>
          </a:p>
          <a:p>
            <a:pPr marL="0" indent="0">
              <a:buNone/>
            </a:pPr>
            <a:r>
              <a:rPr lang="en-US" altLang="en-US" sz="1800"/>
              <a:t>Tree Structure: DOM represents the document as a tree of nodes (HTML elements, text, comments, etc.).</a:t>
            </a:r>
            <a:endParaRPr lang="en-US" altLang="en-US" sz="1800"/>
          </a:p>
          <a:p>
            <a:pPr marL="0" indent="0">
              <a:buNone/>
            </a:pPr>
            <a:r>
              <a:rPr lang="en-US" altLang="en-US" sz="1800"/>
              <a:t>Everything is an Object: In the DOM, each part of a webpage (elements, attributes, text) is an object.</a:t>
            </a:r>
            <a:endParaRPr lang="en-US" altLang="en-US" sz="1800"/>
          </a:p>
          <a:p>
            <a:pPr marL="0" indent="0">
              <a:buNone/>
            </a:pPr>
            <a:endParaRPr lang="en-US" altLang="en-US" sz="1800"/>
          </a:p>
          <a:p>
            <a:pPr marL="0" indent="0">
              <a:buNone/>
            </a:pPr>
            <a:r>
              <a:rPr lang="en-US" altLang="en-US" sz="1800"/>
              <a:t>Live Representation:  The DOM is a live representation of the webpage. If the HTML changes, the DOM updates automatically.</a:t>
            </a:r>
            <a:endParaRPr lang="en-US" altLang="en-US" sz="1800"/>
          </a:p>
          <a:p>
            <a:pPr marL="0" indent="0">
              <a:buNone/>
            </a:pPr>
            <a:r>
              <a:rPr lang="en-US" altLang="en-US" sz="1800"/>
              <a:t>Allows Dynamic Manipulation:  You can add, remove, or update elements and content using JS.</a:t>
            </a:r>
            <a:endParaRPr lang="en-US" altLang="en-US" sz="1800"/>
          </a:p>
          <a:p>
            <a:pPr marL="0" indent="0">
              <a:buNone/>
            </a:pPr>
            <a:r>
              <a:rPr lang="en-US" altLang="en-US" sz="1800"/>
              <a:t>Browser Interprets It:    Browsers create a DOM from HTML so JavaScript can interact with it.</a:t>
            </a:r>
            <a:endParaRPr lang="en-US" altLang="en-US" sz="1800"/>
          </a:p>
        </p:txBody>
      </p:sp>
      <p:sp>
        <p:nvSpPr>
          <p:cNvPr id="4" name="Text Box 3"/>
          <p:cNvSpPr txBox="1"/>
          <p:nvPr/>
        </p:nvSpPr>
        <p:spPr>
          <a:xfrm>
            <a:off x="113030" y="4745355"/>
            <a:ext cx="2619375" cy="1134110"/>
          </a:xfrm>
          <a:prstGeom prst="rect">
            <a:avLst/>
          </a:prstGeom>
          <a:noFill/>
        </p:spPr>
        <p:txBody>
          <a:bodyPr wrap="square" rtlCol="0" anchor="t">
            <a:noAutofit/>
          </a:bodyPr>
          <a:p>
            <a:r>
              <a:rPr lang="en-US" altLang="en-US"/>
              <a:t>&lt;body&gt;</a:t>
            </a:r>
            <a:endParaRPr lang="en-US" altLang="en-US"/>
          </a:p>
          <a:p>
            <a:r>
              <a:rPr lang="en-US" altLang="en-US"/>
              <a:t>  &lt;h1&gt;Hello&lt;/h1&gt;</a:t>
            </a:r>
            <a:endParaRPr lang="en-US" altLang="en-US"/>
          </a:p>
          <a:p>
            <a:r>
              <a:rPr lang="en-US" altLang="en-US"/>
              <a:t>  &lt;p&gt;This is DOM&lt;/p&gt;</a:t>
            </a:r>
            <a:endParaRPr lang="en-US" altLang="en-US"/>
          </a:p>
          <a:p>
            <a:r>
              <a:rPr lang="en-US" altLang="en-US"/>
              <a:t>&lt;/body&gt;</a:t>
            </a:r>
            <a:endParaRPr lang="en-US" altLang="en-US"/>
          </a:p>
          <a:p>
            <a:endParaRPr lang="en-US"/>
          </a:p>
        </p:txBody>
      </p:sp>
      <p:sp>
        <p:nvSpPr>
          <p:cNvPr id="5" name="Text Box 4"/>
          <p:cNvSpPr txBox="1"/>
          <p:nvPr/>
        </p:nvSpPr>
        <p:spPr>
          <a:xfrm>
            <a:off x="2650490" y="4830445"/>
            <a:ext cx="3481705" cy="1335405"/>
          </a:xfrm>
          <a:prstGeom prst="rect">
            <a:avLst/>
          </a:prstGeom>
          <a:noFill/>
        </p:spPr>
        <p:txBody>
          <a:bodyPr wrap="square" rtlCol="0" anchor="t">
            <a:noAutofit/>
          </a:bodyPr>
          <a:p>
            <a:r>
              <a:rPr lang="en-US" altLang="en-US"/>
              <a:t>Document</a:t>
            </a:r>
            <a:endParaRPr lang="en-US" altLang="en-US"/>
          </a:p>
          <a:p>
            <a:r>
              <a:rPr lang="en-US" altLang="en-US"/>
              <a:t> └── html</a:t>
            </a:r>
            <a:endParaRPr lang="en-US" altLang="en-US"/>
          </a:p>
          <a:p>
            <a:r>
              <a:rPr lang="en-US" altLang="en-US"/>
              <a:t>     └── body</a:t>
            </a:r>
            <a:endParaRPr lang="en-US" altLang="en-US"/>
          </a:p>
          <a:p>
            <a:r>
              <a:rPr lang="en-US" altLang="en-US"/>
              <a:t>         ├── h1</a:t>
            </a:r>
            <a:endParaRPr lang="en-US" altLang="en-US"/>
          </a:p>
          <a:p>
            <a:r>
              <a:rPr lang="en-US" altLang="en-US"/>
              <a:t>         └── p</a:t>
            </a:r>
            <a:endParaRPr lang="en-US" altLang="en-US"/>
          </a:p>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Table 3"/>
          <p:cNvGraphicFramePr/>
          <p:nvPr>
            <p:custDataLst>
              <p:tags r:id="rId1"/>
            </p:custDataLst>
          </p:nvPr>
        </p:nvGraphicFramePr>
        <p:xfrm>
          <a:off x="161925" y="0"/>
          <a:ext cx="11910060" cy="2219325"/>
        </p:xfrm>
        <a:graphic>
          <a:graphicData uri="http://schemas.openxmlformats.org/drawingml/2006/table">
            <a:tbl>
              <a:tblPr/>
              <a:tblGrid>
                <a:gridCol w="5955030"/>
                <a:gridCol w="5955030"/>
              </a:tblGrid>
              <a:tr h="443865">
                <a:tc>
                  <a:txBody>
                    <a:bodyPr/>
                    <a:p>
                      <a:r>
                        <a:rPr sz="1800"/>
                        <a:t>Method</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Description</a:t>
                      </a:r>
                      <a:endParaRPr sz="1800"/>
                    </a:p>
                  </a:txBody>
                  <a:tcPr marL="0" marR="0" marT="0" marB="0" anchor="ctr" anchorCtr="0">
                    <a:lnL>
                      <a:noFill/>
                    </a:lnL>
                    <a:lnR>
                      <a:noFill/>
                    </a:lnR>
                    <a:lnT>
                      <a:noFill/>
                    </a:lnT>
                    <a:lnB>
                      <a:noFill/>
                    </a:lnB>
                    <a:solidFill>
                      <a:schemeClr val="accent1">
                        <a:lumMod val="60000"/>
                        <a:lumOff val="40000"/>
                      </a:schemeClr>
                    </a:solidFill>
                  </a:tcPr>
                </a:tc>
              </a:tr>
              <a:tr h="443865">
                <a:tc>
                  <a:txBody>
                    <a:bodyPr/>
                    <a:p>
                      <a:r>
                        <a:rPr sz="1800">
                          <a:solidFill>
                            <a:srgbClr val="C00000"/>
                          </a:solidFill>
                        </a:rPr>
                        <a:t>document.getElementById("id")</a:t>
                      </a:r>
                      <a:endParaRPr sz="1800">
                        <a:solidFill>
                          <a:srgbClr val="C00000"/>
                        </a:solidFill>
                      </a:endParaRPr>
                    </a:p>
                  </a:txBody>
                  <a:tcPr marL="0" marR="0" marT="0" marB="0" anchor="ctr" anchorCtr="0">
                    <a:lnL>
                      <a:noFill/>
                    </a:lnL>
                    <a:lnR>
                      <a:noFill/>
                    </a:lnR>
                    <a:lnT>
                      <a:noFill/>
                    </a:lnT>
                    <a:lnB>
                      <a:noFill/>
                    </a:lnB>
                    <a:solidFill>
                      <a:schemeClr val="accent1">
                        <a:lumMod val="60000"/>
                        <a:lumOff val="40000"/>
                      </a:schemeClr>
                    </a:solidFill>
                  </a:tcPr>
                </a:tc>
                <a:tc>
                  <a:txBody>
                    <a:bodyPr/>
                    <a:p>
                      <a:r>
                        <a:rPr sz="1800"/>
                        <a:t>Selects a single element by its ID</a:t>
                      </a:r>
                      <a:endParaRPr sz="1800"/>
                    </a:p>
                  </a:txBody>
                  <a:tcPr marL="0" marR="0" marT="0" marB="0" anchor="ctr" anchorCtr="0">
                    <a:lnL>
                      <a:noFill/>
                    </a:lnL>
                    <a:lnR>
                      <a:noFill/>
                    </a:lnR>
                    <a:lnT>
                      <a:noFill/>
                    </a:lnT>
                    <a:lnB>
                      <a:noFill/>
                    </a:lnB>
                    <a:solidFill>
                      <a:schemeClr val="accent1">
                        <a:lumMod val="60000"/>
                        <a:lumOff val="40000"/>
                      </a:schemeClr>
                    </a:solidFill>
                  </a:tcPr>
                </a:tc>
              </a:tr>
              <a:tr h="443865">
                <a:tc>
                  <a:txBody>
                    <a:bodyPr/>
                    <a:p>
                      <a:r>
                        <a:rPr sz="1800"/>
                        <a:t>document.getElementsByClassName("class")</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Returns all elements with a specific class</a:t>
                      </a:r>
                      <a:endParaRPr sz="1800"/>
                    </a:p>
                  </a:txBody>
                  <a:tcPr marL="0" marR="0" marT="0" marB="0" anchor="ctr" anchorCtr="0">
                    <a:lnL>
                      <a:noFill/>
                    </a:lnL>
                    <a:lnR>
                      <a:noFill/>
                    </a:lnR>
                    <a:lnT>
                      <a:noFill/>
                    </a:lnT>
                    <a:lnB>
                      <a:noFill/>
                    </a:lnB>
                    <a:solidFill>
                      <a:schemeClr val="accent1">
                        <a:lumMod val="60000"/>
                        <a:lumOff val="40000"/>
                      </a:schemeClr>
                    </a:solidFill>
                  </a:tcPr>
                </a:tc>
              </a:tr>
              <a:tr h="443865">
                <a:tc>
                  <a:txBody>
                    <a:bodyPr/>
                    <a:p>
                      <a:r>
                        <a:rPr sz="1800"/>
                        <a:t>document.getElementsByTagName("tag")</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Returns all elements of a specific tag</a:t>
                      </a:r>
                      <a:endParaRPr sz="1800"/>
                    </a:p>
                  </a:txBody>
                  <a:tcPr marL="0" marR="0" marT="0" marB="0" anchor="ctr" anchorCtr="0">
                    <a:lnL>
                      <a:noFill/>
                    </a:lnL>
                    <a:lnR>
                      <a:noFill/>
                    </a:lnR>
                    <a:lnT>
                      <a:noFill/>
                    </a:lnT>
                    <a:lnB>
                      <a:noFill/>
                    </a:lnB>
                    <a:solidFill>
                      <a:schemeClr val="accent1">
                        <a:lumMod val="60000"/>
                        <a:lumOff val="40000"/>
                      </a:schemeClr>
                    </a:solidFill>
                  </a:tcPr>
                </a:tc>
              </a:tr>
              <a:tr h="443865">
                <a:tc>
                  <a:txBody>
                    <a:bodyPr/>
                    <a:p>
                      <a:r>
                        <a:rPr sz="1800"/>
                        <a:t>document.querySelector("selector")</a:t>
                      </a:r>
                      <a:endParaRPr sz="1800"/>
                    </a:p>
                  </a:txBody>
                  <a:tcPr marL="0" marR="0" marT="0" marB="0" anchor="ctr" anchorCtr="0">
                    <a:lnL>
                      <a:noFill/>
                    </a:lnL>
                    <a:lnR>
                      <a:noFill/>
                    </a:lnR>
                    <a:lnT>
                      <a:noFill/>
                    </a:lnT>
                    <a:lnB>
                      <a:noFill/>
                    </a:lnB>
                    <a:solidFill>
                      <a:schemeClr val="accent1">
                        <a:lumMod val="60000"/>
                        <a:lumOff val="40000"/>
                      </a:schemeClr>
                    </a:solidFill>
                  </a:tcPr>
                </a:tc>
                <a:tc>
                  <a:txBody>
                    <a:bodyPr/>
                    <a:p>
                      <a:r>
                        <a:rPr sz="1800"/>
                        <a:t>Returns the first matching element (CSS-style selector)</a:t>
                      </a:r>
                      <a:endParaRPr sz="1800"/>
                    </a:p>
                  </a:txBody>
                  <a:tcPr marL="0" marR="0" marT="0" marB="0" anchor="ctr" anchorCtr="0">
                    <a:lnL>
                      <a:noFill/>
                    </a:lnL>
                    <a:lnR>
                      <a:noFill/>
                    </a:lnR>
                    <a:lnT>
                      <a:noFill/>
                    </a:lnT>
                    <a:lnB>
                      <a:noFill/>
                    </a:lnB>
                    <a:solidFill>
                      <a:schemeClr val="accent1">
                        <a:lumMod val="60000"/>
                        <a:lumOff val="40000"/>
                      </a:schemeClr>
                    </a:solidFill>
                  </a:tcPr>
                </a:tc>
              </a:tr>
            </a:tbl>
          </a:graphicData>
        </a:graphic>
      </p:graphicFrame>
      <p:sp>
        <p:nvSpPr>
          <p:cNvPr id="2" name="Text Box 1"/>
          <p:cNvSpPr txBox="1"/>
          <p:nvPr/>
        </p:nvSpPr>
        <p:spPr>
          <a:xfrm>
            <a:off x="0" y="2696845"/>
            <a:ext cx="11338560" cy="916305"/>
          </a:xfrm>
          <a:prstGeom prst="rect">
            <a:avLst/>
          </a:prstGeom>
          <a:noFill/>
        </p:spPr>
        <p:txBody>
          <a:bodyPr wrap="square" rtlCol="0" anchor="t">
            <a:noAutofit/>
          </a:bodyPr>
          <a:p>
            <a:r>
              <a:rPr lang="en-US" altLang="en-US">
                <a:sym typeface="+mn-ea"/>
              </a:rPr>
              <a:t>let now = new Date(); // current date and time</a:t>
            </a:r>
            <a:endParaRPr lang="en-US" altLang="en-US" sz="1800"/>
          </a:p>
          <a:p>
            <a:r>
              <a:rPr lang="en-US" altLang="en-US">
                <a:sym typeface="+mn-ea"/>
              </a:rPr>
              <a:t>let specificDate = new Date("2023-10-01"); // specific date</a:t>
            </a:r>
            <a:endParaRPr lang="en-US" altLang="en-US" sz="1800"/>
          </a:p>
          <a:p>
            <a:r>
              <a:rPr lang="en-US" altLang="en-US">
                <a:sym typeface="+mn-ea"/>
              </a:rPr>
              <a:t>let fromParts = new Date(2023, 9, 1, 14, 30); // year, month (0-based), day, hour, minute</a:t>
            </a:r>
            <a:endParaRPr lang="en-US" altLang="en-US">
              <a:sym typeface="+mn-ea"/>
            </a:endParaRPr>
          </a:p>
        </p:txBody>
      </p:sp>
      <p:graphicFrame>
        <p:nvGraphicFramePr>
          <p:cNvPr id="3" name="Table 2"/>
          <p:cNvGraphicFramePr/>
          <p:nvPr>
            <p:custDataLst>
              <p:tags r:id="rId2"/>
            </p:custDataLst>
          </p:nvPr>
        </p:nvGraphicFramePr>
        <p:xfrm>
          <a:off x="74295" y="3713480"/>
          <a:ext cx="11997690" cy="3169920"/>
        </p:xfrm>
        <a:graphic>
          <a:graphicData uri="http://schemas.openxmlformats.org/drawingml/2006/table">
            <a:tbl>
              <a:tblPr/>
              <a:tblGrid>
                <a:gridCol w="3999230"/>
                <a:gridCol w="3999230"/>
                <a:gridCol w="3999230"/>
              </a:tblGrid>
              <a:tr h="315595">
                <a:tc>
                  <a:txBody>
                    <a:bodyPr/>
                    <a:p>
                      <a:pPr algn="ctr"/>
                      <a:r>
                        <a:rPr sz="1800" b="1">
                          <a:solidFill>
                            <a:srgbClr val="FF0000"/>
                          </a:solidFill>
                        </a:rPr>
                        <a:t>Method</a:t>
                      </a:r>
                      <a:endParaRPr sz="1800" b="1">
                        <a:solidFill>
                          <a:srgbClr val="FF0000"/>
                        </a:solidFill>
                      </a:endParaRPr>
                    </a:p>
                  </a:txBody>
                  <a:tcPr marL="0" marR="0" marT="0" marB="0" anchor="ctr" anchorCtr="0">
                    <a:lnL>
                      <a:noFill/>
                    </a:lnL>
                    <a:lnR>
                      <a:noFill/>
                    </a:lnR>
                    <a:lnT>
                      <a:noFill/>
                    </a:lnT>
                    <a:lnB>
                      <a:noFill/>
                    </a:lnB>
                    <a:noFill/>
                  </a:tcPr>
                </a:tc>
                <a:tc>
                  <a:txBody>
                    <a:bodyPr/>
                    <a:p>
                      <a:pPr algn="ctr"/>
                      <a:r>
                        <a:rPr sz="1800" b="1">
                          <a:solidFill>
                            <a:srgbClr val="FF0000"/>
                          </a:solidFill>
                        </a:rPr>
                        <a:t>Description</a:t>
                      </a:r>
                      <a:endParaRPr sz="1800" b="1">
                        <a:solidFill>
                          <a:srgbClr val="FF0000"/>
                        </a:solidFill>
                      </a:endParaRPr>
                    </a:p>
                  </a:txBody>
                  <a:tcPr marL="0" marR="0" marT="0" marB="0" anchor="ctr" anchorCtr="0">
                    <a:lnL>
                      <a:noFill/>
                    </a:lnL>
                    <a:lnR>
                      <a:noFill/>
                    </a:lnR>
                    <a:lnT>
                      <a:noFill/>
                    </a:lnT>
                    <a:lnB>
                      <a:noFill/>
                    </a:lnB>
                    <a:noFill/>
                  </a:tcPr>
                </a:tc>
                <a:tc>
                  <a:txBody>
                    <a:bodyPr/>
                    <a:p>
                      <a:pPr algn="ctr"/>
                      <a:r>
                        <a:rPr sz="1800" b="1">
                          <a:solidFill>
                            <a:srgbClr val="FF0000"/>
                          </a:solidFill>
                        </a:rPr>
                        <a:t>Example</a:t>
                      </a:r>
                      <a:endParaRPr sz="1800" b="1">
                        <a:solidFill>
                          <a:srgbClr val="FF0000"/>
                        </a:solidFill>
                      </a:endParaRPr>
                    </a:p>
                  </a:txBody>
                  <a:tcPr marL="0" marR="0" marT="0" marB="0" anchor="ctr" anchorCtr="0">
                    <a:lnL>
                      <a:noFill/>
                    </a:lnL>
                    <a:lnR>
                      <a:noFill/>
                    </a:lnR>
                    <a:lnT>
                      <a:noFill/>
                    </a:lnT>
                    <a:lnB>
                      <a:noFill/>
                    </a:lnB>
                    <a:noFill/>
                  </a:tcPr>
                </a:tc>
              </a:tr>
              <a:tr h="315595">
                <a:tc>
                  <a:txBody>
                    <a:bodyPr/>
                    <a:p>
                      <a:r>
                        <a:rPr sz="1600"/>
                        <a:t>getFullYear()</a:t>
                      </a:r>
                      <a:endParaRPr sz="1600"/>
                    </a:p>
                  </a:txBody>
                  <a:tcPr marL="0" marR="0" marT="0" marB="0" anchor="ctr" anchorCtr="0">
                    <a:lnL>
                      <a:noFill/>
                    </a:lnL>
                    <a:lnR>
                      <a:noFill/>
                    </a:lnR>
                    <a:lnT>
                      <a:noFill/>
                    </a:lnT>
                    <a:lnB>
                      <a:noFill/>
                    </a:lnB>
                    <a:noFill/>
                  </a:tcPr>
                </a:tc>
                <a:tc>
                  <a:txBody>
                    <a:bodyPr/>
                    <a:p>
                      <a:r>
                        <a:rPr sz="1600"/>
                        <a:t>Returns 4-digit year</a:t>
                      </a:r>
                      <a:endParaRPr sz="1600"/>
                    </a:p>
                  </a:txBody>
                  <a:tcPr marL="0" marR="0" marT="0" marB="0" anchor="ctr" anchorCtr="0">
                    <a:lnL>
                      <a:noFill/>
                    </a:lnL>
                    <a:lnR>
                      <a:noFill/>
                    </a:lnR>
                    <a:lnT>
                      <a:noFill/>
                    </a:lnT>
                    <a:lnB>
                      <a:noFill/>
                    </a:lnB>
                    <a:noFill/>
                  </a:tcPr>
                </a:tc>
                <a:tc>
                  <a:txBody>
                    <a:bodyPr/>
                    <a:p>
                      <a:r>
                        <a:rPr sz="1600"/>
                        <a:t>date.getFullYear() → 2023</a:t>
                      </a:r>
                      <a:endParaRPr sz="1600"/>
                    </a:p>
                  </a:txBody>
                  <a:tcPr marL="0" marR="0" marT="0" marB="0" anchor="ctr" anchorCtr="0">
                    <a:lnL>
                      <a:noFill/>
                    </a:lnL>
                    <a:lnR>
                      <a:noFill/>
                    </a:lnR>
                    <a:lnT>
                      <a:noFill/>
                    </a:lnT>
                    <a:lnB>
                      <a:noFill/>
                    </a:lnB>
                    <a:noFill/>
                  </a:tcPr>
                </a:tc>
              </a:tr>
              <a:tr h="315595">
                <a:tc>
                  <a:txBody>
                    <a:bodyPr/>
                    <a:p>
                      <a:r>
                        <a:rPr sz="1600"/>
                        <a:t>getMonth()</a:t>
                      </a:r>
                      <a:endParaRPr sz="1600"/>
                    </a:p>
                  </a:txBody>
                  <a:tcPr marL="0" marR="0" marT="0" marB="0" anchor="ctr" anchorCtr="0">
                    <a:lnL>
                      <a:noFill/>
                    </a:lnL>
                    <a:lnR>
                      <a:noFill/>
                    </a:lnR>
                    <a:lnT>
                      <a:noFill/>
                    </a:lnT>
                    <a:lnB>
                      <a:noFill/>
                    </a:lnB>
                    <a:noFill/>
                  </a:tcPr>
                </a:tc>
                <a:tc>
                  <a:txBody>
                    <a:bodyPr/>
                    <a:p>
                      <a:r>
                        <a:rPr sz="1600"/>
                        <a:t>Returns month (0–11)</a:t>
                      </a:r>
                      <a:endParaRPr sz="1600"/>
                    </a:p>
                  </a:txBody>
                  <a:tcPr marL="0" marR="0" marT="0" marB="0" anchor="ctr" anchorCtr="0">
                    <a:lnL>
                      <a:noFill/>
                    </a:lnL>
                    <a:lnR>
                      <a:noFill/>
                    </a:lnR>
                    <a:lnT>
                      <a:noFill/>
                    </a:lnT>
                    <a:lnB>
                      <a:noFill/>
                    </a:lnB>
                    <a:noFill/>
                  </a:tcPr>
                </a:tc>
                <a:tc>
                  <a:txBody>
                    <a:bodyPr/>
                    <a:p>
                      <a:r>
                        <a:rPr sz="1600"/>
                        <a:t>date.getMonth() → 0 is Jan</a:t>
                      </a:r>
                      <a:endParaRPr sz="1600"/>
                    </a:p>
                  </a:txBody>
                  <a:tcPr marL="0" marR="0" marT="0" marB="0" anchor="ctr" anchorCtr="0">
                    <a:lnL>
                      <a:noFill/>
                    </a:lnL>
                    <a:lnR>
                      <a:noFill/>
                    </a:lnR>
                    <a:lnT>
                      <a:noFill/>
                    </a:lnT>
                    <a:lnB>
                      <a:noFill/>
                    </a:lnB>
                    <a:noFill/>
                  </a:tcPr>
                </a:tc>
              </a:tr>
              <a:tr h="315595">
                <a:tc>
                  <a:txBody>
                    <a:bodyPr/>
                    <a:p>
                      <a:r>
                        <a:rPr sz="1600"/>
                        <a:t>getDate()</a:t>
                      </a:r>
                      <a:endParaRPr sz="1600"/>
                    </a:p>
                  </a:txBody>
                  <a:tcPr marL="0" marR="0" marT="0" marB="0" anchor="ctr" anchorCtr="0">
                    <a:lnL>
                      <a:noFill/>
                    </a:lnL>
                    <a:lnR>
                      <a:noFill/>
                    </a:lnR>
                    <a:lnT>
                      <a:noFill/>
                    </a:lnT>
                    <a:lnB>
                      <a:noFill/>
                    </a:lnB>
                    <a:noFill/>
                  </a:tcPr>
                </a:tc>
                <a:tc>
                  <a:txBody>
                    <a:bodyPr/>
                    <a:p>
                      <a:r>
                        <a:rPr sz="1600"/>
                        <a:t>Returns day of month (1–31)</a:t>
                      </a:r>
                      <a:endParaRPr sz="1600"/>
                    </a:p>
                  </a:txBody>
                  <a:tcPr marL="0" marR="0" marT="0" marB="0" anchor="ctr" anchorCtr="0">
                    <a:lnL>
                      <a:noFill/>
                    </a:lnL>
                    <a:lnR>
                      <a:noFill/>
                    </a:lnR>
                    <a:lnT>
                      <a:noFill/>
                    </a:lnT>
                    <a:lnB>
                      <a:noFill/>
                    </a:lnB>
                    <a:noFill/>
                  </a:tcPr>
                </a:tc>
                <a:tc>
                  <a:txBody>
                    <a:bodyPr/>
                    <a:p>
                      <a:r>
                        <a:rPr sz="1600"/>
                        <a:t>date.getDate() → 15</a:t>
                      </a:r>
                      <a:endParaRPr sz="1600"/>
                    </a:p>
                  </a:txBody>
                  <a:tcPr marL="0" marR="0" marT="0" marB="0" anchor="ctr" anchorCtr="0">
                    <a:lnL>
                      <a:noFill/>
                    </a:lnL>
                    <a:lnR>
                      <a:noFill/>
                    </a:lnR>
                    <a:lnT>
                      <a:noFill/>
                    </a:lnT>
                    <a:lnB>
                      <a:noFill/>
                    </a:lnB>
                    <a:noFill/>
                  </a:tcPr>
                </a:tc>
              </a:tr>
              <a:tr h="315595">
                <a:tc>
                  <a:txBody>
                    <a:bodyPr/>
                    <a:p>
                      <a:r>
                        <a:rPr sz="1600"/>
                        <a:t>getDay()</a:t>
                      </a:r>
                      <a:endParaRPr sz="1600"/>
                    </a:p>
                  </a:txBody>
                  <a:tcPr marL="0" marR="0" marT="0" marB="0" anchor="ctr" anchorCtr="0">
                    <a:lnL>
                      <a:noFill/>
                    </a:lnL>
                    <a:lnR>
                      <a:noFill/>
                    </a:lnR>
                    <a:lnT>
                      <a:noFill/>
                    </a:lnT>
                    <a:lnB>
                      <a:noFill/>
                    </a:lnB>
                    <a:noFill/>
                  </a:tcPr>
                </a:tc>
                <a:tc>
                  <a:txBody>
                    <a:bodyPr/>
                    <a:p>
                      <a:r>
                        <a:rPr sz="1600"/>
                        <a:t>Returns day of week (0–6)</a:t>
                      </a:r>
                      <a:endParaRPr sz="1600"/>
                    </a:p>
                  </a:txBody>
                  <a:tcPr marL="0" marR="0" marT="0" marB="0" anchor="ctr" anchorCtr="0">
                    <a:lnL>
                      <a:noFill/>
                    </a:lnL>
                    <a:lnR>
                      <a:noFill/>
                    </a:lnR>
                    <a:lnT>
                      <a:noFill/>
                    </a:lnT>
                    <a:lnB>
                      <a:noFill/>
                    </a:lnB>
                    <a:noFill/>
                  </a:tcPr>
                </a:tc>
                <a:tc>
                  <a:txBody>
                    <a:bodyPr/>
                    <a:p>
                      <a:r>
                        <a:rPr sz="1600"/>
                        <a:t>date.getDay() → 0 is Sunday</a:t>
                      </a:r>
                      <a:endParaRPr sz="1600"/>
                    </a:p>
                  </a:txBody>
                  <a:tcPr marL="0" marR="0" marT="0" marB="0" anchor="ctr" anchorCtr="0">
                    <a:lnL>
                      <a:noFill/>
                    </a:lnL>
                    <a:lnR>
                      <a:noFill/>
                    </a:lnR>
                    <a:lnT>
                      <a:noFill/>
                    </a:lnT>
                    <a:lnB>
                      <a:noFill/>
                    </a:lnB>
                    <a:noFill/>
                  </a:tcPr>
                </a:tc>
              </a:tr>
              <a:tr h="315595">
                <a:tc>
                  <a:txBody>
                    <a:bodyPr/>
                    <a:p>
                      <a:r>
                        <a:rPr sz="1600"/>
                        <a:t>getHours()</a:t>
                      </a:r>
                      <a:endParaRPr sz="1600"/>
                    </a:p>
                  </a:txBody>
                  <a:tcPr marL="0" marR="0" marT="0" marB="0" anchor="ctr" anchorCtr="0">
                    <a:lnL>
                      <a:noFill/>
                    </a:lnL>
                    <a:lnR>
                      <a:noFill/>
                    </a:lnR>
                    <a:lnT>
                      <a:noFill/>
                    </a:lnT>
                    <a:lnB>
                      <a:noFill/>
                    </a:lnB>
                    <a:noFill/>
                  </a:tcPr>
                </a:tc>
                <a:tc>
                  <a:txBody>
                    <a:bodyPr/>
                    <a:p>
                      <a:r>
                        <a:rPr sz="1600"/>
                        <a:t>Returns hour (0–23)</a:t>
                      </a:r>
                      <a:endParaRPr sz="1600"/>
                    </a:p>
                  </a:txBody>
                  <a:tcPr marL="0" marR="0" marT="0" marB="0" anchor="ctr" anchorCtr="0">
                    <a:lnL>
                      <a:noFill/>
                    </a:lnL>
                    <a:lnR>
                      <a:noFill/>
                    </a:lnR>
                    <a:lnT>
                      <a:noFill/>
                    </a:lnT>
                    <a:lnB>
                      <a:noFill/>
                    </a:lnB>
                    <a:noFill/>
                  </a:tcPr>
                </a:tc>
                <a:tc>
                  <a:txBody>
                    <a:bodyPr/>
                    <a:p>
                      <a:r>
                        <a:rPr sz="1600"/>
                        <a:t>date.getHours()</a:t>
                      </a:r>
                      <a:endParaRPr sz="1600"/>
                    </a:p>
                  </a:txBody>
                  <a:tcPr marL="0" marR="0" marT="0" marB="0" anchor="ctr" anchorCtr="0">
                    <a:lnL>
                      <a:noFill/>
                    </a:lnL>
                    <a:lnR>
                      <a:noFill/>
                    </a:lnR>
                    <a:lnT>
                      <a:noFill/>
                    </a:lnT>
                    <a:lnB>
                      <a:noFill/>
                    </a:lnB>
                    <a:noFill/>
                  </a:tcPr>
                </a:tc>
              </a:tr>
              <a:tr h="329565">
                <a:tc>
                  <a:txBody>
                    <a:bodyPr/>
                    <a:p>
                      <a:r>
                        <a:rPr sz="1600"/>
                        <a:t>getMinutes()</a:t>
                      </a:r>
                      <a:endParaRPr sz="1600"/>
                    </a:p>
                  </a:txBody>
                  <a:tcPr marL="0" marR="0" marT="0" marB="0" anchor="ctr" anchorCtr="0">
                    <a:lnL>
                      <a:noFill/>
                    </a:lnL>
                    <a:lnR>
                      <a:noFill/>
                    </a:lnR>
                    <a:lnT>
                      <a:noFill/>
                    </a:lnT>
                    <a:lnB>
                      <a:noFill/>
                    </a:lnB>
                    <a:noFill/>
                  </a:tcPr>
                </a:tc>
                <a:tc>
                  <a:txBody>
                    <a:bodyPr/>
                    <a:p>
                      <a:r>
                        <a:rPr sz="1600"/>
                        <a:t>Returns minutes (0–59)</a:t>
                      </a:r>
                      <a:endParaRPr sz="1600"/>
                    </a:p>
                  </a:txBody>
                  <a:tcPr marL="0" marR="0" marT="0" marB="0" anchor="ctr" anchorCtr="0">
                    <a:lnL>
                      <a:noFill/>
                    </a:lnL>
                    <a:lnR>
                      <a:noFill/>
                    </a:lnR>
                    <a:lnT>
                      <a:noFill/>
                    </a:lnT>
                    <a:lnB>
                      <a:noFill/>
                    </a:lnB>
                    <a:noFill/>
                  </a:tcPr>
                </a:tc>
                <a:tc>
                  <a:txBody>
                    <a:bodyPr/>
                    <a:p>
                      <a:r>
                        <a:rPr sz="1600"/>
                        <a:t>date.getMinutes()</a:t>
                      </a:r>
                      <a:endParaRPr sz="1600"/>
                    </a:p>
                  </a:txBody>
                  <a:tcPr marL="0" marR="0" marT="0" marB="0" anchor="ctr" anchorCtr="0">
                    <a:lnL>
                      <a:noFill/>
                    </a:lnL>
                    <a:lnR>
                      <a:noFill/>
                    </a:lnR>
                    <a:lnT>
                      <a:noFill/>
                    </a:lnT>
                    <a:lnB>
                      <a:noFill/>
                    </a:lnB>
                    <a:noFill/>
                  </a:tcPr>
                </a:tc>
              </a:tr>
              <a:tr h="315595">
                <a:tc>
                  <a:txBody>
                    <a:bodyPr/>
                    <a:p>
                      <a:r>
                        <a:rPr sz="1600"/>
                        <a:t>getSeconds()</a:t>
                      </a:r>
                      <a:endParaRPr sz="1600"/>
                    </a:p>
                  </a:txBody>
                  <a:tcPr marL="0" marR="0" marT="0" marB="0" anchor="ctr" anchorCtr="0">
                    <a:lnL>
                      <a:noFill/>
                    </a:lnL>
                    <a:lnR>
                      <a:noFill/>
                    </a:lnR>
                    <a:lnT>
                      <a:noFill/>
                    </a:lnT>
                    <a:lnB>
                      <a:noFill/>
                    </a:lnB>
                    <a:noFill/>
                  </a:tcPr>
                </a:tc>
                <a:tc>
                  <a:txBody>
                    <a:bodyPr/>
                    <a:p>
                      <a:r>
                        <a:rPr sz="1600"/>
                        <a:t>Returns seconds (0–59)</a:t>
                      </a:r>
                      <a:endParaRPr sz="1600"/>
                    </a:p>
                  </a:txBody>
                  <a:tcPr marL="0" marR="0" marT="0" marB="0" anchor="ctr" anchorCtr="0">
                    <a:lnL>
                      <a:noFill/>
                    </a:lnL>
                    <a:lnR>
                      <a:noFill/>
                    </a:lnR>
                    <a:lnT>
                      <a:noFill/>
                    </a:lnT>
                    <a:lnB>
                      <a:noFill/>
                    </a:lnB>
                    <a:noFill/>
                  </a:tcPr>
                </a:tc>
                <a:tc>
                  <a:txBody>
                    <a:bodyPr/>
                    <a:p>
                      <a:r>
                        <a:rPr sz="1600"/>
                        <a:t>date.getSeconds()</a:t>
                      </a:r>
                      <a:endParaRPr sz="1600"/>
                    </a:p>
                  </a:txBody>
                  <a:tcPr marL="0" marR="0" marT="0" marB="0" anchor="ctr" anchorCtr="0">
                    <a:lnL>
                      <a:noFill/>
                    </a:lnL>
                    <a:lnR>
                      <a:noFill/>
                    </a:lnR>
                    <a:lnT>
                      <a:noFill/>
                    </a:lnT>
                    <a:lnB>
                      <a:noFill/>
                    </a:lnB>
                    <a:noFill/>
                  </a:tcPr>
                </a:tc>
              </a:tr>
              <a:tr h="315595">
                <a:tc>
                  <a:txBody>
                    <a:bodyPr/>
                    <a:p>
                      <a:r>
                        <a:rPr sz="1600"/>
                        <a:t>getMilliseconds()</a:t>
                      </a:r>
                      <a:endParaRPr sz="1600"/>
                    </a:p>
                  </a:txBody>
                  <a:tcPr marL="0" marR="0" marT="0" marB="0" anchor="ctr" anchorCtr="0">
                    <a:lnL>
                      <a:noFill/>
                    </a:lnL>
                    <a:lnR>
                      <a:noFill/>
                    </a:lnR>
                    <a:lnT>
                      <a:noFill/>
                    </a:lnT>
                    <a:lnB>
                      <a:noFill/>
                    </a:lnB>
                    <a:noFill/>
                  </a:tcPr>
                </a:tc>
                <a:tc>
                  <a:txBody>
                    <a:bodyPr/>
                    <a:p>
                      <a:r>
                        <a:rPr sz="1600"/>
                        <a:t>Milliseconds (0–999)</a:t>
                      </a:r>
                      <a:endParaRPr sz="1600"/>
                    </a:p>
                  </a:txBody>
                  <a:tcPr marL="0" marR="0" marT="0" marB="0" anchor="ctr" anchorCtr="0">
                    <a:lnL>
                      <a:noFill/>
                    </a:lnL>
                    <a:lnR>
                      <a:noFill/>
                    </a:lnR>
                    <a:lnT>
                      <a:noFill/>
                    </a:lnT>
                    <a:lnB>
                      <a:noFill/>
                    </a:lnB>
                    <a:noFill/>
                  </a:tcPr>
                </a:tc>
                <a:tc>
                  <a:txBody>
                    <a:bodyPr/>
                    <a:p>
                      <a:r>
                        <a:rPr sz="1600"/>
                        <a:t>date.getMilliseconds()</a:t>
                      </a:r>
                      <a:endParaRPr sz="1600"/>
                    </a:p>
                  </a:txBody>
                  <a:tcPr marL="0" marR="0" marT="0" marB="0" anchor="ctr" anchorCtr="0">
                    <a:lnL>
                      <a:noFill/>
                    </a:lnL>
                    <a:lnR>
                      <a:noFill/>
                    </a:lnR>
                    <a:lnT>
                      <a:noFill/>
                    </a:lnT>
                    <a:lnB>
                      <a:noFill/>
                    </a:lnB>
                    <a:noFill/>
                  </a:tcPr>
                </a:tc>
              </a:tr>
              <a:tr h="315595">
                <a:tc>
                  <a:txBody>
                    <a:bodyPr/>
                    <a:p>
                      <a:r>
                        <a:rPr sz="1600"/>
                        <a:t>getTime()</a:t>
                      </a:r>
                      <a:endParaRPr sz="1600"/>
                    </a:p>
                  </a:txBody>
                  <a:tcPr marL="0" marR="0" marT="0" marB="0" anchor="ctr" anchorCtr="0">
                    <a:lnL>
                      <a:noFill/>
                    </a:lnL>
                    <a:lnR>
                      <a:noFill/>
                    </a:lnR>
                    <a:lnT>
                      <a:noFill/>
                    </a:lnT>
                    <a:lnB>
                      <a:noFill/>
                    </a:lnB>
                    <a:noFill/>
                  </a:tcPr>
                </a:tc>
                <a:tc>
                  <a:txBody>
                    <a:bodyPr/>
                    <a:p>
                      <a:r>
                        <a:rPr sz="1600"/>
                        <a:t>Returns timestamp in ms since Jan 1, 1970</a:t>
                      </a:r>
                      <a:endParaRPr sz="1600"/>
                    </a:p>
                  </a:txBody>
                  <a:tcPr marL="0" marR="0" marT="0" marB="0" anchor="ctr" anchorCtr="0">
                    <a:lnL>
                      <a:noFill/>
                    </a:lnL>
                    <a:lnR>
                      <a:noFill/>
                    </a:lnR>
                    <a:lnT>
                      <a:noFill/>
                    </a:lnT>
                    <a:lnB>
                      <a:noFill/>
                    </a:lnB>
                    <a:noFill/>
                  </a:tcPr>
                </a:tc>
                <a:tc>
                  <a:txBody>
                    <a:bodyPr/>
                    <a:p>
                      <a:r>
                        <a:rPr sz="1600"/>
                        <a:t>date.getTime()</a:t>
                      </a:r>
                      <a:endParaRPr sz="1600"/>
                    </a:p>
                  </a:txBody>
                  <a:tcPr marL="0" marR="0" marT="0" marB="0" anchor="ctr" anchorCtr="0">
                    <a:lnL>
                      <a:noFill/>
                    </a:lnL>
                    <a:lnR>
                      <a:noFill/>
                    </a:lnR>
                    <a:lnT>
                      <a:noFill/>
                    </a:lnT>
                    <a:lnB>
                      <a:noFill/>
                    </a:lnB>
                    <a:noFill/>
                  </a:tcPr>
                </a:tc>
              </a:tr>
            </a:tbl>
          </a:graphicData>
        </a:graphic>
      </p:graphicFrame>
      <p:sp>
        <p:nvSpPr>
          <p:cNvPr id="5" name="Text Box 4"/>
          <p:cNvSpPr txBox="1"/>
          <p:nvPr/>
        </p:nvSpPr>
        <p:spPr>
          <a:xfrm>
            <a:off x="161925" y="2328545"/>
            <a:ext cx="11789410" cy="368300"/>
          </a:xfrm>
          <a:prstGeom prst="rect">
            <a:avLst/>
          </a:prstGeom>
          <a:noFill/>
        </p:spPr>
        <p:txBody>
          <a:bodyPr wrap="square" rtlCol="0" anchor="t">
            <a:spAutoFit/>
          </a:bodyPr>
          <a:p>
            <a:pPr algn="ctr"/>
            <a:r>
              <a:rPr lang="en-US" b="1">
                <a:solidFill>
                  <a:srgbClr val="FF0000"/>
                </a:solidFill>
                <a:sym typeface="+mn-ea"/>
              </a:rPr>
              <a:t>Js Date/time/Calendar Function</a:t>
            </a:r>
            <a:endParaRPr lang="en-US" b="1">
              <a:solidFill>
                <a:srgbClr val="FF0000"/>
              </a:solidFill>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92710" y="0"/>
            <a:ext cx="4559300" cy="1402080"/>
          </a:xfrm>
          <a:prstGeom prst="rect">
            <a:avLst/>
          </a:prstGeom>
        </p:spPr>
        <p:txBody>
          <a:bodyPr wrap="square">
            <a:spAutoFit/>
          </a:bodyPr>
          <a:p>
            <a:pPr>
              <a:spcAft>
                <a:spcPct val="60000"/>
              </a:spcAft>
            </a:pPr>
            <a:r>
              <a:rPr b="1"/>
              <a:t>1</a:t>
            </a:r>
            <a:r>
              <a:rPr lang="en-US" b="1"/>
              <a:t>.</a:t>
            </a:r>
            <a:r>
              <a:rPr b="1"/>
              <a:t> document.getElementById("id")</a:t>
            </a:r>
            <a:endParaRPr b="1"/>
          </a:p>
          <a:p>
            <a:r>
              <a:t>Selects ONE element by ID</a:t>
            </a:r>
          </a:p>
          <a:p>
            <a:r>
              <a:t>let title = document.getElementById("title");
title.style.color = "red";</a:t>
            </a:r>
          </a:p>
        </p:txBody>
      </p:sp>
      <p:sp>
        <p:nvSpPr>
          <p:cNvPr id="5" name="Text Box 4"/>
          <p:cNvSpPr txBox="1"/>
          <p:nvPr/>
        </p:nvSpPr>
        <p:spPr>
          <a:xfrm>
            <a:off x="6320790" y="0"/>
            <a:ext cx="5996940" cy="1678940"/>
          </a:xfrm>
          <a:prstGeom prst="rect">
            <a:avLst/>
          </a:prstGeom>
        </p:spPr>
        <p:txBody>
          <a:bodyPr wrap="square">
            <a:spAutoFit/>
          </a:bodyPr>
          <a:p>
            <a:pPr>
              <a:spcAft>
                <a:spcPct val="60000"/>
              </a:spcAft>
            </a:pPr>
            <a:r>
              <a:rPr b="1"/>
              <a:t>2</a:t>
            </a:r>
            <a:r>
              <a:rPr lang="en-US" b="1"/>
              <a:t>.</a:t>
            </a:r>
            <a:r>
              <a:rPr b="1"/>
              <a:t>document.getElementsByClassName("class")</a:t>
            </a:r>
            <a:endParaRPr b="1"/>
          </a:p>
          <a:p>
            <a:r>
              <a:t>Selects ALL elements with a class (HTMLCollection)</a:t>
            </a:r>
          </a:p>
          <a:p>
            <a:r>
              <a:t>let paragraphs = document.getElementsByClassName("text");
paragraphs[0].style.color = "blue";
paragraphs[1].style.color = "green";</a:t>
            </a:r>
          </a:p>
        </p:txBody>
      </p:sp>
      <p:sp>
        <p:nvSpPr>
          <p:cNvPr id="6" name="Text Box 5"/>
          <p:cNvSpPr txBox="1"/>
          <p:nvPr/>
        </p:nvSpPr>
        <p:spPr>
          <a:xfrm>
            <a:off x="0" y="1532890"/>
            <a:ext cx="5230495" cy="1678940"/>
          </a:xfrm>
          <a:prstGeom prst="rect">
            <a:avLst/>
          </a:prstGeom>
        </p:spPr>
        <p:txBody>
          <a:bodyPr wrap="square">
            <a:spAutoFit/>
          </a:bodyPr>
          <a:p>
            <a:pPr>
              <a:spcAft>
                <a:spcPct val="60000"/>
              </a:spcAft>
            </a:pPr>
            <a:r>
              <a:rPr b="1"/>
              <a:t>3</a:t>
            </a:r>
            <a:r>
              <a:rPr lang="en-US" b="1"/>
              <a:t>.</a:t>
            </a:r>
            <a:r>
              <a:rPr b="1"/>
              <a:t>document.getElementsByTagName("tag")</a:t>
            </a:r>
            <a:endParaRPr b="1"/>
          </a:p>
          <a:p>
            <a:r>
              <a:t>Selects ALL elements by tag name</a:t>
            </a:r>
          </a:p>
          <a:p>
            <a:r>
              <a:t>let divs = document.getElementsByTagName("div");
divs[0].style.backgroundColor = "yellow";
divs[1].style.backgroundColor = "lightgray";</a:t>
            </a:r>
          </a:p>
        </p:txBody>
      </p:sp>
      <p:sp>
        <p:nvSpPr>
          <p:cNvPr id="7" name="Text Box 6"/>
          <p:cNvSpPr txBox="1"/>
          <p:nvPr/>
        </p:nvSpPr>
        <p:spPr>
          <a:xfrm>
            <a:off x="6320790" y="1887220"/>
            <a:ext cx="5412740" cy="1442720"/>
          </a:xfrm>
          <a:prstGeom prst="rect">
            <a:avLst/>
          </a:prstGeom>
        </p:spPr>
        <p:txBody>
          <a:bodyPr wrap="square">
            <a:spAutoFit/>
          </a:bodyPr>
          <a:p>
            <a:pPr>
              <a:spcAft>
                <a:spcPct val="60000"/>
              </a:spcAft>
            </a:pPr>
            <a:r>
              <a:rPr sz="2300" b="1"/>
              <a:t>4</a:t>
            </a:r>
            <a:r>
              <a:rPr lang="en-US" sz="2300" b="1"/>
              <a:t>.</a:t>
            </a:r>
            <a:r>
              <a:rPr sz="2300" b="1"/>
              <a:t> document.querySelector("selector")</a:t>
            </a:r>
            <a:endParaRPr sz="2300" b="1"/>
          </a:p>
          <a:p>
            <a:r>
              <a:rPr sz="1600"/>
              <a:t>Selects the FIRST matching element (CSS selector)</a:t>
            </a:r>
            <a:endParaRPr sz="1600"/>
          </a:p>
          <a:p>
            <a:r>
              <a:rPr sz="1600"/>
              <a:t>let firstButton = document.querySelector(".btn");
firstButton.style.border = "2px solid red";</a:t>
            </a:r>
            <a:endParaRPr sz="1600"/>
          </a:p>
        </p:txBody>
      </p:sp>
      <p:sp>
        <p:nvSpPr>
          <p:cNvPr id="8" name="Text Box 7"/>
          <p:cNvSpPr txBox="1"/>
          <p:nvPr/>
        </p:nvSpPr>
        <p:spPr>
          <a:xfrm>
            <a:off x="635" y="3429000"/>
            <a:ext cx="5389880" cy="2232660"/>
          </a:xfrm>
          <a:prstGeom prst="rect">
            <a:avLst/>
          </a:prstGeom>
        </p:spPr>
        <p:txBody>
          <a:bodyPr wrap="square">
            <a:spAutoFit/>
          </a:bodyPr>
          <a:p>
            <a:pPr>
              <a:spcAft>
                <a:spcPct val="60000"/>
              </a:spcAft>
            </a:pPr>
            <a:r>
              <a:rPr b="1"/>
              <a:t>5</a:t>
            </a:r>
            <a:r>
              <a:rPr lang="en-US" b="1"/>
              <a:t>.</a:t>
            </a:r>
            <a:r>
              <a:rPr b="1"/>
              <a:t>document.querySelectorAll("selector")</a:t>
            </a:r>
            <a:endParaRPr b="1"/>
          </a:p>
          <a:p>
            <a:r>
              <a:t>Selects ALL matching elements (NodeList)</a:t>
            </a:r>
          </a:p>
          <a:p>
            <a:r>
              <a:t>let buttons = document.querySelectorAll(".btn");
buttons.forEach(button =&gt; {
  button.style.backgroundColor = "orange";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213360"/>
          </a:xfrm>
        </p:spPr>
        <p:txBody>
          <a:bodyPr>
            <a:noAutofit/>
          </a:bodyPr>
          <a:p>
            <a:pPr algn="ctr"/>
            <a:r>
              <a:rPr lang="en-US" sz="2800" b="1">
                <a:solidFill>
                  <a:srgbClr val="FF0000"/>
                </a:solidFill>
              </a:rPr>
              <a:t>JS oops</a:t>
            </a:r>
            <a:endParaRPr lang="en-US" sz="2800" b="1">
              <a:solidFill>
                <a:srgbClr val="FF0000"/>
              </a:solidFill>
            </a:endParaRPr>
          </a:p>
        </p:txBody>
      </p:sp>
      <p:sp>
        <p:nvSpPr>
          <p:cNvPr id="3" name="Content Placeholder 2"/>
          <p:cNvSpPr>
            <a:spLocks noGrp="1"/>
          </p:cNvSpPr>
          <p:nvPr>
            <p:ph idx="1"/>
          </p:nvPr>
        </p:nvSpPr>
        <p:spPr>
          <a:xfrm>
            <a:off x="112395" y="322580"/>
            <a:ext cx="11788775" cy="6390640"/>
          </a:xfrm>
        </p:spPr>
        <p:txBody>
          <a:bodyPr>
            <a:noAutofit/>
          </a:bodyPr>
          <a:p>
            <a:pPr marL="0" indent="0">
              <a:buNone/>
            </a:pPr>
            <a:r>
              <a:rPr lang="en-US" altLang="en-US" sz="1600" b="1"/>
              <a:t>1. JavaScript Object</a:t>
            </a:r>
            <a:endParaRPr lang="en-US" altLang="en-US" sz="1600" b="1"/>
          </a:p>
          <a:p>
            <a:pPr marL="0" indent="0">
              <a:buNone/>
            </a:pPr>
            <a:r>
              <a:rPr lang="en-US" altLang="en-US" sz="1600"/>
              <a:t> Definition:  An object is a collection of key-value pairs (properties and methods).</a:t>
            </a:r>
            <a:endParaRPr lang="en-US" altLang="en-US" sz="1600"/>
          </a:p>
          <a:p>
            <a:pPr marL="0" indent="0">
              <a:buNone/>
            </a:pPr>
            <a:r>
              <a:rPr lang="en-US" altLang="en-US" sz="1600"/>
              <a:t> Syntax:</a:t>
            </a:r>
            <a:endParaRPr lang="en-US" altLang="en-US" sz="1600"/>
          </a:p>
          <a:p>
            <a:pPr marL="0" indent="0">
              <a:buNone/>
            </a:pPr>
            <a:r>
              <a:rPr lang="en-US" altLang="en-US" sz="1600"/>
              <a:t> let person = {</a:t>
            </a:r>
            <a:endParaRPr lang="en-US" altLang="en-US" sz="1600"/>
          </a:p>
          <a:p>
            <a:pPr marL="0" indent="0">
              <a:buNone/>
            </a:pPr>
            <a:r>
              <a:rPr lang="en-US" altLang="en-US" sz="1600"/>
              <a:t>  name: "John",</a:t>
            </a:r>
            <a:endParaRPr lang="en-US" altLang="en-US" sz="1600"/>
          </a:p>
          <a:p>
            <a:pPr marL="0" indent="0">
              <a:buNone/>
            </a:pPr>
            <a:r>
              <a:rPr lang="en-US" altLang="en-US" sz="1600"/>
              <a:t>  age: 25,</a:t>
            </a:r>
            <a:endParaRPr lang="en-US" altLang="en-US" sz="1600"/>
          </a:p>
          <a:p>
            <a:pPr marL="0" indent="0">
              <a:buNone/>
            </a:pPr>
            <a:r>
              <a:rPr lang="en-US" altLang="en-US" sz="1600"/>
              <a:t>  greet: function() {</a:t>
            </a:r>
            <a:endParaRPr lang="en-US" altLang="en-US" sz="1600"/>
          </a:p>
          <a:p>
            <a:pPr marL="0" indent="0">
              <a:buNone/>
            </a:pPr>
            <a:r>
              <a:rPr lang="en-US" altLang="en-US" sz="1600"/>
              <a:t>    console.log("Hello, I am " + this.name);</a:t>
            </a:r>
            <a:endParaRPr lang="en-US" altLang="en-US" sz="1600"/>
          </a:p>
          <a:p>
            <a:pPr marL="0" indent="0">
              <a:buNone/>
            </a:pPr>
            <a:r>
              <a:rPr lang="en-US" altLang="en-US" sz="1600"/>
              <a:t>  }</a:t>
            </a:r>
            <a:endParaRPr lang="en-US" altLang="en-US" sz="1600"/>
          </a:p>
          <a:p>
            <a:pPr marL="0" indent="0">
              <a:buNone/>
            </a:pPr>
            <a:r>
              <a:rPr lang="en-US" altLang="en-US" sz="1600"/>
              <a:t>}; person.greet(); // Output: Hello, I am John</a:t>
            </a:r>
            <a:endParaRPr lang="en-US" altLang="en-US" sz="1600"/>
          </a:p>
          <a:p>
            <a:pPr marL="0" indent="0">
              <a:buNone/>
            </a:pPr>
            <a:r>
              <a:rPr lang="en-US" altLang="en-US" sz="1600"/>
              <a:t> 2. Class in JavaScript</a:t>
            </a:r>
            <a:endParaRPr lang="en-US" altLang="en-US" sz="1600"/>
          </a:p>
          <a:p>
            <a:pPr marL="0" indent="0">
              <a:buNone/>
            </a:pPr>
            <a:r>
              <a:rPr lang="en-US" altLang="en-US" sz="1600" b="1"/>
              <a:t>Definition:</a:t>
            </a:r>
            <a:r>
              <a:rPr lang="en-US" altLang="en-US" sz="1600"/>
              <a:t> A class is a blueprint for creating objects with shared structure and behavior.</a:t>
            </a:r>
            <a:endParaRPr lang="en-US" altLang="en-US" sz="1600"/>
          </a:p>
          <a:p>
            <a:pPr marL="0" indent="0">
              <a:buNone/>
            </a:pPr>
            <a:r>
              <a:rPr lang="en-US" altLang="en-US" sz="1600"/>
              <a:t> Syntax: class Person {</a:t>
            </a:r>
            <a:endParaRPr lang="en-US" altLang="en-US" sz="1600"/>
          </a:p>
          <a:p>
            <a:pPr marL="0" indent="0">
              <a:buNone/>
            </a:pPr>
            <a:r>
              <a:rPr lang="en-US" altLang="en-US" sz="1600"/>
              <a:t>  constructor(name, age) {</a:t>
            </a:r>
            <a:endParaRPr lang="en-US" altLang="en-US" sz="1600"/>
          </a:p>
          <a:p>
            <a:pPr marL="0" indent="0">
              <a:buNone/>
            </a:pPr>
            <a:r>
              <a:rPr lang="en-US" altLang="en-US" sz="1600"/>
              <a:t>    this.name = name;</a:t>
            </a:r>
            <a:endParaRPr lang="en-US" altLang="en-US" sz="1600"/>
          </a:p>
          <a:p>
            <a:pPr marL="0" indent="0">
              <a:buNone/>
            </a:pPr>
            <a:r>
              <a:rPr lang="en-US" altLang="en-US" sz="1600"/>
              <a:t>    this.age = age;</a:t>
            </a:r>
            <a:endParaRPr lang="en-US" altLang="en-US" sz="1600"/>
          </a:p>
          <a:p>
            <a:pPr marL="0" indent="0">
              <a:buNone/>
            </a:pPr>
            <a:r>
              <a:rPr lang="en-US" altLang="en-US" sz="1600"/>
              <a:t>  }</a:t>
            </a:r>
            <a:endParaRPr lang="en-US" altLang="en-US" sz="1600"/>
          </a:p>
          <a:p>
            <a:pPr marL="0" indent="0">
              <a:buNone/>
            </a:pPr>
            <a:r>
              <a:rPr lang="en-US" altLang="en-US" sz="1600"/>
              <a:t>  greet() {</a:t>
            </a:r>
            <a:endParaRPr lang="en-US" altLang="en-US" sz="1600"/>
          </a:p>
          <a:p>
            <a:pPr marL="0" indent="0">
              <a:buNone/>
            </a:pPr>
            <a:r>
              <a:rPr lang="en-US" altLang="en-US" sz="1600"/>
              <a:t>    console.log(`Hi, I am ${this.name}`);</a:t>
            </a:r>
            <a:endParaRPr lang="en-US" altLang="en-US" sz="1600"/>
          </a:p>
          <a:p>
            <a:pPr marL="0" indent="0">
              <a:buNone/>
            </a:pPr>
            <a:r>
              <a:rPr lang="en-US" altLang="en-US" sz="1600"/>
              <a:t>  }   }</a:t>
            </a:r>
            <a:endParaRPr lang="en-US" altLang="en-US" sz="1600"/>
          </a:p>
          <a:p>
            <a:pPr marL="0" indent="0">
              <a:buNone/>
            </a:pPr>
            <a:r>
              <a:rPr lang="en-US" altLang="en-US" sz="1600"/>
              <a:t>const p1 = new Person("Alice", 22);</a:t>
            </a:r>
            <a:endParaRPr lang="en-US" altLang="en-US" sz="1600"/>
          </a:p>
          <a:p>
            <a:pPr marL="0" indent="0">
              <a:buNone/>
            </a:pPr>
            <a:r>
              <a:rPr lang="en-US" altLang="en-US" sz="1600"/>
              <a:t>p1.greet(); // Output: Hi, I am Alice</a:t>
            </a:r>
            <a:endParaRPr lang="en-US" altLang="en-US" sz="16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88595" y="235585"/>
            <a:ext cx="11814175" cy="583565"/>
          </a:xfrm>
          <a:prstGeom prst="rect">
            <a:avLst/>
          </a:prstGeom>
        </p:spPr>
        <p:txBody>
          <a:bodyPr wrap="square">
            <a:spAutoFit/>
          </a:bodyPr>
          <a:p>
            <a:r>
              <a:rPr sz="1600"/>
              <a:t>JavaScript does not support compile-time data variables. All variables and class data members are created dynamically at runtime. Even class fields and static properties are runtime constructs.</a:t>
            </a:r>
            <a:endParaRPr sz="1600"/>
          </a:p>
        </p:txBody>
      </p:sp>
      <p:sp>
        <p:nvSpPr>
          <p:cNvPr id="5" name="Text Box 4"/>
          <p:cNvSpPr txBox="1"/>
          <p:nvPr/>
        </p:nvSpPr>
        <p:spPr>
          <a:xfrm>
            <a:off x="448310" y="1002030"/>
            <a:ext cx="11554460" cy="583565"/>
          </a:xfrm>
          <a:prstGeom prst="rect">
            <a:avLst/>
          </a:prstGeom>
        </p:spPr>
        <p:txBody>
          <a:bodyPr wrap="square">
            <a:spAutoFit/>
          </a:bodyPr>
          <a:p>
            <a:r>
              <a:rPr sz="1600"/>
              <a:t>In JavaScript, the constructor must always be named constructor. You cannot assign a custom name. To simulate named constructors, static factory methods are used.</a:t>
            </a:r>
            <a:endParaRPr sz="1600"/>
          </a:p>
        </p:txBody>
      </p:sp>
      <p:sp>
        <p:nvSpPr>
          <p:cNvPr id="2" name="Text Box 1"/>
          <p:cNvSpPr txBox="1"/>
          <p:nvPr/>
        </p:nvSpPr>
        <p:spPr>
          <a:xfrm>
            <a:off x="0" y="1585595"/>
            <a:ext cx="12192000" cy="5156200"/>
          </a:xfrm>
          <a:prstGeom prst="rect">
            <a:avLst/>
          </a:prstGeom>
        </p:spPr>
        <p:txBody>
          <a:bodyPr wrap="square">
            <a:noAutofit/>
          </a:bodyPr>
          <a:p>
            <a:pPr>
              <a:spcAft>
                <a:spcPct val="60000"/>
              </a:spcAft>
            </a:pPr>
            <a:r>
              <a:rPr b="1"/>
              <a:t> What is Inheritance?</a:t>
            </a:r>
            <a:endParaRPr b="1"/>
          </a:p>
          <a:p>
            <a:r>
              <a:t>Inheritance is a mechanism where a child class acquires the properties and methods of a parent class.</a:t>
            </a:r>
          </a:p>
          <a:p>
            <a:pPr>
              <a:spcAft>
                <a:spcPct val="60000"/>
              </a:spcAft>
            </a:pPr>
            <a:r>
              <a:rPr b="1"/>
              <a:t>Types of Inheritance in JavaScript</a:t>
            </a:r>
            <a:endParaRPr b="1"/>
          </a:p>
          <a:p>
            <a:r>
              <a:t>JavaScript supports inheritance mainly using extends and super.</a:t>
            </a:r>
          </a:p>
          <a:p>
            <a:pPr>
              <a:spcAft>
                <a:spcPct val="60000"/>
              </a:spcAft>
            </a:pPr>
            <a:r>
              <a:rPr b="1"/>
              <a:t>1 </a:t>
            </a:r>
            <a:r>
              <a:rPr lang="en-US" b="1"/>
              <a:t>.</a:t>
            </a:r>
            <a:r>
              <a:rPr b="1"/>
              <a:t>Single Inheritance</a:t>
            </a:r>
            <a:endParaRPr b="1"/>
          </a:p>
          <a:p>
            <a:r>
              <a:t> One child class inherits from one parent class</a:t>
            </a:r>
          </a:p>
        </p:txBody>
      </p:sp>
      <p:sp>
        <p:nvSpPr>
          <p:cNvPr id="3" name="Text Box 2"/>
          <p:cNvSpPr txBox="1"/>
          <p:nvPr/>
        </p:nvSpPr>
        <p:spPr>
          <a:xfrm>
            <a:off x="0" y="4027170"/>
            <a:ext cx="12089130" cy="847725"/>
          </a:xfrm>
          <a:prstGeom prst="rect">
            <a:avLst/>
          </a:prstGeom>
        </p:spPr>
        <p:txBody>
          <a:bodyPr wrap="square">
            <a:spAutoFit/>
          </a:bodyPr>
          <a:p>
            <a:pPr>
              <a:spcAft>
                <a:spcPct val="60000"/>
              </a:spcAft>
            </a:pPr>
            <a:r>
              <a:rPr b="1"/>
              <a:t>2</a:t>
            </a:r>
            <a:r>
              <a:rPr lang="en-US" b="1"/>
              <a:t>.</a:t>
            </a:r>
            <a:r>
              <a:rPr b="1"/>
              <a:t> Multilevel Inheritance</a:t>
            </a:r>
            <a:endParaRPr b="1"/>
          </a:p>
          <a:p>
            <a:r>
              <a:t>A class inherits from another class which is already inherited</a:t>
            </a:r>
          </a:p>
        </p:txBody>
      </p:sp>
      <p:sp>
        <p:nvSpPr>
          <p:cNvPr id="6" name="Text Box 5"/>
          <p:cNvSpPr txBox="1"/>
          <p:nvPr/>
        </p:nvSpPr>
        <p:spPr>
          <a:xfrm>
            <a:off x="0" y="4998085"/>
            <a:ext cx="12002770" cy="847725"/>
          </a:xfrm>
          <a:prstGeom prst="rect">
            <a:avLst/>
          </a:prstGeom>
        </p:spPr>
        <p:txBody>
          <a:bodyPr wrap="square">
            <a:spAutoFit/>
          </a:bodyPr>
          <a:p>
            <a:pPr>
              <a:spcAft>
                <a:spcPct val="60000"/>
              </a:spcAft>
            </a:pPr>
            <a:r>
              <a:rPr b="1"/>
              <a:t>3</a:t>
            </a:r>
            <a:r>
              <a:rPr lang="en-US" b="1"/>
              <a:t>.</a:t>
            </a:r>
            <a:r>
              <a:rPr b="1"/>
              <a:t> Hierarchical Inheritance</a:t>
            </a:r>
            <a:endParaRPr b="1"/>
          </a:p>
          <a:p>
            <a:r>
              <a:t>Multiple child classes inherit from the same parent class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08915" y="85725"/>
            <a:ext cx="10761980" cy="6772275"/>
          </a:xfrm>
        </p:spPr>
        <p:txBody>
          <a:bodyPr>
            <a:noAutofit/>
          </a:bodyPr>
          <a:p>
            <a:pPr marL="0" indent="0">
              <a:buNone/>
            </a:pPr>
            <a:r>
              <a:rPr lang="en-US" altLang="en-US" sz="1600"/>
              <a:t>3. </a:t>
            </a:r>
            <a:r>
              <a:rPr lang="en-US" altLang="en-US" sz="1600" b="1"/>
              <a:t>Constructor</a:t>
            </a:r>
            <a:endParaRPr lang="en-US" altLang="en-US" sz="1600"/>
          </a:p>
          <a:p>
            <a:pPr marL="0" indent="0">
              <a:buNone/>
            </a:pPr>
            <a:r>
              <a:rPr lang="en-US" altLang="en-US" sz="1600"/>
              <a:t> Definition:A constructor is a special method used for initializing new objects created from a class.</a:t>
            </a:r>
            <a:endParaRPr lang="en-US" altLang="en-US" sz="1600"/>
          </a:p>
          <a:p>
            <a:pPr marL="0" indent="0">
              <a:buNone/>
            </a:pPr>
            <a:r>
              <a:rPr lang="en-US" altLang="en-US" sz="1600"/>
              <a:t>It runs automatically when the object is created using new.</a:t>
            </a:r>
            <a:endParaRPr lang="en-US" altLang="en-US" sz="1600"/>
          </a:p>
          <a:p>
            <a:pPr marL="0" indent="0">
              <a:buNone/>
            </a:pPr>
            <a:r>
              <a:rPr lang="en-US" altLang="en-US" sz="1600"/>
              <a:t> Example:class Car {</a:t>
            </a:r>
            <a:endParaRPr lang="en-US" altLang="en-US" sz="1600"/>
          </a:p>
          <a:p>
            <a:pPr marL="0" indent="0">
              <a:buNone/>
            </a:pPr>
            <a:r>
              <a:rPr lang="en-US" altLang="en-US" sz="1600"/>
              <a:t>  constructor(brand, model) {</a:t>
            </a:r>
            <a:endParaRPr lang="en-US" altLang="en-US" sz="1600"/>
          </a:p>
          <a:p>
            <a:pPr marL="0" indent="0">
              <a:buNone/>
            </a:pPr>
            <a:r>
              <a:rPr lang="en-US" altLang="en-US" sz="1600"/>
              <a:t>    this.brand = brand;</a:t>
            </a:r>
            <a:endParaRPr lang="en-US" altLang="en-US" sz="1600"/>
          </a:p>
          <a:p>
            <a:pPr marL="0" indent="0">
              <a:buNone/>
            </a:pPr>
            <a:r>
              <a:rPr lang="en-US" altLang="en-US" sz="1600"/>
              <a:t>    this.model = model;</a:t>
            </a:r>
            <a:endParaRPr lang="en-US" altLang="en-US" sz="1600"/>
          </a:p>
          <a:p>
            <a:pPr marL="0" indent="0">
              <a:buNone/>
            </a:pPr>
            <a:r>
              <a:rPr lang="en-US" altLang="en-US" sz="1600"/>
              <a:t>  }   }</a:t>
            </a:r>
            <a:endParaRPr lang="en-US" altLang="en-US" sz="1600"/>
          </a:p>
          <a:p>
            <a:pPr marL="0" indent="0">
              <a:buNone/>
            </a:pPr>
            <a:r>
              <a:rPr lang="en-US" altLang="en-US" sz="1600"/>
              <a:t>let car1 = new Car("Toyota", "Corolla");   console.log(car1.brand); // Output: Toyota</a:t>
            </a:r>
            <a:endParaRPr lang="en-US" altLang="en-US" sz="1600"/>
          </a:p>
          <a:p>
            <a:pPr marL="0" indent="0">
              <a:buNone/>
            </a:pPr>
            <a:r>
              <a:rPr lang="en-US" altLang="en-US" sz="1600"/>
              <a:t> 4. </a:t>
            </a:r>
            <a:r>
              <a:rPr lang="en-US" altLang="en-US" sz="1600" b="1"/>
              <a:t>Inheritance</a:t>
            </a:r>
            <a:endParaRPr lang="en-US" altLang="en-US" sz="1600"/>
          </a:p>
          <a:p>
            <a:pPr marL="0" indent="0">
              <a:buNone/>
            </a:pPr>
            <a:r>
              <a:rPr lang="en-US" altLang="en-US" sz="1600"/>
              <a:t> Definition:I nheritance allows one class (child) to inherit properties and methods from another (parent).</a:t>
            </a:r>
            <a:endParaRPr lang="en-US" altLang="en-US" sz="1600"/>
          </a:p>
          <a:p>
            <a:pPr marL="0" indent="0">
              <a:buNone/>
            </a:pPr>
            <a:r>
              <a:rPr lang="en-US" altLang="en-US" sz="1600"/>
              <a:t> Syntax:</a:t>
            </a:r>
            <a:endParaRPr lang="en-US" altLang="en-US" sz="1600"/>
          </a:p>
          <a:p>
            <a:pPr marL="0" indent="0">
              <a:buNone/>
            </a:pPr>
            <a:r>
              <a:rPr lang="en-US" altLang="en-US" sz="1600"/>
              <a:t>class Animal {</a:t>
            </a:r>
            <a:endParaRPr lang="en-US" altLang="en-US" sz="1600"/>
          </a:p>
          <a:p>
            <a:pPr marL="0" indent="0">
              <a:buNone/>
            </a:pPr>
            <a:r>
              <a:rPr lang="en-US" altLang="en-US" sz="1600"/>
              <a:t>  speak() {</a:t>
            </a:r>
            <a:endParaRPr lang="en-US" altLang="en-US" sz="1600"/>
          </a:p>
          <a:p>
            <a:pPr marL="0" indent="0">
              <a:buNone/>
            </a:pPr>
            <a:r>
              <a:rPr lang="en-US" altLang="en-US" sz="1600"/>
              <a:t>    console.log("Animal speaks");</a:t>
            </a:r>
            <a:endParaRPr lang="en-US" altLang="en-US" sz="1600"/>
          </a:p>
          <a:p>
            <a:pPr marL="0" indent="0">
              <a:buNone/>
            </a:pPr>
            <a:r>
              <a:rPr lang="en-US" altLang="en-US" sz="1600"/>
              <a:t>  }   }</a:t>
            </a:r>
            <a:endParaRPr lang="en-US" altLang="en-US" sz="1600"/>
          </a:p>
          <a:p>
            <a:pPr marL="0" indent="0">
              <a:buNone/>
            </a:pPr>
            <a:r>
              <a:rPr lang="en-US" altLang="en-US" sz="1600"/>
              <a:t>class Dog extends Animal {</a:t>
            </a:r>
            <a:endParaRPr lang="en-US" altLang="en-US" sz="1600"/>
          </a:p>
          <a:p>
            <a:pPr marL="0" indent="0">
              <a:buNone/>
            </a:pPr>
            <a:r>
              <a:rPr lang="en-US" altLang="en-US" sz="1600"/>
              <a:t>  bark() {</a:t>
            </a:r>
            <a:endParaRPr lang="en-US" altLang="en-US" sz="1600"/>
          </a:p>
          <a:p>
            <a:pPr marL="0" indent="0">
              <a:buNone/>
            </a:pPr>
            <a:r>
              <a:rPr lang="en-US" altLang="en-US" sz="1600"/>
              <a:t>    console.log("Dog barks");</a:t>
            </a:r>
            <a:endParaRPr lang="en-US" altLang="en-US" sz="1600"/>
          </a:p>
          <a:p>
            <a:pPr marL="0" indent="0">
              <a:buNone/>
            </a:pPr>
            <a:r>
              <a:rPr lang="en-US" altLang="en-US" sz="1600"/>
              <a:t>  }   }</a:t>
            </a:r>
            <a:endParaRPr lang="en-US" altLang="en-US" sz="1600"/>
          </a:p>
          <a:p>
            <a:pPr marL="0" indent="0">
              <a:buNone/>
            </a:pPr>
            <a:r>
              <a:rPr lang="en-US" altLang="en-US" sz="1600"/>
              <a:t>let d = new Dog();</a:t>
            </a:r>
            <a:endParaRPr lang="en-US" altLang="en-US" sz="1600"/>
          </a:p>
          <a:p>
            <a:pPr marL="0" indent="0">
              <a:buNone/>
            </a:pPr>
            <a:r>
              <a:rPr lang="en-US" altLang="en-US" sz="1600"/>
              <a:t>d.speak(); // Animal speaks</a:t>
            </a:r>
            <a:endParaRPr lang="en-US" altLang="en-US" sz="1600"/>
          </a:p>
          <a:p>
            <a:pPr marL="0" indent="0">
              <a:buNone/>
            </a:pPr>
            <a:r>
              <a:rPr lang="en-US" altLang="en-US" sz="1600"/>
              <a:t>d.bark();  // Dog barks</a:t>
            </a:r>
            <a:endParaRPr lang="en-US" altLang="en-US" sz="1600"/>
          </a:p>
          <a:p>
            <a:pPr marL="0" indent="0">
              <a:buNone/>
            </a:pPr>
            <a:r>
              <a:rPr lang="en-US" altLang="en-US" sz="1600"/>
              <a:t> </a:t>
            </a:r>
            <a:endParaRPr lang="en-US" altLang="en-US" sz="16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26365" y="142240"/>
            <a:ext cx="10515600" cy="6555105"/>
          </a:xfrm>
        </p:spPr>
        <p:txBody>
          <a:bodyPr>
            <a:noAutofit/>
          </a:bodyPr>
          <a:p>
            <a:pPr marL="0" indent="0">
              <a:buNone/>
            </a:pPr>
            <a:r>
              <a:rPr lang="en-US" altLang="en-US" sz="1600">
                <a:sym typeface="+mn-ea"/>
              </a:rPr>
              <a:t>5. Types of Inheritance in JavaScript</a:t>
            </a:r>
            <a:endParaRPr lang="en-US" altLang="en-US" sz="1600"/>
          </a:p>
          <a:p>
            <a:pPr marL="0" indent="0">
              <a:buNone/>
            </a:pPr>
            <a:r>
              <a:rPr lang="en-US" altLang="en-US" sz="1600">
                <a:sym typeface="+mn-ea"/>
              </a:rPr>
              <a:t>JavaScript supports the following types of inheritance (mostly via prototypes and classes):</a:t>
            </a:r>
            <a:endParaRPr lang="en-US" altLang="en-US" sz="1600"/>
          </a:p>
          <a:p>
            <a:pPr marL="0" indent="0">
              <a:buNone/>
            </a:pPr>
            <a:r>
              <a:rPr lang="en-US" altLang="en-US" sz="1600" b="1">
                <a:sym typeface="+mn-ea"/>
              </a:rPr>
              <a:t>1. Single Inheritance</a:t>
            </a:r>
            <a:endParaRPr lang="en-US" altLang="en-US" sz="1600" b="1"/>
          </a:p>
          <a:p>
            <a:pPr marL="0" indent="0">
              <a:buNone/>
            </a:pPr>
            <a:r>
              <a:rPr lang="en-US" altLang="en-US" sz="1600">
                <a:sym typeface="+mn-ea"/>
              </a:rPr>
              <a:t>One child inherits from one parent.</a:t>
            </a:r>
            <a:endParaRPr lang="en-US" altLang="en-US" sz="1600"/>
          </a:p>
          <a:p>
            <a:pPr marL="0" indent="0">
              <a:buNone/>
            </a:pPr>
            <a:r>
              <a:rPr lang="en-US" altLang="en-US" sz="1600">
                <a:sym typeface="+mn-ea"/>
              </a:rPr>
              <a:t>class A {   show() {     console.log("Class A");</a:t>
            </a:r>
            <a:endParaRPr lang="en-US" altLang="en-US" sz="1600"/>
          </a:p>
          <a:p>
            <a:pPr marL="0" indent="0">
              <a:buNone/>
            </a:pPr>
            <a:r>
              <a:rPr lang="en-US" altLang="en-US" sz="1600">
                <a:sym typeface="+mn-ea"/>
              </a:rPr>
              <a:t>  }         }</a:t>
            </a:r>
            <a:endParaRPr lang="en-US" altLang="en-US" sz="1600"/>
          </a:p>
          <a:p>
            <a:pPr marL="0" indent="0">
              <a:buNone/>
            </a:pPr>
            <a:r>
              <a:rPr lang="en-US" altLang="en-US" sz="1600">
                <a:sym typeface="+mn-ea"/>
              </a:rPr>
              <a:t>class B extends A {}</a:t>
            </a:r>
            <a:endParaRPr lang="en-US" altLang="en-US" sz="1600"/>
          </a:p>
          <a:p>
            <a:pPr marL="0" indent="0">
              <a:buNone/>
            </a:pPr>
            <a:r>
              <a:rPr lang="en-US" altLang="en-US" sz="1600">
                <a:sym typeface="+mn-ea"/>
              </a:rPr>
              <a:t>new B().show(); // Class A</a:t>
            </a:r>
            <a:endParaRPr lang="en-US" altLang="en-US" sz="1600">
              <a:sym typeface="+mn-ea"/>
            </a:endParaRPr>
          </a:p>
          <a:p>
            <a:pPr marL="0" indent="0">
              <a:buNone/>
            </a:pPr>
            <a:r>
              <a:rPr lang="en-US" altLang="en-US" sz="1600"/>
              <a:t>2. </a:t>
            </a:r>
            <a:r>
              <a:rPr lang="en-US" altLang="en-US" sz="1600" b="1"/>
              <a:t>Multilevel Inheritance</a:t>
            </a:r>
            <a:endParaRPr lang="en-US" altLang="en-US" sz="1600"/>
          </a:p>
          <a:p>
            <a:pPr marL="0" indent="0">
              <a:buNone/>
            </a:pPr>
            <a:r>
              <a:rPr lang="en-US" altLang="en-US" sz="1600"/>
              <a:t>A child inherits from a parent, and another class inherits from that child.</a:t>
            </a:r>
            <a:endParaRPr lang="en-US" altLang="en-US" sz="1600"/>
          </a:p>
          <a:p>
            <a:pPr marL="0" indent="0">
              <a:buNone/>
            </a:pPr>
            <a:r>
              <a:rPr lang="en-US" altLang="en-US" sz="1600"/>
              <a:t>class A {     showA() {</a:t>
            </a:r>
            <a:endParaRPr lang="en-US" altLang="en-US" sz="1600"/>
          </a:p>
          <a:p>
            <a:pPr marL="0" indent="0">
              <a:buNone/>
            </a:pPr>
            <a:r>
              <a:rPr lang="en-US" altLang="en-US" sz="1600"/>
              <a:t>    console.log("Class A");</a:t>
            </a:r>
            <a:endParaRPr lang="en-US" altLang="en-US" sz="1600"/>
          </a:p>
          <a:p>
            <a:pPr marL="0" indent="0">
              <a:buNone/>
            </a:pPr>
            <a:r>
              <a:rPr lang="en-US" altLang="en-US" sz="1600"/>
              <a:t>  }          }</a:t>
            </a:r>
            <a:endParaRPr lang="en-US" altLang="en-US" sz="1600"/>
          </a:p>
          <a:p>
            <a:pPr marL="0" indent="0">
              <a:buNone/>
            </a:pPr>
            <a:r>
              <a:rPr lang="en-US" altLang="en-US" sz="1600"/>
              <a:t>class B extends A {</a:t>
            </a:r>
            <a:endParaRPr lang="en-US" altLang="en-US" sz="1600"/>
          </a:p>
          <a:p>
            <a:pPr marL="0" indent="0">
              <a:buNone/>
            </a:pPr>
            <a:r>
              <a:rPr lang="en-US" altLang="en-US" sz="1600"/>
              <a:t>  showB() {      console.log("Class B" );</a:t>
            </a:r>
            <a:endParaRPr lang="en-US" altLang="en-US" sz="1600"/>
          </a:p>
          <a:p>
            <a:pPr marL="0" indent="0">
              <a:buNone/>
            </a:pPr>
            <a:r>
              <a:rPr lang="en-US" altLang="en-US" sz="1600"/>
              <a:t>  }           }</a:t>
            </a:r>
            <a:endParaRPr lang="en-US" altLang="en-US" sz="1600"/>
          </a:p>
          <a:p>
            <a:pPr marL="0" indent="0">
              <a:buNone/>
            </a:pPr>
            <a:r>
              <a:rPr lang="en-US" altLang="en-US" sz="1600"/>
              <a:t>class C extends B {</a:t>
            </a:r>
            <a:endParaRPr lang="en-US" altLang="en-US" sz="1600"/>
          </a:p>
          <a:p>
            <a:pPr marL="0" indent="0">
              <a:buNone/>
            </a:pPr>
            <a:r>
              <a:rPr lang="en-US" altLang="en-US" sz="1600"/>
              <a:t>  showC() {</a:t>
            </a:r>
            <a:endParaRPr lang="en-US" altLang="en-US" sz="1600"/>
          </a:p>
          <a:p>
            <a:pPr marL="0" indent="0">
              <a:buNone/>
            </a:pPr>
            <a:r>
              <a:rPr lang="en-US" altLang="en-US" sz="1600"/>
              <a:t>    console.log("Class C");</a:t>
            </a:r>
            <a:endParaRPr lang="en-US" altLang="en-US" sz="1600"/>
          </a:p>
          <a:p>
            <a:pPr marL="0" indent="0">
              <a:buNone/>
            </a:pPr>
            <a:r>
              <a:rPr lang="en-US" altLang="en-US" sz="1600"/>
              <a:t>  }              }</a:t>
            </a:r>
            <a:endParaRPr lang="en-US" altLang="en-US" sz="1600"/>
          </a:p>
          <a:p>
            <a:pPr marL="0" indent="0">
              <a:buNone/>
            </a:pPr>
            <a:r>
              <a:rPr lang="en-US" altLang="en-US" sz="1600"/>
              <a:t>let obj = new C();  obj.showA(); // Class A    obj.showB(); // Class B   obj.showC(); // Class C</a:t>
            </a:r>
            <a:endParaRPr lang="en-US" altLang="en-US" sz="1600"/>
          </a:p>
          <a:p>
            <a:endParaRPr lang="en-US" altLang="en-US" sz="16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08915" y="128270"/>
            <a:ext cx="10515600" cy="6596380"/>
          </a:xfrm>
        </p:spPr>
        <p:txBody>
          <a:bodyPr>
            <a:noAutofit/>
          </a:bodyPr>
          <a:p>
            <a:pPr marL="0" indent="0">
              <a:buNone/>
            </a:pPr>
            <a:r>
              <a:rPr lang="en-US" altLang="en-US" sz="1400" b="1">
                <a:sym typeface="+mn-ea"/>
              </a:rPr>
              <a:t>3.  Multiple Inheritance (Not directly supported in JS)</a:t>
            </a:r>
            <a:endParaRPr lang="en-US" altLang="en-US" sz="1400" b="1"/>
          </a:p>
          <a:p>
            <a:pPr marL="0" indent="0">
              <a:buNone/>
            </a:pPr>
            <a:r>
              <a:rPr lang="en-US" altLang="en-US" sz="1400">
                <a:sym typeface="+mn-ea"/>
              </a:rPr>
              <a:t>JavaScript doesn't support multiple inheritance via classes.</a:t>
            </a:r>
            <a:endParaRPr lang="en-US" altLang="en-US" sz="1400"/>
          </a:p>
          <a:p>
            <a:pPr marL="0" indent="0">
              <a:buNone/>
            </a:pPr>
            <a:r>
              <a:rPr lang="en-US" altLang="en-US" sz="1400">
                <a:sym typeface="+mn-ea"/>
              </a:rPr>
              <a:t>But can be simulated using mixins.</a:t>
            </a:r>
            <a:endParaRPr lang="en-US" altLang="en-US" sz="1400"/>
          </a:p>
          <a:p>
            <a:pPr marL="0" indent="0">
              <a:buNone/>
            </a:pPr>
            <a:r>
              <a:rPr lang="en-US" altLang="en-US" sz="1400">
                <a:sym typeface="+mn-ea"/>
              </a:rPr>
              <a:t>let fly = {</a:t>
            </a:r>
            <a:endParaRPr lang="en-US" altLang="en-US" sz="1400"/>
          </a:p>
          <a:p>
            <a:pPr marL="0" indent="0">
              <a:buNone/>
            </a:pPr>
            <a:r>
              <a:rPr lang="en-US" altLang="en-US" sz="1400">
                <a:sym typeface="+mn-ea"/>
              </a:rPr>
              <a:t>  fly() {</a:t>
            </a:r>
            <a:endParaRPr lang="en-US" altLang="en-US" sz="1400"/>
          </a:p>
          <a:p>
            <a:pPr marL="0" indent="0">
              <a:buNone/>
            </a:pPr>
            <a:r>
              <a:rPr lang="en-US" altLang="en-US" sz="1400">
                <a:sym typeface="+mn-ea"/>
              </a:rPr>
              <a:t>    console.log("Flying");</a:t>
            </a:r>
            <a:endParaRPr lang="en-US" altLang="en-US" sz="1400"/>
          </a:p>
          <a:p>
            <a:pPr marL="0" indent="0">
              <a:buNone/>
            </a:pPr>
            <a:r>
              <a:rPr lang="en-US" altLang="en-US" sz="1400">
                <a:sym typeface="+mn-ea"/>
              </a:rPr>
              <a:t>  }     };</a:t>
            </a:r>
            <a:endParaRPr lang="en-US" altLang="en-US" sz="1400"/>
          </a:p>
          <a:p>
            <a:pPr marL="0" indent="0">
              <a:buNone/>
            </a:pPr>
            <a:r>
              <a:rPr lang="en-US" altLang="en-US" sz="1400">
                <a:sym typeface="+mn-ea"/>
              </a:rPr>
              <a:t>let swim = {</a:t>
            </a:r>
            <a:endParaRPr lang="en-US" altLang="en-US" sz="1400"/>
          </a:p>
          <a:p>
            <a:pPr marL="0" indent="0">
              <a:buNone/>
            </a:pPr>
            <a:r>
              <a:rPr lang="en-US" altLang="en-US" sz="1400">
                <a:sym typeface="+mn-ea"/>
              </a:rPr>
              <a:t>  swim() {</a:t>
            </a:r>
            <a:endParaRPr lang="en-US" altLang="en-US" sz="1400"/>
          </a:p>
          <a:p>
            <a:pPr marL="0" indent="0">
              <a:buNone/>
            </a:pPr>
            <a:r>
              <a:rPr lang="en-US" altLang="en-US" sz="1400">
                <a:sym typeface="+mn-ea"/>
              </a:rPr>
              <a:t>    console.log("Swimming");</a:t>
            </a:r>
            <a:endParaRPr lang="en-US" altLang="en-US" sz="1400"/>
          </a:p>
          <a:p>
            <a:pPr marL="0" indent="0">
              <a:buNone/>
            </a:pPr>
            <a:r>
              <a:rPr lang="en-US" altLang="en-US" sz="1400">
                <a:sym typeface="+mn-ea"/>
              </a:rPr>
              <a:t>  }            };</a:t>
            </a:r>
            <a:endParaRPr lang="en-US" altLang="en-US" sz="1400"/>
          </a:p>
          <a:p>
            <a:pPr marL="0" indent="0">
              <a:buNone/>
            </a:pPr>
            <a:r>
              <a:rPr lang="en-US" altLang="en-US" sz="1400">
                <a:sym typeface="+mn-ea"/>
              </a:rPr>
              <a:t>class Animal {}</a:t>
            </a:r>
            <a:endParaRPr lang="en-US" altLang="en-US" sz="1400"/>
          </a:p>
          <a:p>
            <a:pPr marL="0" indent="0">
              <a:buNone/>
            </a:pPr>
            <a:r>
              <a:rPr lang="en-US" altLang="en-US" sz="1400">
                <a:sym typeface="+mn-ea"/>
              </a:rPr>
              <a:t>Object.assign(Animal.prototype, fly, swim);</a:t>
            </a:r>
            <a:endParaRPr lang="en-US" altLang="en-US" sz="1400"/>
          </a:p>
          <a:p>
            <a:pPr marL="0" indent="0">
              <a:buNone/>
            </a:pPr>
            <a:r>
              <a:rPr lang="en-US" altLang="en-US" sz="1400">
                <a:sym typeface="+mn-ea"/>
              </a:rPr>
              <a:t>let bird = new Animal();</a:t>
            </a:r>
            <a:endParaRPr lang="en-US" altLang="en-US" sz="1400"/>
          </a:p>
          <a:p>
            <a:pPr marL="0" indent="0">
              <a:buNone/>
            </a:pPr>
            <a:r>
              <a:rPr lang="en-US" altLang="en-US" sz="1400">
                <a:sym typeface="+mn-ea"/>
              </a:rPr>
              <a:t>bird.fly();  // Flying</a:t>
            </a:r>
            <a:endParaRPr lang="en-US" altLang="en-US" sz="1400"/>
          </a:p>
          <a:p>
            <a:pPr marL="0" indent="0">
              <a:buNone/>
            </a:pPr>
            <a:r>
              <a:rPr lang="en-US" altLang="en-US" sz="1400">
                <a:sym typeface="+mn-ea"/>
              </a:rPr>
              <a:t>bird.swim(); // Swimming</a:t>
            </a:r>
            <a:endParaRPr lang="en-US" altLang="en-US" sz="1400">
              <a:sym typeface="+mn-ea"/>
            </a:endParaRPr>
          </a:p>
          <a:p>
            <a:pPr marL="0" indent="0">
              <a:buNone/>
            </a:pPr>
            <a:r>
              <a:rPr lang="en-US" altLang="en-US" sz="1400" b="1"/>
              <a:t>6. Static Methods</a:t>
            </a:r>
            <a:endParaRPr lang="en-US" altLang="en-US" sz="1400" b="1"/>
          </a:p>
          <a:p>
            <a:pPr marL="0" indent="0">
              <a:buNone/>
            </a:pPr>
            <a:r>
              <a:rPr lang="en-US" altLang="en-US" sz="1400"/>
              <a:t> Definition:         A static method belongs to the class itself, not the instances.</a:t>
            </a:r>
            <a:endParaRPr lang="en-US" altLang="en-US" sz="1400"/>
          </a:p>
          <a:p>
            <a:pPr marL="0" indent="0">
              <a:buNone/>
            </a:pPr>
            <a:r>
              <a:rPr lang="en-US" altLang="en-US" sz="1400"/>
              <a:t>You call it using the class name.</a:t>
            </a:r>
            <a:endParaRPr lang="en-US" altLang="en-US" sz="1400"/>
          </a:p>
          <a:p>
            <a:pPr marL="0" indent="0">
              <a:buNone/>
            </a:pPr>
            <a:r>
              <a:rPr lang="en-US" altLang="en-US" sz="1400"/>
              <a:t> Example:            class MathUtil {</a:t>
            </a:r>
            <a:endParaRPr lang="en-US" altLang="en-US" sz="1400"/>
          </a:p>
          <a:p>
            <a:pPr marL="0" indent="0">
              <a:buNone/>
            </a:pPr>
            <a:r>
              <a:rPr lang="en-US" altLang="en-US" sz="1400"/>
              <a:t>  static add(a, b) {</a:t>
            </a:r>
            <a:endParaRPr lang="en-US" altLang="en-US" sz="1400"/>
          </a:p>
          <a:p>
            <a:pPr marL="0" indent="0">
              <a:buNone/>
            </a:pPr>
            <a:r>
              <a:rPr lang="en-US" altLang="en-US" sz="1400"/>
              <a:t>    return a + b;</a:t>
            </a:r>
            <a:endParaRPr lang="en-US" altLang="en-US" sz="1400"/>
          </a:p>
          <a:p>
            <a:pPr marL="0" indent="0">
              <a:buNone/>
            </a:pPr>
            <a:r>
              <a:rPr lang="en-US" altLang="en-US" sz="1400"/>
              <a:t>  }          }     console.log(MathUtil.add(5, 3)); // 8</a:t>
            </a:r>
            <a:endParaRPr lang="en-US" altLang="en-US" sz="14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08280" y="100965"/>
            <a:ext cx="11843385" cy="6445885"/>
          </a:xfrm>
        </p:spPr>
        <p:txBody>
          <a:bodyPr>
            <a:noAutofit/>
          </a:bodyPr>
          <a:p>
            <a:pPr marL="0" indent="0">
              <a:buNone/>
            </a:pPr>
            <a:r>
              <a:rPr lang="en-US" altLang="en-US" sz="1800" b="1"/>
              <a:t>7. Non-static Methods (Instance Methods)</a:t>
            </a:r>
            <a:endParaRPr lang="en-US" altLang="en-US" sz="1800" b="1"/>
          </a:p>
          <a:p>
            <a:pPr marL="0" indent="0">
              <a:buNone/>
            </a:pPr>
            <a:r>
              <a:rPr lang="en-US" altLang="en-US" sz="1800"/>
              <a:t> Definition:</a:t>
            </a:r>
            <a:endParaRPr lang="en-US" altLang="en-US" sz="1800"/>
          </a:p>
          <a:p>
            <a:pPr marL="0" indent="0">
              <a:buNone/>
            </a:pPr>
            <a:r>
              <a:rPr lang="en-US" altLang="en-US" sz="1800"/>
              <a:t>A non-static method (instance method) is available on the object created from a class.</a:t>
            </a:r>
            <a:endParaRPr lang="en-US" altLang="en-US" sz="1800"/>
          </a:p>
          <a:p>
            <a:pPr marL="0" indent="0">
              <a:buNone/>
            </a:pPr>
            <a:r>
              <a:rPr lang="en-US" altLang="en-US" sz="1800"/>
              <a:t>It can access object properties using this.</a:t>
            </a:r>
            <a:endParaRPr lang="en-US" altLang="en-US" sz="1800"/>
          </a:p>
          <a:p>
            <a:pPr marL="0" indent="0">
              <a:buNone/>
            </a:pPr>
            <a:r>
              <a:rPr lang="en-US" altLang="en-US" sz="1800"/>
              <a:t>Example:</a:t>
            </a:r>
            <a:endParaRPr lang="en-US" altLang="en-US" sz="1800"/>
          </a:p>
          <a:p>
            <a:pPr marL="0" indent="0">
              <a:buNone/>
            </a:pPr>
            <a:r>
              <a:rPr lang="en-US" altLang="en-US" sz="1800"/>
              <a:t>class User {</a:t>
            </a:r>
            <a:endParaRPr lang="en-US" altLang="en-US" sz="1800"/>
          </a:p>
          <a:p>
            <a:pPr marL="0" indent="0">
              <a:buNone/>
            </a:pPr>
            <a:r>
              <a:rPr lang="en-US" altLang="en-US" sz="1800"/>
              <a:t>  constructor(name) {</a:t>
            </a:r>
            <a:endParaRPr lang="en-US" altLang="en-US" sz="1800"/>
          </a:p>
          <a:p>
            <a:pPr marL="0" indent="0">
              <a:buNone/>
            </a:pPr>
            <a:r>
              <a:rPr lang="en-US" altLang="en-US" sz="1800"/>
              <a:t>    this.name = name;</a:t>
            </a:r>
            <a:endParaRPr lang="en-US" altLang="en-US" sz="1800"/>
          </a:p>
          <a:p>
            <a:pPr marL="0" indent="0">
              <a:buNone/>
            </a:pPr>
            <a:r>
              <a:rPr lang="en-US" altLang="en-US" sz="1800"/>
              <a:t>  }</a:t>
            </a:r>
            <a:endParaRPr lang="en-US" altLang="en-US" sz="1800"/>
          </a:p>
          <a:p>
            <a:pPr marL="0" indent="0">
              <a:buNone/>
            </a:pPr>
            <a:r>
              <a:rPr lang="en-US" altLang="en-US" sz="1800"/>
              <a:t>  sayHello() {</a:t>
            </a:r>
            <a:endParaRPr lang="en-US" altLang="en-US" sz="1800"/>
          </a:p>
          <a:p>
            <a:pPr marL="0" indent="0">
              <a:buNone/>
            </a:pPr>
            <a:r>
              <a:rPr lang="en-US" altLang="en-US" sz="1800"/>
              <a:t>    console.log("Hello, " + this.name);</a:t>
            </a:r>
            <a:endParaRPr lang="en-US" altLang="en-US" sz="1800"/>
          </a:p>
          <a:p>
            <a:pPr marL="0" indent="0">
              <a:buNone/>
            </a:pPr>
            <a:r>
              <a:rPr lang="en-US" altLang="en-US" sz="1800"/>
              <a:t>  }</a:t>
            </a:r>
            <a:endParaRPr lang="en-US" altLang="en-US" sz="1800"/>
          </a:p>
          <a:p>
            <a:pPr marL="0" indent="0">
              <a:buNone/>
            </a:pPr>
            <a:r>
              <a:rPr lang="en-US" altLang="en-US" sz="1800"/>
              <a:t>}</a:t>
            </a:r>
            <a:endParaRPr lang="en-US" altLang="en-US" sz="1800"/>
          </a:p>
          <a:p>
            <a:pPr marL="0" indent="0">
              <a:buNone/>
            </a:pPr>
            <a:r>
              <a:rPr lang="en-US" altLang="en-US" sz="1800"/>
              <a:t>let u1 = new User("Emma");</a:t>
            </a:r>
            <a:endParaRPr lang="en-US" altLang="en-US" sz="1800"/>
          </a:p>
          <a:p>
            <a:pPr marL="0" indent="0">
              <a:buNone/>
            </a:pPr>
            <a:r>
              <a:rPr lang="en-US" altLang="en-US" sz="1800"/>
              <a:t>u1.sayHello(); // Hello, Emma</a:t>
            </a:r>
            <a:endParaRPr lang="en-US" altLang="en-US" sz="18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lnSpcReduction="20000"/>
          </a:bodyPr>
          <a:p>
            <a:r>
              <a:rPr lang="en-US" altLang="en-US"/>
              <a:t>Interface in JavaScript</a:t>
            </a:r>
            <a:endParaRPr lang="en-US" altLang="en-US"/>
          </a:p>
          <a:p>
            <a:r>
              <a:rPr lang="en-US" altLang="en-US"/>
              <a:t>What is an Interface?</a:t>
            </a:r>
            <a:endParaRPr lang="en-US" altLang="en-US"/>
          </a:p>
          <a:p>
            <a:endParaRPr lang="en-US" altLang="en-US"/>
          </a:p>
          <a:p>
            <a:r>
              <a:rPr lang="en-US" altLang="en-US"/>
              <a:t>An interface:</a:t>
            </a:r>
            <a:endParaRPr lang="en-US" altLang="en-US"/>
          </a:p>
          <a:p>
            <a:endParaRPr lang="en-US" altLang="en-US"/>
          </a:p>
          <a:p>
            <a:r>
              <a:rPr lang="en-US" altLang="en-US"/>
              <a:t>Defines what methods a class must have</a:t>
            </a:r>
            <a:endParaRPr lang="en-US" altLang="en-US"/>
          </a:p>
          <a:p>
            <a:endParaRPr lang="en-US" altLang="en-US"/>
          </a:p>
          <a:p>
            <a:r>
              <a:rPr lang="en-US" altLang="en-US"/>
              <a:t>Has no implementation</a:t>
            </a:r>
            <a:endParaRPr lang="en-US" altLang="en-US"/>
          </a:p>
          <a:p>
            <a:endParaRPr lang="en-US" altLang="en-US"/>
          </a:p>
          <a:p>
            <a:r>
              <a:rPr lang="en-US" altLang="en-US"/>
              <a:t>JavaScript achieves this using object structure checking</a:t>
            </a:r>
            <a:endParaRPr lang="en-US"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99060"/>
            <a:ext cx="10515600" cy="415290"/>
          </a:xfrm>
        </p:spPr>
        <p:txBody>
          <a:bodyPr>
            <a:noAutofit/>
          </a:bodyPr>
          <a:p>
            <a:r>
              <a:rPr lang="en-US" altLang="en-US" sz="2800" b="1">
                <a:solidFill>
                  <a:srgbClr val="FF0000"/>
                </a:solidFill>
                <a:sym typeface="+mn-ea"/>
              </a:rPr>
              <a:t>JavaScript Polymorphism (with Classes)</a:t>
            </a:r>
            <a:endParaRPr lang="en-US" altLang="en-US" sz="2800" b="1">
              <a:solidFill>
                <a:srgbClr val="FF0000"/>
              </a:solidFill>
              <a:sym typeface="+mn-ea"/>
            </a:endParaRPr>
          </a:p>
        </p:txBody>
      </p:sp>
      <p:sp>
        <p:nvSpPr>
          <p:cNvPr id="3" name="Content Placeholder 2"/>
          <p:cNvSpPr>
            <a:spLocks noGrp="1"/>
          </p:cNvSpPr>
          <p:nvPr>
            <p:ph idx="1"/>
          </p:nvPr>
        </p:nvSpPr>
        <p:spPr>
          <a:xfrm>
            <a:off x="0" y="514350"/>
            <a:ext cx="11843385" cy="5925820"/>
          </a:xfrm>
        </p:spPr>
        <p:txBody>
          <a:bodyPr>
            <a:noAutofit/>
          </a:bodyPr>
          <a:p>
            <a:pPr marL="0" indent="0">
              <a:buNone/>
            </a:pPr>
            <a:r>
              <a:rPr lang="en-US" altLang="en-US" sz="1600"/>
              <a:t>Polymorphism means "many forms". In JavaScript (especially with classes), it refers to the ability to use a shared method name across different classes, where each class can define its own behavior for that method.</a:t>
            </a:r>
            <a:endParaRPr lang="en-US" altLang="en-US" sz="1600"/>
          </a:p>
          <a:p>
            <a:pPr marL="0" indent="0">
              <a:buNone/>
            </a:pPr>
            <a:r>
              <a:rPr lang="en-US" altLang="en-US" sz="1600"/>
              <a:t>1. Runtime Polymorphism (Method Overriding) — Supported</a:t>
            </a:r>
            <a:endParaRPr lang="en-US" altLang="en-US" sz="1600"/>
          </a:p>
          <a:p>
            <a:pPr marL="0" indent="0">
              <a:buNone/>
            </a:pPr>
            <a:r>
              <a:rPr lang="en-US" altLang="en-US" sz="1600"/>
              <a:t>This is the most common form in JS — a subclass overrides a method from its parent class.</a:t>
            </a:r>
            <a:endParaRPr lang="en-US" altLang="en-US" sz="1600"/>
          </a:p>
          <a:p>
            <a:pPr marL="0" indent="0">
              <a:buNone/>
            </a:pPr>
            <a:r>
              <a:rPr lang="en-US" altLang="en-US" sz="1600"/>
              <a:t>class Animal {</a:t>
            </a:r>
            <a:endParaRPr lang="en-US" altLang="en-US" sz="1600"/>
          </a:p>
          <a:p>
            <a:pPr marL="0" indent="0">
              <a:buNone/>
            </a:pPr>
            <a:r>
              <a:rPr lang="en-US" altLang="en-US" sz="1600"/>
              <a:t>  speak() {</a:t>
            </a:r>
            <a:endParaRPr lang="en-US" altLang="en-US" sz="1600"/>
          </a:p>
          <a:p>
            <a:pPr marL="0" indent="0">
              <a:buNone/>
            </a:pPr>
            <a:r>
              <a:rPr lang="en-US" altLang="en-US" sz="1600"/>
              <a:t>    console.log("Animal makes a sound");</a:t>
            </a:r>
            <a:endParaRPr lang="en-US" altLang="en-US" sz="1600"/>
          </a:p>
          <a:p>
            <a:pPr marL="0" indent="0">
              <a:buNone/>
            </a:pPr>
            <a:r>
              <a:rPr lang="en-US" altLang="en-US" sz="1600"/>
              <a:t>  }</a:t>
            </a:r>
            <a:endParaRPr lang="en-US" altLang="en-US" sz="1600"/>
          </a:p>
          <a:p>
            <a:pPr marL="0" indent="0">
              <a:buNone/>
            </a:pPr>
            <a:r>
              <a:rPr lang="en-US" altLang="en-US" sz="1600"/>
              <a:t>}</a:t>
            </a:r>
            <a:endParaRPr lang="en-US" altLang="en-US" sz="1600"/>
          </a:p>
          <a:p>
            <a:pPr marL="0" indent="0">
              <a:buNone/>
            </a:pPr>
            <a:r>
              <a:rPr lang="en-US" altLang="en-US" sz="1600"/>
              <a:t>class Dog extends Animal {</a:t>
            </a:r>
            <a:endParaRPr lang="en-US" altLang="en-US" sz="1600"/>
          </a:p>
          <a:p>
            <a:pPr marL="0" indent="0">
              <a:buNone/>
            </a:pPr>
            <a:r>
              <a:rPr lang="en-US" altLang="en-US" sz="1600"/>
              <a:t>  speak() {</a:t>
            </a:r>
            <a:endParaRPr lang="en-US" altLang="en-US" sz="1600"/>
          </a:p>
          <a:p>
            <a:pPr marL="0" indent="0">
              <a:buNone/>
            </a:pPr>
            <a:r>
              <a:rPr lang="en-US" altLang="en-US" sz="1600"/>
              <a:t>    console.log("Dog barks");</a:t>
            </a:r>
            <a:endParaRPr lang="en-US" altLang="en-US" sz="1600"/>
          </a:p>
          <a:p>
            <a:pPr marL="0" indent="0">
              <a:buNone/>
            </a:pPr>
            <a:r>
              <a:rPr lang="en-US" altLang="en-US" sz="1600"/>
              <a:t>  }</a:t>
            </a:r>
            <a:endParaRPr lang="en-US" altLang="en-US" sz="1600"/>
          </a:p>
          <a:p>
            <a:pPr marL="0" indent="0">
              <a:buNone/>
            </a:pPr>
            <a:r>
              <a:rPr lang="en-US" altLang="en-US" sz="1600"/>
              <a:t>}</a:t>
            </a:r>
            <a:endParaRPr lang="en-US" altLang="en-US" sz="1600"/>
          </a:p>
          <a:p>
            <a:pPr marL="0" indent="0">
              <a:buNone/>
            </a:pPr>
            <a:r>
              <a:rPr lang="en-US" altLang="en-US" sz="1600"/>
              <a:t>class Cat extends Animal {</a:t>
            </a:r>
            <a:endParaRPr lang="en-US" altLang="en-US" sz="1600"/>
          </a:p>
          <a:p>
            <a:pPr marL="0" indent="0">
              <a:buNone/>
            </a:pPr>
            <a:r>
              <a:rPr lang="en-US" altLang="en-US" sz="1600"/>
              <a:t>  speak() {</a:t>
            </a:r>
            <a:endParaRPr lang="en-US" altLang="en-US" sz="1600"/>
          </a:p>
          <a:p>
            <a:pPr marL="0" indent="0">
              <a:buNone/>
            </a:pPr>
            <a:r>
              <a:rPr lang="en-US" altLang="en-US" sz="1600"/>
              <a:t>    console.log("Cat meows");</a:t>
            </a:r>
            <a:endParaRPr lang="en-US" altLang="en-US" sz="1600"/>
          </a:p>
          <a:p>
            <a:pPr marL="0" indent="0">
              <a:buNone/>
            </a:pPr>
            <a:r>
              <a:rPr lang="en-US" altLang="en-US" sz="1600"/>
              <a:t>  }</a:t>
            </a:r>
            <a:endParaRPr lang="en-US" altLang="en-US" sz="1600"/>
          </a:p>
          <a:p>
            <a:pPr marL="0" indent="0">
              <a:buNone/>
            </a:pPr>
            <a:r>
              <a:rPr lang="en-US" altLang="en-US" sz="1600"/>
              <a:t>}const animals = [new Dog(), new Cat()];</a:t>
            </a:r>
            <a:endParaRPr lang="en-US" altLang="en-US" sz="1600"/>
          </a:p>
          <a:p>
            <a:pPr marL="0" indent="0">
              <a:buNone/>
            </a:pPr>
            <a:r>
              <a:rPr lang="en-US" altLang="en-US" sz="1600"/>
              <a:t>animals.forEach(a =&gt; a.speak());</a:t>
            </a:r>
            <a:endParaRPr lang="en-US" altLang="en-US" sz="1600"/>
          </a:p>
          <a:p>
            <a:pPr marL="0" indent="0">
              <a:buNone/>
            </a:pPr>
            <a:endParaRPr lang="en-US" altLang="en-US" sz="16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73355"/>
            <a:ext cx="10515600" cy="806450"/>
          </a:xfrm>
        </p:spPr>
        <p:txBody>
          <a:bodyPr/>
          <a:p>
            <a:r>
              <a:rPr lang="en-US" altLang="en-US" sz="2400" b="1">
                <a:solidFill>
                  <a:srgbClr val="FF0000"/>
                </a:solidFill>
                <a:sym typeface="+mn-ea"/>
              </a:rPr>
              <a:t>2. Compile-time Polymorphism (Method Overloading) — Not Natively Supported</a:t>
            </a:r>
            <a:endParaRPr lang="en-US" altLang="en-US" sz="2400" b="1">
              <a:solidFill>
                <a:srgbClr val="FF0000"/>
              </a:solidFill>
              <a:sym typeface="+mn-ea"/>
            </a:endParaRPr>
          </a:p>
        </p:txBody>
      </p:sp>
      <p:sp>
        <p:nvSpPr>
          <p:cNvPr id="3" name="Content Placeholder 2"/>
          <p:cNvSpPr>
            <a:spLocks noGrp="1"/>
          </p:cNvSpPr>
          <p:nvPr>
            <p:ph idx="1"/>
          </p:nvPr>
        </p:nvSpPr>
        <p:spPr>
          <a:xfrm>
            <a:off x="180975" y="979805"/>
            <a:ext cx="10515600" cy="5610225"/>
          </a:xfrm>
        </p:spPr>
        <p:txBody>
          <a:bodyPr>
            <a:noAutofit/>
          </a:bodyPr>
          <a:p>
            <a:pPr marL="0" indent="0">
              <a:buNone/>
            </a:pPr>
            <a:r>
              <a:rPr lang="en-US" altLang="en-US" sz="1800"/>
              <a:t>JavaScript does not support method overloading (i.e., multiple methods with the same name but different parameters).</a:t>
            </a:r>
            <a:endParaRPr lang="en-US" altLang="en-US" sz="1800"/>
          </a:p>
          <a:p>
            <a:pPr marL="0" indent="0">
              <a:buNone/>
            </a:pPr>
            <a:r>
              <a:rPr lang="en-US" altLang="en-US" sz="1800"/>
              <a:t>class MathUtils {</a:t>
            </a:r>
            <a:endParaRPr lang="en-US" altLang="en-US" sz="1800"/>
          </a:p>
          <a:p>
            <a:pPr marL="0" indent="0">
              <a:buNone/>
            </a:pPr>
            <a:r>
              <a:rPr lang="en-US" altLang="en-US" sz="1800"/>
              <a:t>  add(a, b) {</a:t>
            </a:r>
            <a:endParaRPr lang="en-US" altLang="en-US" sz="1800"/>
          </a:p>
          <a:p>
            <a:pPr marL="0" indent="0">
              <a:buNone/>
            </a:pPr>
            <a:r>
              <a:rPr lang="en-US" altLang="en-US" sz="1800"/>
              <a:t>    return a + b;</a:t>
            </a:r>
            <a:endParaRPr lang="en-US" altLang="en-US" sz="1800"/>
          </a:p>
          <a:p>
            <a:pPr marL="0" indent="0">
              <a:buNone/>
            </a:pPr>
            <a:r>
              <a:rPr lang="en-US" altLang="en-US" sz="1800"/>
              <a:t>  }</a:t>
            </a:r>
            <a:endParaRPr lang="en-US" altLang="en-US" sz="1800"/>
          </a:p>
          <a:p>
            <a:pPr marL="0" indent="0">
              <a:buNone/>
            </a:pPr>
            <a:r>
              <a:rPr lang="en-US" altLang="en-US" sz="1800"/>
              <a:t>  // This replaces the previous `add` method</a:t>
            </a:r>
            <a:endParaRPr lang="en-US" altLang="en-US" sz="1800"/>
          </a:p>
          <a:p>
            <a:pPr marL="0" indent="0">
              <a:buNone/>
            </a:pPr>
            <a:r>
              <a:rPr lang="en-US" altLang="en-US" sz="1800"/>
              <a:t>  add(a, b, c) {</a:t>
            </a:r>
            <a:endParaRPr lang="en-US" altLang="en-US" sz="1800"/>
          </a:p>
          <a:p>
            <a:pPr marL="0" indent="0">
              <a:buNone/>
            </a:pPr>
            <a:r>
              <a:rPr lang="en-US" altLang="en-US" sz="1800"/>
              <a:t>    return a + b + c;</a:t>
            </a:r>
            <a:endParaRPr lang="en-US" altLang="en-US" sz="1800"/>
          </a:p>
          <a:p>
            <a:pPr marL="0" indent="0">
              <a:buNone/>
            </a:pPr>
            <a:r>
              <a:rPr lang="en-US" altLang="en-US" sz="1800"/>
              <a:t>  }</a:t>
            </a:r>
            <a:endParaRPr lang="en-US" altLang="en-US" sz="1800"/>
          </a:p>
          <a:p>
            <a:pPr marL="0" indent="0">
              <a:buNone/>
            </a:pPr>
            <a:r>
              <a:rPr lang="en-US" altLang="en-US" sz="1800"/>
              <a:t>}</a:t>
            </a:r>
            <a:endParaRPr lang="en-US" altLang="en-US" sz="1800"/>
          </a:p>
          <a:p>
            <a:pPr marL="0" indent="0">
              <a:buNone/>
            </a:pPr>
            <a:r>
              <a:rPr lang="en-US" altLang="en-US" sz="1800"/>
              <a:t>const m = new MathUtils();</a:t>
            </a:r>
            <a:endParaRPr lang="en-US" altLang="en-US" sz="1800"/>
          </a:p>
          <a:p>
            <a:pPr marL="0" indent="0">
              <a:buNone/>
            </a:pPr>
            <a:r>
              <a:rPr lang="en-US" altLang="en-US" sz="1800"/>
              <a:t>console.log(m.add(1, 2)); // NaN</a:t>
            </a:r>
            <a:endParaRPr lang="en-US" altLang="en-US" sz="1800"/>
          </a:p>
          <a:p>
            <a:pPr marL="0" indent="0">
              <a:buNone/>
            </a:pPr>
            <a:endParaRPr lang="en-US" altLang="en-US" sz="18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35"/>
            <a:ext cx="10515600" cy="419735"/>
          </a:xfrm>
        </p:spPr>
        <p:txBody>
          <a:bodyPr>
            <a:normAutofit fontScale="90000"/>
          </a:bodyPr>
          <a:p>
            <a:pPr algn="ctr"/>
            <a:r>
              <a:rPr lang="en-US" altLang="en-US" sz="3200" b="1">
                <a:solidFill>
                  <a:srgbClr val="FF0000"/>
                </a:solidFill>
                <a:sym typeface="+mn-ea"/>
              </a:rPr>
              <a:t>async and await in JavaScript</a:t>
            </a:r>
            <a:endParaRPr lang="en-US" altLang="en-US" sz="3200" b="1">
              <a:solidFill>
                <a:srgbClr val="FF0000"/>
              </a:solidFill>
              <a:sym typeface="+mn-ea"/>
            </a:endParaRPr>
          </a:p>
        </p:txBody>
      </p:sp>
      <p:sp>
        <p:nvSpPr>
          <p:cNvPr id="3" name="Content Placeholder 2"/>
          <p:cNvSpPr>
            <a:spLocks noGrp="1"/>
          </p:cNvSpPr>
          <p:nvPr>
            <p:ph idx="1"/>
          </p:nvPr>
        </p:nvSpPr>
        <p:spPr>
          <a:xfrm>
            <a:off x="86360" y="419100"/>
            <a:ext cx="12020550" cy="6336030"/>
          </a:xfrm>
        </p:spPr>
        <p:txBody>
          <a:bodyPr>
            <a:noAutofit/>
          </a:bodyPr>
          <a:p>
            <a:pPr marL="0" indent="0">
              <a:buNone/>
            </a:pPr>
            <a:r>
              <a:rPr lang="en-US" altLang="en-US" sz="1600"/>
              <a:t>async and await are used to handle asynchronous operations in a more readable and cleaner way, compared to traditional .then() and .catch() with Promises.</a:t>
            </a:r>
            <a:endParaRPr lang="en-US" altLang="en-US" sz="1600"/>
          </a:p>
          <a:p>
            <a:pPr marL="0" indent="0">
              <a:buNone/>
            </a:pPr>
            <a:r>
              <a:rPr lang="en-US" altLang="en-US" sz="1600" b="1"/>
              <a:t> 1. What is async?</a:t>
            </a:r>
            <a:endParaRPr lang="en-US" altLang="en-US" sz="1600"/>
          </a:p>
          <a:p>
            <a:pPr marL="0" indent="0">
              <a:buNone/>
            </a:pPr>
            <a:r>
              <a:rPr lang="en-US" altLang="en-US" sz="1600"/>
              <a:t>The async keyword is used to declare an asynchronous function.</a:t>
            </a:r>
            <a:endParaRPr lang="en-US" altLang="en-US" sz="1600"/>
          </a:p>
          <a:p>
            <a:pPr marL="0" indent="0">
              <a:buNone/>
            </a:pPr>
            <a:r>
              <a:rPr lang="en-US" altLang="en-US" sz="1600"/>
              <a:t>It always returns a Promise (implicitly).</a:t>
            </a:r>
            <a:endParaRPr lang="en-US" altLang="en-US" sz="1600"/>
          </a:p>
          <a:p>
            <a:pPr marL="0" indent="0">
              <a:buNone/>
            </a:pPr>
            <a:r>
              <a:rPr lang="en-US" altLang="en-US" sz="1600"/>
              <a:t>If the function returns a value, it’s wrapped in a Promise.</a:t>
            </a:r>
            <a:endParaRPr lang="en-US" altLang="en-US" sz="1600"/>
          </a:p>
          <a:p>
            <a:pPr marL="0" indent="0">
              <a:buNone/>
            </a:pPr>
            <a:r>
              <a:rPr lang="en-US" altLang="en-US" sz="1600"/>
              <a:t>async function greet() {</a:t>
            </a:r>
            <a:endParaRPr lang="en-US" altLang="en-US" sz="1600"/>
          </a:p>
          <a:p>
            <a:pPr marL="0" indent="0">
              <a:buNone/>
            </a:pPr>
            <a:r>
              <a:rPr lang="en-US" altLang="en-US" sz="1600"/>
              <a:t>  return "Hello";</a:t>
            </a:r>
            <a:endParaRPr lang="en-US" altLang="en-US" sz="1600"/>
          </a:p>
          <a:p>
            <a:pPr marL="0" indent="0">
              <a:buNone/>
            </a:pPr>
            <a:r>
              <a:rPr lang="en-US" altLang="en-US" sz="1600"/>
              <a:t>}  greet().then(msg =&gt; console.log(msg));  // Output: Hello</a:t>
            </a:r>
            <a:endParaRPr lang="en-US" altLang="en-US" sz="1600"/>
          </a:p>
          <a:p>
            <a:pPr marL="0" indent="0">
              <a:buNone/>
            </a:pPr>
            <a:endParaRPr lang="en-US" altLang="en-US" sz="1600"/>
          </a:p>
          <a:p>
            <a:pPr marL="0" indent="0">
              <a:buNone/>
            </a:pPr>
            <a:r>
              <a:rPr lang="en-US" altLang="en-US" sz="1600" b="1"/>
              <a:t> 2. What is await?</a:t>
            </a:r>
            <a:endParaRPr lang="en-US" altLang="en-US" sz="1600"/>
          </a:p>
          <a:p>
            <a:pPr marL="0" indent="0">
              <a:buNone/>
            </a:pPr>
            <a:r>
              <a:rPr lang="en-US" altLang="en-US" sz="1600"/>
              <a:t>The await keyword is used inside async functions.</a:t>
            </a:r>
            <a:endParaRPr lang="en-US" altLang="en-US" sz="1600"/>
          </a:p>
          <a:p>
            <a:pPr marL="0" indent="0">
              <a:buNone/>
            </a:pPr>
            <a:r>
              <a:rPr lang="en-US" altLang="en-US" sz="1600"/>
              <a:t>It waits for a Promise to resolve before moving to the next line.</a:t>
            </a:r>
            <a:endParaRPr lang="en-US" altLang="en-US" sz="1600"/>
          </a:p>
          <a:p>
            <a:pPr marL="0" indent="0">
              <a:buNone/>
            </a:pPr>
            <a:r>
              <a:rPr lang="en-US" altLang="en-US" sz="1600"/>
              <a:t>Makes asynchronous code look like synchronous code.</a:t>
            </a:r>
            <a:endParaRPr lang="en-US" altLang="en-US" sz="1600"/>
          </a:p>
          <a:p>
            <a:pPr marL="0" indent="0">
              <a:buNone/>
            </a:pPr>
            <a:r>
              <a:rPr lang="en-US" altLang="en-US" sz="1600"/>
              <a:t>async function getData() {</a:t>
            </a:r>
            <a:endParaRPr lang="en-US" altLang="en-US" sz="1600"/>
          </a:p>
          <a:p>
            <a:pPr marL="0" indent="0">
              <a:buNone/>
            </a:pPr>
            <a:r>
              <a:rPr lang="en-US" altLang="en-US" sz="1600"/>
              <a:t>  let response = await fetch("https://api.example.com/data");</a:t>
            </a:r>
            <a:endParaRPr lang="en-US" altLang="en-US" sz="1600"/>
          </a:p>
          <a:p>
            <a:pPr marL="0" indent="0">
              <a:buNone/>
            </a:pPr>
            <a:r>
              <a:rPr lang="en-US" altLang="en-US" sz="1600"/>
              <a:t>  let data = await response.json(); </a:t>
            </a:r>
            <a:endParaRPr lang="en-US" altLang="en-US" sz="1600"/>
          </a:p>
          <a:p>
            <a:pPr marL="0" indent="0">
              <a:buNone/>
            </a:pPr>
            <a:r>
              <a:rPr lang="en-US" altLang="en-US" sz="1600"/>
              <a:t>  console.log(data); // logs after both await calls finish</a:t>
            </a:r>
            <a:endParaRPr lang="en-US" altLang="en-US" sz="1600"/>
          </a:p>
          <a:p>
            <a:pPr marL="0" indent="0">
              <a:buNone/>
            </a:pPr>
            <a:r>
              <a:rPr lang="en-US" altLang="en-US" sz="1600"/>
              <a:t>}</a:t>
            </a:r>
            <a:endParaRPr lang="en-US" altLang="en-US" sz="1600"/>
          </a:p>
        </p:txBody>
      </p:sp>
      <p:sp>
        <p:nvSpPr>
          <p:cNvPr id="4" name="Text Box 3"/>
          <p:cNvSpPr txBox="1"/>
          <p:nvPr/>
        </p:nvSpPr>
        <p:spPr>
          <a:xfrm>
            <a:off x="5541010" y="754380"/>
            <a:ext cx="6565900" cy="1476375"/>
          </a:xfrm>
          <a:prstGeom prst="rect">
            <a:avLst/>
          </a:prstGeom>
        </p:spPr>
        <p:txBody>
          <a:bodyPr wrap="square">
            <a:spAutoFit/>
          </a:bodyPr>
          <a:p>
            <a:r>
              <a:rPr b="1">
                <a:sym typeface="+mn-ea"/>
              </a:rPr>
              <a:t>Asynchronous operations </a:t>
            </a:r>
            <a:endParaRPr b="1">
              <a:sym typeface="+mn-ea"/>
            </a:endParaRPr>
          </a:p>
          <a:p>
            <a:r>
              <a:t>Asynchronous operations are operations that start a task and allow the program to continue executing other code without waiting for that task to finish, handling the result later when it becomes available.</a:t>
            </a:r>
          </a:p>
        </p:txBody>
      </p:sp>
      <p:sp>
        <p:nvSpPr>
          <p:cNvPr id="5" name="Text Box 4"/>
          <p:cNvSpPr txBox="1"/>
          <p:nvPr/>
        </p:nvSpPr>
        <p:spPr>
          <a:xfrm>
            <a:off x="5321935" y="2230755"/>
            <a:ext cx="6504305" cy="1753235"/>
          </a:xfrm>
          <a:prstGeom prst="rect">
            <a:avLst/>
          </a:prstGeom>
        </p:spPr>
        <p:txBody>
          <a:bodyPr wrap="square">
            <a:spAutoFit/>
          </a:bodyPr>
          <a:p>
            <a:pPr algn="l"/>
            <a:r>
              <a:t>Async operations occur when:</a:t>
            </a:r>
          </a:p>
          <a:p>
            <a:pPr algn="l">
              <a:buFont typeface="Arial" panose="020B0604020202020204"/>
              <a:buChar char="•"/>
            </a:pPr>
            <a:r>
              <a:t>The task is handled by Web APIs or the Node.js runtime</a:t>
            </a:r>
          </a:p>
          <a:p>
            <a:pPr algn="l">
              <a:buFont typeface="Arial" panose="020B0604020202020204"/>
              <a:buChar char="•"/>
            </a:pPr>
            <a:r>
              <a:t>The result is delivered later via:</a:t>
            </a:r>
          </a:p>
          <a:p>
            <a:pPr indent="0" algn="l">
              <a:buNone/>
            </a:pPr>
            <a:r>
              <a:t>callbacks</a:t>
            </a:r>
          </a:p>
          <a:p>
            <a:pPr indent="0" algn="l">
              <a:buNone/>
            </a:pPr>
            <a:r>
              <a:t>promises</a:t>
            </a:r>
          </a:p>
          <a:p>
            <a:pPr indent="0" algn="l">
              <a:buNone/>
            </a:pPr>
            <a:r>
              <a:t>async/await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35"/>
            <a:ext cx="10515600" cy="241300"/>
          </a:xfrm>
        </p:spPr>
        <p:txBody>
          <a:bodyPr>
            <a:normAutofit fontScale="90000"/>
          </a:bodyPr>
          <a:p>
            <a:pPr algn="ctr"/>
            <a:r>
              <a:rPr lang="en-US" sz="2800" b="1">
                <a:solidFill>
                  <a:srgbClr val="FF0000"/>
                </a:solidFill>
              </a:rPr>
              <a:t>Example of async and await function</a:t>
            </a:r>
            <a:endParaRPr lang="en-US" sz="2800" b="1">
              <a:solidFill>
                <a:srgbClr val="FF0000"/>
              </a:solidFill>
            </a:endParaRPr>
          </a:p>
        </p:txBody>
      </p:sp>
      <p:sp>
        <p:nvSpPr>
          <p:cNvPr id="3" name="Content Placeholder 2"/>
          <p:cNvSpPr>
            <a:spLocks noGrp="1"/>
          </p:cNvSpPr>
          <p:nvPr>
            <p:ph idx="1"/>
          </p:nvPr>
        </p:nvSpPr>
        <p:spPr>
          <a:xfrm>
            <a:off x="-635" y="241935"/>
            <a:ext cx="12080240" cy="6485890"/>
          </a:xfrm>
        </p:spPr>
        <p:txBody>
          <a:bodyPr>
            <a:noAutofit/>
          </a:bodyPr>
          <a:p>
            <a:pPr marL="0" indent="0">
              <a:buNone/>
            </a:pPr>
            <a:r>
              <a:rPr lang="en-US" altLang="en-US" sz="1800"/>
              <a:t>    function delay(ms) {</a:t>
            </a:r>
            <a:endParaRPr lang="en-US" altLang="en-US" sz="1800"/>
          </a:p>
          <a:p>
            <a:pPr marL="0" indent="0">
              <a:buNone/>
            </a:pPr>
            <a:r>
              <a:rPr lang="en-US" altLang="en-US" sz="1800"/>
              <a:t>  return new Promise(resolve =&gt; setTimeout(resolve, ms));</a:t>
            </a:r>
            <a:endParaRPr lang="en-US" altLang="en-US" sz="1800"/>
          </a:p>
          <a:p>
            <a:pPr marL="0" indent="0">
              <a:buNone/>
            </a:pPr>
            <a:r>
              <a:rPr lang="en-US" altLang="en-US" sz="1800"/>
              <a:t>}</a:t>
            </a:r>
            <a:endParaRPr lang="en-US" altLang="en-US" sz="1800"/>
          </a:p>
          <a:p>
            <a:pPr marL="0" indent="0">
              <a:buNone/>
            </a:pPr>
            <a:r>
              <a:rPr lang="en-US" altLang="en-US" sz="1800"/>
              <a:t>async function myAsyncFunction() {</a:t>
            </a:r>
            <a:endParaRPr lang="en-US" altLang="en-US" sz="1800"/>
          </a:p>
          <a:p>
            <a:pPr marL="0" indent="0">
              <a:buNone/>
            </a:pPr>
            <a:r>
              <a:rPr lang="en-US" altLang="en-US" sz="1800"/>
              <a:t>  console.log("Start");</a:t>
            </a:r>
            <a:endParaRPr lang="en-US" altLang="en-US" sz="1800"/>
          </a:p>
          <a:p>
            <a:pPr marL="0" indent="0">
              <a:buNone/>
            </a:pPr>
            <a:r>
              <a:rPr lang="en-US" altLang="en-US" sz="1800"/>
              <a:t>  await delay(2000);  // Wait for 2 seconds</a:t>
            </a:r>
            <a:endParaRPr lang="en-US" altLang="en-US" sz="1800"/>
          </a:p>
          <a:p>
            <a:pPr marL="0" indent="0">
              <a:buNone/>
            </a:pPr>
            <a:r>
              <a:rPr lang="en-US" altLang="en-US" sz="1800"/>
              <a:t>  console.log("2 seconds later...");</a:t>
            </a:r>
            <a:endParaRPr lang="en-US" altLang="en-US" sz="1800"/>
          </a:p>
          <a:p>
            <a:pPr marL="0" indent="0">
              <a:buNone/>
            </a:pPr>
            <a:r>
              <a:rPr lang="en-US" altLang="en-US" sz="1800"/>
              <a:t>}</a:t>
            </a:r>
            <a:endParaRPr lang="en-US" altLang="en-US" sz="1800"/>
          </a:p>
          <a:p>
            <a:pPr marL="0" indent="0">
              <a:buNone/>
            </a:pPr>
            <a:r>
              <a:rPr lang="en-US" altLang="en-US" sz="1800"/>
              <a:t>myAsyncFunction();</a:t>
            </a:r>
            <a:endParaRPr lang="en-US" altLang="en-US" sz="1800"/>
          </a:p>
          <a:p>
            <a:pPr marL="0" indent="0">
              <a:buNone/>
            </a:pPr>
            <a:r>
              <a:rPr lang="en-US" altLang="en-US" sz="1800"/>
              <a:t>async function fetchUser() {</a:t>
            </a:r>
            <a:endParaRPr lang="en-US" altLang="en-US" sz="1800"/>
          </a:p>
          <a:p>
            <a:pPr marL="0" indent="0">
              <a:buNone/>
            </a:pPr>
            <a:r>
              <a:rPr lang="en-US" altLang="en-US" sz="1800"/>
              <a:t>  try {</a:t>
            </a:r>
            <a:endParaRPr lang="en-US" altLang="en-US" sz="1800"/>
          </a:p>
          <a:p>
            <a:pPr marL="0" indent="0">
              <a:buNone/>
            </a:pPr>
            <a:r>
              <a:rPr lang="en-US" altLang="en-US" sz="1800"/>
              <a:t>    console.log("Fetching data...");</a:t>
            </a:r>
            <a:endParaRPr lang="en-US" altLang="en-US" sz="1800"/>
          </a:p>
          <a:p>
            <a:pPr marL="0" indent="0">
              <a:buNone/>
            </a:pPr>
            <a:r>
              <a:rPr lang="en-US" altLang="en-US" sz="1800"/>
              <a:t>    const response = await fetch("https://jsonplaceholder.typicode.com/users/1");</a:t>
            </a:r>
            <a:endParaRPr lang="en-US" altLang="en-US" sz="1800"/>
          </a:p>
          <a:p>
            <a:pPr marL="0" indent="0">
              <a:buNone/>
            </a:pPr>
            <a:r>
              <a:rPr lang="en-US" altLang="en-US" sz="1800"/>
              <a:t>    const data = await response.json();    console.log("User Name:", data.name);</a:t>
            </a:r>
            <a:endParaRPr lang="en-US" altLang="en-US" sz="1800"/>
          </a:p>
          <a:p>
            <a:pPr marL="0" indent="0">
              <a:buNone/>
            </a:pPr>
            <a:r>
              <a:rPr lang="en-US" altLang="en-US" sz="1800"/>
              <a:t>    console.log("Email:", data.email);  } catch (error) {</a:t>
            </a:r>
            <a:endParaRPr lang="en-US" altLang="en-US" sz="1800"/>
          </a:p>
          <a:p>
            <a:pPr marL="0" indent="0">
              <a:buNone/>
            </a:pPr>
            <a:r>
              <a:rPr lang="en-US" altLang="en-US" sz="1800"/>
              <a:t>    console.error("Error fetching data:", error);</a:t>
            </a:r>
            <a:endParaRPr lang="en-US" altLang="en-US" sz="1800"/>
          </a:p>
          <a:p>
            <a:pPr marL="0" indent="0">
              <a:buNone/>
            </a:pPr>
            <a:r>
              <a:rPr lang="en-US" altLang="en-US" sz="1800"/>
              <a:t>  }}fetchUser();</a:t>
            </a:r>
            <a:endParaRPr lang="en-US" altLang="en-US" sz="1800"/>
          </a:p>
          <a:p>
            <a:pPr marL="0" indent="0">
              <a:buNone/>
            </a:pPr>
            <a:endParaRPr lang="en-US" altLang="en-US" sz="1800"/>
          </a:p>
        </p:txBody>
      </p:sp>
      <p:sp>
        <p:nvSpPr>
          <p:cNvPr id="4" name="Text Box 3"/>
          <p:cNvSpPr txBox="1"/>
          <p:nvPr/>
        </p:nvSpPr>
        <p:spPr>
          <a:xfrm>
            <a:off x="5239385" y="1524000"/>
            <a:ext cx="6839585" cy="1014730"/>
          </a:xfrm>
          <a:prstGeom prst="rect">
            <a:avLst/>
          </a:prstGeom>
        </p:spPr>
        <p:txBody>
          <a:bodyPr wrap="square">
            <a:spAutoFit/>
          </a:bodyPr>
          <a:p>
            <a:pPr>
              <a:buFont typeface="Arial" panose="020B0604020202020204"/>
              <a:buChar char="•"/>
            </a:pPr>
            <a:r>
              <a:rPr sz="2000"/>
              <a:t>fetch() returns a Promise → we await it.</a:t>
            </a:r>
            <a:endParaRPr sz="2000"/>
          </a:p>
          <a:p>
            <a:pPr>
              <a:buFont typeface="Arial" panose="020B0604020202020204"/>
              <a:buChar char="•"/>
            </a:pPr>
            <a:r>
              <a:rPr sz="2000"/>
              <a:t>Then we await response.json() to get parsed data.</a:t>
            </a:r>
            <a:endParaRPr sz="2000"/>
          </a:p>
          <a:p>
            <a:pPr>
              <a:buFont typeface="Arial" panose="020B0604020202020204"/>
              <a:buChar char="•"/>
            </a:pPr>
            <a:r>
              <a:rPr sz="2000"/>
              <a:t>If anything goes wrong, the try...catch block handles the error.</a:t>
            </a:r>
            <a:endParaRPr sz="2000"/>
          </a:p>
        </p:txBody>
      </p:sp>
      <p:sp>
        <p:nvSpPr>
          <p:cNvPr id="5" name="Text Box 4"/>
          <p:cNvSpPr txBox="1"/>
          <p:nvPr/>
        </p:nvSpPr>
        <p:spPr>
          <a:xfrm>
            <a:off x="5718810" y="509270"/>
            <a:ext cx="6360795" cy="1014730"/>
          </a:xfrm>
          <a:prstGeom prst="rect">
            <a:avLst/>
          </a:prstGeom>
        </p:spPr>
        <p:txBody>
          <a:bodyPr wrap="square">
            <a:spAutoFit/>
          </a:bodyPr>
          <a:p>
            <a:pPr>
              <a:buFont typeface="Arial" panose="020B0604020202020204"/>
              <a:buChar char="•"/>
            </a:pPr>
            <a:r>
              <a:rPr sz="2000"/>
              <a:t>async makes a function return a Promise.</a:t>
            </a:r>
            <a:endParaRPr sz="2000"/>
          </a:p>
          <a:p>
            <a:pPr>
              <a:buFont typeface="Arial" panose="020B0604020202020204"/>
              <a:buChar char="•"/>
            </a:pPr>
            <a:r>
              <a:rPr sz="2000"/>
              <a:t>await makes JavaScript wait until the Promise is resolved or rejected.</a:t>
            </a:r>
            <a:endParaRPr sz="2000"/>
          </a:p>
        </p:txBody>
      </p:sp>
      <p:sp>
        <p:nvSpPr>
          <p:cNvPr id="6" name="Text Box 5"/>
          <p:cNvSpPr txBox="1"/>
          <p:nvPr/>
        </p:nvSpPr>
        <p:spPr>
          <a:xfrm>
            <a:off x="7600950" y="2538095"/>
            <a:ext cx="4591050" cy="2568575"/>
          </a:xfrm>
          <a:prstGeom prst="rect">
            <a:avLst/>
          </a:prstGeom>
        </p:spPr>
        <p:txBody>
          <a:bodyPr wrap="square">
            <a:noAutofit/>
          </a:bodyPr>
          <a:p>
            <a:pPr>
              <a:spcAft>
                <a:spcPct val="60000"/>
              </a:spcAft>
            </a:pPr>
            <a:r>
              <a:rPr b="1"/>
              <a:t>What await does here:</a:t>
            </a:r>
            <a:endParaRPr b="1"/>
          </a:p>
          <a:p>
            <a:pPr>
              <a:spcAft>
                <a:spcPct val="60000"/>
              </a:spcAft>
            </a:pPr>
            <a:r>
              <a:t>Waits for fetch() to finish</a:t>
            </a:r>
          </a:p>
          <a:p>
            <a:pPr>
              <a:buAutoNum type="arabicPeriod"/>
            </a:pPr>
            <a:r>
              <a:t>Ensures the HTTP request completes before moving on</a:t>
            </a:r>
          </a:p>
          <a:p>
            <a:pPr>
              <a:buAutoNum type="arabicPeriod"/>
            </a:pPr>
            <a:r>
              <a:t>Waits for JSON conversion</a:t>
            </a:r>
          </a:p>
          <a:p>
            <a:pPr>
              <a:buAutoNum type="arabicPeriod"/>
            </a:pPr>
            <a:r>
              <a:t>Ensures the response body is fully parsed before using it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35"/>
            <a:ext cx="10515600" cy="309245"/>
          </a:xfrm>
        </p:spPr>
        <p:txBody>
          <a:bodyPr>
            <a:normAutofit fontScale="90000"/>
          </a:bodyPr>
          <a:p>
            <a:pPr algn="ctr"/>
            <a:r>
              <a:rPr lang="en-US" sz="2800" b="1">
                <a:solidFill>
                  <a:srgbClr val="FF0000"/>
                </a:solidFill>
              </a:rPr>
              <a:t>what is js Promises</a:t>
            </a:r>
            <a:endParaRPr lang="en-US" sz="2800" b="1">
              <a:solidFill>
                <a:srgbClr val="FF0000"/>
              </a:solidFill>
            </a:endParaRPr>
          </a:p>
        </p:txBody>
      </p:sp>
      <p:sp>
        <p:nvSpPr>
          <p:cNvPr id="3" name="Content Placeholder 2"/>
          <p:cNvSpPr>
            <a:spLocks noGrp="1"/>
          </p:cNvSpPr>
          <p:nvPr>
            <p:ph idx="1"/>
          </p:nvPr>
        </p:nvSpPr>
        <p:spPr>
          <a:xfrm>
            <a:off x="-635" y="309880"/>
            <a:ext cx="12192635" cy="6547485"/>
          </a:xfrm>
        </p:spPr>
        <p:txBody>
          <a:bodyPr>
            <a:noAutofit/>
          </a:bodyPr>
          <a:p>
            <a:pPr marL="0" indent="0">
              <a:buNone/>
            </a:pPr>
            <a:r>
              <a:rPr lang="en-US" altLang="en-US" sz="1800"/>
              <a:t>In JavaScript, a Promise is an object that represents the eventual completion (or failure) of an asynchronous operation and its resulting value.</a:t>
            </a:r>
            <a:endParaRPr lang="en-US" altLang="en-US" sz="1800"/>
          </a:p>
          <a:p>
            <a:pPr marL="0" indent="0">
              <a:buNone/>
            </a:pPr>
            <a:endParaRPr lang="en-US" altLang="en-US" sz="1800"/>
          </a:p>
          <a:p>
            <a:pPr marL="0" indent="0">
              <a:buNone/>
            </a:pPr>
            <a:endParaRPr lang="en-US" altLang="en-US" sz="1800"/>
          </a:p>
          <a:p>
            <a:pPr marL="0" indent="0">
              <a:buNone/>
            </a:pPr>
            <a:endParaRPr lang="en-US" altLang="en-US" sz="1800"/>
          </a:p>
          <a:p>
            <a:pPr marL="0" indent="0">
              <a:buNone/>
            </a:pPr>
            <a:endParaRPr lang="en-US" altLang="en-US" sz="1800"/>
          </a:p>
          <a:p>
            <a:pPr marL="0" indent="0">
              <a:buNone/>
            </a:pPr>
            <a:endParaRPr lang="en-US" altLang="en-US" sz="1800"/>
          </a:p>
          <a:p>
            <a:pPr marL="0" indent="0">
              <a:buNone/>
            </a:pPr>
            <a:endParaRPr lang="en-US" altLang="en-US" sz="1800"/>
          </a:p>
          <a:p>
            <a:pPr marL="0" indent="0">
              <a:buNone/>
            </a:pPr>
            <a:endParaRPr lang="en-US" altLang="en-US" sz="1800"/>
          </a:p>
          <a:p>
            <a:pPr marL="0" indent="0">
              <a:buNone/>
            </a:pPr>
            <a:endParaRPr lang="en-US" altLang="en-US" sz="1800"/>
          </a:p>
          <a:p>
            <a:pPr marL="0" indent="0">
              <a:buNone/>
            </a:pPr>
            <a:endParaRPr lang="en-US" altLang="en-US" sz="1800"/>
          </a:p>
          <a:p>
            <a:pPr marL="0" indent="0">
              <a:buNone/>
            </a:pPr>
            <a:endParaRPr lang="en-US" altLang="en-US" sz="1800"/>
          </a:p>
          <a:p>
            <a:pPr marL="0" indent="0">
              <a:buNone/>
            </a:pPr>
            <a:endParaRPr lang="en-US" altLang="en-US" sz="1800"/>
          </a:p>
        </p:txBody>
      </p:sp>
      <p:sp>
        <p:nvSpPr>
          <p:cNvPr id="4" name="Text Box 3"/>
          <p:cNvSpPr txBox="1"/>
          <p:nvPr/>
        </p:nvSpPr>
        <p:spPr>
          <a:xfrm>
            <a:off x="635" y="4004945"/>
            <a:ext cx="11921490" cy="2852420"/>
          </a:xfrm>
          <a:prstGeom prst="rect">
            <a:avLst/>
          </a:prstGeom>
          <a:noFill/>
        </p:spPr>
        <p:txBody>
          <a:bodyPr wrap="square" rtlCol="0" anchor="t">
            <a:noAutofit/>
          </a:bodyPr>
          <a:p>
            <a:pPr marL="0" indent="0">
              <a:buNone/>
            </a:pPr>
            <a:r>
              <a:rPr lang="en-US" altLang="en-US">
                <a:sym typeface="+mn-ea"/>
              </a:rPr>
              <a:t>let promise = new Promise(function(resolve, reject) {</a:t>
            </a:r>
            <a:endParaRPr lang="en-US" altLang="en-US"/>
          </a:p>
          <a:p>
            <a:pPr marL="0" indent="0">
              <a:buNone/>
            </a:pPr>
            <a:r>
              <a:rPr lang="en-US" altLang="en-US">
                <a:sym typeface="+mn-ea"/>
              </a:rPr>
              <a:t>  // Do something asynchronous</a:t>
            </a:r>
            <a:endParaRPr lang="en-US" altLang="en-US"/>
          </a:p>
          <a:p>
            <a:pPr marL="0" indent="0">
              <a:buNone/>
            </a:pPr>
            <a:r>
              <a:rPr lang="en-US" altLang="en-US">
                <a:sym typeface="+mn-ea"/>
              </a:rPr>
              <a:t>});</a:t>
            </a:r>
            <a:endParaRPr lang="en-US" altLang="en-US"/>
          </a:p>
          <a:p>
            <a:pPr marL="0" indent="0">
              <a:buNone/>
            </a:pPr>
            <a:r>
              <a:rPr lang="en-US" altLang="en-US">
                <a:sym typeface="+mn-ea"/>
              </a:rPr>
              <a:t>resolve(value): Called when the async task is successful.</a:t>
            </a:r>
            <a:endParaRPr lang="en-US" altLang="en-US"/>
          </a:p>
          <a:p>
            <a:pPr marL="0" indent="0">
              <a:buNone/>
            </a:pPr>
            <a:r>
              <a:rPr lang="en-US" altLang="en-US">
                <a:sym typeface="+mn-ea"/>
              </a:rPr>
              <a:t>reject(error): Called when the async task fails.</a:t>
            </a:r>
            <a:endParaRPr lang="en-US" altLang="en-US"/>
          </a:p>
          <a:p>
            <a:pPr marL="0" indent="0">
              <a:buNone/>
            </a:pPr>
            <a:r>
              <a:rPr lang="en-US" altLang="en-US">
                <a:sym typeface="+mn-ea"/>
              </a:rPr>
              <a:t>States of a Promise</a:t>
            </a:r>
            <a:endParaRPr lang="en-US" altLang="en-US"/>
          </a:p>
          <a:p>
            <a:pPr marL="0" indent="0">
              <a:buNone/>
            </a:pPr>
            <a:r>
              <a:rPr lang="en-US" altLang="en-US">
                <a:sym typeface="+mn-ea"/>
              </a:rPr>
              <a:t>A promise has 3 states:</a:t>
            </a:r>
            <a:endParaRPr lang="en-US" altLang="en-US"/>
          </a:p>
          <a:p>
            <a:pPr marL="0" indent="0">
              <a:buNone/>
            </a:pPr>
            <a:r>
              <a:rPr lang="en-US" altLang="en-US">
                <a:sym typeface="+mn-ea"/>
              </a:rPr>
              <a:t>Pending – initial state, neither fulfilled nor rejected.</a:t>
            </a:r>
            <a:endParaRPr lang="en-US" altLang="en-US"/>
          </a:p>
          <a:p>
            <a:pPr marL="0" indent="0">
              <a:buNone/>
            </a:pPr>
            <a:r>
              <a:rPr lang="en-US" altLang="en-US">
                <a:sym typeface="+mn-ea"/>
              </a:rPr>
              <a:t>Fulfilled – the operation completed successfully.</a:t>
            </a:r>
            <a:endParaRPr lang="en-US" altLang="en-US"/>
          </a:p>
          <a:p>
            <a:pPr marL="0" indent="0">
              <a:buNone/>
            </a:pPr>
            <a:r>
              <a:rPr lang="en-US" altLang="en-US">
                <a:sym typeface="+mn-ea"/>
              </a:rPr>
              <a:t>Rejected – the operation failed.</a:t>
            </a:r>
            <a:endParaRPr lang="en-US" altLang="en-US">
              <a:sym typeface="+mn-ea"/>
            </a:endParaRPr>
          </a:p>
        </p:txBody>
      </p:sp>
      <p:sp>
        <p:nvSpPr>
          <p:cNvPr id="5" name="Text Box 4"/>
          <p:cNvSpPr txBox="1"/>
          <p:nvPr/>
        </p:nvSpPr>
        <p:spPr>
          <a:xfrm>
            <a:off x="635" y="925830"/>
            <a:ext cx="12035790" cy="1229995"/>
          </a:xfrm>
          <a:prstGeom prst="rect">
            <a:avLst/>
          </a:prstGeom>
          <a:noFill/>
        </p:spPr>
        <p:txBody>
          <a:bodyPr wrap="square" rtlCol="0" anchor="t">
            <a:noAutofit/>
          </a:bodyPr>
          <a:p>
            <a:r>
              <a:rPr lang="en-US" altLang="en-US" b="1">
                <a:sym typeface="+mn-ea"/>
              </a:rPr>
              <a:t>What is a Promise?</a:t>
            </a:r>
            <a:endParaRPr lang="en-US" altLang="en-US" b="1"/>
          </a:p>
          <a:p>
            <a:pPr marL="0" indent="0">
              <a:buNone/>
            </a:pPr>
            <a:r>
              <a:rPr lang="en-US" altLang="en-US">
                <a:sym typeface="+mn-ea"/>
              </a:rPr>
              <a:t>A Promise is a way to handle asynchronous operations (like fetching data from a server). It has 3 states:</a:t>
            </a:r>
            <a:endParaRPr lang="en-US" altLang="en-US"/>
          </a:p>
          <a:p>
            <a:pPr marL="0" indent="0">
              <a:buNone/>
            </a:pPr>
            <a:r>
              <a:rPr lang="en-US" altLang="en-US">
                <a:sym typeface="+mn-ea"/>
              </a:rPr>
              <a:t>pending – the operation is ongoing.</a:t>
            </a:r>
            <a:endParaRPr lang="en-US" altLang="en-US"/>
          </a:p>
          <a:p>
            <a:pPr marL="0" indent="0">
              <a:buNone/>
            </a:pPr>
            <a:r>
              <a:rPr lang="en-US" altLang="en-US">
                <a:sym typeface="+mn-ea"/>
              </a:rPr>
              <a:t>fulfilled – the operation completed successfully.</a:t>
            </a:r>
            <a:endParaRPr lang="en-US" altLang="en-US"/>
          </a:p>
          <a:p>
            <a:pPr marL="0" indent="0">
              <a:buNone/>
            </a:pPr>
            <a:r>
              <a:rPr lang="en-US" altLang="en-US">
                <a:sym typeface="+mn-ea"/>
              </a:rPr>
              <a:t>rejected – the operation failed.</a:t>
            </a:r>
            <a:endParaRPr lang="en-US" altLang="en-US">
              <a:sym typeface="+mn-ea"/>
            </a:endParaRPr>
          </a:p>
        </p:txBody>
      </p:sp>
      <p:sp>
        <p:nvSpPr>
          <p:cNvPr id="6" name="Text Box 5"/>
          <p:cNvSpPr txBox="1"/>
          <p:nvPr/>
        </p:nvSpPr>
        <p:spPr>
          <a:xfrm>
            <a:off x="-1270" y="2306320"/>
            <a:ext cx="12193270" cy="1698625"/>
          </a:xfrm>
          <a:prstGeom prst="rect">
            <a:avLst/>
          </a:prstGeom>
          <a:noFill/>
        </p:spPr>
        <p:txBody>
          <a:bodyPr wrap="square" rtlCol="0" anchor="t">
            <a:noAutofit/>
          </a:bodyPr>
          <a:p>
            <a:pPr marL="0" indent="0">
              <a:buNone/>
            </a:pPr>
            <a:r>
              <a:rPr lang="zh-CN" altLang="en-US" b="1">
                <a:sym typeface="+mn-ea"/>
              </a:rPr>
              <a:t>🔹</a:t>
            </a:r>
            <a:r>
              <a:rPr lang="en-US" altLang="en-US" b="1">
                <a:sym typeface="+mn-ea"/>
              </a:rPr>
              <a:t> Why Use Promises?</a:t>
            </a:r>
            <a:endParaRPr lang="en-US" altLang="en-US" sz="1800" b="1"/>
          </a:p>
          <a:p>
            <a:pPr marL="0" indent="0">
              <a:buNone/>
            </a:pPr>
            <a:r>
              <a:rPr lang="en-US" altLang="en-US">
                <a:sym typeface="+mn-ea"/>
              </a:rPr>
              <a:t>JavaScript is single-threaded, so for operations like:</a:t>
            </a:r>
            <a:endParaRPr lang="en-US" altLang="en-US" sz="1800"/>
          </a:p>
          <a:p>
            <a:pPr marL="0" indent="0">
              <a:buNone/>
            </a:pPr>
            <a:r>
              <a:rPr lang="en-US" altLang="en-US">
                <a:sym typeface="+mn-ea"/>
              </a:rPr>
              <a:t>Fetching data from a server api</a:t>
            </a:r>
            <a:endParaRPr lang="en-US" altLang="en-US" sz="1800"/>
          </a:p>
          <a:p>
            <a:pPr marL="0" indent="0">
              <a:buNone/>
            </a:pPr>
            <a:r>
              <a:rPr lang="en-US" altLang="en-US">
                <a:sym typeface="+mn-ea"/>
              </a:rPr>
              <a:t>Reading files</a:t>
            </a:r>
            <a:endParaRPr lang="en-US" altLang="en-US" sz="1800"/>
          </a:p>
          <a:p>
            <a:pPr marL="0" indent="0">
              <a:buNone/>
            </a:pPr>
            <a:r>
              <a:rPr lang="en-US" altLang="en-US">
                <a:sym typeface="+mn-ea"/>
              </a:rPr>
              <a:t>Waiting for timers</a:t>
            </a:r>
            <a:endParaRPr lang="en-US" altLang="en-US" sz="1800"/>
          </a:p>
          <a:p>
            <a:pPr marL="0" indent="0">
              <a:buNone/>
            </a:pPr>
            <a:r>
              <a:rPr lang="en-US" altLang="en-US">
                <a:sym typeface="+mn-ea"/>
              </a:rPr>
              <a:t>…you don’t want to block the execution. Promises help you handle these asynchronous operations more cleanly than callbacks.</a:t>
            </a:r>
            <a:endParaRPr lang="en-US" altLang="en-US">
              <a:sym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0" y="83820"/>
            <a:ext cx="12191365" cy="922020"/>
          </a:xfrm>
          <a:prstGeom prst="rect">
            <a:avLst/>
          </a:prstGeom>
        </p:spPr>
        <p:txBody>
          <a:bodyPr wrap="square">
            <a:spAutoFit/>
          </a:bodyPr>
          <a:p>
            <a:r>
              <a:t>await is used to wait for the completion of a Promise and retrieve its resolved value while keeping the program non-blocking.</a:t>
            </a:r>
          </a:p>
          <a:p>
            <a:r>
              <a:rPr lang="en-US" altLang="en-US"/>
              <a:t>await can only be used inside an async function</a:t>
            </a:r>
            <a:endParaRPr lang="en-US" altLang="en-US"/>
          </a:p>
          <a:p>
            <a:r>
              <a:rPr lang="en-US" altLang="en-US"/>
              <a:t>It pauses only that function, not the whole JavaScript program</a:t>
            </a:r>
            <a:endParaRPr lang="en-US" altLang="en-US"/>
          </a:p>
        </p:txBody>
      </p:sp>
      <p:sp>
        <p:nvSpPr>
          <p:cNvPr id="5" name="Text Box 4"/>
          <p:cNvSpPr txBox="1"/>
          <p:nvPr/>
        </p:nvSpPr>
        <p:spPr>
          <a:xfrm>
            <a:off x="133985" y="1005840"/>
            <a:ext cx="11910695" cy="2158365"/>
          </a:xfrm>
          <a:prstGeom prst="rect">
            <a:avLst/>
          </a:prstGeom>
        </p:spPr>
        <p:txBody>
          <a:bodyPr wrap="square">
            <a:spAutoFit/>
          </a:bodyPr>
          <a:p>
            <a:pPr>
              <a:spcAft>
                <a:spcPct val="60000"/>
              </a:spcAft>
            </a:pPr>
            <a:r>
              <a:rPr b="1"/>
              <a:t>Without await (problem)</a:t>
            </a:r>
            <a:endParaRPr b="1"/>
          </a:p>
          <a:p>
            <a:r>
              <a:t>const response = fetch(url);   // Promise
console.log(response);        // Not actual data
You’d get a Promise instead of real data </a:t>
            </a:r>
          </a:p>
          <a:p>
            <a:pPr>
              <a:spcAft>
                <a:spcPct val="60000"/>
              </a:spcAft>
            </a:pPr>
            <a:r>
              <a:rPr b="1"/>
              <a:t>With await (correct)</a:t>
            </a:r>
            <a:endParaRPr b="1"/>
          </a:p>
          <a:p>
            <a:pPr>
              <a:spcAft>
                <a:spcPct val="60000"/>
              </a:spcAft>
            </a:pPr>
            <a:r>
              <a:t>const response = awaitfetch(url); // Actual response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90830" y="85090"/>
            <a:ext cx="11062970" cy="306705"/>
          </a:xfrm>
        </p:spPr>
        <p:txBody>
          <a:bodyPr>
            <a:noAutofit/>
          </a:bodyPr>
          <a:p>
            <a:pPr algn="ctr"/>
            <a:r>
              <a:rPr lang="en-US" sz="2800" b="1">
                <a:solidFill>
                  <a:srgbClr val="FF0000"/>
                </a:solidFill>
              </a:rPr>
              <a:t>Example of Promises</a:t>
            </a:r>
            <a:endParaRPr lang="en-US" sz="2800" b="1">
              <a:solidFill>
                <a:srgbClr val="FF0000"/>
              </a:solidFill>
            </a:endParaRPr>
          </a:p>
        </p:txBody>
      </p:sp>
      <p:sp>
        <p:nvSpPr>
          <p:cNvPr id="3" name="Content Placeholder 2"/>
          <p:cNvSpPr>
            <a:spLocks noGrp="1"/>
          </p:cNvSpPr>
          <p:nvPr>
            <p:ph idx="1"/>
          </p:nvPr>
        </p:nvSpPr>
        <p:spPr>
          <a:xfrm>
            <a:off x="180975" y="391795"/>
            <a:ext cx="11897360" cy="6466840"/>
          </a:xfrm>
        </p:spPr>
        <p:txBody>
          <a:bodyPr>
            <a:normAutofit fontScale="65000"/>
          </a:bodyPr>
          <a:p>
            <a:pPr marL="0" indent="0">
              <a:buNone/>
            </a:pPr>
            <a:r>
              <a:rPr lang="en-US" altLang="en-US"/>
              <a:t>// 1. A function that returns a Promise (simulating an API call)</a:t>
            </a:r>
            <a:endParaRPr lang="en-US" altLang="en-US"/>
          </a:p>
          <a:p>
            <a:pPr marL="0" indent="0">
              <a:buNone/>
            </a:pPr>
            <a:r>
              <a:rPr lang="en-US" altLang="en-US"/>
              <a:t>function getUserData(userId) {</a:t>
            </a:r>
            <a:endParaRPr lang="en-US" altLang="en-US"/>
          </a:p>
          <a:p>
            <a:pPr marL="0" indent="0">
              <a:buNone/>
            </a:pPr>
            <a:r>
              <a:rPr lang="en-US" altLang="en-US"/>
              <a:t>  return new Promise((resolve, reject) =&gt; {</a:t>
            </a:r>
            <a:endParaRPr lang="en-US" altLang="en-US"/>
          </a:p>
          <a:p>
            <a:pPr marL="0" indent="0">
              <a:buNone/>
            </a:pPr>
            <a:r>
              <a:rPr lang="en-US" altLang="en-US"/>
              <a:t>    setTimeout(() =&gt; {</a:t>
            </a:r>
            <a:endParaRPr lang="en-US" altLang="en-US"/>
          </a:p>
          <a:p>
            <a:pPr marL="0" indent="0">
              <a:buNone/>
            </a:pPr>
            <a:r>
              <a:rPr lang="en-US" altLang="en-US"/>
              <a:t>      const fakeDatabase = {</a:t>
            </a:r>
            <a:endParaRPr lang="en-US" altLang="en-US"/>
          </a:p>
          <a:p>
            <a:pPr marL="0" indent="0">
              <a:buNone/>
            </a:pPr>
            <a:r>
              <a:rPr lang="en-US" altLang="en-US"/>
              <a:t>        1: { name: "Rohan", age: 25 },</a:t>
            </a:r>
            <a:endParaRPr lang="en-US" altLang="en-US"/>
          </a:p>
          <a:p>
            <a:pPr marL="0" indent="0">
              <a:buNone/>
            </a:pPr>
            <a:r>
              <a:rPr lang="en-US" altLang="en-US"/>
              <a:t>        2: { name: "Ravi", age: 30 },</a:t>
            </a:r>
            <a:endParaRPr lang="en-US" altLang="en-US"/>
          </a:p>
          <a:p>
            <a:pPr marL="0" indent="0">
              <a:buNone/>
            </a:pPr>
            <a:r>
              <a:rPr lang="en-US" altLang="en-US"/>
              <a:t>      };</a:t>
            </a:r>
            <a:endParaRPr lang="en-US" altLang="en-US"/>
          </a:p>
          <a:p>
            <a:pPr marL="0" indent="0">
              <a:buNone/>
            </a:pPr>
            <a:r>
              <a:rPr lang="en-US" altLang="en-US"/>
              <a:t>      const user = fakeDatabase[userId];</a:t>
            </a:r>
            <a:endParaRPr lang="en-US" altLang="en-US"/>
          </a:p>
          <a:p>
            <a:pPr marL="0" indent="0">
              <a:buNone/>
            </a:pPr>
            <a:r>
              <a:rPr lang="en-US" altLang="en-US"/>
              <a:t>      if (user) {</a:t>
            </a:r>
            <a:endParaRPr lang="en-US" altLang="en-US"/>
          </a:p>
          <a:p>
            <a:pPr marL="0" indent="0">
              <a:buNone/>
            </a:pPr>
            <a:r>
              <a:rPr lang="en-US" altLang="en-US"/>
              <a:t>        resolve(user);</a:t>
            </a:r>
            <a:endParaRPr lang="en-US" altLang="en-US"/>
          </a:p>
          <a:p>
            <a:pPr marL="0" indent="0">
              <a:buNone/>
            </a:pPr>
            <a:r>
              <a:rPr lang="en-US" altLang="en-US"/>
              <a:t>      } else {</a:t>
            </a:r>
            <a:endParaRPr lang="en-US" altLang="en-US"/>
          </a:p>
          <a:p>
            <a:pPr marL="0" indent="0">
              <a:buNone/>
            </a:pPr>
            <a:r>
              <a:rPr lang="en-US" altLang="en-US"/>
              <a:t>        reject("User not found");</a:t>
            </a:r>
            <a:endParaRPr lang="en-US" altLang="en-US"/>
          </a:p>
          <a:p>
            <a:pPr marL="0" indent="0">
              <a:buNone/>
            </a:pPr>
            <a:r>
              <a:rPr lang="en-US" altLang="en-US"/>
              <a:t>      }</a:t>
            </a:r>
            <a:endParaRPr lang="en-US" altLang="en-US"/>
          </a:p>
          <a:p>
            <a:pPr marL="0" indent="0">
              <a:buNone/>
            </a:pPr>
            <a:r>
              <a:rPr lang="en-US" altLang="en-US"/>
              <a:t>    }, 2000); // simulate 2-second delay</a:t>
            </a:r>
            <a:endParaRPr lang="en-US" altLang="en-US"/>
          </a:p>
          <a:p>
            <a:pPr marL="0" indent="0">
              <a:buNone/>
            </a:pPr>
            <a:r>
              <a:rPr lang="en-US" altLang="en-US"/>
              <a:t>  });</a:t>
            </a:r>
            <a:endParaRPr lang="en-US" altLang="en-US"/>
          </a:p>
          <a:p>
            <a:pPr marL="0" indent="0">
              <a:buNone/>
            </a:pPr>
            <a:r>
              <a:rPr lang="en-US" altLang="en-US"/>
              <a:t>}</a:t>
            </a:r>
            <a:endParaRPr lang="en-US" altLang="en-US"/>
          </a:p>
          <a:p>
            <a:pPr marL="0" indent="0">
              <a:buNone/>
            </a:pPr>
            <a:endParaRPr lang="en-US" altLang="en-US"/>
          </a:p>
        </p:txBody>
      </p:sp>
      <p:sp>
        <p:nvSpPr>
          <p:cNvPr id="4" name="Text Box 3"/>
          <p:cNvSpPr txBox="1"/>
          <p:nvPr/>
        </p:nvSpPr>
        <p:spPr>
          <a:xfrm>
            <a:off x="6096635" y="391795"/>
            <a:ext cx="6364605" cy="5051425"/>
          </a:xfrm>
          <a:prstGeom prst="rect">
            <a:avLst/>
          </a:prstGeom>
          <a:noFill/>
        </p:spPr>
        <p:txBody>
          <a:bodyPr wrap="square" rtlCol="0" anchor="t">
            <a:noAutofit/>
          </a:bodyPr>
          <a:p>
            <a:r>
              <a:rPr lang="en-US" altLang="en-US">
                <a:sym typeface="+mn-ea"/>
              </a:rPr>
              <a:t>// 2. An async function that uses await to get the result</a:t>
            </a:r>
            <a:endParaRPr lang="en-US" altLang="en-US"/>
          </a:p>
          <a:p>
            <a:r>
              <a:rPr lang="en-US" altLang="en-US">
                <a:sym typeface="+mn-ea"/>
              </a:rPr>
              <a:t>async function showUserData() {</a:t>
            </a:r>
            <a:endParaRPr lang="en-US" altLang="en-US"/>
          </a:p>
          <a:p>
            <a:r>
              <a:rPr lang="en-US" altLang="en-US">
                <a:sym typeface="+mn-ea"/>
              </a:rPr>
              <a:t>  console.log("Fetching user data...");</a:t>
            </a:r>
            <a:endParaRPr lang="en-US" altLang="en-US"/>
          </a:p>
          <a:p>
            <a:r>
              <a:rPr lang="en-US" altLang="en-US">
                <a:sym typeface="+mn-ea"/>
              </a:rPr>
              <a:t>  try {</a:t>
            </a:r>
            <a:endParaRPr lang="en-US" altLang="en-US"/>
          </a:p>
          <a:p>
            <a:r>
              <a:rPr lang="en-US" altLang="en-US">
                <a:sym typeface="+mn-ea"/>
              </a:rPr>
              <a:t>    const user = await getUserData(1); // change ID to test errors</a:t>
            </a:r>
            <a:endParaRPr lang="en-US" altLang="en-US"/>
          </a:p>
          <a:p>
            <a:r>
              <a:rPr lang="en-US" altLang="en-US">
                <a:sym typeface="+mn-ea"/>
              </a:rPr>
              <a:t>    console.log("User found:", user.name, "| Age:", user.age);</a:t>
            </a:r>
            <a:endParaRPr lang="en-US" altLang="en-US"/>
          </a:p>
          <a:p>
            <a:r>
              <a:rPr lang="en-US" altLang="en-US">
                <a:sym typeface="+mn-ea"/>
              </a:rPr>
              <a:t>  } catch (error) {</a:t>
            </a:r>
            <a:endParaRPr lang="en-US" altLang="en-US"/>
          </a:p>
          <a:p>
            <a:r>
              <a:rPr lang="en-US" altLang="en-US">
                <a:sym typeface="+mn-ea"/>
              </a:rPr>
              <a:t>    console.error("Error:", error);</a:t>
            </a:r>
            <a:endParaRPr lang="en-US" altLang="en-US"/>
          </a:p>
          <a:p>
            <a:r>
              <a:rPr lang="en-US" altLang="en-US">
                <a:sym typeface="+mn-ea"/>
              </a:rPr>
              <a:t>  }</a:t>
            </a:r>
            <a:endParaRPr lang="en-US" altLang="en-US"/>
          </a:p>
          <a:p>
            <a:r>
              <a:rPr lang="en-US" altLang="en-US">
                <a:sym typeface="+mn-ea"/>
              </a:rPr>
              <a:t>  console.log("Done");</a:t>
            </a:r>
            <a:endParaRPr lang="en-US" altLang="en-US"/>
          </a:p>
          <a:p>
            <a:r>
              <a:rPr lang="en-US" altLang="en-US">
                <a:sym typeface="+mn-ea"/>
              </a:rPr>
              <a:t>}</a:t>
            </a:r>
            <a:endParaRPr lang="en-US" altLang="en-US"/>
          </a:p>
          <a:p>
            <a:r>
              <a:rPr lang="en-US" altLang="en-US">
                <a:sym typeface="+mn-ea"/>
              </a:rPr>
              <a:t>// 3. Call the async function</a:t>
            </a:r>
            <a:endParaRPr lang="en-US" altLang="en-US"/>
          </a:p>
          <a:p>
            <a:r>
              <a:rPr lang="en-US" altLang="en-US">
                <a:sym typeface="+mn-ea"/>
              </a:rPr>
              <a:t>showUserData();</a:t>
            </a:r>
            <a:endParaRPr lang="en-US" altLang="en-US"/>
          </a:p>
          <a:p>
            <a:endParaRPr lang="en-US"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22555" y="169545"/>
            <a:ext cx="11943080" cy="6472555"/>
          </a:xfrm>
        </p:spPr>
        <p:txBody>
          <a:bodyPr>
            <a:normAutofit/>
          </a:bodyPr>
          <a:p>
            <a:endParaRPr lang="en-US" altLang="en-US" sz="2000"/>
          </a:p>
          <a:p>
            <a:pPr marL="0" indent="0">
              <a:buNone/>
            </a:pPr>
            <a:r>
              <a:rPr lang="en-US" altLang="en-US" sz="2000">
                <a:sym typeface="+mn-ea"/>
              </a:rPr>
              <a:t>Basic Promise Example</a:t>
            </a:r>
            <a:endParaRPr lang="en-US" altLang="en-US" sz="2000"/>
          </a:p>
          <a:p>
            <a:pPr marL="0" indent="0">
              <a:buNone/>
            </a:pPr>
            <a:r>
              <a:rPr lang="en-US" altLang="en-US" sz="2000">
                <a:sym typeface="+mn-ea"/>
              </a:rPr>
              <a:t>// This is a Promise that resolves after 2 seconds</a:t>
            </a:r>
            <a:endParaRPr lang="en-US" altLang="en-US" sz="2000"/>
          </a:p>
          <a:p>
            <a:pPr marL="0" indent="0">
              <a:buNone/>
            </a:pPr>
            <a:r>
              <a:rPr lang="en-US" altLang="en-US" sz="2000">
                <a:sym typeface="+mn-ea"/>
              </a:rPr>
              <a:t>const myPromise = new Promise((resolve, reject) =&gt; {</a:t>
            </a:r>
            <a:endParaRPr lang="en-US" altLang="en-US" sz="2000"/>
          </a:p>
          <a:p>
            <a:pPr marL="0" indent="0">
              <a:buNone/>
            </a:pPr>
            <a:r>
              <a:rPr lang="en-US" altLang="en-US" sz="2000">
                <a:sym typeface="+mn-ea"/>
              </a:rPr>
              <a:t>  setTimeout(() =&gt; {</a:t>
            </a:r>
            <a:endParaRPr lang="en-US" altLang="en-US" sz="2000"/>
          </a:p>
          <a:p>
            <a:pPr marL="0" indent="0">
              <a:buNone/>
            </a:pPr>
            <a:r>
              <a:rPr lang="en-US" altLang="en-US" sz="2000">
                <a:sym typeface="+mn-ea"/>
              </a:rPr>
              <a:t>    resolve(" Promise Resolved!");</a:t>
            </a:r>
            <a:endParaRPr lang="en-US" altLang="en-US" sz="2000"/>
          </a:p>
          <a:p>
            <a:pPr marL="0" indent="0">
              <a:buNone/>
            </a:pPr>
            <a:r>
              <a:rPr lang="en-US" altLang="en-US" sz="2000">
                <a:sym typeface="+mn-ea"/>
              </a:rPr>
              <a:t>  }, 2000);</a:t>
            </a:r>
            <a:endParaRPr lang="en-US" altLang="en-US" sz="2000"/>
          </a:p>
          <a:p>
            <a:pPr marL="0" indent="0">
              <a:buNone/>
            </a:pPr>
            <a:r>
              <a:rPr lang="en-US" altLang="en-US" sz="2000">
                <a:sym typeface="+mn-ea"/>
              </a:rPr>
              <a:t>});</a:t>
            </a:r>
            <a:endParaRPr lang="en-US" altLang="en-US" sz="2000"/>
          </a:p>
          <a:p>
            <a:endParaRPr lang="en-US" altLang="en-US" sz="20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12395" y="114300"/>
            <a:ext cx="11952605" cy="6596380"/>
          </a:xfrm>
        </p:spPr>
        <p:txBody>
          <a:bodyPr>
            <a:noAutofit/>
          </a:bodyPr>
          <a:p>
            <a:pPr marL="0" indent="0">
              <a:buNone/>
            </a:pPr>
            <a:endParaRPr lang="en-US" altLang="en-US" sz="1800"/>
          </a:p>
          <a:p>
            <a:pPr marL="0" indent="0">
              <a:buNone/>
            </a:pPr>
            <a:r>
              <a:rPr lang="en-US" altLang="en-US" sz="1800"/>
              <a:t>// Using .then() to handle the Promise</a:t>
            </a:r>
            <a:endParaRPr lang="en-US" altLang="en-US" sz="1800"/>
          </a:p>
          <a:p>
            <a:pPr marL="0" indent="0">
              <a:buNone/>
            </a:pPr>
            <a:r>
              <a:rPr lang="en-US" altLang="en-US" sz="1800"/>
              <a:t>myPromise.then((message) =&gt; {</a:t>
            </a:r>
            <a:endParaRPr lang="en-US" altLang="en-US" sz="1800"/>
          </a:p>
          <a:p>
            <a:pPr marL="0" indent="0">
              <a:buNone/>
            </a:pPr>
            <a:r>
              <a:rPr lang="en-US" altLang="en-US" sz="1800"/>
              <a:t>  console.log(message);  // Output after 2 seconds: ✅ Promise Resolved!</a:t>
            </a:r>
            <a:endParaRPr lang="en-US" altLang="en-US" sz="1800"/>
          </a:p>
          <a:p>
            <a:pPr marL="0" indent="0">
              <a:buNone/>
            </a:pPr>
            <a:r>
              <a:rPr lang="en-US" altLang="en-US" sz="1800"/>
              <a:t>});</a:t>
            </a:r>
            <a:endParaRPr lang="en-US" altLang="en-US" sz="1800"/>
          </a:p>
          <a:p>
            <a:pPr marL="0" indent="0">
              <a:buNone/>
            </a:pPr>
            <a:r>
              <a:rPr lang="en-US" altLang="en-US" sz="1800">
                <a:sym typeface="+mn-ea"/>
              </a:rPr>
              <a:t> What is async/await?</a:t>
            </a:r>
            <a:endParaRPr lang="en-US" altLang="en-US" sz="1800"/>
          </a:p>
          <a:p>
            <a:pPr marL="0" indent="0">
              <a:buNone/>
            </a:pPr>
            <a:r>
              <a:rPr lang="en-US" altLang="en-US" sz="1800">
                <a:sym typeface="+mn-ea"/>
              </a:rPr>
              <a:t>async is used to declare a function that will return a Promise.</a:t>
            </a:r>
            <a:endParaRPr lang="en-US" altLang="en-US" sz="1800"/>
          </a:p>
          <a:p>
            <a:pPr marL="0" indent="0">
              <a:buNone/>
            </a:pPr>
            <a:r>
              <a:rPr lang="en-US" altLang="en-US" sz="1800">
                <a:sym typeface="+mn-ea"/>
              </a:rPr>
              <a:t>await pauses the execution of an async function until the Promise is resolved.</a:t>
            </a:r>
            <a:endParaRPr lang="en-US" altLang="en-US" sz="1800"/>
          </a:p>
          <a:p>
            <a:pPr marL="0" indent="0">
              <a:buNone/>
            </a:pPr>
            <a:r>
              <a:rPr lang="en-US" altLang="en-US" sz="1800">
                <a:sym typeface="+mn-ea"/>
              </a:rPr>
              <a:t> Perfect Beginner-Friendly Example</a:t>
            </a:r>
            <a:endParaRPr lang="en-US" altLang="en-US" sz="1800"/>
          </a:p>
          <a:p>
            <a:pPr marL="0" indent="0">
              <a:buNone/>
            </a:pPr>
            <a:r>
              <a:rPr lang="en-US" altLang="en-US" sz="1800">
                <a:sym typeface="+mn-ea"/>
              </a:rPr>
              <a:t>Let’s create a fake API call that takes time and use async/await to handle it.</a:t>
            </a:r>
            <a:endParaRPr lang="en-US" altLang="en-US" sz="1800"/>
          </a:p>
          <a:p>
            <a:pPr marL="0" indent="0">
              <a:buNone/>
            </a:pPr>
            <a:r>
              <a:rPr lang="en-US" altLang="en-US" sz="1800">
                <a:sym typeface="+mn-ea"/>
              </a:rPr>
              <a:t>// Simulate a fake API call that returns user data</a:t>
            </a:r>
            <a:endParaRPr lang="en-US" altLang="en-US" sz="1800"/>
          </a:p>
          <a:p>
            <a:pPr marL="0" indent="0">
              <a:buNone/>
            </a:pPr>
            <a:r>
              <a:rPr lang="en-US" altLang="en-US" sz="1800">
                <a:sym typeface="+mn-ea"/>
              </a:rPr>
              <a:t>function getUserData() {</a:t>
            </a:r>
            <a:endParaRPr lang="en-US" altLang="en-US" sz="1800"/>
          </a:p>
          <a:p>
            <a:pPr marL="0" indent="0">
              <a:buNone/>
            </a:pPr>
            <a:r>
              <a:rPr lang="en-US" altLang="en-US" sz="1800">
                <a:sym typeface="+mn-ea"/>
              </a:rPr>
              <a:t>  return new Promise((resolve, reject) =&gt; {</a:t>
            </a:r>
            <a:endParaRPr lang="en-US" altLang="en-US" sz="1800"/>
          </a:p>
          <a:p>
            <a:pPr marL="0" indent="0">
              <a:buNone/>
            </a:pPr>
            <a:r>
              <a:rPr lang="en-US" altLang="en-US" sz="1800">
                <a:sym typeface="+mn-ea"/>
              </a:rPr>
              <a:t>    setTimeout(() =&gt; {</a:t>
            </a:r>
            <a:endParaRPr lang="en-US" altLang="en-US" sz="1800"/>
          </a:p>
          <a:p>
            <a:pPr marL="0" indent="0">
              <a:buNone/>
            </a:pPr>
            <a:r>
              <a:rPr lang="en-US" altLang="en-US" sz="1800">
                <a:sym typeface="+mn-ea"/>
              </a:rPr>
              <a:t>      resolve(" User data received.");</a:t>
            </a:r>
            <a:endParaRPr lang="en-US" altLang="en-US" sz="1800"/>
          </a:p>
          <a:p>
            <a:pPr marL="0" indent="0">
              <a:buNone/>
            </a:pPr>
            <a:r>
              <a:rPr lang="en-US" altLang="en-US" sz="1800">
                <a:sym typeface="+mn-ea"/>
              </a:rPr>
              <a:t>    }, 2000); // Simulate 2-second delay</a:t>
            </a:r>
            <a:endParaRPr lang="en-US" altLang="en-US" sz="1800"/>
          </a:p>
          <a:p>
            <a:pPr marL="0" indent="0">
              <a:buNone/>
            </a:pPr>
            <a:r>
              <a:rPr lang="en-US" altLang="en-US" sz="1800">
                <a:sym typeface="+mn-ea"/>
              </a:rPr>
              <a:t>  });</a:t>
            </a:r>
            <a:endParaRPr lang="en-US" altLang="en-US" sz="1800"/>
          </a:p>
          <a:p>
            <a:pPr marL="0" indent="0">
              <a:buNone/>
            </a:pPr>
            <a:r>
              <a:rPr lang="en-US" altLang="en-US" sz="1800">
                <a:sym typeface="+mn-ea"/>
              </a:rPr>
              <a:t>}</a:t>
            </a:r>
            <a:endParaRPr lang="en-US" altLang="en-US" sz="1800">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26365" y="100965"/>
            <a:ext cx="11978005" cy="6637020"/>
          </a:xfrm>
        </p:spPr>
        <p:txBody>
          <a:bodyPr>
            <a:noAutofit/>
          </a:bodyPr>
          <a:p>
            <a:pPr marL="0" indent="0">
              <a:buNone/>
            </a:pPr>
            <a:r>
              <a:rPr lang="en-US" altLang="en-US" sz="1600">
                <a:sym typeface="+mn-ea"/>
              </a:rPr>
              <a:t>// Async function using await</a:t>
            </a:r>
            <a:endParaRPr lang="en-US" altLang="en-US" sz="1600"/>
          </a:p>
          <a:p>
            <a:pPr marL="0" indent="0">
              <a:buNone/>
            </a:pPr>
            <a:r>
              <a:rPr lang="en-US" altLang="en-US" sz="1600">
                <a:sym typeface="+mn-ea"/>
              </a:rPr>
              <a:t>async function fetchUser() {</a:t>
            </a:r>
            <a:endParaRPr lang="en-US" altLang="en-US" sz="1600"/>
          </a:p>
          <a:p>
            <a:pPr marL="0" indent="0">
              <a:buNone/>
            </a:pPr>
            <a:r>
              <a:rPr lang="en-US" altLang="en-US" sz="1600">
                <a:sym typeface="+mn-ea"/>
              </a:rPr>
              <a:t>  console.log("Fetching user data...");</a:t>
            </a:r>
            <a:endParaRPr lang="en-US" altLang="en-US" sz="1600"/>
          </a:p>
          <a:p>
            <a:pPr marL="0" indent="0">
              <a:buNone/>
            </a:pPr>
            <a:r>
              <a:rPr lang="en-US" altLang="en-US" sz="1600">
                <a:sym typeface="+mn-ea"/>
              </a:rPr>
              <a:t>  const result = await getUserData();  // Wait for the Promise to resolve</a:t>
            </a:r>
            <a:endParaRPr lang="en-US" altLang="en-US" sz="1600"/>
          </a:p>
          <a:p>
            <a:pPr marL="0" indent="0">
              <a:buNone/>
            </a:pPr>
            <a:r>
              <a:rPr lang="en-US" altLang="en-US" sz="1600">
                <a:sym typeface="+mn-ea"/>
              </a:rPr>
              <a:t>  console.log(result);  // Output: User data received.</a:t>
            </a:r>
            <a:endParaRPr lang="en-US" altLang="en-US" sz="1600"/>
          </a:p>
          <a:p>
            <a:pPr marL="0" indent="0">
              <a:buNone/>
            </a:pPr>
            <a:r>
              <a:rPr lang="en-US" altLang="en-US" sz="1600">
                <a:sym typeface="+mn-ea"/>
              </a:rPr>
              <a:t>  console.log(" Done fetching user.");</a:t>
            </a:r>
            <a:endParaRPr lang="en-US" altLang="en-US" sz="1600"/>
          </a:p>
          <a:p>
            <a:pPr marL="0" indent="0">
              <a:buNone/>
            </a:pPr>
            <a:r>
              <a:rPr lang="en-US" altLang="en-US" sz="1600">
                <a:sym typeface="+mn-ea"/>
              </a:rPr>
              <a:t>}</a:t>
            </a:r>
            <a:endParaRPr lang="en-US" altLang="en-US" sz="1600"/>
          </a:p>
          <a:p>
            <a:pPr marL="0" indent="0">
              <a:buNone/>
            </a:pPr>
            <a:r>
              <a:rPr lang="en-US" altLang="en-US" sz="1600">
                <a:sym typeface="+mn-ea"/>
              </a:rPr>
              <a:t>// Call the async function</a:t>
            </a:r>
            <a:endParaRPr lang="en-US" altLang="en-US" sz="1600"/>
          </a:p>
          <a:p>
            <a:pPr marL="0" indent="0">
              <a:buNone/>
            </a:pPr>
            <a:r>
              <a:rPr lang="en-US" altLang="en-US" sz="1600">
                <a:sym typeface="+mn-ea"/>
              </a:rPr>
              <a:t>fetchUser();</a:t>
            </a:r>
            <a:endParaRPr lang="en-US" altLang="en-US" sz="1600"/>
          </a:p>
          <a:p>
            <a:pPr marL="0" indent="0">
              <a:buNone/>
            </a:pPr>
            <a:r>
              <a:rPr lang="en-US" altLang="en-US" sz="1600">
                <a:sym typeface="+mn-ea"/>
              </a:rPr>
              <a:t> Output Explanation</a:t>
            </a:r>
            <a:endParaRPr lang="en-US" altLang="en-US" sz="1600"/>
          </a:p>
          <a:p>
            <a:pPr marL="0" indent="0">
              <a:buNone/>
            </a:pPr>
            <a:r>
              <a:rPr lang="en-US" altLang="en-US" sz="1600">
                <a:sym typeface="+mn-ea"/>
              </a:rPr>
              <a:t> Fetching user data...</a:t>
            </a:r>
            <a:endParaRPr lang="en-US" altLang="en-US" sz="1600"/>
          </a:p>
          <a:p>
            <a:pPr marL="0" indent="0">
              <a:buNone/>
            </a:pPr>
            <a:r>
              <a:rPr lang="en-US" altLang="en-US" sz="1600">
                <a:sym typeface="+mn-ea"/>
              </a:rPr>
              <a:t>(wait 2 seconds)</a:t>
            </a:r>
            <a:endParaRPr lang="en-US" altLang="en-US" sz="1600"/>
          </a:p>
          <a:p>
            <a:pPr marL="0" indent="0">
              <a:buNone/>
            </a:pPr>
            <a:r>
              <a:rPr lang="en-US" altLang="en-US" sz="1600">
                <a:sym typeface="+mn-ea"/>
              </a:rPr>
              <a:t> User data received.</a:t>
            </a:r>
            <a:endParaRPr lang="en-US" altLang="en-US" sz="1600"/>
          </a:p>
          <a:p>
            <a:pPr marL="0" indent="0">
              <a:buNone/>
            </a:pPr>
            <a:r>
              <a:rPr lang="en-US" altLang="en-US" sz="1600">
                <a:sym typeface="+mn-ea"/>
              </a:rPr>
              <a:t>✅ Done fetching user.</a:t>
            </a:r>
            <a:endParaRPr lang="en-US" altLang="en-US" sz="1600"/>
          </a:p>
          <a:p>
            <a:pPr marL="0" indent="0">
              <a:buNone/>
            </a:pPr>
            <a:r>
              <a:rPr lang="en-US" altLang="en-US" sz="1600">
                <a:sym typeface="+mn-ea"/>
              </a:rPr>
              <a:t>✅ Summary for Students</a:t>
            </a:r>
            <a:endParaRPr lang="en-US" altLang="en-US" sz="1600"/>
          </a:p>
          <a:p>
            <a:pPr marL="0" indent="0">
              <a:buNone/>
            </a:pPr>
            <a:endParaRPr lang="en-US" altLang="en-US" sz="1600"/>
          </a:p>
        </p:txBody>
      </p:sp>
      <p:graphicFrame>
        <p:nvGraphicFramePr>
          <p:cNvPr id="4" name="Table 3"/>
          <p:cNvGraphicFramePr/>
          <p:nvPr>
            <p:custDataLst>
              <p:tags r:id="rId1"/>
            </p:custDataLst>
          </p:nvPr>
        </p:nvGraphicFramePr>
        <p:xfrm>
          <a:off x="5520690" y="3267075"/>
          <a:ext cx="6583680" cy="2294255"/>
        </p:xfrm>
        <a:graphic>
          <a:graphicData uri="http://schemas.openxmlformats.org/drawingml/2006/table">
            <a:tbl>
              <a:tblPr/>
              <a:tblGrid>
                <a:gridCol w="2225675"/>
                <a:gridCol w="4358005"/>
              </a:tblGrid>
              <a:tr h="363220">
                <a:tc>
                  <a:txBody>
                    <a:bodyPr/>
                    <a:p>
                      <a:pPr algn="ctr"/>
                      <a:r>
                        <a:rPr sz="1800" b="1">
                          <a:solidFill>
                            <a:srgbClr val="FF0000"/>
                          </a:solidFill>
                        </a:rPr>
                        <a:t>Concept</a:t>
                      </a:r>
                      <a:endParaRPr sz="1800" b="1">
                        <a:solidFill>
                          <a:srgbClr val="FF0000"/>
                        </a:solidFill>
                      </a:endParaRPr>
                    </a:p>
                  </a:txBody>
                  <a:tcPr marL="0" marR="0" marT="0" marB="0" anchor="ctr" anchorCtr="0">
                    <a:lnL>
                      <a:noFill/>
                    </a:lnL>
                    <a:lnR>
                      <a:noFill/>
                    </a:lnR>
                    <a:lnT>
                      <a:noFill/>
                    </a:lnT>
                    <a:lnB>
                      <a:noFill/>
                    </a:lnB>
                    <a:noFill/>
                  </a:tcPr>
                </a:tc>
                <a:tc>
                  <a:txBody>
                    <a:bodyPr/>
                    <a:p>
                      <a:pPr algn="ctr"/>
                      <a:r>
                        <a:rPr sz="1800" b="1">
                          <a:solidFill>
                            <a:srgbClr val="FF0000"/>
                          </a:solidFill>
                        </a:rPr>
                        <a:t>Meaning</a:t>
                      </a:r>
                      <a:endParaRPr sz="1800" b="1">
                        <a:solidFill>
                          <a:srgbClr val="FF0000"/>
                        </a:solidFill>
                      </a:endParaRPr>
                    </a:p>
                  </a:txBody>
                  <a:tcPr marL="0" marR="0" marT="0" marB="0" anchor="ctr" anchorCtr="0">
                    <a:lnL>
                      <a:noFill/>
                    </a:lnL>
                    <a:lnR>
                      <a:noFill/>
                    </a:lnR>
                    <a:lnT>
                      <a:noFill/>
                    </a:lnT>
                    <a:lnB>
                      <a:noFill/>
                    </a:lnB>
                    <a:noFill/>
                  </a:tcPr>
                </a:tc>
              </a:tr>
              <a:tr h="363220">
                <a:tc>
                  <a:txBody>
                    <a:bodyPr/>
                    <a:p>
                      <a:r>
                        <a:rPr sz="1800"/>
                        <a:t>Promise</a:t>
                      </a:r>
                      <a:endParaRPr sz="1800"/>
                    </a:p>
                  </a:txBody>
                  <a:tcPr marL="0" marR="0" marT="0" marB="0" anchor="ctr" anchorCtr="0">
                    <a:lnL>
                      <a:noFill/>
                    </a:lnL>
                    <a:lnR>
                      <a:noFill/>
                    </a:lnR>
                    <a:lnT>
                      <a:noFill/>
                    </a:lnT>
                    <a:lnB>
                      <a:noFill/>
                    </a:lnB>
                    <a:noFill/>
                  </a:tcPr>
                </a:tc>
                <a:tc>
                  <a:txBody>
                    <a:bodyPr/>
                    <a:p>
                      <a:r>
                        <a:rPr sz="1800"/>
                        <a:t>Handles future value (async result).</a:t>
                      </a:r>
                      <a:endParaRPr sz="1800"/>
                    </a:p>
                  </a:txBody>
                  <a:tcPr marL="0" marR="0" marT="0" marB="0" anchor="ctr" anchorCtr="0">
                    <a:lnL>
                      <a:noFill/>
                    </a:lnL>
                    <a:lnR>
                      <a:noFill/>
                    </a:lnR>
                    <a:lnT>
                      <a:noFill/>
                    </a:lnT>
                    <a:lnB>
                      <a:noFill/>
                    </a:lnB>
                    <a:noFill/>
                  </a:tcPr>
                </a:tc>
              </a:tr>
              <a:tr h="363220">
                <a:tc>
                  <a:txBody>
                    <a:bodyPr/>
                    <a:p>
                      <a:r>
                        <a:rPr sz="1800"/>
                        <a:t>async</a:t>
                      </a:r>
                      <a:endParaRPr sz="1800"/>
                    </a:p>
                  </a:txBody>
                  <a:tcPr marL="0" marR="0" marT="0" marB="0" anchor="ctr" anchorCtr="0">
                    <a:lnL>
                      <a:noFill/>
                    </a:lnL>
                    <a:lnR>
                      <a:noFill/>
                    </a:lnR>
                    <a:lnT>
                      <a:noFill/>
                    </a:lnT>
                    <a:lnB>
                      <a:noFill/>
                    </a:lnB>
                    <a:noFill/>
                  </a:tcPr>
                </a:tc>
                <a:tc>
                  <a:txBody>
                    <a:bodyPr/>
                    <a:p>
                      <a:r>
                        <a:rPr sz="1800"/>
                        <a:t>Makes a function return a Promise.</a:t>
                      </a:r>
                      <a:endParaRPr sz="1800"/>
                    </a:p>
                  </a:txBody>
                  <a:tcPr marL="0" marR="0" marT="0" marB="0" anchor="ctr" anchorCtr="0">
                    <a:lnL>
                      <a:noFill/>
                    </a:lnL>
                    <a:lnR>
                      <a:noFill/>
                    </a:lnR>
                    <a:lnT>
                      <a:noFill/>
                    </a:lnT>
                    <a:lnB>
                      <a:noFill/>
                    </a:lnB>
                    <a:noFill/>
                  </a:tcPr>
                </a:tc>
              </a:tr>
              <a:tr h="478155">
                <a:tc>
                  <a:txBody>
                    <a:bodyPr/>
                    <a:p>
                      <a:r>
                        <a:rPr sz="1800"/>
                        <a:t>await</a:t>
                      </a:r>
                      <a:endParaRPr sz="1800"/>
                    </a:p>
                  </a:txBody>
                  <a:tcPr marL="0" marR="0" marT="0" marB="0" anchor="ctr" anchorCtr="0">
                    <a:lnL>
                      <a:noFill/>
                    </a:lnL>
                    <a:lnR>
                      <a:noFill/>
                    </a:lnR>
                    <a:lnT>
                      <a:noFill/>
                    </a:lnT>
                    <a:lnB>
                      <a:noFill/>
                    </a:lnB>
                    <a:noFill/>
                  </a:tcPr>
                </a:tc>
                <a:tc>
                  <a:txBody>
                    <a:bodyPr/>
                    <a:p>
                      <a:r>
                        <a:rPr sz="1800"/>
                        <a:t>Waits for a Promise to resolve inside async.</a:t>
                      </a:r>
                      <a:endParaRPr sz="1800"/>
                    </a:p>
                  </a:txBody>
                  <a:tcPr marL="0" marR="0" marT="0" marB="0" anchor="ctr" anchorCtr="0">
                    <a:lnL>
                      <a:noFill/>
                    </a:lnL>
                    <a:lnR>
                      <a:noFill/>
                    </a:lnR>
                    <a:lnT>
                      <a:noFill/>
                    </a:lnT>
                    <a:lnB>
                      <a:noFill/>
                    </a:lnB>
                    <a:noFill/>
                  </a:tcPr>
                </a:tc>
              </a:tr>
              <a:tr h="363220">
                <a:tc>
                  <a:txBody>
                    <a:bodyPr/>
                    <a:p>
                      <a:r>
                        <a:rPr sz="1800"/>
                        <a:t>.then()</a:t>
                      </a:r>
                      <a:endParaRPr sz="1800"/>
                    </a:p>
                  </a:txBody>
                  <a:tcPr marL="0" marR="0" marT="0" marB="0" anchor="ctr" anchorCtr="0">
                    <a:lnL>
                      <a:noFill/>
                    </a:lnL>
                    <a:lnR>
                      <a:noFill/>
                    </a:lnR>
                    <a:lnT>
                      <a:noFill/>
                    </a:lnT>
                    <a:lnB>
                      <a:noFill/>
                    </a:lnB>
                    <a:noFill/>
                  </a:tcPr>
                </a:tc>
                <a:tc>
                  <a:txBody>
                    <a:bodyPr/>
                    <a:p>
                      <a:r>
                        <a:rPr sz="1800"/>
                        <a:t>Old way to handle Promises.</a:t>
                      </a:r>
                      <a:endParaRPr sz="1800"/>
                    </a:p>
                  </a:txBody>
                  <a:tcPr marL="0" marR="0" marT="0" marB="0" anchor="ctr" anchorCtr="0">
                    <a:lnL>
                      <a:noFill/>
                    </a:lnL>
                    <a:lnR>
                      <a:noFill/>
                    </a:lnR>
                    <a:lnT>
                      <a:noFill/>
                    </a:lnT>
                    <a:lnB>
                      <a:noFill/>
                    </a:lnB>
                    <a:noFill/>
                  </a:tcPr>
                </a:tc>
              </a:tr>
              <a:tr h="363220">
                <a:tc>
                  <a:txBody>
                    <a:bodyPr/>
                    <a:p>
                      <a:r>
                        <a:rPr sz="1800"/>
                        <a:t>async/await</a:t>
                      </a:r>
                      <a:endParaRPr sz="1800"/>
                    </a:p>
                  </a:txBody>
                  <a:tcPr marL="0" marR="0" marT="0" marB="0" anchor="ctr" anchorCtr="0">
                    <a:lnL>
                      <a:noFill/>
                    </a:lnL>
                    <a:lnR>
                      <a:noFill/>
                    </a:lnR>
                    <a:lnT>
                      <a:noFill/>
                    </a:lnT>
                    <a:lnB>
                      <a:noFill/>
                    </a:lnB>
                    <a:noFill/>
                  </a:tcPr>
                </a:tc>
                <a:tc>
                  <a:txBody>
                    <a:bodyPr/>
                    <a:p>
                      <a:r>
                        <a:rPr sz="1800"/>
                        <a:t>Cleaner and modern way.</a:t>
                      </a:r>
                      <a:endParaRPr sz="18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2192635" cy="362585"/>
          </a:xfrm>
        </p:spPr>
        <p:txBody>
          <a:bodyPr>
            <a:noAutofit/>
          </a:bodyPr>
          <a:p>
            <a:pPr algn="ctr"/>
            <a:r>
              <a:rPr lang="en-US" altLang="en-US" sz="2000" b="1">
                <a:sym typeface="+mn-ea"/>
              </a:rPr>
              <a:t>What is a Callback Function in JavaScript?</a:t>
            </a:r>
            <a:endParaRPr lang="en-US" altLang="en-US" sz="2000" b="1">
              <a:sym typeface="+mn-ea"/>
            </a:endParaRPr>
          </a:p>
        </p:txBody>
      </p:sp>
      <p:sp>
        <p:nvSpPr>
          <p:cNvPr id="3" name="Content Placeholder 2"/>
          <p:cNvSpPr>
            <a:spLocks noGrp="1"/>
          </p:cNvSpPr>
          <p:nvPr>
            <p:ph idx="1"/>
          </p:nvPr>
        </p:nvSpPr>
        <p:spPr>
          <a:xfrm>
            <a:off x="38735" y="362585"/>
            <a:ext cx="12061825" cy="6494780"/>
          </a:xfrm>
        </p:spPr>
        <p:txBody>
          <a:bodyPr/>
          <a:p>
            <a:r>
              <a:rPr lang="en-US" altLang="en-US" sz="2000"/>
              <a:t>A callback function is a function passed as an argument to another function, and it is called later after some task is finished.</a:t>
            </a:r>
            <a:endParaRPr lang="en-US" altLang="en-US" sz="2000"/>
          </a:p>
          <a:p>
            <a:r>
              <a:rPr lang="en-US" altLang="en-US" sz="2000"/>
              <a:t>“I’ll call you back when I’m done.”</a:t>
            </a:r>
            <a:endParaRPr lang="en-US" altLang="en-US" sz="2000"/>
          </a:p>
          <a:p>
            <a:pPr marL="0" indent="0">
              <a:buNone/>
            </a:pPr>
            <a:r>
              <a:rPr lang="en-US" altLang="en-US" sz="2000" b="1"/>
              <a:t>Why Do We Use Callback Functions?</a:t>
            </a:r>
            <a:endParaRPr lang="en-US" altLang="en-US" sz="2000" b="1"/>
          </a:p>
          <a:p>
            <a:pPr marL="0" indent="0">
              <a:buNone/>
            </a:pPr>
            <a:r>
              <a:rPr lang="en-US" altLang="en-US" sz="2000"/>
              <a:t>JavaScript is asynchronous (non-blocking). Some tasks take time:</a:t>
            </a:r>
            <a:endParaRPr lang="en-US" altLang="en-US" sz="2000"/>
          </a:p>
          <a:p>
            <a:pPr marL="0" indent="0">
              <a:buNone/>
            </a:pPr>
            <a:r>
              <a:rPr lang="en-US" altLang="en-US" sz="2000"/>
              <a:t>Fetching data from a server </a:t>
            </a:r>
            <a:endParaRPr lang="zh-CN" altLang="en-US" sz="2000"/>
          </a:p>
          <a:p>
            <a:pPr marL="0" indent="0">
              <a:buNone/>
            </a:pPr>
            <a:r>
              <a:rPr lang="en-US" altLang="en-US" sz="2000"/>
              <a:t>Reading a file </a:t>
            </a:r>
            <a:endParaRPr lang="zh-CN" altLang="en-US" sz="2000"/>
          </a:p>
          <a:p>
            <a:pPr marL="0" indent="0">
              <a:buNone/>
            </a:pPr>
            <a:r>
              <a:rPr lang="en-US" altLang="en-US" sz="2000"/>
              <a:t>Waiting for user input </a:t>
            </a:r>
            <a:endParaRPr lang="en-US" altLang="en-US" sz="2000"/>
          </a:p>
          <a:p>
            <a:pPr marL="0" indent="0">
              <a:buNone/>
            </a:pPr>
            <a:r>
              <a:rPr lang="en-US" altLang="en-US" sz="2000"/>
              <a:t>Timers (setTimeout, setInterval)</a:t>
            </a:r>
            <a:endParaRPr lang="en-US" altLang="en-US" sz="2000"/>
          </a:p>
        </p:txBody>
      </p:sp>
      <p:sp>
        <p:nvSpPr>
          <p:cNvPr id="4" name="Text Box 3"/>
          <p:cNvSpPr txBox="1"/>
          <p:nvPr/>
        </p:nvSpPr>
        <p:spPr>
          <a:xfrm>
            <a:off x="6880860" y="1250950"/>
            <a:ext cx="5220335" cy="5409565"/>
          </a:xfrm>
          <a:prstGeom prst="rect">
            <a:avLst/>
          </a:prstGeom>
          <a:noFill/>
        </p:spPr>
        <p:txBody>
          <a:bodyPr wrap="square" rtlCol="0" anchor="t">
            <a:noAutofit/>
          </a:bodyPr>
          <a:p>
            <a:r>
              <a:rPr lang="en-US" altLang="en-US"/>
              <a:t>function calculate(a, b, operation) {</a:t>
            </a:r>
            <a:endParaRPr lang="en-US" altLang="en-US"/>
          </a:p>
          <a:p>
            <a:r>
              <a:rPr lang="en-US" altLang="en-US"/>
              <a:t>    return operation(a, b);</a:t>
            </a:r>
            <a:endParaRPr lang="en-US" altLang="en-US"/>
          </a:p>
          <a:p>
            <a:r>
              <a:rPr lang="en-US" altLang="en-US"/>
              <a:t>}</a:t>
            </a:r>
            <a:endParaRPr lang="en-US" altLang="en-US"/>
          </a:p>
          <a:p>
            <a:endParaRPr lang="en-US" altLang="en-US"/>
          </a:p>
          <a:p>
            <a:r>
              <a:rPr lang="en-US" altLang="en-US"/>
              <a:t>function add(x, y) {</a:t>
            </a:r>
            <a:endParaRPr lang="en-US" altLang="en-US"/>
          </a:p>
          <a:p>
            <a:r>
              <a:rPr lang="en-US" altLang="en-US"/>
              <a:t>    return x + y;</a:t>
            </a:r>
            <a:endParaRPr lang="en-US" altLang="en-US"/>
          </a:p>
          <a:p>
            <a:r>
              <a:rPr lang="en-US" altLang="en-US"/>
              <a:t>}</a:t>
            </a:r>
            <a:endParaRPr lang="en-US" altLang="en-US"/>
          </a:p>
          <a:p>
            <a:endParaRPr lang="en-US" altLang="en-US"/>
          </a:p>
          <a:p>
            <a:r>
              <a:rPr lang="en-US" altLang="en-US"/>
              <a:t>function multiply(x, y) {</a:t>
            </a:r>
            <a:endParaRPr lang="en-US" altLang="en-US"/>
          </a:p>
          <a:p>
            <a:r>
              <a:rPr lang="en-US" altLang="en-US"/>
              <a:t>    return x * y;</a:t>
            </a:r>
            <a:endParaRPr lang="en-US" altLang="en-US"/>
          </a:p>
          <a:p>
            <a:r>
              <a:rPr lang="en-US" altLang="en-US"/>
              <a:t>}</a:t>
            </a:r>
            <a:endParaRPr lang="en-US" altLang="en-US"/>
          </a:p>
          <a:p>
            <a:endParaRPr lang="en-US" altLang="en-US"/>
          </a:p>
          <a:p>
            <a:r>
              <a:rPr lang="en-US" altLang="en-US"/>
              <a:t>console.log(calculate(5, 3, add));      // 8</a:t>
            </a:r>
            <a:endParaRPr lang="en-US" altLang="en-US"/>
          </a:p>
          <a:p>
            <a:r>
              <a:rPr lang="en-US" altLang="en-US"/>
              <a:t>console.log(calculate(5, 3, multiply)); // 15</a:t>
            </a:r>
            <a:endParaRPr lang="en-US" altLang="en-US"/>
          </a:p>
          <a:p>
            <a:endParaRPr lang="en-US"/>
          </a:p>
        </p:txBody>
      </p:sp>
      <p:sp>
        <p:nvSpPr>
          <p:cNvPr id="5" name="Text Box 4"/>
          <p:cNvSpPr txBox="1"/>
          <p:nvPr/>
        </p:nvSpPr>
        <p:spPr>
          <a:xfrm>
            <a:off x="38735" y="3919855"/>
            <a:ext cx="6096000" cy="2861310"/>
          </a:xfrm>
          <a:prstGeom prst="rect">
            <a:avLst/>
          </a:prstGeom>
          <a:noFill/>
        </p:spPr>
        <p:txBody>
          <a:bodyPr wrap="square" rtlCol="0" anchor="t">
            <a:spAutoFit/>
          </a:bodyPr>
          <a:p>
            <a:r>
              <a:rPr lang="en-US" altLang="en-US"/>
              <a:t>function message(name, callback) {</a:t>
            </a:r>
            <a:endParaRPr lang="en-US" altLang="en-US"/>
          </a:p>
          <a:p>
            <a:r>
              <a:rPr lang="en-US" altLang="en-US"/>
              <a:t>  console.log("Hi " + name);</a:t>
            </a:r>
            <a:endParaRPr lang="en-US" altLang="en-US"/>
          </a:p>
          <a:p>
            <a:r>
              <a:rPr lang="en-US" altLang="en-US"/>
              <a:t>  callback();</a:t>
            </a:r>
            <a:endParaRPr lang="en-US" altLang="en-US"/>
          </a:p>
          <a:p>
            <a:r>
              <a:rPr lang="en-US" altLang="en-US"/>
              <a:t>}</a:t>
            </a:r>
            <a:endParaRPr lang="en-US" altLang="en-US"/>
          </a:p>
          <a:p>
            <a:r>
              <a:rPr lang="en-US" altLang="en-US"/>
              <a:t>function test() {</a:t>
            </a:r>
            <a:endParaRPr lang="en-US" altLang="en-US"/>
          </a:p>
          <a:p>
            <a:r>
              <a:rPr lang="en-US" altLang="en-US"/>
              <a:t>  console.log("Bye!");</a:t>
            </a:r>
            <a:endParaRPr lang="en-US" altLang="en-US"/>
          </a:p>
          <a:p>
            <a:r>
              <a:rPr lang="en-US" altLang="en-US"/>
              <a:t>}</a:t>
            </a:r>
            <a:endParaRPr lang="en-US" altLang="en-US"/>
          </a:p>
          <a:p>
            <a:endParaRPr lang="en-US" altLang="en-US"/>
          </a:p>
          <a:p>
            <a:r>
              <a:rPr lang="en-US" altLang="en-US">
                <a:sym typeface="+mn-ea"/>
              </a:rPr>
              <a:t>message</a:t>
            </a:r>
            <a:r>
              <a:rPr lang="en-US" altLang="en-US"/>
              <a:t>("Alex", </a:t>
            </a:r>
            <a:r>
              <a:rPr lang="en-US" altLang="en-US">
                <a:sym typeface="+mn-ea"/>
              </a:rPr>
              <a:t>test</a:t>
            </a:r>
            <a:r>
              <a:rPr lang="en-US" altLang="en-US"/>
              <a:t>);</a:t>
            </a:r>
            <a:endParaRPr lang="en-US" altLang="en-US"/>
          </a:p>
          <a:p>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35" y="418465"/>
            <a:ext cx="12193270" cy="1322070"/>
          </a:xfrm>
          <a:prstGeom prst="rect">
            <a:avLst/>
          </a:prstGeom>
        </p:spPr>
        <p:txBody>
          <a:bodyPr wrap="square">
            <a:spAutoFit/>
          </a:bodyPr>
          <a:p>
            <a:r>
              <a:rPr sz="1600"/>
              <a:t>A JavaScript object is a data structure that stores related data and functions as key–value pairs.</a:t>
            </a:r>
            <a:endParaRPr sz="1600"/>
          </a:p>
          <a:p>
            <a:r>
              <a:rPr sz="1600"/>
              <a:t>In simple terms:</a:t>
            </a:r>
            <a:endParaRPr sz="1600"/>
          </a:p>
          <a:p>
            <a:r>
              <a:rPr sz="1600"/>
              <a:t>  An object represents a thing with properties and behaviors.</a:t>
            </a:r>
            <a:endParaRPr sz="1600"/>
          </a:p>
          <a:p>
            <a:r>
              <a:rPr sz="1600" b="1"/>
              <a:t>Formal definition:</a:t>
            </a:r>
            <a:endParaRPr sz="1600" b="1"/>
          </a:p>
          <a:p>
            <a:r>
              <a:rPr sz="1600"/>
              <a:t>A JavaScript object is a non-primitive data type used to store multiple values as properties, where each property has a name (key) and a value.</a:t>
            </a:r>
            <a:endParaRPr sz="1600"/>
          </a:p>
        </p:txBody>
      </p:sp>
      <p:sp>
        <p:nvSpPr>
          <p:cNvPr id="5" name="Text Box 4"/>
          <p:cNvSpPr txBox="1"/>
          <p:nvPr/>
        </p:nvSpPr>
        <p:spPr>
          <a:xfrm>
            <a:off x="-635" y="2453640"/>
            <a:ext cx="5257165" cy="2886710"/>
          </a:xfrm>
          <a:prstGeom prst="rect">
            <a:avLst/>
          </a:prstGeom>
          <a:noFill/>
        </p:spPr>
        <p:txBody>
          <a:bodyPr wrap="square" rtlCol="0" anchor="t">
            <a:noAutofit/>
          </a:bodyPr>
          <a:p>
            <a:r>
              <a:rPr lang="en-US" altLang="en-US"/>
              <a:t>const student = {</a:t>
            </a:r>
            <a:endParaRPr lang="en-US" altLang="en-US"/>
          </a:p>
          <a:p>
            <a:r>
              <a:rPr lang="en-US" altLang="en-US"/>
              <a:t>  name: "Ravi",</a:t>
            </a:r>
            <a:endParaRPr lang="en-US" altLang="en-US"/>
          </a:p>
          <a:p>
            <a:r>
              <a:rPr lang="en-US" altLang="en-US"/>
              <a:t>  age: 20,</a:t>
            </a:r>
            <a:endParaRPr lang="en-US" altLang="en-US"/>
          </a:p>
          <a:p>
            <a:r>
              <a:rPr lang="en-US" altLang="en-US"/>
              <a:t>  course: "Computer Science",</a:t>
            </a:r>
            <a:endParaRPr lang="en-US" altLang="en-US"/>
          </a:p>
          <a:p>
            <a:r>
              <a:rPr lang="en-US" altLang="en-US"/>
              <a:t>  isEnrolled: true,</a:t>
            </a:r>
            <a:endParaRPr lang="en-US" altLang="en-US"/>
          </a:p>
          <a:p>
            <a:r>
              <a:rPr lang="en-US" altLang="en-US"/>
              <a:t>  introduce() {</a:t>
            </a:r>
            <a:endParaRPr lang="en-US" altLang="en-US"/>
          </a:p>
          <a:p>
            <a:r>
              <a:rPr lang="en-US" altLang="en-US"/>
              <a:t>return `Hi, I’m ${this.name} and I study ${this.course}`;</a:t>
            </a:r>
            <a:endParaRPr lang="en-US" altLang="en-US"/>
          </a:p>
          <a:p>
            <a:r>
              <a:rPr lang="en-US" altLang="en-US"/>
              <a:t>  }</a:t>
            </a:r>
            <a:endParaRPr lang="en-US" altLang="en-US"/>
          </a:p>
          <a:p>
            <a:r>
              <a:rPr lang="en-US" altLang="en-US"/>
              <a:t>};</a:t>
            </a:r>
            <a:endParaRPr lang="en-US" altLang="en-US"/>
          </a:p>
          <a:p>
            <a:r>
              <a:rPr lang="en-US" altLang="en-US"/>
              <a:t>student.introduce();</a:t>
            </a:r>
            <a:endParaRPr lang="en-US" altLang="en-US"/>
          </a:p>
          <a:p>
            <a:endParaRPr lang="en-US"/>
          </a:p>
        </p:txBody>
      </p:sp>
      <p:sp>
        <p:nvSpPr>
          <p:cNvPr id="6" name="Text Box 5"/>
          <p:cNvSpPr txBox="1"/>
          <p:nvPr/>
        </p:nvSpPr>
        <p:spPr>
          <a:xfrm>
            <a:off x="0" y="5340033"/>
            <a:ext cx="5080000" cy="1476375"/>
          </a:xfrm>
          <a:prstGeom prst="rect">
            <a:avLst/>
          </a:prstGeom>
        </p:spPr>
        <p:txBody>
          <a:bodyPr>
            <a:spAutoFit/>
          </a:bodyPr>
          <a:p>
            <a:r>
              <a:t>Represents a real-world thing (a student)</a:t>
            </a:r>
          </a:p>
          <a:p>
            <a:r>
              <a:t>Has properties → name, age, course, isEnrolled</a:t>
            </a:r>
          </a:p>
          <a:p>
            <a:r>
              <a:t>Has a method → introduce()</a:t>
            </a:r>
          </a:p>
          <a:p>
            <a:r>
              <a:t>Uses key–value pairs</a:t>
            </a:r>
          </a:p>
          <a:p>
            <a:r>
              <a:t>Uses this correctly</a:t>
            </a:r>
          </a:p>
        </p:txBody>
      </p:sp>
      <p:sp>
        <p:nvSpPr>
          <p:cNvPr id="7" name="Text Box 6"/>
          <p:cNvSpPr txBox="1"/>
          <p:nvPr/>
        </p:nvSpPr>
        <p:spPr>
          <a:xfrm>
            <a:off x="6833235" y="3887470"/>
            <a:ext cx="5259070" cy="2929255"/>
          </a:xfrm>
          <a:prstGeom prst="rect">
            <a:avLst/>
          </a:prstGeom>
        </p:spPr>
        <p:txBody>
          <a:bodyPr>
            <a:noAutofit/>
          </a:bodyPr>
          <a:p>
            <a:pPr indent="0" algn="ctr">
              <a:buNone/>
            </a:pPr>
            <a:r>
              <a:rPr b="1"/>
              <a:t>Uses of JavaScript Objects (Points Only):</a:t>
            </a:r>
            <a:endParaRPr b="1"/>
          </a:p>
          <a:p>
            <a:pPr indent="0">
              <a:buNone/>
            </a:pPr>
          </a:p>
          <a:p>
            <a:pPr marL="342900" indent="-342900">
              <a:buFont typeface="+mj-lt"/>
              <a:buAutoNum type="arabicPeriod"/>
            </a:pPr>
            <a:r>
              <a:t>Store related data together</a:t>
            </a:r>
          </a:p>
          <a:p>
            <a:pPr marL="342900" indent="-342900">
              <a:buFont typeface="+mj-lt"/>
              <a:buAutoNum type="arabicPeriod"/>
            </a:pPr>
            <a:r>
              <a:t>Represent real-world entities</a:t>
            </a:r>
          </a:p>
          <a:p>
            <a:pPr marL="342900" indent="-342900">
              <a:buFont typeface="+mj-lt"/>
              <a:buAutoNum type="arabicPeriod"/>
            </a:pPr>
            <a:r>
              <a:t>Improve code organization</a:t>
            </a:r>
          </a:p>
          <a:p>
            <a:pPr marL="342900" indent="-342900">
              <a:buFont typeface="+mj-lt"/>
              <a:buAutoNum type="arabicPeriod"/>
            </a:pPr>
            <a:r>
              <a:t>Make data easy to access and update</a:t>
            </a:r>
          </a:p>
          <a:p>
            <a:pPr marL="342900" indent="-342900">
              <a:buFont typeface="+mj-lt"/>
              <a:buAutoNum type="arabicPeriod"/>
            </a:pPr>
            <a:r>
              <a:t>Perform calculations on object properties</a:t>
            </a:r>
          </a:p>
          <a:p>
            <a:pPr marL="342900" indent="-342900">
              <a:buFont typeface="+mj-lt"/>
              <a:buAutoNum type="arabicPeriod"/>
            </a:pPr>
            <a:r>
              <a:t>Calculate totals, averages, and prices</a:t>
            </a:r>
          </a:p>
          <a:p>
            <a:pPr marL="342900" indent="-342900">
              <a:buFont typeface="+mj-lt"/>
              <a:buAutoNum type="arabicPeriod"/>
            </a:pPr>
            <a:r>
              <a:t>Manage numeric data efficiently</a:t>
            </a:r>
          </a:p>
          <a:p>
            <a:pPr marL="342900" indent="-342900">
              <a:buFont typeface="+mj-lt"/>
              <a:buAutoNum type="arabicPeriod"/>
            </a:pPr>
            <a:r>
              <a:t>Simplify complex data calculations</a:t>
            </a:r>
          </a:p>
          <a:p>
            <a:pPr marL="342900" indent="-342900">
              <a:buFont typeface="+mj-lt"/>
              <a:buAutoNum type="arabicPeriod"/>
            </a:pPr>
            <a:r>
              <a:t>Improve readability of calculations</a:t>
            </a:r>
          </a:p>
        </p:txBody>
      </p:sp>
      <p:sp>
        <p:nvSpPr>
          <p:cNvPr id="8" name="Text Box 7"/>
          <p:cNvSpPr txBox="1"/>
          <p:nvPr/>
        </p:nvSpPr>
        <p:spPr>
          <a:xfrm>
            <a:off x="0" y="1849120"/>
            <a:ext cx="11964670" cy="643255"/>
          </a:xfrm>
          <a:prstGeom prst="rect">
            <a:avLst/>
          </a:prstGeom>
        </p:spPr>
        <p:txBody>
          <a:bodyPr wrap="square">
            <a:noAutofit/>
          </a:bodyPr>
          <a:p>
            <a:r>
              <a:rPr sz="1600"/>
              <a:t>Why objects are used:</a:t>
            </a:r>
            <a:endParaRPr sz="1600"/>
          </a:p>
          <a:p>
            <a:r>
              <a:rPr sz="1600"/>
              <a:t>Objects are used to store related data and functions together and to represent real-world entities in JavaScript.</a:t>
            </a:r>
            <a:endParaRPr sz="1600"/>
          </a:p>
        </p:txBody>
      </p:sp>
      <p:sp>
        <p:nvSpPr>
          <p:cNvPr id="9" name="Text Box 8"/>
          <p:cNvSpPr txBox="1"/>
          <p:nvPr/>
        </p:nvSpPr>
        <p:spPr>
          <a:xfrm>
            <a:off x="6428740" y="2453640"/>
            <a:ext cx="5663565" cy="1277620"/>
          </a:xfrm>
          <a:prstGeom prst="rect">
            <a:avLst/>
          </a:prstGeom>
          <a:noFill/>
        </p:spPr>
        <p:txBody>
          <a:bodyPr wrap="square" rtlCol="0" anchor="t">
            <a:noAutofit/>
          </a:bodyPr>
          <a:p>
            <a:r>
              <a:rPr lang="en-US" altLang="en-US"/>
              <a:t>const product = {</a:t>
            </a:r>
            <a:endParaRPr lang="en-US" altLang="en-US"/>
          </a:p>
          <a:p>
            <a:r>
              <a:rPr lang="en-US" altLang="en-US"/>
              <a:t>  price: 500,  quantity: 3  };</a:t>
            </a:r>
            <a:endParaRPr lang="en-US" altLang="en-US"/>
          </a:p>
          <a:p>
            <a:r>
              <a:rPr lang="en-US" altLang="en-US"/>
              <a:t>const totalCost = product.price * product.quantity;</a:t>
            </a:r>
            <a:endParaRPr lang="en-US" altLang="en-US"/>
          </a:p>
          <a:p>
            <a:r>
              <a:rPr lang="en-US" altLang="en-US"/>
              <a:t>console.log(totalCost); // 1500</a:t>
            </a:r>
            <a:endParaRPr lang="en-US" altLang="en-US"/>
          </a:p>
          <a:p>
            <a:endParaRPr lang="en-US"/>
          </a:p>
        </p:txBody>
      </p:sp>
      <p:sp>
        <p:nvSpPr>
          <p:cNvPr id="10" name="Text Box 9"/>
          <p:cNvSpPr txBox="1"/>
          <p:nvPr/>
        </p:nvSpPr>
        <p:spPr>
          <a:xfrm>
            <a:off x="0" y="0"/>
            <a:ext cx="12192635" cy="454025"/>
          </a:xfrm>
          <a:prstGeom prst="rect">
            <a:avLst/>
          </a:prstGeom>
          <a:noFill/>
        </p:spPr>
        <p:txBody>
          <a:bodyPr wrap="square" rtlCol="0" anchor="t">
            <a:noAutofit/>
          </a:bodyPr>
          <a:p>
            <a:pPr algn="ctr"/>
            <a:r>
              <a:rPr sz="2400" b="1">
                <a:solidFill>
                  <a:srgbClr val="FF0000"/>
                </a:solidFill>
                <a:sym typeface="+mn-ea"/>
              </a:rPr>
              <a:t>JavaScript object</a:t>
            </a:r>
            <a:endParaRPr lang="en-US" sz="2400" b="1">
              <a:solidFill>
                <a:srgbClr val="FF0000"/>
              </a:solidFill>
              <a:sym typeface="+mn-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18135" y="0"/>
            <a:ext cx="11624310" cy="405130"/>
          </a:xfrm>
        </p:spPr>
        <p:txBody>
          <a:bodyPr>
            <a:noAutofit/>
          </a:bodyPr>
          <a:p>
            <a:pPr algn="ctr"/>
            <a:r>
              <a:rPr lang="en-US" altLang="en-US" sz="2000" b="1">
                <a:solidFill>
                  <a:srgbClr val="FF0000"/>
                </a:solidFill>
                <a:sym typeface="+mn-ea"/>
              </a:rPr>
              <a:t>1. JavaScript Cookies</a:t>
            </a:r>
            <a:endParaRPr lang="en-US" altLang="en-US" sz="2000" b="1">
              <a:solidFill>
                <a:srgbClr val="FF0000"/>
              </a:solidFill>
              <a:sym typeface="+mn-ea"/>
            </a:endParaRPr>
          </a:p>
        </p:txBody>
      </p:sp>
      <p:sp>
        <p:nvSpPr>
          <p:cNvPr id="3" name="Content Placeholder 2"/>
          <p:cNvSpPr>
            <a:spLocks noGrp="1"/>
          </p:cNvSpPr>
          <p:nvPr>
            <p:ph idx="1"/>
          </p:nvPr>
        </p:nvSpPr>
        <p:spPr>
          <a:xfrm>
            <a:off x="167640" y="555625"/>
            <a:ext cx="11911330" cy="6212840"/>
          </a:xfrm>
        </p:spPr>
        <p:txBody>
          <a:bodyPr>
            <a:normAutofit fontScale="90000" lnSpcReduction="20000"/>
          </a:bodyPr>
          <a:p>
            <a:pPr marL="0" indent="0">
              <a:buNone/>
            </a:pPr>
            <a:r>
              <a:rPr lang="en-US" altLang="en-US" sz="1800"/>
              <a:t>Cookies are small text files stored in the browser and sent to the server with every HTTP request.</a:t>
            </a:r>
            <a:endParaRPr lang="en-US" altLang="en-US" sz="1800"/>
          </a:p>
          <a:p>
            <a:pPr marL="0" indent="0">
              <a:buNone/>
            </a:pPr>
            <a:r>
              <a:rPr lang="en-US" altLang="en-US" sz="1800"/>
              <a:t>// Set a cookie</a:t>
            </a:r>
            <a:endParaRPr lang="en-US" altLang="en-US" sz="1800"/>
          </a:p>
          <a:p>
            <a:pPr marL="0" indent="0">
              <a:buNone/>
            </a:pPr>
            <a:r>
              <a:rPr lang="en-US" altLang="en-US" sz="1800"/>
              <a:t>document.cookie = "username=John; expires=Fri, 31 Dec 2025 23:59:59 GMT; path=/";</a:t>
            </a:r>
            <a:endParaRPr lang="en-US" altLang="en-US" sz="1800"/>
          </a:p>
          <a:p>
            <a:pPr marL="0" indent="0">
              <a:buNone/>
            </a:pPr>
            <a:r>
              <a:rPr lang="en-US" altLang="en-US" sz="1800"/>
              <a:t>// Read cookies</a:t>
            </a:r>
            <a:endParaRPr lang="en-US" altLang="en-US" sz="1800"/>
          </a:p>
          <a:p>
            <a:pPr marL="0" indent="0">
              <a:buNone/>
            </a:pPr>
            <a:r>
              <a:rPr lang="en-US" altLang="en-US" sz="1800"/>
              <a:t>console.log(document.cookie);</a:t>
            </a:r>
            <a:endParaRPr lang="en-US" altLang="en-US" sz="1800"/>
          </a:p>
          <a:p>
            <a:pPr marL="0" indent="0">
              <a:buNone/>
            </a:pPr>
            <a:r>
              <a:rPr lang="en-US" altLang="en-US" sz="1800"/>
              <a:t>// Delete a cookie</a:t>
            </a:r>
            <a:endParaRPr lang="en-US" altLang="en-US" sz="1800"/>
          </a:p>
          <a:p>
            <a:pPr marL="0" indent="0">
              <a:buNone/>
            </a:pPr>
            <a:r>
              <a:rPr lang="en-US" altLang="en-US" sz="1800"/>
              <a:t>document.cookie = "username=; expires=Thu, 01 Jan 1970 00:00:00 UTC; path=/;";</a:t>
            </a:r>
            <a:endParaRPr lang="en-US" altLang="en-US" sz="1800"/>
          </a:p>
          <a:p>
            <a:pPr marL="0" indent="0">
              <a:buNone/>
            </a:pPr>
            <a:endParaRPr lang="en-US" altLang="en-US" sz="1800"/>
          </a:p>
          <a:p>
            <a:pPr marL="0" indent="0">
              <a:buNone/>
            </a:pPr>
            <a:r>
              <a:rPr lang="en-US" altLang="en-US" sz="1800"/>
              <a:t>Limited to 4KB of data.</a:t>
            </a:r>
            <a:endParaRPr lang="en-US" altLang="en-US" sz="1800"/>
          </a:p>
          <a:p>
            <a:pPr marL="0" indent="0">
              <a:buNone/>
            </a:pPr>
            <a:r>
              <a:rPr lang="en-US" altLang="en-US" sz="1800"/>
              <a:t>Automatically sent with each request to the same origin.</a:t>
            </a:r>
            <a:endParaRPr lang="en-US" altLang="en-US" sz="1800"/>
          </a:p>
          <a:p>
            <a:pPr marL="0" indent="0">
              <a:buNone/>
            </a:pPr>
            <a:r>
              <a:rPr lang="en-US" altLang="en-US" sz="1800"/>
              <a:t>Not suitable for storing sensitive info.</a:t>
            </a:r>
            <a:endParaRPr lang="en-US" altLang="en-US" sz="1800"/>
          </a:p>
          <a:p>
            <a:pPr marL="0" indent="0">
              <a:buNone/>
            </a:pPr>
            <a:endParaRPr lang="en-US" altLang="en-US" sz="1800"/>
          </a:p>
          <a:p>
            <a:pPr marL="0" indent="0">
              <a:buNone/>
            </a:pPr>
            <a:r>
              <a:rPr lang="en-US" altLang="en-US" sz="1800"/>
              <a:t>2. Web Storage (LocalStorage and SessionStorage)</a:t>
            </a:r>
            <a:endParaRPr lang="en-US" altLang="en-US" sz="1800"/>
          </a:p>
          <a:p>
            <a:pPr marL="0" indent="0">
              <a:buNone/>
            </a:pPr>
            <a:r>
              <a:rPr lang="en-US" altLang="en-US" sz="1800"/>
              <a:t>✅ localStorage:</a:t>
            </a:r>
            <a:endParaRPr lang="en-US" altLang="en-US" sz="1800"/>
          </a:p>
          <a:p>
            <a:pPr marL="0" indent="0">
              <a:buNone/>
            </a:pPr>
            <a:r>
              <a:rPr lang="en-US" altLang="en-US" sz="1800"/>
              <a:t>Persistent until manually cleared.</a:t>
            </a:r>
            <a:endParaRPr lang="en-US" altLang="en-US" sz="1800"/>
          </a:p>
          <a:p>
            <a:pPr marL="0" indent="0">
              <a:buNone/>
            </a:pPr>
            <a:r>
              <a:rPr lang="en-US" altLang="en-US" sz="1800"/>
              <a:t>Key-value pairs stored in browser.</a:t>
            </a:r>
            <a:endParaRPr lang="en-US" altLang="en-US" sz="1800"/>
          </a:p>
          <a:p>
            <a:pPr marL="0" indent="0">
              <a:buNone/>
            </a:pPr>
            <a:endParaRPr lang="en-US" altLang="en-US" sz="1800"/>
          </a:p>
          <a:p>
            <a:pPr marL="0" indent="0">
              <a:buNone/>
            </a:pPr>
            <a:r>
              <a:rPr lang="en-US" altLang="en-US" sz="1800"/>
              <a:t>localStorage.setItem("user", "John");</a:t>
            </a:r>
            <a:endParaRPr lang="en-US" altLang="en-US" sz="1800"/>
          </a:p>
          <a:p>
            <a:pPr marL="0" indent="0">
              <a:buNone/>
            </a:pPr>
            <a:r>
              <a:rPr lang="en-US" altLang="en-US" sz="1800"/>
              <a:t>let user = localStorage.getItem("user");</a:t>
            </a:r>
            <a:endParaRPr lang="en-US" altLang="en-US" sz="1800"/>
          </a:p>
          <a:p>
            <a:pPr marL="0" indent="0">
              <a:buNone/>
            </a:pPr>
            <a:r>
              <a:rPr lang="en-US" altLang="en-US" sz="1800"/>
              <a:t>localStorage.removeItem("user");</a:t>
            </a:r>
            <a:endParaRPr lang="en-US" altLang="en-US" sz="1800"/>
          </a:p>
          <a:p>
            <a:pPr marL="0" indent="0">
              <a:buNone/>
            </a:pPr>
            <a:endParaRPr lang="en-US" altLang="en-US" sz="1800"/>
          </a:p>
        </p:txBody>
      </p:sp>
      <p:sp>
        <p:nvSpPr>
          <p:cNvPr id="4" name="Text Box 3"/>
          <p:cNvSpPr txBox="1"/>
          <p:nvPr/>
        </p:nvSpPr>
        <p:spPr>
          <a:xfrm>
            <a:off x="8216265" y="2955925"/>
            <a:ext cx="3726180" cy="1425575"/>
          </a:xfrm>
          <a:prstGeom prst="rect">
            <a:avLst/>
          </a:prstGeom>
          <a:noFill/>
        </p:spPr>
        <p:txBody>
          <a:bodyPr wrap="square" rtlCol="0" anchor="t">
            <a:noAutofit/>
          </a:bodyPr>
          <a:p>
            <a:r>
              <a:rPr lang="en-US" altLang="en-US"/>
              <a:t>Types of Cookies.</a:t>
            </a:r>
            <a:endParaRPr lang="en-US" altLang="en-US"/>
          </a:p>
          <a:p>
            <a:endParaRPr lang="en-US" altLang="en-US"/>
          </a:p>
          <a:p>
            <a:r>
              <a:rPr lang="en-US" altLang="en-US"/>
              <a:t>1)session cookies</a:t>
            </a:r>
            <a:endParaRPr lang="en-US" altLang="en-US"/>
          </a:p>
          <a:p>
            <a:r>
              <a:rPr lang="en-US" altLang="en-US"/>
              <a:t>2)persistent cookies</a:t>
            </a:r>
            <a:endParaRPr lang="en-US" altLang="en-US"/>
          </a:p>
          <a:p>
            <a:r>
              <a:rPr lang="en-US" altLang="en-US"/>
              <a:t>3)third party cookies</a:t>
            </a:r>
            <a:endParaRPr lang="en-US" altLang="en-US"/>
          </a:p>
          <a:p>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272415"/>
          </a:xfrm>
        </p:spPr>
        <p:txBody>
          <a:bodyPr>
            <a:normAutofit fontScale="90000"/>
          </a:bodyPr>
          <a:p>
            <a:pPr algn="ctr"/>
            <a:r>
              <a:rPr lang="en-US" sz="2400" b="1">
                <a:solidFill>
                  <a:srgbClr val="FF0000"/>
                </a:solidFill>
              </a:rPr>
              <a:t>Difference Between Session Storage And Cookies</a:t>
            </a:r>
            <a:endParaRPr lang="en-US" sz="2400" b="1">
              <a:solidFill>
                <a:srgbClr val="FF0000"/>
              </a:solidFill>
            </a:endParaRPr>
          </a:p>
        </p:txBody>
      </p:sp>
      <p:sp>
        <p:nvSpPr>
          <p:cNvPr id="3" name="Content Placeholder 2"/>
          <p:cNvSpPr>
            <a:spLocks noGrp="1"/>
          </p:cNvSpPr>
          <p:nvPr>
            <p:ph idx="1"/>
          </p:nvPr>
        </p:nvSpPr>
        <p:spPr>
          <a:xfrm>
            <a:off x="99695" y="273050"/>
            <a:ext cx="12362815" cy="6492875"/>
          </a:xfrm>
        </p:spPr>
        <p:txBody>
          <a:bodyPr>
            <a:noAutofit/>
          </a:bodyPr>
          <a:p>
            <a:pPr marL="0" indent="0">
              <a:buNone/>
            </a:pPr>
            <a:r>
              <a:rPr lang="en-US" altLang="en-US" sz="1600" b="1"/>
              <a:t>1. Persistence and Expiration:</a:t>
            </a:r>
            <a:endParaRPr lang="en-US" altLang="en-US" sz="1600" b="1"/>
          </a:p>
          <a:p>
            <a:pPr marL="0" indent="0">
              <a:buNone/>
            </a:pPr>
            <a:r>
              <a:rPr lang="en-US" altLang="en-US" sz="1600"/>
              <a:t>Cookies: Can be set to expire at a specific time (persistent cookies) or when the browser session ends (session cookies). You have control over their lifespan.</a:t>
            </a:r>
            <a:endParaRPr lang="en-US" altLang="en-US" sz="1600"/>
          </a:p>
          <a:p>
            <a:pPr marL="0" indent="0">
              <a:buNone/>
            </a:pPr>
            <a:r>
              <a:rPr lang="en-US" altLang="en-US" sz="1600"/>
              <a:t>sessionStorage: Data stored in sessionStorage is tied to a specific browser tab or window session. It is automatically cleared when the tab or window is closed. </a:t>
            </a:r>
            <a:endParaRPr lang="en-US" altLang="en-US" sz="1600"/>
          </a:p>
          <a:p>
            <a:pPr marL="0" indent="0">
              <a:buNone/>
            </a:pPr>
            <a:r>
              <a:rPr lang="en-US" altLang="en-US" sz="1600" b="1"/>
              <a:t>2. Scope:</a:t>
            </a:r>
            <a:endParaRPr lang="en-US" altLang="en-US" sz="1600" b="1"/>
          </a:p>
          <a:p>
            <a:pPr marL="0" indent="0">
              <a:buNone/>
            </a:pPr>
            <a:r>
              <a:rPr lang="en-US" altLang="en-US" sz="1600"/>
              <a:t>Cookies: Can be accessed by the server and are sent with every HTTP request to the domain they belong to. They can also be accessed by client-side JavaScript unless the HttpOnly flag is set.</a:t>
            </a:r>
            <a:endParaRPr lang="en-US" altLang="en-US" sz="1600"/>
          </a:p>
          <a:p>
            <a:pPr marL="0" indent="0">
              <a:buNone/>
            </a:pPr>
            <a:r>
              <a:rPr lang="en-US" altLang="en-US" sz="1600"/>
              <a:t>sessionStorage: Data is specific to the origin (domain, protocol, and port) and the particular browser tab/window where it was created. It is not shared across different tabs/windows of the same origin, nor is it sent to the server with requests.</a:t>
            </a:r>
            <a:endParaRPr lang="en-US" altLang="en-US" sz="1600"/>
          </a:p>
          <a:p>
            <a:pPr marL="0" indent="0">
              <a:buNone/>
            </a:pPr>
            <a:r>
              <a:rPr lang="en-US" altLang="en-US" sz="1600" b="1"/>
              <a:t>3. Storage Capacity:</a:t>
            </a:r>
            <a:endParaRPr lang="en-US" altLang="en-US" sz="1600" b="1"/>
          </a:p>
          <a:p>
            <a:pPr marL="0" indent="0">
              <a:buNone/>
            </a:pPr>
            <a:r>
              <a:rPr lang="en-US" altLang="en-US" sz="1600"/>
              <a:t>Cookies: Have a very limited storage capacity, typically around 4KB per domain.</a:t>
            </a:r>
            <a:endParaRPr lang="en-US" altLang="en-US" sz="1600"/>
          </a:p>
          <a:p>
            <a:pPr marL="0" indent="0">
              <a:buNone/>
            </a:pPr>
            <a:r>
              <a:rPr lang="en-US" altLang="en-US" sz="1600"/>
              <a:t>sessionStorage: Offers a significantly larger storage capacity, usually around 5MB to 10MB per origin, depending on the browser.</a:t>
            </a:r>
            <a:endParaRPr lang="en-US" altLang="en-US" sz="1600"/>
          </a:p>
          <a:p>
            <a:pPr marL="0" indent="0">
              <a:buNone/>
            </a:pPr>
            <a:r>
              <a:rPr lang="en-US" altLang="en-US" sz="1600" b="1"/>
              <a:t>4. Data Transfer:</a:t>
            </a:r>
            <a:endParaRPr lang="en-US" altLang="en-US" sz="1600" b="1"/>
          </a:p>
          <a:p>
            <a:pPr marL="0" indent="0">
              <a:buNone/>
            </a:pPr>
            <a:r>
              <a:rPr lang="en-US" altLang="en-US" sz="1600"/>
              <a:t>Cookies: Are automatically sent with every HTTP request to the server, which can lead to performance overhead if large amounts of data are stored in them.</a:t>
            </a:r>
            <a:endParaRPr lang="en-US" altLang="en-US" sz="1600"/>
          </a:p>
          <a:p>
            <a:pPr marL="0" indent="0">
              <a:buNone/>
            </a:pPr>
            <a:r>
              <a:rPr lang="en-US" altLang="en-US" sz="1600"/>
              <a:t>sessionStorage: Data is never sent to the server unless explicitly sent via JavaScript, making it more efficient for client-side data that doesn't need server interaction.</a:t>
            </a:r>
            <a:endParaRPr lang="en-US" altLang="en-US" sz="1600"/>
          </a:p>
          <a:p>
            <a:pPr marL="0" indent="0">
              <a:buNone/>
            </a:pPr>
            <a:r>
              <a:rPr lang="en-US" altLang="en-US" sz="1600" b="1"/>
              <a:t>5. Security:</a:t>
            </a:r>
            <a:endParaRPr lang="en-US" altLang="en-US" sz="1600" b="1"/>
          </a:p>
          <a:p>
            <a:pPr marL="0" indent="0">
              <a:buNone/>
            </a:pPr>
            <a:r>
              <a:rPr lang="en-US" altLang="en-US" sz="1600"/>
              <a:t>Cookies: Can be made more secure using flags like HttpOnly (prevents JavaScript access), Secure (ensures transmission over HTTPS), and SameSite (controls cross-site request behavior).</a:t>
            </a:r>
            <a:endParaRPr lang="en-US" altLang="en-US" sz="1600"/>
          </a:p>
          <a:p>
            <a:pPr marL="0" indent="0">
              <a:buNone/>
            </a:pPr>
            <a:r>
              <a:rPr lang="en-US" altLang="en-US" sz="1600"/>
              <a:t>sessionStorage: While not automatically sent to the server, it is still vulnerable to Cross-Site Scripting (XSS) attacks if malicious JavaScript can be injected into the page.</a:t>
            </a:r>
            <a:endParaRPr lang="en-US" altLang="en-US" sz="1600"/>
          </a:p>
          <a:p>
            <a:pPr marL="0" indent="0">
              <a:buNone/>
            </a:pPr>
            <a:endParaRPr lang="en-US" altLang="en-US" sz="16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0" y="0"/>
            <a:ext cx="12192000" cy="6710680"/>
          </a:xfrm>
        </p:spPr>
        <p:txBody>
          <a:bodyPr>
            <a:noAutofit/>
          </a:bodyPr>
          <a:p>
            <a:pPr>
              <a:buFont typeface="Wingdings" panose="05000000000000000000" charset="0"/>
              <a:buChar char="Ø"/>
            </a:pPr>
            <a:r>
              <a:rPr lang="en-US" altLang="en-US" sz="1800"/>
              <a:t>Cookies are stored as key-value pairs in the browser.</a:t>
            </a:r>
            <a:endParaRPr lang="en-US" altLang="en-US" sz="1800"/>
          </a:p>
          <a:p>
            <a:pPr>
              <a:buFont typeface="Wingdings" panose="05000000000000000000" charset="0"/>
              <a:buChar char="Ø"/>
            </a:pPr>
            <a:r>
              <a:rPr lang="en-US" altLang="en-US" sz="1800"/>
              <a:t>document.cookie is used to create, read, and delete cookies.</a:t>
            </a:r>
            <a:endParaRPr lang="en-US" altLang="en-US" sz="1800"/>
          </a:p>
          <a:p>
            <a:pPr>
              <a:buFont typeface="Wingdings" panose="05000000000000000000" charset="0"/>
              <a:buChar char="Ø"/>
            </a:pPr>
            <a:r>
              <a:rPr lang="en-US" altLang="en-US" sz="1800"/>
              <a:t>Cookies are automatically sent to the server with every HTTP request (unless marked HttpOnly or Secure).</a:t>
            </a:r>
            <a:endParaRPr lang="en-US" altLang="en-US" sz="1800"/>
          </a:p>
          <a:p>
            <a:pPr>
              <a:buFont typeface="Wingdings" panose="05000000000000000000" charset="0"/>
              <a:buChar char="Ø"/>
            </a:pPr>
            <a:r>
              <a:rPr lang="en-US" altLang="en-US" sz="1800"/>
              <a:t>Each cookie is a single string, multiple cookies are separated by ; in document.cookie.</a:t>
            </a:r>
            <a:endParaRPr lang="en-US" altLang="en-US" sz="1800"/>
          </a:p>
          <a:p>
            <a:pPr>
              <a:buFont typeface="Wingdings" panose="05000000000000000000" charset="0"/>
              <a:buChar char="Ø"/>
            </a:pPr>
            <a:r>
              <a:rPr lang="en-US" altLang="en-US" sz="1800"/>
              <a:t>Cookies are limited in size (~4KB per cookie, including name and value).</a:t>
            </a:r>
            <a:endParaRPr lang="en-US" altLang="en-US" sz="1800"/>
          </a:p>
          <a:p>
            <a:pPr>
              <a:buFont typeface="Wingdings" panose="05000000000000000000" charset="0"/>
              <a:buChar char="Ø"/>
            </a:pPr>
            <a:r>
              <a:rPr lang="en-US" altLang="en-US" sz="1800"/>
              <a:t>By default, cookies expire when the browser is closed (session cookies).</a:t>
            </a:r>
            <a:endParaRPr lang="en-US" altLang="en-US" sz="1800"/>
          </a:p>
          <a:p>
            <a:pPr>
              <a:buFont typeface="Wingdings" panose="05000000000000000000" charset="0"/>
              <a:buChar char="Ø"/>
            </a:pPr>
            <a:r>
              <a:rPr lang="en-US" altLang="en-US" sz="1800"/>
              <a:t>Use the expires or max-age attribute to make cookies last longer (persistent cookies).</a:t>
            </a:r>
            <a:endParaRPr lang="en-US" altLang="en-US" sz="1800"/>
          </a:p>
          <a:p>
            <a:pPr>
              <a:buFont typeface="Wingdings" panose="05000000000000000000" charset="0"/>
              <a:buChar char="Ø"/>
            </a:pPr>
            <a:r>
              <a:rPr lang="en-US" altLang="en-US" sz="1800"/>
              <a:t>Cookies are domain and path-specific, so they only work on matching pages.</a:t>
            </a:r>
            <a:endParaRPr lang="en-US" altLang="en-US" sz="1800"/>
          </a:p>
          <a:p>
            <a:pPr>
              <a:buFont typeface="Wingdings" panose="05000000000000000000" charset="0"/>
              <a:buChar char="Ø"/>
            </a:pPr>
            <a:r>
              <a:rPr lang="en-US" altLang="en-US" sz="1800"/>
              <a:t>To delete a cookie, set its expires date to a past date.</a:t>
            </a:r>
            <a:endParaRPr lang="en-US" altLang="en-US" sz="1800"/>
          </a:p>
          <a:p>
            <a:pPr>
              <a:buFont typeface="Wingdings" panose="05000000000000000000" charset="0"/>
              <a:buChar char="Ø"/>
            </a:pPr>
            <a:r>
              <a:rPr lang="en-US" altLang="en-US" sz="1800"/>
              <a:t>Cookies can be accessed by JavaScript unless marked HttpOnly, which makes them server-only</a:t>
            </a:r>
            <a:endParaRPr lang="en-US" altLang="en-US" sz="18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46685" y="371475"/>
            <a:ext cx="5716270" cy="5525135"/>
          </a:xfrm>
          <a:prstGeom prst="rect">
            <a:avLst/>
          </a:prstGeom>
          <a:noFill/>
        </p:spPr>
        <p:txBody>
          <a:bodyPr wrap="square" rtlCol="0" anchor="t">
            <a:noAutofit/>
          </a:bodyPr>
          <a:p>
            <a:r>
              <a:rPr lang="en-US" altLang="en-US"/>
              <a:t>&lt;!DOCTYPE html&gt;</a:t>
            </a:r>
            <a:endParaRPr lang="en-US" altLang="en-US"/>
          </a:p>
          <a:p>
            <a:r>
              <a:rPr lang="en-US" altLang="en-US"/>
              <a:t>&lt;html&gt;</a:t>
            </a:r>
            <a:endParaRPr lang="en-US" altLang="en-US"/>
          </a:p>
          <a:p>
            <a:r>
              <a:rPr lang="en-US" altLang="en-US"/>
              <a:t>&lt;body&gt;</a:t>
            </a:r>
            <a:endParaRPr lang="en-US" altLang="en-US"/>
          </a:p>
          <a:p>
            <a:r>
              <a:rPr lang="en-US" altLang="en-US"/>
              <a:t>  &lt;h2&gt;Enter Info&lt;/h2&gt;</a:t>
            </a:r>
            <a:endParaRPr lang="en-US" altLang="en-US"/>
          </a:p>
          <a:p>
            <a:r>
              <a:rPr lang="en-US" altLang="en-US"/>
              <a:t>  &lt;input type="text" id="name" placeholder="Enter name"&gt;</a:t>
            </a:r>
            <a:endParaRPr lang="en-US" altLang="en-US"/>
          </a:p>
          <a:p>
            <a:r>
              <a:rPr lang="en-US" altLang="en-US"/>
              <a:t>  &lt;button onclick="saveCookie()"&gt;Submit&lt;/button&gt;</a:t>
            </a:r>
            <a:endParaRPr lang="en-US" altLang="en-US"/>
          </a:p>
          <a:p>
            <a:endParaRPr lang="en-US" altLang="en-US"/>
          </a:p>
          <a:p>
            <a:r>
              <a:rPr lang="en-US" altLang="en-US"/>
              <a:t>  &lt;script&gt;</a:t>
            </a:r>
            <a:endParaRPr lang="en-US" altLang="en-US"/>
          </a:p>
          <a:p>
            <a:r>
              <a:rPr lang="en-US" altLang="en-US"/>
              <a:t>    function saveCookie() {</a:t>
            </a:r>
            <a:endParaRPr lang="en-US" altLang="en-US"/>
          </a:p>
          <a:p>
            <a:r>
              <a:rPr lang="en-US" altLang="en-US"/>
              <a:t>      let name = document.getElementById("name").value;</a:t>
            </a:r>
            <a:endParaRPr lang="en-US" altLang="en-US"/>
          </a:p>
          <a:p>
            <a:r>
              <a:rPr lang="en-US" altLang="en-US"/>
              <a:t>      document.cookie = "username=" + name;</a:t>
            </a:r>
            <a:endParaRPr lang="en-US" altLang="en-US"/>
          </a:p>
          <a:p>
            <a:r>
              <a:rPr lang="en-US" altLang="en-US"/>
              <a:t>      window.location.href = "show.html"; // go to next page</a:t>
            </a:r>
            <a:endParaRPr lang="en-US" altLang="en-US"/>
          </a:p>
          <a:p>
            <a:r>
              <a:rPr lang="en-US" altLang="en-US"/>
              <a:t>    }</a:t>
            </a:r>
            <a:endParaRPr lang="en-US" altLang="en-US"/>
          </a:p>
          <a:p>
            <a:r>
              <a:rPr lang="en-US" altLang="en-US"/>
              <a:t>  &lt;/script&gt;</a:t>
            </a:r>
            <a:endParaRPr lang="en-US" altLang="en-US"/>
          </a:p>
          <a:p>
            <a:r>
              <a:rPr lang="en-US" altLang="en-US"/>
              <a:t>&lt;/body&gt;</a:t>
            </a:r>
            <a:endParaRPr lang="en-US" altLang="en-US"/>
          </a:p>
          <a:p>
            <a:r>
              <a:rPr lang="en-US" altLang="en-US"/>
              <a:t>&lt;/html&gt;</a:t>
            </a:r>
            <a:endParaRPr lang="en-US" altLang="en-US"/>
          </a:p>
          <a:p>
            <a:endParaRPr lang="en-US"/>
          </a:p>
        </p:txBody>
      </p:sp>
      <p:sp>
        <p:nvSpPr>
          <p:cNvPr id="5" name="Text Box 4"/>
          <p:cNvSpPr txBox="1"/>
          <p:nvPr/>
        </p:nvSpPr>
        <p:spPr>
          <a:xfrm>
            <a:off x="5998845" y="135890"/>
            <a:ext cx="6087110" cy="6503670"/>
          </a:xfrm>
          <a:prstGeom prst="rect">
            <a:avLst/>
          </a:prstGeom>
          <a:noFill/>
        </p:spPr>
        <p:txBody>
          <a:bodyPr wrap="square" rtlCol="0" anchor="t">
            <a:noAutofit/>
          </a:bodyPr>
          <a:p>
            <a:r>
              <a:rPr lang="en-US" altLang="en-US"/>
              <a:t>&lt;!DOCTYPE html&gt;</a:t>
            </a:r>
            <a:endParaRPr lang="en-US" altLang="en-US"/>
          </a:p>
          <a:p>
            <a:r>
              <a:rPr lang="en-US" altLang="en-US"/>
              <a:t>&lt;html&gt;</a:t>
            </a:r>
            <a:endParaRPr lang="en-US" altLang="en-US"/>
          </a:p>
          <a:p>
            <a:r>
              <a:rPr lang="en-US" altLang="en-US"/>
              <a:t>&lt;body&gt;</a:t>
            </a:r>
            <a:endParaRPr lang="en-US" altLang="en-US"/>
          </a:p>
          <a:p>
            <a:r>
              <a:rPr lang="en-US" altLang="en-US"/>
              <a:t>  &lt;h2&gt;Welcome&lt;/h2&gt;</a:t>
            </a:r>
            <a:endParaRPr lang="en-US" altLang="en-US"/>
          </a:p>
          <a:p>
            <a:r>
              <a:rPr lang="en-US" altLang="en-US"/>
              <a:t>  &lt;p id="output"&gt;&lt;/p&gt;</a:t>
            </a:r>
            <a:endParaRPr lang="en-US" altLang="en-US"/>
          </a:p>
          <a:p>
            <a:endParaRPr lang="en-US" altLang="en-US"/>
          </a:p>
          <a:p>
            <a:r>
              <a:rPr lang="en-US" altLang="en-US"/>
              <a:t>  &lt;script&gt;</a:t>
            </a:r>
            <a:endParaRPr lang="en-US" altLang="en-US"/>
          </a:p>
          <a:p>
            <a:r>
              <a:rPr lang="en-US" altLang="en-US"/>
              <a:t>    // Get cookie value by name</a:t>
            </a:r>
            <a:endParaRPr lang="en-US" altLang="en-US"/>
          </a:p>
          <a:p>
            <a:r>
              <a:rPr lang="en-US" altLang="en-US"/>
              <a:t>    function getCookie(name) {</a:t>
            </a:r>
            <a:endParaRPr lang="en-US" altLang="en-US"/>
          </a:p>
          <a:p>
            <a:r>
              <a:rPr lang="en-US" altLang="en-US"/>
              <a:t>      let cookies = document.cookie.split("; ");</a:t>
            </a:r>
            <a:endParaRPr lang="en-US" altLang="en-US"/>
          </a:p>
          <a:p>
            <a:r>
              <a:rPr lang="en-US" altLang="en-US"/>
              <a:t>      for (let i = 0; i &lt; cookies.length; i++) {</a:t>
            </a:r>
            <a:endParaRPr lang="en-US" altLang="en-US"/>
          </a:p>
          <a:p>
            <a:r>
              <a:rPr lang="en-US" altLang="en-US"/>
              <a:t>        let [key, value] = cookies[i].split("=");</a:t>
            </a:r>
            <a:endParaRPr lang="en-US" altLang="en-US"/>
          </a:p>
          <a:p>
            <a:r>
              <a:rPr lang="en-US" altLang="en-US"/>
              <a:t>        if (key === name) return value;</a:t>
            </a:r>
            <a:endParaRPr lang="en-US" altLang="en-US"/>
          </a:p>
          <a:p>
            <a:r>
              <a:rPr lang="en-US" altLang="en-US"/>
              <a:t>      }</a:t>
            </a:r>
            <a:endParaRPr lang="en-US" altLang="en-US"/>
          </a:p>
          <a:p>
            <a:r>
              <a:rPr lang="en-US" altLang="en-US"/>
              <a:t>      return "";</a:t>
            </a:r>
            <a:endParaRPr lang="en-US" altLang="en-US"/>
          </a:p>
          <a:p>
            <a:r>
              <a:rPr lang="en-US" altLang="en-US"/>
              <a:t>    }</a:t>
            </a:r>
            <a:endParaRPr lang="en-US" altLang="en-US"/>
          </a:p>
          <a:p>
            <a:endParaRPr lang="en-US" altLang="en-US"/>
          </a:p>
          <a:p>
            <a:r>
              <a:rPr lang="en-US" altLang="en-US"/>
              <a:t>    document.getElementById("output").innerText = "Hello, " + getCookie("username");</a:t>
            </a:r>
            <a:endParaRPr lang="en-US" altLang="en-US"/>
          </a:p>
          <a:p>
            <a:r>
              <a:rPr lang="en-US" altLang="en-US"/>
              <a:t>  &lt;/script&gt;</a:t>
            </a:r>
            <a:endParaRPr lang="en-US" altLang="en-US"/>
          </a:p>
          <a:p>
            <a:r>
              <a:rPr lang="en-US" altLang="en-US"/>
              <a:t>&lt;/body&gt;</a:t>
            </a:r>
            <a:endParaRPr lang="en-US" altLang="en-US"/>
          </a:p>
          <a:p>
            <a:r>
              <a:rPr lang="en-US" altLang="en-US"/>
              <a:t>&lt;/html&gt;</a:t>
            </a:r>
            <a:endParaRPr lang="en-US" altLang="en-US"/>
          </a:p>
          <a:p>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323850"/>
          </a:xfrm>
        </p:spPr>
        <p:txBody>
          <a:bodyPr>
            <a:normAutofit fontScale="90000"/>
          </a:bodyPr>
          <a:p>
            <a:pPr algn="ctr"/>
            <a:r>
              <a:rPr lang="en-US" sz="2800" b="1">
                <a:solidFill>
                  <a:srgbClr val="FF0000"/>
                </a:solidFill>
              </a:rPr>
              <a:t>Js SessionStorage</a:t>
            </a:r>
            <a:endParaRPr lang="en-US" sz="2800" b="1">
              <a:solidFill>
                <a:srgbClr val="FF0000"/>
              </a:solidFill>
            </a:endParaRPr>
          </a:p>
        </p:txBody>
      </p:sp>
      <p:sp>
        <p:nvSpPr>
          <p:cNvPr id="3" name="Content Placeholder 2"/>
          <p:cNvSpPr>
            <a:spLocks noGrp="1"/>
          </p:cNvSpPr>
          <p:nvPr>
            <p:ph idx="1"/>
          </p:nvPr>
        </p:nvSpPr>
        <p:spPr>
          <a:xfrm>
            <a:off x="85090" y="323850"/>
            <a:ext cx="11993880" cy="6403340"/>
          </a:xfrm>
        </p:spPr>
        <p:txBody>
          <a:bodyPr/>
          <a:p>
            <a:r>
              <a:rPr lang="en-US" altLang="en-US" sz="2000"/>
              <a:t>sessionStorage is a client-side storage mechanism in JavaScript used to store temporary data for a single tab session. It is ideal for short-lived data that should not persist beyond the current tab’s lifetime.</a:t>
            </a:r>
            <a:endParaRPr lang="en-US" altLang="en-US" sz="2000"/>
          </a:p>
          <a:p>
            <a:r>
              <a:rPr lang="en-US" altLang="en-US" sz="2000"/>
              <a:t>Data is stored in sessionStorage.</a:t>
            </a:r>
            <a:endParaRPr lang="en-US" altLang="en-US" sz="2000"/>
          </a:p>
          <a:p>
            <a:r>
              <a:rPr lang="en-US" altLang="en-US" sz="2000"/>
              <a:t>It stays only while the tab is open.</a:t>
            </a:r>
            <a:endParaRPr lang="en-US" altLang="en-US" sz="2000"/>
          </a:p>
          <a:p>
            <a:r>
              <a:rPr lang="en-US" altLang="en-US" sz="2000"/>
              <a:t>Very easy to use — no parsing needed.</a:t>
            </a:r>
            <a:endParaRPr lang="en-US" altLang="en-US" sz="2000"/>
          </a:p>
        </p:txBody>
      </p:sp>
      <p:sp>
        <p:nvSpPr>
          <p:cNvPr id="4" name="Text Box 3"/>
          <p:cNvSpPr txBox="1"/>
          <p:nvPr/>
        </p:nvSpPr>
        <p:spPr>
          <a:xfrm>
            <a:off x="85090" y="2780030"/>
            <a:ext cx="5822950" cy="3801110"/>
          </a:xfrm>
          <a:prstGeom prst="rect">
            <a:avLst/>
          </a:prstGeom>
          <a:noFill/>
        </p:spPr>
        <p:txBody>
          <a:bodyPr wrap="square" rtlCol="0" anchor="t">
            <a:noAutofit/>
          </a:bodyPr>
          <a:p>
            <a:r>
              <a:rPr lang="en-US" altLang="en-US" sz="1600"/>
              <a:t>&lt;!DOCTYPE html&gt;</a:t>
            </a:r>
            <a:endParaRPr lang="en-US" altLang="en-US" sz="1600"/>
          </a:p>
          <a:p>
            <a:r>
              <a:rPr lang="en-US" altLang="en-US" sz="1600"/>
              <a:t>&lt;html&gt;</a:t>
            </a:r>
            <a:endParaRPr lang="en-US" altLang="en-US" sz="1600"/>
          </a:p>
          <a:p>
            <a:r>
              <a:rPr lang="en-US" altLang="en-US" sz="1600"/>
              <a:t>&lt;body&gt;</a:t>
            </a:r>
            <a:endParaRPr lang="en-US" altLang="en-US" sz="1600"/>
          </a:p>
          <a:p>
            <a:r>
              <a:rPr lang="en-US" altLang="en-US" sz="1600"/>
              <a:t>  &lt;h2&gt;Enter Info&lt;/h2&gt;</a:t>
            </a:r>
            <a:endParaRPr lang="en-US" altLang="en-US" sz="1600"/>
          </a:p>
          <a:p>
            <a:r>
              <a:rPr lang="en-US" altLang="en-US" sz="1600"/>
              <a:t>  &lt;input type="text" id="name" placeholder="Enter name"&gt;</a:t>
            </a:r>
            <a:endParaRPr lang="en-US" altLang="en-US" sz="1600"/>
          </a:p>
          <a:p>
            <a:r>
              <a:rPr lang="en-US" altLang="en-US" sz="1600"/>
              <a:t>  &lt;button onclick="saveToSession()"&gt;Submit&lt;/button&gt;</a:t>
            </a:r>
            <a:endParaRPr lang="en-US" altLang="en-US" sz="1600"/>
          </a:p>
          <a:p>
            <a:endParaRPr lang="en-US" altLang="en-US" sz="1600"/>
          </a:p>
          <a:p>
            <a:r>
              <a:rPr lang="en-US" altLang="en-US" sz="1600"/>
              <a:t>  &lt;script&gt;</a:t>
            </a:r>
            <a:endParaRPr lang="en-US" altLang="en-US" sz="1600"/>
          </a:p>
          <a:p>
            <a:r>
              <a:rPr lang="en-US" altLang="en-US" sz="1600"/>
              <a:t>    function saveToSession() {</a:t>
            </a:r>
            <a:endParaRPr lang="en-US" altLang="en-US" sz="1600"/>
          </a:p>
          <a:p>
            <a:r>
              <a:rPr lang="en-US" altLang="en-US" sz="1600"/>
              <a:t>      let name = document.getElementById("name").value;</a:t>
            </a:r>
            <a:endParaRPr lang="en-US" altLang="en-US" sz="1600"/>
          </a:p>
          <a:p>
            <a:r>
              <a:rPr lang="en-US" altLang="en-US" sz="1600"/>
              <a:t>      sessionStorage.setItem("username", name);</a:t>
            </a:r>
            <a:endParaRPr lang="en-US" altLang="en-US" sz="1600"/>
          </a:p>
          <a:p>
            <a:r>
              <a:rPr lang="en-US" altLang="en-US" sz="1600"/>
              <a:t>      window.location.href = "show.html"; // Go to next page</a:t>
            </a:r>
            <a:endParaRPr lang="en-US" altLang="en-US" sz="1600"/>
          </a:p>
          <a:p>
            <a:r>
              <a:rPr lang="en-US" altLang="en-US" sz="1600"/>
              <a:t>    }</a:t>
            </a:r>
            <a:endParaRPr lang="en-US" altLang="en-US" sz="1600"/>
          </a:p>
          <a:p>
            <a:r>
              <a:rPr lang="en-US" altLang="en-US" sz="1600"/>
              <a:t>  &lt;/script&gt;</a:t>
            </a:r>
            <a:endParaRPr lang="en-US" altLang="en-US" sz="1600"/>
          </a:p>
          <a:p>
            <a:r>
              <a:rPr lang="en-US" altLang="en-US" sz="1600"/>
              <a:t>&lt;/body&gt;</a:t>
            </a:r>
            <a:endParaRPr lang="en-US" altLang="en-US" sz="1600"/>
          </a:p>
          <a:p>
            <a:r>
              <a:rPr lang="en-US" altLang="en-US" sz="1600"/>
              <a:t>&lt;/html&gt;</a:t>
            </a:r>
            <a:endParaRPr lang="en-US" altLang="en-US" sz="1600"/>
          </a:p>
          <a:p>
            <a:endParaRPr lang="en-US" altLang="en-US" sz="1600"/>
          </a:p>
        </p:txBody>
      </p:sp>
      <p:sp>
        <p:nvSpPr>
          <p:cNvPr id="5" name="Text Box 4"/>
          <p:cNvSpPr txBox="1"/>
          <p:nvPr/>
        </p:nvSpPr>
        <p:spPr>
          <a:xfrm>
            <a:off x="5777865" y="1455420"/>
            <a:ext cx="6096000" cy="3947160"/>
          </a:xfrm>
          <a:prstGeom prst="rect">
            <a:avLst/>
          </a:prstGeom>
          <a:noFill/>
        </p:spPr>
        <p:txBody>
          <a:bodyPr wrap="square" rtlCol="0" anchor="t">
            <a:noAutofit/>
          </a:bodyPr>
          <a:p>
            <a:r>
              <a:rPr lang="en-US" altLang="en-US"/>
              <a:t>&lt;!DOCTYPE html&gt;</a:t>
            </a:r>
            <a:endParaRPr lang="en-US" altLang="en-US"/>
          </a:p>
          <a:p>
            <a:r>
              <a:rPr lang="en-US" altLang="en-US"/>
              <a:t>&lt;html&gt;</a:t>
            </a:r>
            <a:endParaRPr lang="en-US" altLang="en-US"/>
          </a:p>
          <a:p>
            <a:r>
              <a:rPr lang="en-US" altLang="en-US"/>
              <a:t>&lt;body&gt;</a:t>
            </a:r>
            <a:endParaRPr lang="en-US" altLang="en-US"/>
          </a:p>
          <a:p>
            <a:r>
              <a:rPr lang="en-US" altLang="en-US"/>
              <a:t>  &lt;h2&gt;Welcome&lt;/h2&gt;</a:t>
            </a:r>
            <a:endParaRPr lang="en-US" altLang="en-US"/>
          </a:p>
          <a:p>
            <a:r>
              <a:rPr lang="en-US" altLang="en-US"/>
              <a:t>  &lt;p id="output"&gt;&lt;/p&gt;</a:t>
            </a:r>
            <a:endParaRPr lang="en-US" altLang="en-US"/>
          </a:p>
          <a:p>
            <a:endParaRPr lang="en-US" altLang="en-US"/>
          </a:p>
          <a:p>
            <a:r>
              <a:rPr lang="en-US" altLang="en-US"/>
              <a:t>  &lt;script&gt;</a:t>
            </a:r>
            <a:endParaRPr lang="en-US" altLang="en-US"/>
          </a:p>
          <a:p>
            <a:r>
              <a:rPr lang="en-US" altLang="en-US"/>
              <a:t>    let name = sessionStorage.getItem("username");</a:t>
            </a:r>
            <a:endParaRPr lang="en-US" altLang="en-US"/>
          </a:p>
          <a:p>
            <a:r>
              <a:rPr lang="en-US" altLang="en-US"/>
              <a:t>    document.getElementById("output").innerText = "Hello, " + name;</a:t>
            </a:r>
            <a:endParaRPr lang="en-US" altLang="en-US"/>
          </a:p>
          <a:p>
            <a:r>
              <a:rPr lang="en-US" altLang="en-US"/>
              <a:t>  &lt;/script&gt;</a:t>
            </a:r>
            <a:endParaRPr lang="en-US" altLang="en-US"/>
          </a:p>
          <a:p>
            <a:r>
              <a:rPr lang="en-US" altLang="en-US"/>
              <a:t>&lt;/body&gt;</a:t>
            </a:r>
            <a:endParaRPr lang="en-US" altLang="en-US"/>
          </a:p>
          <a:p>
            <a:r>
              <a:rPr lang="en-US" altLang="en-US"/>
              <a:t>&lt;/html&gt;</a:t>
            </a:r>
            <a:endParaRPr lang="en-US" altLang="en-US"/>
          </a:p>
          <a:p>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0" y="0"/>
            <a:ext cx="12051030" cy="6858635"/>
          </a:xfrm>
        </p:spPr>
        <p:txBody>
          <a:bodyPr>
            <a:noAutofit/>
          </a:bodyPr>
          <a:p>
            <a:pPr marL="0" indent="0">
              <a:buNone/>
            </a:pPr>
            <a:r>
              <a:rPr lang="en-US" altLang="en-US" sz="2000" b="1"/>
              <a:t>Definition of sessionStorage in JavaScript:</a:t>
            </a:r>
            <a:endParaRPr lang="en-US" altLang="en-US" sz="2000"/>
          </a:p>
          <a:p>
            <a:pPr marL="0" indent="0">
              <a:buNone/>
            </a:pPr>
            <a:r>
              <a:rPr lang="en-US" altLang="en-US" sz="2000"/>
              <a:t>sessionStorage is a web storage object provided by the Web Storage API in JavaScript that allows you to store key-value pairs in a web browser. The data stored in sessionStorage is specific to a single browser tab and is cleared automatically when the tab is closed.</a:t>
            </a:r>
            <a:endParaRPr lang="en-US" altLang="en-US" sz="2000"/>
          </a:p>
          <a:p>
            <a:pPr marL="0" indent="0">
              <a:buNone/>
            </a:pPr>
            <a:r>
              <a:rPr lang="en-US" altLang="en-US" sz="2000"/>
              <a:t>Key </a:t>
            </a:r>
            <a:endParaRPr lang="en-US" altLang="en-US" sz="2000"/>
          </a:p>
          <a:p>
            <a:pPr marL="0" indent="0">
              <a:buNone/>
            </a:pPr>
            <a:r>
              <a:rPr lang="en-US" altLang="en-US" sz="2000"/>
              <a:t>1)Scope: Per tab/window — data is not shared between tabs or windows, even if they are from the same origin.</a:t>
            </a:r>
            <a:endParaRPr lang="en-US" altLang="en-US" sz="2000"/>
          </a:p>
          <a:p>
            <a:pPr marL="0" indent="0">
              <a:buNone/>
            </a:pPr>
            <a:r>
              <a:rPr lang="en-US" altLang="en-US" sz="2000"/>
              <a:t>2)Lifetime: Only lasts for the duration of the page session (i.e., until the tab is closed).</a:t>
            </a:r>
            <a:endParaRPr lang="en-US" altLang="en-US" sz="2000"/>
          </a:p>
          <a:p>
            <a:pPr marL="0" indent="0">
              <a:buNone/>
            </a:pPr>
            <a:r>
              <a:rPr lang="en-US" altLang="en-US" sz="2000"/>
              <a:t>3)Storage Type: Stores data as strings (even if you input numbers or objects).</a:t>
            </a:r>
            <a:endParaRPr lang="en-US" altLang="en-US" sz="2000"/>
          </a:p>
          <a:p>
            <a:pPr marL="0" indent="0">
              <a:buNone/>
            </a:pPr>
            <a:r>
              <a:rPr lang="en-US" altLang="en-US" sz="2000"/>
              <a:t>4)Capacity Limit: Typically around 5–10MB depending on the browser.</a:t>
            </a:r>
            <a:endParaRPr lang="en-US" altLang="en-US" sz="2000"/>
          </a:p>
          <a:p>
            <a:pPr marL="0" indent="0">
              <a:buNone/>
            </a:pPr>
            <a:r>
              <a:rPr lang="en-US" altLang="en-US" sz="2000"/>
              <a:t>5)Same-Origin Policy: Data is accessible only to pages from the same origin (protocol + domain + port).</a:t>
            </a:r>
            <a:endParaRPr lang="en-US" altLang="en-US" sz="2000"/>
          </a:p>
          <a:p>
            <a:pPr marL="0" indent="0">
              <a:buNone/>
            </a:pPr>
            <a:r>
              <a:rPr lang="en-US" altLang="en-US" sz="2000"/>
              <a:t>// Store data</a:t>
            </a:r>
            <a:endParaRPr lang="en-US" altLang="en-US" sz="2000"/>
          </a:p>
          <a:p>
            <a:pPr marL="0" indent="0">
              <a:buNone/>
            </a:pPr>
            <a:r>
              <a:rPr lang="en-US" altLang="en-US" sz="2000"/>
              <a:t>sessionStorage.setItem('key', 'value');</a:t>
            </a:r>
            <a:endParaRPr lang="en-US" altLang="en-US" sz="2000"/>
          </a:p>
          <a:p>
            <a:pPr marL="0" indent="0">
              <a:buNone/>
            </a:pPr>
            <a:r>
              <a:rPr lang="en-US" altLang="en-US" sz="2000"/>
              <a:t>// Retrieve data</a:t>
            </a:r>
            <a:endParaRPr lang="en-US" altLang="en-US" sz="2000"/>
          </a:p>
          <a:p>
            <a:pPr marL="0" indent="0">
              <a:buNone/>
            </a:pPr>
            <a:r>
              <a:rPr lang="en-US" altLang="en-US" sz="2000"/>
              <a:t>const value = sessionStorage.getItem('key');</a:t>
            </a:r>
            <a:endParaRPr lang="en-US" altLang="en-US" sz="2000"/>
          </a:p>
          <a:p>
            <a:pPr marL="0" indent="0">
              <a:buNone/>
            </a:pPr>
            <a:r>
              <a:rPr lang="en-US" altLang="en-US" sz="2000"/>
              <a:t>// Remove a specific item</a:t>
            </a:r>
            <a:endParaRPr lang="en-US" altLang="en-US" sz="2000"/>
          </a:p>
          <a:p>
            <a:pPr marL="0" indent="0">
              <a:buNone/>
            </a:pPr>
            <a:r>
              <a:rPr lang="en-US" altLang="en-US" sz="2000"/>
              <a:t>sessionStorage.removeItem('key');</a:t>
            </a:r>
            <a:endParaRPr lang="en-US" altLang="en-US" sz="2000"/>
          </a:p>
          <a:p>
            <a:pPr marL="0" indent="0">
              <a:buNone/>
            </a:pPr>
            <a:r>
              <a:rPr lang="en-US" altLang="en-US" sz="2000"/>
              <a:t>// Clear all data</a:t>
            </a:r>
            <a:endParaRPr lang="en-US" altLang="en-US" sz="2000"/>
          </a:p>
          <a:p>
            <a:pPr marL="0" indent="0">
              <a:buNone/>
            </a:pPr>
            <a:r>
              <a:rPr lang="en-US" altLang="en-US" sz="2000"/>
              <a:t>sessionStorage.clear();</a:t>
            </a:r>
            <a:endParaRPr lang="en-US" altLang="en-US" sz="2000"/>
          </a:p>
          <a:p>
            <a:pPr marL="0" indent="0">
              <a:buNone/>
            </a:pPr>
            <a:endParaRPr lang="en-US" altLang="en-US" sz="20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0515600" cy="340995"/>
          </a:xfrm>
        </p:spPr>
        <p:txBody>
          <a:bodyPr>
            <a:noAutofit/>
          </a:bodyPr>
          <a:p>
            <a:pPr algn="ctr"/>
            <a:r>
              <a:rPr lang="en-US" sz="2800" b="1">
                <a:solidFill>
                  <a:srgbClr val="FF0000"/>
                </a:solidFill>
              </a:rPr>
              <a:t>JS LocalStorage</a:t>
            </a:r>
            <a:endParaRPr lang="en-US" sz="2800" b="1">
              <a:solidFill>
                <a:srgbClr val="FF0000"/>
              </a:solidFill>
            </a:endParaRPr>
          </a:p>
        </p:txBody>
      </p:sp>
      <p:sp>
        <p:nvSpPr>
          <p:cNvPr id="3" name="Content Placeholder 2"/>
          <p:cNvSpPr>
            <a:spLocks noGrp="1"/>
          </p:cNvSpPr>
          <p:nvPr>
            <p:ph idx="1"/>
          </p:nvPr>
        </p:nvSpPr>
        <p:spPr>
          <a:xfrm>
            <a:off x="0" y="341630"/>
            <a:ext cx="12667615" cy="6515735"/>
          </a:xfrm>
        </p:spPr>
        <p:txBody>
          <a:bodyPr>
            <a:noAutofit/>
          </a:bodyPr>
          <a:p>
            <a:pPr marL="0" indent="0">
              <a:buNone/>
            </a:pPr>
            <a:r>
              <a:rPr lang="en-US" altLang="en-US" sz="1800" b="1"/>
              <a:t>What is Web Storage in JavaScript?</a:t>
            </a:r>
            <a:endParaRPr lang="en-US" altLang="en-US" sz="1800" b="1"/>
          </a:p>
          <a:p>
            <a:pPr marL="0" indent="0">
              <a:buNone/>
            </a:pPr>
            <a:r>
              <a:rPr lang="en-US" altLang="en-US" sz="1800"/>
              <a:t>Web Storage is a feature in modern web browsers that allows websites to store data locally on a user's browser. It provides a way to store key-value pairs in a web browser, and this data persists even after the browser is closed (depending on the type of storage).</a:t>
            </a:r>
            <a:endParaRPr lang="en-US" altLang="en-US" sz="1800"/>
          </a:p>
          <a:p>
            <a:pPr marL="0" indent="0">
              <a:buNone/>
            </a:pPr>
            <a:r>
              <a:rPr lang="en-US" altLang="en-US" sz="1800"/>
              <a:t> </a:t>
            </a:r>
            <a:r>
              <a:rPr lang="en-US" altLang="en-US" sz="1800" b="1"/>
              <a:t>Two Types of Web Storage:</a:t>
            </a:r>
            <a:endParaRPr lang="en-US" altLang="en-US" sz="1800" b="1"/>
          </a:p>
          <a:p>
            <a:pPr marL="0" indent="0">
              <a:buNone/>
            </a:pPr>
            <a:r>
              <a:rPr lang="en-US" altLang="en-US" sz="1800" b="1"/>
              <a:t>Local Storage</a:t>
            </a:r>
            <a:endParaRPr lang="en-US" altLang="en-US" sz="1800" b="1"/>
          </a:p>
          <a:p>
            <a:pPr marL="0" indent="0">
              <a:buNone/>
            </a:pPr>
            <a:r>
              <a:rPr lang="en-US" altLang="en-US" sz="1800"/>
              <a:t>Stores data with no expiration.</a:t>
            </a:r>
            <a:endParaRPr lang="en-US" altLang="en-US" sz="1800"/>
          </a:p>
          <a:p>
            <a:pPr marL="0" indent="0">
              <a:buNone/>
            </a:pPr>
            <a:r>
              <a:rPr lang="en-US" altLang="en-US" sz="1800"/>
              <a:t>Data remains until manually cleared (via code or browser settings).</a:t>
            </a:r>
            <a:endParaRPr lang="en-US" altLang="en-US" sz="1800"/>
          </a:p>
          <a:p>
            <a:pPr marL="0" indent="0">
              <a:buNone/>
            </a:pPr>
            <a:r>
              <a:rPr lang="en-US" altLang="en-US" sz="1800"/>
              <a:t>Syntax: localStorage</a:t>
            </a:r>
            <a:endParaRPr lang="en-US" altLang="en-US" sz="1800"/>
          </a:p>
          <a:p>
            <a:pPr marL="0" indent="0">
              <a:buNone/>
            </a:pPr>
            <a:r>
              <a:rPr lang="en-US" altLang="en-US" sz="1800" b="1"/>
              <a:t>Session Storage</a:t>
            </a:r>
            <a:endParaRPr lang="en-US" altLang="en-US" sz="1800" b="1"/>
          </a:p>
          <a:p>
            <a:pPr marL="0" indent="0">
              <a:buNone/>
            </a:pPr>
            <a:r>
              <a:rPr lang="en-US" altLang="en-US" sz="1800"/>
              <a:t>Stores data for one session.</a:t>
            </a:r>
            <a:endParaRPr lang="en-US" altLang="en-US" sz="1800"/>
          </a:p>
          <a:p>
            <a:pPr marL="0" indent="0">
              <a:buNone/>
            </a:pPr>
            <a:r>
              <a:rPr lang="en-US" altLang="en-US" sz="1800"/>
              <a:t>Data is cleared when the browser tab is closed.</a:t>
            </a:r>
            <a:endParaRPr lang="en-US" altLang="en-US" sz="1800"/>
          </a:p>
          <a:p>
            <a:pPr marL="0" indent="0">
              <a:buNone/>
            </a:pPr>
            <a:r>
              <a:rPr lang="en-US" altLang="en-US" sz="1800"/>
              <a:t>Syntax: sessionStorage</a:t>
            </a:r>
            <a:endParaRPr lang="en-US" altLang="en-US" sz="1800"/>
          </a:p>
          <a:p>
            <a:pPr marL="0" indent="0">
              <a:buNone/>
            </a:pPr>
            <a:r>
              <a:rPr lang="en-US" altLang="en-US" sz="1800" b="1"/>
              <a:t>✅ Why Use Web Storage?</a:t>
            </a:r>
            <a:endParaRPr lang="en-US" altLang="en-US" sz="1800" b="1"/>
          </a:p>
          <a:p>
            <a:pPr marL="342900" indent="-342900">
              <a:buAutoNum type="arabicPeriod"/>
            </a:pPr>
            <a:r>
              <a:rPr lang="en-US" altLang="en-US" sz="1800"/>
              <a:t>To store user preferences (theme, language)</a:t>
            </a:r>
            <a:endParaRPr lang="en-US" altLang="en-US" sz="1800"/>
          </a:p>
          <a:p>
            <a:pPr marL="342900" indent="-342900">
              <a:buAutoNum type="arabicPeriod"/>
            </a:pPr>
            <a:r>
              <a:rPr lang="en-US" altLang="en-US" sz="1800"/>
              <a:t>Save form data temporarily</a:t>
            </a:r>
            <a:endParaRPr lang="en-US" altLang="en-US" sz="1800"/>
          </a:p>
          <a:p>
            <a:pPr marL="342900" indent="-342900">
              <a:buAutoNum type="arabicPeriod"/>
            </a:pPr>
            <a:r>
              <a:rPr lang="en-US" altLang="en-US" sz="1800"/>
              <a:t>Keep users logged in</a:t>
            </a:r>
            <a:endParaRPr lang="en-US" altLang="en-US" sz="1800"/>
          </a:p>
          <a:p>
            <a:pPr marL="342900" indent="-342900">
              <a:buAutoNum type="arabicPeriod"/>
            </a:pPr>
            <a:r>
              <a:rPr lang="en-US" altLang="en-US" sz="1800"/>
              <a:t>Reduce server requests by caching small data</a:t>
            </a:r>
            <a:endParaRPr lang="en-US" altLang="en-US" sz="1800"/>
          </a:p>
          <a:p>
            <a:pPr marL="342900" indent="-342900">
              <a:buAutoNum type="arabicPeriod"/>
            </a:pPr>
            <a:r>
              <a:rPr lang="en-US" altLang="en-US" sz="1800"/>
              <a:t>Store shopping cart items</a:t>
            </a:r>
            <a:endParaRPr lang="en-US" altLang="en-US" sz="18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5725" y="86995"/>
            <a:ext cx="11268075" cy="6090285"/>
          </a:xfrm>
        </p:spPr>
        <p:txBody>
          <a:bodyPr/>
          <a:p>
            <a:r>
              <a:rPr lang="en-US" altLang="en-US"/>
              <a:t>Advantages of Web Storage:</a:t>
            </a:r>
            <a:endParaRPr lang="en-US" altLang="en-US"/>
          </a:p>
        </p:txBody>
      </p:sp>
      <p:graphicFrame>
        <p:nvGraphicFramePr>
          <p:cNvPr id="4" name="Table 3"/>
          <p:cNvGraphicFramePr/>
          <p:nvPr>
            <p:custDataLst>
              <p:tags r:id="rId1"/>
            </p:custDataLst>
          </p:nvPr>
        </p:nvGraphicFramePr>
        <p:xfrm>
          <a:off x="85090" y="501015"/>
          <a:ext cx="11979910" cy="1920240"/>
        </p:xfrm>
        <a:graphic>
          <a:graphicData uri="http://schemas.openxmlformats.org/drawingml/2006/table">
            <a:tbl>
              <a:tblPr/>
              <a:tblGrid>
                <a:gridCol w="4625340"/>
                <a:gridCol w="7354570"/>
              </a:tblGrid>
              <a:tr h="274320">
                <a:tc>
                  <a:txBody>
                    <a:bodyPr/>
                    <a:p>
                      <a:pPr algn="ctr"/>
                      <a:r>
                        <a:rPr sz="1800" b="1"/>
                        <a:t>Feature</a:t>
                      </a:r>
                      <a:endParaRPr sz="1800" b="1"/>
                    </a:p>
                  </a:txBody>
                  <a:tcPr marL="0" marR="0" marT="0" marB="0" anchor="ctr" anchorCtr="0">
                    <a:lnL>
                      <a:noFill/>
                    </a:lnL>
                    <a:lnR>
                      <a:noFill/>
                    </a:lnR>
                    <a:lnT>
                      <a:noFill/>
                    </a:lnT>
                    <a:lnB>
                      <a:noFill/>
                    </a:lnB>
                    <a:solidFill>
                      <a:schemeClr val="accent2">
                        <a:lumMod val="40000"/>
                        <a:lumOff val="60000"/>
                      </a:schemeClr>
                    </a:solidFill>
                  </a:tcPr>
                </a:tc>
                <a:tc>
                  <a:txBody>
                    <a:bodyPr/>
                    <a:p>
                      <a:pPr algn="ctr"/>
                      <a:r>
                        <a:rPr sz="1800" b="1"/>
                        <a:t>Benefit</a:t>
                      </a:r>
                      <a:endParaRPr sz="1800" b="1"/>
                    </a:p>
                  </a:txBody>
                  <a:tcPr marL="0" marR="0" marT="0" marB="0" anchor="ctr" anchorCtr="0">
                    <a:lnL>
                      <a:noFill/>
                    </a:lnL>
                    <a:lnR>
                      <a:noFill/>
                    </a:lnR>
                    <a:lnT>
                      <a:noFill/>
                    </a:lnT>
                    <a:lnB>
                      <a:noFill/>
                    </a:lnB>
                    <a:solidFill>
                      <a:schemeClr val="accent2">
                        <a:lumMod val="40000"/>
                        <a:lumOff val="60000"/>
                      </a:schemeClr>
                    </a:solidFill>
                  </a:tcPr>
                </a:tc>
              </a:tr>
              <a:tr h="274320">
                <a:tc>
                  <a:txBody>
                    <a:bodyPr/>
                    <a:p>
                      <a:r>
                        <a:rPr sz="1800"/>
                        <a:t>Simple API</a:t>
                      </a:r>
                      <a:endParaRPr sz="1800"/>
                    </a:p>
                  </a:txBody>
                  <a:tcPr marL="0" marR="0" marT="0" marB="0" anchor="ctr" anchorCtr="0">
                    <a:lnL>
                      <a:noFill/>
                    </a:lnL>
                    <a:lnR>
                      <a:noFill/>
                    </a:lnR>
                    <a:lnT>
                      <a:noFill/>
                    </a:lnT>
                    <a:lnB>
                      <a:noFill/>
                    </a:lnB>
                    <a:solidFill>
                      <a:schemeClr val="accent2">
                        <a:lumMod val="40000"/>
                        <a:lumOff val="60000"/>
                      </a:schemeClr>
                    </a:solidFill>
                  </a:tcPr>
                </a:tc>
                <a:tc>
                  <a:txBody>
                    <a:bodyPr/>
                    <a:p>
                      <a:r>
                        <a:rPr sz="1800"/>
                        <a:t>Easy to use with getItem, setItem, removeItem, clear</a:t>
                      </a:r>
                      <a:endParaRPr sz="1800"/>
                    </a:p>
                  </a:txBody>
                  <a:tcPr marL="0" marR="0" marT="0" marB="0" anchor="ctr" anchorCtr="0">
                    <a:lnL>
                      <a:noFill/>
                    </a:lnL>
                    <a:lnR>
                      <a:noFill/>
                    </a:lnR>
                    <a:lnT>
                      <a:noFill/>
                    </a:lnT>
                    <a:lnB>
                      <a:noFill/>
                    </a:lnB>
                    <a:solidFill>
                      <a:schemeClr val="accent2">
                        <a:lumMod val="40000"/>
                        <a:lumOff val="60000"/>
                      </a:schemeClr>
                    </a:solidFill>
                  </a:tcPr>
                </a:tc>
              </a:tr>
              <a:tr h="274320">
                <a:tc>
                  <a:txBody>
                    <a:bodyPr/>
                    <a:p>
                      <a:r>
                        <a:rPr sz="1800"/>
                        <a:t>Persistence</a:t>
                      </a:r>
                      <a:endParaRPr sz="1800"/>
                    </a:p>
                  </a:txBody>
                  <a:tcPr marL="0" marR="0" marT="0" marB="0" anchor="ctr" anchorCtr="0">
                    <a:lnL>
                      <a:noFill/>
                    </a:lnL>
                    <a:lnR>
                      <a:noFill/>
                    </a:lnR>
                    <a:lnT>
                      <a:noFill/>
                    </a:lnT>
                    <a:lnB>
                      <a:noFill/>
                    </a:lnB>
                    <a:solidFill>
                      <a:schemeClr val="accent2">
                        <a:lumMod val="40000"/>
                        <a:lumOff val="60000"/>
                      </a:schemeClr>
                    </a:solidFill>
                  </a:tcPr>
                </a:tc>
                <a:tc>
                  <a:txBody>
                    <a:bodyPr/>
                    <a:p>
                      <a:r>
                        <a:rPr sz="1800"/>
                        <a:t>LocalStorage data persists across sessions</a:t>
                      </a:r>
                      <a:endParaRPr sz="1800"/>
                    </a:p>
                  </a:txBody>
                  <a:tcPr marL="0" marR="0" marT="0" marB="0" anchor="ctr" anchorCtr="0">
                    <a:lnL>
                      <a:noFill/>
                    </a:lnL>
                    <a:lnR>
                      <a:noFill/>
                    </a:lnR>
                    <a:lnT>
                      <a:noFill/>
                    </a:lnT>
                    <a:lnB>
                      <a:noFill/>
                    </a:lnB>
                    <a:solidFill>
                      <a:schemeClr val="accent2">
                        <a:lumMod val="40000"/>
                        <a:lumOff val="60000"/>
                      </a:schemeClr>
                    </a:solidFill>
                  </a:tcPr>
                </a:tc>
              </a:tr>
              <a:tr h="274320">
                <a:tc>
                  <a:txBody>
                    <a:bodyPr/>
                    <a:p>
                      <a:r>
                        <a:rPr sz="1800"/>
                        <a:t>Session-specific</a:t>
                      </a:r>
                      <a:endParaRPr sz="1800"/>
                    </a:p>
                  </a:txBody>
                  <a:tcPr marL="0" marR="0" marT="0" marB="0" anchor="ctr" anchorCtr="0">
                    <a:lnL>
                      <a:noFill/>
                    </a:lnL>
                    <a:lnR>
                      <a:noFill/>
                    </a:lnR>
                    <a:lnT>
                      <a:noFill/>
                    </a:lnT>
                    <a:lnB>
                      <a:noFill/>
                    </a:lnB>
                    <a:solidFill>
                      <a:schemeClr val="accent2">
                        <a:lumMod val="40000"/>
                        <a:lumOff val="60000"/>
                      </a:schemeClr>
                    </a:solidFill>
                  </a:tcPr>
                </a:tc>
                <a:tc>
                  <a:txBody>
                    <a:bodyPr/>
                    <a:p>
                      <a:r>
                        <a:rPr sz="1800"/>
                        <a:t>SessionStorage keeps data isolated to tabs</a:t>
                      </a:r>
                      <a:endParaRPr sz="1800"/>
                    </a:p>
                  </a:txBody>
                  <a:tcPr marL="0" marR="0" marT="0" marB="0" anchor="ctr" anchorCtr="0">
                    <a:lnL>
                      <a:noFill/>
                    </a:lnL>
                    <a:lnR>
                      <a:noFill/>
                    </a:lnR>
                    <a:lnT>
                      <a:noFill/>
                    </a:lnT>
                    <a:lnB>
                      <a:noFill/>
                    </a:lnB>
                    <a:solidFill>
                      <a:schemeClr val="accent2">
                        <a:lumMod val="40000"/>
                        <a:lumOff val="60000"/>
                      </a:schemeClr>
                    </a:solidFill>
                  </a:tcPr>
                </a:tc>
              </a:tr>
              <a:tr h="274320">
                <a:tc>
                  <a:txBody>
                    <a:bodyPr/>
                    <a:p>
                      <a:r>
                        <a:rPr sz="1800"/>
                        <a:t>Fast Access</a:t>
                      </a:r>
                      <a:endParaRPr sz="1800"/>
                    </a:p>
                  </a:txBody>
                  <a:tcPr marL="0" marR="0" marT="0" marB="0" anchor="ctr" anchorCtr="0">
                    <a:lnL>
                      <a:noFill/>
                    </a:lnL>
                    <a:lnR>
                      <a:noFill/>
                    </a:lnR>
                    <a:lnT>
                      <a:noFill/>
                    </a:lnT>
                    <a:lnB>
                      <a:noFill/>
                    </a:lnB>
                    <a:solidFill>
                      <a:schemeClr val="accent2">
                        <a:lumMod val="40000"/>
                        <a:lumOff val="60000"/>
                      </a:schemeClr>
                    </a:solidFill>
                  </a:tcPr>
                </a:tc>
                <a:tc>
                  <a:txBody>
                    <a:bodyPr/>
                    <a:p>
                      <a:r>
                        <a:rPr sz="1800"/>
                        <a:t>Data is stored locally, so it's faster than making a server request</a:t>
                      </a:r>
                      <a:endParaRPr sz="1800"/>
                    </a:p>
                  </a:txBody>
                  <a:tcPr marL="0" marR="0" marT="0" marB="0" anchor="ctr" anchorCtr="0">
                    <a:lnL>
                      <a:noFill/>
                    </a:lnL>
                    <a:lnR>
                      <a:noFill/>
                    </a:lnR>
                    <a:lnT>
                      <a:noFill/>
                    </a:lnT>
                    <a:lnB>
                      <a:noFill/>
                    </a:lnB>
                    <a:solidFill>
                      <a:schemeClr val="accent2">
                        <a:lumMod val="40000"/>
                        <a:lumOff val="60000"/>
                      </a:schemeClr>
                    </a:solidFill>
                  </a:tcPr>
                </a:tc>
              </a:tr>
              <a:tr h="274320">
                <a:tc>
                  <a:txBody>
                    <a:bodyPr/>
                    <a:p>
                      <a:r>
                        <a:rPr sz="1800"/>
                        <a:t>Supports all modern browsers</a:t>
                      </a:r>
                      <a:endParaRPr sz="1800"/>
                    </a:p>
                  </a:txBody>
                  <a:tcPr marL="0" marR="0" marT="0" marB="0" anchor="ctr" anchorCtr="0">
                    <a:lnL>
                      <a:noFill/>
                    </a:lnL>
                    <a:lnR>
                      <a:noFill/>
                    </a:lnR>
                    <a:lnT>
                      <a:noFill/>
                    </a:lnT>
                    <a:lnB>
                      <a:noFill/>
                    </a:lnB>
                    <a:solidFill>
                      <a:schemeClr val="accent2">
                        <a:lumMod val="40000"/>
                        <a:lumOff val="60000"/>
                      </a:schemeClr>
                    </a:solidFill>
                  </a:tcPr>
                </a:tc>
                <a:tc>
                  <a:txBody>
                    <a:bodyPr/>
                    <a:p>
                      <a:r>
                        <a:rPr sz="1800"/>
                        <a:t>Compatible with all modern web browsers</a:t>
                      </a:r>
                      <a:endParaRPr sz="1800"/>
                    </a:p>
                  </a:txBody>
                  <a:tcPr marL="0" marR="0" marT="0" marB="0" anchor="ctr" anchorCtr="0">
                    <a:lnL>
                      <a:noFill/>
                    </a:lnL>
                    <a:lnR>
                      <a:noFill/>
                    </a:lnR>
                    <a:lnT>
                      <a:noFill/>
                    </a:lnT>
                    <a:lnB>
                      <a:noFill/>
                    </a:lnB>
                    <a:solidFill>
                      <a:schemeClr val="accent2">
                        <a:lumMod val="40000"/>
                        <a:lumOff val="60000"/>
                      </a:schemeClr>
                    </a:solidFill>
                  </a:tcPr>
                </a:tc>
              </a:tr>
              <a:tr h="274320">
                <a:tc>
                  <a:txBody>
                    <a:bodyPr/>
                    <a:p>
                      <a:r>
                        <a:rPr sz="1800"/>
                        <a:t>String-based storage</a:t>
                      </a:r>
                      <a:endParaRPr sz="1800"/>
                    </a:p>
                  </a:txBody>
                  <a:tcPr marL="0" marR="0" marT="0" marB="0" anchor="ctr" anchorCtr="0">
                    <a:lnL>
                      <a:noFill/>
                    </a:lnL>
                    <a:lnR>
                      <a:noFill/>
                    </a:lnR>
                    <a:lnT>
                      <a:noFill/>
                    </a:lnT>
                    <a:lnB>
                      <a:noFill/>
                    </a:lnB>
                    <a:solidFill>
                      <a:schemeClr val="accent2">
                        <a:lumMod val="40000"/>
                        <a:lumOff val="60000"/>
                      </a:schemeClr>
                    </a:solidFill>
                  </a:tcPr>
                </a:tc>
                <a:tc>
                  <a:txBody>
                    <a:bodyPr/>
                    <a:p>
                      <a:r>
                        <a:rPr sz="1800"/>
                        <a:t>Stores data in a readable, key-value format</a:t>
                      </a:r>
                      <a:endParaRPr sz="1800"/>
                    </a:p>
                  </a:txBody>
                  <a:tcPr marL="0" marR="0" marT="0" marB="0" anchor="ctr" anchorCtr="0">
                    <a:lnL>
                      <a:noFill/>
                    </a:lnL>
                    <a:lnR>
                      <a:noFill/>
                    </a:lnR>
                    <a:lnT>
                      <a:noFill/>
                    </a:lnT>
                    <a:lnB>
                      <a:noFill/>
                    </a:lnB>
                    <a:solidFill>
                      <a:schemeClr val="accent2">
                        <a:lumMod val="40000"/>
                        <a:lumOff val="60000"/>
                      </a:schemeClr>
                    </a:solidFill>
                  </a:tcPr>
                </a:tc>
              </a:tr>
            </a:tbl>
          </a:graphicData>
        </a:graphic>
      </p:graphicFrame>
      <p:sp>
        <p:nvSpPr>
          <p:cNvPr id="5" name="Text Box 4"/>
          <p:cNvSpPr txBox="1"/>
          <p:nvPr/>
        </p:nvSpPr>
        <p:spPr>
          <a:xfrm>
            <a:off x="45720" y="2767965"/>
            <a:ext cx="11896725" cy="1322070"/>
          </a:xfrm>
          <a:prstGeom prst="rect">
            <a:avLst/>
          </a:prstGeom>
        </p:spPr>
        <p:txBody>
          <a:bodyPr wrap="square">
            <a:spAutoFit/>
          </a:bodyPr>
          <a:p>
            <a:pPr>
              <a:buFont typeface="Arial" panose="020B0604020202020204"/>
              <a:buChar char="•"/>
            </a:pPr>
            <a:r>
              <a:rPr sz="1600"/>
              <a:t>Size limit: Around 5-10MB depending on the browser.</a:t>
            </a:r>
            <a:endParaRPr sz="1600"/>
          </a:p>
          <a:p>
            <a:pPr>
              <a:buFont typeface="Arial" panose="020B0604020202020204"/>
              <a:buChar char="•"/>
            </a:pPr>
            <a:endParaRPr sz="1600"/>
          </a:p>
          <a:p>
            <a:pPr>
              <a:buFont typeface="Arial" panose="020B0604020202020204"/>
              <a:buChar char="•"/>
            </a:pPr>
            <a:r>
              <a:rPr sz="1600"/>
              <a:t>Only string data: Must convert objects using JSON.stringify() and JSON.parse().</a:t>
            </a:r>
            <a:endParaRPr sz="1600"/>
          </a:p>
          <a:p>
            <a:pPr>
              <a:buFont typeface="Arial" panose="020B0604020202020204"/>
              <a:buChar char="•"/>
            </a:pPr>
            <a:endParaRPr sz="1600"/>
          </a:p>
          <a:p>
            <a:pPr>
              <a:buFont typeface="Arial" panose="020B0604020202020204"/>
              <a:buChar char="•"/>
            </a:pPr>
            <a:r>
              <a:rPr sz="1600"/>
              <a:t>Not secure: Accessible via JavaScript – avoid storing sensitive data like passwords.</a:t>
            </a:r>
            <a:endParaRPr sz="16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406400"/>
          </a:xfrm>
        </p:spPr>
        <p:txBody>
          <a:bodyPr>
            <a:noAutofit/>
          </a:bodyPr>
          <a:p>
            <a:pPr algn="ctr"/>
            <a:r>
              <a:rPr lang="en-US" altLang="en-US" sz="2800" b="1">
                <a:solidFill>
                  <a:srgbClr val="FF0000"/>
                </a:solidFill>
                <a:sym typeface="+mn-ea"/>
              </a:rPr>
              <a:t>What is IndexedDB?</a:t>
            </a:r>
            <a:endParaRPr lang="en-US" altLang="en-US" sz="2800" b="1">
              <a:solidFill>
                <a:srgbClr val="FF0000"/>
              </a:solidFill>
              <a:sym typeface="+mn-ea"/>
            </a:endParaRPr>
          </a:p>
        </p:txBody>
      </p:sp>
      <p:sp>
        <p:nvSpPr>
          <p:cNvPr id="3" name="Content Placeholder 2"/>
          <p:cNvSpPr>
            <a:spLocks noGrp="1"/>
          </p:cNvSpPr>
          <p:nvPr>
            <p:ph idx="1"/>
          </p:nvPr>
        </p:nvSpPr>
        <p:spPr>
          <a:xfrm>
            <a:off x="194310" y="406400"/>
            <a:ext cx="12211685" cy="6322695"/>
          </a:xfrm>
        </p:spPr>
        <p:txBody>
          <a:bodyPr/>
          <a:p>
            <a:pPr marL="0" indent="0">
              <a:buNone/>
            </a:pPr>
            <a:r>
              <a:rPr lang="en-US" altLang="en-US" sz="1800" b="1"/>
              <a:t>IndexedDB is:</a:t>
            </a:r>
            <a:endParaRPr lang="en-US" altLang="en-US" sz="1800" b="1"/>
          </a:p>
          <a:p>
            <a:pPr marL="342900" indent="-342900">
              <a:buAutoNum type="arabicPeriod"/>
            </a:pPr>
            <a:r>
              <a:rPr lang="en-US" altLang="en-US" sz="1800"/>
              <a:t>A JavaScript-based object-oriented database.</a:t>
            </a:r>
            <a:endParaRPr lang="en-US" altLang="en-US" sz="1800"/>
          </a:p>
          <a:p>
            <a:pPr marL="342900" indent="-342900">
              <a:buAutoNum type="arabicPeriod"/>
            </a:pPr>
            <a:r>
              <a:rPr lang="en-US" altLang="en-US" sz="1800"/>
              <a:t>A NoSQL database stored in the browser.</a:t>
            </a:r>
            <a:endParaRPr lang="en-US" altLang="en-US" sz="1800"/>
          </a:p>
          <a:p>
            <a:pPr marL="342900" indent="-342900">
              <a:buAutoNum type="arabicPeriod"/>
            </a:pPr>
            <a:r>
              <a:rPr lang="en-US" altLang="en-US" sz="1800"/>
              <a:t>Used for storing large amounts of structured data (e.g., JSON objects).</a:t>
            </a:r>
            <a:endParaRPr lang="en-US" altLang="en-US" sz="1800"/>
          </a:p>
          <a:p>
            <a:pPr marL="342900" indent="-342900">
              <a:buAutoNum type="arabicPeriod"/>
            </a:pPr>
            <a:r>
              <a:rPr lang="en-US" altLang="en-US" sz="1800"/>
              <a:t>Asynchronous (non-blocking) and transactional.</a:t>
            </a:r>
            <a:endParaRPr lang="en-US" altLang="en-US" sz="1800"/>
          </a:p>
          <a:p>
            <a:pPr marL="342900" indent="-342900">
              <a:buAutoNum type="arabicPeriod"/>
            </a:pPr>
            <a:r>
              <a:rPr lang="en-US" altLang="en-US" sz="1800"/>
              <a:t>It’s mainly used for offline storage and fast access to structured data without sending it to the server each time.</a:t>
            </a:r>
            <a:endParaRPr lang="en-US" altLang="en-US" sz="1800"/>
          </a:p>
          <a:p>
            <a:pPr marL="0" indent="0">
              <a:buNone/>
            </a:pPr>
            <a:r>
              <a:rPr lang="en-US" altLang="en-US" sz="1800" b="1"/>
              <a:t>Why Use IndexedDB?</a:t>
            </a:r>
            <a:endParaRPr lang="en-US" altLang="en-US" sz="1800" b="1"/>
          </a:p>
          <a:p>
            <a:pPr marL="342900" indent="-342900">
              <a:buAutoNum type="arabicPeriod"/>
            </a:pPr>
            <a:r>
              <a:rPr lang="en-US" altLang="en-US" sz="1800"/>
              <a:t>You might use IndexedDB when:</a:t>
            </a:r>
            <a:endParaRPr lang="en-US" altLang="en-US" sz="1800"/>
          </a:p>
          <a:p>
            <a:pPr marL="342900" indent="-342900">
              <a:buAutoNum type="arabicPeriod"/>
            </a:pPr>
            <a:r>
              <a:rPr lang="en-US" altLang="en-US" sz="1800"/>
              <a:t>You want to store data locally for offline use (like in PWAs).</a:t>
            </a:r>
            <a:endParaRPr lang="en-US" altLang="en-US" sz="1800"/>
          </a:p>
          <a:p>
            <a:pPr marL="342900" indent="-342900">
              <a:buAutoNum type="arabicPeriod"/>
            </a:pPr>
            <a:r>
              <a:rPr lang="en-US" altLang="en-US" sz="1800"/>
              <a:t>You need to cache a lot of data (e.g., media files, messages, game data).</a:t>
            </a:r>
            <a:endParaRPr lang="en-US" altLang="en-US" sz="1800"/>
          </a:p>
          <a:p>
            <a:pPr marL="342900" indent="-342900">
              <a:buAutoNum type="arabicPeriod"/>
            </a:pPr>
            <a:r>
              <a:rPr lang="en-US" altLang="en-US" sz="1800"/>
              <a:t>You need to store complex objects like arrays or blobs.</a:t>
            </a:r>
            <a:endParaRPr lang="en-US" altLang="en-US" sz="1800"/>
          </a:p>
          <a:p>
            <a:pPr marL="342900" indent="-342900">
              <a:buAutoNum type="arabicPeriod"/>
            </a:pPr>
            <a:r>
              <a:rPr lang="en-US" altLang="en-US" sz="1800"/>
              <a:t>You want better performance and more control than localStorage or sessionStorage.</a:t>
            </a:r>
            <a:endParaRPr lang="en-US" altLang="en-US" sz="1800"/>
          </a:p>
          <a:p>
            <a:pPr marL="342900" indent="-342900">
              <a:buAutoNum type="arabicPeriod"/>
            </a:pPr>
            <a:r>
              <a:rPr lang="en-US" altLang="en-US" sz="1800"/>
              <a:t>You’re building a rich client-side app (e.g., a note-taking app, offline-first web app).</a:t>
            </a:r>
            <a:endParaRPr lang="en-US" altLang="en-US" sz="18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35"/>
            <a:ext cx="10515600" cy="295910"/>
          </a:xfrm>
        </p:spPr>
        <p:txBody>
          <a:bodyPr>
            <a:normAutofit fontScale="90000"/>
          </a:bodyPr>
          <a:p>
            <a:pPr algn="ctr"/>
            <a:r>
              <a:rPr lang="en-US" sz="2800" b="1">
                <a:solidFill>
                  <a:srgbClr val="FF0000"/>
                </a:solidFill>
              </a:rPr>
              <a:t>Example of Indexeddb</a:t>
            </a:r>
            <a:endParaRPr lang="en-US" sz="2800" b="1">
              <a:solidFill>
                <a:srgbClr val="FF0000"/>
              </a:solidFill>
            </a:endParaRPr>
          </a:p>
        </p:txBody>
      </p:sp>
      <p:sp>
        <p:nvSpPr>
          <p:cNvPr id="3" name="Content Placeholder 2"/>
          <p:cNvSpPr>
            <a:spLocks noGrp="1"/>
          </p:cNvSpPr>
          <p:nvPr>
            <p:ph idx="1"/>
          </p:nvPr>
        </p:nvSpPr>
        <p:spPr>
          <a:xfrm>
            <a:off x="126365" y="295910"/>
            <a:ext cx="11951970" cy="6561455"/>
          </a:xfrm>
        </p:spPr>
        <p:txBody>
          <a:bodyPr>
            <a:noAutofit/>
          </a:bodyPr>
          <a:p>
            <a:pPr marL="0" indent="0">
              <a:buNone/>
            </a:pPr>
            <a:r>
              <a:rPr lang="en-US" altLang="en-US" sz="1600"/>
              <a:t>&lt;!DOCTYPE html&gt;</a:t>
            </a:r>
            <a:endParaRPr lang="en-US" altLang="en-US" sz="1600"/>
          </a:p>
          <a:p>
            <a:pPr marL="0" indent="0">
              <a:buNone/>
            </a:pPr>
            <a:r>
              <a:rPr lang="en-US" altLang="en-US" sz="1600"/>
              <a:t>&lt;html lang="en"&gt;</a:t>
            </a:r>
            <a:endParaRPr lang="en-US" altLang="en-US" sz="1600"/>
          </a:p>
          <a:p>
            <a:pPr marL="0" indent="0">
              <a:buNone/>
            </a:pPr>
            <a:r>
              <a:rPr lang="en-US" altLang="en-US" sz="1600"/>
              <a:t>&lt;head&gt;        &lt;meta charset="UTF-8"&gt;     &lt;title&gt;Basic IndexedDB&lt;/title&gt;</a:t>
            </a:r>
            <a:endParaRPr lang="en-US" altLang="en-US" sz="1600"/>
          </a:p>
          <a:p>
            <a:pPr marL="0" indent="0">
              <a:buNone/>
            </a:pPr>
            <a:r>
              <a:rPr lang="en-US" altLang="en-US" sz="1600"/>
              <a:t>&lt;/head&gt;</a:t>
            </a:r>
            <a:endParaRPr lang="en-US" altLang="en-US" sz="1600"/>
          </a:p>
          <a:p>
            <a:pPr marL="0" indent="0">
              <a:buNone/>
            </a:pPr>
            <a:r>
              <a:rPr lang="en-US" altLang="en-US" sz="1600"/>
              <a:t>&lt;body&gt;</a:t>
            </a:r>
            <a:endParaRPr lang="en-US" altLang="en-US" sz="1600"/>
          </a:p>
          <a:p>
            <a:pPr marL="0" indent="0">
              <a:buNone/>
            </a:pPr>
            <a:r>
              <a:rPr lang="en-US" altLang="en-US" sz="1600"/>
              <a:t>  &lt;input type="text" id="nameInput" placeholder="Enter name"&gt;</a:t>
            </a:r>
            <a:endParaRPr lang="en-US" altLang="en-US" sz="1600"/>
          </a:p>
          <a:p>
            <a:pPr marL="0" indent="0">
              <a:buNone/>
            </a:pPr>
            <a:r>
              <a:rPr lang="en-US" altLang="en-US" sz="1600"/>
              <a:t>  &lt;button onclick="saveName()"&gt;Save&lt;/button&gt;</a:t>
            </a:r>
            <a:endParaRPr lang="en-US" altLang="en-US" sz="1600"/>
          </a:p>
          <a:p>
            <a:pPr marL="0" indent="0">
              <a:buNone/>
            </a:pPr>
            <a:r>
              <a:rPr lang="en-US" altLang="en-US" sz="1600"/>
              <a:t>  &lt;p&gt;Saved Name: &lt;span id="savedName"&gt;&lt;/span&gt;&lt;/p&gt;</a:t>
            </a:r>
            <a:endParaRPr lang="en-US" altLang="en-US" sz="1600"/>
          </a:p>
          <a:p>
            <a:pPr marL="0" indent="0">
              <a:buNone/>
            </a:pPr>
            <a:r>
              <a:rPr lang="en-US" altLang="en-US" sz="1600"/>
              <a:t>  &lt;script&gt;</a:t>
            </a:r>
            <a:endParaRPr lang="en-US" altLang="en-US" sz="1600"/>
          </a:p>
          <a:p>
            <a:pPr marL="0" indent="0">
              <a:buNone/>
            </a:pPr>
            <a:r>
              <a:rPr lang="en-US" altLang="en-US" sz="1600"/>
              <a:t>    let db;</a:t>
            </a:r>
            <a:endParaRPr lang="en-US" altLang="en-US" sz="1600"/>
          </a:p>
          <a:p>
            <a:pPr marL="0" indent="0">
              <a:buNone/>
            </a:pPr>
            <a:r>
              <a:rPr lang="en-US" altLang="en-US" sz="1600"/>
              <a:t>    // Open or create the database</a:t>
            </a:r>
            <a:endParaRPr lang="en-US" altLang="en-US" sz="1600"/>
          </a:p>
          <a:p>
            <a:pPr marL="0" indent="0">
              <a:buNone/>
            </a:pPr>
            <a:r>
              <a:rPr lang="en-US" altLang="en-US" sz="1600"/>
              <a:t>    const request = indexedDB.open("MyDB", 1);</a:t>
            </a:r>
            <a:endParaRPr lang="en-US" altLang="en-US" sz="1600"/>
          </a:p>
          <a:p>
            <a:pPr marL="0" indent="0">
              <a:buNone/>
            </a:pPr>
            <a:r>
              <a:rPr lang="en-US" altLang="en-US" sz="1600"/>
              <a:t>    request.onupgradeneeded = function (event) {</a:t>
            </a:r>
            <a:endParaRPr lang="en-US" altLang="en-US" sz="1600"/>
          </a:p>
          <a:p>
            <a:pPr marL="0" indent="0">
              <a:buNone/>
            </a:pPr>
            <a:r>
              <a:rPr lang="en-US" altLang="en-US" sz="1600"/>
              <a:t>      db = event.target.result;</a:t>
            </a:r>
            <a:endParaRPr lang="en-US" altLang="en-US" sz="1600"/>
          </a:p>
          <a:p>
            <a:pPr marL="0" indent="0">
              <a:buNone/>
            </a:pPr>
            <a:r>
              <a:rPr lang="en-US" altLang="en-US" sz="1600"/>
              <a:t>      db.createObjectStore("names", { keyPath: "id" });</a:t>
            </a:r>
            <a:endParaRPr lang="en-US" altLang="en-US" sz="1600"/>
          </a:p>
          <a:p>
            <a:pPr marL="0" indent="0">
              <a:buNone/>
            </a:pPr>
            <a:r>
              <a:rPr lang="en-US" altLang="en-US" sz="1600"/>
              <a:t>    };</a:t>
            </a:r>
            <a:endParaRPr lang="en-US" altLang="en-US" sz="1600"/>
          </a:p>
          <a:p>
            <a:pPr marL="0" indent="0">
              <a:buNone/>
            </a:pPr>
            <a:r>
              <a:rPr lang="en-US" altLang="en-US" sz="1600"/>
              <a:t>   request.onsuccess = function (event) {</a:t>
            </a:r>
            <a:endParaRPr lang="en-US" altLang="en-US" sz="1600"/>
          </a:p>
          <a:p>
            <a:pPr marL="0" indent="0">
              <a:buNone/>
            </a:pPr>
            <a:r>
              <a:rPr lang="en-US" altLang="en-US" sz="1600"/>
              <a:t>      db = event.target.result;</a:t>
            </a:r>
            <a:endParaRPr lang="en-US" altLang="en-US" sz="1600"/>
          </a:p>
          <a:p>
            <a:pPr marL="0" indent="0">
              <a:buNone/>
            </a:pPr>
            <a:r>
              <a:rPr lang="en-US" altLang="en-US" sz="1600"/>
              <a:t>      loadName();</a:t>
            </a:r>
            <a:endParaRPr lang="en-US" altLang="en-US" sz="1600"/>
          </a:p>
          <a:p>
            <a:pPr marL="0" indent="0">
              <a:buNone/>
            </a:pPr>
            <a:r>
              <a:rPr lang="en-US" altLang="en-US" sz="1600"/>
              <a:t>    };</a:t>
            </a:r>
            <a:endParaRPr lang="en-US" altLang="en-US" sz="1600"/>
          </a:p>
          <a:p>
            <a:pPr marL="0" indent="0">
              <a:buNone/>
            </a:pPr>
            <a:endParaRPr lang="en-US" altLang="en-US" sz="16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27000" y="87630"/>
            <a:ext cx="11897360" cy="6678295"/>
          </a:xfrm>
        </p:spPr>
        <p:txBody>
          <a:bodyPr>
            <a:noAutofit/>
          </a:bodyPr>
          <a:p>
            <a:pPr marL="0" indent="0">
              <a:buNone/>
            </a:pPr>
            <a:r>
              <a:rPr lang="en-US" altLang="en-US" sz="1600">
                <a:sym typeface="+mn-ea"/>
              </a:rPr>
              <a:t>   function saveName() {</a:t>
            </a:r>
            <a:endParaRPr lang="en-US" altLang="en-US" sz="1600"/>
          </a:p>
          <a:p>
            <a:pPr marL="0" indent="0">
              <a:buNone/>
            </a:pPr>
            <a:r>
              <a:rPr lang="en-US" altLang="en-US" sz="1600">
                <a:sym typeface="+mn-ea"/>
              </a:rPr>
              <a:t>      const name = document.getElementById("nameInput").value.trim();</a:t>
            </a:r>
            <a:endParaRPr lang="en-US" altLang="en-US" sz="1600"/>
          </a:p>
          <a:p>
            <a:pPr marL="0" indent="0">
              <a:buNone/>
            </a:pPr>
            <a:r>
              <a:rPr lang="en-US" altLang="en-US" sz="1600">
                <a:sym typeface="+mn-ea"/>
              </a:rPr>
              <a:t>      if (!name) return;</a:t>
            </a:r>
            <a:endParaRPr lang="en-US" altLang="en-US" sz="1600"/>
          </a:p>
          <a:p>
            <a:pPr marL="0" indent="0">
              <a:buNone/>
            </a:pPr>
            <a:r>
              <a:rPr lang="en-US" altLang="en-US" sz="1600">
                <a:sym typeface="+mn-ea"/>
              </a:rPr>
              <a:t>     const tx = db.transaction("names", "readwrite");</a:t>
            </a:r>
            <a:endParaRPr lang="en-US" altLang="en-US" sz="1600"/>
          </a:p>
          <a:p>
            <a:pPr marL="0" indent="0">
              <a:buNone/>
            </a:pPr>
            <a:r>
              <a:rPr lang="en-US" altLang="en-US" sz="1600">
                <a:sym typeface="+mn-ea"/>
              </a:rPr>
              <a:t>      const store = tx.objectStore("names");</a:t>
            </a:r>
            <a:endParaRPr lang="en-US" altLang="en-US" sz="1600"/>
          </a:p>
          <a:p>
            <a:pPr marL="0" indent="0">
              <a:buNone/>
            </a:pPr>
            <a:r>
              <a:rPr lang="en-US" altLang="en-US" sz="1600">
                <a:sym typeface="+mn-ea"/>
              </a:rPr>
              <a:t>      store.put({ id: 1, name });</a:t>
            </a:r>
            <a:endParaRPr lang="en-US" altLang="en-US" sz="1600"/>
          </a:p>
          <a:p>
            <a:pPr marL="0" indent="0">
              <a:buNone/>
            </a:pPr>
            <a:r>
              <a:rPr lang="en-US" altLang="en-US" sz="1600">
                <a:sym typeface="+mn-ea"/>
              </a:rPr>
              <a:t>      tx.oncomplete = loadName;</a:t>
            </a:r>
            <a:endParaRPr lang="en-US" altLang="en-US" sz="1600"/>
          </a:p>
          <a:p>
            <a:pPr marL="0" indent="0">
              <a:buNone/>
            </a:pPr>
            <a:r>
              <a:rPr lang="en-US" altLang="en-US" sz="1600">
                <a:sym typeface="+mn-ea"/>
              </a:rPr>
              <a:t>    }</a:t>
            </a:r>
            <a:endParaRPr lang="en-US" altLang="en-US" sz="1600"/>
          </a:p>
          <a:p>
            <a:pPr marL="0" indent="0">
              <a:buNone/>
            </a:pPr>
            <a:r>
              <a:rPr lang="en-US" altLang="en-US" sz="1600">
                <a:sym typeface="+mn-ea"/>
              </a:rPr>
              <a:t>    function loadName() {</a:t>
            </a:r>
            <a:endParaRPr lang="en-US" altLang="en-US" sz="1600"/>
          </a:p>
          <a:p>
            <a:pPr marL="0" indent="0">
              <a:buNone/>
            </a:pPr>
            <a:r>
              <a:rPr lang="en-US" altLang="en-US" sz="1600">
                <a:sym typeface="+mn-ea"/>
              </a:rPr>
              <a:t>      const tx = db.transaction("names", "readonly");</a:t>
            </a:r>
            <a:endParaRPr lang="en-US" altLang="en-US" sz="1600"/>
          </a:p>
          <a:p>
            <a:pPr marL="0" indent="0">
              <a:buNone/>
            </a:pPr>
            <a:r>
              <a:rPr lang="en-US" altLang="en-US" sz="1600">
                <a:sym typeface="+mn-ea"/>
              </a:rPr>
              <a:t>      const store = tx.objectStore("names");</a:t>
            </a:r>
            <a:endParaRPr lang="en-US" altLang="en-US" sz="1600"/>
          </a:p>
          <a:p>
            <a:pPr marL="0" indent="0">
              <a:buNone/>
            </a:pPr>
            <a:r>
              <a:rPr lang="en-US" altLang="en-US" sz="1600">
                <a:sym typeface="+mn-ea"/>
              </a:rPr>
              <a:t>      const getRequest = store.get(1);</a:t>
            </a:r>
            <a:endParaRPr lang="en-US" altLang="en-US" sz="1600"/>
          </a:p>
          <a:p>
            <a:pPr marL="0" indent="0">
              <a:buNone/>
            </a:pPr>
            <a:r>
              <a:rPr lang="en-US" altLang="en-US" sz="1600">
                <a:sym typeface="+mn-ea"/>
              </a:rPr>
              <a:t>      getRequest.onsuccess = function () {</a:t>
            </a:r>
            <a:endParaRPr lang="en-US" altLang="en-US" sz="1600"/>
          </a:p>
          <a:p>
            <a:pPr marL="0" indent="0">
              <a:buNone/>
            </a:pPr>
            <a:r>
              <a:rPr lang="en-US" altLang="en-US" sz="1600">
                <a:sym typeface="+mn-ea"/>
              </a:rPr>
              <a:t>        const result = getRequest.result;</a:t>
            </a:r>
            <a:endParaRPr lang="en-US" altLang="en-US" sz="1600"/>
          </a:p>
          <a:p>
            <a:pPr marL="0" indent="0">
              <a:buNone/>
            </a:pPr>
            <a:r>
              <a:rPr lang="en-US" altLang="en-US" sz="1600">
                <a:sym typeface="+mn-ea"/>
              </a:rPr>
              <a:t>        document.getElementById("savedName").textContent = result ? result.name : "None";</a:t>
            </a:r>
            <a:endParaRPr lang="en-US" altLang="en-US" sz="1600"/>
          </a:p>
          <a:p>
            <a:pPr marL="0" indent="0">
              <a:buNone/>
            </a:pPr>
            <a:r>
              <a:rPr lang="en-US" altLang="en-US" sz="1600">
                <a:sym typeface="+mn-ea"/>
              </a:rPr>
              <a:t>      };</a:t>
            </a:r>
            <a:endParaRPr lang="en-US" altLang="en-US" sz="1600"/>
          </a:p>
          <a:p>
            <a:pPr marL="0" indent="0">
              <a:buNone/>
            </a:pPr>
            <a:r>
              <a:rPr lang="en-US" altLang="en-US" sz="1600">
                <a:sym typeface="+mn-ea"/>
              </a:rPr>
              <a:t>    }</a:t>
            </a:r>
            <a:endParaRPr lang="en-US" altLang="en-US" sz="1600"/>
          </a:p>
          <a:p>
            <a:pPr marL="0" indent="0">
              <a:buNone/>
            </a:pPr>
            <a:r>
              <a:rPr lang="en-US" altLang="en-US" sz="1600">
                <a:sym typeface="+mn-ea"/>
              </a:rPr>
              <a:t>  &lt;/script&gt;</a:t>
            </a:r>
            <a:endParaRPr lang="en-US" altLang="en-US" sz="1600"/>
          </a:p>
          <a:p>
            <a:pPr marL="0" indent="0">
              <a:buNone/>
            </a:pPr>
            <a:r>
              <a:rPr lang="en-US" altLang="en-US" sz="1600">
                <a:sym typeface="+mn-ea"/>
              </a:rPr>
              <a:t>&lt;/body&gt;</a:t>
            </a:r>
            <a:endParaRPr lang="en-US" altLang="en-US" sz="1600"/>
          </a:p>
          <a:p>
            <a:pPr marL="0" indent="0">
              <a:buNone/>
            </a:pPr>
            <a:r>
              <a:rPr lang="en-US" altLang="en-US" sz="1600">
                <a:sym typeface="+mn-ea"/>
              </a:rPr>
              <a:t>&lt;/html&gt;</a:t>
            </a:r>
            <a:endParaRPr lang="en-US" altLang="en-US" sz="1600"/>
          </a:p>
          <a:p>
            <a:pPr marL="0" indent="0">
              <a:buNone/>
            </a:pPr>
            <a:endParaRPr lang="en-US" altLang="en-US" sz="1600"/>
          </a:p>
          <a:p>
            <a:pPr marL="0" indent="0">
              <a:buNone/>
            </a:pPr>
            <a:endParaRPr lang="en-US" altLang="en-US" sz="1600"/>
          </a:p>
        </p:txBody>
      </p:sp>
    </p:spTree>
  </p:cSld>
  <p:clrMapOvr>
    <a:masterClrMapping/>
  </p:clrMapOvr>
</p:sld>
</file>

<file path=ppt/tags/tag1.xml><?xml version="1.0" encoding="utf-8"?>
<p:tagLst xmlns:p="http://schemas.openxmlformats.org/presentationml/2006/main">
  <p:tag name="TABLE_ENDDRAG_ORIGIN_RECT" val="955*233"/>
  <p:tag name="TABLE_ENDDRAG_RECT" val="4*230*955*233"/>
</p:tagLst>
</file>

<file path=ppt/tags/tag2.xml><?xml version="1.0" encoding="utf-8"?>
<p:tagLst xmlns:p="http://schemas.openxmlformats.org/presentationml/2006/main">
  <p:tag name="TABLE_ENDDRAG_ORIGIN_RECT" val="924*137"/>
  <p:tag name="TABLE_ENDDRAG_RECT" val="7*129*924*137"/>
</p:tagLst>
</file>

<file path=ppt/tags/tag3.xml><?xml version="1.0" encoding="utf-8"?>
<p:tagLst xmlns:p="http://schemas.openxmlformats.org/presentationml/2006/main">
  <p:tag name="TABLE_ENDDRAG_ORIGIN_RECT" val="924*207"/>
  <p:tag name="TABLE_ENDDRAG_RECT" val="18*82*924*207"/>
</p:tagLst>
</file>

<file path=ppt/tags/tag4.xml><?xml version="1.0" encoding="utf-8"?>
<p:tagLst xmlns:p="http://schemas.openxmlformats.org/presentationml/2006/main">
  <p:tag name="TABLE_ENDDRAG_ORIGIN_RECT" val="935*199"/>
  <p:tag name="TABLE_ENDDRAG_RECT" val="7*336*935*199"/>
</p:tagLst>
</file>

<file path=ppt/tags/tag5.xml><?xml version="1.0" encoding="utf-8"?>
<p:tagLst xmlns:p="http://schemas.openxmlformats.org/presentationml/2006/main">
  <p:tag name="TABLE_ENDDRAG_ORIGIN_RECT" val="934*171"/>
  <p:tag name="TABLE_ENDDRAG_RECT" val="7*83*934*171"/>
</p:tagLst>
</file>

<file path=ppt/tags/tag6.xml><?xml version="1.0" encoding="utf-8"?>
<p:tagLst xmlns:p="http://schemas.openxmlformats.org/presentationml/2006/main">
  <p:tag name="TABLE_ENDDRAG_ORIGIN_RECT" val="889*121"/>
  <p:tag name="TABLE_ENDDRAG_RECT" val="16*357*889*121"/>
</p:tagLst>
</file>

<file path=ppt/tags/tag7.xml><?xml version="1.0" encoding="utf-8"?>
<p:tagLst xmlns:p="http://schemas.openxmlformats.org/presentationml/2006/main">
  <p:tag name="TABLE_ENDDRAG_ORIGIN_RECT" val="909*94"/>
  <p:tag name="TABLE_ENDDRAG_RECT" val="17*48*909*94"/>
</p:tagLst>
</file>

<file path=ppt/tags/tag8.xml><?xml version="1.0" encoding="utf-8"?>
<p:tagLst xmlns:p="http://schemas.openxmlformats.org/presentationml/2006/main">
  <p:tag name="TABLE_ENDDRAG_ORIGIN_RECT" val="942*82"/>
  <p:tag name="TABLE_ENDDRAG_RECT" val="7*241*942*82"/>
</p:tagLst>
</file>

<file path=ppt/tags/tag9.xml><?xml version="1.0" encoding="utf-8"?>
<p:tagLst xmlns:p="http://schemas.openxmlformats.org/presentationml/2006/main">
  <p:tag name="TABLE_ENDDRAG_ORIGIN_RECT" val="960*128"/>
  <p:tag name="TABLE_ENDDRAG_RECT" val="0*116*960*128"/>
</p:tagLst>
</file>

<file path=ppt/tags/tag10.xml><?xml version="1.0" encoding="utf-8"?>
<p:tagLst xmlns:p="http://schemas.openxmlformats.org/presentationml/2006/main">
  <p:tag name="TABLE_ENDDRAG_ORIGIN_RECT" val="950*226"/>
  <p:tag name="TABLE_ENDDRAG_RECT" val="0*313*950*226"/>
</p:tagLst>
</file>

<file path=ppt/tags/tag11.xml><?xml version="1.0" encoding="utf-8"?>
<p:tagLst xmlns:p="http://schemas.openxmlformats.org/presentationml/2006/main">
  <p:tag name="TABLE_ENDDRAG_ORIGIN_RECT" val="960*169"/>
  <p:tag name="TABLE_ENDDRAG_RECT" val="0*0*960*169"/>
</p:tagLst>
</file>

<file path=ppt/tags/tag12.xml><?xml version="1.0" encoding="utf-8"?>
<p:tagLst xmlns:p="http://schemas.openxmlformats.org/presentationml/2006/main">
  <p:tag name="TABLE_ENDDRAG_ORIGIN_RECT" val="959*61"/>
  <p:tag name="TABLE_ENDDRAG_RECT" val="0*243*960*61"/>
</p:tagLst>
</file>

<file path=ppt/tags/tag13.xml><?xml version="1.0" encoding="utf-8"?>
<p:tagLst xmlns:p="http://schemas.openxmlformats.org/presentationml/2006/main">
  <p:tag name="TABLE_ENDDRAG_ORIGIN_RECT" val="959*52"/>
  <p:tag name="TABLE_ENDDRAG_RECT" val="0*350*960*52"/>
</p:tagLst>
</file>

<file path=ppt/tags/tag14.xml><?xml version="1.0" encoding="utf-8"?>
<p:tagLst xmlns:p="http://schemas.openxmlformats.org/presentationml/2006/main">
  <p:tag name="TABLE_ENDDRAG_ORIGIN_RECT" val="951*28"/>
  <p:tag name="TABLE_ENDDRAG_RECT" val="0*450*952*29"/>
</p:tagLst>
</file>

<file path=ppt/tags/tag15.xml><?xml version="1.0" encoding="utf-8"?>
<p:tagLst xmlns:p="http://schemas.openxmlformats.org/presentationml/2006/main">
  <p:tag name="TABLE_ENDDRAG_ORIGIN_RECT" val="825*127"/>
  <p:tag name="TABLE_ENDDRAG_RECT" val="20*99*825*127"/>
</p:tagLst>
</file>

<file path=ppt/tags/tag16.xml><?xml version="1.0" encoding="utf-8"?>
<p:tagLst xmlns:p="http://schemas.openxmlformats.org/presentationml/2006/main">
  <p:tag name="TABLE_ENDDRAG_ORIGIN_RECT" val="931*278"/>
  <p:tag name="TABLE_ENDDRAG_RECT" val="9*45*931*278"/>
</p:tagLst>
</file>

<file path=ppt/tags/tag17.xml><?xml version="1.0" encoding="utf-8"?>
<p:tagLst xmlns:p="http://schemas.openxmlformats.org/presentationml/2006/main">
  <p:tag name="TABLE_ENDDRAG_ORIGIN_RECT" val="952*122"/>
  <p:tag name="TABLE_ENDDRAG_RECT" val="0*357*952*122"/>
</p:tagLst>
</file>

<file path=ppt/tags/tag18.xml><?xml version="1.0" encoding="utf-8"?>
<p:tagLst xmlns:p="http://schemas.openxmlformats.org/presentationml/2006/main">
  <p:tag name="TABLE_ENDDRAG_ORIGIN_RECT" val="937*174"/>
  <p:tag name="TABLE_ENDDRAG_RECT" val="12*0*937*174"/>
</p:tagLst>
</file>

<file path=ppt/tags/tag19.xml><?xml version="1.0" encoding="utf-8"?>
<p:tagLst xmlns:p="http://schemas.openxmlformats.org/presentationml/2006/main">
  <p:tag name="TABLE_ENDDRAG_ORIGIN_RECT" val="944*248"/>
  <p:tag name="TABLE_ENDDRAG_RECT" val="5*292*944*248"/>
</p:tagLst>
</file>

<file path=ppt/tags/tag20.xml><?xml version="1.0" encoding="utf-8"?>
<p:tagLst xmlns:p="http://schemas.openxmlformats.org/presentationml/2006/main">
  <p:tag name="TABLE_ENDDRAG_ORIGIN_RECT" val="518*180"/>
  <p:tag name="TABLE_ENDDRAG_RECT" val="434*257*518*180"/>
</p:tagLst>
</file>

<file path=ppt/tags/tag21.xml><?xml version="1.0" encoding="utf-8"?>
<p:tagLst xmlns:p="http://schemas.openxmlformats.org/presentationml/2006/main">
  <p:tag name="TABLE_ENDDRAG_ORIGIN_RECT" val="943*131"/>
  <p:tag name="TABLE_ENDDRAG_RECT" val="6*39*943*13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42334</Words>
  <Application>WPS Presentation</Application>
  <PresentationFormat>Widescreen</PresentationFormat>
  <Paragraphs>1895</Paragraphs>
  <Slides>58</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58</vt:i4>
      </vt:variant>
    </vt:vector>
  </HeadingPairs>
  <TitlesOfParts>
    <vt:vector size="68" baseType="lpstr">
      <vt:lpstr>Arial</vt:lpstr>
      <vt:lpstr>SimSun</vt:lpstr>
      <vt:lpstr>Wingdings</vt:lpstr>
      <vt:lpstr>Calibri</vt:lpstr>
      <vt:lpstr>Microsoft YaHei</vt:lpstr>
      <vt:lpstr>Arial Unicode MS</vt:lpstr>
      <vt:lpstr>Calibri Light</vt:lpstr>
      <vt:lpstr>Arial</vt:lpstr>
      <vt:lpstr>Wingdings</vt:lpstr>
      <vt:lpstr>Office Theme</vt:lpstr>
      <vt:lpstr>PowerPoint 演示文稿</vt:lpstr>
      <vt:lpstr>Js Features</vt:lpstr>
      <vt:lpstr>PowerPoint 演示文稿</vt:lpstr>
      <vt:lpstr>Js Variables And Datatypes</vt:lpstr>
      <vt:lpstr>PowerPoint 演示文稿</vt:lpstr>
      <vt:lpstr>JS Datatypes</vt:lpstr>
      <vt:lpstr>PowerPoint 演示文稿</vt:lpstr>
      <vt:lpstr>What is Scripting?</vt:lpstr>
      <vt:lpstr>Js Operators</vt:lpstr>
      <vt:lpstr>PowerPoint 演示文稿</vt:lpstr>
      <vt:lpstr>PowerPoint 演示文稿</vt:lpstr>
      <vt:lpstr>Js Arrays</vt:lpstr>
      <vt:lpstr>PowerPoint 演示文稿</vt:lpstr>
      <vt:lpstr>PowerPoint 演示文稿</vt:lpstr>
      <vt:lpstr>PowerPoint 演示文稿</vt:lpstr>
      <vt:lpstr>PowerPoint 演示文稿</vt:lpstr>
      <vt:lpstr>Js Arrow Function</vt:lpstr>
      <vt:lpstr>PowerPoint 演示文稿</vt:lpstr>
      <vt:lpstr>js Strings</vt:lpstr>
      <vt:lpstr>JS Imp Methods</vt:lpstr>
      <vt:lpstr>PowerPoint 演示文稿</vt:lpstr>
      <vt:lpstr>PowerPoint 演示文稿</vt:lpstr>
      <vt:lpstr>js Iterators And generators</vt:lpstr>
      <vt:lpstr>Example of Iterators</vt:lpstr>
      <vt:lpstr>️ Generators</vt:lpstr>
      <vt:lpstr>JS DOM</vt:lpstr>
      <vt:lpstr>PowerPoint 演示文稿</vt:lpstr>
      <vt:lpstr>PowerPoint 演示文稿</vt:lpstr>
      <vt:lpstr>JS oops</vt:lpstr>
      <vt:lpstr>PowerPoint 演示文稿</vt:lpstr>
      <vt:lpstr>PowerPoint 演示文稿</vt:lpstr>
      <vt:lpstr>PowerPoint 演示文稿</vt:lpstr>
      <vt:lpstr>PowerPoint 演示文稿</vt:lpstr>
      <vt:lpstr>PowerPoint 演示文稿</vt:lpstr>
      <vt:lpstr>PowerPoint 演示文稿</vt:lpstr>
      <vt:lpstr>JavaScript Polymorphism (with Classes)</vt:lpstr>
      <vt:lpstr>2. Compile-time Polymorphism (Method Overloading) — Not Natively Supported</vt:lpstr>
      <vt:lpstr>async and await in JavaScript</vt:lpstr>
      <vt:lpstr>Example of async and await function</vt:lpstr>
      <vt:lpstr>what is js Promises</vt:lpstr>
      <vt:lpstr>PowerPoint 演示文稿</vt:lpstr>
      <vt:lpstr>Example of Promises</vt:lpstr>
      <vt:lpstr>PowerPoint 演示文稿</vt:lpstr>
      <vt:lpstr>PowerPoint 演示文稿</vt:lpstr>
      <vt:lpstr>PowerPoint 演示文稿</vt:lpstr>
      <vt:lpstr>What is a Callback Function in JavaScript?</vt:lpstr>
      <vt:lpstr>PowerPoint 演示文稿</vt:lpstr>
      <vt:lpstr>1. JavaScript Cookies</vt:lpstr>
      <vt:lpstr>Difference Between Session Storage And Cookies</vt:lpstr>
      <vt:lpstr>PowerPoint 演示文稿</vt:lpstr>
      <vt:lpstr>PowerPoint 演示文稿</vt:lpstr>
      <vt:lpstr>Js SessionStorage</vt:lpstr>
      <vt:lpstr>PowerPoint 演示文稿</vt:lpstr>
      <vt:lpstr>JS LocalStorage</vt:lpstr>
      <vt:lpstr>PowerPoint 演示文稿</vt:lpstr>
      <vt:lpstr>What is IndexedDB?</vt:lpstr>
      <vt:lpstr>Example of Indexeddb</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UV-user</dc:creator>
  <cp:lastModifiedBy>Nishank Amte</cp:lastModifiedBy>
  <cp:revision>394</cp:revision>
  <dcterms:created xsi:type="dcterms:W3CDTF">2025-07-23T00:59:00Z</dcterms:created>
  <dcterms:modified xsi:type="dcterms:W3CDTF">2026-01-30T06:59:09Z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E8B5930B37FB4BBAA3654E89ED59B8B9_11</vt:lpwstr>
  </property>
  <property fmtid="{D5CDD505-2E9C-101B-9397-08002B2CF9AE}" pid="3" name="KSOProductBuildVer">
    <vt:lpwstr>1033-12.2.0.23196</vt:lpwstr>
  </property>
</Properties>
</file>