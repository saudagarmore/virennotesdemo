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5" r:id="rId6"/>
    <p:sldId id="262" r:id="rId7"/>
    <p:sldId id="259" r:id="rId8"/>
    <p:sldId id="267" r:id="rId9"/>
    <p:sldId id="266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6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69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38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0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6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35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41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9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01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1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9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B0E98-E37E-4DAD-A667-63F78069A83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33A3F-0DC1-416A-B17C-9055A70A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1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37873" y="4514943"/>
            <a:ext cx="1309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/>
              <a:t>EBS</a:t>
            </a:r>
            <a:endParaRPr lang="en-IN" sz="5400" b="1" dirty="0"/>
          </a:p>
        </p:txBody>
      </p:sp>
      <p:pic>
        <p:nvPicPr>
          <p:cNvPr id="3" name="Picture 2" descr="Amazon Elastic Block Store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1" y="934452"/>
            <a:ext cx="4503821" cy="450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8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07" y="375385"/>
            <a:ext cx="8191099" cy="596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4636" y="231005"/>
            <a:ext cx="115021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2960E"/>
                </a:solidFill>
              </a:rPr>
              <a:t>BLOCK STORAGE TYPES</a:t>
            </a:r>
          </a:p>
          <a:p>
            <a:pPr marL="342900" indent="-342900">
              <a:buAutoNum type="arabicPeriod"/>
            </a:pPr>
            <a:r>
              <a:rPr lang="en-US" sz="3200" b="1" dirty="0" smtClean="0">
                <a:solidFill>
                  <a:srgbClr val="F2960E"/>
                </a:solidFill>
              </a:rPr>
              <a:t>EBS :</a:t>
            </a:r>
            <a:endParaRPr lang="en-US" sz="3200" b="1" dirty="0">
              <a:solidFill>
                <a:srgbClr val="F2960E"/>
              </a:solidFill>
            </a:endParaRPr>
          </a:p>
          <a:p>
            <a:r>
              <a:rPr lang="en-US" sz="2800" b="1" dirty="0" smtClean="0"/>
              <a:t> * Persistence : if you stop/reboot then data will not be deleted.</a:t>
            </a:r>
          </a:p>
          <a:p>
            <a:r>
              <a:rPr lang="en-US" sz="2800" b="1" dirty="0" smtClean="0"/>
              <a:t> * If you terminate then it will be deleted.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N/w Attached Virtual Drive.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N/w Attached is slow than physical attached.</a:t>
            </a:r>
          </a:p>
          <a:p>
            <a:endParaRPr lang="en-US" sz="3200" b="1" dirty="0"/>
          </a:p>
          <a:p>
            <a:r>
              <a:rPr lang="en-US" sz="3200" b="1" dirty="0" smtClean="0">
                <a:solidFill>
                  <a:srgbClr val="F2960E"/>
                </a:solidFill>
              </a:rPr>
              <a:t>2. INSTANCE STORE BACKED EC2 :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The virtual Hard Drive on the host is allocated to EC2 Instances.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It is limited to some instances.</a:t>
            </a:r>
          </a:p>
          <a:p>
            <a:r>
              <a:rPr lang="en-US" sz="2800" b="1" dirty="0" smtClean="0"/>
              <a:t> * </a:t>
            </a:r>
            <a:r>
              <a:rPr lang="en-US" sz="2800" b="1" dirty="0" smtClean="0"/>
              <a:t>Non-Persistence : if you stop/reboot then data will be deleted.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44314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07" y="375385"/>
            <a:ext cx="8191099" cy="596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4636" y="231005"/>
            <a:ext cx="1150218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2960E"/>
                </a:solidFill>
              </a:rPr>
              <a:t>What is EBS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2960E"/>
                </a:solidFill>
              </a:rPr>
              <a:t>:</a:t>
            </a:r>
          </a:p>
          <a:p>
            <a:endParaRPr lang="en-US" sz="2800" b="1" dirty="0" smtClean="0">
              <a:solidFill>
                <a:srgbClr val="F2960E"/>
              </a:solidFill>
            </a:endParaRPr>
          </a:p>
          <a:p>
            <a:r>
              <a:rPr lang="en-US" sz="2800" b="1" dirty="0"/>
              <a:t> </a:t>
            </a:r>
            <a:r>
              <a:rPr lang="en-US" sz="2800" b="1" dirty="0" smtClean="0"/>
              <a:t>* It is a external block storage that you can attach to EC2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ES is a Network attached virtual Hard drive.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Multiple EBS volumes can be attached to a single EC2.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We can Attach a multiple Volume to EC2 once at a time.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Up to 16 instances to share a single EBS volume.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EBS Volumes and instances must be in same AZ.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* We can Copy EBS to multiple Regions to prevent Data loss.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88497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07" y="375385"/>
            <a:ext cx="8191099" cy="596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4636" y="231005"/>
            <a:ext cx="1150218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2960E"/>
                </a:solidFill>
              </a:rPr>
              <a:t>ADVANTAGES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2960E"/>
                </a:solidFill>
              </a:rPr>
              <a:t>:</a:t>
            </a:r>
          </a:p>
          <a:p>
            <a:r>
              <a:rPr lang="en-US" sz="2800" b="1" dirty="0"/>
              <a:t> </a:t>
            </a:r>
            <a:endParaRPr lang="en-US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Multi-</a:t>
            </a:r>
            <a:r>
              <a:rPr lang="en-US" sz="2800" b="1" dirty="0" err="1" smtClean="0"/>
              <a:t>Attache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5616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07" y="375385"/>
            <a:ext cx="8191099" cy="596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4636" y="231005"/>
            <a:ext cx="11502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2960E"/>
                </a:solidFill>
              </a:rPr>
              <a:t>TYPES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2960E"/>
                </a:solidFill>
              </a:rPr>
              <a:t>:</a:t>
            </a:r>
          </a:p>
          <a:p>
            <a:r>
              <a:rPr lang="en-US" sz="2800" b="1" dirty="0"/>
              <a:t> </a:t>
            </a:r>
            <a:endParaRPr lang="en-US" sz="2800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2" y="972152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255" y="240631"/>
            <a:ext cx="1160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2960E"/>
                </a:solidFill>
              </a:rPr>
              <a:t>What is </a:t>
            </a:r>
            <a:r>
              <a:rPr lang="en-US" sz="3600" b="1" dirty="0" err="1" smtClean="0">
                <a:solidFill>
                  <a:srgbClr val="F2960E"/>
                </a:solidFill>
              </a:rPr>
              <a:t>SnapShot</a:t>
            </a:r>
            <a:r>
              <a:rPr lang="en-US" sz="3600" b="1" dirty="0" smtClean="0">
                <a:solidFill>
                  <a:srgbClr val="F2960E"/>
                </a:solidFill>
              </a:rPr>
              <a:t> </a:t>
            </a:r>
            <a:r>
              <a:rPr lang="en-US" sz="3600" dirty="0" smtClean="0">
                <a:solidFill>
                  <a:srgbClr val="F2960E"/>
                </a:solidFill>
              </a:rPr>
              <a:t>:</a:t>
            </a:r>
            <a:endParaRPr lang="en-IN" sz="3600" dirty="0">
              <a:solidFill>
                <a:srgbClr val="F2960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9507" y="1097280"/>
            <a:ext cx="113578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EBS Snapshots are copies of your EBS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create up to 5000 EBS Volumes in a single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create up to 10000 EBS snapshots in a single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Snapshots can be stored on S3 (not ours) but can only be accessed through EC2 API’S.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Snapshots will be Region Specific.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While taking snapshot we need to stop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If Data is added to server while taking snapshot it wont be written.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Once snapshot is created Copy it to other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restore snapshot even if we delete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store snapshots in Archive for saving up to 75%.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23657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988" y="1465413"/>
            <a:ext cx="6098786" cy="353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131" y="3515594"/>
            <a:ext cx="4888162" cy="2837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0042" y="1260909"/>
            <a:ext cx="11566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OS		ROOT DEVICE STORAGE		SOFTWARE</a:t>
            </a:r>
          </a:p>
          <a:p>
            <a:r>
              <a:rPr lang="en-US" sz="3200" b="1" dirty="0"/>
              <a:t>	</a:t>
            </a:r>
            <a:r>
              <a:rPr lang="en-US" sz="3200" b="1" dirty="0" smtClean="0"/>
              <a:t>							 PACKAGES</a:t>
            </a:r>
            <a:endParaRPr lang="en-IN" sz="3200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084609" y="1920818"/>
            <a:ext cx="2752825" cy="2012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79953" y="1799518"/>
            <a:ext cx="28876" cy="1716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718863" y="2338127"/>
            <a:ext cx="2952859" cy="175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23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07" y="375385"/>
            <a:ext cx="8191099" cy="596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4636" y="231005"/>
            <a:ext cx="115021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2960E"/>
                </a:solidFill>
              </a:rPr>
              <a:t>AMI :</a:t>
            </a:r>
          </a:p>
          <a:p>
            <a:endParaRPr lang="en-US" sz="3200" b="1" dirty="0">
              <a:solidFill>
                <a:srgbClr val="F2960E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An Amazon machine Image (AMI) is an Template that provides the software that is required to set up and boot an Amazon EC2 instance.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Each AMI also contains block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You must specify an AMI when you launch an instance.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The AMI must be compatible with the instance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create our own AMI or use Public AMI.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We can sell our AMI on AWS Market Place.</a:t>
            </a:r>
          </a:p>
        </p:txBody>
      </p:sp>
    </p:spTree>
    <p:extLst>
      <p:ext uri="{BB962C8B-B14F-4D97-AF65-F5344CB8AC3E}">
        <p14:creationId xmlns:p14="http://schemas.microsoft.com/office/powerpoint/2010/main" val="181701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259" y="394636"/>
            <a:ext cx="11338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PROCESS :</a:t>
            </a:r>
          </a:p>
          <a:p>
            <a:pPr marL="342900" indent="-342900">
              <a:buAutoNum type="arabicPeriod"/>
            </a:pPr>
            <a:r>
              <a:rPr lang="en-US" sz="3600" b="1" dirty="0" smtClean="0"/>
              <a:t>DEPLOY APP TO SERVER</a:t>
            </a:r>
          </a:p>
          <a:p>
            <a:pPr marL="342900" indent="-342900">
              <a:buAutoNum type="arabicPeriod"/>
            </a:pPr>
            <a:r>
              <a:rPr lang="en-US" sz="3600" b="1" dirty="0" smtClean="0"/>
              <a:t>DELECT SERVER </a:t>
            </a:r>
            <a:r>
              <a:rPr lang="en-US" sz="3600" b="1" dirty="0" smtClean="0">
                <a:sym typeface="Wingdings" panose="05000000000000000000" pitchFamily="2" charset="2"/>
              </a:rPr>
              <a:t> ACTION  IMAGES &amp; TEMPLATES  CREATE IMAGE</a:t>
            </a:r>
          </a:p>
          <a:p>
            <a:pPr marL="342900" indent="-342900">
              <a:buAutoNum type="arabicPeriod"/>
            </a:pPr>
            <a:r>
              <a:rPr lang="en-US" sz="3600" b="1" dirty="0" smtClean="0">
                <a:sym typeface="Wingdings" panose="05000000000000000000" pitchFamily="2" charset="2"/>
              </a:rPr>
              <a:t>NAME : ABC  CREATE IMAGE</a:t>
            </a:r>
          </a:p>
          <a:p>
            <a:pPr marL="342900" indent="-342900">
              <a:buAutoNum type="arabicPeriod"/>
            </a:pPr>
            <a:r>
              <a:rPr lang="en-US" sz="3600" b="1" dirty="0" smtClean="0">
                <a:sym typeface="Wingdings" panose="05000000000000000000" pitchFamily="2" charset="2"/>
              </a:rPr>
              <a:t>AMI  SELECT IMAGE  LAUNCH INSTANCE FROM AMI</a:t>
            </a:r>
          </a:p>
          <a:p>
            <a:pPr marL="342900" indent="-342900">
              <a:buAutoNum type="arabicPeriod"/>
            </a:pPr>
            <a:r>
              <a:rPr lang="en-US" sz="3600" b="1" dirty="0" smtClean="0">
                <a:sym typeface="Wingdings" panose="05000000000000000000" pitchFamily="2" charset="2"/>
              </a:rPr>
              <a:t>LOGIN TO SERVER AND START HTTPD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039756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7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434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17</cp:revision>
  <dcterms:created xsi:type="dcterms:W3CDTF">2025-07-24T07:50:26Z</dcterms:created>
  <dcterms:modified xsi:type="dcterms:W3CDTF">2025-12-23T14:21:27Z</dcterms:modified>
</cp:coreProperties>
</file>