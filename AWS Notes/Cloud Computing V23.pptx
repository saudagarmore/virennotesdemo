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2"/>
  </p:notesMasterIdLst>
  <p:sldIdLst>
    <p:sldId id="269" r:id="rId2"/>
    <p:sldId id="267" r:id="rId3"/>
    <p:sldId id="265" r:id="rId4"/>
    <p:sldId id="279" r:id="rId5"/>
    <p:sldId id="272" r:id="rId6"/>
    <p:sldId id="266" r:id="rId7"/>
    <p:sldId id="278" r:id="rId8"/>
    <p:sldId id="256" r:id="rId9"/>
    <p:sldId id="264" r:id="rId10"/>
    <p:sldId id="263" r:id="rId11"/>
    <p:sldId id="262" r:id="rId12"/>
    <p:sldId id="290" r:id="rId13"/>
    <p:sldId id="288" r:id="rId14"/>
    <p:sldId id="289" r:id="rId15"/>
    <p:sldId id="287" r:id="rId16"/>
    <p:sldId id="286" r:id="rId17"/>
    <p:sldId id="294" r:id="rId18"/>
    <p:sldId id="293" r:id="rId19"/>
    <p:sldId id="285" r:id="rId20"/>
    <p:sldId id="284" r:id="rId21"/>
    <p:sldId id="283" r:id="rId22"/>
    <p:sldId id="313" r:id="rId23"/>
    <p:sldId id="261" r:id="rId24"/>
    <p:sldId id="282" r:id="rId25"/>
    <p:sldId id="281" r:id="rId26"/>
    <p:sldId id="280" r:id="rId27"/>
    <p:sldId id="258" r:id="rId28"/>
    <p:sldId id="259" r:id="rId29"/>
    <p:sldId id="260" r:id="rId30"/>
    <p:sldId id="314" r:id="rId31"/>
    <p:sldId id="301" r:id="rId32"/>
    <p:sldId id="295" r:id="rId33"/>
    <p:sldId id="300" r:id="rId34"/>
    <p:sldId id="303" r:id="rId35"/>
    <p:sldId id="302" r:id="rId36"/>
    <p:sldId id="304" r:id="rId37"/>
    <p:sldId id="298" r:id="rId38"/>
    <p:sldId id="297" r:id="rId39"/>
    <p:sldId id="308" r:id="rId40"/>
    <p:sldId id="296" r:id="rId4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13" autoAdjust="0"/>
    <p:restoredTop sz="94660"/>
  </p:normalViewPr>
  <p:slideViewPr>
    <p:cSldViewPr snapToGrid="0">
      <p:cViewPr varScale="1">
        <p:scale>
          <a:sx n="64" d="100"/>
          <a:sy n="64" d="100"/>
        </p:scale>
        <p:origin x="528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9ED72E3-03E5-401C-B169-EFAC7760F787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24D448-0D21-42E7-B9BC-E8BB8B3ED2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86593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24D448-0D21-42E7-B9BC-E8BB8B3ED2B3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34608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D62392-AF9A-4D98-96D7-F6B580A14F4A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DAE44-8F0F-4D68-BECE-59CEF75370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60972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D62392-AF9A-4D98-96D7-F6B580A14F4A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DAE44-8F0F-4D68-BECE-59CEF75370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35642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D62392-AF9A-4D98-96D7-F6B580A14F4A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DAE44-8F0F-4D68-BECE-59CEF75370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54375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D62392-AF9A-4D98-96D7-F6B580A14F4A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DAE44-8F0F-4D68-BECE-59CEF75370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73308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D62392-AF9A-4D98-96D7-F6B580A14F4A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DAE44-8F0F-4D68-BECE-59CEF75370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50787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D62392-AF9A-4D98-96D7-F6B580A14F4A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DAE44-8F0F-4D68-BECE-59CEF75370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91448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D62392-AF9A-4D98-96D7-F6B580A14F4A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DAE44-8F0F-4D68-BECE-59CEF75370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17667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D62392-AF9A-4D98-96D7-F6B580A14F4A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DAE44-8F0F-4D68-BECE-59CEF75370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03195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D62392-AF9A-4D98-96D7-F6B580A14F4A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DAE44-8F0F-4D68-BECE-59CEF75370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18784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D62392-AF9A-4D98-96D7-F6B580A14F4A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DAE44-8F0F-4D68-BECE-59CEF75370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11910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D62392-AF9A-4D98-96D7-F6B580A14F4A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DAE44-8F0F-4D68-BECE-59CEF75370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6908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D62392-AF9A-4D98-96D7-F6B580A14F4A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3DAE44-8F0F-4D68-BECE-59CEF75370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33146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devlog1921.tistory.com/entry/EC2-%EA%B4%80%EB%A6%AC" TargetMode="Externa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iger.com/Publications/fabrication-2019.htm" TargetMode="External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988291" y="711200"/>
            <a:ext cx="7620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So we are going to learn what is AWS, How it works some history , services , and the competitors of AWS so lets start with basic information ………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4672" y="3404849"/>
            <a:ext cx="10058400" cy="3545513"/>
          </a:xfrm>
          <a:prstGeom prst="rect">
            <a:avLst/>
          </a:prstGeom>
        </p:spPr>
      </p:pic>
      <p:sp>
        <p:nvSpPr>
          <p:cNvPr id="5" name="Cloud Callout 4"/>
          <p:cNvSpPr/>
          <p:nvPr/>
        </p:nvSpPr>
        <p:spPr>
          <a:xfrm>
            <a:off x="4493491" y="2873759"/>
            <a:ext cx="3338945" cy="1025237"/>
          </a:xfrm>
          <a:prstGeom prst="cloud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5061527" y="3137056"/>
            <a:ext cx="2059709" cy="3727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Going to learn 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41222" y="3064442"/>
            <a:ext cx="580014" cy="517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04121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3382" y="88850"/>
            <a:ext cx="8007928" cy="410094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17059" y="138546"/>
            <a:ext cx="80448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accent2"/>
                </a:solidFill>
              </a:rPr>
              <a:t>What is a Server?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6400" y="4867564"/>
            <a:ext cx="98090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à"/>
            </a:pPr>
            <a:r>
              <a:rPr lang="en-US" dirty="0">
                <a:sym typeface="Wingdings" panose="05000000000000000000" pitchFamily="2" charset="2"/>
              </a:rPr>
              <a:t>Which serve services to the user </a:t>
            </a:r>
            <a:r>
              <a:rPr lang="en-US" dirty="0" smtClean="0">
                <a:sym typeface="Wingdings" panose="05000000000000000000" pitchFamily="2" charset="2"/>
              </a:rPr>
              <a:t>…ex </a:t>
            </a:r>
            <a:r>
              <a:rPr lang="en-US" dirty="0">
                <a:sym typeface="Wingdings" panose="05000000000000000000" pitchFamily="2" charset="2"/>
              </a:rPr>
              <a:t>in </a:t>
            </a:r>
            <a:r>
              <a:rPr lang="en-US" dirty="0" err="1">
                <a:sym typeface="Wingdings" panose="05000000000000000000" pitchFamily="2" charset="2"/>
              </a:rPr>
              <a:t>pratical</a:t>
            </a:r>
            <a:r>
              <a:rPr lang="en-US" dirty="0">
                <a:sym typeface="Wingdings" panose="05000000000000000000" pitchFamily="2" charset="2"/>
              </a:rPr>
              <a:t> world is </a:t>
            </a:r>
            <a:r>
              <a:rPr lang="en-US" dirty="0" err="1">
                <a:sym typeface="Wingdings" panose="05000000000000000000" pitchFamily="2" charset="2"/>
              </a:rPr>
              <a:t>paytm</a:t>
            </a:r>
            <a:r>
              <a:rPr lang="en-US" dirty="0">
                <a:sym typeface="Wingdings" panose="05000000000000000000" pitchFamily="2" charset="2"/>
              </a:rPr>
              <a:t> app etc….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33173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546" y="683491"/>
            <a:ext cx="10058400" cy="3352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757219" y="221826"/>
            <a:ext cx="93287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Physical Server      					Cloud server</a:t>
            </a:r>
          </a:p>
        </p:txBody>
      </p:sp>
    </p:spTree>
    <p:extLst>
      <p:ext uri="{BB962C8B-B14F-4D97-AF65-F5344CB8AC3E}">
        <p14:creationId xmlns:p14="http://schemas.microsoft.com/office/powerpoint/2010/main" val="30214052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546" y="683491"/>
            <a:ext cx="10058400" cy="3352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757219" y="221826"/>
            <a:ext cx="93287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Physical Server      					Cloud server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1491" y="4209041"/>
            <a:ext cx="9402618" cy="2134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95866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34473" y="443345"/>
            <a:ext cx="1043709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In </a:t>
            </a:r>
            <a:r>
              <a:rPr lang="en-US" dirty="0"/>
              <a:t>traditional</a:t>
            </a:r>
            <a:r>
              <a:rPr lang="en-US" sz="2000" dirty="0"/>
              <a:t> Businesses and companies had </a:t>
            </a:r>
            <a:r>
              <a:rPr lang="en-US" sz="2000" b="1" dirty="0"/>
              <a:t>to buy, maintain, and upgrade expensive </a:t>
            </a:r>
            <a:r>
              <a:rPr lang="en-US" sz="2000" dirty="0"/>
              <a:t>physical servers.</a:t>
            </a:r>
          </a:p>
          <a:p>
            <a:endParaRPr lang="en-US" sz="20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4473" y="1617952"/>
            <a:ext cx="4048991" cy="316648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81964" y="1847273"/>
            <a:ext cx="5763491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		Traditional It </a:t>
            </a:r>
          </a:p>
          <a:p>
            <a:endParaRPr lang="en-US" b="1" dirty="0"/>
          </a:p>
          <a:p>
            <a:r>
              <a:rPr lang="en-US" b="1" dirty="0"/>
              <a:t>High costs </a:t>
            </a:r>
            <a:r>
              <a:rPr lang="en-US" dirty="0"/>
              <a:t>- for expensive hardware, maintenance and IT teams.</a:t>
            </a:r>
          </a:p>
          <a:p>
            <a:endParaRPr lang="en-US" dirty="0"/>
          </a:p>
          <a:p>
            <a:r>
              <a:rPr lang="en-US" b="1" dirty="0"/>
              <a:t>Time-</a:t>
            </a:r>
            <a:r>
              <a:rPr lang="en-US" b="1" dirty="0" err="1"/>
              <a:t>comsuming</a:t>
            </a:r>
            <a:r>
              <a:rPr lang="en-US" b="1" dirty="0"/>
              <a:t> </a:t>
            </a:r>
            <a:r>
              <a:rPr lang="en-US" dirty="0"/>
              <a:t>– setting up and updating servers takes weeks or months!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10315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8000" y="424873"/>
            <a:ext cx="91070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2"/>
                </a:solidFill>
              </a:rPr>
              <a:t>How to build a server ?</a:t>
            </a:r>
          </a:p>
        </p:txBody>
      </p:sp>
    </p:spTree>
    <p:extLst>
      <p:ext uri="{BB962C8B-B14F-4D97-AF65-F5344CB8AC3E}">
        <p14:creationId xmlns:p14="http://schemas.microsoft.com/office/powerpoint/2010/main" val="203152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8000" y="424873"/>
            <a:ext cx="91070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2"/>
                </a:solidFill>
              </a:rPr>
              <a:t>How to build a server ?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8500" y="1285875"/>
            <a:ext cx="5662276" cy="424670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130473" y="2272145"/>
            <a:ext cx="177030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AWS</a:t>
            </a:r>
          </a:p>
        </p:txBody>
      </p:sp>
    </p:spTree>
    <p:extLst>
      <p:ext uri="{BB962C8B-B14F-4D97-AF65-F5344CB8AC3E}">
        <p14:creationId xmlns:p14="http://schemas.microsoft.com/office/powerpoint/2010/main" val="22934620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68C8773-3B64-3C25-CDA1-6427C7EB9F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xmlns="" r:id="rId3"/>
              </a:ext>
            </a:extLst>
          </a:blip>
          <a:stretch>
            <a:fillRect/>
          </a:stretch>
        </p:blipFill>
        <p:spPr>
          <a:xfrm>
            <a:off x="4147715" y="1567678"/>
            <a:ext cx="3484854" cy="3722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24954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31453" y="0"/>
            <a:ext cx="8857673" cy="72943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To create a server we required components like Operating system, Hardware CPU RAM, Security, Network, Storage  So we will just pay some x amount and Cloud provider will provide us all of them.</a:t>
            </a:r>
          </a:p>
          <a:p>
            <a:endParaRPr lang="en-US" dirty="0"/>
          </a:p>
          <a:p>
            <a:r>
              <a:rPr lang="en-IN" b="1" dirty="0"/>
              <a:t>What is EC2?</a:t>
            </a:r>
            <a:endParaRPr lang="en-US" b="1" dirty="0"/>
          </a:p>
          <a:p>
            <a:r>
              <a:rPr lang="en-US" dirty="0"/>
              <a:t>• EC2 stands for Elastic Compute Cloud</a:t>
            </a:r>
          </a:p>
          <a:p>
            <a:r>
              <a:rPr lang="en-US" dirty="0"/>
              <a:t>• It's a virtual server in the cloud</a:t>
            </a:r>
          </a:p>
          <a:p>
            <a:r>
              <a:rPr lang="en-US" dirty="0"/>
              <a:t>• You can run applications and store data</a:t>
            </a:r>
          </a:p>
          <a:p>
            <a:r>
              <a:rPr lang="en-US" dirty="0"/>
              <a:t>• Pay only for what you use</a:t>
            </a:r>
          </a:p>
          <a:p>
            <a:r>
              <a:rPr lang="en-US" dirty="0"/>
              <a:t>• Helps you scale up or down easily</a:t>
            </a:r>
          </a:p>
          <a:p>
            <a:endParaRPr lang="en-US" dirty="0"/>
          </a:p>
          <a:p>
            <a:r>
              <a:rPr lang="en-IN" b="1" dirty="0"/>
              <a:t>Key Features of EC2</a:t>
            </a:r>
            <a:endParaRPr lang="en-US" b="1" dirty="0"/>
          </a:p>
          <a:p>
            <a:r>
              <a:rPr lang="en-US" dirty="0"/>
              <a:t>• Multiple instance types (like small, medium, large)</a:t>
            </a:r>
          </a:p>
          <a:p>
            <a:r>
              <a:rPr lang="en-US" dirty="0"/>
              <a:t>• Different OS choices (Linux, Windows)</a:t>
            </a:r>
          </a:p>
          <a:p>
            <a:r>
              <a:rPr lang="en-US" dirty="0"/>
              <a:t>• Secure with key pair and security groups</a:t>
            </a:r>
          </a:p>
          <a:p>
            <a:r>
              <a:rPr lang="en-US" dirty="0"/>
              <a:t>• Attach storage (EBS) to instances</a:t>
            </a:r>
          </a:p>
          <a:p>
            <a:r>
              <a:rPr lang="en-US" dirty="0"/>
              <a:t>• Auto-scaling and load balancing support</a:t>
            </a:r>
          </a:p>
          <a:p>
            <a:endParaRPr lang="en-US" dirty="0"/>
          </a:p>
          <a:p>
            <a:r>
              <a:rPr lang="en-IN" b="1" dirty="0"/>
              <a:t>EC2 Instance Lifecycle</a:t>
            </a:r>
            <a:endParaRPr lang="en-US" b="1" dirty="0"/>
          </a:p>
          <a:p>
            <a:r>
              <a:rPr lang="en-US" dirty="0"/>
              <a:t>• Pending: Instance is launching</a:t>
            </a:r>
          </a:p>
          <a:p>
            <a:r>
              <a:rPr lang="en-US" dirty="0"/>
              <a:t>• Running: Instance is active</a:t>
            </a:r>
          </a:p>
          <a:p>
            <a:r>
              <a:rPr lang="en-US" dirty="0"/>
              <a:t>• Stopping: Instance is shutting down</a:t>
            </a:r>
          </a:p>
          <a:p>
            <a:r>
              <a:rPr lang="en-US" dirty="0"/>
              <a:t>• Stopped: Instance is off (not billed)</a:t>
            </a:r>
          </a:p>
          <a:p>
            <a:r>
              <a:rPr lang="en-US" dirty="0"/>
              <a:t>• Terminated: Instance is deleted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18961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2655" y="1948873"/>
            <a:ext cx="5006109" cy="479829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565236" y="960581"/>
            <a:ext cx="60867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2"/>
                </a:solidFill>
              </a:rPr>
              <a:t>Steps to Create EC2</a:t>
            </a:r>
          </a:p>
        </p:txBody>
      </p:sp>
    </p:spTree>
    <p:extLst>
      <p:ext uri="{BB962C8B-B14F-4D97-AF65-F5344CB8AC3E}">
        <p14:creationId xmlns:p14="http://schemas.microsoft.com/office/powerpoint/2010/main" val="12568700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08000" y="434109"/>
            <a:ext cx="57173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STEP -1: Name &amp; Tags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02326"/>
            <a:ext cx="6096413" cy="36391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98836" y="1764144"/>
            <a:ext cx="6770255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TAGS: To Identify servers</a:t>
            </a:r>
          </a:p>
          <a:p>
            <a:r>
              <a:rPr lang="en-US" sz="3200" b="1" dirty="0"/>
              <a:t>NAME: web-server</a:t>
            </a:r>
          </a:p>
          <a:p>
            <a:r>
              <a:rPr lang="en-US" sz="3200" b="1" dirty="0"/>
              <a:t>CLIENT: </a:t>
            </a:r>
            <a:r>
              <a:rPr lang="en-US" sz="3200" b="1" dirty="0" err="1"/>
              <a:t>abccc</a:t>
            </a:r>
            <a:endParaRPr lang="en-US" sz="3200" b="1" dirty="0"/>
          </a:p>
          <a:p>
            <a:r>
              <a:rPr lang="en-US" sz="3200" b="1" dirty="0"/>
              <a:t>ENV: Production</a:t>
            </a:r>
          </a:p>
        </p:txBody>
      </p:sp>
    </p:spTree>
    <p:extLst>
      <p:ext uri="{BB962C8B-B14F-4D97-AF65-F5344CB8AC3E}">
        <p14:creationId xmlns:p14="http://schemas.microsoft.com/office/powerpoint/2010/main" val="34582050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08000" y="434109"/>
            <a:ext cx="57173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STEP -2: AMAZON MACHINE IMAGE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01" y="1950274"/>
            <a:ext cx="4720792" cy="273645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329382" y="2346037"/>
            <a:ext cx="45720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OPERATING SYSTEM SOFTWARES ETC…..</a:t>
            </a:r>
          </a:p>
        </p:txBody>
      </p:sp>
    </p:spTree>
    <p:extLst>
      <p:ext uri="{BB962C8B-B14F-4D97-AF65-F5344CB8AC3E}">
        <p14:creationId xmlns:p14="http://schemas.microsoft.com/office/powerpoint/2010/main" val="8355287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08000" y="434109"/>
            <a:ext cx="57173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STEP -3: INSTANCE TYPE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4401" y="2135764"/>
            <a:ext cx="2143125" cy="214312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52291" y="1801091"/>
            <a:ext cx="5560291" cy="29854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CPU &amp; RAM</a:t>
            </a:r>
          </a:p>
          <a:p>
            <a:endParaRPr lang="en-US" sz="2800" b="1" dirty="0"/>
          </a:p>
          <a:p>
            <a:r>
              <a:rPr lang="en-US" sz="2800" b="1" dirty="0"/>
              <a:t>DEFAULT: T2.MICRO</a:t>
            </a:r>
          </a:p>
          <a:p>
            <a:r>
              <a:rPr lang="en-US" sz="2400" b="1" dirty="0">
                <a:solidFill>
                  <a:schemeClr val="accent2"/>
                </a:solidFill>
              </a:rPr>
              <a:t>1-CPU &amp; 1-GB RAM</a:t>
            </a:r>
          </a:p>
          <a:p>
            <a:endParaRPr lang="en-US" sz="2800" b="1" dirty="0"/>
          </a:p>
          <a:p>
            <a:r>
              <a:rPr lang="en-US" sz="2800" b="1" dirty="0"/>
              <a:t>MAX: U-24TB.METAL</a:t>
            </a:r>
          </a:p>
          <a:p>
            <a:r>
              <a:rPr lang="en-US" sz="2400" b="1" dirty="0">
                <a:solidFill>
                  <a:schemeClr val="accent2"/>
                </a:solidFill>
              </a:rPr>
              <a:t>448-CPUS &amp; 24,576-GB RAM</a:t>
            </a:r>
          </a:p>
        </p:txBody>
      </p:sp>
    </p:spTree>
    <p:extLst>
      <p:ext uri="{BB962C8B-B14F-4D97-AF65-F5344CB8AC3E}">
        <p14:creationId xmlns:p14="http://schemas.microsoft.com/office/powerpoint/2010/main" val="30547516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08000" y="434109"/>
            <a:ext cx="57173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STEP -4: KEY-PAIR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529" y="1960274"/>
            <a:ext cx="3149744" cy="31497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996873" y="1960274"/>
            <a:ext cx="6751782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FOR SAFE AND SECURE LOGIN TO SERVER</a:t>
            </a:r>
          </a:p>
          <a:p>
            <a:r>
              <a:rPr lang="en-US" sz="2800" b="1" dirty="0"/>
              <a:t>1.PUBLIC KEY: STORE BY AWS</a:t>
            </a:r>
          </a:p>
          <a:p>
            <a:r>
              <a:rPr lang="en-US" sz="2800" b="1" dirty="0"/>
              <a:t>2.PRIVATE KEY: STORE BY USER</a:t>
            </a:r>
          </a:p>
          <a:p>
            <a:endParaRPr lang="en-US" sz="2800" b="1" dirty="0"/>
          </a:p>
          <a:p>
            <a:endParaRPr lang="en-US" sz="2800" b="1" dirty="0"/>
          </a:p>
          <a:p>
            <a:r>
              <a:rPr lang="en-US" sz="2800" b="1" dirty="0"/>
              <a:t>PRIVATE KEY: (PEM &amp; PPK)</a:t>
            </a:r>
          </a:p>
        </p:txBody>
      </p:sp>
    </p:spTree>
    <p:extLst>
      <p:ext uri="{BB962C8B-B14F-4D97-AF65-F5344CB8AC3E}">
        <p14:creationId xmlns:p14="http://schemas.microsoft.com/office/powerpoint/2010/main" val="39187118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08000" y="434109"/>
            <a:ext cx="57173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STEP -5: NETWORK &amp; SECURITY 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182" y="2243137"/>
            <a:ext cx="3736396" cy="254129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661891" y="2632363"/>
            <a:ext cx="519083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VPC: VIRTUAL PRIVATE CLOUD</a:t>
            </a:r>
          </a:p>
          <a:p>
            <a:endParaRPr lang="en-US" sz="2400" b="1" dirty="0"/>
          </a:p>
          <a:p>
            <a:pPr marL="342900" indent="-342900">
              <a:buAutoNum type="arabicPeriod"/>
            </a:pPr>
            <a:r>
              <a:rPr lang="en-US" sz="2400" b="1" dirty="0"/>
              <a:t>USED TO ISOLATE SERVERS</a:t>
            </a:r>
          </a:p>
          <a:p>
            <a:pPr marL="342900" indent="-342900">
              <a:buAutoNum type="arabicPeriod"/>
            </a:pPr>
            <a:r>
              <a:rPr lang="en-US" sz="2400" b="1" dirty="0"/>
              <a:t>RESPONSIBLE FOR NETWORK </a:t>
            </a:r>
          </a:p>
          <a:p>
            <a:pPr marL="342900" indent="-342900">
              <a:buAutoNum type="arabicPeriod"/>
            </a:pPr>
            <a:r>
              <a:rPr lang="en-US" sz="2400" b="1" dirty="0"/>
              <a:t>CREATES OUR OWN NETWORK</a:t>
            </a:r>
          </a:p>
        </p:txBody>
      </p:sp>
    </p:spTree>
    <p:extLst>
      <p:ext uri="{BB962C8B-B14F-4D97-AF65-F5344CB8AC3E}">
        <p14:creationId xmlns:p14="http://schemas.microsoft.com/office/powerpoint/2010/main" val="2781829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08000" y="434109"/>
            <a:ext cx="57173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STEP -5: FIREWALL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618" y="1625599"/>
            <a:ext cx="4515850" cy="373149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61527" y="1145309"/>
            <a:ext cx="5865091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SECURITY GROUPS</a:t>
            </a:r>
          </a:p>
          <a:p>
            <a:endParaRPr lang="en-US" sz="2800" b="1" dirty="0"/>
          </a:p>
          <a:p>
            <a:r>
              <a:rPr lang="en-US" sz="2800" b="1" dirty="0"/>
              <a:t>USED TO ALLOW/DENY TRAFFIC TO SERVERS</a:t>
            </a:r>
          </a:p>
          <a:p>
            <a:r>
              <a:rPr lang="en-US" sz="2800" b="1" dirty="0"/>
              <a:t>REQUEST = IN-COMING</a:t>
            </a:r>
          </a:p>
          <a:p>
            <a:r>
              <a:rPr lang="en-US" sz="2800" b="1" dirty="0"/>
              <a:t>RESPONSE = OUT-GOING</a:t>
            </a:r>
          </a:p>
          <a:p>
            <a:r>
              <a:rPr lang="en-US" sz="2800" b="1" dirty="0"/>
              <a:t>IMPORTANT RULES:</a:t>
            </a:r>
          </a:p>
          <a:p>
            <a:r>
              <a:rPr lang="en-US" sz="2400" b="1" dirty="0"/>
              <a:t>SSH: SECURE SHELL:22 </a:t>
            </a:r>
            <a:r>
              <a:rPr lang="en-US" sz="2400" dirty="0"/>
              <a:t>RESPONSIBLE TO COMMUNICATE WITH OTHER SERVERS</a:t>
            </a:r>
          </a:p>
          <a:p>
            <a:r>
              <a:rPr lang="en-US" sz="2400" b="1" dirty="0"/>
              <a:t>HTTP : 80</a:t>
            </a:r>
          </a:p>
          <a:p>
            <a:r>
              <a:rPr lang="en-US" sz="2400" b="1" dirty="0"/>
              <a:t>HTTPS :443</a:t>
            </a:r>
          </a:p>
        </p:txBody>
      </p:sp>
    </p:spTree>
    <p:extLst>
      <p:ext uri="{BB962C8B-B14F-4D97-AF65-F5344CB8AC3E}">
        <p14:creationId xmlns:p14="http://schemas.microsoft.com/office/powerpoint/2010/main" val="3231353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08000" y="434109"/>
            <a:ext cx="57173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STEP -6: STORAGE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782" y="1167763"/>
            <a:ext cx="4257964" cy="478016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701309" y="2216727"/>
            <a:ext cx="7296728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EBS: ELASTIC BLOCK STORAGE</a:t>
            </a:r>
          </a:p>
          <a:p>
            <a:r>
              <a:rPr lang="en-US" sz="3200" b="1" dirty="0"/>
              <a:t>TO PROVIDES STORAGE FOR THE SERVER</a:t>
            </a:r>
          </a:p>
          <a:p>
            <a:r>
              <a:rPr lang="en-US" sz="3200" b="1" dirty="0"/>
              <a:t>DEFAULT: 8GB </a:t>
            </a:r>
          </a:p>
          <a:p>
            <a:r>
              <a:rPr lang="en-US" sz="3200" b="1" dirty="0"/>
              <a:t>MAX:16TB</a:t>
            </a:r>
          </a:p>
        </p:txBody>
      </p:sp>
    </p:spTree>
    <p:extLst>
      <p:ext uri="{BB962C8B-B14F-4D97-AF65-F5344CB8AC3E}">
        <p14:creationId xmlns:p14="http://schemas.microsoft.com/office/powerpoint/2010/main" val="425370692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08000" y="434109"/>
            <a:ext cx="57173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STEP -7: ADVANCE DETAILS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775855" y="2179782"/>
            <a:ext cx="5449454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SCRIPTS</a:t>
            </a:r>
          </a:p>
          <a:p>
            <a:r>
              <a:rPr lang="en-US" sz="2800" b="1" dirty="0"/>
              <a:t>PERMISSION</a:t>
            </a:r>
          </a:p>
          <a:p>
            <a:r>
              <a:rPr lang="en-US" sz="2800" b="1" dirty="0"/>
              <a:t>SERVER BEHAVIOUR</a:t>
            </a:r>
          </a:p>
          <a:p>
            <a:r>
              <a:rPr lang="en-US" sz="2800" b="1" dirty="0"/>
              <a:t>SERVER PLACEMENT………..</a:t>
            </a:r>
          </a:p>
        </p:txBody>
      </p:sp>
    </p:spTree>
    <p:extLst>
      <p:ext uri="{BB962C8B-B14F-4D97-AF65-F5344CB8AC3E}">
        <p14:creationId xmlns:p14="http://schemas.microsoft.com/office/powerpoint/2010/main" val="7689096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655127" y="2650835"/>
            <a:ext cx="423025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/>
              <a:t>STORAGE</a:t>
            </a:r>
          </a:p>
        </p:txBody>
      </p:sp>
    </p:spTree>
    <p:extLst>
      <p:ext uri="{BB962C8B-B14F-4D97-AF65-F5344CB8AC3E}">
        <p14:creationId xmlns:p14="http://schemas.microsoft.com/office/powerpoint/2010/main" val="120286198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87055"/>
            <a:ext cx="5218972" cy="364168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329808" y="3077063"/>
            <a:ext cx="63172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MIN:15GB (FREE)          MAX:30 TB (NOT FREE)</a:t>
            </a:r>
          </a:p>
        </p:txBody>
      </p:sp>
    </p:spTree>
    <p:extLst>
      <p:ext uri="{BB962C8B-B14F-4D97-AF65-F5344CB8AC3E}">
        <p14:creationId xmlns:p14="http://schemas.microsoft.com/office/powerpoint/2010/main" val="95227120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475346" y="240145"/>
            <a:ext cx="6502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WHAT IF I WANT TO STORE PETA BYTES OF DATA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0692" y="1886382"/>
            <a:ext cx="3851708" cy="3851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716582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09800" y="961503"/>
            <a:ext cx="7772400" cy="1470025"/>
          </a:xfrm>
        </p:spPr>
        <p:txBody>
          <a:bodyPr/>
          <a:lstStyle/>
          <a:p>
            <a:r>
              <a:rPr dirty="0"/>
              <a:t>AWS S3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DD8A632-7689-7D30-A63E-4691C5A322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xmlns="" r:id="rId3"/>
              </a:ext>
            </a:extLst>
          </a:blip>
          <a:stretch>
            <a:fillRect/>
          </a:stretch>
        </p:blipFill>
        <p:spPr>
          <a:xfrm>
            <a:off x="2577692" y="2245446"/>
            <a:ext cx="6810375" cy="2838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694928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24873" y="378691"/>
            <a:ext cx="353752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2"/>
                </a:solidFill>
              </a:rPr>
              <a:t>WHAT IS S3…?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4945" y="1496291"/>
            <a:ext cx="9984510" cy="3600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sz="3200" b="1" dirty="0"/>
              <a:t>Amazon S3 is a simple storage service.</a:t>
            </a:r>
          </a:p>
          <a:p>
            <a:pPr marL="342900" indent="-342900">
              <a:buFontTx/>
              <a:buAutoNum type="arabicPeriod"/>
            </a:pPr>
            <a:r>
              <a:rPr lang="en-US" sz="3200" b="1" dirty="0"/>
              <a:t>Store objects like files photos audios videos. </a:t>
            </a:r>
          </a:p>
          <a:p>
            <a:pPr marL="342900" indent="-342900">
              <a:buFontTx/>
              <a:buAutoNum type="arabicPeriod"/>
            </a:pPr>
            <a:r>
              <a:rPr lang="en-US" sz="3200" b="1" dirty="0"/>
              <a:t>Providing more scalability security.</a:t>
            </a:r>
          </a:p>
          <a:p>
            <a:pPr marL="342900" indent="-342900">
              <a:buFontTx/>
              <a:buAutoNum type="arabicPeriod"/>
            </a:pPr>
            <a:r>
              <a:rPr lang="en-US" sz="3200" b="1" dirty="0"/>
              <a:t>It allows user to store and retrieve .</a:t>
            </a:r>
          </a:p>
          <a:p>
            <a:pPr marL="342900" indent="-342900">
              <a:buFontTx/>
              <a:buAutoNum type="arabicPeriod"/>
            </a:pPr>
            <a:r>
              <a:rPr lang="en-US" sz="3200" b="1" dirty="0"/>
              <a:t>Many companies use S3 to store customer data.</a:t>
            </a:r>
          </a:p>
          <a:p>
            <a:pPr marL="342900" indent="-342900">
              <a:buFontTx/>
              <a:buAutoNum type="arabicPeriod"/>
            </a:pPr>
            <a:r>
              <a:rPr lang="en-US" sz="3200" b="1" dirty="0"/>
              <a:t>It has infinite scaling capacity.</a:t>
            </a:r>
          </a:p>
          <a:p>
            <a:endParaRPr lang="en-US" dirty="0"/>
          </a:p>
          <a:p>
            <a:pPr marL="342900" indent="-342900"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158468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0690" y="541914"/>
            <a:ext cx="6123709" cy="471238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74982" y="5597236"/>
            <a:ext cx="103170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THIS SERVICE NAME IS S3 (SIMPLE STORAGE SERVICE) . IT IS A INFINITE STORAGE.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0491" y="4091709"/>
            <a:ext cx="1662545" cy="99752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14126" y="1348449"/>
            <a:ext cx="23552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AUDIOS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95489" y="2898106"/>
            <a:ext cx="27478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FILES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74982" y="2627746"/>
            <a:ext cx="16556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IMAGES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45690" y="1348449"/>
            <a:ext cx="13946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VIDEOS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6789" y="4371832"/>
            <a:ext cx="18288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HIGHLY SECURE</a:t>
            </a:r>
          </a:p>
        </p:txBody>
      </p:sp>
    </p:spTree>
    <p:extLst>
      <p:ext uri="{BB962C8B-B14F-4D97-AF65-F5344CB8AC3E}">
        <p14:creationId xmlns:p14="http://schemas.microsoft.com/office/powerpoint/2010/main" val="323651871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6075" y="418089"/>
            <a:ext cx="5810250" cy="273367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662546" y="4747490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BBS PRESERVES 100 YEARS OF HISTORY USING AMAZON S3</a:t>
            </a:r>
          </a:p>
        </p:txBody>
      </p:sp>
    </p:spTree>
    <p:extLst>
      <p:ext uri="{BB962C8B-B14F-4D97-AF65-F5344CB8AC3E}">
        <p14:creationId xmlns:p14="http://schemas.microsoft.com/office/powerpoint/2010/main" val="190023221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1443" y="1110239"/>
            <a:ext cx="6846863" cy="231645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01091" y="3694546"/>
            <a:ext cx="877454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BY USING S3 THE BANK IS SAVING $380,500/YEARS         			INR: 3,19,48,682</a:t>
            </a:r>
          </a:p>
        </p:txBody>
      </p:sp>
    </p:spTree>
    <p:extLst>
      <p:ext uri="{BB962C8B-B14F-4D97-AF65-F5344CB8AC3E}">
        <p14:creationId xmlns:p14="http://schemas.microsoft.com/office/powerpoint/2010/main" val="192533952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S3 Key Concepts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• Buckets: Containers for storing objects</a:t>
            </a:r>
          </a:p>
          <a:p>
            <a:r>
              <a:rPr dirty="0"/>
              <a:t>• Objects: Files (data + metadata)</a:t>
            </a:r>
          </a:p>
          <a:p>
            <a:r>
              <a:rPr dirty="0"/>
              <a:t>• Keys: Unique name for each object in a bucket</a:t>
            </a:r>
          </a:p>
          <a:p>
            <a:r>
              <a:rPr dirty="0"/>
              <a:t>• Region: Physical location of your data</a:t>
            </a:r>
          </a:p>
          <a:p>
            <a:r>
              <a:rPr dirty="0"/>
              <a:t>• Storage Classes: Different cost &amp; access levels</a:t>
            </a:r>
          </a:p>
        </p:txBody>
      </p:sp>
    </p:spTree>
    <p:extLst>
      <p:ext uri="{BB962C8B-B14F-4D97-AF65-F5344CB8AC3E}">
        <p14:creationId xmlns:p14="http://schemas.microsoft.com/office/powerpoint/2010/main" val="422483971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Steps to Create an S3 Bucket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Login to AWS Console</a:t>
            </a:r>
          </a:p>
          <a:p>
            <a:r>
              <a:t>2. Go to S3 service</a:t>
            </a:r>
          </a:p>
          <a:p>
            <a:r>
              <a:t>3. Click 'Create Bucket'</a:t>
            </a:r>
          </a:p>
          <a:p>
            <a:r>
              <a:t>4. Enter Bucket Name and choose Region</a:t>
            </a:r>
          </a:p>
          <a:p>
            <a:r>
              <a:t>5. Set options (versioning, encryption, etc.)</a:t>
            </a:r>
          </a:p>
          <a:p>
            <a:r>
              <a:t>6. Set permissions (access control)</a:t>
            </a:r>
          </a:p>
          <a:p>
            <a:r>
              <a:t>7. Click 'Create'</a:t>
            </a:r>
          </a:p>
        </p:txBody>
      </p:sp>
    </p:spTree>
    <p:extLst>
      <p:ext uri="{BB962C8B-B14F-4D97-AF65-F5344CB8AC3E}">
        <p14:creationId xmlns:p14="http://schemas.microsoft.com/office/powerpoint/2010/main" val="23928515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S3 Storage Classes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• S3 Standard – Frequent access</a:t>
            </a:r>
          </a:p>
          <a:p>
            <a:r>
              <a:rPr dirty="0"/>
              <a:t>• S3 Intelligent-</a:t>
            </a:r>
            <a:r>
              <a:rPr dirty="0" err="1"/>
              <a:t>Tiering</a:t>
            </a:r>
            <a:r>
              <a:rPr dirty="0"/>
              <a:t> – Auto cost saving</a:t>
            </a:r>
          </a:p>
          <a:p>
            <a:r>
              <a:rPr dirty="0"/>
              <a:t>• S3 Standard-IA – Infrequent access</a:t>
            </a:r>
          </a:p>
          <a:p>
            <a:r>
              <a:rPr dirty="0"/>
              <a:t>• S3 One Zone-IA – Infrequent, single zone</a:t>
            </a:r>
          </a:p>
          <a:p>
            <a:r>
              <a:rPr dirty="0"/>
              <a:t>• S3 Glacier – Archive with retrieval time</a:t>
            </a:r>
          </a:p>
          <a:p>
            <a:r>
              <a:rPr dirty="0"/>
              <a:t>• S3 Glacier Deep Archive – Long-term storage</a:t>
            </a:r>
          </a:p>
        </p:txBody>
      </p:sp>
    </p:spTree>
    <p:extLst>
      <p:ext uri="{BB962C8B-B14F-4D97-AF65-F5344CB8AC3E}">
        <p14:creationId xmlns:p14="http://schemas.microsoft.com/office/powerpoint/2010/main" val="143828241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S3 Permissions &amp; Security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• IAM Policies: Who can access what</a:t>
            </a:r>
          </a:p>
          <a:p>
            <a:r>
              <a:rPr dirty="0"/>
              <a:t>• Bucket Policies: Control access at bucket level</a:t>
            </a:r>
          </a:p>
          <a:p>
            <a:r>
              <a:rPr dirty="0"/>
              <a:t>• ACLs: Legacy access control</a:t>
            </a:r>
          </a:p>
          <a:p>
            <a:r>
              <a:rPr dirty="0"/>
              <a:t>• Encryption: Server-side (SSE) and client-side</a:t>
            </a:r>
          </a:p>
          <a:p>
            <a:r>
              <a:rPr dirty="0"/>
              <a:t>• Versioning and MFA Delete for protection</a:t>
            </a:r>
          </a:p>
        </p:txBody>
      </p:sp>
    </p:spTree>
    <p:extLst>
      <p:ext uri="{BB962C8B-B14F-4D97-AF65-F5344CB8AC3E}">
        <p14:creationId xmlns:p14="http://schemas.microsoft.com/office/powerpoint/2010/main" val="24252815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24873" y="378691"/>
            <a:ext cx="353752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2"/>
                </a:solidFill>
              </a:rPr>
              <a:t>Advantages…..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4945" y="1496291"/>
            <a:ext cx="9984510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sz="3200" b="1" dirty="0"/>
              <a:t>To store all types of Data </a:t>
            </a:r>
          </a:p>
          <a:p>
            <a:pPr marL="342900" indent="-342900">
              <a:buAutoNum type="arabicPeriod"/>
            </a:pPr>
            <a:r>
              <a:rPr lang="en-US" sz="3200" b="1" dirty="0"/>
              <a:t>Static web hosting</a:t>
            </a:r>
          </a:p>
          <a:p>
            <a:pPr marL="342900" indent="-342900">
              <a:buAutoNum type="arabicPeriod"/>
            </a:pPr>
            <a:r>
              <a:rPr lang="en-US" sz="3200" b="1" dirty="0"/>
              <a:t>Big Data Analytics</a:t>
            </a:r>
          </a:p>
          <a:p>
            <a:pPr marL="342900" indent="-342900">
              <a:buAutoNum type="arabicPeriod"/>
            </a:pPr>
            <a:r>
              <a:rPr lang="en-US" sz="3200" b="1" dirty="0"/>
              <a:t>Backup and Recovery</a:t>
            </a:r>
          </a:p>
          <a:p>
            <a:pPr marL="342900" indent="-342900">
              <a:buAutoNum type="arabicPeriod"/>
            </a:pPr>
            <a:r>
              <a:rPr lang="en-US" sz="3200" b="1" dirty="0"/>
              <a:t>Highly scalable &amp; Flexible</a:t>
            </a:r>
          </a:p>
          <a:p>
            <a:pPr marL="342900" indent="-342900">
              <a:buAutoNum type="arabicPeriod"/>
            </a:pPr>
            <a:r>
              <a:rPr lang="en-US" sz="3200" b="1" dirty="0"/>
              <a:t>Low Cost</a:t>
            </a:r>
          </a:p>
          <a:p>
            <a:pPr marL="342900" indent="-342900"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830211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3782" y="776511"/>
            <a:ext cx="10058400" cy="5626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465887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6145" y="1153350"/>
            <a:ext cx="10058400" cy="5629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715462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24873" y="378691"/>
            <a:ext cx="353752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2"/>
                </a:solidFill>
              </a:rPr>
              <a:t>RULES…..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4945" y="1496291"/>
            <a:ext cx="1171171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sz="3200" b="1" dirty="0"/>
              <a:t>3 (min) 63 (max) characters long. </a:t>
            </a:r>
          </a:p>
          <a:p>
            <a:pPr marL="342900" indent="-342900">
              <a:buAutoNum type="arabicPeriod"/>
            </a:pPr>
            <a:r>
              <a:rPr lang="en-US" sz="3200" b="1" dirty="0"/>
              <a:t>Can consist only of lowercase letters, numbers, dots(.), and hyphens(-).</a:t>
            </a:r>
          </a:p>
          <a:p>
            <a:pPr marL="342900" indent="-342900">
              <a:buAutoNum type="arabicPeriod"/>
            </a:pPr>
            <a:r>
              <a:rPr lang="en-US" sz="3200" b="1" dirty="0"/>
              <a:t>Must being and end with letter or number.</a:t>
            </a:r>
          </a:p>
          <a:p>
            <a:pPr marL="342900" indent="-342900">
              <a:buAutoNum type="arabicPeriod"/>
            </a:pPr>
            <a:r>
              <a:rPr lang="en-US" sz="3200" b="1" dirty="0"/>
              <a:t>Bucket names must not contain two adjacent periods.</a:t>
            </a:r>
          </a:p>
          <a:p>
            <a:pPr marL="342900" indent="-342900">
              <a:buAutoNum type="arabicPeriod"/>
            </a:pPr>
            <a:r>
              <a:rPr lang="en-US" sz="3200" b="1" dirty="0"/>
              <a:t>Bucket names must not be formatted as an IP address (for example, 192.37.5.2).</a:t>
            </a:r>
          </a:p>
        </p:txBody>
      </p:sp>
    </p:spTree>
    <p:extLst>
      <p:ext uri="{BB962C8B-B14F-4D97-AF65-F5344CB8AC3E}">
        <p14:creationId xmlns:p14="http://schemas.microsoft.com/office/powerpoint/2010/main" val="395249605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24873" y="378691"/>
            <a:ext cx="51261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2"/>
                </a:solidFill>
              </a:rPr>
              <a:t>Ways to upload </a:t>
            </a:r>
            <a:r>
              <a:rPr lang="en-US" sz="3200" b="1" dirty="0" err="1">
                <a:solidFill>
                  <a:schemeClr val="accent2"/>
                </a:solidFill>
              </a:rPr>
              <a:t>diles</a:t>
            </a:r>
            <a:r>
              <a:rPr lang="en-US" sz="3200" b="1" dirty="0">
                <a:solidFill>
                  <a:schemeClr val="accent2"/>
                </a:solidFill>
              </a:rPr>
              <a:t>…..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4945" y="1496291"/>
            <a:ext cx="9984510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sz="3200" b="1" dirty="0"/>
              <a:t>GUI</a:t>
            </a:r>
          </a:p>
          <a:p>
            <a:pPr marL="342900" indent="-342900">
              <a:buAutoNum type="arabicPeriod"/>
            </a:pPr>
            <a:r>
              <a:rPr lang="en-US" sz="3200" b="1" dirty="0"/>
              <a:t>CLI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072885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24873" y="378691"/>
            <a:ext cx="51261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2"/>
                </a:solidFill>
              </a:rPr>
              <a:t>How much is free…..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58800" y="1625600"/>
            <a:ext cx="998451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sz="3200" b="1" dirty="0"/>
              <a:t>The maximum size of an AWS S3 bucket is 5TB is free.</a:t>
            </a:r>
          </a:p>
        </p:txBody>
      </p:sp>
    </p:spTree>
    <p:extLst>
      <p:ext uri="{BB962C8B-B14F-4D97-AF65-F5344CB8AC3E}">
        <p14:creationId xmlns:p14="http://schemas.microsoft.com/office/powerpoint/2010/main" val="181329883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346036" y="397163"/>
            <a:ext cx="85066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WHAT IF USER DELETE A FILE BYY CHANCE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6872" y="1516782"/>
            <a:ext cx="6310394" cy="4708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435420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445162" y="1541171"/>
            <a:ext cx="16071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ORIGINAL FILE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4873" y="2186289"/>
            <a:ext cx="5247409" cy="379642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271490" y="1541171"/>
            <a:ext cx="17087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COPY FILE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56364" y="6258496"/>
            <a:ext cx="46747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SAME </a:t>
            </a:r>
            <a:r>
              <a:rPr lang="en-US" b="1" dirty="0" err="1"/>
              <a:t>SAME</a:t>
            </a:r>
            <a:r>
              <a:rPr lang="en-US" b="1" dirty="0"/>
              <a:t> BUT DIFFERENT </a:t>
            </a:r>
          </a:p>
        </p:txBody>
      </p:sp>
    </p:spTree>
    <p:extLst>
      <p:ext uri="{BB962C8B-B14F-4D97-AF65-F5344CB8AC3E}">
        <p14:creationId xmlns:p14="http://schemas.microsoft.com/office/powerpoint/2010/main" val="288596514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24873" y="378691"/>
            <a:ext cx="51261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2"/>
                </a:solidFill>
              </a:rPr>
              <a:t>Versioning…?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58800" y="1625600"/>
            <a:ext cx="998451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sz="3200" b="1" dirty="0"/>
              <a:t>Versioning means Copy of Object.</a:t>
            </a:r>
          </a:p>
          <a:p>
            <a:pPr marL="342900" indent="-342900">
              <a:buAutoNum type="arabicPeriod"/>
            </a:pPr>
            <a:r>
              <a:rPr lang="en-US" sz="3200" b="1" dirty="0"/>
              <a:t>If you delete a file we can retrieve using Versioning.</a:t>
            </a:r>
          </a:p>
          <a:p>
            <a:pPr marL="342900" indent="-342900">
              <a:buAutoNum type="arabicPeriod"/>
            </a:pPr>
            <a:r>
              <a:rPr lang="en-US" sz="3200" b="1" dirty="0"/>
              <a:t>By default it will be disabled.</a:t>
            </a:r>
          </a:p>
          <a:p>
            <a:pPr marL="342900" indent="-342900">
              <a:buAutoNum type="arabicPeriod"/>
            </a:pPr>
            <a:r>
              <a:rPr lang="en-US" sz="3200" b="1" dirty="0"/>
              <a:t>Each file will have Different Version Id.</a:t>
            </a:r>
          </a:p>
          <a:p>
            <a:pPr marL="342900" indent="-342900">
              <a:buAutoNum type="arabicPeriod"/>
            </a:pPr>
            <a:r>
              <a:rPr lang="en-US" sz="3200" b="1" dirty="0"/>
              <a:t>You can always restore the previous version.</a:t>
            </a:r>
          </a:p>
        </p:txBody>
      </p:sp>
    </p:spTree>
    <p:extLst>
      <p:ext uri="{BB962C8B-B14F-4D97-AF65-F5344CB8AC3E}">
        <p14:creationId xmlns:p14="http://schemas.microsoft.com/office/powerpoint/2010/main" val="36864762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53527" y="3057237"/>
            <a:ext cx="76384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THANK YOU..!</a:t>
            </a:r>
          </a:p>
        </p:txBody>
      </p:sp>
    </p:spTree>
    <p:extLst>
      <p:ext uri="{BB962C8B-B14F-4D97-AF65-F5344CB8AC3E}">
        <p14:creationId xmlns:p14="http://schemas.microsoft.com/office/powerpoint/2010/main" val="38998522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3171</TotalTime>
  <Words>915</Words>
  <Application>Microsoft Office PowerPoint</Application>
  <PresentationFormat>Widescreen</PresentationFormat>
  <Paragraphs>162</Paragraphs>
  <Slides>40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5" baseType="lpstr">
      <vt:lpstr>Arial</vt:lpstr>
      <vt:lpstr>Calibri</vt:lpstr>
      <vt:lpstr>Calibri Light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AWS S3</vt:lpstr>
      <vt:lpstr>PowerPoint Presentation</vt:lpstr>
      <vt:lpstr>PowerPoint Presentation</vt:lpstr>
      <vt:lpstr>PowerPoint Presentation</vt:lpstr>
      <vt:lpstr>PowerPoint Presentation</vt:lpstr>
      <vt:lpstr>S3 Key Concepts</vt:lpstr>
      <vt:lpstr>Steps to Create an S3 Bucket</vt:lpstr>
      <vt:lpstr>S3 Storage Classes</vt:lpstr>
      <vt:lpstr>S3 Permissions &amp; Security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Dell</cp:lastModifiedBy>
  <cp:revision>48</cp:revision>
  <dcterms:created xsi:type="dcterms:W3CDTF">2025-05-25T18:15:08Z</dcterms:created>
  <dcterms:modified xsi:type="dcterms:W3CDTF">2025-12-24T06:39:18Z</dcterms:modified>
</cp:coreProperties>
</file>