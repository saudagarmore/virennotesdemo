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6" r:id="rId3"/>
    <p:sldId id="357" r:id="rId4"/>
    <p:sldId id="358" r:id="rId5"/>
    <p:sldId id="359" r:id="rId6"/>
    <p:sldId id="360" r:id="rId7"/>
    <p:sldId id="383" r:id="rId8"/>
    <p:sldId id="379" r:id="rId9"/>
    <p:sldId id="380" r:id="rId10"/>
    <p:sldId id="381" r:id="rId11"/>
    <p:sldId id="382" r:id="rId12"/>
    <p:sldId id="385" r:id="rId13"/>
    <p:sldId id="387" r:id="rId14"/>
    <p:sldId id="386" r:id="rId15"/>
    <p:sldId id="362" r:id="rId16"/>
    <p:sldId id="363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8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285" y="93980"/>
            <a:ext cx="11625580" cy="6419850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 lang="en-US" altLang="en-US" sz="2000" b="1">
                <a:solidFill>
                  <a:srgbClr val="FF0000"/>
                </a:solidFill>
                <a:sym typeface="+mn-ea"/>
              </a:rPr>
              <a:t>10. Abstract Classes  and method</a:t>
            </a:r>
            <a:endParaRPr lang="en-US" altLang="en-US" sz="20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1600" b="1">
                <a:sym typeface="+mn-ea"/>
              </a:rPr>
              <a:t>a. Abstract Classes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/>
              <a:t>An abstract class in Python is a class that cannot be instantiated directly and is designed to be inherited by other classes. It may contain one or more abstract methods (methods without implementation).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Abstract classes are used to define a common interface for all subclasses.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In Python, abstract classes are created using the ABC class from the abc module.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from abc import ABC, abstractmethod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class Shape(ABC):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@abstractmethod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def area(self):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       pass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 b="1">
                <a:sym typeface="+mn-ea"/>
              </a:rPr>
              <a:t>b. Abstract Method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An abstract method is a method that is declared in the abstract class but has no implementation (i.e., the method body is not defined).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Subclasses must override and implement all abstract methods of the abstract class; otherwise, they also become abstract.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Abstract methods are marked using the </a:t>
            </a:r>
            <a:r>
              <a:rPr lang="en-US" altLang="en-US" sz="1600" b="1">
                <a:sym typeface="+mn-ea"/>
              </a:rPr>
              <a:t>@abstractmethod</a:t>
            </a:r>
            <a:r>
              <a:rPr lang="en-US" altLang="en-US" sz="1600">
                <a:sym typeface="+mn-ea"/>
              </a:rPr>
              <a:t> decorator.Child classes must override it.</a:t>
            </a:r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05" y="0"/>
            <a:ext cx="11884660" cy="323215"/>
          </a:xfrm>
        </p:spPr>
        <p:txBody>
          <a:bodyPr>
            <a:normAutofit fontScale="90000"/>
          </a:bodyPr>
          <a:p>
            <a:pPr algn="ctr"/>
            <a:r>
              <a:rPr lang="en-US" altLang="en-US" sz="2400" b="1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+mn-ea"/>
              </a:rPr>
              <a:t> Interfaces in python</a:t>
            </a:r>
            <a:endParaRPr lang="en-US" altLang="en-US" sz="2400" b="1">
              <a:ln>
                <a:solidFill>
                  <a:srgbClr val="FF0000"/>
                </a:solidFill>
              </a:ln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70" y="323850"/>
            <a:ext cx="11703050" cy="6377305"/>
          </a:xfrm>
        </p:spPr>
        <p:txBody>
          <a:bodyPr>
            <a:normAutofit/>
          </a:bodyPr>
          <a:p>
            <a:r>
              <a:rPr lang="en-US" altLang="en-US" sz="1800" b="1"/>
              <a:t>What is an Interface in Python.</a:t>
            </a:r>
            <a:endParaRPr lang="en-US" altLang="en-US" sz="1800"/>
          </a:p>
          <a:p>
            <a:r>
              <a:rPr lang="en-US" altLang="en-US" sz="1800"/>
              <a:t>An interface in Python is a programming structure that defines a set of methods that a class must implement, but it does not contain any implementation itself.</a:t>
            </a:r>
            <a:endParaRPr lang="en-US" altLang="en-US" sz="1800"/>
          </a:p>
          <a:p>
            <a:r>
              <a:rPr lang="en-US" altLang="en-US" sz="1800"/>
              <a:t>Although Python does not have a built-in interface keyword (like Java or C#), the concept of interfaces is fully supported using:</a:t>
            </a:r>
            <a:endParaRPr lang="en-US" altLang="en-US" sz="1800"/>
          </a:p>
          <a:p>
            <a:r>
              <a:rPr lang="en-US" altLang="en-US" sz="1800"/>
              <a:t>The abc module (Abstract Base Classes)</a:t>
            </a:r>
            <a:endParaRPr lang="en-US" altLang="en-US" sz="1800"/>
          </a:p>
          <a:p>
            <a:r>
              <a:rPr lang="en-US" altLang="en-US" sz="1800"/>
              <a:t>The @abstractmethod decorator</a:t>
            </a:r>
            <a:endParaRPr lang="en-US" altLang="en-US" sz="1800"/>
          </a:p>
          <a:p>
            <a:r>
              <a:rPr lang="en-US" altLang="en-US" sz="1800" b="1"/>
              <a:t> Technical Definition:</a:t>
            </a:r>
            <a:endParaRPr lang="en-US" altLang="en-US" sz="1800" b="1"/>
          </a:p>
          <a:p>
            <a:r>
              <a:rPr lang="en-US" altLang="en-US" sz="1800"/>
              <a:t>An interface in Python is created using an abstract base class (ABC) that contains one or more abstract methods (methods without implementation).</a:t>
            </a:r>
            <a:endParaRPr lang="en-US" altLang="en-US" sz="1800"/>
          </a:p>
          <a:p>
            <a:r>
              <a:rPr lang="en-US" altLang="en-US" sz="1800"/>
              <a:t>Any class that inherits this interface must implement all of its abstract methods.</a:t>
            </a:r>
            <a:endParaRPr lang="en-US" altLang="en-US" sz="1800"/>
          </a:p>
          <a:p>
            <a:r>
              <a:rPr lang="en-US" altLang="en-US" sz="1800" b="1"/>
              <a:t>from abc import ABC, abstractmethod</a:t>
            </a:r>
            <a:endParaRPr lang="en-US" altLang="en-US" sz="1800" b="1"/>
          </a:p>
          <a:p>
            <a:endParaRPr lang="en-US" altLang="en-US" sz="1800" b="1"/>
          </a:p>
          <a:p>
            <a:endParaRPr lang="en-US" altLang="en-US" sz="18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06705" y="4540250"/>
          <a:ext cx="11701780" cy="2162175"/>
        </p:xfrm>
        <a:graphic>
          <a:graphicData uri="http://schemas.openxmlformats.org/drawingml/2006/table">
            <a:tbl>
              <a:tblPr/>
              <a:tblGrid>
                <a:gridCol w="5850890"/>
                <a:gridCol w="5850890"/>
              </a:tblGrid>
              <a:tr h="432435">
                <a:tc>
                  <a:txBody>
                    <a:bodyPr/>
                    <a:p>
                      <a:pPr algn="ctr"/>
                      <a:r>
                        <a:rPr sz="1800" b="1"/>
                        <a:t>Feature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32435">
                <a:tc>
                  <a:txBody>
                    <a:bodyPr/>
                    <a:p>
                      <a:r>
                        <a:rPr sz="1800"/>
                        <a:t>No interface keyword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 abstract base classes instead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32435">
                <a:tc>
                  <a:txBody>
                    <a:bodyPr/>
                    <a:p>
                      <a:r>
                        <a:rPr sz="1800"/>
                        <a:t>Enforces implementation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All abstract methods must be implemented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32435">
                <a:tc>
                  <a:txBody>
                    <a:bodyPr/>
                    <a:p>
                      <a:r>
                        <a:rPr sz="1800"/>
                        <a:t>Supports multiple interfaces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 class can inherit from multiple ABCs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32435">
                <a:tc>
                  <a:txBody>
                    <a:bodyPr/>
                    <a:p>
                      <a:r>
                        <a:rPr sz="1800"/>
                        <a:t>Useful for polymorphism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Can treat different objects through a common 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590" y="635"/>
            <a:ext cx="11497945" cy="330835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why use 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005" y="331470"/>
            <a:ext cx="11816080" cy="6291580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1. Define a Common Contract</a:t>
            </a:r>
            <a:endParaRPr lang="en-US" altLang="en-US" sz="1800" b="1"/>
          </a:p>
          <a:p>
            <a:r>
              <a:rPr lang="en-US" altLang="en-US" sz="1800"/>
              <a:t>An interface defines a set of methods that must be implemented by any class that "implements" it.</a:t>
            </a:r>
            <a:endParaRPr lang="en-US" altLang="en-US" sz="1800"/>
          </a:p>
          <a:p>
            <a:r>
              <a:rPr lang="en-US" altLang="en-US" sz="1800"/>
              <a:t>Ensures consistency across different classes.</a:t>
            </a:r>
            <a:endParaRPr lang="en-US" altLang="en-US" sz="1800"/>
          </a:p>
          <a:p>
            <a:r>
              <a:rPr lang="en-US" altLang="en-US" sz="1800"/>
              <a:t>Promotes standardization in large projects.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2. Enforce Implementation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Abstract methods force child classes to implement them. If not, you'll get an error at instantiation time.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294005" y="2557145"/>
            <a:ext cx="11605895" cy="220789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400" b="1"/>
              <a:t>3</a:t>
            </a:r>
            <a:r>
              <a:rPr sz="2000" b="1"/>
              <a:t>.  Promotes Loose Coupling</a:t>
            </a:r>
            <a:endParaRPr sz="2400" b="1"/>
          </a:p>
          <a:p>
            <a:r>
              <a:t>Interfaces allow you to program to a contract, not an implementation.</a:t>
            </a:r>
          </a:p>
          <a:p/>
          <a:p>
            <a:pPr>
              <a:buFont typeface="Arial" panose="020B0604020202020204"/>
              <a:buChar char="•"/>
            </a:pPr>
            <a:r>
              <a:t>Your code works with any object that follows the interface, regardless of its class.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This makes your code more flexible and reusable.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93370" y="4636135"/>
            <a:ext cx="5024120" cy="208470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000" b="1"/>
              <a:t>4.  Supports Polymorphism</a:t>
            </a:r>
            <a:endParaRPr sz="2400" b="1"/>
          </a:p>
          <a:p>
            <a:r>
              <a:t>Different classes can implement the same interface in their own unique way, allowing polymorphic behavior.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17490" y="4035425"/>
            <a:ext cx="6792595" cy="268541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b="1"/>
              <a:t>5.  Useful in Large Projects and Teams</a:t>
            </a:r>
            <a:endParaRPr b="1"/>
          </a:p>
          <a:p>
            <a:r>
              <a:t>Interfaces help in building scalable, modular, and testable code — especially important in teams and frameworks.</a:t>
            </a:r>
          </a:p>
          <a:p/>
          <a:p>
            <a:pPr>
              <a:buFont typeface="Arial" panose="020B0604020202020204"/>
              <a:buChar char="•"/>
            </a:pPr>
            <a:r>
              <a:t>For example, frameworks like Django and Flask internally use interface-like patterns to ensure plug-and-play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045" y="0"/>
            <a:ext cx="11183620" cy="461010"/>
          </a:xfrm>
        </p:spPr>
        <p:txBody>
          <a:bodyPr/>
          <a:p>
            <a:pPr algn="ctr"/>
            <a:r>
              <a:rPr lang="en-US" sz="2400" b="1">
                <a:solidFill>
                  <a:srgbClr val="FF0000"/>
                </a:solidFill>
              </a:rPr>
              <a:t>Example of 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9380" y="599440"/>
            <a:ext cx="5730875" cy="5717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from abc import ABC, abstractmethod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# Interface (abstract class with abstract methods)</a:t>
            </a:r>
            <a:endParaRPr lang="en-US" altLang="en-US"/>
          </a:p>
          <a:p>
            <a:r>
              <a:rPr lang="en-US" altLang="en-US"/>
              <a:t>class Shape(ABC):</a:t>
            </a:r>
            <a:endParaRPr lang="en-US" altLang="en-US"/>
          </a:p>
          <a:p>
            <a:r>
              <a:rPr lang="en-US" altLang="en-US"/>
              <a:t>    @abstractmethod</a:t>
            </a:r>
            <a:endParaRPr lang="en-US" altLang="en-US"/>
          </a:p>
          <a:p>
            <a:r>
              <a:rPr lang="en-US" altLang="en-US"/>
              <a:t>    def area(self):</a:t>
            </a:r>
            <a:endParaRPr lang="en-US" altLang="en-US"/>
          </a:p>
          <a:p>
            <a:r>
              <a:rPr lang="en-US" altLang="en-US"/>
              <a:t>        pass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@abstractmethod</a:t>
            </a:r>
            <a:endParaRPr lang="en-US" altLang="en-US"/>
          </a:p>
          <a:p>
            <a:r>
              <a:rPr lang="en-US" altLang="en-US"/>
              <a:t>    def perimeter(self):</a:t>
            </a:r>
            <a:endParaRPr lang="en-US" altLang="en-US"/>
          </a:p>
          <a:p>
            <a:r>
              <a:rPr lang="en-US" altLang="en-US"/>
              <a:t>        pass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096000" y="599440"/>
            <a:ext cx="5955665" cy="6022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# Implementing the interface</a:t>
            </a:r>
            <a:endParaRPr lang="en-US" altLang="en-US"/>
          </a:p>
          <a:p>
            <a:r>
              <a:rPr lang="en-US" altLang="en-US">
                <a:sym typeface="+mn-ea"/>
              </a:rPr>
              <a:t>class Rectangle(Shape):</a:t>
            </a:r>
            <a:endParaRPr lang="en-US" altLang="en-US"/>
          </a:p>
          <a:p>
            <a:r>
              <a:rPr lang="en-US" altLang="en-US">
                <a:sym typeface="+mn-ea"/>
              </a:rPr>
              <a:t>    def __init__(self, width, height):</a:t>
            </a:r>
            <a:endParaRPr lang="en-US" altLang="en-US"/>
          </a:p>
          <a:p>
            <a:r>
              <a:rPr lang="en-US" altLang="en-US">
                <a:sym typeface="+mn-ea"/>
              </a:rPr>
              <a:t>        self.width = width</a:t>
            </a:r>
            <a:endParaRPr lang="en-US" altLang="en-US"/>
          </a:p>
          <a:p>
            <a:r>
              <a:rPr lang="en-US" altLang="en-US">
                <a:sym typeface="+mn-ea"/>
              </a:rPr>
              <a:t>        self.height = height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   def area(self):</a:t>
            </a:r>
            <a:endParaRPr lang="en-US" altLang="en-US"/>
          </a:p>
          <a:p>
            <a:r>
              <a:rPr lang="en-US" altLang="en-US">
                <a:sym typeface="+mn-ea"/>
              </a:rPr>
              <a:t>        return self.width * self.height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   def perimeter(self):</a:t>
            </a:r>
            <a:endParaRPr lang="en-US" altLang="en-US"/>
          </a:p>
          <a:p>
            <a:r>
              <a:rPr lang="en-US" altLang="en-US">
                <a:sym typeface="+mn-ea"/>
              </a:rPr>
              <a:t>        return 2 * (self.width + self.height)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# Testing</a:t>
            </a:r>
            <a:endParaRPr lang="en-US" altLang="en-US"/>
          </a:p>
          <a:p>
            <a:r>
              <a:rPr lang="en-US" altLang="en-US">
                <a:sym typeface="+mn-ea"/>
              </a:rPr>
              <a:t>rect = Rectangle(10, 5)</a:t>
            </a:r>
            <a:endParaRPr lang="en-US" altLang="en-US"/>
          </a:p>
          <a:p>
            <a:r>
              <a:rPr lang="en-US" altLang="en-US">
                <a:sym typeface="+mn-ea"/>
              </a:rPr>
              <a:t>print("Area:", rect.area())</a:t>
            </a:r>
            <a:endParaRPr lang="en-US" altLang="en-US"/>
          </a:p>
          <a:p>
            <a:r>
              <a:rPr lang="en-US" altLang="en-US">
                <a:sym typeface="+mn-ea"/>
              </a:rPr>
              <a:t>print("Perimeter:", rect.perimeter())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445"/>
            <a:ext cx="11047095" cy="638175"/>
          </a:xfrm>
        </p:spPr>
        <p:txBody>
          <a:bodyPr/>
          <a:p>
            <a:pPr algn="ctr"/>
            <a:r>
              <a:rPr lang="en-US" sz="2400" b="1">
                <a:solidFill>
                  <a:srgbClr val="FF0000"/>
                </a:solidFill>
              </a:rPr>
              <a:t>Polymorphism in python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590" y="600710"/>
            <a:ext cx="11775440" cy="6104255"/>
          </a:xfrm>
        </p:spPr>
        <p:txBody>
          <a:bodyPr/>
          <a:p>
            <a:r>
              <a:rPr lang="en-US" altLang="en-US" sz="1800" b="1"/>
              <a:t>Definition of Polymorphism in Python</a:t>
            </a:r>
            <a:endParaRPr lang="en-US" altLang="en-US" sz="1800" b="1"/>
          </a:p>
          <a:p>
            <a:r>
              <a:rPr lang="en-US" altLang="en-US" sz="1800"/>
              <a:t>Polymorphism is an object-oriented programming (OOP) concept where objects of different classes can be treated as if they are objects of the same class, because they share the same method names or interface.</a:t>
            </a:r>
            <a:endParaRPr lang="en-US" altLang="en-US" sz="1800"/>
          </a:p>
          <a:p>
            <a:r>
              <a:rPr lang="en-US" altLang="en-US" sz="1800"/>
              <a:t>In simple words:</a:t>
            </a:r>
            <a:endParaRPr lang="en-US" altLang="en-US" sz="1800"/>
          </a:p>
          <a:p>
            <a:r>
              <a:rPr lang="en-US" altLang="en-US" sz="1800"/>
              <a:t>Polymorphism allows the same method or function name to behave differently based on the object calling it.</a:t>
            </a: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75590" y="3091815"/>
          <a:ext cx="11775440" cy="1495425"/>
        </p:xfrm>
        <a:graphic>
          <a:graphicData uri="http://schemas.openxmlformats.org/drawingml/2006/table">
            <a:tbl>
              <a:tblPr/>
              <a:tblGrid>
                <a:gridCol w="5887720"/>
                <a:gridCol w="5887720"/>
              </a:tblGrid>
              <a:tr h="299085">
                <a:tc>
                  <a:txBody>
                    <a:bodyPr/>
                    <a:p>
                      <a:pPr algn="ctr"/>
                      <a:r>
                        <a:rPr sz="2000" b="1"/>
                        <a:t>Reason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Benefit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085">
                <a:tc>
                  <a:txBody>
                    <a:bodyPr/>
                    <a:p>
                      <a:r>
                        <a:rPr sz="1600"/>
                        <a:t>Code flexibility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Same interface, different behaviors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085">
                <a:tc>
                  <a:txBody>
                    <a:bodyPr/>
                    <a:p>
                      <a:r>
                        <a:rPr sz="1600"/>
                        <a:t>Code reuse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Common code can work with different types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085">
                <a:tc>
                  <a:txBody>
                    <a:bodyPr/>
                    <a:p>
                      <a:r>
                        <a:rPr sz="1600"/>
                        <a:t>Clean design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Simplifies conditionals and object checks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085">
                <a:tc>
                  <a:txBody>
                    <a:bodyPr/>
                    <a:p>
                      <a:r>
                        <a:rPr sz="1600"/>
                        <a:t>Supports extensibility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New classes can fit into existing logic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" y="210185"/>
            <a:ext cx="11761470" cy="639127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/>
              <a:t>What is Method Overloading in Python?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Overloading = Same method name, different parameters (like Java/C++).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add(int a)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add(int a, int b)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add(double a)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Python does NOT support true method overloading.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you write two methods with the same name, the last one overrides the previous one.</a:t>
            </a:r>
            <a:endParaRPr lang="en-US" altLang="en-US" sz="1800"/>
          </a:p>
        </p:txBody>
      </p:sp>
      <p:sp>
        <p:nvSpPr>
          <p:cNvPr id="2" name="Text Box 1"/>
          <p:cNvSpPr txBox="1"/>
          <p:nvPr/>
        </p:nvSpPr>
        <p:spPr>
          <a:xfrm>
            <a:off x="180975" y="3028315"/>
            <a:ext cx="11022965" cy="802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What is Method Overriding in Python?</a:t>
            </a:r>
            <a:endParaRPr lang="en-US" altLang="en-US"/>
          </a:p>
          <a:p>
            <a:r>
              <a:rPr lang="en-US" altLang="en-US">
                <a:sym typeface="+mn-ea"/>
              </a:rPr>
              <a:t>Overriding = A child class redefines a method of its parent class.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0975" y="4174490"/>
          <a:ext cx="11761470" cy="2426970"/>
        </p:xfrm>
        <a:graphic>
          <a:graphicData uri="http://schemas.openxmlformats.org/drawingml/2006/table">
            <a:tbl>
              <a:tblPr/>
              <a:tblGrid>
                <a:gridCol w="3920490"/>
                <a:gridCol w="3920490"/>
                <a:gridCol w="3920490"/>
              </a:tblGrid>
              <a:tr h="485775">
                <a:tc>
                  <a:txBody>
                    <a:bodyPr/>
                    <a:p>
                      <a:r>
                        <a:rPr sz="1800"/>
                        <a:t>Feature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Supported?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Explanation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970915">
                <a:tc>
                  <a:txBody>
                    <a:bodyPr/>
                    <a:p>
                      <a:r>
                        <a:rPr sz="1800"/>
                        <a:t>Method Overloading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 Not truly supported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Python does not allow same method name with different signatures.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4505">
                <a:tc>
                  <a:txBody>
                    <a:bodyPr/>
                    <a:p>
                      <a:r>
                        <a:rPr sz="1800"/>
                        <a:t>Overloading-like behavior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 Supported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Using default args or *args.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5775">
                <a:tc>
                  <a:txBody>
                    <a:bodyPr/>
                    <a:p>
                      <a:r>
                        <a:rPr sz="1800"/>
                        <a:t>Method Overriding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 Fully supported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Child class replaces parent’s method.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10845"/>
          </a:xfrm>
        </p:spPr>
        <p:txBody>
          <a:bodyPr>
            <a:no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Python File Handling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" y="410845"/>
            <a:ext cx="11965940" cy="6350000"/>
          </a:xfrm>
        </p:spPr>
        <p:txBody>
          <a:bodyPr/>
          <a:p>
            <a:r>
              <a:rPr lang="en-US" altLang="en-US" sz="1800"/>
              <a:t>1. Opening a File</a:t>
            </a:r>
            <a:endParaRPr lang="en-US" altLang="en-US" sz="1800"/>
          </a:p>
          <a:p>
            <a:r>
              <a:rPr lang="en-US" altLang="en-US" sz="1800"/>
              <a:t>file = </a:t>
            </a:r>
            <a:r>
              <a:rPr lang="en-US" altLang="en-US" sz="1800" b="1"/>
              <a:t>open</a:t>
            </a:r>
            <a:r>
              <a:rPr lang="en-US" altLang="en-US" sz="1800"/>
              <a:t>("filename", "mode")</a:t>
            </a:r>
            <a:endParaRPr lang="en-US" altLang="en-US" sz="1800"/>
          </a:p>
          <a:p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1760" y="1268730"/>
          <a:ext cx="11967210" cy="3633470"/>
        </p:xfrm>
        <a:graphic>
          <a:graphicData uri="http://schemas.openxmlformats.org/drawingml/2006/table">
            <a:tbl>
              <a:tblPr/>
              <a:tblGrid>
                <a:gridCol w="1743710"/>
                <a:gridCol w="3769995"/>
                <a:gridCol w="6453505"/>
              </a:tblGrid>
              <a:tr h="324485">
                <a:tc>
                  <a:txBody>
                    <a:bodyPr/>
                    <a:p>
                      <a:r>
                        <a:rPr sz="1800"/>
                        <a:t>Mode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Meaning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4025">
                <a:tc>
                  <a:txBody>
                    <a:bodyPr/>
                    <a:p>
                      <a:r>
                        <a:rPr sz="1800"/>
                        <a:t>'r'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Read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Default mode. Opens file for reading. Error if file doesn't exist.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r>
                        <a:rPr sz="1800"/>
                        <a:t>'w'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Write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Creates/overwrites file.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4660">
                <a:tc>
                  <a:txBody>
                    <a:bodyPr/>
                    <a:p>
                      <a:r>
                        <a:rPr sz="1800"/>
                        <a:t>'a'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Append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Writes data at end of file. Creates file if not exists.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r>
                        <a:rPr sz="1800"/>
                        <a:t>'x'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Create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Creates new file. Error if file exists.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r>
                        <a:rPr sz="1800"/>
                        <a:t>'r+'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Read &amp; Write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File must exist.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3850">
                <a:tc>
                  <a:txBody>
                    <a:bodyPr/>
                    <a:p>
                      <a:r>
                        <a:rPr sz="1800"/>
                        <a:t>'w+'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Write &amp; Read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Overwrites existing file.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r>
                        <a:rPr sz="1800"/>
                        <a:t>'a+'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Append &amp; Read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Adds data to end.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4025">
                <a:tc>
                  <a:txBody>
                    <a:bodyPr/>
                    <a:p>
                      <a:r>
                        <a:rPr sz="1800"/>
                        <a:t>'b'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Binary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for images, videos, etc. (e.g., 'rb', 'wb')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r>
                        <a:rPr sz="1800"/>
                        <a:t>'t'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Text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Default mode (e.g., 'rt', 'wt')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28270"/>
            <a:ext cx="11884025" cy="6514465"/>
          </a:xfrm>
        </p:spPr>
        <p:txBody>
          <a:bodyPr>
            <a:normAutofit/>
          </a:bodyPr>
          <a:p>
            <a:pPr marL="0" indent="0">
              <a:buNone/>
            </a:pPr>
            <a:endParaRPr 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6581140" y="128270"/>
            <a:ext cx="5080000" cy="56362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200" b="1"/>
              <a:t>(B) Read first N characters</a:t>
            </a:r>
            <a:endParaRPr sz="2200" b="1"/>
          </a:p>
          <a:p>
            <a:r>
              <a:rPr sz="1600"/>
              <a:t>withopen("file.txt", "r") as f:
    data = f.read(20)  # reads first 20 characters
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(C) Read one line (readline())</a:t>
            </a:r>
            <a:endParaRPr sz="2200" b="1"/>
          </a:p>
          <a:p>
            <a:r>
              <a:rPr sz="1600"/>
              <a:t>withopen("file.txt", "r") as f:
    line = f.readline()
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(D) Read all lines (readlines())</a:t>
            </a:r>
            <a:endParaRPr sz="2200" b="1"/>
          </a:p>
          <a:p>
            <a:r>
              <a:rPr sz="1600"/>
              <a:t>withopen("file.txt", "r") as f:
    lines = f.readlines()
</a:t>
            </a:r>
            <a:endParaRPr sz="1600"/>
          </a:p>
          <a:p>
            <a:r>
              <a:rPr sz="1600"/>
              <a:t>Returns a list of each line.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(E) Loop through file lines</a:t>
            </a:r>
            <a:endParaRPr sz="2200" b="1"/>
          </a:p>
          <a:p>
            <a:r>
              <a:rPr sz="1600"/>
              <a:t>withopen("file.txt", "r") as f:
    for line in f:
        print(line)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325755" y="128270"/>
            <a:ext cx="5080000" cy="582104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b="1"/>
          </a:p>
          <a:p>
            <a:pPr>
              <a:spcAft>
                <a:spcPct val="60000"/>
              </a:spcAft>
            </a:pPr>
            <a:r>
              <a:rPr b="1"/>
              <a:t> 2. Closing a File</a:t>
            </a:r>
            <a:endParaRPr b="1"/>
          </a:p>
          <a:p>
            <a:r>
              <a:rPr sz="1600"/>
              <a:t>file.close()
</a:t>
            </a:r>
            <a:endParaRPr sz="1600"/>
          </a:p>
          <a:p>
            <a:r>
              <a:rPr sz="1600"/>
              <a:t>But recommended way is: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Using with Statement (Best Practice)</a:t>
            </a:r>
            <a:endParaRPr sz="2200" b="1"/>
          </a:p>
          <a:p>
            <a:r>
              <a:rPr sz="1600"/>
              <a:t>withopen("file.txt", "r") as f:
    data = f.read()
</a:t>
            </a:r>
            <a:endParaRPr sz="1600"/>
          </a:p>
          <a:p>
            <a:endParaRPr sz="1600"/>
          </a:p>
          <a:p>
            <a:pPr>
              <a:spcAft>
                <a:spcPct val="60000"/>
              </a:spcAft>
            </a:pPr>
            <a:r>
              <a:rPr b="1"/>
              <a:t>3. Reading From Files</a:t>
            </a:r>
            <a:endParaRPr b="1"/>
          </a:p>
          <a:p>
            <a:pPr>
              <a:spcAft>
                <a:spcPct val="60000"/>
              </a:spcAft>
            </a:pPr>
            <a:r>
              <a:rPr sz="2200" b="1"/>
              <a:t>(A) Read entire file</a:t>
            </a:r>
            <a:endParaRPr sz="2200" b="1"/>
          </a:p>
          <a:p>
            <a:r>
              <a:rPr sz="1600"/>
              <a:t>withopen("file.txt", "r") as f:
    data = f.read()
    print(data)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74625" y="97790"/>
            <a:ext cx="4381500" cy="6662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b="1"/>
              <a:t>4. Writing to Files</a:t>
            </a:r>
            <a:endParaRPr b="1"/>
          </a:p>
          <a:p>
            <a:pPr>
              <a:spcAft>
                <a:spcPct val="60000"/>
              </a:spcAft>
            </a:pPr>
            <a:r>
              <a:rPr b="1"/>
              <a:t>(A) Write text (w mode)</a:t>
            </a:r>
            <a:endParaRPr b="1"/>
          </a:p>
          <a:p>
            <a:r>
              <a:rPr sz="1600"/>
              <a:t>Overwrites existing file or creates new.</a:t>
            </a:r>
            <a:endParaRPr sz="1600"/>
          </a:p>
          <a:p>
            <a:r>
              <a:rPr sz="1600"/>
              <a:t>withopen("file.txt", "w") as f:
    f.write("Hello, world!")
</a:t>
            </a:r>
            <a:endParaRPr sz="1600"/>
          </a:p>
          <a:p>
            <a:pPr>
              <a:spcAft>
                <a:spcPct val="60000"/>
              </a:spcAft>
            </a:pPr>
            <a:r>
              <a:rPr b="1"/>
              <a:t>(B) Append text (a mode)</a:t>
            </a:r>
            <a:endParaRPr b="1"/>
          </a:p>
          <a:p>
            <a:r>
              <a:rPr sz="1600"/>
              <a:t>withopen("file.txt", "a") as f:
    f.write("\nNew line added!")
</a:t>
            </a:r>
            <a:endParaRPr sz="1600"/>
          </a:p>
          <a:p>
            <a:pPr>
              <a:spcAft>
                <a:spcPct val="60000"/>
              </a:spcAft>
            </a:pPr>
            <a:r>
              <a:rPr b="1"/>
              <a:t>(C) Write multiple lines</a:t>
            </a:r>
            <a:endParaRPr b="1"/>
          </a:p>
          <a:p>
            <a:r>
              <a:rPr sz="1600"/>
              <a:t>lines = ["Line 1\n", "Line 2\n"]
withopen("file.txt", "w") as f:
    f.writelines(lines)
</a:t>
            </a:r>
            <a:endParaRPr sz="1600"/>
          </a:p>
          <a:p>
            <a:pPr>
              <a:spcAft>
                <a:spcPct val="60000"/>
              </a:spcAft>
            </a:pPr>
            <a:r>
              <a:rPr b="1"/>
              <a:t>5. Read &amp; Write Together</a:t>
            </a:r>
            <a:endParaRPr b="1"/>
          </a:p>
          <a:p>
            <a:pPr>
              <a:spcAft>
                <a:spcPct val="60000"/>
              </a:spcAft>
            </a:pPr>
            <a:r>
              <a:rPr b="1"/>
              <a:t>(A) r+ – Read and write (file must exist)</a:t>
            </a:r>
            <a:endParaRPr b="1"/>
          </a:p>
          <a:p>
            <a:r>
              <a:rPr sz="1600"/>
              <a:t>withopen("file.txt", "r+") as f:
    data = f.read()
    f.write("\nAdded using r+")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5814695" y="97790"/>
            <a:ext cx="5080000" cy="67595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000" b="1"/>
              <a:t>(B) w+ – Write and read (overwrites file)</a:t>
            </a:r>
            <a:endParaRPr sz="2000" b="1"/>
          </a:p>
          <a:p>
            <a:r>
              <a:rPr sz="1600"/>
              <a:t>withopen("file.txt", "w+") as f:
    f.write("New content")
    f.seek(0)     # move to start
    print(f.read())
</a:t>
            </a:r>
            <a:endParaRPr sz="1600"/>
          </a:p>
          <a:p>
            <a:pPr>
              <a:spcAft>
                <a:spcPct val="60000"/>
              </a:spcAft>
            </a:pPr>
            <a:r>
              <a:rPr sz="2300" b="1"/>
              <a:t>(C) a+ – Append &amp; read</a:t>
            </a:r>
            <a:endParaRPr sz="2300" b="1"/>
          </a:p>
          <a:p>
            <a:r>
              <a:rPr sz="1600"/>
              <a:t>withopen("file.txt", "a+") as f:
    f.write("\nHello")
    f.seek(0)
    print(f.read())
</a:t>
            </a:r>
            <a:endParaRPr sz="1600"/>
          </a:p>
          <a:p>
            <a:pPr>
              <a:spcAft>
                <a:spcPct val="60000"/>
              </a:spcAft>
            </a:pPr>
            <a:r>
              <a:rPr b="1"/>
              <a:t>6. Working With Binary Files</a:t>
            </a:r>
            <a:endParaRPr b="1"/>
          </a:p>
          <a:p>
            <a:r>
              <a:rPr sz="1600"/>
              <a:t>Use 'b' with modes (rb, wb, ab, etc.)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Read image / binary file</a:t>
            </a:r>
            <a:endParaRPr sz="2200" b="1"/>
          </a:p>
          <a:p>
            <a:r>
              <a:rPr sz="1600"/>
              <a:t>withopen("image.jpg", "rb") as f:
    data = f.read()
</a:t>
            </a:r>
            <a:r>
              <a:rPr sz="2200" b="1"/>
              <a:t>Write binary</a:t>
            </a:r>
            <a:endParaRPr sz="2200" b="1"/>
          </a:p>
          <a:p>
            <a:r>
              <a:rPr sz="1600"/>
              <a:t>withopen("copy.jpg", "wb") as f:
    f.write(data)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9870" y="214630"/>
            <a:ext cx="4436745" cy="37058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1600" b="1"/>
              <a:t>8. Check if a file exists</a:t>
            </a:r>
            <a:endParaRPr sz="1600" b="1"/>
          </a:p>
          <a:p>
            <a:r>
              <a:rPr sz="1600"/>
              <a:t>import os
if os.path.exists("file.txt"):
    print("File found")
else:
    print("File not found")
</a:t>
            </a:r>
            <a:endParaRPr sz="1600"/>
          </a:p>
          <a:p>
            <a:pPr>
              <a:spcAft>
                <a:spcPct val="60000"/>
              </a:spcAft>
            </a:pPr>
            <a:r>
              <a:rPr b="1"/>
              <a:t> 9. Delete a file</a:t>
            </a:r>
            <a:endParaRPr b="1"/>
          </a:p>
          <a:p>
            <a:r>
              <a:rPr sz="1600"/>
              <a:t>import os
os.remove("file.txt")
</a:t>
            </a:r>
            <a:endParaRPr sz="1600"/>
          </a:p>
          <a:p>
            <a:pPr>
              <a:spcAft>
                <a:spcPct val="60000"/>
              </a:spcAft>
            </a:pP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5019040" y="351790"/>
            <a:ext cx="6096000" cy="47567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b="1">
                <a:sym typeface="+mn-ea"/>
              </a:rPr>
              <a:t>10. Complete Example (All Operations)</a:t>
            </a:r>
            <a:endParaRPr b="1"/>
          </a:p>
          <a:p>
            <a:r>
              <a:rPr sz="1600">
                <a:sym typeface="+mn-ea"/>
              </a:rPr>
              <a:t># Write file
withopen("example.txt", "w") as f:
    f.write("Hello\n")
    f.write("Python File Handling\n")
# Read file
withopen("example.txt", "r") as f:
    print(f.read())
# Append file
withopen("example.txt", "a") as f:
    f.write("Appending new line\n")
# Read line by line
withopen("example.txt", "r") as f:
    for line in f:
        print("&gt;&gt;", line.strip())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60" y="0"/>
            <a:ext cx="11076940" cy="273685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  <a:sym typeface="+mn-ea"/>
              </a:rPr>
              <a:t>Python Exception Handling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3685"/>
            <a:ext cx="12395835" cy="6431280"/>
          </a:xfrm>
        </p:spPr>
        <p:txBody>
          <a:bodyPr/>
          <a:p>
            <a:pPr marL="457200" indent="-457200">
              <a:buAutoNum type="arabicPeriod"/>
            </a:pPr>
            <a:r>
              <a:rPr lang="en-US" altLang="en-US" sz="1800"/>
              <a:t>An exception in Python is an unexpected error that occurs during the execution of a program, which interrupts its normal flow.</a:t>
            </a:r>
            <a:endParaRPr lang="en-US" altLang="en-US" sz="1800"/>
          </a:p>
          <a:p>
            <a:pPr marL="457200" indent="-457200">
              <a:buAutoNum type="arabicPeriod"/>
            </a:pPr>
            <a:r>
              <a:rPr lang="en-US" altLang="en-US" sz="1800"/>
              <a:t>Python provides exception handling using try, except, else, and finally blocks to manage such errors gracefully.</a:t>
            </a:r>
            <a:endParaRPr lang="en-US" altLang="en-US" sz="1800"/>
          </a:p>
          <a:p>
            <a:pPr marL="457200" indent="-457200">
              <a:buAutoNum type="arabicPeriod"/>
            </a:pPr>
            <a:r>
              <a:rPr lang="en-US" altLang="en-US" sz="1800"/>
              <a:t>Built-in exceptions like ZeroDivisionError, ValueError, and IndexError help identify specific problems, and Python also allows the creation of custom exceptions for special cases.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What is Exception Handling?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Exception handling is a way to handle errors gracefully without stopping the program abruptly.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9700" y="2326640"/>
          <a:ext cx="11826240" cy="2773680"/>
        </p:xfrm>
        <a:graphic>
          <a:graphicData uri="http://schemas.openxmlformats.org/drawingml/2006/table">
            <a:tbl>
              <a:tblPr/>
              <a:tblGrid>
                <a:gridCol w="4448175"/>
                <a:gridCol w="7378065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Exception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ZeroDivisionError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Division by zero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ValueError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Invalid value (e.g., int("abc"))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TypeError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Unsupported operation on types (e.g., '5' + 5)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IndexError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List index out of range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KeyError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Dictionary key not found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FileNotFoundError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File doesn’t exist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ImportError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Module not found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AttributeError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Object has no such attribute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Exception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Base class for all exceptions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0" y="5199380"/>
          <a:ext cx="12191365" cy="1268730"/>
        </p:xfrm>
        <a:graphic>
          <a:graphicData uri="http://schemas.openxmlformats.org/drawingml/2006/table">
            <a:tbl>
              <a:tblPr/>
              <a:tblGrid>
                <a:gridCol w="2830830"/>
                <a:gridCol w="9360535"/>
              </a:tblGrid>
              <a:tr h="311785">
                <a:tc>
                  <a:txBody>
                    <a:bodyPr/>
                    <a:p>
                      <a:pPr algn="ctr"/>
                      <a:r>
                        <a:rPr sz="2000" b="1"/>
                        <a:t>Type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60705">
                <a:tc>
                  <a:txBody>
                    <a:bodyPr/>
                    <a:p>
                      <a:r>
                        <a:rPr sz="1800"/>
                        <a:t>Compile-time 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Occur when the code is syntactically incorrect (e.g., missing colon). Python usually detects these before execution.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r>
                        <a:rPr sz="1800"/>
                        <a:t>Runtime 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Occur during execution. The syntax is correct, but the operation fails (e.g., divide by zero).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0"/>
            <a:ext cx="11528425" cy="29591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Why Use Exception Handling In python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295910"/>
            <a:ext cx="12500610" cy="6318885"/>
          </a:xfrm>
        </p:spPr>
        <p:txBody>
          <a:bodyPr>
            <a:noAutofit/>
          </a:bodyPr>
          <a:p>
            <a:pPr marL="0" indent="0">
              <a:spcAft>
                <a:spcPct val="60000"/>
              </a:spcAft>
              <a:buNone/>
            </a:pPr>
            <a:r>
              <a:rPr sz="1800" b="1">
                <a:sym typeface="+mn-ea"/>
              </a:rPr>
              <a:t>3. Logical Errors / Syntactical Errors</a:t>
            </a:r>
            <a:r>
              <a:rPr lang="en-US" sz="1800" b="1">
                <a:sym typeface="+mn-ea"/>
              </a:rPr>
              <a:t> </a:t>
            </a:r>
            <a:endParaRPr sz="1800" b="1"/>
          </a:p>
          <a:p>
            <a:pPr marL="0" indent="0">
              <a:spcAft>
                <a:spcPct val="60000"/>
              </a:spcAft>
              <a:buNone/>
            </a:pPr>
            <a:r>
              <a:rPr sz="1800">
                <a:sym typeface="+mn-ea"/>
              </a:rPr>
              <a:t>Syntactical Errors: Errors in code syntax (e.g., missing parentheses, colon).</a:t>
            </a:r>
            <a:endParaRPr sz="1800">
              <a:sym typeface="+mn-ea"/>
            </a:endParaRPr>
          </a:p>
          <a:p>
            <a:pPr marL="0" indent="0">
              <a:buNone/>
            </a:pPr>
            <a:r>
              <a:rPr sz="1800">
                <a:sym typeface="+mn-ea"/>
              </a:rPr>
              <a:t>Logical Errors: Code runs withou</a:t>
            </a:r>
            <a:r>
              <a:rPr lang="en-US" sz="1800">
                <a:sym typeface="+mn-ea"/>
              </a:rPr>
              <a:t>s</a:t>
            </a:r>
            <a:r>
              <a:rPr sz="1800">
                <a:sym typeface="+mn-ea"/>
              </a:rPr>
              <a:t>t error, but the output is incorrect due to a logic mistake.</a:t>
            </a:r>
            <a:endParaRPr sz="1800">
              <a:sym typeface="+mn-ea"/>
            </a:endParaRPr>
          </a:p>
          <a:p>
            <a:pPr marL="0" indent="0">
              <a:buNone/>
            </a:pPr>
            <a:r>
              <a:rPr lang="en-US" altLang="en-US" sz="1800"/>
              <a:t>Exception handling is used in Python to manage errors gracefully and ensure that a program doesn’t crash unexpectedly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1</a:t>
            </a:r>
            <a:r>
              <a:rPr lang="en-US" altLang="en-US" sz="1800" b="1"/>
              <a:t>️</a:t>
            </a:r>
            <a:r>
              <a:rPr lang="en-US" altLang="en-US" sz="1800" b="1"/>
              <a:t>Prevents Program Crashes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Without exception handling, runtime errors (like dividing by zero or file not found) will stop program execution. Using try-except keeps the program running.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try: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x = 10 / 0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except ZeroDivisionError: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print("Cannot divide by zero!")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</a:t>
            </a:r>
            <a:r>
              <a:rPr lang="en-US" altLang="en-US" sz="1800" b="1"/>
              <a:t>️</a:t>
            </a:r>
            <a:r>
              <a:rPr lang="en-US" altLang="en-US" sz="1800" b="1"/>
              <a:t> Provides Clear Error Messages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You can catch specific errors and provide meaningful messages to the user instead of showing confusing system errors.</a:t>
            </a:r>
            <a:endParaRPr lang="en-US" altLang="en-US" sz="1800"/>
          </a:p>
          <a:p>
            <a:pPr marL="0" indent="0">
              <a:buNone/>
            </a:pPr>
            <a:r>
              <a:rPr lang="en-US" sz="1800" b="1"/>
              <a:t>3</a:t>
            </a:r>
            <a:r>
              <a:rPr lang="en-US" altLang="en-US" sz="1800" b="1"/>
              <a:t>️</a:t>
            </a:r>
            <a:r>
              <a:rPr lang="en-US" altLang="en-US" sz="1800" b="1"/>
              <a:t> Helps in Debugging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Catching and logging exceptions makes it easier to identify and fix bugs.</a:t>
            </a:r>
            <a:endParaRPr lang="en-US" altLang="en-US" sz="1800"/>
          </a:p>
          <a:p>
            <a:pPr marL="0" indent="0">
              <a:buNone/>
            </a:pPr>
            <a:r>
              <a:rPr lang="en-US" sz="1800" b="1"/>
              <a:t>4</a:t>
            </a:r>
            <a:r>
              <a:rPr lang="en-US" altLang="en-US" sz="1800" b="1"/>
              <a:t>️</a:t>
            </a:r>
            <a:r>
              <a:rPr lang="en-US" altLang="en-US" sz="1800" b="1"/>
              <a:t> Supports Program Logic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Custom exceptions allow you to enforce rules and constraints in your application and handle violations cleanly</a:t>
            </a: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35" y="155575"/>
            <a:ext cx="11843385" cy="6486525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Python Types Of Exception</a:t>
            </a:r>
            <a:endParaRPr lang="en-US" altLang="en-US" sz="1800" b="1"/>
          </a:p>
          <a:p>
            <a:pPr marL="342900" indent="-342900">
              <a:buAutoNum type="arabicPeriod"/>
            </a:pP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Arithmetic errors – ZeroDivisionError, OverflowError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Lookup errors – IndexError, KeyError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I/O errors – FileNotFoundError, IOError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Import errors – ModuleNotFoundError, ImportError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Value/Type errors – ValueError, TypeError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Custom exceptions – You can create your own by inheriting from Exception Error.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233045" y="3559175"/>
            <a:ext cx="8952865" cy="16300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try: Code that may cause exception</a:t>
            </a:r>
            <a:endParaRPr sz="2000"/>
          </a:p>
          <a:p>
            <a:r>
              <a:rPr sz="2000"/>
              <a:t>except: Handles the exception</a:t>
            </a:r>
            <a:endParaRPr sz="2000"/>
          </a:p>
          <a:p>
            <a:r>
              <a:rPr sz="2000"/>
              <a:t>else: Runs if no exception occurs</a:t>
            </a:r>
            <a:endParaRPr sz="2000"/>
          </a:p>
          <a:p>
            <a:r>
              <a:rPr sz="2000"/>
              <a:t>finally: Runs no matter what</a:t>
            </a:r>
            <a:endParaRPr sz="2000"/>
          </a:p>
          <a:p>
            <a:r>
              <a:rPr lang="en-US" sz="2000"/>
              <a:t>raise: display direct message of custom exception to user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40" y="0"/>
            <a:ext cx="11925935" cy="6706235"/>
          </a:xfrm>
        </p:spPr>
        <p:txBody>
          <a:bodyPr>
            <a:noAutofit/>
          </a:bodyPr>
          <a:p>
            <a:pPr marL="0" indent="0">
              <a:spcAft>
                <a:spcPct val="60000"/>
              </a:spcAft>
              <a:buNone/>
            </a:pPr>
            <a:r>
              <a:rPr sz="1800" b="1">
                <a:sym typeface="+mn-ea"/>
              </a:rPr>
              <a:t>5. Handling Exceptions</a:t>
            </a:r>
            <a:endParaRPr sz="1800" b="1"/>
          </a:p>
          <a:p>
            <a:pPr marL="0" indent="0">
              <a:buNone/>
            </a:pPr>
            <a:r>
              <a:rPr sz="1800">
                <a:sym typeface="+mn-ea"/>
              </a:rPr>
              <a:t>Python uses the try-except block to handle exceptions gracefully.</a:t>
            </a:r>
            <a:endParaRPr sz="1800">
              <a:sym typeface="+mn-ea"/>
            </a:endParaRPr>
          </a:p>
          <a:p>
            <a:pPr marL="0" indent="0">
              <a:buNone/>
            </a:pPr>
            <a:r>
              <a:rPr sz="1800">
                <a:sym typeface="+mn-ea"/>
              </a:rPr>
              <a:t>try:
    x = 10 / 0
except ZeroDivisionError:
    print("Cannot divide by zero")</a:t>
            </a:r>
            <a:endParaRPr sz="1800">
              <a:sym typeface="+mn-ea"/>
            </a:endParaRPr>
          </a:p>
          <a:p>
            <a:pPr marL="0" indent="0">
              <a:buNone/>
            </a:pPr>
            <a:r>
              <a:rPr lang="en-US" altLang="en-US" sz="1800" b="1"/>
              <a:t>6. The try-except-else-finally Clause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try:     # risky code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except ExceptionType:    # exception handling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else:       # runs if no exception occurs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finally:     # runs no matter what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Purpose: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try: block of code to try.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except: handles exceptions.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else: runs if no exception.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finally: runs always, used for cleanup (e.g., closing files).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925" y="635"/>
            <a:ext cx="11652250" cy="66630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sym typeface="+mn-ea"/>
              </a:rPr>
              <a:t>7. Argument of an Exception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Exceptions can take arguments for more details.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try: 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raise ValueError("Invalid input")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except ValueError as 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print(e)</a:t>
            </a:r>
            <a:endParaRPr lang="en-US" altLang="en-US" sz="1800">
              <a:sym typeface="+mn-ea"/>
            </a:endParaRPr>
          </a:p>
          <a:p>
            <a:pPr marL="0" indent="0">
              <a:buNone/>
            </a:pPr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8. Python Custom Exception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 custom exception in Python is a user-defined error that is created by subclassing the built-in Exception class.</a:t>
            </a:r>
            <a:endParaRPr lang="en-US" altLang="en-US" sz="1800"/>
          </a:p>
          <a:p>
            <a:r>
              <a:rPr lang="en-US" altLang="en-US" sz="1800"/>
              <a:t>It allows programmers to define specific error conditions in their code that are not covered by Python’s built-in exceptions.</a:t>
            </a:r>
            <a:endParaRPr lang="en-US" altLang="en-US" sz="1800"/>
          </a:p>
          <a:p>
            <a:r>
              <a:rPr lang="en-US" altLang="en-US" sz="1800"/>
              <a:t>Use raise to throw your custom exception</a:t>
            </a:r>
            <a:endParaRPr lang="en-US" altLang="en-US" sz="1800"/>
          </a:p>
          <a:p>
            <a:r>
              <a:rPr lang="en-US" altLang="en-US" sz="1800"/>
              <a:t>Use try-except to handle it</a:t>
            </a:r>
            <a:endParaRPr lang="en-US" altLang="en-US" sz="1800"/>
          </a:p>
        </p:txBody>
      </p:sp>
      <p:sp>
        <p:nvSpPr>
          <p:cNvPr id="2" name="Text Box 1"/>
          <p:cNvSpPr txBox="1"/>
          <p:nvPr/>
        </p:nvSpPr>
        <p:spPr>
          <a:xfrm>
            <a:off x="173355" y="4910455"/>
            <a:ext cx="40157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# Custom exception class</a:t>
            </a:r>
            <a:endParaRPr lang="en-US" altLang="en-US"/>
          </a:p>
          <a:p>
            <a:r>
              <a:rPr lang="en-US" altLang="en-US"/>
              <a:t>class MyCustomError(Exception):</a:t>
            </a:r>
            <a:endParaRPr lang="en-US" altLang="en-US"/>
          </a:p>
          <a:p>
            <a:r>
              <a:rPr lang="en-US" altLang="en-US"/>
              <a:t>    def __init__(self, message):</a:t>
            </a:r>
            <a:endParaRPr lang="en-US" altLang="en-US"/>
          </a:p>
          <a:p>
            <a:r>
              <a:rPr lang="en-US" altLang="en-US"/>
              <a:t>        self.message = message</a:t>
            </a:r>
            <a:endParaRPr lang="en-US" altLang="en-US"/>
          </a:p>
          <a:p>
            <a:r>
              <a:rPr lang="en-US" altLang="en-US"/>
              <a:t>        super().__init__(self.message)</a:t>
            </a:r>
            <a:endParaRPr lang="en-US" alt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095365" y="3914140"/>
            <a:ext cx="5965190" cy="2749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def check_value(x):</a:t>
            </a:r>
            <a:endParaRPr lang="en-US" altLang="en-US"/>
          </a:p>
          <a:p>
            <a:r>
              <a:rPr lang="en-US" altLang="en-US"/>
              <a:t>    if x &lt; 0:</a:t>
            </a:r>
            <a:endParaRPr lang="en-US" altLang="en-US"/>
          </a:p>
          <a:p>
            <a:r>
              <a:rPr lang="en-US" altLang="en-US"/>
              <a:t>        raise MyCustomError("Negative value is not allowed!")</a:t>
            </a:r>
            <a:endParaRPr lang="en-US" altLang="en-US"/>
          </a:p>
          <a:p>
            <a:r>
              <a:rPr lang="en-US" altLang="en-US"/>
              <a:t>    else:</a:t>
            </a:r>
            <a:endParaRPr lang="en-US" altLang="en-US"/>
          </a:p>
          <a:p>
            <a:r>
              <a:rPr lang="en-US" altLang="en-US"/>
              <a:t>        print("Value is fine:", x)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try:</a:t>
            </a:r>
            <a:endParaRPr lang="en-US" altLang="en-US"/>
          </a:p>
          <a:p>
            <a:r>
              <a:rPr lang="en-US" altLang="en-US"/>
              <a:t>    check_value(-5)</a:t>
            </a:r>
            <a:endParaRPr lang="en-US" altLang="en-US"/>
          </a:p>
          <a:p>
            <a:r>
              <a:rPr lang="en-US" altLang="en-US"/>
              <a:t>except MyCustomError as e:</a:t>
            </a:r>
            <a:endParaRPr lang="en-US" altLang="en-US"/>
          </a:p>
          <a:p>
            <a:r>
              <a:rPr lang="en-US" altLang="en-US"/>
              <a:t>    print("Caught an error:", e)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720" y="0"/>
            <a:ext cx="11592560" cy="370840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Advanced Python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8595" y="370840"/>
            <a:ext cx="11703685" cy="5870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sz="2000"/>
              <a:t>Python With Database /sql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python With Sql Database Crud Operations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Python With Multithreading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Python With Numpy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Python With Pandas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Python With Matlpotlib</a:t>
            </a:r>
            <a:endParaRPr lang="en-US" sz="2000"/>
          </a:p>
          <a:p>
            <a:pPr marL="342900" indent="-342900">
              <a:buAutoNum type="arabicPeriod"/>
            </a:pP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275" y="0"/>
            <a:ext cx="8911590" cy="296545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</a:rPr>
              <a:t>Python (Adv Database Interaction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10" y="296545"/>
            <a:ext cx="12226290" cy="63512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800" b="1"/>
              <a:t>🔹</a:t>
            </a:r>
            <a:r>
              <a:rPr lang="en-US" altLang="en-US" sz="1800" b="1"/>
              <a:t> Using Databases in Python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Why Use Database Connectivity in Python?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1. Persistent Data Storage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Data stored in variables disappears when a program ends.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Databases keep data permanently, even after the program is closed or the computer is shut down.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2. Efficient Data Handling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Databases (like MySQL, SQLite, PostgreSQL) are optimized to handle large volumes of data efficiently.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You can search, filter, sort, and join data much faster than using in-memory structures (e.g., lists, dictionaries).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3. Structured Data Management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Databases use tables with rows and columns, enforcing data types, constraints, and relationships.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This structure helps keep your data organized and consistent.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4. Real-world Applications Need It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Applications like web apps, mobile apps, and data pipelines all need to store user data, logs, settings, etc.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Example: A Python web app using Flask or Django will connect to a database to store user profiles.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5. Concurrency &amp; Multi-user Access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Databases handle multiple users accessing or modifying data at once without conflicts.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Python can interface with these databases to ensure safe and consistent updates.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194310" y="4234815"/>
            <a:ext cx="6581140" cy="2527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535" y="134620"/>
            <a:ext cx="11694160" cy="54889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 b="1">
                <a:sym typeface="+mn-ea"/>
              </a:rPr>
              <a:t>6. Querying with SQL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SQL (Structured Query Language) is powerful for fetching only the data you need.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Python libraries let you run SQL queries from your code, combine with logic, and present the results.Install via pip:</a:t>
            </a:r>
            <a:endParaRPr lang="en-US" altLang="en-US" sz="1800"/>
          </a:p>
          <a:p>
            <a:pPr marL="0" indent="0">
              <a:buNone/>
            </a:pPr>
            <a:endParaRPr lang="en-US" altLang="en-US" sz="1800" b="1">
              <a:sym typeface="+mn-ea"/>
            </a:endParaRPr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pip install mysql-connector-python</a:t>
            </a:r>
            <a:endParaRPr lang="en-US" altLang="en-US" sz="1800" b="1">
              <a:sym typeface="+mn-ea"/>
            </a:endParaRPr>
          </a:p>
          <a:p>
            <a:pPr marL="0" indent="0">
              <a:buNone/>
            </a:pPr>
            <a:r>
              <a:rPr lang="en-US" altLang="en-US" sz="1800" b="1"/>
              <a:t>pip install mysql-connector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3. Installing MySQL and Packages    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Download and install MySQL Server from the official site.    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Install Python connector packages as above.</a:t>
            </a:r>
            <a:endParaRPr lang="en-US" altLang="en-US" sz="1800">
              <a:sym typeface="+mn-ea"/>
            </a:endParaRPr>
          </a:p>
          <a:p>
            <a:pPr marL="0" indent="0">
              <a:buNone/>
            </a:pPr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1800" b="1"/>
              <a:t>pip show mysql-connector-python</a:t>
            </a:r>
            <a:endParaRPr lang="en-US" altLang="en-US" sz="1800" b="1"/>
          </a:p>
          <a:p>
            <a:pPr marL="0" indent="0">
              <a:buNone/>
            </a:pPr>
            <a:endParaRPr lang="en-US" alt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95" y="0"/>
            <a:ext cx="11525885" cy="283210"/>
          </a:xfrm>
        </p:spPr>
        <p:txBody>
          <a:bodyPr>
            <a:no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Python Database Connection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95" y="283210"/>
            <a:ext cx="11817350" cy="46443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import mysql.connector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from mysql.connector import Error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try: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conn = mysql.connector.connect(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    host="localhost",          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user="yourusername",             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password="yourpassword",       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database="yourdatabase"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)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if conn.is_connected():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    print(" Connected to the MySQL database")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    cursor = conn.cursor()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else: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    print(" Connection failed")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except Error as e: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1400">
                <a:latin typeface="Cambria" panose="02040503050406030204" pitchFamily="18" charset="0"/>
                <a:cs typeface="Cambria" panose="02040503050406030204" pitchFamily="18" charset="0"/>
              </a:rPr>
              <a:t>    print(f" Error: {e}")</a:t>
            </a: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>
              <a:buNone/>
            </a:pPr>
            <a:endParaRPr lang="en-US" altLang="en-US" sz="14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52095" y="4926965"/>
          <a:ext cx="11818620" cy="1856740"/>
        </p:xfrm>
        <a:graphic>
          <a:graphicData uri="http://schemas.openxmlformats.org/drawingml/2006/table">
            <a:tbl>
              <a:tblPr/>
              <a:tblGrid>
                <a:gridCol w="5909310"/>
                <a:gridCol w="5909310"/>
              </a:tblGrid>
              <a:tr h="342265">
                <a:tc>
                  <a:txBody>
                    <a:bodyPr/>
                    <a:p>
                      <a:pPr algn="ctr"/>
                      <a:r>
                        <a:rPr sz="1800" b="1"/>
                        <a:t>Parameter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host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The address of the MySQL server. "localhost" means it's on your local machine.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r>
                        <a:rPr sz="1600"/>
                        <a:t>user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Your MySQL username (e.g., "root" or another user).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r>
                        <a:rPr sz="1600"/>
                        <a:t>password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The password for that MySQL user.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r>
                        <a:rPr sz="1600"/>
                        <a:t>database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The name of the database you want to connect to.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51375" y="433070"/>
            <a:ext cx="7419340" cy="15900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/>
              <a:t>import mysql.connector</a:t>
            </a:r>
            <a:endParaRPr sz="2200" b="1"/>
          </a:p>
          <a:p>
            <a:pPr>
              <a:spcAft>
                <a:spcPct val="60000"/>
              </a:spcAft>
            </a:pPr>
            <a:r>
              <a:rPr sz="1600"/>
              <a:t>This line imports the mysql.connector module.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It’s part of the mysql-connector-python package, which allows Python to connect to a MySQL database.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4651375" y="2023110"/>
            <a:ext cx="7310755" cy="13442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/>
              <a:t>conn = mysql.connector.connect(...)</a:t>
            </a:r>
            <a:endParaRPr sz="2200" b="1"/>
          </a:p>
          <a:p>
            <a:pPr>
              <a:spcAft>
                <a:spcPct val="60000"/>
              </a:spcAft>
            </a:pPr>
            <a:r>
              <a:rPr sz="1600"/>
              <a:t>This line creates a connection to the MySQL database server.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It uses the connect() method and requires several parameters: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925" y="135255"/>
            <a:ext cx="11903710" cy="65557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/>
              <a:t>cursor = conn.cursor()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 cursor is an object used to execute SQL queries.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Think of it like a pointer or a tool for interacting with the database.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You use it to: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Run SQL queries (SELECT, INSERT, etc.)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Fetch results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Handle transactions</a:t>
            </a:r>
            <a:endParaRPr lang="en-US" altLang="en-US" sz="180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29260" y="3429000"/>
          <a:ext cx="6282690" cy="2908300"/>
        </p:xfrm>
        <a:graphic>
          <a:graphicData uri="http://schemas.openxmlformats.org/drawingml/2006/table">
            <a:tbl>
              <a:tblPr/>
              <a:tblGrid>
                <a:gridCol w="2327275"/>
                <a:gridCol w="3955415"/>
              </a:tblGrid>
              <a:tr h="581660">
                <a:tc>
                  <a:txBody>
                    <a:bodyPr/>
                    <a:p>
                      <a:pPr algn="ctr"/>
                      <a:r>
                        <a:rPr sz="2000" b="1"/>
                        <a:t>Part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Purpose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1660">
                <a:tc>
                  <a:txBody>
                    <a:bodyPr/>
                    <a:p>
                      <a:r>
                        <a:rPr sz="1600"/>
                        <a:t>import mysql.connector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Allows Python to talk to MySQL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1660">
                <a:tc>
                  <a:txBody>
                    <a:bodyPr/>
                    <a:p>
                      <a:r>
                        <a:rPr sz="1600"/>
                        <a:t>mysql.connector.connect()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Connects to the database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1660">
                <a:tc>
                  <a:txBody>
                    <a:bodyPr/>
                    <a:p>
                      <a:r>
                        <a:rPr sz="1600"/>
                        <a:t>conn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Connection object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1660">
                <a:tc>
                  <a:txBody>
                    <a:bodyPr/>
                    <a:p>
                      <a:r>
                        <a:rPr sz="1600"/>
                        <a:t>conn.cursor()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Creates a cursor for executing queries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5950585" y="1504950"/>
            <a:ext cx="6096000" cy="3997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cursor.execute("SELECT * FROM students")  # Run a query</a:t>
            </a:r>
            <a:endParaRPr lang="en-US" altLang="en-US"/>
          </a:p>
          <a:p>
            <a:r>
              <a:rPr lang="en-US" altLang="en-US"/>
              <a:t>result = cursor.fetchall()               # Get all rows from the result</a:t>
            </a:r>
            <a:endParaRPr lang="en-US" altLang="en-US"/>
          </a:p>
          <a:p>
            <a:r>
              <a:rPr lang="en-US" altLang="en-US"/>
              <a:t>for row in result:</a:t>
            </a:r>
            <a:endParaRPr lang="en-US" altLang="en-US"/>
          </a:p>
          <a:p>
            <a:r>
              <a:rPr lang="en-US" altLang="en-US"/>
              <a:t>    print(row)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conn.close()  # Always close the connection when done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0" y="0"/>
            <a:ext cx="11376025" cy="349885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  <a:sym typeface="+mn-ea"/>
              </a:rPr>
              <a:t>Python (Adv Database Interaction</a:t>
            </a:r>
            <a:endParaRPr 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820" y="349885"/>
            <a:ext cx="11980545" cy="63639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>
                <a:sym typeface="+mn-ea"/>
              </a:rPr>
              <a:t>5. Create, Insert, Read, Update, Delete Operations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a. Create Table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cursor.execute(""" CREATE TABLE IF NOT EXISTS employees (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id INT AUTO_INCREMENT PRIMARY KEY,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name VARCHAR(255),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salary FLOAT )  """)</a:t>
            </a:r>
            <a:endParaRPr lang="en-US" altLang="en-US" sz="1800">
              <a:sym typeface="+mn-ea"/>
            </a:endParaRPr>
          </a:p>
          <a:p>
            <a:pPr marL="0" indent="0">
              <a:buNone/>
            </a:pPr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1800" b="1"/>
              <a:t>b. Insert Data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sql = "INSERT INTO employees (name, salary) VALUES (%s, %s)"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values = ("Viren More", 50000)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cursor.execute(sql, values)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conn.commit()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c. Read Data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cursor.execute("SELECT * FROM employees")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rows = cursor.fetchall()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for row in rows: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print(row)</a:t>
            </a: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0"/>
            <a:ext cx="8911590" cy="337820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  <a:sym typeface="+mn-ea"/>
              </a:rPr>
              <a:t>Python (Adv Database Interaction</a:t>
            </a:r>
            <a:endParaRPr 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645" y="420370"/>
            <a:ext cx="11847830" cy="62026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sym typeface="+mn-ea"/>
              </a:rPr>
              <a:t>d. Update Data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sql = "UPDATE employees SET salary = %s WHERE name = %s"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values = (60000, "John Doe")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cursor.execute(sql, values)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conn.commit()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e. Delete Data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sql = "DELETE FROM employees WHERE name = %s"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value = ("John Doe",)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cursor.execute(sql, value)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conn.commit()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6. DML and DDL Operations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DML (Data Manipulation Language): INSERT, UPDATE, DELETE, SELECT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DDL (Data Definition Language): CREATE, ALTER, DROP</a:t>
            </a: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5" y="0"/>
            <a:ext cx="8911590" cy="43243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  <a:sym typeface="+mn-ea"/>
              </a:rPr>
              <a:t>Python (Adv Database Interaction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65" y="432435"/>
            <a:ext cx="11652885" cy="610362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000">
                <a:sym typeface="+mn-ea"/>
              </a:rPr>
              <a:t>7. Web Scraping in Python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Web scraping extracts data from websites.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Common libraries: requests, BeautifulSoup, Scrapy.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Example: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import requests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from bs4 import BeautifulSoup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url = "https://example.com"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response = requests.get(url)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soup = BeautifulSoup(response.text, "html.parser")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print(soup.title.text)</a:t>
            </a:r>
            <a:endParaRPr lang="en-US" alt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205" y="0"/>
            <a:ext cx="8911590" cy="351790"/>
          </a:xfrm>
        </p:spPr>
        <p:txBody>
          <a:bodyPr>
            <a:normAutofit fontScale="90000"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Multithreading in Python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30" y="351790"/>
            <a:ext cx="11885930" cy="1518285"/>
          </a:xfrm>
        </p:spPr>
        <p:txBody>
          <a:bodyPr>
            <a:normAutofit fontScale="90000"/>
          </a:bodyPr>
          <a:p>
            <a:r>
              <a:rPr lang="en-US" altLang="en-US" sz="2000" b="1"/>
              <a:t>Multithreading in Python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1. What is Multithreading?</a:t>
            </a:r>
            <a:endParaRPr lang="en-US" altLang="en-US" sz="2000" b="1"/>
          </a:p>
          <a:p>
            <a:r>
              <a:rPr lang="en-US" altLang="en-US" sz="2000"/>
              <a:t>Multithreading allows a program to run multiple threads (smaller units of process) concurrently within a single process.</a:t>
            </a:r>
            <a:endParaRPr lang="en-US" altLang="en-US" sz="2000"/>
          </a:p>
          <a:p>
            <a:r>
              <a:rPr lang="en-US" altLang="en-US" sz="2000"/>
              <a:t>Threads share the same memory space but run independently.</a:t>
            </a:r>
            <a:endParaRPr lang="en-US" altLang="en-US" sz="2000"/>
          </a:p>
          <a:p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7795" y="1764030"/>
          <a:ext cx="11956415" cy="1535430"/>
        </p:xfrm>
        <a:graphic>
          <a:graphicData uri="http://schemas.openxmlformats.org/drawingml/2006/table">
            <a:tbl>
              <a:tblPr/>
              <a:tblGrid>
                <a:gridCol w="2316480"/>
                <a:gridCol w="4812665"/>
                <a:gridCol w="4827270"/>
              </a:tblGrid>
              <a:tr h="255905">
                <a:tc>
                  <a:txBody>
                    <a:bodyPr/>
                    <a:p>
                      <a:pPr algn="ctr"/>
                      <a:r>
                        <a:rPr sz="2000"/>
                        <a:t>Feature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Process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Thread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r>
                        <a:rPr sz="1600"/>
                        <a:t>Memory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Separate memory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Shared memory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r>
                        <a:rPr sz="1600"/>
                        <a:t>Overhead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High (more resources)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Low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r>
                        <a:rPr sz="1600"/>
                        <a:t>Communication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Through Inter-Process Communication (IPC)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Direct access to shared data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r>
                        <a:rPr sz="1600"/>
                        <a:t>Creation Time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Slower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Faster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r>
                        <a:rPr sz="1600"/>
                        <a:t>Crash Impact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One process crash does not affect others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One thread crash can affect the process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31140" y="3296285"/>
            <a:ext cx="11793855" cy="345059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b="1"/>
              <a:t>3. Concurrent Programming and GIL</a:t>
            </a:r>
            <a:endParaRPr b="1"/>
          </a:p>
          <a:p>
            <a:pPr>
              <a:spcAft>
                <a:spcPct val="60000"/>
              </a:spcAft>
            </a:pPr>
            <a:r>
              <a:t>GIL (Global Interpreter Lock): Python's mechanism to allow only one thread to execute Python bytecode at a time.</a:t>
            </a:r>
          </a:p>
          <a:p>
            <a:pPr>
              <a:buFont typeface="Arial" panose="020B0604020202020204"/>
              <a:buChar char="•"/>
            </a:pPr>
            <a:r>
              <a:t>Limits true parallelism in CPU-bound tasks.</a:t>
            </a:r>
          </a:p>
          <a:p>
            <a:pPr>
              <a:buFont typeface="Arial" panose="020B0604020202020204"/>
              <a:buChar char="•"/>
            </a:pPr>
            <a:r>
              <a:t>Threads are useful mostly for I/O-bound tasks (like file or network operations).</a:t>
            </a:r>
          </a:p>
          <a:p>
            <a:pPr>
              <a:spcAft>
                <a:spcPct val="60000"/>
              </a:spcAft>
            </a:pPr>
            <a:r>
              <a:rPr b="1"/>
              <a:t>4. Uses of Threads</a:t>
            </a:r>
            <a:endParaRPr b="1"/>
          </a:p>
          <a:p>
            <a:pPr>
              <a:spcAft>
                <a:spcPct val="60000"/>
              </a:spcAft>
            </a:pPr>
            <a:r>
              <a:t>Performing multiple I/O operations simultaneously.</a:t>
            </a:r>
          </a:p>
          <a:p>
            <a:pPr>
              <a:buFont typeface="Arial" panose="020B0604020202020204"/>
              <a:buChar char="•"/>
            </a:pPr>
            <a:r>
              <a:t>Running background tasks.</a:t>
            </a:r>
          </a:p>
          <a:p>
            <a:pPr>
              <a:buFont typeface="Arial" panose="020B0604020202020204"/>
              <a:buChar char="•"/>
            </a:pPr>
            <a:r>
              <a:t>Improving program responsiveness.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955" y="106680"/>
            <a:ext cx="11708765" cy="64198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5. Starting a New Thread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Using the threading module: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import threading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def print_numbers():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for i in range(5):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print(i)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 = threading.Thread(target=print_numbers)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t.start()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t.join()  # Wait for thread to complete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6. The threading Module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Provides a higher-level interface for working with threads.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Key classes/methods: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Thread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Lock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Semaphore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Event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94615"/>
            <a:ext cx="11788775" cy="66509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>
                <a:sym typeface="+mn-ea"/>
              </a:rPr>
              <a:t>7. Thread Synchronization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Threads share data, which can cause conflicts.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Synchronization mechanisms ensure data consistency.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8. Locks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Prevents multiple threads from accessing shared data at the same time.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Only one thread can acquire the lock at a time.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lock = threading.Lock()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lock.acquire()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# critical section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lock.release()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Or using context manager: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with lock: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# critical section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48590"/>
            <a:ext cx="11762740" cy="670941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>
                <a:sym typeface="+mn-ea"/>
              </a:rPr>
              <a:t>9. Semaphore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Allows a fixed number of threads to access a resource simultaneously.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sem = threading.Semaphore(2)  # max 2 threads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sem.acquire()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# access resource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sem.release()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10. Deadlock of Threads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Deadlock occurs when two or more threads are waiting indefinitely for locks held by each other.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11. Avoiding Deadlocks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Acquire locks in a consistent order.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Use timeout with locks.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Minimize locked code sections.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endParaRPr lang="en-US" sz="1800"/>
          </a:p>
        </p:txBody>
      </p:sp>
      <p:sp>
        <p:nvSpPr>
          <p:cNvPr id="2" name="Text Box 1"/>
          <p:cNvSpPr txBox="1"/>
          <p:nvPr/>
        </p:nvSpPr>
        <p:spPr>
          <a:xfrm>
            <a:off x="5183505" y="3576955"/>
            <a:ext cx="6096000" cy="2974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12. Daemon Threads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Daemon threads run in the background and do not block program exit.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If only daemon threads are left, the program exits.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 = threading.Thread(target=some_function)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t.daemon = True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t.start()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1*144"/>
  <p:tag name="TABLE_ENDDRAG_RECT" val="24*383*921*144"/>
</p:tagLst>
</file>

<file path=ppt/tags/tag2.xml><?xml version="1.0" encoding="utf-8"?>
<p:tagLst xmlns:p="http://schemas.openxmlformats.org/presentationml/2006/main">
  <p:tag name="TABLE_ENDDRAG_ORIGIN_RECT" val="927*117"/>
  <p:tag name="TABLE_ENDDRAG_RECT" val="21*243*927*117"/>
</p:tagLst>
</file>

<file path=ppt/tags/tag3.xml><?xml version="1.0" encoding="utf-8"?>
<p:tagLst xmlns:p="http://schemas.openxmlformats.org/presentationml/2006/main">
  <p:tag name="TABLE_ENDDRAG_ORIGIN_RECT" val="926*191"/>
  <p:tag name="TABLE_ENDDRAG_RECT" val="14*328*926*191"/>
</p:tagLst>
</file>

<file path=ppt/tags/tag4.xml><?xml version="1.0" encoding="utf-8"?>
<p:tagLst xmlns:p="http://schemas.openxmlformats.org/presentationml/2006/main">
  <p:tag name="TABLE_ENDDRAG_ORIGIN_RECT" val="942*286"/>
  <p:tag name="TABLE_ENDDRAG_RECT" val="8*99*942*286"/>
</p:tagLst>
</file>

<file path=ppt/tags/tag5.xml><?xml version="1.0" encoding="utf-8"?>
<p:tagLst xmlns:p="http://schemas.openxmlformats.org/presentationml/2006/main">
  <p:tag name="TABLE_ENDDRAG_ORIGIN_RECT" val="931*165"/>
  <p:tag name="TABLE_ENDDRAG_RECT" val="11*227*931*165"/>
</p:tagLst>
</file>

<file path=ppt/tags/tag6.xml><?xml version="1.0" encoding="utf-8"?>
<p:tagLst xmlns:p="http://schemas.openxmlformats.org/presentationml/2006/main">
  <p:tag name="TABLE_ENDDRAG_ORIGIN_RECT" val="959*99"/>
  <p:tag name="TABLE_ENDDRAG_RECT" val="0*409*959*99"/>
</p:tagLst>
</file>

<file path=ppt/tags/tag7.xml><?xml version="1.0" encoding="utf-8"?>
<p:tagLst xmlns:p="http://schemas.openxmlformats.org/presentationml/2006/main">
  <p:tag name="TABLE_ENDDRAG_ORIGIN_RECT" val="930*143"/>
  <p:tag name="TABLE_ENDDRAG_RECT" val="19*390*930*143"/>
</p:tagLst>
</file>

<file path=ppt/tags/tag8.xml><?xml version="1.0" encoding="utf-8"?>
<p:tagLst xmlns:p="http://schemas.openxmlformats.org/presentationml/2006/main">
  <p:tag name="TABLE_ENDDRAG_ORIGIN_RECT" val="601*228"/>
  <p:tag name="TABLE_ENDDRAG_RECT" val="33*270*601*228"/>
</p:tagLst>
</file>

<file path=ppt/tags/tag9.xml><?xml version="1.0" encoding="utf-8"?>
<p:tagLst xmlns:p="http://schemas.openxmlformats.org/presentationml/2006/main">
  <p:tag name="TABLE_ENDDRAG_ORIGIN_RECT" val="941*120"/>
  <p:tag name="TABLE_ENDDRAG_RECT" val="10*138*941*1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18343</Words>
  <Application>WPS Presentation</Application>
  <PresentationFormat>Widescreen</PresentationFormat>
  <Paragraphs>727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Cambria</vt:lpstr>
      <vt:lpstr>Office Theme</vt:lpstr>
      <vt:lpstr>PowerPoint 演示文稿</vt:lpstr>
      <vt:lpstr> Interfaces in python</vt:lpstr>
      <vt:lpstr>why use Interface</vt:lpstr>
      <vt:lpstr>Example of Interface</vt:lpstr>
      <vt:lpstr>Polymorphism in python</vt:lpstr>
      <vt:lpstr>PowerPoint 演示文稿</vt:lpstr>
      <vt:lpstr>Python File Handling</vt:lpstr>
      <vt:lpstr>PowerPoint 演示文稿</vt:lpstr>
      <vt:lpstr>PowerPoint 演示文稿</vt:lpstr>
      <vt:lpstr>PowerPoint 演示文稿</vt:lpstr>
      <vt:lpstr>Python Exception Handling</vt:lpstr>
      <vt:lpstr>Why Use Exception Handling In python</vt:lpstr>
      <vt:lpstr>PowerPoint 演示文稿</vt:lpstr>
      <vt:lpstr>PowerPoint 演示文稿</vt:lpstr>
      <vt:lpstr>PowerPoint 演示文稿</vt:lpstr>
      <vt:lpstr>Advanced Python</vt:lpstr>
      <vt:lpstr>Python (Adv Database Interaction</vt:lpstr>
      <vt:lpstr>PowerPoint 演示文稿</vt:lpstr>
      <vt:lpstr>Python Database Connection</vt:lpstr>
      <vt:lpstr>PowerPoint 演示文稿</vt:lpstr>
      <vt:lpstr>Python (Adv Database Interaction</vt:lpstr>
      <vt:lpstr>Python (Adv Database Interaction</vt:lpstr>
      <vt:lpstr>Python (Adv Database Interaction</vt:lpstr>
      <vt:lpstr>Multithreading in Python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116</cp:revision>
  <dcterms:created xsi:type="dcterms:W3CDTF">2025-07-23T00:59:00Z</dcterms:created>
  <dcterms:modified xsi:type="dcterms:W3CDTF">2025-12-05T18:58:10Z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DE7A9F2F89D248D6A29C5E1EBBD712C0_11</vt:lpwstr>
  </property>
  <property fmtid="{D5CDD505-2E9C-101B-9397-08002B2CF9AE}" pid="3" name="KSOProductBuildVer">
    <vt:lpwstr>1033-12.2.0.23155</vt:lpwstr>
  </property>
</Properties>
</file>