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1790" y="97155"/>
            <a:ext cx="9144000" cy="336550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</a:rPr>
              <a:t>React Introduction</a:t>
            </a:r>
            <a:endParaRPr lang="en-US" sz="2800" b="1" dirty="0">
              <a:solidFill>
                <a:srgbClr val="FF0000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433705"/>
            <a:ext cx="12073890" cy="6424295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React is a JavaScript library developed by Meta (Facebook) for building user interfaces, especially single-page applications (SPAs). It enables developers to create fast, interactive UIs using a component-based architecture, with efficient state management and virtual DOM updates.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React was invented by </a:t>
            </a:r>
            <a:r>
              <a:rPr lang="en-US" altLang="en-US" sz="1800" b="1">
                <a:latin typeface="Cambria" panose="02040503050406030204" charset="0"/>
                <a:cs typeface="Cambria" panose="02040503050406030204" charset="0"/>
              </a:rPr>
              <a:t>Jordan Walke</a:t>
            </a: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, a software engineer at Facebook (now Meta), in 2011. He created it to help improve the performance and maintainability of Facebook’s user interface, especially the news feed.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algn="l"/>
            <a:r>
              <a:rPr lang="en-US" altLang="en-US" sz="1800" b="1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</a:rPr>
              <a:t>About React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285750" indent="-285750" algn="l">
              <a:buFont typeface="Wingdings" panose="05000000000000000000" charset="0"/>
              <a:buChar char="ü"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React is a JavaScript library for building user interfaces, especially single-page applications (SPAs).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285750" indent="-285750" algn="l">
              <a:buFont typeface="Wingdings" panose="05000000000000000000" charset="0"/>
              <a:buChar char="ü"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It uses a component-based architecture, making code more modular and reusable.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285750" indent="-285750" algn="l">
              <a:buFont typeface="Wingdings" panose="05000000000000000000" charset="0"/>
              <a:buChar char="ü"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React updates the UI efficiently using a virtual DOM.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285750" indent="-285750" algn="l">
              <a:buFont typeface="Wingdings" panose="05000000000000000000" charset="0"/>
              <a:buChar char="ü"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It uses JSX, a syntax that lets you write HTML inside JavaScript.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285750" indent="-285750" algn="l">
              <a:buFont typeface="Wingdings" panose="05000000000000000000" charset="0"/>
              <a:buChar char="ü"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React Hooks allow functional components to manage state and side effects.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285750" indent="-285750" algn="l">
              <a:buFont typeface="Wingdings" panose="05000000000000000000" charset="0"/>
              <a:buChar char="ü"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React has a unidirectional data flow, making apps more predictable and easier to debug.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285750" indent="-285750" algn="l">
              <a:buFont typeface="Wingdings" panose="05000000000000000000" charset="0"/>
              <a:buChar char="ü"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It’s maintained by Meta (Facebook) and has a large open-source community.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285750" indent="-285750" algn="l">
              <a:buFont typeface="Wingdings" panose="05000000000000000000" charset="0"/>
              <a:buChar char="ü"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You can build web, mobile (React Native), and desktop apps with React.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285750" indent="-285750" algn="l">
              <a:buFont typeface="Wingdings" panose="05000000000000000000" charset="0"/>
              <a:buChar char="ü"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React is not a full framework—you need additional libraries like React Router, Redux, etc., for routing and state.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285750" indent="-285750" algn="l">
              <a:buFont typeface="Wingdings" panose="05000000000000000000" charset="0"/>
              <a:buChar char="ü"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It is fast, flexible, and widely adopted by companies like Netflix, Airbnb, and Facebook.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040" y="101600"/>
            <a:ext cx="10515600" cy="378460"/>
          </a:xfrm>
        </p:spPr>
        <p:txBody>
          <a:bodyPr>
            <a:noAutofit/>
          </a:bodyPr>
          <a:p>
            <a:r>
              <a:rPr lang="en-US" sz="2800" b="1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</a:rPr>
              <a:t>Why React</a:t>
            </a:r>
            <a:endParaRPr lang="en-US" sz="2800" b="1">
              <a:solidFill>
                <a:srgbClr val="FF0000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80060"/>
            <a:ext cx="12192635" cy="6279515"/>
          </a:xfrm>
        </p:spPr>
        <p:txBody>
          <a:bodyPr>
            <a:noAutofit/>
          </a:bodyPr>
          <a:p>
            <a:pPr>
              <a:lnSpc>
                <a:spcPct val="100000"/>
              </a:lnSpc>
            </a:pPr>
            <a:r>
              <a:rPr lang="en-US" altLang="en-US" sz="1800" b="1">
                <a:latin typeface="Cambria" panose="02040503050406030204" charset="0"/>
                <a:cs typeface="Cambria" panose="02040503050406030204" charset="0"/>
              </a:rPr>
              <a:t>Component-Based Architecture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– Helps you build reusable, maintainable UI elements.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1800" b="1">
                <a:latin typeface="Cambria" panose="02040503050406030204" charset="0"/>
                <a:cs typeface="Cambria" panose="02040503050406030204" charset="0"/>
              </a:rPr>
              <a:t>Virtual DOM for High Performance</a:t>
            </a:r>
            <a:endParaRPr lang="en-US" altLang="en-US" sz="1800" b="1">
              <a:latin typeface="Cambria" panose="02040503050406030204" charset="0"/>
              <a:cs typeface="Cambria" panose="020405030504060302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– Updates only what’s needed, making the app fast and responsive.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1800" b="1">
                <a:latin typeface="Cambria" panose="02040503050406030204" charset="0"/>
                <a:cs typeface="Cambria" panose="02040503050406030204" charset="0"/>
              </a:rPr>
              <a:t>Declarative Syntax with JSX</a:t>
            </a:r>
            <a:endParaRPr lang="en-US" altLang="en-US" sz="1800" b="1">
              <a:latin typeface="Cambria" panose="02040503050406030204" charset="0"/>
              <a:cs typeface="Cambria" panose="020405030504060302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– Makes UI code easier to read and understand.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1800" b="1">
                <a:latin typeface="Cambria" panose="02040503050406030204" charset="0"/>
                <a:cs typeface="Cambria" panose="02040503050406030204" charset="0"/>
              </a:rPr>
              <a:t>React Hooks</a:t>
            </a:r>
            <a:endParaRPr lang="en-US" altLang="en-US" sz="1800" b="1">
              <a:latin typeface="Cambria" panose="02040503050406030204" charset="0"/>
              <a:cs typeface="Cambria" panose="020405030504060302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– Simplifies state and side-effect management in functional components.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1800" b="1">
                <a:latin typeface="Cambria" panose="02040503050406030204" charset="0"/>
                <a:cs typeface="Cambria" panose="02040503050406030204" charset="0"/>
              </a:rPr>
              <a:t>Strong Community &amp; Ecosystem</a:t>
            </a:r>
            <a:endParaRPr lang="en-US" altLang="en-US" sz="1800" b="1">
              <a:latin typeface="Cambria" panose="02040503050406030204" charset="0"/>
              <a:cs typeface="Cambria" panose="020405030504060302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– Huge support, libraries, and tools available for faster development.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1800" b="1">
                <a:latin typeface="Cambria" panose="02040503050406030204" charset="0"/>
                <a:cs typeface="Cambria" panose="02040503050406030204" charset="0"/>
              </a:rPr>
              <a:t>Cross-Platform Development with React Native</a:t>
            </a:r>
            <a:endParaRPr lang="en-US" altLang="en-US" sz="1800" b="1">
              <a:latin typeface="Cambria" panose="02040503050406030204" charset="0"/>
              <a:cs typeface="Cambria" panose="02040503050406030204" charset="0"/>
            </a:endParaRPr>
          </a:p>
          <a:p>
            <a:pPr>
              <a:lnSpc>
                <a:spcPct val="100000"/>
              </a:lnSpc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– Build both web and mobile apps using the same React knowledge.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>
              <a:lnSpc>
                <a:spcPct val="100000"/>
              </a:lnSpc>
            </a:pP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>
              <a:lnSpc>
                <a:spcPct val="100000"/>
              </a:lnSpc>
            </a:pP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490" y="101600"/>
            <a:ext cx="10515600" cy="549910"/>
          </a:xfrm>
        </p:spPr>
        <p:txBody>
          <a:bodyPr/>
          <a:p>
            <a:r>
              <a:rPr lang="en-US" sz="2400" b="1">
                <a:solidFill>
                  <a:srgbClr val="FF0000"/>
                </a:solidFill>
              </a:rPr>
              <a:t>Application OF React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825" y="651510"/>
            <a:ext cx="11918950" cy="6066155"/>
          </a:xfrm>
        </p:spPr>
        <p:txBody>
          <a:bodyPr>
            <a:noAutofit/>
          </a:bodyPr>
          <a:p>
            <a:pPr marL="457200" indent="-457200">
              <a:buFont typeface="+mj-lt"/>
              <a:buAutoNum type="arabicPeriod"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Single Page Applications (SPAs) – Dynamic websites that update without reloading the page.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Dashboards and Admin Panels – Used in analytics, management tools, and internal systems.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E-commerce Websites – For building fast, interactive shopping experiences.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Social Media Platforms – Interfaces for feeds, posts, likes, and comments.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Real-Time Chat Applications – Messaging apps with live updates.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Portfolio Websites – Developer and designer personal websites.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Video Streaming Apps – Interfaces like Netflix with dynamic video loading.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Mobile Apps (React Native) – Cross-platform iOS and Android apps.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Content Management System UIs – User-friendly content editing tools.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Progressive Web Apps (PWAs) – Web apps that work offline and can be installed like native apps.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650" y="130810"/>
            <a:ext cx="10515600" cy="418465"/>
          </a:xfrm>
        </p:spPr>
        <p:txBody>
          <a:bodyPr>
            <a:noAutofit/>
          </a:bodyPr>
          <a:p>
            <a:r>
              <a:rPr lang="en-US" sz="2000" b="1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</a:rPr>
              <a:t>Features and Advantages of React</a:t>
            </a:r>
            <a:endParaRPr lang="en-US" sz="2000" b="1">
              <a:solidFill>
                <a:srgbClr val="FF0000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graphicFrame>
        <p:nvGraphicFramePr>
          <p:cNvPr id="5" name="Content Placeholder 4"/>
          <p:cNvGraphicFramePr/>
          <p:nvPr>
            <p:ph idx="1"/>
            <p:custDataLst>
              <p:tags r:id="rId1"/>
            </p:custDataLst>
          </p:nvPr>
        </p:nvGraphicFramePr>
        <p:xfrm>
          <a:off x="120650" y="549275"/>
          <a:ext cx="11555095" cy="2797810"/>
        </p:xfrm>
        <a:graphic>
          <a:graphicData uri="http://schemas.openxmlformats.org/drawingml/2006/table">
            <a:tbl>
              <a:tblPr/>
              <a:tblGrid>
                <a:gridCol w="3877310"/>
                <a:gridCol w="7677785"/>
              </a:tblGrid>
              <a:tr h="365760">
                <a:tc>
                  <a:txBody>
                    <a:bodyPr/>
                    <a:p>
                      <a:pPr algn="ctr"/>
                      <a:r>
                        <a:rPr sz="1800" b="1"/>
                        <a:t>Feature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/>
                        <a:t>Benefit</a:t>
                      </a:r>
                      <a:endParaRPr sz="1800" b="1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4800">
                <a:tc>
                  <a:txBody>
                    <a:bodyPr/>
                    <a:p>
                      <a:pPr algn="l"/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Fast performance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Thanks to virtual DOM and smart re-rendering.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4800">
                <a:tc>
                  <a:txBody>
                    <a:bodyPr/>
                    <a:p>
                      <a:pPr algn="l"/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Reusable components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Write once, reuse anywhere; promotes clean code.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4800">
                <a:tc>
                  <a:txBody>
                    <a:bodyPr/>
                    <a:p>
                      <a:pPr algn="l"/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Developer Experience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Easy debugging, JSX, hooks, and excellent dev tools.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4800">
                <a:tc>
                  <a:txBody>
                    <a:bodyPr/>
                    <a:p>
                      <a:pPr algn="l"/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Unidirectional data flow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Makes apps predictable and easy to debug.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3250">
                <a:tc>
                  <a:txBody>
                    <a:bodyPr/>
                    <a:p>
                      <a:pPr algn="l"/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Flexibility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Works well with other frameworks, libraries, or legacy codebases.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4800">
                <a:tc>
                  <a:txBody>
                    <a:bodyPr/>
                    <a:p>
                      <a:pPr algn="l"/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Strong community support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Tons of tutorials, libraries, and jobs.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4800">
                <a:tc>
                  <a:txBody>
                    <a:bodyPr/>
                    <a:p>
                      <a:pPr algn="l"/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Simple logic with hooks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1800">
                          <a:latin typeface="Cambria" panose="02040503050406030204" charset="0"/>
                          <a:cs typeface="Cambria" panose="02040503050406030204" charset="0"/>
                        </a:rPr>
                        <a:t>Functional components and hooks simplify lifecycle &amp; state logic.</a:t>
                      </a:r>
                      <a:endParaRPr sz="1800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/>
          <p:nvPr>
            <p:custDataLst>
              <p:tags r:id="rId2"/>
            </p:custDataLst>
          </p:nvPr>
        </p:nvGraphicFramePr>
        <p:xfrm>
          <a:off x="120015" y="3724275"/>
          <a:ext cx="11687810" cy="3011170"/>
        </p:xfrm>
        <a:graphic>
          <a:graphicData uri="http://schemas.openxmlformats.org/drawingml/2006/table">
            <a:tbl>
              <a:tblPr/>
              <a:tblGrid>
                <a:gridCol w="4015105"/>
                <a:gridCol w="7672705"/>
              </a:tblGrid>
              <a:tr h="481965">
                <a:tc>
                  <a:txBody>
                    <a:bodyPr/>
                    <a:p>
                      <a:pPr algn="ctr"/>
                      <a:r>
                        <a:rPr sz="1800" b="1">
                          <a:latin typeface="Cambria" panose="02040503050406030204" charset="0"/>
                          <a:cs typeface="Cambria" panose="02040503050406030204" charset="0"/>
                        </a:rPr>
                        <a:t>Issue</a:t>
                      </a:r>
                      <a:endParaRPr sz="1800" b="1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>
                          <a:latin typeface="Cambria" panose="02040503050406030204" charset="0"/>
                          <a:cs typeface="Cambria" panose="02040503050406030204" charset="0"/>
                        </a:rPr>
                        <a:t>Description</a:t>
                      </a:r>
                      <a:endParaRPr sz="1800" b="1">
                        <a:latin typeface="Cambria" panose="02040503050406030204" charset="0"/>
                        <a:cs typeface="Cambria" panose="02040503050406030204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1315">
                <a:tc>
                  <a:txBody>
                    <a:bodyPr/>
                    <a:p>
                      <a:r>
                        <a:rPr sz="1800"/>
                        <a:t>JSX learning curve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JSX might be unfamiliar for beginners.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21995">
                <a:tc>
                  <a:txBody>
                    <a:bodyPr/>
                    <a:p>
                      <a:r>
                        <a:rPr sz="1800"/>
                        <a:t>Boilerplate for complex apps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For larger apps, setting up state, routing, testing can be complex.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1950">
                <a:tc>
                  <a:txBody>
                    <a:bodyPr/>
                    <a:p>
                      <a:r>
                        <a:rPr sz="1800"/>
                        <a:t>Frequent updates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React ecosystem changes fast—may lead to outdated tutorials.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1315">
                <a:tc>
                  <a:txBody>
                    <a:bodyPr/>
                    <a:p>
                      <a:r>
                        <a:rPr sz="1800"/>
                        <a:t>Not a full framework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Needs additional libraries for routing, state, etc.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1315">
                <a:tc>
                  <a:txBody>
                    <a:bodyPr/>
                    <a:p>
                      <a:r>
                        <a:rPr sz="1800"/>
                        <a:t>SEO out of the box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React is not SEO-friendly by default (needs SSR via Next.js).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1315">
                <a:tc>
                  <a:txBody>
                    <a:bodyPr/>
                    <a:p>
                      <a:r>
                        <a:rPr sz="1800"/>
                        <a:t>State management complexity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sz="1800"/>
                        <a:t>For large apps, managing global state can get tricky.</a:t>
                      </a:r>
                      <a:endParaRPr sz="18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1203940" cy="343535"/>
          </a:xfrm>
        </p:spPr>
        <p:txBody>
          <a:bodyPr>
            <a:normAutofit fontScale="90000"/>
          </a:bodyPr>
          <a:p>
            <a:r>
              <a:rPr lang="en-US" sz="2400" b="1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</a:rPr>
              <a:t>What is  Node.js</a:t>
            </a:r>
            <a:endParaRPr lang="en-US" sz="2400" b="1">
              <a:solidFill>
                <a:srgbClr val="FF0000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43535"/>
            <a:ext cx="12192000" cy="6396990"/>
          </a:xfrm>
        </p:spPr>
        <p:txBody>
          <a:bodyPr/>
          <a:p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Node.js is a powerful, open-source, and cross-platform JavaScript runtime environment built on Chrome's V8 engine. It allows you to run JavaScript code outside the browser, making it ideal for building scalable server-side and networking applications.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JavaScript was mainly used for frontend development earlier. With Node.js (Introduced in 2009), JavaScript became a backend language as well.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Non-blocking, event-driven architecture for high performance.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Supports the creation of REST APIs, real-time applications, and microservices.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Comes with a rich library of modules through npm (Node Package Manager).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015" y="0"/>
            <a:ext cx="10515600" cy="375920"/>
          </a:xfrm>
        </p:spPr>
        <p:txBody>
          <a:bodyPr>
            <a:normAutofit fontScale="90000"/>
          </a:bodyPr>
          <a:p>
            <a:r>
              <a:rPr lang="en-US" sz="2400" b="1">
                <a:solidFill>
                  <a:srgbClr val="FF0000"/>
                </a:solidFill>
                <a:latin typeface="Cambria" panose="02040503050406030204" charset="0"/>
                <a:cs typeface="Cambria" panose="02040503050406030204" charset="0"/>
              </a:rPr>
              <a:t>React Installation And Setup And Create New Project</a:t>
            </a:r>
            <a:endParaRPr lang="en-US" sz="2400" b="1">
              <a:solidFill>
                <a:srgbClr val="FF0000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015" y="375920"/>
            <a:ext cx="11746230" cy="6482080"/>
          </a:xfrm>
        </p:spPr>
        <p:txBody>
          <a:bodyPr>
            <a:noAutofit/>
          </a:bodyPr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How to Install Node.js and npm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1. What are they?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Node.js is a JavaScript runtime to run JS outside the browser.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npm (Node Package Manager) comes bundled with Node.js and lets you install libraries and tools like React.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2. Installation Steps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For Windows and macOS: Go to the official Node.js website: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https://nodejs.org/     Download the LTS (Long-Term Support) version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The LTS version is more stable and recommended for most users.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Run the installer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Follow the setup wizard instructions. 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By default, npm installs with Node.js.   Verify installation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Open your terminal (Command Prompt, PowerShell, or Terminal) and run: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 b="1">
                <a:latin typeface="Cambria" panose="02040503050406030204" charset="0"/>
                <a:cs typeface="Cambria" panose="02040503050406030204" charset="0"/>
              </a:rPr>
              <a:t>node -v          npm -v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highlight>
                  <a:srgbClr val="FFFF00"/>
                </a:highlight>
                <a:latin typeface="Cambria" panose="02040503050406030204" charset="0"/>
                <a:cs typeface="Cambria" panose="02040503050406030204" charset="0"/>
                <a:sym typeface="+mn-ea"/>
              </a:rPr>
              <a:t>npm create vite@latest                                      my-app (Create project with Vite+React)         </a:t>
            </a:r>
            <a:endParaRPr lang="en-US" altLang="en-US" sz="1800">
              <a:highlight>
                <a:srgbClr val="FFFF00"/>
              </a:highlight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cd my-app (new mp-app project foler)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npm install(install npm and project related packages)      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r>
              <a:rPr lang="en-US" altLang="en-US" sz="1800">
                <a:latin typeface="Cambria" panose="02040503050406030204" charset="0"/>
                <a:cs typeface="Cambria" panose="02040503050406030204" charset="0"/>
              </a:rPr>
              <a:t>  npm run dev(for Run The Application)</a:t>
            </a: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buNone/>
            </a:pPr>
            <a:endParaRPr lang="en-US" altLang="en-US" sz="1800">
              <a:latin typeface="Cambria" panose="02040503050406030204" charset="0"/>
              <a:cs typeface="Cambria" panose="020405030504060302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909*220"/>
  <p:tag name="TABLE_ENDDRAG_RECT" val="9*43*909*220"/>
</p:tagLst>
</file>

<file path=ppt/tags/tag2.xml><?xml version="1.0" encoding="utf-8"?>
<p:tagLst xmlns:p="http://schemas.openxmlformats.org/presentationml/2006/main">
  <p:tag name="TABLE_ENDDRAG_ORIGIN_RECT" val="920*237"/>
  <p:tag name="TABLE_ENDDRAG_RECT" val="9*293*920*23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5199</Words>
  <Application>WPS Presentation</Application>
  <PresentationFormat>Widescreen</PresentationFormat>
  <Paragraphs>143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Cambria</vt:lpstr>
      <vt:lpstr>Wingdings</vt:lpstr>
      <vt:lpstr>Office Theme</vt:lpstr>
      <vt:lpstr>React Introduction</vt:lpstr>
      <vt:lpstr>Why React</vt:lpstr>
      <vt:lpstr>Application OF React</vt:lpstr>
      <vt:lpstr>Features and Advantages of React</vt:lpstr>
      <vt:lpstr>What is  Node.js</vt:lpstr>
      <vt:lpstr>React Installation And Setup And Create New Project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UV-user</dc:creator>
  <cp:lastModifiedBy>Nishank Amte</cp:lastModifiedBy>
  <cp:revision>3</cp:revision>
  <dcterms:created xsi:type="dcterms:W3CDTF">2025-07-23T00:59:00Z</dcterms:created>
  <dcterms:modified xsi:type="dcterms:W3CDTF">2025-10-27T13:43:20Z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F743E33C04B64E50863E444D0F27FE25_11</vt:lpwstr>
  </property>
  <property fmtid="{D5CDD505-2E9C-101B-9397-08002B2CF9AE}" pid="3" name="KSOProductBuildVer">
    <vt:lpwstr>1033-12.2.0.23131</vt:lpwstr>
  </property>
</Properties>
</file>