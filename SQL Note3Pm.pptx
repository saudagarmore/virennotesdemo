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showGuides="1">
      <p:cViewPr varScale="1">
        <p:scale>
          <a:sx n="53" d="100"/>
          <a:sy n="53" d="100"/>
        </p:scale>
        <p:origin x="180" y="5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1" Type="http://schemas.openxmlformats.org/officeDocument/2006/relationships/tableStyles" Target="tableStyles.xml"/><Relationship Id="rId30" Type="http://schemas.openxmlformats.org/officeDocument/2006/relationships/viewProps" Target="viewProps.xml"/><Relationship Id="rId3" Type="http://schemas.openxmlformats.org/officeDocument/2006/relationships/slide" Target="slides/slide1.xml"/><Relationship Id="rId29" Type="http://schemas.openxmlformats.org/officeDocument/2006/relationships/presProps" Target="presProps.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3.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6.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0"/>
            <a:ext cx="10515600" cy="366395"/>
          </a:xfrm>
        </p:spPr>
        <p:txBody>
          <a:bodyPr>
            <a:normAutofit fontScale="90000"/>
          </a:bodyPr>
          <a:p>
            <a:pPr algn="ctr"/>
            <a:r>
              <a:rPr lang="en-US" sz="3200" b="1">
                <a:solidFill>
                  <a:srgbClr val="FF0000"/>
                </a:solidFill>
              </a:rPr>
              <a:t>SQL Syllabus</a:t>
            </a:r>
            <a:endParaRPr lang="en-US" sz="3200" b="1">
              <a:solidFill>
                <a:srgbClr val="FF0000"/>
              </a:solidFill>
            </a:endParaRPr>
          </a:p>
        </p:txBody>
      </p:sp>
      <p:sp>
        <p:nvSpPr>
          <p:cNvPr id="3" name="Content Placeholder 2"/>
          <p:cNvSpPr>
            <a:spLocks noGrp="1"/>
          </p:cNvSpPr>
          <p:nvPr>
            <p:ph idx="1"/>
          </p:nvPr>
        </p:nvSpPr>
        <p:spPr>
          <a:xfrm>
            <a:off x="100330" y="367030"/>
            <a:ext cx="11965305" cy="6302375"/>
          </a:xfrm>
        </p:spPr>
        <p:txBody>
          <a:bodyPr>
            <a:normAutofit/>
          </a:bodyPr>
          <a:p>
            <a:pPr marL="0" indent="0">
              <a:buNone/>
            </a:pPr>
            <a:r>
              <a:rPr lang="en-US" altLang="en-US" sz="1800"/>
              <a:t>SQL(Mysql)</a:t>
            </a:r>
            <a:endParaRPr lang="en-US" altLang="en-US" sz="1800"/>
          </a:p>
          <a:p>
            <a:pPr marL="0" indent="0">
              <a:buNone/>
            </a:pPr>
            <a:r>
              <a:rPr lang="en-US" altLang="en-US" sz="1800"/>
              <a:t>-------------------</a:t>
            </a:r>
            <a:endParaRPr lang="en-US" altLang="en-US" sz="1800"/>
          </a:p>
          <a:p>
            <a:pPr marL="0" indent="0">
              <a:buNone/>
            </a:pPr>
            <a:r>
              <a:rPr lang="en-US" altLang="en-US" sz="1800"/>
              <a:t>Introduction.</a:t>
            </a:r>
            <a:endParaRPr lang="en-US" altLang="en-US" sz="1800"/>
          </a:p>
          <a:p>
            <a:pPr marL="0" indent="0">
              <a:buNone/>
            </a:pPr>
            <a:r>
              <a:rPr lang="en-US" altLang="en-US" sz="1800"/>
              <a:t>what is table,database </a:t>
            </a:r>
            <a:endParaRPr lang="en-US" altLang="en-US" sz="1800"/>
          </a:p>
          <a:p>
            <a:pPr marL="0" indent="0">
              <a:buNone/>
            </a:pPr>
            <a:r>
              <a:rPr lang="en-US" altLang="en-US" sz="1800"/>
              <a:t>DDL,DMl,DQL,tql Commands</a:t>
            </a:r>
            <a:endParaRPr lang="en-US" altLang="en-US" sz="1800"/>
          </a:p>
          <a:p>
            <a:pPr marL="0" indent="0">
              <a:buNone/>
            </a:pPr>
            <a:r>
              <a:rPr lang="en-US" altLang="en-US" sz="1800"/>
              <a:t>(create,insert,update,delete,alter,drop,rename,truncate,drop etc Commands</a:t>
            </a:r>
            <a:endParaRPr lang="en-US" altLang="en-US" sz="1800"/>
          </a:p>
          <a:p>
            <a:pPr marL="0" indent="0">
              <a:buNone/>
            </a:pPr>
            <a:r>
              <a:rPr lang="en-US" altLang="en-US" sz="1800"/>
              <a:t>sql operators </a:t>
            </a:r>
            <a:endParaRPr lang="en-US" altLang="en-US" sz="1800"/>
          </a:p>
          <a:p>
            <a:pPr marL="0" indent="0">
              <a:buNone/>
            </a:pPr>
            <a:r>
              <a:rPr lang="en-US" altLang="en-US" sz="1800"/>
              <a:t>sql in not in operators</a:t>
            </a:r>
            <a:endParaRPr lang="en-US" altLang="en-US" sz="1800"/>
          </a:p>
          <a:p>
            <a:pPr marL="0" indent="0">
              <a:buNone/>
            </a:pPr>
            <a:r>
              <a:rPr lang="en-US" altLang="en-US" sz="1800"/>
              <a:t>sql Aggreagate Function</a:t>
            </a:r>
            <a:endParaRPr lang="en-US" altLang="en-US" sz="1800"/>
          </a:p>
          <a:p>
            <a:pPr marL="0" indent="0">
              <a:buNone/>
            </a:pPr>
            <a:r>
              <a:rPr lang="en-US" altLang="en-US" sz="1800"/>
              <a:t>sum,min,max,count,avg</a:t>
            </a:r>
            <a:endParaRPr lang="en-US" altLang="en-US" sz="1800"/>
          </a:p>
          <a:p>
            <a:pPr marL="0" indent="0">
              <a:buNone/>
            </a:pPr>
            <a:r>
              <a:rPr lang="en-US" altLang="en-US" sz="1800"/>
              <a:t>Sql Clauses Groupby And Orderby ,Having Clause ,where clause</a:t>
            </a:r>
            <a:endParaRPr lang="en-US" altLang="en-US" sz="1800"/>
          </a:p>
          <a:p>
            <a:pPr marL="0" indent="0">
              <a:buNone/>
            </a:pPr>
            <a:r>
              <a:rPr lang="en-US" altLang="en-US" sz="1800"/>
              <a:t>sql Like ,limit, opeartors</a:t>
            </a:r>
            <a:endParaRPr lang="en-US" altLang="en-US" sz="1800"/>
          </a:p>
          <a:p>
            <a:pPr marL="0" indent="0">
              <a:buNone/>
            </a:pPr>
            <a:r>
              <a:rPr lang="en-US" altLang="en-US" sz="1800"/>
              <a:t>sql Stored Procedures</a:t>
            </a:r>
            <a:endParaRPr lang="en-US" altLang="en-US" sz="1800"/>
          </a:p>
          <a:p>
            <a:pPr marL="0" indent="0">
              <a:buNone/>
            </a:pPr>
            <a:r>
              <a:rPr lang="en-US" altLang="en-US" sz="1800"/>
              <a:t>calling procedure</a:t>
            </a:r>
            <a:endParaRPr lang="en-US" altLang="en-US" sz="1800"/>
          </a:p>
          <a:p>
            <a:pPr marL="0" indent="0">
              <a:buNone/>
            </a:pPr>
            <a:r>
              <a:rPr lang="en-US" altLang="en-US" sz="1800"/>
              <a:t>and sql commands</a:t>
            </a:r>
            <a:endParaRPr lang="en-US" altLang="en-US" sz="1800"/>
          </a:p>
          <a:p>
            <a:pPr marL="0" indent="0">
              <a:buNone/>
            </a:pPr>
            <a:endParaRPr lang="en-US" altLang="en-US" sz="18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756285" y="146050"/>
            <a:ext cx="10515600" cy="341630"/>
          </a:xfrm>
        </p:spPr>
        <p:txBody>
          <a:bodyPr>
            <a:noAutofit/>
          </a:bodyPr>
          <a:p>
            <a:r>
              <a:rPr lang="en-US" sz="3200">
                <a:solidFill>
                  <a:srgbClr val="FF0000"/>
                </a:solidFill>
              </a:rPr>
              <a:t>What is  Sql</a:t>
            </a:r>
            <a:endParaRPr lang="en-US" sz="3200">
              <a:solidFill>
                <a:srgbClr val="FF0000"/>
              </a:solidFill>
            </a:endParaRPr>
          </a:p>
        </p:txBody>
      </p:sp>
      <p:sp>
        <p:nvSpPr>
          <p:cNvPr id="3" name="Content Placeholder 2"/>
          <p:cNvSpPr>
            <a:spLocks noGrp="1"/>
          </p:cNvSpPr>
          <p:nvPr>
            <p:ph idx="1"/>
          </p:nvPr>
        </p:nvSpPr>
        <p:spPr>
          <a:xfrm>
            <a:off x="180975" y="579755"/>
            <a:ext cx="11734165" cy="6062345"/>
          </a:xfrm>
        </p:spPr>
        <p:txBody>
          <a:bodyPr>
            <a:noAutofit/>
          </a:bodyPr>
          <a:p>
            <a:pPr marL="0" indent="0">
              <a:buNone/>
            </a:pPr>
            <a:r>
              <a:rPr lang="en-US" altLang="en-US" sz="1800">
                <a:sym typeface="+mn-ea"/>
              </a:rPr>
              <a:t>SQL (Structured Query Language) is a programming language used to store, retrieve, manage, and manipulate data in relational databases.</a:t>
            </a:r>
            <a:endParaRPr lang="en-US" altLang="en-US" sz="1800"/>
          </a:p>
          <a:p>
            <a:pPr marL="0" indent="0">
              <a:buNone/>
            </a:pPr>
            <a:r>
              <a:rPr lang="en-US" altLang="en-US" sz="1800"/>
              <a:t>SQL (Structured Query Language) is a standard programming language used to manage and manipulate relational databases. It allows users to create, read, update, and delete data — often referred to as CRUD operations.</a:t>
            </a:r>
            <a:endParaRPr lang="en-US" altLang="en-US" sz="1800"/>
          </a:p>
          <a:p>
            <a:pPr marL="0" indent="0">
              <a:buNone/>
            </a:pPr>
            <a:endParaRPr lang="en-US" altLang="en-US" sz="1800"/>
          </a:p>
          <a:p>
            <a:pPr marL="0" indent="0">
              <a:buNone/>
            </a:pPr>
            <a:r>
              <a:rPr lang="en-US" altLang="en-US" sz="2000" b="1">
                <a:solidFill>
                  <a:srgbClr val="FF0000"/>
                </a:solidFill>
              </a:rPr>
              <a:t> Why SQL is Used For:</a:t>
            </a:r>
            <a:endParaRPr lang="en-US" altLang="en-US" sz="2000" b="1">
              <a:solidFill>
                <a:srgbClr val="FF0000"/>
              </a:solidFill>
            </a:endParaRPr>
          </a:p>
          <a:p>
            <a:pPr marL="0" indent="0">
              <a:buNone/>
            </a:pPr>
            <a:r>
              <a:rPr lang="en-US" altLang="en-US" sz="1800"/>
              <a:t>Querying data</a:t>
            </a:r>
            <a:endParaRPr lang="en-US" altLang="en-US" sz="1800"/>
          </a:p>
          <a:p>
            <a:pPr marL="0" indent="0">
              <a:buNone/>
            </a:pPr>
            <a:r>
              <a:rPr lang="en-US" altLang="en-US" sz="1800"/>
              <a:t>e.g., “Show me all users older than 30”</a:t>
            </a:r>
            <a:endParaRPr lang="en-US" altLang="en-US" sz="1800"/>
          </a:p>
          <a:p>
            <a:pPr marL="0" indent="0">
              <a:buNone/>
            </a:pPr>
            <a:r>
              <a:rPr lang="en-US" altLang="en-US" sz="1800"/>
              <a:t>Inserting new data</a:t>
            </a:r>
            <a:endParaRPr lang="en-US" altLang="en-US" sz="1800"/>
          </a:p>
          <a:p>
            <a:pPr marL="0" indent="0">
              <a:buNone/>
            </a:pPr>
            <a:r>
              <a:rPr lang="en-US" altLang="en-US" sz="1800"/>
              <a:t>e.g., “Add a new customer to the database”</a:t>
            </a:r>
            <a:endParaRPr lang="en-US" altLang="en-US" sz="1800"/>
          </a:p>
          <a:p>
            <a:pPr marL="0" indent="0">
              <a:buNone/>
            </a:pPr>
            <a:r>
              <a:rPr lang="en-US" altLang="en-US" sz="1800"/>
              <a:t>Updating existing data</a:t>
            </a:r>
            <a:endParaRPr lang="en-US" altLang="en-US" sz="1800"/>
          </a:p>
          <a:p>
            <a:pPr marL="0" indent="0">
              <a:buNone/>
            </a:pPr>
            <a:r>
              <a:rPr lang="en-US" altLang="en-US" sz="1800"/>
              <a:t>e.g., “Change this customer’s email address”</a:t>
            </a:r>
            <a:endParaRPr lang="en-US" altLang="en-US" sz="1800"/>
          </a:p>
          <a:p>
            <a:pPr marL="0" indent="0">
              <a:buNone/>
            </a:pPr>
            <a:r>
              <a:rPr lang="en-US" altLang="en-US" sz="1800"/>
              <a:t>Deleting data</a:t>
            </a:r>
            <a:endParaRPr lang="en-US" altLang="en-US" sz="1800"/>
          </a:p>
          <a:p>
            <a:pPr marL="0" indent="0">
              <a:buNone/>
            </a:pPr>
            <a:r>
              <a:rPr lang="en-US" altLang="en-US" sz="1800"/>
              <a:t>e.g., “Remove inactive users”</a:t>
            </a:r>
            <a:endParaRPr lang="en-US" altLang="en-US" sz="1800"/>
          </a:p>
          <a:p>
            <a:pPr marL="0" indent="0">
              <a:buNone/>
            </a:pPr>
            <a:r>
              <a:rPr lang="en-US" altLang="en-US" sz="1800"/>
              <a:t>Creating or modifying tables and databases</a:t>
            </a:r>
            <a:endParaRPr lang="en-US" altLang="en-US" sz="1800"/>
          </a:p>
          <a:p>
            <a:pPr marL="0" indent="0">
              <a:buNone/>
            </a:pPr>
            <a:r>
              <a:rPr lang="en-US" altLang="en-US" sz="1800"/>
              <a:t>e.g., “Create a new table for orders”</a:t>
            </a:r>
            <a:endParaRPr lang="en-US" altLang="en-US" sz="18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0" y="635"/>
            <a:ext cx="11997055" cy="569595"/>
          </a:xfrm>
        </p:spPr>
        <p:txBody>
          <a:bodyPr>
            <a:normAutofit fontScale="90000"/>
          </a:bodyPr>
          <a:p>
            <a:r>
              <a:rPr lang="en-US" sz="3200"/>
              <a:t>History Of Sql</a:t>
            </a:r>
            <a:endParaRPr lang="en-US" sz="3200"/>
          </a:p>
        </p:txBody>
      </p:sp>
      <p:sp>
        <p:nvSpPr>
          <p:cNvPr id="3" name="Content Placeholder 2"/>
          <p:cNvSpPr>
            <a:spLocks noGrp="1"/>
          </p:cNvSpPr>
          <p:nvPr>
            <p:ph idx="1"/>
          </p:nvPr>
        </p:nvSpPr>
        <p:spPr>
          <a:xfrm>
            <a:off x="167640" y="570230"/>
            <a:ext cx="11734165" cy="6130925"/>
          </a:xfrm>
        </p:spPr>
        <p:txBody>
          <a:bodyPr/>
          <a:p>
            <a:r>
              <a:rPr lang="en-US" altLang="en-US" sz="2000"/>
              <a:t>SQL in a Nutshell</a:t>
            </a:r>
            <a:endParaRPr lang="en-US" altLang="en-US" sz="2000"/>
          </a:p>
          <a:p>
            <a:r>
              <a:rPr lang="en-US" altLang="en-US" sz="2000"/>
              <a:t>1970: Edgar F. Codd at IBM proposes the relational database model, which organizes data into tables.</a:t>
            </a:r>
            <a:endParaRPr lang="en-US" altLang="en-US" sz="2000"/>
          </a:p>
          <a:p>
            <a:r>
              <a:rPr lang="en-US" altLang="en-US" sz="2000"/>
              <a:t>1974: Donald D. Chamberlin and Raymond F. Boyce at IBM create SEQUEL (later renamed SQL) to query relational databases.</a:t>
            </a:r>
            <a:endParaRPr lang="en-US" altLang="en-US" sz="2000"/>
          </a:p>
          <a:p>
            <a:r>
              <a:rPr lang="en-US" altLang="en-US" sz="2000"/>
              <a:t>1978: IBM builds a prototype database system called System R, using SQL successfully.</a:t>
            </a:r>
            <a:endParaRPr lang="en-US" altLang="en-US" sz="2000"/>
          </a:p>
          <a:p>
            <a:r>
              <a:rPr lang="en-US" altLang="en-US" sz="2000"/>
              <a:t>1981: IBM releases its first commercial SQL-based product, SQL/DS.</a:t>
            </a:r>
            <a:endParaRPr lang="en-US" altLang="en-US" sz="2000"/>
          </a:p>
          <a:p>
            <a:r>
              <a:rPr lang="en-US" altLang="en-US" sz="2000"/>
              <a:t>1986: SQL becomes an official ANSI standard, adopted worldwide.</a:t>
            </a:r>
            <a:endParaRPr lang="en-US" altLang="en-US" sz="2000"/>
          </a:p>
          <a:p>
            <a:r>
              <a:rPr lang="en-US" altLang="en-US" sz="2000"/>
              <a:t>1990s–Present: SQL becomes the universal language for managing structured data across countless systems — from MySQL and PostgreSQL to cloud databases.</a:t>
            </a:r>
            <a:endParaRPr lang="en-US" altLang="en-US" sz="2000"/>
          </a:p>
          <a:p>
            <a:endParaRPr lang="en-US" altLang="en-US" sz="2000" b="1">
              <a:solidFill>
                <a:srgbClr val="FF0000"/>
              </a:solidFill>
              <a:sym typeface="+mn-ea"/>
            </a:endParaRPr>
          </a:p>
          <a:p>
            <a:r>
              <a:rPr lang="en-US" altLang="en-US" sz="2000" b="1">
                <a:solidFill>
                  <a:srgbClr val="FF0000"/>
                </a:solidFill>
                <a:sym typeface="+mn-ea"/>
              </a:rPr>
              <a:t>Who Developed SQL?</a:t>
            </a:r>
            <a:endParaRPr lang="en-US" altLang="en-US" sz="2000" b="1">
              <a:solidFill>
                <a:srgbClr val="FF0000"/>
              </a:solidFill>
              <a:sym typeface="+mn-ea"/>
            </a:endParaRPr>
          </a:p>
          <a:p>
            <a:r>
              <a:rPr lang="en-US" altLang="en-US" sz="2000">
                <a:sym typeface="+mn-ea"/>
              </a:rPr>
              <a:t>SQL was developed at IBM in the early 1970s by Donald D. Chamberlin and Raymond F. Boyce.</a:t>
            </a:r>
            <a:endParaRPr lang="en-US" altLang="en-US" sz="2000"/>
          </a:p>
          <a:p>
            <a:pPr marL="457200" indent="-457200">
              <a:buAutoNum type="arabicPeriod"/>
            </a:pPr>
            <a:r>
              <a:rPr lang="en-US" altLang="en-US" sz="2000">
                <a:sym typeface="+mn-ea"/>
              </a:rPr>
              <a:t>They created SQL as part of a research project called System R at IBM's San Jose Research Laboratory.</a:t>
            </a:r>
            <a:endParaRPr lang="en-US" altLang="en-US" sz="2000"/>
          </a:p>
          <a:p>
            <a:pPr marL="457200" indent="-457200">
              <a:buAutoNum type="arabicPeriod"/>
            </a:pPr>
            <a:r>
              <a:rPr lang="en-US" altLang="en-US" sz="2000">
                <a:sym typeface="+mn-ea"/>
              </a:rPr>
              <a:t>It was originally called SEQUEL (Structured English Query Language), intended to interact with relational databases using a language that resembled English.</a:t>
            </a:r>
            <a:endParaRPr lang="en-US" altLang="en-US" sz="20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a:xfrm>
            <a:off x="1524000" y="0"/>
            <a:ext cx="9144000" cy="444500"/>
          </a:xfrm>
        </p:spPr>
        <p:txBody>
          <a:bodyPr>
            <a:noAutofit/>
          </a:bodyPr>
          <a:p>
            <a:r>
              <a:rPr lang="en-US" altLang="en-US" sz="2800" b="1">
                <a:solidFill>
                  <a:srgbClr val="FF0000"/>
                </a:solidFill>
                <a:sym typeface="+mn-ea"/>
              </a:rPr>
              <a:t>Where User Sql </a:t>
            </a:r>
            <a:endParaRPr lang="en-US" altLang="en-US" sz="2800">
              <a:sym typeface="+mn-ea"/>
            </a:endParaRPr>
          </a:p>
        </p:txBody>
      </p:sp>
      <p:sp>
        <p:nvSpPr>
          <p:cNvPr id="3" name="Subtitle 2"/>
          <p:cNvSpPr>
            <a:spLocks noGrp="1"/>
          </p:cNvSpPr>
          <p:nvPr>
            <p:ph type="subTitle" idx="1"/>
          </p:nvPr>
        </p:nvSpPr>
        <p:spPr>
          <a:xfrm>
            <a:off x="128270" y="444500"/>
            <a:ext cx="11907520" cy="6223000"/>
          </a:xfrm>
        </p:spPr>
        <p:txBody>
          <a:bodyPr>
            <a:noAutofit/>
          </a:bodyPr>
          <a:p>
            <a:pPr algn="l"/>
            <a:r>
              <a:rPr lang="en-US" altLang="en-US" sz="1800">
                <a:sym typeface="+mn-ea"/>
              </a:rPr>
              <a:t>SQL, or Structured Query Language, is the backbone of database management. It offers various commands and functionalities to handle data in a database. </a:t>
            </a:r>
            <a:endParaRPr lang="en-US" altLang="en-US" sz="1800">
              <a:sym typeface="+mn-ea"/>
            </a:endParaRPr>
          </a:p>
          <a:p>
            <a:pPr algn="l"/>
            <a:endParaRPr lang="zh-CN" altLang="en-US" sz="1800"/>
          </a:p>
          <a:p>
            <a:pPr algn="l"/>
            <a:r>
              <a:rPr lang="zh-CN" altLang="en-US" sz="1800"/>
              <a:t>🔹</a:t>
            </a:r>
            <a:r>
              <a:rPr lang="en-US" altLang="en-US" sz="1800"/>
              <a:t> Databases:</a:t>
            </a:r>
            <a:endParaRPr lang="en-US" altLang="en-US" sz="1800"/>
          </a:p>
          <a:p>
            <a:pPr algn="l"/>
            <a:r>
              <a:rPr lang="en-US" altLang="en-US" sz="1800" b="1"/>
              <a:t>MySQL          </a:t>
            </a:r>
            <a:r>
              <a:rPr lang="en-US" altLang="en-US" sz="1800"/>
              <a:t>PostgreSQL       Oracle Database      SQL Server     SQLite</a:t>
            </a:r>
            <a:endParaRPr lang="en-US" altLang="en-US" sz="1800"/>
          </a:p>
          <a:p>
            <a:pPr algn="l"/>
            <a:endParaRPr lang="zh-CN" altLang="en-US" sz="1800"/>
          </a:p>
          <a:p>
            <a:pPr algn="l"/>
            <a:r>
              <a:rPr lang="zh-CN" altLang="en-US" sz="1800"/>
              <a:t>🔹</a:t>
            </a:r>
            <a:r>
              <a:rPr lang="en-US" altLang="en-US" sz="1800"/>
              <a:t> Web &amp; App Development:</a:t>
            </a:r>
            <a:endParaRPr lang="en-US" altLang="en-US" sz="1800"/>
          </a:p>
          <a:p>
            <a:pPr algn="l"/>
            <a:r>
              <a:rPr lang="en-US" altLang="en-US" sz="1800"/>
              <a:t>Backend servers use SQL to store and retrieve user data.</a:t>
            </a:r>
            <a:endParaRPr lang="en-US" altLang="en-US" sz="1800"/>
          </a:p>
          <a:p>
            <a:pPr algn="l"/>
            <a:r>
              <a:rPr lang="en-US" altLang="en-US" sz="1800"/>
              <a:t>Examples: Instagram, YouTube, online stores, booking sites.</a:t>
            </a:r>
            <a:endParaRPr lang="en-US" altLang="en-US" sz="1800"/>
          </a:p>
          <a:p>
            <a:pPr algn="l"/>
            <a:r>
              <a:rPr lang="zh-CN" altLang="en-US" sz="1800"/>
              <a:t>🔹</a:t>
            </a:r>
            <a:r>
              <a:rPr lang="en-US" altLang="en-US" sz="1800"/>
              <a:t> Data Analysis:</a:t>
            </a:r>
            <a:endParaRPr lang="en-US" altLang="en-US" sz="1800"/>
          </a:p>
          <a:p>
            <a:pPr algn="l"/>
            <a:r>
              <a:rPr lang="en-US" altLang="en-US" sz="1800"/>
              <a:t>Tools like Power BI, Tableau, and Excel use SQL to fetch and analyze data.</a:t>
            </a:r>
            <a:endParaRPr lang="en-US" altLang="en-US" sz="1800"/>
          </a:p>
          <a:p>
            <a:pPr algn="l"/>
            <a:r>
              <a:rPr lang="zh-CN" altLang="en-US" sz="1800"/>
              <a:t>🔹</a:t>
            </a:r>
            <a:r>
              <a:rPr lang="en-US" altLang="en-US" sz="1800"/>
              <a:t> Cloud Platforms:</a:t>
            </a:r>
            <a:endParaRPr lang="en-US" altLang="en-US" sz="1800"/>
          </a:p>
          <a:p>
            <a:pPr algn="l"/>
            <a:r>
              <a:rPr lang="en-US" altLang="en-US" sz="1800"/>
              <a:t>Amazon Redshift, Google BigQuery, Azure SQL Database all support SQL.</a:t>
            </a:r>
            <a:endParaRPr lang="en-US" altLang="en-US" sz="1800"/>
          </a:p>
          <a:p>
            <a:pPr algn="l"/>
            <a:r>
              <a:rPr lang="zh-CN" altLang="en-US" sz="1800"/>
              <a:t>🔹</a:t>
            </a:r>
            <a:r>
              <a:rPr lang="en-US" altLang="en-US" sz="1800"/>
              <a:t> Data Warehousing &amp; ETL:</a:t>
            </a:r>
            <a:endParaRPr lang="en-US" altLang="en-US" sz="1800"/>
          </a:p>
          <a:p>
            <a:pPr algn="l"/>
            <a:r>
              <a:rPr lang="en-US" altLang="en-US" sz="1800"/>
              <a:t>Moving, transforming, and cleaning large datasets using SQL pipelines.</a:t>
            </a:r>
            <a:endParaRPr lang="en-US" altLang="en-US" sz="18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359410" y="91440"/>
            <a:ext cx="10515600" cy="328295"/>
          </a:xfrm>
        </p:spPr>
        <p:txBody>
          <a:bodyPr>
            <a:normAutofit fontScale="90000"/>
          </a:bodyPr>
          <a:p>
            <a:pPr algn="ctr"/>
            <a:r>
              <a:rPr lang="en-US" sz="2800" b="1">
                <a:solidFill>
                  <a:srgbClr val="FF0000"/>
                </a:solidFill>
              </a:rPr>
              <a:t>What is Database</a:t>
            </a:r>
            <a:endParaRPr lang="en-US" sz="2800" b="1">
              <a:solidFill>
                <a:srgbClr val="FF0000"/>
              </a:solidFill>
            </a:endParaRPr>
          </a:p>
        </p:txBody>
      </p:sp>
      <p:sp>
        <p:nvSpPr>
          <p:cNvPr id="3" name="Content Placeholder 2"/>
          <p:cNvSpPr>
            <a:spLocks noGrp="1"/>
          </p:cNvSpPr>
          <p:nvPr>
            <p:ph idx="1"/>
          </p:nvPr>
        </p:nvSpPr>
        <p:spPr>
          <a:xfrm>
            <a:off x="167640" y="419735"/>
            <a:ext cx="11938635" cy="6322695"/>
          </a:xfrm>
        </p:spPr>
        <p:txBody>
          <a:bodyPr>
            <a:noAutofit/>
          </a:bodyPr>
          <a:p>
            <a:pPr marL="0" indent="0">
              <a:buNone/>
            </a:pPr>
            <a:r>
              <a:rPr lang="en-US" altLang="en-US" sz="1800"/>
              <a:t>A database is an organized collection of data that is stored and accessed electronically. Databases are used to store, manage, and retrieve information efficiently.</a:t>
            </a:r>
            <a:endParaRPr lang="en-US" altLang="en-US" sz="1800"/>
          </a:p>
          <a:p>
            <a:pPr marL="0" indent="0">
              <a:buNone/>
            </a:pPr>
            <a:r>
              <a:rPr lang="en-US" altLang="en-US" sz="1800"/>
              <a:t>A database is an organized collection of data stored dynamically.  It allows users to efficiently store, retrieve, and manage information. Databases are managed by software called a Database Management System (DBMS).</a:t>
            </a:r>
            <a:endParaRPr lang="en-US" altLang="en-US" sz="1800"/>
          </a:p>
          <a:p>
            <a:pPr marL="0" indent="0">
              <a:buNone/>
            </a:pPr>
            <a:r>
              <a:rPr lang="en-US" altLang="en-US" sz="1800" b="1"/>
              <a:t>Key Concepts:</a:t>
            </a:r>
            <a:endParaRPr lang="en-US" altLang="en-US" sz="1800" b="1"/>
          </a:p>
          <a:p>
            <a:pPr marL="0" indent="0">
              <a:buNone/>
            </a:pPr>
            <a:r>
              <a:rPr lang="en-US" altLang="en-US" sz="1800"/>
              <a:t>Data: Information stored in a structured format (e.g., text, numbers, dates).</a:t>
            </a:r>
            <a:endParaRPr lang="en-US" altLang="en-US" sz="1800"/>
          </a:p>
          <a:p>
            <a:pPr marL="0" indent="0">
              <a:buNone/>
            </a:pPr>
            <a:r>
              <a:rPr lang="en-US" altLang="en-US" sz="1800"/>
              <a:t>Database Management System (DBMS): Software used to interact with the database (e.g., MySQL, PostgreSQL, Oracle).</a:t>
            </a:r>
            <a:endParaRPr lang="en-US" altLang="en-US" sz="1800"/>
          </a:p>
          <a:p>
            <a:pPr marL="0" indent="0">
              <a:buNone/>
            </a:pPr>
            <a:r>
              <a:rPr lang="en-US" altLang="en-US" sz="1800"/>
              <a:t>Tables: In relational databases, data is stored in tables (like spreadsheets) with rows and columns.</a:t>
            </a:r>
            <a:endParaRPr lang="en-US" altLang="en-US" sz="1800"/>
          </a:p>
          <a:p>
            <a:pPr marL="0" indent="0">
              <a:buNone/>
            </a:pPr>
            <a:r>
              <a:rPr lang="en-US" altLang="en-US" sz="1800"/>
              <a:t>Queries: Commands (usually written in SQL) used to retrieve or manipulate data.</a:t>
            </a:r>
            <a:endParaRPr lang="en-US" altLang="en-US" sz="1800"/>
          </a:p>
          <a:p>
            <a:pPr marL="0" indent="0">
              <a:buNone/>
            </a:pPr>
            <a:r>
              <a:rPr lang="en-US" altLang="en-US" sz="1800" b="1"/>
              <a:t>Types of Databases:</a:t>
            </a:r>
            <a:endParaRPr lang="en-US" altLang="en-US" sz="1800" b="1"/>
          </a:p>
          <a:p>
            <a:pPr marL="0" indent="0">
              <a:buNone/>
            </a:pPr>
            <a:r>
              <a:rPr lang="en-US" altLang="en-US" sz="1800" b="1"/>
              <a:t>Relational Databases (RDBMS):</a:t>
            </a:r>
            <a:endParaRPr lang="en-US" altLang="en-US" sz="1800" b="1"/>
          </a:p>
          <a:p>
            <a:pPr marL="0" indent="0">
              <a:buNone/>
            </a:pPr>
            <a:r>
              <a:rPr lang="en-US" altLang="en-US" sz="1800"/>
              <a:t>Data is stored in tables.</a:t>
            </a:r>
            <a:endParaRPr lang="en-US" altLang="en-US" sz="1800"/>
          </a:p>
          <a:p>
            <a:pPr marL="0" indent="0">
              <a:buNone/>
            </a:pPr>
            <a:r>
              <a:rPr lang="en-US" altLang="en-US" sz="1800"/>
              <a:t>Uses SQL (Structured Query Language).</a:t>
            </a:r>
            <a:endParaRPr lang="en-US" altLang="en-US" sz="1800"/>
          </a:p>
          <a:p>
            <a:pPr marL="0" indent="0">
              <a:buNone/>
            </a:pPr>
            <a:r>
              <a:rPr lang="en-US" altLang="en-US" sz="1800"/>
              <a:t>Examples: MySQL, PostgreSQL, Oracle, Microsoft SQL Server.</a:t>
            </a:r>
            <a:endParaRPr lang="en-US" altLang="en-US" sz="1800"/>
          </a:p>
          <a:p>
            <a:pPr marL="0" indent="0">
              <a:buNone/>
            </a:pPr>
            <a:r>
              <a:rPr lang="en-US" altLang="en-US" sz="1800" b="1"/>
              <a:t>NoSQL Databases:</a:t>
            </a:r>
            <a:endParaRPr lang="en-US" altLang="en-US" sz="1800" b="1"/>
          </a:p>
          <a:p>
            <a:pPr marL="0" indent="0">
              <a:buNone/>
            </a:pPr>
            <a:r>
              <a:rPr lang="en-US" altLang="en-US" sz="1800"/>
              <a:t>Used for unstructured or semi-structured data.</a:t>
            </a:r>
            <a:endParaRPr lang="en-US" altLang="en-US" sz="1800"/>
          </a:p>
          <a:p>
            <a:pPr marL="0" indent="0">
              <a:buNone/>
            </a:pPr>
            <a:r>
              <a:rPr lang="en-US" altLang="en-US" sz="1800"/>
              <a:t>Types: document-based (MongoDB), key-value (Redis), graph (Neo4j), column-family (Cassandra).</a:t>
            </a:r>
            <a:endParaRPr lang="en-US" altLang="en-US" sz="1800"/>
          </a:p>
          <a:p>
            <a:pPr marL="0" indent="0">
              <a:buNone/>
            </a:pPr>
            <a:r>
              <a:rPr lang="en-US" altLang="en-US" sz="1800"/>
              <a:t>More flexible with schema design.</a:t>
            </a:r>
            <a:endParaRPr lang="en-US" altLang="en-US" sz="1800"/>
          </a:p>
          <a:p>
            <a:pPr marL="0" indent="0">
              <a:buNone/>
            </a:pPr>
            <a:endParaRPr lang="en-US" altLang="en-US" sz="18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177800" y="238125"/>
            <a:ext cx="11859260" cy="6295390"/>
          </a:xfrm>
        </p:spPr>
        <p:txBody>
          <a:bodyPr/>
          <a:p>
            <a:pPr marL="0" indent="0">
              <a:buNone/>
            </a:pPr>
            <a:r>
              <a:rPr lang="en-US" altLang="en-US" sz="1800" b="1">
                <a:sym typeface="+mn-ea"/>
              </a:rPr>
              <a:t>In-memory Databases:</a:t>
            </a:r>
            <a:endParaRPr lang="en-US" altLang="en-US" sz="1800" b="1"/>
          </a:p>
          <a:p>
            <a:pPr marL="0" indent="0">
              <a:buNone/>
            </a:pPr>
            <a:r>
              <a:rPr lang="en-US" altLang="en-US" sz="1800">
                <a:sym typeface="+mn-ea"/>
              </a:rPr>
              <a:t>Data is stored in RAM for fast access.</a:t>
            </a:r>
            <a:endParaRPr lang="en-US" altLang="en-US" sz="1800"/>
          </a:p>
          <a:p>
            <a:pPr marL="0" indent="0">
              <a:buNone/>
            </a:pPr>
            <a:r>
              <a:rPr lang="en-US" altLang="en-US" sz="1800">
                <a:sym typeface="+mn-ea"/>
              </a:rPr>
              <a:t>Example: Redis.</a:t>
            </a:r>
            <a:endParaRPr lang="en-US" altLang="en-US" sz="1800"/>
          </a:p>
          <a:p>
            <a:pPr marL="0" indent="0">
              <a:buNone/>
            </a:pPr>
            <a:r>
              <a:rPr lang="en-US" altLang="en-US" sz="1800" b="1">
                <a:sym typeface="+mn-ea"/>
              </a:rPr>
              <a:t>Cloud Databases:</a:t>
            </a:r>
            <a:endParaRPr lang="en-US" altLang="en-US" sz="1800" b="1"/>
          </a:p>
          <a:p>
            <a:pPr marL="0" indent="0">
              <a:buNone/>
            </a:pPr>
            <a:r>
              <a:rPr lang="en-US" altLang="en-US" sz="1800">
                <a:sym typeface="+mn-ea"/>
              </a:rPr>
              <a:t>Hosted on cloud platforms (e.g., AWS, Google Cloud, Azure).</a:t>
            </a:r>
            <a:endParaRPr lang="en-US" altLang="en-US" sz="1800"/>
          </a:p>
          <a:p>
            <a:pPr marL="0" indent="0">
              <a:buNone/>
            </a:pPr>
            <a:r>
              <a:rPr lang="en-US" altLang="en-US" sz="1800">
                <a:sym typeface="+mn-ea"/>
              </a:rPr>
              <a:t>Examples: Amazon RDS, Firebase, Google BigQuery.</a:t>
            </a:r>
            <a:endParaRPr lang="en-US" altLang="en-US" sz="1800"/>
          </a:p>
          <a:p>
            <a:endParaRPr lang="en-US" altLang="en-US" sz="18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132080"/>
            <a:ext cx="10515600" cy="368300"/>
          </a:xfrm>
        </p:spPr>
        <p:txBody>
          <a:bodyPr>
            <a:normAutofit fontScale="90000"/>
          </a:bodyPr>
          <a:p>
            <a:pPr algn="ctr"/>
            <a:r>
              <a:rPr lang="en-US" sz="2800" b="1">
                <a:solidFill>
                  <a:srgbClr val="FF0000"/>
                </a:solidFill>
              </a:rPr>
              <a:t>Installation of Mysql workbench in windows 10,11</a:t>
            </a:r>
            <a:endParaRPr lang="en-US" sz="2800" b="1">
              <a:solidFill>
                <a:srgbClr val="FF0000"/>
              </a:solidFill>
            </a:endParaRPr>
          </a:p>
        </p:txBody>
      </p:sp>
      <p:sp>
        <p:nvSpPr>
          <p:cNvPr id="3" name="Content Placeholder 2"/>
          <p:cNvSpPr>
            <a:spLocks noGrp="1"/>
          </p:cNvSpPr>
          <p:nvPr>
            <p:ph idx="1"/>
          </p:nvPr>
        </p:nvSpPr>
        <p:spPr>
          <a:xfrm>
            <a:off x="249555" y="757555"/>
            <a:ext cx="11775440" cy="5748020"/>
          </a:xfrm>
        </p:spPr>
        <p:txBody>
          <a:bodyPr/>
          <a:p>
            <a:r>
              <a:rPr lang="en-US" altLang="en-US"/>
              <a:t>https://dev.mysql.com/downloads/ </a:t>
            </a:r>
            <a:endParaRPr lang="en-US" altLang="en-US"/>
          </a:p>
          <a:p>
            <a:r>
              <a:rPr lang="en-US" altLang="en-US"/>
              <a:t>visit this link for download to mysql workbench in your system.</a:t>
            </a:r>
            <a:endParaRPr lang="en-US" altLang="en-US"/>
          </a:p>
          <a:p>
            <a:pPr marL="0" indent="0">
              <a:buNone/>
            </a:pPr>
            <a:endParaRPr lang="en-US"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635"/>
            <a:ext cx="10515600" cy="400050"/>
          </a:xfrm>
        </p:spPr>
        <p:txBody>
          <a:bodyPr>
            <a:noAutofit/>
          </a:bodyPr>
          <a:p>
            <a:r>
              <a:rPr lang="en-US" sz="2000" b="1">
                <a:solidFill>
                  <a:srgbClr val="FF0000"/>
                </a:solidFill>
              </a:rPr>
              <a:t>Datatypes of Sql for Mysql Workbench</a:t>
            </a:r>
            <a:endParaRPr lang="en-US" sz="2000" b="1">
              <a:solidFill>
                <a:srgbClr val="FF0000"/>
              </a:solidFill>
            </a:endParaRPr>
          </a:p>
        </p:txBody>
      </p:sp>
      <p:graphicFrame>
        <p:nvGraphicFramePr>
          <p:cNvPr id="4" name="Table 3"/>
          <p:cNvGraphicFramePr/>
          <p:nvPr>
            <p:custDataLst>
              <p:tags r:id="rId1"/>
            </p:custDataLst>
          </p:nvPr>
        </p:nvGraphicFramePr>
        <p:xfrm>
          <a:off x="0" y="291465"/>
          <a:ext cx="12192635" cy="6567170"/>
        </p:xfrm>
        <a:graphic>
          <a:graphicData uri="http://schemas.openxmlformats.org/drawingml/2006/table">
            <a:tbl>
              <a:tblPr/>
              <a:tblGrid>
                <a:gridCol w="1708150"/>
                <a:gridCol w="2146935"/>
                <a:gridCol w="8337550"/>
              </a:tblGrid>
              <a:tr h="304800">
                <a:tc>
                  <a:txBody>
                    <a:bodyPr/>
                    <a:p>
                      <a:pPr algn="ctr"/>
                      <a:r>
                        <a:rPr sz="2000" b="1"/>
                        <a:t>Category</a:t>
                      </a:r>
                      <a:endParaRPr sz="2000" b="1"/>
                    </a:p>
                  </a:txBody>
                  <a:tcPr marL="0" marR="0" marT="0" marB="0" anchor="ctr" anchorCtr="0">
                    <a:lnL>
                      <a:noFill/>
                    </a:lnL>
                    <a:lnR>
                      <a:noFill/>
                    </a:lnR>
                    <a:lnT>
                      <a:noFill/>
                    </a:lnT>
                    <a:lnB>
                      <a:noFill/>
                    </a:lnB>
                    <a:solidFill>
                      <a:schemeClr val="accent1">
                        <a:lumMod val="40000"/>
                        <a:lumOff val="60000"/>
                      </a:schemeClr>
                    </a:solidFill>
                  </a:tcPr>
                </a:tc>
                <a:tc>
                  <a:txBody>
                    <a:bodyPr/>
                    <a:p>
                      <a:pPr algn="ctr"/>
                      <a:r>
                        <a:rPr sz="2000" b="1"/>
                        <a:t>Data Type</a:t>
                      </a:r>
                      <a:endParaRPr sz="2000" b="1"/>
                    </a:p>
                  </a:txBody>
                  <a:tcPr marL="0" marR="0" marT="0" marB="0" anchor="ctr" anchorCtr="0">
                    <a:lnL>
                      <a:noFill/>
                    </a:lnL>
                    <a:lnR>
                      <a:noFill/>
                    </a:lnR>
                    <a:lnT>
                      <a:noFill/>
                    </a:lnT>
                    <a:lnB>
                      <a:noFill/>
                    </a:lnB>
                    <a:solidFill>
                      <a:schemeClr val="accent1">
                        <a:lumMod val="40000"/>
                        <a:lumOff val="60000"/>
                      </a:schemeClr>
                    </a:solidFill>
                  </a:tcPr>
                </a:tc>
                <a:tc>
                  <a:txBody>
                    <a:bodyPr/>
                    <a:p>
                      <a:pPr algn="ctr"/>
                      <a:r>
                        <a:rPr sz="2000" b="1"/>
                        <a:t>Description</a:t>
                      </a:r>
                      <a:endParaRPr sz="2000" b="1"/>
                    </a:p>
                  </a:txBody>
                  <a:tcPr marL="0" marR="0" marT="0" marB="0" anchor="ctr" anchorCtr="0">
                    <a:lnL>
                      <a:noFill/>
                    </a:lnL>
                    <a:lnR>
                      <a:noFill/>
                    </a:lnR>
                    <a:lnT>
                      <a:noFill/>
                    </a:lnT>
                    <a:lnB>
                      <a:noFill/>
                    </a:lnB>
                    <a:solidFill>
                      <a:schemeClr val="accent1">
                        <a:lumMod val="40000"/>
                        <a:lumOff val="60000"/>
                      </a:schemeClr>
                    </a:solidFill>
                  </a:tcPr>
                </a:tc>
              </a:tr>
              <a:tr h="276860">
                <a:tc>
                  <a:txBody>
                    <a:bodyPr/>
                    <a:p>
                      <a:r>
                        <a:rPr sz="1800"/>
                        <a:t>Numeric</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TINYINT</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Very small integer (-128 to 127 or 0 to 255 if UNSIGNED)</a:t>
                      </a:r>
                      <a:r>
                        <a:rPr lang="en-US" sz="1800"/>
                        <a:t> short </a:t>
                      </a:r>
                      <a:endParaRPr lang="en-US" sz="1800"/>
                    </a:p>
                  </a:txBody>
                  <a:tcPr marL="0" marR="0" marT="0" marB="0" anchor="ctr" anchorCtr="0">
                    <a:lnL>
                      <a:noFill/>
                    </a:lnL>
                    <a:lnR>
                      <a:noFill/>
                    </a:lnR>
                    <a:lnT>
                      <a:noFill/>
                    </a:lnT>
                    <a:lnB>
                      <a:noFill/>
                    </a:lnB>
                    <a:solidFill>
                      <a:schemeClr val="accent1">
                        <a:lumMod val="40000"/>
                        <a:lumOff val="60000"/>
                      </a:schemeClr>
                    </a:solidFill>
                  </a:tcPr>
                </a:tc>
              </a:tr>
              <a:tr h="276860">
                <a:tc>
                  <a:txBody>
                    <a:bodyPr/>
                    <a:p>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SMALLINT</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Small integer (-32,768 to 32,767)</a:t>
                      </a:r>
                      <a:endParaRPr sz="1800"/>
                    </a:p>
                  </a:txBody>
                  <a:tcPr marL="0" marR="0" marT="0" marB="0" anchor="ctr" anchorCtr="0">
                    <a:lnL>
                      <a:noFill/>
                    </a:lnL>
                    <a:lnR>
                      <a:noFill/>
                    </a:lnR>
                    <a:lnT>
                      <a:noFill/>
                    </a:lnT>
                    <a:lnB>
                      <a:noFill/>
                    </a:lnB>
                    <a:solidFill>
                      <a:schemeClr val="accent1">
                        <a:lumMod val="40000"/>
                        <a:lumOff val="60000"/>
                      </a:schemeClr>
                    </a:solidFill>
                  </a:tcPr>
                </a:tc>
              </a:tr>
              <a:tr h="276225">
                <a:tc>
                  <a:txBody>
                    <a:bodyPr/>
                    <a:p>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INT / INTEGER</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Standard integer (-2,147,483,648 to 2,147,483,647)</a:t>
                      </a:r>
                      <a:endParaRPr sz="1800"/>
                    </a:p>
                  </a:txBody>
                  <a:tcPr marL="0" marR="0" marT="0" marB="0" anchor="ctr" anchorCtr="0">
                    <a:lnL>
                      <a:noFill/>
                    </a:lnL>
                    <a:lnR>
                      <a:noFill/>
                    </a:lnR>
                    <a:lnT>
                      <a:noFill/>
                    </a:lnT>
                    <a:lnB>
                      <a:noFill/>
                    </a:lnB>
                    <a:solidFill>
                      <a:schemeClr val="accent1">
                        <a:lumMod val="40000"/>
                        <a:lumOff val="60000"/>
                      </a:schemeClr>
                    </a:solidFill>
                  </a:tcPr>
                </a:tc>
              </a:tr>
              <a:tr h="276860">
                <a:tc>
                  <a:txBody>
                    <a:bodyPr/>
                    <a:p>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BIGINT</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Large integer (-9 quintillion range)</a:t>
                      </a:r>
                      <a:r>
                        <a:rPr lang="en-US" sz="1800"/>
                        <a:t>              1000000000</a:t>
                      </a:r>
                      <a:endParaRPr lang="en-US" sz="1800"/>
                    </a:p>
                  </a:txBody>
                  <a:tcPr marL="0" marR="0" marT="0" marB="0" anchor="ctr" anchorCtr="0">
                    <a:lnL>
                      <a:noFill/>
                    </a:lnL>
                    <a:lnR>
                      <a:noFill/>
                    </a:lnR>
                    <a:lnT>
                      <a:noFill/>
                    </a:lnT>
                    <a:lnB>
                      <a:noFill/>
                    </a:lnB>
                    <a:solidFill>
                      <a:schemeClr val="accent1">
                        <a:lumMod val="40000"/>
                        <a:lumOff val="60000"/>
                      </a:schemeClr>
                    </a:solidFill>
                  </a:tcPr>
                </a:tc>
              </a:tr>
              <a:tr h="527685">
                <a:tc>
                  <a:txBody>
                    <a:bodyPr/>
                    <a:p>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DECIMAL(p,s)</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Exact fixed-point number — great for currency (e.g., DECIMAL(10,2) for 99999999.99)</a:t>
                      </a:r>
                      <a:endParaRPr sz="1800"/>
                    </a:p>
                  </a:txBody>
                  <a:tcPr marL="0" marR="0" marT="0" marB="0" anchor="ctr" anchorCtr="0">
                    <a:lnL>
                      <a:noFill/>
                    </a:lnL>
                    <a:lnR>
                      <a:noFill/>
                    </a:lnR>
                    <a:lnT>
                      <a:noFill/>
                    </a:lnT>
                    <a:lnB>
                      <a:noFill/>
                    </a:lnB>
                    <a:solidFill>
                      <a:schemeClr val="accent1">
                        <a:lumMod val="40000"/>
                        <a:lumOff val="60000"/>
                      </a:schemeClr>
                    </a:solidFill>
                  </a:tcPr>
                </a:tc>
              </a:tr>
              <a:tr h="276860">
                <a:tc>
                  <a:txBody>
                    <a:bodyPr/>
                    <a:p>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FLOAT(p)</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Approximate decimal, faster but less precise</a:t>
                      </a:r>
                      <a:endParaRPr sz="1800"/>
                    </a:p>
                  </a:txBody>
                  <a:tcPr marL="0" marR="0" marT="0" marB="0" anchor="ctr" anchorCtr="0">
                    <a:lnL>
                      <a:noFill/>
                    </a:lnL>
                    <a:lnR>
                      <a:noFill/>
                    </a:lnR>
                    <a:lnT>
                      <a:noFill/>
                    </a:lnT>
                    <a:lnB>
                      <a:noFill/>
                    </a:lnB>
                    <a:solidFill>
                      <a:schemeClr val="accent1">
                        <a:lumMod val="40000"/>
                        <a:lumOff val="60000"/>
                      </a:schemeClr>
                    </a:solidFill>
                  </a:tcPr>
                </a:tc>
              </a:tr>
              <a:tr h="276225">
                <a:tc>
                  <a:txBody>
                    <a:bodyPr/>
                    <a:p>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DOUBLE</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Double-precision floating point</a:t>
                      </a:r>
                      <a:endParaRPr sz="1800"/>
                    </a:p>
                  </a:txBody>
                  <a:tcPr marL="0" marR="0" marT="0" marB="0" anchor="ctr" anchorCtr="0">
                    <a:lnL>
                      <a:noFill/>
                    </a:lnL>
                    <a:lnR>
                      <a:noFill/>
                    </a:lnR>
                    <a:lnT>
                      <a:noFill/>
                    </a:lnT>
                    <a:lnB>
                      <a:noFill/>
                    </a:lnB>
                    <a:solidFill>
                      <a:schemeClr val="accent1">
                        <a:lumMod val="40000"/>
                        <a:lumOff val="60000"/>
                      </a:schemeClr>
                    </a:solidFill>
                  </a:tcPr>
                </a:tc>
              </a:tr>
              <a:tr h="276860">
                <a:tc>
                  <a:txBody>
                    <a:bodyPr/>
                    <a:p>
                      <a:r>
                        <a:rPr sz="1800"/>
                        <a:t> String</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CHAR(n)</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Fixed-length string (e.g., CHAR(5) always stores 5 characters)</a:t>
                      </a:r>
                      <a:endParaRPr lang="en-US" sz="1800"/>
                    </a:p>
                  </a:txBody>
                  <a:tcPr marL="0" marR="0" marT="0" marB="0" anchor="ctr" anchorCtr="0">
                    <a:lnL>
                      <a:noFill/>
                    </a:lnL>
                    <a:lnR>
                      <a:noFill/>
                    </a:lnR>
                    <a:lnT>
                      <a:noFill/>
                    </a:lnT>
                    <a:lnB>
                      <a:noFill/>
                    </a:lnB>
                    <a:solidFill>
                      <a:schemeClr val="accent1">
                        <a:lumMod val="40000"/>
                        <a:lumOff val="60000"/>
                      </a:schemeClr>
                    </a:solidFill>
                  </a:tcPr>
                </a:tc>
              </a:tr>
              <a:tr h="528320">
                <a:tc>
                  <a:txBody>
                    <a:bodyPr/>
                    <a:p>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VARCHAR(n)</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Variable-length string up to 65,535 bytes (depending on encoding &amp; row size)</a:t>
                      </a:r>
                      <a:endParaRPr sz="1800"/>
                    </a:p>
                  </a:txBody>
                  <a:tcPr marL="0" marR="0" marT="0" marB="0" anchor="ctr" anchorCtr="0">
                    <a:lnL>
                      <a:noFill/>
                    </a:lnL>
                    <a:lnR>
                      <a:noFill/>
                    </a:lnR>
                    <a:lnT>
                      <a:noFill/>
                    </a:lnT>
                    <a:lnB>
                      <a:noFill/>
                    </a:lnB>
                    <a:solidFill>
                      <a:schemeClr val="accent1">
                        <a:lumMod val="40000"/>
                        <a:lumOff val="60000"/>
                      </a:schemeClr>
                    </a:solidFill>
                  </a:tcPr>
                </a:tc>
              </a:tr>
              <a:tr h="276225">
                <a:tc>
                  <a:txBody>
                    <a:bodyPr/>
                    <a:p>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TEXT</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Long text data up to 65,535 characters</a:t>
                      </a:r>
                      <a:endParaRPr sz="1800"/>
                    </a:p>
                  </a:txBody>
                  <a:tcPr marL="0" marR="0" marT="0" marB="0" anchor="ctr" anchorCtr="0">
                    <a:lnL>
                      <a:noFill/>
                    </a:lnL>
                    <a:lnR>
                      <a:noFill/>
                    </a:lnR>
                    <a:lnT>
                      <a:noFill/>
                    </a:lnT>
                    <a:lnB>
                      <a:noFill/>
                    </a:lnB>
                    <a:solidFill>
                      <a:schemeClr val="accent1">
                        <a:lumMod val="40000"/>
                        <a:lumOff val="60000"/>
                      </a:schemeClr>
                    </a:solidFill>
                  </a:tcPr>
                </a:tc>
              </a:tr>
              <a:tr h="277495">
                <a:tc>
                  <a:txBody>
                    <a:bodyPr/>
                    <a:p>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TINYTEXT</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Very small text (up to 255 characters)</a:t>
                      </a:r>
                      <a:endParaRPr sz="1800"/>
                    </a:p>
                  </a:txBody>
                  <a:tcPr marL="0" marR="0" marT="0" marB="0" anchor="ctr" anchorCtr="0">
                    <a:lnL>
                      <a:noFill/>
                    </a:lnL>
                    <a:lnR>
                      <a:noFill/>
                    </a:lnR>
                    <a:lnT>
                      <a:noFill/>
                    </a:lnT>
                    <a:lnB>
                      <a:noFill/>
                    </a:lnB>
                    <a:solidFill>
                      <a:schemeClr val="accent1">
                        <a:lumMod val="40000"/>
                        <a:lumOff val="60000"/>
                      </a:schemeClr>
                    </a:solidFill>
                  </a:tcPr>
                </a:tc>
              </a:tr>
              <a:tr h="276225">
                <a:tc>
                  <a:txBody>
                    <a:bodyPr/>
                    <a:p>
                      <a:r>
                        <a:rPr sz="1800"/>
                        <a:t> Date/Time</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DATE</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Stores date only (YYYY-MM-DD)</a:t>
                      </a:r>
                      <a:r>
                        <a:rPr lang="en-US" sz="1800"/>
                        <a:t> (DD-MM-YYYY)   26-09-2025   2025-09-26</a:t>
                      </a:r>
                      <a:endParaRPr lang="en-US" sz="1800"/>
                    </a:p>
                  </a:txBody>
                  <a:tcPr marL="0" marR="0" marT="0" marB="0" anchor="ctr" anchorCtr="0">
                    <a:lnL>
                      <a:noFill/>
                    </a:lnL>
                    <a:lnR>
                      <a:noFill/>
                    </a:lnR>
                    <a:lnT>
                      <a:noFill/>
                    </a:lnT>
                    <a:lnB>
                      <a:noFill/>
                    </a:lnB>
                    <a:solidFill>
                      <a:schemeClr val="accent1">
                        <a:lumMod val="40000"/>
                        <a:lumOff val="60000"/>
                      </a:schemeClr>
                    </a:solidFill>
                  </a:tcPr>
                </a:tc>
              </a:tr>
              <a:tr h="276225">
                <a:tc>
                  <a:txBody>
                    <a:bodyPr/>
                    <a:p>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TIME</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Stores time only (HH:MM:SS)</a:t>
                      </a:r>
                      <a:endParaRPr sz="1800"/>
                    </a:p>
                  </a:txBody>
                  <a:tcPr marL="0" marR="0" marT="0" marB="0" anchor="ctr" anchorCtr="0">
                    <a:lnL>
                      <a:noFill/>
                    </a:lnL>
                    <a:lnR>
                      <a:noFill/>
                    </a:lnR>
                    <a:lnT>
                      <a:noFill/>
                    </a:lnT>
                    <a:lnB>
                      <a:noFill/>
                    </a:lnB>
                    <a:solidFill>
                      <a:schemeClr val="accent1">
                        <a:lumMod val="40000"/>
                        <a:lumOff val="60000"/>
                      </a:schemeClr>
                    </a:solidFill>
                  </a:tcPr>
                </a:tc>
              </a:tr>
              <a:tr h="276860">
                <a:tc>
                  <a:txBody>
                    <a:bodyPr/>
                    <a:p>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DATETIME</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Date and time (YYYY-MM-DD HH:MM:SS)</a:t>
                      </a:r>
                      <a:endParaRPr sz="1800"/>
                    </a:p>
                  </a:txBody>
                  <a:tcPr marL="0" marR="0" marT="0" marB="0" anchor="ctr" anchorCtr="0">
                    <a:lnL>
                      <a:noFill/>
                    </a:lnL>
                    <a:lnR>
                      <a:noFill/>
                    </a:lnR>
                    <a:lnT>
                      <a:noFill/>
                    </a:lnT>
                    <a:lnB>
                      <a:noFill/>
                    </a:lnB>
                    <a:solidFill>
                      <a:schemeClr val="accent1">
                        <a:lumMod val="40000"/>
                        <a:lumOff val="60000"/>
                      </a:schemeClr>
                    </a:solidFill>
                  </a:tcPr>
                </a:tc>
              </a:tr>
              <a:tr h="528320">
                <a:tc>
                  <a:txBody>
                    <a:bodyPr/>
                    <a:p>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TIMESTAMP</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Like DATETIME, but also tracks time zone changes and can auto-update on row change</a:t>
                      </a:r>
                      <a:endParaRPr sz="1800"/>
                    </a:p>
                  </a:txBody>
                  <a:tcPr marL="0" marR="0" marT="0" marB="0" anchor="ctr" anchorCtr="0">
                    <a:lnL>
                      <a:noFill/>
                    </a:lnL>
                    <a:lnR>
                      <a:noFill/>
                    </a:lnR>
                    <a:lnT>
                      <a:noFill/>
                    </a:lnT>
                    <a:lnB>
                      <a:noFill/>
                    </a:lnB>
                    <a:solidFill>
                      <a:schemeClr val="accent1">
                        <a:lumMod val="40000"/>
                        <a:lumOff val="60000"/>
                      </a:schemeClr>
                    </a:solidFill>
                  </a:tcPr>
                </a:tc>
              </a:tr>
              <a:tr h="276860">
                <a:tc>
                  <a:txBody>
                    <a:bodyPr/>
                    <a:p>
                      <a:r>
                        <a:rPr sz="1800"/>
                        <a:t> Boolean</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BOOLEAN / BOOL</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Alias for TINYINT(1) — stores 0 (false) or 1 (true)</a:t>
                      </a:r>
                      <a:endParaRPr sz="1800"/>
                    </a:p>
                  </a:txBody>
                  <a:tcPr marL="0" marR="0" marT="0" marB="0" anchor="ctr" anchorCtr="0">
                    <a:lnL>
                      <a:noFill/>
                    </a:lnL>
                    <a:lnR>
                      <a:noFill/>
                    </a:lnR>
                    <a:lnT>
                      <a:noFill/>
                    </a:lnT>
                    <a:lnB>
                      <a:noFill/>
                    </a:lnB>
                    <a:solidFill>
                      <a:schemeClr val="accent1">
                        <a:lumMod val="40000"/>
                        <a:lumOff val="60000"/>
                      </a:schemeClr>
                    </a:solidFill>
                  </a:tcPr>
                </a:tc>
              </a:tr>
              <a:tr h="276860">
                <a:tc>
                  <a:txBody>
                    <a:bodyPr/>
                    <a:p>
                      <a:r>
                        <a:rPr sz="1800"/>
                        <a:t> Binary</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BLOB</a:t>
                      </a:r>
                      <a:r>
                        <a:rPr lang="en-US" sz="1800"/>
                        <a:t>/CloB</a:t>
                      </a:r>
                      <a:endParaRPr lang="en-US"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Binary Large Object — used for images, files, encrypted data</a:t>
                      </a:r>
                      <a:endParaRPr sz="1800"/>
                    </a:p>
                  </a:txBody>
                  <a:tcPr marL="0" marR="0" marT="0" marB="0" anchor="ctr" anchorCtr="0">
                    <a:lnL>
                      <a:noFill/>
                    </a:lnL>
                    <a:lnR>
                      <a:noFill/>
                    </a:lnR>
                    <a:lnT>
                      <a:noFill/>
                    </a:lnT>
                    <a:lnB>
                      <a:noFill/>
                    </a:lnB>
                    <a:solidFill>
                      <a:schemeClr val="accent1">
                        <a:lumMod val="40000"/>
                        <a:lumOff val="60000"/>
                      </a:schemeClr>
                    </a:solidFill>
                  </a:tcPr>
                </a:tc>
              </a:tr>
              <a:tr h="528320">
                <a:tc>
                  <a:txBody>
                    <a:bodyPr/>
                    <a:p>
                      <a:r>
                        <a:rPr sz="1800"/>
                        <a:t> Enum/Set</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ENUM(...)</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String object with predefined set of values (e.g., ENUM('small', 'medium', 'large'))</a:t>
                      </a:r>
                      <a:endParaRPr sz="1800"/>
                    </a:p>
                  </a:txBody>
                  <a:tcPr marL="0" marR="0" marT="0" marB="0" anchor="ctr" anchorCtr="0">
                    <a:lnL>
                      <a:noFill/>
                    </a:lnL>
                    <a:lnR>
                      <a:noFill/>
                    </a:lnR>
                    <a:lnT>
                      <a:noFill/>
                    </a:lnT>
                    <a:lnB>
                      <a:noFill/>
                    </a:lnB>
                    <a:solidFill>
                      <a:schemeClr val="accent1">
                        <a:lumMod val="40000"/>
                        <a:lumOff val="60000"/>
                      </a:schemeClr>
                    </a:solidFill>
                  </a:tcPr>
                </a:tc>
              </a:tr>
              <a:tr h="276225">
                <a:tc>
                  <a:txBody>
                    <a:bodyPr/>
                    <a:p>
                      <a:r>
                        <a:rPr sz="1800"/>
                        <a:t> JSON</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JSON</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Stores JSON-formatted data (MySQL 5.7+)</a:t>
                      </a:r>
                      <a:endParaRPr sz="1800"/>
                    </a:p>
                  </a:txBody>
                  <a:tcPr marL="0" marR="0" marT="0" marB="0" anchor="ctr" anchorCtr="0">
                    <a:lnL>
                      <a:noFill/>
                    </a:lnL>
                    <a:lnR>
                      <a:noFill/>
                    </a:lnR>
                    <a:lnT>
                      <a:noFill/>
                    </a:lnT>
                    <a:lnB>
                      <a:noFill/>
                    </a:lnB>
                    <a:solidFill>
                      <a:schemeClr val="accent1">
                        <a:lumMod val="40000"/>
                        <a:lumOff val="60000"/>
                      </a:schemeClr>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0" y="-635"/>
            <a:ext cx="12192000" cy="6858000"/>
          </a:xfrm>
        </p:spPr>
        <p:txBody>
          <a:bodyPr>
            <a:noAutofit/>
          </a:bodyPr>
          <a:p>
            <a:pPr marL="0" indent="0">
              <a:buNone/>
            </a:pPr>
            <a:r>
              <a:rPr lang="en-US" altLang="en-US" sz="1400" b="1"/>
              <a:t> five key components of SQL</a:t>
            </a:r>
            <a:endParaRPr lang="en-US" altLang="en-US" sz="1400" b="1"/>
          </a:p>
          <a:p>
            <a:pPr marL="0" indent="0">
              <a:buNone/>
            </a:pPr>
            <a:r>
              <a:rPr lang="en-US" altLang="en-US" sz="1400"/>
              <a:t>: DDL, DQL, DML, DCL, and TCL, and understand their roles and operations in database management.</a:t>
            </a:r>
            <a:endParaRPr lang="en-US" altLang="en-US" sz="1400"/>
          </a:p>
          <a:p>
            <a:pPr marL="0" indent="0">
              <a:buNone/>
            </a:pPr>
            <a:r>
              <a:rPr lang="en-US" altLang="en-US" sz="1600"/>
              <a:t>1. </a:t>
            </a:r>
            <a:r>
              <a:rPr lang="en-US" altLang="en-US" sz="1800" b="1">
                <a:solidFill>
                  <a:srgbClr val="FF0000"/>
                </a:solidFill>
              </a:rPr>
              <a:t>Data Definition Language (DDL)</a:t>
            </a:r>
            <a:endParaRPr lang="en-US" altLang="en-US" sz="1800" b="1">
              <a:solidFill>
                <a:srgbClr val="FF0000"/>
              </a:solidFill>
            </a:endParaRPr>
          </a:p>
          <a:p>
            <a:pPr marL="0" indent="0">
              <a:buNone/>
            </a:pPr>
            <a:r>
              <a:rPr lang="en-US" altLang="en-US" sz="1600"/>
              <a:t>The Data Definition Language (DDL) encompasses a series of SQL commands specifically aimed at designing and shaping the structure of a database. Its primary function is to define and manage the schema, or blueprint, of database objects. DDL includes SQL statements that are responsible for creating, altering, and removing database structures, distinct from the data they contain. These commands are generally reserved for database administrators or developers, as they directly impact the database’s architecture. </a:t>
            </a:r>
            <a:endParaRPr lang="en-US" altLang="en-US" sz="1600"/>
          </a:p>
          <a:p>
            <a:pPr marL="0" indent="0">
              <a:buNone/>
            </a:pPr>
            <a:r>
              <a:rPr lang="en-US" altLang="en-US" sz="2000" b="1"/>
              <a:t>DDL commands are:</a:t>
            </a:r>
            <a:endParaRPr lang="en-US" altLang="en-US" sz="2000" b="1"/>
          </a:p>
          <a:p>
            <a:pPr marL="0" indent="0">
              <a:buNone/>
            </a:pPr>
            <a:r>
              <a:rPr lang="en-US" altLang="en-US" sz="1600" b="1"/>
              <a:t>CREATE</a:t>
            </a:r>
            <a:r>
              <a:rPr lang="en-US" altLang="en-US" sz="1600"/>
              <a:t>: Utilized for the creation of databases and various database objects such as tables, views, indexes, stored procedures, functions, and triggers.</a:t>
            </a:r>
            <a:endParaRPr lang="en-US" altLang="en-US" sz="1600"/>
          </a:p>
          <a:p>
            <a:pPr marL="0" indent="0">
              <a:buNone/>
            </a:pPr>
            <a:r>
              <a:rPr lang="en-US" altLang="en-US" sz="1600" b="1"/>
              <a:t>DROP</a:t>
            </a:r>
            <a:r>
              <a:rPr lang="en-US" altLang="en-US" sz="1600"/>
              <a:t>: Employed to remove objects from a database. Deleting tables, views, indexes, or other database structures when they are no longer needed.    ALTER TABLE table_name DROP COLUMN column_name;</a:t>
            </a:r>
            <a:endParaRPr lang="en-US" altLang="en-US" sz="1600"/>
          </a:p>
          <a:p>
            <a:pPr marL="0" indent="0">
              <a:buNone/>
            </a:pPr>
            <a:r>
              <a:rPr lang="en-US" altLang="en-US" sz="1600" b="1"/>
              <a:t>ALTER</a:t>
            </a:r>
            <a:r>
              <a:rPr lang="en-US" altLang="en-US" sz="1600"/>
              <a:t>: Used to modify the design or structure of an existing database. Changing attributes of database elements, like altering table schemas or modifying column properties.</a:t>
            </a:r>
            <a:endParaRPr lang="en-US" altLang="en-US" sz="1600"/>
          </a:p>
          <a:p>
            <a:pPr marL="0" indent="0">
              <a:buNone/>
            </a:pPr>
            <a:r>
              <a:rPr lang="en-US" altLang="en-US" sz="1600"/>
              <a:t>ALTER TABLE table_name RENAME COLUMN name TO full_name;</a:t>
            </a:r>
            <a:endParaRPr lang="en-US" altLang="en-US" sz="1600"/>
          </a:p>
          <a:p>
            <a:pPr marL="0" indent="0">
              <a:buNone/>
            </a:pPr>
            <a:r>
              <a:rPr lang="en-US" altLang="en-US" sz="1600" b="1"/>
              <a:t>TRUNCATE</a:t>
            </a:r>
            <a:r>
              <a:rPr lang="en-US" altLang="en-US" sz="1600"/>
              <a:t>: Employed to delete all records from a table, including freeing up space allocated for those records. Quickly remove all data from a table while retaining the table structure for future use.</a:t>
            </a:r>
            <a:endParaRPr lang="en-US" altLang="en-US" sz="1600"/>
          </a:p>
          <a:p>
            <a:pPr marL="0" indent="0">
              <a:buNone/>
            </a:pPr>
            <a:r>
              <a:rPr lang="en-US" altLang="en-US" sz="1600" b="1"/>
              <a:t>COMMENT</a:t>
            </a:r>
            <a:r>
              <a:rPr lang="en-US" altLang="en-US" sz="1600"/>
              <a:t>: Used for adding comments to the data dictionary. Documenting the database by adding descriptive text to database objects, enhancing readability and maintainability.     -&gt;alter table  table_name modify  column_name varchar(100) comment 'imp name'; </a:t>
            </a:r>
            <a:endParaRPr lang="en-US" altLang="en-US" sz="1600"/>
          </a:p>
          <a:p>
            <a:pPr marL="0" indent="0">
              <a:buNone/>
            </a:pPr>
            <a:r>
              <a:rPr lang="en-US" altLang="en-US" sz="1600"/>
              <a:t>SHOW FULL COLUMNS FROM table_name;</a:t>
            </a:r>
            <a:endParaRPr lang="en-US" altLang="en-US" sz="1600"/>
          </a:p>
          <a:p>
            <a:pPr marL="0" indent="0">
              <a:buNone/>
            </a:pPr>
            <a:r>
              <a:rPr lang="en-US" altLang="en-US" sz="1600" b="1"/>
              <a:t>RENAME</a:t>
            </a:r>
            <a:r>
              <a:rPr lang="en-US" altLang="en-US" sz="1600"/>
              <a:t>: Utilized for changing the name of an existing database object. Updating names of database elements to better reflect their purpose or to comply with naming conventions.   RENAME TABLE table_name TO  new_table_name;</a:t>
            </a:r>
            <a:endParaRPr lang="en-US" altLang="en-US" sz="1600"/>
          </a:p>
          <a:p>
            <a:pPr marL="0" indent="0">
              <a:buNone/>
            </a:pPr>
            <a:endParaRPr lang="en-US" altLang="en-US" sz="16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635"/>
            <a:ext cx="10515600" cy="502920"/>
          </a:xfrm>
        </p:spPr>
        <p:txBody>
          <a:bodyPr>
            <a:noAutofit/>
          </a:bodyPr>
          <a:p>
            <a:r>
              <a:rPr lang="en-US" sz="2400" b="1">
                <a:solidFill>
                  <a:srgbClr val="FF0000"/>
                </a:solidFill>
              </a:rPr>
              <a:t>DDL Command Code</a:t>
            </a:r>
            <a:endParaRPr lang="en-US" sz="2400" b="1">
              <a:solidFill>
                <a:srgbClr val="FF0000"/>
              </a:solidFill>
            </a:endParaRPr>
          </a:p>
        </p:txBody>
      </p:sp>
      <p:pic>
        <p:nvPicPr>
          <p:cNvPr id="4" name="Picture 3"/>
          <p:cNvPicPr/>
          <p:nvPr/>
        </p:nvPicPr>
        <p:blipFill>
          <a:blip r:embed="rId1"/>
          <a:stretch>
            <a:fillRect/>
          </a:stretch>
        </p:blipFill>
        <p:spPr>
          <a:xfrm>
            <a:off x="134620" y="502285"/>
            <a:ext cx="11884660" cy="622173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ext Box 4"/>
          <p:cNvSpPr txBox="1"/>
          <p:nvPr/>
        </p:nvSpPr>
        <p:spPr>
          <a:xfrm>
            <a:off x="175895" y="128270"/>
            <a:ext cx="11525885" cy="6355080"/>
          </a:xfrm>
          <a:prstGeom prst="rect">
            <a:avLst/>
          </a:prstGeom>
        </p:spPr>
        <p:txBody>
          <a:bodyPr>
            <a:noAutofit/>
          </a:bodyPr>
          <a:p>
            <a:pPr marL="0" indent="0">
              <a:lnSpc>
                <a:spcPts val="2250"/>
              </a:lnSpc>
              <a:spcBef>
                <a:spcPts val="2000"/>
              </a:spcBef>
              <a:spcAft>
                <a:spcPct val="2000"/>
              </a:spcAft>
            </a:pPr>
            <a:r>
              <a:rPr sz="2400" b="1" i="0">
                <a:solidFill>
                  <a:srgbClr val="FF0000"/>
                </a:solidFill>
                <a:latin typeface="Cambria" panose="02040503050406030204" charset="0"/>
                <a:ea typeface="sohne"/>
                <a:cs typeface="Cambria" panose="02040503050406030204" charset="0"/>
              </a:rPr>
              <a:t>2. Data Query Language (DQL)</a:t>
            </a:r>
            <a:endParaRPr sz="2400" b="1" i="0">
              <a:solidFill>
                <a:srgbClr val="FF0000"/>
              </a:solidFill>
              <a:latin typeface="Cambria" panose="02040503050406030204" charset="0"/>
              <a:ea typeface="sohne"/>
              <a:cs typeface="Cambria" panose="02040503050406030204" charset="0"/>
            </a:endParaRPr>
          </a:p>
          <a:p>
            <a:pPr marL="0" indent="0">
              <a:lnSpc>
                <a:spcPts val="2400"/>
              </a:lnSpc>
              <a:spcBef>
                <a:spcPts val="900"/>
              </a:spcBef>
              <a:spcAft>
                <a:spcPct val="4000"/>
              </a:spcAft>
            </a:pPr>
            <a:r>
              <a:rPr sz="1600" b="0" i="0">
                <a:solidFill>
                  <a:srgbClr val="242424"/>
                </a:solidFill>
                <a:latin typeface="Cambria" panose="02040503050406030204" charset="0"/>
                <a:ea typeface="source-serif-pro"/>
                <a:cs typeface="Cambria" panose="02040503050406030204" charset="0"/>
              </a:rPr>
              <a:t>DQL, or Data Query Language, is a part of SQL (Structured Query Language) that focuses specifically on retrieving data from databases. It includes the use of the SELECT statement, which is the primary command in DQL. This statement is used to query the database for specific information,</a:t>
            </a:r>
            <a:endParaRPr sz="1600" b="0" i="0">
              <a:solidFill>
                <a:srgbClr val="242424"/>
              </a:solidFill>
              <a:latin typeface="Cambria" panose="02040503050406030204" charset="0"/>
              <a:ea typeface="source-serif-pro"/>
              <a:cs typeface="Cambria" panose="02040503050406030204" charset="0"/>
            </a:endParaRPr>
          </a:p>
          <a:p>
            <a:pPr marL="0" indent="0">
              <a:lnSpc>
                <a:spcPts val="2400"/>
              </a:lnSpc>
              <a:spcBef>
                <a:spcPts val="900"/>
              </a:spcBef>
              <a:spcAft>
                <a:spcPct val="4000"/>
              </a:spcAft>
            </a:pPr>
            <a:r>
              <a:rPr lang="en-US" sz="2000" b="1" i="0">
                <a:solidFill>
                  <a:srgbClr val="242424"/>
                </a:solidFill>
                <a:latin typeface="Cambria" panose="02040503050406030204" charset="0"/>
                <a:ea typeface="source-serif-pro"/>
                <a:cs typeface="Cambria" panose="02040503050406030204" charset="0"/>
              </a:rPr>
              <a:t>select</a:t>
            </a:r>
            <a:endParaRPr lang="en-US" sz="2000" b="1" i="0">
              <a:solidFill>
                <a:srgbClr val="242424"/>
              </a:solidFill>
              <a:latin typeface="Cambria" panose="02040503050406030204" charset="0"/>
              <a:ea typeface="source-serif-pro"/>
              <a:cs typeface="Cambria" panose="02040503050406030204" charset="0"/>
            </a:endParaRPr>
          </a:p>
          <a:p>
            <a:pPr marL="0" indent="0">
              <a:lnSpc>
                <a:spcPts val="2400"/>
              </a:lnSpc>
              <a:spcBef>
                <a:spcPts val="900"/>
              </a:spcBef>
              <a:spcAft>
                <a:spcPct val="4000"/>
              </a:spcAft>
            </a:pPr>
            <a:r>
              <a:rPr lang="en-US" altLang="en-US" sz="2000" b="1" i="0">
                <a:solidFill>
                  <a:srgbClr val="242424"/>
                </a:solidFill>
                <a:latin typeface="Cambria" panose="02040503050406030204" charset="0"/>
                <a:ea typeface="source-serif-pro"/>
                <a:cs typeface="Cambria" panose="02040503050406030204" charset="0"/>
              </a:rPr>
              <a:t>SELECT * FROM employees;</a:t>
            </a:r>
            <a:endParaRPr lang="en-US" altLang="en-US" sz="2000" b="1" i="0">
              <a:solidFill>
                <a:srgbClr val="242424"/>
              </a:solidFill>
              <a:latin typeface="Cambria" panose="02040503050406030204" charset="0"/>
              <a:ea typeface="source-serif-pro"/>
              <a:cs typeface="Cambria" panose="02040503050406030204" charset="0"/>
            </a:endParaRPr>
          </a:p>
          <a:p>
            <a:pPr marL="0" indent="0">
              <a:lnSpc>
                <a:spcPts val="2400"/>
              </a:lnSpc>
              <a:spcBef>
                <a:spcPts val="900"/>
              </a:spcBef>
              <a:spcAft>
                <a:spcPct val="4000"/>
              </a:spcAft>
            </a:pPr>
            <a:r>
              <a:rPr lang="en-US" altLang="en-US" sz="2000" b="1" i="0">
                <a:solidFill>
                  <a:srgbClr val="242424"/>
                </a:solidFill>
                <a:latin typeface="Cambria" panose="02040503050406030204" charset="0"/>
                <a:ea typeface="source-serif-pro"/>
                <a:cs typeface="Cambria" panose="02040503050406030204" charset="0"/>
              </a:rPr>
              <a:t>SELECT name, department FROM employees;</a:t>
            </a:r>
            <a:endParaRPr lang="en-US" altLang="en-US" sz="2000" b="1" i="0">
              <a:solidFill>
                <a:srgbClr val="242424"/>
              </a:solidFill>
              <a:latin typeface="Cambria" panose="02040503050406030204" charset="0"/>
              <a:ea typeface="source-serif-pro"/>
              <a:cs typeface="Cambria" panose="02040503050406030204" charset="0"/>
            </a:endParaRPr>
          </a:p>
          <a:p>
            <a:pPr marL="0" indent="0">
              <a:lnSpc>
                <a:spcPts val="2400"/>
              </a:lnSpc>
              <a:spcBef>
                <a:spcPts val="900"/>
              </a:spcBef>
              <a:spcAft>
                <a:spcPct val="4000"/>
              </a:spcAft>
            </a:pPr>
            <a:endParaRPr lang="en-US" altLang="en-US" sz="2000" b="1" i="0">
              <a:solidFill>
                <a:srgbClr val="242424"/>
              </a:solidFill>
              <a:latin typeface="Cambria" panose="02040503050406030204" charset="0"/>
              <a:ea typeface="source-serif-pro"/>
              <a:cs typeface="Cambria" panose="02040503050406030204" charset="0"/>
            </a:endParaRPr>
          </a:p>
          <a:p>
            <a:pPr marL="0" indent="0" algn="ctr">
              <a:lnSpc>
                <a:spcPts val="2400"/>
              </a:lnSpc>
              <a:spcBef>
                <a:spcPts val="900"/>
              </a:spcBef>
              <a:spcAft>
                <a:spcPct val="4000"/>
              </a:spcAft>
            </a:pPr>
            <a:r>
              <a:rPr lang="en-US" altLang="en-US" sz="3200" b="1" i="0">
                <a:solidFill>
                  <a:srgbClr val="FF0000"/>
                </a:solidFill>
                <a:latin typeface="Cambria" panose="02040503050406030204" charset="0"/>
                <a:ea typeface="source-serif-pro"/>
                <a:cs typeface="Cambria" panose="02040503050406030204" charset="0"/>
              </a:rPr>
              <a:t>Data Manipulation Language (DML)</a:t>
            </a:r>
            <a:endParaRPr lang="en-US" altLang="en-US" sz="3200" b="1" i="0">
              <a:solidFill>
                <a:srgbClr val="FF0000"/>
              </a:solidFill>
              <a:latin typeface="Cambria" panose="02040503050406030204" charset="0"/>
              <a:ea typeface="source-serif-pro"/>
              <a:cs typeface="Cambria" panose="02040503050406030204" charset="0"/>
            </a:endParaRPr>
          </a:p>
          <a:p>
            <a:pPr marL="0" indent="0">
              <a:lnSpc>
                <a:spcPts val="2400"/>
              </a:lnSpc>
              <a:spcBef>
                <a:spcPts val="900"/>
              </a:spcBef>
              <a:spcAft>
                <a:spcPct val="4000"/>
              </a:spcAft>
            </a:pPr>
            <a:r>
              <a:rPr lang="en-US" altLang="en-US" i="0">
                <a:solidFill>
                  <a:srgbClr val="242424"/>
                </a:solidFill>
                <a:latin typeface="Cambria" panose="02040503050406030204" charset="0"/>
                <a:ea typeface="source-serif-pro"/>
                <a:cs typeface="Cambria" panose="02040503050406030204" charset="0"/>
              </a:rPr>
              <a:t>SQL commands that focus on modifying or handling data within a database fall under the category of Data Manipulation Language (DML). This segment encompasses a significant portion of SQL operations. DML commands are:</a:t>
            </a:r>
            <a:endParaRPr lang="en-US" altLang="en-US" i="0">
              <a:solidFill>
                <a:srgbClr val="242424"/>
              </a:solidFill>
              <a:latin typeface="Cambria" panose="02040503050406030204" charset="0"/>
              <a:ea typeface="source-serif-pro"/>
              <a:cs typeface="Cambria" panose="02040503050406030204" charset="0"/>
            </a:endParaRPr>
          </a:p>
          <a:p>
            <a:pPr marL="0" indent="0">
              <a:lnSpc>
                <a:spcPts val="2400"/>
              </a:lnSpc>
              <a:spcBef>
                <a:spcPts val="900"/>
              </a:spcBef>
              <a:spcAft>
                <a:spcPct val="4000"/>
              </a:spcAft>
            </a:pPr>
            <a:r>
              <a:rPr lang="en-US" altLang="en-US" b="1" i="0">
                <a:solidFill>
                  <a:srgbClr val="242424"/>
                </a:solidFill>
                <a:latin typeface="Cambria" panose="02040503050406030204" charset="0"/>
                <a:ea typeface="source-serif-pro"/>
                <a:cs typeface="Cambria" panose="02040503050406030204" charset="0"/>
              </a:rPr>
              <a:t>INSERT</a:t>
            </a:r>
            <a:r>
              <a:rPr lang="en-US" altLang="en-US" i="0">
                <a:solidFill>
                  <a:srgbClr val="242424"/>
                </a:solidFill>
                <a:latin typeface="Cambria" panose="02040503050406030204" charset="0"/>
                <a:ea typeface="source-serif-pro"/>
                <a:cs typeface="Cambria" panose="02040503050406030204" charset="0"/>
              </a:rPr>
              <a:t>: Used to add new rows (records) to a table.</a:t>
            </a:r>
            <a:endParaRPr lang="en-US" altLang="en-US" i="0">
              <a:solidFill>
                <a:srgbClr val="242424"/>
              </a:solidFill>
              <a:latin typeface="Cambria" panose="02040503050406030204" charset="0"/>
              <a:ea typeface="source-serif-pro"/>
              <a:cs typeface="Cambria" panose="02040503050406030204" charset="0"/>
            </a:endParaRPr>
          </a:p>
          <a:p>
            <a:pPr marL="0" indent="0">
              <a:lnSpc>
                <a:spcPts val="2400"/>
              </a:lnSpc>
              <a:spcBef>
                <a:spcPts val="900"/>
              </a:spcBef>
              <a:spcAft>
                <a:spcPct val="4000"/>
              </a:spcAft>
            </a:pPr>
            <a:r>
              <a:rPr lang="en-US" altLang="en-US" i="0">
                <a:solidFill>
                  <a:srgbClr val="242424"/>
                </a:solidFill>
                <a:latin typeface="Cambria" panose="02040503050406030204" charset="0"/>
                <a:ea typeface="source-serif-pro"/>
                <a:cs typeface="Cambria" panose="02040503050406030204" charset="0"/>
              </a:rPr>
              <a:t>Syntax: INSERT INTO table_name (column1, column2) VALUES (value1, value2);</a:t>
            </a:r>
            <a:endParaRPr lang="en-US" altLang="en-US" i="0">
              <a:solidFill>
                <a:srgbClr val="242424"/>
              </a:solidFill>
              <a:latin typeface="Cambria" panose="02040503050406030204" charset="0"/>
              <a:ea typeface="source-serif-pro"/>
              <a:cs typeface="Cambria" panose="02040503050406030204" charset="0"/>
            </a:endParaRPr>
          </a:p>
          <a:p>
            <a:pPr marL="0" indent="0">
              <a:lnSpc>
                <a:spcPts val="2400"/>
              </a:lnSpc>
              <a:spcBef>
                <a:spcPts val="900"/>
              </a:spcBef>
              <a:spcAft>
                <a:spcPct val="4000"/>
              </a:spcAft>
            </a:pPr>
            <a:r>
              <a:rPr lang="en-US" altLang="en-US" i="0">
                <a:solidFill>
                  <a:srgbClr val="242424"/>
                </a:solidFill>
                <a:latin typeface="Cambria" panose="02040503050406030204" charset="0"/>
                <a:ea typeface="source-serif-pro"/>
                <a:cs typeface="Cambria" panose="02040503050406030204" charset="0"/>
              </a:rPr>
              <a:t>Example: INSERT INTO employees (name, department) VALUES ('John Doe', 'Marketing');</a:t>
            </a:r>
            <a:endParaRPr lang="en-US" altLang="en-US" i="0">
              <a:solidFill>
                <a:srgbClr val="242424"/>
              </a:solidFill>
              <a:latin typeface="Cambria" panose="02040503050406030204" charset="0"/>
              <a:ea typeface="source-serif-pro"/>
              <a:cs typeface="Cambria" panose="02040503050406030204" charset="0"/>
            </a:endParaRPr>
          </a:p>
          <a:p>
            <a:pPr marL="0" indent="0">
              <a:lnSpc>
                <a:spcPts val="2400"/>
              </a:lnSpc>
              <a:spcBef>
                <a:spcPts val="900"/>
              </a:spcBef>
              <a:spcAft>
                <a:spcPct val="4000"/>
              </a:spcAft>
            </a:pPr>
            <a:endParaRPr lang="en-US" altLang="en-US" i="0">
              <a:solidFill>
                <a:srgbClr val="242424"/>
              </a:solidFill>
              <a:latin typeface="Cambria" panose="02040503050406030204" charset="0"/>
              <a:ea typeface="source-serif-pro"/>
              <a:cs typeface="Cambria" panose="0204050305040603020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208280" y="142240"/>
            <a:ext cx="11856720" cy="6582410"/>
          </a:xfrm>
        </p:spPr>
        <p:txBody>
          <a:bodyPr>
            <a:normAutofit lnSpcReduction="10000"/>
          </a:bodyPr>
          <a:p>
            <a:pPr marL="0" indent="0">
              <a:buNone/>
            </a:pPr>
            <a:r>
              <a:rPr lang="en-US" altLang="en-US" sz="1800"/>
              <a:t>2. </a:t>
            </a:r>
            <a:r>
              <a:rPr lang="en-US" altLang="en-US" sz="1800" b="1"/>
              <a:t>UPDATE</a:t>
            </a:r>
            <a:r>
              <a:rPr lang="en-US" altLang="en-US" sz="1800"/>
              <a:t>: Modifies existing data within a table. It can update one or more columns for all rows that meet the condition specified.</a:t>
            </a:r>
            <a:endParaRPr lang="en-US" altLang="en-US" sz="1800"/>
          </a:p>
          <a:p>
            <a:pPr marL="0" indent="0">
              <a:buNone/>
            </a:pPr>
            <a:r>
              <a:rPr lang="en-US" altLang="en-US" sz="1800"/>
              <a:t>Syntax:</a:t>
            </a:r>
            <a:endParaRPr lang="en-US" altLang="en-US" sz="1800"/>
          </a:p>
          <a:p>
            <a:pPr marL="0" indent="0">
              <a:buNone/>
            </a:pPr>
            <a:r>
              <a:rPr lang="en-US" altLang="en-US" sz="1800"/>
              <a:t>UPDATE table_name SET column1 = value1, column2 = value2 WHERE condition;</a:t>
            </a:r>
            <a:endParaRPr lang="en-US" altLang="en-US" sz="1800"/>
          </a:p>
          <a:p>
            <a:pPr marL="0" indent="0">
              <a:buNone/>
            </a:pPr>
            <a:r>
              <a:rPr lang="en-US" altLang="en-US" sz="1800"/>
              <a:t>Example:</a:t>
            </a:r>
            <a:endParaRPr lang="en-US" altLang="en-US" sz="1800"/>
          </a:p>
          <a:p>
            <a:pPr marL="0" indent="0">
              <a:buNone/>
            </a:pPr>
            <a:r>
              <a:rPr lang="en-US" altLang="en-US" sz="1800"/>
              <a:t>UPDATE employees SET department = 'HR' WHERE id = 123;</a:t>
            </a:r>
            <a:endParaRPr lang="en-US" altLang="en-US" sz="1800"/>
          </a:p>
          <a:p>
            <a:pPr marL="0" indent="0">
              <a:buNone/>
            </a:pPr>
            <a:r>
              <a:rPr lang="en-US" altLang="en-US" sz="1800"/>
              <a:t>3. </a:t>
            </a:r>
            <a:r>
              <a:rPr lang="en-US" altLang="en-US" sz="1800" b="1"/>
              <a:t>DELETE</a:t>
            </a:r>
            <a:r>
              <a:rPr lang="en-US" altLang="en-US" sz="1800"/>
              <a:t>: Removes one or more rows from a table. Without a specific condition, it will delete all rows in the table.</a:t>
            </a:r>
            <a:endParaRPr lang="en-US" altLang="en-US" sz="1800"/>
          </a:p>
          <a:p>
            <a:pPr marL="0" indent="0">
              <a:buNone/>
            </a:pPr>
            <a:r>
              <a:rPr lang="en-US" altLang="en-US" sz="1800"/>
              <a:t>Syntax:</a:t>
            </a:r>
            <a:endParaRPr lang="en-US" altLang="en-US" sz="1800"/>
          </a:p>
          <a:p>
            <a:pPr marL="0" indent="0">
              <a:buNone/>
            </a:pPr>
            <a:r>
              <a:rPr lang="en-US" altLang="en-US" sz="1800"/>
              <a:t>DELETE FROM table_name WHERE condition;</a:t>
            </a:r>
            <a:endParaRPr lang="en-US" altLang="en-US" sz="1800"/>
          </a:p>
          <a:p>
            <a:pPr marL="0" indent="0">
              <a:buNone/>
            </a:pPr>
            <a:r>
              <a:rPr lang="en-US" altLang="en-US" sz="1800"/>
              <a:t>Example:</a:t>
            </a:r>
            <a:endParaRPr lang="en-US" altLang="en-US" sz="1800"/>
          </a:p>
          <a:p>
            <a:pPr marL="0" indent="0">
              <a:buNone/>
            </a:pPr>
            <a:r>
              <a:rPr lang="en-US" altLang="en-US" sz="1800"/>
              <a:t>DELETE FROM employees WHERE department = 'Intern';</a:t>
            </a:r>
            <a:endParaRPr lang="en-US" altLang="en-US" sz="1800"/>
          </a:p>
          <a:p>
            <a:pPr marL="0" indent="0">
              <a:buNone/>
            </a:pPr>
            <a:r>
              <a:rPr lang="en-US" altLang="en-US" sz="1800"/>
              <a:t>4. </a:t>
            </a:r>
            <a:r>
              <a:rPr lang="en-US" altLang="en-US" sz="1800" b="1"/>
              <a:t>CALL</a:t>
            </a:r>
            <a:r>
              <a:rPr lang="en-US" altLang="en-US" sz="1800"/>
              <a:t>: The CALL statement is used to execute a stored procedure (a pre-defined SQL function or a routine).</a:t>
            </a:r>
            <a:endParaRPr lang="en-US" altLang="en-US" sz="1800"/>
          </a:p>
          <a:p>
            <a:pPr marL="0" indent="0">
              <a:buNone/>
            </a:pPr>
            <a:endParaRPr lang="en-US" altLang="en-US" sz="1800"/>
          </a:p>
          <a:p>
            <a:pPr marL="0" indent="0">
              <a:buNone/>
            </a:pPr>
            <a:r>
              <a:rPr lang="en-US" altLang="en-US" sz="1800"/>
              <a:t>CALL UpdateEmployeeSalary(101, 5000);</a:t>
            </a:r>
            <a:endParaRPr lang="en-US" altLang="en-US" sz="1800"/>
          </a:p>
          <a:p>
            <a:pPr marL="0" indent="0">
              <a:buNone/>
            </a:pPr>
            <a:endParaRPr lang="en-US" altLang="en-US" sz="1800"/>
          </a:p>
          <a:p>
            <a:pPr marL="0" indent="0">
              <a:buNone/>
            </a:pPr>
            <a:endParaRPr lang="en-US" altLang="en-US" sz="18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102235"/>
            <a:ext cx="10515600" cy="398145"/>
          </a:xfrm>
        </p:spPr>
        <p:txBody>
          <a:bodyPr>
            <a:noAutofit/>
          </a:bodyPr>
          <a:p>
            <a:r>
              <a:rPr lang="en-US" altLang="en-US" sz="2800" b="1">
                <a:solidFill>
                  <a:srgbClr val="FF0000"/>
                </a:solidFill>
                <a:sym typeface="+mn-ea"/>
              </a:rPr>
              <a:t>4. Data Control Language (DCL)</a:t>
            </a:r>
            <a:endParaRPr lang="en-US" altLang="en-US" sz="2800" b="1">
              <a:solidFill>
                <a:srgbClr val="FF0000"/>
              </a:solidFill>
              <a:sym typeface="+mn-ea"/>
            </a:endParaRPr>
          </a:p>
        </p:txBody>
      </p:sp>
      <p:sp>
        <p:nvSpPr>
          <p:cNvPr id="3" name="Content Placeholder 2"/>
          <p:cNvSpPr>
            <a:spLocks noGrp="1"/>
          </p:cNvSpPr>
          <p:nvPr>
            <p:ph idx="1"/>
          </p:nvPr>
        </p:nvSpPr>
        <p:spPr>
          <a:xfrm>
            <a:off x="113030" y="500380"/>
            <a:ext cx="11938635" cy="6267450"/>
          </a:xfrm>
        </p:spPr>
        <p:txBody>
          <a:bodyPr>
            <a:normAutofit fontScale="65000"/>
          </a:bodyPr>
          <a:p>
            <a:pPr marL="0" indent="0">
              <a:buNone/>
            </a:pPr>
            <a:r>
              <a:rPr lang="en-US" altLang="en-US"/>
              <a:t>Data Control Language (DCL) is a subset of SQL commands used to control access to data in a database. DCL is primarily concerned with permissions and deals with the rights and privileges of the database users. The main commands in DCL are GRANT and REVOKE.</a:t>
            </a:r>
            <a:endParaRPr lang="en-US" altLang="en-US"/>
          </a:p>
          <a:p>
            <a:pPr marL="0" indent="0">
              <a:buNone/>
            </a:pPr>
            <a:r>
              <a:rPr lang="en-US" altLang="en-US" b="1"/>
              <a:t>1)GRANT</a:t>
            </a:r>
            <a:r>
              <a:rPr lang="en-US" altLang="en-US"/>
              <a:t>: This command is used to give users access privileges to the database. These privileges include SELECT, INSERT, UPDATE, DELETE, and more, which can be granted to users or roles.</a:t>
            </a:r>
            <a:endParaRPr lang="en-US" altLang="en-US"/>
          </a:p>
          <a:p>
            <a:pPr marL="0" indent="0">
              <a:buNone/>
            </a:pPr>
            <a:r>
              <a:rPr lang="en-US" altLang="en-US"/>
              <a:t>Syntax:GRANT privilege_name ON object TO user;</a:t>
            </a:r>
            <a:endParaRPr lang="en-US" altLang="en-US"/>
          </a:p>
          <a:p>
            <a:pPr marL="0" indent="0">
              <a:buNone/>
            </a:pPr>
            <a:r>
              <a:rPr lang="en-US" altLang="en-US"/>
              <a:t>Example:Granting SELECT privilege on a table to a user:</a:t>
            </a:r>
            <a:endParaRPr lang="en-US" altLang="en-US"/>
          </a:p>
          <a:p>
            <a:pPr marL="0" indent="0">
              <a:buNone/>
            </a:pPr>
            <a:r>
              <a:rPr lang="en-US" altLang="en-US"/>
              <a:t>GRANT SELECT ON employees TO user123;</a:t>
            </a:r>
            <a:endParaRPr lang="en-US" altLang="en-US"/>
          </a:p>
          <a:p>
            <a:pPr marL="0" indent="0">
              <a:buNone/>
            </a:pPr>
            <a:r>
              <a:rPr lang="en-US" altLang="en-US"/>
              <a:t>Granting multiple privileges:</a:t>
            </a:r>
            <a:endParaRPr lang="en-US" altLang="en-US"/>
          </a:p>
          <a:p>
            <a:pPr marL="0" indent="0">
              <a:buNone/>
            </a:pPr>
            <a:r>
              <a:rPr lang="en-US" altLang="en-US"/>
              <a:t>GRANT SELECT, UPDATE ON employees TO user123;</a:t>
            </a:r>
            <a:endParaRPr lang="en-US" altLang="en-US"/>
          </a:p>
          <a:p>
            <a:pPr marL="0" indent="0">
              <a:buNone/>
            </a:pPr>
            <a:endParaRPr lang="en-US" altLang="en-US"/>
          </a:p>
          <a:p>
            <a:pPr marL="0" indent="0">
              <a:buNone/>
            </a:pPr>
            <a:r>
              <a:rPr lang="en-US" altLang="en-US"/>
              <a:t>2. </a:t>
            </a:r>
            <a:r>
              <a:rPr lang="en-US" altLang="en-US" b="1"/>
              <a:t>REVOKE</a:t>
            </a:r>
            <a:r>
              <a:rPr lang="en-US" altLang="en-US"/>
              <a:t>: This command is used to remove previously granted privileges from a user or role. It’s the opposite of GRANT and ensures that unauthorized users can’t access sensitive data.</a:t>
            </a:r>
            <a:endParaRPr lang="en-US" altLang="en-US"/>
          </a:p>
          <a:p>
            <a:pPr marL="0" indent="0">
              <a:buNone/>
            </a:pPr>
            <a:r>
              <a:rPr lang="en-US" altLang="en-US"/>
              <a:t>Syntax: REVOKE privilege_name ON object FROM user;</a:t>
            </a:r>
            <a:endParaRPr lang="en-US" altLang="en-US"/>
          </a:p>
          <a:p>
            <a:pPr marL="0" indent="0">
              <a:buNone/>
            </a:pPr>
            <a:r>
              <a:rPr lang="en-US" altLang="en-US"/>
              <a:t>Example:Revoking SELECT privilege:</a:t>
            </a:r>
            <a:endParaRPr lang="en-US" altLang="en-US"/>
          </a:p>
          <a:p>
            <a:pPr marL="0" indent="0">
              <a:buNone/>
            </a:pPr>
            <a:r>
              <a:rPr lang="en-US" altLang="en-US"/>
              <a:t>REVOKE SELECT ON employees FROM user123;</a:t>
            </a:r>
            <a:endParaRPr lang="en-US" altLang="en-US"/>
          </a:p>
          <a:p>
            <a:pPr marL="0" indent="0">
              <a:buNone/>
            </a:pPr>
            <a:r>
              <a:rPr lang="en-US" altLang="en-US"/>
              <a:t>Revoking all privileges:</a:t>
            </a:r>
            <a:endParaRPr lang="en-US" altLang="en-US"/>
          </a:p>
          <a:p>
            <a:pPr marL="0" indent="0">
              <a:buNone/>
            </a:pPr>
            <a:r>
              <a:rPr lang="en-US" altLang="en-US"/>
              <a:t>REVOKE ALL PRIVILEGES ON employees FROM user123;</a:t>
            </a:r>
            <a:endParaRPr lang="en-US"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105410"/>
            <a:ext cx="10515600" cy="285115"/>
          </a:xfrm>
        </p:spPr>
        <p:txBody>
          <a:bodyPr>
            <a:normAutofit fontScale="90000"/>
          </a:bodyPr>
          <a:p>
            <a:r>
              <a:rPr lang="en-US" altLang="en-US" sz="3200" b="1">
                <a:solidFill>
                  <a:srgbClr val="FF0000"/>
                </a:solidFill>
                <a:sym typeface="+mn-ea"/>
              </a:rPr>
              <a:t>5. Transaction Control Language (TCL)</a:t>
            </a:r>
            <a:endParaRPr lang="en-US" altLang="en-US" sz="3200" b="1">
              <a:solidFill>
                <a:srgbClr val="FF0000"/>
              </a:solidFill>
              <a:sym typeface="+mn-ea"/>
            </a:endParaRPr>
          </a:p>
        </p:txBody>
      </p:sp>
      <p:sp>
        <p:nvSpPr>
          <p:cNvPr id="3" name="Content Placeholder 2"/>
          <p:cNvSpPr>
            <a:spLocks noGrp="1"/>
          </p:cNvSpPr>
          <p:nvPr>
            <p:ph idx="1"/>
          </p:nvPr>
        </p:nvSpPr>
        <p:spPr>
          <a:xfrm>
            <a:off x="99695" y="472440"/>
            <a:ext cx="11856085" cy="6102985"/>
          </a:xfrm>
        </p:spPr>
        <p:txBody>
          <a:bodyPr>
            <a:normAutofit fontScale="65000"/>
          </a:bodyPr>
          <a:p>
            <a:pPr marL="0" indent="0">
              <a:buNone/>
            </a:pPr>
            <a:r>
              <a:rPr lang="en-US" altLang="en-US"/>
              <a:t>Transaction Control Language (TCL) in SQL is a set of commands specifically designed to manage the changes made by DML statements (like INSERT, UPDATE, DELETE). It allows control over transaction processes in a database. The primary TCL commands are COMMIT, ROLLBACK, and SAVEPOINT.</a:t>
            </a:r>
            <a:endParaRPr lang="en-US" altLang="en-US"/>
          </a:p>
          <a:p>
            <a:pPr marL="0" indent="0">
              <a:buNone/>
            </a:pPr>
            <a:r>
              <a:rPr lang="en-US" altLang="en-US" b="1"/>
              <a:t>COMMIT</a:t>
            </a:r>
            <a:r>
              <a:rPr lang="en-US" altLang="en-US"/>
              <a:t>: This command is used to permanently save all changes made during the current transaction. Once a transaction is committed, it cannot be undone.</a:t>
            </a:r>
            <a:endParaRPr lang="en-US" altLang="en-US"/>
          </a:p>
          <a:p>
            <a:pPr marL="0" indent="0">
              <a:buNone/>
            </a:pPr>
            <a:r>
              <a:rPr lang="en-US" altLang="en-US"/>
              <a:t>Example: After updating a record in a table, you can commit the transaction:</a:t>
            </a:r>
            <a:endParaRPr lang="en-US" altLang="en-US"/>
          </a:p>
          <a:p>
            <a:pPr marL="0" indent="0">
              <a:buNone/>
            </a:pPr>
            <a:r>
              <a:rPr lang="en-US" altLang="en-US"/>
              <a:t>UPDATE employees SET salary = salary + 1000 WHERE id = 101;</a:t>
            </a:r>
            <a:endParaRPr lang="en-US" altLang="en-US"/>
          </a:p>
          <a:p>
            <a:pPr marL="0" indent="0">
              <a:buNone/>
            </a:pPr>
            <a:r>
              <a:rPr lang="en-US" altLang="en-US"/>
              <a:t>COMMIT;</a:t>
            </a:r>
            <a:endParaRPr lang="en-US" altLang="en-US"/>
          </a:p>
          <a:p>
            <a:pPr marL="0" indent="0">
              <a:buNone/>
            </a:pPr>
            <a:r>
              <a:rPr lang="en-US" altLang="en-US" b="1"/>
              <a:t>2. ROLLBACK:</a:t>
            </a:r>
            <a:r>
              <a:rPr lang="en-US" altLang="en-US"/>
              <a:t> Used to undo transactions that have not yet been committed. It can revert the database to the last committed state. ROLLBACK is useful in case of an error or if the transaction needs to be aborted.</a:t>
            </a:r>
            <a:endParaRPr lang="en-US" altLang="en-US"/>
          </a:p>
          <a:p>
            <a:pPr marL="0" indent="0">
              <a:buNone/>
            </a:pPr>
            <a:r>
              <a:rPr lang="en-US" altLang="en-US"/>
              <a:t>Example: If you decide not to apply the changes made in the previous example:</a:t>
            </a:r>
            <a:endParaRPr lang="en-US" altLang="en-US"/>
          </a:p>
          <a:p>
            <a:pPr marL="0" indent="0">
              <a:buNone/>
            </a:pPr>
            <a:r>
              <a:rPr lang="en-US" altLang="en-US"/>
              <a:t>UPDATE employees SET salary = salary + 1000 WHERE id = 101;</a:t>
            </a:r>
            <a:endParaRPr lang="en-US" altLang="en-US"/>
          </a:p>
          <a:p>
            <a:pPr marL="0" indent="0">
              <a:buNone/>
            </a:pPr>
            <a:r>
              <a:rPr lang="en-US" altLang="en-US"/>
              <a:t>ROLLBACK;</a:t>
            </a:r>
            <a:endParaRPr lang="en-US" altLang="en-US"/>
          </a:p>
          <a:p>
            <a:pPr marL="0" indent="0">
              <a:buNone/>
            </a:pPr>
            <a:r>
              <a:rPr lang="en-US" altLang="en-US" b="1"/>
              <a:t>3. SAVEPOINT:</a:t>
            </a:r>
            <a:r>
              <a:rPr lang="en-US" altLang="en-US"/>
              <a:t> This command allows you to set a savepoint within a transaction, which is a point to which you can later roll back. It helps create a partial rollback point within a long transaction.</a:t>
            </a:r>
            <a:endParaRPr lang="en-US" altLang="en-US"/>
          </a:p>
          <a:p>
            <a:pPr marL="0" indent="0">
              <a:buNone/>
            </a:pPr>
            <a:r>
              <a:rPr lang="en-US" altLang="en-US"/>
              <a:t>Example: Creating a savepoint and rolling back to it:</a:t>
            </a:r>
            <a:endParaRPr lang="en-US" altLang="en-US"/>
          </a:p>
          <a:p>
            <a:pPr marL="0" indent="0">
              <a:buNone/>
            </a:pPr>
            <a:r>
              <a:rPr lang="en-US" altLang="en-US"/>
              <a:t>UPDATE employees SET salary = salary + 500 WHERE id = </a:t>
            </a:r>
            <a:endParaRPr lang="en-US"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345440" y="0"/>
            <a:ext cx="11008360" cy="610235"/>
          </a:xfrm>
        </p:spPr>
        <p:txBody>
          <a:bodyPr/>
          <a:p>
            <a:r>
              <a:rPr lang="en-US" altLang="en-US" sz="2000">
                <a:sym typeface="+mn-ea"/>
              </a:rPr>
              <a:t>What is SQL?</a:t>
            </a:r>
            <a:endParaRPr lang="en-US" altLang="en-US" sz="2000">
              <a:sym typeface="+mn-ea"/>
            </a:endParaRPr>
          </a:p>
        </p:txBody>
      </p:sp>
      <p:sp>
        <p:nvSpPr>
          <p:cNvPr id="3" name="Content Placeholder 2"/>
          <p:cNvSpPr>
            <a:spLocks noGrp="1"/>
          </p:cNvSpPr>
          <p:nvPr>
            <p:ph idx="1"/>
          </p:nvPr>
        </p:nvSpPr>
        <p:spPr>
          <a:xfrm>
            <a:off x="222250" y="610235"/>
            <a:ext cx="11706225" cy="5938520"/>
          </a:xfrm>
        </p:spPr>
        <p:txBody>
          <a:bodyPr/>
          <a:p>
            <a:pPr marL="0" indent="0">
              <a:buNone/>
            </a:pPr>
            <a:endParaRPr lang="en-US" altLang="en-US" sz="1800"/>
          </a:p>
          <a:p>
            <a:pPr marL="0" indent="0">
              <a:buNone/>
            </a:pPr>
            <a:endParaRPr lang="en-US" altLang="en-US" sz="1800"/>
          </a:p>
        </p:txBody>
      </p:sp>
      <p:graphicFrame>
        <p:nvGraphicFramePr>
          <p:cNvPr id="4" name="Table 3"/>
          <p:cNvGraphicFramePr/>
          <p:nvPr>
            <p:custDataLst>
              <p:tags r:id="rId1"/>
            </p:custDataLst>
          </p:nvPr>
        </p:nvGraphicFramePr>
        <p:xfrm>
          <a:off x="2838450" y="2774950"/>
          <a:ext cx="9090660" cy="3950970"/>
        </p:xfrm>
        <a:graphic>
          <a:graphicData uri="http://schemas.openxmlformats.org/drawingml/2006/table">
            <a:tbl>
              <a:tblPr/>
              <a:tblGrid>
                <a:gridCol w="2126615"/>
                <a:gridCol w="2975610"/>
                <a:gridCol w="3988435"/>
              </a:tblGrid>
              <a:tr h="657860">
                <a:tc>
                  <a:txBody>
                    <a:bodyPr/>
                    <a:p>
                      <a:pPr algn="ctr"/>
                      <a:r>
                        <a:rPr sz="2400" b="1">
                          <a:solidFill>
                            <a:srgbClr val="FF0000"/>
                          </a:solidFill>
                        </a:rPr>
                        <a:t>SQL Command</a:t>
                      </a:r>
                      <a:endParaRPr sz="2400" b="1">
                        <a:solidFill>
                          <a:srgbClr val="FF0000"/>
                        </a:solidFill>
                      </a:endParaRPr>
                    </a:p>
                  </a:txBody>
                  <a:tcPr marL="0" marR="0" marT="0" marB="0" anchor="ctr" anchorCtr="0">
                    <a:lnL>
                      <a:noFill/>
                    </a:lnL>
                    <a:lnR>
                      <a:noFill/>
                    </a:lnR>
                    <a:lnT>
                      <a:noFill/>
                    </a:lnT>
                    <a:lnB>
                      <a:noFill/>
                    </a:lnB>
                    <a:solidFill>
                      <a:schemeClr val="accent1">
                        <a:lumMod val="40000"/>
                        <a:lumOff val="60000"/>
                      </a:schemeClr>
                    </a:solidFill>
                  </a:tcPr>
                </a:tc>
                <a:tc>
                  <a:txBody>
                    <a:bodyPr/>
                    <a:p>
                      <a:pPr algn="ctr"/>
                      <a:r>
                        <a:rPr sz="2400" b="1">
                          <a:solidFill>
                            <a:srgbClr val="FF0000"/>
                          </a:solidFill>
                        </a:rPr>
                        <a:t>Purpose</a:t>
                      </a:r>
                      <a:endParaRPr sz="2400" b="1">
                        <a:solidFill>
                          <a:srgbClr val="FF0000"/>
                        </a:solidFill>
                      </a:endParaRPr>
                    </a:p>
                  </a:txBody>
                  <a:tcPr marL="0" marR="0" marT="0" marB="0" anchor="ctr" anchorCtr="0">
                    <a:lnL>
                      <a:noFill/>
                    </a:lnL>
                    <a:lnR>
                      <a:noFill/>
                    </a:lnR>
                    <a:lnT>
                      <a:noFill/>
                    </a:lnT>
                    <a:lnB>
                      <a:noFill/>
                    </a:lnB>
                    <a:solidFill>
                      <a:schemeClr val="accent1">
                        <a:lumMod val="40000"/>
                        <a:lumOff val="60000"/>
                      </a:schemeClr>
                    </a:solidFill>
                  </a:tcPr>
                </a:tc>
                <a:tc>
                  <a:txBody>
                    <a:bodyPr/>
                    <a:p>
                      <a:pPr algn="ctr"/>
                      <a:r>
                        <a:rPr sz="2400" b="1">
                          <a:solidFill>
                            <a:srgbClr val="FF0000"/>
                          </a:solidFill>
                        </a:rPr>
                        <a:t>Example</a:t>
                      </a:r>
                      <a:endParaRPr sz="2400" b="1">
                        <a:solidFill>
                          <a:srgbClr val="FF0000"/>
                        </a:solidFill>
                      </a:endParaRPr>
                    </a:p>
                  </a:txBody>
                  <a:tcPr marL="0" marR="0" marT="0" marB="0" anchor="ctr" anchorCtr="0">
                    <a:lnL>
                      <a:noFill/>
                    </a:lnL>
                    <a:lnR>
                      <a:noFill/>
                    </a:lnR>
                    <a:lnT>
                      <a:noFill/>
                    </a:lnT>
                    <a:lnB>
                      <a:noFill/>
                    </a:lnB>
                    <a:solidFill>
                      <a:schemeClr val="accent1">
                        <a:lumMod val="40000"/>
                        <a:lumOff val="60000"/>
                      </a:schemeClr>
                    </a:solidFill>
                  </a:tcPr>
                </a:tc>
              </a:tr>
              <a:tr h="656590">
                <a:tc>
                  <a:txBody>
                    <a:bodyPr/>
                    <a:p>
                      <a:r>
                        <a:rPr sz="2000"/>
                        <a:t>SELECT</a:t>
                      </a:r>
                      <a:endParaRPr sz="2000"/>
                    </a:p>
                  </a:txBody>
                  <a:tcPr marL="0" marR="0" marT="0" marB="0" anchor="ctr" anchorCtr="0">
                    <a:lnL>
                      <a:noFill/>
                    </a:lnL>
                    <a:lnR>
                      <a:noFill/>
                    </a:lnR>
                    <a:lnT>
                      <a:noFill/>
                    </a:lnT>
                    <a:lnB>
                      <a:noFill/>
                    </a:lnB>
                    <a:solidFill>
                      <a:schemeClr val="accent1">
                        <a:lumMod val="40000"/>
                        <a:lumOff val="60000"/>
                      </a:schemeClr>
                    </a:solidFill>
                  </a:tcPr>
                </a:tc>
                <a:tc>
                  <a:txBody>
                    <a:bodyPr/>
                    <a:p>
                      <a:r>
                        <a:rPr sz="2000"/>
                        <a:t>Get data from a table</a:t>
                      </a:r>
                      <a:endParaRPr sz="2000"/>
                    </a:p>
                  </a:txBody>
                  <a:tcPr marL="0" marR="0" marT="0" marB="0" anchor="ctr" anchorCtr="0">
                    <a:lnL>
                      <a:noFill/>
                    </a:lnL>
                    <a:lnR>
                      <a:noFill/>
                    </a:lnR>
                    <a:lnT>
                      <a:noFill/>
                    </a:lnT>
                    <a:lnB>
                      <a:noFill/>
                    </a:lnB>
                    <a:solidFill>
                      <a:schemeClr val="accent1">
                        <a:lumMod val="40000"/>
                        <a:lumOff val="60000"/>
                      </a:schemeClr>
                    </a:solidFill>
                  </a:tcPr>
                </a:tc>
                <a:tc>
                  <a:txBody>
                    <a:bodyPr/>
                    <a:p>
                      <a:r>
                        <a:rPr sz="2000"/>
                        <a:t>SELECT * FROM users;</a:t>
                      </a:r>
                      <a:endParaRPr sz="2000"/>
                    </a:p>
                  </a:txBody>
                  <a:tcPr marL="0" marR="0" marT="0" marB="0" anchor="ctr" anchorCtr="0">
                    <a:lnL>
                      <a:noFill/>
                    </a:lnL>
                    <a:lnR>
                      <a:noFill/>
                    </a:lnR>
                    <a:lnT>
                      <a:noFill/>
                    </a:lnT>
                    <a:lnB>
                      <a:noFill/>
                    </a:lnB>
                    <a:solidFill>
                      <a:schemeClr val="accent1">
                        <a:lumMod val="40000"/>
                        <a:lumOff val="60000"/>
                      </a:schemeClr>
                    </a:solidFill>
                  </a:tcPr>
                </a:tc>
              </a:tr>
              <a:tr h="659130">
                <a:tc>
                  <a:txBody>
                    <a:bodyPr/>
                    <a:p>
                      <a:r>
                        <a:rPr sz="2000"/>
                        <a:t>INSERT</a:t>
                      </a:r>
                      <a:endParaRPr sz="2000"/>
                    </a:p>
                  </a:txBody>
                  <a:tcPr marL="0" marR="0" marT="0" marB="0" anchor="ctr" anchorCtr="0">
                    <a:lnL>
                      <a:noFill/>
                    </a:lnL>
                    <a:lnR>
                      <a:noFill/>
                    </a:lnR>
                    <a:lnT>
                      <a:noFill/>
                    </a:lnT>
                    <a:lnB>
                      <a:noFill/>
                    </a:lnB>
                    <a:solidFill>
                      <a:schemeClr val="accent1">
                        <a:lumMod val="40000"/>
                        <a:lumOff val="60000"/>
                      </a:schemeClr>
                    </a:solidFill>
                  </a:tcPr>
                </a:tc>
                <a:tc>
                  <a:txBody>
                    <a:bodyPr/>
                    <a:p>
                      <a:r>
                        <a:rPr sz="2000"/>
                        <a:t>Add new data</a:t>
                      </a:r>
                      <a:endParaRPr sz="2000"/>
                    </a:p>
                  </a:txBody>
                  <a:tcPr marL="0" marR="0" marT="0" marB="0" anchor="ctr" anchorCtr="0">
                    <a:lnL>
                      <a:noFill/>
                    </a:lnL>
                    <a:lnR>
                      <a:noFill/>
                    </a:lnR>
                    <a:lnT>
                      <a:noFill/>
                    </a:lnT>
                    <a:lnB>
                      <a:noFill/>
                    </a:lnB>
                    <a:solidFill>
                      <a:schemeClr val="accent1">
                        <a:lumMod val="40000"/>
                        <a:lumOff val="60000"/>
                      </a:schemeClr>
                    </a:solidFill>
                  </a:tcPr>
                </a:tc>
                <a:tc>
                  <a:txBody>
                    <a:bodyPr/>
                    <a:p>
                      <a:r>
                        <a:rPr sz="2000"/>
                        <a:t>INSERT INTO users VALUES (...);</a:t>
                      </a:r>
                      <a:endParaRPr sz="2000"/>
                    </a:p>
                  </a:txBody>
                  <a:tcPr marL="0" marR="0" marT="0" marB="0" anchor="ctr" anchorCtr="0">
                    <a:lnL>
                      <a:noFill/>
                    </a:lnL>
                    <a:lnR>
                      <a:noFill/>
                    </a:lnR>
                    <a:lnT>
                      <a:noFill/>
                    </a:lnT>
                    <a:lnB>
                      <a:noFill/>
                    </a:lnB>
                    <a:solidFill>
                      <a:schemeClr val="accent1">
                        <a:lumMod val="40000"/>
                        <a:lumOff val="60000"/>
                      </a:schemeClr>
                    </a:solidFill>
                  </a:tcPr>
                </a:tc>
              </a:tr>
              <a:tr h="659765">
                <a:tc>
                  <a:txBody>
                    <a:bodyPr/>
                    <a:p>
                      <a:r>
                        <a:rPr sz="2000"/>
                        <a:t>UPDATE</a:t>
                      </a:r>
                      <a:endParaRPr sz="2000"/>
                    </a:p>
                  </a:txBody>
                  <a:tcPr marL="0" marR="0" marT="0" marB="0" anchor="ctr" anchorCtr="0">
                    <a:lnL>
                      <a:noFill/>
                    </a:lnL>
                    <a:lnR>
                      <a:noFill/>
                    </a:lnR>
                    <a:lnT>
                      <a:noFill/>
                    </a:lnT>
                    <a:lnB>
                      <a:noFill/>
                    </a:lnB>
                    <a:solidFill>
                      <a:schemeClr val="accent1">
                        <a:lumMod val="40000"/>
                        <a:lumOff val="60000"/>
                      </a:schemeClr>
                    </a:solidFill>
                  </a:tcPr>
                </a:tc>
                <a:tc>
                  <a:txBody>
                    <a:bodyPr/>
                    <a:p>
                      <a:r>
                        <a:rPr sz="2000"/>
                        <a:t>Change existing data</a:t>
                      </a:r>
                      <a:endParaRPr sz="2000"/>
                    </a:p>
                  </a:txBody>
                  <a:tcPr marL="0" marR="0" marT="0" marB="0" anchor="ctr" anchorCtr="0">
                    <a:lnL>
                      <a:noFill/>
                    </a:lnL>
                    <a:lnR>
                      <a:noFill/>
                    </a:lnR>
                    <a:lnT>
                      <a:noFill/>
                    </a:lnT>
                    <a:lnB>
                      <a:noFill/>
                    </a:lnB>
                    <a:solidFill>
                      <a:schemeClr val="accent1">
                        <a:lumMod val="40000"/>
                        <a:lumOff val="60000"/>
                      </a:schemeClr>
                    </a:solidFill>
                  </a:tcPr>
                </a:tc>
                <a:tc>
                  <a:txBody>
                    <a:bodyPr/>
                    <a:p>
                      <a:r>
                        <a:rPr sz="2000"/>
                        <a:t>UPDATE users SET age = 25 WHERE id = 1;</a:t>
                      </a:r>
                      <a:endParaRPr sz="2000"/>
                    </a:p>
                  </a:txBody>
                  <a:tcPr marL="0" marR="0" marT="0" marB="0" anchor="ctr" anchorCtr="0">
                    <a:lnL>
                      <a:noFill/>
                    </a:lnL>
                    <a:lnR>
                      <a:noFill/>
                    </a:lnR>
                    <a:lnT>
                      <a:noFill/>
                    </a:lnT>
                    <a:lnB>
                      <a:noFill/>
                    </a:lnB>
                    <a:solidFill>
                      <a:schemeClr val="accent1">
                        <a:lumMod val="40000"/>
                        <a:lumOff val="60000"/>
                      </a:schemeClr>
                    </a:solidFill>
                  </a:tcPr>
                </a:tc>
              </a:tr>
              <a:tr h="658495">
                <a:tc>
                  <a:txBody>
                    <a:bodyPr/>
                    <a:p>
                      <a:r>
                        <a:rPr sz="2000"/>
                        <a:t>DELETE</a:t>
                      </a:r>
                      <a:endParaRPr sz="2000"/>
                    </a:p>
                  </a:txBody>
                  <a:tcPr marL="0" marR="0" marT="0" marB="0" anchor="ctr" anchorCtr="0">
                    <a:lnL>
                      <a:noFill/>
                    </a:lnL>
                    <a:lnR>
                      <a:noFill/>
                    </a:lnR>
                    <a:lnT>
                      <a:noFill/>
                    </a:lnT>
                    <a:lnB>
                      <a:noFill/>
                    </a:lnB>
                    <a:solidFill>
                      <a:schemeClr val="accent1">
                        <a:lumMod val="40000"/>
                        <a:lumOff val="60000"/>
                      </a:schemeClr>
                    </a:solidFill>
                  </a:tcPr>
                </a:tc>
                <a:tc>
                  <a:txBody>
                    <a:bodyPr/>
                    <a:p>
                      <a:r>
                        <a:rPr sz="2000"/>
                        <a:t>Remove data</a:t>
                      </a:r>
                      <a:endParaRPr sz="2000"/>
                    </a:p>
                  </a:txBody>
                  <a:tcPr marL="0" marR="0" marT="0" marB="0" anchor="ctr" anchorCtr="0">
                    <a:lnL>
                      <a:noFill/>
                    </a:lnL>
                    <a:lnR>
                      <a:noFill/>
                    </a:lnR>
                    <a:lnT>
                      <a:noFill/>
                    </a:lnT>
                    <a:lnB>
                      <a:noFill/>
                    </a:lnB>
                    <a:solidFill>
                      <a:schemeClr val="accent1">
                        <a:lumMod val="40000"/>
                        <a:lumOff val="60000"/>
                      </a:schemeClr>
                    </a:solidFill>
                  </a:tcPr>
                </a:tc>
                <a:tc>
                  <a:txBody>
                    <a:bodyPr/>
                    <a:p>
                      <a:r>
                        <a:rPr sz="2000"/>
                        <a:t>DELETE FROM users WHERE id = 1;</a:t>
                      </a:r>
                      <a:endParaRPr sz="2000"/>
                    </a:p>
                  </a:txBody>
                  <a:tcPr marL="0" marR="0" marT="0" marB="0" anchor="ctr" anchorCtr="0">
                    <a:lnL>
                      <a:noFill/>
                    </a:lnL>
                    <a:lnR>
                      <a:noFill/>
                    </a:lnR>
                    <a:lnT>
                      <a:noFill/>
                    </a:lnT>
                    <a:lnB>
                      <a:noFill/>
                    </a:lnB>
                    <a:solidFill>
                      <a:schemeClr val="accent1">
                        <a:lumMod val="40000"/>
                        <a:lumOff val="60000"/>
                      </a:schemeClr>
                    </a:solidFill>
                  </a:tcPr>
                </a:tc>
              </a:tr>
              <a:tr h="659130">
                <a:tc>
                  <a:txBody>
                    <a:bodyPr/>
                    <a:p>
                      <a:r>
                        <a:rPr sz="2000"/>
                        <a:t>CREATE</a:t>
                      </a:r>
                      <a:endParaRPr sz="2000"/>
                    </a:p>
                  </a:txBody>
                  <a:tcPr marL="0" marR="0" marT="0" marB="0" anchor="ctr" anchorCtr="0">
                    <a:lnL>
                      <a:noFill/>
                    </a:lnL>
                    <a:lnR>
                      <a:noFill/>
                    </a:lnR>
                    <a:lnT>
                      <a:noFill/>
                    </a:lnT>
                    <a:lnB>
                      <a:noFill/>
                    </a:lnB>
                    <a:solidFill>
                      <a:schemeClr val="accent1">
                        <a:lumMod val="40000"/>
                        <a:lumOff val="60000"/>
                      </a:schemeClr>
                    </a:solidFill>
                  </a:tcPr>
                </a:tc>
                <a:tc>
                  <a:txBody>
                    <a:bodyPr/>
                    <a:p>
                      <a:r>
                        <a:rPr sz="2000"/>
                        <a:t>Create new tables/databases</a:t>
                      </a:r>
                      <a:endParaRPr sz="2000"/>
                    </a:p>
                  </a:txBody>
                  <a:tcPr marL="0" marR="0" marT="0" marB="0" anchor="ctr" anchorCtr="0">
                    <a:lnL>
                      <a:noFill/>
                    </a:lnL>
                    <a:lnR>
                      <a:noFill/>
                    </a:lnR>
                    <a:lnT>
                      <a:noFill/>
                    </a:lnT>
                    <a:lnB>
                      <a:noFill/>
                    </a:lnB>
                    <a:solidFill>
                      <a:schemeClr val="accent1">
                        <a:lumMod val="40000"/>
                        <a:lumOff val="60000"/>
                      </a:schemeClr>
                    </a:solidFill>
                  </a:tcPr>
                </a:tc>
                <a:tc>
                  <a:txBody>
                    <a:bodyPr/>
                    <a:p>
                      <a:r>
                        <a:rPr sz="2000"/>
                        <a:t>CREATE TABLE users (...);</a:t>
                      </a:r>
                      <a:endParaRPr sz="2000"/>
                    </a:p>
                  </a:txBody>
                  <a:tcPr marL="0" marR="0" marT="0" marB="0" anchor="ctr" anchorCtr="0">
                    <a:lnL>
                      <a:noFill/>
                    </a:lnL>
                    <a:lnR>
                      <a:noFill/>
                    </a:lnR>
                    <a:lnT>
                      <a:noFill/>
                    </a:lnT>
                    <a:lnB>
                      <a:noFill/>
                    </a:lnB>
                    <a:solidFill>
                      <a:schemeClr val="accent1">
                        <a:lumMod val="40000"/>
                        <a:lumOff val="60000"/>
                      </a:schemeClr>
                    </a:solid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4" name="Table 3"/>
          <p:cNvGraphicFramePr/>
          <p:nvPr>
            <p:custDataLst>
              <p:tags r:id="rId1"/>
            </p:custDataLst>
          </p:nvPr>
        </p:nvGraphicFramePr>
        <p:xfrm>
          <a:off x="120650" y="914400"/>
          <a:ext cx="11743690" cy="3835400"/>
        </p:xfrm>
        <a:graphic>
          <a:graphicData uri="http://schemas.openxmlformats.org/drawingml/2006/table">
            <a:tbl>
              <a:tblPr/>
              <a:tblGrid>
                <a:gridCol w="2537460"/>
                <a:gridCol w="4965065"/>
                <a:gridCol w="4241165"/>
              </a:tblGrid>
              <a:tr h="342265">
                <a:tc>
                  <a:txBody>
                    <a:bodyPr/>
                    <a:p>
                      <a:pPr algn="ctr"/>
                      <a:r>
                        <a:rPr sz="2000" b="1"/>
                        <a:t>Key Type</a:t>
                      </a:r>
                      <a:endParaRPr sz="2000" b="1"/>
                    </a:p>
                  </a:txBody>
                  <a:tcPr marL="0" marR="0" marT="0" marB="0" anchor="ctr" anchorCtr="0">
                    <a:lnL>
                      <a:noFill/>
                    </a:lnL>
                    <a:lnR>
                      <a:noFill/>
                    </a:lnR>
                    <a:lnT>
                      <a:noFill/>
                    </a:lnT>
                    <a:lnB>
                      <a:noFill/>
                    </a:lnB>
                    <a:solidFill>
                      <a:schemeClr val="accent1">
                        <a:lumMod val="40000"/>
                        <a:lumOff val="60000"/>
                      </a:schemeClr>
                    </a:solidFill>
                  </a:tcPr>
                </a:tc>
                <a:tc>
                  <a:txBody>
                    <a:bodyPr/>
                    <a:p>
                      <a:pPr algn="ctr"/>
                      <a:r>
                        <a:rPr sz="2000" b="1"/>
                        <a:t>Where Used</a:t>
                      </a:r>
                      <a:endParaRPr sz="2000" b="1"/>
                    </a:p>
                  </a:txBody>
                  <a:tcPr marL="0" marR="0" marT="0" marB="0" anchor="ctr" anchorCtr="0">
                    <a:lnL>
                      <a:noFill/>
                    </a:lnL>
                    <a:lnR>
                      <a:noFill/>
                    </a:lnR>
                    <a:lnT>
                      <a:noFill/>
                    </a:lnT>
                    <a:lnB>
                      <a:noFill/>
                    </a:lnB>
                    <a:solidFill>
                      <a:schemeClr val="accent1">
                        <a:lumMod val="40000"/>
                        <a:lumOff val="60000"/>
                      </a:schemeClr>
                    </a:solidFill>
                  </a:tcPr>
                </a:tc>
                <a:tc>
                  <a:txBody>
                    <a:bodyPr/>
                    <a:p>
                      <a:pPr algn="ctr"/>
                      <a:r>
                        <a:rPr sz="2000" b="1"/>
                        <a:t>Explanation</a:t>
                      </a:r>
                      <a:endParaRPr sz="2000" b="1"/>
                    </a:p>
                  </a:txBody>
                  <a:tcPr marL="0" marR="0" marT="0" marB="0" anchor="ctr" anchorCtr="0">
                    <a:lnL>
                      <a:noFill/>
                    </a:lnL>
                    <a:lnR>
                      <a:noFill/>
                    </a:lnR>
                    <a:lnT>
                      <a:noFill/>
                    </a:lnT>
                    <a:lnB>
                      <a:noFill/>
                    </a:lnB>
                    <a:solidFill>
                      <a:schemeClr val="accent1">
                        <a:lumMod val="40000"/>
                        <a:lumOff val="60000"/>
                      </a:schemeClr>
                    </a:solidFill>
                  </a:tcPr>
                </a:tc>
              </a:tr>
              <a:tr h="341630">
                <a:tc>
                  <a:txBody>
                    <a:bodyPr/>
                    <a:p>
                      <a:r>
                        <a:rPr sz="1600"/>
                        <a:t>Primary Key</a:t>
                      </a:r>
                      <a:endParaRPr sz="1600"/>
                    </a:p>
                  </a:txBody>
                  <a:tcPr marL="0" marR="0" marT="0" marB="0" anchor="ctr" anchorCtr="0">
                    <a:lnL>
                      <a:noFill/>
                    </a:lnL>
                    <a:lnR>
                      <a:noFill/>
                    </a:lnR>
                    <a:lnT>
                      <a:noFill/>
                    </a:lnT>
                    <a:lnB>
                      <a:noFill/>
                    </a:lnB>
                    <a:solidFill>
                      <a:schemeClr val="accent1">
                        <a:lumMod val="40000"/>
                        <a:lumOff val="60000"/>
                      </a:schemeClr>
                    </a:solidFill>
                  </a:tcPr>
                </a:tc>
                <a:tc>
                  <a:txBody>
                    <a:bodyPr/>
                    <a:p>
                      <a:r>
                        <a:rPr sz="1600"/>
                        <a:t>dept_id in departments</a:t>
                      </a:r>
                      <a:endParaRPr sz="1600"/>
                    </a:p>
                  </a:txBody>
                  <a:tcPr marL="0" marR="0" marT="0" marB="0" anchor="ctr" anchorCtr="0">
                    <a:lnL>
                      <a:noFill/>
                    </a:lnL>
                    <a:lnR>
                      <a:noFill/>
                    </a:lnR>
                    <a:lnT>
                      <a:noFill/>
                    </a:lnT>
                    <a:lnB>
                      <a:noFill/>
                    </a:lnB>
                    <a:solidFill>
                      <a:schemeClr val="accent1">
                        <a:lumMod val="40000"/>
                        <a:lumOff val="60000"/>
                      </a:schemeClr>
                    </a:solidFill>
                  </a:tcPr>
                </a:tc>
                <a:tc>
                  <a:txBody>
                    <a:bodyPr/>
                    <a:p>
                      <a:r>
                        <a:rPr sz="1600"/>
                        <a:t>Uniquely identifies department</a:t>
                      </a:r>
                      <a:endParaRPr sz="1600"/>
                    </a:p>
                  </a:txBody>
                  <a:tcPr marL="0" marR="0" marT="0" marB="0" anchor="ctr" anchorCtr="0">
                    <a:lnL>
                      <a:noFill/>
                    </a:lnL>
                    <a:lnR>
                      <a:noFill/>
                    </a:lnR>
                    <a:lnT>
                      <a:noFill/>
                    </a:lnT>
                    <a:lnB>
                      <a:noFill/>
                    </a:lnB>
                    <a:solidFill>
                      <a:schemeClr val="accent1">
                        <a:lumMod val="40000"/>
                        <a:lumOff val="60000"/>
                      </a:schemeClr>
                    </a:solidFill>
                  </a:tcPr>
                </a:tc>
              </a:tr>
              <a:tr h="480695">
                <a:tc>
                  <a:txBody>
                    <a:bodyPr/>
                    <a:p>
                      <a:r>
                        <a:rPr sz="1600"/>
                        <a:t>Primary Key</a:t>
                      </a:r>
                      <a:endParaRPr sz="1600"/>
                    </a:p>
                  </a:txBody>
                  <a:tcPr marL="0" marR="0" marT="0" marB="0" anchor="ctr" anchorCtr="0">
                    <a:lnL>
                      <a:noFill/>
                    </a:lnL>
                    <a:lnR>
                      <a:noFill/>
                    </a:lnR>
                    <a:lnT>
                      <a:noFill/>
                    </a:lnT>
                    <a:lnB>
                      <a:noFill/>
                    </a:lnB>
                    <a:solidFill>
                      <a:schemeClr val="accent1">
                        <a:lumMod val="40000"/>
                        <a:lumOff val="60000"/>
                      </a:schemeClr>
                    </a:solidFill>
                  </a:tcPr>
                </a:tc>
                <a:tc>
                  <a:txBody>
                    <a:bodyPr/>
                    <a:p>
                      <a:r>
                        <a:rPr sz="1600"/>
                        <a:t>(emp_id, project_id) in employees</a:t>
                      </a:r>
                      <a:endParaRPr sz="1600"/>
                    </a:p>
                  </a:txBody>
                  <a:tcPr marL="0" marR="0" marT="0" marB="0" anchor="ctr" anchorCtr="0">
                    <a:lnL>
                      <a:noFill/>
                    </a:lnL>
                    <a:lnR>
                      <a:noFill/>
                    </a:lnR>
                    <a:lnT>
                      <a:noFill/>
                    </a:lnT>
                    <a:lnB>
                      <a:noFill/>
                    </a:lnB>
                    <a:solidFill>
                      <a:schemeClr val="accent1">
                        <a:lumMod val="40000"/>
                        <a:lumOff val="60000"/>
                      </a:schemeClr>
                    </a:solidFill>
                  </a:tcPr>
                </a:tc>
                <a:tc>
                  <a:txBody>
                    <a:bodyPr/>
                    <a:p>
                      <a:r>
                        <a:rPr sz="1600"/>
                        <a:t>Composite key for employee assigned to project</a:t>
                      </a:r>
                      <a:endParaRPr sz="1600"/>
                    </a:p>
                  </a:txBody>
                  <a:tcPr marL="0" marR="0" marT="0" marB="0" anchor="ctr" anchorCtr="0">
                    <a:lnL>
                      <a:noFill/>
                    </a:lnL>
                    <a:lnR>
                      <a:noFill/>
                    </a:lnR>
                    <a:lnT>
                      <a:noFill/>
                    </a:lnT>
                    <a:lnB>
                      <a:noFill/>
                    </a:lnB>
                    <a:solidFill>
                      <a:schemeClr val="accent1">
                        <a:lumMod val="40000"/>
                        <a:lumOff val="60000"/>
                      </a:schemeClr>
                    </a:solidFill>
                  </a:tcPr>
                </a:tc>
              </a:tr>
              <a:tr h="341630">
                <a:tc>
                  <a:txBody>
                    <a:bodyPr/>
                    <a:p>
                      <a:r>
                        <a:rPr sz="1600"/>
                        <a:t>Foreign Key</a:t>
                      </a:r>
                      <a:endParaRPr sz="1600"/>
                    </a:p>
                  </a:txBody>
                  <a:tcPr marL="0" marR="0" marT="0" marB="0" anchor="ctr" anchorCtr="0">
                    <a:lnL>
                      <a:noFill/>
                    </a:lnL>
                    <a:lnR>
                      <a:noFill/>
                    </a:lnR>
                    <a:lnT>
                      <a:noFill/>
                    </a:lnT>
                    <a:lnB>
                      <a:noFill/>
                    </a:lnB>
                    <a:solidFill>
                      <a:schemeClr val="accent1">
                        <a:lumMod val="40000"/>
                        <a:lumOff val="60000"/>
                      </a:schemeClr>
                    </a:solidFill>
                  </a:tcPr>
                </a:tc>
                <a:tc>
                  <a:txBody>
                    <a:bodyPr/>
                    <a:p>
                      <a:r>
                        <a:rPr sz="1600"/>
                        <a:t>dept_id in employees</a:t>
                      </a:r>
                      <a:endParaRPr sz="1600"/>
                    </a:p>
                  </a:txBody>
                  <a:tcPr marL="0" marR="0" marT="0" marB="0" anchor="ctr" anchorCtr="0">
                    <a:lnL>
                      <a:noFill/>
                    </a:lnL>
                    <a:lnR>
                      <a:noFill/>
                    </a:lnR>
                    <a:lnT>
                      <a:noFill/>
                    </a:lnT>
                    <a:lnB>
                      <a:noFill/>
                    </a:lnB>
                    <a:solidFill>
                      <a:schemeClr val="accent1">
                        <a:lumMod val="40000"/>
                        <a:lumOff val="60000"/>
                      </a:schemeClr>
                    </a:solidFill>
                  </a:tcPr>
                </a:tc>
                <a:tc>
                  <a:txBody>
                    <a:bodyPr/>
                    <a:p>
                      <a:r>
                        <a:rPr sz="1600"/>
                        <a:t>References departments table</a:t>
                      </a:r>
                      <a:endParaRPr sz="1600"/>
                    </a:p>
                  </a:txBody>
                  <a:tcPr marL="0" marR="0" marT="0" marB="0" anchor="ctr" anchorCtr="0">
                    <a:lnL>
                      <a:noFill/>
                    </a:lnL>
                    <a:lnR>
                      <a:noFill/>
                    </a:lnR>
                    <a:lnT>
                      <a:noFill/>
                    </a:lnT>
                    <a:lnB>
                      <a:noFill/>
                    </a:lnB>
                    <a:solidFill>
                      <a:schemeClr val="accent1">
                        <a:lumMod val="40000"/>
                        <a:lumOff val="60000"/>
                      </a:schemeClr>
                    </a:solidFill>
                  </a:tcPr>
                </a:tc>
              </a:tr>
              <a:tr h="342265">
                <a:tc>
                  <a:txBody>
                    <a:bodyPr/>
                    <a:p>
                      <a:r>
                        <a:rPr sz="1600"/>
                        <a:t>Unique Key</a:t>
                      </a:r>
                      <a:endParaRPr sz="1600"/>
                    </a:p>
                  </a:txBody>
                  <a:tcPr marL="0" marR="0" marT="0" marB="0" anchor="ctr" anchorCtr="0">
                    <a:lnL>
                      <a:noFill/>
                    </a:lnL>
                    <a:lnR>
                      <a:noFill/>
                    </a:lnR>
                    <a:lnT>
                      <a:noFill/>
                    </a:lnT>
                    <a:lnB>
                      <a:noFill/>
                    </a:lnB>
                    <a:solidFill>
                      <a:schemeClr val="accent1">
                        <a:lumMod val="40000"/>
                        <a:lumOff val="60000"/>
                      </a:schemeClr>
                    </a:solidFill>
                  </a:tcPr>
                </a:tc>
                <a:tc>
                  <a:txBody>
                    <a:bodyPr/>
                    <a:p>
                      <a:r>
                        <a:rPr sz="1600"/>
                        <a:t>email in employees</a:t>
                      </a:r>
                      <a:endParaRPr sz="1600"/>
                    </a:p>
                  </a:txBody>
                  <a:tcPr marL="0" marR="0" marT="0" marB="0" anchor="ctr" anchorCtr="0">
                    <a:lnL>
                      <a:noFill/>
                    </a:lnL>
                    <a:lnR>
                      <a:noFill/>
                    </a:lnR>
                    <a:lnT>
                      <a:noFill/>
                    </a:lnT>
                    <a:lnB>
                      <a:noFill/>
                    </a:lnB>
                    <a:solidFill>
                      <a:schemeClr val="accent1">
                        <a:lumMod val="40000"/>
                        <a:lumOff val="60000"/>
                      </a:schemeClr>
                    </a:solidFill>
                  </a:tcPr>
                </a:tc>
                <a:tc>
                  <a:txBody>
                    <a:bodyPr/>
                    <a:p>
                      <a:r>
                        <a:rPr sz="1600"/>
                        <a:t>Ensures no duplicate email</a:t>
                      </a:r>
                      <a:endParaRPr sz="1600"/>
                    </a:p>
                  </a:txBody>
                  <a:tcPr marL="0" marR="0" marT="0" marB="0" anchor="ctr" anchorCtr="0">
                    <a:lnL>
                      <a:noFill/>
                    </a:lnL>
                    <a:lnR>
                      <a:noFill/>
                    </a:lnR>
                    <a:lnT>
                      <a:noFill/>
                    </a:lnT>
                    <a:lnB>
                      <a:noFill/>
                    </a:lnB>
                    <a:solidFill>
                      <a:schemeClr val="accent1">
                        <a:lumMod val="40000"/>
                        <a:lumOff val="60000"/>
                      </a:schemeClr>
                    </a:solidFill>
                  </a:tcPr>
                </a:tc>
              </a:tr>
              <a:tr h="480695">
                <a:tc>
                  <a:txBody>
                    <a:bodyPr/>
                    <a:p>
                      <a:r>
                        <a:rPr sz="1600"/>
                        <a:t>Composite Key</a:t>
                      </a:r>
                      <a:endParaRPr sz="1600"/>
                    </a:p>
                  </a:txBody>
                  <a:tcPr marL="0" marR="0" marT="0" marB="0" anchor="ctr" anchorCtr="0">
                    <a:lnL>
                      <a:noFill/>
                    </a:lnL>
                    <a:lnR>
                      <a:noFill/>
                    </a:lnR>
                    <a:lnT>
                      <a:noFill/>
                    </a:lnT>
                    <a:lnB>
                      <a:noFill/>
                    </a:lnB>
                    <a:solidFill>
                      <a:schemeClr val="accent1">
                        <a:lumMod val="40000"/>
                        <a:lumOff val="60000"/>
                      </a:schemeClr>
                    </a:solidFill>
                  </a:tcPr>
                </a:tc>
                <a:tc>
                  <a:txBody>
                    <a:bodyPr/>
                    <a:p>
                      <a:r>
                        <a:rPr sz="1600"/>
                        <a:t>(emp_id, project_id) in employees</a:t>
                      </a:r>
                      <a:endParaRPr sz="1600"/>
                    </a:p>
                  </a:txBody>
                  <a:tcPr marL="0" marR="0" marT="0" marB="0" anchor="ctr" anchorCtr="0">
                    <a:lnL>
                      <a:noFill/>
                    </a:lnL>
                    <a:lnR>
                      <a:noFill/>
                    </a:lnR>
                    <a:lnT>
                      <a:noFill/>
                    </a:lnT>
                    <a:lnB>
                      <a:noFill/>
                    </a:lnB>
                    <a:solidFill>
                      <a:schemeClr val="accent1">
                        <a:lumMod val="40000"/>
                        <a:lumOff val="60000"/>
                      </a:schemeClr>
                    </a:solidFill>
                  </a:tcPr>
                </a:tc>
                <a:tc>
                  <a:txBody>
                    <a:bodyPr/>
                    <a:p>
                      <a:r>
                        <a:rPr sz="1600"/>
                        <a:t>Uniquely identifies a specific employee-project pair</a:t>
                      </a:r>
                      <a:endParaRPr sz="1600"/>
                    </a:p>
                  </a:txBody>
                  <a:tcPr marL="0" marR="0" marT="0" marB="0" anchor="ctr" anchorCtr="0">
                    <a:lnL>
                      <a:noFill/>
                    </a:lnL>
                    <a:lnR>
                      <a:noFill/>
                    </a:lnR>
                    <a:lnT>
                      <a:noFill/>
                    </a:lnT>
                    <a:lnB>
                      <a:noFill/>
                    </a:lnB>
                    <a:solidFill>
                      <a:schemeClr val="accent1">
                        <a:lumMod val="40000"/>
                        <a:lumOff val="60000"/>
                      </a:schemeClr>
                    </a:solidFill>
                  </a:tcPr>
                </a:tc>
              </a:tr>
              <a:tr h="341630">
                <a:tc>
                  <a:txBody>
                    <a:bodyPr/>
                    <a:p>
                      <a:r>
                        <a:rPr sz="1600"/>
                        <a:t>Candidate Key</a:t>
                      </a:r>
                      <a:endParaRPr sz="1600"/>
                    </a:p>
                  </a:txBody>
                  <a:tcPr marL="0" marR="0" marT="0" marB="0" anchor="ctr" anchorCtr="0">
                    <a:lnL>
                      <a:noFill/>
                    </a:lnL>
                    <a:lnR>
                      <a:noFill/>
                    </a:lnR>
                    <a:lnT>
                      <a:noFill/>
                    </a:lnT>
                    <a:lnB>
                      <a:noFill/>
                    </a:lnB>
                    <a:solidFill>
                      <a:schemeClr val="accent1">
                        <a:lumMod val="40000"/>
                        <a:lumOff val="60000"/>
                      </a:schemeClr>
                    </a:solidFill>
                  </a:tcPr>
                </a:tc>
                <a:tc>
                  <a:txBody>
                    <a:bodyPr/>
                    <a:p>
                      <a:r>
                        <a:rPr sz="1600"/>
                        <a:t>emp_id, email in employees</a:t>
                      </a:r>
                      <a:endParaRPr sz="1600"/>
                    </a:p>
                  </a:txBody>
                  <a:tcPr marL="0" marR="0" marT="0" marB="0" anchor="ctr" anchorCtr="0">
                    <a:lnL>
                      <a:noFill/>
                    </a:lnL>
                    <a:lnR>
                      <a:noFill/>
                    </a:lnR>
                    <a:lnT>
                      <a:noFill/>
                    </a:lnT>
                    <a:lnB>
                      <a:noFill/>
                    </a:lnB>
                    <a:solidFill>
                      <a:schemeClr val="accent1">
                        <a:lumMod val="40000"/>
                        <a:lumOff val="60000"/>
                      </a:schemeClr>
                    </a:solidFill>
                  </a:tcPr>
                </a:tc>
                <a:tc>
                  <a:txBody>
                    <a:bodyPr/>
                    <a:p>
                      <a:r>
                        <a:rPr sz="1600"/>
                        <a:t>Could be primary key</a:t>
                      </a:r>
                      <a:endParaRPr sz="1600"/>
                    </a:p>
                  </a:txBody>
                  <a:tcPr marL="0" marR="0" marT="0" marB="0" anchor="ctr" anchorCtr="0">
                    <a:lnL>
                      <a:noFill/>
                    </a:lnL>
                    <a:lnR>
                      <a:noFill/>
                    </a:lnR>
                    <a:lnT>
                      <a:noFill/>
                    </a:lnT>
                    <a:lnB>
                      <a:noFill/>
                    </a:lnB>
                    <a:solidFill>
                      <a:schemeClr val="accent1">
                        <a:lumMod val="40000"/>
                        <a:lumOff val="60000"/>
                      </a:schemeClr>
                    </a:solidFill>
                  </a:tcPr>
                </a:tc>
              </a:tr>
              <a:tr h="342265">
                <a:tc>
                  <a:txBody>
                    <a:bodyPr/>
                    <a:p>
                      <a:r>
                        <a:rPr sz="1600"/>
                        <a:t>Alternate Key</a:t>
                      </a:r>
                      <a:endParaRPr sz="1600"/>
                    </a:p>
                  </a:txBody>
                  <a:tcPr marL="0" marR="0" marT="0" marB="0" anchor="ctr" anchorCtr="0">
                    <a:lnL>
                      <a:noFill/>
                    </a:lnL>
                    <a:lnR>
                      <a:noFill/>
                    </a:lnR>
                    <a:lnT>
                      <a:noFill/>
                    </a:lnT>
                    <a:lnB>
                      <a:noFill/>
                    </a:lnB>
                    <a:solidFill>
                      <a:schemeClr val="accent1">
                        <a:lumMod val="40000"/>
                        <a:lumOff val="60000"/>
                      </a:schemeClr>
                    </a:solidFill>
                  </a:tcPr>
                </a:tc>
                <a:tc>
                  <a:txBody>
                    <a:bodyPr/>
                    <a:p>
                      <a:r>
                        <a:rPr sz="1600"/>
                        <a:t>email (not chosen as PK)</a:t>
                      </a:r>
                      <a:endParaRPr sz="1600"/>
                    </a:p>
                  </a:txBody>
                  <a:tcPr marL="0" marR="0" marT="0" marB="0" anchor="ctr" anchorCtr="0">
                    <a:lnL>
                      <a:noFill/>
                    </a:lnL>
                    <a:lnR>
                      <a:noFill/>
                    </a:lnR>
                    <a:lnT>
                      <a:noFill/>
                    </a:lnT>
                    <a:lnB>
                      <a:noFill/>
                    </a:lnB>
                    <a:solidFill>
                      <a:schemeClr val="accent1">
                        <a:lumMod val="40000"/>
                        <a:lumOff val="60000"/>
                      </a:schemeClr>
                    </a:solidFill>
                  </a:tcPr>
                </a:tc>
                <a:tc>
                  <a:txBody>
                    <a:bodyPr/>
                    <a:p>
                      <a:r>
                        <a:rPr sz="1600"/>
                        <a:t>Other candidate key</a:t>
                      </a:r>
                      <a:endParaRPr sz="1600"/>
                    </a:p>
                  </a:txBody>
                  <a:tcPr marL="0" marR="0" marT="0" marB="0" anchor="ctr" anchorCtr="0">
                    <a:lnL>
                      <a:noFill/>
                    </a:lnL>
                    <a:lnR>
                      <a:noFill/>
                    </a:lnR>
                    <a:lnT>
                      <a:noFill/>
                    </a:lnT>
                    <a:lnB>
                      <a:noFill/>
                    </a:lnB>
                    <a:solidFill>
                      <a:schemeClr val="accent1">
                        <a:lumMod val="40000"/>
                        <a:lumOff val="60000"/>
                      </a:schemeClr>
                    </a:solidFill>
                  </a:tcPr>
                </a:tc>
              </a:tr>
              <a:tr h="480060">
                <a:tc>
                  <a:txBody>
                    <a:bodyPr/>
                    <a:p>
                      <a:r>
                        <a:rPr sz="1600"/>
                        <a:t>Super Key</a:t>
                      </a:r>
                      <a:endParaRPr sz="1600"/>
                    </a:p>
                  </a:txBody>
                  <a:tcPr marL="0" marR="0" marT="0" marB="0" anchor="ctr" anchorCtr="0">
                    <a:lnL>
                      <a:noFill/>
                    </a:lnL>
                    <a:lnR>
                      <a:noFill/>
                    </a:lnR>
                    <a:lnT>
                      <a:noFill/>
                    </a:lnT>
                    <a:lnB>
                      <a:noFill/>
                    </a:lnB>
                    <a:solidFill>
                      <a:schemeClr val="accent1">
                        <a:lumMod val="40000"/>
                        <a:lumOff val="60000"/>
                      </a:schemeClr>
                    </a:solidFill>
                  </a:tcPr>
                </a:tc>
                <a:tc>
                  <a:txBody>
                    <a:bodyPr/>
                    <a:p>
                      <a:r>
                        <a:rPr sz="1600"/>
                        <a:t>Any set including emp_id + email, or PK + any other column</a:t>
                      </a:r>
                      <a:endParaRPr sz="1600"/>
                    </a:p>
                  </a:txBody>
                  <a:tcPr marL="0" marR="0" marT="0" marB="0" anchor="ctr" anchorCtr="0">
                    <a:lnL>
                      <a:noFill/>
                    </a:lnL>
                    <a:lnR>
                      <a:noFill/>
                    </a:lnR>
                    <a:lnT>
                      <a:noFill/>
                    </a:lnT>
                    <a:lnB>
                      <a:noFill/>
                    </a:lnB>
                    <a:solidFill>
                      <a:schemeClr val="accent1">
                        <a:lumMod val="40000"/>
                        <a:lumOff val="60000"/>
                      </a:schemeClr>
                    </a:solidFill>
                  </a:tcPr>
                </a:tc>
                <a:tc>
                  <a:txBody>
                    <a:bodyPr/>
                    <a:p>
                      <a:endParaRPr sz="1600"/>
                    </a:p>
                  </a:txBody>
                  <a:tcPr marL="0" marR="0" marT="0" marB="0" anchor="ctr" anchorCtr="0">
                    <a:lnL>
                      <a:noFill/>
                    </a:lnL>
                    <a:lnR>
                      <a:noFill/>
                    </a:lnR>
                    <a:lnT>
                      <a:noFill/>
                    </a:lnT>
                    <a:lnB>
                      <a:noFill/>
                    </a:lnB>
                    <a:solidFill>
                      <a:schemeClr val="accent1">
                        <a:lumMod val="40000"/>
                        <a:lumOff val="60000"/>
                      </a:schemeClr>
                    </a:solidFill>
                  </a:tcPr>
                </a:tc>
              </a:tr>
              <a:tr h="342265">
                <a:tc>
                  <a:txBody>
                    <a:bodyPr/>
                    <a:p>
                      <a:r>
                        <a:rPr sz="1600"/>
                        <a:t>Index Key</a:t>
                      </a:r>
                      <a:endParaRPr sz="1600"/>
                    </a:p>
                  </a:txBody>
                  <a:tcPr marL="0" marR="0" marT="0" marB="0" anchor="ctr" anchorCtr="0">
                    <a:lnL>
                      <a:noFill/>
                    </a:lnL>
                    <a:lnR>
                      <a:noFill/>
                    </a:lnR>
                    <a:lnT>
                      <a:noFill/>
                    </a:lnT>
                    <a:lnB>
                      <a:noFill/>
                    </a:lnB>
                    <a:solidFill>
                      <a:schemeClr val="accent1">
                        <a:lumMod val="40000"/>
                        <a:lumOff val="60000"/>
                      </a:schemeClr>
                    </a:solidFill>
                  </a:tcPr>
                </a:tc>
                <a:tc>
                  <a:txBody>
                    <a:bodyPr/>
                    <a:p>
                      <a:r>
                        <a:rPr sz="1600"/>
                        <a:t>phone_number in employees</a:t>
                      </a:r>
                      <a:endParaRPr sz="1600"/>
                    </a:p>
                  </a:txBody>
                  <a:tcPr marL="0" marR="0" marT="0" marB="0" anchor="ctr" anchorCtr="0">
                    <a:lnL>
                      <a:noFill/>
                    </a:lnL>
                    <a:lnR>
                      <a:noFill/>
                    </a:lnR>
                    <a:lnT>
                      <a:noFill/>
                    </a:lnT>
                    <a:lnB>
                      <a:noFill/>
                    </a:lnB>
                    <a:solidFill>
                      <a:schemeClr val="accent1">
                        <a:lumMod val="40000"/>
                        <a:lumOff val="60000"/>
                      </a:schemeClr>
                    </a:solidFill>
                  </a:tcPr>
                </a:tc>
                <a:tc>
                  <a:txBody>
                    <a:bodyPr/>
                    <a:p>
                      <a:r>
                        <a:rPr sz="1600"/>
                        <a:t>Used to speed up searches</a:t>
                      </a:r>
                      <a:endParaRPr sz="1600"/>
                    </a:p>
                  </a:txBody>
                  <a:tcPr marL="0" marR="0" marT="0" marB="0" anchor="ctr" anchorCtr="0">
                    <a:lnL>
                      <a:noFill/>
                    </a:lnL>
                    <a:lnR>
                      <a:noFill/>
                    </a:lnR>
                    <a:lnT>
                      <a:noFill/>
                    </a:lnT>
                    <a:lnB>
                      <a:noFill/>
                    </a:lnB>
                    <a:solidFill>
                      <a:schemeClr val="accent1">
                        <a:lumMod val="40000"/>
                        <a:lumOff val="60000"/>
                      </a:schemeClr>
                    </a:solid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08280" y="0"/>
            <a:ext cx="10515600" cy="330200"/>
          </a:xfrm>
        </p:spPr>
        <p:txBody>
          <a:bodyPr>
            <a:normAutofit fontScale="90000"/>
          </a:bodyPr>
          <a:p>
            <a:r>
              <a:rPr lang="en-US" sz="2400" b="1">
                <a:solidFill>
                  <a:srgbClr val="FF0000"/>
                </a:solidFill>
              </a:rPr>
              <a:t>SQL Keys</a:t>
            </a:r>
            <a:endParaRPr lang="en-US" sz="2400" b="1">
              <a:solidFill>
                <a:srgbClr val="FF0000"/>
              </a:solidFill>
            </a:endParaRPr>
          </a:p>
        </p:txBody>
      </p:sp>
      <p:graphicFrame>
        <p:nvGraphicFramePr>
          <p:cNvPr id="4" name="Table 3"/>
          <p:cNvGraphicFramePr/>
          <p:nvPr>
            <p:custDataLst>
              <p:tags r:id="rId1"/>
            </p:custDataLst>
          </p:nvPr>
        </p:nvGraphicFramePr>
        <p:xfrm>
          <a:off x="0" y="330200"/>
          <a:ext cx="12192000" cy="2616200"/>
        </p:xfrm>
        <a:graphic>
          <a:graphicData uri="http://schemas.openxmlformats.org/drawingml/2006/table">
            <a:tbl>
              <a:tblPr/>
              <a:tblGrid>
                <a:gridCol w="3941445"/>
                <a:gridCol w="8250555"/>
              </a:tblGrid>
              <a:tr h="327025">
                <a:tc>
                  <a:txBody>
                    <a:bodyPr/>
                    <a:p>
                      <a:r>
                        <a:rPr sz="1600"/>
                        <a:t>SQL Key Type</a:t>
                      </a:r>
                      <a:endParaRPr sz="1600"/>
                    </a:p>
                  </a:txBody>
                  <a:tcPr marL="0" marR="0" marT="0" marB="0" anchor="ctr" anchorCtr="0">
                    <a:lnL>
                      <a:noFill/>
                    </a:lnL>
                    <a:lnR>
                      <a:noFill/>
                    </a:lnR>
                    <a:lnT>
                      <a:noFill/>
                    </a:lnT>
                    <a:lnB>
                      <a:noFill/>
                    </a:lnB>
                    <a:noFill/>
                  </a:tcPr>
                </a:tc>
                <a:tc>
                  <a:txBody>
                    <a:bodyPr/>
                    <a:p>
                      <a:r>
                        <a:rPr sz="1600"/>
                        <a:t>Command / Syntax Example</a:t>
                      </a:r>
                      <a:endParaRPr sz="1600"/>
                    </a:p>
                  </a:txBody>
                  <a:tcPr marL="0" marR="0" marT="0" marB="0" anchor="ctr" anchorCtr="0">
                    <a:lnL>
                      <a:noFill/>
                    </a:lnL>
                    <a:lnR>
                      <a:noFill/>
                    </a:lnR>
                    <a:lnT>
                      <a:noFill/>
                    </a:lnT>
                    <a:lnB>
                      <a:noFill/>
                    </a:lnB>
                    <a:noFill/>
                  </a:tcPr>
                </a:tc>
              </a:tr>
              <a:tr h="327025">
                <a:tc>
                  <a:txBody>
                    <a:bodyPr/>
                    <a:p>
                      <a:r>
                        <a:rPr sz="1600"/>
                        <a:t>Primary Key</a:t>
                      </a:r>
                      <a:endParaRPr sz="1600"/>
                    </a:p>
                  </a:txBody>
                  <a:tcPr marL="0" marR="0" marT="0" marB="0" anchor="ctr" anchorCtr="0">
                    <a:lnL>
                      <a:noFill/>
                    </a:lnL>
                    <a:lnR>
                      <a:noFill/>
                    </a:lnR>
                    <a:lnT>
                      <a:noFill/>
                    </a:lnT>
                    <a:lnB>
                      <a:noFill/>
                    </a:lnB>
                    <a:noFill/>
                  </a:tcPr>
                </a:tc>
                <a:tc>
                  <a:txBody>
                    <a:bodyPr/>
                    <a:p>
                      <a:r>
                        <a:rPr sz="1600"/>
                        <a:t>PRIMARY KEY (col)</a:t>
                      </a:r>
                      <a:endParaRPr sz="1600"/>
                    </a:p>
                  </a:txBody>
                  <a:tcPr marL="0" marR="0" marT="0" marB="0" anchor="ctr" anchorCtr="0">
                    <a:lnL>
                      <a:noFill/>
                    </a:lnL>
                    <a:lnR>
                      <a:noFill/>
                    </a:lnR>
                    <a:lnT>
                      <a:noFill/>
                    </a:lnT>
                    <a:lnB>
                      <a:noFill/>
                    </a:lnB>
                    <a:noFill/>
                  </a:tcPr>
                </a:tc>
              </a:tr>
              <a:tr h="327025">
                <a:tc>
                  <a:txBody>
                    <a:bodyPr/>
                    <a:p>
                      <a:r>
                        <a:rPr sz="1600"/>
                        <a:t>Foreign Key</a:t>
                      </a:r>
                      <a:endParaRPr sz="1600"/>
                    </a:p>
                  </a:txBody>
                  <a:tcPr marL="0" marR="0" marT="0" marB="0" anchor="ctr" anchorCtr="0">
                    <a:lnL>
                      <a:noFill/>
                    </a:lnL>
                    <a:lnR>
                      <a:noFill/>
                    </a:lnR>
                    <a:lnT>
                      <a:noFill/>
                    </a:lnT>
                    <a:lnB>
                      <a:noFill/>
                    </a:lnB>
                    <a:noFill/>
                  </a:tcPr>
                </a:tc>
                <a:tc>
                  <a:txBody>
                    <a:bodyPr/>
                    <a:p>
                      <a:r>
                        <a:rPr sz="1600"/>
                        <a:t>FOREIGN KEY (col) REFERENCES other_table(other_col)</a:t>
                      </a:r>
                      <a:endParaRPr sz="1600"/>
                    </a:p>
                  </a:txBody>
                  <a:tcPr marL="0" marR="0" marT="0" marB="0" anchor="ctr" anchorCtr="0">
                    <a:lnL>
                      <a:noFill/>
                    </a:lnL>
                    <a:lnR>
                      <a:noFill/>
                    </a:lnR>
                    <a:lnT>
                      <a:noFill/>
                    </a:lnT>
                    <a:lnB>
                      <a:noFill/>
                    </a:lnB>
                    <a:noFill/>
                  </a:tcPr>
                </a:tc>
              </a:tr>
              <a:tr h="327025">
                <a:tc>
                  <a:txBody>
                    <a:bodyPr/>
                    <a:p>
                      <a:r>
                        <a:rPr sz="1600"/>
                        <a:t>Unique Key</a:t>
                      </a:r>
                      <a:endParaRPr sz="1600"/>
                    </a:p>
                  </a:txBody>
                  <a:tcPr marL="0" marR="0" marT="0" marB="0" anchor="ctr" anchorCtr="0">
                    <a:lnL>
                      <a:noFill/>
                    </a:lnL>
                    <a:lnR>
                      <a:noFill/>
                    </a:lnR>
                    <a:lnT>
                      <a:noFill/>
                    </a:lnT>
                    <a:lnB>
                      <a:noFill/>
                    </a:lnB>
                    <a:noFill/>
                  </a:tcPr>
                </a:tc>
                <a:tc>
                  <a:txBody>
                    <a:bodyPr/>
                    <a:p>
                      <a:r>
                        <a:rPr sz="1600"/>
                        <a:t>UNIQUE (col)</a:t>
                      </a:r>
                      <a:endParaRPr sz="1600"/>
                    </a:p>
                  </a:txBody>
                  <a:tcPr marL="0" marR="0" marT="0" marB="0" anchor="ctr" anchorCtr="0">
                    <a:lnL>
                      <a:noFill/>
                    </a:lnL>
                    <a:lnR>
                      <a:noFill/>
                    </a:lnR>
                    <a:lnT>
                      <a:noFill/>
                    </a:lnT>
                    <a:lnB>
                      <a:noFill/>
                    </a:lnB>
                    <a:noFill/>
                  </a:tcPr>
                </a:tc>
              </a:tr>
              <a:tr h="327025">
                <a:tc>
                  <a:txBody>
                    <a:bodyPr/>
                    <a:p>
                      <a:r>
                        <a:rPr sz="1600"/>
                        <a:t>Composite Key</a:t>
                      </a:r>
                      <a:endParaRPr sz="1600"/>
                    </a:p>
                  </a:txBody>
                  <a:tcPr marL="0" marR="0" marT="0" marB="0" anchor="ctr" anchorCtr="0">
                    <a:lnL>
                      <a:noFill/>
                    </a:lnL>
                    <a:lnR>
                      <a:noFill/>
                    </a:lnR>
                    <a:lnT>
                      <a:noFill/>
                    </a:lnT>
                    <a:lnB>
                      <a:noFill/>
                    </a:lnB>
                    <a:noFill/>
                  </a:tcPr>
                </a:tc>
                <a:tc>
                  <a:txBody>
                    <a:bodyPr/>
                    <a:p>
                      <a:r>
                        <a:rPr sz="1600"/>
                        <a:t>PRIMARY KEY (col1, col2)</a:t>
                      </a:r>
                      <a:endParaRPr sz="1600"/>
                    </a:p>
                  </a:txBody>
                  <a:tcPr marL="0" marR="0" marT="0" marB="0" anchor="ctr" anchorCtr="0">
                    <a:lnL>
                      <a:noFill/>
                    </a:lnL>
                    <a:lnR>
                      <a:noFill/>
                    </a:lnR>
                    <a:lnT>
                      <a:noFill/>
                    </a:lnT>
                    <a:lnB>
                      <a:noFill/>
                    </a:lnB>
                    <a:noFill/>
                  </a:tcPr>
                </a:tc>
              </a:tr>
              <a:tr h="327025">
                <a:tc>
                  <a:txBody>
                    <a:bodyPr/>
                    <a:p>
                      <a:r>
                        <a:rPr sz="1600"/>
                        <a:t>Index</a:t>
                      </a:r>
                      <a:endParaRPr sz="1600"/>
                    </a:p>
                  </a:txBody>
                  <a:tcPr marL="0" marR="0" marT="0" marB="0" anchor="ctr" anchorCtr="0">
                    <a:lnL>
                      <a:noFill/>
                    </a:lnL>
                    <a:lnR>
                      <a:noFill/>
                    </a:lnR>
                    <a:lnT>
                      <a:noFill/>
                    </a:lnT>
                    <a:lnB>
                      <a:noFill/>
                    </a:lnB>
                    <a:noFill/>
                  </a:tcPr>
                </a:tc>
                <a:tc>
                  <a:txBody>
                    <a:bodyPr/>
                    <a:p>
                      <a:r>
                        <a:rPr sz="1600"/>
                        <a:t>CREATE INDEX idx_name ON table(col);</a:t>
                      </a:r>
                      <a:endParaRPr sz="1600"/>
                    </a:p>
                  </a:txBody>
                  <a:tcPr marL="0" marR="0" marT="0" marB="0" anchor="ctr" anchorCtr="0">
                    <a:lnL>
                      <a:noFill/>
                    </a:lnL>
                    <a:lnR>
                      <a:noFill/>
                    </a:lnR>
                    <a:lnT>
                      <a:noFill/>
                    </a:lnT>
                    <a:lnB>
                      <a:noFill/>
                    </a:lnB>
                    <a:noFill/>
                  </a:tcPr>
                </a:tc>
              </a:tr>
              <a:tr h="327025">
                <a:tc>
                  <a:txBody>
                    <a:bodyPr/>
                    <a:p>
                      <a:r>
                        <a:rPr sz="1600"/>
                        <a:t>All Keys</a:t>
                      </a:r>
                      <a:endParaRPr sz="1600"/>
                    </a:p>
                  </a:txBody>
                  <a:tcPr marL="0" marR="0" marT="0" marB="0" anchor="ctr" anchorCtr="0">
                    <a:lnL>
                      <a:noFill/>
                    </a:lnL>
                    <a:lnR>
                      <a:noFill/>
                    </a:lnR>
                    <a:lnT>
                      <a:noFill/>
                    </a:lnT>
                    <a:lnB>
                      <a:noFill/>
                    </a:lnB>
                    <a:noFill/>
                  </a:tcPr>
                </a:tc>
                <a:tc>
                  <a:txBody>
                    <a:bodyPr/>
                    <a:p>
                      <a:r>
                        <a:rPr sz="1600"/>
                        <a:t>SHOW KEYS FROM table;</a:t>
                      </a:r>
                      <a:endParaRPr sz="1600"/>
                    </a:p>
                  </a:txBody>
                  <a:tcPr marL="0" marR="0" marT="0" marB="0" anchor="ctr" anchorCtr="0">
                    <a:lnL>
                      <a:noFill/>
                    </a:lnL>
                    <a:lnR>
                      <a:noFill/>
                    </a:lnR>
                    <a:lnT>
                      <a:noFill/>
                    </a:lnT>
                    <a:lnB>
                      <a:noFill/>
                    </a:lnB>
                    <a:noFill/>
                  </a:tcPr>
                </a:tc>
              </a:tr>
              <a:tr h="327025">
                <a:tc>
                  <a:txBody>
                    <a:bodyPr/>
                    <a:p>
                      <a:r>
                        <a:rPr sz="1600"/>
                        <a:t>Foreign Key Info</a:t>
                      </a:r>
                      <a:endParaRPr sz="1600"/>
                    </a:p>
                  </a:txBody>
                  <a:tcPr marL="0" marR="0" marT="0" marB="0" anchor="ctr" anchorCtr="0">
                    <a:lnL>
                      <a:noFill/>
                    </a:lnL>
                    <a:lnR>
                      <a:noFill/>
                    </a:lnR>
                    <a:lnT>
                      <a:noFill/>
                    </a:lnT>
                    <a:lnB>
                      <a:noFill/>
                    </a:lnB>
                    <a:noFill/>
                  </a:tcPr>
                </a:tc>
                <a:tc>
                  <a:txBody>
                    <a:bodyPr/>
                    <a:p>
                      <a:r>
                        <a:rPr sz="1600"/>
                        <a:t>Use information_schema.key_column_usage query</a:t>
                      </a:r>
                      <a:endParaRPr sz="1600"/>
                    </a:p>
                  </a:txBody>
                  <a:tcPr marL="0" marR="0" marT="0" marB="0" anchor="ctr" anchorCtr="0">
                    <a:lnL>
                      <a:noFill/>
                    </a:lnL>
                    <a:lnR>
                      <a:noFill/>
                    </a:lnR>
                    <a:lnT>
                      <a:noFill/>
                    </a:lnT>
                    <a:lnB>
                      <a:noFill/>
                    </a:lnB>
                    <a:no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27990" y="0"/>
            <a:ext cx="10515600" cy="388620"/>
          </a:xfrm>
        </p:spPr>
        <p:txBody>
          <a:bodyPr>
            <a:normAutofit fontScale="90000"/>
          </a:bodyPr>
          <a:p>
            <a:r>
              <a:rPr lang="en-US" sz="2800" b="1">
                <a:solidFill>
                  <a:srgbClr val="FF0000"/>
                </a:solidFill>
              </a:rPr>
              <a:t>Sql Keys</a:t>
            </a:r>
            <a:endParaRPr lang="en-US" sz="2800" b="1">
              <a:solidFill>
                <a:srgbClr val="FF0000"/>
              </a:solidFill>
            </a:endParaRPr>
          </a:p>
        </p:txBody>
      </p:sp>
      <p:graphicFrame>
        <p:nvGraphicFramePr>
          <p:cNvPr id="4" name="Table 3"/>
          <p:cNvGraphicFramePr/>
          <p:nvPr>
            <p:custDataLst>
              <p:tags r:id="rId1"/>
            </p:custDataLst>
          </p:nvPr>
        </p:nvGraphicFramePr>
        <p:xfrm>
          <a:off x="165100" y="476250"/>
          <a:ext cx="11861800" cy="2668905"/>
        </p:xfrm>
        <a:graphic>
          <a:graphicData uri="http://schemas.openxmlformats.org/drawingml/2006/table">
            <a:tbl>
              <a:tblPr/>
              <a:tblGrid>
                <a:gridCol w="3879215"/>
                <a:gridCol w="7982585"/>
              </a:tblGrid>
              <a:tr h="296545">
                <a:tc>
                  <a:txBody>
                    <a:bodyPr/>
                    <a:p>
                      <a:pPr algn="ctr"/>
                      <a:r>
                        <a:rPr sz="2400" b="1"/>
                        <a:t>Key Type</a:t>
                      </a:r>
                      <a:endParaRPr sz="2400" b="1"/>
                    </a:p>
                  </a:txBody>
                  <a:tcPr marL="0" marR="0" marT="0" marB="0" anchor="ctr" anchorCtr="0">
                    <a:lnL>
                      <a:noFill/>
                    </a:lnL>
                    <a:lnR>
                      <a:noFill/>
                    </a:lnR>
                    <a:lnT>
                      <a:noFill/>
                    </a:lnT>
                    <a:lnB>
                      <a:noFill/>
                    </a:lnB>
                    <a:noFill/>
                  </a:tcPr>
                </a:tc>
                <a:tc>
                  <a:txBody>
                    <a:bodyPr/>
                    <a:p>
                      <a:pPr algn="ctr"/>
                      <a:r>
                        <a:rPr sz="2400" b="1"/>
                        <a:t>Description</a:t>
                      </a:r>
                      <a:endParaRPr sz="2400" b="1"/>
                    </a:p>
                  </a:txBody>
                  <a:tcPr marL="0" marR="0" marT="0" marB="0" anchor="ctr" anchorCtr="0">
                    <a:lnL>
                      <a:noFill/>
                    </a:lnL>
                    <a:lnR>
                      <a:noFill/>
                    </a:lnR>
                    <a:lnT>
                      <a:noFill/>
                    </a:lnT>
                    <a:lnB>
                      <a:noFill/>
                    </a:lnB>
                    <a:noFill/>
                  </a:tcPr>
                </a:tc>
              </a:tr>
              <a:tr h="296545">
                <a:tc>
                  <a:txBody>
                    <a:bodyPr/>
                    <a:p>
                      <a:r>
                        <a:rPr sz="1800"/>
                        <a:t>🔹 Primary Key</a:t>
                      </a:r>
                      <a:endParaRPr sz="1800"/>
                    </a:p>
                  </a:txBody>
                  <a:tcPr marL="0" marR="0" marT="0" marB="0" anchor="ctr" anchorCtr="0">
                    <a:lnL>
                      <a:noFill/>
                    </a:lnL>
                    <a:lnR>
                      <a:noFill/>
                    </a:lnR>
                    <a:lnT>
                      <a:noFill/>
                    </a:lnT>
                    <a:lnB>
                      <a:noFill/>
                    </a:lnB>
                    <a:noFill/>
                  </a:tcPr>
                </a:tc>
                <a:tc>
                  <a:txBody>
                    <a:bodyPr/>
                    <a:p>
                      <a:r>
                        <a:rPr sz="1800"/>
                        <a:t>Uniquely identifies each row in a table. No duplicates, no NULLs.</a:t>
                      </a:r>
                      <a:endParaRPr sz="1800"/>
                    </a:p>
                  </a:txBody>
                  <a:tcPr marL="0" marR="0" marT="0" marB="0" anchor="ctr" anchorCtr="0">
                    <a:lnL>
                      <a:noFill/>
                    </a:lnL>
                    <a:lnR>
                      <a:noFill/>
                    </a:lnR>
                    <a:lnT>
                      <a:noFill/>
                    </a:lnT>
                    <a:lnB>
                      <a:noFill/>
                    </a:lnB>
                    <a:noFill/>
                  </a:tcPr>
                </a:tc>
              </a:tr>
              <a:tr h="296545">
                <a:tc>
                  <a:txBody>
                    <a:bodyPr/>
                    <a:p>
                      <a:r>
                        <a:rPr sz="1800"/>
                        <a:t>🔹 Foreign Key</a:t>
                      </a:r>
                      <a:endParaRPr sz="1800"/>
                    </a:p>
                  </a:txBody>
                  <a:tcPr marL="0" marR="0" marT="0" marB="0" anchor="ctr" anchorCtr="0">
                    <a:lnL>
                      <a:noFill/>
                    </a:lnL>
                    <a:lnR>
                      <a:noFill/>
                    </a:lnR>
                    <a:lnT>
                      <a:noFill/>
                    </a:lnT>
                    <a:lnB>
                      <a:noFill/>
                    </a:lnB>
                    <a:noFill/>
                  </a:tcPr>
                </a:tc>
                <a:tc>
                  <a:txBody>
                    <a:bodyPr/>
                    <a:p>
                      <a:r>
                        <a:rPr sz="1800"/>
                        <a:t>Links two tables by referencing a primary key in another table.</a:t>
                      </a:r>
                      <a:endParaRPr sz="1800"/>
                    </a:p>
                  </a:txBody>
                  <a:tcPr marL="0" marR="0" marT="0" marB="0" anchor="ctr" anchorCtr="0">
                    <a:lnL>
                      <a:noFill/>
                    </a:lnL>
                    <a:lnR>
                      <a:noFill/>
                    </a:lnR>
                    <a:lnT>
                      <a:noFill/>
                    </a:lnT>
                    <a:lnB>
                      <a:noFill/>
                    </a:lnB>
                    <a:noFill/>
                  </a:tcPr>
                </a:tc>
              </a:tr>
              <a:tr h="296545">
                <a:tc>
                  <a:txBody>
                    <a:bodyPr/>
                    <a:p>
                      <a:r>
                        <a:rPr sz="1800"/>
                        <a:t>🔹 Unique Key</a:t>
                      </a:r>
                      <a:endParaRPr sz="1800"/>
                    </a:p>
                  </a:txBody>
                  <a:tcPr marL="0" marR="0" marT="0" marB="0" anchor="ctr" anchorCtr="0">
                    <a:lnL>
                      <a:noFill/>
                    </a:lnL>
                    <a:lnR>
                      <a:noFill/>
                    </a:lnR>
                    <a:lnT>
                      <a:noFill/>
                    </a:lnT>
                    <a:lnB>
                      <a:noFill/>
                    </a:lnB>
                    <a:noFill/>
                  </a:tcPr>
                </a:tc>
                <a:tc>
                  <a:txBody>
                    <a:bodyPr/>
                    <a:p>
                      <a:r>
                        <a:rPr sz="1800"/>
                        <a:t>Ensures all values in a column are unique, but allows one NULL value.</a:t>
                      </a:r>
                      <a:endParaRPr sz="1800"/>
                    </a:p>
                  </a:txBody>
                  <a:tcPr marL="0" marR="0" marT="0" marB="0" anchor="ctr" anchorCtr="0">
                    <a:lnL>
                      <a:noFill/>
                    </a:lnL>
                    <a:lnR>
                      <a:noFill/>
                    </a:lnR>
                    <a:lnT>
                      <a:noFill/>
                    </a:lnT>
                    <a:lnB>
                      <a:noFill/>
                    </a:lnB>
                    <a:noFill/>
                  </a:tcPr>
                </a:tc>
              </a:tr>
              <a:tr h="296545">
                <a:tc>
                  <a:txBody>
                    <a:bodyPr/>
                    <a:p>
                      <a:r>
                        <a:rPr sz="1800"/>
                        <a:t>🔹 Composite Key</a:t>
                      </a:r>
                      <a:endParaRPr sz="1800"/>
                    </a:p>
                  </a:txBody>
                  <a:tcPr marL="0" marR="0" marT="0" marB="0" anchor="ctr" anchorCtr="0">
                    <a:lnL>
                      <a:noFill/>
                    </a:lnL>
                    <a:lnR>
                      <a:noFill/>
                    </a:lnR>
                    <a:lnT>
                      <a:noFill/>
                    </a:lnT>
                    <a:lnB>
                      <a:noFill/>
                    </a:lnB>
                    <a:noFill/>
                  </a:tcPr>
                </a:tc>
                <a:tc>
                  <a:txBody>
                    <a:bodyPr/>
                    <a:p>
                      <a:r>
                        <a:rPr sz="1800"/>
                        <a:t>A primary or unique key made of two or more columns.</a:t>
                      </a:r>
                      <a:endParaRPr sz="1800"/>
                    </a:p>
                  </a:txBody>
                  <a:tcPr marL="0" marR="0" marT="0" marB="0" anchor="ctr" anchorCtr="0">
                    <a:lnL>
                      <a:noFill/>
                    </a:lnL>
                    <a:lnR>
                      <a:noFill/>
                    </a:lnR>
                    <a:lnT>
                      <a:noFill/>
                    </a:lnT>
                    <a:lnB>
                      <a:noFill/>
                    </a:lnB>
                    <a:noFill/>
                  </a:tcPr>
                </a:tc>
              </a:tr>
              <a:tr h="296545">
                <a:tc>
                  <a:txBody>
                    <a:bodyPr/>
                    <a:p>
                      <a:r>
                        <a:rPr sz="1800"/>
                        <a:t>🔹 Candidate Key</a:t>
                      </a:r>
                      <a:endParaRPr sz="1800"/>
                    </a:p>
                  </a:txBody>
                  <a:tcPr marL="0" marR="0" marT="0" marB="0" anchor="ctr" anchorCtr="0">
                    <a:lnL>
                      <a:noFill/>
                    </a:lnL>
                    <a:lnR>
                      <a:noFill/>
                    </a:lnR>
                    <a:lnT>
                      <a:noFill/>
                    </a:lnT>
                    <a:lnB>
                      <a:noFill/>
                    </a:lnB>
                    <a:noFill/>
                  </a:tcPr>
                </a:tc>
                <a:tc>
                  <a:txBody>
                    <a:bodyPr/>
                    <a:p>
                      <a:r>
                        <a:rPr sz="1800"/>
                        <a:t>A column (or set) that can qualify as a primary key. One is chosen as PK.</a:t>
                      </a:r>
                      <a:endParaRPr sz="1800"/>
                    </a:p>
                  </a:txBody>
                  <a:tcPr marL="0" marR="0" marT="0" marB="0" anchor="ctr" anchorCtr="0">
                    <a:lnL>
                      <a:noFill/>
                    </a:lnL>
                    <a:lnR>
                      <a:noFill/>
                    </a:lnR>
                    <a:lnT>
                      <a:noFill/>
                    </a:lnT>
                    <a:lnB>
                      <a:noFill/>
                    </a:lnB>
                    <a:noFill/>
                  </a:tcPr>
                </a:tc>
              </a:tr>
              <a:tr h="296545">
                <a:tc>
                  <a:txBody>
                    <a:bodyPr/>
                    <a:p>
                      <a:r>
                        <a:rPr sz="1800"/>
                        <a:t>🔹 Alternate Key</a:t>
                      </a:r>
                      <a:endParaRPr sz="1800"/>
                    </a:p>
                  </a:txBody>
                  <a:tcPr marL="0" marR="0" marT="0" marB="0" anchor="ctr" anchorCtr="0">
                    <a:lnL>
                      <a:noFill/>
                    </a:lnL>
                    <a:lnR>
                      <a:noFill/>
                    </a:lnR>
                    <a:lnT>
                      <a:noFill/>
                    </a:lnT>
                    <a:lnB>
                      <a:noFill/>
                    </a:lnB>
                    <a:noFill/>
                  </a:tcPr>
                </a:tc>
                <a:tc>
                  <a:txBody>
                    <a:bodyPr/>
                    <a:p>
                      <a:r>
                        <a:rPr sz="1800"/>
                        <a:t>Candidate keys not chosen as the primary key.</a:t>
                      </a:r>
                      <a:r>
                        <a:rPr lang="en-US" sz="1800"/>
                        <a:t> unqiue</a:t>
                      </a:r>
                      <a:endParaRPr lang="en-US" sz="1800"/>
                    </a:p>
                  </a:txBody>
                  <a:tcPr marL="0" marR="0" marT="0" marB="0" anchor="ctr" anchorCtr="0">
                    <a:lnL>
                      <a:noFill/>
                    </a:lnL>
                    <a:lnR>
                      <a:noFill/>
                    </a:lnR>
                    <a:lnT>
                      <a:noFill/>
                    </a:lnT>
                    <a:lnB>
                      <a:noFill/>
                    </a:lnB>
                    <a:noFill/>
                  </a:tcPr>
                </a:tc>
              </a:tr>
              <a:tr h="296545">
                <a:tc>
                  <a:txBody>
                    <a:bodyPr/>
                    <a:p>
                      <a:r>
                        <a:rPr sz="1800"/>
                        <a:t>🔹 Super Key</a:t>
                      </a:r>
                      <a:endParaRPr sz="1800"/>
                    </a:p>
                  </a:txBody>
                  <a:tcPr marL="0" marR="0" marT="0" marB="0" anchor="ctr" anchorCtr="0">
                    <a:lnL>
                      <a:noFill/>
                    </a:lnL>
                    <a:lnR>
                      <a:noFill/>
                    </a:lnR>
                    <a:lnT>
                      <a:noFill/>
                    </a:lnT>
                    <a:lnB>
                      <a:noFill/>
                    </a:lnB>
                    <a:noFill/>
                  </a:tcPr>
                </a:tc>
                <a:tc>
                  <a:txBody>
                    <a:bodyPr/>
                    <a:p>
                      <a:r>
                        <a:rPr sz="1800"/>
                        <a:t>Any set of columns that uniquely identifies a row (can include extra cols).</a:t>
                      </a:r>
                      <a:endParaRPr sz="1800"/>
                    </a:p>
                  </a:txBody>
                  <a:tcPr marL="0" marR="0" marT="0" marB="0" anchor="ctr" anchorCtr="0">
                    <a:lnL>
                      <a:noFill/>
                    </a:lnL>
                    <a:lnR>
                      <a:noFill/>
                    </a:lnR>
                    <a:lnT>
                      <a:noFill/>
                    </a:lnT>
                    <a:lnB>
                      <a:noFill/>
                    </a:lnB>
                    <a:noFill/>
                  </a:tcPr>
                </a:tc>
              </a:tr>
              <a:tr h="296545">
                <a:tc>
                  <a:txBody>
                    <a:bodyPr/>
                    <a:p>
                      <a:r>
                        <a:rPr sz="1800"/>
                        <a:t>🔹 Index Key</a:t>
                      </a:r>
                      <a:endParaRPr sz="1800"/>
                    </a:p>
                  </a:txBody>
                  <a:tcPr marL="0" marR="0" marT="0" marB="0" anchor="ctr" anchorCtr="0">
                    <a:lnL>
                      <a:noFill/>
                    </a:lnL>
                    <a:lnR>
                      <a:noFill/>
                    </a:lnR>
                    <a:lnT>
                      <a:noFill/>
                    </a:lnT>
                    <a:lnB>
                      <a:noFill/>
                    </a:lnB>
                    <a:noFill/>
                  </a:tcPr>
                </a:tc>
                <a:tc>
                  <a:txBody>
                    <a:bodyPr/>
                    <a:p>
                      <a:r>
                        <a:rPr sz="1800"/>
                        <a:t>Speeds up queries. Not necessarily unique or enforcing integrity.</a:t>
                      </a:r>
                      <a:endParaRPr sz="1800"/>
                    </a:p>
                  </a:txBody>
                  <a:tcPr marL="0" marR="0" marT="0" marB="0" anchor="ctr" anchorCtr="0">
                    <a:lnL>
                      <a:noFill/>
                    </a:lnL>
                    <a:lnR>
                      <a:noFill/>
                    </a:lnR>
                    <a:lnT>
                      <a:noFill/>
                    </a:lnT>
                    <a:lnB>
                      <a:noFill/>
                    </a:lnB>
                    <a:no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a:xfrm>
            <a:off x="762000" y="96520"/>
            <a:ext cx="9144000" cy="439420"/>
          </a:xfrm>
        </p:spPr>
        <p:txBody>
          <a:bodyPr>
            <a:noAutofit/>
          </a:bodyPr>
          <a:p>
            <a:r>
              <a:rPr lang="en-US" sz="2400" b="1">
                <a:solidFill>
                  <a:srgbClr val="FF0000"/>
                </a:solidFill>
              </a:rPr>
              <a:t>SQL Constraints</a:t>
            </a:r>
            <a:endParaRPr lang="en-US" sz="2400" b="1">
              <a:solidFill>
                <a:srgbClr val="FF0000"/>
              </a:solidFill>
            </a:endParaRPr>
          </a:p>
        </p:txBody>
      </p:sp>
      <p:graphicFrame>
        <p:nvGraphicFramePr>
          <p:cNvPr id="4" name="Table 3"/>
          <p:cNvGraphicFramePr/>
          <p:nvPr>
            <p:custDataLst>
              <p:tags r:id="rId1"/>
            </p:custDataLst>
          </p:nvPr>
        </p:nvGraphicFramePr>
        <p:xfrm>
          <a:off x="135890" y="648335"/>
          <a:ext cx="11935460" cy="3002280"/>
        </p:xfrm>
        <a:graphic>
          <a:graphicData uri="http://schemas.openxmlformats.org/drawingml/2006/table">
            <a:tbl>
              <a:tblPr/>
              <a:tblGrid>
                <a:gridCol w="5967730"/>
                <a:gridCol w="5967730"/>
              </a:tblGrid>
              <a:tr h="375285">
                <a:tc>
                  <a:txBody>
                    <a:bodyPr/>
                    <a:p>
                      <a:pPr algn="ctr"/>
                      <a:r>
                        <a:rPr sz="2400" b="1"/>
                        <a:t>Constraint</a:t>
                      </a:r>
                      <a:endParaRPr sz="2400" b="1"/>
                    </a:p>
                  </a:txBody>
                  <a:tcPr marL="0" marR="0" marT="0" marB="0" anchor="ctr" anchorCtr="0">
                    <a:lnL>
                      <a:noFill/>
                    </a:lnL>
                    <a:lnR>
                      <a:noFill/>
                    </a:lnR>
                    <a:lnT>
                      <a:noFill/>
                    </a:lnT>
                    <a:lnB>
                      <a:noFill/>
                    </a:lnB>
                    <a:solidFill>
                      <a:schemeClr val="accent1">
                        <a:lumMod val="40000"/>
                        <a:lumOff val="60000"/>
                      </a:schemeClr>
                    </a:solidFill>
                  </a:tcPr>
                </a:tc>
                <a:tc>
                  <a:txBody>
                    <a:bodyPr/>
                    <a:p>
                      <a:pPr algn="ctr"/>
                      <a:r>
                        <a:rPr sz="2400" b="1"/>
                        <a:t>Description</a:t>
                      </a:r>
                      <a:endParaRPr sz="2400" b="1"/>
                    </a:p>
                  </a:txBody>
                  <a:tcPr marL="0" marR="0" marT="0" marB="0" anchor="ctr" anchorCtr="0">
                    <a:lnL>
                      <a:noFill/>
                    </a:lnL>
                    <a:lnR>
                      <a:noFill/>
                    </a:lnR>
                    <a:lnT>
                      <a:noFill/>
                    </a:lnT>
                    <a:lnB>
                      <a:noFill/>
                    </a:lnB>
                    <a:solidFill>
                      <a:schemeClr val="accent1">
                        <a:lumMod val="40000"/>
                        <a:lumOff val="60000"/>
                      </a:schemeClr>
                    </a:solidFill>
                  </a:tcPr>
                </a:tc>
              </a:tr>
              <a:tr h="375285">
                <a:tc>
                  <a:txBody>
                    <a:bodyPr/>
                    <a:p>
                      <a:r>
                        <a:rPr sz="2000"/>
                        <a:t>NOT NULL</a:t>
                      </a:r>
                      <a:endParaRPr sz="2000"/>
                    </a:p>
                  </a:txBody>
                  <a:tcPr marL="0" marR="0" marT="0" marB="0" anchor="ctr" anchorCtr="0">
                    <a:lnL>
                      <a:noFill/>
                    </a:lnL>
                    <a:lnR>
                      <a:noFill/>
                    </a:lnR>
                    <a:lnT>
                      <a:noFill/>
                    </a:lnT>
                    <a:lnB>
                      <a:noFill/>
                    </a:lnB>
                    <a:solidFill>
                      <a:schemeClr val="accent1">
                        <a:lumMod val="40000"/>
                        <a:lumOff val="60000"/>
                      </a:schemeClr>
                    </a:solidFill>
                  </a:tcPr>
                </a:tc>
                <a:tc>
                  <a:txBody>
                    <a:bodyPr/>
                    <a:p>
                      <a:r>
                        <a:rPr sz="2000"/>
                        <a:t>No NULL values allowed</a:t>
                      </a:r>
                      <a:endParaRPr sz="2000"/>
                    </a:p>
                  </a:txBody>
                  <a:tcPr marL="0" marR="0" marT="0" marB="0" anchor="ctr" anchorCtr="0">
                    <a:lnL>
                      <a:noFill/>
                    </a:lnL>
                    <a:lnR>
                      <a:noFill/>
                    </a:lnR>
                    <a:lnT>
                      <a:noFill/>
                    </a:lnT>
                    <a:lnB>
                      <a:noFill/>
                    </a:lnB>
                    <a:solidFill>
                      <a:schemeClr val="accent1">
                        <a:lumMod val="40000"/>
                        <a:lumOff val="60000"/>
                      </a:schemeClr>
                    </a:solidFill>
                  </a:tcPr>
                </a:tc>
              </a:tr>
              <a:tr h="375285">
                <a:tc>
                  <a:txBody>
                    <a:bodyPr/>
                    <a:p>
                      <a:r>
                        <a:rPr sz="2000"/>
                        <a:t>UNIQUE</a:t>
                      </a:r>
                      <a:endParaRPr sz="2000"/>
                    </a:p>
                  </a:txBody>
                  <a:tcPr marL="0" marR="0" marT="0" marB="0" anchor="ctr" anchorCtr="0">
                    <a:lnL>
                      <a:noFill/>
                    </a:lnL>
                    <a:lnR>
                      <a:noFill/>
                    </a:lnR>
                    <a:lnT>
                      <a:noFill/>
                    </a:lnT>
                    <a:lnB>
                      <a:noFill/>
                    </a:lnB>
                    <a:solidFill>
                      <a:schemeClr val="accent1">
                        <a:lumMod val="40000"/>
                        <a:lumOff val="60000"/>
                      </a:schemeClr>
                    </a:solidFill>
                  </a:tcPr>
                </a:tc>
                <a:tc>
                  <a:txBody>
                    <a:bodyPr/>
                    <a:p>
                      <a:r>
                        <a:rPr sz="2000"/>
                        <a:t>All values must be unique</a:t>
                      </a:r>
                      <a:endParaRPr sz="2000"/>
                    </a:p>
                  </a:txBody>
                  <a:tcPr marL="0" marR="0" marT="0" marB="0" anchor="ctr" anchorCtr="0">
                    <a:lnL>
                      <a:noFill/>
                    </a:lnL>
                    <a:lnR>
                      <a:noFill/>
                    </a:lnR>
                    <a:lnT>
                      <a:noFill/>
                    </a:lnT>
                    <a:lnB>
                      <a:noFill/>
                    </a:lnB>
                    <a:solidFill>
                      <a:schemeClr val="accent1">
                        <a:lumMod val="40000"/>
                        <a:lumOff val="60000"/>
                      </a:schemeClr>
                    </a:solidFill>
                  </a:tcPr>
                </a:tc>
              </a:tr>
              <a:tr h="375285">
                <a:tc>
                  <a:txBody>
                    <a:bodyPr/>
                    <a:p>
                      <a:r>
                        <a:rPr sz="2000"/>
                        <a:t>PRIMARY KEY</a:t>
                      </a:r>
                      <a:endParaRPr sz="2000"/>
                    </a:p>
                  </a:txBody>
                  <a:tcPr marL="0" marR="0" marT="0" marB="0" anchor="ctr" anchorCtr="0">
                    <a:lnL>
                      <a:noFill/>
                    </a:lnL>
                    <a:lnR>
                      <a:noFill/>
                    </a:lnR>
                    <a:lnT>
                      <a:noFill/>
                    </a:lnT>
                    <a:lnB>
                      <a:noFill/>
                    </a:lnB>
                    <a:solidFill>
                      <a:schemeClr val="accent1">
                        <a:lumMod val="40000"/>
                        <a:lumOff val="60000"/>
                      </a:schemeClr>
                    </a:solidFill>
                  </a:tcPr>
                </a:tc>
                <a:tc>
                  <a:txBody>
                    <a:bodyPr/>
                    <a:p>
                      <a:r>
                        <a:rPr sz="2000"/>
                        <a:t>Unique + Not Null, identifies each row</a:t>
                      </a:r>
                      <a:endParaRPr sz="2000"/>
                    </a:p>
                  </a:txBody>
                  <a:tcPr marL="0" marR="0" marT="0" marB="0" anchor="ctr" anchorCtr="0">
                    <a:lnL>
                      <a:noFill/>
                    </a:lnL>
                    <a:lnR>
                      <a:noFill/>
                    </a:lnR>
                    <a:lnT>
                      <a:noFill/>
                    </a:lnT>
                    <a:lnB>
                      <a:noFill/>
                    </a:lnB>
                    <a:solidFill>
                      <a:schemeClr val="accent1">
                        <a:lumMod val="40000"/>
                        <a:lumOff val="60000"/>
                      </a:schemeClr>
                    </a:solidFill>
                  </a:tcPr>
                </a:tc>
              </a:tr>
              <a:tr h="375285">
                <a:tc>
                  <a:txBody>
                    <a:bodyPr/>
                    <a:p>
                      <a:r>
                        <a:rPr sz="2000"/>
                        <a:t>FOREIGN KEY</a:t>
                      </a:r>
                      <a:endParaRPr sz="2000"/>
                    </a:p>
                  </a:txBody>
                  <a:tcPr marL="0" marR="0" marT="0" marB="0" anchor="ctr" anchorCtr="0">
                    <a:lnL>
                      <a:noFill/>
                    </a:lnL>
                    <a:lnR>
                      <a:noFill/>
                    </a:lnR>
                    <a:lnT>
                      <a:noFill/>
                    </a:lnT>
                    <a:lnB>
                      <a:noFill/>
                    </a:lnB>
                    <a:solidFill>
                      <a:schemeClr val="accent1">
                        <a:lumMod val="40000"/>
                        <a:lumOff val="60000"/>
                      </a:schemeClr>
                    </a:solidFill>
                  </a:tcPr>
                </a:tc>
                <a:tc>
                  <a:txBody>
                    <a:bodyPr/>
                    <a:p>
                      <a:r>
                        <a:rPr sz="2000"/>
                        <a:t>Links to a primary key in another table</a:t>
                      </a:r>
                      <a:endParaRPr sz="2000"/>
                    </a:p>
                  </a:txBody>
                  <a:tcPr marL="0" marR="0" marT="0" marB="0" anchor="ctr" anchorCtr="0">
                    <a:lnL>
                      <a:noFill/>
                    </a:lnL>
                    <a:lnR>
                      <a:noFill/>
                    </a:lnR>
                    <a:lnT>
                      <a:noFill/>
                    </a:lnT>
                    <a:lnB>
                      <a:noFill/>
                    </a:lnB>
                    <a:solidFill>
                      <a:schemeClr val="accent1">
                        <a:lumMod val="40000"/>
                        <a:lumOff val="60000"/>
                      </a:schemeClr>
                    </a:solidFill>
                  </a:tcPr>
                </a:tc>
              </a:tr>
              <a:tr h="375285">
                <a:tc>
                  <a:txBody>
                    <a:bodyPr/>
                    <a:p>
                      <a:r>
                        <a:rPr sz="2000"/>
                        <a:t>CHECK</a:t>
                      </a:r>
                      <a:endParaRPr sz="2000"/>
                    </a:p>
                  </a:txBody>
                  <a:tcPr marL="0" marR="0" marT="0" marB="0" anchor="ctr" anchorCtr="0">
                    <a:lnL>
                      <a:noFill/>
                    </a:lnL>
                    <a:lnR>
                      <a:noFill/>
                    </a:lnR>
                    <a:lnT>
                      <a:noFill/>
                    </a:lnT>
                    <a:lnB>
                      <a:noFill/>
                    </a:lnB>
                    <a:solidFill>
                      <a:schemeClr val="accent1">
                        <a:lumMod val="40000"/>
                        <a:lumOff val="60000"/>
                      </a:schemeClr>
                    </a:solidFill>
                  </a:tcPr>
                </a:tc>
                <a:tc>
                  <a:txBody>
                    <a:bodyPr/>
                    <a:p>
                      <a:r>
                        <a:rPr sz="2000"/>
                        <a:t>Limits values based on a condition</a:t>
                      </a:r>
                      <a:endParaRPr sz="2000"/>
                    </a:p>
                  </a:txBody>
                  <a:tcPr marL="0" marR="0" marT="0" marB="0" anchor="ctr" anchorCtr="0">
                    <a:lnL>
                      <a:noFill/>
                    </a:lnL>
                    <a:lnR>
                      <a:noFill/>
                    </a:lnR>
                    <a:lnT>
                      <a:noFill/>
                    </a:lnT>
                    <a:lnB>
                      <a:noFill/>
                    </a:lnB>
                    <a:solidFill>
                      <a:schemeClr val="accent1">
                        <a:lumMod val="40000"/>
                        <a:lumOff val="60000"/>
                      </a:schemeClr>
                    </a:solidFill>
                  </a:tcPr>
                </a:tc>
              </a:tr>
              <a:tr h="375285">
                <a:tc>
                  <a:txBody>
                    <a:bodyPr/>
                    <a:p>
                      <a:r>
                        <a:rPr sz="2000"/>
                        <a:t>DEFAULT</a:t>
                      </a:r>
                      <a:endParaRPr sz="2000"/>
                    </a:p>
                  </a:txBody>
                  <a:tcPr marL="0" marR="0" marT="0" marB="0" anchor="ctr" anchorCtr="0">
                    <a:lnL>
                      <a:noFill/>
                    </a:lnL>
                    <a:lnR>
                      <a:noFill/>
                    </a:lnR>
                    <a:lnT>
                      <a:noFill/>
                    </a:lnT>
                    <a:lnB>
                      <a:noFill/>
                    </a:lnB>
                    <a:solidFill>
                      <a:schemeClr val="accent1">
                        <a:lumMod val="40000"/>
                        <a:lumOff val="60000"/>
                      </a:schemeClr>
                    </a:solidFill>
                  </a:tcPr>
                </a:tc>
                <a:tc>
                  <a:txBody>
                    <a:bodyPr/>
                    <a:p>
                      <a:r>
                        <a:rPr sz="2000"/>
                        <a:t>Sets a default value</a:t>
                      </a:r>
                      <a:endParaRPr sz="2000"/>
                    </a:p>
                  </a:txBody>
                  <a:tcPr marL="0" marR="0" marT="0" marB="0" anchor="ctr" anchorCtr="0">
                    <a:lnL>
                      <a:noFill/>
                    </a:lnL>
                    <a:lnR>
                      <a:noFill/>
                    </a:lnR>
                    <a:lnT>
                      <a:noFill/>
                    </a:lnT>
                    <a:lnB>
                      <a:noFill/>
                    </a:lnB>
                    <a:solidFill>
                      <a:schemeClr val="accent1">
                        <a:lumMod val="40000"/>
                        <a:lumOff val="60000"/>
                      </a:schemeClr>
                    </a:solidFill>
                  </a:tcPr>
                </a:tc>
              </a:tr>
              <a:tr h="375285">
                <a:tc>
                  <a:txBody>
                    <a:bodyPr/>
                    <a:p>
                      <a:r>
                        <a:rPr sz="2000"/>
                        <a:t>AUTO_INCREMENT / IDENTITY</a:t>
                      </a:r>
                      <a:endParaRPr sz="2000"/>
                    </a:p>
                  </a:txBody>
                  <a:tcPr marL="0" marR="0" marT="0" marB="0" anchor="ctr" anchorCtr="0">
                    <a:lnL>
                      <a:noFill/>
                    </a:lnL>
                    <a:lnR>
                      <a:noFill/>
                    </a:lnR>
                    <a:lnT>
                      <a:noFill/>
                    </a:lnT>
                    <a:lnB>
                      <a:noFill/>
                    </a:lnB>
                    <a:solidFill>
                      <a:schemeClr val="accent1">
                        <a:lumMod val="40000"/>
                        <a:lumOff val="60000"/>
                      </a:schemeClr>
                    </a:solidFill>
                  </a:tcPr>
                </a:tc>
                <a:tc>
                  <a:txBody>
                    <a:bodyPr/>
                    <a:p>
                      <a:r>
                        <a:rPr sz="2000"/>
                        <a:t>Auto-generates values</a:t>
                      </a:r>
                      <a:endParaRPr sz="2000"/>
                    </a:p>
                  </a:txBody>
                  <a:tcPr marL="0" marR="0" marT="0" marB="0" anchor="ctr" anchorCtr="0">
                    <a:lnL>
                      <a:noFill/>
                    </a:lnL>
                    <a:lnR>
                      <a:noFill/>
                    </a:lnR>
                    <a:lnT>
                      <a:noFill/>
                    </a:lnT>
                    <a:lnB>
                      <a:noFill/>
                    </a:lnB>
                    <a:solidFill>
                      <a:schemeClr val="accent1">
                        <a:lumMod val="40000"/>
                        <a:lumOff val="60000"/>
                      </a:schemeClr>
                    </a:solidFill>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81940" y="0"/>
            <a:ext cx="10515600" cy="502920"/>
          </a:xfrm>
        </p:spPr>
        <p:txBody>
          <a:bodyPr>
            <a:normAutofit fontScale="90000"/>
          </a:bodyPr>
          <a:p>
            <a:r>
              <a:rPr lang="en-US" sz="2800" b="1">
                <a:solidFill>
                  <a:srgbClr val="FF0000"/>
                </a:solidFill>
              </a:rPr>
              <a:t>SQL Keys</a:t>
            </a:r>
            <a:endParaRPr lang="en-US" sz="2800" b="1">
              <a:solidFill>
                <a:srgbClr val="FF0000"/>
              </a:solidFill>
            </a:endParaRPr>
          </a:p>
        </p:txBody>
      </p:sp>
      <p:graphicFrame>
        <p:nvGraphicFramePr>
          <p:cNvPr id="4" name="Table 3"/>
          <p:cNvGraphicFramePr/>
          <p:nvPr>
            <p:custDataLst>
              <p:tags r:id="rId1"/>
            </p:custDataLst>
          </p:nvPr>
        </p:nvGraphicFramePr>
        <p:xfrm>
          <a:off x="135255" y="777875"/>
          <a:ext cx="11935460" cy="1770380"/>
        </p:xfrm>
        <a:graphic>
          <a:graphicData uri="http://schemas.openxmlformats.org/drawingml/2006/table">
            <a:tbl>
              <a:tblPr/>
              <a:tblGrid>
                <a:gridCol w="5967730"/>
                <a:gridCol w="5967730"/>
              </a:tblGrid>
              <a:tr h="442595">
                <a:tc>
                  <a:txBody>
                    <a:bodyPr/>
                    <a:p>
                      <a:pPr algn="ctr"/>
                      <a:r>
                        <a:rPr sz="2400" b="1"/>
                        <a:t>Concept</a:t>
                      </a:r>
                      <a:endParaRPr sz="2400" b="1"/>
                    </a:p>
                  </a:txBody>
                  <a:tcPr marL="0" marR="0" marT="0" marB="0" anchor="ctr" anchorCtr="0">
                    <a:lnL>
                      <a:noFill/>
                    </a:lnL>
                    <a:lnR>
                      <a:noFill/>
                    </a:lnR>
                    <a:lnT>
                      <a:noFill/>
                    </a:lnT>
                    <a:lnB>
                      <a:noFill/>
                    </a:lnB>
                    <a:noFill/>
                  </a:tcPr>
                </a:tc>
                <a:tc>
                  <a:txBody>
                    <a:bodyPr/>
                    <a:p>
                      <a:pPr algn="ctr"/>
                      <a:r>
                        <a:rPr sz="2400" b="1"/>
                        <a:t>SQL Syntax</a:t>
                      </a:r>
                      <a:endParaRPr sz="2400" b="1"/>
                    </a:p>
                  </a:txBody>
                  <a:tcPr marL="0" marR="0" marT="0" marB="0" anchor="ctr" anchorCtr="0">
                    <a:lnL>
                      <a:noFill/>
                    </a:lnL>
                    <a:lnR>
                      <a:noFill/>
                    </a:lnR>
                    <a:lnT>
                      <a:noFill/>
                    </a:lnT>
                    <a:lnB>
                      <a:noFill/>
                    </a:lnB>
                    <a:noFill/>
                  </a:tcPr>
                </a:tc>
              </a:tr>
              <a:tr h="442595">
                <a:tc>
                  <a:txBody>
                    <a:bodyPr/>
                    <a:p>
                      <a:r>
                        <a:rPr sz="2000"/>
                        <a:t>Candidate Key</a:t>
                      </a:r>
                      <a:endParaRPr sz="2000"/>
                    </a:p>
                  </a:txBody>
                  <a:tcPr marL="0" marR="0" marT="0" marB="0" anchor="ctr" anchorCtr="0">
                    <a:lnL>
                      <a:noFill/>
                    </a:lnL>
                    <a:lnR>
                      <a:noFill/>
                    </a:lnR>
                    <a:lnT>
                      <a:noFill/>
                    </a:lnT>
                    <a:lnB>
                      <a:noFill/>
                    </a:lnB>
                    <a:solidFill>
                      <a:schemeClr val="accent1">
                        <a:lumMod val="40000"/>
                        <a:lumOff val="60000"/>
                      </a:schemeClr>
                    </a:solidFill>
                  </a:tcPr>
                </a:tc>
                <a:tc>
                  <a:txBody>
                    <a:bodyPr/>
                    <a:p>
                      <a:r>
                        <a:rPr sz="2000"/>
                        <a:t>PRIMARY KEY, UNIQUE</a:t>
                      </a:r>
                      <a:endParaRPr sz="2000"/>
                    </a:p>
                  </a:txBody>
                  <a:tcPr marL="0" marR="0" marT="0" marB="0" anchor="ctr" anchorCtr="0">
                    <a:lnL>
                      <a:noFill/>
                    </a:lnL>
                    <a:lnR>
                      <a:noFill/>
                    </a:lnR>
                    <a:lnT>
                      <a:noFill/>
                    </a:lnT>
                    <a:lnB>
                      <a:noFill/>
                    </a:lnB>
                    <a:solidFill>
                      <a:schemeClr val="accent1">
                        <a:lumMod val="40000"/>
                        <a:lumOff val="60000"/>
                      </a:schemeClr>
                    </a:solidFill>
                  </a:tcPr>
                </a:tc>
              </a:tr>
              <a:tr h="442595">
                <a:tc>
                  <a:txBody>
                    <a:bodyPr/>
                    <a:p>
                      <a:r>
                        <a:rPr sz="2000"/>
                        <a:t>Alternate Key</a:t>
                      </a:r>
                      <a:endParaRPr sz="2000"/>
                    </a:p>
                  </a:txBody>
                  <a:tcPr marL="0" marR="0" marT="0" marB="0" anchor="ctr" anchorCtr="0">
                    <a:lnL>
                      <a:noFill/>
                    </a:lnL>
                    <a:lnR>
                      <a:noFill/>
                    </a:lnR>
                    <a:lnT>
                      <a:noFill/>
                    </a:lnT>
                    <a:lnB>
                      <a:noFill/>
                    </a:lnB>
                    <a:solidFill>
                      <a:schemeClr val="accent1">
                        <a:lumMod val="40000"/>
                        <a:lumOff val="60000"/>
                      </a:schemeClr>
                    </a:solidFill>
                  </a:tcPr>
                </a:tc>
                <a:tc>
                  <a:txBody>
                    <a:bodyPr/>
                    <a:p>
                      <a:r>
                        <a:rPr sz="2000"/>
                        <a:t>UNIQUE (not selected as PK)</a:t>
                      </a:r>
                      <a:endParaRPr sz="2000"/>
                    </a:p>
                  </a:txBody>
                  <a:tcPr marL="0" marR="0" marT="0" marB="0" anchor="ctr" anchorCtr="0">
                    <a:lnL>
                      <a:noFill/>
                    </a:lnL>
                    <a:lnR>
                      <a:noFill/>
                    </a:lnR>
                    <a:lnT>
                      <a:noFill/>
                    </a:lnT>
                    <a:lnB>
                      <a:noFill/>
                    </a:lnB>
                    <a:solidFill>
                      <a:schemeClr val="accent1">
                        <a:lumMod val="40000"/>
                        <a:lumOff val="60000"/>
                      </a:schemeClr>
                    </a:solidFill>
                  </a:tcPr>
                </a:tc>
              </a:tr>
              <a:tr h="442595">
                <a:tc>
                  <a:txBody>
                    <a:bodyPr/>
                    <a:p>
                      <a:r>
                        <a:rPr sz="2000"/>
                        <a:t>Composite Key</a:t>
                      </a:r>
                      <a:endParaRPr sz="2000"/>
                    </a:p>
                  </a:txBody>
                  <a:tcPr marL="0" marR="0" marT="0" marB="0" anchor="ctr" anchorCtr="0">
                    <a:lnL>
                      <a:noFill/>
                    </a:lnL>
                    <a:lnR>
                      <a:noFill/>
                    </a:lnR>
                    <a:lnT>
                      <a:noFill/>
                    </a:lnT>
                    <a:lnB>
                      <a:noFill/>
                    </a:lnB>
                    <a:solidFill>
                      <a:schemeClr val="accent1">
                        <a:lumMod val="40000"/>
                        <a:lumOff val="60000"/>
                      </a:schemeClr>
                    </a:solidFill>
                  </a:tcPr>
                </a:tc>
                <a:tc>
                  <a:txBody>
                    <a:bodyPr/>
                    <a:p>
                      <a:r>
                        <a:rPr sz="2000"/>
                        <a:t>PRIMARY KEY (col1, col2)</a:t>
                      </a:r>
                      <a:endParaRPr sz="2000"/>
                    </a:p>
                  </a:txBody>
                  <a:tcPr marL="0" marR="0" marT="0" marB="0" anchor="ctr" anchorCtr="0">
                    <a:lnL>
                      <a:noFill/>
                    </a:lnL>
                    <a:lnR>
                      <a:noFill/>
                    </a:lnR>
                    <a:lnT>
                      <a:noFill/>
                    </a:lnT>
                    <a:lnB>
                      <a:noFill/>
                    </a:lnB>
                    <a:solidFill>
                      <a:schemeClr val="accent1">
                        <a:lumMod val="40000"/>
                        <a:lumOff val="60000"/>
                      </a:schemeClr>
                    </a:solidFill>
                  </a:tcPr>
                </a:tc>
              </a:tr>
            </a:tbl>
          </a:graphicData>
        </a:graphic>
      </p:graphicFrame>
      <p:sp>
        <p:nvSpPr>
          <p:cNvPr id="5" name="Text Box 4"/>
          <p:cNvSpPr txBox="1"/>
          <p:nvPr/>
        </p:nvSpPr>
        <p:spPr>
          <a:xfrm>
            <a:off x="141605" y="3429000"/>
            <a:ext cx="3293745" cy="3127375"/>
          </a:xfrm>
          <a:prstGeom prst="rect">
            <a:avLst/>
          </a:prstGeom>
        </p:spPr>
        <p:txBody>
          <a:bodyPr>
            <a:noAutofit/>
          </a:bodyPr>
          <a:p>
            <a:pPr>
              <a:spcAft>
                <a:spcPct val="60000"/>
              </a:spcAft>
            </a:pPr>
            <a:r>
              <a:rPr sz="2000" b="1"/>
              <a:t> Composite Key</a:t>
            </a:r>
            <a:endParaRPr sz="2000" b="1"/>
          </a:p>
          <a:p>
            <a:r>
              <a:rPr sz="2000"/>
              <a:t>A composite key is a primary key made of two or more columns.</a:t>
            </a:r>
            <a:endParaRPr sz="2000"/>
          </a:p>
          <a:p>
            <a:r>
              <a:rPr sz="2000"/>
              <a:t>Use PRIMARY KEY (col1, col2) in the CREATE TABLE statement.</a:t>
            </a:r>
            <a:endParaRPr sz="2000"/>
          </a:p>
        </p:txBody>
      </p:sp>
      <p:sp>
        <p:nvSpPr>
          <p:cNvPr id="6" name="Text Box 5"/>
          <p:cNvSpPr txBox="1"/>
          <p:nvPr/>
        </p:nvSpPr>
        <p:spPr>
          <a:xfrm>
            <a:off x="3951605" y="3429000"/>
            <a:ext cx="3585210" cy="2631440"/>
          </a:xfrm>
          <a:prstGeom prst="rect">
            <a:avLst/>
          </a:prstGeom>
        </p:spPr>
        <p:txBody>
          <a:bodyPr>
            <a:noAutofit/>
          </a:bodyPr>
          <a:p>
            <a:pPr>
              <a:spcAft>
                <a:spcPct val="60000"/>
              </a:spcAft>
            </a:pPr>
            <a:r>
              <a:rPr sz="2400" b="1"/>
              <a:t>. Alternate Key</a:t>
            </a:r>
            <a:endParaRPr sz="2400" b="1"/>
          </a:p>
          <a:p>
            <a:r>
              <a:t>An alternate key is any candidate key not chosen as the primary key.</a:t>
            </a:r>
          </a:p>
          <a:p>
            <a:r>
              <a:t>🔧 In SQL, you define it using a UNIQUE constraint.</a:t>
            </a:r>
          </a:p>
        </p:txBody>
      </p:sp>
      <p:sp>
        <p:nvSpPr>
          <p:cNvPr id="7" name="Text Box 6"/>
          <p:cNvSpPr txBox="1"/>
          <p:nvPr/>
        </p:nvSpPr>
        <p:spPr>
          <a:xfrm>
            <a:off x="7668260" y="3429000"/>
            <a:ext cx="4402455" cy="3183255"/>
          </a:xfrm>
          <a:prstGeom prst="rect">
            <a:avLst/>
          </a:prstGeom>
        </p:spPr>
        <p:txBody>
          <a:bodyPr>
            <a:noAutofit/>
          </a:bodyPr>
          <a:p>
            <a:pPr>
              <a:spcAft>
                <a:spcPct val="60000"/>
              </a:spcAft>
            </a:pPr>
            <a:r>
              <a:rPr sz="2400" b="1"/>
              <a:t>  Candidate Key</a:t>
            </a:r>
            <a:endParaRPr sz="2400" b="1"/>
          </a:p>
          <a:p>
            <a:r>
              <a:t>A candidate key is any column or combination of columns that can uniquely identify a row.</a:t>
            </a:r>
          </a:p>
          <a:p>
            <a:r>
              <a:t>💡 To define candidate keys in SQL, use PRIMARY KEY and UNIQUE constraints.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354965" y="0"/>
            <a:ext cx="10515600" cy="417830"/>
          </a:xfrm>
        </p:spPr>
        <p:txBody>
          <a:bodyPr>
            <a:noAutofit/>
          </a:bodyPr>
          <a:p>
            <a:r>
              <a:rPr lang="en-US" altLang="en-US" sz="2400" b="1">
                <a:solidFill>
                  <a:srgbClr val="FF0000"/>
                </a:solidFill>
                <a:sym typeface="+mn-ea"/>
              </a:rPr>
              <a:t>SQL, aggregate functions</a:t>
            </a:r>
            <a:endParaRPr lang="en-US" altLang="en-US" sz="2400" b="1">
              <a:solidFill>
                <a:srgbClr val="FF0000"/>
              </a:solidFill>
              <a:sym typeface="+mn-ea"/>
            </a:endParaRPr>
          </a:p>
        </p:txBody>
      </p:sp>
      <p:sp>
        <p:nvSpPr>
          <p:cNvPr id="3" name="Content Placeholder 2"/>
          <p:cNvSpPr>
            <a:spLocks noGrp="1"/>
          </p:cNvSpPr>
          <p:nvPr>
            <p:ph idx="1"/>
          </p:nvPr>
        </p:nvSpPr>
        <p:spPr>
          <a:xfrm>
            <a:off x="108585" y="417830"/>
            <a:ext cx="11950700" cy="690880"/>
          </a:xfrm>
        </p:spPr>
        <p:txBody>
          <a:bodyPr/>
          <a:p>
            <a:r>
              <a:rPr lang="en-US" altLang="en-US" sz="2000"/>
              <a:t>In SQL, aggregate functions perform a calculation on a set of values and return a single value. They're commonly used with the GROUP BY clause to summarize data.</a:t>
            </a:r>
            <a:endParaRPr lang="en-US" altLang="en-US" sz="2000"/>
          </a:p>
        </p:txBody>
      </p:sp>
      <p:graphicFrame>
        <p:nvGraphicFramePr>
          <p:cNvPr id="4" name="Table 3"/>
          <p:cNvGraphicFramePr/>
          <p:nvPr>
            <p:custDataLst>
              <p:tags r:id="rId1"/>
            </p:custDataLst>
          </p:nvPr>
        </p:nvGraphicFramePr>
        <p:xfrm>
          <a:off x="108585" y="1108710"/>
          <a:ext cx="11849100" cy="2647950"/>
        </p:xfrm>
        <a:graphic>
          <a:graphicData uri="http://schemas.openxmlformats.org/drawingml/2006/table">
            <a:tbl>
              <a:tblPr/>
              <a:tblGrid>
                <a:gridCol w="5924550"/>
                <a:gridCol w="5924550"/>
              </a:tblGrid>
              <a:tr h="441325">
                <a:tc>
                  <a:txBody>
                    <a:bodyPr/>
                    <a:p>
                      <a:pPr algn="ctr"/>
                      <a:r>
                        <a:rPr sz="2400" b="1">
                          <a:solidFill>
                            <a:srgbClr val="FF0000"/>
                          </a:solidFill>
                        </a:rPr>
                        <a:t>Function</a:t>
                      </a:r>
                      <a:endParaRPr sz="2400" b="1">
                        <a:solidFill>
                          <a:srgbClr val="FF0000"/>
                        </a:solidFill>
                      </a:endParaRPr>
                    </a:p>
                  </a:txBody>
                  <a:tcPr marL="0" marR="0" marT="0" marB="0" anchor="ctr" anchorCtr="0">
                    <a:lnL>
                      <a:noFill/>
                    </a:lnL>
                    <a:lnR>
                      <a:noFill/>
                    </a:lnR>
                    <a:lnT>
                      <a:noFill/>
                    </a:lnT>
                    <a:lnB>
                      <a:noFill/>
                    </a:lnB>
                    <a:noFill/>
                  </a:tcPr>
                </a:tc>
                <a:tc>
                  <a:txBody>
                    <a:bodyPr/>
                    <a:p>
                      <a:pPr algn="ctr"/>
                      <a:r>
                        <a:rPr sz="2400" b="1">
                          <a:solidFill>
                            <a:srgbClr val="FF0000"/>
                          </a:solidFill>
                        </a:rPr>
                        <a:t>Description</a:t>
                      </a:r>
                      <a:endParaRPr sz="2400" b="1">
                        <a:solidFill>
                          <a:srgbClr val="FF0000"/>
                        </a:solidFill>
                      </a:endParaRPr>
                    </a:p>
                  </a:txBody>
                  <a:tcPr marL="0" marR="0" marT="0" marB="0" anchor="ctr" anchorCtr="0">
                    <a:lnL>
                      <a:noFill/>
                    </a:lnL>
                    <a:lnR>
                      <a:noFill/>
                    </a:lnR>
                    <a:lnT>
                      <a:noFill/>
                    </a:lnT>
                    <a:lnB>
                      <a:noFill/>
                    </a:lnB>
                    <a:noFill/>
                  </a:tcPr>
                </a:tc>
              </a:tr>
              <a:tr h="441325">
                <a:tc>
                  <a:txBody>
                    <a:bodyPr/>
                    <a:p>
                      <a:r>
                        <a:rPr sz="2000"/>
                        <a:t>COUNT()</a:t>
                      </a:r>
                      <a:endParaRPr sz="2000"/>
                    </a:p>
                  </a:txBody>
                  <a:tcPr marL="0" marR="0" marT="0" marB="0" anchor="ctr" anchorCtr="0">
                    <a:lnL>
                      <a:noFill/>
                    </a:lnL>
                    <a:lnR>
                      <a:noFill/>
                    </a:lnR>
                    <a:lnT>
                      <a:noFill/>
                    </a:lnT>
                    <a:lnB>
                      <a:noFill/>
                    </a:lnB>
                    <a:noFill/>
                  </a:tcPr>
                </a:tc>
                <a:tc>
                  <a:txBody>
                    <a:bodyPr/>
                    <a:p>
                      <a:r>
                        <a:rPr sz="2000"/>
                        <a:t>Counts the number of rows.</a:t>
                      </a:r>
                      <a:endParaRPr sz="2000"/>
                    </a:p>
                  </a:txBody>
                  <a:tcPr marL="0" marR="0" marT="0" marB="0" anchor="ctr" anchorCtr="0">
                    <a:lnL>
                      <a:noFill/>
                    </a:lnL>
                    <a:lnR>
                      <a:noFill/>
                    </a:lnR>
                    <a:lnT>
                      <a:noFill/>
                    </a:lnT>
                    <a:lnB>
                      <a:noFill/>
                    </a:lnB>
                    <a:noFill/>
                  </a:tcPr>
                </a:tc>
              </a:tr>
              <a:tr h="441325">
                <a:tc>
                  <a:txBody>
                    <a:bodyPr/>
                    <a:p>
                      <a:r>
                        <a:rPr sz="2000"/>
                        <a:t>SUM()</a:t>
                      </a:r>
                      <a:endParaRPr sz="2000"/>
                    </a:p>
                  </a:txBody>
                  <a:tcPr marL="0" marR="0" marT="0" marB="0" anchor="ctr" anchorCtr="0">
                    <a:lnL>
                      <a:noFill/>
                    </a:lnL>
                    <a:lnR>
                      <a:noFill/>
                    </a:lnR>
                    <a:lnT>
                      <a:noFill/>
                    </a:lnT>
                    <a:lnB>
                      <a:noFill/>
                    </a:lnB>
                    <a:noFill/>
                  </a:tcPr>
                </a:tc>
                <a:tc>
                  <a:txBody>
                    <a:bodyPr/>
                    <a:p>
                      <a:r>
                        <a:rPr sz="2000"/>
                        <a:t>Adds up all the values in a column.</a:t>
                      </a:r>
                      <a:endParaRPr sz="2000"/>
                    </a:p>
                  </a:txBody>
                  <a:tcPr marL="0" marR="0" marT="0" marB="0" anchor="ctr" anchorCtr="0">
                    <a:lnL>
                      <a:noFill/>
                    </a:lnL>
                    <a:lnR>
                      <a:noFill/>
                    </a:lnR>
                    <a:lnT>
                      <a:noFill/>
                    </a:lnT>
                    <a:lnB>
                      <a:noFill/>
                    </a:lnB>
                    <a:noFill/>
                  </a:tcPr>
                </a:tc>
              </a:tr>
              <a:tr h="441325">
                <a:tc>
                  <a:txBody>
                    <a:bodyPr/>
                    <a:p>
                      <a:r>
                        <a:rPr sz="2000"/>
                        <a:t>AVG()</a:t>
                      </a:r>
                      <a:endParaRPr sz="2000"/>
                    </a:p>
                  </a:txBody>
                  <a:tcPr marL="0" marR="0" marT="0" marB="0" anchor="ctr" anchorCtr="0">
                    <a:lnL>
                      <a:noFill/>
                    </a:lnL>
                    <a:lnR>
                      <a:noFill/>
                    </a:lnR>
                    <a:lnT>
                      <a:noFill/>
                    </a:lnT>
                    <a:lnB>
                      <a:noFill/>
                    </a:lnB>
                    <a:noFill/>
                  </a:tcPr>
                </a:tc>
                <a:tc>
                  <a:txBody>
                    <a:bodyPr/>
                    <a:p>
                      <a:r>
                        <a:rPr sz="2000"/>
                        <a:t>Calculates the average of a numeric column.</a:t>
                      </a:r>
                      <a:endParaRPr sz="2000"/>
                    </a:p>
                  </a:txBody>
                  <a:tcPr marL="0" marR="0" marT="0" marB="0" anchor="ctr" anchorCtr="0">
                    <a:lnL>
                      <a:noFill/>
                    </a:lnL>
                    <a:lnR>
                      <a:noFill/>
                    </a:lnR>
                    <a:lnT>
                      <a:noFill/>
                    </a:lnT>
                    <a:lnB>
                      <a:noFill/>
                    </a:lnB>
                    <a:noFill/>
                  </a:tcPr>
                </a:tc>
              </a:tr>
              <a:tr h="441325">
                <a:tc>
                  <a:txBody>
                    <a:bodyPr/>
                    <a:p>
                      <a:r>
                        <a:rPr sz="2000"/>
                        <a:t>MIN()</a:t>
                      </a:r>
                      <a:endParaRPr sz="2000"/>
                    </a:p>
                  </a:txBody>
                  <a:tcPr marL="0" marR="0" marT="0" marB="0" anchor="ctr" anchorCtr="0">
                    <a:lnL>
                      <a:noFill/>
                    </a:lnL>
                    <a:lnR>
                      <a:noFill/>
                    </a:lnR>
                    <a:lnT>
                      <a:noFill/>
                    </a:lnT>
                    <a:lnB>
                      <a:noFill/>
                    </a:lnB>
                    <a:noFill/>
                  </a:tcPr>
                </a:tc>
                <a:tc>
                  <a:txBody>
                    <a:bodyPr/>
                    <a:p>
                      <a:r>
                        <a:rPr sz="2000"/>
                        <a:t>Returns the smallest value in a column.</a:t>
                      </a:r>
                      <a:endParaRPr sz="2000"/>
                    </a:p>
                  </a:txBody>
                  <a:tcPr marL="0" marR="0" marT="0" marB="0" anchor="ctr" anchorCtr="0">
                    <a:lnL>
                      <a:noFill/>
                    </a:lnL>
                    <a:lnR>
                      <a:noFill/>
                    </a:lnR>
                    <a:lnT>
                      <a:noFill/>
                    </a:lnT>
                    <a:lnB>
                      <a:noFill/>
                    </a:lnB>
                    <a:noFill/>
                  </a:tcPr>
                </a:tc>
              </a:tr>
              <a:tr h="441325">
                <a:tc>
                  <a:txBody>
                    <a:bodyPr/>
                    <a:p>
                      <a:r>
                        <a:rPr sz="2000"/>
                        <a:t>MAX()</a:t>
                      </a:r>
                      <a:endParaRPr sz="2000"/>
                    </a:p>
                  </a:txBody>
                  <a:tcPr marL="0" marR="0" marT="0" marB="0" anchor="ctr" anchorCtr="0">
                    <a:lnL>
                      <a:noFill/>
                    </a:lnL>
                    <a:lnR>
                      <a:noFill/>
                    </a:lnR>
                    <a:lnT>
                      <a:noFill/>
                    </a:lnT>
                    <a:lnB>
                      <a:noFill/>
                    </a:lnB>
                    <a:noFill/>
                  </a:tcPr>
                </a:tc>
                <a:tc>
                  <a:txBody>
                    <a:bodyPr/>
                    <a:p>
                      <a:r>
                        <a:rPr sz="2000"/>
                        <a:t>Returns the largest value in a column.</a:t>
                      </a:r>
                      <a:endParaRPr sz="2000"/>
                    </a:p>
                  </a:txBody>
                  <a:tcPr marL="0" marR="0" marT="0" marB="0" anchor="ctr" anchorCtr="0">
                    <a:lnL>
                      <a:noFill/>
                    </a:lnL>
                    <a:lnR>
                      <a:noFill/>
                    </a:lnR>
                    <a:lnT>
                      <a:noFill/>
                    </a:lnT>
                    <a:lnB>
                      <a:noFill/>
                    </a:lnB>
                    <a:noFill/>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0" y="0"/>
            <a:ext cx="12192000" cy="413385"/>
          </a:xfrm>
        </p:spPr>
        <p:txBody>
          <a:bodyPr>
            <a:noAutofit/>
          </a:bodyPr>
          <a:p>
            <a:pPr algn="ctr"/>
            <a:r>
              <a:rPr lang="en-US" sz="2400" b="1">
                <a:solidFill>
                  <a:srgbClr val="FF0000"/>
                </a:solidFill>
                <a:latin typeface="Cambria" panose="02040503050406030204" charset="0"/>
                <a:cs typeface="Cambria" panose="02040503050406030204" charset="0"/>
              </a:rPr>
              <a:t>SQL Clause</a:t>
            </a:r>
            <a:endParaRPr lang="en-US" sz="2400" b="1">
              <a:solidFill>
                <a:srgbClr val="FF0000"/>
              </a:solidFill>
              <a:latin typeface="Cambria" panose="02040503050406030204" charset="0"/>
              <a:cs typeface="Cambria" panose="02040503050406030204" charset="0"/>
            </a:endParaRPr>
          </a:p>
        </p:txBody>
      </p:sp>
      <p:graphicFrame>
        <p:nvGraphicFramePr>
          <p:cNvPr id="4" name="Table 3"/>
          <p:cNvGraphicFramePr/>
          <p:nvPr>
            <p:custDataLst>
              <p:tags r:id="rId1"/>
            </p:custDataLst>
          </p:nvPr>
        </p:nvGraphicFramePr>
        <p:xfrm>
          <a:off x="151130" y="3320415"/>
          <a:ext cx="11921490" cy="2960370"/>
        </p:xfrm>
        <a:graphic>
          <a:graphicData uri="http://schemas.openxmlformats.org/drawingml/2006/table">
            <a:tbl>
              <a:tblPr/>
              <a:tblGrid>
                <a:gridCol w="4932045"/>
                <a:gridCol w="6989445"/>
              </a:tblGrid>
              <a:tr h="408940">
                <a:tc>
                  <a:txBody>
                    <a:bodyPr/>
                    <a:p>
                      <a:pPr algn="ctr"/>
                      <a:r>
                        <a:rPr sz="2400" b="1">
                          <a:solidFill>
                            <a:srgbClr val="FF0000"/>
                          </a:solidFill>
                          <a:latin typeface="Cambria" panose="02040503050406030204" charset="0"/>
                          <a:cs typeface="Cambria" panose="02040503050406030204" charset="0"/>
                        </a:rPr>
                        <a:t>Clause</a:t>
                      </a:r>
                      <a:endParaRPr sz="2400" b="1">
                        <a:solidFill>
                          <a:srgbClr val="FF0000"/>
                        </a:solidFill>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1">
                        <a:lumMod val="20000"/>
                        <a:lumOff val="80000"/>
                      </a:schemeClr>
                    </a:solidFill>
                  </a:tcPr>
                </a:tc>
                <a:tc>
                  <a:txBody>
                    <a:bodyPr/>
                    <a:p>
                      <a:pPr algn="ctr"/>
                      <a:r>
                        <a:rPr sz="2400" b="1">
                          <a:solidFill>
                            <a:srgbClr val="FF0000"/>
                          </a:solidFill>
                          <a:latin typeface="Cambria" panose="02040503050406030204" charset="0"/>
                          <a:cs typeface="Cambria" panose="02040503050406030204" charset="0"/>
                        </a:rPr>
                        <a:t>Description</a:t>
                      </a:r>
                      <a:endParaRPr sz="2400" b="1">
                        <a:solidFill>
                          <a:srgbClr val="FF0000"/>
                        </a:solidFill>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1">
                        <a:lumMod val="20000"/>
                        <a:lumOff val="80000"/>
                      </a:schemeClr>
                    </a:solidFill>
                  </a:tcPr>
                </a:tc>
              </a:tr>
              <a:tr h="364490">
                <a:tc>
                  <a:txBody>
                    <a:bodyPr/>
                    <a:p>
                      <a:r>
                        <a:rPr sz="1800">
                          <a:latin typeface="Cambria" panose="02040503050406030204" charset="0"/>
                          <a:cs typeface="Cambria" panose="02040503050406030204" charset="0"/>
                        </a:rPr>
                        <a:t>SELECT</a:t>
                      </a:r>
                      <a:endParaRPr sz="180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1">
                        <a:lumMod val="20000"/>
                        <a:lumOff val="80000"/>
                      </a:schemeClr>
                    </a:solidFill>
                  </a:tcPr>
                </a:tc>
                <a:tc>
                  <a:txBody>
                    <a:bodyPr/>
                    <a:p>
                      <a:r>
                        <a:rPr sz="1800">
                          <a:latin typeface="Cambria" panose="02040503050406030204" charset="0"/>
                          <a:cs typeface="Cambria" panose="02040503050406030204" charset="0"/>
                        </a:rPr>
                        <a:t>Specifies the columns to return</a:t>
                      </a:r>
                      <a:endParaRPr sz="180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1">
                        <a:lumMod val="20000"/>
                        <a:lumOff val="80000"/>
                      </a:schemeClr>
                    </a:solidFill>
                  </a:tcPr>
                </a:tc>
              </a:tr>
              <a:tr h="364490">
                <a:tc>
                  <a:txBody>
                    <a:bodyPr/>
                    <a:p>
                      <a:r>
                        <a:rPr sz="1800">
                          <a:latin typeface="Cambria" panose="02040503050406030204" charset="0"/>
                          <a:cs typeface="Cambria" panose="02040503050406030204" charset="0"/>
                        </a:rPr>
                        <a:t>FROM</a:t>
                      </a:r>
                      <a:endParaRPr sz="180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1">
                        <a:lumMod val="20000"/>
                        <a:lumOff val="80000"/>
                      </a:schemeClr>
                    </a:solidFill>
                  </a:tcPr>
                </a:tc>
                <a:tc>
                  <a:txBody>
                    <a:bodyPr/>
                    <a:p>
                      <a:r>
                        <a:rPr sz="1800">
                          <a:latin typeface="Cambria" panose="02040503050406030204" charset="0"/>
                          <a:cs typeface="Cambria" panose="02040503050406030204" charset="0"/>
                        </a:rPr>
                        <a:t>Specifies the table(s) to query</a:t>
                      </a:r>
                      <a:endParaRPr sz="180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1">
                        <a:lumMod val="20000"/>
                        <a:lumOff val="80000"/>
                      </a:schemeClr>
                    </a:solidFill>
                  </a:tcPr>
                </a:tc>
              </a:tr>
              <a:tr h="364490">
                <a:tc>
                  <a:txBody>
                    <a:bodyPr/>
                    <a:p>
                      <a:r>
                        <a:rPr sz="1800">
                          <a:latin typeface="Cambria" panose="02040503050406030204" charset="0"/>
                          <a:cs typeface="Cambria" panose="02040503050406030204" charset="0"/>
                        </a:rPr>
                        <a:t>WHERE</a:t>
                      </a:r>
                      <a:endParaRPr sz="180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1">
                        <a:lumMod val="20000"/>
                        <a:lumOff val="80000"/>
                      </a:schemeClr>
                    </a:solidFill>
                  </a:tcPr>
                </a:tc>
                <a:tc>
                  <a:txBody>
                    <a:bodyPr/>
                    <a:p>
                      <a:r>
                        <a:rPr sz="1800">
                          <a:latin typeface="Cambria" panose="02040503050406030204" charset="0"/>
                          <a:cs typeface="Cambria" panose="02040503050406030204" charset="0"/>
                        </a:rPr>
                        <a:t>Filters rows based on a condition</a:t>
                      </a:r>
                      <a:endParaRPr sz="180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1">
                        <a:lumMod val="20000"/>
                        <a:lumOff val="80000"/>
                      </a:schemeClr>
                    </a:solidFill>
                  </a:tcPr>
                </a:tc>
              </a:tr>
              <a:tr h="364490">
                <a:tc>
                  <a:txBody>
                    <a:bodyPr/>
                    <a:p>
                      <a:r>
                        <a:rPr sz="1800">
                          <a:latin typeface="Cambria" panose="02040503050406030204" charset="0"/>
                          <a:cs typeface="Cambria" panose="02040503050406030204" charset="0"/>
                        </a:rPr>
                        <a:t>GROUP BY</a:t>
                      </a:r>
                      <a:endParaRPr sz="180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1">
                        <a:lumMod val="20000"/>
                        <a:lumOff val="80000"/>
                      </a:schemeClr>
                    </a:solidFill>
                  </a:tcPr>
                </a:tc>
                <a:tc>
                  <a:txBody>
                    <a:bodyPr/>
                    <a:p>
                      <a:r>
                        <a:rPr sz="1800">
                          <a:latin typeface="Cambria" panose="02040503050406030204" charset="0"/>
                          <a:cs typeface="Cambria" panose="02040503050406030204" charset="0"/>
                        </a:rPr>
                        <a:t>Groups rows that have the same values in specified columns</a:t>
                      </a:r>
                      <a:endParaRPr sz="180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1">
                        <a:lumMod val="20000"/>
                        <a:lumOff val="80000"/>
                      </a:schemeClr>
                    </a:solidFill>
                  </a:tcPr>
                </a:tc>
              </a:tr>
              <a:tr h="364490">
                <a:tc>
                  <a:txBody>
                    <a:bodyPr/>
                    <a:p>
                      <a:r>
                        <a:rPr sz="1800">
                          <a:latin typeface="Cambria" panose="02040503050406030204" charset="0"/>
                          <a:cs typeface="Cambria" panose="02040503050406030204" charset="0"/>
                        </a:rPr>
                        <a:t>ORDER BY</a:t>
                      </a:r>
                      <a:endParaRPr sz="180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1">
                        <a:lumMod val="20000"/>
                        <a:lumOff val="80000"/>
                      </a:schemeClr>
                    </a:solidFill>
                  </a:tcPr>
                </a:tc>
                <a:tc>
                  <a:txBody>
                    <a:bodyPr/>
                    <a:p>
                      <a:r>
                        <a:rPr sz="1800">
                          <a:latin typeface="Cambria" panose="02040503050406030204" charset="0"/>
                          <a:cs typeface="Cambria" panose="02040503050406030204" charset="0"/>
                        </a:rPr>
                        <a:t>Sorts the result set by one or more columns</a:t>
                      </a:r>
                      <a:endParaRPr sz="180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1">
                        <a:lumMod val="20000"/>
                        <a:lumOff val="80000"/>
                      </a:schemeClr>
                    </a:solidFill>
                  </a:tcPr>
                </a:tc>
              </a:tr>
              <a:tr h="364490">
                <a:tc>
                  <a:txBody>
                    <a:bodyPr/>
                    <a:p>
                      <a:r>
                        <a:rPr sz="1800">
                          <a:latin typeface="Cambria" panose="02040503050406030204" charset="0"/>
                          <a:cs typeface="Cambria" panose="02040503050406030204" charset="0"/>
                        </a:rPr>
                        <a:t>LIMIT / TOP</a:t>
                      </a:r>
                      <a:endParaRPr sz="180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1">
                        <a:lumMod val="20000"/>
                        <a:lumOff val="80000"/>
                      </a:schemeClr>
                    </a:solidFill>
                  </a:tcPr>
                </a:tc>
                <a:tc>
                  <a:txBody>
                    <a:bodyPr/>
                    <a:p>
                      <a:r>
                        <a:rPr sz="1800">
                          <a:latin typeface="Cambria" panose="02040503050406030204" charset="0"/>
                          <a:cs typeface="Cambria" panose="02040503050406030204" charset="0"/>
                        </a:rPr>
                        <a:t>Limits the number of rows returned</a:t>
                      </a:r>
                      <a:endParaRPr sz="180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1">
                        <a:lumMod val="20000"/>
                        <a:lumOff val="80000"/>
                      </a:schemeClr>
                    </a:solidFill>
                  </a:tcPr>
                </a:tc>
              </a:tr>
              <a:tr h="364490">
                <a:tc>
                  <a:txBody>
                    <a:bodyPr/>
                    <a:p>
                      <a:r>
                        <a:rPr sz="1800">
                          <a:latin typeface="Cambria" panose="02040503050406030204" charset="0"/>
                          <a:cs typeface="Cambria" panose="02040503050406030204" charset="0"/>
                        </a:rPr>
                        <a:t>JOIN</a:t>
                      </a:r>
                      <a:endParaRPr sz="180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1">
                        <a:lumMod val="20000"/>
                        <a:lumOff val="80000"/>
                      </a:schemeClr>
                    </a:solidFill>
                  </a:tcPr>
                </a:tc>
                <a:tc>
                  <a:txBody>
                    <a:bodyPr/>
                    <a:p>
                      <a:r>
                        <a:rPr sz="1800">
                          <a:latin typeface="Cambria" panose="02040503050406030204" charset="0"/>
                          <a:cs typeface="Cambria" panose="02040503050406030204" charset="0"/>
                        </a:rPr>
                        <a:t>Combines rows from two or more tables based on a related column</a:t>
                      </a:r>
                      <a:endParaRPr sz="180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1">
                        <a:lumMod val="20000"/>
                        <a:lumOff val="80000"/>
                      </a:schemeClr>
                    </a:solidFill>
                  </a:tcPr>
                </a:tc>
              </a:tr>
            </a:tbl>
          </a:graphicData>
        </a:graphic>
      </p:graphicFrame>
      <p:sp>
        <p:nvSpPr>
          <p:cNvPr id="5" name="Text Box 4"/>
          <p:cNvSpPr txBox="1"/>
          <p:nvPr/>
        </p:nvSpPr>
        <p:spPr>
          <a:xfrm>
            <a:off x="635" y="559435"/>
            <a:ext cx="12192000" cy="2467610"/>
          </a:xfrm>
          <a:prstGeom prst="rect">
            <a:avLst/>
          </a:prstGeom>
        </p:spPr>
        <p:txBody>
          <a:bodyPr wrap="square">
            <a:noAutofit/>
          </a:bodyPr>
          <a:p>
            <a:r>
              <a:rPr lang="en-US" altLang="en-US"/>
              <a:t>An SQL clause is a component of an SQL statement that performs a specific function — like selecting data, filtering rows, grouping results, etc. Each clause defines a part of what the SQL query should do.</a:t>
            </a:r>
            <a:endParaRPr lang="en-US" altLang="en-US"/>
          </a:p>
          <a:p>
            <a:endParaRPr lang="en-US" altLang="en-US"/>
          </a:p>
          <a:p>
            <a:r>
              <a:rPr lang="en-US" altLang="en-US"/>
              <a:t>1)Clauses are building blocks of SQL statements — they define different parts of a query and what actions to perform.</a:t>
            </a:r>
            <a:endParaRPr lang="en-US" altLang="en-US"/>
          </a:p>
          <a:p>
            <a:r>
              <a:rPr lang="en-US" altLang="en-US"/>
              <a:t>2)Each clause has a specific role, such as selecting data, filtering rows, grouping, or sorting results.</a:t>
            </a:r>
            <a:endParaRPr lang="en-US" altLang="en-US"/>
          </a:p>
          <a:p>
            <a:r>
              <a:rPr lang="en-US" altLang="en-US"/>
              <a:t>3)Common SQL clauses include: SELECT, FROM, WHERE, GROUP BY, HAVING, ORDER BY, and LIMIT.</a:t>
            </a:r>
            <a:endParaRPr lang="en-US" altLang="en-US"/>
          </a:p>
          <a:p>
            <a:r>
              <a:rPr lang="en-US" altLang="en-US"/>
              <a:t>4)Clauses work together in a specific order to form a complete SQL query that retrieves the desired data.</a:t>
            </a:r>
            <a:endParaRPr lang="en-US"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19380" y="0"/>
            <a:ext cx="10515600" cy="640715"/>
          </a:xfrm>
        </p:spPr>
        <p:txBody>
          <a:bodyPr/>
          <a:p>
            <a:pPr algn="ctr"/>
            <a:r>
              <a:rPr lang="en-US" sz="2800" b="1">
                <a:solidFill>
                  <a:srgbClr val="FF0000"/>
                </a:solidFill>
              </a:rPr>
              <a:t>SQL Limit Clause</a:t>
            </a:r>
            <a:endParaRPr lang="en-US" sz="2800" b="1">
              <a:solidFill>
                <a:srgbClr val="FF0000"/>
              </a:solidFill>
            </a:endParaRPr>
          </a:p>
        </p:txBody>
      </p:sp>
      <p:sp>
        <p:nvSpPr>
          <p:cNvPr id="3" name="Content Placeholder 2"/>
          <p:cNvSpPr>
            <a:spLocks noGrp="1"/>
          </p:cNvSpPr>
          <p:nvPr>
            <p:ph idx="1"/>
          </p:nvPr>
        </p:nvSpPr>
        <p:spPr>
          <a:xfrm>
            <a:off x="233680" y="640715"/>
            <a:ext cx="11854180" cy="6082665"/>
          </a:xfrm>
        </p:spPr>
        <p:txBody>
          <a:bodyPr/>
          <a:p>
            <a:r>
              <a:rPr lang="en-US" altLang="en-US" sz="2400"/>
              <a:t>The LIMIT clause in SQL is used to restrict the number of rows returned by a query.</a:t>
            </a:r>
            <a:endParaRPr lang="en-US" altLang="en-US" sz="2400"/>
          </a:p>
          <a:p>
            <a:endParaRPr lang="en-US" altLang="en-US" sz="2400"/>
          </a:p>
          <a:p>
            <a:r>
              <a:rPr lang="en-US" altLang="en-US" sz="2400"/>
              <a:t>SELECT column1, column2, ...</a:t>
            </a:r>
            <a:endParaRPr lang="en-US" altLang="en-US" sz="2400"/>
          </a:p>
          <a:p>
            <a:r>
              <a:rPr lang="en-US" altLang="en-US" sz="2400"/>
              <a:t>FROM table_name</a:t>
            </a:r>
            <a:endParaRPr lang="en-US" altLang="en-US" sz="2400"/>
          </a:p>
          <a:p>
            <a:r>
              <a:rPr lang="en-US" altLang="en-US" sz="2400"/>
              <a:t>LIMIT number_of_rows;</a:t>
            </a:r>
            <a:endParaRPr lang="en-US" altLang="en-US" sz="2400"/>
          </a:p>
          <a:p>
            <a:endParaRPr lang="en-US" altLang="en-US" sz="2400"/>
          </a:p>
          <a:p>
            <a:r>
              <a:rPr lang="en-US" altLang="en-US" sz="2400"/>
              <a:t>SELECT * FROM employees</a:t>
            </a:r>
            <a:endParaRPr lang="en-US" altLang="en-US" sz="2400"/>
          </a:p>
          <a:p>
            <a:r>
              <a:rPr lang="en-US" altLang="en-US" sz="2400"/>
              <a:t>LIMIT 5;</a:t>
            </a:r>
            <a:endParaRPr lang="en-US" altLang="en-US" sz="2400"/>
          </a:p>
          <a:p>
            <a:r>
              <a:rPr lang="en-US" altLang="en-US" sz="2400"/>
              <a:t>SELECT * FROM customers</a:t>
            </a:r>
            <a:endParaRPr lang="en-US" altLang="en-US" sz="2400"/>
          </a:p>
          <a:p>
            <a:r>
              <a:rPr lang="en-US" altLang="en-US" sz="2400"/>
              <a:t>LIMIT 10, 5;</a:t>
            </a:r>
            <a:endParaRPr lang="en-US" altLang="en-US" sz="2400"/>
          </a:p>
          <a:p>
            <a:endParaRPr lang="en-US" altLang="en-US" sz="2400"/>
          </a:p>
          <a:p>
            <a:endParaRPr lang="en-US" altLang="en-US" sz="2400"/>
          </a:p>
          <a:p>
            <a:endParaRPr lang="en-US" altLang="en-US" sz="24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35" y="-635"/>
            <a:ext cx="12052300" cy="570865"/>
          </a:xfrm>
        </p:spPr>
        <p:txBody>
          <a:bodyPr>
            <a:noAutofit/>
          </a:bodyPr>
          <a:p>
            <a:pPr algn="ctr"/>
            <a:r>
              <a:rPr lang="en-US" altLang="en-US" sz="2400" b="1">
                <a:solidFill>
                  <a:srgbClr val="FF0000"/>
                </a:solidFill>
                <a:sym typeface="+mn-ea"/>
              </a:rPr>
              <a:t>1. LIKE Operator</a:t>
            </a:r>
            <a:endParaRPr lang="en-US" altLang="en-US" sz="2400" b="1">
              <a:solidFill>
                <a:srgbClr val="FF0000"/>
              </a:solidFill>
              <a:sym typeface="+mn-ea"/>
            </a:endParaRPr>
          </a:p>
        </p:txBody>
      </p:sp>
      <p:sp>
        <p:nvSpPr>
          <p:cNvPr id="3" name="Content Placeholder 2"/>
          <p:cNvSpPr>
            <a:spLocks noGrp="1"/>
          </p:cNvSpPr>
          <p:nvPr>
            <p:ph idx="1"/>
          </p:nvPr>
        </p:nvSpPr>
        <p:spPr>
          <a:xfrm>
            <a:off x="222250" y="401955"/>
            <a:ext cx="10515600" cy="4351338"/>
          </a:xfrm>
        </p:spPr>
        <p:txBody>
          <a:bodyPr>
            <a:normAutofit/>
          </a:bodyPr>
          <a:p>
            <a:r>
              <a:rPr lang="en-US" altLang="en-US" sz="1800"/>
              <a:t>The LIKE operator is used in a WHERE clause to search for a specified pattern in a column.</a:t>
            </a:r>
            <a:endParaRPr lang="en-US" altLang="en-US" sz="1800"/>
          </a:p>
          <a:p>
            <a:r>
              <a:rPr lang="en-US" altLang="en-US" sz="1800"/>
              <a:t>Often used with wildcards:</a:t>
            </a:r>
            <a:endParaRPr lang="en-US" altLang="en-US" sz="1800"/>
          </a:p>
          <a:p>
            <a:r>
              <a:rPr lang="en-US" altLang="en-US" sz="1800"/>
              <a:t>% — matches zero or more characters</a:t>
            </a:r>
            <a:endParaRPr lang="en-US" altLang="en-US" sz="1800"/>
          </a:p>
          <a:p>
            <a:r>
              <a:rPr lang="en-US" altLang="en-US" sz="1800"/>
              <a:t>_ — matches exactly one character</a:t>
            </a:r>
            <a:endParaRPr lang="en-US" altLang="en-US" sz="1800"/>
          </a:p>
        </p:txBody>
      </p:sp>
      <p:graphicFrame>
        <p:nvGraphicFramePr>
          <p:cNvPr id="4" name="Table 3"/>
          <p:cNvGraphicFramePr/>
          <p:nvPr>
            <p:custDataLst>
              <p:tags r:id="rId1"/>
            </p:custDataLst>
          </p:nvPr>
        </p:nvGraphicFramePr>
        <p:xfrm>
          <a:off x="210185" y="2164080"/>
          <a:ext cx="11675745" cy="2529840"/>
        </p:xfrm>
        <a:graphic>
          <a:graphicData uri="http://schemas.openxmlformats.org/drawingml/2006/table">
            <a:tbl>
              <a:tblPr/>
              <a:tblGrid>
                <a:gridCol w="3891915"/>
                <a:gridCol w="3891915"/>
                <a:gridCol w="3891915"/>
              </a:tblGrid>
              <a:tr h="421640">
                <a:tc>
                  <a:txBody>
                    <a:bodyPr/>
                    <a:p>
                      <a:r>
                        <a:rPr sz="2000"/>
                        <a:t>Pattern</a:t>
                      </a:r>
                      <a:endParaRPr sz="2000"/>
                    </a:p>
                  </a:txBody>
                  <a:tcPr marL="0" marR="0" marT="0" marB="0" anchor="ctr" anchorCtr="0">
                    <a:lnL>
                      <a:noFill/>
                    </a:lnL>
                    <a:lnR>
                      <a:noFill/>
                    </a:lnR>
                    <a:lnT>
                      <a:noFill/>
                    </a:lnT>
                    <a:lnB>
                      <a:noFill/>
                    </a:lnB>
                    <a:noFill/>
                  </a:tcPr>
                </a:tc>
                <a:tc>
                  <a:txBody>
                    <a:bodyPr/>
                    <a:p>
                      <a:r>
                        <a:rPr sz="2000"/>
                        <a:t>Meaning</a:t>
                      </a:r>
                      <a:endParaRPr sz="2000"/>
                    </a:p>
                  </a:txBody>
                  <a:tcPr marL="0" marR="0" marT="0" marB="0" anchor="ctr" anchorCtr="0">
                    <a:lnL>
                      <a:noFill/>
                    </a:lnL>
                    <a:lnR>
                      <a:noFill/>
                    </a:lnR>
                    <a:lnT>
                      <a:noFill/>
                    </a:lnT>
                    <a:lnB>
                      <a:noFill/>
                    </a:lnB>
                    <a:noFill/>
                  </a:tcPr>
                </a:tc>
                <a:tc>
                  <a:txBody>
                    <a:bodyPr/>
                    <a:p>
                      <a:r>
                        <a:rPr sz="2000"/>
                        <a:t>Matches Example</a:t>
                      </a:r>
                      <a:endParaRPr sz="2000"/>
                    </a:p>
                  </a:txBody>
                  <a:tcPr marL="0" marR="0" marT="0" marB="0" anchor="ctr" anchorCtr="0">
                    <a:lnL>
                      <a:noFill/>
                    </a:lnL>
                    <a:lnR>
                      <a:noFill/>
                    </a:lnR>
                    <a:lnT>
                      <a:noFill/>
                    </a:lnT>
                    <a:lnB>
                      <a:noFill/>
                    </a:lnB>
                    <a:noFill/>
                  </a:tcPr>
                </a:tc>
              </a:tr>
              <a:tr h="421640">
                <a:tc>
                  <a:txBody>
                    <a:bodyPr/>
                    <a:p>
                      <a:r>
                        <a:rPr sz="2000"/>
                        <a:t>'A%'</a:t>
                      </a:r>
                      <a:endParaRPr sz="2000"/>
                    </a:p>
                  </a:txBody>
                  <a:tcPr marL="0" marR="0" marT="0" marB="0" anchor="ctr" anchorCtr="0">
                    <a:lnL>
                      <a:noFill/>
                    </a:lnL>
                    <a:lnR>
                      <a:noFill/>
                    </a:lnR>
                    <a:lnT>
                      <a:noFill/>
                    </a:lnT>
                    <a:lnB>
                      <a:noFill/>
                    </a:lnB>
                    <a:noFill/>
                  </a:tcPr>
                </a:tc>
                <a:tc>
                  <a:txBody>
                    <a:bodyPr/>
                    <a:p>
                      <a:r>
                        <a:rPr sz="2000"/>
                        <a:t>Starts with "A"</a:t>
                      </a:r>
                      <a:endParaRPr sz="2000"/>
                    </a:p>
                  </a:txBody>
                  <a:tcPr marL="0" marR="0" marT="0" marB="0" anchor="ctr" anchorCtr="0">
                    <a:lnL>
                      <a:noFill/>
                    </a:lnL>
                    <a:lnR>
                      <a:noFill/>
                    </a:lnR>
                    <a:lnT>
                      <a:noFill/>
                    </a:lnT>
                    <a:lnB>
                      <a:noFill/>
                    </a:lnB>
                    <a:noFill/>
                  </a:tcPr>
                </a:tc>
                <a:tc>
                  <a:txBody>
                    <a:bodyPr/>
                    <a:p>
                      <a:r>
                        <a:rPr sz="2000"/>
                        <a:t>"Anna", "Alex", "Alice"</a:t>
                      </a:r>
                      <a:endParaRPr sz="2000"/>
                    </a:p>
                  </a:txBody>
                  <a:tcPr marL="0" marR="0" marT="0" marB="0" anchor="ctr" anchorCtr="0">
                    <a:lnL>
                      <a:noFill/>
                    </a:lnL>
                    <a:lnR>
                      <a:noFill/>
                    </a:lnR>
                    <a:lnT>
                      <a:noFill/>
                    </a:lnT>
                    <a:lnB>
                      <a:noFill/>
                    </a:lnB>
                    <a:noFill/>
                  </a:tcPr>
                </a:tc>
              </a:tr>
              <a:tr h="421640">
                <a:tc>
                  <a:txBody>
                    <a:bodyPr/>
                    <a:p>
                      <a:r>
                        <a:rPr sz="2000"/>
                        <a:t>'%A'</a:t>
                      </a:r>
                      <a:endParaRPr sz="2000"/>
                    </a:p>
                  </a:txBody>
                  <a:tcPr marL="0" marR="0" marT="0" marB="0" anchor="ctr" anchorCtr="0">
                    <a:lnL>
                      <a:noFill/>
                    </a:lnL>
                    <a:lnR>
                      <a:noFill/>
                    </a:lnR>
                    <a:lnT>
                      <a:noFill/>
                    </a:lnT>
                    <a:lnB>
                      <a:noFill/>
                    </a:lnB>
                    <a:noFill/>
                  </a:tcPr>
                </a:tc>
                <a:tc>
                  <a:txBody>
                    <a:bodyPr/>
                    <a:p>
                      <a:r>
                        <a:rPr sz="2000"/>
                        <a:t>Ends with "A"</a:t>
                      </a:r>
                      <a:endParaRPr sz="2000"/>
                    </a:p>
                  </a:txBody>
                  <a:tcPr marL="0" marR="0" marT="0" marB="0" anchor="ctr" anchorCtr="0">
                    <a:lnL>
                      <a:noFill/>
                    </a:lnL>
                    <a:lnR>
                      <a:noFill/>
                    </a:lnR>
                    <a:lnT>
                      <a:noFill/>
                    </a:lnT>
                    <a:lnB>
                      <a:noFill/>
                    </a:lnB>
                    <a:noFill/>
                  </a:tcPr>
                </a:tc>
                <a:tc>
                  <a:txBody>
                    <a:bodyPr/>
                    <a:p>
                      <a:r>
                        <a:rPr sz="2000"/>
                        <a:t>"LISA", "A"</a:t>
                      </a:r>
                      <a:endParaRPr sz="2000"/>
                    </a:p>
                  </a:txBody>
                  <a:tcPr marL="0" marR="0" marT="0" marB="0" anchor="ctr" anchorCtr="0">
                    <a:lnL>
                      <a:noFill/>
                    </a:lnL>
                    <a:lnR>
                      <a:noFill/>
                    </a:lnR>
                    <a:lnT>
                      <a:noFill/>
                    </a:lnT>
                    <a:lnB>
                      <a:noFill/>
                    </a:lnB>
                    <a:noFill/>
                  </a:tcPr>
                </a:tc>
              </a:tr>
              <a:tr h="421640">
                <a:tc>
                  <a:txBody>
                    <a:bodyPr/>
                    <a:p>
                      <a:r>
                        <a:rPr sz="2000"/>
                        <a:t>'%A%'</a:t>
                      </a:r>
                      <a:endParaRPr sz="2000"/>
                    </a:p>
                  </a:txBody>
                  <a:tcPr marL="0" marR="0" marT="0" marB="0" anchor="ctr" anchorCtr="0">
                    <a:lnL>
                      <a:noFill/>
                    </a:lnL>
                    <a:lnR>
                      <a:noFill/>
                    </a:lnR>
                    <a:lnT>
                      <a:noFill/>
                    </a:lnT>
                    <a:lnB>
                      <a:noFill/>
                    </a:lnB>
                    <a:noFill/>
                  </a:tcPr>
                </a:tc>
                <a:tc>
                  <a:txBody>
                    <a:bodyPr/>
                    <a:p>
                      <a:r>
                        <a:rPr sz="2000"/>
                        <a:t>Contains "A" anywhere</a:t>
                      </a:r>
                      <a:endParaRPr sz="2000"/>
                    </a:p>
                  </a:txBody>
                  <a:tcPr marL="0" marR="0" marT="0" marB="0" anchor="ctr" anchorCtr="0">
                    <a:lnL>
                      <a:noFill/>
                    </a:lnL>
                    <a:lnR>
                      <a:noFill/>
                    </a:lnR>
                    <a:lnT>
                      <a:noFill/>
                    </a:lnT>
                    <a:lnB>
                      <a:noFill/>
                    </a:lnB>
                    <a:noFill/>
                  </a:tcPr>
                </a:tc>
                <a:tc>
                  <a:txBody>
                    <a:bodyPr/>
                    <a:p>
                      <a:r>
                        <a:rPr sz="2000"/>
                        <a:t>"MARK", "JAMES"</a:t>
                      </a:r>
                      <a:endParaRPr sz="2000"/>
                    </a:p>
                  </a:txBody>
                  <a:tcPr marL="0" marR="0" marT="0" marB="0" anchor="ctr" anchorCtr="0">
                    <a:lnL>
                      <a:noFill/>
                    </a:lnL>
                    <a:lnR>
                      <a:noFill/>
                    </a:lnR>
                    <a:lnT>
                      <a:noFill/>
                    </a:lnT>
                    <a:lnB>
                      <a:noFill/>
                    </a:lnB>
                    <a:noFill/>
                  </a:tcPr>
                </a:tc>
              </a:tr>
              <a:tr h="421640">
                <a:tc>
                  <a:txBody>
                    <a:bodyPr/>
                    <a:p>
                      <a:r>
                        <a:rPr sz="2000"/>
                        <a:t>'A%B'</a:t>
                      </a:r>
                      <a:endParaRPr sz="2000"/>
                    </a:p>
                  </a:txBody>
                  <a:tcPr marL="0" marR="0" marT="0" marB="0" anchor="ctr" anchorCtr="0">
                    <a:lnL>
                      <a:noFill/>
                    </a:lnL>
                    <a:lnR>
                      <a:noFill/>
                    </a:lnR>
                    <a:lnT>
                      <a:noFill/>
                    </a:lnT>
                    <a:lnB>
                      <a:noFill/>
                    </a:lnB>
                    <a:noFill/>
                  </a:tcPr>
                </a:tc>
                <a:tc>
                  <a:txBody>
                    <a:bodyPr/>
                    <a:p>
                      <a:r>
                        <a:rPr sz="2000"/>
                        <a:t>Starts with "A" and ends with "B"</a:t>
                      </a:r>
                      <a:endParaRPr sz="2000"/>
                    </a:p>
                  </a:txBody>
                  <a:tcPr marL="0" marR="0" marT="0" marB="0" anchor="ctr" anchorCtr="0">
                    <a:lnL>
                      <a:noFill/>
                    </a:lnL>
                    <a:lnR>
                      <a:noFill/>
                    </a:lnR>
                    <a:lnT>
                      <a:noFill/>
                    </a:lnT>
                    <a:lnB>
                      <a:noFill/>
                    </a:lnB>
                    <a:noFill/>
                  </a:tcPr>
                </a:tc>
                <a:tc>
                  <a:txBody>
                    <a:bodyPr/>
                    <a:p>
                      <a:r>
                        <a:rPr sz="2000"/>
                        <a:t>"A...B" like "AxxB"</a:t>
                      </a:r>
                      <a:endParaRPr sz="2000"/>
                    </a:p>
                  </a:txBody>
                  <a:tcPr marL="0" marR="0" marT="0" marB="0" anchor="ctr" anchorCtr="0">
                    <a:lnL>
                      <a:noFill/>
                    </a:lnL>
                    <a:lnR>
                      <a:noFill/>
                    </a:lnR>
                    <a:lnT>
                      <a:noFill/>
                    </a:lnT>
                    <a:lnB>
                      <a:noFill/>
                    </a:lnB>
                    <a:noFill/>
                  </a:tcPr>
                </a:tc>
              </a:tr>
              <a:tr h="421640">
                <a:tc>
                  <a:txBody>
                    <a:bodyPr/>
                    <a:p>
                      <a:r>
                        <a:rPr sz="2000"/>
                        <a:t>'%'</a:t>
                      </a:r>
                      <a:endParaRPr sz="2000"/>
                    </a:p>
                  </a:txBody>
                  <a:tcPr marL="0" marR="0" marT="0" marB="0" anchor="ctr" anchorCtr="0">
                    <a:lnL>
                      <a:noFill/>
                    </a:lnL>
                    <a:lnR>
                      <a:noFill/>
                    </a:lnR>
                    <a:lnT>
                      <a:noFill/>
                    </a:lnT>
                    <a:lnB>
                      <a:noFill/>
                    </a:lnB>
                    <a:noFill/>
                  </a:tcPr>
                </a:tc>
                <a:tc>
                  <a:txBody>
                    <a:bodyPr/>
                    <a:p>
                      <a:r>
                        <a:rPr sz="2000"/>
                        <a:t>Matches everything (returns all rows)</a:t>
                      </a:r>
                      <a:endParaRPr sz="2000"/>
                    </a:p>
                  </a:txBody>
                  <a:tcPr marL="0" marR="0" marT="0" marB="0" anchor="ctr" anchorCtr="0">
                    <a:lnL>
                      <a:noFill/>
                    </a:lnL>
                    <a:lnR>
                      <a:noFill/>
                    </a:lnR>
                    <a:lnT>
                      <a:noFill/>
                    </a:lnT>
                    <a:lnB>
                      <a:noFill/>
                    </a:lnB>
                    <a:noFill/>
                  </a:tcPr>
                </a:tc>
                <a:tc>
                  <a:txBody>
                    <a:bodyPr/>
                    <a:p>
                      <a:r>
                        <a:rPr sz="2000"/>
                        <a:t>"Any text"</a:t>
                      </a:r>
                      <a:endParaRPr sz="2000"/>
                    </a:p>
                  </a:txBody>
                  <a:tcPr marL="0" marR="0" marT="0" marB="0" anchor="ctr" anchorCtr="0">
                    <a:lnL>
                      <a:noFill/>
                    </a:lnL>
                    <a:lnR>
                      <a:noFill/>
                    </a:lnR>
                    <a:lnT>
                      <a:noFill/>
                    </a:lnT>
                    <a:lnB>
                      <a:noFill/>
                    </a:lnB>
                    <a:noFill/>
                  </a:tcPr>
                </a:tc>
              </a:tr>
            </a:tbl>
          </a:graphicData>
        </a:graphic>
      </p:graphicFrame>
      <p:sp>
        <p:nvSpPr>
          <p:cNvPr id="5" name="Text Box 4"/>
          <p:cNvSpPr txBox="1"/>
          <p:nvPr/>
        </p:nvSpPr>
        <p:spPr>
          <a:xfrm>
            <a:off x="210185" y="5239385"/>
            <a:ext cx="6096000" cy="1198880"/>
          </a:xfrm>
          <a:prstGeom prst="rect">
            <a:avLst/>
          </a:prstGeom>
          <a:noFill/>
        </p:spPr>
        <p:txBody>
          <a:bodyPr wrap="square" rtlCol="0" anchor="t">
            <a:spAutoFit/>
          </a:bodyPr>
          <a:p>
            <a:r>
              <a:rPr lang="en-US" altLang="en-US"/>
              <a:t>SELECT column_name</a:t>
            </a:r>
            <a:endParaRPr lang="en-US" altLang="en-US"/>
          </a:p>
          <a:p>
            <a:r>
              <a:rPr lang="en-US" altLang="en-US"/>
              <a:t>FROM table_name</a:t>
            </a:r>
            <a:endParaRPr lang="en-US" altLang="en-US"/>
          </a:p>
          <a:p>
            <a:r>
              <a:rPr lang="en-US" altLang="en-US"/>
              <a:t>WHERE column_name LIKE 'pattern%';</a:t>
            </a:r>
            <a:endParaRPr lang="en-US" altLang="en-US"/>
          </a:p>
          <a:p>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4" name="Table 3"/>
          <p:cNvGraphicFramePr/>
          <p:nvPr>
            <p:custDataLst>
              <p:tags r:id="rId1"/>
            </p:custDataLst>
          </p:nvPr>
        </p:nvGraphicFramePr>
        <p:xfrm>
          <a:off x="168910" y="120015"/>
          <a:ext cx="11936095" cy="1889760"/>
        </p:xfrm>
        <a:graphic>
          <a:graphicData uri="http://schemas.openxmlformats.org/drawingml/2006/table">
            <a:tbl>
              <a:tblPr/>
              <a:tblGrid>
                <a:gridCol w="4705985"/>
                <a:gridCol w="7230110"/>
              </a:tblGrid>
              <a:tr h="365760">
                <a:tc>
                  <a:txBody>
                    <a:bodyPr/>
                    <a:p>
                      <a:pPr algn="ctr"/>
                      <a:r>
                        <a:rPr sz="2400" b="1">
                          <a:solidFill>
                            <a:srgbClr val="FF0000"/>
                          </a:solidFill>
                        </a:rPr>
                        <a:t>Pattern</a:t>
                      </a:r>
                      <a:endParaRPr sz="2400" b="1">
                        <a:solidFill>
                          <a:srgbClr val="FF0000"/>
                        </a:solidFill>
                      </a:endParaRPr>
                    </a:p>
                  </a:txBody>
                  <a:tcPr marL="0" marR="0" marT="0" marB="0" anchor="ctr" anchorCtr="0">
                    <a:lnL>
                      <a:noFill/>
                    </a:lnL>
                    <a:lnR>
                      <a:noFill/>
                    </a:lnR>
                    <a:lnT>
                      <a:noFill/>
                    </a:lnT>
                    <a:lnB>
                      <a:noFill/>
                    </a:lnB>
                    <a:solidFill>
                      <a:schemeClr val="accent2">
                        <a:lumMod val="20000"/>
                        <a:lumOff val="80000"/>
                      </a:schemeClr>
                    </a:solidFill>
                  </a:tcPr>
                </a:tc>
                <a:tc>
                  <a:txBody>
                    <a:bodyPr/>
                    <a:p>
                      <a:pPr algn="ctr"/>
                      <a:r>
                        <a:rPr sz="2400" b="1">
                          <a:solidFill>
                            <a:srgbClr val="FF0000"/>
                          </a:solidFill>
                        </a:rPr>
                        <a:t>What It Does</a:t>
                      </a:r>
                      <a:endParaRPr sz="2400" b="1">
                        <a:solidFill>
                          <a:srgbClr val="FF0000"/>
                        </a:solidFill>
                      </a:endParaRPr>
                    </a:p>
                  </a:txBody>
                  <a:tcPr marL="0" marR="0" marT="0" marB="0" anchor="ctr" anchorCtr="0">
                    <a:lnL>
                      <a:noFill/>
                    </a:lnL>
                    <a:lnR>
                      <a:noFill/>
                    </a:lnR>
                    <a:lnT>
                      <a:noFill/>
                    </a:lnT>
                    <a:lnB>
                      <a:noFill/>
                    </a:lnB>
                    <a:solidFill>
                      <a:schemeClr val="accent2">
                        <a:lumMod val="20000"/>
                        <a:lumOff val="80000"/>
                      </a:schemeClr>
                    </a:solidFill>
                  </a:tcPr>
                </a:tc>
              </a:tr>
              <a:tr h="304800">
                <a:tc>
                  <a:txBody>
                    <a:bodyPr/>
                    <a:p>
                      <a:r>
                        <a:rPr sz="2000"/>
                        <a:t>%abc</a:t>
                      </a:r>
                      <a:endParaRPr sz="2000"/>
                    </a:p>
                  </a:txBody>
                  <a:tcPr marL="0" marR="0" marT="0" marB="0" anchor="ctr" anchorCtr="0">
                    <a:lnL>
                      <a:noFill/>
                    </a:lnL>
                    <a:lnR>
                      <a:noFill/>
                    </a:lnR>
                    <a:lnT>
                      <a:noFill/>
                    </a:lnT>
                    <a:lnB>
                      <a:noFill/>
                    </a:lnB>
                    <a:solidFill>
                      <a:schemeClr val="accent2">
                        <a:lumMod val="20000"/>
                        <a:lumOff val="80000"/>
                      </a:schemeClr>
                    </a:solidFill>
                  </a:tcPr>
                </a:tc>
                <a:tc>
                  <a:txBody>
                    <a:bodyPr/>
                    <a:p>
                      <a:r>
                        <a:rPr sz="2000"/>
                        <a:t>Ends with abc</a:t>
                      </a:r>
                      <a:endParaRPr sz="2000"/>
                    </a:p>
                  </a:txBody>
                  <a:tcPr marL="0" marR="0" marT="0" marB="0" anchor="ctr" anchorCtr="0">
                    <a:lnL>
                      <a:noFill/>
                    </a:lnL>
                    <a:lnR>
                      <a:noFill/>
                    </a:lnR>
                    <a:lnT>
                      <a:noFill/>
                    </a:lnT>
                    <a:lnB>
                      <a:noFill/>
                    </a:lnB>
                    <a:solidFill>
                      <a:schemeClr val="accent2">
                        <a:lumMod val="20000"/>
                        <a:lumOff val="80000"/>
                      </a:schemeClr>
                    </a:solidFill>
                  </a:tcPr>
                </a:tc>
              </a:tr>
              <a:tr h="304800">
                <a:tc>
                  <a:txBody>
                    <a:bodyPr/>
                    <a:p>
                      <a:r>
                        <a:rPr sz="2000"/>
                        <a:t>abc%</a:t>
                      </a:r>
                      <a:endParaRPr sz="2000"/>
                    </a:p>
                  </a:txBody>
                  <a:tcPr marL="0" marR="0" marT="0" marB="0" anchor="ctr" anchorCtr="0">
                    <a:lnL>
                      <a:noFill/>
                    </a:lnL>
                    <a:lnR>
                      <a:noFill/>
                    </a:lnR>
                    <a:lnT>
                      <a:noFill/>
                    </a:lnT>
                    <a:lnB>
                      <a:noFill/>
                    </a:lnB>
                    <a:solidFill>
                      <a:schemeClr val="accent2">
                        <a:lumMod val="20000"/>
                        <a:lumOff val="80000"/>
                      </a:schemeClr>
                    </a:solidFill>
                  </a:tcPr>
                </a:tc>
                <a:tc>
                  <a:txBody>
                    <a:bodyPr/>
                    <a:p>
                      <a:r>
                        <a:rPr sz="2000"/>
                        <a:t>Starts with abc</a:t>
                      </a:r>
                      <a:endParaRPr sz="2000"/>
                    </a:p>
                  </a:txBody>
                  <a:tcPr marL="0" marR="0" marT="0" marB="0" anchor="ctr" anchorCtr="0">
                    <a:lnL>
                      <a:noFill/>
                    </a:lnL>
                    <a:lnR>
                      <a:noFill/>
                    </a:lnR>
                    <a:lnT>
                      <a:noFill/>
                    </a:lnT>
                    <a:lnB>
                      <a:noFill/>
                    </a:lnB>
                    <a:solidFill>
                      <a:schemeClr val="accent2">
                        <a:lumMod val="20000"/>
                        <a:lumOff val="80000"/>
                      </a:schemeClr>
                    </a:solidFill>
                  </a:tcPr>
                </a:tc>
              </a:tr>
              <a:tr h="304800">
                <a:tc>
                  <a:txBody>
                    <a:bodyPr/>
                    <a:p>
                      <a:r>
                        <a:rPr sz="2000"/>
                        <a:t>%abc%</a:t>
                      </a:r>
                      <a:endParaRPr sz="2000"/>
                    </a:p>
                  </a:txBody>
                  <a:tcPr marL="0" marR="0" marT="0" marB="0" anchor="ctr" anchorCtr="0">
                    <a:lnL>
                      <a:noFill/>
                    </a:lnL>
                    <a:lnR>
                      <a:noFill/>
                    </a:lnR>
                    <a:lnT>
                      <a:noFill/>
                    </a:lnT>
                    <a:lnB>
                      <a:noFill/>
                    </a:lnB>
                    <a:solidFill>
                      <a:schemeClr val="accent2">
                        <a:lumMod val="20000"/>
                        <a:lumOff val="80000"/>
                      </a:schemeClr>
                    </a:solidFill>
                  </a:tcPr>
                </a:tc>
                <a:tc>
                  <a:txBody>
                    <a:bodyPr/>
                    <a:p>
                      <a:r>
                        <a:rPr sz="2000"/>
                        <a:t>Contains abc</a:t>
                      </a:r>
                      <a:endParaRPr sz="2000"/>
                    </a:p>
                  </a:txBody>
                  <a:tcPr marL="0" marR="0" marT="0" marB="0" anchor="ctr" anchorCtr="0">
                    <a:lnL>
                      <a:noFill/>
                    </a:lnL>
                    <a:lnR>
                      <a:noFill/>
                    </a:lnR>
                    <a:lnT>
                      <a:noFill/>
                    </a:lnT>
                    <a:lnB>
                      <a:noFill/>
                    </a:lnB>
                    <a:solidFill>
                      <a:schemeClr val="accent2">
                        <a:lumMod val="20000"/>
                        <a:lumOff val="80000"/>
                      </a:schemeClr>
                    </a:solidFill>
                  </a:tcPr>
                </a:tc>
              </a:tr>
              <a:tr h="304800">
                <a:tc>
                  <a:txBody>
                    <a:bodyPr/>
                    <a:p>
                      <a:r>
                        <a:rPr sz="2000"/>
                        <a:t>a_c</a:t>
                      </a:r>
                      <a:endParaRPr sz="2000"/>
                    </a:p>
                  </a:txBody>
                  <a:tcPr marL="0" marR="0" marT="0" marB="0" anchor="ctr" anchorCtr="0">
                    <a:lnL>
                      <a:noFill/>
                    </a:lnL>
                    <a:lnR>
                      <a:noFill/>
                    </a:lnR>
                    <a:lnT>
                      <a:noFill/>
                    </a:lnT>
                    <a:lnB>
                      <a:noFill/>
                    </a:lnB>
                    <a:solidFill>
                      <a:schemeClr val="accent2">
                        <a:lumMod val="20000"/>
                        <a:lumOff val="80000"/>
                      </a:schemeClr>
                    </a:solidFill>
                  </a:tcPr>
                </a:tc>
                <a:tc>
                  <a:txBody>
                    <a:bodyPr/>
                    <a:p>
                      <a:r>
                        <a:rPr sz="2000"/>
                        <a:t>3-letter string, starts with a, ends with c</a:t>
                      </a:r>
                      <a:endParaRPr sz="2000"/>
                    </a:p>
                  </a:txBody>
                  <a:tcPr marL="0" marR="0" marT="0" marB="0" anchor="ctr" anchorCtr="0">
                    <a:lnL>
                      <a:noFill/>
                    </a:lnL>
                    <a:lnR>
                      <a:noFill/>
                    </a:lnR>
                    <a:lnT>
                      <a:noFill/>
                    </a:lnT>
                    <a:lnB>
                      <a:noFill/>
                    </a:lnB>
                    <a:solidFill>
                      <a:schemeClr val="accent2">
                        <a:lumMod val="20000"/>
                        <a:lumOff val="80000"/>
                      </a:schemeClr>
                    </a:solidFill>
                  </a:tcPr>
                </a:tc>
              </a:tr>
              <a:tr h="304800">
                <a:tc>
                  <a:txBody>
                    <a:bodyPr/>
                    <a:p>
                      <a:r>
                        <a:rPr lang="en-US" sz="2000"/>
                        <a:t>        </a:t>
                      </a:r>
                      <a:r>
                        <a:rPr sz="2000"/>
                        <a:t>_a%</a:t>
                      </a:r>
                      <a:endParaRPr sz="2000"/>
                    </a:p>
                  </a:txBody>
                  <a:tcPr marL="0" marR="0" marT="0" marB="0" anchor="ctr" anchorCtr="0">
                    <a:lnL>
                      <a:noFill/>
                    </a:lnL>
                    <a:lnR>
                      <a:noFill/>
                    </a:lnR>
                    <a:lnT>
                      <a:noFill/>
                    </a:lnT>
                    <a:lnB>
                      <a:noFill/>
                    </a:lnB>
                    <a:solidFill>
                      <a:schemeClr val="accent2">
                        <a:lumMod val="20000"/>
                        <a:lumOff val="80000"/>
                      </a:schemeClr>
                    </a:solidFill>
                  </a:tcPr>
                </a:tc>
                <a:tc>
                  <a:txBody>
                    <a:bodyPr/>
                    <a:p>
                      <a:r>
                        <a:rPr sz="2000"/>
                        <a:t>2nd letter is a, any length</a:t>
                      </a:r>
                      <a:endParaRPr sz="2000"/>
                    </a:p>
                  </a:txBody>
                  <a:tcPr marL="0" marR="0" marT="0" marB="0" anchor="ctr" anchorCtr="0">
                    <a:lnL>
                      <a:noFill/>
                    </a:lnL>
                    <a:lnR>
                      <a:noFill/>
                    </a:lnR>
                    <a:lnT>
                      <a:noFill/>
                    </a:lnT>
                    <a:lnB>
                      <a:noFill/>
                    </a:lnB>
                    <a:solidFill>
                      <a:schemeClr val="accent2">
                        <a:lumMod val="20000"/>
                        <a:lumOff val="80000"/>
                      </a:schemeClr>
                    </a:solidFill>
                  </a:tcPr>
                </a:tc>
              </a:tr>
            </a:tbl>
          </a:graphicData>
        </a:graphic>
      </p:graphicFrame>
      <p:sp>
        <p:nvSpPr>
          <p:cNvPr id="5" name="Text Box 4"/>
          <p:cNvSpPr txBox="1"/>
          <p:nvPr/>
        </p:nvSpPr>
        <p:spPr>
          <a:xfrm>
            <a:off x="50165" y="2219325"/>
            <a:ext cx="5284470" cy="621030"/>
          </a:xfrm>
          <a:prstGeom prst="rect">
            <a:avLst/>
          </a:prstGeom>
          <a:noFill/>
        </p:spPr>
        <p:txBody>
          <a:bodyPr wrap="square" rtlCol="0" anchor="t">
            <a:noAutofit/>
          </a:bodyPr>
          <a:p>
            <a:r>
              <a:rPr lang="en-US" altLang="en-US"/>
              <a:t>SELECT * FROM employees</a:t>
            </a:r>
            <a:endParaRPr lang="en-US" altLang="en-US"/>
          </a:p>
          <a:p>
            <a:r>
              <a:rPr lang="en-US" altLang="en-US"/>
              <a:t>WHERE name LIKE '%son';</a:t>
            </a:r>
            <a:endParaRPr lang="en-US" altLang="en-US"/>
          </a:p>
          <a:p>
            <a:endParaRPr lang="en-US"/>
          </a:p>
        </p:txBody>
      </p:sp>
      <p:sp>
        <p:nvSpPr>
          <p:cNvPr id="6" name="Text Box 5"/>
          <p:cNvSpPr txBox="1"/>
          <p:nvPr/>
        </p:nvSpPr>
        <p:spPr>
          <a:xfrm>
            <a:off x="50165" y="3049905"/>
            <a:ext cx="4631055" cy="3557270"/>
          </a:xfrm>
          <a:prstGeom prst="rect">
            <a:avLst/>
          </a:prstGeom>
          <a:noFill/>
        </p:spPr>
        <p:txBody>
          <a:bodyPr wrap="square" rtlCol="0" anchor="t">
            <a:noAutofit/>
          </a:bodyPr>
          <a:p>
            <a:r>
              <a:rPr lang="en-US" altLang="en-US"/>
              <a:t>-- Match multiple patterns</a:t>
            </a:r>
            <a:endParaRPr lang="en-US" altLang="en-US"/>
          </a:p>
          <a:p>
            <a:r>
              <a:rPr lang="en-US" altLang="en-US"/>
              <a:t>WHERE name LIKE 'A%' OR name LIKE 'B%'</a:t>
            </a:r>
            <a:endParaRPr lang="en-US" altLang="en-US"/>
          </a:p>
          <a:p>
            <a:endParaRPr lang="en-US" altLang="en-US"/>
          </a:p>
          <a:p>
            <a:r>
              <a:rPr lang="en-US" altLang="en-US"/>
              <a:t>-- Exclude a pattern</a:t>
            </a:r>
            <a:endParaRPr lang="en-US" altLang="en-US"/>
          </a:p>
          <a:p>
            <a:r>
              <a:rPr lang="en-US" altLang="en-US"/>
              <a:t>WHERE name NOT LIKE '%test%'</a:t>
            </a:r>
            <a:endParaRPr lang="en-US" altLang="en-US"/>
          </a:p>
          <a:p>
            <a:endParaRPr lang="en-US" altLang="en-US"/>
          </a:p>
          <a:p>
            <a:r>
              <a:rPr lang="en-US" altLang="en-US"/>
              <a:t>-- Combine with other conditions</a:t>
            </a:r>
            <a:endParaRPr lang="en-US" altLang="en-US"/>
          </a:p>
          <a:p>
            <a:r>
              <a:rPr lang="en-US" altLang="en-US"/>
              <a:t>WHERE name LIKE 'J%' AND age &gt; 30</a:t>
            </a:r>
            <a:endParaRPr lang="en-US" altLang="en-US"/>
          </a:p>
          <a:p>
            <a:endParaRPr lang="en-US"/>
          </a:p>
        </p:txBody>
      </p:sp>
      <p:sp>
        <p:nvSpPr>
          <p:cNvPr id="7" name="Text Box 6"/>
          <p:cNvSpPr txBox="1"/>
          <p:nvPr/>
        </p:nvSpPr>
        <p:spPr>
          <a:xfrm>
            <a:off x="5826760" y="2219960"/>
            <a:ext cx="6096000" cy="620395"/>
          </a:xfrm>
          <a:prstGeom prst="rect">
            <a:avLst/>
          </a:prstGeom>
          <a:noFill/>
        </p:spPr>
        <p:txBody>
          <a:bodyPr wrap="square" rtlCol="0" anchor="t">
            <a:noAutofit/>
          </a:bodyPr>
          <a:p>
            <a:r>
              <a:rPr lang="en-US" altLang="en-US"/>
              <a:t>SELECT * FROM users</a:t>
            </a:r>
            <a:endParaRPr lang="en-US" altLang="en-US"/>
          </a:p>
          <a:p>
            <a:r>
              <a:rPr lang="en-US" altLang="en-US"/>
              <a:t>WHERE phone LIKE '555%';</a:t>
            </a:r>
            <a:endParaRPr lang="en-US" altLang="en-US"/>
          </a:p>
          <a:p>
            <a:endParaRPr lang="en-US"/>
          </a:p>
        </p:txBody>
      </p:sp>
      <p:sp>
        <p:nvSpPr>
          <p:cNvPr id="8" name="Text Box 7"/>
          <p:cNvSpPr txBox="1"/>
          <p:nvPr/>
        </p:nvSpPr>
        <p:spPr>
          <a:xfrm>
            <a:off x="4909820" y="3050540"/>
            <a:ext cx="7012940" cy="3415030"/>
          </a:xfrm>
          <a:prstGeom prst="rect">
            <a:avLst/>
          </a:prstGeom>
          <a:noFill/>
        </p:spPr>
        <p:txBody>
          <a:bodyPr wrap="square" rtlCol="0" anchor="t">
            <a:spAutoFit/>
          </a:bodyPr>
          <a:p>
            <a:r>
              <a:rPr lang="en-US" altLang="en-US"/>
              <a:t>-- Email ending with @gmail.com</a:t>
            </a:r>
            <a:endParaRPr lang="en-US" altLang="en-US"/>
          </a:p>
          <a:p>
            <a:r>
              <a:rPr lang="en-US" altLang="en-US"/>
              <a:t>SELECT * FROM users</a:t>
            </a:r>
            <a:endParaRPr lang="en-US" altLang="en-US"/>
          </a:p>
          <a:p>
            <a:r>
              <a:rPr lang="en-US" altLang="en-US"/>
              <a:t>WHERE email LIKE '%@gmail.com';</a:t>
            </a:r>
            <a:endParaRPr lang="en-US" altLang="en-US"/>
          </a:p>
          <a:p>
            <a:endParaRPr lang="en-US" altLang="en-US"/>
          </a:p>
          <a:p>
            <a:r>
              <a:rPr lang="en-US" altLang="en-US"/>
              <a:t>-- Products with "Pro" in the name</a:t>
            </a:r>
            <a:endParaRPr lang="en-US" altLang="en-US"/>
          </a:p>
          <a:p>
            <a:r>
              <a:rPr lang="en-US" altLang="en-US"/>
              <a:t>SELECT * FROM products</a:t>
            </a:r>
            <a:endParaRPr lang="en-US" altLang="en-US"/>
          </a:p>
          <a:p>
            <a:r>
              <a:rPr lang="en-US" altLang="en-US"/>
              <a:t>WHERE name LIKE '%Pro%';</a:t>
            </a:r>
            <a:endParaRPr lang="en-US" altLang="en-US"/>
          </a:p>
          <a:p>
            <a:endParaRPr lang="en-US" altLang="en-US"/>
          </a:p>
          <a:p>
            <a:r>
              <a:rPr lang="en-US" altLang="en-US"/>
              <a:t>-- Customer names that start with 'Mc'</a:t>
            </a:r>
            <a:endParaRPr lang="en-US" altLang="en-US"/>
          </a:p>
          <a:p>
            <a:r>
              <a:rPr lang="en-US" altLang="en-US"/>
              <a:t>SELECT * FROM customers</a:t>
            </a:r>
            <a:endParaRPr lang="en-US" altLang="en-US"/>
          </a:p>
          <a:p>
            <a:r>
              <a:rPr lang="en-US" altLang="en-US"/>
              <a:t>WHERE name LIKE 'Mc%';</a:t>
            </a:r>
            <a:endParaRPr lang="en-US" altLang="en-US"/>
          </a:p>
          <a:p>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0" y="0"/>
            <a:ext cx="12192000" cy="330200"/>
          </a:xfrm>
        </p:spPr>
        <p:txBody>
          <a:bodyPr>
            <a:noAutofit/>
          </a:bodyPr>
          <a:p>
            <a:pPr algn="ctr"/>
            <a:r>
              <a:rPr lang="en-US" sz="2800" b="1">
                <a:solidFill>
                  <a:srgbClr val="FF0000"/>
                </a:solidFill>
              </a:rPr>
              <a:t>Order By Clause</a:t>
            </a:r>
            <a:endParaRPr lang="en-US" sz="2800" b="1">
              <a:solidFill>
                <a:srgbClr val="FF0000"/>
              </a:solidFill>
            </a:endParaRPr>
          </a:p>
        </p:txBody>
      </p:sp>
      <p:sp>
        <p:nvSpPr>
          <p:cNvPr id="3" name="Content Placeholder 2"/>
          <p:cNvSpPr>
            <a:spLocks noGrp="1"/>
          </p:cNvSpPr>
          <p:nvPr>
            <p:ph idx="1"/>
          </p:nvPr>
        </p:nvSpPr>
        <p:spPr>
          <a:xfrm>
            <a:off x="103505" y="444500"/>
            <a:ext cx="12087860" cy="6413500"/>
          </a:xfrm>
        </p:spPr>
        <p:txBody>
          <a:bodyPr>
            <a:normAutofit lnSpcReduction="10000"/>
          </a:bodyPr>
          <a:p>
            <a:pPr marL="0" indent="0">
              <a:buNone/>
            </a:pPr>
            <a:r>
              <a:rPr lang="en-US" altLang="en-US" sz="1800"/>
              <a:t>The SQL ORDER BY clause is used to sort the data in ascending or descending order, based on one or more columns. Some databases sort the query results in an ascending order by default.</a:t>
            </a:r>
            <a:endParaRPr lang="en-US" altLang="en-US" sz="1800"/>
          </a:p>
          <a:p>
            <a:pPr marL="0" indent="0">
              <a:buNone/>
            </a:pPr>
            <a:r>
              <a:rPr lang="en-US" altLang="en-US" sz="1800"/>
              <a:t> </a:t>
            </a:r>
            <a:endParaRPr lang="en-US" altLang="en-US" sz="1800"/>
          </a:p>
          <a:p>
            <a:pPr marL="0" indent="0">
              <a:buNone/>
            </a:pPr>
            <a:r>
              <a:rPr lang="en-US" altLang="en-US" sz="1800"/>
              <a:t>Syntax</a:t>
            </a:r>
            <a:endParaRPr lang="en-US" altLang="en-US" sz="1800"/>
          </a:p>
          <a:p>
            <a:pPr marL="0" indent="0">
              <a:buNone/>
            </a:pPr>
            <a:r>
              <a:rPr lang="en-US" altLang="en-US" sz="1800"/>
              <a:t>The basic syntax of the ORDER BY clause is as follows −</a:t>
            </a:r>
            <a:endParaRPr lang="en-US" altLang="en-US" sz="1800"/>
          </a:p>
          <a:p>
            <a:pPr marL="0" indent="0">
              <a:buNone/>
            </a:pPr>
            <a:endParaRPr lang="en-US" altLang="en-US" sz="1800"/>
          </a:p>
          <a:p>
            <a:pPr marL="0" indent="0">
              <a:buNone/>
            </a:pPr>
            <a:r>
              <a:rPr lang="en-US" altLang="en-US" sz="1800"/>
              <a:t>SELECT column-list </a:t>
            </a:r>
            <a:endParaRPr lang="en-US" altLang="en-US" sz="1800"/>
          </a:p>
          <a:p>
            <a:pPr marL="0" indent="0">
              <a:buNone/>
            </a:pPr>
            <a:r>
              <a:rPr lang="en-US" altLang="en-US" sz="1800"/>
              <a:t>FROM table_name </a:t>
            </a:r>
            <a:endParaRPr lang="en-US" altLang="en-US" sz="1800"/>
          </a:p>
          <a:p>
            <a:pPr marL="0" indent="0">
              <a:buNone/>
            </a:pPr>
            <a:r>
              <a:rPr lang="en-US" altLang="en-US" sz="1800"/>
              <a:t>[WHERE condition] </a:t>
            </a:r>
            <a:endParaRPr lang="en-US" altLang="en-US" sz="1800"/>
          </a:p>
          <a:p>
            <a:pPr marL="0" indent="0">
              <a:buNone/>
            </a:pPr>
            <a:r>
              <a:rPr lang="en-US" altLang="en-US" sz="1800"/>
              <a:t>[ORDER BY column1, column2, .. columnN]</a:t>
            </a:r>
            <a:endParaRPr lang="en-US" altLang="en-US" sz="1800"/>
          </a:p>
          <a:p>
            <a:pPr marL="0" indent="0">
              <a:buNone/>
            </a:pPr>
            <a:r>
              <a:rPr lang="en-US" altLang="en-US" sz="1800"/>
              <a:t>          [ASC | DESC];</a:t>
            </a:r>
            <a:endParaRPr lang="en-US" altLang="en-US" sz="1800"/>
          </a:p>
          <a:p>
            <a:pPr marL="0" indent="0">
              <a:buNone/>
            </a:pPr>
            <a:r>
              <a:rPr lang="en-US" altLang="en-US" sz="1800">
                <a:sym typeface="+mn-ea"/>
              </a:rPr>
              <a:t>SQL&gt; SELECT * FROM CUSTOMERS</a:t>
            </a:r>
            <a:endParaRPr lang="en-US" altLang="en-US" sz="1800"/>
          </a:p>
          <a:p>
            <a:pPr marL="0" indent="0">
              <a:buNone/>
            </a:pPr>
            <a:r>
              <a:rPr lang="en-US" altLang="en-US" sz="1800">
                <a:sym typeface="+mn-ea"/>
              </a:rPr>
              <a:t>   ORDER BY NAME DESC;</a:t>
            </a:r>
            <a:endParaRPr lang="en-US" altLang="en-US" sz="1800"/>
          </a:p>
          <a:p>
            <a:pPr marL="0" indent="0">
              <a:buNone/>
            </a:pPr>
            <a:r>
              <a:rPr lang="en-US" altLang="en-US" sz="1800">
                <a:sym typeface="+mn-ea"/>
              </a:rPr>
              <a:t>SQL&gt; SELECT * FROM CUSTOMERS</a:t>
            </a:r>
            <a:endParaRPr lang="en-US" altLang="en-US" sz="1800"/>
          </a:p>
          <a:p>
            <a:pPr marL="0" indent="0">
              <a:buNone/>
            </a:pPr>
            <a:r>
              <a:rPr lang="en-US" altLang="en-US" sz="1800">
                <a:sym typeface="+mn-ea"/>
              </a:rPr>
              <a:t>   ORDER BY NAME, SALARY;</a:t>
            </a:r>
            <a:endParaRPr lang="en-US" altLang="en-US" sz="1800">
              <a:sym typeface="+mn-ea"/>
            </a:endParaRPr>
          </a:p>
          <a:p>
            <a:pPr marL="0" indent="0">
              <a:buNone/>
            </a:pPr>
            <a:r>
              <a:rPr lang="en-US" altLang="en-US" sz="1800"/>
              <a:t>SELECT * FROM customers</a:t>
            </a:r>
            <a:endParaRPr lang="en-US" altLang="en-US" sz="1800"/>
          </a:p>
          <a:p>
            <a:pPr marL="0" indent="0">
              <a:buNone/>
            </a:pPr>
            <a:r>
              <a:rPr lang="en-US" altLang="en-US" sz="1800"/>
              <a:t>ORDER BY created_at DESC</a:t>
            </a:r>
            <a:endParaRPr lang="en-US" altLang="en-US" sz="1800"/>
          </a:p>
          <a:p>
            <a:pPr marL="0" indent="0">
              <a:buNone/>
            </a:pPr>
            <a:r>
              <a:rPr lang="en-US" altLang="en-US" sz="1800"/>
              <a:t>LIMIT 10;</a:t>
            </a:r>
            <a:endParaRPr lang="en-US" altLang="en-US" sz="1800"/>
          </a:p>
          <a:p>
            <a:pPr marL="0" indent="0">
              <a:buNone/>
            </a:pPr>
            <a:endParaRPr lang="en-US" altLang="en-US" sz="1800"/>
          </a:p>
          <a:p>
            <a:pPr marL="0" indent="0">
              <a:buNone/>
            </a:pPr>
            <a:endParaRPr lang="en-US" altLang="en-US" sz="1800"/>
          </a:p>
        </p:txBody>
      </p:sp>
    </p:spTree>
  </p:cSld>
  <p:clrMapOvr>
    <a:masterClrMapping/>
  </p:clrMapOvr>
</p:sld>
</file>

<file path=ppt/tags/tag1.xml><?xml version="1.0" encoding="utf-8"?>
<p:tagLst xmlns:p="http://schemas.openxmlformats.org/presentationml/2006/main">
  <p:tag name="TABLE_ENDDRAG_ORIGIN_RECT" val="960*517"/>
  <p:tag name="TABLE_ENDDRAG_RECT" val="0*22*960*517"/>
</p:tagLst>
</file>

<file path=ppt/tags/tag2.xml><?xml version="1.0" encoding="utf-8"?>
<p:tagLst xmlns:p="http://schemas.openxmlformats.org/presentationml/2006/main">
  <p:tag name="TABLE_ENDDRAG_ORIGIN_RECT" val="715*311"/>
  <p:tag name="TABLE_ENDDRAG_RECT" val="223*218*715*311"/>
</p:tagLst>
</file>

<file path=ppt/tags/tag3.xml><?xml version="1.0" encoding="utf-8"?>
<p:tagLst xmlns:p="http://schemas.openxmlformats.org/presentationml/2006/main">
  <p:tag name="TABLE_ENDDRAG_ORIGIN_RECT" val="924*301"/>
  <p:tag name="TABLE_ENDDRAG_RECT" val="9*72*924*302"/>
</p:tagLst>
</file>

<file path=ppt/tags/tag4.xml><?xml version="1.0" encoding="utf-8"?>
<p:tagLst xmlns:p="http://schemas.openxmlformats.org/presentationml/2006/main">
  <p:tag name="TABLE_ENDDRAG_ORIGIN_RECT" val="959*205"/>
  <p:tag name="TABLE_ENDDRAG_RECT" val="0*26*960*205"/>
</p:tagLst>
</file>

<file path=ppt/tags/tag5.xml><?xml version="1.0" encoding="utf-8"?>
<p:tagLst xmlns:p="http://schemas.openxmlformats.org/presentationml/2006/main">
  <p:tag name="TABLE_ENDDRAG_ORIGIN_RECT" val="933*210"/>
  <p:tag name="TABLE_ENDDRAG_RECT" val="13*37*934*210"/>
</p:tagLst>
</file>

<file path=ppt/tags/tag6.xml><?xml version="1.0" encoding="utf-8"?>
<p:tagLst xmlns:p="http://schemas.openxmlformats.org/presentationml/2006/main">
  <p:tag name="TABLE_ENDDRAG_ORIGIN_RECT" val="939*236"/>
  <p:tag name="TABLE_ENDDRAG_RECT" val="10*51*939*236"/>
</p:tagLst>
</file>

<file path=ppt/tags/tag7.xml><?xml version="1.0" encoding="utf-8"?>
<p:tagLst xmlns:p="http://schemas.openxmlformats.org/presentationml/2006/main">
  <p:tag name="TABLE_ENDDRAG_ORIGIN_RECT" val="939*139"/>
  <p:tag name="TABLE_ENDDRAG_RECT" val="10*115*939*139"/>
</p:tagLst>
</file>

<file path=ppt/tags/tag8.xml><?xml version="1.0" encoding="utf-8"?>
<p:tagLst xmlns:p="http://schemas.openxmlformats.org/presentationml/2006/main">
  <p:tag name="TABLE_ENDDRAG_ORIGIN_RECT" val="932*208"/>
  <p:tag name="TABLE_ENDDRAG_RECT" val="8*87*932*208"/>
</p:tagLst>
</file>

<file path=ppt/tags/tag9.xml><?xml version="1.0" encoding="utf-8"?>
<p:tagLst xmlns:p="http://schemas.openxmlformats.org/presentationml/2006/main">
  <p:tag name="TABLE_ENDDRAG_ORIGIN_RECT" val="938*233"/>
  <p:tag name="TABLE_ENDDRAG_RECT" val="11*261*938*233"/>
</p:tagLst>
</file>

<file path=ppt/tags/tag10.xml><?xml version="1.0" encoding="utf-8"?>
<p:tagLst xmlns:p="http://schemas.openxmlformats.org/presentationml/2006/main">
  <p:tag name="TABLE_ENDDRAG_ORIGIN_RECT" val="919*199"/>
  <p:tag name="TABLE_ENDDRAG_RECT" val="16*190*919*199"/>
</p:tagLst>
</file>

<file path=ppt/tags/tag11.xml><?xml version="1.0" encoding="utf-8"?>
<p:tagLst xmlns:p="http://schemas.openxmlformats.org/presentationml/2006/main">
  <p:tag name="TABLE_ENDDRAG_ORIGIN_RECT" val="939*138"/>
  <p:tag name="TABLE_ENDDRAG_RECT" val="13*9*939*138"/>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17437</Words>
  <Application>WPS Presentation</Application>
  <PresentationFormat>Widescreen</PresentationFormat>
  <Paragraphs>722</Paragraphs>
  <Slides>26</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26</vt:i4>
      </vt:variant>
    </vt:vector>
  </HeadingPairs>
  <TitlesOfParts>
    <vt:vector size="38" baseType="lpstr">
      <vt:lpstr>Arial</vt:lpstr>
      <vt:lpstr>SimSun</vt:lpstr>
      <vt:lpstr>Wingdings</vt:lpstr>
      <vt:lpstr>Arial Unicode MS</vt:lpstr>
      <vt:lpstr>Calibri Light</vt:lpstr>
      <vt:lpstr>Calibri</vt:lpstr>
      <vt:lpstr>Microsoft YaHei</vt:lpstr>
      <vt:lpstr>Cambria</vt:lpstr>
      <vt:lpstr>sohne</vt:lpstr>
      <vt:lpstr>Segoe Print</vt:lpstr>
      <vt:lpstr>source-serif-pro</vt:lpstr>
      <vt:lpstr>Office Theme</vt:lpstr>
      <vt:lpstr>SQL Syllabus</vt:lpstr>
      <vt:lpstr>What is  Sql</vt:lpstr>
      <vt:lpstr>History Of Sql</vt:lpstr>
      <vt:lpstr>Where User Sql </vt:lpstr>
      <vt:lpstr>What is Database</vt:lpstr>
      <vt:lpstr>PowerPoint 演示文稿</vt:lpstr>
      <vt:lpstr>Installation of Mysql workbench in windows 10,11</vt:lpstr>
      <vt:lpstr>Datatypes of Sql for Mysql Workbench</vt:lpstr>
      <vt:lpstr>PowerPoint 演示文稿</vt:lpstr>
      <vt:lpstr>DDL Command Code</vt:lpstr>
      <vt:lpstr>PowerPoint 演示文稿</vt:lpstr>
      <vt:lpstr>PowerPoint 演示文稿</vt:lpstr>
      <vt:lpstr>4. Data Control Language (DCL)</vt:lpstr>
      <vt:lpstr>5. Transaction Control Language (TCL)</vt:lpstr>
      <vt:lpstr>What is SQL?</vt:lpstr>
      <vt:lpstr>PowerPoint 演示文稿</vt:lpstr>
      <vt:lpstr>SQL Keys</vt:lpstr>
      <vt:lpstr>Sql Keys</vt:lpstr>
      <vt:lpstr>SQL Constraints</vt:lpstr>
      <vt:lpstr>SQL Keys</vt:lpstr>
      <vt:lpstr>SQL, aggregate functions</vt:lpstr>
      <vt:lpstr>SQL Clause</vt:lpstr>
      <vt:lpstr>SQL Limit Clause</vt:lpstr>
      <vt:lpstr>1. LIKE Operator</vt:lpstr>
      <vt:lpstr>PowerPoint 演示文稿</vt:lpstr>
      <vt:lpstr>Order By Clause</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UV-user</dc:creator>
  <cp:lastModifiedBy>Nishank Amte</cp:lastModifiedBy>
  <cp:revision>3</cp:revision>
  <dcterms:created xsi:type="dcterms:W3CDTF">2025-07-23T00:59:00Z</dcterms:created>
  <dcterms:modified xsi:type="dcterms:W3CDTF">2025-10-05T12:54:36Z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577AAD0D95AB4BFC8471764FBEC450AA_11</vt:lpwstr>
  </property>
  <property fmtid="{D5CDD505-2E9C-101B-9397-08002B2CF9AE}" pid="3" name="KSOProductBuildVer">
    <vt:lpwstr>1033-12.2.0.22549</vt:lpwstr>
  </property>
</Properties>
</file>